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38"/>
  </p:notesMasterIdLst>
  <p:sldIdLst>
    <p:sldId id="676" r:id="rId2"/>
    <p:sldId id="257" r:id="rId3"/>
    <p:sldId id="677" r:id="rId4"/>
    <p:sldId id="259" r:id="rId5"/>
    <p:sldId id="260" r:id="rId6"/>
    <p:sldId id="264" r:id="rId7"/>
    <p:sldId id="267" r:id="rId8"/>
    <p:sldId id="271" r:id="rId9"/>
    <p:sldId id="273" r:id="rId10"/>
    <p:sldId id="276" r:id="rId11"/>
    <p:sldId id="277" r:id="rId12"/>
    <p:sldId id="279" r:id="rId13"/>
    <p:sldId id="291" r:id="rId14"/>
    <p:sldId id="293" r:id="rId15"/>
    <p:sldId id="295" r:id="rId16"/>
    <p:sldId id="297" r:id="rId17"/>
    <p:sldId id="299" r:id="rId18"/>
    <p:sldId id="300" r:id="rId19"/>
    <p:sldId id="876" r:id="rId20"/>
    <p:sldId id="301" r:id="rId21"/>
    <p:sldId id="302" r:id="rId22"/>
    <p:sldId id="336" r:id="rId23"/>
    <p:sldId id="338" r:id="rId24"/>
    <p:sldId id="339" r:id="rId25"/>
    <p:sldId id="341" r:id="rId26"/>
    <p:sldId id="343" r:id="rId27"/>
    <p:sldId id="352" r:id="rId28"/>
    <p:sldId id="682" r:id="rId29"/>
    <p:sldId id="683" r:id="rId30"/>
    <p:sldId id="685" r:id="rId31"/>
    <p:sldId id="690" r:id="rId32"/>
    <p:sldId id="691" r:id="rId33"/>
    <p:sldId id="692" r:id="rId34"/>
    <p:sldId id="693" r:id="rId35"/>
    <p:sldId id="694" r:id="rId36"/>
    <p:sldId id="695" r:id="rId37"/>
    <p:sldId id="696" r:id="rId38"/>
    <p:sldId id="699" r:id="rId39"/>
    <p:sldId id="704" r:id="rId40"/>
    <p:sldId id="705" r:id="rId41"/>
    <p:sldId id="709" r:id="rId42"/>
    <p:sldId id="711" r:id="rId43"/>
    <p:sldId id="712" r:id="rId44"/>
    <p:sldId id="713" r:id="rId45"/>
    <p:sldId id="872" r:id="rId46"/>
    <p:sldId id="873" r:id="rId47"/>
    <p:sldId id="379" r:id="rId48"/>
    <p:sldId id="381" r:id="rId49"/>
    <p:sldId id="715" r:id="rId50"/>
    <p:sldId id="718" r:id="rId51"/>
    <p:sldId id="720" r:id="rId52"/>
    <p:sldId id="721" r:id="rId53"/>
    <p:sldId id="727" r:id="rId54"/>
    <p:sldId id="728" r:id="rId55"/>
    <p:sldId id="734" r:id="rId56"/>
    <p:sldId id="735" r:id="rId57"/>
    <p:sldId id="736" r:id="rId58"/>
    <p:sldId id="737" r:id="rId59"/>
    <p:sldId id="739" r:id="rId60"/>
    <p:sldId id="740" r:id="rId61"/>
    <p:sldId id="742" r:id="rId62"/>
    <p:sldId id="743" r:id="rId63"/>
    <p:sldId id="874" r:id="rId64"/>
    <p:sldId id="875" r:id="rId65"/>
    <p:sldId id="405" r:id="rId66"/>
    <p:sldId id="407" r:id="rId67"/>
    <p:sldId id="744" r:id="rId68"/>
    <p:sldId id="745" r:id="rId69"/>
    <p:sldId id="746" r:id="rId70"/>
    <p:sldId id="747" r:id="rId71"/>
    <p:sldId id="749" r:id="rId72"/>
    <p:sldId id="751" r:id="rId73"/>
    <p:sldId id="752" r:id="rId74"/>
    <p:sldId id="755" r:id="rId75"/>
    <p:sldId id="756" r:id="rId76"/>
    <p:sldId id="757" r:id="rId77"/>
    <p:sldId id="418" r:id="rId78"/>
    <p:sldId id="758" r:id="rId79"/>
    <p:sldId id="760" r:id="rId80"/>
    <p:sldId id="761" r:id="rId81"/>
    <p:sldId id="762" r:id="rId82"/>
    <p:sldId id="763" r:id="rId83"/>
    <p:sldId id="764" r:id="rId84"/>
    <p:sldId id="765" r:id="rId85"/>
    <p:sldId id="766" r:id="rId86"/>
    <p:sldId id="767" r:id="rId87"/>
    <p:sldId id="768" r:id="rId88"/>
    <p:sldId id="772" r:id="rId89"/>
    <p:sldId id="777" r:id="rId90"/>
    <p:sldId id="781" r:id="rId91"/>
    <p:sldId id="788" r:id="rId92"/>
    <p:sldId id="792" r:id="rId93"/>
    <p:sldId id="800" r:id="rId94"/>
    <p:sldId id="802" r:id="rId95"/>
    <p:sldId id="803" r:id="rId96"/>
    <p:sldId id="804" r:id="rId97"/>
    <p:sldId id="805" r:id="rId98"/>
    <p:sldId id="571" r:id="rId99"/>
    <p:sldId id="572" r:id="rId100"/>
    <p:sldId id="573" r:id="rId101"/>
    <p:sldId id="575" r:id="rId102"/>
    <p:sldId id="576" r:id="rId103"/>
    <p:sldId id="577" r:id="rId104"/>
    <p:sldId id="583" r:id="rId105"/>
    <p:sldId id="585" r:id="rId106"/>
    <p:sldId id="598" r:id="rId107"/>
    <p:sldId id="599" r:id="rId108"/>
    <p:sldId id="600" r:id="rId109"/>
    <p:sldId id="601" r:id="rId110"/>
    <p:sldId id="813" r:id="rId111"/>
    <p:sldId id="814" r:id="rId112"/>
    <p:sldId id="606" r:id="rId113"/>
    <p:sldId id="607" r:id="rId114"/>
    <p:sldId id="453" r:id="rId115"/>
    <p:sldId id="452" r:id="rId116"/>
    <p:sldId id="456" r:id="rId117"/>
    <p:sldId id="816" r:id="rId118"/>
    <p:sldId id="817" r:id="rId119"/>
    <p:sldId id="818" r:id="rId120"/>
    <p:sldId id="819" r:id="rId121"/>
    <p:sldId id="820" r:id="rId122"/>
    <p:sldId id="821" r:id="rId123"/>
    <p:sldId id="822" r:id="rId124"/>
    <p:sldId id="824" r:id="rId125"/>
    <p:sldId id="825" r:id="rId126"/>
    <p:sldId id="826" r:id="rId127"/>
    <p:sldId id="828" r:id="rId128"/>
    <p:sldId id="830" r:id="rId129"/>
    <p:sldId id="842" r:id="rId130"/>
    <p:sldId id="838" r:id="rId131"/>
    <p:sldId id="833" r:id="rId132"/>
    <p:sldId id="839" r:id="rId133"/>
    <p:sldId id="835" r:id="rId134"/>
    <p:sldId id="840" r:id="rId135"/>
    <p:sldId id="841" r:id="rId136"/>
    <p:sldId id="870" r:id="rId137"/>
  </p:sldIdLst>
  <p:sldSz cx="9144000" cy="6858000" type="screen4x3"/>
  <p:notesSz cx="6858000" cy="91440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FF"/>
    <a:srgbClr val="FF33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40" autoAdjust="0"/>
    <p:restoredTop sz="94728" autoAdjust="0"/>
  </p:normalViewPr>
  <p:slideViewPr>
    <p:cSldViewPr>
      <p:cViewPr varScale="1">
        <p:scale>
          <a:sx n="78" d="100"/>
          <a:sy n="78" d="100"/>
        </p:scale>
        <p:origin x="1594" y="67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notesMaster" Target="notesMasters/notesMaster1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slide" Target="slides/slide133.xml"/><Relationship Id="rId139" Type="http://schemas.openxmlformats.org/officeDocument/2006/relationships/presProps" Target="presProps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theme" Target="theme/theme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tableStyles" Target="tableStyles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microsoft.com/office/2016/11/relationships/changesInfo" Target="changesInfos/changesInfo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6" Type="http://schemas.openxmlformats.org/officeDocument/2006/relationships/slide" Target="slides/slide15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Neoh Kee Lin" userId="9e68bd29-1eeb-4ae3-beb9-48fd59e465e5" providerId="ADAL" clId="{10F18E30-00AB-4BD4-99E7-447045531F0F}"/>
    <pc:docChg chg="custSel modSld">
      <pc:chgData name="Neoh Kee Lin" userId="9e68bd29-1eeb-4ae3-beb9-48fd59e465e5" providerId="ADAL" clId="{10F18E30-00AB-4BD4-99E7-447045531F0F}" dt="2024-11-04T12:23:59.736" v="50" actId="115"/>
      <pc:docMkLst>
        <pc:docMk/>
      </pc:docMkLst>
      <pc:sldChg chg="modSp mod">
        <pc:chgData name="Neoh Kee Lin" userId="9e68bd29-1eeb-4ae3-beb9-48fd59e465e5" providerId="ADAL" clId="{10F18E30-00AB-4BD4-99E7-447045531F0F}" dt="2024-11-04T12:19:51.834" v="14" actId="115"/>
        <pc:sldMkLst>
          <pc:docMk/>
          <pc:sldMk cId="0" sldId="257"/>
        </pc:sldMkLst>
        <pc:spChg chg="mod">
          <ac:chgData name="Neoh Kee Lin" userId="9e68bd29-1eeb-4ae3-beb9-48fd59e465e5" providerId="ADAL" clId="{10F18E30-00AB-4BD4-99E7-447045531F0F}" dt="2024-11-04T12:19:51.834" v="14" actId="115"/>
          <ac:spMkLst>
            <pc:docMk/>
            <pc:sldMk cId="0" sldId="257"/>
            <ac:spMk id="5124" creationId="{00000000-0000-0000-0000-000000000000}"/>
          </ac:spMkLst>
        </pc:spChg>
      </pc:sldChg>
      <pc:sldChg chg="modSp mod">
        <pc:chgData name="Neoh Kee Lin" userId="9e68bd29-1eeb-4ae3-beb9-48fd59e465e5" providerId="ADAL" clId="{10F18E30-00AB-4BD4-99E7-447045531F0F}" dt="2024-11-04T12:23:14.009" v="49" actId="5793"/>
        <pc:sldMkLst>
          <pc:docMk/>
          <pc:sldMk cId="0" sldId="301"/>
        </pc:sldMkLst>
        <pc:spChg chg="mod">
          <ac:chgData name="Neoh Kee Lin" userId="9e68bd29-1eeb-4ae3-beb9-48fd59e465e5" providerId="ADAL" clId="{10F18E30-00AB-4BD4-99E7-447045531F0F}" dt="2024-11-04T12:23:14.009" v="49" actId="5793"/>
          <ac:spMkLst>
            <pc:docMk/>
            <pc:sldMk cId="0" sldId="301"/>
            <ac:spMk id="23556" creationId="{00000000-0000-0000-0000-000000000000}"/>
          </ac:spMkLst>
        </pc:spChg>
      </pc:sldChg>
      <pc:sldChg chg="modSp mod">
        <pc:chgData name="Neoh Kee Lin" userId="9e68bd29-1eeb-4ae3-beb9-48fd59e465e5" providerId="ADAL" clId="{10F18E30-00AB-4BD4-99E7-447045531F0F}" dt="2024-11-04T12:23:59.736" v="50" actId="115"/>
        <pc:sldMkLst>
          <pc:docMk/>
          <pc:sldMk cId="0" sldId="302"/>
        </pc:sldMkLst>
        <pc:spChg chg="mod">
          <ac:chgData name="Neoh Kee Lin" userId="9e68bd29-1eeb-4ae3-beb9-48fd59e465e5" providerId="ADAL" clId="{10F18E30-00AB-4BD4-99E7-447045531F0F}" dt="2024-11-04T12:23:59.736" v="50" actId="115"/>
          <ac:spMkLst>
            <pc:docMk/>
            <pc:sldMk cId="0" sldId="302"/>
            <ac:spMk id="24580" creationId="{00000000-0000-0000-0000-000000000000}"/>
          </ac:spMkLst>
        </pc:spChg>
      </pc:sldChg>
      <pc:sldChg chg="modSp mod">
        <pc:chgData name="Neoh Kee Lin" userId="9e68bd29-1eeb-4ae3-beb9-48fd59e465e5" providerId="ADAL" clId="{10F18E30-00AB-4BD4-99E7-447045531F0F}" dt="2024-11-04T12:21:16.148" v="39" actId="114"/>
        <pc:sldMkLst>
          <pc:docMk/>
          <pc:sldMk cId="0" sldId="677"/>
        </pc:sldMkLst>
        <pc:spChg chg="mod">
          <ac:chgData name="Neoh Kee Lin" userId="9e68bd29-1eeb-4ae3-beb9-48fd59e465e5" providerId="ADAL" clId="{10F18E30-00AB-4BD4-99E7-447045531F0F}" dt="2024-11-04T12:21:16.148" v="39" actId="114"/>
          <ac:spMkLst>
            <pc:docMk/>
            <pc:sldMk cId="0" sldId="677"/>
            <ac:spMk id="6148" creationId="{00000000-0000-0000-0000-000000000000}"/>
          </ac:spMkLst>
        </pc:spChg>
      </pc:sldChg>
    </pc:docChg>
  </pc:docChgLst>
  <pc:docChgLst>
    <pc:chgData name="Neoh Kee Lin" userId="9e68bd29-1eeb-4ae3-beb9-48fd59e465e5" providerId="ADAL" clId="{F8900BC9-AD0E-4E3B-A643-1DDB3D02DDF0}"/>
    <pc:docChg chg="modSld">
      <pc:chgData name="Neoh Kee Lin" userId="9e68bd29-1eeb-4ae3-beb9-48fd59e465e5" providerId="ADAL" clId="{F8900BC9-AD0E-4E3B-A643-1DDB3D02DDF0}" dt="2024-12-05T10:55:25.120" v="3" actId="6549"/>
      <pc:docMkLst>
        <pc:docMk/>
      </pc:docMkLst>
      <pc:sldChg chg="modSp mod">
        <pc:chgData name="Neoh Kee Lin" userId="9e68bd29-1eeb-4ae3-beb9-48fd59e465e5" providerId="ADAL" clId="{F8900BC9-AD0E-4E3B-A643-1DDB3D02DDF0}" dt="2024-12-05T10:55:25.120" v="3" actId="6549"/>
        <pc:sldMkLst>
          <pc:docMk/>
          <pc:sldMk cId="0" sldId="453"/>
        </pc:sldMkLst>
        <pc:spChg chg="mod">
          <ac:chgData name="Neoh Kee Lin" userId="9e68bd29-1eeb-4ae3-beb9-48fd59e465e5" providerId="ADAL" clId="{F8900BC9-AD0E-4E3B-A643-1DDB3D02DDF0}" dt="2024-12-05T10:55:25.120" v="3" actId="6549"/>
          <ac:spMkLst>
            <pc:docMk/>
            <pc:sldMk cId="0" sldId="453"/>
            <ac:spMk id="115716" creationId="{00000000-0000-0000-0000-000000000000}"/>
          </ac:spMkLst>
        </pc:spChg>
      </pc:sldChg>
    </pc:docChg>
  </pc:docChgLst>
  <pc:docChgLst>
    <pc:chgData name="Neoh Kee Lin" userId="9e68bd29-1eeb-4ae3-beb9-48fd59e465e5" providerId="ADAL" clId="{C871A5A1-389F-4591-8CB8-B655A3573587}"/>
    <pc:docChg chg="modSld">
      <pc:chgData name="Neoh Kee Lin" userId="9e68bd29-1eeb-4ae3-beb9-48fd59e465e5" providerId="ADAL" clId="{C871A5A1-389F-4591-8CB8-B655A3573587}" dt="2025-01-05T11:16:37.989" v="0" actId="478"/>
      <pc:docMkLst>
        <pc:docMk/>
      </pc:docMkLst>
      <pc:sldChg chg="delSp">
        <pc:chgData name="Neoh Kee Lin" userId="9e68bd29-1eeb-4ae3-beb9-48fd59e465e5" providerId="ADAL" clId="{C871A5A1-389F-4591-8CB8-B655A3573587}" dt="2025-01-05T11:16:37.989" v="0" actId="478"/>
        <pc:sldMkLst>
          <pc:docMk/>
          <pc:sldMk cId="537731461" sldId="876"/>
        </pc:sldMkLst>
        <pc:spChg chg="del">
          <ac:chgData name="Neoh Kee Lin" userId="9e68bd29-1eeb-4ae3-beb9-48fd59e465e5" providerId="ADAL" clId="{C871A5A1-389F-4591-8CB8-B655A3573587}" dt="2025-01-05T11:16:37.989" v="0" actId="478"/>
          <ac:spMkLst>
            <pc:docMk/>
            <pc:sldMk cId="537731461" sldId="876"/>
            <ac:spMk id="33794" creationId="{00000000-0000-0000-0000-000000000000}"/>
          </ac:spMkLst>
        </pc:spChg>
      </pc:sldChg>
    </pc:docChg>
  </pc:docChgLst>
  <pc:docChgLst>
    <pc:chgData name="Neoh Kee Lin" userId="9e68bd29-1eeb-4ae3-beb9-48fd59e465e5" providerId="ADAL" clId="{ED695B4D-8CB9-458D-8591-E2C97EE0A9AF}"/>
    <pc:docChg chg="undo custSel modSld">
      <pc:chgData name="Neoh Kee Lin" userId="9e68bd29-1eeb-4ae3-beb9-48fd59e465e5" providerId="ADAL" clId="{ED695B4D-8CB9-458D-8591-E2C97EE0A9AF}" dt="2022-12-02T04:43:15.589" v="72"/>
      <pc:docMkLst>
        <pc:docMk/>
      </pc:docMkLst>
      <pc:sldChg chg="modSp mod">
        <pc:chgData name="Neoh Kee Lin" userId="9e68bd29-1eeb-4ae3-beb9-48fd59e465e5" providerId="ADAL" clId="{ED695B4D-8CB9-458D-8591-E2C97EE0A9AF}" dt="2022-12-01T12:15:50.190" v="3" actId="115"/>
        <pc:sldMkLst>
          <pc:docMk/>
          <pc:sldMk cId="0" sldId="257"/>
        </pc:sldMkLst>
      </pc:sldChg>
      <pc:sldChg chg="modSp">
        <pc:chgData name="Neoh Kee Lin" userId="9e68bd29-1eeb-4ae3-beb9-48fd59e465e5" providerId="ADAL" clId="{ED695B4D-8CB9-458D-8591-E2C97EE0A9AF}" dt="2022-12-02T04:43:15.589" v="72"/>
        <pc:sldMkLst>
          <pc:docMk/>
          <pc:sldMk cId="0" sldId="300"/>
        </pc:sldMkLst>
      </pc:sldChg>
      <pc:sldChg chg="modSp mod">
        <pc:chgData name="Neoh Kee Lin" userId="9e68bd29-1eeb-4ae3-beb9-48fd59e465e5" providerId="ADAL" clId="{ED695B4D-8CB9-458D-8591-E2C97EE0A9AF}" dt="2022-12-01T12:18:16.222" v="5" actId="20577"/>
        <pc:sldMkLst>
          <pc:docMk/>
          <pc:sldMk cId="0" sldId="301"/>
        </pc:sldMkLst>
      </pc:sldChg>
      <pc:sldChg chg="modSp mod">
        <pc:chgData name="Neoh Kee Lin" userId="9e68bd29-1eeb-4ae3-beb9-48fd59e465e5" providerId="ADAL" clId="{ED695B4D-8CB9-458D-8591-E2C97EE0A9AF}" dt="2022-12-01T12:21:08.110" v="38" actId="115"/>
        <pc:sldMkLst>
          <pc:docMk/>
          <pc:sldMk cId="0" sldId="302"/>
        </pc:sldMkLst>
      </pc:sldChg>
      <pc:sldChg chg="modSp mod">
        <pc:chgData name="Neoh Kee Lin" userId="9e68bd29-1eeb-4ae3-beb9-48fd59e465e5" providerId="ADAL" clId="{ED695B4D-8CB9-458D-8591-E2C97EE0A9AF}" dt="2022-12-01T12:22:08.095" v="41" actId="12"/>
        <pc:sldMkLst>
          <pc:docMk/>
          <pc:sldMk cId="0" sldId="336"/>
        </pc:sldMkLst>
      </pc:sldChg>
      <pc:sldChg chg="modSp mod">
        <pc:chgData name="Neoh Kee Lin" userId="9e68bd29-1eeb-4ae3-beb9-48fd59e465e5" providerId="ADAL" clId="{ED695B4D-8CB9-458D-8591-E2C97EE0A9AF}" dt="2022-12-01T12:26:56.934" v="71" actId="20577"/>
        <pc:sldMkLst>
          <pc:docMk/>
          <pc:sldMk cId="0" sldId="453"/>
        </pc:sldMkLst>
      </pc:sldChg>
    </pc:docChg>
  </pc:docChgLst>
  <pc:docChgLst>
    <pc:chgData name="Neoh Kee Lin" userId="9e68bd29-1eeb-4ae3-beb9-48fd59e465e5" providerId="ADAL" clId="{250CBFAD-9D6F-47B7-88BC-169B32757167}"/>
    <pc:docChg chg="undo custSel modSld">
      <pc:chgData name="Neoh Kee Lin" userId="9e68bd29-1eeb-4ae3-beb9-48fd59e465e5" providerId="ADAL" clId="{250CBFAD-9D6F-47B7-88BC-169B32757167}" dt="2022-12-01T17:24:25.758" v="209" actId="403"/>
      <pc:docMkLst>
        <pc:docMk/>
      </pc:docMkLst>
      <pc:sldChg chg="modSp mod">
        <pc:chgData name="Neoh Kee Lin" userId="9e68bd29-1eeb-4ae3-beb9-48fd59e465e5" providerId="ADAL" clId="{250CBFAD-9D6F-47B7-88BC-169B32757167}" dt="2022-12-01T17:16:49.740" v="78" actId="6549"/>
        <pc:sldMkLst>
          <pc:docMk/>
          <pc:sldMk cId="0" sldId="264"/>
        </pc:sldMkLst>
      </pc:sldChg>
      <pc:sldChg chg="modSp mod">
        <pc:chgData name="Neoh Kee Lin" userId="9e68bd29-1eeb-4ae3-beb9-48fd59e465e5" providerId="ADAL" clId="{250CBFAD-9D6F-47B7-88BC-169B32757167}" dt="2022-12-01T17:16:55.562" v="79"/>
        <pc:sldMkLst>
          <pc:docMk/>
          <pc:sldMk cId="0" sldId="267"/>
        </pc:sldMkLst>
      </pc:sldChg>
      <pc:sldChg chg="modSp mod">
        <pc:chgData name="Neoh Kee Lin" userId="9e68bd29-1eeb-4ae3-beb9-48fd59e465e5" providerId="ADAL" clId="{250CBFAD-9D6F-47B7-88BC-169B32757167}" dt="2022-12-01T17:16:57.353" v="80"/>
        <pc:sldMkLst>
          <pc:docMk/>
          <pc:sldMk cId="0" sldId="271"/>
        </pc:sldMkLst>
      </pc:sldChg>
      <pc:sldChg chg="modSp mod">
        <pc:chgData name="Neoh Kee Lin" userId="9e68bd29-1eeb-4ae3-beb9-48fd59e465e5" providerId="ADAL" clId="{250CBFAD-9D6F-47B7-88BC-169B32757167}" dt="2022-12-01T17:16:59.057" v="81"/>
        <pc:sldMkLst>
          <pc:docMk/>
          <pc:sldMk cId="0" sldId="273"/>
        </pc:sldMkLst>
      </pc:sldChg>
      <pc:sldChg chg="modSp mod">
        <pc:chgData name="Neoh Kee Lin" userId="9e68bd29-1eeb-4ae3-beb9-48fd59e465e5" providerId="ADAL" clId="{250CBFAD-9D6F-47B7-88BC-169B32757167}" dt="2022-12-01T17:17:00.632" v="82"/>
        <pc:sldMkLst>
          <pc:docMk/>
          <pc:sldMk cId="0" sldId="276"/>
        </pc:sldMkLst>
      </pc:sldChg>
      <pc:sldChg chg="modSp mod">
        <pc:chgData name="Neoh Kee Lin" userId="9e68bd29-1eeb-4ae3-beb9-48fd59e465e5" providerId="ADAL" clId="{250CBFAD-9D6F-47B7-88BC-169B32757167}" dt="2022-12-01T17:17:02.186" v="83"/>
        <pc:sldMkLst>
          <pc:docMk/>
          <pc:sldMk cId="0" sldId="277"/>
        </pc:sldMkLst>
      </pc:sldChg>
      <pc:sldChg chg="modSp mod">
        <pc:chgData name="Neoh Kee Lin" userId="9e68bd29-1eeb-4ae3-beb9-48fd59e465e5" providerId="ADAL" clId="{250CBFAD-9D6F-47B7-88BC-169B32757167}" dt="2022-12-01T17:17:03.721" v="84"/>
        <pc:sldMkLst>
          <pc:docMk/>
          <pc:sldMk cId="0" sldId="279"/>
        </pc:sldMkLst>
      </pc:sldChg>
      <pc:sldChg chg="modSp mod">
        <pc:chgData name="Neoh Kee Lin" userId="9e68bd29-1eeb-4ae3-beb9-48fd59e465e5" providerId="ADAL" clId="{250CBFAD-9D6F-47B7-88BC-169B32757167}" dt="2022-12-01T17:17:05.302" v="85"/>
        <pc:sldMkLst>
          <pc:docMk/>
          <pc:sldMk cId="0" sldId="291"/>
        </pc:sldMkLst>
      </pc:sldChg>
      <pc:sldChg chg="modSp mod">
        <pc:chgData name="Neoh Kee Lin" userId="9e68bd29-1eeb-4ae3-beb9-48fd59e465e5" providerId="ADAL" clId="{250CBFAD-9D6F-47B7-88BC-169B32757167}" dt="2022-12-01T17:17:06.856" v="86"/>
        <pc:sldMkLst>
          <pc:docMk/>
          <pc:sldMk cId="0" sldId="293"/>
        </pc:sldMkLst>
      </pc:sldChg>
      <pc:sldChg chg="modSp mod">
        <pc:chgData name="Neoh Kee Lin" userId="9e68bd29-1eeb-4ae3-beb9-48fd59e465e5" providerId="ADAL" clId="{250CBFAD-9D6F-47B7-88BC-169B32757167}" dt="2022-12-01T17:17:08.647" v="87"/>
        <pc:sldMkLst>
          <pc:docMk/>
          <pc:sldMk cId="0" sldId="295"/>
        </pc:sldMkLst>
      </pc:sldChg>
      <pc:sldChg chg="modSp mod">
        <pc:chgData name="Neoh Kee Lin" userId="9e68bd29-1eeb-4ae3-beb9-48fd59e465e5" providerId="ADAL" clId="{250CBFAD-9D6F-47B7-88BC-169B32757167}" dt="2022-12-01T17:17:12.187" v="88"/>
        <pc:sldMkLst>
          <pc:docMk/>
          <pc:sldMk cId="0" sldId="297"/>
        </pc:sldMkLst>
      </pc:sldChg>
      <pc:sldChg chg="modSp mod">
        <pc:chgData name="Neoh Kee Lin" userId="9e68bd29-1eeb-4ae3-beb9-48fd59e465e5" providerId="ADAL" clId="{250CBFAD-9D6F-47B7-88BC-169B32757167}" dt="2022-12-01T17:17:14.377" v="89"/>
        <pc:sldMkLst>
          <pc:docMk/>
          <pc:sldMk cId="0" sldId="299"/>
        </pc:sldMkLst>
      </pc:sldChg>
      <pc:sldChg chg="modSp mod">
        <pc:chgData name="Neoh Kee Lin" userId="9e68bd29-1eeb-4ae3-beb9-48fd59e465e5" providerId="ADAL" clId="{250CBFAD-9D6F-47B7-88BC-169B32757167}" dt="2022-12-01T17:02:14.474" v="3" actId="948"/>
        <pc:sldMkLst>
          <pc:docMk/>
          <pc:sldMk cId="0" sldId="301"/>
        </pc:sldMkLst>
      </pc:sldChg>
      <pc:sldChg chg="modSp mod">
        <pc:chgData name="Neoh Kee Lin" userId="9e68bd29-1eeb-4ae3-beb9-48fd59e465e5" providerId="ADAL" clId="{250CBFAD-9D6F-47B7-88BC-169B32757167}" dt="2022-12-01T17:17:23.485" v="90" actId="6549"/>
        <pc:sldMkLst>
          <pc:docMk/>
          <pc:sldMk cId="0" sldId="302"/>
        </pc:sldMkLst>
      </pc:sldChg>
      <pc:sldChg chg="modSp mod">
        <pc:chgData name="Neoh Kee Lin" userId="9e68bd29-1eeb-4ae3-beb9-48fd59e465e5" providerId="ADAL" clId="{250CBFAD-9D6F-47B7-88BC-169B32757167}" dt="2022-12-01T17:03:10.408" v="8" actId="20577"/>
        <pc:sldMkLst>
          <pc:docMk/>
          <pc:sldMk cId="0" sldId="339"/>
        </pc:sldMkLst>
      </pc:sldChg>
      <pc:sldChg chg="modSp mod">
        <pc:chgData name="Neoh Kee Lin" userId="9e68bd29-1eeb-4ae3-beb9-48fd59e465e5" providerId="ADAL" clId="{250CBFAD-9D6F-47B7-88BC-169B32757167}" dt="2022-12-01T17:04:16.775" v="33" actId="6549"/>
        <pc:sldMkLst>
          <pc:docMk/>
          <pc:sldMk cId="0" sldId="341"/>
        </pc:sldMkLst>
      </pc:sldChg>
      <pc:sldChg chg="modSp">
        <pc:chgData name="Neoh Kee Lin" userId="9e68bd29-1eeb-4ae3-beb9-48fd59e465e5" providerId="ADAL" clId="{250CBFAD-9D6F-47B7-88BC-169B32757167}" dt="2022-12-01T17:17:59.809" v="93" actId="1036"/>
        <pc:sldMkLst>
          <pc:docMk/>
          <pc:sldMk cId="0" sldId="343"/>
        </pc:sldMkLst>
      </pc:sldChg>
      <pc:sldChg chg="modSp">
        <pc:chgData name="Neoh Kee Lin" userId="9e68bd29-1eeb-4ae3-beb9-48fd59e465e5" providerId="ADAL" clId="{250CBFAD-9D6F-47B7-88BC-169B32757167}" dt="2022-12-01T17:18:08.580" v="96" actId="1036"/>
        <pc:sldMkLst>
          <pc:docMk/>
          <pc:sldMk cId="0" sldId="352"/>
        </pc:sldMkLst>
      </pc:sldChg>
      <pc:sldChg chg="modSp mod">
        <pc:chgData name="Neoh Kee Lin" userId="9e68bd29-1eeb-4ae3-beb9-48fd59e465e5" providerId="ADAL" clId="{250CBFAD-9D6F-47B7-88BC-169B32757167}" dt="2022-12-01T17:06:25.449" v="42" actId="20577"/>
        <pc:sldMkLst>
          <pc:docMk/>
          <pc:sldMk cId="0" sldId="379"/>
        </pc:sldMkLst>
      </pc:sldChg>
      <pc:sldChg chg="modSp">
        <pc:chgData name="Neoh Kee Lin" userId="9e68bd29-1eeb-4ae3-beb9-48fd59e465e5" providerId="ADAL" clId="{250CBFAD-9D6F-47B7-88BC-169B32757167}" dt="2022-12-01T17:21:48.500" v="158" actId="1036"/>
        <pc:sldMkLst>
          <pc:docMk/>
          <pc:sldMk cId="0" sldId="381"/>
        </pc:sldMkLst>
      </pc:sldChg>
      <pc:sldChg chg="modSp mod">
        <pc:chgData name="Neoh Kee Lin" userId="9e68bd29-1eeb-4ae3-beb9-48fd59e465e5" providerId="ADAL" clId="{250CBFAD-9D6F-47B7-88BC-169B32757167}" dt="2022-12-01T17:07:19.066" v="43" actId="948"/>
        <pc:sldMkLst>
          <pc:docMk/>
          <pc:sldMk cId="0" sldId="405"/>
        </pc:sldMkLst>
      </pc:sldChg>
      <pc:sldChg chg="modSp mod">
        <pc:chgData name="Neoh Kee Lin" userId="9e68bd29-1eeb-4ae3-beb9-48fd59e465e5" providerId="ADAL" clId="{250CBFAD-9D6F-47B7-88BC-169B32757167}" dt="2022-12-01T17:24:20.413" v="208" actId="403"/>
        <pc:sldMkLst>
          <pc:docMk/>
          <pc:sldMk cId="0" sldId="407"/>
        </pc:sldMkLst>
      </pc:sldChg>
      <pc:sldChg chg="modSp mod">
        <pc:chgData name="Neoh Kee Lin" userId="9e68bd29-1eeb-4ae3-beb9-48fd59e465e5" providerId="ADAL" clId="{250CBFAD-9D6F-47B7-88BC-169B32757167}" dt="2022-12-01T17:10:50.337" v="64"/>
        <pc:sldMkLst>
          <pc:docMk/>
          <pc:sldMk cId="0" sldId="452"/>
        </pc:sldMkLst>
      </pc:sldChg>
      <pc:sldChg chg="modSp mod">
        <pc:chgData name="Neoh Kee Lin" userId="9e68bd29-1eeb-4ae3-beb9-48fd59e465e5" providerId="ADAL" clId="{250CBFAD-9D6F-47B7-88BC-169B32757167}" dt="2022-12-01T17:10:47.775" v="63"/>
        <pc:sldMkLst>
          <pc:docMk/>
          <pc:sldMk cId="0" sldId="456"/>
        </pc:sldMkLst>
      </pc:sldChg>
      <pc:sldChg chg="modSp">
        <pc:chgData name="Neoh Kee Lin" userId="9e68bd29-1eeb-4ae3-beb9-48fd59e465e5" providerId="ADAL" clId="{250CBFAD-9D6F-47B7-88BC-169B32757167}" dt="2022-12-01T17:18:22.159" v="99" actId="1036"/>
        <pc:sldMkLst>
          <pc:docMk/>
          <pc:sldMk cId="0" sldId="682"/>
        </pc:sldMkLst>
      </pc:sldChg>
      <pc:sldChg chg="modSp">
        <pc:chgData name="Neoh Kee Lin" userId="9e68bd29-1eeb-4ae3-beb9-48fd59e465e5" providerId="ADAL" clId="{250CBFAD-9D6F-47B7-88BC-169B32757167}" dt="2022-12-01T17:18:29.284" v="102" actId="1036"/>
        <pc:sldMkLst>
          <pc:docMk/>
          <pc:sldMk cId="0" sldId="683"/>
        </pc:sldMkLst>
      </pc:sldChg>
      <pc:sldChg chg="modSp">
        <pc:chgData name="Neoh Kee Lin" userId="9e68bd29-1eeb-4ae3-beb9-48fd59e465e5" providerId="ADAL" clId="{250CBFAD-9D6F-47B7-88BC-169B32757167}" dt="2022-12-01T17:18:54.337" v="105" actId="1036"/>
        <pc:sldMkLst>
          <pc:docMk/>
          <pc:sldMk cId="0" sldId="685"/>
        </pc:sldMkLst>
      </pc:sldChg>
      <pc:sldChg chg="modSp">
        <pc:chgData name="Neoh Kee Lin" userId="9e68bd29-1eeb-4ae3-beb9-48fd59e465e5" providerId="ADAL" clId="{250CBFAD-9D6F-47B7-88BC-169B32757167}" dt="2022-12-01T17:19:02.484" v="108" actId="1036"/>
        <pc:sldMkLst>
          <pc:docMk/>
          <pc:sldMk cId="0" sldId="690"/>
        </pc:sldMkLst>
      </pc:sldChg>
      <pc:sldChg chg="modSp">
        <pc:chgData name="Neoh Kee Lin" userId="9e68bd29-1eeb-4ae3-beb9-48fd59e465e5" providerId="ADAL" clId="{250CBFAD-9D6F-47B7-88BC-169B32757167}" dt="2022-12-01T17:19:16.311" v="111" actId="1036"/>
        <pc:sldMkLst>
          <pc:docMk/>
          <pc:sldMk cId="0" sldId="691"/>
        </pc:sldMkLst>
      </pc:sldChg>
      <pc:sldChg chg="modSp">
        <pc:chgData name="Neoh Kee Lin" userId="9e68bd29-1eeb-4ae3-beb9-48fd59e465e5" providerId="ADAL" clId="{250CBFAD-9D6F-47B7-88BC-169B32757167}" dt="2022-12-01T17:19:24.900" v="114" actId="1036"/>
        <pc:sldMkLst>
          <pc:docMk/>
          <pc:sldMk cId="0" sldId="692"/>
        </pc:sldMkLst>
      </pc:sldChg>
      <pc:sldChg chg="modSp">
        <pc:chgData name="Neoh Kee Lin" userId="9e68bd29-1eeb-4ae3-beb9-48fd59e465e5" providerId="ADAL" clId="{250CBFAD-9D6F-47B7-88BC-169B32757167}" dt="2022-12-01T17:19:32.763" v="117" actId="1036"/>
        <pc:sldMkLst>
          <pc:docMk/>
          <pc:sldMk cId="0" sldId="693"/>
        </pc:sldMkLst>
      </pc:sldChg>
      <pc:sldChg chg="modSp">
        <pc:chgData name="Neoh Kee Lin" userId="9e68bd29-1eeb-4ae3-beb9-48fd59e465e5" providerId="ADAL" clId="{250CBFAD-9D6F-47B7-88BC-169B32757167}" dt="2022-12-01T17:19:44.757" v="120" actId="1036"/>
        <pc:sldMkLst>
          <pc:docMk/>
          <pc:sldMk cId="0" sldId="694"/>
        </pc:sldMkLst>
      </pc:sldChg>
      <pc:sldChg chg="modSp">
        <pc:chgData name="Neoh Kee Lin" userId="9e68bd29-1eeb-4ae3-beb9-48fd59e465e5" providerId="ADAL" clId="{250CBFAD-9D6F-47B7-88BC-169B32757167}" dt="2022-12-01T17:19:53.457" v="123" actId="1036"/>
        <pc:sldMkLst>
          <pc:docMk/>
          <pc:sldMk cId="0" sldId="695"/>
        </pc:sldMkLst>
      </pc:sldChg>
      <pc:sldChg chg="modSp">
        <pc:chgData name="Neoh Kee Lin" userId="9e68bd29-1eeb-4ae3-beb9-48fd59e465e5" providerId="ADAL" clId="{250CBFAD-9D6F-47B7-88BC-169B32757167}" dt="2022-12-01T17:20:05.668" v="126" actId="1036"/>
        <pc:sldMkLst>
          <pc:docMk/>
          <pc:sldMk cId="0" sldId="696"/>
        </pc:sldMkLst>
      </pc:sldChg>
      <pc:sldChg chg="modSp">
        <pc:chgData name="Neoh Kee Lin" userId="9e68bd29-1eeb-4ae3-beb9-48fd59e465e5" providerId="ADAL" clId="{250CBFAD-9D6F-47B7-88BC-169B32757167}" dt="2022-12-01T17:20:12.922" v="129" actId="1036"/>
        <pc:sldMkLst>
          <pc:docMk/>
          <pc:sldMk cId="0" sldId="699"/>
        </pc:sldMkLst>
      </pc:sldChg>
      <pc:sldChg chg="modSp">
        <pc:chgData name="Neoh Kee Lin" userId="9e68bd29-1eeb-4ae3-beb9-48fd59e465e5" providerId="ADAL" clId="{250CBFAD-9D6F-47B7-88BC-169B32757167}" dt="2022-12-01T17:20:20.723" v="132" actId="1036"/>
        <pc:sldMkLst>
          <pc:docMk/>
          <pc:sldMk cId="0" sldId="704"/>
        </pc:sldMkLst>
      </pc:sldChg>
      <pc:sldChg chg="modSp">
        <pc:chgData name="Neoh Kee Lin" userId="9e68bd29-1eeb-4ae3-beb9-48fd59e465e5" providerId="ADAL" clId="{250CBFAD-9D6F-47B7-88BC-169B32757167}" dt="2022-12-01T17:20:27.845" v="135" actId="1036"/>
        <pc:sldMkLst>
          <pc:docMk/>
          <pc:sldMk cId="0" sldId="705"/>
        </pc:sldMkLst>
      </pc:sldChg>
      <pc:sldChg chg="modSp">
        <pc:chgData name="Neoh Kee Lin" userId="9e68bd29-1eeb-4ae3-beb9-48fd59e465e5" providerId="ADAL" clId="{250CBFAD-9D6F-47B7-88BC-169B32757167}" dt="2022-12-01T17:20:35.842" v="138" actId="1036"/>
        <pc:sldMkLst>
          <pc:docMk/>
          <pc:sldMk cId="0" sldId="709"/>
        </pc:sldMkLst>
      </pc:sldChg>
      <pc:sldChg chg="modSp">
        <pc:chgData name="Neoh Kee Lin" userId="9e68bd29-1eeb-4ae3-beb9-48fd59e465e5" providerId="ADAL" clId="{250CBFAD-9D6F-47B7-88BC-169B32757167}" dt="2022-12-01T17:20:42.831" v="141" actId="1036"/>
        <pc:sldMkLst>
          <pc:docMk/>
          <pc:sldMk cId="0" sldId="711"/>
        </pc:sldMkLst>
      </pc:sldChg>
      <pc:sldChg chg="modSp">
        <pc:chgData name="Neoh Kee Lin" userId="9e68bd29-1eeb-4ae3-beb9-48fd59e465e5" providerId="ADAL" clId="{250CBFAD-9D6F-47B7-88BC-169B32757167}" dt="2022-12-01T17:20:50.148" v="144" actId="1036"/>
        <pc:sldMkLst>
          <pc:docMk/>
          <pc:sldMk cId="0" sldId="712"/>
        </pc:sldMkLst>
      </pc:sldChg>
      <pc:sldChg chg="modSp">
        <pc:chgData name="Neoh Kee Lin" userId="9e68bd29-1eeb-4ae3-beb9-48fd59e465e5" providerId="ADAL" clId="{250CBFAD-9D6F-47B7-88BC-169B32757167}" dt="2022-12-01T17:20:56.986" v="147" actId="1036"/>
        <pc:sldMkLst>
          <pc:docMk/>
          <pc:sldMk cId="0" sldId="713"/>
        </pc:sldMkLst>
      </pc:sldChg>
      <pc:sldChg chg="modSp">
        <pc:chgData name="Neoh Kee Lin" userId="9e68bd29-1eeb-4ae3-beb9-48fd59e465e5" providerId="ADAL" clId="{250CBFAD-9D6F-47B7-88BC-169B32757167}" dt="2022-12-01T17:21:55.166" v="161" actId="1036"/>
        <pc:sldMkLst>
          <pc:docMk/>
          <pc:sldMk cId="0" sldId="715"/>
        </pc:sldMkLst>
      </pc:sldChg>
      <pc:sldChg chg="modSp">
        <pc:chgData name="Neoh Kee Lin" userId="9e68bd29-1eeb-4ae3-beb9-48fd59e465e5" providerId="ADAL" clId="{250CBFAD-9D6F-47B7-88BC-169B32757167}" dt="2022-12-01T17:22:02.290" v="164" actId="1036"/>
        <pc:sldMkLst>
          <pc:docMk/>
          <pc:sldMk cId="0" sldId="718"/>
        </pc:sldMkLst>
      </pc:sldChg>
      <pc:sldChg chg="modSp">
        <pc:chgData name="Neoh Kee Lin" userId="9e68bd29-1eeb-4ae3-beb9-48fd59e465e5" providerId="ADAL" clId="{250CBFAD-9D6F-47B7-88BC-169B32757167}" dt="2022-12-01T17:22:08.563" v="167" actId="1036"/>
        <pc:sldMkLst>
          <pc:docMk/>
          <pc:sldMk cId="0" sldId="720"/>
        </pc:sldMkLst>
      </pc:sldChg>
      <pc:sldChg chg="modSp">
        <pc:chgData name="Neoh Kee Lin" userId="9e68bd29-1eeb-4ae3-beb9-48fd59e465e5" providerId="ADAL" clId="{250CBFAD-9D6F-47B7-88BC-169B32757167}" dt="2022-12-01T17:22:15.938" v="170" actId="1036"/>
        <pc:sldMkLst>
          <pc:docMk/>
          <pc:sldMk cId="0" sldId="721"/>
        </pc:sldMkLst>
      </pc:sldChg>
      <pc:sldChg chg="modSp">
        <pc:chgData name="Neoh Kee Lin" userId="9e68bd29-1eeb-4ae3-beb9-48fd59e465e5" providerId="ADAL" clId="{250CBFAD-9D6F-47B7-88BC-169B32757167}" dt="2022-12-01T17:22:21.876" v="173" actId="1036"/>
        <pc:sldMkLst>
          <pc:docMk/>
          <pc:sldMk cId="0" sldId="727"/>
        </pc:sldMkLst>
      </pc:sldChg>
      <pc:sldChg chg="modSp">
        <pc:chgData name="Neoh Kee Lin" userId="9e68bd29-1eeb-4ae3-beb9-48fd59e465e5" providerId="ADAL" clId="{250CBFAD-9D6F-47B7-88BC-169B32757167}" dt="2022-12-01T17:22:28.145" v="176" actId="1036"/>
        <pc:sldMkLst>
          <pc:docMk/>
          <pc:sldMk cId="0" sldId="728"/>
        </pc:sldMkLst>
      </pc:sldChg>
      <pc:sldChg chg="modSp">
        <pc:chgData name="Neoh Kee Lin" userId="9e68bd29-1eeb-4ae3-beb9-48fd59e465e5" providerId="ADAL" clId="{250CBFAD-9D6F-47B7-88BC-169B32757167}" dt="2022-12-01T17:22:34.590" v="179" actId="1036"/>
        <pc:sldMkLst>
          <pc:docMk/>
          <pc:sldMk cId="0" sldId="734"/>
        </pc:sldMkLst>
      </pc:sldChg>
      <pc:sldChg chg="modSp">
        <pc:chgData name="Neoh Kee Lin" userId="9e68bd29-1eeb-4ae3-beb9-48fd59e465e5" providerId="ADAL" clId="{250CBFAD-9D6F-47B7-88BC-169B32757167}" dt="2022-12-01T17:22:41.739" v="182" actId="1036"/>
        <pc:sldMkLst>
          <pc:docMk/>
          <pc:sldMk cId="0" sldId="735"/>
        </pc:sldMkLst>
      </pc:sldChg>
      <pc:sldChg chg="modSp">
        <pc:chgData name="Neoh Kee Lin" userId="9e68bd29-1eeb-4ae3-beb9-48fd59e465e5" providerId="ADAL" clId="{250CBFAD-9D6F-47B7-88BC-169B32757167}" dt="2022-12-01T17:22:48.496" v="185" actId="1036"/>
        <pc:sldMkLst>
          <pc:docMk/>
          <pc:sldMk cId="0" sldId="736"/>
        </pc:sldMkLst>
      </pc:sldChg>
      <pc:sldChg chg="modSp">
        <pc:chgData name="Neoh Kee Lin" userId="9e68bd29-1eeb-4ae3-beb9-48fd59e465e5" providerId="ADAL" clId="{250CBFAD-9D6F-47B7-88BC-169B32757167}" dt="2022-12-01T17:22:54.931" v="188" actId="1036"/>
        <pc:sldMkLst>
          <pc:docMk/>
          <pc:sldMk cId="0" sldId="737"/>
        </pc:sldMkLst>
      </pc:sldChg>
      <pc:sldChg chg="modSp">
        <pc:chgData name="Neoh Kee Lin" userId="9e68bd29-1eeb-4ae3-beb9-48fd59e465e5" providerId="ADAL" clId="{250CBFAD-9D6F-47B7-88BC-169B32757167}" dt="2022-12-01T17:23:00.961" v="191" actId="1036"/>
        <pc:sldMkLst>
          <pc:docMk/>
          <pc:sldMk cId="0" sldId="739"/>
        </pc:sldMkLst>
      </pc:sldChg>
      <pc:sldChg chg="modSp">
        <pc:chgData name="Neoh Kee Lin" userId="9e68bd29-1eeb-4ae3-beb9-48fd59e465e5" providerId="ADAL" clId="{250CBFAD-9D6F-47B7-88BC-169B32757167}" dt="2022-12-01T17:23:07.220" v="194" actId="1036"/>
        <pc:sldMkLst>
          <pc:docMk/>
          <pc:sldMk cId="0" sldId="740"/>
        </pc:sldMkLst>
      </pc:sldChg>
      <pc:sldChg chg="modSp">
        <pc:chgData name="Neoh Kee Lin" userId="9e68bd29-1eeb-4ae3-beb9-48fd59e465e5" providerId="ADAL" clId="{250CBFAD-9D6F-47B7-88BC-169B32757167}" dt="2022-12-01T17:23:13.615" v="197" actId="1036"/>
        <pc:sldMkLst>
          <pc:docMk/>
          <pc:sldMk cId="0" sldId="742"/>
        </pc:sldMkLst>
      </pc:sldChg>
      <pc:sldChg chg="modSp">
        <pc:chgData name="Neoh Kee Lin" userId="9e68bd29-1eeb-4ae3-beb9-48fd59e465e5" providerId="ADAL" clId="{250CBFAD-9D6F-47B7-88BC-169B32757167}" dt="2022-12-01T17:23:21.553" v="200" actId="1036"/>
        <pc:sldMkLst>
          <pc:docMk/>
          <pc:sldMk cId="0" sldId="743"/>
        </pc:sldMkLst>
      </pc:sldChg>
      <pc:sldChg chg="modSp mod">
        <pc:chgData name="Neoh Kee Lin" userId="9e68bd29-1eeb-4ae3-beb9-48fd59e465e5" providerId="ADAL" clId="{250CBFAD-9D6F-47B7-88BC-169B32757167}" dt="2022-12-01T17:24:13.684" v="207" actId="403"/>
        <pc:sldMkLst>
          <pc:docMk/>
          <pc:sldMk cId="0" sldId="744"/>
        </pc:sldMkLst>
      </pc:sldChg>
      <pc:sldChg chg="modSp mod">
        <pc:chgData name="Neoh Kee Lin" userId="9e68bd29-1eeb-4ae3-beb9-48fd59e465e5" providerId="ADAL" clId="{250CBFAD-9D6F-47B7-88BC-169B32757167}" dt="2022-12-01T17:24:25.758" v="209" actId="403"/>
        <pc:sldMkLst>
          <pc:docMk/>
          <pc:sldMk cId="0" sldId="745"/>
        </pc:sldMkLst>
      </pc:sldChg>
      <pc:sldChg chg="modSp mod">
        <pc:chgData name="Neoh Kee Lin" userId="9e68bd29-1eeb-4ae3-beb9-48fd59e465e5" providerId="ADAL" clId="{250CBFAD-9D6F-47B7-88BC-169B32757167}" dt="2022-12-01T17:15:50.684" v="73" actId="6549"/>
        <pc:sldMkLst>
          <pc:docMk/>
          <pc:sldMk cId="0" sldId="746"/>
        </pc:sldMkLst>
      </pc:sldChg>
      <pc:sldChg chg="modSp mod">
        <pc:chgData name="Neoh Kee Lin" userId="9e68bd29-1eeb-4ae3-beb9-48fd59e465e5" providerId="ADAL" clId="{250CBFAD-9D6F-47B7-88BC-169B32757167}" dt="2022-12-01T17:15:47.132" v="72" actId="6549"/>
        <pc:sldMkLst>
          <pc:docMk/>
          <pc:sldMk cId="0" sldId="747"/>
        </pc:sldMkLst>
      </pc:sldChg>
      <pc:sldChg chg="modSp mod">
        <pc:chgData name="Neoh Kee Lin" userId="9e68bd29-1eeb-4ae3-beb9-48fd59e465e5" providerId="ADAL" clId="{250CBFAD-9D6F-47B7-88BC-169B32757167}" dt="2022-12-01T17:15:44.108" v="71" actId="6549"/>
        <pc:sldMkLst>
          <pc:docMk/>
          <pc:sldMk cId="0" sldId="749"/>
        </pc:sldMkLst>
      </pc:sldChg>
      <pc:sldChg chg="modSp mod">
        <pc:chgData name="Neoh Kee Lin" userId="9e68bd29-1eeb-4ae3-beb9-48fd59e465e5" providerId="ADAL" clId="{250CBFAD-9D6F-47B7-88BC-169B32757167}" dt="2022-12-01T17:15:40.941" v="70" actId="6549"/>
        <pc:sldMkLst>
          <pc:docMk/>
          <pc:sldMk cId="0" sldId="751"/>
        </pc:sldMkLst>
      </pc:sldChg>
      <pc:sldChg chg="modSp mod">
        <pc:chgData name="Neoh Kee Lin" userId="9e68bd29-1eeb-4ae3-beb9-48fd59e465e5" providerId="ADAL" clId="{250CBFAD-9D6F-47B7-88BC-169B32757167}" dt="2022-12-01T17:15:37.734" v="69" actId="6549"/>
        <pc:sldMkLst>
          <pc:docMk/>
          <pc:sldMk cId="0" sldId="752"/>
        </pc:sldMkLst>
      </pc:sldChg>
      <pc:sldChg chg="modSp mod">
        <pc:chgData name="Neoh Kee Lin" userId="9e68bd29-1eeb-4ae3-beb9-48fd59e465e5" providerId="ADAL" clId="{250CBFAD-9D6F-47B7-88BC-169B32757167}" dt="2022-12-01T17:15:34.182" v="68" actId="6549"/>
        <pc:sldMkLst>
          <pc:docMk/>
          <pc:sldMk cId="0" sldId="755"/>
        </pc:sldMkLst>
      </pc:sldChg>
      <pc:sldChg chg="modSp mod">
        <pc:chgData name="Neoh Kee Lin" userId="9e68bd29-1eeb-4ae3-beb9-48fd59e465e5" providerId="ADAL" clId="{250CBFAD-9D6F-47B7-88BC-169B32757167}" dt="2022-12-01T17:15:27.565" v="67" actId="6549"/>
        <pc:sldMkLst>
          <pc:docMk/>
          <pc:sldMk cId="0" sldId="756"/>
        </pc:sldMkLst>
      </pc:sldChg>
      <pc:sldChg chg="modSp mod">
        <pc:chgData name="Neoh Kee Lin" userId="9e68bd29-1eeb-4ae3-beb9-48fd59e465e5" providerId="ADAL" clId="{250CBFAD-9D6F-47B7-88BC-169B32757167}" dt="2022-12-01T17:15:23.085" v="66" actId="6549"/>
        <pc:sldMkLst>
          <pc:docMk/>
          <pc:sldMk cId="0" sldId="757"/>
        </pc:sldMkLst>
      </pc:sldChg>
      <pc:sldChg chg="modSp mod">
        <pc:chgData name="Neoh Kee Lin" userId="9e68bd29-1eeb-4ae3-beb9-48fd59e465e5" providerId="ADAL" clId="{250CBFAD-9D6F-47B7-88BC-169B32757167}" dt="2022-12-01T17:16:05.872" v="76" actId="6549"/>
        <pc:sldMkLst>
          <pc:docMk/>
          <pc:sldMk cId="0" sldId="758"/>
        </pc:sldMkLst>
      </pc:sldChg>
      <pc:sldChg chg="modSp mod">
        <pc:chgData name="Neoh Kee Lin" userId="9e68bd29-1eeb-4ae3-beb9-48fd59e465e5" providerId="ADAL" clId="{250CBFAD-9D6F-47B7-88BC-169B32757167}" dt="2022-12-01T17:10:45.325" v="62"/>
        <pc:sldMkLst>
          <pc:docMk/>
          <pc:sldMk cId="0" sldId="816"/>
        </pc:sldMkLst>
      </pc:sldChg>
      <pc:sldChg chg="modSp mod">
        <pc:chgData name="Neoh Kee Lin" userId="9e68bd29-1eeb-4ae3-beb9-48fd59e465e5" providerId="ADAL" clId="{250CBFAD-9D6F-47B7-88BC-169B32757167}" dt="2022-12-01T17:10:42.508" v="61"/>
        <pc:sldMkLst>
          <pc:docMk/>
          <pc:sldMk cId="0" sldId="817"/>
        </pc:sldMkLst>
      </pc:sldChg>
      <pc:sldChg chg="modSp mod">
        <pc:chgData name="Neoh Kee Lin" userId="9e68bd29-1eeb-4ae3-beb9-48fd59e465e5" providerId="ADAL" clId="{250CBFAD-9D6F-47B7-88BC-169B32757167}" dt="2022-12-01T17:11:00.056" v="65"/>
        <pc:sldMkLst>
          <pc:docMk/>
          <pc:sldMk cId="0" sldId="818"/>
        </pc:sldMkLst>
      </pc:sldChg>
      <pc:sldChg chg="modSp mod">
        <pc:chgData name="Neoh Kee Lin" userId="9e68bd29-1eeb-4ae3-beb9-48fd59e465e5" providerId="ADAL" clId="{250CBFAD-9D6F-47B7-88BC-169B32757167}" dt="2022-12-01T17:10:38.415" v="60"/>
        <pc:sldMkLst>
          <pc:docMk/>
          <pc:sldMk cId="0" sldId="819"/>
        </pc:sldMkLst>
      </pc:sldChg>
      <pc:sldChg chg="modSp mod">
        <pc:chgData name="Neoh Kee Lin" userId="9e68bd29-1eeb-4ae3-beb9-48fd59e465e5" providerId="ADAL" clId="{250CBFAD-9D6F-47B7-88BC-169B32757167}" dt="2022-12-01T17:10:34.569" v="59"/>
        <pc:sldMkLst>
          <pc:docMk/>
          <pc:sldMk cId="0" sldId="820"/>
        </pc:sldMkLst>
      </pc:sldChg>
      <pc:sldChg chg="modSp mod">
        <pc:chgData name="Neoh Kee Lin" userId="9e68bd29-1eeb-4ae3-beb9-48fd59e465e5" providerId="ADAL" clId="{250CBFAD-9D6F-47B7-88BC-169B32757167}" dt="2022-12-01T17:10:32.186" v="58"/>
        <pc:sldMkLst>
          <pc:docMk/>
          <pc:sldMk cId="0" sldId="821"/>
        </pc:sldMkLst>
      </pc:sldChg>
      <pc:sldChg chg="modSp mod">
        <pc:chgData name="Neoh Kee Lin" userId="9e68bd29-1eeb-4ae3-beb9-48fd59e465e5" providerId="ADAL" clId="{250CBFAD-9D6F-47B7-88BC-169B32757167}" dt="2022-12-01T17:10:29.738" v="57"/>
        <pc:sldMkLst>
          <pc:docMk/>
          <pc:sldMk cId="0" sldId="822"/>
        </pc:sldMkLst>
      </pc:sldChg>
      <pc:sldChg chg="modSp mod">
        <pc:chgData name="Neoh Kee Lin" userId="9e68bd29-1eeb-4ae3-beb9-48fd59e465e5" providerId="ADAL" clId="{250CBFAD-9D6F-47B7-88BC-169B32757167}" dt="2022-12-01T17:10:27.097" v="56"/>
        <pc:sldMkLst>
          <pc:docMk/>
          <pc:sldMk cId="0" sldId="824"/>
        </pc:sldMkLst>
      </pc:sldChg>
      <pc:sldChg chg="modSp mod">
        <pc:chgData name="Neoh Kee Lin" userId="9e68bd29-1eeb-4ae3-beb9-48fd59e465e5" providerId="ADAL" clId="{250CBFAD-9D6F-47B7-88BC-169B32757167}" dt="2022-12-01T17:10:20.821" v="54"/>
        <pc:sldMkLst>
          <pc:docMk/>
          <pc:sldMk cId="0" sldId="825"/>
        </pc:sldMkLst>
      </pc:sldChg>
      <pc:sldChg chg="modSp mod">
        <pc:chgData name="Neoh Kee Lin" userId="9e68bd29-1eeb-4ae3-beb9-48fd59e465e5" providerId="ADAL" clId="{250CBFAD-9D6F-47B7-88BC-169B32757167}" dt="2022-12-01T17:10:23.584" v="55"/>
        <pc:sldMkLst>
          <pc:docMk/>
          <pc:sldMk cId="0" sldId="826"/>
        </pc:sldMkLst>
      </pc:sldChg>
      <pc:sldChg chg="modSp mod">
        <pc:chgData name="Neoh Kee Lin" userId="9e68bd29-1eeb-4ae3-beb9-48fd59e465e5" providerId="ADAL" clId="{250CBFAD-9D6F-47B7-88BC-169B32757167}" dt="2022-12-01T17:10:17.955" v="53"/>
        <pc:sldMkLst>
          <pc:docMk/>
          <pc:sldMk cId="0" sldId="828"/>
        </pc:sldMkLst>
      </pc:sldChg>
      <pc:sldChg chg="modSp mod">
        <pc:chgData name="Neoh Kee Lin" userId="9e68bd29-1eeb-4ae3-beb9-48fd59e465e5" providerId="ADAL" clId="{250CBFAD-9D6F-47B7-88BC-169B32757167}" dt="2022-12-01T17:10:15.275" v="52"/>
        <pc:sldMkLst>
          <pc:docMk/>
          <pc:sldMk cId="0" sldId="830"/>
        </pc:sldMkLst>
      </pc:sldChg>
      <pc:sldChg chg="modSp mod">
        <pc:chgData name="Neoh Kee Lin" userId="9e68bd29-1eeb-4ae3-beb9-48fd59e465e5" providerId="ADAL" clId="{250CBFAD-9D6F-47B7-88BC-169B32757167}" dt="2022-12-01T17:10:04.170" v="49"/>
        <pc:sldMkLst>
          <pc:docMk/>
          <pc:sldMk cId="0" sldId="833"/>
        </pc:sldMkLst>
      </pc:sldChg>
      <pc:sldChg chg="modSp mod">
        <pc:chgData name="Neoh Kee Lin" userId="9e68bd29-1eeb-4ae3-beb9-48fd59e465e5" providerId="ADAL" clId="{250CBFAD-9D6F-47B7-88BC-169B32757167}" dt="2022-12-01T17:09:57.771" v="47"/>
        <pc:sldMkLst>
          <pc:docMk/>
          <pc:sldMk cId="0" sldId="835"/>
        </pc:sldMkLst>
      </pc:sldChg>
      <pc:sldChg chg="modSp mod">
        <pc:chgData name="Neoh Kee Lin" userId="9e68bd29-1eeb-4ae3-beb9-48fd59e465e5" providerId="ADAL" clId="{250CBFAD-9D6F-47B7-88BC-169B32757167}" dt="2022-12-01T17:10:08.714" v="50"/>
        <pc:sldMkLst>
          <pc:docMk/>
          <pc:sldMk cId="0" sldId="838"/>
        </pc:sldMkLst>
      </pc:sldChg>
      <pc:sldChg chg="modSp mod">
        <pc:chgData name="Neoh Kee Lin" userId="9e68bd29-1eeb-4ae3-beb9-48fd59e465e5" providerId="ADAL" clId="{250CBFAD-9D6F-47B7-88BC-169B32757167}" dt="2022-12-01T17:10:01.260" v="48"/>
        <pc:sldMkLst>
          <pc:docMk/>
          <pc:sldMk cId="0" sldId="839"/>
        </pc:sldMkLst>
      </pc:sldChg>
      <pc:sldChg chg="modSp mod">
        <pc:chgData name="Neoh Kee Lin" userId="9e68bd29-1eeb-4ae3-beb9-48fd59e465e5" providerId="ADAL" clId="{250CBFAD-9D6F-47B7-88BC-169B32757167}" dt="2022-12-01T17:09:54.876" v="46"/>
        <pc:sldMkLst>
          <pc:docMk/>
          <pc:sldMk cId="0" sldId="840"/>
        </pc:sldMkLst>
      </pc:sldChg>
      <pc:sldChg chg="modSp mod">
        <pc:chgData name="Neoh Kee Lin" userId="9e68bd29-1eeb-4ae3-beb9-48fd59e465e5" providerId="ADAL" clId="{250CBFAD-9D6F-47B7-88BC-169B32757167}" dt="2022-12-01T17:09:47.036" v="45" actId="6549"/>
        <pc:sldMkLst>
          <pc:docMk/>
          <pc:sldMk cId="0" sldId="841"/>
        </pc:sldMkLst>
      </pc:sldChg>
      <pc:sldChg chg="modSp mod">
        <pc:chgData name="Neoh Kee Lin" userId="9e68bd29-1eeb-4ae3-beb9-48fd59e465e5" providerId="ADAL" clId="{250CBFAD-9D6F-47B7-88BC-169B32757167}" dt="2022-12-01T17:10:11.813" v="51"/>
        <pc:sldMkLst>
          <pc:docMk/>
          <pc:sldMk cId="0" sldId="842"/>
        </pc:sldMkLst>
      </pc:sldChg>
      <pc:sldChg chg="modSp mod">
        <pc:chgData name="Neoh Kee Lin" userId="9e68bd29-1eeb-4ae3-beb9-48fd59e465e5" providerId="ADAL" clId="{250CBFAD-9D6F-47B7-88BC-169B32757167}" dt="2022-12-01T17:21:15.084" v="152" actId="6549"/>
        <pc:sldMkLst>
          <pc:docMk/>
          <pc:sldMk cId="1100265402" sldId="872"/>
        </pc:sldMkLst>
      </pc:sldChg>
      <pc:sldChg chg="modSp">
        <pc:chgData name="Neoh Kee Lin" userId="9e68bd29-1eeb-4ae3-beb9-48fd59e465e5" providerId="ADAL" clId="{250CBFAD-9D6F-47B7-88BC-169B32757167}" dt="2022-12-01T17:21:38.176" v="155" actId="1036"/>
        <pc:sldMkLst>
          <pc:docMk/>
          <pc:sldMk cId="2874924296" sldId="873"/>
        </pc:sldMkLst>
      </pc:sldChg>
      <pc:sldChg chg="modSp">
        <pc:chgData name="Neoh Kee Lin" userId="9e68bd29-1eeb-4ae3-beb9-48fd59e465e5" providerId="ADAL" clId="{250CBFAD-9D6F-47B7-88BC-169B32757167}" dt="2022-12-01T17:23:29.060" v="203" actId="1036"/>
        <pc:sldMkLst>
          <pc:docMk/>
          <pc:sldMk cId="3237706377" sldId="874"/>
        </pc:sldMkLst>
      </pc:sldChg>
      <pc:sldChg chg="modSp">
        <pc:chgData name="Neoh Kee Lin" userId="9e68bd29-1eeb-4ae3-beb9-48fd59e465e5" providerId="ADAL" clId="{250CBFAD-9D6F-47B7-88BC-169B32757167}" dt="2022-12-01T17:23:35.760" v="206" actId="1036"/>
        <pc:sldMkLst>
          <pc:docMk/>
          <pc:sldMk cId="982561877" sldId="875"/>
        </pc:sldMkLst>
      </pc:sldChg>
    </pc:docChg>
  </pc:docChgLst>
  <pc:docChgLst>
    <pc:chgData name="Neoh Kee Lin" userId="9e68bd29-1eeb-4ae3-beb9-48fd59e465e5" providerId="ADAL" clId="{5424D6EE-E256-4BB8-9E1E-3F57FA7C8E7E}"/>
    <pc:docChg chg="modSld">
      <pc:chgData name="Neoh Kee Lin" userId="9e68bd29-1eeb-4ae3-beb9-48fd59e465e5" providerId="ADAL" clId="{5424D6EE-E256-4BB8-9E1E-3F57FA7C8E7E}" dt="2024-12-23T14:13:46.304" v="1" actId="20577"/>
      <pc:docMkLst>
        <pc:docMk/>
      </pc:docMkLst>
      <pc:sldChg chg="modSp mod">
        <pc:chgData name="Neoh Kee Lin" userId="9e68bd29-1eeb-4ae3-beb9-48fd59e465e5" providerId="ADAL" clId="{5424D6EE-E256-4BB8-9E1E-3F57FA7C8E7E}" dt="2024-12-23T14:13:46.304" v="1" actId="20577"/>
        <pc:sldMkLst>
          <pc:docMk/>
          <pc:sldMk cId="0" sldId="257"/>
        </pc:sldMkLst>
        <pc:spChg chg="mod">
          <ac:chgData name="Neoh Kee Lin" userId="9e68bd29-1eeb-4ae3-beb9-48fd59e465e5" providerId="ADAL" clId="{5424D6EE-E256-4BB8-9E1E-3F57FA7C8E7E}" dt="2024-12-23T14:13:46.304" v="1" actId="20577"/>
          <ac:spMkLst>
            <pc:docMk/>
            <pc:sldMk cId="0" sldId="257"/>
            <ac:spMk id="5124" creationId="{00000000-0000-0000-0000-000000000000}"/>
          </ac:spMkLst>
        </pc:sp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62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50563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2052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val="1"/>
            </a:ext>
          </a:extLst>
        </p:spPr>
      </p:sp>
      <p:sp>
        <p:nvSpPr>
          <p:cNvPr id="450565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noProof="0"/>
              <a:t>Click to edit Master text styles</a:t>
            </a:r>
          </a:p>
          <a:p>
            <a:pPr lvl="1"/>
            <a:r>
              <a:rPr lang="en-US" altLang="en-US" noProof="0"/>
              <a:t>Second level</a:t>
            </a:r>
          </a:p>
          <a:p>
            <a:pPr lvl="2"/>
            <a:r>
              <a:rPr lang="en-US" altLang="en-US" noProof="0"/>
              <a:t>Third level</a:t>
            </a:r>
          </a:p>
          <a:p>
            <a:pPr lvl="3"/>
            <a:r>
              <a:rPr lang="en-US" altLang="en-US" noProof="0"/>
              <a:t>Fourth level</a:t>
            </a:r>
          </a:p>
          <a:p>
            <a:pPr lvl="4"/>
            <a:r>
              <a:rPr lang="en-US" altLang="en-US" noProof="0"/>
              <a:t>Fifth level</a:t>
            </a:r>
          </a:p>
        </p:txBody>
      </p:sp>
      <p:sp>
        <p:nvSpPr>
          <p:cNvPr id="450566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eaLnBrk="1" hangingPunct="1"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50567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200"/>
            </a:lvl1pPr>
          </a:lstStyle>
          <a:p>
            <a:pPr>
              <a:defRPr/>
            </a:pPr>
            <a:fld id="{88C62A39-908A-4B81-9195-DDE0C265EDAB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89430679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26D533D4-C827-4564-A3FA-78D9C3B45F31}" type="slidenum">
              <a:rPr lang="en-US" altLang="en-US" smtClean="0"/>
              <a:pPr>
                <a:spcBef>
                  <a:spcPct val="0"/>
                </a:spcBef>
              </a:pPr>
              <a:t>1</a:t>
            </a:fld>
            <a:endParaRPr lang="en-US" altLang="en-US"/>
          </a:p>
        </p:txBody>
      </p:sp>
      <p:sp>
        <p:nvSpPr>
          <p:cNvPr id="40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44588" y="685800"/>
            <a:ext cx="4572000" cy="3429000"/>
          </a:xfrm>
          <a:ln/>
        </p:spPr>
      </p:sp>
      <p:sp>
        <p:nvSpPr>
          <p:cNvPr id="4100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7496567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11D815E-1E9F-4750-8DB8-F0362188113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67720530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52B65E7-8531-4D26-AE8A-DB26745586CA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97699748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16C418E-A6CC-4375-AA70-E2650DCF2ED7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9559612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64B7ADA-42B8-4D3A-80F4-7DE7449A1115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82164601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4BB0401-E7EA-4969-8B2B-91EDD82AF88F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77351100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3F71228-68F0-4B93-B77A-29633F8575F5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94392168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560972B-0F2D-4D6E-A088-7C3BC29DEB87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4566622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021AFBE-EB49-42E7-A77B-3DDDFD669A38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51360836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GB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CC0FE45-FA9F-4FA4-AC55-E92D50CB1D5B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41950758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0A32D5B-B326-4B94-9DC3-34A5C36D1983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82392458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1C2C901-B459-47DF-B144-7D84048E0AE6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14972542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>
                <a:latin typeface="Arial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>
                <a:latin typeface="Arial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/>
            </a:lvl1pPr>
          </a:lstStyle>
          <a:p>
            <a:pPr>
              <a:defRPr/>
            </a:pPr>
            <a:fld id="{ECD1BCD0-5057-45F8-B9CE-389C159BF30C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hf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8D600DAA-9187-4839-95A8-74FC528FD4A1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</a:t>
            </a:fld>
            <a:endParaRPr lang="en-US" altLang="en-US" sz="1400"/>
          </a:p>
        </p:txBody>
      </p:sp>
      <p:sp>
        <p:nvSpPr>
          <p:cNvPr id="307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447800"/>
            <a:ext cx="8229600" cy="3124200"/>
          </a:xfrm>
          <a:noFill/>
        </p:spPr>
        <p:txBody>
          <a:bodyPr/>
          <a:lstStyle/>
          <a:p>
            <a:pPr algn="ctr" eaLnBrk="1" hangingPunct="1">
              <a:buFontTx/>
              <a:buNone/>
            </a:pPr>
            <a:endParaRPr lang="en-US" altLang="en-US" sz="3600" dirty="0"/>
          </a:p>
          <a:p>
            <a:pPr algn="ctr" eaLnBrk="1" hangingPunct="1">
              <a:buFontTx/>
              <a:buNone/>
            </a:pPr>
            <a:r>
              <a:rPr lang="en-US" altLang="en-US" sz="4000" dirty="0"/>
              <a:t>Lecture 04</a:t>
            </a:r>
          </a:p>
          <a:p>
            <a:pPr algn="ctr" eaLnBrk="1" hangingPunct="1">
              <a:buFontTx/>
              <a:buNone/>
            </a:pPr>
            <a:r>
              <a:rPr lang="en-US" altLang="en-US" sz="4000" dirty="0"/>
              <a:t>Priority Queues, and Heaps</a:t>
            </a:r>
          </a:p>
        </p:txBody>
      </p:sp>
    </p:spTree>
  </p:cSld>
  <p:clrMapOvr>
    <a:masterClrMapping/>
  </p:clrMapOvr>
  <p:transition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1DBD53F0-2080-4B2C-9EAD-C721ACC3D636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2</a:t>
            </a:fld>
            <a:endParaRPr lang="en-US" altLang="en-US" sz="1400"/>
          </a:p>
        </p:txBody>
      </p:sp>
      <p:sp>
        <p:nvSpPr>
          <p:cNvPr id="5123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868362"/>
          </a:xfrm>
        </p:spPr>
        <p:txBody>
          <a:bodyPr/>
          <a:lstStyle/>
          <a:p>
            <a:pPr eaLnBrk="1" hangingPunct="1"/>
            <a:r>
              <a:rPr lang="en-US" altLang="en-US"/>
              <a:t>Priority Queue ADT</a:t>
            </a:r>
          </a:p>
        </p:txBody>
      </p:sp>
      <p:sp>
        <p:nvSpPr>
          <p:cNvPr id="512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219200"/>
            <a:ext cx="8229600" cy="5486400"/>
          </a:xfrm>
        </p:spPr>
        <p:txBody>
          <a:bodyPr/>
          <a:lstStyle/>
          <a:p>
            <a:pPr eaLnBrk="1" hangingPunct="1"/>
            <a:r>
              <a:rPr lang="en-US" altLang="en-US" sz="2800" dirty="0"/>
              <a:t>The data in a </a:t>
            </a:r>
            <a:r>
              <a:rPr lang="en-US" altLang="en-US" sz="2800" b="1" i="1" dirty="0">
                <a:solidFill>
                  <a:srgbClr val="0000FF"/>
                </a:solidFill>
              </a:rPr>
              <a:t>priority queue</a:t>
            </a:r>
            <a:r>
              <a:rPr lang="en-US" altLang="en-US" sz="2800" dirty="0"/>
              <a:t> is a queue of elements with priority.</a:t>
            </a:r>
          </a:p>
          <a:p>
            <a:pPr eaLnBrk="1" hangingPunct="1"/>
            <a:r>
              <a:rPr lang="en-US" altLang="en-US" sz="2800" dirty="0"/>
              <a:t>The priority can be either max or min:</a:t>
            </a:r>
          </a:p>
          <a:p>
            <a:pPr lvl="1" eaLnBrk="1" hangingPunct="1"/>
            <a:r>
              <a:rPr lang="en-US" altLang="en-US" sz="2400" dirty="0"/>
              <a:t>A PQ with </a:t>
            </a:r>
            <a:r>
              <a:rPr lang="en-US" altLang="en-US" sz="2400" u="sng" dirty="0"/>
              <a:t>max priority</a:t>
            </a:r>
            <a:r>
              <a:rPr lang="en-US" altLang="en-US" sz="2400" dirty="0"/>
              <a:t> always removes the </a:t>
            </a:r>
            <a:r>
              <a:rPr lang="en-US" altLang="en-US" sz="2400" u="sng" dirty="0"/>
              <a:t>largest</a:t>
            </a:r>
            <a:r>
              <a:rPr lang="en-US" altLang="en-US" sz="2400" dirty="0"/>
              <a:t> element first.</a:t>
            </a:r>
          </a:p>
          <a:p>
            <a:pPr lvl="1" eaLnBrk="1" hangingPunct="1"/>
            <a:r>
              <a:rPr lang="en-US" altLang="en-US" sz="2400" dirty="0"/>
              <a:t>A PQ with </a:t>
            </a:r>
            <a:r>
              <a:rPr lang="en-US" altLang="en-US" sz="2400" u="sng" dirty="0"/>
              <a:t>min priority</a:t>
            </a:r>
            <a:r>
              <a:rPr lang="en-US" altLang="en-US" sz="2400" dirty="0"/>
              <a:t> always removes the </a:t>
            </a:r>
            <a:r>
              <a:rPr lang="en-US" altLang="en-US" sz="2400" u="sng" dirty="0"/>
              <a:t>smallest</a:t>
            </a:r>
            <a:r>
              <a:rPr lang="en-US" altLang="en-US" sz="2400" dirty="0"/>
              <a:t> element first.</a:t>
            </a:r>
          </a:p>
          <a:p>
            <a:pPr eaLnBrk="1" hangingPunct="1"/>
            <a:r>
              <a:rPr lang="en-US" altLang="en-US" sz="2800" dirty="0"/>
              <a:t>The priority is fixed during the construction of the PQ.</a:t>
            </a:r>
          </a:p>
          <a:p>
            <a:pPr eaLnBrk="1" hangingPunct="1"/>
            <a:r>
              <a:rPr lang="en-US" altLang="en-US" sz="2800" dirty="0"/>
              <a:t>This chapter focuses on PQ with max priority only.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2E4555A8-A13A-4B98-BE68-84A3718C631F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3</a:t>
            </a:fld>
            <a:endParaRPr lang="en-US" altLang="en-US" sz="1400"/>
          </a:p>
        </p:txBody>
      </p:sp>
      <p:sp>
        <p:nvSpPr>
          <p:cNvPr id="6147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249362"/>
          </a:xfrm>
        </p:spPr>
        <p:txBody>
          <a:bodyPr/>
          <a:lstStyle/>
          <a:p>
            <a:pPr eaLnBrk="1" hangingPunct="1"/>
            <a:r>
              <a:rPr lang="en-US" altLang="en-US" sz="4000" dirty="0"/>
              <a:t>Priority Queue ADT</a:t>
            </a:r>
            <a:br>
              <a:rPr lang="en-US" altLang="en-US" sz="4000" dirty="0"/>
            </a:br>
            <a:r>
              <a:rPr lang="en-US" altLang="en-US" sz="4000" dirty="0"/>
              <a:t>Operations</a:t>
            </a:r>
          </a:p>
        </p:txBody>
      </p:sp>
      <p:sp>
        <p:nvSpPr>
          <p:cNvPr id="614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828800"/>
            <a:ext cx="8229600" cy="4648200"/>
          </a:xfrm>
        </p:spPr>
        <p:txBody>
          <a:bodyPr/>
          <a:lstStyle/>
          <a:p>
            <a:pPr eaLnBrk="1" hangingPunct="1">
              <a:buClr>
                <a:schemeClr val="tx1"/>
              </a:buClr>
            </a:pPr>
            <a:r>
              <a:rPr lang="en-US" altLang="en-US" b="1" i="1" dirty="0" err="1">
                <a:solidFill>
                  <a:srgbClr val="0000FF"/>
                </a:solidFill>
              </a:rPr>
              <a:t>enqueue</a:t>
            </a:r>
            <a:r>
              <a:rPr lang="en-US" altLang="en-US" dirty="0"/>
              <a:t>, an operation to add an element to the queue.</a:t>
            </a:r>
          </a:p>
          <a:p>
            <a:pPr eaLnBrk="1" hangingPunct="1">
              <a:buClr>
                <a:schemeClr val="tx1"/>
              </a:buClr>
            </a:pPr>
            <a:r>
              <a:rPr lang="en-US" altLang="en-US" b="1" i="1" dirty="0" err="1">
                <a:solidFill>
                  <a:srgbClr val="0000FF"/>
                </a:solidFill>
              </a:rPr>
              <a:t>dequeue</a:t>
            </a:r>
            <a:r>
              <a:rPr lang="en-US" altLang="en-US" dirty="0"/>
              <a:t>, an operation to remove the </a:t>
            </a:r>
            <a:r>
              <a:rPr lang="en-US" altLang="en-US" u="sng" dirty="0"/>
              <a:t>largest</a:t>
            </a:r>
            <a:r>
              <a:rPr lang="en-US" altLang="en-US" dirty="0"/>
              <a:t> element from the queue.</a:t>
            </a:r>
          </a:p>
          <a:p>
            <a:pPr eaLnBrk="1" hangingPunct="1">
              <a:buClr>
                <a:schemeClr val="tx1"/>
              </a:buClr>
            </a:pPr>
            <a:r>
              <a:rPr lang="en-US" altLang="en-US" i="1" dirty="0" err="1"/>
              <a:t>isEmpty</a:t>
            </a:r>
            <a:r>
              <a:rPr lang="en-US" altLang="en-US" dirty="0"/>
              <a:t>, an operation to determine whether or not the queue is empty.</a:t>
            </a:r>
          </a:p>
          <a:p>
            <a:pPr eaLnBrk="1" hangingPunct="1">
              <a:buClr>
                <a:schemeClr val="tx1"/>
              </a:buClr>
            </a:pPr>
            <a:r>
              <a:rPr lang="en-US" altLang="en-US" i="1" dirty="0"/>
              <a:t>clear</a:t>
            </a:r>
            <a:r>
              <a:rPr lang="en-US" altLang="en-US" dirty="0"/>
              <a:t>, an operation to empty out the queue.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79D5035F-F327-49BB-B07A-0A1359AB6A93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4</a:t>
            </a:fld>
            <a:endParaRPr lang="en-US" altLang="en-US" sz="1400"/>
          </a:p>
        </p:txBody>
      </p:sp>
      <p:sp>
        <p:nvSpPr>
          <p:cNvPr id="819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4000" dirty="0"/>
              <a:t>Priority Queue </a:t>
            </a:r>
            <a:br>
              <a:rPr lang="en-US" altLang="en-US" sz="4000" dirty="0"/>
            </a:br>
            <a:r>
              <a:rPr lang="en-US" altLang="en-US" sz="4000" dirty="0"/>
              <a:t>Implementation</a:t>
            </a:r>
          </a:p>
        </p:txBody>
      </p:sp>
      <p:sp>
        <p:nvSpPr>
          <p:cNvPr id="819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600200"/>
            <a:ext cx="8229600" cy="4495800"/>
          </a:xfrm>
        </p:spPr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en-US" altLang="en-US" dirty="0"/>
              <a:t>To implement a priority queue, an </a:t>
            </a:r>
            <a:r>
              <a:rPr lang="en-US" altLang="en-US" u="sng" dirty="0"/>
              <a:t>array sorted in descending order</a:t>
            </a:r>
            <a:r>
              <a:rPr lang="en-US" altLang="en-US" dirty="0"/>
              <a:t> comes to mind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dirty="0" err="1"/>
              <a:t>Dequeuing</a:t>
            </a:r>
            <a:r>
              <a:rPr lang="en-US" altLang="en-US" dirty="0"/>
              <a:t> from a sorted array is easy – just get the value at the current front and increment a front index – this is </a:t>
            </a:r>
            <a:r>
              <a:rPr lang="en-US" altLang="en-US" dirty="0">
                <a:sym typeface="Symbol" panose="05050102010706020507" pitchFamily="18" charset="2"/>
              </a:rPr>
              <a:t>( 1 ) time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dirty="0">
                <a:sym typeface="Symbol" panose="05050102010706020507" pitchFamily="18" charset="2"/>
              </a:rPr>
              <a:t>However, </a:t>
            </a:r>
            <a:r>
              <a:rPr lang="en-US" altLang="en-US" dirty="0" err="1">
                <a:sym typeface="Symbol" panose="05050102010706020507" pitchFamily="18" charset="2"/>
              </a:rPr>
              <a:t>enqueuing</a:t>
            </a:r>
            <a:r>
              <a:rPr lang="en-US" altLang="en-US" dirty="0">
                <a:sym typeface="Symbol" panose="05050102010706020507" pitchFamily="18" charset="2"/>
              </a:rPr>
              <a:t> into a sorted array would take some time – the element would have to be inserted into its </a:t>
            </a:r>
            <a:r>
              <a:rPr lang="en-US" altLang="en-US" u="sng" dirty="0">
                <a:sym typeface="Symbol" panose="05050102010706020507" pitchFamily="18" charset="2"/>
              </a:rPr>
              <a:t>proper position</a:t>
            </a:r>
            <a:r>
              <a:rPr lang="en-US" altLang="en-US" dirty="0">
                <a:sym typeface="Symbol" panose="05050102010706020507" pitchFamily="18" charset="2"/>
              </a:rPr>
              <a:t> in the array…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DF912D58-8C23-4AA4-B547-7DFB02FA5E8F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5</a:t>
            </a:fld>
            <a:endParaRPr lang="en-US" altLang="en-US" sz="1400"/>
          </a:p>
        </p:txBody>
      </p:sp>
      <p:sp>
        <p:nvSpPr>
          <p:cNvPr id="9219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Enqueuing an Element</a:t>
            </a:r>
          </a:p>
        </p:txBody>
      </p:sp>
      <p:sp>
        <p:nvSpPr>
          <p:cNvPr id="9220" name="Rectangle 32"/>
          <p:cNvSpPr>
            <a:spLocks noChangeArrowheads="1"/>
          </p:cNvSpPr>
          <p:nvPr/>
        </p:nvSpPr>
        <p:spPr bwMode="auto">
          <a:xfrm>
            <a:off x="2286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221" name="Text Box 33"/>
          <p:cNvSpPr txBox="1">
            <a:spLocks noChangeArrowheads="1"/>
          </p:cNvSpPr>
          <p:nvPr/>
        </p:nvSpPr>
        <p:spPr bwMode="auto">
          <a:xfrm>
            <a:off x="228600" y="25908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211</a:t>
            </a:r>
          </a:p>
        </p:txBody>
      </p:sp>
      <p:sp>
        <p:nvSpPr>
          <p:cNvPr id="9222" name="Rectangle 34"/>
          <p:cNvSpPr>
            <a:spLocks noChangeArrowheads="1"/>
          </p:cNvSpPr>
          <p:nvPr/>
        </p:nvSpPr>
        <p:spPr bwMode="auto">
          <a:xfrm>
            <a:off x="914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223" name="Text Box 35"/>
          <p:cNvSpPr txBox="1">
            <a:spLocks noChangeArrowheads="1"/>
          </p:cNvSpPr>
          <p:nvPr/>
        </p:nvSpPr>
        <p:spPr bwMode="auto">
          <a:xfrm>
            <a:off x="914400" y="25908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204</a:t>
            </a:r>
          </a:p>
        </p:txBody>
      </p:sp>
      <p:sp>
        <p:nvSpPr>
          <p:cNvPr id="9224" name="Rectangle 36"/>
          <p:cNvSpPr>
            <a:spLocks noChangeArrowheads="1"/>
          </p:cNvSpPr>
          <p:nvPr/>
        </p:nvSpPr>
        <p:spPr bwMode="auto">
          <a:xfrm>
            <a:off x="16002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225" name="Text Box 37"/>
          <p:cNvSpPr txBox="1">
            <a:spLocks noChangeArrowheads="1"/>
          </p:cNvSpPr>
          <p:nvPr/>
        </p:nvSpPr>
        <p:spPr bwMode="auto">
          <a:xfrm>
            <a:off x="16002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201</a:t>
            </a:r>
          </a:p>
        </p:txBody>
      </p:sp>
      <p:sp>
        <p:nvSpPr>
          <p:cNvPr id="9226" name="Rectangle 38"/>
          <p:cNvSpPr>
            <a:spLocks noChangeArrowheads="1"/>
          </p:cNvSpPr>
          <p:nvPr/>
        </p:nvSpPr>
        <p:spPr bwMode="auto">
          <a:xfrm>
            <a:off x="28956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227" name="Text Box 39"/>
          <p:cNvSpPr txBox="1">
            <a:spLocks noChangeArrowheads="1"/>
          </p:cNvSpPr>
          <p:nvPr/>
        </p:nvSpPr>
        <p:spPr bwMode="auto">
          <a:xfrm>
            <a:off x="28956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81</a:t>
            </a:r>
          </a:p>
        </p:txBody>
      </p:sp>
      <p:sp>
        <p:nvSpPr>
          <p:cNvPr id="9228" name="Rectangle 40"/>
          <p:cNvSpPr>
            <a:spLocks noChangeArrowheads="1"/>
          </p:cNvSpPr>
          <p:nvPr/>
        </p:nvSpPr>
        <p:spPr bwMode="auto">
          <a:xfrm>
            <a:off x="3581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229" name="Text Box 41"/>
          <p:cNvSpPr txBox="1">
            <a:spLocks noChangeArrowheads="1"/>
          </p:cNvSpPr>
          <p:nvPr/>
        </p:nvSpPr>
        <p:spPr bwMode="auto">
          <a:xfrm>
            <a:off x="35814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79</a:t>
            </a:r>
          </a:p>
        </p:txBody>
      </p:sp>
      <p:sp>
        <p:nvSpPr>
          <p:cNvPr id="9230" name="Rectangle 42"/>
          <p:cNvSpPr>
            <a:spLocks noChangeArrowheads="1"/>
          </p:cNvSpPr>
          <p:nvPr/>
        </p:nvSpPr>
        <p:spPr bwMode="auto">
          <a:xfrm>
            <a:off x="42672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231" name="Text Box 43"/>
          <p:cNvSpPr txBox="1">
            <a:spLocks noChangeArrowheads="1"/>
          </p:cNvSpPr>
          <p:nvPr/>
        </p:nvSpPr>
        <p:spPr bwMode="auto">
          <a:xfrm>
            <a:off x="42672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70</a:t>
            </a:r>
          </a:p>
        </p:txBody>
      </p:sp>
      <p:sp>
        <p:nvSpPr>
          <p:cNvPr id="9232" name="Rectangle 44"/>
          <p:cNvSpPr>
            <a:spLocks noChangeArrowheads="1"/>
          </p:cNvSpPr>
          <p:nvPr/>
        </p:nvSpPr>
        <p:spPr bwMode="auto">
          <a:xfrm>
            <a:off x="49530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233" name="Text Box 45"/>
          <p:cNvSpPr txBox="1">
            <a:spLocks noChangeArrowheads="1"/>
          </p:cNvSpPr>
          <p:nvPr/>
        </p:nvSpPr>
        <p:spPr bwMode="auto">
          <a:xfrm>
            <a:off x="49530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69</a:t>
            </a:r>
          </a:p>
        </p:txBody>
      </p:sp>
      <p:sp>
        <p:nvSpPr>
          <p:cNvPr id="9234" name="Rectangle 46"/>
          <p:cNvSpPr>
            <a:spLocks noChangeArrowheads="1"/>
          </p:cNvSpPr>
          <p:nvPr/>
        </p:nvSpPr>
        <p:spPr bwMode="auto">
          <a:xfrm>
            <a:off x="56388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235" name="Text Box 47"/>
          <p:cNvSpPr txBox="1">
            <a:spLocks noChangeArrowheads="1"/>
          </p:cNvSpPr>
          <p:nvPr/>
        </p:nvSpPr>
        <p:spPr bwMode="auto">
          <a:xfrm>
            <a:off x="56388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67</a:t>
            </a:r>
          </a:p>
        </p:txBody>
      </p:sp>
      <p:sp>
        <p:nvSpPr>
          <p:cNvPr id="9236" name="Rectangle 48"/>
          <p:cNvSpPr>
            <a:spLocks noChangeArrowheads="1"/>
          </p:cNvSpPr>
          <p:nvPr/>
        </p:nvSpPr>
        <p:spPr bwMode="auto">
          <a:xfrm>
            <a:off x="68580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237" name="Text Box 49"/>
          <p:cNvSpPr txBox="1">
            <a:spLocks noChangeArrowheads="1"/>
          </p:cNvSpPr>
          <p:nvPr/>
        </p:nvSpPr>
        <p:spPr bwMode="auto">
          <a:xfrm>
            <a:off x="6858000" y="25908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</a:t>
            </a:r>
          </a:p>
        </p:txBody>
      </p:sp>
      <p:sp>
        <p:nvSpPr>
          <p:cNvPr id="9238" name="Rectangle 50"/>
          <p:cNvSpPr>
            <a:spLocks noChangeArrowheads="1"/>
          </p:cNvSpPr>
          <p:nvPr/>
        </p:nvSpPr>
        <p:spPr bwMode="auto">
          <a:xfrm>
            <a:off x="75438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239" name="Text Box 51"/>
          <p:cNvSpPr txBox="1">
            <a:spLocks noChangeArrowheads="1"/>
          </p:cNvSpPr>
          <p:nvPr/>
        </p:nvSpPr>
        <p:spPr bwMode="auto">
          <a:xfrm>
            <a:off x="75438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5</a:t>
            </a:r>
          </a:p>
        </p:txBody>
      </p:sp>
      <p:sp>
        <p:nvSpPr>
          <p:cNvPr id="9240" name="Rectangle 52"/>
          <p:cNvSpPr>
            <a:spLocks noChangeArrowheads="1"/>
          </p:cNvSpPr>
          <p:nvPr/>
        </p:nvSpPr>
        <p:spPr bwMode="auto">
          <a:xfrm>
            <a:off x="82296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241" name="Text Box 54"/>
          <p:cNvSpPr txBox="1">
            <a:spLocks noChangeArrowheads="1"/>
          </p:cNvSpPr>
          <p:nvPr/>
        </p:nvSpPr>
        <p:spPr bwMode="auto">
          <a:xfrm>
            <a:off x="2362200" y="2514600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…</a:t>
            </a:r>
          </a:p>
        </p:txBody>
      </p:sp>
      <p:sp>
        <p:nvSpPr>
          <p:cNvPr id="9242" name="Text Box 55"/>
          <p:cNvSpPr txBox="1">
            <a:spLocks noChangeArrowheads="1"/>
          </p:cNvSpPr>
          <p:nvPr/>
        </p:nvSpPr>
        <p:spPr bwMode="auto">
          <a:xfrm>
            <a:off x="6324600" y="2514600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…</a:t>
            </a:r>
          </a:p>
        </p:txBody>
      </p:sp>
      <p:sp>
        <p:nvSpPr>
          <p:cNvPr id="9243" name="Text Box 57"/>
          <p:cNvSpPr txBox="1">
            <a:spLocks noChangeArrowheads="1"/>
          </p:cNvSpPr>
          <p:nvPr/>
        </p:nvSpPr>
        <p:spPr bwMode="auto">
          <a:xfrm>
            <a:off x="228600" y="3200400"/>
            <a:ext cx="8686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0      1       2            48    49    50     51    52           98    99  100</a:t>
            </a:r>
          </a:p>
        </p:txBody>
      </p:sp>
      <p:sp>
        <p:nvSpPr>
          <p:cNvPr id="9244" name="Text Box 59"/>
          <p:cNvSpPr txBox="1">
            <a:spLocks noChangeArrowheads="1"/>
          </p:cNvSpPr>
          <p:nvPr/>
        </p:nvSpPr>
        <p:spPr bwMode="auto">
          <a:xfrm>
            <a:off x="1219200" y="4191000"/>
            <a:ext cx="7239000" cy="1196975"/>
          </a:xfrm>
          <a:prstGeom prst="rect">
            <a:avLst/>
          </a:prstGeom>
          <a:noFill/>
          <a:ln w="9525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In this array of elements,  each element might be an object, but only the data member considered for maximum value is shown.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566C499F-27E8-45F2-B876-96162CD22067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6</a:t>
            </a:fld>
            <a:endParaRPr lang="en-US" altLang="en-US" sz="1400"/>
          </a:p>
        </p:txBody>
      </p:sp>
      <p:sp>
        <p:nvSpPr>
          <p:cNvPr id="10243" name="Text Box 26"/>
          <p:cNvSpPr txBox="1">
            <a:spLocks noChangeArrowheads="1"/>
          </p:cNvSpPr>
          <p:nvPr/>
        </p:nvSpPr>
        <p:spPr bwMode="auto">
          <a:xfrm>
            <a:off x="228600" y="3200400"/>
            <a:ext cx="8686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0      1       2            48    49    50     51    52           98    99  100</a:t>
            </a:r>
          </a:p>
        </p:txBody>
      </p:sp>
      <p:sp>
        <p:nvSpPr>
          <p:cNvPr id="10244" name="Text Box 27"/>
          <p:cNvSpPr txBox="1">
            <a:spLocks noChangeArrowheads="1"/>
          </p:cNvSpPr>
          <p:nvPr/>
        </p:nvSpPr>
        <p:spPr bwMode="auto">
          <a:xfrm>
            <a:off x="838200" y="4191000"/>
            <a:ext cx="7239000" cy="831850"/>
          </a:xfrm>
          <a:prstGeom prst="rect">
            <a:avLst/>
          </a:prstGeom>
          <a:noFill/>
          <a:ln w="9525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Suppose that element 71 needs to be enqueued.  We could enqueue 71 by using a loop.</a:t>
            </a:r>
          </a:p>
        </p:txBody>
      </p:sp>
      <p:sp>
        <p:nvSpPr>
          <p:cNvPr id="10245" name="Text Box 29"/>
          <p:cNvSpPr txBox="1">
            <a:spLocks noChangeArrowheads="1"/>
          </p:cNvSpPr>
          <p:nvPr/>
        </p:nvSpPr>
        <p:spPr bwMode="auto">
          <a:xfrm>
            <a:off x="3886200" y="1752600"/>
            <a:ext cx="1676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item: 71</a:t>
            </a:r>
          </a:p>
        </p:txBody>
      </p:sp>
      <p:sp>
        <p:nvSpPr>
          <p:cNvPr id="10246" name="Rectangle 30"/>
          <p:cNvSpPr>
            <a:spLocks noChangeArrowheads="1"/>
          </p:cNvSpPr>
          <p:nvPr/>
        </p:nvSpPr>
        <p:spPr bwMode="auto">
          <a:xfrm>
            <a:off x="2286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247" name="Text Box 31"/>
          <p:cNvSpPr txBox="1">
            <a:spLocks noChangeArrowheads="1"/>
          </p:cNvSpPr>
          <p:nvPr/>
        </p:nvSpPr>
        <p:spPr bwMode="auto">
          <a:xfrm>
            <a:off x="228600" y="25908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211</a:t>
            </a:r>
          </a:p>
        </p:txBody>
      </p:sp>
      <p:sp>
        <p:nvSpPr>
          <p:cNvPr id="10248" name="Rectangle 32"/>
          <p:cNvSpPr>
            <a:spLocks noChangeArrowheads="1"/>
          </p:cNvSpPr>
          <p:nvPr/>
        </p:nvSpPr>
        <p:spPr bwMode="auto">
          <a:xfrm>
            <a:off x="914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249" name="Text Box 33"/>
          <p:cNvSpPr txBox="1">
            <a:spLocks noChangeArrowheads="1"/>
          </p:cNvSpPr>
          <p:nvPr/>
        </p:nvSpPr>
        <p:spPr bwMode="auto">
          <a:xfrm>
            <a:off x="914400" y="25908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204</a:t>
            </a:r>
          </a:p>
        </p:txBody>
      </p:sp>
      <p:sp>
        <p:nvSpPr>
          <p:cNvPr id="10250" name="Rectangle 34"/>
          <p:cNvSpPr>
            <a:spLocks noChangeArrowheads="1"/>
          </p:cNvSpPr>
          <p:nvPr/>
        </p:nvSpPr>
        <p:spPr bwMode="auto">
          <a:xfrm>
            <a:off x="16002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251" name="Text Box 35"/>
          <p:cNvSpPr txBox="1">
            <a:spLocks noChangeArrowheads="1"/>
          </p:cNvSpPr>
          <p:nvPr/>
        </p:nvSpPr>
        <p:spPr bwMode="auto">
          <a:xfrm>
            <a:off x="16002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201</a:t>
            </a:r>
          </a:p>
        </p:txBody>
      </p:sp>
      <p:sp>
        <p:nvSpPr>
          <p:cNvPr id="10252" name="Rectangle 36"/>
          <p:cNvSpPr>
            <a:spLocks noChangeArrowheads="1"/>
          </p:cNvSpPr>
          <p:nvPr/>
        </p:nvSpPr>
        <p:spPr bwMode="auto">
          <a:xfrm>
            <a:off x="28956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253" name="Text Box 37"/>
          <p:cNvSpPr txBox="1">
            <a:spLocks noChangeArrowheads="1"/>
          </p:cNvSpPr>
          <p:nvPr/>
        </p:nvSpPr>
        <p:spPr bwMode="auto">
          <a:xfrm>
            <a:off x="28956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81</a:t>
            </a:r>
          </a:p>
        </p:txBody>
      </p:sp>
      <p:sp>
        <p:nvSpPr>
          <p:cNvPr id="10254" name="Rectangle 38"/>
          <p:cNvSpPr>
            <a:spLocks noChangeArrowheads="1"/>
          </p:cNvSpPr>
          <p:nvPr/>
        </p:nvSpPr>
        <p:spPr bwMode="auto">
          <a:xfrm>
            <a:off x="3581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255" name="Text Box 39"/>
          <p:cNvSpPr txBox="1">
            <a:spLocks noChangeArrowheads="1"/>
          </p:cNvSpPr>
          <p:nvPr/>
        </p:nvSpPr>
        <p:spPr bwMode="auto">
          <a:xfrm>
            <a:off x="35814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79</a:t>
            </a:r>
          </a:p>
        </p:txBody>
      </p:sp>
      <p:sp>
        <p:nvSpPr>
          <p:cNvPr id="10256" name="Rectangle 40"/>
          <p:cNvSpPr>
            <a:spLocks noChangeArrowheads="1"/>
          </p:cNvSpPr>
          <p:nvPr/>
        </p:nvSpPr>
        <p:spPr bwMode="auto">
          <a:xfrm>
            <a:off x="42672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257" name="Text Box 41"/>
          <p:cNvSpPr txBox="1">
            <a:spLocks noChangeArrowheads="1"/>
          </p:cNvSpPr>
          <p:nvPr/>
        </p:nvSpPr>
        <p:spPr bwMode="auto">
          <a:xfrm>
            <a:off x="42672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70</a:t>
            </a:r>
          </a:p>
        </p:txBody>
      </p:sp>
      <p:sp>
        <p:nvSpPr>
          <p:cNvPr id="10258" name="Rectangle 42"/>
          <p:cNvSpPr>
            <a:spLocks noChangeArrowheads="1"/>
          </p:cNvSpPr>
          <p:nvPr/>
        </p:nvSpPr>
        <p:spPr bwMode="auto">
          <a:xfrm>
            <a:off x="49530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259" name="Text Box 43"/>
          <p:cNvSpPr txBox="1">
            <a:spLocks noChangeArrowheads="1"/>
          </p:cNvSpPr>
          <p:nvPr/>
        </p:nvSpPr>
        <p:spPr bwMode="auto">
          <a:xfrm>
            <a:off x="49530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69</a:t>
            </a:r>
          </a:p>
        </p:txBody>
      </p:sp>
      <p:sp>
        <p:nvSpPr>
          <p:cNvPr id="10260" name="Rectangle 44"/>
          <p:cNvSpPr>
            <a:spLocks noChangeArrowheads="1"/>
          </p:cNvSpPr>
          <p:nvPr/>
        </p:nvSpPr>
        <p:spPr bwMode="auto">
          <a:xfrm>
            <a:off x="56388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261" name="Text Box 45"/>
          <p:cNvSpPr txBox="1">
            <a:spLocks noChangeArrowheads="1"/>
          </p:cNvSpPr>
          <p:nvPr/>
        </p:nvSpPr>
        <p:spPr bwMode="auto">
          <a:xfrm>
            <a:off x="56388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67</a:t>
            </a:r>
          </a:p>
        </p:txBody>
      </p:sp>
      <p:sp>
        <p:nvSpPr>
          <p:cNvPr id="10262" name="Rectangle 46"/>
          <p:cNvSpPr>
            <a:spLocks noChangeArrowheads="1"/>
          </p:cNvSpPr>
          <p:nvPr/>
        </p:nvSpPr>
        <p:spPr bwMode="auto">
          <a:xfrm>
            <a:off x="68580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263" name="Text Box 47"/>
          <p:cNvSpPr txBox="1">
            <a:spLocks noChangeArrowheads="1"/>
          </p:cNvSpPr>
          <p:nvPr/>
        </p:nvSpPr>
        <p:spPr bwMode="auto">
          <a:xfrm>
            <a:off x="6858000" y="25908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</a:t>
            </a:r>
          </a:p>
        </p:txBody>
      </p:sp>
      <p:sp>
        <p:nvSpPr>
          <p:cNvPr id="10264" name="Rectangle 48"/>
          <p:cNvSpPr>
            <a:spLocks noChangeArrowheads="1"/>
          </p:cNvSpPr>
          <p:nvPr/>
        </p:nvSpPr>
        <p:spPr bwMode="auto">
          <a:xfrm>
            <a:off x="75438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265" name="Text Box 49"/>
          <p:cNvSpPr txBox="1">
            <a:spLocks noChangeArrowheads="1"/>
          </p:cNvSpPr>
          <p:nvPr/>
        </p:nvSpPr>
        <p:spPr bwMode="auto">
          <a:xfrm>
            <a:off x="75438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5</a:t>
            </a:r>
          </a:p>
        </p:txBody>
      </p:sp>
      <p:sp>
        <p:nvSpPr>
          <p:cNvPr id="10266" name="Rectangle 50"/>
          <p:cNvSpPr>
            <a:spLocks noChangeArrowheads="1"/>
          </p:cNvSpPr>
          <p:nvPr/>
        </p:nvSpPr>
        <p:spPr bwMode="auto">
          <a:xfrm>
            <a:off x="82296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267" name="Text Box 51"/>
          <p:cNvSpPr txBox="1">
            <a:spLocks noChangeArrowheads="1"/>
          </p:cNvSpPr>
          <p:nvPr/>
        </p:nvSpPr>
        <p:spPr bwMode="auto">
          <a:xfrm>
            <a:off x="2362200" y="2514600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…</a:t>
            </a:r>
          </a:p>
        </p:txBody>
      </p:sp>
      <p:sp>
        <p:nvSpPr>
          <p:cNvPr id="10268" name="Text Box 52"/>
          <p:cNvSpPr txBox="1">
            <a:spLocks noChangeArrowheads="1"/>
          </p:cNvSpPr>
          <p:nvPr/>
        </p:nvSpPr>
        <p:spPr bwMode="auto">
          <a:xfrm>
            <a:off x="6324600" y="2514600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…</a:t>
            </a:r>
          </a:p>
        </p:txBody>
      </p:sp>
      <p:sp>
        <p:nvSpPr>
          <p:cNvPr id="10269" name="Rectangle 54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Enqueuing an Element (cont.)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48F5C1C4-1313-4096-A840-38FD811F7589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7</a:t>
            </a:fld>
            <a:endParaRPr lang="en-US" altLang="en-US" sz="1400"/>
          </a:p>
        </p:txBody>
      </p:sp>
      <p:sp>
        <p:nvSpPr>
          <p:cNvPr id="11267" name="Text Box 26"/>
          <p:cNvSpPr txBox="1">
            <a:spLocks noChangeArrowheads="1"/>
          </p:cNvSpPr>
          <p:nvPr/>
        </p:nvSpPr>
        <p:spPr bwMode="auto">
          <a:xfrm>
            <a:off x="228600" y="3200400"/>
            <a:ext cx="8686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0      1       2            48    49    50     51    52           98    99  100</a:t>
            </a:r>
          </a:p>
        </p:txBody>
      </p:sp>
      <p:sp>
        <p:nvSpPr>
          <p:cNvPr id="11268" name="Text Box 27"/>
          <p:cNvSpPr txBox="1">
            <a:spLocks noChangeArrowheads="1"/>
          </p:cNvSpPr>
          <p:nvPr/>
        </p:nvSpPr>
        <p:spPr bwMode="auto">
          <a:xfrm>
            <a:off x="3886200" y="1752600"/>
            <a:ext cx="1676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item: 71</a:t>
            </a:r>
          </a:p>
        </p:txBody>
      </p:sp>
      <p:sp>
        <p:nvSpPr>
          <p:cNvPr id="11269" name="Text Box 29"/>
          <p:cNvSpPr txBox="1">
            <a:spLocks noChangeArrowheads="1"/>
          </p:cNvSpPr>
          <p:nvPr/>
        </p:nvSpPr>
        <p:spPr bwMode="auto">
          <a:xfrm>
            <a:off x="8382000" y="37338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</a:t>
            </a:r>
          </a:p>
        </p:txBody>
      </p:sp>
      <p:sp>
        <p:nvSpPr>
          <p:cNvPr id="11270" name="Text Box 30"/>
          <p:cNvSpPr txBox="1">
            <a:spLocks noChangeArrowheads="1"/>
          </p:cNvSpPr>
          <p:nvPr/>
        </p:nvSpPr>
        <p:spPr bwMode="auto">
          <a:xfrm>
            <a:off x="152400" y="4800600"/>
            <a:ext cx="6477000" cy="1004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for ( </a:t>
            </a:r>
            <a:r>
              <a:rPr lang="en-US" altLang="en-US" sz="2400" b="1">
                <a:solidFill>
                  <a:srgbClr val="FF3300"/>
                </a:solidFill>
              </a:rPr>
              <a:t>i = 100</a:t>
            </a:r>
            <a:r>
              <a:rPr lang="en-US" altLang="en-US" sz="2400" b="1"/>
              <a:t>; i &gt; 0 &amp;&amp; arr[ i - 1 ] &lt; item; i-- )</a:t>
            </a:r>
          </a:p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	arr[ i ] = arr[ i – 1 ];	</a:t>
            </a:r>
          </a:p>
        </p:txBody>
      </p:sp>
      <p:sp>
        <p:nvSpPr>
          <p:cNvPr id="11271" name="Rectangle 31"/>
          <p:cNvSpPr>
            <a:spLocks noChangeArrowheads="1"/>
          </p:cNvSpPr>
          <p:nvPr/>
        </p:nvSpPr>
        <p:spPr bwMode="auto">
          <a:xfrm>
            <a:off x="2286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272" name="Text Box 32"/>
          <p:cNvSpPr txBox="1">
            <a:spLocks noChangeArrowheads="1"/>
          </p:cNvSpPr>
          <p:nvPr/>
        </p:nvSpPr>
        <p:spPr bwMode="auto">
          <a:xfrm>
            <a:off x="228600" y="25908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211</a:t>
            </a:r>
          </a:p>
        </p:txBody>
      </p:sp>
      <p:sp>
        <p:nvSpPr>
          <p:cNvPr id="11273" name="Rectangle 33"/>
          <p:cNvSpPr>
            <a:spLocks noChangeArrowheads="1"/>
          </p:cNvSpPr>
          <p:nvPr/>
        </p:nvSpPr>
        <p:spPr bwMode="auto">
          <a:xfrm>
            <a:off x="914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274" name="Text Box 34"/>
          <p:cNvSpPr txBox="1">
            <a:spLocks noChangeArrowheads="1"/>
          </p:cNvSpPr>
          <p:nvPr/>
        </p:nvSpPr>
        <p:spPr bwMode="auto">
          <a:xfrm>
            <a:off x="914400" y="25908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204</a:t>
            </a:r>
          </a:p>
        </p:txBody>
      </p:sp>
      <p:sp>
        <p:nvSpPr>
          <p:cNvPr id="11275" name="Rectangle 35"/>
          <p:cNvSpPr>
            <a:spLocks noChangeArrowheads="1"/>
          </p:cNvSpPr>
          <p:nvPr/>
        </p:nvSpPr>
        <p:spPr bwMode="auto">
          <a:xfrm>
            <a:off x="16002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276" name="Text Box 36"/>
          <p:cNvSpPr txBox="1">
            <a:spLocks noChangeArrowheads="1"/>
          </p:cNvSpPr>
          <p:nvPr/>
        </p:nvSpPr>
        <p:spPr bwMode="auto">
          <a:xfrm>
            <a:off x="16002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201</a:t>
            </a:r>
          </a:p>
        </p:txBody>
      </p:sp>
      <p:sp>
        <p:nvSpPr>
          <p:cNvPr id="11277" name="Rectangle 37"/>
          <p:cNvSpPr>
            <a:spLocks noChangeArrowheads="1"/>
          </p:cNvSpPr>
          <p:nvPr/>
        </p:nvSpPr>
        <p:spPr bwMode="auto">
          <a:xfrm>
            <a:off x="28956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278" name="Text Box 38"/>
          <p:cNvSpPr txBox="1">
            <a:spLocks noChangeArrowheads="1"/>
          </p:cNvSpPr>
          <p:nvPr/>
        </p:nvSpPr>
        <p:spPr bwMode="auto">
          <a:xfrm>
            <a:off x="28956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81</a:t>
            </a:r>
          </a:p>
        </p:txBody>
      </p:sp>
      <p:sp>
        <p:nvSpPr>
          <p:cNvPr id="11279" name="Rectangle 39"/>
          <p:cNvSpPr>
            <a:spLocks noChangeArrowheads="1"/>
          </p:cNvSpPr>
          <p:nvPr/>
        </p:nvSpPr>
        <p:spPr bwMode="auto">
          <a:xfrm>
            <a:off x="3581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280" name="Text Box 40"/>
          <p:cNvSpPr txBox="1">
            <a:spLocks noChangeArrowheads="1"/>
          </p:cNvSpPr>
          <p:nvPr/>
        </p:nvSpPr>
        <p:spPr bwMode="auto">
          <a:xfrm>
            <a:off x="35814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79</a:t>
            </a:r>
          </a:p>
        </p:txBody>
      </p:sp>
      <p:sp>
        <p:nvSpPr>
          <p:cNvPr id="11281" name="Rectangle 41"/>
          <p:cNvSpPr>
            <a:spLocks noChangeArrowheads="1"/>
          </p:cNvSpPr>
          <p:nvPr/>
        </p:nvSpPr>
        <p:spPr bwMode="auto">
          <a:xfrm>
            <a:off x="42672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282" name="Text Box 42"/>
          <p:cNvSpPr txBox="1">
            <a:spLocks noChangeArrowheads="1"/>
          </p:cNvSpPr>
          <p:nvPr/>
        </p:nvSpPr>
        <p:spPr bwMode="auto">
          <a:xfrm>
            <a:off x="42672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70</a:t>
            </a:r>
          </a:p>
        </p:txBody>
      </p:sp>
      <p:sp>
        <p:nvSpPr>
          <p:cNvPr id="11283" name="Rectangle 43"/>
          <p:cNvSpPr>
            <a:spLocks noChangeArrowheads="1"/>
          </p:cNvSpPr>
          <p:nvPr/>
        </p:nvSpPr>
        <p:spPr bwMode="auto">
          <a:xfrm>
            <a:off x="49530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284" name="Text Box 44"/>
          <p:cNvSpPr txBox="1">
            <a:spLocks noChangeArrowheads="1"/>
          </p:cNvSpPr>
          <p:nvPr/>
        </p:nvSpPr>
        <p:spPr bwMode="auto">
          <a:xfrm>
            <a:off x="49530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69</a:t>
            </a:r>
          </a:p>
        </p:txBody>
      </p:sp>
      <p:sp>
        <p:nvSpPr>
          <p:cNvPr id="11285" name="Rectangle 45"/>
          <p:cNvSpPr>
            <a:spLocks noChangeArrowheads="1"/>
          </p:cNvSpPr>
          <p:nvPr/>
        </p:nvSpPr>
        <p:spPr bwMode="auto">
          <a:xfrm>
            <a:off x="56388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286" name="Text Box 46"/>
          <p:cNvSpPr txBox="1">
            <a:spLocks noChangeArrowheads="1"/>
          </p:cNvSpPr>
          <p:nvPr/>
        </p:nvSpPr>
        <p:spPr bwMode="auto">
          <a:xfrm>
            <a:off x="56388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67</a:t>
            </a:r>
          </a:p>
        </p:txBody>
      </p:sp>
      <p:sp>
        <p:nvSpPr>
          <p:cNvPr id="11287" name="Rectangle 47"/>
          <p:cNvSpPr>
            <a:spLocks noChangeArrowheads="1"/>
          </p:cNvSpPr>
          <p:nvPr/>
        </p:nvSpPr>
        <p:spPr bwMode="auto">
          <a:xfrm>
            <a:off x="68580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288" name="Text Box 48"/>
          <p:cNvSpPr txBox="1">
            <a:spLocks noChangeArrowheads="1"/>
          </p:cNvSpPr>
          <p:nvPr/>
        </p:nvSpPr>
        <p:spPr bwMode="auto">
          <a:xfrm>
            <a:off x="6858000" y="25908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</a:t>
            </a:r>
          </a:p>
        </p:txBody>
      </p:sp>
      <p:sp>
        <p:nvSpPr>
          <p:cNvPr id="11289" name="Rectangle 49"/>
          <p:cNvSpPr>
            <a:spLocks noChangeArrowheads="1"/>
          </p:cNvSpPr>
          <p:nvPr/>
        </p:nvSpPr>
        <p:spPr bwMode="auto">
          <a:xfrm>
            <a:off x="75438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290" name="Text Box 50"/>
          <p:cNvSpPr txBox="1">
            <a:spLocks noChangeArrowheads="1"/>
          </p:cNvSpPr>
          <p:nvPr/>
        </p:nvSpPr>
        <p:spPr bwMode="auto">
          <a:xfrm>
            <a:off x="75438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5</a:t>
            </a:r>
          </a:p>
        </p:txBody>
      </p:sp>
      <p:sp>
        <p:nvSpPr>
          <p:cNvPr id="11291" name="Rectangle 51"/>
          <p:cNvSpPr>
            <a:spLocks noChangeArrowheads="1"/>
          </p:cNvSpPr>
          <p:nvPr/>
        </p:nvSpPr>
        <p:spPr bwMode="auto">
          <a:xfrm>
            <a:off x="82296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292" name="Text Box 52"/>
          <p:cNvSpPr txBox="1">
            <a:spLocks noChangeArrowheads="1"/>
          </p:cNvSpPr>
          <p:nvPr/>
        </p:nvSpPr>
        <p:spPr bwMode="auto">
          <a:xfrm>
            <a:off x="2362200" y="2514600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…</a:t>
            </a:r>
          </a:p>
        </p:txBody>
      </p:sp>
      <p:sp>
        <p:nvSpPr>
          <p:cNvPr id="11293" name="Text Box 53"/>
          <p:cNvSpPr txBox="1">
            <a:spLocks noChangeArrowheads="1"/>
          </p:cNvSpPr>
          <p:nvPr/>
        </p:nvSpPr>
        <p:spPr bwMode="auto">
          <a:xfrm>
            <a:off x="6324600" y="2514600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…</a:t>
            </a:r>
          </a:p>
        </p:txBody>
      </p:sp>
      <p:sp>
        <p:nvSpPr>
          <p:cNvPr id="11294" name="Rectangle 55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Enqueuing an Element (cont.)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8C05C61C-C967-4FDF-82F5-67D565C78D53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8</a:t>
            </a:fld>
            <a:endParaRPr lang="en-US" altLang="en-US" sz="1400"/>
          </a:p>
        </p:txBody>
      </p:sp>
      <p:sp>
        <p:nvSpPr>
          <p:cNvPr id="12291" name="Text Box 26"/>
          <p:cNvSpPr txBox="1">
            <a:spLocks noChangeArrowheads="1"/>
          </p:cNvSpPr>
          <p:nvPr/>
        </p:nvSpPr>
        <p:spPr bwMode="auto">
          <a:xfrm>
            <a:off x="228600" y="3200400"/>
            <a:ext cx="8686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0      1       2            48    49    50     51    52           98    99  100</a:t>
            </a:r>
          </a:p>
        </p:txBody>
      </p:sp>
      <p:sp>
        <p:nvSpPr>
          <p:cNvPr id="12292" name="Text Box 27"/>
          <p:cNvSpPr txBox="1">
            <a:spLocks noChangeArrowheads="1"/>
          </p:cNvSpPr>
          <p:nvPr/>
        </p:nvSpPr>
        <p:spPr bwMode="auto">
          <a:xfrm>
            <a:off x="3886200" y="1752600"/>
            <a:ext cx="1676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item: 71</a:t>
            </a:r>
          </a:p>
        </p:txBody>
      </p:sp>
      <p:sp>
        <p:nvSpPr>
          <p:cNvPr id="12293" name="Text Box 29"/>
          <p:cNvSpPr txBox="1">
            <a:spLocks noChangeArrowheads="1"/>
          </p:cNvSpPr>
          <p:nvPr/>
        </p:nvSpPr>
        <p:spPr bwMode="auto">
          <a:xfrm>
            <a:off x="8382000" y="37338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</a:t>
            </a:r>
          </a:p>
        </p:txBody>
      </p:sp>
      <p:sp>
        <p:nvSpPr>
          <p:cNvPr id="12294" name="Freeform 32"/>
          <p:cNvSpPr>
            <a:spLocks/>
          </p:cNvSpPr>
          <p:nvPr/>
        </p:nvSpPr>
        <p:spPr bwMode="auto">
          <a:xfrm>
            <a:off x="7772400" y="1752600"/>
            <a:ext cx="762000" cy="685800"/>
          </a:xfrm>
          <a:custGeom>
            <a:avLst/>
            <a:gdLst>
              <a:gd name="T0" fmla="*/ 0 w 480"/>
              <a:gd name="T1" fmla="*/ 2147483646 h 432"/>
              <a:gd name="T2" fmla="*/ 2147483646 w 480"/>
              <a:gd name="T3" fmla="*/ 0 h 432"/>
              <a:gd name="T4" fmla="*/ 2147483646 w 480"/>
              <a:gd name="T5" fmla="*/ 2147483646 h 43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80" h="432">
                <a:moveTo>
                  <a:pt x="0" y="432"/>
                </a:moveTo>
                <a:cubicBezTo>
                  <a:pt x="80" y="216"/>
                  <a:pt x="160" y="0"/>
                  <a:pt x="240" y="0"/>
                </a:cubicBezTo>
                <a:cubicBezTo>
                  <a:pt x="320" y="0"/>
                  <a:pt x="440" y="360"/>
                  <a:pt x="480" y="432"/>
                </a:cubicBezTo>
              </a:path>
            </a:pathLst>
          </a:custGeom>
          <a:noFill/>
          <a:ln w="38100" cmpd="sng">
            <a:solidFill>
              <a:srgbClr val="FF330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295" name="Text Box 33"/>
          <p:cNvSpPr txBox="1">
            <a:spLocks noChangeArrowheads="1"/>
          </p:cNvSpPr>
          <p:nvPr/>
        </p:nvSpPr>
        <p:spPr bwMode="auto">
          <a:xfrm>
            <a:off x="152400" y="4800600"/>
            <a:ext cx="6477000" cy="1004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for ( i = 100; i &gt; 0 &amp;&amp; arr[ i - 1 ] &lt; item; i-- )</a:t>
            </a:r>
          </a:p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	</a:t>
            </a:r>
            <a:r>
              <a:rPr lang="en-US" altLang="en-US" sz="2400" b="1">
                <a:solidFill>
                  <a:srgbClr val="FF3300"/>
                </a:solidFill>
              </a:rPr>
              <a:t>arr[ i ] = arr[ i – 1 ];	</a:t>
            </a:r>
          </a:p>
        </p:txBody>
      </p:sp>
      <p:sp>
        <p:nvSpPr>
          <p:cNvPr id="12296" name="Rectangle 34"/>
          <p:cNvSpPr>
            <a:spLocks noChangeArrowheads="1"/>
          </p:cNvSpPr>
          <p:nvPr/>
        </p:nvSpPr>
        <p:spPr bwMode="auto">
          <a:xfrm>
            <a:off x="2286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297" name="Text Box 35"/>
          <p:cNvSpPr txBox="1">
            <a:spLocks noChangeArrowheads="1"/>
          </p:cNvSpPr>
          <p:nvPr/>
        </p:nvSpPr>
        <p:spPr bwMode="auto">
          <a:xfrm>
            <a:off x="228600" y="25908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211</a:t>
            </a:r>
          </a:p>
        </p:txBody>
      </p:sp>
      <p:sp>
        <p:nvSpPr>
          <p:cNvPr id="12298" name="Rectangle 36"/>
          <p:cNvSpPr>
            <a:spLocks noChangeArrowheads="1"/>
          </p:cNvSpPr>
          <p:nvPr/>
        </p:nvSpPr>
        <p:spPr bwMode="auto">
          <a:xfrm>
            <a:off x="914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299" name="Text Box 37"/>
          <p:cNvSpPr txBox="1">
            <a:spLocks noChangeArrowheads="1"/>
          </p:cNvSpPr>
          <p:nvPr/>
        </p:nvSpPr>
        <p:spPr bwMode="auto">
          <a:xfrm>
            <a:off x="914400" y="25908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204</a:t>
            </a:r>
          </a:p>
        </p:txBody>
      </p:sp>
      <p:sp>
        <p:nvSpPr>
          <p:cNvPr id="12300" name="Rectangle 38"/>
          <p:cNvSpPr>
            <a:spLocks noChangeArrowheads="1"/>
          </p:cNvSpPr>
          <p:nvPr/>
        </p:nvSpPr>
        <p:spPr bwMode="auto">
          <a:xfrm>
            <a:off x="16002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301" name="Text Box 39"/>
          <p:cNvSpPr txBox="1">
            <a:spLocks noChangeArrowheads="1"/>
          </p:cNvSpPr>
          <p:nvPr/>
        </p:nvSpPr>
        <p:spPr bwMode="auto">
          <a:xfrm>
            <a:off x="16002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201</a:t>
            </a:r>
          </a:p>
        </p:txBody>
      </p:sp>
      <p:sp>
        <p:nvSpPr>
          <p:cNvPr id="12302" name="Rectangle 40"/>
          <p:cNvSpPr>
            <a:spLocks noChangeArrowheads="1"/>
          </p:cNvSpPr>
          <p:nvPr/>
        </p:nvSpPr>
        <p:spPr bwMode="auto">
          <a:xfrm>
            <a:off x="28956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303" name="Text Box 41"/>
          <p:cNvSpPr txBox="1">
            <a:spLocks noChangeArrowheads="1"/>
          </p:cNvSpPr>
          <p:nvPr/>
        </p:nvSpPr>
        <p:spPr bwMode="auto">
          <a:xfrm>
            <a:off x="28956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81</a:t>
            </a:r>
          </a:p>
        </p:txBody>
      </p:sp>
      <p:sp>
        <p:nvSpPr>
          <p:cNvPr id="12304" name="Rectangle 42"/>
          <p:cNvSpPr>
            <a:spLocks noChangeArrowheads="1"/>
          </p:cNvSpPr>
          <p:nvPr/>
        </p:nvSpPr>
        <p:spPr bwMode="auto">
          <a:xfrm>
            <a:off x="3581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305" name="Text Box 43"/>
          <p:cNvSpPr txBox="1">
            <a:spLocks noChangeArrowheads="1"/>
          </p:cNvSpPr>
          <p:nvPr/>
        </p:nvSpPr>
        <p:spPr bwMode="auto">
          <a:xfrm>
            <a:off x="35814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79</a:t>
            </a:r>
          </a:p>
        </p:txBody>
      </p:sp>
      <p:sp>
        <p:nvSpPr>
          <p:cNvPr id="12306" name="Rectangle 44"/>
          <p:cNvSpPr>
            <a:spLocks noChangeArrowheads="1"/>
          </p:cNvSpPr>
          <p:nvPr/>
        </p:nvSpPr>
        <p:spPr bwMode="auto">
          <a:xfrm>
            <a:off x="42672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307" name="Text Box 45"/>
          <p:cNvSpPr txBox="1">
            <a:spLocks noChangeArrowheads="1"/>
          </p:cNvSpPr>
          <p:nvPr/>
        </p:nvSpPr>
        <p:spPr bwMode="auto">
          <a:xfrm>
            <a:off x="42672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70</a:t>
            </a:r>
          </a:p>
        </p:txBody>
      </p:sp>
      <p:sp>
        <p:nvSpPr>
          <p:cNvPr id="12308" name="Rectangle 46"/>
          <p:cNvSpPr>
            <a:spLocks noChangeArrowheads="1"/>
          </p:cNvSpPr>
          <p:nvPr/>
        </p:nvSpPr>
        <p:spPr bwMode="auto">
          <a:xfrm>
            <a:off x="49530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309" name="Text Box 47"/>
          <p:cNvSpPr txBox="1">
            <a:spLocks noChangeArrowheads="1"/>
          </p:cNvSpPr>
          <p:nvPr/>
        </p:nvSpPr>
        <p:spPr bwMode="auto">
          <a:xfrm>
            <a:off x="49530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69</a:t>
            </a:r>
          </a:p>
        </p:txBody>
      </p:sp>
      <p:sp>
        <p:nvSpPr>
          <p:cNvPr id="12310" name="Rectangle 48"/>
          <p:cNvSpPr>
            <a:spLocks noChangeArrowheads="1"/>
          </p:cNvSpPr>
          <p:nvPr/>
        </p:nvSpPr>
        <p:spPr bwMode="auto">
          <a:xfrm>
            <a:off x="56388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311" name="Text Box 49"/>
          <p:cNvSpPr txBox="1">
            <a:spLocks noChangeArrowheads="1"/>
          </p:cNvSpPr>
          <p:nvPr/>
        </p:nvSpPr>
        <p:spPr bwMode="auto">
          <a:xfrm>
            <a:off x="56388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67</a:t>
            </a:r>
          </a:p>
        </p:txBody>
      </p:sp>
      <p:sp>
        <p:nvSpPr>
          <p:cNvPr id="12312" name="Rectangle 50"/>
          <p:cNvSpPr>
            <a:spLocks noChangeArrowheads="1"/>
          </p:cNvSpPr>
          <p:nvPr/>
        </p:nvSpPr>
        <p:spPr bwMode="auto">
          <a:xfrm>
            <a:off x="68580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313" name="Text Box 51"/>
          <p:cNvSpPr txBox="1">
            <a:spLocks noChangeArrowheads="1"/>
          </p:cNvSpPr>
          <p:nvPr/>
        </p:nvSpPr>
        <p:spPr bwMode="auto">
          <a:xfrm>
            <a:off x="6858000" y="25908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</a:t>
            </a:r>
          </a:p>
        </p:txBody>
      </p:sp>
      <p:sp>
        <p:nvSpPr>
          <p:cNvPr id="12314" name="Rectangle 52"/>
          <p:cNvSpPr>
            <a:spLocks noChangeArrowheads="1"/>
          </p:cNvSpPr>
          <p:nvPr/>
        </p:nvSpPr>
        <p:spPr bwMode="auto">
          <a:xfrm>
            <a:off x="75438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315" name="Text Box 53"/>
          <p:cNvSpPr txBox="1">
            <a:spLocks noChangeArrowheads="1"/>
          </p:cNvSpPr>
          <p:nvPr/>
        </p:nvSpPr>
        <p:spPr bwMode="auto">
          <a:xfrm>
            <a:off x="75438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5</a:t>
            </a:r>
          </a:p>
        </p:txBody>
      </p:sp>
      <p:sp>
        <p:nvSpPr>
          <p:cNvPr id="12316" name="Text Box 55"/>
          <p:cNvSpPr txBox="1">
            <a:spLocks noChangeArrowheads="1"/>
          </p:cNvSpPr>
          <p:nvPr/>
        </p:nvSpPr>
        <p:spPr bwMode="auto">
          <a:xfrm>
            <a:off x="2362200" y="2514600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…</a:t>
            </a:r>
          </a:p>
        </p:txBody>
      </p:sp>
      <p:sp>
        <p:nvSpPr>
          <p:cNvPr id="12317" name="Text Box 56"/>
          <p:cNvSpPr txBox="1">
            <a:spLocks noChangeArrowheads="1"/>
          </p:cNvSpPr>
          <p:nvPr/>
        </p:nvSpPr>
        <p:spPr bwMode="auto">
          <a:xfrm>
            <a:off x="6324600" y="2514600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…</a:t>
            </a:r>
          </a:p>
        </p:txBody>
      </p:sp>
      <p:sp>
        <p:nvSpPr>
          <p:cNvPr id="12318" name="Rectangle 57"/>
          <p:cNvSpPr>
            <a:spLocks noChangeArrowheads="1"/>
          </p:cNvSpPr>
          <p:nvPr/>
        </p:nvSpPr>
        <p:spPr bwMode="auto">
          <a:xfrm>
            <a:off x="8153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319" name="Text Box 58"/>
          <p:cNvSpPr txBox="1">
            <a:spLocks noChangeArrowheads="1"/>
          </p:cNvSpPr>
          <p:nvPr/>
        </p:nvSpPr>
        <p:spPr bwMode="auto">
          <a:xfrm>
            <a:off x="81534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5</a:t>
            </a:r>
          </a:p>
        </p:txBody>
      </p:sp>
      <p:sp>
        <p:nvSpPr>
          <p:cNvPr id="12320" name="Rectangle 60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Enqueuing an Element (cont.)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EC44AEE9-ABCB-4C76-999A-EEE7990A7C6E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9</a:t>
            </a:fld>
            <a:endParaRPr lang="en-US" altLang="en-US" sz="1400"/>
          </a:p>
        </p:txBody>
      </p:sp>
      <p:sp>
        <p:nvSpPr>
          <p:cNvPr id="13315" name="Text Box 25"/>
          <p:cNvSpPr txBox="1">
            <a:spLocks noChangeArrowheads="1"/>
          </p:cNvSpPr>
          <p:nvPr/>
        </p:nvSpPr>
        <p:spPr bwMode="auto">
          <a:xfrm>
            <a:off x="228600" y="3200400"/>
            <a:ext cx="8686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0      1       2            48    49    50     51    52           98    99  100</a:t>
            </a:r>
          </a:p>
        </p:txBody>
      </p:sp>
      <p:sp>
        <p:nvSpPr>
          <p:cNvPr id="13316" name="Text Box 26"/>
          <p:cNvSpPr txBox="1">
            <a:spLocks noChangeArrowheads="1"/>
          </p:cNvSpPr>
          <p:nvPr/>
        </p:nvSpPr>
        <p:spPr bwMode="auto">
          <a:xfrm>
            <a:off x="3886200" y="1752600"/>
            <a:ext cx="1676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item: 71</a:t>
            </a:r>
          </a:p>
        </p:txBody>
      </p:sp>
      <p:sp>
        <p:nvSpPr>
          <p:cNvPr id="13317" name="Text Box 28"/>
          <p:cNvSpPr txBox="1">
            <a:spLocks noChangeArrowheads="1"/>
          </p:cNvSpPr>
          <p:nvPr/>
        </p:nvSpPr>
        <p:spPr bwMode="auto">
          <a:xfrm>
            <a:off x="7772400" y="37338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</a:t>
            </a:r>
          </a:p>
        </p:txBody>
      </p:sp>
      <p:sp>
        <p:nvSpPr>
          <p:cNvPr id="13318" name="Text Box 32"/>
          <p:cNvSpPr txBox="1">
            <a:spLocks noChangeArrowheads="1"/>
          </p:cNvSpPr>
          <p:nvPr/>
        </p:nvSpPr>
        <p:spPr bwMode="auto">
          <a:xfrm>
            <a:off x="152400" y="4800600"/>
            <a:ext cx="6477000" cy="1004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for ( i = 100; i &gt; 0 &amp;&amp; arr[ i - 1 ] &lt; item; </a:t>
            </a:r>
            <a:r>
              <a:rPr lang="en-US" altLang="en-US" sz="2400" b="1">
                <a:solidFill>
                  <a:srgbClr val="FF3300"/>
                </a:solidFill>
              </a:rPr>
              <a:t>i--</a:t>
            </a:r>
            <a:r>
              <a:rPr lang="en-US" altLang="en-US" sz="2400" b="1"/>
              <a:t> )</a:t>
            </a:r>
          </a:p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	arr[ i ] = arr[ i – 1 ];	</a:t>
            </a:r>
          </a:p>
        </p:txBody>
      </p:sp>
      <p:sp>
        <p:nvSpPr>
          <p:cNvPr id="13319" name="Rectangle 33"/>
          <p:cNvSpPr>
            <a:spLocks noChangeArrowheads="1"/>
          </p:cNvSpPr>
          <p:nvPr/>
        </p:nvSpPr>
        <p:spPr bwMode="auto">
          <a:xfrm>
            <a:off x="2286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20" name="Text Box 34"/>
          <p:cNvSpPr txBox="1">
            <a:spLocks noChangeArrowheads="1"/>
          </p:cNvSpPr>
          <p:nvPr/>
        </p:nvSpPr>
        <p:spPr bwMode="auto">
          <a:xfrm>
            <a:off x="228600" y="25908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211</a:t>
            </a:r>
          </a:p>
        </p:txBody>
      </p:sp>
      <p:sp>
        <p:nvSpPr>
          <p:cNvPr id="13321" name="Rectangle 35"/>
          <p:cNvSpPr>
            <a:spLocks noChangeArrowheads="1"/>
          </p:cNvSpPr>
          <p:nvPr/>
        </p:nvSpPr>
        <p:spPr bwMode="auto">
          <a:xfrm>
            <a:off x="914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22" name="Text Box 36"/>
          <p:cNvSpPr txBox="1">
            <a:spLocks noChangeArrowheads="1"/>
          </p:cNvSpPr>
          <p:nvPr/>
        </p:nvSpPr>
        <p:spPr bwMode="auto">
          <a:xfrm>
            <a:off x="914400" y="25908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204</a:t>
            </a:r>
          </a:p>
        </p:txBody>
      </p:sp>
      <p:sp>
        <p:nvSpPr>
          <p:cNvPr id="13323" name="Rectangle 37"/>
          <p:cNvSpPr>
            <a:spLocks noChangeArrowheads="1"/>
          </p:cNvSpPr>
          <p:nvPr/>
        </p:nvSpPr>
        <p:spPr bwMode="auto">
          <a:xfrm>
            <a:off x="16002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24" name="Text Box 38"/>
          <p:cNvSpPr txBox="1">
            <a:spLocks noChangeArrowheads="1"/>
          </p:cNvSpPr>
          <p:nvPr/>
        </p:nvSpPr>
        <p:spPr bwMode="auto">
          <a:xfrm>
            <a:off x="16002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201</a:t>
            </a:r>
          </a:p>
        </p:txBody>
      </p:sp>
      <p:sp>
        <p:nvSpPr>
          <p:cNvPr id="13325" name="Rectangle 39"/>
          <p:cNvSpPr>
            <a:spLocks noChangeArrowheads="1"/>
          </p:cNvSpPr>
          <p:nvPr/>
        </p:nvSpPr>
        <p:spPr bwMode="auto">
          <a:xfrm>
            <a:off x="28956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26" name="Text Box 40"/>
          <p:cNvSpPr txBox="1">
            <a:spLocks noChangeArrowheads="1"/>
          </p:cNvSpPr>
          <p:nvPr/>
        </p:nvSpPr>
        <p:spPr bwMode="auto">
          <a:xfrm>
            <a:off x="28956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81</a:t>
            </a:r>
          </a:p>
        </p:txBody>
      </p:sp>
      <p:sp>
        <p:nvSpPr>
          <p:cNvPr id="13327" name="Rectangle 41"/>
          <p:cNvSpPr>
            <a:spLocks noChangeArrowheads="1"/>
          </p:cNvSpPr>
          <p:nvPr/>
        </p:nvSpPr>
        <p:spPr bwMode="auto">
          <a:xfrm>
            <a:off x="3581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28" name="Text Box 42"/>
          <p:cNvSpPr txBox="1">
            <a:spLocks noChangeArrowheads="1"/>
          </p:cNvSpPr>
          <p:nvPr/>
        </p:nvSpPr>
        <p:spPr bwMode="auto">
          <a:xfrm>
            <a:off x="35814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79</a:t>
            </a:r>
          </a:p>
        </p:txBody>
      </p:sp>
      <p:sp>
        <p:nvSpPr>
          <p:cNvPr id="13329" name="Rectangle 43"/>
          <p:cNvSpPr>
            <a:spLocks noChangeArrowheads="1"/>
          </p:cNvSpPr>
          <p:nvPr/>
        </p:nvSpPr>
        <p:spPr bwMode="auto">
          <a:xfrm>
            <a:off x="42672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30" name="Text Box 44"/>
          <p:cNvSpPr txBox="1">
            <a:spLocks noChangeArrowheads="1"/>
          </p:cNvSpPr>
          <p:nvPr/>
        </p:nvSpPr>
        <p:spPr bwMode="auto">
          <a:xfrm>
            <a:off x="42672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70</a:t>
            </a:r>
          </a:p>
        </p:txBody>
      </p:sp>
      <p:sp>
        <p:nvSpPr>
          <p:cNvPr id="13331" name="Rectangle 45"/>
          <p:cNvSpPr>
            <a:spLocks noChangeArrowheads="1"/>
          </p:cNvSpPr>
          <p:nvPr/>
        </p:nvSpPr>
        <p:spPr bwMode="auto">
          <a:xfrm>
            <a:off x="49530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32" name="Text Box 46"/>
          <p:cNvSpPr txBox="1">
            <a:spLocks noChangeArrowheads="1"/>
          </p:cNvSpPr>
          <p:nvPr/>
        </p:nvSpPr>
        <p:spPr bwMode="auto">
          <a:xfrm>
            <a:off x="49530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69</a:t>
            </a:r>
          </a:p>
        </p:txBody>
      </p:sp>
      <p:sp>
        <p:nvSpPr>
          <p:cNvPr id="13333" name="Rectangle 47"/>
          <p:cNvSpPr>
            <a:spLocks noChangeArrowheads="1"/>
          </p:cNvSpPr>
          <p:nvPr/>
        </p:nvSpPr>
        <p:spPr bwMode="auto">
          <a:xfrm>
            <a:off x="56388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34" name="Text Box 48"/>
          <p:cNvSpPr txBox="1">
            <a:spLocks noChangeArrowheads="1"/>
          </p:cNvSpPr>
          <p:nvPr/>
        </p:nvSpPr>
        <p:spPr bwMode="auto">
          <a:xfrm>
            <a:off x="56388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67</a:t>
            </a:r>
          </a:p>
        </p:txBody>
      </p:sp>
      <p:sp>
        <p:nvSpPr>
          <p:cNvPr id="13335" name="Rectangle 49"/>
          <p:cNvSpPr>
            <a:spLocks noChangeArrowheads="1"/>
          </p:cNvSpPr>
          <p:nvPr/>
        </p:nvSpPr>
        <p:spPr bwMode="auto">
          <a:xfrm>
            <a:off x="68580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36" name="Text Box 50"/>
          <p:cNvSpPr txBox="1">
            <a:spLocks noChangeArrowheads="1"/>
          </p:cNvSpPr>
          <p:nvPr/>
        </p:nvSpPr>
        <p:spPr bwMode="auto">
          <a:xfrm>
            <a:off x="6858000" y="25908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</a:t>
            </a:r>
          </a:p>
        </p:txBody>
      </p:sp>
      <p:sp>
        <p:nvSpPr>
          <p:cNvPr id="13337" name="Rectangle 51"/>
          <p:cNvSpPr>
            <a:spLocks noChangeArrowheads="1"/>
          </p:cNvSpPr>
          <p:nvPr/>
        </p:nvSpPr>
        <p:spPr bwMode="auto">
          <a:xfrm>
            <a:off x="75438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38" name="Text Box 52"/>
          <p:cNvSpPr txBox="1">
            <a:spLocks noChangeArrowheads="1"/>
          </p:cNvSpPr>
          <p:nvPr/>
        </p:nvSpPr>
        <p:spPr bwMode="auto">
          <a:xfrm>
            <a:off x="75438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5</a:t>
            </a:r>
          </a:p>
        </p:txBody>
      </p:sp>
      <p:sp>
        <p:nvSpPr>
          <p:cNvPr id="13339" name="Text Box 54"/>
          <p:cNvSpPr txBox="1">
            <a:spLocks noChangeArrowheads="1"/>
          </p:cNvSpPr>
          <p:nvPr/>
        </p:nvSpPr>
        <p:spPr bwMode="auto">
          <a:xfrm>
            <a:off x="2362200" y="2514600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…</a:t>
            </a:r>
          </a:p>
        </p:txBody>
      </p:sp>
      <p:sp>
        <p:nvSpPr>
          <p:cNvPr id="13340" name="Text Box 55"/>
          <p:cNvSpPr txBox="1">
            <a:spLocks noChangeArrowheads="1"/>
          </p:cNvSpPr>
          <p:nvPr/>
        </p:nvSpPr>
        <p:spPr bwMode="auto">
          <a:xfrm>
            <a:off x="6324600" y="2514600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…</a:t>
            </a:r>
          </a:p>
        </p:txBody>
      </p:sp>
      <p:sp>
        <p:nvSpPr>
          <p:cNvPr id="13341" name="Rectangle 56"/>
          <p:cNvSpPr>
            <a:spLocks noChangeArrowheads="1"/>
          </p:cNvSpPr>
          <p:nvPr/>
        </p:nvSpPr>
        <p:spPr bwMode="auto">
          <a:xfrm>
            <a:off x="8153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42" name="Text Box 57"/>
          <p:cNvSpPr txBox="1">
            <a:spLocks noChangeArrowheads="1"/>
          </p:cNvSpPr>
          <p:nvPr/>
        </p:nvSpPr>
        <p:spPr bwMode="auto">
          <a:xfrm>
            <a:off x="81534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5</a:t>
            </a:r>
          </a:p>
        </p:txBody>
      </p:sp>
      <p:sp>
        <p:nvSpPr>
          <p:cNvPr id="13343" name="Rectangle 59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Enqueuing an Element (cont.)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1B5E732A-34AD-4A21-A208-1F6C1471065C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10</a:t>
            </a:fld>
            <a:endParaRPr lang="en-US" altLang="en-US" sz="1400"/>
          </a:p>
        </p:txBody>
      </p:sp>
      <p:sp>
        <p:nvSpPr>
          <p:cNvPr id="14339" name="Text Box 25"/>
          <p:cNvSpPr txBox="1">
            <a:spLocks noChangeArrowheads="1"/>
          </p:cNvSpPr>
          <p:nvPr/>
        </p:nvSpPr>
        <p:spPr bwMode="auto">
          <a:xfrm>
            <a:off x="228600" y="3200400"/>
            <a:ext cx="8686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0      1       2            48    49    50     51    52           98    99  100</a:t>
            </a:r>
          </a:p>
        </p:txBody>
      </p:sp>
      <p:sp>
        <p:nvSpPr>
          <p:cNvPr id="14340" name="Text Box 26"/>
          <p:cNvSpPr txBox="1">
            <a:spLocks noChangeArrowheads="1"/>
          </p:cNvSpPr>
          <p:nvPr/>
        </p:nvSpPr>
        <p:spPr bwMode="auto">
          <a:xfrm>
            <a:off x="3886200" y="1752600"/>
            <a:ext cx="1676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item: 71</a:t>
            </a:r>
          </a:p>
        </p:txBody>
      </p:sp>
      <p:sp>
        <p:nvSpPr>
          <p:cNvPr id="14341" name="Text Box 28"/>
          <p:cNvSpPr txBox="1">
            <a:spLocks noChangeArrowheads="1"/>
          </p:cNvSpPr>
          <p:nvPr/>
        </p:nvSpPr>
        <p:spPr bwMode="auto">
          <a:xfrm>
            <a:off x="7772400" y="37338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</a:t>
            </a:r>
          </a:p>
        </p:txBody>
      </p:sp>
      <p:sp>
        <p:nvSpPr>
          <p:cNvPr id="14342" name="Freeform 31"/>
          <p:cNvSpPr>
            <a:spLocks/>
          </p:cNvSpPr>
          <p:nvPr/>
        </p:nvSpPr>
        <p:spPr bwMode="auto">
          <a:xfrm>
            <a:off x="7162800" y="1828800"/>
            <a:ext cx="762000" cy="685800"/>
          </a:xfrm>
          <a:custGeom>
            <a:avLst/>
            <a:gdLst>
              <a:gd name="T0" fmla="*/ 0 w 480"/>
              <a:gd name="T1" fmla="*/ 2147483646 h 432"/>
              <a:gd name="T2" fmla="*/ 2147483646 w 480"/>
              <a:gd name="T3" fmla="*/ 0 h 432"/>
              <a:gd name="T4" fmla="*/ 2147483646 w 480"/>
              <a:gd name="T5" fmla="*/ 2147483646 h 43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80" h="432">
                <a:moveTo>
                  <a:pt x="0" y="432"/>
                </a:moveTo>
                <a:cubicBezTo>
                  <a:pt x="80" y="216"/>
                  <a:pt x="160" y="0"/>
                  <a:pt x="240" y="0"/>
                </a:cubicBezTo>
                <a:cubicBezTo>
                  <a:pt x="320" y="0"/>
                  <a:pt x="440" y="360"/>
                  <a:pt x="480" y="432"/>
                </a:cubicBezTo>
              </a:path>
            </a:pathLst>
          </a:custGeom>
          <a:noFill/>
          <a:ln w="38100" cmpd="sng">
            <a:solidFill>
              <a:srgbClr val="FF330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4343" name="Text Box 32"/>
          <p:cNvSpPr txBox="1">
            <a:spLocks noChangeArrowheads="1"/>
          </p:cNvSpPr>
          <p:nvPr/>
        </p:nvSpPr>
        <p:spPr bwMode="auto">
          <a:xfrm>
            <a:off x="152400" y="4800600"/>
            <a:ext cx="6477000" cy="1004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for ( i = 100; i &gt; 0 &amp;&amp; arr[ i - 1 ] &lt; item; i-- )</a:t>
            </a:r>
          </a:p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	</a:t>
            </a:r>
            <a:r>
              <a:rPr lang="en-US" altLang="en-US" sz="2400" b="1">
                <a:solidFill>
                  <a:srgbClr val="FF3300"/>
                </a:solidFill>
              </a:rPr>
              <a:t>arr[ i ] = arr[ i – 1 ];	</a:t>
            </a:r>
          </a:p>
        </p:txBody>
      </p:sp>
      <p:sp>
        <p:nvSpPr>
          <p:cNvPr id="14344" name="Rectangle 33"/>
          <p:cNvSpPr>
            <a:spLocks noChangeArrowheads="1"/>
          </p:cNvSpPr>
          <p:nvPr/>
        </p:nvSpPr>
        <p:spPr bwMode="auto">
          <a:xfrm>
            <a:off x="2286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4345" name="Text Box 34"/>
          <p:cNvSpPr txBox="1">
            <a:spLocks noChangeArrowheads="1"/>
          </p:cNvSpPr>
          <p:nvPr/>
        </p:nvSpPr>
        <p:spPr bwMode="auto">
          <a:xfrm>
            <a:off x="228600" y="25908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211</a:t>
            </a:r>
          </a:p>
        </p:txBody>
      </p:sp>
      <p:sp>
        <p:nvSpPr>
          <p:cNvPr id="14346" name="Rectangle 35"/>
          <p:cNvSpPr>
            <a:spLocks noChangeArrowheads="1"/>
          </p:cNvSpPr>
          <p:nvPr/>
        </p:nvSpPr>
        <p:spPr bwMode="auto">
          <a:xfrm>
            <a:off x="914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4347" name="Text Box 36"/>
          <p:cNvSpPr txBox="1">
            <a:spLocks noChangeArrowheads="1"/>
          </p:cNvSpPr>
          <p:nvPr/>
        </p:nvSpPr>
        <p:spPr bwMode="auto">
          <a:xfrm>
            <a:off x="914400" y="25908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204</a:t>
            </a:r>
          </a:p>
        </p:txBody>
      </p:sp>
      <p:sp>
        <p:nvSpPr>
          <p:cNvPr id="14348" name="Rectangle 37"/>
          <p:cNvSpPr>
            <a:spLocks noChangeArrowheads="1"/>
          </p:cNvSpPr>
          <p:nvPr/>
        </p:nvSpPr>
        <p:spPr bwMode="auto">
          <a:xfrm>
            <a:off x="16002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4349" name="Text Box 38"/>
          <p:cNvSpPr txBox="1">
            <a:spLocks noChangeArrowheads="1"/>
          </p:cNvSpPr>
          <p:nvPr/>
        </p:nvSpPr>
        <p:spPr bwMode="auto">
          <a:xfrm>
            <a:off x="16002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201</a:t>
            </a:r>
          </a:p>
        </p:txBody>
      </p:sp>
      <p:sp>
        <p:nvSpPr>
          <p:cNvPr id="14350" name="Rectangle 39"/>
          <p:cNvSpPr>
            <a:spLocks noChangeArrowheads="1"/>
          </p:cNvSpPr>
          <p:nvPr/>
        </p:nvSpPr>
        <p:spPr bwMode="auto">
          <a:xfrm>
            <a:off x="28956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4351" name="Text Box 40"/>
          <p:cNvSpPr txBox="1">
            <a:spLocks noChangeArrowheads="1"/>
          </p:cNvSpPr>
          <p:nvPr/>
        </p:nvSpPr>
        <p:spPr bwMode="auto">
          <a:xfrm>
            <a:off x="28956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81</a:t>
            </a:r>
          </a:p>
        </p:txBody>
      </p:sp>
      <p:sp>
        <p:nvSpPr>
          <p:cNvPr id="14352" name="Rectangle 41"/>
          <p:cNvSpPr>
            <a:spLocks noChangeArrowheads="1"/>
          </p:cNvSpPr>
          <p:nvPr/>
        </p:nvSpPr>
        <p:spPr bwMode="auto">
          <a:xfrm>
            <a:off x="3581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4353" name="Text Box 42"/>
          <p:cNvSpPr txBox="1">
            <a:spLocks noChangeArrowheads="1"/>
          </p:cNvSpPr>
          <p:nvPr/>
        </p:nvSpPr>
        <p:spPr bwMode="auto">
          <a:xfrm>
            <a:off x="35814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79</a:t>
            </a:r>
          </a:p>
        </p:txBody>
      </p:sp>
      <p:sp>
        <p:nvSpPr>
          <p:cNvPr id="14354" name="Rectangle 43"/>
          <p:cNvSpPr>
            <a:spLocks noChangeArrowheads="1"/>
          </p:cNvSpPr>
          <p:nvPr/>
        </p:nvSpPr>
        <p:spPr bwMode="auto">
          <a:xfrm>
            <a:off x="42672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4355" name="Text Box 44"/>
          <p:cNvSpPr txBox="1">
            <a:spLocks noChangeArrowheads="1"/>
          </p:cNvSpPr>
          <p:nvPr/>
        </p:nvSpPr>
        <p:spPr bwMode="auto">
          <a:xfrm>
            <a:off x="42672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70</a:t>
            </a:r>
          </a:p>
        </p:txBody>
      </p:sp>
      <p:sp>
        <p:nvSpPr>
          <p:cNvPr id="14356" name="Rectangle 45"/>
          <p:cNvSpPr>
            <a:spLocks noChangeArrowheads="1"/>
          </p:cNvSpPr>
          <p:nvPr/>
        </p:nvSpPr>
        <p:spPr bwMode="auto">
          <a:xfrm>
            <a:off x="49530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4357" name="Text Box 46"/>
          <p:cNvSpPr txBox="1">
            <a:spLocks noChangeArrowheads="1"/>
          </p:cNvSpPr>
          <p:nvPr/>
        </p:nvSpPr>
        <p:spPr bwMode="auto">
          <a:xfrm>
            <a:off x="49530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69</a:t>
            </a:r>
          </a:p>
        </p:txBody>
      </p:sp>
      <p:sp>
        <p:nvSpPr>
          <p:cNvPr id="14358" name="Rectangle 47"/>
          <p:cNvSpPr>
            <a:spLocks noChangeArrowheads="1"/>
          </p:cNvSpPr>
          <p:nvPr/>
        </p:nvSpPr>
        <p:spPr bwMode="auto">
          <a:xfrm>
            <a:off x="56388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4359" name="Text Box 48"/>
          <p:cNvSpPr txBox="1">
            <a:spLocks noChangeArrowheads="1"/>
          </p:cNvSpPr>
          <p:nvPr/>
        </p:nvSpPr>
        <p:spPr bwMode="auto">
          <a:xfrm>
            <a:off x="56388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67</a:t>
            </a:r>
          </a:p>
        </p:txBody>
      </p:sp>
      <p:sp>
        <p:nvSpPr>
          <p:cNvPr id="14360" name="Rectangle 49"/>
          <p:cNvSpPr>
            <a:spLocks noChangeArrowheads="1"/>
          </p:cNvSpPr>
          <p:nvPr/>
        </p:nvSpPr>
        <p:spPr bwMode="auto">
          <a:xfrm>
            <a:off x="68580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4361" name="Text Box 50"/>
          <p:cNvSpPr txBox="1">
            <a:spLocks noChangeArrowheads="1"/>
          </p:cNvSpPr>
          <p:nvPr/>
        </p:nvSpPr>
        <p:spPr bwMode="auto">
          <a:xfrm>
            <a:off x="6858000" y="25908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</a:t>
            </a:r>
          </a:p>
        </p:txBody>
      </p:sp>
      <p:sp>
        <p:nvSpPr>
          <p:cNvPr id="14362" name="Rectangle 51"/>
          <p:cNvSpPr>
            <a:spLocks noChangeArrowheads="1"/>
          </p:cNvSpPr>
          <p:nvPr/>
        </p:nvSpPr>
        <p:spPr bwMode="auto">
          <a:xfrm>
            <a:off x="75438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4363" name="Text Box 52"/>
          <p:cNvSpPr txBox="1">
            <a:spLocks noChangeArrowheads="1"/>
          </p:cNvSpPr>
          <p:nvPr/>
        </p:nvSpPr>
        <p:spPr bwMode="auto">
          <a:xfrm>
            <a:off x="75438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</a:t>
            </a:r>
          </a:p>
        </p:txBody>
      </p:sp>
      <p:sp>
        <p:nvSpPr>
          <p:cNvPr id="14364" name="Text Box 54"/>
          <p:cNvSpPr txBox="1">
            <a:spLocks noChangeArrowheads="1"/>
          </p:cNvSpPr>
          <p:nvPr/>
        </p:nvSpPr>
        <p:spPr bwMode="auto">
          <a:xfrm>
            <a:off x="2362200" y="2514600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…</a:t>
            </a:r>
          </a:p>
        </p:txBody>
      </p:sp>
      <p:sp>
        <p:nvSpPr>
          <p:cNvPr id="14365" name="Text Box 55"/>
          <p:cNvSpPr txBox="1">
            <a:spLocks noChangeArrowheads="1"/>
          </p:cNvSpPr>
          <p:nvPr/>
        </p:nvSpPr>
        <p:spPr bwMode="auto">
          <a:xfrm>
            <a:off x="6324600" y="2514600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…</a:t>
            </a:r>
          </a:p>
        </p:txBody>
      </p:sp>
      <p:sp>
        <p:nvSpPr>
          <p:cNvPr id="14366" name="Rectangle 56"/>
          <p:cNvSpPr>
            <a:spLocks noChangeArrowheads="1"/>
          </p:cNvSpPr>
          <p:nvPr/>
        </p:nvSpPr>
        <p:spPr bwMode="auto">
          <a:xfrm>
            <a:off x="8153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4367" name="Text Box 57"/>
          <p:cNvSpPr txBox="1">
            <a:spLocks noChangeArrowheads="1"/>
          </p:cNvSpPr>
          <p:nvPr/>
        </p:nvSpPr>
        <p:spPr bwMode="auto">
          <a:xfrm>
            <a:off x="81534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5</a:t>
            </a:r>
          </a:p>
        </p:txBody>
      </p:sp>
      <p:sp>
        <p:nvSpPr>
          <p:cNvPr id="14368" name="Rectangle 59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Enqueuing an Element (cont.)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C17E598D-CEF8-4CB8-86FB-DDA3CA7231B5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11</a:t>
            </a:fld>
            <a:endParaRPr lang="en-US" altLang="en-US" sz="1400"/>
          </a:p>
        </p:txBody>
      </p:sp>
      <p:sp>
        <p:nvSpPr>
          <p:cNvPr id="15363" name="Text Box 25"/>
          <p:cNvSpPr txBox="1">
            <a:spLocks noChangeArrowheads="1"/>
          </p:cNvSpPr>
          <p:nvPr/>
        </p:nvSpPr>
        <p:spPr bwMode="auto">
          <a:xfrm>
            <a:off x="228600" y="3200400"/>
            <a:ext cx="8686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0      1       2            48    49    50     51    52           98    99  100</a:t>
            </a:r>
          </a:p>
        </p:txBody>
      </p:sp>
      <p:sp>
        <p:nvSpPr>
          <p:cNvPr id="15364" name="Text Box 26"/>
          <p:cNvSpPr txBox="1">
            <a:spLocks noChangeArrowheads="1"/>
          </p:cNvSpPr>
          <p:nvPr/>
        </p:nvSpPr>
        <p:spPr bwMode="auto">
          <a:xfrm>
            <a:off x="3886200" y="1752600"/>
            <a:ext cx="1676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item: 71</a:t>
            </a:r>
          </a:p>
        </p:txBody>
      </p:sp>
      <p:sp>
        <p:nvSpPr>
          <p:cNvPr id="15365" name="Text Box 28"/>
          <p:cNvSpPr txBox="1">
            <a:spLocks noChangeArrowheads="1"/>
          </p:cNvSpPr>
          <p:nvPr/>
        </p:nvSpPr>
        <p:spPr bwMode="auto">
          <a:xfrm>
            <a:off x="7772400" y="37338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</a:t>
            </a:r>
          </a:p>
        </p:txBody>
      </p:sp>
      <p:sp>
        <p:nvSpPr>
          <p:cNvPr id="15366" name="Text Box 33"/>
          <p:cNvSpPr txBox="1">
            <a:spLocks noChangeArrowheads="1"/>
          </p:cNvSpPr>
          <p:nvPr/>
        </p:nvSpPr>
        <p:spPr bwMode="auto">
          <a:xfrm>
            <a:off x="152400" y="4800600"/>
            <a:ext cx="6477000" cy="1004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for ( i = 100; i &gt; 0 &amp;&amp; arr[ i - 1 ] &lt; item; i-- )</a:t>
            </a:r>
          </a:p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	arr[ i ] = arr[ i – 1 ];	</a:t>
            </a:r>
          </a:p>
        </p:txBody>
      </p:sp>
      <p:sp>
        <p:nvSpPr>
          <p:cNvPr id="15367" name="Rectangle 35"/>
          <p:cNvSpPr>
            <a:spLocks noChangeArrowheads="1"/>
          </p:cNvSpPr>
          <p:nvPr/>
        </p:nvSpPr>
        <p:spPr bwMode="auto">
          <a:xfrm>
            <a:off x="2286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5368" name="Text Box 36"/>
          <p:cNvSpPr txBox="1">
            <a:spLocks noChangeArrowheads="1"/>
          </p:cNvSpPr>
          <p:nvPr/>
        </p:nvSpPr>
        <p:spPr bwMode="auto">
          <a:xfrm>
            <a:off x="228600" y="25908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211</a:t>
            </a:r>
          </a:p>
        </p:txBody>
      </p:sp>
      <p:sp>
        <p:nvSpPr>
          <p:cNvPr id="15369" name="Rectangle 37"/>
          <p:cNvSpPr>
            <a:spLocks noChangeArrowheads="1"/>
          </p:cNvSpPr>
          <p:nvPr/>
        </p:nvSpPr>
        <p:spPr bwMode="auto">
          <a:xfrm>
            <a:off x="914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5370" name="Text Box 38"/>
          <p:cNvSpPr txBox="1">
            <a:spLocks noChangeArrowheads="1"/>
          </p:cNvSpPr>
          <p:nvPr/>
        </p:nvSpPr>
        <p:spPr bwMode="auto">
          <a:xfrm>
            <a:off x="914400" y="25908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204</a:t>
            </a:r>
          </a:p>
        </p:txBody>
      </p:sp>
      <p:sp>
        <p:nvSpPr>
          <p:cNvPr id="15371" name="Rectangle 39"/>
          <p:cNvSpPr>
            <a:spLocks noChangeArrowheads="1"/>
          </p:cNvSpPr>
          <p:nvPr/>
        </p:nvSpPr>
        <p:spPr bwMode="auto">
          <a:xfrm>
            <a:off x="16002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5372" name="Text Box 40"/>
          <p:cNvSpPr txBox="1">
            <a:spLocks noChangeArrowheads="1"/>
          </p:cNvSpPr>
          <p:nvPr/>
        </p:nvSpPr>
        <p:spPr bwMode="auto">
          <a:xfrm>
            <a:off x="16002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201</a:t>
            </a:r>
          </a:p>
        </p:txBody>
      </p:sp>
      <p:sp>
        <p:nvSpPr>
          <p:cNvPr id="15373" name="Rectangle 41"/>
          <p:cNvSpPr>
            <a:spLocks noChangeArrowheads="1"/>
          </p:cNvSpPr>
          <p:nvPr/>
        </p:nvSpPr>
        <p:spPr bwMode="auto">
          <a:xfrm>
            <a:off x="28956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5374" name="Text Box 42"/>
          <p:cNvSpPr txBox="1">
            <a:spLocks noChangeArrowheads="1"/>
          </p:cNvSpPr>
          <p:nvPr/>
        </p:nvSpPr>
        <p:spPr bwMode="auto">
          <a:xfrm>
            <a:off x="28956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81</a:t>
            </a:r>
          </a:p>
        </p:txBody>
      </p:sp>
      <p:sp>
        <p:nvSpPr>
          <p:cNvPr id="15375" name="Rectangle 43"/>
          <p:cNvSpPr>
            <a:spLocks noChangeArrowheads="1"/>
          </p:cNvSpPr>
          <p:nvPr/>
        </p:nvSpPr>
        <p:spPr bwMode="auto">
          <a:xfrm>
            <a:off x="3581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5376" name="Text Box 44"/>
          <p:cNvSpPr txBox="1">
            <a:spLocks noChangeArrowheads="1"/>
          </p:cNvSpPr>
          <p:nvPr/>
        </p:nvSpPr>
        <p:spPr bwMode="auto">
          <a:xfrm>
            <a:off x="35814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79</a:t>
            </a:r>
          </a:p>
        </p:txBody>
      </p:sp>
      <p:sp>
        <p:nvSpPr>
          <p:cNvPr id="15377" name="Rectangle 45"/>
          <p:cNvSpPr>
            <a:spLocks noChangeArrowheads="1"/>
          </p:cNvSpPr>
          <p:nvPr/>
        </p:nvSpPr>
        <p:spPr bwMode="auto">
          <a:xfrm>
            <a:off x="42672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5378" name="Text Box 46"/>
          <p:cNvSpPr txBox="1">
            <a:spLocks noChangeArrowheads="1"/>
          </p:cNvSpPr>
          <p:nvPr/>
        </p:nvSpPr>
        <p:spPr bwMode="auto">
          <a:xfrm>
            <a:off x="42672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70</a:t>
            </a:r>
          </a:p>
        </p:txBody>
      </p:sp>
      <p:sp>
        <p:nvSpPr>
          <p:cNvPr id="15379" name="Rectangle 47"/>
          <p:cNvSpPr>
            <a:spLocks noChangeArrowheads="1"/>
          </p:cNvSpPr>
          <p:nvPr/>
        </p:nvSpPr>
        <p:spPr bwMode="auto">
          <a:xfrm>
            <a:off x="49530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5380" name="Text Box 48"/>
          <p:cNvSpPr txBox="1">
            <a:spLocks noChangeArrowheads="1"/>
          </p:cNvSpPr>
          <p:nvPr/>
        </p:nvSpPr>
        <p:spPr bwMode="auto">
          <a:xfrm>
            <a:off x="49530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69</a:t>
            </a:r>
          </a:p>
        </p:txBody>
      </p:sp>
      <p:sp>
        <p:nvSpPr>
          <p:cNvPr id="15381" name="Rectangle 49"/>
          <p:cNvSpPr>
            <a:spLocks noChangeArrowheads="1"/>
          </p:cNvSpPr>
          <p:nvPr/>
        </p:nvSpPr>
        <p:spPr bwMode="auto">
          <a:xfrm>
            <a:off x="56388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5382" name="Text Box 50"/>
          <p:cNvSpPr txBox="1">
            <a:spLocks noChangeArrowheads="1"/>
          </p:cNvSpPr>
          <p:nvPr/>
        </p:nvSpPr>
        <p:spPr bwMode="auto">
          <a:xfrm>
            <a:off x="56388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67</a:t>
            </a:r>
          </a:p>
        </p:txBody>
      </p:sp>
      <p:sp>
        <p:nvSpPr>
          <p:cNvPr id="15383" name="Rectangle 51"/>
          <p:cNvSpPr>
            <a:spLocks noChangeArrowheads="1"/>
          </p:cNvSpPr>
          <p:nvPr/>
        </p:nvSpPr>
        <p:spPr bwMode="auto">
          <a:xfrm>
            <a:off x="68580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5384" name="Text Box 52"/>
          <p:cNvSpPr txBox="1">
            <a:spLocks noChangeArrowheads="1"/>
          </p:cNvSpPr>
          <p:nvPr/>
        </p:nvSpPr>
        <p:spPr bwMode="auto">
          <a:xfrm>
            <a:off x="6858000" y="25908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</a:t>
            </a:r>
          </a:p>
        </p:txBody>
      </p:sp>
      <p:sp>
        <p:nvSpPr>
          <p:cNvPr id="15385" name="Rectangle 53"/>
          <p:cNvSpPr>
            <a:spLocks noChangeArrowheads="1"/>
          </p:cNvSpPr>
          <p:nvPr/>
        </p:nvSpPr>
        <p:spPr bwMode="auto">
          <a:xfrm>
            <a:off x="75438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5386" name="Text Box 54"/>
          <p:cNvSpPr txBox="1">
            <a:spLocks noChangeArrowheads="1"/>
          </p:cNvSpPr>
          <p:nvPr/>
        </p:nvSpPr>
        <p:spPr bwMode="auto">
          <a:xfrm>
            <a:off x="75438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</a:t>
            </a:r>
          </a:p>
        </p:txBody>
      </p:sp>
      <p:sp>
        <p:nvSpPr>
          <p:cNvPr id="15387" name="Text Box 56"/>
          <p:cNvSpPr txBox="1">
            <a:spLocks noChangeArrowheads="1"/>
          </p:cNvSpPr>
          <p:nvPr/>
        </p:nvSpPr>
        <p:spPr bwMode="auto">
          <a:xfrm>
            <a:off x="2362200" y="2514600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…</a:t>
            </a:r>
          </a:p>
        </p:txBody>
      </p:sp>
      <p:sp>
        <p:nvSpPr>
          <p:cNvPr id="15388" name="Text Box 57"/>
          <p:cNvSpPr txBox="1">
            <a:spLocks noChangeArrowheads="1"/>
          </p:cNvSpPr>
          <p:nvPr/>
        </p:nvSpPr>
        <p:spPr bwMode="auto">
          <a:xfrm>
            <a:off x="6324600" y="2514600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…</a:t>
            </a:r>
          </a:p>
        </p:txBody>
      </p:sp>
      <p:sp>
        <p:nvSpPr>
          <p:cNvPr id="15389" name="Rectangle 58"/>
          <p:cNvSpPr>
            <a:spLocks noChangeArrowheads="1"/>
          </p:cNvSpPr>
          <p:nvPr/>
        </p:nvSpPr>
        <p:spPr bwMode="auto">
          <a:xfrm>
            <a:off x="8153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5390" name="Text Box 59"/>
          <p:cNvSpPr txBox="1">
            <a:spLocks noChangeArrowheads="1"/>
          </p:cNvSpPr>
          <p:nvPr/>
        </p:nvSpPr>
        <p:spPr bwMode="auto">
          <a:xfrm>
            <a:off x="81534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5</a:t>
            </a:r>
          </a:p>
        </p:txBody>
      </p:sp>
      <p:sp>
        <p:nvSpPr>
          <p:cNvPr id="15391" name="Text Box 60"/>
          <p:cNvSpPr txBox="1">
            <a:spLocks noChangeArrowheads="1"/>
          </p:cNvSpPr>
          <p:nvPr/>
        </p:nvSpPr>
        <p:spPr bwMode="auto">
          <a:xfrm>
            <a:off x="6477000" y="4267200"/>
            <a:ext cx="2514600" cy="1562100"/>
          </a:xfrm>
          <a:prstGeom prst="rect">
            <a:avLst/>
          </a:prstGeom>
          <a:noFill/>
          <a:ln w="9525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This process continues and i eventually becomes 51 </a:t>
            </a:r>
          </a:p>
        </p:txBody>
      </p:sp>
      <p:sp>
        <p:nvSpPr>
          <p:cNvPr id="15392" name="Rectangle 6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Enqueuing an Element (cont.)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E4427588-28CC-49E8-B123-4C6FE1356E67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12</a:t>
            </a:fld>
            <a:endParaRPr lang="en-US" altLang="en-US" sz="1400"/>
          </a:p>
        </p:txBody>
      </p:sp>
      <p:sp>
        <p:nvSpPr>
          <p:cNvPr id="16387" name="Text Box 25"/>
          <p:cNvSpPr txBox="1">
            <a:spLocks noChangeArrowheads="1"/>
          </p:cNvSpPr>
          <p:nvPr/>
        </p:nvSpPr>
        <p:spPr bwMode="auto">
          <a:xfrm>
            <a:off x="228600" y="3200400"/>
            <a:ext cx="8686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0      1       2            48    49    50     51    52           98    99  100</a:t>
            </a:r>
          </a:p>
        </p:txBody>
      </p:sp>
      <p:sp>
        <p:nvSpPr>
          <p:cNvPr id="16388" name="Text Box 26"/>
          <p:cNvSpPr txBox="1">
            <a:spLocks noChangeArrowheads="1"/>
          </p:cNvSpPr>
          <p:nvPr/>
        </p:nvSpPr>
        <p:spPr bwMode="auto">
          <a:xfrm>
            <a:off x="3886200" y="1752600"/>
            <a:ext cx="1676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item: 71</a:t>
            </a:r>
          </a:p>
        </p:txBody>
      </p:sp>
      <p:sp>
        <p:nvSpPr>
          <p:cNvPr id="16389" name="Text Box 28"/>
          <p:cNvSpPr txBox="1">
            <a:spLocks noChangeArrowheads="1"/>
          </p:cNvSpPr>
          <p:nvPr/>
        </p:nvSpPr>
        <p:spPr bwMode="auto">
          <a:xfrm>
            <a:off x="5105400" y="36576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</a:t>
            </a:r>
          </a:p>
        </p:txBody>
      </p:sp>
      <p:sp>
        <p:nvSpPr>
          <p:cNvPr id="16390" name="Text Box 32"/>
          <p:cNvSpPr txBox="1">
            <a:spLocks noChangeArrowheads="1"/>
          </p:cNvSpPr>
          <p:nvPr/>
        </p:nvSpPr>
        <p:spPr bwMode="auto">
          <a:xfrm>
            <a:off x="152400" y="4800600"/>
            <a:ext cx="6477000" cy="1004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for ( i = 100; i &gt; 0 &amp;&amp; arr[ i - 1 ] &lt; item; i-- )</a:t>
            </a:r>
          </a:p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	arr[ i ] = arr[ i – 1 ];	</a:t>
            </a:r>
          </a:p>
        </p:txBody>
      </p:sp>
      <p:sp>
        <p:nvSpPr>
          <p:cNvPr id="16391" name="Rectangle 33"/>
          <p:cNvSpPr>
            <a:spLocks noChangeArrowheads="1"/>
          </p:cNvSpPr>
          <p:nvPr/>
        </p:nvSpPr>
        <p:spPr bwMode="auto">
          <a:xfrm>
            <a:off x="2286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6392" name="Text Box 34"/>
          <p:cNvSpPr txBox="1">
            <a:spLocks noChangeArrowheads="1"/>
          </p:cNvSpPr>
          <p:nvPr/>
        </p:nvSpPr>
        <p:spPr bwMode="auto">
          <a:xfrm>
            <a:off x="228600" y="25908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211</a:t>
            </a:r>
          </a:p>
        </p:txBody>
      </p:sp>
      <p:sp>
        <p:nvSpPr>
          <p:cNvPr id="16393" name="Rectangle 35"/>
          <p:cNvSpPr>
            <a:spLocks noChangeArrowheads="1"/>
          </p:cNvSpPr>
          <p:nvPr/>
        </p:nvSpPr>
        <p:spPr bwMode="auto">
          <a:xfrm>
            <a:off x="914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6394" name="Text Box 36"/>
          <p:cNvSpPr txBox="1">
            <a:spLocks noChangeArrowheads="1"/>
          </p:cNvSpPr>
          <p:nvPr/>
        </p:nvSpPr>
        <p:spPr bwMode="auto">
          <a:xfrm>
            <a:off x="914400" y="25908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204</a:t>
            </a:r>
          </a:p>
        </p:txBody>
      </p:sp>
      <p:sp>
        <p:nvSpPr>
          <p:cNvPr id="16395" name="Rectangle 37"/>
          <p:cNvSpPr>
            <a:spLocks noChangeArrowheads="1"/>
          </p:cNvSpPr>
          <p:nvPr/>
        </p:nvSpPr>
        <p:spPr bwMode="auto">
          <a:xfrm>
            <a:off x="16002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6396" name="Text Box 38"/>
          <p:cNvSpPr txBox="1">
            <a:spLocks noChangeArrowheads="1"/>
          </p:cNvSpPr>
          <p:nvPr/>
        </p:nvSpPr>
        <p:spPr bwMode="auto">
          <a:xfrm>
            <a:off x="16002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201</a:t>
            </a:r>
          </a:p>
        </p:txBody>
      </p:sp>
      <p:sp>
        <p:nvSpPr>
          <p:cNvPr id="16397" name="Rectangle 39"/>
          <p:cNvSpPr>
            <a:spLocks noChangeArrowheads="1"/>
          </p:cNvSpPr>
          <p:nvPr/>
        </p:nvSpPr>
        <p:spPr bwMode="auto">
          <a:xfrm>
            <a:off x="28956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6398" name="Text Box 40"/>
          <p:cNvSpPr txBox="1">
            <a:spLocks noChangeArrowheads="1"/>
          </p:cNvSpPr>
          <p:nvPr/>
        </p:nvSpPr>
        <p:spPr bwMode="auto">
          <a:xfrm>
            <a:off x="28956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81</a:t>
            </a:r>
          </a:p>
        </p:txBody>
      </p:sp>
      <p:sp>
        <p:nvSpPr>
          <p:cNvPr id="16399" name="Rectangle 41"/>
          <p:cNvSpPr>
            <a:spLocks noChangeArrowheads="1"/>
          </p:cNvSpPr>
          <p:nvPr/>
        </p:nvSpPr>
        <p:spPr bwMode="auto">
          <a:xfrm>
            <a:off x="3581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6400" name="Text Box 42"/>
          <p:cNvSpPr txBox="1">
            <a:spLocks noChangeArrowheads="1"/>
          </p:cNvSpPr>
          <p:nvPr/>
        </p:nvSpPr>
        <p:spPr bwMode="auto">
          <a:xfrm>
            <a:off x="35814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79</a:t>
            </a:r>
          </a:p>
        </p:txBody>
      </p:sp>
      <p:sp>
        <p:nvSpPr>
          <p:cNvPr id="16401" name="Rectangle 43"/>
          <p:cNvSpPr>
            <a:spLocks noChangeArrowheads="1"/>
          </p:cNvSpPr>
          <p:nvPr/>
        </p:nvSpPr>
        <p:spPr bwMode="auto">
          <a:xfrm>
            <a:off x="42672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6402" name="Text Box 44"/>
          <p:cNvSpPr txBox="1">
            <a:spLocks noChangeArrowheads="1"/>
          </p:cNvSpPr>
          <p:nvPr/>
        </p:nvSpPr>
        <p:spPr bwMode="auto">
          <a:xfrm>
            <a:off x="42672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70</a:t>
            </a:r>
          </a:p>
        </p:txBody>
      </p:sp>
      <p:sp>
        <p:nvSpPr>
          <p:cNvPr id="16403" name="Rectangle 45"/>
          <p:cNvSpPr>
            <a:spLocks noChangeArrowheads="1"/>
          </p:cNvSpPr>
          <p:nvPr/>
        </p:nvSpPr>
        <p:spPr bwMode="auto">
          <a:xfrm>
            <a:off x="49530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6404" name="Text Box 46"/>
          <p:cNvSpPr txBox="1">
            <a:spLocks noChangeArrowheads="1"/>
          </p:cNvSpPr>
          <p:nvPr/>
        </p:nvSpPr>
        <p:spPr bwMode="auto">
          <a:xfrm>
            <a:off x="49530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69</a:t>
            </a:r>
          </a:p>
        </p:txBody>
      </p:sp>
      <p:sp>
        <p:nvSpPr>
          <p:cNvPr id="16405" name="Rectangle 47"/>
          <p:cNvSpPr>
            <a:spLocks noChangeArrowheads="1"/>
          </p:cNvSpPr>
          <p:nvPr/>
        </p:nvSpPr>
        <p:spPr bwMode="auto">
          <a:xfrm>
            <a:off x="56388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6406" name="Text Box 48"/>
          <p:cNvSpPr txBox="1">
            <a:spLocks noChangeArrowheads="1"/>
          </p:cNvSpPr>
          <p:nvPr/>
        </p:nvSpPr>
        <p:spPr bwMode="auto">
          <a:xfrm>
            <a:off x="56388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69</a:t>
            </a:r>
          </a:p>
        </p:txBody>
      </p:sp>
      <p:sp>
        <p:nvSpPr>
          <p:cNvPr id="16407" name="Rectangle 49"/>
          <p:cNvSpPr>
            <a:spLocks noChangeArrowheads="1"/>
          </p:cNvSpPr>
          <p:nvPr/>
        </p:nvSpPr>
        <p:spPr bwMode="auto">
          <a:xfrm>
            <a:off x="68580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6408" name="Text Box 50"/>
          <p:cNvSpPr txBox="1">
            <a:spLocks noChangeArrowheads="1"/>
          </p:cNvSpPr>
          <p:nvPr/>
        </p:nvSpPr>
        <p:spPr bwMode="auto">
          <a:xfrm>
            <a:off x="6858000" y="25908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20</a:t>
            </a:r>
          </a:p>
        </p:txBody>
      </p:sp>
      <p:sp>
        <p:nvSpPr>
          <p:cNvPr id="16409" name="Rectangle 51"/>
          <p:cNvSpPr>
            <a:spLocks noChangeArrowheads="1"/>
          </p:cNvSpPr>
          <p:nvPr/>
        </p:nvSpPr>
        <p:spPr bwMode="auto">
          <a:xfrm>
            <a:off x="75438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6410" name="Text Box 52"/>
          <p:cNvSpPr txBox="1">
            <a:spLocks noChangeArrowheads="1"/>
          </p:cNvSpPr>
          <p:nvPr/>
        </p:nvSpPr>
        <p:spPr bwMode="auto">
          <a:xfrm>
            <a:off x="75438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</a:t>
            </a:r>
          </a:p>
        </p:txBody>
      </p:sp>
      <p:sp>
        <p:nvSpPr>
          <p:cNvPr id="16411" name="Text Box 54"/>
          <p:cNvSpPr txBox="1">
            <a:spLocks noChangeArrowheads="1"/>
          </p:cNvSpPr>
          <p:nvPr/>
        </p:nvSpPr>
        <p:spPr bwMode="auto">
          <a:xfrm>
            <a:off x="2362200" y="2514600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…</a:t>
            </a:r>
          </a:p>
        </p:txBody>
      </p:sp>
      <p:sp>
        <p:nvSpPr>
          <p:cNvPr id="16412" name="Text Box 55"/>
          <p:cNvSpPr txBox="1">
            <a:spLocks noChangeArrowheads="1"/>
          </p:cNvSpPr>
          <p:nvPr/>
        </p:nvSpPr>
        <p:spPr bwMode="auto">
          <a:xfrm>
            <a:off x="6324600" y="2514600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…</a:t>
            </a:r>
          </a:p>
        </p:txBody>
      </p:sp>
      <p:sp>
        <p:nvSpPr>
          <p:cNvPr id="16413" name="Rectangle 56"/>
          <p:cNvSpPr>
            <a:spLocks noChangeArrowheads="1"/>
          </p:cNvSpPr>
          <p:nvPr/>
        </p:nvSpPr>
        <p:spPr bwMode="auto">
          <a:xfrm>
            <a:off x="8153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6414" name="Text Box 57"/>
          <p:cNvSpPr txBox="1">
            <a:spLocks noChangeArrowheads="1"/>
          </p:cNvSpPr>
          <p:nvPr/>
        </p:nvSpPr>
        <p:spPr bwMode="auto">
          <a:xfrm>
            <a:off x="81534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5</a:t>
            </a:r>
          </a:p>
        </p:txBody>
      </p:sp>
      <p:sp>
        <p:nvSpPr>
          <p:cNvPr id="16415" name="Text Box 58"/>
          <p:cNvSpPr txBox="1">
            <a:spLocks noChangeArrowheads="1"/>
          </p:cNvSpPr>
          <p:nvPr/>
        </p:nvSpPr>
        <p:spPr bwMode="auto">
          <a:xfrm>
            <a:off x="6477000" y="4267200"/>
            <a:ext cx="2514600" cy="1562100"/>
          </a:xfrm>
          <a:prstGeom prst="rect">
            <a:avLst/>
          </a:prstGeom>
          <a:noFill/>
          <a:ln w="9525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This process continues and i eventually becomes 51 </a:t>
            </a:r>
          </a:p>
        </p:txBody>
      </p:sp>
      <p:sp>
        <p:nvSpPr>
          <p:cNvPr id="16416" name="Rectangle 60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Enqueuing an Element (cont.)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4F5B0742-0010-4076-A0E3-4C8CE782A939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13</a:t>
            </a:fld>
            <a:endParaRPr lang="en-US" altLang="en-US" sz="1400"/>
          </a:p>
        </p:txBody>
      </p:sp>
      <p:sp>
        <p:nvSpPr>
          <p:cNvPr id="17411" name="Text Box 25"/>
          <p:cNvSpPr txBox="1">
            <a:spLocks noChangeArrowheads="1"/>
          </p:cNvSpPr>
          <p:nvPr/>
        </p:nvSpPr>
        <p:spPr bwMode="auto">
          <a:xfrm>
            <a:off x="228600" y="3200400"/>
            <a:ext cx="8686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0      1       2            48    49    50     51    52           98    99  100</a:t>
            </a:r>
          </a:p>
        </p:txBody>
      </p:sp>
      <p:sp>
        <p:nvSpPr>
          <p:cNvPr id="17412" name="Text Box 26"/>
          <p:cNvSpPr txBox="1">
            <a:spLocks noChangeArrowheads="1"/>
          </p:cNvSpPr>
          <p:nvPr/>
        </p:nvSpPr>
        <p:spPr bwMode="auto">
          <a:xfrm>
            <a:off x="3886200" y="1752600"/>
            <a:ext cx="1676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item: 71</a:t>
            </a:r>
          </a:p>
        </p:txBody>
      </p:sp>
      <p:sp>
        <p:nvSpPr>
          <p:cNvPr id="17413" name="Text Box 27"/>
          <p:cNvSpPr txBox="1">
            <a:spLocks noChangeArrowheads="1"/>
          </p:cNvSpPr>
          <p:nvPr/>
        </p:nvSpPr>
        <p:spPr bwMode="auto">
          <a:xfrm>
            <a:off x="5105400" y="36576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</a:t>
            </a:r>
          </a:p>
        </p:txBody>
      </p:sp>
      <p:sp>
        <p:nvSpPr>
          <p:cNvPr id="17414" name="Text Box 30"/>
          <p:cNvSpPr txBox="1">
            <a:spLocks noChangeArrowheads="1"/>
          </p:cNvSpPr>
          <p:nvPr/>
        </p:nvSpPr>
        <p:spPr bwMode="auto">
          <a:xfrm>
            <a:off x="152400" y="4800600"/>
            <a:ext cx="6477000" cy="1004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for ( i = 100; i &gt; 0 &amp;&amp; arr[ i - 1 ] &lt; item; i-- )</a:t>
            </a:r>
          </a:p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	</a:t>
            </a:r>
            <a:r>
              <a:rPr lang="en-US" altLang="en-US" sz="2400" b="1">
                <a:solidFill>
                  <a:srgbClr val="FF3300"/>
                </a:solidFill>
              </a:rPr>
              <a:t>arr[ i ] = arr[ i – 1 ];	</a:t>
            </a:r>
          </a:p>
        </p:txBody>
      </p:sp>
      <p:sp>
        <p:nvSpPr>
          <p:cNvPr id="17415" name="Freeform 31"/>
          <p:cNvSpPr>
            <a:spLocks/>
          </p:cNvSpPr>
          <p:nvPr/>
        </p:nvSpPr>
        <p:spPr bwMode="auto">
          <a:xfrm>
            <a:off x="4572000" y="2209800"/>
            <a:ext cx="762000" cy="228600"/>
          </a:xfrm>
          <a:custGeom>
            <a:avLst/>
            <a:gdLst>
              <a:gd name="T0" fmla="*/ 0 w 480"/>
              <a:gd name="T1" fmla="*/ 2147483646 h 144"/>
              <a:gd name="T2" fmla="*/ 2147483646 w 480"/>
              <a:gd name="T3" fmla="*/ 0 h 144"/>
              <a:gd name="T4" fmla="*/ 2147483646 w 480"/>
              <a:gd name="T5" fmla="*/ 2147483646 h 1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80" h="144">
                <a:moveTo>
                  <a:pt x="0" y="144"/>
                </a:moveTo>
                <a:cubicBezTo>
                  <a:pt x="104" y="72"/>
                  <a:pt x="208" y="0"/>
                  <a:pt x="288" y="0"/>
                </a:cubicBezTo>
                <a:cubicBezTo>
                  <a:pt x="368" y="0"/>
                  <a:pt x="448" y="120"/>
                  <a:pt x="480" y="144"/>
                </a:cubicBezTo>
              </a:path>
            </a:pathLst>
          </a:custGeom>
          <a:noFill/>
          <a:ln w="38100" cmpd="sng">
            <a:solidFill>
              <a:srgbClr val="FF3300"/>
            </a:solidFill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7416" name="Rectangle 32"/>
          <p:cNvSpPr>
            <a:spLocks noChangeArrowheads="1"/>
          </p:cNvSpPr>
          <p:nvPr/>
        </p:nvSpPr>
        <p:spPr bwMode="auto">
          <a:xfrm>
            <a:off x="2286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7417" name="Text Box 33"/>
          <p:cNvSpPr txBox="1">
            <a:spLocks noChangeArrowheads="1"/>
          </p:cNvSpPr>
          <p:nvPr/>
        </p:nvSpPr>
        <p:spPr bwMode="auto">
          <a:xfrm>
            <a:off x="228600" y="25908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211</a:t>
            </a:r>
          </a:p>
        </p:txBody>
      </p:sp>
      <p:sp>
        <p:nvSpPr>
          <p:cNvPr id="17418" name="Rectangle 34"/>
          <p:cNvSpPr>
            <a:spLocks noChangeArrowheads="1"/>
          </p:cNvSpPr>
          <p:nvPr/>
        </p:nvSpPr>
        <p:spPr bwMode="auto">
          <a:xfrm>
            <a:off x="914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7419" name="Text Box 35"/>
          <p:cNvSpPr txBox="1">
            <a:spLocks noChangeArrowheads="1"/>
          </p:cNvSpPr>
          <p:nvPr/>
        </p:nvSpPr>
        <p:spPr bwMode="auto">
          <a:xfrm>
            <a:off x="914400" y="25908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204</a:t>
            </a:r>
          </a:p>
        </p:txBody>
      </p:sp>
      <p:sp>
        <p:nvSpPr>
          <p:cNvPr id="17420" name="Rectangle 36"/>
          <p:cNvSpPr>
            <a:spLocks noChangeArrowheads="1"/>
          </p:cNvSpPr>
          <p:nvPr/>
        </p:nvSpPr>
        <p:spPr bwMode="auto">
          <a:xfrm>
            <a:off x="16002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7421" name="Text Box 37"/>
          <p:cNvSpPr txBox="1">
            <a:spLocks noChangeArrowheads="1"/>
          </p:cNvSpPr>
          <p:nvPr/>
        </p:nvSpPr>
        <p:spPr bwMode="auto">
          <a:xfrm>
            <a:off x="16002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201</a:t>
            </a:r>
          </a:p>
        </p:txBody>
      </p:sp>
      <p:sp>
        <p:nvSpPr>
          <p:cNvPr id="17422" name="Rectangle 38"/>
          <p:cNvSpPr>
            <a:spLocks noChangeArrowheads="1"/>
          </p:cNvSpPr>
          <p:nvPr/>
        </p:nvSpPr>
        <p:spPr bwMode="auto">
          <a:xfrm>
            <a:off x="28956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7423" name="Text Box 39"/>
          <p:cNvSpPr txBox="1">
            <a:spLocks noChangeArrowheads="1"/>
          </p:cNvSpPr>
          <p:nvPr/>
        </p:nvSpPr>
        <p:spPr bwMode="auto">
          <a:xfrm>
            <a:off x="28956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81</a:t>
            </a:r>
          </a:p>
        </p:txBody>
      </p:sp>
      <p:sp>
        <p:nvSpPr>
          <p:cNvPr id="17424" name="Rectangle 40"/>
          <p:cNvSpPr>
            <a:spLocks noChangeArrowheads="1"/>
          </p:cNvSpPr>
          <p:nvPr/>
        </p:nvSpPr>
        <p:spPr bwMode="auto">
          <a:xfrm>
            <a:off x="3581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7425" name="Text Box 41"/>
          <p:cNvSpPr txBox="1">
            <a:spLocks noChangeArrowheads="1"/>
          </p:cNvSpPr>
          <p:nvPr/>
        </p:nvSpPr>
        <p:spPr bwMode="auto">
          <a:xfrm>
            <a:off x="35814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79</a:t>
            </a:r>
          </a:p>
        </p:txBody>
      </p:sp>
      <p:sp>
        <p:nvSpPr>
          <p:cNvPr id="17426" name="Rectangle 42"/>
          <p:cNvSpPr>
            <a:spLocks noChangeArrowheads="1"/>
          </p:cNvSpPr>
          <p:nvPr/>
        </p:nvSpPr>
        <p:spPr bwMode="auto">
          <a:xfrm>
            <a:off x="42672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7427" name="Text Box 43"/>
          <p:cNvSpPr txBox="1">
            <a:spLocks noChangeArrowheads="1"/>
          </p:cNvSpPr>
          <p:nvPr/>
        </p:nvSpPr>
        <p:spPr bwMode="auto">
          <a:xfrm>
            <a:off x="42672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70</a:t>
            </a:r>
          </a:p>
        </p:txBody>
      </p:sp>
      <p:sp>
        <p:nvSpPr>
          <p:cNvPr id="17428" name="Rectangle 44"/>
          <p:cNvSpPr>
            <a:spLocks noChangeArrowheads="1"/>
          </p:cNvSpPr>
          <p:nvPr/>
        </p:nvSpPr>
        <p:spPr bwMode="auto">
          <a:xfrm>
            <a:off x="49530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7429" name="Text Box 45"/>
          <p:cNvSpPr txBox="1">
            <a:spLocks noChangeArrowheads="1"/>
          </p:cNvSpPr>
          <p:nvPr/>
        </p:nvSpPr>
        <p:spPr bwMode="auto">
          <a:xfrm>
            <a:off x="49530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70</a:t>
            </a:r>
          </a:p>
        </p:txBody>
      </p:sp>
      <p:sp>
        <p:nvSpPr>
          <p:cNvPr id="17430" name="Rectangle 46"/>
          <p:cNvSpPr>
            <a:spLocks noChangeArrowheads="1"/>
          </p:cNvSpPr>
          <p:nvPr/>
        </p:nvSpPr>
        <p:spPr bwMode="auto">
          <a:xfrm>
            <a:off x="56388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7431" name="Text Box 47"/>
          <p:cNvSpPr txBox="1">
            <a:spLocks noChangeArrowheads="1"/>
          </p:cNvSpPr>
          <p:nvPr/>
        </p:nvSpPr>
        <p:spPr bwMode="auto">
          <a:xfrm>
            <a:off x="56388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69</a:t>
            </a:r>
          </a:p>
        </p:txBody>
      </p:sp>
      <p:sp>
        <p:nvSpPr>
          <p:cNvPr id="17432" name="Rectangle 48"/>
          <p:cNvSpPr>
            <a:spLocks noChangeArrowheads="1"/>
          </p:cNvSpPr>
          <p:nvPr/>
        </p:nvSpPr>
        <p:spPr bwMode="auto">
          <a:xfrm>
            <a:off x="68580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7433" name="Text Box 49"/>
          <p:cNvSpPr txBox="1">
            <a:spLocks noChangeArrowheads="1"/>
          </p:cNvSpPr>
          <p:nvPr/>
        </p:nvSpPr>
        <p:spPr bwMode="auto">
          <a:xfrm>
            <a:off x="6858000" y="25908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20</a:t>
            </a:r>
          </a:p>
        </p:txBody>
      </p:sp>
      <p:sp>
        <p:nvSpPr>
          <p:cNvPr id="17434" name="Rectangle 50"/>
          <p:cNvSpPr>
            <a:spLocks noChangeArrowheads="1"/>
          </p:cNvSpPr>
          <p:nvPr/>
        </p:nvSpPr>
        <p:spPr bwMode="auto">
          <a:xfrm>
            <a:off x="75438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7435" name="Text Box 51"/>
          <p:cNvSpPr txBox="1">
            <a:spLocks noChangeArrowheads="1"/>
          </p:cNvSpPr>
          <p:nvPr/>
        </p:nvSpPr>
        <p:spPr bwMode="auto">
          <a:xfrm>
            <a:off x="75438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</a:t>
            </a:r>
          </a:p>
        </p:txBody>
      </p:sp>
      <p:sp>
        <p:nvSpPr>
          <p:cNvPr id="17436" name="Text Box 53"/>
          <p:cNvSpPr txBox="1">
            <a:spLocks noChangeArrowheads="1"/>
          </p:cNvSpPr>
          <p:nvPr/>
        </p:nvSpPr>
        <p:spPr bwMode="auto">
          <a:xfrm>
            <a:off x="2362200" y="2514600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…</a:t>
            </a:r>
          </a:p>
        </p:txBody>
      </p:sp>
      <p:sp>
        <p:nvSpPr>
          <p:cNvPr id="17437" name="Text Box 54"/>
          <p:cNvSpPr txBox="1">
            <a:spLocks noChangeArrowheads="1"/>
          </p:cNvSpPr>
          <p:nvPr/>
        </p:nvSpPr>
        <p:spPr bwMode="auto">
          <a:xfrm>
            <a:off x="6324600" y="2514600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…</a:t>
            </a:r>
          </a:p>
        </p:txBody>
      </p:sp>
      <p:sp>
        <p:nvSpPr>
          <p:cNvPr id="17438" name="Rectangle 55"/>
          <p:cNvSpPr>
            <a:spLocks noChangeArrowheads="1"/>
          </p:cNvSpPr>
          <p:nvPr/>
        </p:nvSpPr>
        <p:spPr bwMode="auto">
          <a:xfrm>
            <a:off x="8153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7439" name="Text Box 56"/>
          <p:cNvSpPr txBox="1">
            <a:spLocks noChangeArrowheads="1"/>
          </p:cNvSpPr>
          <p:nvPr/>
        </p:nvSpPr>
        <p:spPr bwMode="auto">
          <a:xfrm>
            <a:off x="81534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5</a:t>
            </a:r>
          </a:p>
        </p:txBody>
      </p:sp>
      <p:sp>
        <p:nvSpPr>
          <p:cNvPr id="17440" name="Rectangle 58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Enqueuing an Element (cont.)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0ADD65C3-09EC-4F9F-8521-229A0F26F8CC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14</a:t>
            </a:fld>
            <a:endParaRPr lang="en-US" altLang="en-US" sz="1400"/>
          </a:p>
        </p:txBody>
      </p:sp>
      <p:sp>
        <p:nvSpPr>
          <p:cNvPr id="18435" name="Text Box 25"/>
          <p:cNvSpPr txBox="1">
            <a:spLocks noChangeArrowheads="1"/>
          </p:cNvSpPr>
          <p:nvPr/>
        </p:nvSpPr>
        <p:spPr bwMode="auto">
          <a:xfrm>
            <a:off x="228600" y="3200400"/>
            <a:ext cx="8686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0      1       2            48    49    50     51    52           98    99  100</a:t>
            </a:r>
          </a:p>
        </p:txBody>
      </p:sp>
      <p:sp>
        <p:nvSpPr>
          <p:cNvPr id="18436" name="Text Box 26"/>
          <p:cNvSpPr txBox="1">
            <a:spLocks noChangeArrowheads="1"/>
          </p:cNvSpPr>
          <p:nvPr/>
        </p:nvSpPr>
        <p:spPr bwMode="auto">
          <a:xfrm>
            <a:off x="3886200" y="1752600"/>
            <a:ext cx="1676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item: 71</a:t>
            </a:r>
          </a:p>
        </p:txBody>
      </p:sp>
      <p:sp>
        <p:nvSpPr>
          <p:cNvPr id="18437" name="Text Box 27"/>
          <p:cNvSpPr txBox="1">
            <a:spLocks noChangeArrowheads="1"/>
          </p:cNvSpPr>
          <p:nvPr/>
        </p:nvSpPr>
        <p:spPr bwMode="auto">
          <a:xfrm>
            <a:off x="4419600" y="36576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</a:t>
            </a:r>
          </a:p>
        </p:txBody>
      </p:sp>
      <p:sp>
        <p:nvSpPr>
          <p:cNvPr id="18438" name="Text Box 30"/>
          <p:cNvSpPr txBox="1">
            <a:spLocks noChangeArrowheads="1"/>
          </p:cNvSpPr>
          <p:nvPr/>
        </p:nvSpPr>
        <p:spPr bwMode="auto">
          <a:xfrm>
            <a:off x="152400" y="4800600"/>
            <a:ext cx="6477000" cy="1004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for ( i = 100; i &gt; 0 &amp;&amp; arr[ i - 1 ] &lt; item; </a:t>
            </a:r>
            <a:r>
              <a:rPr lang="en-US" altLang="en-US" sz="2400" b="1">
                <a:solidFill>
                  <a:srgbClr val="FF3300"/>
                </a:solidFill>
              </a:rPr>
              <a:t>i--</a:t>
            </a:r>
            <a:r>
              <a:rPr lang="en-US" altLang="en-US" sz="2400" b="1"/>
              <a:t> )</a:t>
            </a:r>
          </a:p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	arr[ i ] = arr[ i – 1 ];	</a:t>
            </a:r>
          </a:p>
        </p:txBody>
      </p:sp>
      <p:sp>
        <p:nvSpPr>
          <p:cNvPr id="18439" name="Rectangle 31"/>
          <p:cNvSpPr>
            <a:spLocks noChangeArrowheads="1"/>
          </p:cNvSpPr>
          <p:nvPr/>
        </p:nvSpPr>
        <p:spPr bwMode="auto">
          <a:xfrm>
            <a:off x="2286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8440" name="Text Box 32"/>
          <p:cNvSpPr txBox="1">
            <a:spLocks noChangeArrowheads="1"/>
          </p:cNvSpPr>
          <p:nvPr/>
        </p:nvSpPr>
        <p:spPr bwMode="auto">
          <a:xfrm>
            <a:off x="228600" y="25908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211</a:t>
            </a:r>
          </a:p>
        </p:txBody>
      </p:sp>
      <p:sp>
        <p:nvSpPr>
          <p:cNvPr id="18441" name="Rectangle 33"/>
          <p:cNvSpPr>
            <a:spLocks noChangeArrowheads="1"/>
          </p:cNvSpPr>
          <p:nvPr/>
        </p:nvSpPr>
        <p:spPr bwMode="auto">
          <a:xfrm>
            <a:off x="914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8442" name="Text Box 34"/>
          <p:cNvSpPr txBox="1">
            <a:spLocks noChangeArrowheads="1"/>
          </p:cNvSpPr>
          <p:nvPr/>
        </p:nvSpPr>
        <p:spPr bwMode="auto">
          <a:xfrm>
            <a:off x="914400" y="25908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204</a:t>
            </a:r>
          </a:p>
        </p:txBody>
      </p:sp>
      <p:sp>
        <p:nvSpPr>
          <p:cNvPr id="18443" name="Rectangle 35"/>
          <p:cNvSpPr>
            <a:spLocks noChangeArrowheads="1"/>
          </p:cNvSpPr>
          <p:nvPr/>
        </p:nvSpPr>
        <p:spPr bwMode="auto">
          <a:xfrm>
            <a:off x="16002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8444" name="Text Box 36"/>
          <p:cNvSpPr txBox="1">
            <a:spLocks noChangeArrowheads="1"/>
          </p:cNvSpPr>
          <p:nvPr/>
        </p:nvSpPr>
        <p:spPr bwMode="auto">
          <a:xfrm>
            <a:off x="16002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201</a:t>
            </a:r>
          </a:p>
        </p:txBody>
      </p:sp>
      <p:sp>
        <p:nvSpPr>
          <p:cNvPr id="18445" name="Rectangle 37"/>
          <p:cNvSpPr>
            <a:spLocks noChangeArrowheads="1"/>
          </p:cNvSpPr>
          <p:nvPr/>
        </p:nvSpPr>
        <p:spPr bwMode="auto">
          <a:xfrm>
            <a:off x="28956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8446" name="Text Box 38"/>
          <p:cNvSpPr txBox="1">
            <a:spLocks noChangeArrowheads="1"/>
          </p:cNvSpPr>
          <p:nvPr/>
        </p:nvSpPr>
        <p:spPr bwMode="auto">
          <a:xfrm>
            <a:off x="28956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81</a:t>
            </a:r>
          </a:p>
        </p:txBody>
      </p:sp>
      <p:sp>
        <p:nvSpPr>
          <p:cNvPr id="18447" name="Rectangle 39"/>
          <p:cNvSpPr>
            <a:spLocks noChangeArrowheads="1"/>
          </p:cNvSpPr>
          <p:nvPr/>
        </p:nvSpPr>
        <p:spPr bwMode="auto">
          <a:xfrm>
            <a:off x="3581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8448" name="Text Box 40"/>
          <p:cNvSpPr txBox="1">
            <a:spLocks noChangeArrowheads="1"/>
          </p:cNvSpPr>
          <p:nvPr/>
        </p:nvSpPr>
        <p:spPr bwMode="auto">
          <a:xfrm>
            <a:off x="35814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79</a:t>
            </a:r>
          </a:p>
        </p:txBody>
      </p:sp>
      <p:sp>
        <p:nvSpPr>
          <p:cNvPr id="18449" name="Rectangle 41"/>
          <p:cNvSpPr>
            <a:spLocks noChangeArrowheads="1"/>
          </p:cNvSpPr>
          <p:nvPr/>
        </p:nvSpPr>
        <p:spPr bwMode="auto">
          <a:xfrm>
            <a:off x="42672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8450" name="Text Box 42"/>
          <p:cNvSpPr txBox="1">
            <a:spLocks noChangeArrowheads="1"/>
          </p:cNvSpPr>
          <p:nvPr/>
        </p:nvSpPr>
        <p:spPr bwMode="auto">
          <a:xfrm>
            <a:off x="42672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70</a:t>
            </a:r>
          </a:p>
        </p:txBody>
      </p:sp>
      <p:sp>
        <p:nvSpPr>
          <p:cNvPr id="18451" name="Rectangle 43"/>
          <p:cNvSpPr>
            <a:spLocks noChangeArrowheads="1"/>
          </p:cNvSpPr>
          <p:nvPr/>
        </p:nvSpPr>
        <p:spPr bwMode="auto">
          <a:xfrm>
            <a:off x="49530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8452" name="Text Box 44"/>
          <p:cNvSpPr txBox="1">
            <a:spLocks noChangeArrowheads="1"/>
          </p:cNvSpPr>
          <p:nvPr/>
        </p:nvSpPr>
        <p:spPr bwMode="auto">
          <a:xfrm>
            <a:off x="49530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70</a:t>
            </a:r>
          </a:p>
        </p:txBody>
      </p:sp>
      <p:sp>
        <p:nvSpPr>
          <p:cNvPr id="18453" name="Rectangle 45"/>
          <p:cNvSpPr>
            <a:spLocks noChangeArrowheads="1"/>
          </p:cNvSpPr>
          <p:nvPr/>
        </p:nvSpPr>
        <p:spPr bwMode="auto">
          <a:xfrm>
            <a:off x="56388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8454" name="Text Box 46"/>
          <p:cNvSpPr txBox="1">
            <a:spLocks noChangeArrowheads="1"/>
          </p:cNvSpPr>
          <p:nvPr/>
        </p:nvSpPr>
        <p:spPr bwMode="auto">
          <a:xfrm>
            <a:off x="56388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69</a:t>
            </a:r>
          </a:p>
        </p:txBody>
      </p:sp>
      <p:sp>
        <p:nvSpPr>
          <p:cNvPr id="18455" name="Rectangle 47"/>
          <p:cNvSpPr>
            <a:spLocks noChangeArrowheads="1"/>
          </p:cNvSpPr>
          <p:nvPr/>
        </p:nvSpPr>
        <p:spPr bwMode="auto">
          <a:xfrm>
            <a:off x="68580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8456" name="Text Box 48"/>
          <p:cNvSpPr txBox="1">
            <a:spLocks noChangeArrowheads="1"/>
          </p:cNvSpPr>
          <p:nvPr/>
        </p:nvSpPr>
        <p:spPr bwMode="auto">
          <a:xfrm>
            <a:off x="6858000" y="25908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20</a:t>
            </a:r>
          </a:p>
        </p:txBody>
      </p:sp>
      <p:sp>
        <p:nvSpPr>
          <p:cNvPr id="18457" name="Rectangle 49"/>
          <p:cNvSpPr>
            <a:spLocks noChangeArrowheads="1"/>
          </p:cNvSpPr>
          <p:nvPr/>
        </p:nvSpPr>
        <p:spPr bwMode="auto">
          <a:xfrm>
            <a:off x="75438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8458" name="Text Box 50"/>
          <p:cNvSpPr txBox="1">
            <a:spLocks noChangeArrowheads="1"/>
          </p:cNvSpPr>
          <p:nvPr/>
        </p:nvSpPr>
        <p:spPr bwMode="auto">
          <a:xfrm>
            <a:off x="75438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</a:t>
            </a:r>
          </a:p>
        </p:txBody>
      </p:sp>
      <p:sp>
        <p:nvSpPr>
          <p:cNvPr id="18459" name="Text Box 52"/>
          <p:cNvSpPr txBox="1">
            <a:spLocks noChangeArrowheads="1"/>
          </p:cNvSpPr>
          <p:nvPr/>
        </p:nvSpPr>
        <p:spPr bwMode="auto">
          <a:xfrm>
            <a:off x="2362200" y="2514600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…</a:t>
            </a:r>
          </a:p>
        </p:txBody>
      </p:sp>
      <p:sp>
        <p:nvSpPr>
          <p:cNvPr id="18460" name="Text Box 53"/>
          <p:cNvSpPr txBox="1">
            <a:spLocks noChangeArrowheads="1"/>
          </p:cNvSpPr>
          <p:nvPr/>
        </p:nvSpPr>
        <p:spPr bwMode="auto">
          <a:xfrm>
            <a:off x="6324600" y="2514600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…</a:t>
            </a:r>
          </a:p>
        </p:txBody>
      </p:sp>
      <p:sp>
        <p:nvSpPr>
          <p:cNvPr id="18461" name="Rectangle 54"/>
          <p:cNvSpPr>
            <a:spLocks noChangeArrowheads="1"/>
          </p:cNvSpPr>
          <p:nvPr/>
        </p:nvSpPr>
        <p:spPr bwMode="auto">
          <a:xfrm>
            <a:off x="8153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8462" name="Text Box 55"/>
          <p:cNvSpPr txBox="1">
            <a:spLocks noChangeArrowheads="1"/>
          </p:cNvSpPr>
          <p:nvPr/>
        </p:nvSpPr>
        <p:spPr bwMode="auto">
          <a:xfrm>
            <a:off x="81534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5</a:t>
            </a:r>
          </a:p>
        </p:txBody>
      </p:sp>
      <p:sp>
        <p:nvSpPr>
          <p:cNvPr id="18463" name="Rectangle 57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Enqueuing an Element (cont.)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9ABF0110-C970-436F-BFF6-044EF03C471B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15</a:t>
            </a:fld>
            <a:endParaRPr lang="en-US" altLang="en-US" sz="1400"/>
          </a:p>
        </p:txBody>
      </p:sp>
      <p:sp>
        <p:nvSpPr>
          <p:cNvPr id="19459" name="Text Box 25"/>
          <p:cNvSpPr txBox="1">
            <a:spLocks noChangeArrowheads="1"/>
          </p:cNvSpPr>
          <p:nvPr/>
        </p:nvSpPr>
        <p:spPr bwMode="auto">
          <a:xfrm>
            <a:off x="228600" y="3200400"/>
            <a:ext cx="8686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0      1       2            48    49    50     51    52           98    99  100</a:t>
            </a:r>
          </a:p>
        </p:txBody>
      </p:sp>
      <p:sp>
        <p:nvSpPr>
          <p:cNvPr id="19460" name="Text Box 26"/>
          <p:cNvSpPr txBox="1">
            <a:spLocks noChangeArrowheads="1"/>
          </p:cNvSpPr>
          <p:nvPr/>
        </p:nvSpPr>
        <p:spPr bwMode="auto">
          <a:xfrm>
            <a:off x="3886200" y="1752600"/>
            <a:ext cx="1676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item: 71</a:t>
            </a:r>
          </a:p>
        </p:txBody>
      </p:sp>
      <p:sp>
        <p:nvSpPr>
          <p:cNvPr id="19461" name="Text Box 27"/>
          <p:cNvSpPr txBox="1">
            <a:spLocks noChangeArrowheads="1"/>
          </p:cNvSpPr>
          <p:nvPr/>
        </p:nvSpPr>
        <p:spPr bwMode="auto">
          <a:xfrm>
            <a:off x="4419600" y="36576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</a:t>
            </a:r>
          </a:p>
        </p:txBody>
      </p:sp>
      <p:sp>
        <p:nvSpPr>
          <p:cNvPr id="19462" name="Text Box 30"/>
          <p:cNvSpPr txBox="1">
            <a:spLocks noChangeArrowheads="1"/>
          </p:cNvSpPr>
          <p:nvPr/>
        </p:nvSpPr>
        <p:spPr bwMode="auto">
          <a:xfrm>
            <a:off x="152400" y="4800600"/>
            <a:ext cx="6477000" cy="1004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for ( i = 100; </a:t>
            </a:r>
            <a:r>
              <a:rPr lang="en-US" altLang="en-US" sz="2400" b="1">
                <a:solidFill>
                  <a:srgbClr val="FF3300"/>
                </a:solidFill>
              </a:rPr>
              <a:t>i &gt; 0 &amp;&amp; arr[ i - 1 ] &lt; item</a:t>
            </a:r>
            <a:r>
              <a:rPr lang="en-US" altLang="en-US" sz="2400" b="1"/>
              <a:t>; i-- )</a:t>
            </a:r>
          </a:p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	arr[ i ] = arr[ i – 1 ];	</a:t>
            </a:r>
          </a:p>
        </p:txBody>
      </p:sp>
      <p:sp>
        <p:nvSpPr>
          <p:cNvPr id="19463" name="Text Box 31"/>
          <p:cNvSpPr txBox="1">
            <a:spLocks noChangeArrowheads="1"/>
          </p:cNvSpPr>
          <p:nvPr/>
        </p:nvSpPr>
        <p:spPr bwMode="auto">
          <a:xfrm>
            <a:off x="6400800" y="4648200"/>
            <a:ext cx="1371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>
                <a:solidFill>
                  <a:srgbClr val="FF3300"/>
                </a:solidFill>
              </a:rPr>
              <a:t>FALSE</a:t>
            </a:r>
          </a:p>
        </p:txBody>
      </p:sp>
      <p:sp>
        <p:nvSpPr>
          <p:cNvPr id="19464" name="Rectangle 32"/>
          <p:cNvSpPr>
            <a:spLocks noChangeArrowheads="1"/>
          </p:cNvSpPr>
          <p:nvPr/>
        </p:nvSpPr>
        <p:spPr bwMode="auto">
          <a:xfrm>
            <a:off x="2286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9465" name="Text Box 33"/>
          <p:cNvSpPr txBox="1">
            <a:spLocks noChangeArrowheads="1"/>
          </p:cNvSpPr>
          <p:nvPr/>
        </p:nvSpPr>
        <p:spPr bwMode="auto">
          <a:xfrm>
            <a:off x="228600" y="25908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211</a:t>
            </a:r>
          </a:p>
        </p:txBody>
      </p:sp>
      <p:sp>
        <p:nvSpPr>
          <p:cNvPr id="19466" name="Rectangle 34"/>
          <p:cNvSpPr>
            <a:spLocks noChangeArrowheads="1"/>
          </p:cNvSpPr>
          <p:nvPr/>
        </p:nvSpPr>
        <p:spPr bwMode="auto">
          <a:xfrm>
            <a:off x="914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9467" name="Text Box 35"/>
          <p:cNvSpPr txBox="1">
            <a:spLocks noChangeArrowheads="1"/>
          </p:cNvSpPr>
          <p:nvPr/>
        </p:nvSpPr>
        <p:spPr bwMode="auto">
          <a:xfrm>
            <a:off x="914400" y="25908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204</a:t>
            </a:r>
          </a:p>
        </p:txBody>
      </p:sp>
      <p:sp>
        <p:nvSpPr>
          <p:cNvPr id="19468" name="Rectangle 36"/>
          <p:cNvSpPr>
            <a:spLocks noChangeArrowheads="1"/>
          </p:cNvSpPr>
          <p:nvPr/>
        </p:nvSpPr>
        <p:spPr bwMode="auto">
          <a:xfrm>
            <a:off x="16002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9469" name="Text Box 37"/>
          <p:cNvSpPr txBox="1">
            <a:spLocks noChangeArrowheads="1"/>
          </p:cNvSpPr>
          <p:nvPr/>
        </p:nvSpPr>
        <p:spPr bwMode="auto">
          <a:xfrm>
            <a:off x="16002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201</a:t>
            </a:r>
          </a:p>
        </p:txBody>
      </p:sp>
      <p:sp>
        <p:nvSpPr>
          <p:cNvPr id="19470" name="Rectangle 38"/>
          <p:cNvSpPr>
            <a:spLocks noChangeArrowheads="1"/>
          </p:cNvSpPr>
          <p:nvPr/>
        </p:nvSpPr>
        <p:spPr bwMode="auto">
          <a:xfrm>
            <a:off x="28956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9471" name="Text Box 39"/>
          <p:cNvSpPr txBox="1">
            <a:spLocks noChangeArrowheads="1"/>
          </p:cNvSpPr>
          <p:nvPr/>
        </p:nvSpPr>
        <p:spPr bwMode="auto">
          <a:xfrm>
            <a:off x="28956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81</a:t>
            </a:r>
          </a:p>
        </p:txBody>
      </p:sp>
      <p:sp>
        <p:nvSpPr>
          <p:cNvPr id="19472" name="Rectangle 40"/>
          <p:cNvSpPr>
            <a:spLocks noChangeArrowheads="1"/>
          </p:cNvSpPr>
          <p:nvPr/>
        </p:nvSpPr>
        <p:spPr bwMode="auto">
          <a:xfrm>
            <a:off x="3581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9473" name="Text Box 41"/>
          <p:cNvSpPr txBox="1">
            <a:spLocks noChangeArrowheads="1"/>
          </p:cNvSpPr>
          <p:nvPr/>
        </p:nvSpPr>
        <p:spPr bwMode="auto">
          <a:xfrm>
            <a:off x="35814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79</a:t>
            </a:r>
          </a:p>
        </p:txBody>
      </p:sp>
      <p:sp>
        <p:nvSpPr>
          <p:cNvPr id="19474" name="Rectangle 42"/>
          <p:cNvSpPr>
            <a:spLocks noChangeArrowheads="1"/>
          </p:cNvSpPr>
          <p:nvPr/>
        </p:nvSpPr>
        <p:spPr bwMode="auto">
          <a:xfrm>
            <a:off x="42672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9475" name="Text Box 43"/>
          <p:cNvSpPr txBox="1">
            <a:spLocks noChangeArrowheads="1"/>
          </p:cNvSpPr>
          <p:nvPr/>
        </p:nvSpPr>
        <p:spPr bwMode="auto">
          <a:xfrm>
            <a:off x="42672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70</a:t>
            </a:r>
          </a:p>
        </p:txBody>
      </p:sp>
      <p:sp>
        <p:nvSpPr>
          <p:cNvPr id="19476" name="Rectangle 44"/>
          <p:cNvSpPr>
            <a:spLocks noChangeArrowheads="1"/>
          </p:cNvSpPr>
          <p:nvPr/>
        </p:nvSpPr>
        <p:spPr bwMode="auto">
          <a:xfrm>
            <a:off x="49530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9477" name="Text Box 45"/>
          <p:cNvSpPr txBox="1">
            <a:spLocks noChangeArrowheads="1"/>
          </p:cNvSpPr>
          <p:nvPr/>
        </p:nvSpPr>
        <p:spPr bwMode="auto">
          <a:xfrm>
            <a:off x="49530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70</a:t>
            </a:r>
          </a:p>
        </p:txBody>
      </p:sp>
      <p:sp>
        <p:nvSpPr>
          <p:cNvPr id="19478" name="Rectangle 46"/>
          <p:cNvSpPr>
            <a:spLocks noChangeArrowheads="1"/>
          </p:cNvSpPr>
          <p:nvPr/>
        </p:nvSpPr>
        <p:spPr bwMode="auto">
          <a:xfrm>
            <a:off x="56388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9479" name="Text Box 47"/>
          <p:cNvSpPr txBox="1">
            <a:spLocks noChangeArrowheads="1"/>
          </p:cNvSpPr>
          <p:nvPr/>
        </p:nvSpPr>
        <p:spPr bwMode="auto">
          <a:xfrm>
            <a:off x="56388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69</a:t>
            </a:r>
          </a:p>
        </p:txBody>
      </p:sp>
      <p:sp>
        <p:nvSpPr>
          <p:cNvPr id="19480" name="Rectangle 48"/>
          <p:cNvSpPr>
            <a:spLocks noChangeArrowheads="1"/>
          </p:cNvSpPr>
          <p:nvPr/>
        </p:nvSpPr>
        <p:spPr bwMode="auto">
          <a:xfrm>
            <a:off x="68580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9481" name="Text Box 49"/>
          <p:cNvSpPr txBox="1">
            <a:spLocks noChangeArrowheads="1"/>
          </p:cNvSpPr>
          <p:nvPr/>
        </p:nvSpPr>
        <p:spPr bwMode="auto">
          <a:xfrm>
            <a:off x="6858000" y="25908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20</a:t>
            </a:r>
          </a:p>
        </p:txBody>
      </p:sp>
      <p:sp>
        <p:nvSpPr>
          <p:cNvPr id="19482" name="Rectangle 50"/>
          <p:cNvSpPr>
            <a:spLocks noChangeArrowheads="1"/>
          </p:cNvSpPr>
          <p:nvPr/>
        </p:nvSpPr>
        <p:spPr bwMode="auto">
          <a:xfrm>
            <a:off x="75438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9483" name="Text Box 51"/>
          <p:cNvSpPr txBox="1">
            <a:spLocks noChangeArrowheads="1"/>
          </p:cNvSpPr>
          <p:nvPr/>
        </p:nvSpPr>
        <p:spPr bwMode="auto">
          <a:xfrm>
            <a:off x="75438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</a:t>
            </a:r>
          </a:p>
        </p:txBody>
      </p:sp>
      <p:sp>
        <p:nvSpPr>
          <p:cNvPr id="19484" name="Text Box 53"/>
          <p:cNvSpPr txBox="1">
            <a:spLocks noChangeArrowheads="1"/>
          </p:cNvSpPr>
          <p:nvPr/>
        </p:nvSpPr>
        <p:spPr bwMode="auto">
          <a:xfrm>
            <a:off x="2362200" y="2514600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…</a:t>
            </a:r>
          </a:p>
        </p:txBody>
      </p:sp>
      <p:sp>
        <p:nvSpPr>
          <p:cNvPr id="19485" name="Text Box 54"/>
          <p:cNvSpPr txBox="1">
            <a:spLocks noChangeArrowheads="1"/>
          </p:cNvSpPr>
          <p:nvPr/>
        </p:nvSpPr>
        <p:spPr bwMode="auto">
          <a:xfrm>
            <a:off x="6324600" y="2514600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…</a:t>
            </a:r>
          </a:p>
        </p:txBody>
      </p:sp>
      <p:sp>
        <p:nvSpPr>
          <p:cNvPr id="19486" name="Rectangle 55"/>
          <p:cNvSpPr>
            <a:spLocks noChangeArrowheads="1"/>
          </p:cNvSpPr>
          <p:nvPr/>
        </p:nvSpPr>
        <p:spPr bwMode="auto">
          <a:xfrm>
            <a:off x="8153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9487" name="Text Box 56"/>
          <p:cNvSpPr txBox="1">
            <a:spLocks noChangeArrowheads="1"/>
          </p:cNvSpPr>
          <p:nvPr/>
        </p:nvSpPr>
        <p:spPr bwMode="auto">
          <a:xfrm>
            <a:off x="81534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5</a:t>
            </a:r>
          </a:p>
        </p:txBody>
      </p:sp>
      <p:sp>
        <p:nvSpPr>
          <p:cNvPr id="19488" name="Rectangle 58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Enqueuing an Element (cont.)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9778CC5F-5A48-4524-817B-E045D1D931FA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16</a:t>
            </a:fld>
            <a:endParaRPr lang="en-US" altLang="en-US" sz="1400"/>
          </a:p>
        </p:txBody>
      </p:sp>
      <p:sp>
        <p:nvSpPr>
          <p:cNvPr id="20483" name="Text Box 25"/>
          <p:cNvSpPr txBox="1">
            <a:spLocks noChangeArrowheads="1"/>
          </p:cNvSpPr>
          <p:nvPr/>
        </p:nvSpPr>
        <p:spPr bwMode="auto">
          <a:xfrm>
            <a:off x="228600" y="3200400"/>
            <a:ext cx="8686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0      1       2            48    49    50     51    52           98    99  100</a:t>
            </a:r>
          </a:p>
        </p:txBody>
      </p:sp>
      <p:sp>
        <p:nvSpPr>
          <p:cNvPr id="20484" name="Text Box 26"/>
          <p:cNvSpPr txBox="1">
            <a:spLocks noChangeArrowheads="1"/>
          </p:cNvSpPr>
          <p:nvPr/>
        </p:nvSpPr>
        <p:spPr bwMode="auto">
          <a:xfrm>
            <a:off x="3886200" y="1752600"/>
            <a:ext cx="1676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item: 71</a:t>
            </a:r>
          </a:p>
        </p:txBody>
      </p:sp>
      <p:sp>
        <p:nvSpPr>
          <p:cNvPr id="20485" name="Text Box 27"/>
          <p:cNvSpPr txBox="1">
            <a:spLocks noChangeArrowheads="1"/>
          </p:cNvSpPr>
          <p:nvPr/>
        </p:nvSpPr>
        <p:spPr bwMode="auto">
          <a:xfrm>
            <a:off x="4419600" y="36576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</a:t>
            </a:r>
          </a:p>
        </p:txBody>
      </p:sp>
      <p:sp>
        <p:nvSpPr>
          <p:cNvPr id="20486" name="Line 31"/>
          <p:cNvSpPr>
            <a:spLocks noChangeShapeType="1"/>
          </p:cNvSpPr>
          <p:nvPr/>
        </p:nvSpPr>
        <p:spPr bwMode="auto">
          <a:xfrm flipH="1">
            <a:off x="4648200" y="2209800"/>
            <a:ext cx="228600" cy="30480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0487" name="Rectangle 32"/>
          <p:cNvSpPr>
            <a:spLocks noChangeArrowheads="1"/>
          </p:cNvSpPr>
          <p:nvPr/>
        </p:nvSpPr>
        <p:spPr bwMode="auto">
          <a:xfrm>
            <a:off x="2286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0488" name="Text Box 33"/>
          <p:cNvSpPr txBox="1">
            <a:spLocks noChangeArrowheads="1"/>
          </p:cNvSpPr>
          <p:nvPr/>
        </p:nvSpPr>
        <p:spPr bwMode="auto">
          <a:xfrm>
            <a:off x="228600" y="25908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211</a:t>
            </a:r>
          </a:p>
        </p:txBody>
      </p:sp>
      <p:sp>
        <p:nvSpPr>
          <p:cNvPr id="20489" name="Rectangle 34"/>
          <p:cNvSpPr>
            <a:spLocks noChangeArrowheads="1"/>
          </p:cNvSpPr>
          <p:nvPr/>
        </p:nvSpPr>
        <p:spPr bwMode="auto">
          <a:xfrm>
            <a:off x="914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0490" name="Text Box 35"/>
          <p:cNvSpPr txBox="1">
            <a:spLocks noChangeArrowheads="1"/>
          </p:cNvSpPr>
          <p:nvPr/>
        </p:nvSpPr>
        <p:spPr bwMode="auto">
          <a:xfrm>
            <a:off x="914400" y="25908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204</a:t>
            </a:r>
          </a:p>
        </p:txBody>
      </p:sp>
      <p:sp>
        <p:nvSpPr>
          <p:cNvPr id="20491" name="Rectangle 36"/>
          <p:cNvSpPr>
            <a:spLocks noChangeArrowheads="1"/>
          </p:cNvSpPr>
          <p:nvPr/>
        </p:nvSpPr>
        <p:spPr bwMode="auto">
          <a:xfrm>
            <a:off x="16002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0492" name="Text Box 37"/>
          <p:cNvSpPr txBox="1">
            <a:spLocks noChangeArrowheads="1"/>
          </p:cNvSpPr>
          <p:nvPr/>
        </p:nvSpPr>
        <p:spPr bwMode="auto">
          <a:xfrm>
            <a:off x="16002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201</a:t>
            </a:r>
          </a:p>
        </p:txBody>
      </p:sp>
      <p:sp>
        <p:nvSpPr>
          <p:cNvPr id="20493" name="Rectangle 38"/>
          <p:cNvSpPr>
            <a:spLocks noChangeArrowheads="1"/>
          </p:cNvSpPr>
          <p:nvPr/>
        </p:nvSpPr>
        <p:spPr bwMode="auto">
          <a:xfrm>
            <a:off x="28956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0494" name="Text Box 39"/>
          <p:cNvSpPr txBox="1">
            <a:spLocks noChangeArrowheads="1"/>
          </p:cNvSpPr>
          <p:nvPr/>
        </p:nvSpPr>
        <p:spPr bwMode="auto">
          <a:xfrm>
            <a:off x="28956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81</a:t>
            </a:r>
          </a:p>
        </p:txBody>
      </p:sp>
      <p:sp>
        <p:nvSpPr>
          <p:cNvPr id="20495" name="Rectangle 40"/>
          <p:cNvSpPr>
            <a:spLocks noChangeArrowheads="1"/>
          </p:cNvSpPr>
          <p:nvPr/>
        </p:nvSpPr>
        <p:spPr bwMode="auto">
          <a:xfrm>
            <a:off x="3581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0496" name="Text Box 41"/>
          <p:cNvSpPr txBox="1">
            <a:spLocks noChangeArrowheads="1"/>
          </p:cNvSpPr>
          <p:nvPr/>
        </p:nvSpPr>
        <p:spPr bwMode="auto">
          <a:xfrm>
            <a:off x="35814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79</a:t>
            </a:r>
          </a:p>
        </p:txBody>
      </p:sp>
      <p:sp>
        <p:nvSpPr>
          <p:cNvPr id="20497" name="Rectangle 42"/>
          <p:cNvSpPr>
            <a:spLocks noChangeArrowheads="1"/>
          </p:cNvSpPr>
          <p:nvPr/>
        </p:nvSpPr>
        <p:spPr bwMode="auto">
          <a:xfrm>
            <a:off x="42672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0498" name="Text Box 43"/>
          <p:cNvSpPr txBox="1">
            <a:spLocks noChangeArrowheads="1"/>
          </p:cNvSpPr>
          <p:nvPr/>
        </p:nvSpPr>
        <p:spPr bwMode="auto">
          <a:xfrm>
            <a:off x="42672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71</a:t>
            </a:r>
          </a:p>
        </p:txBody>
      </p:sp>
      <p:sp>
        <p:nvSpPr>
          <p:cNvPr id="20499" name="Rectangle 44"/>
          <p:cNvSpPr>
            <a:spLocks noChangeArrowheads="1"/>
          </p:cNvSpPr>
          <p:nvPr/>
        </p:nvSpPr>
        <p:spPr bwMode="auto">
          <a:xfrm>
            <a:off x="49530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0500" name="Text Box 45"/>
          <p:cNvSpPr txBox="1">
            <a:spLocks noChangeArrowheads="1"/>
          </p:cNvSpPr>
          <p:nvPr/>
        </p:nvSpPr>
        <p:spPr bwMode="auto">
          <a:xfrm>
            <a:off x="49530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70</a:t>
            </a:r>
          </a:p>
        </p:txBody>
      </p:sp>
      <p:sp>
        <p:nvSpPr>
          <p:cNvPr id="20501" name="Rectangle 46"/>
          <p:cNvSpPr>
            <a:spLocks noChangeArrowheads="1"/>
          </p:cNvSpPr>
          <p:nvPr/>
        </p:nvSpPr>
        <p:spPr bwMode="auto">
          <a:xfrm>
            <a:off x="56388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0502" name="Text Box 47"/>
          <p:cNvSpPr txBox="1">
            <a:spLocks noChangeArrowheads="1"/>
          </p:cNvSpPr>
          <p:nvPr/>
        </p:nvSpPr>
        <p:spPr bwMode="auto">
          <a:xfrm>
            <a:off x="5638800" y="25908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69</a:t>
            </a:r>
          </a:p>
        </p:txBody>
      </p:sp>
      <p:sp>
        <p:nvSpPr>
          <p:cNvPr id="20503" name="Rectangle 48"/>
          <p:cNvSpPr>
            <a:spLocks noChangeArrowheads="1"/>
          </p:cNvSpPr>
          <p:nvPr/>
        </p:nvSpPr>
        <p:spPr bwMode="auto">
          <a:xfrm>
            <a:off x="68580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0504" name="Text Box 49"/>
          <p:cNvSpPr txBox="1">
            <a:spLocks noChangeArrowheads="1"/>
          </p:cNvSpPr>
          <p:nvPr/>
        </p:nvSpPr>
        <p:spPr bwMode="auto">
          <a:xfrm>
            <a:off x="6858000" y="25908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20</a:t>
            </a:r>
          </a:p>
        </p:txBody>
      </p:sp>
      <p:sp>
        <p:nvSpPr>
          <p:cNvPr id="20505" name="Rectangle 50"/>
          <p:cNvSpPr>
            <a:spLocks noChangeArrowheads="1"/>
          </p:cNvSpPr>
          <p:nvPr/>
        </p:nvSpPr>
        <p:spPr bwMode="auto">
          <a:xfrm>
            <a:off x="75438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0506" name="Text Box 51"/>
          <p:cNvSpPr txBox="1">
            <a:spLocks noChangeArrowheads="1"/>
          </p:cNvSpPr>
          <p:nvPr/>
        </p:nvSpPr>
        <p:spPr bwMode="auto">
          <a:xfrm>
            <a:off x="75438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7</a:t>
            </a:r>
          </a:p>
        </p:txBody>
      </p:sp>
      <p:sp>
        <p:nvSpPr>
          <p:cNvPr id="20507" name="Text Box 53"/>
          <p:cNvSpPr txBox="1">
            <a:spLocks noChangeArrowheads="1"/>
          </p:cNvSpPr>
          <p:nvPr/>
        </p:nvSpPr>
        <p:spPr bwMode="auto">
          <a:xfrm>
            <a:off x="2362200" y="2514600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…</a:t>
            </a:r>
          </a:p>
        </p:txBody>
      </p:sp>
      <p:sp>
        <p:nvSpPr>
          <p:cNvPr id="20508" name="Text Box 54"/>
          <p:cNvSpPr txBox="1">
            <a:spLocks noChangeArrowheads="1"/>
          </p:cNvSpPr>
          <p:nvPr/>
        </p:nvSpPr>
        <p:spPr bwMode="auto">
          <a:xfrm>
            <a:off x="6324600" y="2514600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…</a:t>
            </a:r>
          </a:p>
        </p:txBody>
      </p:sp>
      <p:sp>
        <p:nvSpPr>
          <p:cNvPr id="20509" name="Rectangle 55"/>
          <p:cNvSpPr>
            <a:spLocks noChangeArrowheads="1"/>
          </p:cNvSpPr>
          <p:nvPr/>
        </p:nvSpPr>
        <p:spPr bwMode="auto">
          <a:xfrm>
            <a:off x="8153400" y="2514600"/>
            <a:ext cx="685800" cy="609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0510" name="Text Box 56"/>
          <p:cNvSpPr txBox="1">
            <a:spLocks noChangeArrowheads="1"/>
          </p:cNvSpPr>
          <p:nvPr/>
        </p:nvSpPr>
        <p:spPr bwMode="auto">
          <a:xfrm>
            <a:off x="8153400" y="25908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5</a:t>
            </a:r>
          </a:p>
        </p:txBody>
      </p:sp>
      <p:sp>
        <p:nvSpPr>
          <p:cNvPr id="20511" name="Text Box 57"/>
          <p:cNvSpPr txBox="1">
            <a:spLocks noChangeArrowheads="1"/>
          </p:cNvSpPr>
          <p:nvPr/>
        </p:nvSpPr>
        <p:spPr bwMode="auto">
          <a:xfrm>
            <a:off x="2057400" y="4191000"/>
            <a:ext cx="3733800" cy="156210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Now we can use:</a:t>
            </a:r>
          </a:p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	arr[ i ] = item;</a:t>
            </a:r>
          </a:p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to enqueue the element</a:t>
            </a:r>
          </a:p>
        </p:txBody>
      </p:sp>
      <p:sp>
        <p:nvSpPr>
          <p:cNvPr id="20512" name="Rectangle 59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Enqueuing an Element (cont.)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6C9D4420-50F5-4D7A-B261-52BC2B843464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17</a:t>
            </a:fld>
            <a:endParaRPr lang="en-US" altLang="en-US" sz="1400"/>
          </a:p>
        </p:txBody>
      </p:sp>
      <p:sp>
        <p:nvSpPr>
          <p:cNvPr id="2150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en-US" altLang="en-US" dirty="0"/>
              <a:t>If we assume that, on average, half the elements in an array need to be shifted to insert an element, then the </a:t>
            </a:r>
            <a:r>
              <a:rPr lang="en-US" altLang="en-US" dirty="0" err="1"/>
              <a:t>enqueue</a:t>
            </a:r>
            <a:r>
              <a:rPr lang="en-US" altLang="en-US" dirty="0"/>
              <a:t> for an array is a </a:t>
            </a:r>
            <a:r>
              <a:rPr lang="en-US" altLang="en-US" dirty="0">
                <a:sym typeface="Symbol" panose="05050102010706020507" pitchFamily="18" charset="2"/>
              </a:rPr>
              <a:t>( n ) algorithm.</a:t>
            </a:r>
          </a:p>
          <a:p>
            <a:pPr eaLnBrk="1" hangingPunct="1"/>
            <a:r>
              <a:rPr lang="en-US" altLang="en-US" dirty="0">
                <a:sym typeface="Symbol" panose="05050102010706020507" pitchFamily="18" charset="2"/>
              </a:rPr>
              <a:t>In summary, when using an </a:t>
            </a:r>
            <a:r>
              <a:rPr lang="en-US" altLang="en-US" u="sng" dirty="0">
                <a:sym typeface="Symbol" panose="05050102010706020507" pitchFamily="18" charset="2"/>
              </a:rPr>
              <a:t>array</a:t>
            </a:r>
            <a:r>
              <a:rPr lang="en-US" altLang="en-US" dirty="0">
                <a:sym typeface="Symbol" panose="05050102010706020507" pitchFamily="18" charset="2"/>
              </a:rPr>
              <a:t> for a priority queue:</a:t>
            </a:r>
          </a:p>
          <a:p>
            <a:pPr lvl="1" eaLnBrk="1" hangingPunct="1"/>
            <a:r>
              <a:rPr lang="en-US" altLang="en-US" u="sng" dirty="0" err="1">
                <a:sym typeface="Symbol" panose="05050102010706020507" pitchFamily="18" charset="2"/>
              </a:rPr>
              <a:t>dequeue</a:t>
            </a:r>
            <a:r>
              <a:rPr lang="en-US" altLang="en-US" u="sng" dirty="0">
                <a:sym typeface="Symbol" panose="05050102010706020507" pitchFamily="18" charset="2"/>
              </a:rPr>
              <a:t> is ( 1 )</a:t>
            </a:r>
          </a:p>
          <a:p>
            <a:pPr lvl="1" eaLnBrk="1" hangingPunct="1"/>
            <a:r>
              <a:rPr lang="en-US" altLang="en-US" u="sng" dirty="0" err="1">
                <a:sym typeface="Symbol" panose="05050102010706020507" pitchFamily="18" charset="2"/>
              </a:rPr>
              <a:t>enqueue</a:t>
            </a:r>
            <a:r>
              <a:rPr lang="en-US" altLang="en-US" u="sng" dirty="0">
                <a:sym typeface="Symbol" panose="05050102010706020507" pitchFamily="18" charset="2"/>
              </a:rPr>
              <a:t> (on average) is ( n )</a:t>
            </a:r>
          </a:p>
        </p:txBody>
      </p:sp>
      <p:sp>
        <p:nvSpPr>
          <p:cNvPr id="21508" name="Rectangle 5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Enqueuing an Element (cont.)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175A518F-1EA9-4FEC-AAAB-8D7152F29C93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18</a:t>
            </a:fld>
            <a:endParaRPr lang="en-US" altLang="en-US" sz="1400"/>
          </a:p>
        </p:txBody>
      </p:sp>
      <p:sp>
        <p:nvSpPr>
          <p:cNvPr id="22531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4000"/>
              <a:t>Using a Heap to Implement a Priority Queue</a:t>
            </a:r>
          </a:p>
        </p:txBody>
      </p:sp>
      <p:sp>
        <p:nvSpPr>
          <p:cNvPr id="22532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en-US" altLang="en-US" dirty="0"/>
              <a:t>An alternative to using a sorted array for a priority queue is to use a </a:t>
            </a:r>
            <a:r>
              <a:rPr lang="en-US" altLang="en-US" b="1" i="1" dirty="0">
                <a:solidFill>
                  <a:srgbClr val="0000FF"/>
                </a:solidFill>
              </a:rPr>
              <a:t>heap</a:t>
            </a:r>
            <a:r>
              <a:rPr lang="en-US" altLang="en-US" dirty="0"/>
              <a:t>.</a:t>
            </a:r>
            <a:endParaRPr lang="en-US" altLang="en-US" dirty="0">
              <a:solidFill>
                <a:srgbClr val="0000FF"/>
              </a:solidFill>
            </a:endParaRPr>
          </a:p>
          <a:p>
            <a:pPr eaLnBrk="1" hangingPunct="1"/>
            <a:r>
              <a:rPr lang="en-US" altLang="en-US" dirty="0"/>
              <a:t>Here, heap does not mean an area of memory used for dynamic allocation – rather, it is a data structure (</a:t>
            </a:r>
            <a:r>
              <a:rPr lang="en-US" altLang="en-US" u="sng" dirty="0"/>
              <a:t>complete binary tree</a:t>
            </a:r>
            <a:r>
              <a:rPr lang="en-US" altLang="en-US" dirty="0"/>
              <a:t>).</a:t>
            </a:r>
          </a:p>
          <a:p>
            <a:pPr eaLnBrk="1" hangingPunct="1"/>
            <a:r>
              <a:rPr lang="en-US" altLang="en-US" u="sng" dirty="0"/>
              <a:t>Dequeue</a:t>
            </a:r>
            <a:r>
              <a:rPr lang="en-US" altLang="en-US" dirty="0"/>
              <a:t> in a </a:t>
            </a:r>
            <a:r>
              <a:rPr lang="en-US" altLang="en-US" u="sng" dirty="0"/>
              <a:t>heap</a:t>
            </a:r>
            <a:r>
              <a:rPr lang="en-US" altLang="en-US" dirty="0"/>
              <a:t> is a </a:t>
            </a:r>
            <a:r>
              <a:rPr lang="en-US" altLang="en-US" u="sng" dirty="0"/>
              <a:t>O( lg n )</a:t>
            </a:r>
            <a:r>
              <a:rPr lang="en-US" altLang="en-US" dirty="0"/>
              <a:t> operation</a:t>
            </a:r>
          </a:p>
          <a:p>
            <a:pPr eaLnBrk="1" hangingPunct="1"/>
            <a:r>
              <a:rPr lang="en-US" altLang="en-US" u="sng" dirty="0"/>
              <a:t>Enqueue</a:t>
            </a:r>
            <a:r>
              <a:rPr lang="en-US" altLang="en-US" dirty="0"/>
              <a:t> in a </a:t>
            </a:r>
            <a:r>
              <a:rPr lang="en-US" altLang="en-US" u="sng" dirty="0"/>
              <a:t>heap</a:t>
            </a:r>
            <a:r>
              <a:rPr lang="en-US" altLang="en-US" dirty="0"/>
              <a:t> is a </a:t>
            </a:r>
            <a:r>
              <a:rPr lang="en-US" altLang="en-US" u="sng" dirty="0"/>
              <a:t>O( lg n )</a:t>
            </a:r>
            <a:r>
              <a:rPr lang="en-US" altLang="en-US" dirty="0"/>
              <a:t> operation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5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/>
            <a:fld id="{BB37A832-E611-4581-8FEA-1F8CB76F815B}" type="slidenum">
              <a:rPr lang="en-US" altLang="en-US" sz="1400" smtClean="0"/>
              <a:pPr eaLnBrk="1" hangingPunct="1"/>
              <a:t>19</a:t>
            </a:fld>
            <a:endParaRPr lang="en-US" altLang="en-US" sz="1400"/>
          </a:p>
        </p:txBody>
      </p:sp>
      <p:sp>
        <p:nvSpPr>
          <p:cNvPr id="3379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dirty="0"/>
              <a:t>Height of a Heap</a:t>
            </a:r>
          </a:p>
        </p:txBody>
      </p:sp>
      <p:sp>
        <p:nvSpPr>
          <p:cNvPr id="33797" name="Rectangle 3" descr="Rectangle: Click to edit Master text styles&#10;Second level&#10;Third level&#10;Fourth level&#10;Fifth level"/>
          <p:cNvSpPr>
            <a:spLocks noGrp="1" noChangeArrowheads="1"/>
          </p:cNvSpPr>
          <p:nvPr>
            <p:ph type="body" idx="1"/>
          </p:nvPr>
        </p:nvSpPr>
        <p:spPr>
          <a:xfrm>
            <a:off x="685800" y="1600200"/>
            <a:ext cx="7848600" cy="2057400"/>
          </a:xfrm>
        </p:spPr>
        <p:txBody>
          <a:bodyPr/>
          <a:lstStyle/>
          <a:p>
            <a:pPr eaLnBrk="1" hangingPunct="1"/>
            <a:r>
              <a:rPr lang="en-US" altLang="en-US" sz="2000">
                <a:solidFill>
                  <a:schemeClr val="tx2"/>
                </a:solidFill>
              </a:rPr>
              <a:t>Theorem:</a:t>
            </a:r>
            <a:r>
              <a:rPr lang="en-US" altLang="en-US" sz="2000"/>
              <a:t> A heap storing </a:t>
            </a:r>
            <a:r>
              <a:rPr lang="en-US" altLang="en-US" sz="2000" b="1" i="1">
                <a:latin typeface="Times New Roman" pitchFamily="18" charset="0"/>
              </a:rPr>
              <a:t>n</a:t>
            </a:r>
            <a:r>
              <a:rPr lang="en-US" altLang="en-US" sz="2000">
                <a:latin typeface="Times New Roman" pitchFamily="18" charset="0"/>
              </a:rPr>
              <a:t> </a:t>
            </a:r>
            <a:r>
              <a:rPr lang="en-US" altLang="en-US" sz="2000"/>
              <a:t>keys has height </a:t>
            </a:r>
            <a:r>
              <a:rPr lang="en-US" altLang="en-US" sz="2000" b="1" i="1">
                <a:latin typeface="Times New Roman" pitchFamily="18" charset="0"/>
              </a:rPr>
              <a:t>O</a:t>
            </a:r>
            <a:r>
              <a:rPr lang="en-US" altLang="en-US" sz="2000">
                <a:latin typeface="Times New Roman" pitchFamily="18" charset="0"/>
              </a:rPr>
              <a:t>(log </a:t>
            </a:r>
            <a:r>
              <a:rPr lang="en-US" altLang="en-US" sz="2000" b="1" i="1">
                <a:latin typeface="Times New Roman" pitchFamily="18" charset="0"/>
              </a:rPr>
              <a:t>n</a:t>
            </a:r>
            <a:r>
              <a:rPr lang="en-US" altLang="en-US" sz="2000">
                <a:latin typeface="Times New Roman" pitchFamily="18" charset="0"/>
              </a:rPr>
              <a:t>)</a:t>
            </a:r>
          </a:p>
          <a:p>
            <a:pPr eaLnBrk="1" hangingPunct="1">
              <a:buFont typeface="Wingdings" pitchFamily="2" charset="2"/>
              <a:buNone/>
            </a:pPr>
            <a:r>
              <a:rPr lang="en-US" altLang="en-US" sz="2000"/>
              <a:t>	Proof: (we apply the complete binary tree property)</a:t>
            </a:r>
          </a:p>
          <a:p>
            <a:pPr lvl="1" eaLnBrk="1" hangingPunct="1"/>
            <a:r>
              <a:rPr lang="en-US" altLang="en-US" sz="1800"/>
              <a:t>Let </a:t>
            </a:r>
            <a:r>
              <a:rPr lang="en-US" altLang="en-US" sz="1800" b="1" i="1">
                <a:latin typeface="Times New Roman" pitchFamily="18" charset="0"/>
              </a:rPr>
              <a:t>h</a:t>
            </a:r>
            <a:r>
              <a:rPr lang="en-US" altLang="en-US" sz="1800"/>
              <a:t> be the height of a heap storing </a:t>
            </a:r>
            <a:r>
              <a:rPr lang="en-US" altLang="en-US" sz="1800" b="1" i="1">
                <a:latin typeface="Times New Roman" pitchFamily="18" charset="0"/>
              </a:rPr>
              <a:t>n </a:t>
            </a:r>
            <a:r>
              <a:rPr lang="en-US" altLang="en-US" sz="1800"/>
              <a:t>keys</a:t>
            </a:r>
          </a:p>
          <a:p>
            <a:pPr lvl="1" eaLnBrk="1" hangingPunct="1"/>
            <a:r>
              <a:rPr lang="en-US" altLang="en-US" sz="1800"/>
              <a:t>Since there are </a:t>
            </a:r>
            <a:r>
              <a:rPr lang="en-US" altLang="en-US" sz="1800">
                <a:latin typeface="Times New Roman" pitchFamily="18" charset="0"/>
              </a:rPr>
              <a:t>2</a:t>
            </a:r>
            <a:r>
              <a:rPr lang="en-US" altLang="en-US" sz="1800" b="1" i="1" baseline="30000">
                <a:latin typeface="Times New Roman" pitchFamily="18" charset="0"/>
              </a:rPr>
              <a:t>i</a:t>
            </a:r>
            <a:r>
              <a:rPr lang="en-US" altLang="en-US" sz="1800"/>
              <a:t> keys at depth </a:t>
            </a:r>
            <a:r>
              <a:rPr lang="en-US" altLang="en-US" sz="1800" b="1" i="1">
                <a:latin typeface="Times New Roman" pitchFamily="18" charset="0"/>
              </a:rPr>
              <a:t>i</a:t>
            </a:r>
            <a:r>
              <a:rPr lang="en-US" altLang="en-US" sz="1800"/>
              <a:t> </a:t>
            </a:r>
            <a:r>
              <a:rPr lang="en-US" altLang="en-US" sz="1800">
                <a:latin typeface="Symbol" pitchFamily="18" charset="2"/>
                <a:sym typeface="Symbol" pitchFamily="18" charset="2"/>
              </a:rPr>
              <a:t>=</a:t>
            </a:r>
            <a:r>
              <a:rPr lang="en-US" altLang="en-US" sz="1800"/>
              <a:t> </a:t>
            </a:r>
            <a:r>
              <a:rPr lang="en-US" altLang="en-US" sz="1800">
                <a:latin typeface="Times New Roman" pitchFamily="18" charset="0"/>
              </a:rPr>
              <a:t>0, … , </a:t>
            </a:r>
            <a:r>
              <a:rPr lang="en-US" altLang="en-US" sz="1800" b="1" i="1">
                <a:latin typeface="Times New Roman" pitchFamily="18" charset="0"/>
              </a:rPr>
              <a:t>h </a:t>
            </a:r>
            <a:r>
              <a:rPr lang="en-US" altLang="en-US" sz="1800">
                <a:latin typeface="Symbol" pitchFamily="18" charset="2"/>
                <a:sym typeface="Symbol" pitchFamily="18" charset="2"/>
              </a:rPr>
              <a:t>- </a:t>
            </a:r>
            <a:r>
              <a:rPr lang="en-US" altLang="en-US" sz="1800">
                <a:latin typeface="Times New Roman" pitchFamily="18" charset="0"/>
              </a:rPr>
              <a:t>2 </a:t>
            </a:r>
            <a:r>
              <a:rPr lang="en-US" altLang="en-US" sz="1800"/>
              <a:t>and at least one key at depth </a:t>
            </a:r>
            <a:r>
              <a:rPr lang="en-US" altLang="en-US" sz="1800" b="1" i="1">
                <a:latin typeface="Times New Roman" pitchFamily="18" charset="0"/>
              </a:rPr>
              <a:t>h </a:t>
            </a:r>
            <a:r>
              <a:rPr lang="en-US" altLang="en-US" sz="1800">
                <a:latin typeface="Symbol" pitchFamily="18" charset="2"/>
                <a:sym typeface="Symbol" pitchFamily="18" charset="2"/>
              </a:rPr>
              <a:t>- </a:t>
            </a:r>
            <a:r>
              <a:rPr lang="en-US" altLang="en-US" sz="1800">
                <a:latin typeface="Times New Roman" pitchFamily="18" charset="0"/>
              </a:rPr>
              <a:t>1</a:t>
            </a:r>
            <a:r>
              <a:rPr lang="en-US" altLang="en-US" sz="1800"/>
              <a:t>, we have </a:t>
            </a:r>
            <a:r>
              <a:rPr lang="en-US" altLang="en-US" sz="1800" b="1" i="1">
                <a:latin typeface="Times New Roman" pitchFamily="18" charset="0"/>
              </a:rPr>
              <a:t>n</a:t>
            </a:r>
            <a:r>
              <a:rPr lang="en-US" altLang="en-US" sz="1800"/>
              <a:t> </a:t>
            </a:r>
            <a:r>
              <a:rPr lang="en-US" altLang="en-US" sz="1800">
                <a:latin typeface="Symbol" pitchFamily="18" charset="2"/>
                <a:sym typeface="Symbol" pitchFamily="18" charset="2"/>
              </a:rPr>
              <a:t></a:t>
            </a:r>
            <a:r>
              <a:rPr lang="en-US" altLang="en-US" sz="1800"/>
              <a:t> </a:t>
            </a:r>
            <a:r>
              <a:rPr lang="en-US" altLang="en-US" sz="1800">
                <a:latin typeface="Times New Roman" pitchFamily="18" charset="0"/>
              </a:rPr>
              <a:t>1 </a:t>
            </a:r>
            <a:r>
              <a:rPr lang="en-US" altLang="en-US" sz="1800">
                <a:latin typeface="Symbol" pitchFamily="18" charset="2"/>
                <a:sym typeface="Symbol" pitchFamily="18" charset="2"/>
              </a:rPr>
              <a:t>+ </a:t>
            </a:r>
            <a:r>
              <a:rPr lang="en-US" altLang="en-US" sz="1800">
                <a:latin typeface="Times New Roman" pitchFamily="18" charset="0"/>
              </a:rPr>
              <a:t>2 </a:t>
            </a:r>
            <a:r>
              <a:rPr lang="en-US" altLang="en-US" sz="1800">
                <a:latin typeface="Symbol" pitchFamily="18" charset="2"/>
                <a:sym typeface="Symbol" pitchFamily="18" charset="2"/>
              </a:rPr>
              <a:t>+</a:t>
            </a:r>
            <a:r>
              <a:rPr lang="en-US" altLang="en-US" sz="1800">
                <a:latin typeface="Times New Roman" pitchFamily="18" charset="0"/>
              </a:rPr>
              <a:t> 4 </a:t>
            </a:r>
            <a:r>
              <a:rPr lang="en-US" altLang="en-US" sz="1800">
                <a:latin typeface="Symbol" pitchFamily="18" charset="2"/>
                <a:sym typeface="Symbol" pitchFamily="18" charset="2"/>
              </a:rPr>
              <a:t>+</a:t>
            </a:r>
            <a:r>
              <a:rPr lang="en-US" altLang="en-US" sz="1800">
                <a:latin typeface="Times New Roman" pitchFamily="18" charset="0"/>
              </a:rPr>
              <a:t> … </a:t>
            </a:r>
            <a:r>
              <a:rPr lang="en-US" altLang="en-US" sz="1800">
                <a:latin typeface="Symbol" pitchFamily="18" charset="2"/>
                <a:sym typeface="Symbol" pitchFamily="18" charset="2"/>
              </a:rPr>
              <a:t>+</a:t>
            </a:r>
            <a:r>
              <a:rPr lang="en-US" altLang="en-US" sz="1800">
                <a:latin typeface="Times New Roman" pitchFamily="18" charset="0"/>
              </a:rPr>
              <a:t> 2</a:t>
            </a:r>
            <a:r>
              <a:rPr lang="en-US" altLang="en-US" sz="1800" b="1" i="1" baseline="30000">
                <a:latin typeface="Times New Roman" pitchFamily="18" charset="0"/>
              </a:rPr>
              <a:t>h</a:t>
            </a:r>
            <a:r>
              <a:rPr lang="en-US" altLang="en-US" sz="1800" baseline="30000">
                <a:latin typeface="Symbol" pitchFamily="18" charset="2"/>
              </a:rPr>
              <a:t>-</a:t>
            </a:r>
            <a:r>
              <a:rPr lang="en-US" altLang="en-US" sz="1800" baseline="30000">
                <a:latin typeface="Times New Roman" pitchFamily="18" charset="0"/>
              </a:rPr>
              <a:t>2 </a:t>
            </a:r>
            <a:r>
              <a:rPr lang="en-US" altLang="en-US" sz="1800">
                <a:latin typeface="Symbol" pitchFamily="18" charset="2"/>
                <a:sym typeface="Symbol" pitchFamily="18" charset="2"/>
              </a:rPr>
              <a:t> + </a:t>
            </a:r>
            <a:r>
              <a:rPr lang="en-US" altLang="en-US" sz="1800">
                <a:latin typeface="Times New Roman" pitchFamily="18" charset="0"/>
              </a:rPr>
              <a:t>1</a:t>
            </a:r>
            <a:r>
              <a:rPr lang="en-US" altLang="en-US" sz="1800" b="1" i="1" baseline="30000">
                <a:latin typeface="Times New Roman" pitchFamily="18" charset="0"/>
              </a:rPr>
              <a:t> </a:t>
            </a:r>
          </a:p>
          <a:p>
            <a:pPr lvl="1" eaLnBrk="1" hangingPunct="1"/>
            <a:r>
              <a:rPr lang="en-US" altLang="en-US" sz="1800"/>
              <a:t>Thus, </a:t>
            </a:r>
            <a:r>
              <a:rPr lang="en-US" altLang="en-US" sz="1800" b="1" i="1">
                <a:latin typeface="Times New Roman" pitchFamily="18" charset="0"/>
              </a:rPr>
              <a:t>n</a:t>
            </a:r>
            <a:r>
              <a:rPr lang="en-US" altLang="en-US" sz="1800"/>
              <a:t> </a:t>
            </a:r>
            <a:r>
              <a:rPr lang="en-US" altLang="en-US" sz="1800">
                <a:latin typeface="Symbol" pitchFamily="18" charset="2"/>
                <a:sym typeface="Symbol" pitchFamily="18" charset="2"/>
              </a:rPr>
              <a:t></a:t>
            </a:r>
            <a:r>
              <a:rPr lang="en-US" altLang="en-US" sz="1800"/>
              <a:t> </a:t>
            </a:r>
            <a:r>
              <a:rPr lang="en-US" altLang="en-US" sz="1800">
                <a:latin typeface="Times New Roman" pitchFamily="18" charset="0"/>
              </a:rPr>
              <a:t>2</a:t>
            </a:r>
            <a:r>
              <a:rPr lang="en-US" altLang="en-US" sz="1800" b="1" i="1" baseline="30000">
                <a:latin typeface="Times New Roman" pitchFamily="18" charset="0"/>
              </a:rPr>
              <a:t>h</a:t>
            </a:r>
            <a:r>
              <a:rPr lang="en-US" altLang="en-US" sz="1800" baseline="30000">
                <a:latin typeface="Symbol" pitchFamily="18" charset="2"/>
              </a:rPr>
              <a:t>-</a:t>
            </a:r>
            <a:r>
              <a:rPr lang="en-US" altLang="en-US" sz="1800" baseline="30000">
                <a:latin typeface="Times New Roman" pitchFamily="18" charset="0"/>
              </a:rPr>
              <a:t>1 </a:t>
            </a:r>
            <a:r>
              <a:rPr lang="en-US" altLang="en-US" sz="1800"/>
              <a:t>, i.e., </a:t>
            </a:r>
            <a:r>
              <a:rPr lang="en-US" altLang="en-US" sz="1800" b="1" i="1">
                <a:latin typeface="Times New Roman" pitchFamily="18" charset="0"/>
              </a:rPr>
              <a:t>h</a:t>
            </a:r>
            <a:r>
              <a:rPr lang="en-US" altLang="en-US" sz="1800"/>
              <a:t> </a:t>
            </a:r>
            <a:r>
              <a:rPr lang="en-US" altLang="en-US" sz="1800">
                <a:latin typeface="Symbol" pitchFamily="18" charset="2"/>
                <a:sym typeface="Symbol" pitchFamily="18" charset="2"/>
              </a:rPr>
              <a:t></a:t>
            </a:r>
            <a:r>
              <a:rPr lang="en-US" altLang="en-US" sz="1800"/>
              <a:t> </a:t>
            </a:r>
            <a:r>
              <a:rPr lang="en-US" altLang="en-US" sz="1800">
                <a:latin typeface="Times New Roman" pitchFamily="18" charset="0"/>
              </a:rPr>
              <a:t>log </a:t>
            </a:r>
            <a:r>
              <a:rPr lang="en-US" altLang="en-US" sz="1800" b="1" i="1">
                <a:latin typeface="Times New Roman" pitchFamily="18" charset="0"/>
              </a:rPr>
              <a:t>n </a:t>
            </a:r>
            <a:r>
              <a:rPr lang="en-US" altLang="en-US" sz="1800">
                <a:latin typeface="Symbol" pitchFamily="18" charset="2"/>
                <a:sym typeface="Symbol" pitchFamily="18" charset="2"/>
              </a:rPr>
              <a:t>+ </a:t>
            </a:r>
            <a:r>
              <a:rPr lang="en-US" altLang="en-US" sz="1800">
                <a:latin typeface="Times New Roman" pitchFamily="18" charset="0"/>
              </a:rPr>
              <a:t>1</a:t>
            </a:r>
          </a:p>
        </p:txBody>
      </p:sp>
      <p:grpSp>
        <p:nvGrpSpPr>
          <p:cNvPr id="33798" name="Group 75"/>
          <p:cNvGrpSpPr>
            <a:grpSpLocks/>
          </p:cNvGrpSpPr>
          <p:nvPr/>
        </p:nvGrpSpPr>
        <p:grpSpPr bwMode="auto">
          <a:xfrm>
            <a:off x="2393950" y="4343400"/>
            <a:ext cx="5873750" cy="1824038"/>
            <a:chOff x="864" y="2592"/>
            <a:chExt cx="816" cy="1296"/>
          </a:xfrm>
        </p:grpSpPr>
        <p:sp>
          <p:nvSpPr>
            <p:cNvPr id="33847" name="Line 70"/>
            <p:cNvSpPr>
              <a:spLocks noChangeShapeType="1"/>
            </p:cNvSpPr>
            <p:nvPr/>
          </p:nvSpPr>
          <p:spPr bwMode="auto">
            <a:xfrm flipH="1">
              <a:off x="864" y="3888"/>
              <a:ext cx="81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lg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848" name="Line 71"/>
            <p:cNvSpPr>
              <a:spLocks noChangeShapeType="1"/>
            </p:cNvSpPr>
            <p:nvPr/>
          </p:nvSpPr>
          <p:spPr bwMode="auto">
            <a:xfrm flipH="1">
              <a:off x="864" y="3564"/>
              <a:ext cx="81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lg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849" name="Line 72"/>
            <p:cNvSpPr>
              <a:spLocks noChangeShapeType="1"/>
            </p:cNvSpPr>
            <p:nvPr/>
          </p:nvSpPr>
          <p:spPr bwMode="auto">
            <a:xfrm flipH="1">
              <a:off x="864" y="3240"/>
              <a:ext cx="81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lg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850" name="Line 73"/>
            <p:cNvSpPr>
              <a:spLocks noChangeShapeType="1"/>
            </p:cNvSpPr>
            <p:nvPr/>
          </p:nvSpPr>
          <p:spPr bwMode="auto">
            <a:xfrm flipH="1">
              <a:off x="864" y="2916"/>
              <a:ext cx="81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lg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851" name="Line 74"/>
            <p:cNvSpPr>
              <a:spLocks noChangeShapeType="1"/>
            </p:cNvSpPr>
            <p:nvPr/>
          </p:nvSpPr>
          <p:spPr bwMode="auto">
            <a:xfrm flipH="1">
              <a:off x="864" y="2592"/>
              <a:ext cx="81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lg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33799" name="Oval 4"/>
          <p:cNvSpPr>
            <a:spLocks noChangeArrowheads="1"/>
          </p:cNvSpPr>
          <p:nvPr/>
        </p:nvSpPr>
        <p:spPr bwMode="auto">
          <a:xfrm>
            <a:off x="5643563" y="4140200"/>
            <a:ext cx="338137" cy="338138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anchor="ctr" anchorCtr="1"/>
          <a:lstStyle>
            <a:lvl1pPr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/>
            <a:endParaRPr lang="en-US" altLang="en-US" sz="2000">
              <a:latin typeface="Times New Roman" pitchFamily="18" charset="0"/>
              <a:sym typeface="Symbol" pitchFamily="18" charset="2"/>
            </a:endParaRPr>
          </a:p>
        </p:txBody>
      </p:sp>
      <p:grpSp>
        <p:nvGrpSpPr>
          <p:cNvPr id="33800" name="Group 66"/>
          <p:cNvGrpSpPr>
            <a:grpSpLocks/>
          </p:cNvGrpSpPr>
          <p:nvPr/>
        </p:nvGrpSpPr>
        <p:grpSpPr bwMode="auto">
          <a:xfrm>
            <a:off x="4467225" y="4613275"/>
            <a:ext cx="2743200" cy="338138"/>
            <a:chOff x="2139" y="2808"/>
            <a:chExt cx="1950" cy="240"/>
          </a:xfrm>
        </p:grpSpPr>
        <p:sp>
          <p:nvSpPr>
            <p:cNvPr id="33845" name="Oval 5"/>
            <p:cNvSpPr>
              <a:spLocks noChangeArrowheads="1"/>
            </p:cNvSpPr>
            <p:nvPr/>
          </p:nvSpPr>
          <p:spPr bwMode="auto">
            <a:xfrm>
              <a:off x="3849" y="2808"/>
              <a:ext cx="240" cy="240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anchor="ctr" anchorCtr="1"/>
            <a:lstStyle>
              <a:lvl1pPr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9pPr>
            </a:lstStyle>
            <a:p>
              <a:pPr eaLnBrk="1" hangingPunct="1"/>
              <a:endParaRPr lang="en-US" altLang="en-US" sz="2000">
                <a:latin typeface="Times New Roman" pitchFamily="18" charset="0"/>
                <a:sym typeface="Symbol" pitchFamily="18" charset="2"/>
              </a:endParaRPr>
            </a:p>
          </p:txBody>
        </p:sp>
        <p:sp>
          <p:nvSpPr>
            <p:cNvPr id="33846" name="Oval 6"/>
            <p:cNvSpPr>
              <a:spLocks noChangeArrowheads="1"/>
            </p:cNvSpPr>
            <p:nvPr/>
          </p:nvSpPr>
          <p:spPr bwMode="auto">
            <a:xfrm>
              <a:off x="2139" y="2808"/>
              <a:ext cx="240" cy="240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anchor="ctr" anchorCtr="1"/>
            <a:lstStyle>
              <a:lvl1pPr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9pPr>
            </a:lstStyle>
            <a:p>
              <a:pPr eaLnBrk="1" hangingPunct="1"/>
              <a:endParaRPr lang="en-US" altLang="en-US" sz="2000">
                <a:latin typeface="Times New Roman" pitchFamily="18" charset="0"/>
                <a:sym typeface="Symbol" pitchFamily="18" charset="2"/>
              </a:endParaRPr>
            </a:p>
          </p:txBody>
        </p:sp>
      </p:grpSp>
      <p:cxnSp>
        <p:nvCxnSpPr>
          <p:cNvPr id="33801" name="AutoShape 12"/>
          <p:cNvCxnSpPr>
            <a:cxnSpLocks noChangeShapeType="1"/>
            <a:stCxn id="33799" idx="3"/>
            <a:endCxn id="33846" idx="7"/>
          </p:cNvCxnSpPr>
          <p:nvPr/>
        </p:nvCxnSpPr>
        <p:spPr bwMode="auto">
          <a:xfrm flipH="1">
            <a:off x="4756150" y="4438650"/>
            <a:ext cx="936625" cy="214313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3802" name="AutoShape 13"/>
          <p:cNvCxnSpPr>
            <a:cxnSpLocks noChangeShapeType="1"/>
            <a:stCxn id="33845" idx="1"/>
            <a:endCxn id="33799" idx="5"/>
          </p:cNvCxnSpPr>
          <p:nvPr/>
        </p:nvCxnSpPr>
        <p:spPr bwMode="auto">
          <a:xfrm flipH="1" flipV="1">
            <a:off x="5932488" y="4438650"/>
            <a:ext cx="989012" cy="214313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3803" name="AutoShape 14"/>
          <p:cNvCxnSpPr>
            <a:cxnSpLocks noChangeShapeType="1"/>
            <a:stCxn id="33844" idx="1"/>
            <a:endCxn id="33845" idx="5"/>
          </p:cNvCxnSpPr>
          <p:nvPr/>
        </p:nvCxnSpPr>
        <p:spPr bwMode="auto">
          <a:xfrm flipH="1" flipV="1">
            <a:off x="7161213" y="4911725"/>
            <a:ext cx="360362" cy="214313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3804" name="AutoShape 15"/>
          <p:cNvCxnSpPr>
            <a:cxnSpLocks noChangeShapeType="1"/>
            <a:stCxn id="33843" idx="7"/>
            <a:endCxn id="33845" idx="3"/>
          </p:cNvCxnSpPr>
          <p:nvPr/>
        </p:nvCxnSpPr>
        <p:spPr bwMode="auto">
          <a:xfrm flipV="1">
            <a:off x="6559550" y="4911725"/>
            <a:ext cx="361950" cy="214313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3805" name="AutoShape 16"/>
          <p:cNvCxnSpPr>
            <a:cxnSpLocks noChangeShapeType="1"/>
            <a:stCxn id="33834" idx="0"/>
            <a:endCxn id="33841" idx="5"/>
          </p:cNvCxnSpPr>
          <p:nvPr/>
        </p:nvCxnSpPr>
        <p:spPr bwMode="auto">
          <a:xfrm flipH="1" flipV="1">
            <a:off x="5356225" y="5384800"/>
            <a:ext cx="182563" cy="212725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3806" name="AutoShape 17"/>
          <p:cNvCxnSpPr>
            <a:cxnSpLocks noChangeShapeType="1"/>
            <a:stCxn id="33833" idx="0"/>
            <a:endCxn id="33841" idx="3"/>
          </p:cNvCxnSpPr>
          <p:nvPr/>
        </p:nvCxnSpPr>
        <p:spPr bwMode="auto">
          <a:xfrm flipV="1">
            <a:off x="4935538" y="5384800"/>
            <a:ext cx="180975" cy="212725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3807" name="AutoShape 18"/>
          <p:cNvCxnSpPr>
            <a:cxnSpLocks noChangeShapeType="1"/>
            <a:stCxn id="33842" idx="7"/>
            <a:endCxn id="33846" idx="3"/>
          </p:cNvCxnSpPr>
          <p:nvPr/>
        </p:nvCxnSpPr>
        <p:spPr bwMode="auto">
          <a:xfrm flipV="1">
            <a:off x="4154488" y="4911725"/>
            <a:ext cx="361950" cy="214313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3808" name="AutoShape 19"/>
          <p:cNvCxnSpPr>
            <a:cxnSpLocks noChangeShapeType="1"/>
            <a:stCxn id="33841" idx="1"/>
            <a:endCxn id="33846" idx="5"/>
          </p:cNvCxnSpPr>
          <p:nvPr/>
        </p:nvCxnSpPr>
        <p:spPr bwMode="auto">
          <a:xfrm flipH="1" flipV="1">
            <a:off x="4756150" y="4911725"/>
            <a:ext cx="360363" cy="214313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3809" name="AutoShape 23"/>
          <p:cNvCxnSpPr>
            <a:cxnSpLocks noChangeShapeType="1"/>
            <a:stCxn id="33835" idx="0"/>
            <a:endCxn id="33842" idx="5"/>
          </p:cNvCxnSpPr>
          <p:nvPr/>
        </p:nvCxnSpPr>
        <p:spPr bwMode="auto">
          <a:xfrm flipH="1" flipV="1">
            <a:off x="4154488" y="5384800"/>
            <a:ext cx="180975" cy="212725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3810" name="AutoShape 24"/>
          <p:cNvCxnSpPr>
            <a:cxnSpLocks noChangeShapeType="1"/>
            <a:stCxn id="33840" idx="7"/>
            <a:endCxn id="33842" idx="3"/>
          </p:cNvCxnSpPr>
          <p:nvPr/>
        </p:nvCxnSpPr>
        <p:spPr bwMode="auto">
          <a:xfrm flipV="1">
            <a:off x="3552825" y="5384800"/>
            <a:ext cx="361950" cy="214313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3811" name="AutoShape 30"/>
          <p:cNvCxnSpPr>
            <a:cxnSpLocks noChangeShapeType="1"/>
            <a:stCxn id="33837" idx="0"/>
            <a:endCxn id="33843" idx="5"/>
          </p:cNvCxnSpPr>
          <p:nvPr/>
        </p:nvCxnSpPr>
        <p:spPr bwMode="auto">
          <a:xfrm flipH="1" flipV="1">
            <a:off x="6559550" y="5384800"/>
            <a:ext cx="180975" cy="212725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3812" name="AutoShape 31"/>
          <p:cNvCxnSpPr>
            <a:cxnSpLocks noChangeShapeType="1"/>
            <a:stCxn id="33836" idx="0"/>
            <a:endCxn id="33843" idx="3"/>
          </p:cNvCxnSpPr>
          <p:nvPr/>
        </p:nvCxnSpPr>
        <p:spPr bwMode="auto">
          <a:xfrm flipV="1">
            <a:off x="6138863" y="5384800"/>
            <a:ext cx="180975" cy="212725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3813" name="Group 67"/>
          <p:cNvGrpSpPr>
            <a:grpSpLocks/>
          </p:cNvGrpSpPr>
          <p:nvPr/>
        </p:nvGrpSpPr>
        <p:grpSpPr bwMode="auto">
          <a:xfrm>
            <a:off x="3865563" y="5086350"/>
            <a:ext cx="3944937" cy="338138"/>
            <a:chOff x="1711" y="3144"/>
            <a:chExt cx="2805" cy="240"/>
          </a:xfrm>
        </p:grpSpPr>
        <p:sp>
          <p:nvSpPr>
            <p:cNvPr id="33841" name="Oval 7"/>
            <p:cNvSpPr>
              <a:spLocks noChangeArrowheads="1"/>
            </p:cNvSpPr>
            <p:nvPr/>
          </p:nvSpPr>
          <p:spPr bwMode="auto">
            <a:xfrm>
              <a:off x="2566" y="3144"/>
              <a:ext cx="240" cy="240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anchor="ctr" anchorCtr="1"/>
            <a:lstStyle>
              <a:lvl1pPr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9pPr>
            </a:lstStyle>
            <a:p>
              <a:pPr eaLnBrk="1" hangingPunct="1"/>
              <a:endParaRPr lang="en-US" altLang="en-US" sz="2000">
                <a:latin typeface="Times New Roman" pitchFamily="18" charset="0"/>
                <a:sym typeface="Symbol" pitchFamily="18" charset="2"/>
              </a:endParaRPr>
            </a:p>
          </p:txBody>
        </p:sp>
        <p:sp>
          <p:nvSpPr>
            <p:cNvPr id="33842" name="Oval 20"/>
            <p:cNvSpPr>
              <a:spLocks noChangeArrowheads="1"/>
            </p:cNvSpPr>
            <p:nvPr/>
          </p:nvSpPr>
          <p:spPr bwMode="auto">
            <a:xfrm>
              <a:off x="1711" y="3144"/>
              <a:ext cx="240" cy="240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anchor="ctr" anchorCtr="1"/>
            <a:lstStyle>
              <a:lvl1pPr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9pPr>
            </a:lstStyle>
            <a:p>
              <a:pPr eaLnBrk="1" hangingPunct="1"/>
              <a:endParaRPr lang="en-US" altLang="en-US" sz="2000">
                <a:latin typeface="Times New Roman" pitchFamily="18" charset="0"/>
                <a:sym typeface="Symbol" pitchFamily="18" charset="2"/>
              </a:endParaRPr>
            </a:p>
          </p:txBody>
        </p:sp>
        <p:sp>
          <p:nvSpPr>
            <p:cNvPr id="33843" name="Oval 27"/>
            <p:cNvSpPr>
              <a:spLocks noChangeArrowheads="1"/>
            </p:cNvSpPr>
            <p:nvPr/>
          </p:nvSpPr>
          <p:spPr bwMode="auto">
            <a:xfrm>
              <a:off x="3421" y="3144"/>
              <a:ext cx="240" cy="240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anchor="ctr" anchorCtr="1"/>
            <a:lstStyle>
              <a:lvl1pPr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9pPr>
            </a:lstStyle>
            <a:p>
              <a:pPr eaLnBrk="1" hangingPunct="1"/>
              <a:endParaRPr lang="en-US" altLang="en-US" sz="2000">
                <a:latin typeface="Times New Roman" pitchFamily="18" charset="0"/>
                <a:sym typeface="Symbol" pitchFamily="18" charset="2"/>
              </a:endParaRPr>
            </a:p>
          </p:txBody>
        </p:sp>
        <p:sp>
          <p:nvSpPr>
            <p:cNvPr id="33844" name="Oval 32"/>
            <p:cNvSpPr>
              <a:spLocks noChangeArrowheads="1"/>
            </p:cNvSpPr>
            <p:nvPr/>
          </p:nvSpPr>
          <p:spPr bwMode="auto">
            <a:xfrm>
              <a:off x="4276" y="3144"/>
              <a:ext cx="240" cy="240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anchor="ctr" anchorCtr="1"/>
            <a:lstStyle>
              <a:lvl1pPr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9pPr>
            </a:lstStyle>
            <a:p>
              <a:pPr eaLnBrk="1" hangingPunct="1"/>
              <a:endParaRPr lang="en-US" altLang="en-US" sz="2000">
                <a:latin typeface="Times New Roman" pitchFamily="18" charset="0"/>
                <a:sym typeface="Symbol" pitchFamily="18" charset="2"/>
              </a:endParaRPr>
            </a:p>
          </p:txBody>
        </p:sp>
      </p:grpSp>
      <p:cxnSp>
        <p:nvCxnSpPr>
          <p:cNvPr id="33814" name="AutoShape 35"/>
          <p:cNvCxnSpPr>
            <a:cxnSpLocks noChangeShapeType="1"/>
            <a:stCxn id="33839" idx="0"/>
            <a:endCxn id="33844" idx="5"/>
          </p:cNvCxnSpPr>
          <p:nvPr/>
        </p:nvCxnSpPr>
        <p:spPr bwMode="auto">
          <a:xfrm flipH="1" flipV="1">
            <a:off x="7761288" y="5384800"/>
            <a:ext cx="182562" cy="212725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3815" name="AutoShape 36"/>
          <p:cNvCxnSpPr>
            <a:cxnSpLocks noChangeShapeType="1"/>
            <a:stCxn id="33838" idx="0"/>
            <a:endCxn id="33844" idx="3"/>
          </p:cNvCxnSpPr>
          <p:nvPr/>
        </p:nvCxnSpPr>
        <p:spPr bwMode="auto">
          <a:xfrm flipV="1">
            <a:off x="7340600" y="5384800"/>
            <a:ext cx="180975" cy="212725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3816" name="Group 68"/>
          <p:cNvGrpSpPr>
            <a:grpSpLocks/>
          </p:cNvGrpSpPr>
          <p:nvPr/>
        </p:nvGrpSpPr>
        <p:grpSpPr bwMode="auto">
          <a:xfrm>
            <a:off x="3263900" y="5559425"/>
            <a:ext cx="4800600" cy="336550"/>
            <a:chOff x="1284" y="3552"/>
            <a:chExt cx="3413" cy="240"/>
          </a:xfrm>
        </p:grpSpPr>
        <p:sp>
          <p:nvSpPr>
            <p:cNvPr id="33833" name="Rectangle 8"/>
            <p:cNvSpPr>
              <a:spLocks noChangeAspect="1" noChangeArrowheads="1"/>
            </p:cNvSpPr>
            <p:nvPr/>
          </p:nvSpPr>
          <p:spPr bwMode="auto">
            <a:xfrm>
              <a:off x="2386" y="3586"/>
              <a:ext cx="173" cy="173"/>
            </a:xfrm>
            <a:prstGeom prst="rect">
              <a:avLst/>
            </a:prstGeom>
            <a:solidFill>
              <a:schemeClr val="fol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3834" name="Rectangle 9"/>
            <p:cNvSpPr>
              <a:spLocks noChangeAspect="1" noChangeArrowheads="1"/>
            </p:cNvSpPr>
            <p:nvPr/>
          </p:nvSpPr>
          <p:spPr bwMode="auto">
            <a:xfrm>
              <a:off x="2814" y="3586"/>
              <a:ext cx="173" cy="173"/>
            </a:xfrm>
            <a:prstGeom prst="rect">
              <a:avLst/>
            </a:prstGeom>
            <a:solidFill>
              <a:schemeClr val="fol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3835" name="Rectangle 22"/>
            <p:cNvSpPr>
              <a:spLocks noChangeAspect="1" noChangeArrowheads="1"/>
            </p:cNvSpPr>
            <p:nvPr/>
          </p:nvSpPr>
          <p:spPr bwMode="auto">
            <a:xfrm>
              <a:off x="1959" y="3586"/>
              <a:ext cx="173" cy="173"/>
            </a:xfrm>
            <a:prstGeom prst="rect">
              <a:avLst/>
            </a:prstGeom>
            <a:solidFill>
              <a:schemeClr val="fol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3836" name="Rectangle 28"/>
            <p:cNvSpPr>
              <a:spLocks noChangeAspect="1" noChangeArrowheads="1"/>
            </p:cNvSpPr>
            <p:nvPr/>
          </p:nvSpPr>
          <p:spPr bwMode="auto">
            <a:xfrm>
              <a:off x="3241" y="3586"/>
              <a:ext cx="173" cy="173"/>
            </a:xfrm>
            <a:prstGeom prst="rect">
              <a:avLst/>
            </a:prstGeom>
            <a:solidFill>
              <a:schemeClr val="fol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3837" name="Rectangle 29"/>
            <p:cNvSpPr>
              <a:spLocks noChangeAspect="1" noChangeArrowheads="1"/>
            </p:cNvSpPr>
            <p:nvPr/>
          </p:nvSpPr>
          <p:spPr bwMode="auto">
            <a:xfrm>
              <a:off x="3669" y="3586"/>
              <a:ext cx="173" cy="173"/>
            </a:xfrm>
            <a:prstGeom prst="rect">
              <a:avLst/>
            </a:prstGeom>
            <a:solidFill>
              <a:schemeClr val="fol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3838" name="Rectangle 33"/>
            <p:cNvSpPr>
              <a:spLocks noChangeAspect="1" noChangeArrowheads="1"/>
            </p:cNvSpPr>
            <p:nvPr/>
          </p:nvSpPr>
          <p:spPr bwMode="auto">
            <a:xfrm>
              <a:off x="4096" y="3586"/>
              <a:ext cx="173" cy="173"/>
            </a:xfrm>
            <a:prstGeom prst="rect">
              <a:avLst/>
            </a:prstGeom>
            <a:solidFill>
              <a:schemeClr val="fol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3839" name="Rectangle 34"/>
            <p:cNvSpPr>
              <a:spLocks noChangeAspect="1" noChangeArrowheads="1"/>
            </p:cNvSpPr>
            <p:nvPr/>
          </p:nvSpPr>
          <p:spPr bwMode="auto">
            <a:xfrm>
              <a:off x="4524" y="3586"/>
              <a:ext cx="173" cy="173"/>
            </a:xfrm>
            <a:prstGeom prst="rect">
              <a:avLst/>
            </a:prstGeom>
            <a:solidFill>
              <a:schemeClr val="fol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3840" name="Oval 60"/>
            <p:cNvSpPr>
              <a:spLocks noChangeArrowheads="1"/>
            </p:cNvSpPr>
            <p:nvPr/>
          </p:nvSpPr>
          <p:spPr bwMode="auto">
            <a:xfrm>
              <a:off x="1284" y="3552"/>
              <a:ext cx="240" cy="240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anchor="ctr" anchorCtr="1"/>
            <a:lstStyle>
              <a:lvl1pPr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9pPr>
            </a:lstStyle>
            <a:p>
              <a:pPr eaLnBrk="1" hangingPunct="1"/>
              <a:endParaRPr lang="en-US" altLang="en-US" sz="2000">
                <a:latin typeface="Times New Roman" pitchFamily="18" charset="0"/>
                <a:sym typeface="Symbol" pitchFamily="18" charset="2"/>
              </a:endParaRPr>
            </a:p>
          </p:txBody>
        </p:sp>
      </p:grpSp>
      <p:grpSp>
        <p:nvGrpSpPr>
          <p:cNvPr id="33817" name="Group 69"/>
          <p:cNvGrpSpPr>
            <a:grpSpLocks/>
          </p:cNvGrpSpPr>
          <p:nvPr/>
        </p:nvGrpSpPr>
        <p:grpSpPr bwMode="auto">
          <a:xfrm>
            <a:off x="3011488" y="6032500"/>
            <a:ext cx="842962" cy="242888"/>
            <a:chOff x="1104" y="3984"/>
            <a:chExt cx="600" cy="173"/>
          </a:xfrm>
        </p:grpSpPr>
        <p:sp>
          <p:nvSpPr>
            <p:cNvPr id="33831" name="Rectangle 61"/>
            <p:cNvSpPr>
              <a:spLocks noChangeAspect="1" noChangeArrowheads="1"/>
            </p:cNvSpPr>
            <p:nvPr/>
          </p:nvSpPr>
          <p:spPr bwMode="auto">
            <a:xfrm>
              <a:off x="1104" y="3984"/>
              <a:ext cx="173" cy="173"/>
            </a:xfrm>
            <a:prstGeom prst="rect">
              <a:avLst/>
            </a:prstGeom>
            <a:solidFill>
              <a:schemeClr val="fol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3832" name="Rectangle 62"/>
            <p:cNvSpPr>
              <a:spLocks noChangeAspect="1" noChangeArrowheads="1"/>
            </p:cNvSpPr>
            <p:nvPr/>
          </p:nvSpPr>
          <p:spPr bwMode="auto">
            <a:xfrm>
              <a:off x="1531" y="3984"/>
              <a:ext cx="173" cy="173"/>
            </a:xfrm>
            <a:prstGeom prst="rect">
              <a:avLst/>
            </a:prstGeom>
            <a:solidFill>
              <a:schemeClr val="fol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ahoma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ahoma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cxnSp>
        <p:nvCxnSpPr>
          <p:cNvPr id="33818" name="AutoShape 63"/>
          <p:cNvCxnSpPr>
            <a:cxnSpLocks noChangeShapeType="1"/>
            <a:stCxn id="33832" idx="0"/>
            <a:endCxn id="33840" idx="5"/>
          </p:cNvCxnSpPr>
          <p:nvPr/>
        </p:nvCxnSpPr>
        <p:spPr bwMode="auto">
          <a:xfrm flipH="1" flipV="1">
            <a:off x="3552825" y="5856288"/>
            <a:ext cx="180975" cy="166687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3819" name="AutoShape 64"/>
          <p:cNvCxnSpPr>
            <a:cxnSpLocks noChangeShapeType="1"/>
            <a:stCxn id="33831" idx="0"/>
            <a:endCxn id="33840" idx="3"/>
          </p:cNvCxnSpPr>
          <p:nvPr/>
        </p:nvCxnSpPr>
        <p:spPr bwMode="auto">
          <a:xfrm flipV="1">
            <a:off x="3133725" y="5856288"/>
            <a:ext cx="179388" cy="166687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3820" name="Text Box 77"/>
          <p:cNvSpPr txBox="1">
            <a:spLocks noChangeArrowheads="1"/>
          </p:cNvSpPr>
          <p:nvPr/>
        </p:nvSpPr>
        <p:spPr bwMode="auto">
          <a:xfrm>
            <a:off x="2027238" y="4157663"/>
            <a:ext cx="298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/>
            <a:r>
              <a:rPr lang="en-US" altLang="en-US" sz="1800">
                <a:latin typeface="Times New Roman" pitchFamily="18" charset="0"/>
              </a:rPr>
              <a:t>1</a:t>
            </a:r>
          </a:p>
        </p:txBody>
      </p:sp>
      <p:sp>
        <p:nvSpPr>
          <p:cNvPr id="33821" name="Text Box 78"/>
          <p:cNvSpPr txBox="1">
            <a:spLocks noChangeArrowheads="1"/>
          </p:cNvSpPr>
          <p:nvPr/>
        </p:nvSpPr>
        <p:spPr bwMode="auto">
          <a:xfrm>
            <a:off x="2027238" y="4618038"/>
            <a:ext cx="298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/>
            <a:r>
              <a:rPr lang="en-US" altLang="en-US" sz="1800">
                <a:latin typeface="Times New Roman" pitchFamily="18" charset="0"/>
              </a:rPr>
              <a:t>2</a:t>
            </a:r>
          </a:p>
        </p:txBody>
      </p:sp>
      <p:sp>
        <p:nvSpPr>
          <p:cNvPr id="33822" name="Text Box 79"/>
          <p:cNvSpPr txBox="1">
            <a:spLocks noChangeArrowheads="1"/>
          </p:cNvSpPr>
          <p:nvPr/>
        </p:nvSpPr>
        <p:spPr bwMode="auto">
          <a:xfrm>
            <a:off x="1905000" y="5078413"/>
            <a:ext cx="54292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/>
            <a:r>
              <a:rPr lang="en-US" altLang="en-US" sz="1800">
                <a:latin typeface="Times New Roman" pitchFamily="18" charset="0"/>
              </a:rPr>
              <a:t>2</a:t>
            </a:r>
            <a:r>
              <a:rPr lang="en-US" altLang="en-US" sz="1800" b="1" i="1" baseline="30000">
                <a:latin typeface="Times New Roman" pitchFamily="18" charset="0"/>
              </a:rPr>
              <a:t>h</a:t>
            </a:r>
            <a:r>
              <a:rPr lang="en-US" altLang="en-US" sz="1800" baseline="30000">
                <a:latin typeface="Symbol" pitchFamily="18" charset="2"/>
              </a:rPr>
              <a:t>-</a:t>
            </a:r>
            <a:r>
              <a:rPr lang="en-US" altLang="en-US" sz="1800" baseline="30000">
                <a:latin typeface="Times New Roman" pitchFamily="18" charset="0"/>
              </a:rPr>
              <a:t>2</a:t>
            </a:r>
          </a:p>
        </p:txBody>
      </p:sp>
      <p:sp>
        <p:nvSpPr>
          <p:cNvPr id="33823" name="Text Box 80"/>
          <p:cNvSpPr txBox="1">
            <a:spLocks noChangeArrowheads="1"/>
          </p:cNvSpPr>
          <p:nvPr/>
        </p:nvSpPr>
        <p:spPr bwMode="auto">
          <a:xfrm>
            <a:off x="2027238" y="5538788"/>
            <a:ext cx="298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/>
            <a:r>
              <a:rPr lang="en-US" altLang="en-US" sz="1800">
                <a:latin typeface="Times New Roman" pitchFamily="18" charset="0"/>
              </a:rPr>
              <a:t>1</a:t>
            </a:r>
          </a:p>
        </p:txBody>
      </p:sp>
      <p:sp>
        <p:nvSpPr>
          <p:cNvPr id="33824" name="Text Box 84"/>
          <p:cNvSpPr txBox="1">
            <a:spLocks noChangeArrowheads="1"/>
          </p:cNvSpPr>
          <p:nvPr/>
        </p:nvSpPr>
        <p:spPr bwMode="auto">
          <a:xfrm>
            <a:off x="1860550" y="3810000"/>
            <a:ext cx="63500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/>
            <a:r>
              <a:rPr lang="en-US" altLang="en-US" sz="1800"/>
              <a:t>keys</a:t>
            </a:r>
          </a:p>
        </p:txBody>
      </p:sp>
      <p:sp>
        <p:nvSpPr>
          <p:cNvPr id="33825" name="Text Box 87"/>
          <p:cNvSpPr txBox="1">
            <a:spLocks noChangeArrowheads="1"/>
          </p:cNvSpPr>
          <p:nvPr/>
        </p:nvSpPr>
        <p:spPr bwMode="auto">
          <a:xfrm>
            <a:off x="1298575" y="4157663"/>
            <a:ext cx="298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/>
            <a:r>
              <a:rPr lang="en-US" altLang="en-US" sz="1800">
                <a:latin typeface="Times New Roman" pitchFamily="18" charset="0"/>
              </a:rPr>
              <a:t>0</a:t>
            </a:r>
          </a:p>
        </p:txBody>
      </p:sp>
      <p:sp>
        <p:nvSpPr>
          <p:cNvPr id="33826" name="Text Box 88"/>
          <p:cNvSpPr txBox="1">
            <a:spLocks noChangeArrowheads="1"/>
          </p:cNvSpPr>
          <p:nvPr/>
        </p:nvSpPr>
        <p:spPr bwMode="auto">
          <a:xfrm>
            <a:off x="1298575" y="4618038"/>
            <a:ext cx="298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/>
            <a:r>
              <a:rPr lang="en-US" altLang="en-US" sz="1800">
                <a:latin typeface="Times New Roman" pitchFamily="18" charset="0"/>
              </a:rPr>
              <a:t>1</a:t>
            </a:r>
          </a:p>
        </p:txBody>
      </p:sp>
      <p:sp>
        <p:nvSpPr>
          <p:cNvPr id="33827" name="Text Box 89"/>
          <p:cNvSpPr txBox="1">
            <a:spLocks noChangeArrowheads="1"/>
          </p:cNvSpPr>
          <p:nvPr/>
        </p:nvSpPr>
        <p:spPr bwMode="auto">
          <a:xfrm>
            <a:off x="1173163" y="5073650"/>
            <a:ext cx="550862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/>
            <a:r>
              <a:rPr lang="en-US" altLang="en-US" sz="1800" b="1" i="1">
                <a:latin typeface="Times New Roman" pitchFamily="18" charset="0"/>
              </a:rPr>
              <a:t>h</a:t>
            </a:r>
            <a:r>
              <a:rPr lang="en-US" altLang="en-US" sz="1800">
                <a:latin typeface="Symbol" pitchFamily="18" charset="2"/>
              </a:rPr>
              <a:t>-</a:t>
            </a:r>
            <a:r>
              <a:rPr lang="en-US" altLang="en-US" sz="1800">
                <a:latin typeface="Times New Roman" pitchFamily="18" charset="0"/>
              </a:rPr>
              <a:t>2</a:t>
            </a:r>
          </a:p>
        </p:txBody>
      </p:sp>
      <p:sp>
        <p:nvSpPr>
          <p:cNvPr id="33828" name="Text Box 90"/>
          <p:cNvSpPr txBox="1">
            <a:spLocks noChangeArrowheads="1"/>
          </p:cNvSpPr>
          <p:nvPr/>
        </p:nvSpPr>
        <p:spPr bwMode="auto">
          <a:xfrm>
            <a:off x="1173163" y="5534025"/>
            <a:ext cx="550862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/>
            <a:r>
              <a:rPr lang="en-US" altLang="en-US" sz="1800" b="1" i="1">
                <a:latin typeface="Times New Roman" pitchFamily="18" charset="0"/>
              </a:rPr>
              <a:t>h</a:t>
            </a:r>
            <a:r>
              <a:rPr lang="en-US" altLang="en-US" sz="1800">
                <a:latin typeface="Symbol" pitchFamily="18" charset="2"/>
              </a:rPr>
              <a:t>-</a:t>
            </a:r>
            <a:r>
              <a:rPr lang="en-US" altLang="en-US" sz="1800">
                <a:latin typeface="Times New Roman" pitchFamily="18" charset="0"/>
              </a:rPr>
              <a:t>1</a:t>
            </a:r>
          </a:p>
        </p:txBody>
      </p:sp>
      <p:sp>
        <p:nvSpPr>
          <p:cNvPr id="33829" name="Text Box 91"/>
          <p:cNvSpPr txBox="1">
            <a:spLocks noChangeArrowheads="1"/>
          </p:cNvSpPr>
          <p:nvPr/>
        </p:nvSpPr>
        <p:spPr bwMode="auto">
          <a:xfrm>
            <a:off x="1066800" y="3810000"/>
            <a:ext cx="76200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/>
            <a:r>
              <a:rPr lang="en-US" altLang="en-US" sz="1800"/>
              <a:t>depth</a:t>
            </a:r>
          </a:p>
        </p:txBody>
      </p:sp>
    </p:spTree>
    <p:extLst>
      <p:ext uri="{BB962C8B-B14F-4D97-AF65-F5344CB8AC3E}">
        <p14:creationId xmlns:p14="http://schemas.microsoft.com/office/powerpoint/2010/main" val="537731461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11AB7E86-9B5C-4876-98C4-BED6682B7193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20</a:t>
            </a:fld>
            <a:endParaRPr lang="en-US" altLang="en-US" sz="1400"/>
          </a:p>
        </p:txBody>
      </p:sp>
      <p:sp>
        <p:nvSpPr>
          <p:cNvPr id="2355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Comparing Operations</a:t>
            </a:r>
          </a:p>
        </p:txBody>
      </p:sp>
      <p:sp>
        <p:nvSpPr>
          <p:cNvPr id="2355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371599"/>
            <a:ext cx="8229600" cy="4873626"/>
          </a:xfrm>
        </p:spPr>
        <p:txBody>
          <a:bodyPr/>
          <a:lstStyle/>
          <a:p>
            <a:pPr eaLnBrk="1" hangingPunct="1">
              <a:spcBef>
                <a:spcPts val="600"/>
              </a:spcBef>
            </a:pPr>
            <a:r>
              <a:rPr lang="en-US" altLang="en-US" sz="2800" dirty="0"/>
              <a:t>Which is better, heap or sorted array?</a:t>
            </a:r>
          </a:p>
          <a:p>
            <a:pPr eaLnBrk="1" hangingPunct="1">
              <a:spcBef>
                <a:spcPts val="600"/>
              </a:spcBef>
            </a:pPr>
            <a:r>
              <a:rPr lang="en-US" altLang="en-US" sz="2800" dirty="0"/>
              <a:t>We often eliminate a data structure that has a high time complexity in a commonly used operation, even if the other operations have very low time complexities.</a:t>
            </a:r>
          </a:p>
          <a:p>
            <a:pPr eaLnBrk="1" hangingPunct="1">
              <a:spcBef>
                <a:spcPts val="600"/>
              </a:spcBef>
            </a:pPr>
            <a:r>
              <a:rPr lang="en-US" altLang="en-US" sz="2800" dirty="0"/>
              <a:t>In the </a:t>
            </a:r>
            <a:r>
              <a:rPr lang="en-US" altLang="en-US" sz="2800" u="sng" dirty="0"/>
              <a:t>array</a:t>
            </a:r>
            <a:r>
              <a:rPr lang="en-US" altLang="en-US" sz="2800" dirty="0"/>
              <a:t>, on average, an </a:t>
            </a:r>
            <a:r>
              <a:rPr lang="en-US" altLang="en-US" sz="2800" dirty="0" err="1"/>
              <a:t>enqueue-dequeue</a:t>
            </a:r>
            <a:r>
              <a:rPr lang="en-US" altLang="en-US" sz="2800" dirty="0"/>
              <a:t> pair of operations takes </a:t>
            </a:r>
            <a:r>
              <a:rPr lang="en-US" altLang="en-US" sz="2800" dirty="0">
                <a:sym typeface="Symbol" panose="05050102010706020507" pitchFamily="18" charset="2"/>
              </a:rPr>
              <a:t>( n ) + ( 1 ) time, but ( 1 ) is absorbed into ( n ), leaving us with an </a:t>
            </a:r>
            <a:r>
              <a:rPr lang="en-US" altLang="en-US" sz="2800" u="sng" dirty="0">
                <a:sym typeface="Symbol" panose="05050102010706020507" pitchFamily="18" charset="2"/>
              </a:rPr>
              <a:t>overall time complexity</a:t>
            </a:r>
            <a:r>
              <a:rPr lang="en-US" altLang="en-US" sz="2800" dirty="0">
                <a:sym typeface="Symbol" panose="05050102010706020507" pitchFamily="18" charset="2"/>
              </a:rPr>
              <a:t> of </a:t>
            </a:r>
            <a:r>
              <a:rPr lang="en-US" altLang="en-US" sz="2800" u="sng" dirty="0">
                <a:sym typeface="Symbol" panose="05050102010706020507" pitchFamily="18" charset="2"/>
              </a:rPr>
              <a:t>( n )</a:t>
            </a:r>
            <a:r>
              <a:rPr lang="en-US" altLang="en-US" sz="2800" dirty="0">
                <a:sym typeface="Symbol" panose="05050102010706020507" pitchFamily="18" charset="2"/>
              </a:rPr>
              <a:t> per pair of operations.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AF3FCF12-065C-49C4-90E4-763F2634FAC0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21</a:t>
            </a:fld>
            <a:endParaRPr lang="en-US" altLang="en-US" sz="1400"/>
          </a:p>
        </p:txBody>
      </p:sp>
      <p:sp>
        <p:nvSpPr>
          <p:cNvPr id="24579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4000" dirty="0"/>
              <a:t>Comparing Operations (cont.)</a:t>
            </a:r>
          </a:p>
        </p:txBody>
      </p:sp>
      <p:sp>
        <p:nvSpPr>
          <p:cNvPr id="2458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600200"/>
            <a:ext cx="8229600" cy="4645025"/>
          </a:xfrm>
        </p:spPr>
        <p:txBody>
          <a:bodyPr/>
          <a:lstStyle/>
          <a:p>
            <a:pPr eaLnBrk="1" hangingPunct="1">
              <a:spcBef>
                <a:spcPts val="600"/>
              </a:spcBef>
            </a:pPr>
            <a:r>
              <a:rPr lang="en-US" altLang="en-US" sz="2800" dirty="0"/>
              <a:t>In the </a:t>
            </a:r>
            <a:r>
              <a:rPr lang="en-US" altLang="en-US" sz="2800" u="sng" dirty="0"/>
              <a:t>heap</a:t>
            </a:r>
            <a:r>
              <a:rPr lang="en-US" altLang="en-US" sz="2800" dirty="0"/>
              <a:t>, each </a:t>
            </a:r>
            <a:r>
              <a:rPr lang="en-US" altLang="en-US" sz="2800" dirty="0" err="1"/>
              <a:t>enqueue-dequeue</a:t>
            </a:r>
            <a:r>
              <a:rPr lang="en-US" altLang="en-US" sz="2800" dirty="0"/>
              <a:t> pair of operations takes O( </a:t>
            </a:r>
            <a:r>
              <a:rPr lang="en-US" altLang="en-US" sz="2800" dirty="0" err="1"/>
              <a:t>lg</a:t>
            </a:r>
            <a:r>
              <a:rPr lang="en-US" altLang="en-US" sz="2800" dirty="0"/>
              <a:t> n ) + O( </a:t>
            </a:r>
            <a:r>
              <a:rPr lang="en-US" altLang="en-US" sz="2800" dirty="0" err="1"/>
              <a:t>lg</a:t>
            </a:r>
            <a:r>
              <a:rPr lang="en-US" altLang="en-US" sz="2800" dirty="0"/>
              <a:t> n ) time, giving us an </a:t>
            </a:r>
            <a:r>
              <a:rPr lang="en-US" altLang="en-US" sz="2800" u="sng" dirty="0"/>
              <a:t>overall time complexity</a:t>
            </a:r>
            <a:r>
              <a:rPr lang="en-US" altLang="en-US" sz="2800" dirty="0"/>
              <a:t> of </a:t>
            </a:r>
            <a:r>
              <a:rPr lang="en-US" altLang="en-US" sz="2800" u="sng" dirty="0"/>
              <a:t>O( </a:t>
            </a:r>
            <a:r>
              <a:rPr lang="en-US" altLang="en-US" sz="2800" u="sng" dirty="0" err="1"/>
              <a:t>lg</a:t>
            </a:r>
            <a:r>
              <a:rPr lang="en-US" altLang="en-US" sz="2800" u="sng" dirty="0"/>
              <a:t> n )</a:t>
            </a:r>
            <a:r>
              <a:rPr lang="en-US" altLang="en-US" sz="2800" dirty="0"/>
              <a:t> per pair of operations.</a:t>
            </a:r>
          </a:p>
          <a:p>
            <a:pPr eaLnBrk="1" hangingPunct="1">
              <a:spcBef>
                <a:spcPts val="600"/>
              </a:spcBef>
            </a:pPr>
            <a:r>
              <a:rPr lang="en-US" altLang="en-US" sz="2800" dirty="0"/>
              <a:t>The </a:t>
            </a:r>
            <a:r>
              <a:rPr lang="en-US" altLang="en-US" sz="2800" u="sng" dirty="0"/>
              <a:t>heap is usually better</a:t>
            </a:r>
            <a:r>
              <a:rPr lang="en-US" altLang="en-US" sz="2800" dirty="0"/>
              <a:t>. </a:t>
            </a:r>
          </a:p>
          <a:p>
            <a:pPr eaLnBrk="1" hangingPunct="1">
              <a:spcBef>
                <a:spcPts val="600"/>
              </a:spcBef>
            </a:pPr>
            <a:r>
              <a:rPr lang="en-US" altLang="en-US" sz="2800" dirty="0"/>
              <a:t>Array can be good if the elements are supplied in sorted manner, then </a:t>
            </a:r>
            <a:r>
              <a:rPr lang="en-US" altLang="en-US" sz="2800" u="sng" dirty="0"/>
              <a:t>only dequeue</a:t>
            </a:r>
            <a:r>
              <a:rPr lang="en-US" altLang="en-US" sz="2800" dirty="0"/>
              <a:t> operations are performed (</a:t>
            </a:r>
            <a:r>
              <a:rPr lang="en-US" altLang="en-US" sz="2800" u="sng" dirty="0"/>
              <a:t>no enqueue</a:t>
            </a:r>
            <a:r>
              <a:rPr lang="en-US" altLang="en-US" sz="2800" dirty="0"/>
              <a:t> operations).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A0BB0F4F-1BF9-4082-9705-3435D3D4DC79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22</a:t>
            </a:fld>
            <a:endParaRPr lang="en-US" altLang="en-US" sz="1400"/>
          </a:p>
        </p:txBody>
      </p:sp>
      <p:sp>
        <p:nvSpPr>
          <p:cNvPr id="25603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Heaps</a:t>
            </a:r>
          </a:p>
        </p:txBody>
      </p:sp>
      <p:sp>
        <p:nvSpPr>
          <p:cNvPr id="25604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en-US" altLang="en-US" sz="2800" dirty="0"/>
              <a:t>A </a:t>
            </a:r>
            <a:r>
              <a:rPr lang="en-US" altLang="en-US" sz="2800" b="1" i="1" dirty="0">
                <a:solidFill>
                  <a:srgbClr val="0000FF"/>
                </a:solidFill>
              </a:rPr>
              <a:t>heap</a:t>
            </a:r>
            <a:r>
              <a:rPr lang="en-US" altLang="en-US" sz="2800" dirty="0">
                <a:solidFill>
                  <a:srgbClr val="0000FF"/>
                </a:solidFill>
              </a:rPr>
              <a:t> </a:t>
            </a:r>
            <a:r>
              <a:rPr lang="en-US" altLang="en-US" sz="2800" dirty="0"/>
              <a:t>is a </a:t>
            </a:r>
            <a:r>
              <a:rPr lang="en-US" altLang="en-US" sz="2800" u="sng" dirty="0"/>
              <a:t>complete binary tree</a:t>
            </a:r>
            <a:r>
              <a:rPr lang="en-US" altLang="en-US" sz="2800" dirty="0"/>
              <a:t> in which the value of each node is </a:t>
            </a:r>
            <a:r>
              <a:rPr lang="en-US" altLang="en-US" sz="2800" u="sng" dirty="0"/>
              <a:t>greater than or equal to the values of its children</a:t>
            </a:r>
            <a:r>
              <a:rPr lang="en-US" altLang="en-US" sz="2800" dirty="0"/>
              <a:t> (if any).</a:t>
            </a:r>
          </a:p>
          <a:p>
            <a:pPr lvl="1" eaLnBrk="1" hangingPunct="1"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US" altLang="en-US" sz="2400" dirty="0">
                <a:highlight>
                  <a:srgbClr val="FFFF00"/>
                </a:highlight>
              </a:rPr>
              <a:t>Parent &gt;= Children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sz="2800" dirty="0"/>
              <a:t>Technically, this is called a </a:t>
            </a:r>
            <a:r>
              <a:rPr lang="en-US" altLang="en-US" sz="2800" b="1" i="1" dirty="0" err="1">
                <a:solidFill>
                  <a:srgbClr val="0000FF"/>
                </a:solidFill>
              </a:rPr>
              <a:t>maxheap</a:t>
            </a:r>
            <a:r>
              <a:rPr lang="en-US" altLang="en-US" sz="2800" dirty="0"/>
              <a:t>.</a:t>
            </a:r>
            <a:endParaRPr lang="en-US" altLang="en-US" sz="2800" dirty="0">
              <a:solidFill>
                <a:srgbClr val="0000FF"/>
              </a:solidFill>
            </a:endParaRPr>
          </a:p>
          <a:p>
            <a:pPr eaLnBrk="1" hangingPunct="1">
              <a:lnSpc>
                <a:spcPct val="90000"/>
              </a:lnSpc>
            </a:pPr>
            <a:r>
              <a:rPr lang="en-US" altLang="en-US" sz="2800" dirty="0"/>
              <a:t>In a </a:t>
            </a:r>
            <a:r>
              <a:rPr lang="en-US" altLang="en-US" sz="2800" b="1" i="1" dirty="0" err="1">
                <a:solidFill>
                  <a:srgbClr val="0000FF"/>
                </a:solidFill>
              </a:rPr>
              <a:t>minheap</a:t>
            </a:r>
            <a:r>
              <a:rPr lang="en-US" altLang="en-US" sz="2800" dirty="0"/>
              <a:t>, the value of each node is less than or equal to the values of its children.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sz="2800" dirty="0"/>
              <a:t>A </a:t>
            </a:r>
            <a:r>
              <a:rPr lang="en-US" altLang="en-US" sz="2800" dirty="0" err="1"/>
              <a:t>maxheap</a:t>
            </a:r>
            <a:r>
              <a:rPr lang="en-US" altLang="en-US" sz="2800" dirty="0"/>
              <a:t> can be easily modified to make a </a:t>
            </a:r>
            <a:r>
              <a:rPr lang="en-US" altLang="en-US" sz="2800" dirty="0" err="1"/>
              <a:t>minheap</a:t>
            </a:r>
            <a:r>
              <a:rPr lang="en-US" altLang="en-US" sz="2800" dirty="0"/>
              <a:t>.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sz="2800" dirty="0"/>
              <a:t>In our discussion, the word “heap” will refer to a </a:t>
            </a:r>
            <a:r>
              <a:rPr lang="en-US" altLang="en-US" sz="2800" dirty="0" err="1"/>
              <a:t>maxheap</a:t>
            </a:r>
            <a:r>
              <a:rPr lang="en-US" altLang="en-US" sz="2800" dirty="0"/>
              <a:t>.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96E2BD79-F71B-4A59-B8A8-9DA45E6D4B7B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23</a:t>
            </a:fld>
            <a:endParaRPr lang="en-US" altLang="en-US" sz="1400"/>
          </a:p>
        </p:txBody>
      </p:sp>
      <p:sp>
        <p:nvSpPr>
          <p:cNvPr id="26627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Example of a Heap</a:t>
            </a:r>
          </a:p>
        </p:txBody>
      </p:sp>
      <p:sp>
        <p:nvSpPr>
          <p:cNvPr id="26628" name="Oval 4"/>
          <p:cNvSpPr>
            <a:spLocks noChangeArrowheads="1"/>
          </p:cNvSpPr>
          <p:nvPr/>
        </p:nvSpPr>
        <p:spPr bwMode="auto">
          <a:xfrm>
            <a:off x="2395538" y="27717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6629" name="Text Box 5"/>
          <p:cNvSpPr txBox="1">
            <a:spLocks noChangeArrowheads="1"/>
          </p:cNvSpPr>
          <p:nvPr/>
        </p:nvSpPr>
        <p:spPr bwMode="auto">
          <a:xfrm>
            <a:off x="2336800" y="28908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26630" name="Oval 6"/>
          <p:cNvSpPr>
            <a:spLocks noChangeArrowheads="1"/>
          </p:cNvSpPr>
          <p:nvPr/>
        </p:nvSpPr>
        <p:spPr bwMode="auto">
          <a:xfrm>
            <a:off x="1370013" y="399732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6631" name="Text Box 7"/>
          <p:cNvSpPr txBox="1">
            <a:spLocks noChangeArrowheads="1"/>
          </p:cNvSpPr>
          <p:nvPr/>
        </p:nvSpPr>
        <p:spPr bwMode="auto">
          <a:xfrm>
            <a:off x="1311275" y="411480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26632" name="Oval 8"/>
          <p:cNvSpPr>
            <a:spLocks noChangeArrowheads="1"/>
          </p:cNvSpPr>
          <p:nvPr/>
        </p:nvSpPr>
        <p:spPr bwMode="auto">
          <a:xfrm>
            <a:off x="685800" y="52228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6633" name="Text Box 9"/>
          <p:cNvSpPr txBox="1">
            <a:spLocks noChangeArrowheads="1"/>
          </p:cNvSpPr>
          <p:nvPr/>
        </p:nvSpPr>
        <p:spPr bwMode="auto">
          <a:xfrm>
            <a:off x="627063" y="534035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26634" name="Oval 10"/>
          <p:cNvSpPr>
            <a:spLocks noChangeArrowheads="1"/>
          </p:cNvSpPr>
          <p:nvPr/>
        </p:nvSpPr>
        <p:spPr bwMode="auto">
          <a:xfrm>
            <a:off x="1711325" y="52212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6635" name="Text Box 11"/>
          <p:cNvSpPr txBox="1">
            <a:spLocks noChangeArrowheads="1"/>
          </p:cNvSpPr>
          <p:nvPr/>
        </p:nvSpPr>
        <p:spPr bwMode="auto">
          <a:xfrm>
            <a:off x="1652588" y="534035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26636" name="Line 12"/>
          <p:cNvSpPr>
            <a:spLocks noChangeShapeType="1"/>
          </p:cNvSpPr>
          <p:nvPr/>
        </p:nvSpPr>
        <p:spPr bwMode="auto">
          <a:xfrm flipH="1">
            <a:off x="1198563" y="46974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6637" name="Line 13"/>
          <p:cNvSpPr>
            <a:spLocks noChangeShapeType="1"/>
          </p:cNvSpPr>
          <p:nvPr/>
        </p:nvSpPr>
        <p:spPr bwMode="auto">
          <a:xfrm>
            <a:off x="1711325" y="46974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6638" name="Oval 14"/>
          <p:cNvSpPr>
            <a:spLocks noChangeArrowheads="1"/>
          </p:cNvSpPr>
          <p:nvPr/>
        </p:nvSpPr>
        <p:spPr bwMode="auto">
          <a:xfrm>
            <a:off x="4448175" y="15462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6639" name="Text Box 15"/>
          <p:cNvSpPr txBox="1">
            <a:spLocks noChangeArrowheads="1"/>
          </p:cNvSpPr>
          <p:nvPr/>
        </p:nvSpPr>
        <p:spPr bwMode="auto">
          <a:xfrm>
            <a:off x="4389438" y="166528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46</a:t>
            </a:r>
            <a:endParaRPr lang="en-US" altLang="en-US" sz="2400"/>
          </a:p>
        </p:txBody>
      </p:sp>
      <p:sp>
        <p:nvSpPr>
          <p:cNvPr id="26640" name="Line 16"/>
          <p:cNvSpPr>
            <a:spLocks noChangeShapeType="1"/>
          </p:cNvSpPr>
          <p:nvPr/>
        </p:nvSpPr>
        <p:spPr bwMode="auto">
          <a:xfrm>
            <a:off x="2909888" y="172243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6641" name="Oval 17"/>
          <p:cNvSpPr>
            <a:spLocks noChangeArrowheads="1"/>
          </p:cNvSpPr>
          <p:nvPr/>
        </p:nvSpPr>
        <p:spPr bwMode="auto">
          <a:xfrm>
            <a:off x="3422650" y="39973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6642" name="Line 19"/>
          <p:cNvSpPr>
            <a:spLocks noChangeShapeType="1"/>
          </p:cNvSpPr>
          <p:nvPr/>
        </p:nvSpPr>
        <p:spPr bwMode="auto">
          <a:xfrm flipH="1">
            <a:off x="1882775" y="34718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6643" name="Line 20"/>
          <p:cNvSpPr>
            <a:spLocks noChangeShapeType="1"/>
          </p:cNvSpPr>
          <p:nvPr/>
        </p:nvSpPr>
        <p:spPr bwMode="auto">
          <a:xfrm>
            <a:off x="2909888" y="347186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6644" name="Oval 21"/>
          <p:cNvSpPr>
            <a:spLocks noChangeArrowheads="1"/>
          </p:cNvSpPr>
          <p:nvPr/>
        </p:nvSpPr>
        <p:spPr bwMode="auto">
          <a:xfrm>
            <a:off x="6500813" y="27717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6645" name="Text Box 22"/>
          <p:cNvSpPr txBox="1">
            <a:spLocks noChangeArrowheads="1"/>
          </p:cNvSpPr>
          <p:nvPr/>
        </p:nvSpPr>
        <p:spPr bwMode="auto">
          <a:xfrm>
            <a:off x="6442075" y="28908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26646" name="Oval 23"/>
          <p:cNvSpPr>
            <a:spLocks noChangeArrowheads="1"/>
          </p:cNvSpPr>
          <p:nvPr/>
        </p:nvSpPr>
        <p:spPr bwMode="auto">
          <a:xfrm>
            <a:off x="5475288" y="399732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6647" name="Oval 25"/>
          <p:cNvSpPr>
            <a:spLocks noChangeArrowheads="1"/>
          </p:cNvSpPr>
          <p:nvPr/>
        </p:nvSpPr>
        <p:spPr bwMode="auto">
          <a:xfrm>
            <a:off x="7526338" y="39973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6648" name="Text Box 26"/>
          <p:cNvSpPr txBox="1">
            <a:spLocks noChangeArrowheads="1"/>
          </p:cNvSpPr>
          <p:nvPr/>
        </p:nvSpPr>
        <p:spPr bwMode="auto">
          <a:xfrm>
            <a:off x="7467600" y="41148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26649" name="Line 27"/>
          <p:cNvSpPr>
            <a:spLocks noChangeShapeType="1"/>
          </p:cNvSpPr>
          <p:nvPr/>
        </p:nvSpPr>
        <p:spPr bwMode="auto">
          <a:xfrm flipH="1">
            <a:off x="5988050" y="34718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6650" name="Line 28"/>
          <p:cNvSpPr>
            <a:spLocks noChangeShapeType="1"/>
          </p:cNvSpPr>
          <p:nvPr/>
        </p:nvSpPr>
        <p:spPr bwMode="auto">
          <a:xfrm>
            <a:off x="7013575" y="34718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6651" name="Line 29"/>
          <p:cNvSpPr>
            <a:spLocks noChangeShapeType="1"/>
          </p:cNvSpPr>
          <p:nvPr/>
        </p:nvSpPr>
        <p:spPr bwMode="auto">
          <a:xfrm flipH="1">
            <a:off x="3079750" y="207168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6652" name="Line 30"/>
          <p:cNvSpPr>
            <a:spLocks noChangeShapeType="1"/>
          </p:cNvSpPr>
          <p:nvPr/>
        </p:nvSpPr>
        <p:spPr bwMode="auto">
          <a:xfrm>
            <a:off x="5132388" y="207168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6653" name="Text Box 31"/>
          <p:cNvSpPr txBox="1">
            <a:spLocks noChangeArrowheads="1"/>
          </p:cNvSpPr>
          <p:nvPr/>
        </p:nvSpPr>
        <p:spPr bwMode="auto">
          <a:xfrm>
            <a:off x="1939925" y="137160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26654" name="Oval 32"/>
          <p:cNvSpPr>
            <a:spLocks noChangeArrowheads="1"/>
          </p:cNvSpPr>
          <p:nvPr/>
        </p:nvSpPr>
        <p:spPr bwMode="auto">
          <a:xfrm>
            <a:off x="3422650" y="399573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6655" name="Text Box 33"/>
          <p:cNvSpPr txBox="1">
            <a:spLocks noChangeArrowheads="1"/>
          </p:cNvSpPr>
          <p:nvPr/>
        </p:nvSpPr>
        <p:spPr bwMode="auto">
          <a:xfrm>
            <a:off x="3370263" y="413385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26656" name="Oval 34"/>
          <p:cNvSpPr>
            <a:spLocks noChangeArrowheads="1"/>
          </p:cNvSpPr>
          <p:nvPr/>
        </p:nvSpPr>
        <p:spPr bwMode="auto">
          <a:xfrm>
            <a:off x="2738438" y="52212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6657" name="Text Box 35"/>
          <p:cNvSpPr txBox="1">
            <a:spLocks noChangeArrowheads="1"/>
          </p:cNvSpPr>
          <p:nvPr/>
        </p:nvSpPr>
        <p:spPr bwMode="auto">
          <a:xfrm>
            <a:off x="2679700" y="533558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26658" name="Line 38"/>
          <p:cNvSpPr>
            <a:spLocks noChangeShapeType="1"/>
          </p:cNvSpPr>
          <p:nvPr/>
        </p:nvSpPr>
        <p:spPr bwMode="auto">
          <a:xfrm flipH="1">
            <a:off x="3251200" y="469582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6659" name="Oval 40"/>
          <p:cNvSpPr>
            <a:spLocks noChangeArrowheads="1"/>
          </p:cNvSpPr>
          <p:nvPr/>
        </p:nvSpPr>
        <p:spPr bwMode="auto">
          <a:xfrm>
            <a:off x="5475288" y="399573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6660" name="Text Box 41"/>
          <p:cNvSpPr txBox="1">
            <a:spLocks noChangeArrowheads="1"/>
          </p:cNvSpPr>
          <p:nvPr/>
        </p:nvSpPr>
        <p:spPr bwMode="auto">
          <a:xfrm>
            <a:off x="5427663" y="413385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26661" name="Text Box 48"/>
          <p:cNvSpPr txBox="1">
            <a:spLocks noChangeArrowheads="1"/>
          </p:cNvSpPr>
          <p:nvPr/>
        </p:nvSpPr>
        <p:spPr bwMode="auto">
          <a:xfrm>
            <a:off x="3886200" y="4953000"/>
            <a:ext cx="50292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Only the data member is shown that we want to prioritize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6FA46A64-930F-47EF-A0FF-9C33E43A8E98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24</a:t>
            </a:fld>
            <a:endParaRPr lang="en-US" altLang="en-US" sz="1400"/>
          </a:p>
        </p:txBody>
      </p:sp>
      <p:sp>
        <p:nvSpPr>
          <p:cNvPr id="27651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4000" dirty="0"/>
              <a:t>Example of a Heap (cont.)</a:t>
            </a:r>
          </a:p>
        </p:txBody>
      </p:sp>
      <p:sp>
        <p:nvSpPr>
          <p:cNvPr id="27652" name="Oval 3"/>
          <p:cNvSpPr>
            <a:spLocks noChangeArrowheads="1"/>
          </p:cNvSpPr>
          <p:nvPr/>
        </p:nvSpPr>
        <p:spPr bwMode="auto">
          <a:xfrm>
            <a:off x="2395538" y="26955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7653" name="Text Box 4"/>
          <p:cNvSpPr txBox="1">
            <a:spLocks noChangeArrowheads="1"/>
          </p:cNvSpPr>
          <p:nvPr/>
        </p:nvSpPr>
        <p:spPr bwMode="auto">
          <a:xfrm>
            <a:off x="2336800" y="28146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27654" name="Oval 5"/>
          <p:cNvSpPr>
            <a:spLocks noChangeArrowheads="1"/>
          </p:cNvSpPr>
          <p:nvPr/>
        </p:nvSpPr>
        <p:spPr bwMode="auto">
          <a:xfrm>
            <a:off x="1370013" y="392112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7655" name="Text Box 6"/>
          <p:cNvSpPr txBox="1">
            <a:spLocks noChangeArrowheads="1"/>
          </p:cNvSpPr>
          <p:nvPr/>
        </p:nvSpPr>
        <p:spPr bwMode="auto">
          <a:xfrm>
            <a:off x="1311275" y="403860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27656" name="Oval 7"/>
          <p:cNvSpPr>
            <a:spLocks noChangeArrowheads="1"/>
          </p:cNvSpPr>
          <p:nvPr/>
        </p:nvSpPr>
        <p:spPr bwMode="auto">
          <a:xfrm>
            <a:off x="685800" y="51466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7657" name="Text Box 8"/>
          <p:cNvSpPr txBox="1">
            <a:spLocks noChangeArrowheads="1"/>
          </p:cNvSpPr>
          <p:nvPr/>
        </p:nvSpPr>
        <p:spPr bwMode="auto">
          <a:xfrm>
            <a:off x="627063" y="526415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27658" name="Oval 9"/>
          <p:cNvSpPr>
            <a:spLocks noChangeArrowheads="1"/>
          </p:cNvSpPr>
          <p:nvPr/>
        </p:nvSpPr>
        <p:spPr bwMode="auto">
          <a:xfrm>
            <a:off x="1711325" y="51450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7659" name="Text Box 10"/>
          <p:cNvSpPr txBox="1">
            <a:spLocks noChangeArrowheads="1"/>
          </p:cNvSpPr>
          <p:nvPr/>
        </p:nvSpPr>
        <p:spPr bwMode="auto">
          <a:xfrm>
            <a:off x="1652588" y="526415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27660" name="Line 11"/>
          <p:cNvSpPr>
            <a:spLocks noChangeShapeType="1"/>
          </p:cNvSpPr>
          <p:nvPr/>
        </p:nvSpPr>
        <p:spPr bwMode="auto">
          <a:xfrm flipH="1">
            <a:off x="1198563" y="46212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7661" name="Line 12"/>
          <p:cNvSpPr>
            <a:spLocks noChangeShapeType="1"/>
          </p:cNvSpPr>
          <p:nvPr/>
        </p:nvSpPr>
        <p:spPr bwMode="auto">
          <a:xfrm>
            <a:off x="1711325" y="46212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7662" name="Oval 13"/>
          <p:cNvSpPr>
            <a:spLocks noChangeArrowheads="1"/>
          </p:cNvSpPr>
          <p:nvPr/>
        </p:nvSpPr>
        <p:spPr bwMode="auto">
          <a:xfrm>
            <a:off x="4448175" y="14700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7663" name="Text Box 14"/>
          <p:cNvSpPr txBox="1">
            <a:spLocks noChangeArrowheads="1"/>
          </p:cNvSpPr>
          <p:nvPr/>
        </p:nvSpPr>
        <p:spPr bwMode="auto">
          <a:xfrm>
            <a:off x="4389438" y="158908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46</a:t>
            </a:r>
            <a:endParaRPr lang="en-US" altLang="en-US" sz="2400"/>
          </a:p>
        </p:txBody>
      </p:sp>
      <p:sp>
        <p:nvSpPr>
          <p:cNvPr id="27664" name="Line 15"/>
          <p:cNvSpPr>
            <a:spLocks noChangeShapeType="1"/>
          </p:cNvSpPr>
          <p:nvPr/>
        </p:nvSpPr>
        <p:spPr bwMode="auto">
          <a:xfrm>
            <a:off x="2909888" y="164623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7665" name="Oval 16"/>
          <p:cNvSpPr>
            <a:spLocks noChangeArrowheads="1"/>
          </p:cNvSpPr>
          <p:nvPr/>
        </p:nvSpPr>
        <p:spPr bwMode="auto">
          <a:xfrm>
            <a:off x="3422650" y="39211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7666" name="Line 17"/>
          <p:cNvSpPr>
            <a:spLocks noChangeShapeType="1"/>
          </p:cNvSpPr>
          <p:nvPr/>
        </p:nvSpPr>
        <p:spPr bwMode="auto">
          <a:xfrm flipH="1">
            <a:off x="1882775" y="33956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7667" name="Line 18"/>
          <p:cNvSpPr>
            <a:spLocks noChangeShapeType="1"/>
          </p:cNvSpPr>
          <p:nvPr/>
        </p:nvSpPr>
        <p:spPr bwMode="auto">
          <a:xfrm>
            <a:off x="2909888" y="339566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7668" name="Oval 19"/>
          <p:cNvSpPr>
            <a:spLocks noChangeArrowheads="1"/>
          </p:cNvSpPr>
          <p:nvPr/>
        </p:nvSpPr>
        <p:spPr bwMode="auto">
          <a:xfrm>
            <a:off x="6500813" y="26955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7669" name="Text Box 20"/>
          <p:cNvSpPr txBox="1">
            <a:spLocks noChangeArrowheads="1"/>
          </p:cNvSpPr>
          <p:nvPr/>
        </p:nvSpPr>
        <p:spPr bwMode="auto">
          <a:xfrm>
            <a:off x="6442075" y="28146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27670" name="Oval 21"/>
          <p:cNvSpPr>
            <a:spLocks noChangeArrowheads="1"/>
          </p:cNvSpPr>
          <p:nvPr/>
        </p:nvSpPr>
        <p:spPr bwMode="auto">
          <a:xfrm>
            <a:off x="5475288" y="392112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7671" name="Oval 22"/>
          <p:cNvSpPr>
            <a:spLocks noChangeArrowheads="1"/>
          </p:cNvSpPr>
          <p:nvPr/>
        </p:nvSpPr>
        <p:spPr bwMode="auto">
          <a:xfrm>
            <a:off x="7526338" y="39211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7672" name="Text Box 23"/>
          <p:cNvSpPr txBox="1">
            <a:spLocks noChangeArrowheads="1"/>
          </p:cNvSpPr>
          <p:nvPr/>
        </p:nvSpPr>
        <p:spPr bwMode="auto">
          <a:xfrm>
            <a:off x="7467600" y="40386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27673" name="Line 24"/>
          <p:cNvSpPr>
            <a:spLocks noChangeShapeType="1"/>
          </p:cNvSpPr>
          <p:nvPr/>
        </p:nvSpPr>
        <p:spPr bwMode="auto">
          <a:xfrm flipH="1">
            <a:off x="5988050" y="33956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7674" name="Line 25"/>
          <p:cNvSpPr>
            <a:spLocks noChangeShapeType="1"/>
          </p:cNvSpPr>
          <p:nvPr/>
        </p:nvSpPr>
        <p:spPr bwMode="auto">
          <a:xfrm>
            <a:off x="7013575" y="33956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7675" name="Line 26"/>
          <p:cNvSpPr>
            <a:spLocks noChangeShapeType="1"/>
          </p:cNvSpPr>
          <p:nvPr/>
        </p:nvSpPr>
        <p:spPr bwMode="auto">
          <a:xfrm flipH="1">
            <a:off x="3079750" y="199548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7676" name="Line 27"/>
          <p:cNvSpPr>
            <a:spLocks noChangeShapeType="1"/>
          </p:cNvSpPr>
          <p:nvPr/>
        </p:nvSpPr>
        <p:spPr bwMode="auto">
          <a:xfrm>
            <a:off x="5132388" y="199548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7677" name="Text Box 28"/>
          <p:cNvSpPr txBox="1">
            <a:spLocks noChangeArrowheads="1"/>
          </p:cNvSpPr>
          <p:nvPr/>
        </p:nvSpPr>
        <p:spPr bwMode="auto">
          <a:xfrm>
            <a:off x="1939925" y="129540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27678" name="Oval 29"/>
          <p:cNvSpPr>
            <a:spLocks noChangeArrowheads="1"/>
          </p:cNvSpPr>
          <p:nvPr/>
        </p:nvSpPr>
        <p:spPr bwMode="auto">
          <a:xfrm>
            <a:off x="3422650" y="391953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7679" name="Text Box 30"/>
          <p:cNvSpPr txBox="1">
            <a:spLocks noChangeArrowheads="1"/>
          </p:cNvSpPr>
          <p:nvPr/>
        </p:nvSpPr>
        <p:spPr bwMode="auto">
          <a:xfrm>
            <a:off x="3370263" y="405765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27680" name="Oval 31"/>
          <p:cNvSpPr>
            <a:spLocks noChangeArrowheads="1"/>
          </p:cNvSpPr>
          <p:nvPr/>
        </p:nvSpPr>
        <p:spPr bwMode="auto">
          <a:xfrm>
            <a:off x="2738438" y="51450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7681" name="Text Box 32"/>
          <p:cNvSpPr txBox="1">
            <a:spLocks noChangeArrowheads="1"/>
          </p:cNvSpPr>
          <p:nvPr/>
        </p:nvSpPr>
        <p:spPr bwMode="auto">
          <a:xfrm>
            <a:off x="2679700" y="525938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27682" name="Line 35"/>
          <p:cNvSpPr>
            <a:spLocks noChangeShapeType="1"/>
          </p:cNvSpPr>
          <p:nvPr/>
        </p:nvSpPr>
        <p:spPr bwMode="auto">
          <a:xfrm flipH="1">
            <a:off x="3251200" y="461962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7683" name="Oval 37"/>
          <p:cNvSpPr>
            <a:spLocks noChangeArrowheads="1"/>
          </p:cNvSpPr>
          <p:nvPr/>
        </p:nvSpPr>
        <p:spPr bwMode="auto">
          <a:xfrm>
            <a:off x="5475288" y="391953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7684" name="Text Box 38"/>
          <p:cNvSpPr txBox="1">
            <a:spLocks noChangeArrowheads="1"/>
          </p:cNvSpPr>
          <p:nvPr/>
        </p:nvSpPr>
        <p:spPr bwMode="auto">
          <a:xfrm>
            <a:off x="5427663" y="405765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27685" name="Text Box 42"/>
          <p:cNvSpPr txBox="1">
            <a:spLocks noChangeArrowheads="1"/>
          </p:cNvSpPr>
          <p:nvPr/>
        </p:nvSpPr>
        <p:spPr bwMode="auto">
          <a:xfrm>
            <a:off x="4114800" y="4876800"/>
            <a:ext cx="4419600" cy="12001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Where is the greatest value in a heap always found? Root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725AAAE2-F451-4F2F-97B8-3C6CB129A3D7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25</a:t>
            </a:fld>
            <a:endParaRPr lang="en-US" altLang="en-US" sz="1400"/>
          </a:p>
        </p:txBody>
      </p:sp>
      <p:sp>
        <p:nvSpPr>
          <p:cNvPr id="2867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dirty="0"/>
              <a:t>Dequeue</a:t>
            </a:r>
          </a:p>
        </p:txBody>
      </p:sp>
      <p:sp>
        <p:nvSpPr>
          <p:cNvPr id="28676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en-US" altLang="en-US" dirty="0" err="1"/>
              <a:t>Dequeuing</a:t>
            </a:r>
            <a:r>
              <a:rPr lang="en-US" altLang="en-US" dirty="0"/>
              <a:t> the object with the greatest value appears to be a </a:t>
            </a:r>
            <a:r>
              <a:rPr lang="en-US" altLang="en-US" dirty="0">
                <a:sym typeface="Symbol" panose="05050102010706020507" pitchFamily="18" charset="2"/>
              </a:rPr>
              <a:t>( 1 ) operation.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dirty="0">
                <a:sym typeface="Symbol" panose="05050102010706020507" pitchFamily="18" charset="2"/>
              </a:rPr>
              <a:t>However, after removing the object, we must turn the resultant structure into a heap again, for the next dequeuer.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dirty="0">
                <a:sym typeface="Symbol" panose="05050102010706020507" pitchFamily="18" charset="2"/>
              </a:rPr>
              <a:t>Fortunately, it only takes O( lg n ) time to turn the structure back into a heap again.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dirty="0">
                <a:sym typeface="Symbol" panose="05050102010706020507" pitchFamily="18" charset="2"/>
              </a:rPr>
              <a:t>Hence, the overall dequeue in a heap is a      </a:t>
            </a:r>
            <a:r>
              <a:rPr lang="en-US" altLang="en-US" u="sng" dirty="0">
                <a:sym typeface="Symbol" panose="05050102010706020507" pitchFamily="18" charset="2"/>
              </a:rPr>
              <a:t>O( lg n )</a:t>
            </a:r>
            <a:r>
              <a:rPr lang="en-US" altLang="en-US" dirty="0">
                <a:sym typeface="Symbol" panose="05050102010706020507" pitchFamily="18" charset="2"/>
              </a:rPr>
              <a:t> operation.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31FAC92F-9A2C-42C0-B6F6-D6977CE7ECC4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26</a:t>
            </a:fld>
            <a:endParaRPr lang="en-US" altLang="en-US" sz="1400"/>
          </a:p>
        </p:txBody>
      </p:sp>
      <p:sp>
        <p:nvSpPr>
          <p:cNvPr id="29699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6987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Dequeue (cont.)</a:t>
            </a:r>
          </a:p>
        </p:txBody>
      </p:sp>
      <p:sp>
        <p:nvSpPr>
          <p:cNvPr id="29700" name="Oval 3"/>
          <p:cNvSpPr>
            <a:spLocks noChangeArrowheads="1"/>
          </p:cNvSpPr>
          <p:nvPr/>
        </p:nvSpPr>
        <p:spPr bwMode="auto">
          <a:xfrm>
            <a:off x="2395538" y="2447925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9701" name="Text Box 4"/>
          <p:cNvSpPr txBox="1">
            <a:spLocks noChangeArrowheads="1"/>
          </p:cNvSpPr>
          <p:nvPr/>
        </p:nvSpPr>
        <p:spPr bwMode="auto">
          <a:xfrm>
            <a:off x="2336800" y="2566987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29702" name="Oval 5"/>
          <p:cNvSpPr>
            <a:spLocks noChangeArrowheads="1"/>
          </p:cNvSpPr>
          <p:nvPr/>
        </p:nvSpPr>
        <p:spPr bwMode="auto">
          <a:xfrm>
            <a:off x="1370013" y="3673475"/>
            <a:ext cx="684212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9703" name="Text Box 6"/>
          <p:cNvSpPr txBox="1">
            <a:spLocks noChangeArrowheads="1"/>
          </p:cNvSpPr>
          <p:nvPr/>
        </p:nvSpPr>
        <p:spPr bwMode="auto">
          <a:xfrm>
            <a:off x="1311275" y="379095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29704" name="Oval 7"/>
          <p:cNvSpPr>
            <a:spLocks noChangeArrowheads="1"/>
          </p:cNvSpPr>
          <p:nvPr/>
        </p:nvSpPr>
        <p:spPr bwMode="auto">
          <a:xfrm>
            <a:off x="685800" y="4899025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9705" name="Text Box 8"/>
          <p:cNvSpPr txBox="1">
            <a:spLocks noChangeArrowheads="1"/>
          </p:cNvSpPr>
          <p:nvPr/>
        </p:nvSpPr>
        <p:spPr bwMode="auto">
          <a:xfrm>
            <a:off x="627063" y="501650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29706" name="Oval 9"/>
          <p:cNvSpPr>
            <a:spLocks noChangeArrowheads="1"/>
          </p:cNvSpPr>
          <p:nvPr/>
        </p:nvSpPr>
        <p:spPr bwMode="auto">
          <a:xfrm>
            <a:off x="1711325" y="4897437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9707" name="Text Box 10"/>
          <p:cNvSpPr txBox="1">
            <a:spLocks noChangeArrowheads="1"/>
          </p:cNvSpPr>
          <p:nvPr/>
        </p:nvSpPr>
        <p:spPr bwMode="auto">
          <a:xfrm>
            <a:off x="1652588" y="501650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29708" name="Line 11"/>
          <p:cNvSpPr>
            <a:spLocks noChangeShapeType="1"/>
          </p:cNvSpPr>
          <p:nvPr/>
        </p:nvSpPr>
        <p:spPr bwMode="auto">
          <a:xfrm flipH="1">
            <a:off x="1198563" y="4373562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9709" name="Line 12"/>
          <p:cNvSpPr>
            <a:spLocks noChangeShapeType="1"/>
          </p:cNvSpPr>
          <p:nvPr/>
        </p:nvSpPr>
        <p:spPr bwMode="auto">
          <a:xfrm>
            <a:off x="1711325" y="4373562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9710" name="Oval 13"/>
          <p:cNvSpPr>
            <a:spLocks noChangeArrowheads="1"/>
          </p:cNvSpPr>
          <p:nvPr/>
        </p:nvSpPr>
        <p:spPr bwMode="auto">
          <a:xfrm>
            <a:off x="4448175" y="1222375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9711" name="Text Box 14"/>
          <p:cNvSpPr txBox="1">
            <a:spLocks noChangeArrowheads="1"/>
          </p:cNvSpPr>
          <p:nvPr/>
        </p:nvSpPr>
        <p:spPr bwMode="auto">
          <a:xfrm>
            <a:off x="4389438" y="1341437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46</a:t>
            </a:r>
            <a:endParaRPr lang="en-US" altLang="en-US" sz="2400"/>
          </a:p>
        </p:txBody>
      </p:sp>
      <p:sp>
        <p:nvSpPr>
          <p:cNvPr id="29712" name="Line 15"/>
          <p:cNvSpPr>
            <a:spLocks noChangeShapeType="1"/>
          </p:cNvSpPr>
          <p:nvPr/>
        </p:nvSpPr>
        <p:spPr bwMode="auto">
          <a:xfrm>
            <a:off x="2909888" y="1398587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9713" name="Oval 16"/>
          <p:cNvSpPr>
            <a:spLocks noChangeArrowheads="1"/>
          </p:cNvSpPr>
          <p:nvPr/>
        </p:nvSpPr>
        <p:spPr bwMode="auto">
          <a:xfrm>
            <a:off x="3422650" y="3673475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9714" name="Line 17"/>
          <p:cNvSpPr>
            <a:spLocks noChangeShapeType="1"/>
          </p:cNvSpPr>
          <p:nvPr/>
        </p:nvSpPr>
        <p:spPr bwMode="auto">
          <a:xfrm flipH="1">
            <a:off x="1882775" y="3148012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9715" name="Line 18"/>
          <p:cNvSpPr>
            <a:spLocks noChangeShapeType="1"/>
          </p:cNvSpPr>
          <p:nvPr/>
        </p:nvSpPr>
        <p:spPr bwMode="auto">
          <a:xfrm>
            <a:off x="2909888" y="3148012"/>
            <a:ext cx="682625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9716" name="Oval 19"/>
          <p:cNvSpPr>
            <a:spLocks noChangeArrowheads="1"/>
          </p:cNvSpPr>
          <p:nvPr/>
        </p:nvSpPr>
        <p:spPr bwMode="auto">
          <a:xfrm>
            <a:off x="6500813" y="2447925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9717" name="Text Box 20"/>
          <p:cNvSpPr txBox="1">
            <a:spLocks noChangeArrowheads="1"/>
          </p:cNvSpPr>
          <p:nvPr/>
        </p:nvSpPr>
        <p:spPr bwMode="auto">
          <a:xfrm>
            <a:off x="6442075" y="2566987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29718" name="Oval 21"/>
          <p:cNvSpPr>
            <a:spLocks noChangeArrowheads="1"/>
          </p:cNvSpPr>
          <p:nvPr/>
        </p:nvSpPr>
        <p:spPr bwMode="auto">
          <a:xfrm>
            <a:off x="5475288" y="3673475"/>
            <a:ext cx="682625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9719" name="Oval 22"/>
          <p:cNvSpPr>
            <a:spLocks noChangeArrowheads="1"/>
          </p:cNvSpPr>
          <p:nvPr/>
        </p:nvSpPr>
        <p:spPr bwMode="auto">
          <a:xfrm>
            <a:off x="7526338" y="3673475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9720" name="Text Box 23"/>
          <p:cNvSpPr txBox="1">
            <a:spLocks noChangeArrowheads="1"/>
          </p:cNvSpPr>
          <p:nvPr/>
        </p:nvSpPr>
        <p:spPr bwMode="auto">
          <a:xfrm>
            <a:off x="7467600" y="3790950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29721" name="Line 24"/>
          <p:cNvSpPr>
            <a:spLocks noChangeShapeType="1"/>
          </p:cNvSpPr>
          <p:nvPr/>
        </p:nvSpPr>
        <p:spPr bwMode="auto">
          <a:xfrm flipH="1">
            <a:off x="5988050" y="3148012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9722" name="Line 25"/>
          <p:cNvSpPr>
            <a:spLocks noChangeShapeType="1"/>
          </p:cNvSpPr>
          <p:nvPr/>
        </p:nvSpPr>
        <p:spPr bwMode="auto">
          <a:xfrm>
            <a:off x="7013575" y="3148012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9723" name="Line 26"/>
          <p:cNvSpPr>
            <a:spLocks noChangeShapeType="1"/>
          </p:cNvSpPr>
          <p:nvPr/>
        </p:nvSpPr>
        <p:spPr bwMode="auto">
          <a:xfrm flipH="1">
            <a:off x="3079750" y="1747837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9724" name="Line 27"/>
          <p:cNvSpPr>
            <a:spLocks noChangeShapeType="1"/>
          </p:cNvSpPr>
          <p:nvPr/>
        </p:nvSpPr>
        <p:spPr bwMode="auto">
          <a:xfrm>
            <a:off x="5132388" y="1747837"/>
            <a:ext cx="1539875" cy="7000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9725" name="Text Box 28"/>
          <p:cNvSpPr txBox="1">
            <a:spLocks noChangeArrowheads="1"/>
          </p:cNvSpPr>
          <p:nvPr/>
        </p:nvSpPr>
        <p:spPr bwMode="auto">
          <a:xfrm>
            <a:off x="1939925" y="1047750"/>
            <a:ext cx="1139825" cy="525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29726" name="Oval 29"/>
          <p:cNvSpPr>
            <a:spLocks noChangeArrowheads="1"/>
          </p:cNvSpPr>
          <p:nvPr/>
        </p:nvSpPr>
        <p:spPr bwMode="auto">
          <a:xfrm>
            <a:off x="3422650" y="3671887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9727" name="Text Box 30"/>
          <p:cNvSpPr txBox="1">
            <a:spLocks noChangeArrowheads="1"/>
          </p:cNvSpPr>
          <p:nvPr/>
        </p:nvSpPr>
        <p:spPr bwMode="auto">
          <a:xfrm>
            <a:off x="3370263" y="3810000"/>
            <a:ext cx="854075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29728" name="Oval 31"/>
          <p:cNvSpPr>
            <a:spLocks noChangeArrowheads="1"/>
          </p:cNvSpPr>
          <p:nvPr/>
        </p:nvSpPr>
        <p:spPr bwMode="auto">
          <a:xfrm>
            <a:off x="2738438" y="4897437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9729" name="Text Box 32"/>
          <p:cNvSpPr txBox="1">
            <a:spLocks noChangeArrowheads="1"/>
          </p:cNvSpPr>
          <p:nvPr/>
        </p:nvSpPr>
        <p:spPr bwMode="auto">
          <a:xfrm>
            <a:off x="2679700" y="5011737"/>
            <a:ext cx="854075" cy="700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29730" name="Oval 33"/>
          <p:cNvSpPr>
            <a:spLocks noChangeArrowheads="1"/>
          </p:cNvSpPr>
          <p:nvPr/>
        </p:nvSpPr>
        <p:spPr bwMode="auto">
          <a:xfrm>
            <a:off x="3763963" y="4894262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9731" name="Text Box 34"/>
          <p:cNvSpPr txBox="1">
            <a:spLocks noChangeArrowheads="1"/>
          </p:cNvSpPr>
          <p:nvPr/>
        </p:nvSpPr>
        <p:spPr bwMode="auto">
          <a:xfrm>
            <a:off x="3705225" y="5011737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29732" name="Line 35"/>
          <p:cNvSpPr>
            <a:spLocks noChangeShapeType="1"/>
          </p:cNvSpPr>
          <p:nvPr/>
        </p:nvSpPr>
        <p:spPr bwMode="auto">
          <a:xfrm flipH="1">
            <a:off x="3251200" y="4371975"/>
            <a:ext cx="341313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9733" name="Line 36"/>
          <p:cNvSpPr>
            <a:spLocks noChangeShapeType="1"/>
          </p:cNvSpPr>
          <p:nvPr/>
        </p:nvSpPr>
        <p:spPr bwMode="auto">
          <a:xfrm>
            <a:off x="3763963" y="4371975"/>
            <a:ext cx="342900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9734" name="Oval 37"/>
          <p:cNvSpPr>
            <a:spLocks noChangeArrowheads="1"/>
          </p:cNvSpPr>
          <p:nvPr/>
        </p:nvSpPr>
        <p:spPr bwMode="auto">
          <a:xfrm>
            <a:off x="5475288" y="3671887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9735" name="Text Box 38"/>
          <p:cNvSpPr txBox="1">
            <a:spLocks noChangeArrowheads="1"/>
          </p:cNvSpPr>
          <p:nvPr/>
        </p:nvSpPr>
        <p:spPr bwMode="auto">
          <a:xfrm>
            <a:off x="5427663" y="381000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29736" name="Oval 39"/>
          <p:cNvSpPr>
            <a:spLocks noChangeArrowheads="1"/>
          </p:cNvSpPr>
          <p:nvPr/>
        </p:nvSpPr>
        <p:spPr bwMode="auto">
          <a:xfrm>
            <a:off x="4791075" y="4899025"/>
            <a:ext cx="684213" cy="6985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9737" name="Text Box 40"/>
          <p:cNvSpPr txBox="1">
            <a:spLocks noChangeArrowheads="1"/>
          </p:cNvSpPr>
          <p:nvPr/>
        </p:nvSpPr>
        <p:spPr bwMode="auto">
          <a:xfrm>
            <a:off x="4732338" y="5014912"/>
            <a:ext cx="854075" cy="700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29738" name="Line 41"/>
          <p:cNvSpPr>
            <a:spLocks noChangeShapeType="1"/>
          </p:cNvSpPr>
          <p:nvPr/>
        </p:nvSpPr>
        <p:spPr bwMode="auto">
          <a:xfrm flipH="1">
            <a:off x="5303838" y="4371975"/>
            <a:ext cx="341312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E6CFB685-E9F7-49EC-9A94-9A22968E429F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27</a:t>
            </a:fld>
            <a:endParaRPr lang="en-US" altLang="en-US" sz="1400"/>
          </a:p>
        </p:txBody>
      </p:sp>
      <p:sp>
        <p:nvSpPr>
          <p:cNvPr id="30723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6987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Dequeue (cont.)</a:t>
            </a:r>
          </a:p>
        </p:txBody>
      </p:sp>
      <p:sp>
        <p:nvSpPr>
          <p:cNvPr id="30724" name="Oval 3"/>
          <p:cNvSpPr>
            <a:spLocks noChangeArrowheads="1"/>
          </p:cNvSpPr>
          <p:nvPr/>
        </p:nvSpPr>
        <p:spPr bwMode="auto">
          <a:xfrm>
            <a:off x="2395538" y="2447925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0725" name="Text Box 4"/>
          <p:cNvSpPr txBox="1">
            <a:spLocks noChangeArrowheads="1"/>
          </p:cNvSpPr>
          <p:nvPr/>
        </p:nvSpPr>
        <p:spPr bwMode="auto">
          <a:xfrm>
            <a:off x="2336800" y="2566987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30726" name="Oval 5"/>
          <p:cNvSpPr>
            <a:spLocks noChangeArrowheads="1"/>
          </p:cNvSpPr>
          <p:nvPr/>
        </p:nvSpPr>
        <p:spPr bwMode="auto">
          <a:xfrm>
            <a:off x="1370013" y="3673475"/>
            <a:ext cx="684212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0727" name="Text Box 6"/>
          <p:cNvSpPr txBox="1">
            <a:spLocks noChangeArrowheads="1"/>
          </p:cNvSpPr>
          <p:nvPr/>
        </p:nvSpPr>
        <p:spPr bwMode="auto">
          <a:xfrm>
            <a:off x="1311275" y="379095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30728" name="Oval 7"/>
          <p:cNvSpPr>
            <a:spLocks noChangeArrowheads="1"/>
          </p:cNvSpPr>
          <p:nvPr/>
        </p:nvSpPr>
        <p:spPr bwMode="auto">
          <a:xfrm>
            <a:off x="685800" y="4899025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0729" name="Text Box 8"/>
          <p:cNvSpPr txBox="1">
            <a:spLocks noChangeArrowheads="1"/>
          </p:cNvSpPr>
          <p:nvPr/>
        </p:nvSpPr>
        <p:spPr bwMode="auto">
          <a:xfrm>
            <a:off x="627063" y="501650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30730" name="Oval 9"/>
          <p:cNvSpPr>
            <a:spLocks noChangeArrowheads="1"/>
          </p:cNvSpPr>
          <p:nvPr/>
        </p:nvSpPr>
        <p:spPr bwMode="auto">
          <a:xfrm>
            <a:off x="1711325" y="4897437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0731" name="Text Box 10"/>
          <p:cNvSpPr txBox="1">
            <a:spLocks noChangeArrowheads="1"/>
          </p:cNvSpPr>
          <p:nvPr/>
        </p:nvSpPr>
        <p:spPr bwMode="auto">
          <a:xfrm>
            <a:off x="1652588" y="501650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30732" name="Line 11"/>
          <p:cNvSpPr>
            <a:spLocks noChangeShapeType="1"/>
          </p:cNvSpPr>
          <p:nvPr/>
        </p:nvSpPr>
        <p:spPr bwMode="auto">
          <a:xfrm flipH="1">
            <a:off x="1198563" y="4373562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0733" name="Line 12"/>
          <p:cNvSpPr>
            <a:spLocks noChangeShapeType="1"/>
          </p:cNvSpPr>
          <p:nvPr/>
        </p:nvSpPr>
        <p:spPr bwMode="auto">
          <a:xfrm>
            <a:off x="1711325" y="4373562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0734" name="Oval 13"/>
          <p:cNvSpPr>
            <a:spLocks noChangeArrowheads="1"/>
          </p:cNvSpPr>
          <p:nvPr/>
        </p:nvSpPr>
        <p:spPr bwMode="auto">
          <a:xfrm>
            <a:off x="4448175" y="1222375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0735" name="Text Box 14"/>
          <p:cNvSpPr txBox="1">
            <a:spLocks noChangeArrowheads="1"/>
          </p:cNvSpPr>
          <p:nvPr/>
        </p:nvSpPr>
        <p:spPr bwMode="auto">
          <a:xfrm>
            <a:off x="4389438" y="1341437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46</a:t>
            </a:r>
            <a:endParaRPr lang="en-US" altLang="en-US" sz="2400"/>
          </a:p>
        </p:txBody>
      </p:sp>
      <p:sp>
        <p:nvSpPr>
          <p:cNvPr id="30736" name="Line 15"/>
          <p:cNvSpPr>
            <a:spLocks noChangeShapeType="1"/>
          </p:cNvSpPr>
          <p:nvPr/>
        </p:nvSpPr>
        <p:spPr bwMode="auto">
          <a:xfrm>
            <a:off x="2909888" y="1398587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0737" name="Oval 16"/>
          <p:cNvSpPr>
            <a:spLocks noChangeArrowheads="1"/>
          </p:cNvSpPr>
          <p:nvPr/>
        </p:nvSpPr>
        <p:spPr bwMode="auto">
          <a:xfrm>
            <a:off x="3422650" y="3673475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0738" name="Line 17"/>
          <p:cNvSpPr>
            <a:spLocks noChangeShapeType="1"/>
          </p:cNvSpPr>
          <p:nvPr/>
        </p:nvSpPr>
        <p:spPr bwMode="auto">
          <a:xfrm flipH="1">
            <a:off x="1882775" y="3148012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0739" name="Line 18"/>
          <p:cNvSpPr>
            <a:spLocks noChangeShapeType="1"/>
          </p:cNvSpPr>
          <p:nvPr/>
        </p:nvSpPr>
        <p:spPr bwMode="auto">
          <a:xfrm>
            <a:off x="2909888" y="3148012"/>
            <a:ext cx="682625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0740" name="Oval 19"/>
          <p:cNvSpPr>
            <a:spLocks noChangeArrowheads="1"/>
          </p:cNvSpPr>
          <p:nvPr/>
        </p:nvSpPr>
        <p:spPr bwMode="auto">
          <a:xfrm>
            <a:off x="6500813" y="2447925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0741" name="Text Box 20"/>
          <p:cNvSpPr txBox="1">
            <a:spLocks noChangeArrowheads="1"/>
          </p:cNvSpPr>
          <p:nvPr/>
        </p:nvSpPr>
        <p:spPr bwMode="auto">
          <a:xfrm>
            <a:off x="6442075" y="2566987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30742" name="Oval 21"/>
          <p:cNvSpPr>
            <a:spLocks noChangeArrowheads="1"/>
          </p:cNvSpPr>
          <p:nvPr/>
        </p:nvSpPr>
        <p:spPr bwMode="auto">
          <a:xfrm>
            <a:off x="5475288" y="3673475"/>
            <a:ext cx="682625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0743" name="Oval 22"/>
          <p:cNvSpPr>
            <a:spLocks noChangeArrowheads="1"/>
          </p:cNvSpPr>
          <p:nvPr/>
        </p:nvSpPr>
        <p:spPr bwMode="auto">
          <a:xfrm>
            <a:off x="7526338" y="3673475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0744" name="Text Box 23"/>
          <p:cNvSpPr txBox="1">
            <a:spLocks noChangeArrowheads="1"/>
          </p:cNvSpPr>
          <p:nvPr/>
        </p:nvSpPr>
        <p:spPr bwMode="auto">
          <a:xfrm>
            <a:off x="7467600" y="3790950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30745" name="Line 24"/>
          <p:cNvSpPr>
            <a:spLocks noChangeShapeType="1"/>
          </p:cNvSpPr>
          <p:nvPr/>
        </p:nvSpPr>
        <p:spPr bwMode="auto">
          <a:xfrm flipH="1">
            <a:off x="5988050" y="3148012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0746" name="Line 25"/>
          <p:cNvSpPr>
            <a:spLocks noChangeShapeType="1"/>
          </p:cNvSpPr>
          <p:nvPr/>
        </p:nvSpPr>
        <p:spPr bwMode="auto">
          <a:xfrm>
            <a:off x="7013575" y="3148012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0747" name="Line 26"/>
          <p:cNvSpPr>
            <a:spLocks noChangeShapeType="1"/>
          </p:cNvSpPr>
          <p:nvPr/>
        </p:nvSpPr>
        <p:spPr bwMode="auto">
          <a:xfrm flipH="1">
            <a:off x="3079750" y="1747837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0748" name="Line 27"/>
          <p:cNvSpPr>
            <a:spLocks noChangeShapeType="1"/>
          </p:cNvSpPr>
          <p:nvPr/>
        </p:nvSpPr>
        <p:spPr bwMode="auto">
          <a:xfrm>
            <a:off x="5132388" y="1747837"/>
            <a:ext cx="1539875" cy="7000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0749" name="Text Box 28"/>
          <p:cNvSpPr txBox="1">
            <a:spLocks noChangeArrowheads="1"/>
          </p:cNvSpPr>
          <p:nvPr/>
        </p:nvSpPr>
        <p:spPr bwMode="auto">
          <a:xfrm>
            <a:off x="1939925" y="1047750"/>
            <a:ext cx="1139825" cy="525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30750" name="Oval 29"/>
          <p:cNvSpPr>
            <a:spLocks noChangeArrowheads="1"/>
          </p:cNvSpPr>
          <p:nvPr/>
        </p:nvSpPr>
        <p:spPr bwMode="auto">
          <a:xfrm>
            <a:off x="3422650" y="3671887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0751" name="Text Box 30"/>
          <p:cNvSpPr txBox="1">
            <a:spLocks noChangeArrowheads="1"/>
          </p:cNvSpPr>
          <p:nvPr/>
        </p:nvSpPr>
        <p:spPr bwMode="auto">
          <a:xfrm>
            <a:off x="3370263" y="3810000"/>
            <a:ext cx="854075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30752" name="Oval 31"/>
          <p:cNvSpPr>
            <a:spLocks noChangeArrowheads="1"/>
          </p:cNvSpPr>
          <p:nvPr/>
        </p:nvSpPr>
        <p:spPr bwMode="auto">
          <a:xfrm>
            <a:off x="2738438" y="4897437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0753" name="Text Box 32"/>
          <p:cNvSpPr txBox="1">
            <a:spLocks noChangeArrowheads="1"/>
          </p:cNvSpPr>
          <p:nvPr/>
        </p:nvSpPr>
        <p:spPr bwMode="auto">
          <a:xfrm>
            <a:off x="2679700" y="5011737"/>
            <a:ext cx="854075" cy="700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30754" name="Oval 33"/>
          <p:cNvSpPr>
            <a:spLocks noChangeArrowheads="1"/>
          </p:cNvSpPr>
          <p:nvPr/>
        </p:nvSpPr>
        <p:spPr bwMode="auto">
          <a:xfrm>
            <a:off x="3763963" y="4894262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0755" name="Text Box 34"/>
          <p:cNvSpPr txBox="1">
            <a:spLocks noChangeArrowheads="1"/>
          </p:cNvSpPr>
          <p:nvPr/>
        </p:nvSpPr>
        <p:spPr bwMode="auto">
          <a:xfrm>
            <a:off x="3705225" y="5011737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30756" name="Line 35"/>
          <p:cNvSpPr>
            <a:spLocks noChangeShapeType="1"/>
          </p:cNvSpPr>
          <p:nvPr/>
        </p:nvSpPr>
        <p:spPr bwMode="auto">
          <a:xfrm flipH="1">
            <a:off x="3251200" y="4371975"/>
            <a:ext cx="341313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0757" name="Line 36"/>
          <p:cNvSpPr>
            <a:spLocks noChangeShapeType="1"/>
          </p:cNvSpPr>
          <p:nvPr/>
        </p:nvSpPr>
        <p:spPr bwMode="auto">
          <a:xfrm>
            <a:off x="3763963" y="4371975"/>
            <a:ext cx="342900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0758" name="Oval 37"/>
          <p:cNvSpPr>
            <a:spLocks noChangeArrowheads="1"/>
          </p:cNvSpPr>
          <p:nvPr/>
        </p:nvSpPr>
        <p:spPr bwMode="auto">
          <a:xfrm>
            <a:off x="5475288" y="3671887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0759" name="Text Box 38"/>
          <p:cNvSpPr txBox="1">
            <a:spLocks noChangeArrowheads="1"/>
          </p:cNvSpPr>
          <p:nvPr/>
        </p:nvSpPr>
        <p:spPr bwMode="auto">
          <a:xfrm>
            <a:off x="5427663" y="381000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30760" name="Oval 39"/>
          <p:cNvSpPr>
            <a:spLocks noChangeArrowheads="1"/>
          </p:cNvSpPr>
          <p:nvPr/>
        </p:nvSpPr>
        <p:spPr bwMode="auto">
          <a:xfrm>
            <a:off x="4791075" y="4899025"/>
            <a:ext cx="684213" cy="6985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0761" name="Text Box 40"/>
          <p:cNvSpPr txBox="1">
            <a:spLocks noChangeArrowheads="1"/>
          </p:cNvSpPr>
          <p:nvPr/>
        </p:nvSpPr>
        <p:spPr bwMode="auto">
          <a:xfrm>
            <a:off x="4732338" y="5014912"/>
            <a:ext cx="854075" cy="700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30762" name="Line 41"/>
          <p:cNvSpPr>
            <a:spLocks noChangeShapeType="1"/>
          </p:cNvSpPr>
          <p:nvPr/>
        </p:nvSpPr>
        <p:spPr bwMode="auto">
          <a:xfrm flipH="1">
            <a:off x="5303838" y="4371975"/>
            <a:ext cx="341312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0763" name="Line 43"/>
          <p:cNvSpPr>
            <a:spLocks noChangeShapeType="1"/>
          </p:cNvSpPr>
          <p:nvPr/>
        </p:nvSpPr>
        <p:spPr bwMode="auto">
          <a:xfrm flipV="1">
            <a:off x="5029200" y="1428750"/>
            <a:ext cx="1371600" cy="76200"/>
          </a:xfrm>
          <a:prstGeom prst="line">
            <a:avLst/>
          </a:prstGeom>
          <a:noFill/>
          <a:ln w="57150" cap="rnd">
            <a:solidFill>
              <a:schemeClr val="tx2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0764" name="Text Box 44"/>
          <p:cNvSpPr txBox="1">
            <a:spLocks noChangeArrowheads="1"/>
          </p:cNvSpPr>
          <p:nvPr/>
        </p:nvSpPr>
        <p:spPr bwMode="auto">
          <a:xfrm>
            <a:off x="6400800" y="1200150"/>
            <a:ext cx="2590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30765" name="Text Box 45"/>
          <p:cNvSpPr txBox="1">
            <a:spLocks noChangeArrowheads="1"/>
          </p:cNvSpPr>
          <p:nvPr/>
        </p:nvSpPr>
        <p:spPr bwMode="auto">
          <a:xfrm>
            <a:off x="5791200" y="4629150"/>
            <a:ext cx="32004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Save the root object in remElement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8B1615FB-FCB3-4CD3-819B-88EE65E75FFE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28</a:t>
            </a:fld>
            <a:endParaRPr lang="en-US" altLang="en-US" sz="1400"/>
          </a:p>
        </p:txBody>
      </p:sp>
      <p:sp>
        <p:nvSpPr>
          <p:cNvPr id="31747" name="Oval 2"/>
          <p:cNvSpPr>
            <a:spLocks noChangeArrowheads="1"/>
          </p:cNvSpPr>
          <p:nvPr/>
        </p:nvSpPr>
        <p:spPr bwMode="auto">
          <a:xfrm>
            <a:off x="2395538" y="2447925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1748" name="Text Box 3"/>
          <p:cNvSpPr txBox="1">
            <a:spLocks noChangeArrowheads="1"/>
          </p:cNvSpPr>
          <p:nvPr/>
        </p:nvSpPr>
        <p:spPr bwMode="auto">
          <a:xfrm>
            <a:off x="2336800" y="2566987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31749" name="Oval 4"/>
          <p:cNvSpPr>
            <a:spLocks noChangeArrowheads="1"/>
          </p:cNvSpPr>
          <p:nvPr/>
        </p:nvSpPr>
        <p:spPr bwMode="auto">
          <a:xfrm>
            <a:off x="1370013" y="3673475"/>
            <a:ext cx="684212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1750" name="Text Box 5"/>
          <p:cNvSpPr txBox="1">
            <a:spLocks noChangeArrowheads="1"/>
          </p:cNvSpPr>
          <p:nvPr/>
        </p:nvSpPr>
        <p:spPr bwMode="auto">
          <a:xfrm>
            <a:off x="1311275" y="379095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31751" name="Oval 6"/>
          <p:cNvSpPr>
            <a:spLocks noChangeArrowheads="1"/>
          </p:cNvSpPr>
          <p:nvPr/>
        </p:nvSpPr>
        <p:spPr bwMode="auto">
          <a:xfrm>
            <a:off x="685800" y="4899025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1752" name="Text Box 7"/>
          <p:cNvSpPr txBox="1">
            <a:spLocks noChangeArrowheads="1"/>
          </p:cNvSpPr>
          <p:nvPr/>
        </p:nvSpPr>
        <p:spPr bwMode="auto">
          <a:xfrm>
            <a:off x="627063" y="501650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31753" name="Oval 8"/>
          <p:cNvSpPr>
            <a:spLocks noChangeArrowheads="1"/>
          </p:cNvSpPr>
          <p:nvPr/>
        </p:nvSpPr>
        <p:spPr bwMode="auto">
          <a:xfrm>
            <a:off x="1711325" y="4897437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1754" name="Text Box 9"/>
          <p:cNvSpPr txBox="1">
            <a:spLocks noChangeArrowheads="1"/>
          </p:cNvSpPr>
          <p:nvPr/>
        </p:nvSpPr>
        <p:spPr bwMode="auto">
          <a:xfrm>
            <a:off x="1652588" y="501650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31755" name="Line 10"/>
          <p:cNvSpPr>
            <a:spLocks noChangeShapeType="1"/>
          </p:cNvSpPr>
          <p:nvPr/>
        </p:nvSpPr>
        <p:spPr bwMode="auto">
          <a:xfrm flipH="1">
            <a:off x="1198563" y="4373562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1756" name="Line 11"/>
          <p:cNvSpPr>
            <a:spLocks noChangeShapeType="1"/>
          </p:cNvSpPr>
          <p:nvPr/>
        </p:nvSpPr>
        <p:spPr bwMode="auto">
          <a:xfrm>
            <a:off x="1711325" y="4373562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1757" name="Oval 12"/>
          <p:cNvSpPr>
            <a:spLocks noChangeArrowheads="1"/>
          </p:cNvSpPr>
          <p:nvPr/>
        </p:nvSpPr>
        <p:spPr bwMode="auto">
          <a:xfrm>
            <a:off x="4448175" y="1222375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1758" name="Text Box 13"/>
          <p:cNvSpPr txBox="1">
            <a:spLocks noChangeArrowheads="1"/>
          </p:cNvSpPr>
          <p:nvPr/>
        </p:nvSpPr>
        <p:spPr bwMode="auto">
          <a:xfrm>
            <a:off x="4389438" y="1341437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</a:t>
            </a:r>
            <a:r>
              <a:rPr lang="en-US" altLang="en-US" sz="2400" b="1">
                <a:solidFill>
                  <a:srgbClr val="FF3300"/>
                </a:solidFill>
              </a:rPr>
              <a:t>5</a:t>
            </a:r>
            <a:endParaRPr lang="en-US" altLang="en-US" sz="2400"/>
          </a:p>
        </p:txBody>
      </p:sp>
      <p:sp>
        <p:nvSpPr>
          <p:cNvPr id="31759" name="Line 14"/>
          <p:cNvSpPr>
            <a:spLocks noChangeShapeType="1"/>
          </p:cNvSpPr>
          <p:nvPr/>
        </p:nvSpPr>
        <p:spPr bwMode="auto">
          <a:xfrm>
            <a:off x="2909888" y="1398587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1760" name="Oval 15"/>
          <p:cNvSpPr>
            <a:spLocks noChangeArrowheads="1"/>
          </p:cNvSpPr>
          <p:nvPr/>
        </p:nvSpPr>
        <p:spPr bwMode="auto">
          <a:xfrm>
            <a:off x="3422650" y="3673475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1761" name="Line 16"/>
          <p:cNvSpPr>
            <a:spLocks noChangeShapeType="1"/>
          </p:cNvSpPr>
          <p:nvPr/>
        </p:nvSpPr>
        <p:spPr bwMode="auto">
          <a:xfrm flipH="1">
            <a:off x="1882775" y="3148012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1762" name="Line 17"/>
          <p:cNvSpPr>
            <a:spLocks noChangeShapeType="1"/>
          </p:cNvSpPr>
          <p:nvPr/>
        </p:nvSpPr>
        <p:spPr bwMode="auto">
          <a:xfrm>
            <a:off x="2909888" y="3148012"/>
            <a:ext cx="682625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1763" name="Oval 18"/>
          <p:cNvSpPr>
            <a:spLocks noChangeArrowheads="1"/>
          </p:cNvSpPr>
          <p:nvPr/>
        </p:nvSpPr>
        <p:spPr bwMode="auto">
          <a:xfrm>
            <a:off x="6500813" y="2447925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1764" name="Text Box 19"/>
          <p:cNvSpPr txBox="1">
            <a:spLocks noChangeArrowheads="1"/>
          </p:cNvSpPr>
          <p:nvPr/>
        </p:nvSpPr>
        <p:spPr bwMode="auto">
          <a:xfrm>
            <a:off x="6442075" y="2566987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31765" name="Oval 20"/>
          <p:cNvSpPr>
            <a:spLocks noChangeArrowheads="1"/>
          </p:cNvSpPr>
          <p:nvPr/>
        </p:nvSpPr>
        <p:spPr bwMode="auto">
          <a:xfrm>
            <a:off x="5475288" y="3673475"/>
            <a:ext cx="682625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1766" name="Oval 21"/>
          <p:cNvSpPr>
            <a:spLocks noChangeArrowheads="1"/>
          </p:cNvSpPr>
          <p:nvPr/>
        </p:nvSpPr>
        <p:spPr bwMode="auto">
          <a:xfrm>
            <a:off x="7526338" y="3673475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1767" name="Text Box 22"/>
          <p:cNvSpPr txBox="1">
            <a:spLocks noChangeArrowheads="1"/>
          </p:cNvSpPr>
          <p:nvPr/>
        </p:nvSpPr>
        <p:spPr bwMode="auto">
          <a:xfrm>
            <a:off x="7467600" y="3790950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31768" name="Line 23"/>
          <p:cNvSpPr>
            <a:spLocks noChangeShapeType="1"/>
          </p:cNvSpPr>
          <p:nvPr/>
        </p:nvSpPr>
        <p:spPr bwMode="auto">
          <a:xfrm flipH="1">
            <a:off x="5988050" y="3148012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1769" name="Line 24"/>
          <p:cNvSpPr>
            <a:spLocks noChangeShapeType="1"/>
          </p:cNvSpPr>
          <p:nvPr/>
        </p:nvSpPr>
        <p:spPr bwMode="auto">
          <a:xfrm>
            <a:off x="7013575" y="3148012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1770" name="Line 25"/>
          <p:cNvSpPr>
            <a:spLocks noChangeShapeType="1"/>
          </p:cNvSpPr>
          <p:nvPr/>
        </p:nvSpPr>
        <p:spPr bwMode="auto">
          <a:xfrm flipH="1">
            <a:off x="3079750" y="1747837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1771" name="Line 26"/>
          <p:cNvSpPr>
            <a:spLocks noChangeShapeType="1"/>
          </p:cNvSpPr>
          <p:nvPr/>
        </p:nvSpPr>
        <p:spPr bwMode="auto">
          <a:xfrm>
            <a:off x="5132388" y="1747837"/>
            <a:ext cx="1539875" cy="7000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1772" name="Text Box 27"/>
          <p:cNvSpPr txBox="1">
            <a:spLocks noChangeArrowheads="1"/>
          </p:cNvSpPr>
          <p:nvPr/>
        </p:nvSpPr>
        <p:spPr bwMode="auto">
          <a:xfrm>
            <a:off x="1939925" y="1047750"/>
            <a:ext cx="1139825" cy="525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31773" name="Oval 28"/>
          <p:cNvSpPr>
            <a:spLocks noChangeArrowheads="1"/>
          </p:cNvSpPr>
          <p:nvPr/>
        </p:nvSpPr>
        <p:spPr bwMode="auto">
          <a:xfrm>
            <a:off x="3422650" y="3671887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1774" name="Text Box 29"/>
          <p:cNvSpPr txBox="1">
            <a:spLocks noChangeArrowheads="1"/>
          </p:cNvSpPr>
          <p:nvPr/>
        </p:nvSpPr>
        <p:spPr bwMode="auto">
          <a:xfrm>
            <a:off x="3370263" y="3810000"/>
            <a:ext cx="854075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31775" name="Oval 30"/>
          <p:cNvSpPr>
            <a:spLocks noChangeArrowheads="1"/>
          </p:cNvSpPr>
          <p:nvPr/>
        </p:nvSpPr>
        <p:spPr bwMode="auto">
          <a:xfrm>
            <a:off x="2738438" y="4897437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1776" name="Text Box 31"/>
          <p:cNvSpPr txBox="1">
            <a:spLocks noChangeArrowheads="1"/>
          </p:cNvSpPr>
          <p:nvPr/>
        </p:nvSpPr>
        <p:spPr bwMode="auto">
          <a:xfrm>
            <a:off x="2679700" y="5011737"/>
            <a:ext cx="854075" cy="700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31777" name="Oval 32"/>
          <p:cNvSpPr>
            <a:spLocks noChangeArrowheads="1"/>
          </p:cNvSpPr>
          <p:nvPr/>
        </p:nvSpPr>
        <p:spPr bwMode="auto">
          <a:xfrm>
            <a:off x="3763963" y="4894262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1778" name="Text Box 33"/>
          <p:cNvSpPr txBox="1">
            <a:spLocks noChangeArrowheads="1"/>
          </p:cNvSpPr>
          <p:nvPr/>
        </p:nvSpPr>
        <p:spPr bwMode="auto">
          <a:xfrm>
            <a:off x="3705225" y="5011737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31779" name="Line 34"/>
          <p:cNvSpPr>
            <a:spLocks noChangeShapeType="1"/>
          </p:cNvSpPr>
          <p:nvPr/>
        </p:nvSpPr>
        <p:spPr bwMode="auto">
          <a:xfrm flipH="1">
            <a:off x="3251200" y="4371975"/>
            <a:ext cx="341313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1780" name="Line 35"/>
          <p:cNvSpPr>
            <a:spLocks noChangeShapeType="1"/>
          </p:cNvSpPr>
          <p:nvPr/>
        </p:nvSpPr>
        <p:spPr bwMode="auto">
          <a:xfrm>
            <a:off x="3763963" y="4371975"/>
            <a:ext cx="342900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1781" name="Oval 36"/>
          <p:cNvSpPr>
            <a:spLocks noChangeArrowheads="1"/>
          </p:cNvSpPr>
          <p:nvPr/>
        </p:nvSpPr>
        <p:spPr bwMode="auto">
          <a:xfrm>
            <a:off x="5475288" y="3671887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1782" name="Text Box 37"/>
          <p:cNvSpPr txBox="1">
            <a:spLocks noChangeArrowheads="1"/>
          </p:cNvSpPr>
          <p:nvPr/>
        </p:nvSpPr>
        <p:spPr bwMode="auto">
          <a:xfrm>
            <a:off x="5427663" y="381000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31783" name="Oval 38"/>
          <p:cNvSpPr>
            <a:spLocks noChangeArrowheads="1"/>
          </p:cNvSpPr>
          <p:nvPr/>
        </p:nvSpPr>
        <p:spPr bwMode="auto">
          <a:xfrm>
            <a:off x="4791075" y="4899025"/>
            <a:ext cx="684213" cy="6985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1784" name="Text Box 39"/>
          <p:cNvSpPr txBox="1">
            <a:spLocks noChangeArrowheads="1"/>
          </p:cNvSpPr>
          <p:nvPr/>
        </p:nvSpPr>
        <p:spPr bwMode="auto">
          <a:xfrm>
            <a:off x="4732338" y="5014912"/>
            <a:ext cx="854075" cy="700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31785" name="Line 40"/>
          <p:cNvSpPr>
            <a:spLocks noChangeShapeType="1"/>
          </p:cNvSpPr>
          <p:nvPr/>
        </p:nvSpPr>
        <p:spPr bwMode="auto">
          <a:xfrm flipH="1">
            <a:off x="5303838" y="4371975"/>
            <a:ext cx="341312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1786" name="Text Box 41"/>
          <p:cNvSpPr txBox="1">
            <a:spLocks noChangeArrowheads="1"/>
          </p:cNvSpPr>
          <p:nvPr/>
        </p:nvSpPr>
        <p:spPr bwMode="auto">
          <a:xfrm>
            <a:off x="6400800" y="1200150"/>
            <a:ext cx="2590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31787" name="Rectangle 42"/>
          <p:cNvSpPr>
            <a:spLocks noGrp="1" noChangeArrowheads="1"/>
          </p:cNvSpPr>
          <p:nvPr>
            <p:ph type="title"/>
          </p:nvPr>
        </p:nvSpPr>
        <p:spPr>
          <a:xfrm>
            <a:off x="457200" y="26987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Dequeue (cont.)</a:t>
            </a:r>
          </a:p>
        </p:txBody>
      </p:sp>
      <p:sp>
        <p:nvSpPr>
          <p:cNvPr id="31788" name="Line 43"/>
          <p:cNvSpPr>
            <a:spLocks noChangeShapeType="1"/>
          </p:cNvSpPr>
          <p:nvPr/>
        </p:nvSpPr>
        <p:spPr bwMode="auto">
          <a:xfrm flipH="1" flipV="1">
            <a:off x="4800600" y="1809750"/>
            <a:ext cx="228600" cy="3200400"/>
          </a:xfrm>
          <a:prstGeom prst="line">
            <a:avLst/>
          </a:prstGeom>
          <a:noFill/>
          <a:ln w="57150" cap="rnd">
            <a:solidFill>
              <a:schemeClr val="tx2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1789" name="Text Box 44"/>
          <p:cNvSpPr txBox="1">
            <a:spLocks noChangeArrowheads="1"/>
          </p:cNvSpPr>
          <p:nvPr/>
        </p:nvSpPr>
        <p:spPr bwMode="auto">
          <a:xfrm>
            <a:off x="5715000" y="4629150"/>
            <a:ext cx="32766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Copy object in last node into root object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A33226A8-D926-4375-BCFD-B48F28B50C90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29</a:t>
            </a:fld>
            <a:endParaRPr lang="en-US" altLang="en-US" sz="1400"/>
          </a:p>
        </p:txBody>
      </p:sp>
      <p:sp>
        <p:nvSpPr>
          <p:cNvPr id="32771" name="Oval 2"/>
          <p:cNvSpPr>
            <a:spLocks noChangeArrowheads="1"/>
          </p:cNvSpPr>
          <p:nvPr/>
        </p:nvSpPr>
        <p:spPr bwMode="auto">
          <a:xfrm>
            <a:off x="2395538" y="2447925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2772" name="Text Box 3"/>
          <p:cNvSpPr txBox="1">
            <a:spLocks noChangeArrowheads="1"/>
          </p:cNvSpPr>
          <p:nvPr/>
        </p:nvSpPr>
        <p:spPr bwMode="auto">
          <a:xfrm>
            <a:off x="2336800" y="2566987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32773" name="Oval 4"/>
          <p:cNvSpPr>
            <a:spLocks noChangeArrowheads="1"/>
          </p:cNvSpPr>
          <p:nvPr/>
        </p:nvSpPr>
        <p:spPr bwMode="auto">
          <a:xfrm>
            <a:off x="1370013" y="3673475"/>
            <a:ext cx="684212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2774" name="Text Box 5"/>
          <p:cNvSpPr txBox="1">
            <a:spLocks noChangeArrowheads="1"/>
          </p:cNvSpPr>
          <p:nvPr/>
        </p:nvSpPr>
        <p:spPr bwMode="auto">
          <a:xfrm>
            <a:off x="1311275" y="379095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32775" name="Oval 6"/>
          <p:cNvSpPr>
            <a:spLocks noChangeArrowheads="1"/>
          </p:cNvSpPr>
          <p:nvPr/>
        </p:nvSpPr>
        <p:spPr bwMode="auto">
          <a:xfrm>
            <a:off x="685800" y="4899025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2776" name="Text Box 7"/>
          <p:cNvSpPr txBox="1">
            <a:spLocks noChangeArrowheads="1"/>
          </p:cNvSpPr>
          <p:nvPr/>
        </p:nvSpPr>
        <p:spPr bwMode="auto">
          <a:xfrm>
            <a:off x="627063" y="501650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32777" name="Oval 8"/>
          <p:cNvSpPr>
            <a:spLocks noChangeArrowheads="1"/>
          </p:cNvSpPr>
          <p:nvPr/>
        </p:nvSpPr>
        <p:spPr bwMode="auto">
          <a:xfrm>
            <a:off x="1711325" y="4897437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2778" name="Text Box 9"/>
          <p:cNvSpPr txBox="1">
            <a:spLocks noChangeArrowheads="1"/>
          </p:cNvSpPr>
          <p:nvPr/>
        </p:nvSpPr>
        <p:spPr bwMode="auto">
          <a:xfrm>
            <a:off x="1652588" y="501650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32779" name="Line 10"/>
          <p:cNvSpPr>
            <a:spLocks noChangeShapeType="1"/>
          </p:cNvSpPr>
          <p:nvPr/>
        </p:nvSpPr>
        <p:spPr bwMode="auto">
          <a:xfrm flipH="1">
            <a:off x="1198563" y="4373562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2780" name="Line 11"/>
          <p:cNvSpPr>
            <a:spLocks noChangeShapeType="1"/>
          </p:cNvSpPr>
          <p:nvPr/>
        </p:nvSpPr>
        <p:spPr bwMode="auto">
          <a:xfrm>
            <a:off x="1711325" y="4373562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2781" name="Oval 12"/>
          <p:cNvSpPr>
            <a:spLocks noChangeArrowheads="1"/>
          </p:cNvSpPr>
          <p:nvPr/>
        </p:nvSpPr>
        <p:spPr bwMode="auto">
          <a:xfrm>
            <a:off x="4448175" y="1222375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2782" name="Text Box 13"/>
          <p:cNvSpPr txBox="1">
            <a:spLocks noChangeArrowheads="1"/>
          </p:cNvSpPr>
          <p:nvPr/>
        </p:nvSpPr>
        <p:spPr bwMode="auto">
          <a:xfrm>
            <a:off x="4389438" y="1341437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</a:t>
            </a:r>
            <a:r>
              <a:rPr lang="en-US" altLang="en-US" sz="2400" b="1">
                <a:solidFill>
                  <a:srgbClr val="FF3300"/>
                </a:solidFill>
              </a:rPr>
              <a:t>5</a:t>
            </a:r>
            <a:endParaRPr lang="en-US" altLang="en-US" sz="2400"/>
          </a:p>
        </p:txBody>
      </p:sp>
      <p:sp>
        <p:nvSpPr>
          <p:cNvPr id="32783" name="Line 14"/>
          <p:cNvSpPr>
            <a:spLocks noChangeShapeType="1"/>
          </p:cNvSpPr>
          <p:nvPr/>
        </p:nvSpPr>
        <p:spPr bwMode="auto">
          <a:xfrm>
            <a:off x="2909888" y="1398587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2784" name="Oval 15"/>
          <p:cNvSpPr>
            <a:spLocks noChangeArrowheads="1"/>
          </p:cNvSpPr>
          <p:nvPr/>
        </p:nvSpPr>
        <p:spPr bwMode="auto">
          <a:xfrm>
            <a:off x="3422650" y="3673475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2785" name="Line 16"/>
          <p:cNvSpPr>
            <a:spLocks noChangeShapeType="1"/>
          </p:cNvSpPr>
          <p:nvPr/>
        </p:nvSpPr>
        <p:spPr bwMode="auto">
          <a:xfrm flipH="1">
            <a:off x="1882775" y="3148012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2786" name="Line 17"/>
          <p:cNvSpPr>
            <a:spLocks noChangeShapeType="1"/>
          </p:cNvSpPr>
          <p:nvPr/>
        </p:nvSpPr>
        <p:spPr bwMode="auto">
          <a:xfrm>
            <a:off x="2909888" y="3148012"/>
            <a:ext cx="682625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2787" name="Oval 18"/>
          <p:cNvSpPr>
            <a:spLocks noChangeArrowheads="1"/>
          </p:cNvSpPr>
          <p:nvPr/>
        </p:nvSpPr>
        <p:spPr bwMode="auto">
          <a:xfrm>
            <a:off x="6500813" y="2447925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2788" name="Text Box 19"/>
          <p:cNvSpPr txBox="1">
            <a:spLocks noChangeArrowheads="1"/>
          </p:cNvSpPr>
          <p:nvPr/>
        </p:nvSpPr>
        <p:spPr bwMode="auto">
          <a:xfrm>
            <a:off x="6442075" y="2566987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32789" name="Oval 20"/>
          <p:cNvSpPr>
            <a:spLocks noChangeArrowheads="1"/>
          </p:cNvSpPr>
          <p:nvPr/>
        </p:nvSpPr>
        <p:spPr bwMode="auto">
          <a:xfrm>
            <a:off x="5475288" y="3673475"/>
            <a:ext cx="682625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2790" name="Oval 21"/>
          <p:cNvSpPr>
            <a:spLocks noChangeArrowheads="1"/>
          </p:cNvSpPr>
          <p:nvPr/>
        </p:nvSpPr>
        <p:spPr bwMode="auto">
          <a:xfrm>
            <a:off x="7526338" y="3673475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2791" name="Text Box 22"/>
          <p:cNvSpPr txBox="1">
            <a:spLocks noChangeArrowheads="1"/>
          </p:cNvSpPr>
          <p:nvPr/>
        </p:nvSpPr>
        <p:spPr bwMode="auto">
          <a:xfrm>
            <a:off x="7467600" y="3790950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32792" name="Line 23"/>
          <p:cNvSpPr>
            <a:spLocks noChangeShapeType="1"/>
          </p:cNvSpPr>
          <p:nvPr/>
        </p:nvSpPr>
        <p:spPr bwMode="auto">
          <a:xfrm flipH="1">
            <a:off x="5988050" y="3148012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2793" name="Line 24"/>
          <p:cNvSpPr>
            <a:spLocks noChangeShapeType="1"/>
          </p:cNvSpPr>
          <p:nvPr/>
        </p:nvSpPr>
        <p:spPr bwMode="auto">
          <a:xfrm>
            <a:off x="7013575" y="3148012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2794" name="Line 25"/>
          <p:cNvSpPr>
            <a:spLocks noChangeShapeType="1"/>
          </p:cNvSpPr>
          <p:nvPr/>
        </p:nvSpPr>
        <p:spPr bwMode="auto">
          <a:xfrm flipH="1">
            <a:off x="3079750" y="1747837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2795" name="Line 26"/>
          <p:cNvSpPr>
            <a:spLocks noChangeShapeType="1"/>
          </p:cNvSpPr>
          <p:nvPr/>
        </p:nvSpPr>
        <p:spPr bwMode="auto">
          <a:xfrm>
            <a:off x="5132388" y="1747837"/>
            <a:ext cx="1539875" cy="7000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2796" name="Text Box 27"/>
          <p:cNvSpPr txBox="1">
            <a:spLocks noChangeArrowheads="1"/>
          </p:cNvSpPr>
          <p:nvPr/>
        </p:nvSpPr>
        <p:spPr bwMode="auto">
          <a:xfrm>
            <a:off x="1939925" y="1047750"/>
            <a:ext cx="1139825" cy="525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32797" name="Oval 28"/>
          <p:cNvSpPr>
            <a:spLocks noChangeArrowheads="1"/>
          </p:cNvSpPr>
          <p:nvPr/>
        </p:nvSpPr>
        <p:spPr bwMode="auto">
          <a:xfrm>
            <a:off x="3422650" y="3671887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2798" name="Text Box 29"/>
          <p:cNvSpPr txBox="1">
            <a:spLocks noChangeArrowheads="1"/>
          </p:cNvSpPr>
          <p:nvPr/>
        </p:nvSpPr>
        <p:spPr bwMode="auto">
          <a:xfrm>
            <a:off x="3370263" y="3810000"/>
            <a:ext cx="854075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32799" name="Oval 30"/>
          <p:cNvSpPr>
            <a:spLocks noChangeArrowheads="1"/>
          </p:cNvSpPr>
          <p:nvPr/>
        </p:nvSpPr>
        <p:spPr bwMode="auto">
          <a:xfrm>
            <a:off x="2738438" y="4897437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2800" name="Text Box 31"/>
          <p:cNvSpPr txBox="1">
            <a:spLocks noChangeArrowheads="1"/>
          </p:cNvSpPr>
          <p:nvPr/>
        </p:nvSpPr>
        <p:spPr bwMode="auto">
          <a:xfrm>
            <a:off x="2679700" y="5011737"/>
            <a:ext cx="854075" cy="700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32801" name="Oval 32"/>
          <p:cNvSpPr>
            <a:spLocks noChangeArrowheads="1"/>
          </p:cNvSpPr>
          <p:nvPr/>
        </p:nvSpPr>
        <p:spPr bwMode="auto">
          <a:xfrm>
            <a:off x="3763963" y="4894262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2802" name="Text Box 33"/>
          <p:cNvSpPr txBox="1">
            <a:spLocks noChangeArrowheads="1"/>
          </p:cNvSpPr>
          <p:nvPr/>
        </p:nvSpPr>
        <p:spPr bwMode="auto">
          <a:xfrm>
            <a:off x="3705225" y="5011737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32803" name="Line 34"/>
          <p:cNvSpPr>
            <a:spLocks noChangeShapeType="1"/>
          </p:cNvSpPr>
          <p:nvPr/>
        </p:nvSpPr>
        <p:spPr bwMode="auto">
          <a:xfrm flipH="1">
            <a:off x="3251200" y="4371975"/>
            <a:ext cx="341313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2804" name="Line 35"/>
          <p:cNvSpPr>
            <a:spLocks noChangeShapeType="1"/>
          </p:cNvSpPr>
          <p:nvPr/>
        </p:nvSpPr>
        <p:spPr bwMode="auto">
          <a:xfrm>
            <a:off x="3763963" y="4371975"/>
            <a:ext cx="342900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2805" name="Oval 36"/>
          <p:cNvSpPr>
            <a:spLocks noChangeArrowheads="1"/>
          </p:cNvSpPr>
          <p:nvPr/>
        </p:nvSpPr>
        <p:spPr bwMode="auto">
          <a:xfrm>
            <a:off x="5475288" y="3671887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2806" name="Text Box 37"/>
          <p:cNvSpPr txBox="1">
            <a:spLocks noChangeArrowheads="1"/>
          </p:cNvSpPr>
          <p:nvPr/>
        </p:nvSpPr>
        <p:spPr bwMode="auto">
          <a:xfrm>
            <a:off x="5427663" y="381000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32807" name="Text Box 41"/>
          <p:cNvSpPr txBox="1">
            <a:spLocks noChangeArrowheads="1"/>
          </p:cNvSpPr>
          <p:nvPr/>
        </p:nvSpPr>
        <p:spPr bwMode="auto">
          <a:xfrm>
            <a:off x="6400800" y="1200150"/>
            <a:ext cx="2590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32808" name="Rectangle 42"/>
          <p:cNvSpPr>
            <a:spLocks noGrp="1" noChangeArrowheads="1"/>
          </p:cNvSpPr>
          <p:nvPr>
            <p:ph type="title"/>
          </p:nvPr>
        </p:nvSpPr>
        <p:spPr>
          <a:xfrm>
            <a:off x="457200" y="26987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Dequeue (cont.)</a:t>
            </a:r>
          </a:p>
        </p:txBody>
      </p:sp>
      <p:sp>
        <p:nvSpPr>
          <p:cNvPr id="32809" name="Text Box 43"/>
          <p:cNvSpPr txBox="1">
            <a:spLocks noChangeArrowheads="1"/>
          </p:cNvSpPr>
          <p:nvPr/>
        </p:nvSpPr>
        <p:spPr bwMode="auto">
          <a:xfrm>
            <a:off x="5867400" y="4781550"/>
            <a:ext cx="2819400" cy="466725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Remove last node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C5B8BE78-B070-4874-B9BE-DFE5E2555D28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30</a:t>
            </a:fld>
            <a:endParaRPr lang="en-US" altLang="en-US" sz="1400"/>
          </a:p>
        </p:txBody>
      </p:sp>
      <p:sp>
        <p:nvSpPr>
          <p:cNvPr id="33795" name="Oval 2"/>
          <p:cNvSpPr>
            <a:spLocks noChangeArrowheads="1"/>
          </p:cNvSpPr>
          <p:nvPr/>
        </p:nvSpPr>
        <p:spPr bwMode="auto">
          <a:xfrm>
            <a:off x="2395538" y="2466975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3796" name="Text Box 3"/>
          <p:cNvSpPr txBox="1">
            <a:spLocks noChangeArrowheads="1"/>
          </p:cNvSpPr>
          <p:nvPr/>
        </p:nvSpPr>
        <p:spPr bwMode="auto">
          <a:xfrm>
            <a:off x="2336800" y="2586037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39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33797" name="Oval 4"/>
          <p:cNvSpPr>
            <a:spLocks noChangeArrowheads="1"/>
          </p:cNvSpPr>
          <p:nvPr/>
        </p:nvSpPr>
        <p:spPr bwMode="auto">
          <a:xfrm>
            <a:off x="1370013" y="3692525"/>
            <a:ext cx="684212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3798" name="Text Box 5"/>
          <p:cNvSpPr txBox="1">
            <a:spLocks noChangeArrowheads="1"/>
          </p:cNvSpPr>
          <p:nvPr/>
        </p:nvSpPr>
        <p:spPr bwMode="auto">
          <a:xfrm>
            <a:off x="1311275" y="381000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33799" name="Oval 6"/>
          <p:cNvSpPr>
            <a:spLocks noChangeArrowheads="1"/>
          </p:cNvSpPr>
          <p:nvPr/>
        </p:nvSpPr>
        <p:spPr bwMode="auto">
          <a:xfrm>
            <a:off x="685800" y="4918075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3800" name="Text Box 7"/>
          <p:cNvSpPr txBox="1">
            <a:spLocks noChangeArrowheads="1"/>
          </p:cNvSpPr>
          <p:nvPr/>
        </p:nvSpPr>
        <p:spPr bwMode="auto">
          <a:xfrm>
            <a:off x="627063" y="503555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33801" name="Oval 8"/>
          <p:cNvSpPr>
            <a:spLocks noChangeArrowheads="1"/>
          </p:cNvSpPr>
          <p:nvPr/>
        </p:nvSpPr>
        <p:spPr bwMode="auto">
          <a:xfrm>
            <a:off x="1711325" y="4916487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3802" name="Text Box 9"/>
          <p:cNvSpPr txBox="1">
            <a:spLocks noChangeArrowheads="1"/>
          </p:cNvSpPr>
          <p:nvPr/>
        </p:nvSpPr>
        <p:spPr bwMode="auto">
          <a:xfrm>
            <a:off x="1652588" y="503555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33803" name="Line 10"/>
          <p:cNvSpPr>
            <a:spLocks noChangeShapeType="1"/>
          </p:cNvSpPr>
          <p:nvPr/>
        </p:nvSpPr>
        <p:spPr bwMode="auto">
          <a:xfrm flipH="1">
            <a:off x="1198563" y="4392612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3804" name="Line 11"/>
          <p:cNvSpPr>
            <a:spLocks noChangeShapeType="1"/>
          </p:cNvSpPr>
          <p:nvPr/>
        </p:nvSpPr>
        <p:spPr bwMode="auto">
          <a:xfrm>
            <a:off x="1711325" y="4392612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3805" name="Oval 12"/>
          <p:cNvSpPr>
            <a:spLocks noChangeArrowheads="1"/>
          </p:cNvSpPr>
          <p:nvPr/>
        </p:nvSpPr>
        <p:spPr bwMode="auto">
          <a:xfrm>
            <a:off x="4448175" y="1241425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3806" name="Text Box 13"/>
          <p:cNvSpPr txBox="1">
            <a:spLocks noChangeArrowheads="1"/>
          </p:cNvSpPr>
          <p:nvPr/>
        </p:nvSpPr>
        <p:spPr bwMode="auto">
          <a:xfrm>
            <a:off x="4389438" y="1360487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</a:t>
            </a:r>
            <a:r>
              <a:rPr lang="en-US" altLang="en-US" sz="2400" b="1">
                <a:solidFill>
                  <a:srgbClr val="FF3300"/>
                </a:solidFill>
              </a:rPr>
              <a:t>5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33807" name="Line 14"/>
          <p:cNvSpPr>
            <a:spLocks noChangeShapeType="1"/>
          </p:cNvSpPr>
          <p:nvPr/>
        </p:nvSpPr>
        <p:spPr bwMode="auto">
          <a:xfrm>
            <a:off x="2909888" y="1417637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3808" name="Oval 15"/>
          <p:cNvSpPr>
            <a:spLocks noChangeArrowheads="1"/>
          </p:cNvSpPr>
          <p:nvPr/>
        </p:nvSpPr>
        <p:spPr bwMode="auto">
          <a:xfrm>
            <a:off x="3422650" y="3692525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3809" name="Line 16"/>
          <p:cNvSpPr>
            <a:spLocks noChangeShapeType="1"/>
          </p:cNvSpPr>
          <p:nvPr/>
        </p:nvSpPr>
        <p:spPr bwMode="auto">
          <a:xfrm flipH="1">
            <a:off x="1882775" y="3167062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3810" name="Line 17"/>
          <p:cNvSpPr>
            <a:spLocks noChangeShapeType="1"/>
          </p:cNvSpPr>
          <p:nvPr/>
        </p:nvSpPr>
        <p:spPr bwMode="auto">
          <a:xfrm>
            <a:off x="2909888" y="3167062"/>
            <a:ext cx="682625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3811" name="Oval 18"/>
          <p:cNvSpPr>
            <a:spLocks noChangeArrowheads="1"/>
          </p:cNvSpPr>
          <p:nvPr/>
        </p:nvSpPr>
        <p:spPr bwMode="auto">
          <a:xfrm>
            <a:off x="6500813" y="2466975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3812" name="Text Box 19"/>
          <p:cNvSpPr txBox="1">
            <a:spLocks noChangeArrowheads="1"/>
          </p:cNvSpPr>
          <p:nvPr/>
        </p:nvSpPr>
        <p:spPr bwMode="auto">
          <a:xfrm>
            <a:off x="6442075" y="2586037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33813" name="Oval 20"/>
          <p:cNvSpPr>
            <a:spLocks noChangeArrowheads="1"/>
          </p:cNvSpPr>
          <p:nvPr/>
        </p:nvSpPr>
        <p:spPr bwMode="auto">
          <a:xfrm>
            <a:off x="5475288" y="3692525"/>
            <a:ext cx="682625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3814" name="Oval 21"/>
          <p:cNvSpPr>
            <a:spLocks noChangeArrowheads="1"/>
          </p:cNvSpPr>
          <p:nvPr/>
        </p:nvSpPr>
        <p:spPr bwMode="auto">
          <a:xfrm>
            <a:off x="7526338" y="3692525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3815" name="Text Box 22"/>
          <p:cNvSpPr txBox="1">
            <a:spLocks noChangeArrowheads="1"/>
          </p:cNvSpPr>
          <p:nvPr/>
        </p:nvSpPr>
        <p:spPr bwMode="auto">
          <a:xfrm>
            <a:off x="7467600" y="3810000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33816" name="Line 23"/>
          <p:cNvSpPr>
            <a:spLocks noChangeShapeType="1"/>
          </p:cNvSpPr>
          <p:nvPr/>
        </p:nvSpPr>
        <p:spPr bwMode="auto">
          <a:xfrm flipH="1">
            <a:off x="5988050" y="3167062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3817" name="Line 24"/>
          <p:cNvSpPr>
            <a:spLocks noChangeShapeType="1"/>
          </p:cNvSpPr>
          <p:nvPr/>
        </p:nvSpPr>
        <p:spPr bwMode="auto">
          <a:xfrm>
            <a:off x="7013575" y="3167062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3818" name="Line 25"/>
          <p:cNvSpPr>
            <a:spLocks noChangeShapeType="1"/>
          </p:cNvSpPr>
          <p:nvPr/>
        </p:nvSpPr>
        <p:spPr bwMode="auto">
          <a:xfrm flipH="1">
            <a:off x="3079750" y="1766887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3819" name="Line 26"/>
          <p:cNvSpPr>
            <a:spLocks noChangeShapeType="1"/>
          </p:cNvSpPr>
          <p:nvPr/>
        </p:nvSpPr>
        <p:spPr bwMode="auto">
          <a:xfrm>
            <a:off x="5132388" y="1766887"/>
            <a:ext cx="1539875" cy="7000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3820" name="Text Box 27"/>
          <p:cNvSpPr txBox="1">
            <a:spLocks noChangeArrowheads="1"/>
          </p:cNvSpPr>
          <p:nvPr/>
        </p:nvSpPr>
        <p:spPr bwMode="auto">
          <a:xfrm>
            <a:off x="1939925" y="1066800"/>
            <a:ext cx="1139825" cy="525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33821" name="Oval 28"/>
          <p:cNvSpPr>
            <a:spLocks noChangeArrowheads="1"/>
          </p:cNvSpPr>
          <p:nvPr/>
        </p:nvSpPr>
        <p:spPr bwMode="auto">
          <a:xfrm>
            <a:off x="3422650" y="3690937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3822" name="Text Box 29"/>
          <p:cNvSpPr txBox="1">
            <a:spLocks noChangeArrowheads="1"/>
          </p:cNvSpPr>
          <p:nvPr/>
        </p:nvSpPr>
        <p:spPr bwMode="auto">
          <a:xfrm>
            <a:off x="3370263" y="3829050"/>
            <a:ext cx="854075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33823" name="Oval 30"/>
          <p:cNvSpPr>
            <a:spLocks noChangeArrowheads="1"/>
          </p:cNvSpPr>
          <p:nvPr/>
        </p:nvSpPr>
        <p:spPr bwMode="auto">
          <a:xfrm>
            <a:off x="2738438" y="4916487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3824" name="Text Box 31"/>
          <p:cNvSpPr txBox="1">
            <a:spLocks noChangeArrowheads="1"/>
          </p:cNvSpPr>
          <p:nvPr/>
        </p:nvSpPr>
        <p:spPr bwMode="auto">
          <a:xfrm>
            <a:off x="2679700" y="5030787"/>
            <a:ext cx="854075" cy="700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33825" name="Oval 32"/>
          <p:cNvSpPr>
            <a:spLocks noChangeArrowheads="1"/>
          </p:cNvSpPr>
          <p:nvPr/>
        </p:nvSpPr>
        <p:spPr bwMode="auto">
          <a:xfrm>
            <a:off x="3763963" y="4913312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3826" name="Text Box 33"/>
          <p:cNvSpPr txBox="1">
            <a:spLocks noChangeArrowheads="1"/>
          </p:cNvSpPr>
          <p:nvPr/>
        </p:nvSpPr>
        <p:spPr bwMode="auto">
          <a:xfrm>
            <a:off x="3705225" y="5030787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33827" name="Line 34"/>
          <p:cNvSpPr>
            <a:spLocks noChangeShapeType="1"/>
          </p:cNvSpPr>
          <p:nvPr/>
        </p:nvSpPr>
        <p:spPr bwMode="auto">
          <a:xfrm flipH="1">
            <a:off x="3251200" y="4391025"/>
            <a:ext cx="341313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3828" name="Line 35"/>
          <p:cNvSpPr>
            <a:spLocks noChangeShapeType="1"/>
          </p:cNvSpPr>
          <p:nvPr/>
        </p:nvSpPr>
        <p:spPr bwMode="auto">
          <a:xfrm>
            <a:off x="3763963" y="4391025"/>
            <a:ext cx="342900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3829" name="Oval 36"/>
          <p:cNvSpPr>
            <a:spLocks noChangeArrowheads="1"/>
          </p:cNvSpPr>
          <p:nvPr/>
        </p:nvSpPr>
        <p:spPr bwMode="auto">
          <a:xfrm>
            <a:off x="5475288" y="3690937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3830" name="Text Box 37"/>
          <p:cNvSpPr txBox="1">
            <a:spLocks noChangeArrowheads="1"/>
          </p:cNvSpPr>
          <p:nvPr/>
        </p:nvSpPr>
        <p:spPr bwMode="auto">
          <a:xfrm>
            <a:off x="5427663" y="382905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33831" name="Text Box 38"/>
          <p:cNvSpPr txBox="1">
            <a:spLocks noChangeArrowheads="1"/>
          </p:cNvSpPr>
          <p:nvPr/>
        </p:nvSpPr>
        <p:spPr bwMode="auto">
          <a:xfrm>
            <a:off x="6400800" y="1219200"/>
            <a:ext cx="2590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33832" name="Rectangle 39"/>
          <p:cNvSpPr>
            <a:spLocks noGrp="1" noChangeArrowheads="1"/>
          </p:cNvSpPr>
          <p:nvPr>
            <p:ph type="title"/>
          </p:nvPr>
        </p:nvSpPr>
        <p:spPr>
          <a:xfrm>
            <a:off x="457200" y="46037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Dequeue (cont.)</a:t>
            </a:r>
          </a:p>
        </p:txBody>
      </p:sp>
      <p:sp>
        <p:nvSpPr>
          <p:cNvPr id="33833" name="Text Box 40"/>
          <p:cNvSpPr txBox="1">
            <a:spLocks noChangeArrowheads="1"/>
          </p:cNvSpPr>
          <p:nvPr/>
        </p:nvSpPr>
        <p:spPr bwMode="auto">
          <a:xfrm>
            <a:off x="4648200" y="4457700"/>
            <a:ext cx="4267200" cy="156210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If the value of the greatest child of 5 is greater than 5, then swap with the greatest child</a:t>
            </a:r>
          </a:p>
        </p:txBody>
      </p:sp>
      <p:sp>
        <p:nvSpPr>
          <p:cNvPr id="33834" name="Text Box 41"/>
          <p:cNvSpPr txBox="1">
            <a:spLocks noChangeArrowheads="1"/>
          </p:cNvSpPr>
          <p:nvPr/>
        </p:nvSpPr>
        <p:spPr bwMode="auto">
          <a:xfrm>
            <a:off x="228600" y="2103437"/>
            <a:ext cx="2286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Greatest Child</a:t>
            </a:r>
          </a:p>
        </p:txBody>
      </p:sp>
      <p:sp>
        <p:nvSpPr>
          <p:cNvPr id="33835" name="Text Box 42"/>
          <p:cNvSpPr txBox="1">
            <a:spLocks noChangeArrowheads="1"/>
          </p:cNvSpPr>
          <p:nvPr/>
        </p:nvSpPr>
        <p:spPr bwMode="auto">
          <a:xfrm>
            <a:off x="3352800" y="2560637"/>
            <a:ext cx="1676400" cy="8223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39 &gt; 5, so swap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2D677CAF-283A-432A-B5D5-78FAC070A200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31</a:t>
            </a:fld>
            <a:endParaRPr lang="en-US" altLang="en-US" sz="1400"/>
          </a:p>
        </p:txBody>
      </p:sp>
      <p:sp>
        <p:nvSpPr>
          <p:cNvPr id="34819" name="Oval 2"/>
          <p:cNvSpPr>
            <a:spLocks noChangeArrowheads="1"/>
          </p:cNvSpPr>
          <p:nvPr/>
        </p:nvSpPr>
        <p:spPr bwMode="auto">
          <a:xfrm>
            <a:off x="2395538" y="24590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4820" name="Oval 3"/>
          <p:cNvSpPr>
            <a:spLocks noChangeArrowheads="1"/>
          </p:cNvSpPr>
          <p:nvPr/>
        </p:nvSpPr>
        <p:spPr bwMode="auto">
          <a:xfrm>
            <a:off x="1370013" y="3684588"/>
            <a:ext cx="684212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4821" name="Text Box 4"/>
          <p:cNvSpPr txBox="1">
            <a:spLocks noChangeArrowheads="1"/>
          </p:cNvSpPr>
          <p:nvPr/>
        </p:nvSpPr>
        <p:spPr bwMode="auto">
          <a:xfrm>
            <a:off x="1311275" y="3802063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34822" name="Oval 5"/>
          <p:cNvSpPr>
            <a:spLocks noChangeArrowheads="1"/>
          </p:cNvSpPr>
          <p:nvPr/>
        </p:nvSpPr>
        <p:spPr bwMode="auto">
          <a:xfrm>
            <a:off x="685800" y="491013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4823" name="Text Box 6"/>
          <p:cNvSpPr txBox="1">
            <a:spLocks noChangeArrowheads="1"/>
          </p:cNvSpPr>
          <p:nvPr/>
        </p:nvSpPr>
        <p:spPr bwMode="auto">
          <a:xfrm>
            <a:off x="627063" y="5027613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34824" name="Oval 7"/>
          <p:cNvSpPr>
            <a:spLocks noChangeArrowheads="1"/>
          </p:cNvSpPr>
          <p:nvPr/>
        </p:nvSpPr>
        <p:spPr bwMode="auto">
          <a:xfrm>
            <a:off x="1711325" y="4908550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4825" name="Text Box 8"/>
          <p:cNvSpPr txBox="1">
            <a:spLocks noChangeArrowheads="1"/>
          </p:cNvSpPr>
          <p:nvPr/>
        </p:nvSpPr>
        <p:spPr bwMode="auto">
          <a:xfrm>
            <a:off x="1652588" y="5027613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34826" name="Line 9"/>
          <p:cNvSpPr>
            <a:spLocks noChangeShapeType="1"/>
          </p:cNvSpPr>
          <p:nvPr/>
        </p:nvSpPr>
        <p:spPr bwMode="auto">
          <a:xfrm flipH="1">
            <a:off x="1198563" y="4384675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4827" name="Line 10"/>
          <p:cNvSpPr>
            <a:spLocks noChangeShapeType="1"/>
          </p:cNvSpPr>
          <p:nvPr/>
        </p:nvSpPr>
        <p:spPr bwMode="auto">
          <a:xfrm>
            <a:off x="1711325" y="4384675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4828" name="Oval 11"/>
          <p:cNvSpPr>
            <a:spLocks noChangeArrowheads="1"/>
          </p:cNvSpPr>
          <p:nvPr/>
        </p:nvSpPr>
        <p:spPr bwMode="auto">
          <a:xfrm>
            <a:off x="4448175" y="12334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4829" name="Text Box 12"/>
          <p:cNvSpPr txBox="1">
            <a:spLocks noChangeArrowheads="1"/>
          </p:cNvSpPr>
          <p:nvPr/>
        </p:nvSpPr>
        <p:spPr bwMode="auto">
          <a:xfrm>
            <a:off x="2362200" y="2552700"/>
            <a:ext cx="855663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</a:t>
            </a:r>
            <a:r>
              <a:rPr lang="en-US" altLang="en-US" sz="2400" b="1">
                <a:solidFill>
                  <a:srgbClr val="FF3300"/>
                </a:solidFill>
              </a:rPr>
              <a:t>5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34830" name="Line 13"/>
          <p:cNvSpPr>
            <a:spLocks noChangeShapeType="1"/>
          </p:cNvSpPr>
          <p:nvPr/>
        </p:nvSpPr>
        <p:spPr bwMode="auto">
          <a:xfrm>
            <a:off x="2909888" y="1409700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4831" name="Oval 14"/>
          <p:cNvSpPr>
            <a:spLocks noChangeArrowheads="1"/>
          </p:cNvSpPr>
          <p:nvPr/>
        </p:nvSpPr>
        <p:spPr bwMode="auto">
          <a:xfrm>
            <a:off x="3422650" y="36845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4832" name="Line 15"/>
          <p:cNvSpPr>
            <a:spLocks noChangeShapeType="1"/>
          </p:cNvSpPr>
          <p:nvPr/>
        </p:nvSpPr>
        <p:spPr bwMode="auto">
          <a:xfrm flipH="1">
            <a:off x="1882775" y="31591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4833" name="Line 16"/>
          <p:cNvSpPr>
            <a:spLocks noChangeShapeType="1"/>
          </p:cNvSpPr>
          <p:nvPr/>
        </p:nvSpPr>
        <p:spPr bwMode="auto">
          <a:xfrm>
            <a:off x="2909888" y="3159125"/>
            <a:ext cx="682625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4834" name="Oval 17"/>
          <p:cNvSpPr>
            <a:spLocks noChangeArrowheads="1"/>
          </p:cNvSpPr>
          <p:nvPr/>
        </p:nvSpPr>
        <p:spPr bwMode="auto">
          <a:xfrm>
            <a:off x="6500813" y="24590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4835" name="Text Box 18"/>
          <p:cNvSpPr txBox="1">
            <a:spLocks noChangeArrowheads="1"/>
          </p:cNvSpPr>
          <p:nvPr/>
        </p:nvSpPr>
        <p:spPr bwMode="auto">
          <a:xfrm>
            <a:off x="6442075" y="25781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34836" name="Oval 19"/>
          <p:cNvSpPr>
            <a:spLocks noChangeArrowheads="1"/>
          </p:cNvSpPr>
          <p:nvPr/>
        </p:nvSpPr>
        <p:spPr bwMode="auto">
          <a:xfrm>
            <a:off x="5475288" y="3684588"/>
            <a:ext cx="682625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4837" name="Oval 20"/>
          <p:cNvSpPr>
            <a:spLocks noChangeArrowheads="1"/>
          </p:cNvSpPr>
          <p:nvPr/>
        </p:nvSpPr>
        <p:spPr bwMode="auto">
          <a:xfrm>
            <a:off x="7526338" y="36845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4838" name="Text Box 21"/>
          <p:cNvSpPr txBox="1">
            <a:spLocks noChangeArrowheads="1"/>
          </p:cNvSpPr>
          <p:nvPr/>
        </p:nvSpPr>
        <p:spPr bwMode="auto">
          <a:xfrm>
            <a:off x="7467600" y="3802063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34839" name="Line 22"/>
          <p:cNvSpPr>
            <a:spLocks noChangeShapeType="1"/>
          </p:cNvSpPr>
          <p:nvPr/>
        </p:nvSpPr>
        <p:spPr bwMode="auto">
          <a:xfrm flipH="1">
            <a:off x="5988050" y="31591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4840" name="Line 23"/>
          <p:cNvSpPr>
            <a:spLocks noChangeShapeType="1"/>
          </p:cNvSpPr>
          <p:nvPr/>
        </p:nvSpPr>
        <p:spPr bwMode="auto">
          <a:xfrm>
            <a:off x="7013575" y="31591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4841" name="Line 24"/>
          <p:cNvSpPr>
            <a:spLocks noChangeShapeType="1"/>
          </p:cNvSpPr>
          <p:nvPr/>
        </p:nvSpPr>
        <p:spPr bwMode="auto">
          <a:xfrm flipH="1">
            <a:off x="3079750" y="1758950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4842" name="Line 25"/>
          <p:cNvSpPr>
            <a:spLocks noChangeShapeType="1"/>
          </p:cNvSpPr>
          <p:nvPr/>
        </p:nvSpPr>
        <p:spPr bwMode="auto">
          <a:xfrm>
            <a:off x="5132388" y="1758950"/>
            <a:ext cx="1539875" cy="7000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4843" name="Text Box 26"/>
          <p:cNvSpPr txBox="1">
            <a:spLocks noChangeArrowheads="1"/>
          </p:cNvSpPr>
          <p:nvPr/>
        </p:nvSpPr>
        <p:spPr bwMode="auto">
          <a:xfrm>
            <a:off x="1939925" y="1058863"/>
            <a:ext cx="1139825" cy="525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34844" name="Oval 27"/>
          <p:cNvSpPr>
            <a:spLocks noChangeArrowheads="1"/>
          </p:cNvSpPr>
          <p:nvPr/>
        </p:nvSpPr>
        <p:spPr bwMode="auto">
          <a:xfrm>
            <a:off x="3422650" y="3683000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4845" name="Text Box 28"/>
          <p:cNvSpPr txBox="1">
            <a:spLocks noChangeArrowheads="1"/>
          </p:cNvSpPr>
          <p:nvPr/>
        </p:nvSpPr>
        <p:spPr bwMode="auto">
          <a:xfrm>
            <a:off x="3370263" y="3821113"/>
            <a:ext cx="854075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34846" name="Oval 29"/>
          <p:cNvSpPr>
            <a:spLocks noChangeArrowheads="1"/>
          </p:cNvSpPr>
          <p:nvPr/>
        </p:nvSpPr>
        <p:spPr bwMode="auto">
          <a:xfrm>
            <a:off x="2738438" y="4908550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4847" name="Text Box 30"/>
          <p:cNvSpPr txBox="1">
            <a:spLocks noChangeArrowheads="1"/>
          </p:cNvSpPr>
          <p:nvPr/>
        </p:nvSpPr>
        <p:spPr bwMode="auto">
          <a:xfrm>
            <a:off x="2679700" y="5022850"/>
            <a:ext cx="854075" cy="700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34848" name="Oval 31"/>
          <p:cNvSpPr>
            <a:spLocks noChangeArrowheads="1"/>
          </p:cNvSpPr>
          <p:nvPr/>
        </p:nvSpPr>
        <p:spPr bwMode="auto">
          <a:xfrm>
            <a:off x="3763963" y="49053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4849" name="Text Box 32"/>
          <p:cNvSpPr txBox="1">
            <a:spLocks noChangeArrowheads="1"/>
          </p:cNvSpPr>
          <p:nvPr/>
        </p:nvSpPr>
        <p:spPr bwMode="auto">
          <a:xfrm>
            <a:off x="3705225" y="5022850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34850" name="Line 33"/>
          <p:cNvSpPr>
            <a:spLocks noChangeShapeType="1"/>
          </p:cNvSpPr>
          <p:nvPr/>
        </p:nvSpPr>
        <p:spPr bwMode="auto">
          <a:xfrm flipH="1">
            <a:off x="3251200" y="4383088"/>
            <a:ext cx="341313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4851" name="Line 34"/>
          <p:cNvSpPr>
            <a:spLocks noChangeShapeType="1"/>
          </p:cNvSpPr>
          <p:nvPr/>
        </p:nvSpPr>
        <p:spPr bwMode="auto">
          <a:xfrm>
            <a:off x="3763963" y="4383088"/>
            <a:ext cx="342900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4852" name="Oval 35"/>
          <p:cNvSpPr>
            <a:spLocks noChangeArrowheads="1"/>
          </p:cNvSpPr>
          <p:nvPr/>
        </p:nvSpPr>
        <p:spPr bwMode="auto">
          <a:xfrm>
            <a:off x="5475288" y="3683000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4853" name="Text Box 36"/>
          <p:cNvSpPr txBox="1">
            <a:spLocks noChangeArrowheads="1"/>
          </p:cNvSpPr>
          <p:nvPr/>
        </p:nvSpPr>
        <p:spPr bwMode="auto">
          <a:xfrm>
            <a:off x="5427663" y="3821113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34854" name="Text Box 37"/>
          <p:cNvSpPr txBox="1">
            <a:spLocks noChangeArrowheads="1"/>
          </p:cNvSpPr>
          <p:nvPr/>
        </p:nvSpPr>
        <p:spPr bwMode="auto">
          <a:xfrm>
            <a:off x="6400800" y="1211263"/>
            <a:ext cx="2590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34855" name="Rectangle 38"/>
          <p:cNvSpPr>
            <a:spLocks noGrp="1" noChangeArrowheads="1"/>
          </p:cNvSpPr>
          <p:nvPr>
            <p:ph type="title"/>
          </p:nvPr>
        </p:nvSpPr>
        <p:spPr>
          <a:xfrm>
            <a:off x="457200" y="3810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Dequeue (cont.)</a:t>
            </a:r>
          </a:p>
        </p:txBody>
      </p:sp>
      <p:sp>
        <p:nvSpPr>
          <p:cNvPr id="34856" name="Text Box 40"/>
          <p:cNvSpPr txBox="1">
            <a:spLocks noChangeArrowheads="1"/>
          </p:cNvSpPr>
          <p:nvPr/>
        </p:nvSpPr>
        <p:spPr bwMode="auto">
          <a:xfrm>
            <a:off x="4419600" y="13335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</a:t>
            </a:r>
            <a:r>
              <a:rPr lang="en-US" altLang="en-US" sz="2400" b="1"/>
              <a:t>39</a:t>
            </a:r>
            <a:endParaRPr lang="en-US" altLang="en-US" sz="2400"/>
          </a:p>
        </p:txBody>
      </p:sp>
      <p:sp>
        <p:nvSpPr>
          <p:cNvPr id="34857" name="Text Box 41"/>
          <p:cNvSpPr txBox="1">
            <a:spLocks noChangeArrowheads="1"/>
          </p:cNvSpPr>
          <p:nvPr/>
        </p:nvSpPr>
        <p:spPr bwMode="auto">
          <a:xfrm>
            <a:off x="4648200" y="4533900"/>
            <a:ext cx="4267200" cy="156210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Notice that 39 is correctly placed – it is guaranteed to be greater than or equal to its two children 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99A0F4EC-06D0-45B6-A1FA-60348BB15CF3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32</a:t>
            </a:fld>
            <a:endParaRPr lang="en-US" altLang="en-US" sz="1400"/>
          </a:p>
        </p:txBody>
      </p:sp>
      <p:sp>
        <p:nvSpPr>
          <p:cNvPr id="35843" name="Oval 2"/>
          <p:cNvSpPr>
            <a:spLocks noChangeArrowheads="1"/>
          </p:cNvSpPr>
          <p:nvPr/>
        </p:nvSpPr>
        <p:spPr bwMode="auto">
          <a:xfrm>
            <a:off x="2395538" y="244316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5844" name="Oval 3"/>
          <p:cNvSpPr>
            <a:spLocks noChangeArrowheads="1"/>
          </p:cNvSpPr>
          <p:nvPr/>
        </p:nvSpPr>
        <p:spPr bwMode="auto">
          <a:xfrm>
            <a:off x="1370013" y="3668713"/>
            <a:ext cx="684212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5845" name="Text Box 4"/>
          <p:cNvSpPr txBox="1">
            <a:spLocks noChangeArrowheads="1"/>
          </p:cNvSpPr>
          <p:nvPr/>
        </p:nvSpPr>
        <p:spPr bwMode="auto">
          <a:xfrm>
            <a:off x="1311275" y="3786188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35846" name="Oval 5"/>
          <p:cNvSpPr>
            <a:spLocks noChangeArrowheads="1"/>
          </p:cNvSpPr>
          <p:nvPr/>
        </p:nvSpPr>
        <p:spPr bwMode="auto">
          <a:xfrm>
            <a:off x="685800" y="4894263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5847" name="Text Box 6"/>
          <p:cNvSpPr txBox="1">
            <a:spLocks noChangeArrowheads="1"/>
          </p:cNvSpPr>
          <p:nvPr/>
        </p:nvSpPr>
        <p:spPr bwMode="auto">
          <a:xfrm>
            <a:off x="627063" y="5011738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35848" name="Oval 7"/>
          <p:cNvSpPr>
            <a:spLocks noChangeArrowheads="1"/>
          </p:cNvSpPr>
          <p:nvPr/>
        </p:nvSpPr>
        <p:spPr bwMode="auto">
          <a:xfrm>
            <a:off x="1711325" y="48926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5849" name="Text Box 8"/>
          <p:cNvSpPr txBox="1">
            <a:spLocks noChangeArrowheads="1"/>
          </p:cNvSpPr>
          <p:nvPr/>
        </p:nvSpPr>
        <p:spPr bwMode="auto">
          <a:xfrm>
            <a:off x="1652588" y="501173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35850" name="Line 9"/>
          <p:cNvSpPr>
            <a:spLocks noChangeShapeType="1"/>
          </p:cNvSpPr>
          <p:nvPr/>
        </p:nvSpPr>
        <p:spPr bwMode="auto">
          <a:xfrm flipH="1">
            <a:off x="1198563" y="4368800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5851" name="Line 10"/>
          <p:cNvSpPr>
            <a:spLocks noChangeShapeType="1"/>
          </p:cNvSpPr>
          <p:nvPr/>
        </p:nvSpPr>
        <p:spPr bwMode="auto">
          <a:xfrm>
            <a:off x="1711325" y="4368800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5852" name="Oval 11"/>
          <p:cNvSpPr>
            <a:spLocks noChangeArrowheads="1"/>
          </p:cNvSpPr>
          <p:nvPr/>
        </p:nvSpPr>
        <p:spPr bwMode="auto">
          <a:xfrm>
            <a:off x="4448175" y="1217613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5853" name="Text Box 12"/>
          <p:cNvSpPr txBox="1">
            <a:spLocks noChangeArrowheads="1"/>
          </p:cNvSpPr>
          <p:nvPr/>
        </p:nvSpPr>
        <p:spPr bwMode="auto">
          <a:xfrm>
            <a:off x="2362200" y="2536825"/>
            <a:ext cx="855663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</a:t>
            </a:r>
            <a:r>
              <a:rPr lang="en-US" altLang="en-US" sz="2400" b="1">
                <a:solidFill>
                  <a:srgbClr val="FF3300"/>
                </a:solidFill>
              </a:rPr>
              <a:t>5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35854" name="Line 13"/>
          <p:cNvSpPr>
            <a:spLocks noChangeShapeType="1"/>
          </p:cNvSpPr>
          <p:nvPr/>
        </p:nvSpPr>
        <p:spPr bwMode="auto">
          <a:xfrm>
            <a:off x="2909888" y="1393825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5855" name="Oval 14"/>
          <p:cNvSpPr>
            <a:spLocks noChangeArrowheads="1"/>
          </p:cNvSpPr>
          <p:nvPr/>
        </p:nvSpPr>
        <p:spPr bwMode="auto">
          <a:xfrm>
            <a:off x="3422650" y="3668713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5856" name="Line 15"/>
          <p:cNvSpPr>
            <a:spLocks noChangeShapeType="1"/>
          </p:cNvSpPr>
          <p:nvPr/>
        </p:nvSpPr>
        <p:spPr bwMode="auto">
          <a:xfrm flipH="1">
            <a:off x="1882775" y="3143250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5857" name="Line 16"/>
          <p:cNvSpPr>
            <a:spLocks noChangeShapeType="1"/>
          </p:cNvSpPr>
          <p:nvPr/>
        </p:nvSpPr>
        <p:spPr bwMode="auto">
          <a:xfrm>
            <a:off x="2909888" y="3143250"/>
            <a:ext cx="682625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5858" name="Oval 17"/>
          <p:cNvSpPr>
            <a:spLocks noChangeArrowheads="1"/>
          </p:cNvSpPr>
          <p:nvPr/>
        </p:nvSpPr>
        <p:spPr bwMode="auto">
          <a:xfrm>
            <a:off x="6500813" y="244316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5859" name="Text Box 18"/>
          <p:cNvSpPr txBox="1">
            <a:spLocks noChangeArrowheads="1"/>
          </p:cNvSpPr>
          <p:nvPr/>
        </p:nvSpPr>
        <p:spPr bwMode="auto">
          <a:xfrm>
            <a:off x="6442075" y="2562225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35860" name="Oval 19"/>
          <p:cNvSpPr>
            <a:spLocks noChangeArrowheads="1"/>
          </p:cNvSpPr>
          <p:nvPr/>
        </p:nvSpPr>
        <p:spPr bwMode="auto">
          <a:xfrm>
            <a:off x="5475288" y="3668713"/>
            <a:ext cx="682625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5861" name="Oval 20"/>
          <p:cNvSpPr>
            <a:spLocks noChangeArrowheads="1"/>
          </p:cNvSpPr>
          <p:nvPr/>
        </p:nvSpPr>
        <p:spPr bwMode="auto">
          <a:xfrm>
            <a:off x="7526338" y="36687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5862" name="Text Box 21"/>
          <p:cNvSpPr txBox="1">
            <a:spLocks noChangeArrowheads="1"/>
          </p:cNvSpPr>
          <p:nvPr/>
        </p:nvSpPr>
        <p:spPr bwMode="auto">
          <a:xfrm>
            <a:off x="7467600" y="378618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35863" name="Line 22"/>
          <p:cNvSpPr>
            <a:spLocks noChangeShapeType="1"/>
          </p:cNvSpPr>
          <p:nvPr/>
        </p:nvSpPr>
        <p:spPr bwMode="auto">
          <a:xfrm flipH="1">
            <a:off x="5988050" y="3143250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5864" name="Line 23"/>
          <p:cNvSpPr>
            <a:spLocks noChangeShapeType="1"/>
          </p:cNvSpPr>
          <p:nvPr/>
        </p:nvSpPr>
        <p:spPr bwMode="auto">
          <a:xfrm>
            <a:off x="7013575" y="3143250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5865" name="Line 24"/>
          <p:cNvSpPr>
            <a:spLocks noChangeShapeType="1"/>
          </p:cNvSpPr>
          <p:nvPr/>
        </p:nvSpPr>
        <p:spPr bwMode="auto">
          <a:xfrm flipH="1">
            <a:off x="3079750" y="1743075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5866" name="Line 25"/>
          <p:cNvSpPr>
            <a:spLocks noChangeShapeType="1"/>
          </p:cNvSpPr>
          <p:nvPr/>
        </p:nvSpPr>
        <p:spPr bwMode="auto">
          <a:xfrm>
            <a:off x="5132388" y="1743075"/>
            <a:ext cx="1539875" cy="7000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5867" name="Text Box 26"/>
          <p:cNvSpPr txBox="1">
            <a:spLocks noChangeArrowheads="1"/>
          </p:cNvSpPr>
          <p:nvPr/>
        </p:nvSpPr>
        <p:spPr bwMode="auto">
          <a:xfrm>
            <a:off x="1939925" y="1042988"/>
            <a:ext cx="1139825" cy="525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35868" name="Oval 27"/>
          <p:cNvSpPr>
            <a:spLocks noChangeArrowheads="1"/>
          </p:cNvSpPr>
          <p:nvPr/>
        </p:nvSpPr>
        <p:spPr bwMode="auto">
          <a:xfrm>
            <a:off x="3422650" y="3667125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5869" name="Text Box 28"/>
          <p:cNvSpPr txBox="1">
            <a:spLocks noChangeArrowheads="1"/>
          </p:cNvSpPr>
          <p:nvPr/>
        </p:nvSpPr>
        <p:spPr bwMode="auto">
          <a:xfrm>
            <a:off x="3370263" y="3805238"/>
            <a:ext cx="854075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35870" name="Oval 29"/>
          <p:cNvSpPr>
            <a:spLocks noChangeArrowheads="1"/>
          </p:cNvSpPr>
          <p:nvPr/>
        </p:nvSpPr>
        <p:spPr bwMode="auto">
          <a:xfrm>
            <a:off x="2738438" y="48926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5871" name="Text Box 30"/>
          <p:cNvSpPr txBox="1">
            <a:spLocks noChangeArrowheads="1"/>
          </p:cNvSpPr>
          <p:nvPr/>
        </p:nvSpPr>
        <p:spPr bwMode="auto">
          <a:xfrm>
            <a:off x="2679700" y="5006975"/>
            <a:ext cx="854075" cy="700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35872" name="Oval 31"/>
          <p:cNvSpPr>
            <a:spLocks noChangeArrowheads="1"/>
          </p:cNvSpPr>
          <p:nvPr/>
        </p:nvSpPr>
        <p:spPr bwMode="auto">
          <a:xfrm>
            <a:off x="3763963" y="4889500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5873" name="Text Box 32"/>
          <p:cNvSpPr txBox="1">
            <a:spLocks noChangeArrowheads="1"/>
          </p:cNvSpPr>
          <p:nvPr/>
        </p:nvSpPr>
        <p:spPr bwMode="auto">
          <a:xfrm>
            <a:off x="3705225" y="5006975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35874" name="Line 33"/>
          <p:cNvSpPr>
            <a:spLocks noChangeShapeType="1"/>
          </p:cNvSpPr>
          <p:nvPr/>
        </p:nvSpPr>
        <p:spPr bwMode="auto">
          <a:xfrm flipH="1">
            <a:off x="3251200" y="4367213"/>
            <a:ext cx="341313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5875" name="Line 34"/>
          <p:cNvSpPr>
            <a:spLocks noChangeShapeType="1"/>
          </p:cNvSpPr>
          <p:nvPr/>
        </p:nvSpPr>
        <p:spPr bwMode="auto">
          <a:xfrm>
            <a:off x="3763963" y="4367213"/>
            <a:ext cx="342900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5876" name="Oval 35"/>
          <p:cNvSpPr>
            <a:spLocks noChangeArrowheads="1"/>
          </p:cNvSpPr>
          <p:nvPr/>
        </p:nvSpPr>
        <p:spPr bwMode="auto">
          <a:xfrm>
            <a:off x="5475288" y="3667125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5877" name="Text Box 36"/>
          <p:cNvSpPr txBox="1">
            <a:spLocks noChangeArrowheads="1"/>
          </p:cNvSpPr>
          <p:nvPr/>
        </p:nvSpPr>
        <p:spPr bwMode="auto">
          <a:xfrm>
            <a:off x="5427663" y="3805238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35878" name="Text Box 37"/>
          <p:cNvSpPr txBox="1">
            <a:spLocks noChangeArrowheads="1"/>
          </p:cNvSpPr>
          <p:nvPr/>
        </p:nvSpPr>
        <p:spPr bwMode="auto">
          <a:xfrm>
            <a:off x="6400800" y="1195388"/>
            <a:ext cx="2590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35879" name="Rectangle 38"/>
          <p:cNvSpPr>
            <a:spLocks noGrp="1" noChangeArrowheads="1"/>
          </p:cNvSpPr>
          <p:nvPr>
            <p:ph type="title"/>
          </p:nvPr>
        </p:nvSpPr>
        <p:spPr>
          <a:xfrm>
            <a:off x="457200" y="22225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Dequeue (cont.)</a:t>
            </a:r>
          </a:p>
        </p:txBody>
      </p:sp>
      <p:sp>
        <p:nvSpPr>
          <p:cNvPr id="35880" name="Text Box 39"/>
          <p:cNvSpPr txBox="1">
            <a:spLocks noChangeArrowheads="1"/>
          </p:cNvSpPr>
          <p:nvPr/>
        </p:nvSpPr>
        <p:spPr bwMode="auto">
          <a:xfrm>
            <a:off x="4419600" y="1317625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</a:t>
            </a:r>
            <a:r>
              <a:rPr lang="en-US" altLang="en-US" sz="2400" b="1"/>
              <a:t>39</a:t>
            </a:r>
            <a:endParaRPr lang="en-US" altLang="en-US" sz="2400"/>
          </a:p>
        </p:txBody>
      </p:sp>
      <p:sp>
        <p:nvSpPr>
          <p:cNvPr id="35881" name="Text Box 40"/>
          <p:cNvSpPr txBox="1">
            <a:spLocks noChangeArrowheads="1"/>
          </p:cNvSpPr>
          <p:nvPr/>
        </p:nvSpPr>
        <p:spPr bwMode="auto">
          <a:xfrm>
            <a:off x="4648200" y="4518025"/>
            <a:ext cx="4267200" cy="1196975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It was the greatest child, so it is greater than the other child (28)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AEF8ADF6-5EEA-4B56-A687-7242C93AE8E0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33</a:t>
            </a:fld>
            <a:endParaRPr lang="en-US" altLang="en-US" sz="1400"/>
          </a:p>
        </p:txBody>
      </p:sp>
      <p:sp>
        <p:nvSpPr>
          <p:cNvPr id="36867" name="Oval 2"/>
          <p:cNvSpPr>
            <a:spLocks noChangeArrowheads="1"/>
          </p:cNvSpPr>
          <p:nvPr/>
        </p:nvSpPr>
        <p:spPr bwMode="auto">
          <a:xfrm>
            <a:off x="2395538" y="24590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6868" name="Oval 3"/>
          <p:cNvSpPr>
            <a:spLocks noChangeArrowheads="1"/>
          </p:cNvSpPr>
          <p:nvPr/>
        </p:nvSpPr>
        <p:spPr bwMode="auto">
          <a:xfrm>
            <a:off x="1370013" y="3684588"/>
            <a:ext cx="684212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6869" name="Text Box 4"/>
          <p:cNvSpPr txBox="1">
            <a:spLocks noChangeArrowheads="1"/>
          </p:cNvSpPr>
          <p:nvPr/>
        </p:nvSpPr>
        <p:spPr bwMode="auto">
          <a:xfrm>
            <a:off x="1311275" y="3802063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36870" name="Oval 5"/>
          <p:cNvSpPr>
            <a:spLocks noChangeArrowheads="1"/>
          </p:cNvSpPr>
          <p:nvPr/>
        </p:nvSpPr>
        <p:spPr bwMode="auto">
          <a:xfrm>
            <a:off x="685800" y="491013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6871" name="Text Box 6"/>
          <p:cNvSpPr txBox="1">
            <a:spLocks noChangeArrowheads="1"/>
          </p:cNvSpPr>
          <p:nvPr/>
        </p:nvSpPr>
        <p:spPr bwMode="auto">
          <a:xfrm>
            <a:off x="627063" y="5027613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36872" name="Oval 7"/>
          <p:cNvSpPr>
            <a:spLocks noChangeArrowheads="1"/>
          </p:cNvSpPr>
          <p:nvPr/>
        </p:nvSpPr>
        <p:spPr bwMode="auto">
          <a:xfrm>
            <a:off x="1711325" y="4908550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6873" name="Text Box 8"/>
          <p:cNvSpPr txBox="1">
            <a:spLocks noChangeArrowheads="1"/>
          </p:cNvSpPr>
          <p:nvPr/>
        </p:nvSpPr>
        <p:spPr bwMode="auto">
          <a:xfrm>
            <a:off x="1652588" y="5027613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36874" name="Line 9"/>
          <p:cNvSpPr>
            <a:spLocks noChangeShapeType="1"/>
          </p:cNvSpPr>
          <p:nvPr/>
        </p:nvSpPr>
        <p:spPr bwMode="auto">
          <a:xfrm flipH="1">
            <a:off x="1198563" y="4384675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6875" name="Line 10"/>
          <p:cNvSpPr>
            <a:spLocks noChangeShapeType="1"/>
          </p:cNvSpPr>
          <p:nvPr/>
        </p:nvSpPr>
        <p:spPr bwMode="auto">
          <a:xfrm>
            <a:off x="1711325" y="4384675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6876" name="Oval 11"/>
          <p:cNvSpPr>
            <a:spLocks noChangeArrowheads="1"/>
          </p:cNvSpPr>
          <p:nvPr/>
        </p:nvSpPr>
        <p:spPr bwMode="auto">
          <a:xfrm>
            <a:off x="4448175" y="12334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6877" name="Text Box 12"/>
          <p:cNvSpPr txBox="1">
            <a:spLocks noChangeArrowheads="1"/>
          </p:cNvSpPr>
          <p:nvPr/>
        </p:nvSpPr>
        <p:spPr bwMode="auto">
          <a:xfrm>
            <a:off x="2362200" y="2552700"/>
            <a:ext cx="855663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</a:t>
            </a:r>
            <a:r>
              <a:rPr lang="en-US" altLang="en-US" sz="2400" b="1">
                <a:solidFill>
                  <a:srgbClr val="FF3300"/>
                </a:solidFill>
              </a:rPr>
              <a:t>5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36878" name="Line 13"/>
          <p:cNvSpPr>
            <a:spLocks noChangeShapeType="1"/>
          </p:cNvSpPr>
          <p:nvPr/>
        </p:nvSpPr>
        <p:spPr bwMode="auto">
          <a:xfrm>
            <a:off x="2909888" y="1409700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6879" name="Oval 14"/>
          <p:cNvSpPr>
            <a:spLocks noChangeArrowheads="1"/>
          </p:cNvSpPr>
          <p:nvPr/>
        </p:nvSpPr>
        <p:spPr bwMode="auto">
          <a:xfrm>
            <a:off x="3422650" y="36845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6880" name="Line 15"/>
          <p:cNvSpPr>
            <a:spLocks noChangeShapeType="1"/>
          </p:cNvSpPr>
          <p:nvPr/>
        </p:nvSpPr>
        <p:spPr bwMode="auto">
          <a:xfrm flipH="1">
            <a:off x="1882775" y="31591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6881" name="Line 16"/>
          <p:cNvSpPr>
            <a:spLocks noChangeShapeType="1"/>
          </p:cNvSpPr>
          <p:nvPr/>
        </p:nvSpPr>
        <p:spPr bwMode="auto">
          <a:xfrm>
            <a:off x="2909888" y="3159125"/>
            <a:ext cx="682625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6882" name="Oval 17"/>
          <p:cNvSpPr>
            <a:spLocks noChangeArrowheads="1"/>
          </p:cNvSpPr>
          <p:nvPr/>
        </p:nvSpPr>
        <p:spPr bwMode="auto">
          <a:xfrm>
            <a:off x="6500813" y="24590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6883" name="Text Box 18"/>
          <p:cNvSpPr txBox="1">
            <a:spLocks noChangeArrowheads="1"/>
          </p:cNvSpPr>
          <p:nvPr/>
        </p:nvSpPr>
        <p:spPr bwMode="auto">
          <a:xfrm>
            <a:off x="6442075" y="25781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36884" name="Oval 19"/>
          <p:cNvSpPr>
            <a:spLocks noChangeArrowheads="1"/>
          </p:cNvSpPr>
          <p:nvPr/>
        </p:nvSpPr>
        <p:spPr bwMode="auto">
          <a:xfrm>
            <a:off x="5475288" y="3684588"/>
            <a:ext cx="682625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6885" name="Oval 20"/>
          <p:cNvSpPr>
            <a:spLocks noChangeArrowheads="1"/>
          </p:cNvSpPr>
          <p:nvPr/>
        </p:nvSpPr>
        <p:spPr bwMode="auto">
          <a:xfrm>
            <a:off x="7526338" y="36845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6886" name="Text Box 21"/>
          <p:cNvSpPr txBox="1">
            <a:spLocks noChangeArrowheads="1"/>
          </p:cNvSpPr>
          <p:nvPr/>
        </p:nvSpPr>
        <p:spPr bwMode="auto">
          <a:xfrm>
            <a:off x="7467600" y="3802063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36887" name="Line 22"/>
          <p:cNvSpPr>
            <a:spLocks noChangeShapeType="1"/>
          </p:cNvSpPr>
          <p:nvPr/>
        </p:nvSpPr>
        <p:spPr bwMode="auto">
          <a:xfrm flipH="1">
            <a:off x="5988050" y="31591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6888" name="Line 23"/>
          <p:cNvSpPr>
            <a:spLocks noChangeShapeType="1"/>
          </p:cNvSpPr>
          <p:nvPr/>
        </p:nvSpPr>
        <p:spPr bwMode="auto">
          <a:xfrm>
            <a:off x="7013575" y="31591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6889" name="Line 24"/>
          <p:cNvSpPr>
            <a:spLocks noChangeShapeType="1"/>
          </p:cNvSpPr>
          <p:nvPr/>
        </p:nvSpPr>
        <p:spPr bwMode="auto">
          <a:xfrm flipH="1">
            <a:off x="3079750" y="1758950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6890" name="Line 25"/>
          <p:cNvSpPr>
            <a:spLocks noChangeShapeType="1"/>
          </p:cNvSpPr>
          <p:nvPr/>
        </p:nvSpPr>
        <p:spPr bwMode="auto">
          <a:xfrm>
            <a:off x="5132388" y="1758950"/>
            <a:ext cx="1539875" cy="7000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6891" name="Text Box 26"/>
          <p:cNvSpPr txBox="1">
            <a:spLocks noChangeArrowheads="1"/>
          </p:cNvSpPr>
          <p:nvPr/>
        </p:nvSpPr>
        <p:spPr bwMode="auto">
          <a:xfrm>
            <a:off x="1939925" y="1058863"/>
            <a:ext cx="1139825" cy="525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36892" name="Oval 27"/>
          <p:cNvSpPr>
            <a:spLocks noChangeArrowheads="1"/>
          </p:cNvSpPr>
          <p:nvPr/>
        </p:nvSpPr>
        <p:spPr bwMode="auto">
          <a:xfrm>
            <a:off x="3422650" y="3683000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6893" name="Text Box 28"/>
          <p:cNvSpPr txBox="1">
            <a:spLocks noChangeArrowheads="1"/>
          </p:cNvSpPr>
          <p:nvPr/>
        </p:nvSpPr>
        <p:spPr bwMode="auto">
          <a:xfrm>
            <a:off x="3370263" y="3821113"/>
            <a:ext cx="854075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36894" name="Oval 29"/>
          <p:cNvSpPr>
            <a:spLocks noChangeArrowheads="1"/>
          </p:cNvSpPr>
          <p:nvPr/>
        </p:nvSpPr>
        <p:spPr bwMode="auto">
          <a:xfrm>
            <a:off x="2738438" y="4908550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6895" name="Text Box 30"/>
          <p:cNvSpPr txBox="1">
            <a:spLocks noChangeArrowheads="1"/>
          </p:cNvSpPr>
          <p:nvPr/>
        </p:nvSpPr>
        <p:spPr bwMode="auto">
          <a:xfrm>
            <a:off x="2679700" y="5022850"/>
            <a:ext cx="854075" cy="700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36896" name="Oval 31"/>
          <p:cNvSpPr>
            <a:spLocks noChangeArrowheads="1"/>
          </p:cNvSpPr>
          <p:nvPr/>
        </p:nvSpPr>
        <p:spPr bwMode="auto">
          <a:xfrm>
            <a:off x="3763963" y="49053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6897" name="Text Box 32"/>
          <p:cNvSpPr txBox="1">
            <a:spLocks noChangeArrowheads="1"/>
          </p:cNvSpPr>
          <p:nvPr/>
        </p:nvSpPr>
        <p:spPr bwMode="auto">
          <a:xfrm>
            <a:off x="3705225" y="5022850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36898" name="Line 33"/>
          <p:cNvSpPr>
            <a:spLocks noChangeShapeType="1"/>
          </p:cNvSpPr>
          <p:nvPr/>
        </p:nvSpPr>
        <p:spPr bwMode="auto">
          <a:xfrm flipH="1">
            <a:off x="3251200" y="4383088"/>
            <a:ext cx="341313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6899" name="Line 34"/>
          <p:cNvSpPr>
            <a:spLocks noChangeShapeType="1"/>
          </p:cNvSpPr>
          <p:nvPr/>
        </p:nvSpPr>
        <p:spPr bwMode="auto">
          <a:xfrm>
            <a:off x="3763963" y="4383088"/>
            <a:ext cx="342900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6900" name="Oval 35"/>
          <p:cNvSpPr>
            <a:spLocks noChangeArrowheads="1"/>
          </p:cNvSpPr>
          <p:nvPr/>
        </p:nvSpPr>
        <p:spPr bwMode="auto">
          <a:xfrm>
            <a:off x="5475288" y="3683000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6901" name="Text Box 36"/>
          <p:cNvSpPr txBox="1">
            <a:spLocks noChangeArrowheads="1"/>
          </p:cNvSpPr>
          <p:nvPr/>
        </p:nvSpPr>
        <p:spPr bwMode="auto">
          <a:xfrm>
            <a:off x="5427663" y="3821113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36902" name="Text Box 37"/>
          <p:cNvSpPr txBox="1">
            <a:spLocks noChangeArrowheads="1"/>
          </p:cNvSpPr>
          <p:nvPr/>
        </p:nvSpPr>
        <p:spPr bwMode="auto">
          <a:xfrm>
            <a:off x="6400800" y="1211263"/>
            <a:ext cx="2590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36903" name="Rectangle 38"/>
          <p:cNvSpPr>
            <a:spLocks noGrp="1" noChangeArrowheads="1"/>
          </p:cNvSpPr>
          <p:nvPr>
            <p:ph type="title"/>
          </p:nvPr>
        </p:nvSpPr>
        <p:spPr>
          <a:xfrm>
            <a:off x="457200" y="3810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Dequeue (cont.)</a:t>
            </a:r>
          </a:p>
        </p:txBody>
      </p:sp>
      <p:sp>
        <p:nvSpPr>
          <p:cNvPr id="36904" name="Text Box 39"/>
          <p:cNvSpPr txBox="1">
            <a:spLocks noChangeArrowheads="1"/>
          </p:cNvSpPr>
          <p:nvPr/>
        </p:nvSpPr>
        <p:spPr bwMode="auto">
          <a:xfrm>
            <a:off x="4419600" y="13335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</a:t>
            </a:r>
            <a:r>
              <a:rPr lang="en-US" altLang="en-US" sz="2400" b="1"/>
              <a:t>39</a:t>
            </a:r>
            <a:endParaRPr lang="en-US" altLang="en-US" sz="2400"/>
          </a:p>
        </p:txBody>
      </p:sp>
      <p:sp>
        <p:nvSpPr>
          <p:cNvPr id="36905" name="Text Box 40"/>
          <p:cNvSpPr txBox="1">
            <a:spLocks noChangeArrowheads="1"/>
          </p:cNvSpPr>
          <p:nvPr/>
        </p:nvSpPr>
        <p:spPr bwMode="auto">
          <a:xfrm>
            <a:off x="4648200" y="4533900"/>
            <a:ext cx="4267200" cy="156210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It is greater than the element it was swapped with (5), or else we wouldn’t have swapped.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A951A6A3-11D8-46A9-B3CC-BC66D87540D0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34</a:t>
            </a:fld>
            <a:endParaRPr lang="en-US" altLang="en-US" sz="1400"/>
          </a:p>
        </p:txBody>
      </p:sp>
      <p:sp>
        <p:nvSpPr>
          <p:cNvPr id="37891" name="Oval 2"/>
          <p:cNvSpPr>
            <a:spLocks noChangeArrowheads="1"/>
          </p:cNvSpPr>
          <p:nvPr/>
        </p:nvSpPr>
        <p:spPr bwMode="auto">
          <a:xfrm>
            <a:off x="2395538" y="244316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7892" name="Oval 3"/>
          <p:cNvSpPr>
            <a:spLocks noChangeArrowheads="1"/>
          </p:cNvSpPr>
          <p:nvPr/>
        </p:nvSpPr>
        <p:spPr bwMode="auto">
          <a:xfrm>
            <a:off x="1370013" y="3668713"/>
            <a:ext cx="684212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7893" name="Text Box 4"/>
          <p:cNvSpPr txBox="1">
            <a:spLocks noChangeArrowheads="1"/>
          </p:cNvSpPr>
          <p:nvPr/>
        </p:nvSpPr>
        <p:spPr bwMode="auto">
          <a:xfrm>
            <a:off x="1311275" y="3786188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37894" name="Oval 5"/>
          <p:cNvSpPr>
            <a:spLocks noChangeArrowheads="1"/>
          </p:cNvSpPr>
          <p:nvPr/>
        </p:nvSpPr>
        <p:spPr bwMode="auto">
          <a:xfrm>
            <a:off x="685800" y="4894263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7895" name="Text Box 6"/>
          <p:cNvSpPr txBox="1">
            <a:spLocks noChangeArrowheads="1"/>
          </p:cNvSpPr>
          <p:nvPr/>
        </p:nvSpPr>
        <p:spPr bwMode="auto">
          <a:xfrm>
            <a:off x="627063" y="5011738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37896" name="Oval 7"/>
          <p:cNvSpPr>
            <a:spLocks noChangeArrowheads="1"/>
          </p:cNvSpPr>
          <p:nvPr/>
        </p:nvSpPr>
        <p:spPr bwMode="auto">
          <a:xfrm>
            <a:off x="1711325" y="48926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7897" name="Text Box 8"/>
          <p:cNvSpPr txBox="1">
            <a:spLocks noChangeArrowheads="1"/>
          </p:cNvSpPr>
          <p:nvPr/>
        </p:nvSpPr>
        <p:spPr bwMode="auto">
          <a:xfrm>
            <a:off x="1652588" y="501173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37898" name="Line 9"/>
          <p:cNvSpPr>
            <a:spLocks noChangeShapeType="1"/>
          </p:cNvSpPr>
          <p:nvPr/>
        </p:nvSpPr>
        <p:spPr bwMode="auto">
          <a:xfrm flipH="1">
            <a:off x="1198563" y="4368800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7899" name="Line 10"/>
          <p:cNvSpPr>
            <a:spLocks noChangeShapeType="1"/>
          </p:cNvSpPr>
          <p:nvPr/>
        </p:nvSpPr>
        <p:spPr bwMode="auto">
          <a:xfrm>
            <a:off x="1711325" y="4368800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7900" name="Oval 11"/>
          <p:cNvSpPr>
            <a:spLocks noChangeArrowheads="1"/>
          </p:cNvSpPr>
          <p:nvPr/>
        </p:nvSpPr>
        <p:spPr bwMode="auto">
          <a:xfrm>
            <a:off x="4448175" y="1217613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7901" name="Text Box 12"/>
          <p:cNvSpPr txBox="1">
            <a:spLocks noChangeArrowheads="1"/>
          </p:cNvSpPr>
          <p:nvPr/>
        </p:nvSpPr>
        <p:spPr bwMode="auto">
          <a:xfrm>
            <a:off x="2362200" y="2536825"/>
            <a:ext cx="855663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</a:t>
            </a:r>
            <a:r>
              <a:rPr lang="en-US" altLang="en-US" sz="2400" b="1">
                <a:solidFill>
                  <a:srgbClr val="FF3300"/>
                </a:solidFill>
              </a:rPr>
              <a:t>5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37902" name="Line 13"/>
          <p:cNvSpPr>
            <a:spLocks noChangeShapeType="1"/>
          </p:cNvSpPr>
          <p:nvPr/>
        </p:nvSpPr>
        <p:spPr bwMode="auto">
          <a:xfrm>
            <a:off x="2909888" y="1393825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7903" name="Oval 14"/>
          <p:cNvSpPr>
            <a:spLocks noChangeArrowheads="1"/>
          </p:cNvSpPr>
          <p:nvPr/>
        </p:nvSpPr>
        <p:spPr bwMode="auto">
          <a:xfrm>
            <a:off x="3422650" y="3668713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7904" name="Line 15"/>
          <p:cNvSpPr>
            <a:spLocks noChangeShapeType="1"/>
          </p:cNvSpPr>
          <p:nvPr/>
        </p:nvSpPr>
        <p:spPr bwMode="auto">
          <a:xfrm flipH="1">
            <a:off x="1882775" y="3143250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7905" name="Line 16"/>
          <p:cNvSpPr>
            <a:spLocks noChangeShapeType="1"/>
          </p:cNvSpPr>
          <p:nvPr/>
        </p:nvSpPr>
        <p:spPr bwMode="auto">
          <a:xfrm>
            <a:off x="2909888" y="3143250"/>
            <a:ext cx="682625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7906" name="Oval 17"/>
          <p:cNvSpPr>
            <a:spLocks noChangeArrowheads="1"/>
          </p:cNvSpPr>
          <p:nvPr/>
        </p:nvSpPr>
        <p:spPr bwMode="auto">
          <a:xfrm>
            <a:off x="6500813" y="244316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7907" name="Text Box 18"/>
          <p:cNvSpPr txBox="1">
            <a:spLocks noChangeArrowheads="1"/>
          </p:cNvSpPr>
          <p:nvPr/>
        </p:nvSpPr>
        <p:spPr bwMode="auto">
          <a:xfrm>
            <a:off x="6442075" y="2562225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37908" name="Oval 19"/>
          <p:cNvSpPr>
            <a:spLocks noChangeArrowheads="1"/>
          </p:cNvSpPr>
          <p:nvPr/>
        </p:nvSpPr>
        <p:spPr bwMode="auto">
          <a:xfrm>
            <a:off x="5475288" y="3668713"/>
            <a:ext cx="682625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7909" name="Oval 20"/>
          <p:cNvSpPr>
            <a:spLocks noChangeArrowheads="1"/>
          </p:cNvSpPr>
          <p:nvPr/>
        </p:nvSpPr>
        <p:spPr bwMode="auto">
          <a:xfrm>
            <a:off x="7526338" y="36687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7910" name="Text Box 21"/>
          <p:cNvSpPr txBox="1">
            <a:spLocks noChangeArrowheads="1"/>
          </p:cNvSpPr>
          <p:nvPr/>
        </p:nvSpPr>
        <p:spPr bwMode="auto">
          <a:xfrm>
            <a:off x="7467600" y="378618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37911" name="Line 22"/>
          <p:cNvSpPr>
            <a:spLocks noChangeShapeType="1"/>
          </p:cNvSpPr>
          <p:nvPr/>
        </p:nvSpPr>
        <p:spPr bwMode="auto">
          <a:xfrm flipH="1">
            <a:off x="5988050" y="3143250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7912" name="Line 23"/>
          <p:cNvSpPr>
            <a:spLocks noChangeShapeType="1"/>
          </p:cNvSpPr>
          <p:nvPr/>
        </p:nvSpPr>
        <p:spPr bwMode="auto">
          <a:xfrm>
            <a:off x="7013575" y="3143250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7913" name="Line 24"/>
          <p:cNvSpPr>
            <a:spLocks noChangeShapeType="1"/>
          </p:cNvSpPr>
          <p:nvPr/>
        </p:nvSpPr>
        <p:spPr bwMode="auto">
          <a:xfrm flipH="1">
            <a:off x="3079750" y="1743075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7914" name="Line 25"/>
          <p:cNvSpPr>
            <a:spLocks noChangeShapeType="1"/>
          </p:cNvSpPr>
          <p:nvPr/>
        </p:nvSpPr>
        <p:spPr bwMode="auto">
          <a:xfrm>
            <a:off x="5132388" y="1743075"/>
            <a:ext cx="1539875" cy="7000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7915" name="Text Box 26"/>
          <p:cNvSpPr txBox="1">
            <a:spLocks noChangeArrowheads="1"/>
          </p:cNvSpPr>
          <p:nvPr/>
        </p:nvSpPr>
        <p:spPr bwMode="auto">
          <a:xfrm>
            <a:off x="1939925" y="1042988"/>
            <a:ext cx="1139825" cy="525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37916" name="Oval 27"/>
          <p:cNvSpPr>
            <a:spLocks noChangeArrowheads="1"/>
          </p:cNvSpPr>
          <p:nvPr/>
        </p:nvSpPr>
        <p:spPr bwMode="auto">
          <a:xfrm>
            <a:off x="3422650" y="3667125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7917" name="Text Box 28"/>
          <p:cNvSpPr txBox="1">
            <a:spLocks noChangeArrowheads="1"/>
          </p:cNvSpPr>
          <p:nvPr/>
        </p:nvSpPr>
        <p:spPr bwMode="auto">
          <a:xfrm>
            <a:off x="3370263" y="3805238"/>
            <a:ext cx="854075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37918" name="Oval 29"/>
          <p:cNvSpPr>
            <a:spLocks noChangeArrowheads="1"/>
          </p:cNvSpPr>
          <p:nvPr/>
        </p:nvSpPr>
        <p:spPr bwMode="auto">
          <a:xfrm>
            <a:off x="2738438" y="48926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7919" name="Text Box 30"/>
          <p:cNvSpPr txBox="1">
            <a:spLocks noChangeArrowheads="1"/>
          </p:cNvSpPr>
          <p:nvPr/>
        </p:nvSpPr>
        <p:spPr bwMode="auto">
          <a:xfrm>
            <a:off x="2679700" y="5006975"/>
            <a:ext cx="854075" cy="700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37920" name="Oval 31"/>
          <p:cNvSpPr>
            <a:spLocks noChangeArrowheads="1"/>
          </p:cNvSpPr>
          <p:nvPr/>
        </p:nvSpPr>
        <p:spPr bwMode="auto">
          <a:xfrm>
            <a:off x="3763963" y="4889500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7921" name="Text Box 32"/>
          <p:cNvSpPr txBox="1">
            <a:spLocks noChangeArrowheads="1"/>
          </p:cNvSpPr>
          <p:nvPr/>
        </p:nvSpPr>
        <p:spPr bwMode="auto">
          <a:xfrm>
            <a:off x="3705225" y="5006975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37922" name="Line 33"/>
          <p:cNvSpPr>
            <a:spLocks noChangeShapeType="1"/>
          </p:cNvSpPr>
          <p:nvPr/>
        </p:nvSpPr>
        <p:spPr bwMode="auto">
          <a:xfrm flipH="1">
            <a:off x="3251200" y="4367213"/>
            <a:ext cx="341313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7923" name="Line 34"/>
          <p:cNvSpPr>
            <a:spLocks noChangeShapeType="1"/>
          </p:cNvSpPr>
          <p:nvPr/>
        </p:nvSpPr>
        <p:spPr bwMode="auto">
          <a:xfrm>
            <a:off x="3763963" y="4367213"/>
            <a:ext cx="342900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7924" name="Oval 35"/>
          <p:cNvSpPr>
            <a:spLocks noChangeArrowheads="1"/>
          </p:cNvSpPr>
          <p:nvPr/>
        </p:nvSpPr>
        <p:spPr bwMode="auto">
          <a:xfrm>
            <a:off x="5475288" y="3667125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7925" name="Text Box 36"/>
          <p:cNvSpPr txBox="1">
            <a:spLocks noChangeArrowheads="1"/>
          </p:cNvSpPr>
          <p:nvPr/>
        </p:nvSpPr>
        <p:spPr bwMode="auto">
          <a:xfrm>
            <a:off x="5427663" y="3805238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37926" name="Text Box 37"/>
          <p:cNvSpPr txBox="1">
            <a:spLocks noChangeArrowheads="1"/>
          </p:cNvSpPr>
          <p:nvPr/>
        </p:nvSpPr>
        <p:spPr bwMode="auto">
          <a:xfrm>
            <a:off x="6400800" y="1195388"/>
            <a:ext cx="2590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37927" name="Rectangle 38"/>
          <p:cNvSpPr>
            <a:spLocks noGrp="1" noChangeArrowheads="1"/>
          </p:cNvSpPr>
          <p:nvPr>
            <p:ph type="title"/>
          </p:nvPr>
        </p:nvSpPr>
        <p:spPr>
          <a:xfrm>
            <a:off x="457200" y="22225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Dequeue (cont.)</a:t>
            </a:r>
          </a:p>
        </p:txBody>
      </p:sp>
      <p:sp>
        <p:nvSpPr>
          <p:cNvPr id="37928" name="Text Box 39"/>
          <p:cNvSpPr txBox="1">
            <a:spLocks noChangeArrowheads="1"/>
          </p:cNvSpPr>
          <p:nvPr/>
        </p:nvSpPr>
        <p:spPr bwMode="auto">
          <a:xfrm>
            <a:off x="4419600" y="1317625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</a:t>
            </a:r>
            <a:r>
              <a:rPr lang="en-US" altLang="en-US" sz="2400" b="1"/>
              <a:t>39</a:t>
            </a:r>
            <a:endParaRPr lang="en-US" altLang="en-US" sz="2400"/>
          </a:p>
        </p:txBody>
      </p:sp>
      <p:sp>
        <p:nvSpPr>
          <p:cNvPr id="37929" name="Text Box 40"/>
          <p:cNvSpPr txBox="1">
            <a:spLocks noChangeArrowheads="1"/>
          </p:cNvSpPr>
          <p:nvPr/>
        </p:nvSpPr>
        <p:spPr bwMode="auto">
          <a:xfrm>
            <a:off x="4648200" y="4518025"/>
            <a:ext cx="4267200" cy="1196975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At this point, we repeat the process, using 5 as the parent.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E750D6A6-CB60-4191-AF04-219A5F568500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35</a:t>
            </a:fld>
            <a:endParaRPr lang="en-US" altLang="en-US" sz="1400"/>
          </a:p>
        </p:txBody>
      </p:sp>
      <p:sp>
        <p:nvSpPr>
          <p:cNvPr id="38915" name="Oval 2"/>
          <p:cNvSpPr>
            <a:spLocks noChangeArrowheads="1"/>
          </p:cNvSpPr>
          <p:nvPr/>
        </p:nvSpPr>
        <p:spPr bwMode="auto">
          <a:xfrm>
            <a:off x="2395538" y="24590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8916" name="Oval 3"/>
          <p:cNvSpPr>
            <a:spLocks noChangeArrowheads="1"/>
          </p:cNvSpPr>
          <p:nvPr/>
        </p:nvSpPr>
        <p:spPr bwMode="auto">
          <a:xfrm>
            <a:off x="1370013" y="3684588"/>
            <a:ext cx="684212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8917" name="Text Box 4"/>
          <p:cNvSpPr txBox="1">
            <a:spLocks noChangeArrowheads="1"/>
          </p:cNvSpPr>
          <p:nvPr/>
        </p:nvSpPr>
        <p:spPr bwMode="auto">
          <a:xfrm>
            <a:off x="1311275" y="3802063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38918" name="Oval 5"/>
          <p:cNvSpPr>
            <a:spLocks noChangeArrowheads="1"/>
          </p:cNvSpPr>
          <p:nvPr/>
        </p:nvSpPr>
        <p:spPr bwMode="auto">
          <a:xfrm>
            <a:off x="685800" y="491013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8919" name="Text Box 6"/>
          <p:cNvSpPr txBox="1">
            <a:spLocks noChangeArrowheads="1"/>
          </p:cNvSpPr>
          <p:nvPr/>
        </p:nvSpPr>
        <p:spPr bwMode="auto">
          <a:xfrm>
            <a:off x="627063" y="5027613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38920" name="Oval 7"/>
          <p:cNvSpPr>
            <a:spLocks noChangeArrowheads="1"/>
          </p:cNvSpPr>
          <p:nvPr/>
        </p:nvSpPr>
        <p:spPr bwMode="auto">
          <a:xfrm>
            <a:off x="1711325" y="4908550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8921" name="Text Box 8"/>
          <p:cNvSpPr txBox="1">
            <a:spLocks noChangeArrowheads="1"/>
          </p:cNvSpPr>
          <p:nvPr/>
        </p:nvSpPr>
        <p:spPr bwMode="auto">
          <a:xfrm>
            <a:off x="1652588" y="5027613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38922" name="Line 9"/>
          <p:cNvSpPr>
            <a:spLocks noChangeShapeType="1"/>
          </p:cNvSpPr>
          <p:nvPr/>
        </p:nvSpPr>
        <p:spPr bwMode="auto">
          <a:xfrm flipH="1">
            <a:off x="1198563" y="4384675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8923" name="Line 10"/>
          <p:cNvSpPr>
            <a:spLocks noChangeShapeType="1"/>
          </p:cNvSpPr>
          <p:nvPr/>
        </p:nvSpPr>
        <p:spPr bwMode="auto">
          <a:xfrm>
            <a:off x="1711325" y="4384675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8924" name="Oval 11"/>
          <p:cNvSpPr>
            <a:spLocks noChangeArrowheads="1"/>
          </p:cNvSpPr>
          <p:nvPr/>
        </p:nvSpPr>
        <p:spPr bwMode="auto">
          <a:xfrm>
            <a:off x="4448175" y="12334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8925" name="Text Box 12"/>
          <p:cNvSpPr txBox="1">
            <a:spLocks noChangeArrowheads="1"/>
          </p:cNvSpPr>
          <p:nvPr/>
        </p:nvSpPr>
        <p:spPr bwMode="auto">
          <a:xfrm>
            <a:off x="2362200" y="2552700"/>
            <a:ext cx="855663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</a:t>
            </a:r>
            <a:r>
              <a:rPr lang="en-US" altLang="en-US" sz="2400" b="1">
                <a:solidFill>
                  <a:srgbClr val="FF3300"/>
                </a:solidFill>
              </a:rPr>
              <a:t>5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38926" name="Line 13"/>
          <p:cNvSpPr>
            <a:spLocks noChangeShapeType="1"/>
          </p:cNvSpPr>
          <p:nvPr/>
        </p:nvSpPr>
        <p:spPr bwMode="auto">
          <a:xfrm>
            <a:off x="2909888" y="1409700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8927" name="Oval 14"/>
          <p:cNvSpPr>
            <a:spLocks noChangeArrowheads="1"/>
          </p:cNvSpPr>
          <p:nvPr/>
        </p:nvSpPr>
        <p:spPr bwMode="auto">
          <a:xfrm>
            <a:off x="3422650" y="36845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8928" name="Line 15"/>
          <p:cNvSpPr>
            <a:spLocks noChangeShapeType="1"/>
          </p:cNvSpPr>
          <p:nvPr/>
        </p:nvSpPr>
        <p:spPr bwMode="auto">
          <a:xfrm flipH="1">
            <a:off x="1882775" y="31591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8929" name="Line 16"/>
          <p:cNvSpPr>
            <a:spLocks noChangeShapeType="1"/>
          </p:cNvSpPr>
          <p:nvPr/>
        </p:nvSpPr>
        <p:spPr bwMode="auto">
          <a:xfrm>
            <a:off x="2909888" y="3159125"/>
            <a:ext cx="682625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8930" name="Oval 17"/>
          <p:cNvSpPr>
            <a:spLocks noChangeArrowheads="1"/>
          </p:cNvSpPr>
          <p:nvPr/>
        </p:nvSpPr>
        <p:spPr bwMode="auto">
          <a:xfrm>
            <a:off x="6500813" y="24590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8931" name="Text Box 18"/>
          <p:cNvSpPr txBox="1">
            <a:spLocks noChangeArrowheads="1"/>
          </p:cNvSpPr>
          <p:nvPr/>
        </p:nvSpPr>
        <p:spPr bwMode="auto">
          <a:xfrm>
            <a:off x="6442075" y="25781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38932" name="Oval 19"/>
          <p:cNvSpPr>
            <a:spLocks noChangeArrowheads="1"/>
          </p:cNvSpPr>
          <p:nvPr/>
        </p:nvSpPr>
        <p:spPr bwMode="auto">
          <a:xfrm>
            <a:off x="5475288" y="3684588"/>
            <a:ext cx="682625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8933" name="Oval 20"/>
          <p:cNvSpPr>
            <a:spLocks noChangeArrowheads="1"/>
          </p:cNvSpPr>
          <p:nvPr/>
        </p:nvSpPr>
        <p:spPr bwMode="auto">
          <a:xfrm>
            <a:off x="7526338" y="36845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8934" name="Text Box 21"/>
          <p:cNvSpPr txBox="1">
            <a:spLocks noChangeArrowheads="1"/>
          </p:cNvSpPr>
          <p:nvPr/>
        </p:nvSpPr>
        <p:spPr bwMode="auto">
          <a:xfrm>
            <a:off x="7467600" y="3802063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38935" name="Line 22"/>
          <p:cNvSpPr>
            <a:spLocks noChangeShapeType="1"/>
          </p:cNvSpPr>
          <p:nvPr/>
        </p:nvSpPr>
        <p:spPr bwMode="auto">
          <a:xfrm flipH="1">
            <a:off x="5988050" y="31591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8936" name="Line 23"/>
          <p:cNvSpPr>
            <a:spLocks noChangeShapeType="1"/>
          </p:cNvSpPr>
          <p:nvPr/>
        </p:nvSpPr>
        <p:spPr bwMode="auto">
          <a:xfrm>
            <a:off x="7013575" y="31591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8937" name="Line 24"/>
          <p:cNvSpPr>
            <a:spLocks noChangeShapeType="1"/>
          </p:cNvSpPr>
          <p:nvPr/>
        </p:nvSpPr>
        <p:spPr bwMode="auto">
          <a:xfrm flipH="1">
            <a:off x="3079750" y="1758950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8938" name="Line 25"/>
          <p:cNvSpPr>
            <a:spLocks noChangeShapeType="1"/>
          </p:cNvSpPr>
          <p:nvPr/>
        </p:nvSpPr>
        <p:spPr bwMode="auto">
          <a:xfrm>
            <a:off x="5132388" y="1758950"/>
            <a:ext cx="1539875" cy="7000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8939" name="Text Box 26"/>
          <p:cNvSpPr txBox="1">
            <a:spLocks noChangeArrowheads="1"/>
          </p:cNvSpPr>
          <p:nvPr/>
        </p:nvSpPr>
        <p:spPr bwMode="auto">
          <a:xfrm>
            <a:off x="1939925" y="1058863"/>
            <a:ext cx="1139825" cy="525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38940" name="Oval 27"/>
          <p:cNvSpPr>
            <a:spLocks noChangeArrowheads="1"/>
          </p:cNvSpPr>
          <p:nvPr/>
        </p:nvSpPr>
        <p:spPr bwMode="auto">
          <a:xfrm>
            <a:off x="3422650" y="3683000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8941" name="Text Box 28"/>
          <p:cNvSpPr txBox="1">
            <a:spLocks noChangeArrowheads="1"/>
          </p:cNvSpPr>
          <p:nvPr/>
        </p:nvSpPr>
        <p:spPr bwMode="auto">
          <a:xfrm>
            <a:off x="3370263" y="3821113"/>
            <a:ext cx="854075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38942" name="Oval 29"/>
          <p:cNvSpPr>
            <a:spLocks noChangeArrowheads="1"/>
          </p:cNvSpPr>
          <p:nvPr/>
        </p:nvSpPr>
        <p:spPr bwMode="auto">
          <a:xfrm>
            <a:off x="2738438" y="4908550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8943" name="Text Box 30"/>
          <p:cNvSpPr txBox="1">
            <a:spLocks noChangeArrowheads="1"/>
          </p:cNvSpPr>
          <p:nvPr/>
        </p:nvSpPr>
        <p:spPr bwMode="auto">
          <a:xfrm>
            <a:off x="2679700" y="5022850"/>
            <a:ext cx="854075" cy="700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38944" name="Oval 31"/>
          <p:cNvSpPr>
            <a:spLocks noChangeArrowheads="1"/>
          </p:cNvSpPr>
          <p:nvPr/>
        </p:nvSpPr>
        <p:spPr bwMode="auto">
          <a:xfrm>
            <a:off x="3763963" y="49053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8945" name="Text Box 32"/>
          <p:cNvSpPr txBox="1">
            <a:spLocks noChangeArrowheads="1"/>
          </p:cNvSpPr>
          <p:nvPr/>
        </p:nvSpPr>
        <p:spPr bwMode="auto">
          <a:xfrm>
            <a:off x="3705225" y="5022850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38946" name="Line 33"/>
          <p:cNvSpPr>
            <a:spLocks noChangeShapeType="1"/>
          </p:cNvSpPr>
          <p:nvPr/>
        </p:nvSpPr>
        <p:spPr bwMode="auto">
          <a:xfrm flipH="1">
            <a:off x="3251200" y="4383088"/>
            <a:ext cx="341313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8947" name="Line 34"/>
          <p:cNvSpPr>
            <a:spLocks noChangeShapeType="1"/>
          </p:cNvSpPr>
          <p:nvPr/>
        </p:nvSpPr>
        <p:spPr bwMode="auto">
          <a:xfrm>
            <a:off x="3763963" y="4383088"/>
            <a:ext cx="342900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8948" name="Oval 35"/>
          <p:cNvSpPr>
            <a:spLocks noChangeArrowheads="1"/>
          </p:cNvSpPr>
          <p:nvPr/>
        </p:nvSpPr>
        <p:spPr bwMode="auto">
          <a:xfrm>
            <a:off x="5475288" y="3683000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8949" name="Text Box 36"/>
          <p:cNvSpPr txBox="1">
            <a:spLocks noChangeArrowheads="1"/>
          </p:cNvSpPr>
          <p:nvPr/>
        </p:nvSpPr>
        <p:spPr bwMode="auto">
          <a:xfrm>
            <a:off x="5427663" y="3821113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38950" name="Text Box 37"/>
          <p:cNvSpPr txBox="1">
            <a:spLocks noChangeArrowheads="1"/>
          </p:cNvSpPr>
          <p:nvPr/>
        </p:nvSpPr>
        <p:spPr bwMode="auto">
          <a:xfrm>
            <a:off x="6400800" y="1211263"/>
            <a:ext cx="2590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38951" name="Rectangle 38"/>
          <p:cNvSpPr>
            <a:spLocks noGrp="1" noChangeArrowheads="1"/>
          </p:cNvSpPr>
          <p:nvPr>
            <p:ph type="title"/>
          </p:nvPr>
        </p:nvSpPr>
        <p:spPr>
          <a:xfrm>
            <a:off x="457200" y="3810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Dequeue (cont.)</a:t>
            </a:r>
          </a:p>
        </p:txBody>
      </p:sp>
      <p:sp>
        <p:nvSpPr>
          <p:cNvPr id="38952" name="Text Box 39"/>
          <p:cNvSpPr txBox="1">
            <a:spLocks noChangeArrowheads="1"/>
          </p:cNvSpPr>
          <p:nvPr/>
        </p:nvSpPr>
        <p:spPr bwMode="auto">
          <a:xfrm>
            <a:off x="4419600" y="13335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</a:t>
            </a:r>
            <a:r>
              <a:rPr lang="en-US" altLang="en-US" sz="2400" b="1"/>
              <a:t>39</a:t>
            </a:r>
            <a:endParaRPr lang="en-US" altLang="en-US" sz="2400"/>
          </a:p>
        </p:txBody>
      </p:sp>
      <p:sp>
        <p:nvSpPr>
          <p:cNvPr id="38953" name="Text Box 41"/>
          <p:cNvSpPr txBox="1">
            <a:spLocks noChangeArrowheads="1"/>
          </p:cNvSpPr>
          <p:nvPr/>
        </p:nvSpPr>
        <p:spPr bwMode="auto">
          <a:xfrm>
            <a:off x="4724400" y="4533900"/>
            <a:ext cx="4267200" cy="156210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If the value of the greatest child of 5 is greater than 5, then swap with the greatest child</a:t>
            </a: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6454229A-4972-48B6-8000-02073F0193B5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36</a:t>
            </a:fld>
            <a:endParaRPr lang="en-US" altLang="en-US" sz="1400"/>
          </a:p>
        </p:txBody>
      </p:sp>
      <p:sp>
        <p:nvSpPr>
          <p:cNvPr id="39939" name="Oval 2"/>
          <p:cNvSpPr>
            <a:spLocks noChangeArrowheads="1"/>
          </p:cNvSpPr>
          <p:nvPr/>
        </p:nvSpPr>
        <p:spPr bwMode="auto">
          <a:xfrm>
            <a:off x="2395538" y="24590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9940" name="Oval 3"/>
          <p:cNvSpPr>
            <a:spLocks noChangeArrowheads="1"/>
          </p:cNvSpPr>
          <p:nvPr/>
        </p:nvSpPr>
        <p:spPr bwMode="auto">
          <a:xfrm>
            <a:off x="1370013" y="3684588"/>
            <a:ext cx="684212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9941" name="Text Box 4"/>
          <p:cNvSpPr txBox="1">
            <a:spLocks noChangeArrowheads="1"/>
          </p:cNvSpPr>
          <p:nvPr/>
        </p:nvSpPr>
        <p:spPr bwMode="auto">
          <a:xfrm>
            <a:off x="1311275" y="3802063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39942" name="Oval 5"/>
          <p:cNvSpPr>
            <a:spLocks noChangeArrowheads="1"/>
          </p:cNvSpPr>
          <p:nvPr/>
        </p:nvSpPr>
        <p:spPr bwMode="auto">
          <a:xfrm>
            <a:off x="685800" y="491013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9943" name="Text Box 6"/>
          <p:cNvSpPr txBox="1">
            <a:spLocks noChangeArrowheads="1"/>
          </p:cNvSpPr>
          <p:nvPr/>
        </p:nvSpPr>
        <p:spPr bwMode="auto">
          <a:xfrm>
            <a:off x="627063" y="5027613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39944" name="Oval 7"/>
          <p:cNvSpPr>
            <a:spLocks noChangeArrowheads="1"/>
          </p:cNvSpPr>
          <p:nvPr/>
        </p:nvSpPr>
        <p:spPr bwMode="auto">
          <a:xfrm>
            <a:off x="1711325" y="4908550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9945" name="Text Box 8"/>
          <p:cNvSpPr txBox="1">
            <a:spLocks noChangeArrowheads="1"/>
          </p:cNvSpPr>
          <p:nvPr/>
        </p:nvSpPr>
        <p:spPr bwMode="auto">
          <a:xfrm>
            <a:off x="1652588" y="5027613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39946" name="Line 9"/>
          <p:cNvSpPr>
            <a:spLocks noChangeShapeType="1"/>
          </p:cNvSpPr>
          <p:nvPr/>
        </p:nvSpPr>
        <p:spPr bwMode="auto">
          <a:xfrm flipH="1">
            <a:off x="1198563" y="4384675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9947" name="Line 10"/>
          <p:cNvSpPr>
            <a:spLocks noChangeShapeType="1"/>
          </p:cNvSpPr>
          <p:nvPr/>
        </p:nvSpPr>
        <p:spPr bwMode="auto">
          <a:xfrm>
            <a:off x="1711325" y="4384675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9948" name="Oval 11"/>
          <p:cNvSpPr>
            <a:spLocks noChangeArrowheads="1"/>
          </p:cNvSpPr>
          <p:nvPr/>
        </p:nvSpPr>
        <p:spPr bwMode="auto">
          <a:xfrm>
            <a:off x="4448175" y="12334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9949" name="Text Box 12"/>
          <p:cNvSpPr txBox="1">
            <a:spLocks noChangeArrowheads="1"/>
          </p:cNvSpPr>
          <p:nvPr/>
        </p:nvSpPr>
        <p:spPr bwMode="auto">
          <a:xfrm>
            <a:off x="2362200" y="2552700"/>
            <a:ext cx="855663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</a:t>
            </a:r>
            <a:r>
              <a:rPr lang="en-US" altLang="en-US" sz="2400" b="1">
                <a:solidFill>
                  <a:srgbClr val="FF3300"/>
                </a:solidFill>
              </a:rPr>
              <a:t>5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39950" name="Line 13"/>
          <p:cNvSpPr>
            <a:spLocks noChangeShapeType="1"/>
          </p:cNvSpPr>
          <p:nvPr/>
        </p:nvSpPr>
        <p:spPr bwMode="auto">
          <a:xfrm>
            <a:off x="2909888" y="1409700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9951" name="Oval 14"/>
          <p:cNvSpPr>
            <a:spLocks noChangeArrowheads="1"/>
          </p:cNvSpPr>
          <p:nvPr/>
        </p:nvSpPr>
        <p:spPr bwMode="auto">
          <a:xfrm>
            <a:off x="3422650" y="36845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9952" name="Line 15"/>
          <p:cNvSpPr>
            <a:spLocks noChangeShapeType="1"/>
          </p:cNvSpPr>
          <p:nvPr/>
        </p:nvSpPr>
        <p:spPr bwMode="auto">
          <a:xfrm flipH="1">
            <a:off x="1882775" y="31591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9953" name="Line 16"/>
          <p:cNvSpPr>
            <a:spLocks noChangeShapeType="1"/>
          </p:cNvSpPr>
          <p:nvPr/>
        </p:nvSpPr>
        <p:spPr bwMode="auto">
          <a:xfrm>
            <a:off x="2909888" y="3159125"/>
            <a:ext cx="682625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9954" name="Oval 17"/>
          <p:cNvSpPr>
            <a:spLocks noChangeArrowheads="1"/>
          </p:cNvSpPr>
          <p:nvPr/>
        </p:nvSpPr>
        <p:spPr bwMode="auto">
          <a:xfrm>
            <a:off x="6500813" y="24590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9955" name="Text Box 18"/>
          <p:cNvSpPr txBox="1">
            <a:spLocks noChangeArrowheads="1"/>
          </p:cNvSpPr>
          <p:nvPr/>
        </p:nvSpPr>
        <p:spPr bwMode="auto">
          <a:xfrm>
            <a:off x="6442075" y="25781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39956" name="Oval 19"/>
          <p:cNvSpPr>
            <a:spLocks noChangeArrowheads="1"/>
          </p:cNvSpPr>
          <p:nvPr/>
        </p:nvSpPr>
        <p:spPr bwMode="auto">
          <a:xfrm>
            <a:off x="5475288" y="3684588"/>
            <a:ext cx="682625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9957" name="Oval 20"/>
          <p:cNvSpPr>
            <a:spLocks noChangeArrowheads="1"/>
          </p:cNvSpPr>
          <p:nvPr/>
        </p:nvSpPr>
        <p:spPr bwMode="auto">
          <a:xfrm>
            <a:off x="7526338" y="36845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9958" name="Text Box 21"/>
          <p:cNvSpPr txBox="1">
            <a:spLocks noChangeArrowheads="1"/>
          </p:cNvSpPr>
          <p:nvPr/>
        </p:nvSpPr>
        <p:spPr bwMode="auto">
          <a:xfrm>
            <a:off x="7467600" y="3802063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39959" name="Line 22"/>
          <p:cNvSpPr>
            <a:spLocks noChangeShapeType="1"/>
          </p:cNvSpPr>
          <p:nvPr/>
        </p:nvSpPr>
        <p:spPr bwMode="auto">
          <a:xfrm flipH="1">
            <a:off x="5988050" y="31591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9960" name="Line 23"/>
          <p:cNvSpPr>
            <a:spLocks noChangeShapeType="1"/>
          </p:cNvSpPr>
          <p:nvPr/>
        </p:nvSpPr>
        <p:spPr bwMode="auto">
          <a:xfrm>
            <a:off x="7013575" y="31591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9961" name="Line 24"/>
          <p:cNvSpPr>
            <a:spLocks noChangeShapeType="1"/>
          </p:cNvSpPr>
          <p:nvPr/>
        </p:nvSpPr>
        <p:spPr bwMode="auto">
          <a:xfrm flipH="1">
            <a:off x="3079750" y="1758950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9962" name="Line 25"/>
          <p:cNvSpPr>
            <a:spLocks noChangeShapeType="1"/>
          </p:cNvSpPr>
          <p:nvPr/>
        </p:nvSpPr>
        <p:spPr bwMode="auto">
          <a:xfrm>
            <a:off x="5132388" y="1758950"/>
            <a:ext cx="1539875" cy="7000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9963" name="Text Box 26"/>
          <p:cNvSpPr txBox="1">
            <a:spLocks noChangeArrowheads="1"/>
          </p:cNvSpPr>
          <p:nvPr/>
        </p:nvSpPr>
        <p:spPr bwMode="auto">
          <a:xfrm>
            <a:off x="1939925" y="1058863"/>
            <a:ext cx="1139825" cy="525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39964" name="Oval 27"/>
          <p:cNvSpPr>
            <a:spLocks noChangeArrowheads="1"/>
          </p:cNvSpPr>
          <p:nvPr/>
        </p:nvSpPr>
        <p:spPr bwMode="auto">
          <a:xfrm>
            <a:off x="3422650" y="3683000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9965" name="Text Box 28"/>
          <p:cNvSpPr txBox="1">
            <a:spLocks noChangeArrowheads="1"/>
          </p:cNvSpPr>
          <p:nvPr/>
        </p:nvSpPr>
        <p:spPr bwMode="auto">
          <a:xfrm>
            <a:off x="3370263" y="3821113"/>
            <a:ext cx="854075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r>
              <a:rPr lang="en-US" altLang="en-US" sz="2400" b="1">
                <a:solidFill>
                  <a:srgbClr val="FF3300"/>
                </a:solidFill>
              </a:rPr>
              <a:t>32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39966" name="Oval 29"/>
          <p:cNvSpPr>
            <a:spLocks noChangeArrowheads="1"/>
          </p:cNvSpPr>
          <p:nvPr/>
        </p:nvSpPr>
        <p:spPr bwMode="auto">
          <a:xfrm>
            <a:off x="2738438" y="4908550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9967" name="Text Box 30"/>
          <p:cNvSpPr txBox="1">
            <a:spLocks noChangeArrowheads="1"/>
          </p:cNvSpPr>
          <p:nvPr/>
        </p:nvSpPr>
        <p:spPr bwMode="auto">
          <a:xfrm>
            <a:off x="2679700" y="5022850"/>
            <a:ext cx="854075" cy="700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39968" name="Oval 31"/>
          <p:cNvSpPr>
            <a:spLocks noChangeArrowheads="1"/>
          </p:cNvSpPr>
          <p:nvPr/>
        </p:nvSpPr>
        <p:spPr bwMode="auto">
          <a:xfrm>
            <a:off x="3763963" y="49053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9969" name="Text Box 32"/>
          <p:cNvSpPr txBox="1">
            <a:spLocks noChangeArrowheads="1"/>
          </p:cNvSpPr>
          <p:nvPr/>
        </p:nvSpPr>
        <p:spPr bwMode="auto">
          <a:xfrm>
            <a:off x="3705225" y="5022850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39970" name="Line 33"/>
          <p:cNvSpPr>
            <a:spLocks noChangeShapeType="1"/>
          </p:cNvSpPr>
          <p:nvPr/>
        </p:nvSpPr>
        <p:spPr bwMode="auto">
          <a:xfrm flipH="1">
            <a:off x="3251200" y="4383088"/>
            <a:ext cx="341313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9971" name="Line 34"/>
          <p:cNvSpPr>
            <a:spLocks noChangeShapeType="1"/>
          </p:cNvSpPr>
          <p:nvPr/>
        </p:nvSpPr>
        <p:spPr bwMode="auto">
          <a:xfrm>
            <a:off x="3763963" y="4383088"/>
            <a:ext cx="342900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39972" name="Oval 35"/>
          <p:cNvSpPr>
            <a:spLocks noChangeArrowheads="1"/>
          </p:cNvSpPr>
          <p:nvPr/>
        </p:nvSpPr>
        <p:spPr bwMode="auto">
          <a:xfrm>
            <a:off x="5475288" y="3683000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39973" name="Text Box 36"/>
          <p:cNvSpPr txBox="1">
            <a:spLocks noChangeArrowheads="1"/>
          </p:cNvSpPr>
          <p:nvPr/>
        </p:nvSpPr>
        <p:spPr bwMode="auto">
          <a:xfrm>
            <a:off x="5427663" y="3821113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39974" name="Text Box 37"/>
          <p:cNvSpPr txBox="1">
            <a:spLocks noChangeArrowheads="1"/>
          </p:cNvSpPr>
          <p:nvPr/>
        </p:nvSpPr>
        <p:spPr bwMode="auto">
          <a:xfrm>
            <a:off x="6400800" y="1211263"/>
            <a:ext cx="2590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39975" name="Rectangle 38"/>
          <p:cNvSpPr>
            <a:spLocks noGrp="1" noChangeArrowheads="1"/>
          </p:cNvSpPr>
          <p:nvPr>
            <p:ph type="title"/>
          </p:nvPr>
        </p:nvSpPr>
        <p:spPr>
          <a:xfrm>
            <a:off x="457200" y="3810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Dequeue (cont.)</a:t>
            </a:r>
          </a:p>
        </p:txBody>
      </p:sp>
      <p:sp>
        <p:nvSpPr>
          <p:cNvPr id="39976" name="Text Box 39"/>
          <p:cNvSpPr txBox="1">
            <a:spLocks noChangeArrowheads="1"/>
          </p:cNvSpPr>
          <p:nvPr/>
        </p:nvSpPr>
        <p:spPr bwMode="auto">
          <a:xfrm>
            <a:off x="4419600" y="13335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</a:t>
            </a:r>
            <a:r>
              <a:rPr lang="en-US" altLang="en-US" sz="2400" b="1"/>
              <a:t>39</a:t>
            </a:r>
            <a:endParaRPr lang="en-US" altLang="en-US" sz="2400"/>
          </a:p>
        </p:txBody>
      </p:sp>
      <p:sp>
        <p:nvSpPr>
          <p:cNvPr id="39977" name="Text Box 40"/>
          <p:cNvSpPr txBox="1">
            <a:spLocks noChangeArrowheads="1"/>
          </p:cNvSpPr>
          <p:nvPr/>
        </p:nvSpPr>
        <p:spPr bwMode="auto">
          <a:xfrm>
            <a:off x="4724400" y="4533900"/>
            <a:ext cx="4267200" cy="156210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If the value of the greatest child of 5 is greater than 5, then swap with the greatest child</a:t>
            </a:r>
          </a:p>
        </p:txBody>
      </p:sp>
      <p:sp>
        <p:nvSpPr>
          <p:cNvPr id="39978" name="Text Box 41"/>
          <p:cNvSpPr txBox="1">
            <a:spLocks noChangeArrowheads="1"/>
          </p:cNvSpPr>
          <p:nvPr/>
        </p:nvSpPr>
        <p:spPr bwMode="auto">
          <a:xfrm>
            <a:off x="3886200" y="2933700"/>
            <a:ext cx="1676400" cy="8223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Greatest Child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76379F91-02E6-4C9F-82ED-3F65B9E23771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37</a:t>
            </a:fld>
            <a:endParaRPr lang="en-US" altLang="en-US" sz="1400"/>
          </a:p>
        </p:txBody>
      </p:sp>
      <p:sp>
        <p:nvSpPr>
          <p:cNvPr id="40963" name="Oval 2"/>
          <p:cNvSpPr>
            <a:spLocks noChangeArrowheads="1"/>
          </p:cNvSpPr>
          <p:nvPr/>
        </p:nvSpPr>
        <p:spPr bwMode="auto">
          <a:xfrm>
            <a:off x="2395538" y="24590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0964" name="Oval 3"/>
          <p:cNvSpPr>
            <a:spLocks noChangeArrowheads="1"/>
          </p:cNvSpPr>
          <p:nvPr/>
        </p:nvSpPr>
        <p:spPr bwMode="auto">
          <a:xfrm>
            <a:off x="1370013" y="3684588"/>
            <a:ext cx="684212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0965" name="Text Box 4"/>
          <p:cNvSpPr txBox="1">
            <a:spLocks noChangeArrowheads="1"/>
          </p:cNvSpPr>
          <p:nvPr/>
        </p:nvSpPr>
        <p:spPr bwMode="auto">
          <a:xfrm>
            <a:off x="1311275" y="3802063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40966" name="Oval 5"/>
          <p:cNvSpPr>
            <a:spLocks noChangeArrowheads="1"/>
          </p:cNvSpPr>
          <p:nvPr/>
        </p:nvSpPr>
        <p:spPr bwMode="auto">
          <a:xfrm>
            <a:off x="685800" y="491013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0967" name="Text Box 6"/>
          <p:cNvSpPr txBox="1">
            <a:spLocks noChangeArrowheads="1"/>
          </p:cNvSpPr>
          <p:nvPr/>
        </p:nvSpPr>
        <p:spPr bwMode="auto">
          <a:xfrm>
            <a:off x="627063" y="5027613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40968" name="Oval 7"/>
          <p:cNvSpPr>
            <a:spLocks noChangeArrowheads="1"/>
          </p:cNvSpPr>
          <p:nvPr/>
        </p:nvSpPr>
        <p:spPr bwMode="auto">
          <a:xfrm>
            <a:off x="1711325" y="4908550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0969" name="Text Box 8"/>
          <p:cNvSpPr txBox="1">
            <a:spLocks noChangeArrowheads="1"/>
          </p:cNvSpPr>
          <p:nvPr/>
        </p:nvSpPr>
        <p:spPr bwMode="auto">
          <a:xfrm>
            <a:off x="1652588" y="5027613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40970" name="Line 9"/>
          <p:cNvSpPr>
            <a:spLocks noChangeShapeType="1"/>
          </p:cNvSpPr>
          <p:nvPr/>
        </p:nvSpPr>
        <p:spPr bwMode="auto">
          <a:xfrm flipH="1">
            <a:off x="1198563" y="4384675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0971" name="Line 10"/>
          <p:cNvSpPr>
            <a:spLocks noChangeShapeType="1"/>
          </p:cNvSpPr>
          <p:nvPr/>
        </p:nvSpPr>
        <p:spPr bwMode="auto">
          <a:xfrm>
            <a:off x="1711325" y="4384675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0972" name="Oval 11"/>
          <p:cNvSpPr>
            <a:spLocks noChangeArrowheads="1"/>
          </p:cNvSpPr>
          <p:nvPr/>
        </p:nvSpPr>
        <p:spPr bwMode="auto">
          <a:xfrm>
            <a:off x="4448175" y="12334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0973" name="Text Box 12"/>
          <p:cNvSpPr txBox="1">
            <a:spLocks noChangeArrowheads="1"/>
          </p:cNvSpPr>
          <p:nvPr/>
        </p:nvSpPr>
        <p:spPr bwMode="auto">
          <a:xfrm>
            <a:off x="2362200" y="2552700"/>
            <a:ext cx="855663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</a:t>
            </a:r>
            <a:r>
              <a:rPr lang="en-US" altLang="en-US" sz="2400" b="1">
                <a:solidFill>
                  <a:srgbClr val="FF3300"/>
                </a:solidFill>
              </a:rPr>
              <a:t>5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40974" name="Line 13"/>
          <p:cNvSpPr>
            <a:spLocks noChangeShapeType="1"/>
          </p:cNvSpPr>
          <p:nvPr/>
        </p:nvSpPr>
        <p:spPr bwMode="auto">
          <a:xfrm>
            <a:off x="2909888" y="1409700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0975" name="Oval 14"/>
          <p:cNvSpPr>
            <a:spLocks noChangeArrowheads="1"/>
          </p:cNvSpPr>
          <p:nvPr/>
        </p:nvSpPr>
        <p:spPr bwMode="auto">
          <a:xfrm>
            <a:off x="3422650" y="36845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0976" name="Line 15"/>
          <p:cNvSpPr>
            <a:spLocks noChangeShapeType="1"/>
          </p:cNvSpPr>
          <p:nvPr/>
        </p:nvSpPr>
        <p:spPr bwMode="auto">
          <a:xfrm flipH="1">
            <a:off x="1882775" y="31591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0977" name="Line 16"/>
          <p:cNvSpPr>
            <a:spLocks noChangeShapeType="1"/>
          </p:cNvSpPr>
          <p:nvPr/>
        </p:nvSpPr>
        <p:spPr bwMode="auto">
          <a:xfrm>
            <a:off x="2909888" y="3159125"/>
            <a:ext cx="682625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0978" name="Oval 17"/>
          <p:cNvSpPr>
            <a:spLocks noChangeArrowheads="1"/>
          </p:cNvSpPr>
          <p:nvPr/>
        </p:nvSpPr>
        <p:spPr bwMode="auto">
          <a:xfrm>
            <a:off x="6500813" y="24590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0979" name="Text Box 18"/>
          <p:cNvSpPr txBox="1">
            <a:spLocks noChangeArrowheads="1"/>
          </p:cNvSpPr>
          <p:nvPr/>
        </p:nvSpPr>
        <p:spPr bwMode="auto">
          <a:xfrm>
            <a:off x="6442075" y="25781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40980" name="Oval 19"/>
          <p:cNvSpPr>
            <a:spLocks noChangeArrowheads="1"/>
          </p:cNvSpPr>
          <p:nvPr/>
        </p:nvSpPr>
        <p:spPr bwMode="auto">
          <a:xfrm>
            <a:off x="5475288" y="3684588"/>
            <a:ext cx="682625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0981" name="Oval 20"/>
          <p:cNvSpPr>
            <a:spLocks noChangeArrowheads="1"/>
          </p:cNvSpPr>
          <p:nvPr/>
        </p:nvSpPr>
        <p:spPr bwMode="auto">
          <a:xfrm>
            <a:off x="7526338" y="36845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0982" name="Text Box 21"/>
          <p:cNvSpPr txBox="1">
            <a:spLocks noChangeArrowheads="1"/>
          </p:cNvSpPr>
          <p:nvPr/>
        </p:nvSpPr>
        <p:spPr bwMode="auto">
          <a:xfrm>
            <a:off x="7467600" y="3802063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40983" name="Line 22"/>
          <p:cNvSpPr>
            <a:spLocks noChangeShapeType="1"/>
          </p:cNvSpPr>
          <p:nvPr/>
        </p:nvSpPr>
        <p:spPr bwMode="auto">
          <a:xfrm flipH="1">
            <a:off x="5988050" y="31591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0984" name="Line 23"/>
          <p:cNvSpPr>
            <a:spLocks noChangeShapeType="1"/>
          </p:cNvSpPr>
          <p:nvPr/>
        </p:nvSpPr>
        <p:spPr bwMode="auto">
          <a:xfrm>
            <a:off x="7013575" y="31591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0985" name="Line 24"/>
          <p:cNvSpPr>
            <a:spLocks noChangeShapeType="1"/>
          </p:cNvSpPr>
          <p:nvPr/>
        </p:nvSpPr>
        <p:spPr bwMode="auto">
          <a:xfrm flipH="1">
            <a:off x="3079750" y="1758950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0986" name="Line 25"/>
          <p:cNvSpPr>
            <a:spLocks noChangeShapeType="1"/>
          </p:cNvSpPr>
          <p:nvPr/>
        </p:nvSpPr>
        <p:spPr bwMode="auto">
          <a:xfrm>
            <a:off x="5132388" y="1758950"/>
            <a:ext cx="1539875" cy="7000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0987" name="Text Box 26"/>
          <p:cNvSpPr txBox="1">
            <a:spLocks noChangeArrowheads="1"/>
          </p:cNvSpPr>
          <p:nvPr/>
        </p:nvSpPr>
        <p:spPr bwMode="auto">
          <a:xfrm>
            <a:off x="1939925" y="1058863"/>
            <a:ext cx="1139825" cy="525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40988" name="Oval 27"/>
          <p:cNvSpPr>
            <a:spLocks noChangeArrowheads="1"/>
          </p:cNvSpPr>
          <p:nvPr/>
        </p:nvSpPr>
        <p:spPr bwMode="auto">
          <a:xfrm>
            <a:off x="3422650" y="3683000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0989" name="Text Box 28"/>
          <p:cNvSpPr txBox="1">
            <a:spLocks noChangeArrowheads="1"/>
          </p:cNvSpPr>
          <p:nvPr/>
        </p:nvSpPr>
        <p:spPr bwMode="auto">
          <a:xfrm>
            <a:off x="3370263" y="3821113"/>
            <a:ext cx="854075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r>
              <a:rPr lang="en-US" altLang="en-US" sz="2400" b="1">
                <a:solidFill>
                  <a:srgbClr val="FF3300"/>
                </a:solidFill>
              </a:rPr>
              <a:t>32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40990" name="Oval 29"/>
          <p:cNvSpPr>
            <a:spLocks noChangeArrowheads="1"/>
          </p:cNvSpPr>
          <p:nvPr/>
        </p:nvSpPr>
        <p:spPr bwMode="auto">
          <a:xfrm>
            <a:off x="2738438" y="4908550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0991" name="Text Box 30"/>
          <p:cNvSpPr txBox="1">
            <a:spLocks noChangeArrowheads="1"/>
          </p:cNvSpPr>
          <p:nvPr/>
        </p:nvSpPr>
        <p:spPr bwMode="auto">
          <a:xfrm>
            <a:off x="2679700" y="5022850"/>
            <a:ext cx="854075" cy="700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40992" name="Oval 31"/>
          <p:cNvSpPr>
            <a:spLocks noChangeArrowheads="1"/>
          </p:cNvSpPr>
          <p:nvPr/>
        </p:nvSpPr>
        <p:spPr bwMode="auto">
          <a:xfrm>
            <a:off x="3763963" y="49053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0993" name="Text Box 32"/>
          <p:cNvSpPr txBox="1">
            <a:spLocks noChangeArrowheads="1"/>
          </p:cNvSpPr>
          <p:nvPr/>
        </p:nvSpPr>
        <p:spPr bwMode="auto">
          <a:xfrm>
            <a:off x="3705225" y="5022850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40994" name="Line 33"/>
          <p:cNvSpPr>
            <a:spLocks noChangeShapeType="1"/>
          </p:cNvSpPr>
          <p:nvPr/>
        </p:nvSpPr>
        <p:spPr bwMode="auto">
          <a:xfrm flipH="1">
            <a:off x="3251200" y="4383088"/>
            <a:ext cx="341313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0995" name="Line 34"/>
          <p:cNvSpPr>
            <a:spLocks noChangeShapeType="1"/>
          </p:cNvSpPr>
          <p:nvPr/>
        </p:nvSpPr>
        <p:spPr bwMode="auto">
          <a:xfrm>
            <a:off x="3763963" y="4383088"/>
            <a:ext cx="342900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0996" name="Oval 35"/>
          <p:cNvSpPr>
            <a:spLocks noChangeArrowheads="1"/>
          </p:cNvSpPr>
          <p:nvPr/>
        </p:nvSpPr>
        <p:spPr bwMode="auto">
          <a:xfrm>
            <a:off x="5475288" y="3683000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0997" name="Text Box 36"/>
          <p:cNvSpPr txBox="1">
            <a:spLocks noChangeArrowheads="1"/>
          </p:cNvSpPr>
          <p:nvPr/>
        </p:nvSpPr>
        <p:spPr bwMode="auto">
          <a:xfrm>
            <a:off x="5427663" y="3821113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40998" name="Text Box 37"/>
          <p:cNvSpPr txBox="1">
            <a:spLocks noChangeArrowheads="1"/>
          </p:cNvSpPr>
          <p:nvPr/>
        </p:nvSpPr>
        <p:spPr bwMode="auto">
          <a:xfrm>
            <a:off x="6400800" y="1211263"/>
            <a:ext cx="2590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40999" name="Rectangle 38"/>
          <p:cNvSpPr>
            <a:spLocks noGrp="1" noChangeArrowheads="1"/>
          </p:cNvSpPr>
          <p:nvPr>
            <p:ph type="title"/>
          </p:nvPr>
        </p:nvSpPr>
        <p:spPr>
          <a:xfrm>
            <a:off x="457200" y="3810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Dequeue (cont.)</a:t>
            </a:r>
          </a:p>
        </p:txBody>
      </p:sp>
      <p:sp>
        <p:nvSpPr>
          <p:cNvPr id="41000" name="Text Box 39"/>
          <p:cNvSpPr txBox="1">
            <a:spLocks noChangeArrowheads="1"/>
          </p:cNvSpPr>
          <p:nvPr/>
        </p:nvSpPr>
        <p:spPr bwMode="auto">
          <a:xfrm>
            <a:off x="4419600" y="13335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</a:t>
            </a:r>
            <a:r>
              <a:rPr lang="en-US" altLang="en-US" sz="2400" b="1"/>
              <a:t>39</a:t>
            </a:r>
            <a:endParaRPr lang="en-US" altLang="en-US" sz="2400"/>
          </a:p>
        </p:txBody>
      </p:sp>
      <p:sp>
        <p:nvSpPr>
          <p:cNvPr id="41001" name="Text Box 40"/>
          <p:cNvSpPr txBox="1">
            <a:spLocks noChangeArrowheads="1"/>
          </p:cNvSpPr>
          <p:nvPr/>
        </p:nvSpPr>
        <p:spPr bwMode="auto">
          <a:xfrm>
            <a:off x="4724400" y="4533900"/>
            <a:ext cx="4267200" cy="156210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If the value of the greatest child of 5 is greater than 5, then swap with the greatest child</a:t>
            </a:r>
          </a:p>
        </p:txBody>
      </p:sp>
      <p:sp>
        <p:nvSpPr>
          <p:cNvPr id="41002" name="Text Box 42"/>
          <p:cNvSpPr txBox="1">
            <a:spLocks noChangeArrowheads="1"/>
          </p:cNvSpPr>
          <p:nvPr/>
        </p:nvSpPr>
        <p:spPr bwMode="auto">
          <a:xfrm>
            <a:off x="3810000" y="2933700"/>
            <a:ext cx="1676400" cy="8223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32 &gt; 5, so swap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B8081FE6-9885-4DBA-BDA8-27D4F57282F5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38</a:t>
            </a:fld>
            <a:endParaRPr lang="en-US" altLang="en-US" sz="1400"/>
          </a:p>
        </p:txBody>
      </p:sp>
      <p:sp>
        <p:nvSpPr>
          <p:cNvPr id="41987" name="Oval 2"/>
          <p:cNvSpPr>
            <a:spLocks noChangeArrowheads="1"/>
          </p:cNvSpPr>
          <p:nvPr/>
        </p:nvSpPr>
        <p:spPr bwMode="auto">
          <a:xfrm>
            <a:off x="2395538" y="24590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1988" name="Oval 3"/>
          <p:cNvSpPr>
            <a:spLocks noChangeArrowheads="1"/>
          </p:cNvSpPr>
          <p:nvPr/>
        </p:nvSpPr>
        <p:spPr bwMode="auto">
          <a:xfrm>
            <a:off x="1370013" y="3684588"/>
            <a:ext cx="684212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1989" name="Text Box 4"/>
          <p:cNvSpPr txBox="1">
            <a:spLocks noChangeArrowheads="1"/>
          </p:cNvSpPr>
          <p:nvPr/>
        </p:nvSpPr>
        <p:spPr bwMode="auto">
          <a:xfrm>
            <a:off x="1311275" y="3802063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41990" name="Oval 5"/>
          <p:cNvSpPr>
            <a:spLocks noChangeArrowheads="1"/>
          </p:cNvSpPr>
          <p:nvPr/>
        </p:nvSpPr>
        <p:spPr bwMode="auto">
          <a:xfrm>
            <a:off x="685800" y="491013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1991" name="Text Box 6"/>
          <p:cNvSpPr txBox="1">
            <a:spLocks noChangeArrowheads="1"/>
          </p:cNvSpPr>
          <p:nvPr/>
        </p:nvSpPr>
        <p:spPr bwMode="auto">
          <a:xfrm>
            <a:off x="627063" y="5027613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41992" name="Oval 7"/>
          <p:cNvSpPr>
            <a:spLocks noChangeArrowheads="1"/>
          </p:cNvSpPr>
          <p:nvPr/>
        </p:nvSpPr>
        <p:spPr bwMode="auto">
          <a:xfrm>
            <a:off x="1711325" y="4908550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1993" name="Text Box 8"/>
          <p:cNvSpPr txBox="1">
            <a:spLocks noChangeArrowheads="1"/>
          </p:cNvSpPr>
          <p:nvPr/>
        </p:nvSpPr>
        <p:spPr bwMode="auto">
          <a:xfrm>
            <a:off x="1652588" y="5027613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41994" name="Line 9"/>
          <p:cNvSpPr>
            <a:spLocks noChangeShapeType="1"/>
          </p:cNvSpPr>
          <p:nvPr/>
        </p:nvSpPr>
        <p:spPr bwMode="auto">
          <a:xfrm flipH="1">
            <a:off x="1198563" y="4384675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1995" name="Line 10"/>
          <p:cNvSpPr>
            <a:spLocks noChangeShapeType="1"/>
          </p:cNvSpPr>
          <p:nvPr/>
        </p:nvSpPr>
        <p:spPr bwMode="auto">
          <a:xfrm>
            <a:off x="1711325" y="4384675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1996" name="Oval 11"/>
          <p:cNvSpPr>
            <a:spLocks noChangeArrowheads="1"/>
          </p:cNvSpPr>
          <p:nvPr/>
        </p:nvSpPr>
        <p:spPr bwMode="auto">
          <a:xfrm>
            <a:off x="4448175" y="12334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1997" name="Line 13"/>
          <p:cNvSpPr>
            <a:spLocks noChangeShapeType="1"/>
          </p:cNvSpPr>
          <p:nvPr/>
        </p:nvSpPr>
        <p:spPr bwMode="auto">
          <a:xfrm>
            <a:off x="2909888" y="1409700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1998" name="Oval 14"/>
          <p:cNvSpPr>
            <a:spLocks noChangeArrowheads="1"/>
          </p:cNvSpPr>
          <p:nvPr/>
        </p:nvSpPr>
        <p:spPr bwMode="auto">
          <a:xfrm>
            <a:off x="3422650" y="36845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1999" name="Line 15"/>
          <p:cNvSpPr>
            <a:spLocks noChangeShapeType="1"/>
          </p:cNvSpPr>
          <p:nvPr/>
        </p:nvSpPr>
        <p:spPr bwMode="auto">
          <a:xfrm flipH="1">
            <a:off x="1882775" y="31591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2000" name="Line 16"/>
          <p:cNvSpPr>
            <a:spLocks noChangeShapeType="1"/>
          </p:cNvSpPr>
          <p:nvPr/>
        </p:nvSpPr>
        <p:spPr bwMode="auto">
          <a:xfrm>
            <a:off x="2909888" y="3159125"/>
            <a:ext cx="682625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2001" name="Oval 17"/>
          <p:cNvSpPr>
            <a:spLocks noChangeArrowheads="1"/>
          </p:cNvSpPr>
          <p:nvPr/>
        </p:nvSpPr>
        <p:spPr bwMode="auto">
          <a:xfrm>
            <a:off x="6500813" y="24590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2002" name="Text Box 18"/>
          <p:cNvSpPr txBox="1">
            <a:spLocks noChangeArrowheads="1"/>
          </p:cNvSpPr>
          <p:nvPr/>
        </p:nvSpPr>
        <p:spPr bwMode="auto">
          <a:xfrm>
            <a:off x="6442075" y="25781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42003" name="Oval 19"/>
          <p:cNvSpPr>
            <a:spLocks noChangeArrowheads="1"/>
          </p:cNvSpPr>
          <p:nvPr/>
        </p:nvSpPr>
        <p:spPr bwMode="auto">
          <a:xfrm>
            <a:off x="5475288" y="3684588"/>
            <a:ext cx="682625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2004" name="Oval 20"/>
          <p:cNvSpPr>
            <a:spLocks noChangeArrowheads="1"/>
          </p:cNvSpPr>
          <p:nvPr/>
        </p:nvSpPr>
        <p:spPr bwMode="auto">
          <a:xfrm>
            <a:off x="7526338" y="36845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2005" name="Text Box 21"/>
          <p:cNvSpPr txBox="1">
            <a:spLocks noChangeArrowheads="1"/>
          </p:cNvSpPr>
          <p:nvPr/>
        </p:nvSpPr>
        <p:spPr bwMode="auto">
          <a:xfrm>
            <a:off x="7467600" y="3802063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42006" name="Line 22"/>
          <p:cNvSpPr>
            <a:spLocks noChangeShapeType="1"/>
          </p:cNvSpPr>
          <p:nvPr/>
        </p:nvSpPr>
        <p:spPr bwMode="auto">
          <a:xfrm flipH="1">
            <a:off x="5988050" y="31591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2007" name="Line 23"/>
          <p:cNvSpPr>
            <a:spLocks noChangeShapeType="1"/>
          </p:cNvSpPr>
          <p:nvPr/>
        </p:nvSpPr>
        <p:spPr bwMode="auto">
          <a:xfrm>
            <a:off x="7013575" y="31591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2008" name="Line 24"/>
          <p:cNvSpPr>
            <a:spLocks noChangeShapeType="1"/>
          </p:cNvSpPr>
          <p:nvPr/>
        </p:nvSpPr>
        <p:spPr bwMode="auto">
          <a:xfrm flipH="1">
            <a:off x="3079750" y="1758950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2009" name="Line 25"/>
          <p:cNvSpPr>
            <a:spLocks noChangeShapeType="1"/>
          </p:cNvSpPr>
          <p:nvPr/>
        </p:nvSpPr>
        <p:spPr bwMode="auto">
          <a:xfrm>
            <a:off x="5132388" y="1758950"/>
            <a:ext cx="1539875" cy="7000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2010" name="Text Box 26"/>
          <p:cNvSpPr txBox="1">
            <a:spLocks noChangeArrowheads="1"/>
          </p:cNvSpPr>
          <p:nvPr/>
        </p:nvSpPr>
        <p:spPr bwMode="auto">
          <a:xfrm>
            <a:off x="1939925" y="1058863"/>
            <a:ext cx="1139825" cy="525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42011" name="Oval 27"/>
          <p:cNvSpPr>
            <a:spLocks noChangeArrowheads="1"/>
          </p:cNvSpPr>
          <p:nvPr/>
        </p:nvSpPr>
        <p:spPr bwMode="auto">
          <a:xfrm>
            <a:off x="3422650" y="3683000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2012" name="Text Box 28"/>
          <p:cNvSpPr txBox="1">
            <a:spLocks noChangeArrowheads="1"/>
          </p:cNvSpPr>
          <p:nvPr/>
        </p:nvSpPr>
        <p:spPr bwMode="auto">
          <a:xfrm>
            <a:off x="2362200" y="255270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r>
              <a:rPr lang="en-US" altLang="en-US" sz="2400" b="1">
                <a:solidFill>
                  <a:srgbClr val="FF3300"/>
                </a:solidFill>
              </a:rPr>
              <a:t>32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42013" name="Oval 29"/>
          <p:cNvSpPr>
            <a:spLocks noChangeArrowheads="1"/>
          </p:cNvSpPr>
          <p:nvPr/>
        </p:nvSpPr>
        <p:spPr bwMode="auto">
          <a:xfrm>
            <a:off x="2738438" y="4908550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2014" name="Text Box 30"/>
          <p:cNvSpPr txBox="1">
            <a:spLocks noChangeArrowheads="1"/>
          </p:cNvSpPr>
          <p:nvPr/>
        </p:nvSpPr>
        <p:spPr bwMode="auto">
          <a:xfrm>
            <a:off x="2679700" y="5022850"/>
            <a:ext cx="854075" cy="700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42015" name="Oval 31"/>
          <p:cNvSpPr>
            <a:spLocks noChangeArrowheads="1"/>
          </p:cNvSpPr>
          <p:nvPr/>
        </p:nvSpPr>
        <p:spPr bwMode="auto">
          <a:xfrm>
            <a:off x="3763963" y="49053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2016" name="Text Box 32"/>
          <p:cNvSpPr txBox="1">
            <a:spLocks noChangeArrowheads="1"/>
          </p:cNvSpPr>
          <p:nvPr/>
        </p:nvSpPr>
        <p:spPr bwMode="auto">
          <a:xfrm>
            <a:off x="3705225" y="5022850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42017" name="Line 33"/>
          <p:cNvSpPr>
            <a:spLocks noChangeShapeType="1"/>
          </p:cNvSpPr>
          <p:nvPr/>
        </p:nvSpPr>
        <p:spPr bwMode="auto">
          <a:xfrm flipH="1">
            <a:off x="3251200" y="4383088"/>
            <a:ext cx="341313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2018" name="Line 34"/>
          <p:cNvSpPr>
            <a:spLocks noChangeShapeType="1"/>
          </p:cNvSpPr>
          <p:nvPr/>
        </p:nvSpPr>
        <p:spPr bwMode="auto">
          <a:xfrm>
            <a:off x="3763963" y="4383088"/>
            <a:ext cx="342900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2019" name="Oval 35"/>
          <p:cNvSpPr>
            <a:spLocks noChangeArrowheads="1"/>
          </p:cNvSpPr>
          <p:nvPr/>
        </p:nvSpPr>
        <p:spPr bwMode="auto">
          <a:xfrm>
            <a:off x="5475288" y="3683000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2020" name="Text Box 36"/>
          <p:cNvSpPr txBox="1">
            <a:spLocks noChangeArrowheads="1"/>
          </p:cNvSpPr>
          <p:nvPr/>
        </p:nvSpPr>
        <p:spPr bwMode="auto">
          <a:xfrm>
            <a:off x="5427663" y="3821113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42021" name="Text Box 37"/>
          <p:cNvSpPr txBox="1">
            <a:spLocks noChangeArrowheads="1"/>
          </p:cNvSpPr>
          <p:nvPr/>
        </p:nvSpPr>
        <p:spPr bwMode="auto">
          <a:xfrm>
            <a:off x="6400800" y="1211263"/>
            <a:ext cx="2590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42022" name="Rectangle 38"/>
          <p:cNvSpPr>
            <a:spLocks noGrp="1" noChangeArrowheads="1"/>
          </p:cNvSpPr>
          <p:nvPr>
            <p:ph type="title"/>
          </p:nvPr>
        </p:nvSpPr>
        <p:spPr>
          <a:xfrm>
            <a:off x="457200" y="3810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Dequeue (cont.)</a:t>
            </a:r>
          </a:p>
        </p:txBody>
      </p:sp>
      <p:sp>
        <p:nvSpPr>
          <p:cNvPr id="42023" name="Text Box 39"/>
          <p:cNvSpPr txBox="1">
            <a:spLocks noChangeArrowheads="1"/>
          </p:cNvSpPr>
          <p:nvPr/>
        </p:nvSpPr>
        <p:spPr bwMode="auto">
          <a:xfrm>
            <a:off x="4419600" y="13335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</a:t>
            </a:r>
            <a:r>
              <a:rPr lang="en-US" altLang="en-US" sz="2400" b="1"/>
              <a:t>39</a:t>
            </a:r>
            <a:endParaRPr lang="en-US" altLang="en-US" sz="2400"/>
          </a:p>
        </p:txBody>
      </p:sp>
      <p:sp>
        <p:nvSpPr>
          <p:cNvPr id="42024" name="Text Box 40"/>
          <p:cNvSpPr txBox="1">
            <a:spLocks noChangeArrowheads="1"/>
          </p:cNvSpPr>
          <p:nvPr/>
        </p:nvSpPr>
        <p:spPr bwMode="auto">
          <a:xfrm>
            <a:off x="4724400" y="4533900"/>
            <a:ext cx="4267200" cy="156210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If the value of the greatest child of 5 is greater than 5, then swap with the greatest child</a:t>
            </a:r>
          </a:p>
        </p:txBody>
      </p:sp>
      <p:sp>
        <p:nvSpPr>
          <p:cNvPr id="42025" name="Text Box 12"/>
          <p:cNvSpPr txBox="1">
            <a:spLocks noChangeArrowheads="1"/>
          </p:cNvSpPr>
          <p:nvPr/>
        </p:nvSpPr>
        <p:spPr bwMode="auto">
          <a:xfrm>
            <a:off x="3411538" y="377190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</a:t>
            </a:r>
            <a:r>
              <a:rPr lang="en-US" altLang="en-US" sz="2400" b="1">
                <a:solidFill>
                  <a:srgbClr val="FF3300"/>
                </a:solidFill>
              </a:rPr>
              <a:t>5</a:t>
            </a:r>
            <a:endParaRPr lang="en-US" altLang="en-US" sz="2400">
              <a:solidFill>
                <a:srgbClr val="FF3300"/>
              </a:solidFill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12AD9FC4-1324-4706-B3E1-2671A6DCE1FC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39</a:t>
            </a:fld>
            <a:endParaRPr lang="en-US" altLang="en-US" sz="1400"/>
          </a:p>
        </p:txBody>
      </p:sp>
      <p:sp>
        <p:nvSpPr>
          <p:cNvPr id="43011" name="Oval 2"/>
          <p:cNvSpPr>
            <a:spLocks noChangeArrowheads="1"/>
          </p:cNvSpPr>
          <p:nvPr/>
        </p:nvSpPr>
        <p:spPr bwMode="auto">
          <a:xfrm>
            <a:off x="2395538" y="24971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3012" name="Oval 3"/>
          <p:cNvSpPr>
            <a:spLocks noChangeArrowheads="1"/>
          </p:cNvSpPr>
          <p:nvPr/>
        </p:nvSpPr>
        <p:spPr bwMode="auto">
          <a:xfrm>
            <a:off x="1370013" y="3722688"/>
            <a:ext cx="684212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3013" name="Text Box 4"/>
          <p:cNvSpPr txBox="1">
            <a:spLocks noChangeArrowheads="1"/>
          </p:cNvSpPr>
          <p:nvPr/>
        </p:nvSpPr>
        <p:spPr bwMode="auto">
          <a:xfrm>
            <a:off x="1311275" y="3840163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43014" name="Oval 5"/>
          <p:cNvSpPr>
            <a:spLocks noChangeArrowheads="1"/>
          </p:cNvSpPr>
          <p:nvPr/>
        </p:nvSpPr>
        <p:spPr bwMode="auto">
          <a:xfrm>
            <a:off x="685800" y="494823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3015" name="Text Box 6"/>
          <p:cNvSpPr txBox="1">
            <a:spLocks noChangeArrowheads="1"/>
          </p:cNvSpPr>
          <p:nvPr/>
        </p:nvSpPr>
        <p:spPr bwMode="auto">
          <a:xfrm>
            <a:off x="627063" y="5065713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43016" name="Oval 7"/>
          <p:cNvSpPr>
            <a:spLocks noChangeArrowheads="1"/>
          </p:cNvSpPr>
          <p:nvPr/>
        </p:nvSpPr>
        <p:spPr bwMode="auto">
          <a:xfrm>
            <a:off x="1711325" y="4946650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3017" name="Text Box 8"/>
          <p:cNvSpPr txBox="1">
            <a:spLocks noChangeArrowheads="1"/>
          </p:cNvSpPr>
          <p:nvPr/>
        </p:nvSpPr>
        <p:spPr bwMode="auto">
          <a:xfrm>
            <a:off x="1652588" y="5065713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43018" name="Line 9"/>
          <p:cNvSpPr>
            <a:spLocks noChangeShapeType="1"/>
          </p:cNvSpPr>
          <p:nvPr/>
        </p:nvSpPr>
        <p:spPr bwMode="auto">
          <a:xfrm flipH="1">
            <a:off x="1198563" y="4422775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3019" name="Line 10"/>
          <p:cNvSpPr>
            <a:spLocks noChangeShapeType="1"/>
          </p:cNvSpPr>
          <p:nvPr/>
        </p:nvSpPr>
        <p:spPr bwMode="auto">
          <a:xfrm>
            <a:off x="1711325" y="4422775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3020" name="Oval 11"/>
          <p:cNvSpPr>
            <a:spLocks noChangeArrowheads="1"/>
          </p:cNvSpPr>
          <p:nvPr/>
        </p:nvSpPr>
        <p:spPr bwMode="auto">
          <a:xfrm>
            <a:off x="4448175" y="12715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3021" name="Line 12"/>
          <p:cNvSpPr>
            <a:spLocks noChangeShapeType="1"/>
          </p:cNvSpPr>
          <p:nvPr/>
        </p:nvSpPr>
        <p:spPr bwMode="auto">
          <a:xfrm>
            <a:off x="2909888" y="1447800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3022" name="Oval 13"/>
          <p:cNvSpPr>
            <a:spLocks noChangeArrowheads="1"/>
          </p:cNvSpPr>
          <p:nvPr/>
        </p:nvSpPr>
        <p:spPr bwMode="auto">
          <a:xfrm>
            <a:off x="3422650" y="37226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3023" name="Line 14"/>
          <p:cNvSpPr>
            <a:spLocks noChangeShapeType="1"/>
          </p:cNvSpPr>
          <p:nvPr/>
        </p:nvSpPr>
        <p:spPr bwMode="auto">
          <a:xfrm flipH="1">
            <a:off x="1882775" y="31972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3024" name="Line 15"/>
          <p:cNvSpPr>
            <a:spLocks noChangeShapeType="1"/>
          </p:cNvSpPr>
          <p:nvPr/>
        </p:nvSpPr>
        <p:spPr bwMode="auto">
          <a:xfrm>
            <a:off x="2909888" y="3197225"/>
            <a:ext cx="682625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3025" name="Oval 16"/>
          <p:cNvSpPr>
            <a:spLocks noChangeArrowheads="1"/>
          </p:cNvSpPr>
          <p:nvPr/>
        </p:nvSpPr>
        <p:spPr bwMode="auto">
          <a:xfrm>
            <a:off x="6500813" y="24971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3026" name="Text Box 17"/>
          <p:cNvSpPr txBox="1">
            <a:spLocks noChangeArrowheads="1"/>
          </p:cNvSpPr>
          <p:nvPr/>
        </p:nvSpPr>
        <p:spPr bwMode="auto">
          <a:xfrm>
            <a:off x="6442075" y="26162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43027" name="Oval 18"/>
          <p:cNvSpPr>
            <a:spLocks noChangeArrowheads="1"/>
          </p:cNvSpPr>
          <p:nvPr/>
        </p:nvSpPr>
        <p:spPr bwMode="auto">
          <a:xfrm>
            <a:off x="5475288" y="3722688"/>
            <a:ext cx="682625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3028" name="Oval 19"/>
          <p:cNvSpPr>
            <a:spLocks noChangeArrowheads="1"/>
          </p:cNvSpPr>
          <p:nvPr/>
        </p:nvSpPr>
        <p:spPr bwMode="auto">
          <a:xfrm>
            <a:off x="7526338" y="37226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3029" name="Text Box 20"/>
          <p:cNvSpPr txBox="1">
            <a:spLocks noChangeArrowheads="1"/>
          </p:cNvSpPr>
          <p:nvPr/>
        </p:nvSpPr>
        <p:spPr bwMode="auto">
          <a:xfrm>
            <a:off x="7467600" y="3840163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43030" name="Line 21"/>
          <p:cNvSpPr>
            <a:spLocks noChangeShapeType="1"/>
          </p:cNvSpPr>
          <p:nvPr/>
        </p:nvSpPr>
        <p:spPr bwMode="auto">
          <a:xfrm flipH="1">
            <a:off x="5988050" y="31972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3031" name="Line 22"/>
          <p:cNvSpPr>
            <a:spLocks noChangeShapeType="1"/>
          </p:cNvSpPr>
          <p:nvPr/>
        </p:nvSpPr>
        <p:spPr bwMode="auto">
          <a:xfrm>
            <a:off x="7013575" y="31972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3032" name="Line 23"/>
          <p:cNvSpPr>
            <a:spLocks noChangeShapeType="1"/>
          </p:cNvSpPr>
          <p:nvPr/>
        </p:nvSpPr>
        <p:spPr bwMode="auto">
          <a:xfrm flipH="1">
            <a:off x="3079750" y="1797050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3033" name="Line 24"/>
          <p:cNvSpPr>
            <a:spLocks noChangeShapeType="1"/>
          </p:cNvSpPr>
          <p:nvPr/>
        </p:nvSpPr>
        <p:spPr bwMode="auto">
          <a:xfrm>
            <a:off x="5132388" y="1797050"/>
            <a:ext cx="1539875" cy="7000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3034" name="Text Box 25"/>
          <p:cNvSpPr txBox="1">
            <a:spLocks noChangeArrowheads="1"/>
          </p:cNvSpPr>
          <p:nvPr/>
        </p:nvSpPr>
        <p:spPr bwMode="auto">
          <a:xfrm>
            <a:off x="1939925" y="1096963"/>
            <a:ext cx="1139825" cy="525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43035" name="Oval 26"/>
          <p:cNvSpPr>
            <a:spLocks noChangeArrowheads="1"/>
          </p:cNvSpPr>
          <p:nvPr/>
        </p:nvSpPr>
        <p:spPr bwMode="auto">
          <a:xfrm>
            <a:off x="3422650" y="3721100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3036" name="Text Box 27"/>
          <p:cNvSpPr txBox="1">
            <a:spLocks noChangeArrowheads="1"/>
          </p:cNvSpPr>
          <p:nvPr/>
        </p:nvSpPr>
        <p:spPr bwMode="auto">
          <a:xfrm>
            <a:off x="2362200" y="259080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43037" name="Oval 28"/>
          <p:cNvSpPr>
            <a:spLocks noChangeArrowheads="1"/>
          </p:cNvSpPr>
          <p:nvPr/>
        </p:nvSpPr>
        <p:spPr bwMode="auto">
          <a:xfrm>
            <a:off x="2738438" y="4946650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3038" name="Text Box 29"/>
          <p:cNvSpPr txBox="1">
            <a:spLocks noChangeArrowheads="1"/>
          </p:cNvSpPr>
          <p:nvPr/>
        </p:nvSpPr>
        <p:spPr bwMode="auto">
          <a:xfrm>
            <a:off x="2679700" y="5060950"/>
            <a:ext cx="854075" cy="700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</a:t>
            </a:r>
            <a:r>
              <a:rPr lang="en-US" altLang="en-US" sz="2400" b="1">
                <a:solidFill>
                  <a:srgbClr val="FF3300"/>
                </a:solidFill>
              </a:rPr>
              <a:t>29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43039" name="Oval 30"/>
          <p:cNvSpPr>
            <a:spLocks noChangeArrowheads="1"/>
          </p:cNvSpPr>
          <p:nvPr/>
        </p:nvSpPr>
        <p:spPr bwMode="auto">
          <a:xfrm>
            <a:off x="3763963" y="49434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3040" name="Text Box 31"/>
          <p:cNvSpPr txBox="1">
            <a:spLocks noChangeArrowheads="1"/>
          </p:cNvSpPr>
          <p:nvPr/>
        </p:nvSpPr>
        <p:spPr bwMode="auto">
          <a:xfrm>
            <a:off x="3705225" y="5060950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43041" name="Line 32"/>
          <p:cNvSpPr>
            <a:spLocks noChangeShapeType="1"/>
          </p:cNvSpPr>
          <p:nvPr/>
        </p:nvSpPr>
        <p:spPr bwMode="auto">
          <a:xfrm flipH="1">
            <a:off x="3251200" y="4421188"/>
            <a:ext cx="341313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3042" name="Line 33"/>
          <p:cNvSpPr>
            <a:spLocks noChangeShapeType="1"/>
          </p:cNvSpPr>
          <p:nvPr/>
        </p:nvSpPr>
        <p:spPr bwMode="auto">
          <a:xfrm>
            <a:off x="3763963" y="4421188"/>
            <a:ext cx="342900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3043" name="Oval 34"/>
          <p:cNvSpPr>
            <a:spLocks noChangeArrowheads="1"/>
          </p:cNvSpPr>
          <p:nvPr/>
        </p:nvSpPr>
        <p:spPr bwMode="auto">
          <a:xfrm>
            <a:off x="5475288" y="3721100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3044" name="Text Box 35"/>
          <p:cNvSpPr txBox="1">
            <a:spLocks noChangeArrowheads="1"/>
          </p:cNvSpPr>
          <p:nvPr/>
        </p:nvSpPr>
        <p:spPr bwMode="auto">
          <a:xfrm>
            <a:off x="5427663" y="3859213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43045" name="Text Box 36"/>
          <p:cNvSpPr txBox="1">
            <a:spLocks noChangeArrowheads="1"/>
          </p:cNvSpPr>
          <p:nvPr/>
        </p:nvSpPr>
        <p:spPr bwMode="auto">
          <a:xfrm>
            <a:off x="6400800" y="1249363"/>
            <a:ext cx="2590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43046" name="Rectangle 37"/>
          <p:cNvSpPr>
            <a:spLocks noGrp="1" noChangeArrowheads="1"/>
          </p:cNvSpPr>
          <p:nvPr>
            <p:ph type="title"/>
          </p:nvPr>
        </p:nvSpPr>
        <p:spPr>
          <a:xfrm>
            <a:off x="457200" y="7620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Dequeue (cont.)</a:t>
            </a:r>
          </a:p>
        </p:txBody>
      </p:sp>
      <p:sp>
        <p:nvSpPr>
          <p:cNvPr id="43047" name="Text Box 38"/>
          <p:cNvSpPr txBox="1">
            <a:spLocks noChangeArrowheads="1"/>
          </p:cNvSpPr>
          <p:nvPr/>
        </p:nvSpPr>
        <p:spPr bwMode="auto">
          <a:xfrm>
            <a:off x="4419600" y="13716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</a:t>
            </a:r>
            <a:r>
              <a:rPr lang="en-US" altLang="en-US" sz="2400" b="1"/>
              <a:t>39</a:t>
            </a:r>
            <a:endParaRPr lang="en-US" altLang="en-US" sz="2400"/>
          </a:p>
        </p:txBody>
      </p:sp>
      <p:sp>
        <p:nvSpPr>
          <p:cNvPr id="43048" name="Text Box 39"/>
          <p:cNvSpPr txBox="1">
            <a:spLocks noChangeArrowheads="1"/>
          </p:cNvSpPr>
          <p:nvPr/>
        </p:nvSpPr>
        <p:spPr bwMode="auto">
          <a:xfrm>
            <a:off x="3411538" y="381000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</a:t>
            </a:r>
            <a:r>
              <a:rPr lang="en-US" altLang="en-US" sz="2400" b="1">
                <a:solidFill>
                  <a:srgbClr val="FF3300"/>
                </a:solidFill>
              </a:rPr>
              <a:t>5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43049" name="Text Box 40"/>
          <p:cNvSpPr txBox="1">
            <a:spLocks noChangeArrowheads="1"/>
          </p:cNvSpPr>
          <p:nvPr/>
        </p:nvSpPr>
        <p:spPr bwMode="auto">
          <a:xfrm>
            <a:off x="4724400" y="4572000"/>
            <a:ext cx="4267200" cy="156210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If the value of the greatest child of 5 is greater than 5, then swap with the greatest child</a:t>
            </a:r>
          </a:p>
        </p:txBody>
      </p:sp>
      <p:sp>
        <p:nvSpPr>
          <p:cNvPr id="43050" name="Text Box 41"/>
          <p:cNvSpPr txBox="1">
            <a:spLocks noChangeArrowheads="1"/>
          </p:cNvSpPr>
          <p:nvPr/>
        </p:nvSpPr>
        <p:spPr bwMode="auto">
          <a:xfrm>
            <a:off x="762000" y="57150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Greatest Child</a:t>
            </a:r>
          </a:p>
        </p:txBody>
      </p:sp>
      <p:sp>
        <p:nvSpPr>
          <p:cNvPr id="43051" name="Freeform 42"/>
          <p:cNvSpPr>
            <a:spLocks/>
          </p:cNvSpPr>
          <p:nvPr/>
        </p:nvSpPr>
        <p:spPr bwMode="auto">
          <a:xfrm>
            <a:off x="3048000" y="5715000"/>
            <a:ext cx="342900" cy="266700"/>
          </a:xfrm>
          <a:custGeom>
            <a:avLst/>
            <a:gdLst>
              <a:gd name="T0" fmla="*/ 0 w 216"/>
              <a:gd name="T1" fmla="*/ 2147483646 h 168"/>
              <a:gd name="T2" fmla="*/ 2147483646 w 216"/>
              <a:gd name="T3" fmla="*/ 2147483646 h 168"/>
              <a:gd name="T4" fmla="*/ 2147483646 w 216"/>
              <a:gd name="T5" fmla="*/ 0 h 16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" h="168">
                <a:moveTo>
                  <a:pt x="0" y="144"/>
                </a:moveTo>
                <a:cubicBezTo>
                  <a:pt x="84" y="156"/>
                  <a:pt x="168" y="168"/>
                  <a:pt x="192" y="144"/>
                </a:cubicBezTo>
                <a:cubicBezTo>
                  <a:pt x="216" y="120"/>
                  <a:pt x="152" y="24"/>
                  <a:pt x="144" y="0"/>
                </a:cubicBezTo>
              </a:path>
            </a:pathLst>
          </a:custGeom>
          <a:noFill/>
          <a:ln w="38100" cap="flat" cmpd="sng">
            <a:solidFill>
              <a:srgbClr val="FF33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EBF20738-13E0-40CE-A16A-E53C42AB5D4A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40</a:t>
            </a:fld>
            <a:endParaRPr lang="en-US" altLang="en-US" sz="1400"/>
          </a:p>
        </p:txBody>
      </p:sp>
      <p:sp>
        <p:nvSpPr>
          <p:cNvPr id="44035" name="Oval 2"/>
          <p:cNvSpPr>
            <a:spLocks noChangeArrowheads="1"/>
          </p:cNvSpPr>
          <p:nvPr/>
        </p:nvSpPr>
        <p:spPr bwMode="auto">
          <a:xfrm>
            <a:off x="2395538" y="24971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4036" name="Oval 3"/>
          <p:cNvSpPr>
            <a:spLocks noChangeArrowheads="1"/>
          </p:cNvSpPr>
          <p:nvPr/>
        </p:nvSpPr>
        <p:spPr bwMode="auto">
          <a:xfrm>
            <a:off x="1370013" y="3722688"/>
            <a:ext cx="684212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4037" name="Text Box 4"/>
          <p:cNvSpPr txBox="1">
            <a:spLocks noChangeArrowheads="1"/>
          </p:cNvSpPr>
          <p:nvPr/>
        </p:nvSpPr>
        <p:spPr bwMode="auto">
          <a:xfrm>
            <a:off x="1311275" y="3840163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44038" name="Oval 5"/>
          <p:cNvSpPr>
            <a:spLocks noChangeArrowheads="1"/>
          </p:cNvSpPr>
          <p:nvPr/>
        </p:nvSpPr>
        <p:spPr bwMode="auto">
          <a:xfrm>
            <a:off x="685800" y="494823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4039" name="Text Box 6"/>
          <p:cNvSpPr txBox="1">
            <a:spLocks noChangeArrowheads="1"/>
          </p:cNvSpPr>
          <p:nvPr/>
        </p:nvSpPr>
        <p:spPr bwMode="auto">
          <a:xfrm>
            <a:off x="627063" y="5065713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44040" name="Oval 7"/>
          <p:cNvSpPr>
            <a:spLocks noChangeArrowheads="1"/>
          </p:cNvSpPr>
          <p:nvPr/>
        </p:nvSpPr>
        <p:spPr bwMode="auto">
          <a:xfrm>
            <a:off x="1711325" y="4946650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4041" name="Text Box 8"/>
          <p:cNvSpPr txBox="1">
            <a:spLocks noChangeArrowheads="1"/>
          </p:cNvSpPr>
          <p:nvPr/>
        </p:nvSpPr>
        <p:spPr bwMode="auto">
          <a:xfrm>
            <a:off x="1652588" y="5065713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44042" name="Line 9"/>
          <p:cNvSpPr>
            <a:spLocks noChangeShapeType="1"/>
          </p:cNvSpPr>
          <p:nvPr/>
        </p:nvSpPr>
        <p:spPr bwMode="auto">
          <a:xfrm flipH="1">
            <a:off x="1198563" y="4422775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4043" name="Line 10"/>
          <p:cNvSpPr>
            <a:spLocks noChangeShapeType="1"/>
          </p:cNvSpPr>
          <p:nvPr/>
        </p:nvSpPr>
        <p:spPr bwMode="auto">
          <a:xfrm>
            <a:off x="1711325" y="4422775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4044" name="Oval 11"/>
          <p:cNvSpPr>
            <a:spLocks noChangeArrowheads="1"/>
          </p:cNvSpPr>
          <p:nvPr/>
        </p:nvSpPr>
        <p:spPr bwMode="auto">
          <a:xfrm>
            <a:off x="4448175" y="12715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4045" name="Line 12"/>
          <p:cNvSpPr>
            <a:spLocks noChangeShapeType="1"/>
          </p:cNvSpPr>
          <p:nvPr/>
        </p:nvSpPr>
        <p:spPr bwMode="auto">
          <a:xfrm>
            <a:off x="2909888" y="1447800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4046" name="Oval 13"/>
          <p:cNvSpPr>
            <a:spLocks noChangeArrowheads="1"/>
          </p:cNvSpPr>
          <p:nvPr/>
        </p:nvSpPr>
        <p:spPr bwMode="auto">
          <a:xfrm>
            <a:off x="3422650" y="37226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4047" name="Line 14"/>
          <p:cNvSpPr>
            <a:spLocks noChangeShapeType="1"/>
          </p:cNvSpPr>
          <p:nvPr/>
        </p:nvSpPr>
        <p:spPr bwMode="auto">
          <a:xfrm flipH="1">
            <a:off x="1882775" y="31972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4048" name="Line 15"/>
          <p:cNvSpPr>
            <a:spLocks noChangeShapeType="1"/>
          </p:cNvSpPr>
          <p:nvPr/>
        </p:nvSpPr>
        <p:spPr bwMode="auto">
          <a:xfrm>
            <a:off x="2909888" y="3197225"/>
            <a:ext cx="682625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4049" name="Oval 16"/>
          <p:cNvSpPr>
            <a:spLocks noChangeArrowheads="1"/>
          </p:cNvSpPr>
          <p:nvPr/>
        </p:nvSpPr>
        <p:spPr bwMode="auto">
          <a:xfrm>
            <a:off x="6500813" y="24971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4050" name="Text Box 17"/>
          <p:cNvSpPr txBox="1">
            <a:spLocks noChangeArrowheads="1"/>
          </p:cNvSpPr>
          <p:nvPr/>
        </p:nvSpPr>
        <p:spPr bwMode="auto">
          <a:xfrm>
            <a:off x="6442075" y="26162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44051" name="Oval 18"/>
          <p:cNvSpPr>
            <a:spLocks noChangeArrowheads="1"/>
          </p:cNvSpPr>
          <p:nvPr/>
        </p:nvSpPr>
        <p:spPr bwMode="auto">
          <a:xfrm>
            <a:off x="5475288" y="3722688"/>
            <a:ext cx="682625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4052" name="Oval 19"/>
          <p:cNvSpPr>
            <a:spLocks noChangeArrowheads="1"/>
          </p:cNvSpPr>
          <p:nvPr/>
        </p:nvSpPr>
        <p:spPr bwMode="auto">
          <a:xfrm>
            <a:off x="7526338" y="37226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4053" name="Text Box 20"/>
          <p:cNvSpPr txBox="1">
            <a:spLocks noChangeArrowheads="1"/>
          </p:cNvSpPr>
          <p:nvPr/>
        </p:nvSpPr>
        <p:spPr bwMode="auto">
          <a:xfrm>
            <a:off x="7467600" y="3840163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44054" name="Line 21"/>
          <p:cNvSpPr>
            <a:spLocks noChangeShapeType="1"/>
          </p:cNvSpPr>
          <p:nvPr/>
        </p:nvSpPr>
        <p:spPr bwMode="auto">
          <a:xfrm flipH="1">
            <a:off x="5988050" y="31972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4055" name="Line 22"/>
          <p:cNvSpPr>
            <a:spLocks noChangeShapeType="1"/>
          </p:cNvSpPr>
          <p:nvPr/>
        </p:nvSpPr>
        <p:spPr bwMode="auto">
          <a:xfrm>
            <a:off x="7013575" y="31972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4056" name="Line 23"/>
          <p:cNvSpPr>
            <a:spLocks noChangeShapeType="1"/>
          </p:cNvSpPr>
          <p:nvPr/>
        </p:nvSpPr>
        <p:spPr bwMode="auto">
          <a:xfrm flipH="1">
            <a:off x="3079750" y="1797050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4057" name="Line 24"/>
          <p:cNvSpPr>
            <a:spLocks noChangeShapeType="1"/>
          </p:cNvSpPr>
          <p:nvPr/>
        </p:nvSpPr>
        <p:spPr bwMode="auto">
          <a:xfrm>
            <a:off x="5132388" y="1797050"/>
            <a:ext cx="1539875" cy="7000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4058" name="Text Box 25"/>
          <p:cNvSpPr txBox="1">
            <a:spLocks noChangeArrowheads="1"/>
          </p:cNvSpPr>
          <p:nvPr/>
        </p:nvSpPr>
        <p:spPr bwMode="auto">
          <a:xfrm>
            <a:off x="1939925" y="1096963"/>
            <a:ext cx="1139825" cy="525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44059" name="Oval 26"/>
          <p:cNvSpPr>
            <a:spLocks noChangeArrowheads="1"/>
          </p:cNvSpPr>
          <p:nvPr/>
        </p:nvSpPr>
        <p:spPr bwMode="auto">
          <a:xfrm>
            <a:off x="3422650" y="3721100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4060" name="Text Box 27"/>
          <p:cNvSpPr txBox="1">
            <a:spLocks noChangeArrowheads="1"/>
          </p:cNvSpPr>
          <p:nvPr/>
        </p:nvSpPr>
        <p:spPr bwMode="auto">
          <a:xfrm>
            <a:off x="2362200" y="259080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44061" name="Oval 28"/>
          <p:cNvSpPr>
            <a:spLocks noChangeArrowheads="1"/>
          </p:cNvSpPr>
          <p:nvPr/>
        </p:nvSpPr>
        <p:spPr bwMode="auto">
          <a:xfrm>
            <a:off x="2738438" y="4946650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4062" name="Text Box 29"/>
          <p:cNvSpPr txBox="1">
            <a:spLocks noChangeArrowheads="1"/>
          </p:cNvSpPr>
          <p:nvPr/>
        </p:nvSpPr>
        <p:spPr bwMode="auto">
          <a:xfrm>
            <a:off x="2679700" y="5060950"/>
            <a:ext cx="854075" cy="700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</a:t>
            </a:r>
            <a:r>
              <a:rPr lang="en-US" altLang="en-US" sz="2400" b="1">
                <a:solidFill>
                  <a:srgbClr val="FF3300"/>
                </a:solidFill>
              </a:rPr>
              <a:t>29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44063" name="Oval 30"/>
          <p:cNvSpPr>
            <a:spLocks noChangeArrowheads="1"/>
          </p:cNvSpPr>
          <p:nvPr/>
        </p:nvSpPr>
        <p:spPr bwMode="auto">
          <a:xfrm>
            <a:off x="3763963" y="49434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4064" name="Text Box 31"/>
          <p:cNvSpPr txBox="1">
            <a:spLocks noChangeArrowheads="1"/>
          </p:cNvSpPr>
          <p:nvPr/>
        </p:nvSpPr>
        <p:spPr bwMode="auto">
          <a:xfrm>
            <a:off x="3705225" y="5060950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44065" name="Line 32"/>
          <p:cNvSpPr>
            <a:spLocks noChangeShapeType="1"/>
          </p:cNvSpPr>
          <p:nvPr/>
        </p:nvSpPr>
        <p:spPr bwMode="auto">
          <a:xfrm flipH="1">
            <a:off x="3251200" y="4421188"/>
            <a:ext cx="341313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4066" name="Line 33"/>
          <p:cNvSpPr>
            <a:spLocks noChangeShapeType="1"/>
          </p:cNvSpPr>
          <p:nvPr/>
        </p:nvSpPr>
        <p:spPr bwMode="auto">
          <a:xfrm>
            <a:off x="3763963" y="4421188"/>
            <a:ext cx="342900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4067" name="Oval 34"/>
          <p:cNvSpPr>
            <a:spLocks noChangeArrowheads="1"/>
          </p:cNvSpPr>
          <p:nvPr/>
        </p:nvSpPr>
        <p:spPr bwMode="auto">
          <a:xfrm>
            <a:off x="5475288" y="3721100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4068" name="Text Box 35"/>
          <p:cNvSpPr txBox="1">
            <a:spLocks noChangeArrowheads="1"/>
          </p:cNvSpPr>
          <p:nvPr/>
        </p:nvSpPr>
        <p:spPr bwMode="auto">
          <a:xfrm>
            <a:off x="5427663" y="3859213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44069" name="Text Box 36"/>
          <p:cNvSpPr txBox="1">
            <a:spLocks noChangeArrowheads="1"/>
          </p:cNvSpPr>
          <p:nvPr/>
        </p:nvSpPr>
        <p:spPr bwMode="auto">
          <a:xfrm>
            <a:off x="6400800" y="1249363"/>
            <a:ext cx="2590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44070" name="Rectangle 37"/>
          <p:cNvSpPr>
            <a:spLocks noGrp="1" noChangeArrowheads="1"/>
          </p:cNvSpPr>
          <p:nvPr>
            <p:ph type="title"/>
          </p:nvPr>
        </p:nvSpPr>
        <p:spPr>
          <a:xfrm>
            <a:off x="457200" y="7620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Dequeue (cont.)</a:t>
            </a:r>
          </a:p>
        </p:txBody>
      </p:sp>
      <p:sp>
        <p:nvSpPr>
          <p:cNvPr id="44071" name="Text Box 38"/>
          <p:cNvSpPr txBox="1">
            <a:spLocks noChangeArrowheads="1"/>
          </p:cNvSpPr>
          <p:nvPr/>
        </p:nvSpPr>
        <p:spPr bwMode="auto">
          <a:xfrm>
            <a:off x="4419600" y="13716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</a:t>
            </a:r>
            <a:r>
              <a:rPr lang="en-US" altLang="en-US" sz="2400" b="1"/>
              <a:t>39</a:t>
            </a:r>
            <a:endParaRPr lang="en-US" altLang="en-US" sz="2400"/>
          </a:p>
        </p:txBody>
      </p:sp>
      <p:sp>
        <p:nvSpPr>
          <p:cNvPr id="44072" name="Text Box 39"/>
          <p:cNvSpPr txBox="1">
            <a:spLocks noChangeArrowheads="1"/>
          </p:cNvSpPr>
          <p:nvPr/>
        </p:nvSpPr>
        <p:spPr bwMode="auto">
          <a:xfrm>
            <a:off x="3411538" y="381000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</a:t>
            </a:r>
            <a:r>
              <a:rPr lang="en-US" altLang="en-US" sz="2400" b="1">
                <a:solidFill>
                  <a:srgbClr val="FF3300"/>
                </a:solidFill>
              </a:rPr>
              <a:t>5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44073" name="Text Box 40"/>
          <p:cNvSpPr txBox="1">
            <a:spLocks noChangeArrowheads="1"/>
          </p:cNvSpPr>
          <p:nvPr/>
        </p:nvSpPr>
        <p:spPr bwMode="auto">
          <a:xfrm>
            <a:off x="4724400" y="4572000"/>
            <a:ext cx="4267200" cy="156210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If the value of the greatest child of 5 is greater than 5, then swap with the greatest child</a:t>
            </a:r>
          </a:p>
        </p:txBody>
      </p:sp>
      <p:sp>
        <p:nvSpPr>
          <p:cNvPr id="44074" name="Text Box 41"/>
          <p:cNvSpPr txBox="1">
            <a:spLocks noChangeArrowheads="1"/>
          </p:cNvSpPr>
          <p:nvPr/>
        </p:nvSpPr>
        <p:spPr bwMode="auto">
          <a:xfrm>
            <a:off x="762000" y="57150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Greatest Child</a:t>
            </a:r>
          </a:p>
        </p:txBody>
      </p:sp>
      <p:sp>
        <p:nvSpPr>
          <p:cNvPr id="44075" name="Freeform 42"/>
          <p:cNvSpPr>
            <a:spLocks/>
          </p:cNvSpPr>
          <p:nvPr/>
        </p:nvSpPr>
        <p:spPr bwMode="auto">
          <a:xfrm>
            <a:off x="3048000" y="5715000"/>
            <a:ext cx="342900" cy="266700"/>
          </a:xfrm>
          <a:custGeom>
            <a:avLst/>
            <a:gdLst>
              <a:gd name="T0" fmla="*/ 0 w 216"/>
              <a:gd name="T1" fmla="*/ 2147483646 h 168"/>
              <a:gd name="T2" fmla="*/ 2147483646 w 216"/>
              <a:gd name="T3" fmla="*/ 2147483646 h 168"/>
              <a:gd name="T4" fmla="*/ 2147483646 w 216"/>
              <a:gd name="T5" fmla="*/ 0 h 16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" h="168">
                <a:moveTo>
                  <a:pt x="0" y="144"/>
                </a:moveTo>
                <a:cubicBezTo>
                  <a:pt x="84" y="156"/>
                  <a:pt x="168" y="168"/>
                  <a:pt x="192" y="144"/>
                </a:cubicBezTo>
                <a:cubicBezTo>
                  <a:pt x="216" y="120"/>
                  <a:pt x="152" y="24"/>
                  <a:pt x="144" y="0"/>
                </a:cubicBezTo>
              </a:path>
            </a:pathLst>
          </a:custGeom>
          <a:noFill/>
          <a:ln w="38100" cap="flat" cmpd="sng">
            <a:solidFill>
              <a:srgbClr val="FF33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4076" name="Text Box 43"/>
          <p:cNvSpPr txBox="1">
            <a:spLocks noChangeArrowheads="1"/>
          </p:cNvSpPr>
          <p:nvPr/>
        </p:nvSpPr>
        <p:spPr bwMode="auto">
          <a:xfrm>
            <a:off x="3810000" y="2971800"/>
            <a:ext cx="1905000" cy="8223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29 &gt; 5, so swap</a:t>
            </a: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51D0D1DC-3219-40C0-BA35-655B6D189CD2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41</a:t>
            </a:fld>
            <a:endParaRPr lang="en-US" altLang="en-US" sz="1400"/>
          </a:p>
        </p:txBody>
      </p:sp>
      <p:sp>
        <p:nvSpPr>
          <p:cNvPr id="45059" name="Oval 2"/>
          <p:cNvSpPr>
            <a:spLocks noChangeArrowheads="1"/>
          </p:cNvSpPr>
          <p:nvPr/>
        </p:nvSpPr>
        <p:spPr bwMode="auto">
          <a:xfrm>
            <a:off x="2395538" y="24590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5060" name="Oval 3"/>
          <p:cNvSpPr>
            <a:spLocks noChangeArrowheads="1"/>
          </p:cNvSpPr>
          <p:nvPr/>
        </p:nvSpPr>
        <p:spPr bwMode="auto">
          <a:xfrm>
            <a:off x="1370013" y="3684588"/>
            <a:ext cx="684212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5061" name="Text Box 4"/>
          <p:cNvSpPr txBox="1">
            <a:spLocks noChangeArrowheads="1"/>
          </p:cNvSpPr>
          <p:nvPr/>
        </p:nvSpPr>
        <p:spPr bwMode="auto">
          <a:xfrm>
            <a:off x="1311275" y="3802063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45062" name="Oval 5"/>
          <p:cNvSpPr>
            <a:spLocks noChangeArrowheads="1"/>
          </p:cNvSpPr>
          <p:nvPr/>
        </p:nvSpPr>
        <p:spPr bwMode="auto">
          <a:xfrm>
            <a:off x="685800" y="491013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5063" name="Text Box 6"/>
          <p:cNvSpPr txBox="1">
            <a:spLocks noChangeArrowheads="1"/>
          </p:cNvSpPr>
          <p:nvPr/>
        </p:nvSpPr>
        <p:spPr bwMode="auto">
          <a:xfrm>
            <a:off x="627063" y="5027613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45064" name="Oval 7"/>
          <p:cNvSpPr>
            <a:spLocks noChangeArrowheads="1"/>
          </p:cNvSpPr>
          <p:nvPr/>
        </p:nvSpPr>
        <p:spPr bwMode="auto">
          <a:xfrm>
            <a:off x="1711325" y="4908550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5065" name="Text Box 8"/>
          <p:cNvSpPr txBox="1">
            <a:spLocks noChangeArrowheads="1"/>
          </p:cNvSpPr>
          <p:nvPr/>
        </p:nvSpPr>
        <p:spPr bwMode="auto">
          <a:xfrm>
            <a:off x="1652588" y="5027613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45066" name="Line 9"/>
          <p:cNvSpPr>
            <a:spLocks noChangeShapeType="1"/>
          </p:cNvSpPr>
          <p:nvPr/>
        </p:nvSpPr>
        <p:spPr bwMode="auto">
          <a:xfrm flipH="1">
            <a:off x="1198563" y="4384675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5067" name="Line 10"/>
          <p:cNvSpPr>
            <a:spLocks noChangeShapeType="1"/>
          </p:cNvSpPr>
          <p:nvPr/>
        </p:nvSpPr>
        <p:spPr bwMode="auto">
          <a:xfrm>
            <a:off x="1711325" y="4384675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5068" name="Oval 11"/>
          <p:cNvSpPr>
            <a:spLocks noChangeArrowheads="1"/>
          </p:cNvSpPr>
          <p:nvPr/>
        </p:nvSpPr>
        <p:spPr bwMode="auto">
          <a:xfrm>
            <a:off x="4448175" y="12334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5069" name="Line 12"/>
          <p:cNvSpPr>
            <a:spLocks noChangeShapeType="1"/>
          </p:cNvSpPr>
          <p:nvPr/>
        </p:nvSpPr>
        <p:spPr bwMode="auto">
          <a:xfrm>
            <a:off x="2909888" y="1409700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5070" name="Oval 13"/>
          <p:cNvSpPr>
            <a:spLocks noChangeArrowheads="1"/>
          </p:cNvSpPr>
          <p:nvPr/>
        </p:nvSpPr>
        <p:spPr bwMode="auto">
          <a:xfrm>
            <a:off x="3422650" y="36845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5071" name="Line 14"/>
          <p:cNvSpPr>
            <a:spLocks noChangeShapeType="1"/>
          </p:cNvSpPr>
          <p:nvPr/>
        </p:nvSpPr>
        <p:spPr bwMode="auto">
          <a:xfrm flipH="1">
            <a:off x="1882775" y="31591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5072" name="Line 15"/>
          <p:cNvSpPr>
            <a:spLocks noChangeShapeType="1"/>
          </p:cNvSpPr>
          <p:nvPr/>
        </p:nvSpPr>
        <p:spPr bwMode="auto">
          <a:xfrm>
            <a:off x="2909888" y="3159125"/>
            <a:ext cx="682625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5073" name="Oval 16"/>
          <p:cNvSpPr>
            <a:spLocks noChangeArrowheads="1"/>
          </p:cNvSpPr>
          <p:nvPr/>
        </p:nvSpPr>
        <p:spPr bwMode="auto">
          <a:xfrm>
            <a:off x="6500813" y="24590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5074" name="Text Box 17"/>
          <p:cNvSpPr txBox="1">
            <a:spLocks noChangeArrowheads="1"/>
          </p:cNvSpPr>
          <p:nvPr/>
        </p:nvSpPr>
        <p:spPr bwMode="auto">
          <a:xfrm>
            <a:off x="6442075" y="25781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45075" name="Oval 18"/>
          <p:cNvSpPr>
            <a:spLocks noChangeArrowheads="1"/>
          </p:cNvSpPr>
          <p:nvPr/>
        </p:nvSpPr>
        <p:spPr bwMode="auto">
          <a:xfrm>
            <a:off x="5475288" y="3684588"/>
            <a:ext cx="682625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5076" name="Oval 19"/>
          <p:cNvSpPr>
            <a:spLocks noChangeArrowheads="1"/>
          </p:cNvSpPr>
          <p:nvPr/>
        </p:nvSpPr>
        <p:spPr bwMode="auto">
          <a:xfrm>
            <a:off x="7526338" y="36845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5077" name="Text Box 20"/>
          <p:cNvSpPr txBox="1">
            <a:spLocks noChangeArrowheads="1"/>
          </p:cNvSpPr>
          <p:nvPr/>
        </p:nvSpPr>
        <p:spPr bwMode="auto">
          <a:xfrm>
            <a:off x="7467600" y="3802063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45078" name="Line 21"/>
          <p:cNvSpPr>
            <a:spLocks noChangeShapeType="1"/>
          </p:cNvSpPr>
          <p:nvPr/>
        </p:nvSpPr>
        <p:spPr bwMode="auto">
          <a:xfrm flipH="1">
            <a:off x="5988050" y="31591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5079" name="Line 22"/>
          <p:cNvSpPr>
            <a:spLocks noChangeShapeType="1"/>
          </p:cNvSpPr>
          <p:nvPr/>
        </p:nvSpPr>
        <p:spPr bwMode="auto">
          <a:xfrm>
            <a:off x="7013575" y="31591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5080" name="Line 23"/>
          <p:cNvSpPr>
            <a:spLocks noChangeShapeType="1"/>
          </p:cNvSpPr>
          <p:nvPr/>
        </p:nvSpPr>
        <p:spPr bwMode="auto">
          <a:xfrm flipH="1">
            <a:off x="3079750" y="1758950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5081" name="Line 24"/>
          <p:cNvSpPr>
            <a:spLocks noChangeShapeType="1"/>
          </p:cNvSpPr>
          <p:nvPr/>
        </p:nvSpPr>
        <p:spPr bwMode="auto">
          <a:xfrm>
            <a:off x="5132388" y="1758950"/>
            <a:ext cx="1539875" cy="7000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5082" name="Text Box 25"/>
          <p:cNvSpPr txBox="1">
            <a:spLocks noChangeArrowheads="1"/>
          </p:cNvSpPr>
          <p:nvPr/>
        </p:nvSpPr>
        <p:spPr bwMode="auto">
          <a:xfrm>
            <a:off x="1939925" y="1058863"/>
            <a:ext cx="1139825" cy="525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45083" name="Oval 26"/>
          <p:cNvSpPr>
            <a:spLocks noChangeArrowheads="1"/>
          </p:cNvSpPr>
          <p:nvPr/>
        </p:nvSpPr>
        <p:spPr bwMode="auto">
          <a:xfrm>
            <a:off x="3422650" y="3683000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5084" name="Text Box 27"/>
          <p:cNvSpPr txBox="1">
            <a:spLocks noChangeArrowheads="1"/>
          </p:cNvSpPr>
          <p:nvPr/>
        </p:nvSpPr>
        <p:spPr bwMode="auto">
          <a:xfrm>
            <a:off x="2362200" y="255270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45085" name="Oval 28"/>
          <p:cNvSpPr>
            <a:spLocks noChangeArrowheads="1"/>
          </p:cNvSpPr>
          <p:nvPr/>
        </p:nvSpPr>
        <p:spPr bwMode="auto">
          <a:xfrm>
            <a:off x="2738438" y="4908550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5086" name="Text Box 29"/>
          <p:cNvSpPr txBox="1">
            <a:spLocks noChangeArrowheads="1"/>
          </p:cNvSpPr>
          <p:nvPr/>
        </p:nvSpPr>
        <p:spPr bwMode="auto">
          <a:xfrm>
            <a:off x="3336925" y="3833813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</a:t>
            </a:r>
            <a:r>
              <a:rPr lang="en-US" altLang="en-US" sz="2400" b="1">
                <a:solidFill>
                  <a:srgbClr val="FF3300"/>
                </a:solidFill>
              </a:rPr>
              <a:t>29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45087" name="Oval 30"/>
          <p:cNvSpPr>
            <a:spLocks noChangeArrowheads="1"/>
          </p:cNvSpPr>
          <p:nvPr/>
        </p:nvSpPr>
        <p:spPr bwMode="auto">
          <a:xfrm>
            <a:off x="3763963" y="49053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5088" name="Text Box 31"/>
          <p:cNvSpPr txBox="1">
            <a:spLocks noChangeArrowheads="1"/>
          </p:cNvSpPr>
          <p:nvPr/>
        </p:nvSpPr>
        <p:spPr bwMode="auto">
          <a:xfrm>
            <a:off x="3657600" y="5067300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45089" name="Line 32"/>
          <p:cNvSpPr>
            <a:spLocks noChangeShapeType="1"/>
          </p:cNvSpPr>
          <p:nvPr/>
        </p:nvSpPr>
        <p:spPr bwMode="auto">
          <a:xfrm flipH="1">
            <a:off x="3251200" y="4383088"/>
            <a:ext cx="341313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5090" name="Line 33"/>
          <p:cNvSpPr>
            <a:spLocks noChangeShapeType="1"/>
          </p:cNvSpPr>
          <p:nvPr/>
        </p:nvSpPr>
        <p:spPr bwMode="auto">
          <a:xfrm>
            <a:off x="3763963" y="4383088"/>
            <a:ext cx="342900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5091" name="Oval 34"/>
          <p:cNvSpPr>
            <a:spLocks noChangeArrowheads="1"/>
          </p:cNvSpPr>
          <p:nvPr/>
        </p:nvSpPr>
        <p:spPr bwMode="auto">
          <a:xfrm>
            <a:off x="5475288" y="3683000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5092" name="Text Box 35"/>
          <p:cNvSpPr txBox="1">
            <a:spLocks noChangeArrowheads="1"/>
          </p:cNvSpPr>
          <p:nvPr/>
        </p:nvSpPr>
        <p:spPr bwMode="auto">
          <a:xfrm>
            <a:off x="5427663" y="3821113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45093" name="Text Box 36"/>
          <p:cNvSpPr txBox="1">
            <a:spLocks noChangeArrowheads="1"/>
          </p:cNvSpPr>
          <p:nvPr/>
        </p:nvSpPr>
        <p:spPr bwMode="auto">
          <a:xfrm>
            <a:off x="6400800" y="1211263"/>
            <a:ext cx="2590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45094" name="Rectangle 37"/>
          <p:cNvSpPr>
            <a:spLocks noGrp="1" noChangeArrowheads="1"/>
          </p:cNvSpPr>
          <p:nvPr>
            <p:ph type="title"/>
          </p:nvPr>
        </p:nvSpPr>
        <p:spPr>
          <a:xfrm>
            <a:off x="457200" y="3810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Dequeue (cont.)</a:t>
            </a:r>
          </a:p>
        </p:txBody>
      </p:sp>
      <p:sp>
        <p:nvSpPr>
          <p:cNvPr id="45095" name="Text Box 38"/>
          <p:cNvSpPr txBox="1">
            <a:spLocks noChangeArrowheads="1"/>
          </p:cNvSpPr>
          <p:nvPr/>
        </p:nvSpPr>
        <p:spPr bwMode="auto">
          <a:xfrm>
            <a:off x="4419600" y="13335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</a:t>
            </a:r>
            <a:r>
              <a:rPr lang="en-US" altLang="en-US" sz="2400" b="1"/>
              <a:t>39</a:t>
            </a:r>
            <a:endParaRPr lang="en-US" altLang="en-US" sz="2400"/>
          </a:p>
        </p:txBody>
      </p:sp>
      <p:sp>
        <p:nvSpPr>
          <p:cNvPr id="45096" name="Text Box 39"/>
          <p:cNvSpPr txBox="1">
            <a:spLocks noChangeArrowheads="1"/>
          </p:cNvSpPr>
          <p:nvPr/>
        </p:nvSpPr>
        <p:spPr bwMode="auto">
          <a:xfrm>
            <a:off x="2743200" y="5057775"/>
            <a:ext cx="855663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</a:t>
            </a:r>
            <a:r>
              <a:rPr lang="en-US" altLang="en-US" sz="2400" b="1">
                <a:solidFill>
                  <a:srgbClr val="FF3300"/>
                </a:solidFill>
              </a:rPr>
              <a:t>5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45097" name="Text Box 40"/>
          <p:cNvSpPr txBox="1">
            <a:spLocks noChangeArrowheads="1"/>
          </p:cNvSpPr>
          <p:nvPr/>
        </p:nvSpPr>
        <p:spPr bwMode="auto">
          <a:xfrm>
            <a:off x="4724400" y="4533900"/>
            <a:ext cx="4267200" cy="156210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If the value of the greatest child of 5 is greater than 5, then swap with the greatest child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E8E7E2CC-42E2-492C-B616-C45AEC1CD3C7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42</a:t>
            </a:fld>
            <a:endParaRPr lang="en-US" altLang="en-US" sz="1400"/>
          </a:p>
        </p:txBody>
      </p:sp>
      <p:sp>
        <p:nvSpPr>
          <p:cNvPr id="46083" name="Oval 2"/>
          <p:cNvSpPr>
            <a:spLocks noChangeArrowheads="1"/>
          </p:cNvSpPr>
          <p:nvPr/>
        </p:nvSpPr>
        <p:spPr bwMode="auto">
          <a:xfrm>
            <a:off x="2395538" y="24844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6084" name="Oval 3"/>
          <p:cNvSpPr>
            <a:spLocks noChangeArrowheads="1"/>
          </p:cNvSpPr>
          <p:nvPr/>
        </p:nvSpPr>
        <p:spPr bwMode="auto">
          <a:xfrm>
            <a:off x="1370013" y="3709988"/>
            <a:ext cx="684212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6085" name="Text Box 4"/>
          <p:cNvSpPr txBox="1">
            <a:spLocks noChangeArrowheads="1"/>
          </p:cNvSpPr>
          <p:nvPr/>
        </p:nvSpPr>
        <p:spPr bwMode="auto">
          <a:xfrm>
            <a:off x="1311275" y="3827463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46086" name="Oval 5"/>
          <p:cNvSpPr>
            <a:spLocks noChangeArrowheads="1"/>
          </p:cNvSpPr>
          <p:nvPr/>
        </p:nvSpPr>
        <p:spPr bwMode="auto">
          <a:xfrm>
            <a:off x="685800" y="493553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6087" name="Text Box 6"/>
          <p:cNvSpPr txBox="1">
            <a:spLocks noChangeArrowheads="1"/>
          </p:cNvSpPr>
          <p:nvPr/>
        </p:nvSpPr>
        <p:spPr bwMode="auto">
          <a:xfrm>
            <a:off x="627063" y="5053013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46088" name="Oval 7"/>
          <p:cNvSpPr>
            <a:spLocks noChangeArrowheads="1"/>
          </p:cNvSpPr>
          <p:nvPr/>
        </p:nvSpPr>
        <p:spPr bwMode="auto">
          <a:xfrm>
            <a:off x="1711325" y="4933950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6089" name="Text Box 8"/>
          <p:cNvSpPr txBox="1">
            <a:spLocks noChangeArrowheads="1"/>
          </p:cNvSpPr>
          <p:nvPr/>
        </p:nvSpPr>
        <p:spPr bwMode="auto">
          <a:xfrm>
            <a:off x="1652588" y="5053013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46090" name="Line 9"/>
          <p:cNvSpPr>
            <a:spLocks noChangeShapeType="1"/>
          </p:cNvSpPr>
          <p:nvPr/>
        </p:nvSpPr>
        <p:spPr bwMode="auto">
          <a:xfrm flipH="1">
            <a:off x="1198563" y="4410075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6091" name="Line 10"/>
          <p:cNvSpPr>
            <a:spLocks noChangeShapeType="1"/>
          </p:cNvSpPr>
          <p:nvPr/>
        </p:nvSpPr>
        <p:spPr bwMode="auto">
          <a:xfrm>
            <a:off x="1711325" y="4410075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6092" name="Oval 11"/>
          <p:cNvSpPr>
            <a:spLocks noChangeArrowheads="1"/>
          </p:cNvSpPr>
          <p:nvPr/>
        </p:nvSpPr>
        <p:spPr bwMode="auto">
          <a:xfrm>
            <a:off x="4448175" y="12588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6093" name="Line 12"/>
          <p:cNvSpPr>
            <a:spLocks noChangeShapeType="1"/>
          </p:cNvSpPr>
          <p:nvPr/>
        </p:nvSpPr>
        <p:spPr bwMode="auto">
          <a:xfrm>
            <a:off x="2909888" y="1435100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6094" name="Oval 13"/>
          <p:cNvSpPr>
            <a:spLocks noChangeArrowheads="1"/>
          </p:cNvSpPr>
          <p:nvPr/>
        </p:nvSpPr>
        <p:spPr bwMode="auto">
          <a:xfrm>
            <a:off x="3422650" y="37099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6095" name="Line 14"/>
          <p:cNvSpPr>
            <a:spLocks noChangeShapeType="1"/>
          </p:cNvSpPr>
          <p:nvPr/>
        </p:nvSpPr>
        <p:spPr bwMode="auto">
          <a:xfrm flipH="1">
            <a:off x="1882775" y="31845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6096" name="Line 15"/>
          <p:cNvSpPr>
            <a:spLocks noChangeShapeType="1"/>
          </p:cNvSpPr>
          <p:nvPr/>
        </p:nvSpPr>
        <p:spPr bwMode="auto">
          <a:xfrm>
            <a:off x="2909888" y="3184525"/>
            <a:ext cx="682625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6097" name="Oval 16"/>
          <p:cNvSpPr>
            <a:spLocks noChangeArrowheads="1"/>
          </p:cNvSpPr>
          <p:nvPr/>
        </p:nvSpPr>
        <p:spPr bwMode="auto">
          <a:xfrm>
            <a:off x="6500813" y="24844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6098" name="Text Box 17"/>
          <p:cNvSpPr txBox="1">
            <a:spLocks noChangeArrowheads="1"/>
          </p:cNvSpPr>
          <p:nvPr/>
        </p:nvSpPr>
        <p:spPr bwMode="auto">
          <a:xfrm>
            <a:off x="6442075" y="26035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46099" name="Oval 18"/>
          <p:cNvSpPr>
            <a:spLocks noChangeArrowheads="1"/>
          </p:cNvSpPr>
          <p:nvPr/>
        </p:nvSpPr>
        <p:spPr bwMode="auto">
          <a:xfrm>
            <a:off x="5475288" y="3709988"/>
            <a:ext cx="682625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6100" name="Oval 19"/>
          <p:cNvSpPr>
            <a:spLocks noChangeArrowheads="1"/>
          </p:cNvSpPr>
          <p:nvPr/>
        </p:nvSpPr>
        <p:spPr bwMode="auto">
          <a:xfrm>
            <a:off x="7526338" y="37099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6101" name="Text Box 20"/>
          <p:cNvSpPr txBox="1">
            <a:spLocks noChangeArrowheads="1"/>
          </p:cNvSpPr>
          <p:nvPr/>
        </p:nvSpPr>
        <p:spPr bwMode="auto">
          <a:xfrm>
            <a:off x="7467600" y="3827463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46102" name="Line 21"/>
          <p:cNvSpPr>
            <a:spLocks noChangeShapeType="1"/>
          </p:cNvSpPr>
          <p:nvPr/>
        </p:nvSpPr>
        <p:spPr bwMode="auto">
          <a:xfrm flipH="1">
            <a:off x="5988050" y="31845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6103" name="Line 22"/>
          <p:cNvSpPr>
            <a:spLocks noChangeShapeType="1"/>
          </p:cNvSpPr>
          <p:nvPr/>
        </p:nvSpPr>
        <p:spPr bwMode="auto">
          <a:xfrm>
            <a:off x="7013575" y="31845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6104" name="Line 23"/>
          <p:cNvSpPr>
            <a:spLocks noChangeShapeType="1"/>
          </p:cNvSpPr>
          <p:nvPr/>
        </p:nvSpPr>
        <p:spPr bwMode="auto">
          <a:xfrm flipH="1">
            <a:off x="3079750" y="1784350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6105" name="Line 24"/>
          <p:cNvSpPr>
            <a:spLocks noChangeShapeType="1"/>
          </p:cNvSpPr>
          <p:nvPr/>
        </p:nvSpPr>
        <p:spPr bwMode="auto">
          <a:xfrm>
            <a:off x="5132388" y="1784350"/>
            <a:ext cx="1539875" cy="7000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6106" name="Text Box 25"/>
          <p:cNvSpPr txBox="1">
            <a:spLocks noChangeArrowheads="1"/>
          </p:cNvSpPr>
          <p:nvPr/>
        </p:nvSpPr>
        <p:spPr bwMode="auto">
          <a:xfrm>
            <a:off x="1939925" y="1084263"/>
            <a:ext cx="1139825" cy="525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46107" name="Oval 26"/>
          <p:cNvSpPr>
            <a:spLocks noChangeArrowheads="1"/>
          </p:cNvSpPr>
          <p:nvPr/>
        </p:nvSpPr>
        <p:spPr bwMode="auto">
          <a:xfrm>
            <a:off x="3422650" y="3708400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6108" name="Text Box 27"/>
          <p:cNvSpPr txBox="1">
            <a:spLocks noChangeArrowheads="1"/>
          </p:cNvSpPr>
          <p:nvPr/>
        </p:nvSpPr>
        <p:spPr bwMode="auto">
          <a:xfrm>
            <a:off x="2362200" y="257810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46109" name="Oval 28"/>
          <p:cNvSpPr>
            <a:spLocks noChangeArrowheads="1"/>
          </p:cNvSpPr>
          <p:nvPr/>
        </p:nvSpPr>
        <p:spPr bwMode="auto">
          <a:xfrm>
            <a:off x="2738438" y="4933950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6110" name="Text Box 29"/>
          <p:cNvSpPr txBox="1">
            <a:spLocks noChangeArrowheads="1"/>
          </p:cNvSpPr>
          <p:nvPr/>
        </p:nvSpPr>
        <p:spPr bwMode="auto">
          <a:xfrm>
            <a:off x="3336925" y="3859213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46111" name="Oval 30"/>
          <p:cNvSpPr>
            <a:spLocks noChangeArrowheads="1"/>
          </p:cNvSpPr>
          <p:nvPr/>
        </p:nvSpPr>
        <p:spPr bwMode="auto">
          <a:xfrm>
            <a:off x="3763963" y="49307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6112" name="Text Box 31"/>
          <p:cNvSpPr txBox="1">
            <a:spLocks noChangeArrowheads="1"/>
          </p:cNvSpPr>
          <p:nvPr/>
        </p:nvSpPr>
        <p:spPr bwMode="auto">
          <a:xfrm>
            <a:off x="3657600" y="5092700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46113" name="Line 32"/>
          <p:cNvSpPr>
            <a:spLocks noChangeShapeType="1"/>
          </p:cNvSpPr>
          <p:nvPr/>
        </p:nvSpPr>
        <p:spPr bwMode="auto">
          <a:xfrm flipH="1">
            <a:off x="3251200" y="4408488"/>
            <a:ext cx="341313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6114" name="Line 33"/>
          <p:cNvSpPr>
            <a:spLocks noChangeShapeType="1"/>
          </p:cNvSpPr>
          <p:nvPr/>
        </p:nvSpPr>
        <p:spPr bwMode="auto">
          <a:xfrm>
            <a:off x="3763963" y="4408488"/>
            <a:ext cx="342900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6115" name="Oval 34"/>
          <p:cNvSpPr>
            <a:spLocks noChangeArrowheads="1"/>
          </p:cNvSpPr>
          <p:nvPr/>
        </p:nvSpPr>
        <p:spPr bwMode="auto">
          <a:xfrm>
            <a:off x="5475288" y="3708400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6116" name="Text Box 35"/>
          <p:cNvSpPr txBox="1">
            <a:spLocks noChangeArrowheads="1"/>
          </p:cNvSpPr>
          <p:nvPr/>
        </p:nvSpPr>
        <p:spPr bwMode="auto">
          <a:xfrm>
            <a:off x="5427663" y="3846513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46117" name="Text Box 36"/>
          <p:cNvSpPr txBox="1">
            <a:spLocks noChangeArrowheads="1"/>
          </p:cNvSpPr>
          <p:nvPr/>
        </p:nvSpPr>
        <p:spPr bwMode="auto">
          <a:xfrm>
            <a:off x="6400800" y="1236663"/>
            <a:ext cx="2590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46118" name="Rectangle 37"/>
          <p:cNvSpPr>
            <a:spLocks noGrp="1" noChangeArrowheads="1"/>
          </p:cNvSpPr>
          <p:nvPr>
            <p:ph type="title"/>
          </p:nvPr>
        </p:nvSpPr>
        <p:spPr>
          <a:xfrm>
            <a:off x="457200" y="6350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Dequeue (cont.)</a:t>
            </a:r>
          </a:p>
        </p:txBody>
      </p:sp>
      <p:sp>
        <p:nvSpPr>
          <p:cNvPr id="46119" name="Text Box 38"/>
          <p:cNvSpPr txBox="1">
            <a:spLocks noChangeArrowheads="1"/>
          </p:cNvSpPr>
          <p:nvPr/>
        </p:nvSpPr>
        <p:spPr bwMode="auto">
          <a:xfrm>
            <a:off x="4419600" y="13589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</a:t>
            </a:r>
            <a:r>
              <a:rPr lang="en-US" altLang="en-US" sz="2400" b="1"/>
              <a:t>39</a:t>
            </a:r>
            <a:endParaRPr lang="en-US" altLang="en-US" sz="2400"/>
          </a:p>
        </p:txBody>
      </p:sp>
      <p:sp>
        <p:nvSpPr>
          <p:cNvPr id="46120" name="Text Box 39"/>
          <p:cNvSpPr txBox="1">
            <a:spLocks noChangeArrowheads="1"/>
          </p:cNvSpPr>
          <p:nvPr/>
        </p:nvSpPr>
        <p:spPr bwMode="auto">
          <a:xfrm>
            <a:off x="2743200" y="5083175"/>
            <a:ext cx="855663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</a:t>
            </a:r>
            <a:r>
              <a:rPr lang="en-US" altLang="en-US" sz="2400" b="1">
                <a:solidFill>
                  <a:srgbClr val="FF3300"/>
                </a:solidFill>
              </a:rPr>
              <a:t>5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46121" name="Text Box 40"/>
          <p:cNvSpPr txBox="1">
            <a:spLocks noChangeArrowheads="1"/>
          </p:cNvSpPr>
          <p:nvPr/>
        </p:nvSpPr>
        <p:spPr bwMode="auto">
          <a:xfrm>
            <a:off x="4953000" y="4864100"/>
            <a:ext cx="4038600" cy="466725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 dirty="0">
                <a:solidFill>
                  <a:srgbClr val="FF3300"/>
                </a:solidFill>
              </a:rPr>
              <a:t>The final result is a heap!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E496A67F-1449-4CC0-8B66-E877348E14D5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43</a:t>
            </a:fld>
            <a:endParaRPr lang="en-US" altLang="en-US" sz="1400"/>
          </a:p>
        </p:txBody>
      </p:sp>
      <p:sp>
        <p:nvSpPr>
          <p:cNvPr id="47107" name="Oval 2"/>
          <p:cNvSpPr>
            <a:spLocks noChangeArrowheads="1"/>
          </p:cNvSpPr>
          <p:nvPr/>
        </p:nvSpPr>
        <p:spPr bwMode="auto">
          <a:xfrm>
            <a:off x="2395538" y="24590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7108" name="Oval 3"/>
          <p:cNvSpPr>
            <a:spLocks noChangeArrowheads="1"/>
          </p:cNvSpPr>
          <p:nvPr/>
        </p:nvSpPr>
        <p:spPr bwMode="auto">
          <a:xfrm>
            <a:off x="1370013" y="3684588"/>
            <a:ext cx="684212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7109" name="Text Box 4"/>
          <p:cNvSpPr txBox="1">
            <a:spLocks noChangeArrowheads="1"/>
          </p:cNvSpPr>
          <p:nvPr/>
        </p:nvSpPr>
        <p:spPr bwMode="auto">
          <a:xfrm>
            <a:off x="1311275" y="3802063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47110" name="Oval 5"/>
          <p:cNvSpPr>
            <a:spLocks noChangeArrowheads="1"/>
          </p:cNvSpPr>
          <p:nvPr/>
        </p:nvSpPr>
        <p:spPr bwMode="auto">
          <a:xfrm>
            <a:off x="685800" y="491013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7111" name="Text Box 6"/>
          <p:cNvSpPr txBox="1">
            <a:spLocks noChangeArrowheads="1"/>
          </p:cNvSpPr>
          <p:nvPr/>
        </p:nvSpPr>
        <p:spPr bwMode="auto">
          <a:xfrm>
            <a:off x="627063" y="5027613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47112" name="Oval 7"/>
          <p:cNvSpPr>
            <a:spLocks noChangeArrowheads="1"/>
          </p:cNvSpPr>
          <p:nvPr/>
        </p:nvSpPr>
        <p:spPr bwMode="auto">
          <a:xfrm>
            <a:off x="1711325" y="4908550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7113" name="Text Box 8"/>
          <p:cNvSpPr txBox="1">
            <a:spLocks noChangeArrowheads="1"/>
          </p:cNvSpPr>
          <p:nvPr/>
        </p:nvSpPr>
        <p:spPr bwMode="auto">
          <a:xfrm>
            <a:off x="1652588" y="5027613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47114" name="Line 9"/>
          <p:cNvSpPr>
            <a:spLocks noChangeShapeType="1"/>
          </p:cNvSpPr>
          <p:nvPr/>
        </p:nvSpPr>
        <p:spPr bwMode="auto">
          <a:xfrm flipH="1">
            <a:off x="1198563" y="4384675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7115" name="Line 10"/>
          <p:cNvSpPr>
            <a:spLocks noChangeShapeType="1"/>
          </p:cNvSpPr>
          <p:nvPr/>
        </p:nvSpPr>
        <p:spPr bwMode="auto">
          <a:xfrm>
            <a:off x="1711325" y="4384675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7116" name="Oval 11"/>
          <p:cNvSpPr>
            <a:spLocks noChangeArrowheads="1"/>
          </p:cNvSpPr>
          <p:nvPr/>
        </p:nvSpPr>
        <p:spPr bwMode="auto">
          <a:xfrm>
            <a:off x="4448175" y="12334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7117" name="Line 12"/>
          <p:cNvSpPr>
            <a:spLocks noChangeShapeType="1"/>
          </p:cNvSpPr>
          <p:nvPr/>
        </p:nvSpPr>
        <p:spPr bwMode="auto">
          <a:xfrm>
            <a:off x="2909888" y="1409700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7118" name="Oval 13"/>
          <p:cNvSpPr>
            <a:spLocks noChangeArrowheads="1"/>
          </p:cNvSpPr>
          <p:nvPr/>
        </p:nvSpPr>
        <p:spPr bwMode="auto">
          <a:xfrm>
            <a:off x="3422650" y="36845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7119" name="Line 14"/>
          <p:cNvSpPr>
            <a:spLocks noChangeShapeType="1"/>
          </p:cNvSpPr>
          <p:nvPr/>
        </p:nvSpPr>
        <p:spPr bwMode="auto">
          <a:xfrm flipH="1">
            <a:off x="1882775" y="31591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7120" name="Line 15"/>
          <p:cNvSpPr>
            <a:spLocks noChangeShapeType="1"/>
          </p:cNvSpPr>
          <p:nvPr/>
        </p:nvSpPr>
        <p:spPr bwMode="auto">
          <a:xfrm>
            <a:off x="2909888" y="3159125"/>
            <a:ext cx="682625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7121" name="Oval 16"/>
          <p:cNvSpPr>
            <a:spLocks noChangeArrowheads="1"/>
          </p:cNvSpPr>
          <p:nvPr/>
        </p:nvSpPr>
        <p:spPr bwMode="auto">
          <a:xfrm>
            <a:off x="6500813" y="24590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7122" name="Text Box 17"/>
          <p:cNvSpPr txBox="1">
            <a:spLocks noChangeArrowheads="1"/>
          </p:cNvSpPr>
          <p:nvPr/>
        </p:nvSpPr>
        <p:spPr bwMode="auto">
          <a:xfrm>
            <a:off x="6442075" y="25781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47123" name="Oval 18"/>
          <p:cNvSpPr>
            <a:spLocks noChangeArrowheads="1"/>
          </p:cNvSpPr>
          <p:nvPr/>
        </p:nvSpPr>
        <p:spPr bwMode="auto">
          <a:xfrm>
            <a:off x="5475288" y="3684588"/>
            <a:ext cx="682625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7124" name="Oval 19"/>
          <p:cNvSpPr>
            <a:spLocks noChangeArrowheads="1"/>
          </p:cNvSpPr>
          <p:nvPr/>
        </p:nvSpPr>
        <p:spPr bwMode="auto">
          <a:xfrm>
            <a:off x="7526338" y="36845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7125" name="Text Box 20"/>
          <p:cNvSpPr txBox="1">
            <a:spLocks noChangeArrowheads="1"/>
          </p:cNvSpPr>
          <p:nvPr/>
        </p:nvSpPr>
        <p:spPr bwMode="auto">
          <a:xfrm>
            <a:off x="7467600" y="3802063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47126" name="Line 21"/>
          <p:cNvSpPr>
            <a:spLocks noChangeShapeType="1"/>
          </p:cNvSpPr>
          <p:nvPr/>
        </p:nvSpPr>
        <p:spPr bwMode="auto">
          <a:xfrm flipH="1">
            <a:off x="5988050" y="31591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7127" name="Line 22"/>
          <p:cNvSpPr>
            <a:spLocks noChangeShapeType="1"/>
          </p:cNvSpPr>
          <p:nvPr/>
        </p:nvSpPr>
        <p:spPr bwMode="auto">
          <a:xfrm>
            <a:off x="7013575" y="31591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7128" name="Line 23"/>
          <p:cNvSpPr>
            <a:spLocks noChangeShapeType="1"/>
          </p:cNvSpPr>
          <p:nvPr/>
        </p:nvSpPr>
        <p:spPr bwMode="auto">
          <a:xfrm flipH="1">
            <a:off x="3079750" y="1758950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7129" name="Line 24"/>
          <p:cNvSpPr>
            <a:spLocks noChangeShapeType="1"/>
          </p:cNvSpPr>
          <p:nvPr/>
        </p:nvSpPr>
        <p:spPr bwMode="auto">
          <a:xfrm>
            <a:off x="5132388" y="1758950"/>
            <a:ext cx="1539875" cy="7000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7130" name="Text Box 25"/>
          <p:cNvSpPr txBox="1">
            <a:spLocks noChangeArrowheads="1"/>
          </p:cNvSpPr>
          <p:nvPr/>
        </p:nvSpPr>
        <p:spPr bwMode="auto">
          <a:xfrm>
            <a:off x="1939925" y="1058863"/>
            <a:ext cx="1139825" cy="525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47131" name="Oval 26"/>
          <p:cNvSpPr>
            <a:spLocks noChangeArrowheads="1"/>
          </p:cNvSpPr>
          <p:nvPr/>
        </p:nvSpPr>
        <p:spPr bwMode="auto">
          <a:xfrm>
            <a:off x="3422650" y="3683000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7132" name="Text Box 27"/>
          <p:cNvSpPr txBox="1">
            <a:spLocks noChangeArrowheads="1"/>
          </p:cNvSpPr>
          <p:nvPr/>
        </p:nvSpPr>
        <p:spPr bwMode="auto">
          <a:xfrm>
            <a:off x="2362200" y="255270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47133" name="Oval 28"/>
          <p:cNvSpPr>
            <a:spLocks noChangeArrowheads="1"/>
          </p:cNvSpPr>
          <p:nvPr/>
        </p:nvSpPr>
        <p:spPr bwMode="auto">
          <a:xfrm>
            <a:off x="2738438" y="4908550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7134" name="Text Box 29"/>
          <p:cNvSpPr txBox="1">
            <a:spLocks noChangeArrowheads="1"/>
          </p:cNvSpPr>
          <p:nvPr/>
        </p:nvSpPr>
        <p:spPr bwMode="auto">
          <a:xfrm>
            <a:off x="3336925" y="3833813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47135" name="Oval 30"/>
          <p:cNvSpPr>
            <a:spLocks noChangeArrowheads="1"/>
          </p:cNvSpPr>
          <p:nvPr/>
        </p:nvSpPr>
        <p:spPr bwMode="auto">
          <a:xfrm>
            <a:off x="3763963" y="49053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7136" name="Text Box 31"/>
          <p:cNvSpPr txBox="1">
            <a:spLocks noChangeArrowheads="1"/>
          </p:cNvSpPr>
          <p:nvPr/>
        </p:nvSpPr>
        <p:spPr bwMode="auto">
          <a:xfrm>
            <a:off x="3657600" y="5067300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47137" name="Line 32"/>
          <p:cNvSpPr>
            <a:spLocks noChangeShapeType="1"/>
          </p:cNvSpPr>
          <p:nvPr/>
        </p:nvSpPr>
        <p:spPr bwMode="auto">
          <a:xfrm flipH="1">
            <a:off x="3251200" y="4383088"/>
            <a:ext cx="341313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7138" name="Line 33"/>
          <p:cNvSpPr>
            <a:spLocks noChangeShapeType="1"/>
          </p:cNvSpPr>
          <p:nvPr/>
        </p:nvSpPr>
        <p:spPr bwMode="auto">
          <a:xfrm>
            <a:off x="3763963" y="4383088"/>
            <a:ext cx="342900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7139" name="Oval 34"/>
          <p:cNvSpPr>
            <a:spLocks noChangeArrowheads="1"/>
          </p:cNvSpPr>
          <p:nvPr/>
        </p:nvSpPr>
        <p:spPr bwMode="auto">
          <a:xfrm>
            <a:off x="5475288" y="3683000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7140" name="Text Box 35"/>
          <p:cNvSpPr txBox="1">
            <a:spLocks noChangeArrowheads="1"/>
          </p:cNvSpPr>
          <p:nvPr/>
        </p:nvSpPr>
        <p:spPr bwMode="auto">
          <a:xfrm>
            <a:off x="5427663" y="3821113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47141" name="Text Box 36"/>
          <p:cNvSpPr txBox="1">
            <a:spLocks noChangeArrowheads="1"/>
          </p:cNvSpPr>
          <p:nvPr/>
        </p:nvSpPr>
        <p:spPr bwMode="auto">
          <a:xfrm>
            <a:off x="6400800" y="1211263"/>
            <a:ext cx="2590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47142" name="Rectangle 37"/>
          <p:cNvSpPr>
            <a:spLocks noGrp="1" noChangeArrowheads="1"/>
          </p:cNvSpPr>
          <p:nvPr>
            <p:ph type="title"/>
          </p:nvPr>
        </p:nvSpPr>
        <p:spPr>
          <a:xfrm>
            <a:off x="457200" y="3810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Dequeue (cont.)</a:t>
            </a:r>
          </a:p>
        </p:txBody>
      </p:sp>
      <p:sp>
        <p:nvSpPr>
          <p:cNvPr id="47143" name="Text Box 38"/>
          <p:cNvSpPr txBox="1">
            <a:spLocks noChangeArrowheads="1"/>
          </p:cNvSpPr>
          <p:nvPr/>
        </p:nvSpPr>
        <p:spPr bwMode="auto">
          <a:xfrm>
            <a:off x="4419600" y="13335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</a:t>
            </a:r>
            <a:r>
              <a:rPr lang="en-US" altLang="en-US" sz="2400" b="1"/>
              <a:t>39</a:t>
            </a:r>
            <a:endParaRPr lang="en-US" altLang="en-US" sz="2400"/>
          </a:p>
        </p:txBody>
      </p:sp>
      <p:sp>
        <p:nvSpPr>
          <p:cNvPr id="47144" name="Text Box 39"/>
          <p:cNvSpPr txBox="1">
            <a:spLocks noChangeArrowheads="1"/>
          </p:cNvSpPr>
          <p:nvPr/>
        </p:nvSpPr>
        <p:spPr bwMode="auto">
          <a:xfrm>
            <a:off x="2743200" y="5057775"/>
            <a:ext cx="855663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47145" name="Text Box 41"/>
          <p:cNvSpPr txBox="1">
            <a:spLocks noChangeArrowheads="1"/>
          </p:cNvSpPr>
          <p:nvPr/>
        </p:nvSpPr>
        <p:spPr bwMode="auto">
          <a:xfrm>
            <a:off x="4724400" y="4533900"/>
            <a:ext cx="4114800" cy="156210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Sometimes, it is not necessary to swap all the way down through the heap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AF32C3C1-FCEB-4D43-929B-578CFD95C77E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44</a:t>
            </a:fld>
            <a:endParaRPr lang="en-US" altLang="en-US" sz="1400"/>
          </a:p>
        </p:txBody>
      </p:sp>
      <p:sp>
        <p:nvSpPr>
          <p:cNvPr id="48131" name="Oval 2"/>
          <p:cNvSpPr>
            <a:spLocks noChangeArrowheads="1"/>
          </p:cNvSpPr>
          <p:nvPr/>
        </p:nvSpPr>
        <p:spPr bwMode="auto">
          <a:xfrm>
            <a:off x="2395538" y="24590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8132" name="Oval 3"/>
          <p:cNvSpPr>
            <a:spLocks noChangeArrowheads="1"/>
          </p:cNvSpPr>
          <p:nvPr/>
        </p:nvSpPr>
        <p:spPr bwMode="auto">
          <a:xfrm>
            <a:off x="1370013" y="3684588"/>
            <a:ext cx="684212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8133" name="Text Box 4"/>
          <p:cNvSpPr txBox="1">
            <a:spLocks noChangeArrowheads="1"/>
          </p:cNvSpPr>
          <p:nvPr/>
        </p:nvSpPr>
        <p:spPr bwMode="auto">
          <a:xfrm>
            <a:off x="1311275" y="3802063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48134" name="Oval 5"/>
          <p:cNvSpPr>
            <a:spLocks noChangeArrowheads="1"/>
          </p:cNvSpPr>
          <p:nvPr/>
        </p:nvSpPr>
        <p:spPr bwMode="auto">
          <a:xfrm>
            <a:off x="685800" y="491013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8135" name="Text Box 6"/>
          <p:cNvSpPr txBox="1">
            <a:spLocks noChangeArrowheads="1"/>
          </p:cNvSpPr>
          <p:nvPr/>
        </p:nvSpPr>
        <p:spPr bwMode="auto">
          <a:xfrm>
            <a:off x="627063" y="5027613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48136" name="Oval 7"/>
          <p:cNvSpPr>
            <a:spLocks noChangeArrowheads="1"/>
          </p:cNvSpPr>
          <p:nvPr/>
        </p:nvSpPr>
        <p:spPr bwMode="auto">
          <a:xfrm>
            <a:off x="1711325" y="4908550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8137" name="Text Box 8"/>
          <p:cNvSpPr txBox="1">
            <a:spLocks noChangeArrowheads="1"/>
          </p:cNvSpPr>
          <p:nvPr/>
        </p:nvSpPr>
        <p:spPr bwMode="auto">
          <a:xfrm>
            <a:off x="1652588" y="5027613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48138" name="Line 9"/>
          <p:cNvSpPr>
            <a:spLocks noChangeShapeType="1"/>
          </p:cNvSpPr>
          <p:nvPr/>
        </p:nvSpPr>
        <p:spPr bwMode="auto">
          <a:xfrm flipH="1">
            <a:off x="1198563" y="4384675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8139" name="Line 10"/>
          <p:cNvSpPr>
            <a:spLocks noChangeShapeType="1"/>
          </p:cNvSpPr>
          <p:nvPr/>
        </p:nvSpPr>
        <p:spPr bwMode="auto">
          <a:xfrm>
            <a:off x="1711325" y="4384675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8140" name="Oval 11"/>
          <p:cNvSpPr>
            <a:spLocks noChangeArrowheads="1"/>
          </p:cNvSpPr>
          <p:nvPr/>
        </p:nvSpPr>
        <p:spPr bwMode="auto">
          <a:xfrm>
            <a:off x="4448175" y="12334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8141" name="Line 12"/>
          <p:cNvSpPr>
            <a:spLocks noChangeShapeType="1"/>
          </p:cNvSpPr>
          <p:nvPr/>
        </p:nvSpPr>
        <p:spPr bwMode="auto">
          <a:xfrm>
            <a:off x="2909888" y="1409700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8142" name="Oval 13"/>
          <p:cNvSpPr>
            <a:spLocks noChangeArrowheads="1"/>
          </p:cNvSpPr>
          <p:nvPr/>
        </p:nvSpPr>
        <p:spPr bwMode="auto">
          <a:xfrm>
            <a:off x="3422650" y="36845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8143" name="Line 14"/>
          <p:cNvSpPr>
            <a:spLocks noChangeShapeType="1"/>
          </p:cNvSpPr>
          <p:nvPr/>
        </p:nvSpPr>
        <p:spPr bwMode="auto">
          <a:xfrm flipH="1">
            <a:off x="1882775" y="31591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8144" name="Line 15"/>
          <p:cNvSpPr>
            <a:spLocks noChangeShapeType="1"/>
          </p:cNvSpPr>
          <p:nvPr/>
        </p:nvSpPr>
        <p:spPr bwMode="auto">
          <a:xfrm>
            <a:off x="2909888" y="3159125"/>
            <a:ext cx="682625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8145" name="Oval 16"/>
          <p:cNvSpPr>
            <a:spLocks noChangeArrowheads="1"/>
          </p:cNvSpPr>
          <p:nvPr/>
        </p:nvSpPr>
        <p:spPr bwMode="auto">
          <a:xfrm>
            <a:off x="6500813" y="24590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8146" name="Text Box 17"/>
          <p:cNvSpPr txBox="1">
            <a:spLocks noChangeArrowheads="1"/>
          </p:cNvSpPr>
          <p:nvPr/>
        </p:nvSpPr>
        <p:spPr bwMode="auto">
          <a:xfrm>
            <a:off x="6442075" y="25781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48147" name="Oval 18"/>
          <p:cNvSpPr>
            <a:spLocks noChangeArrowheads="1"/>
          </p:cNvSpPr>
          <p:nvPr/>
        </p:nvSpPr>
        <p:spPr bwMode="auto">
          <a:xfrm>
            <a:off x="5475288" y="3684588"/>
            <a:ext cx="682625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8148" name="Oval 19"/>
          <p:cNvSpPr>
            <a:spLocks noChangeArrowheads="1"/>
          </p:cNvSpPr>
          <p:nvPr/>
        </p:nvSpPr>
        <p:spPr bwMode="auto">
          <a:xfrm>
            <a:off x="7526338" y="36845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8149" name="Text Box 20"/>
          <p:cNvSpPr txBox="1">
            <a:spLocks noChangeArrowheads="1"/>
          </p:cNvSpPr>
          <p:nvPr/>
        </p:nvSpPr>
        <p:spPr bwMode="auto">
          <a:xfrm>
            <a:off x="7467600" y="3802063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48150" name="Line 21"/>
          <p:cNvSpPr>
            <a:spLocks noChangeShapeType="1"/>
          </p:cNvSpPr>
          <p:nvPr/>
        </p:nvSpPr>
        <p:spPr bwMode="auto">
          <a:xfrm flipH="1">
            <a:off x="5988050" y="31591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8151" name="Line 22"/>
          <p:cNvSpPr>
            <a:spLocks noChangeShapeType="1"/>
          </p:cNvSpPr>
          <p:nvPr/>
        </p:nvSpPr>
        <p:spPr bwMode="auto">
          <a:xfrm>
            <a:off x="7013575" y="31591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8152" name="Line 23"/>
          <p:cNvSpPr>
            <a:spLocks noChangeShapeType="1"/>
          </p:cNvSpPr>
          <p:nvPr/>
        </p:nvSpPr>
        <p:spPr bwMode="auto">
          <a:xfrm flipH="1">
            <a:off x="3079750" y="1758950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8153" name="Line 24"/>
          <p:cNvSpPr>
            <a:spLocks noChangeShapeType="1"/>
          </p:cNvSpPr>
          <p:nvPr/>
        </p:nvSpPr>
        <p:spPr bwMode="auto">
          <a:xfrm>
            <a:off x="5132388" y="1758950"/>
            <a:ext cx="1539875" cy="7000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8154" name="Text Box 25"/>
          <p:cNvSpPr txBox="1">
            <a:spLocks noChangeArrowheads="1"/>
          </p:cNvSpPr>
          <p:nvPr/>
        </p:nvSpPr>
        <p:spPr bwMode="auto">
          <a:xfrm>
            <a:off x="1939925" y="1058863"/>
            <a:ext cx="1139825" cy="525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48155" name="Oval 26"/>
          <p:cNvSpPr>
            <a:spLocks noChangeArrowheads="1"/>
          </p:cNvSpPr>
          <p:nvPr/>
        </p:nvSpPr>
        <p:spPr bwMode="auto">
          <a:xfrm>
            <a:off x="3422650" y="3683000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8156" name="Text Box 27"/>
          <p:cNvSpPr txBox="1">
            <a:spLocks noChangeArrowheads="1"/>
          </p:cNvSpPr>
          <p:nvPr/>
        </p:nvSpPr>
        <p:spPr bwMode="auto">
          <a:xfrm>
            <a:off x="2362200" y="255270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48157" name="Oval 28"/>
          <p:cNvSpPr>
            <a:spLocks noChangeArrowheads="1"/>
          </p:cNvSpPr>
          <p:nvPr/>
        </p:nvSpPr>
        <p:spPr bwMode="auto">
          <a:xfrm>
            <a:off x="2738438" y="4908550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8158" name="Text Box 29"/>
          <p:cNvSpPr txBox="1">
            <a:spLocks noChangeArrowheads="1"/>
          </p:cNvSpPr>
          <p:nvPr/>
        </p:nvSpPr>
        <p:spPr bwMode="auto">
          <a:xfrm>
            <a:off x="3336925" y="3833813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48159" name="Oval 30"/>
          <p:cNvSpPr>
            <a:spLocks noChangeArrowheads="1"/>
          </p:cNvSpPr>
          <p:nvPr/>
        </p:nvSpPr>
        <p:spPr bwMode="auto">
          <a:xfrm>
            <a:off x="3763963" y="49053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8160" name="Text Box 31"/>
          <p:cNvSpPr txBox="1">
            <a:spLocks noChangeArrowheads="1"/>
          </p:cNvSpPr>
          <p:nvPr/>
        </p:nvSpPr>
        <p:spPr bwMode="auto">
          <a:xfrm>
            <a:off x="3657600" y="5067300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48161" name="Line 32"/>
          <p:cNvSpPr>
            <a:spLocks noChangeShapeType="1"/>
          </p:cNvSpPr>
          <p:nvPr/>
        </p:nvSpPr>
        <p:spPr bwMode="auto">
          <a:xfrm flipH="1">
            <a:off x="3251200" y="4383088"/>
            <a:ext cx="341313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8162" name="Line 33"/>
          <p:cNvSpPr>
            <a:spLocks noChangeShapeType="1"/>
          </p:cNvSpPr>
          <p:nvPr/>
        </p:nvSpPr>
        <p:spPr bwMode="auto">
          <a:xfrm>
            <a:off x="3763963" y="4383088"/>
            <a:ext cx="342900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8163" name="Oval 34"/>
          <p:cNvSpPr>
            <a:spLocks noChangeArrowheads="1"/>
          </p:cNvSpPr>
          <p:nvPr/>
        </p:nvSpPr>
        <p:spPr bwMode="auto">
          <a:xfrm>
            <a:off x="5475288" y="3683000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8164" name="Text Box 35"/>
          <p:cNvSpPr txBox="1">
            <a:spLocks noChangeArrowheads="1"/>
          </p:cNvSpPr>
          <p:nvPr/>
        </p:nvSpPr>
        <p:spPr bwMode="auto">
          <a:xfrm>
            <a:off x="5427663" y="3821113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48165" name="Text Box 36"/>
          <p:cNvSpPr txBox="1">
            <a:spLocks noChangeArrowheads="1"/>
          </p:cNvSpPr>
          <p:nvPr/>
        </p:nvSpPr>
        <p:spPr bwMode="auto">
          <a:xfrm>
            <a:off x="6400800" y="1211263"/>
            <a:ext cx="2590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48166" name="Rectangle 37"/>
          <p:cNvSpPr>
            <a:spLocks noGrp="1" noChangeArrowheads="1"/>
          </p:cNvSpPr>
          <p:nvPr>
            <p:ph type="title"/>
          </p:nvPr>
        </p:nvSpPr>
        <p:spPr>
          <a:xfrm>
            <a:off x="457200" y="3810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Dequeue (cont.)</a:t>
            </a:r>
          </a:p>
        </p:txBody>
      </p:sp>
      <p:sp>
        <p:nvSpPr>
          <p:cNvPr id="48167" name="Text Box 38"/>
          <p:cNvSpPr txBox="1">
            <a:spLocks noChangeArrowheads="1"/>
          </p:cNvSpPr>
          <p:nvPr/>
        </p:nvSpPr>
        <p:spPr bwMode="auto">
          <a:xfrm>
            <a:off x="4419600" y="13335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</a:t>
            </a:r>
            <a:r>
              <a:rPr lang="en-US" altLang="en-US" sz="2400" b="1"/>
              <a:t>39</a:t>
            </a:r>
            <a:endParaRPr lang="en-US" altLang="en-US" sz="2400"/>
          </a:p>
        </p:txBody>
      </p:sp>
      <p:sp>
        <p:nvSpPr>
          <p:cNvPr id="48168" name="Text Box 39"/>
          <p:cNvSpPr txBox="1">
            <a:spLocks noChangeArrowheads="1"/>
          </p:cNvSpPr>
          <p:nvPr/>
        </p:nvSpPr>
        <p:spPr bwMode="auto">
          <a:xfrm>
            <a:off x="2743200" y="5057775"/>
            <a:ext cx="855663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48169" name="Text Box 41"/>
          <p:cNvSpPr txBox="1">
            <a:spLocks noChangeArrowheads="1"/>
          </p:cNvSpPr>
          <p:nvPr/>
        </p:nvSpPr>
        <p:spPr bwMode="auto">
          <a:xfrm>
            <a:off x="4876800" y="4457700"/>
            <a:ext cx="3810000" cy="156210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 dirty="0">
                <a:solidFill>
                  <a:srgbClr val="FF3300"/>
                </a:solidFill>
              </a:rPr>
              <a:t>If 5 would have been greater than or equal to both of its children, we would stop there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31FAC92F-9A2C-42C0-B6F6-D6977CE7ECC4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45</a:t>
            </a:fld>
            <a:endParaRPr lang="en-US" altLang="en-US" sz="1400"/>
          </a:p>
        </p:txBody>
      </p:sp>
      <p:sp>
        <p:nvSpPr>
          <p:cNvPr id="29699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76577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Dequeue In Short</a:t>
            </a:r>
          </a:p>
        </p:txBody>
      </p:sp>
      <p:sp>
        <p:nvSpPr>
          <p:cNvPr id="29700" name="Oval 3"/>
          <p:cNvSpPr>
            <a:spLocks noChangeArrowheads="1"/>
          </p:cNvSpPr>
          <p:nvPr/>
        </p:nvSpPr>
        <p:spPr bwMode="auto">
          <a:xfrm>
            <a:off x="2395538" y="2497515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9701" name="Text Box 4"/>
          <p:cNvSpPr txBox="1">
            <a:spLocks noChangeArrowheads="1"/>
          </p:cNvSpPr>
          <p:nvPr/>
        </p:nvSpPr>
        <p:spPr bwMode="auto">
          <a:xfrm>
            <a:off x="2336800" y="2616577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29702" name="Oval 5"/>
          <p:cNvSpPr>
            <a:spLocks noChangeArrowheads="1"/>
          </p:cNvSpPr>
          <p:nvPr/>
        </p:nvSpPr>
        <p:spPr bwMode="auto">
          <a:xfrm>
            <a:off x="1370013" y="3723065"/>
            <a:ext cx="684212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9703" name="Text Box 6"/>
          <p:cNvSpPr txBox="1">
            <a:spLocks noChangeArrowheads="1"/>
          </p:cNvSpPr>
          <p:nvPr/>
        </p:nvSpPr>
        <p:spPr bwMode="auto">
          <a:xfrm>
            <a:off x="1311275" y="384054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29704" name="Oval 7"/>
          <p:cNvSpPr>
            <a:spLocks noChangeArrowheads="1"/>
          </p:cNvSpPr>
          <p:nvPr/>
        </p:nvSpPr>
        <p:spPr bwMode="auto">
          <a:xfrm>
            <a:off x="685800" y="4948615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9705" name="Text Box 8"/>
          <p:cNvSpPr txBox="1">
            <a:spLocks noChangeArrowheads="1"/>
          </p:cNvSpPr>
          <p:nvPr/>
        </p:nvSpPr>
        <p:spPr bwMode="auto">
          <a:xfrm>
            <a:off x="627063" y="506609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29706" name="Oval 9"/>
          <p:cNvSpPr>
            <a:spLocks noChangeArrowheads="1"/>
          </p:cNvSpPr>
          <p:nvPr/>
        </p:nvSpPr>
        <p:spPr bwMode="auto">
          <a:xfrm>
            <a:off x="1711325" y="4947027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9707" name="Text Box 10"/>
          <p:cNvSpPr txBox="1">
            <a:spLocks noChangeArrowheads="1"/>
          </p:cNvSpPr>
          <p:nvPr/>
        </p:nvSpPr>
        <p:spPr bwMode="auto">
          <a:xfrm>
            <a:off x="1652588" y="506609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29708" name="Line 11"/>
          <p:cNvSpPr>
            <a:spLocks noChangeShapeType="1"/>
          </p:cNvSpPr>
          <p:nvPr/>
        </p:nvSpPr>
        <p:spPr bwMode="auto">
          <a:xfrm flipH="1">
            <a:off x="1198563" y="4423152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9709" name="Line 12"/>
          <p:cNvSpPr>
            <a:spLocks noChangeShapeType="1"/>
          </p:cNvSpPr>
          <p:nvPr/>
        </p:nvSpPr>
        <p:spPr bwMode="auto">
          <a:xfrm>
            <a:off x="1711325" y="4423152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9710" name="Oval 13"/>
          <p:cNvSpPr>
            <a:spLocks noChangeArrowheads="1"/>
          </p:cNvSpPr>
          <p:nvPr/>
        </p:nvSpPr>
        <p:spPr bwMode="auto">
          <a:xfrm>
            <a:off x="4448175" y="1271965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9711" name="Text Box 14"/>
          <p:cNvSpPr txBox="1">
            <a:spLocks noChangeArrowheads="1"/>
          </p:cNvSpPr>
          <p:nvPr/>
        </p:nvSpPr>
        <p:spPr bwMode="auto">
          <a:xfrm>
            <a:off x="4389438" y="1391027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46</a:t>
            </a:r>
            <a:endParaRPr lang="en-US" altLang="en-US" sz="2400"/>
          </a:p>
        </p:txBody>
      </p:sp>
      <p:sp>
        <p:nvSpPr>
          <p:cNvPr id="29712" name="Line 15"/>
          <p:cNvSpPr>
            <a:spLocks noChangeShapeType="1"/>
          </p:cNvSpPr>
          <p:nvPr/>
        </p:nvSpPr>
        <p:spPr bwMode="auto">
          <a:xfrm>
            <a:off x="2909888" y="1448177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9713" name="Oval 16"/>
          <p:cNvSpPr>
            <a:spLocks noChangeArrowheads="1"/>
          </p:cNvSpPr>
          <p:nvPr/>
        </p:nvSpPr>
        <p:spPr bwMode="auto">
          <a:xfrm>
            <a:off x="3422650" y="3723065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9714" name="Line 17"/>
          <p:cNvSpPr>
            <a:spLocks noChangeShapeType="1"/>
          </p:cNvSpPr>
          <p:nvPr/>
        </p:nvSpPr>
        <p:spPr bwMode="auto">
          <a:xfrm flipH="1">
            <a:off x="1882775" y="3197602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9715" name="Line 18"/>
          <p:cNvSpPr>
            <a:spLocks noChangeShapeType="1"/>
          </p:cNvSpPr>
          <p:nvPr/>
        </p:nvSpPr>
        <p:spPr bwMode="auto">
          <a:xfrm>
            <a:off x="2909888" y="3197602"/>
            <a:ext cx="682625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9716" name="Oval 19"/>
          <p:cNvSpPr>
            <a:spLocks noChangeArrowheads="1"/>
          </p:cNvSpPr>
          <p:nvPr/>
        </p:nvSpPr>
        <p:spPr bwMode="auto">
          <a:xfrm>
            <a:off x="6500813" y="2497515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9717" name="Text Box 20"/>
          <p:cNvSpPr txBox="1">
            <a:spLocks noChangeArrowheads="1"/>
          </p:cNvSpPr>
          <p:nvPr/>
        </p:nvSpPr>
        <p:spPr bwMode="auto">
          <a:xfrm>
            <a:off x="6442075" y="2616577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29718" name="Oval 21"/>
          <p:cNvSpPr>
            <a:spLocks noChangeArrowheads="1"/>
          </p:cNvSpPr>
          <p:nvPr/>
        </p:nvSpPr>
        <p:spPr bwMode="auto">
          <a:xfrm>
            <a:off x="5475288" y="3723065"/>
            <a:ext cx="682625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9719" name="Oval 22"/>
          <p:cNvSpPr>
            <a:spLocks noChangeArrowheads="1"/>
          </p:cNvSpPr>
          <p:nvPr/>
        </p:nvSpPr>
        <p:spPr bwMode="auto">
          <a:xfrm>
            <a:off x="7526338" y="3723065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9720" name="Text Box 23"/>
          <p:cNvSpPr txBox="1">
            <a:spLocks noChangeArrowheads="1"/>
          </p:cNvSpPr>
          <p:nvPr/>
        </p:nvSpPr>
        <p:spPr bwMode="auto">
          <a:xfrm>
            <a:off x="7467600" y="3840540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29721" name="Line 24"/>
          <p:cNvSpPr>
            <a:spLocks noChangeShapeType="1"/>
          </p:cNvSpPr>
          <p:nvPr/>
        </p:nvSpPr>
        <p:spPr bwMode="auto">
          <a:xfrm flipH="1">
            <a:off x="5988050" y="3197602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9722" name="Line 25"/>
          <p:cNvSpPr>
            <a:spLocks noChangeShapeType="1"/>
          </p:cNvSpPr>
          <p:nvPr/>
        </p:nvSpPr>
        <p:spPr bwMode="auto">
          <a:xfrm>
            <a:off x="7013575" y="3197602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9723" name="Line 26"/>
          <p:cNvSpPr>
            <a:spLocks noChangeShapeType="1"/>
          </p:cNvSpPr>
          <p:nvPr/>
        </p:nvSpPr>
        <p:spPr bwMode="auto">
          <a:xfrm flipH="1">
            <a:off x="3079750" y="1797427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9724" name="Line 27"/>
          <p:cNvSpPr>
            <a:spLocks noChangeShapeType="1"/>
          </p:cNvSpPr>
          <p:nvPr/>
        </p:nvSpPr>
        <p:spPr bwMode="auto">
          <a:xfrm>
            <a:off x="5132388" y="1797427"/>
            <a:ext cx="1539875" cy="7000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9725" name="Text Box 28"/>
          <p:cNvSpPr txBox="1">
            <a:spLocks noChangeArrowheads="1"/>
          </p:cNvSpPr>
          <p:nvPr/>
        </p:nvSpPr>
        <p:spPr bwMode="auto">
          <a:xfrm>
            <a:off x="1939925" y="1097340"/>
            <a:ext cx="1139825" cy="525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29726" name="Oval 29"/>
          <p:cNvSpPr>
            <a:spLocks noChangeArrowheads="1"/>
          </p:cNvSpPr>
          <p:nvPr/>
        </p:nvSpPr>
        <p:spPr bwMode="auto">
          <a:xfrm>
            <a:off x="3422650" y="3721477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9727" name="Text Box 30"/>
          <p:cNvSpPr txBox="1">
            <a:spLocks noChangeArrowheads="1"/>
          </p:cNvSpPr>
          <p:nvPr/>
        </p:nvSpPr>
        <p:spPr bwMode="auto">
          <a:xfrm>
            <a:off x="3370263" y="3859590"/>
            <a:ext cx="854075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29728" name="Oval 31"/>
          <p:cNvSpPr>
            <a:spLocks noChangeArrowheads="1"/>
          </p:cNvSpPr>
          <p:nvPr/>
        </p:nvSpPr>
        <p:spPr bwMode="auto">
          <a:xfrm>
            <a:off x="2738438" y="4947027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9729" name="Text Box 32"/>
          <p:cNvSpPr txBox="1">
            <a:spLocks noChangeArrowheads="1"/>
          </p:cNvSpPr>
          <p:nvPr/>
        </p:nvSpPr>
        <p:spPr bwMode="auto">
          <a:xfrm>
            <a:off x="2679700" y="5061327"/>
            <a:ext cx="854075" cy="700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29730" name="Oval 33"/>
          <p:cNvSpPr>
            <a:spLocks noChangeArrowheads="1"/>
          </p:cNvSpPr>
          <p:nvPr/>
        </p:nvSpPr>
        <p:spPr bwMode="auto">
          <a:xfrm>
            <a:off x="3763963" y="4943852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9731" name="Text Box 34"/>
          <p:cNvSpPr txBox="1">
            <a:spLocks noChangeArrowheads="1"/>
          </p:cNvSpPr>
          <p:nvPr/>
        </p:nvSpPr>
        <p:spPr bwMode="auto">
          <a:xfrm>
            <a:off x="3705225" y="5061327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29732" name="Line 35"/>
          <p:cNvSpPr>
            <a:spLocks noChangeShapeType="1"/>
          </p:cNvSpPr>
          <p:nvPr/>
        </p:nvSpPr>
        <p:spPr bwMode="auto">
          <a:xfrm flipH="1">
            <a:off x="3251200" y="4421565"/>
            <a:ext cx="341313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9733" name="Line 36"/>
          <p:cNvSpPr>
            <a:spLocks noChangeShapeType="1"/>
          </p:cNvSpPr>
          <p:nvPr/>
        </p:nvSpPr>
        <p:spPr bwMode="auto">
          <a:xfrm>
            <a:off x="3763963" y="4421565"/>
            <a:ext cx="342900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29734" name="Oval 37"/>
          <p:cNvSpPr>
            <a:spLocks noChangeArrowheads="1"/>
          </p:cNvSpPr>
          <p:nvPr/>
        </p:nvSpPr>
        <p:spPr bwMode="auto">
          <a:xfrm>
            <a:off x="5475288" y="3721477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9735" name="Text Box 38"/>
          <p:cNvSpPr txBox="1">
            <a:spLocks noChangeArrowheads="1"/>
          </p:cNvSpPr>
          <p:nvPr/>
        </p:nvSpPr>
        <p:spPr bwMode="auto">
          <a:xfrm>
            <a:off x="5427663" y="385959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29736" name="Oval 39"/>
          <p:cNvSpPr>
            <a:spLocks noChangeArrowheads="1"/>
          </p:cNvSpPr>
          <p:nvPr/>
        </p:nvSpPr>
        <p:spPr bwMode="auto">
          <a:xfrm>
            <a:off x="4791075" y="4948615"/>
            <a:ext cx="684213" cy="6985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29737" name="Text Box 40"/>
          <p:cNvSpPr txBox="1">
            <a:spLocks noChangeArrowheads="1"/>
          </p:cNvSpPr>
          <p:nvPr/>
        </p:nvSpPr>
        <p:spPr bwMode="auto">
          <a:xfrm>
            <a:off x="4732338" y="5064502"/>
            <a:ext cx="854075" cy="700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29738" name="Line 41"/>
          <p:cNvSpPr>
            <a:spLocks noChangeShapeType="1"/>
          </p:cNvSpPr>
          <p:nvPr/>
        </p:nvSpPr>
        <p:spPr bwMode="auto">
          <a:xfrm flipH="1">
            <a:off x="5303838" y="4421565"/>
            <a:ext cx="341312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4" name="Text Box 45"/>
          <p:cNvSpPr txBox="1">
            <a:spLocks noChangeArrowheads="1"/>
          </p:cNvSpPr>
          <p:nvPr/>
        </p:nvSpPr>
        <p:spPr bwMode="auto">
          <a:xfrm>
            <a:off x="5791200" y="4678740"/>
            <a:ext cx="3200400" cy="156966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 dirty="0">
                <a:solidFill>
                  <a:srgbClr val="FF3300"/>
                </a:solidFill>
              </a:rPr>
              <a:t>Move last node to root, then </a:t>
            </a:r>
            <a:r>
              <a:rPr lang="en-US" altLang="en-US" sz="2400" b="1" dirty="0" err="1">
                <a:solidFill>
                  <a:srgbClr val="FF3300"/>
                </a:solidFill>
              </a:rPr>
              <a:t>heapify</a:t>
            </a:r>
            <a:r>
              <a:rPr lang="en-US" altLang="en-US" sz="2400" b="1" dirty="0">
                <a:solidFill>
                  <a:srgbClr val="FF3300"/>
                </a:solidFill>
              </a:rPr>
              <a:t> it down to the correct location</a:t>
            </a:r>
          </a:p>
        </p:txBody>
      </p:sp>
      <p:sp>
        <p:nvSpPr>
          <p:cNvPr id="45" name="Freeform 44"/>
          <p:cNvSpPr>
            <a:spLocks/>
          </p:cNvSpPr>
          <p:nvPr/>
        </p:nvSpPr>
        <p:spPr bwMode="auto">
          <a:xfrm>
            <a:off x="3011053" y="2030835"/>
            <a:ext cx="2089145" cy="2909841"/>
          </a:xfrm>
          <a:custGeom>
            <a:avLst/>
            <a:gdLst>
              <a:gd name="T0" fmla="*/ 2147483646 w 2504"/>
              <a:gd name="T1" fmla="*/ 0 h 2064"/>
              <a:gd name="T2" fmla="*/ 2147483646 w 2504"/>
              <a:gd name="T3" fmla="*/ 2147483646 h 2064"/>
              <a:gd name="T4" fmla="*/ 2147483646 w 2504"/>
              <a:gd name="T5" fmla="*/ 2147483646 h 2064"/>
              <a:gd name="T6" fmla="*/ 2147483646 w 2504"/>
              <a:gd name="T7" fmla="*/ 2147483646 h 2064"/>
              <a:gd name="T8" fmla="*/ 2147483646 w 2504"/>
              <a:gd name="T9" fmla="*/ 2147483646 h 2064"/>
              <a:gd name="T10" fmla="*/ 2147483646 w 2504"/>
              <a:gd name="T11" fmla="*/ 2147483646 h 206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connsiteX0" fmla="*/ 9694 w 9777"/>
              <a:gd name="connsiteY0" fmla="*/ 8998 h 9652"/>
              <a:gd name="connsiteX1" fmla="*/ 9638 w 9777"/>
              <a:gd name="connsiteY1" fmla="*/ 582 h 9652"/>
              <a:gd name="connsiteX2" fmla="*/ 8488 w 9777"/>
              <a:gd name="connsiteY2" fmla="*/ 815 h 9652"/>
              <a:gd name="connsiteX3" fmla="*/ 1779 w 9777"/>
              <a:gd name="connsiteY3" fmla="*/ 1512 h 9652"/>
              <a:gd name="connsiteX4" fmla="*/ 54 w 9777"/>
              <a:gd name="connsiteY4" fmla="*/ 4303 h 9652"/>
              <a:gd name="connsiteX5" fmla="*/ 437 w 9777"/>
              <a:gd name="connsiteY5" fmla="*/ 9652 h 9652"/>
              <a:gd name="connsiteX0" fmla="*/ 9915 w 10000"/>
              <a:gd name="connsiteY0" fmla="*/ 8510 h 9188"/>
              <a:gd name="connsiteX1" fmla="*/ 9858 w 10000"/>
              <a:gd name="connsiteY1" fmla="*/ 1506 h 9188"/>
              <a:gd name="connsiteX2" fmla="*/ 8682 w 10000"/>
              <a:gd name="connsiteY2" fmla="*/ 32 h 9188"/>
              <a:gd name="connsiteX3" fmla="*/ 1820 w 10000"/>
              <a:gd name="connsiteY3" fmla="*/ 755 h 9188"/>
              <a:gd name="connsiteX4" fmla="*/ 55 w 10000"/>
              <a:gd name="connsiteY4" fmla="*/ 3646 h 9188"/>
              <a:gd name="connsiteX5" fmla="*/ 447 w 10000"/>
              <a:gd name="connsiteY5" fmla="*/ 9188 h 9188"/>
              <a:gd name="connsiteX0" fmla="*/ 9915 w 10106"/>
              <a:gd name="connsiteY0" fmla="*/ 20645 h 21383"/>
              <a:gd name="connsiteX1" fmla="*/ 9858 w 10106"/>
              <a:gd name="connsiteY1" fmla="*/ 13022 h 21383"/>
              <a:gd name="connsiteX2" fmla="*/ 7136 w 10106"/>
              <a:gd name="connsiteY2" fmla="*/ 1 h 21383"/>
              <a:gd name="connsiteX3" fmla="*/ 1820 w 10106"/>
              <a:gd name="connsiteY3" fmla="*/ 12205 h 21383"/>
              <a:gd name="connsiteX4" fmla="*/ 55 w 10106"/>
              <a:gd name="connsiteY4" fmla="*/ 15351 h 21383"/>
              <a:gd name="connsiteX5" fmla="*/ 447 w 10106"/>
              <a:gd name="connsiteY5" fmla="*/ 21383 h 21383"/>
              <a:gd name="connsiteX0" fmla="*/ 9475 w 9666"/>
              <a:gd name="connsiteY0" fmla="*/ 20645 h 21383"/>
              <a:gd name="connsiteX1" fmla="*/ 9418 w 9666"/>
              <a:gd name="connsiteY1" fmla="*/ 13022 h 21383"/>
              <a:gd name="connsiteX2" fmla="*/ 6696 w 9666"/>
              <a:gd name="connsiteY2" fmla="*/ 1 h 21383"/>
              <a:gd name="connsiteX3" fmla="*/ 1380 w 9666"/>
              <a:gd name="connsiteY3" fmla="*/ 12205 h 21383"/>
              <a:gd name="connsiteX4" fmla="*/ 645 w 9666"/>
              <a:gd name="connsiteY4" fmla="*/ 16998 h 21383"/>
              <a:gd name="connsiteX5" fmla="*/ 7 w 9666"/>
              <a:gd name="connsiteY5" fmla="*/ 21383 h 21383"/>
              <a:gd name="connsiteX0" fmla="*/ 9802 w 9974"/>
              <a:gd name="connsiteY0" fmla="*/ 10168 h 10513"/>
              <a:gd name="connsiteX1" fmla="*/ 9743 w 9974"/>
              <a:gd name="connsiteY1" fmla="*/ 6603 h 10513"/>
              <a:gd name="connsiteX2" fmla="*/ 7282 w 9974"/>
              <a:gd name="connsiteY2" fmla="*/ 0 h 10513"/>
              <a:gd name="connsiteX3" fmla="*/ 1428 w 9974"/>
              <a:gd name="connsiteY3" fmla="*/ 6221 h 10513"/>
              <a:gd name="connsiteX4" fmla="*/ 667 w 9974"/>
              <a:gd name="connsiteY4" fmla="*/ 8462 h 10513"/>
              <a:gd name="connsiteX5" fmla="*/ 7 w 9974"/>
              <a:gd name="connsiteY5" fmla="*/ 10513 h 10513"/>
              <a:gd name="connsiteX0" fmla="*/ 9828 w 10000"/>
              <a:gd name="connsiteY0" fmla="*/ 9672 h 10000"/>
              <a:gd name="connsiteX1" fmla="*/ 9768 w 10000"/>
              <a:gd name="connsiteY1" fmla="*/ 6281 h 10000"/>
              <a:gd name="connsiteX2" fmla="*/ 7301 w 10000"/>
              <a:gd name="connsiteY2" fmla="*/ 0 h 10000"/>
              <a:gd name="connsiteX3" fmla="*/ 1966 w 10000"/>
              <a:gd name="connsiteY3" fmla="*/ 5917 h 10000"/>
              <a:gd name="connsiteX4" fmla="*/ 669 w 10000"/>
              <a:gd name="connsiteY4" fmla="*/ 8049 h 10000"/>
              <a:gd name="connsiteX5" fmla="*/ 7 w 10000"/>
              <a:gd name="connsiteY5" fmla="*/ 10000 h 10000"/>
              <a:gd name="connsiteX0" fmla="*/ 9828 w 10000"/>
              <a:gd name="connsiteY0" fmla="*/ 9672 h 10000"/>
              <a:gd name="connsiteX1" fmla="*/ 9768 w 10000"/>
              <a:gd name="connsiteY1" fmla="*/ 6281 h 10000"/>
              <a:gd name="connsiteX2" fmla="*/ 7301 w 10000"/>
              <a:gd name="connsiteY2" fmla="*/ 0 h 10000"/>
              <a:gd name="connsiteX3" fmla="*/ 1966 w 10000"/>
              <a:gd name="connsiteY3" fmla="*/ 5917 h 10000"/>
              <a:gd name="connsiteX4" fmla="*/ 669 w 10000"/>
              <a:gd name="connsiteY4" fmla="*/ 8049 h 10000"/>
              <a:gd name="connsiteX5" fmla="*/ 7 w 10000"/>
              <a:gd name="connsiteY5" fmla="*/ 10000 h 10000"/>
              <a:gd name="connsiteX0" fmla="*/ 9828 w 10000"/>
              <a:gd name="connsiteY0" fmla="*/ 9672 h 10000"/>
              <a:gd name="connsiteX1" fmla="*/ 9768 w 10000"/>
              <a:gd name="connsiteY1" fmla="*/ 6281 h 10000"/>
              <a:gd name="connsiteX2" fmla="*/ 7301 w 10000"/>
              <a:gd name="connsiteY2" fmla="*/ 0 h 10000"/>
              <a:gd name="connsiteX3" fmla="*/ 1966 w 10000"/>
              <a:gd name="connsiteY3" fmla="*/ 5917 h 10000"/>
              <a:gd name="connsiteX4" fmla="*/ 669 w 10000"/>
              <a:gd name="connsiteY4" fmla="*/ 8049 h 10000"/>
              <a:gd name="connsiteX5" fmla="*/ 7 w 10000"/>
              <a:gd name="connsiteY5" fmla="*/ 10000 h 10000"/>
              <a:gd name="connsiteX0" fmla="*/ 9828 w 10000"/>
              <a:gd name="connsiteY0" fmla="*/ 9672 h 10000"/>
              <a:gd name="connsiteX1" fmla="*/ 9768 w 10000"/>
              <a:gd name="connsiteY1" fmla="*/ 6281 h 10000"/>
              <a:gd name="connsiteX2" fmla="*/ 7301 w 10000"/>
              <a:gd name="connsiteY2" fmla="*/ 0 h 10000"/>
              <a:gd name="connsiteX3" fmla="*/ 1966 w 10000"/>
              <a:gd name="connsiteY3" fmla="*/ 5917 h 10000"/>
              <a:gd name="connsiteX4" fmla="*/ 669 w 10000"/>
              <a:gd name="connsiteY4" fmla="*/ 8049 h 10000"/>
              <a:gd name="connsiteX5" fmla="*/ 7 w 10000"/>
              <a:gd name="connsiteY5" fmla="*/ 10000 h 10000"/>
              <a:gd name="connsiteX0" fmla="*/ 9828 w 10000"/>
              <a:gd name="connsiteY0" fmla="*/ 9684 h 10012"/>
              <a:gd name="connsiteX1" fmla="*/ 9768 w 10000"/>
              <a:gd name="connsiteY1" fmla="*/ 6293 h 10012"/>
              <a:gd name="connsiteX2" fmla="*/ 7301 w 10000"/>
              <a:gd name="connsiteY2" fmla="*/ 12 h 10012"/>
              <a:gd name="connsiteX3" fmla="*/ 669 w 10000"/>
              <a:gd name="connsiteY3" fmla="*/ 8061 h 10012"/>
              <a:gd name="connsiteX4" fmla="*/ 7 w 10000"/>
              <a:gd name="connsiteY4" fmla="*/ 10012 h 10012"/>
              <a:gd name="connsiteX0" fmla="*/ 9821 w 9993"/>
              <a:gd name="connsiteY0" fmla="*/ 9722 h 10050"/>
              <a:gd name="connsiteX1" fmla="*/ 9761 w 9993"/>
              <a:gd name="connsiteY1" fmla="*/ 6331 h 10050"/>
              <a:gd name="connsiteX2" fmla="*/ 7294 w 9993"/>
              <a:gd name="connsiteY2" fmla="*/ 50 h 10050"/>
              <a:gd name="connsiteX3" fmla="*/ 0 w 9993"/>
              <a:gd name="connsiteY3" fmla="*/ 10050 h 10050"/>
              <a:gd name="connsiteX0" fmla="*/ 9828 w 10043"/>
              <a:gd name="connsiteY0" fmla="*/ 10060 h 10386"/>
              <a:gd name="connsiteX1" fmla="*/ 9768 w 10043"/>
              <a:gd name="connsiteY1" fmla="*/ 6686 h 10386"/>
              <a:gd name="connsiteX2" fmla="*/ 6705 w 10043"/>
              <a:gd name="connsiteY2" fmla="*/ 47 h 10386"/>
              <a:gd name="connsiteX3" fmla="*/ 0 w 10043"/>
              <a:gd name="connsiteY3" fmla="*/ 10386 h 10386"/>
              <a:gd name="connsiteX0" fmla="*/ 9828 w 9828"/>
              <a:gd name="connsiteY0" fmla="*/ 10014 h 10340"/>
              <a:gd name="connsiteX1" fmla="*/ 6705 w 9828"/>
              <a:gd name="connsiteY1" fmla="*/ 1 h 10340"/>
              <a:gd name="connsiteX2" fmla="*/ 0 w 9828"/>
              <a:gd name="connsiteY2" fmla="*/ 10340 h 10340"/>
              <a:gd name="connsiteX0" fmla="*/ 10000 w 10000"/>
              <a:gd name="connsiteY0" fmla="*/ 9692 h 9692"/>
              <a:gd name="connsiteX1" fmla="*/ 6822 w 10000"/>
              <a:gd name="connsiteY1" fmla="*/ 8 h 9692"/>
              <a:gd name="connsiteX2" fmla="*/ 0 w 10000"/>
              <a:gd name="connsiteY2" fmla="*/ 8080 h 9692"/>
              <a:gd name="connsiteX0" fmla="*/ 10000 w 10000"/>
              <a:gd name="connsiteY0" fmla="*/ 10000 h 10000"/>
              <a:gd name="connsiteX1" fmla="*/ 6822 w 10000"/>
              <a:gd name="connsiteY1" fmla="*/ 8 h 10000"/>
              <a:gd name="connsiteX2" fmla="*/ 0 w 10000"/>
              <a:gd name="connsiteY2" fmla="*/ 8337 h 10000"/>
              <a:gd name="connsiteX0" fmla="*/ 10000 w 10000"/>
              <a:gd name="connsiteY0" fmla="*/ 10001 h 10001"/>
              <a:gd name="connsiteX1" fmla="*/ 6822 w 10000"/>
              <a:gd name="connsiteY1" fmla="*/ 9 h 10001"/>
              <a:gd name="connsiteX2" fmla="*/ 0 w 10000"/>
              <a:gd name="connsiteY2" fmla="*/ 8338 h 10001"/>
              <a:gd name="connsiteX0" fmla="*/ 9516 w 9516"/>
              <a:gd name="connsiteY0" fmla="*/ 9993 h 9993"/>
              <a:gd name="connsiteX1" fmla="*/ 6338 w 9516"/>
              <a:gd name="connsiteY1" fmla="*/ 1 h 9993"/>
              <a:gd name="connsiteX2" fmla="*/ 0 w 9516"/>
              <a:gd name="connsiteY2" fmla="*/ 9882 h 9993"/>
              <a:gd name="connsiteX0" fmla="*/ 10000 w 10000"/>
              <a:gd name="connsiteY0" fmla="*/ 10000 h 10000"/>
              <a:gd name="connsiteX1" fmla="*/ 6660 w 10000"/>
              <a:gd name="connsiteY1" fmla="*/ 1 h 10000"/>
              <a:gd name="connsiteX2" fmla="*/ 0 w 10000"/>
              <a:gd name="connsiteY2" fmla="*/ 9889 h 10000"/>
              <a:gd name="connsiteX0" fmla="*/ 10174 w 10174"/>
              <a:gd name="connsiteY0" fmla="*/ 10000 h 10000"/>
              <a:gd name="connsiteX1" fmla="*/ 6834 w 10174"/>
              <a:gd name="connsiteY1" fmla="*/ 1 h 10000"/>
              <a:gd name="connsiteX2" fmla="*/ 174 w 10174"/>
              <a:gd name="connsiteY2" fmla="*/ 9889 h 10000"/>
              <a:gd name="connsiteX0" fmla="*/ 10016 w 10016"/>
              <a:gd name="connsiteY0" fmla="*/ 10000 h 10000"/>
              <a:gd name="connsiteX1" fmla="*/ 6676 w 10016"/>
              <a:gd name="connsiteY1" fmla="*/ 1 h 10000"/>
              <a:gd name="connsiteX2" fmla="*/ 16 w 10016"/>
              <a:gd name="connsiteY2" fmla="*/ 9889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016" h="10000">
                <a:moveTo>
                  <a:pt x="10016" y="10000"/>
                </a:moveTo>
                <a:cubicBezTo>
                  <a:pt x="9320" y="7917"/>
                  <a:pt x="8343" y="20"/>
                  <a:pt x="6676" y="1"/>
                </a:cubicBezTo>
                <a:cubicBezTo>
                  <a:pt x="5010" y="-18"/>
                  <a:pt x="-327" y="6896"/>
                  <a:pt x="16" y="9889"/>
                </a:cubicBezTo>
              </a:path>
            </a:pathLst>
          </a:custGeom>
          <a:noFill/>
          <a:ln w="57150" cap="flat" cmpd="sng">
            <a:solidFill>
              <a:schemeClr val="tx2"/>
            </a:solidFill>
            <a:prstDash val="sysDot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</p:spTree>
    <p:extLst>
      <p:ext uri="{BB962C8B-B14F-4D97-AF65-F5344CB8AC3E}">
        <p14:creationId xmlns:p14="http://schemas.microsoft.com/office/powerpoint/2010/main" val="1100265402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AF32C3C1-FCEB-4D43-929B-578CFD95C77E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46</a:t>
            </a:fld>
            <a:endParaRPr lang="en-US" altLang="en-US" sz="1400"/>
          </a:p>
        </p:txBody>
      </p:sp>
      <p:sp>
        <p:nvSpPr>
          <p:cNvPr id="48131" name="Oval 2"/>
          <p:cNvSpPr>
            <a:spLocks noChangeArrowheads="1"/>
          </p:cNvSpPr>
          <p:nvPr/>
        </p:nvSpPr>
        <p:spPr bwMode="auto">
          <a:xfrm>
            <a:off x="2395538" y="24971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8132" name="Oval 3"/>
          <p:cNvSpPr>
            <a:spLocks noChangeArrowheads="1"/>
          </p:cNvSpPr>
          <p:nvPr/>
        </p:nvSpPr>
        <p:spPr bwMode="auto">
          <a:xfrm>
            <a:off x="1370013" y="3722688"/>
            <a:ext cx="684212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8133" name="Text Box 4"/>
          <p:cNvSpPr txBox="1">
            <a:spLocks noChangeArrowheads="1"/>
          </p:cNvSpPr>
          <p:nvPr/>
        </p:nvSpPr>
        <p:spPr bwMode="auto">
          <a:xfrm>
            <a:off x="1311275" y="3840163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48134" name="Oval 5"/>
          <p:cNvSpPr>
            <a:spLocks noChangeArrowheads="1"/>
          </p:cNvSpPr>
          <p:nvPr/>
        </p:nvSpPr>
        <p:spPr bwMode="auto">
          <a:xfrm>
            <a:off x="685800" y="494823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8135" name="Text Box 6"/>
          <p:cNvSpPr txBox="1">
            <a:spLocks noChangeArrowheads="1"/>
          </p:cNvSpPr>
          <p:nvPr/>
        </p:nvSpPr>
        <p:spPr bwMode="auto">
          <a:xfrm>
            <a:off x="627063" y="5065713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48136" name="Oval 7"/>
          <p:cNvSpPr>
            <a:spLocks noChangeArrowheads="1"/>
          </p:cNvSpPr>
          <p:nvPr/>
        </p:nvSpPr>
        <p:spPr bwMode="auto">
          <a:xfrm>
            <a:off x="1711325" y="4946650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8137" name="Text Box 8"/>
          <p:cNvSpPr txBox="1">
            <a:spLocks noChangeArrowheads="1"/>
          </p:cNvSpPr>
          <p:nvPr/>
        </p:nvSpPr>
        <p:spPr bwMode="auto">
          <a:xfrm>
            <a:off x="1652588" y="5065713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48138" name="Line 9"/>
          <p:cNvSpPr>
            <a:spLocks noChangeShapeType="1"/>
          </p:cNvSpPr>
          <p:nvPr/>
        </p:nvSpPr>
        <p:spPr bwMode="auto">
          <a:xfrm flipH="1">
            <a:off x="1198563" y="4422775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8139" name="Line 10"/>
          <p:cNvSpPr>
            <a:spLocks noChangeShapeType="1"/>
          </p:cNvSpPr>
          <p:nvPr/>
        </p:nvSpPr>
        <p:spPr bwMode="auto">
          <a:xfrm>
            <a:off x="1711325" y="4422775"/>
            <a:ext cx="342900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8140" name="Oval 11"/>
          <p:cNvSpPr>
            <a:spLocks noChangeArrowheads="1"/>
          </p:cNvSpPr>
          <p:nvPr/>
        </p:nvSpPr>
        <p:spPr bwMode="auto">
          <a:xfrm>
            <a:off x="4448175" y="12715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8141" name="Line 12"/>
          <p:cNvSpPr>
            <a:spLocks noChangeShapeType="1"/>
          </p:cNvSpPr>
          <p:nvPr/>
        </p:nvSpPr>
        <p:spPr bwMode="auto">
          <a:xfrm>
            <a:off x="2909888" y="1447800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8142" name="Oval 13"/>
          <p:cNvSpPr>
            <a:spLocks noChangeArrowheads="1"/>
          </p:cNvSpPr>
          <p:nvPr/>
        </p:nvSpPr>
        <p:spPr bwMode="auto">
          <a:xfrm>
            <a:off x="3422650" y="37226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8143" name="Line 14"/>
          <p:cNvSpPr>
            <a:spLocks noChangeShapeType="1"/>
          </p:cNvSpPr>
          <p:nvPr/>
        </p:nvSpPr>
        <p:spPr bwMode="auto">
          <a:xfrm flipH="1">
            <a:off x="1882775" y="31972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8144" name="Line 15"/>
          <p:cNvSpPr>
            <a:spLocks noChangeShapeType="1"/>
          </p:cNvSpPr>
          <p:nvPr/>
        </p:nvSpPr>
        <p:spPr bwMode="auto">
          <a:xfrm>
            <a:off x="2909888" y="3197225"/>
            <a:ext cx="682625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8145" name="Oval 16"/>
          <p:cNvSpPr>
            <a:spLocks noChangeArrowheads="1"/>
          </p:cNvSpPr>
          <p:nvPr/>
        </p:nvSpPr>
        <p:spPr bwMode="auto">
          <a:xfrm>
            <a:off x="6500813" y="24971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8146" name="Text Box 17"/>
          <p:cNvSpPr txBox="1">
            <a:spLocks noChangeArrowheads="1"/>
          </p:cNvSpPr>
          <p:nvPr/>
        </p:nvSpPr>
        <p:spPr bwMode="auto">
          <a:xfrm>
            <a:off x="6442075" y="26162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48147" name="Oval 18"/>
          <p:cNvSpPr>
            <a:spLocks noChangeArrowheads="1"/>
          </p:cNvSpPr>
          <p:nvPr/>
        </p:nvSpPr>
        <p:spPr bwMode="auto">
          <a:xfrm>
            <a:off x="5475288" y="3722688"/>
            <a:ext cx="682625" cy="703262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8148" name="Oval 19"/>
          <p:cNvSpPr>
            <a:spLocks noChangeArrowheads="1"/>
          </p:cNvSpPr>
          <p:nvPr/>
        </p:nvSpPr>
        <p:spPr bwMode="auto">
          <a:xfrm>
            <a:off x="7526338" y="37226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8149" name="Text Box 20"/>
          <p:cNvSpPr txBox="1">
            <a:spLocks noChangeArrowheads="1"/>
          </p:cNvSpPr>
          <p:nvPr/>
        </p:nvSpPr>
        <p:spPr bwMode="auto">
          <a:xfrm>
            <a:off x="7467600" y="3840163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48150" name="Line 21"/>
          <p:cNvSpPr>
            <a:spLocks noChangeShapeType="1"/>
          </p:cNvSpPr>
          <p:nvPr/>
        </p:nvSpPr>
        <p:spPr bwMode="auto">
          <a:xfrm flipH="1">
            <a:off x="5988050" y="31972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8151" name="Line 22"/>
          <p:cNvSpPr>
            <a:spLocks noChangeShapeType="1"/>
          </p:cNvSpPr>
          <p:nvPr/>
        </p:nvSpPr>
        <p:spPr bwMode="auto">
          <a:xfrm>
            <a:off x="7013575" y="3197225"/>
            <a:ext cx="684213" cy="5254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8152" name="Line 23"/>
          <p:cNvSpPr>
            <a:spLocks noChangeShapeType="1"/>
          </p:cNvSpPr>
          <p:nvPr/>
        </p:nvSpPr>
        <p:spPr bwMode="auto">
          <a:xfrm flipH="1">
            <a:off x="3079750" y="1797050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8153" name="Line 24"/>
          <p:cNvSpPr>
            <a:spLocks noChangeShapeType="1"/>
          </p:cNvSpPr>
          <p:nvPr/>
        </p:nvSpPr>
        <p:spPr bwMode="auto">
          <a:xfrm>
            <a:off x="5132388" y="1797050"/>
            <a:ext cx="1539875" cy="7000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8154" name="Text Box 25"/>
          <p:cNvSpPr txBox="1">
            <a:spLocks noChangeArrowheads="1"/>
          </p:cNvSpPr>
          <p:nvPr/>
        </p:nvSpPr>
        <p:spPr bwMode="auto">
          <a:xfrm>
            <a:off x="1939925" y="1096963"/>
            <a:ext cx="1139825" cy="525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48155" name="Oval 26"/>
          <p:cNvSpPr>
            <a:spLocks noChangeArrowheads="1"/>
          </p:cNvSpPr>
          <p:nvPr/>
        </p:nvSpPr>
        <p:spPr bwMode="auto">
          <a:xfrm>
            <a:off x="3422650" y="3721100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8156" name="Text Box 27"/>
          <p:cNvSpPr txBox="1">
            <a:spLocks noChangeArrowheads="1"/>
          </p:cNvSpPr>
          <p:nvPr/>
        </p:nvSpPr>
        <p:spPr bwMode="auto">
          <a:xfrm>
            <a:off x="2362200" y="259080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48157" name="Oval 28"/>
          <p:cNvSpPr>
            <a:spLocks noChangeArrowheads="1"/>
          </p:cNvSpPr>
          <p:nvPr/>
        </p:nvSpPr>
        <p:spPr bwMode="auto">
          <a:xfrm>
            <a:off x="2738438" y="4946650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8158" name="Text Box 29"/>
          <p:cNvSpPr txBox="1">
            <a:spLocks noChangeArrowheads="1"/>
          </p:cNvSpPr>
          <p:nvPr/>
        </p:nvSpPr>
        <p:spPr bwMode="auto">
          <a:xfrm>
            <a:off x="3336925" y="3871913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48159" name="Oval 30"/>
          <p:cNvSpPr>
            <a:spLocks noChangeArrowheads="1"/>
          </p:cNvSpPr>
          <p:nvPr/>
        </p:nvSpPr>
        <p:spPr bwMode="auto">
          <a:xfrm>
            <a:off x="3763963" y="49434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8160" name="Text Box 31"/>
          <p:cNvSpPr txBox="1">
            <a:spLocks noChangeArrowheads="1"/>
          </p:cNvSpPr>
          <p:nvPr/>
        </p:nvSpPr>
        <p:spPr bwMode="auto">
          <a:xfrm>
            <a:off x="3716337" y="5092700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 dirty="0"/>
              <a:t> 15</a:t>
            </a:r>
            <a:endParaRPr lang="en-US" altLang="en-US" sz="2400" dirty="0"/>
          </a:p>
        </p:txBody>
      </p:sp>
      <p:sp>
        <p:nvSpPr>
          <p:cNvPr id="48161" name="Line 32"/>
          <p:cNvSpPr>
            <a:spLocks noChangeShapeType="1"/>
          </p:cNvSpPr>
          <p:nvPr/>
        </p:nvSpPr>
        <p:spPr bwMode="auto">
          <a:xfrm flipH="1">
            <a:off x="3251200" y="4421188"/>
            <a:ext cx="341313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8162" name="Line 33"/>
          <p:cNvSpPr>
            <a:spLocks noChangeShapeType="1"/>
          </p:cNvSpPr>
          <p:nvPr/>
        </p:nvSpPr>
        <p:spPr bwMode="auto">
          <a:xfrm>
            <a:off x="3763963" y="4421188"/>
            <a:ext cx="342900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8163" name="Oval 34"/>
          <p:cNvSpPr>
            <a:spLocks noChangeArrowheads="1"/>
          </p:cNvSpPr>
          <p:nvPr/>
        </p:nvSpPr>
        <p:spPr bwMode="auto">
          <a:xfrm>
            <a:off x="5475288" y="3721100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48164" name="Text Box 35"/>
          <p:cNvSpPr txBox="1">
            <a:spLocks noChangeArrowheads="1"/>
          </p:cNvSpPr>
          <p:nvPr/>
        </p:nvSpPr>
        <p:spPr bwMode="auto">
          <a:xfrm>
            <a:off x="5427663" y="3859213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48165" name="Text Box 36"/>
          <p:cNvSpPr txBox="1">
            <a:spLocks noChangeArrowheads="1"/>
          </p:cNvSpPr>
          <p:nvPr/>
        </p:nvSpPr>
        <p:spPr bwMode="auto">
          <a:xfrm>
            <a:off x="6400800" y="1249363"/>
            <a:ext cx="2590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48166" name="Rectangle 37"/>
          <p:cNvSpPr>
            <a:spLocks noGrp="1" noChangeArrowheads="1"/>
          </p:cNvSpPr>
          <p:nvPr>
            <p:ph type="title"/>
          </p:nvPr>
        </p:nvSpPr>
        <p:spPr>
          <a:xfrm>
            <a:off x="457200" y="7620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 dirty="0" err="1"/>
              <a:t>Dequeue</a:t>
            </a:r>
            <a:r>
              <a:rPr lang="en-US" altLang="en-US" dirty="0"/>
              <a:t> In Short (cont.)</a:t>
            </a:r>
          </a:p>
        </p:txBody>
      </p:sp>
      <p:sp>
        <p:nvSpPr>
          <p:cNvPr id="48167" name="Text Box 38"/>
          <p:cNvSpPr txBox="1">
            <a:spLocks noChangeArrowheads="1"/>
          </p:cNvSpPr>
          <p:nvPr/>
        </p:nvSpPr>
        <p:spPr bwMode="auto">
          <a:xfrm>
            <a:off x="4419600" y="13716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</a:t>
            </a:r>
            <a:r>
              <a:rPr lang="en-US" altLang="en-US" sz="2400" b="1"/>
              <a:t>39</a:t>
            </a:r>
            <a:endParaRPr lang="en-US" altLang="en-US" sz="2400"/>
          </a:p>
        </p:txBody>
      </p:sp>
      <p:sp>
        <p:nvSpPr>
          <p:cNvPr id="48168" name="Text Box 39"/>
          <p:cNvSpPr txBox="1">
            <a:spLocks noChangeArrowheads="1"/>
          </p:cNvSpPr>
          <p:nvPr/>
        </p:nvSpPr>
        <p:spPr bwMode="auto">
          <a:xfrm>
            <a:off x="2743200" y="5095875"/>
            <a:ext cx="855663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</p:spTree>
    <p:extLst>
      <p:ext uri="{BB962C8B-B14F-4D97-AF65-F5344CB8AC3E}">
        <p14:creationId xmlns:p14="http://schemas.microsoft.com/office/powerpoint/2010/main" val="2874924296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8C0C8DFA-A62F-4796-86ED-AACB58D3903F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47</a:t>
            </a:fld>
            <a:endParaRPr lang="en-US" altLang="en-US" sz="1400"/>
          </a:p>
        </p:txBody>
      </p:sp>
      <p:sp>
        <p:nvSpPr>
          <p:cNvPr id="49155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152400"/>
            <a:ext cx="8229600" cy="792163"/>
          </a:xfrm>
        </p:spPr>
        <p:txBody>
          <a:bodyPr/>
          <a:lstStyle/>
          <a:p>
            <a:pPr eaLnBrk="1" hangingPunct="1"/>
            <a:r>
              <a:rPr lang="en-US" altLang="en-US"/>
              <a:t>Heapify</a:t>
            </a:r>
          </a:p>
        </p:txBody>
      </p:sp>
      <p:sp>
        <p:nvSpPr>
          <p:cNvPr id="4915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990600"/>
            <a:ext cx="8229600" cy="5638800"/>
          </a:xfrm>
        </p:spPr>
        <p:txBody>
          <a:bodyPr/>
          <a:lstStyle/>
          <a:p>
            <a:pPr eaLnBrk="1" hangingPunct="1">
              <a:spcBef>
                <a:spcPts val="600"/>
              </a:spcBef>
            </a:pPr>
            <a:r>
              <a:rPr lang="en-US" altLang="en-US" sz="2800" dirty="0"/>
              <a:t>The process of </a:t>
            </a:r>
            <a:r>
              <a:rPr lang="en-US" altLang="en-US" sz="2800" u="sng" dirty="0"/>
              <a:t>swapping downwards to form a new heap</a:t>
            </a:r>
            <a:r>
              <a:rPr lang="en-US" altLang="en-US" sz="2800" dirty="0"/>
              <a:t> is called </a:t>
            </a:r>
            <a:r>
              <a:rPr lang="en-US" altLang="en-US" sz="2800" b="1" i="1" dirty="0" err="1">
                <a:solidFill>
                  <a:srgbClr val="0000FF"/>
                </a:solidFill>
              </a:rPr>
              <a:t>heapifying</a:t>
            </a:r>
            <a:r>
              <a:rPr lang="en-US" altLang="en-US" sz="2800" dirty="0"/>
              <a:t>.</a:t>
            </a:r>
            <a:endParaRPr lang="en-US" altLang="en-US" sz="2800" b="1" i="1" dirty="0">
              <a:solidFill>
                <a:srgbClr val="0000FF"/>
              </a:solidFill>
            </a:endParaRPr>
          </a:p>
          <a:p>
            <a:pPr eaLnBrk="1" hangingPunct="1">
              <a:spcBef>
                <a:spcPts val="600"/>
              </a:spcBef>
            </a:pPr>
            <a:r>
              <a:rPr lang="en-US" altLang="en-US" sz="2800" dirty="0"/>
              <a:t>When </a:t>
            </a:r>
            <a:r>
              <a:rPr lang="en-US" altLang="en-US" sz="2800" dirty="0" err="1"/>
              <a:t>heapifying</a:t>
            </a:r>
            <a:r>
              <a:rPr lang="en-US" altLang="en-US" sz="2800" dirty="0"/>
              <a:t>, it is important that the rest of the structure is a heap, except for the root node that we are starting off with; otherwise, a new heap won’t be formed.</a:t>
            </a:r>
          </a:p>
          <a:p>
            <a:pPr eaLnBrk="1" hangingPunct="1">
              <a:spcBef>
                <a:spcPts val="600"/>
              </a:spcBef>
            </a:pPr>
            <a:r>
              <a:rPr lang="en-US" altLang="en-US" sz="2800" dirty="0"/>
              <a:t>A loop is used for </a:t>
            </a:r>
            <a:r>
              <a:rPr lang="en-US" altLang="en-US" sz="2800" dirty="0" err="1"/>
              <a:t>heapifying</a:t>
            </a:r>
            <a:r>
              <a:rPr lang="en-US" altLang="en-US" sz="2800" dirty="0"/>
              <a:t>; the number of times through the loop is always </a:t>
            </a:r>
            <a:r>
              <a:rPr lang="en-US" altLang="en-US" sz="2800" dirty="0" err="1"/>
              <a:t>lg</a:t>
            </a:r>
            <a:r>
              <a:rPr lang="en-US" altLang="en-US" sz="2800" dirty="0"/>
              <a:t> n or less, which gives the </a:t>
            </a:r>
            <a:r>
              <a:rPr lang="en-US" altLang="en-US" sz="2800" u="sng" dirty="0"/>
              <a:t>O( </a:t>
            </a:r>
            <a:r>
              <a:rPr lang="en-US" altLang="en-US" sz="2800" u="sng" dirty="0" err="1"/>
              <a:t>lg</a:t>
            </a:r>
            <a:r>
              <a:rPr lang="en-US" altLang="en-US" sz="2800" u="sng" dirty="0"/>
              <a:t> n )</a:t>
            </a:r>
            <a:r>
              <a:rPr lang="en-US" altLang="en-US" sz="2800" dirty="0"/>
              <a:t> complexity.</a:t>
            </a:r>
          </a:p>
          <a:p>
            <a:pPr eaLnBrk="1" hangingPunct="1">
              <a:spcBef>
                <a:spcPts val="600"/>
              </a:spcBef>
            </a:pPr>
            <a:r>
              <a:rPr lang="en-US" altLang="en-US" sz="2800" dirty="0"/>
              <a:t>Each time we swap downwards, the number of nodes we can travel to is </a:t>
            </a:r>
            <a:r>
              <a:rPr lang="en-US" altLang="en-US" sz="2800" u="sng" dirty="0"/>
              <a:t>reduced by approximately half</a:t>
            </a:r>
            <a:r>
              <a:rPr lang="en-US" altLang="en-US" sz="2800" dirty="0"/>
              <a:t>.</a:t>
            </a: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A1A5AE20-4858-4213-A11C-7F74C4466021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48</a:t>
            </a:fld>
            <a:endParaRPr lang="en-US" altLang="en-US" sz="1400"/>
          </a:p>
        </p:txBody>
      </p:sp>
      <p:sp>
        <p:nvSpPr>
          <p:cNvPr id="50179" name="Oval 2"/>
          <p:cNvSpPr>
            <a:spLocks noChangeArrowheads="1"/>
          </p:cNvSpPr>
          <p:nvPr/>
        </p:nvSpPr>
        <p:spPr bwMode="auto">
          <a:xfrm>
            <a:off x="2395538" y="24479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0180" name="Text Box 3"/>
          <p:cNvSpPr txBox="1">
            <a:spLocks noChangeArrowheads="1"/>
          </p:cNvSpPr>
          <p:nvPr/>
        </p:nvSpPr>
        <p:spPr bwMode="auto">
          <a:xfrm>
            <a:off x="2336800" y="256698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50181" name="Oval 4"/>
          <p:cNvSpPr>
            <a:spLocks noChangeArrowheads="1"/>
          </p:cNvSpPr>
          <p:nvPr/>
        </p:nvSpPr>
        <p:spPr bwMode="auto">
          <a:xfrm>
            <a:off x="1370013" y="367347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0182" name="Text Box 5"/>
          <p:cNvSpPr txBox="1">
            <a:spLocks noChangeArrowheads="1"/>
          </p:cNvSpPr>
          <p:nvPr/>
        </p:nvSpPr>
        <p:spPr bwMode="auto">
          <a:xfrm>
            <a:off x="1311275" y="379095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50183" name="Oval 6"/>
          <p:cNvSpPr>
            <a:spLocks noChangeArrowheads="1"/>
          </p:cNvSpPr>
          <p:nvPr/>
        </p:nvSpPr>
        <p:spPr bwMode="auto">
          <a:xfrm>
            <a:off x="685800" y="48990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0184" name="Text Box 7"/>
          <p:cNvSpPr txBox="1">
            <a:spLocks noChangeArrowheads="1"/>
          </p:cNvSpPr>
          <p:nvPr/>
        </p:nvSpPr>
        <p:spPr bwMode="auto">
          <a:xfrm>
            <a:off x="627063" y="501650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50185" name="Oval 8"/>
          <p:cNvSpPr>
            <a:spLocks noChangeArrowheads="1"/>
          </p:cNvSpPr>
          <p:nvPr/>
        </p:nvSpPr>
        <p:spPr bwMode="auto">
          <a:xfrm>
            <a:off x="1711325" y="489743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0186" name="Text Box 9"/>
          <p:cNvSpPr txBox="1">
            <a:spLocks noChangeArrowheads="1"/>
          </p:cNvSpPr>
          <p:nvPr/>
        </p:nvSpPr>
        <p:spPr bwMode="auto">
          <a:xfrm>
            <a:off x="1652588" y="501650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50187" name="Line 10"/>
          <p:cNvSpPr>
            <a:spLocks noChangeShapeType="1"/>
          </p:cNvSpPr>
          <p:nvPr/>
        </p:nvSpPr>
        <p:spPr bwMode="auto">
          <a:xfrm flipH="1">
            <a:off x="1198563" y="437356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0188" name="Line 11"/>
          <p:cNvSpPr>
            <a:spLocks noChangeShapeType="1"/>
          </p:cNvSpPr>
          <p:nvPr/>
        </p:nvSpPr>
        <p:spPr bwMode="auto">
          <a:xfrm>
            <a:off x="1711325" y="437356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0189" name="Oval 12"/>
          <p:cNvSpPr>
            <a:spLocks noChangeArrowheads="1"/>
          </p:cNvSpPr>
          <p:nvPr/>
        </p:nvSpPr>
        <p:spPr bwMode="auto">
          <a:xfrm>
            <a:off x="4448175" y="12223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0190" name="Text Box 13"/>
          <p:cNvSpPr txBox="1">
            <a:spLocks noChangeArrowheads="1"/>
          </p:cNvSpPr>
          <p:nvPr/>
        </p:nvSpPr>
        <p:spPr bwMode="auto">
          <a:xfrm>
            <a:off x="4389438" y="134143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50191" name="Line 14"/>
          <p:cNvSpPr>
            <a:spLocks noChangeShapeType="1"/>
          </p:cNvSpPr>
          <p:nvPr/>
        </p:nvSpPr>
        <p:spPr bwMode="auto">
          <a:xfrm>
            <a:off x="2909888" y="139858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0192" name="Oval 15"/>
          <p:cNvSpPr>
            <a:spLocks noChangeArrowheads="1"/>
          </p:cNvSpPr>
          <p:nvPr/>
        </p:nvSpPr>
        <p:spPr bwMode="auto">
          <a:xfrm>
            <a:off x="3422650" y="36734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0193" name="Line 16"/>
          <p:cNvSpPr>
            <a:spLocks noChangeShapeType="1"/>
          </p:cNvSpPr>
          <p:nvPr/>
        </p:nvSpPr>
        <p:spPr bwMode="auto">
          <a:xfrm flipH="1">
            <a:off x="1882775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0194" name="Line 17"/>
          <p:cNvSpPr>
            <a:spLocks noChangeShapeType="1"/>
          </p:cNvSpPr>
          <p:nvPr/>
        </p:nvSpPr>
        <p:spPr bwMode="auto">
          <a:xfrm>
            <a:off x="2909888" y="314801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0195" name="Oval 18"/>
          <p:cNvSpPr>
            <a:spLocks noChangeArrowheads="1"/>
          </p:cNvSpPr>
          <p:nvPr/>
        </p:nvSpPr>
        <p:spPr bwMode="auto">
          <a:xfrm>
            <a:off x="6500813" y="24479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0196" name="Text Box 19"/>
          <p:cNvSpPr txBox="1">
            <a:spLocks noChangeArrowheads="1"/>
          </p:cNvSpPr>
          <p:nvPr/>
        </p:nvSpPr>
        <p:spPr bwMode="auto">
          <a:xfrm>
            <a:off x="6442075" y="256698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50197" name="Oval 20"/>
          <p:cNvSpPr>
            <a:spLocks noChangeArrowheads="1"/>
          </p:cNvSpPr>
          <p:nvPr/>
        </p:nvSpPr>
        <p:spPr bwMode="auto">
          <a:xfrm>
            <a:off x="5475288" y="367347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0198" name="Oval 21"/>
          <p:cNvSpPr>
            <a:spLocks noChangeArrowheads="1"/>
          </p:cNvSpPr>
          <p:nvPr/>
        </p:nvSpPr>
        <p:spPr bwMode="auto">
          <a:xfrm>
            <a:off x="7526338" y="36734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0199" name="Text Box 22"/>
          <p:cNvSpPr txBox="1">
            <a:spLocks noChangeArrowheads="1"/>
          </p:cNvSpPr>
          <p:nvPr/>
        </p:nvSpPr>
        <p:spPr bwMode="auto">
          <a:xfrm>
            <a:off x="7467600" y="379095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50200" name="Line 23"/>
          <p:cNvSpPr>
            <a:spLocks noChangeShapeType="1"/>
          </p:cNvSpPr>
          <p:nvPr/>
        </p:nvSpPr>
        <p:spPr bwMode="auto">
          <a:xfrm flipH="1">
            <a:off x="5988050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0201" name="Line 24"/>
          <p:cNvSpPr>
            <a:spLocks noChangeShapeType="1"/>
          </p:cNvSpPr>
          <p:nvPr/>
        </p:nvSpPr>
        <p:spPr bwMode="auto">
          <a:xfrm>
            <a:off x="7013575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0202" name="Line 25"/>
          <p:cNvSpPr>
            <a:spLocks noChangeShapeType="1"/>
          </p:cNvSpPr>
          <p:nvPr/>
        </p:nvSpPr>
        <p:spPr bwMode="auto">
          <a:xfrm flipH="1">
            <a:off x="3079750" y="174783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0203" name="Line 26"/>
          <p:cNvSpPr>
            <a:spLocks noChangeShapeType="1"/>
          </p:cNvSpPr>
          <p:nvPr/>
        </p:nvSpPr>
        <p:spPr bwMode="auto">
          <a:xfrm>
            <a:off x="5132388" y="174783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0204" name="Text Box 27"/>
          <p:cNvSpPr txBox="1">
            <a:spLocks noChangeArrowheads="1"/>
          </p:cNvSpPr>
          <p:nvPr/>
        </p:nvSpPr>
        <p:spPr bwMode="auto">
          <a:xfrm>
            <a:off x="1939925" y="104775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50205" name="Oval 28"/>
          <p:cNvSpPr>
            <a:spLocks noChangeArrowheads="1"/>
          </p:cNvSpPr>
          <p:nvPr/>
        </p:nvSpPr>
        <p:spPr bwMode="auto">
          <a:xfrm>
            <a:off x="3422650" y="367188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0206" name="Text Box 29"/>
          <p:cNvSpPr txBox="1">
            <a:spLocks noChangeArrowheads="1"/>
          </p:cNvSpPr>
          <p:nvPr/>
        </p:nvSpPr>
        <p:spPr bwMode="auto">
          <a:xfrm>
            <a:off x="3370263" y="381000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50207" name="Oval 30"/>
          <p:cNvSpPr>
            <a:spLocks noChangeArrowheads="1"/>
          </p:cNvSpPr>
          <p:nvPr/>
        </p:nvSpPr>
        <p:spPr bwMode="auto">
          <a:xfrm>
            <a:off x="2738438" y="48974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0208" name="Text Box 31"/>
          <p:cNvSpPr txBox="1">
            <a:spLocks noChangeArrowheads="1"/>
          </p:cNvSpPr>
          <p:nvPr/>
        </p:nvSpPr>
        <p:spPr bwMode="auto">
          <a:xfrm>
            <a:off x="2679700" y="501173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50209" name="Oval 32"/>
          <p:cNvSpPr>
            <a:spLocks noChangeArrowheads="1"/>
          </p:cNvSpPr>
          <p:nvPr/>
        </p:nvSpPr>
        <p:spPr bwMode="auto">
          <a:xfrm>
            <a:off x="3763963" y="489426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0210" name="Text Box 33"/>
          <p:cNvSpPr txBox="1">
            <a:spLocks noChangeArrowheads="1"/>
          </p:cNvSpPr>
          <p:nvPr/>
        </p:nvSpPr>
        <p:spPr bwMode="auto">
          <a:xfrm>
            <a:off x="3705225" y="5011738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50211" name="Line 34"/>
          <p:cNvSpPr>
            <a:spLocks noChangeShapeType="1"/>
          </p:cNvSpPr>
          <p:nvPr/>
        </p:nvSpPr>
        <p:spPr bwMode="auto">
          <a:xfrm flipH="1">
            <a:off x="3251200" y="437197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0212" name="Line 35"/>
          <p:cNvSpPr>
            <a:spLocks noChangeShapeType="1"/>
          </p:cNvSpPr>
          <p:nvPr/>
        </p:nvSpPr>
        <p:spPr bwMode="auto">
          <a:xfrm>
            <a:off x="3763963" y="4371975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0213" name="Oval 36"/>
          <p:cNvSpPr>
            <a:spLocks noChangeArrowheads="1"/>
          </p:cNvSpPr>
          <p:nvPr/>
        </p:nvSpPr>
        <p:spPr bwMode="auto">
          <a:xfrm>
            <a:off x="5475288" y="367188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0214" name="Text Box 37"/>
          <p:cNvSpPr txBox="1">
            <a:spLocks noChangeArrowheads="1"/>
          </p:cNvSpPr>
          <p:nvPr/>
        </p:nvSpPr>
        <p:spPr bwMode="auto">
          <a:xfrm>
            <a:off x="5427663" y="381000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50215" name="Text Box 38"/>
          <p:cNvSpPr txBox="1">
            <a:spLocks noChangeArrowheads="1"/>
          </p:cNvSpPr>
          <p:nvPr/>
        </p:nvSpPr>
        <p:spPr bwMode="auto">
          <a:xfrm>
            <a:off x="5715000" y="1200150"/>
            <a:ext cx="3276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 dirty="0">
                <a:solidFill>
                  <a:srgbClr val="FF3300"/>
                </a:solidFill>
              </a:rPr>
              <a:t>value to </a:t>
            </a:r>
            <a:r>
              <a:rPr lang="en-US" altLang="en-US" sz="2400" b="1" dirty="0" err="1">
                <a:solidFill>
                  <a:srgbClr val="FF3300"/>
                </a:solidFill>
              </a:rPr>
              <a:t>enqueue</a:t>
            </a:r>
            <a:r>
              <a:rPr lang="en-US" altLang="en-US" sz="2400" b="1" dirty="0">
                <a:solidFill>
                  <a:srgbClr val="FF3300"/>
                </a:solidFill>
              </a:rPr>
              <a:t>: 37</a:t>
            </a:r>
          </a:p>
        </p:txBody>
      </p:sp>
      <p:sp>
        <p:nvSpPr>
          <p:cNvPr id="50216" name="Rectangle 39"/>
          <p:cNvSpPr>
            <a:spLocks noGrp="1" noChangeArrowheads="1"/>
          </p:cNvSpPr>
          <p:nvPr>
            <p:ph type="title"/>
          </p:nvPr>
        </p:nvSpPr>
        <p:spPr>
          <a:xfrm>
            <a:off x="457200" y="5715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Enqueue </a:t>
            </a:r>
          </a:p>
        </p:txBody>
      </p:sp>
      <p:sp>
        <p:nvSpPr>
          <p:cNvPr id="50217" name="Text Box 40"/>
          <p:cNvSpPr txBox="1">
            <a:spLocks noChangeArrowheads="1"/>
          </p:cNvSpPr>
          <p:nvPr/>
        </p:nvSpPr>
        <p:spPr bwMode="auto">
          <a:xfrm>
            <a:off x="3962400" y="234315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C7803052-B38B-4008-BFE7-AE903CBDD80E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49</a:t>
            </a:fld>
            <a:endParaRPr lang="en-US" altLang="en-US" sz="1400"/>
          </a:p>
        </p:txBody>
      </p:sp>
      <p:sp>
        <p:nvSpPr>
          <p:cNvPr id="51203" name="Oval 2"/>
          <p:cNvSpPr>
            <a:spLocks noChangeArrowheads="1"/>
          </p:cNvSpPr>
          <p:nvPr/>
        </p:nvSpPr>
        <p:spPr bwMode="auto">
          <a:xfrm>
            <a:off x="2395538" y="24479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1204" name="Text Box 3"/>
          <p:cNvSpPr txBox="1">
            <a:spLocks noChangeArrowheads="1"/>
          </p:cNvSpPr>
          <p:nvPr/>
        </p:nvSpPr>
        <p:spPr bwMode="auto">
          <a:xfrm>
            <a:off x="2336800" y="256698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51205" name="Oval 4"/>
          <p:cNvSpPr>
            <a:spLocks noChangeArrowheads="1"/>
          </p:cNvSpPr>
          <p:nvPr/>
        </p:nvSpPr>
        <p:spPr bwMode="auto">
          <a:xfrm>
            <a:off x="1370013" y="367347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1206" name="Text Box 5"/>
          <p:cNvSpPr txBox="1">
            <a:spLocks noChangeArrowheads="1"/>
          </p:cNvSpPr>
          <p:nvPr/>
        </p:nvSpPr>
        <p:spPr bwMode="auto">
          <a:xfrm>
            <a:off x="1311275" y="379095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51207" name="Oval 6"/>
          <p:cNvSpPr>
            <a:spLocks noChangeArrowheads="1"/>
          </p:cNvSpPr>
          <p:nvPr/>
        </p:nvSpPr>
        <p:spPr bwMode="auto">
          <a:xfrm>
            <a:off x="685800" y="48990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1208" name="Text Box 7"/>
          <p:cNvSpPr txBox="1">
            <a:spLocks noChangeArrowheads="1"/>
          </p:cNvSpPr>
          <p:nvPr/>
        </p:nvSpPr>
        <p:spPr bwMode="auto">
          <a:xfrm>
            <a:off x="627063" y="501650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51209" name="Oval 8"/>
          <p:cNvSpPr>
            <a:spLocks noChangeArrowheads="1"/>
          </p:cNvSpPr>
          <p:nvPr/>
        </p:nvSpPr>
        <p:spPr bwMode="auto">
          <a:xfrm>
            <a:off x="1711325" y="489743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1210" name="Text Box 9"/>
          <p:cNvSpPr txBox="1">
            <a:spLocks noChangeArrowheads="1"/>
          </p:cNvSpPr>
          <p:nvPr/>
        </p:nvSpPr>
        <p:spPr bwMode="auto">
          <a:xfrm>
            <a:off x="1652588" y="501650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51211" name="Line 10"/>
          <p:cNvSpPr>
            <a:spLocks noChangeShapeType="1"/>
          </p:cNvSpPr>
          <p:nvPr/>
        </p:nvSpPr>
        <p:spPr bwMode="auto">
          <a:xfrm flipH="1">
            <a:off x="1198563" y="437356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1212" name="Line 11"/>
          <p:cNvSpPr>
            <a:spLocks noChangeShapeType="1"/>
          </p:cNvSpPr>
          <p:nvPr/>
        </p:nvSpPr>
        <p:spPr bwMode="auto">
          <a:xfrm>
            <a:off x="1711325" y="437356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1213" name="Oval 12"/>
          <p:cNvSpPr>
            <a:spLocks noChangeArrowheads="1"/>
          </p:cNvSpPr>
          <p:nvPr/>
        </p:nvSpPr>
        <p:spPr bwMode="auto">
          <a:xfrm>
            <a:off x="4448175" y="12223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1214" name="Text Box 13"/>
          <p:cNvSpPr txBox="1">
            <a:spLocks noChangeArrowheads="1"/>
          </p:cNvSpPr>
          <p:nvPr/>
        </p:nvSpPr>
        <p:spPr bwMode="auto">
          <a:xfrm>
            <a:off x="4389438" y="134143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51215" name="Line 14"/>
          <p:cNvSpPr>
            <a:spLocks noChangeShapeType="1"/>
          </p:cNvSpPr>
          <p:nvPr/>
        </p:nvSpPr>
        <p:spPr bwMode="auto">
          <a:xfrm>
            <a:off x="2909888" y="139858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1216" name="Oval 15"/>
          <p:cNvSpPr>
            <a:spLocks noChangeArrowheads="1"/>
          </p:cNvSpPr>
          <p:nvPr/>
        </p:nvSpPr>
        <p:spPr bwMode="auto">
          <a:xfrm>
            <a:off x="3422650" y="36734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1217" name="Line 16"/>
          <p:cNvSpPr>
            <a:spLocks noChangeShapeType="1"/>
          </p:cNvSpPr>
          <p:nvPr/>
        </p:nvSpPr>
        <p:spPr bwMode="auto">
          <a:xfrm flipH="1">
            <a:off x="1882775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1218" name="Line 17"/>
          <p:cNvSpPr>
            <a:spLocks noChangeShapeType="1"/>
          </p:cNvSpPr>
          <p:nvPr/>
        </p:nvSpPr>
        <p:spPr bwMode="auto">
          <a:xfrm>
            <a:off x="2909888" y="314801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1219" name="Oval 18"/>
          <p:cNvSpPr>
            <a:spLocks noChangeArrowheads="1"/>
          </p:cNvSpPr>
          <p:nvPr/>
        </p:nvSpPr>
        <p:spPr bwMode="auto">
          <a:xfrm>
            <a:off x="6500813" y="24479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1220" name="Text Box 19"/>
          <p:cNvSpPr txBox="1">
            <a:spLocks noChangeArrowheads="1"/>
          </p:cNvSpPr>
          <p:nvPr/>
        </p:nvSpPr>
        <p:spPr bwMode="auto">
          <a:xfrm>
            <a:off x="6442075" y="256698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51221" name="Oval 20"/>
          <p:cNvSpPr>
            <a:spLocks noChangeArrowheads="1"/>
          </p:cNvSpPr>
          <p:nvPr/>
        </p:nvSpPr>
        <p:spPr bwMode="auto">
          <a:xfrm>
            <a:off x="5475288" y="367347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1222" name="Oval 21"/>
          <p:cNvSpPr>
            <a:spLocks noChangeArrowheads="1"/>
          </p:cNvSpPr>
          <p:nvPr/>
        </p:nvSpPr>
        <p:spPr bwMode="auto">
          <a:xfrm>
            <a:off x="7526338" y="36734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1223" name="Text Box 22"/>
          <p:cNvSpPr txBox="1">
            <a:spLocks noChangeArrowheads="1"/>
          </p:cNvSpPr>
          <p:nvPr/>
        </p:nvSpPr>
        <p:spPr bwMode="auto">
          <a:xfrm>
            <a:off x="7467600" y="379095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51224" name="Line 23"/>
          <p:cNvSpPr>
            <a:spLocks noChangeShapeType="1"/>
          </p:cNvSpPr>
          <p:nvPr/>
        </p:nvSpPr>
        <p:spPr bwMode="auto">
          <a:xfrm flipH="1">
            <a:off x="5988050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1225" name="Line 24"/>
          <p:cNvSpPr>
            <a:spLocks noChangeShapeType="1"/>
          </p:cNvSpPr>
          <p:nvPr/>
        </p:nvSpPr>
        <p:spPr bwMode="auto">
          <a:xfrm>
            <a:off x="7013575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1226" name="Line 25"/>
          <p:cNvSpPr>
            <a:spLocks noChangeShapeType="1"/>
          </p:cNvSpPr>
          <p:nvPr/>
        </p:nvSpPr>
        <p:spPr bwMode="auto">
          <a:xfrm flipH="1">
            <a:off x="3079750" y="174783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1227" name="Line 26"/>
          <p:cNvSpPr>
            <a:spLocks noChangeShapeType="1"/>
          </p:cNvSpPr>
          <p:nvPr/>
        </p:nvSpPr>
        <p:spPr bwMode="auto">
          <a:xfrm>
            <a:off x="5132388" y="174783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1228" name="Text Box 27"/>
          <p:cNvSpPr txBox="1">
            <a:spLocks noChangeArrowheads="1"/>
          </p:cNvSpPr>
          <p:nvPr/>
        </p:nvSpPr>
        <p:spPr bwMode="auto">
          <a:xfrm>
            <a:off x="1939925" y="104775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51229" name="Oval 28"/>
          <p:cNvSpPr>
            <a:spLocks noChangeArrowheads="1"/>
          </p:cNvSpPr>
          <p:nvPr/>
        </p:nvSpPr>
        <p:spPr bwMode="auto">
          <a:xfrm>
            <a:off x="3422650" y="367188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1230" name="Text Box 29"/>
          <p:cNvSpPr txBox="1">
            <a:spLocks noChangeArrowheads="1"/>
          </p:cNvSpPr>
          <p:nvPr/>
        </p:nvSpPr>
        <p:spPr bwMode="auto">
          <a:xfrm>
            <a:off x="3370263" y="381000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51231" name="Oval 30"/>
          <p:cNvSpPr>
            <a:spLocks noChangeArrowheads="1"/>
          </p:cNvSpPr>
          <p:nvPr/>
        </p:nvSpPr>
        <p:spPr bwMode="auto">
          <a:xfrm>
            <a:off x="2738438" y="48974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1232" name="Text Box 31"/>
          <p:cNvSpPr txBox="1">
            <a:spLocks noChangeArrowheads="1"/>
          </p:cNvSpPr>
          <p:nvPr/>
        </p:nvSpPr>
        <p:spPr bwMode="auto">
          <a:xfrm>
            <a:off x="2679700" y="501173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51233" name="Oval 32"/>
          <p:cNvSpPr>
            <a:spLocks noChangeArrowheads="1"/>
          </p:cNvSpPr>
          <p:nvPr/>
        </p:nvSpPr>
        <p:spPr bwMode="auto">
          <a:xfrm>
            <a:off x="3763963" y="489426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1234" name="Text Box 33"/>
          <p:cNvSpPr txBox="1">
            <a:spLocks noChangeArrowheads="1"/>
          </p:cNvSpPr>
          <p:nvPr/>
        </p:nvSpPr>
        <p:spPr bwMode="auto">
          <a:xfrm>
            <a:off x="3705225" y="5011738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51235" name="Line 34"/>
          <p:cNvSpPr>
            <a:spLocks noChangeShapeType="1"/>
          </p:cNvSpPr>
          <p:nvPr/>
        </p:nvSpPr>
        <p:spPr bwMode="auto">
          <a:xfrm flipH="1">
            <a:off x="3251200" y="437197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1236" name="Line 35"/>
          <p:cNvSpPr>
            <a:spLocks noChangeShapeType="1"/>
          </p:cNvSpPr>
          <p:nvPr/>
        </p:nvSpPr>
        <p:spPr bwMode="auto">
          <a:xfrm>
            <a:off x="3763963" y="4371975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1237" name="Oval 36"/>
          <p:cNvSpPr>
            <a:spLocks noChangeArrowheads="1"/>
          </p:cNvSpPr>
          <p:nvPr/>
        </p:nvSpPr>
        <p:spPr bwMode="auto">
          <a:xfrm>
            <a:off x="5475288" y="367188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1238" name="Text Box 37"/>
          <p:cNvSpPr txBox="1">
            <a:spLocks noChangeArrowheads="1"/>
          </p:cNvSpPr>
          <p:nvPr/>
        </p:nvSpPr>
        <p:spPr bwMode="auto">
          <a:xfrm>
            <a:off x="5427663" y="381000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51239" name="Text Box 38"/>
          <p:cNvSpPr txBox="1">
            <a:spLocks noChangeArrowheads="1"/>
          </p:cNvSpPr>
          <p:nvPr/>
        </p:nvSpPr>
        <p:spPr bwMode="auto">
          <a:xfrm>
            <a:off x="5715000" y="1200150"/>
            <a:ext cx="3276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value to enqueue: 37</a:t>
            </a:r>
          </a:p>
        </p:txBody>
      </p:sp>
      <p:sp>
        <p:nvSpPr>
          <p:cNvPr id="51240" name="Rectangle 39"/>
          <p:cNvSpPr>
            <a:spLocks noGrp="1" noChangeArrowheads="1"/>
          </p:cNvSpPr>
          <p:nvPr>
            <p:ph type="title"/>
          </p:nvPr>
        </p:nvSpPr>
        <p:spPr>
          <a:xfrm>
            <a:off x="457200" y="5715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Enqueue (cont.)</a:t>
            </a:r>
          </a:p>
        </p:txBody>
      </p:sp>
      <p:sp>
        <p:nvSpPr>
          <p:cNvPr id="51241" name="Text Box 40"/>
          <p:cNvSpPr txBox="1">
            <a:spLocks noChangeArrowheads="1"/>
          </p:cNvSpPr>
          <p:nvPr/>
        </p:nvSpPr>
        <p:spPr bwMode="auto">
          <a:xfrm>
            <a:off x="3962400" y="234315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  <p:sp>
        <p:nvSpPr>
          <p:cNvPr id="51242" name="Text Box 41"/>
          <p:cNvSpPr txBox="1">
            <a:spLocks noChangeArrowheads="1"/>
          </p:cNvSpPr>
          <p:nvPr/>
        </p:nvSpPr>
        <p:spPr bwMode="auto">
          <a:xfrm>
            <a:off x="5943600" y="4781550"/>
            <a:ext cx="30480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Create a new node in the last position</a:t>
            </a:r>
          </a:p>
        </p:txBody>
      </p:sp>
      <p:sp>
        <p:nvSpPr>
          <p:cNvPr id="51243" name="Oval 42"/>
          <p:cNvSpPr>
            <a:spLocks noChangeArrowheads="1"/>
          </p:cNvSpPr>
          <p:nvPr/>
        </p:nvSpPr>
        <p:spPr bwMode="auto">
          <a:xfrm>
            <a:off x="4745038" y="49260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1244" name="Line 43"/>
          <p:cNvSpPr>
            <a:spLocks noChangeShapeType="1"/>
          </p:cNvSpPr>
          <p:nvPr/>
        </p:nvSpPr>
        <p:spPr bwMode="auto">
          <a:xfrm flipH="1">
            <a:off x="5257800" y="4400550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410E33F5-E7BE-4D56-AA7B-23D115E96E86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50</a:t>
            </a:fld>
            <a:endParaRPr lang="en-US" altLang="en-US" sz="1400"/>
          </a:p>
        </p:txBody>
      </p:sp>
      <p:sp>
        <p:nvSpPr>
          <p:cNvPr id="52227" name="Oval 2"/>
          <p:cNvSpPr>
            <a:spLocks noChangeArrowheads="1"/>
          </p:cNvSpPr>
          <p:nvPr/>
        </p:nvSpPr>
        <p:spPr bwMode="auto">
          <a:xfrm>
            <a:off x="2395538" y="2413000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2228" name="Text Box 3"/>
          <p:cNvSpPr txBox="1">
            <a:spLocks noChangeArrowheads="1"/>
          </p:cNvSpPr>
          <p:nvPr/>
        </p:nvSpPr>
        <p:spPr bwMode="auto">
          <a:xfrm>
            <a:off x="2336800" y="2532063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52229" name="Oval 4"/>
          <p:cNvSpPr>
            <a:spLocks noChangeArrowheads="1"/>
          </p:cNvSpPr>
          <p:nvPr/>
        </p:nvSpPr>
        <p:spPr bwMode="auto">
          <a:xfrm>
            <a:off x="1370013" y="3638550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2230" name="Text Box 5"/>
          <p:cNvSpPr txBox="1">
            <a:spLocks noChangeArrowheads="1"/>
          </p:cNvSpPr>
          <p:nvPr/>
        </p:nvSpPr>
        <p:spPr bwMode="auto">
          <a:xfrm>
            <a:off x="1311275" y="3756025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52231" name="Oval 6"/>
          <p:cNvSpPr>
            <a:spLocks noChangeArrowheads="1"/>
          </p:cNvSpPr>
          <p:nvPr/>
        </p:nvSpPr>
        <p:spPr bwMode="auto">
          <a:xfrm>
            <a:off x="685800" y="4864100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2232" name="Text Box 7"/>
          <p:cNvSpPr txBox="1">
            <a:spLocks noChangeArrowheads="1"/>
          </p:cNvSpPr>
          <p:nvPr/>
        </p:nvSpPr>
        <p:spPr bwMode="auto">
          <a:xfrm>
            <a:off x="627063" y="4981575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52233" name="Oval 8"/>
          <p:cNvSpPr>
            <a:spLocks noChangeArrowheads="1"/>
          </p:cNvSpPr>
          <p:nvPr/>
        </p:nvSpPr>
        <p:spPr bwMode="auto">
          <a:xfrm>
            <a:off x="1711325" y="4862513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2234" name="Text Box 9"/>
          <p:cNvSpPr txBox="1">
            <a:spLocks noChangeArrowheads="1"/>
          </p:cNvSpPr>
          <p:nvPr/>
        </p:nvSpPr>
        <p:spPr bwMode="auto">
          <a:xfrm>
            <a:off x="1652588" y="4981575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52235" name="Line 10"/>
          <p:cNvSpPr>
            <a:spLocks noChangeShapeType="1"/>
          </p:cNvSpPr>
          <p:nvPr/>
        </p:nvSpPr>
        <p:spPr bwMode="auto">
          <a:xfrm flipH="1">
            <a:off x="1198563" y="4338638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2236" name="Line 11"/>
          <p:cNvSpPr>
            <a:spLocks noChangeShapeType="1"/>
          </p:cNvSpPr>
          <p:nvPr/>
        </p:nvSpPr>
        <p:spPr bwMode="auto">
          <a:xfrm>
            <a:off x="1711325" y="4338638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2237" name="Oval 12"/>
          <p:cNvSpPr>
            <a:spLocks noChangeArrowheads="1"/>
          </p:cNvSpPr>
          <p:nvPr/>
        </p:nvSpPr>
        <p:spPr bwMode="auto">
          <a:xfrm>
            <a:off x="4448175" y="1187450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2238" name="Text Box 13"/>
          <p:cNvSpPr txBox="1">
            <a:spLocks noChangeArrowheads="1"/>
          </p:cNvSpPr>
          <p:nvPr/>
        </p:nvSpPr>
        <p:spPr bwMode="auto">
          <a:xfrm>
            <a:off x="4389438" y="1306513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52239" name="Line 14"/>
          <p:cNvSpPr>
            <a:spLocks noChangeShapeType="1"/>
          </p:cNvSpPr>
          <p:nvPr/>
        </p:nvSpPr>
        <p:spPr bwMode="auto">
          <a:xfrm>
            <a:off x="2909888" y="1363663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2240" name="Oval 15"/>
          <p:cNvSpPr>
            <a:spLocks noChangeArrowheads="1"/>
          </p:cNvSpPr>
          <p:nvPr/>
        </p:nvSpPr>
        <p:spPr bwMode="auto">
          <a:xfrm>
            <a:off x="3422650" y="3638550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2241" name="Line 16"/>
          <p:cNvSpPr>
            <a:spLocks noChangeShapeType="1"/>
          </p:cNvSpPr>
          <p:nvPr/>
        </p:nvSpPr>
        <p:spPr bwMode="auto">
          <a:xfrm flipH="1">
            <a:off x="1882775" y="3113088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2242" name="Line 17"/>
          <p:cNvSpPr>
            <a:spLocks noChangeShapeType="1"/>
          </p:cNvSpPr>
          <p:nvPr/>
        </p:nvSpPr>
        <p:spPr bwMode="auto">
          <a:xfrm>
            <a:off x="2909888" y="3113088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2243" name="Oval 18"/>
          <p:cNvSpPr>
            <a:spLocks noChangeArrowheads="1"/>
          </p:cNvSpPr>
          <p:nvPr/>
        </p:nvSpPr>
        <p:spPr bwMode="auto">
          <a:xfrm>
            <a:off x="6500813" y="2413000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2244" name="Text Box 19"/>
          <p:cNvSpPr txBox="1">
            <a:spLocks noChangeArrowheads="1"/>
          </p:cNvSpPr>
          <p:nvPr/>
        </p:nvSpPr>
        <p:spPr bwMode="auto">
          <a:xfrm>
            <a:off x="6442075" y="2532063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52245" name="Oval 20"/>
          <p:cNvSpPr>
            <a:spLocks noChangeArrowheads="1"/>
          </p:cNvSpPr>
          <p:nvPr/>
        </p:nvSpPr>
        <p:spPr bwMode="auto">
          <a:xfrm>
            <a:off x="5475288" y="3638550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2246" name="Oval 21"/>
          <p:cNvSpPr>
            <a:spLocks noChangeArrowheads="1"/>
          </p:cNvSpPr>
          <p:nvPr/>
        </p:nvSpPr>
        <p:spPr bwMode="auto">
          <a:xfrm>
            <a:off x="7526338" y="3638550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2247" name="Text Box 22"/>
          <p:cNvSpPr txBox="1">
            <a:spLocks noChangeArrowheads="1"/>
          </p:cNvSpPr>
          <p:nvPr/>
        </p:nvSpPr>
        <p:spPr bwMode="auto">
          <a:xfrm>
            <a:off x="7467600" y="3756025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52248" name="Line 23"/>
          <p:cNvSpPr>
            <a:spLocks noChangeShapeType="1"/>
          </p:cNvSpPr>
          <p:nvPr/>
        </p:nvSpPr>
        <p:spPr bwMode="auto">
          <a:xfrm flipH="1">
            <a:off x="5988050" y="3113088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2249" name="Line 24"/>
          <p:cNvSpPr>
            <a:spLocks noChangeShapeType="1"/>
          </p:cNvSpPr>
          <p:nvPr/>
        </p:nvSpPr>
        <p:spPr bwMode="auto">
          <a:xfrm>
            <a:off x="7013575" y="3113088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2250" name="Line 25"/>
          <p:cNvSpPr>
            <a:spLocks noChangeShapeType="1"/>
          </p:cNvSpPr>
          <p:nvPr/>
        </p:nvSpPr>
        <p:spPr bwMode="auto">
          <a:xfrm flipH="1">
            <a:off x="3079750" y="1712913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2251" name="Line 26"/>
          <p:cNvSpPr>
            <a:spLocks noChangeShapeType="1"/>
          </p:cNvSpPr>
          <p:nvPr/>
        </p:nvSpPr>
        <p:spPr bwMode="auto">
          <a:xfrm>
            <a:off x="5132388" y="1712913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2252" name="Text Box 27"/>
          <p:cNvSpPr txBox="1">
            <a:spLocks noChangeArrowheads="1"/>
          </p:cNvSpPr>
          <p:nvPr/>
        </p:nvSpPr>
        <p:spPr bwMode="auto">
          <a:xfrm>
            <a:off x="1939925" y="1012825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52253" name="Oval 28"/>
          <p:cNvSpPr>
            <a:spLocks noChangeArrowheads="1"/>
          </p:cNvSpPr>
          <p:nvPr/>
        </p:nvSpPr>
        <p:spPr bwMode="auto">
          <a:xfrm>
            <a:off x="3422650" y="3636963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2254" name="Text Box 29"/>
          <p:cNvSpPr txBox="1">
            <a:spLocks noChangeArrowheads="1"/>
          </p:cNvSpPr>
          <p:nvPr/>
        </p:nvSpPr>
        <p:spPr bwMode="auto">
          <a:xfrm>
            <a:off x="3370263" y="3775075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52255" name="Oval 30"/>
          <p:cNvSpPr>
            <a:spLocks noChangeArrowheads="1"/>
          </p:cNvSpPr>
          <p:nvPr/>
        </p:nvSpPr>
        <p:spPr bwMode="auto">
          <a:xfrm>
            <a:off x="2738438" y="48625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2256" name="Text Box 31"/>
          <p:cNvSpPr txBox="1">
            <a:spLocks noChangeArrowheads="1"/>
          </p:cNvSpPr>
          <p:nvPr/>
        </p:nvSpPr>
        <p:spPr bwMode="auto">
          <a:xfrm>
            <a:off x="2679700" y="4976813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52257" name="Oval 32"/>
          <p:cNvSpPr>
            <a:spLocks noChangeArrowheads="1"/>
          </p:cNvSpPr>
          <p:nvPr/>
        </p:nvSpPr>
        <p:spPr bwMode="auto">
          <a:xfrm>
            <a:off x="3763963" y="48593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2258" name="Text Box 33"/>
          <p:cNvSpPr txBox="1">
            <a:spLocks noChangeArrowheads="1"/>
          </p:cNvSpPr>
          <p:nvPr/>
        </p:nvSpPr>
        <p:spPr bwMode="auto">
          <a:xfrm>
            <a:off x="3705225" y="4976813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52259" name="Line 34"/>
          <p:cNvSpPr>
            <a:spLocks noChangeShapeType="1"/>
          </p:cNvSpPr>
          <p:nvPr/>
        </p:nvSpPr>
        <p:spPr bwMode="auto">
          <a:xfrm flipH="1">
            <a:off x="3251200" y="4337050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2260" name="Line 35"/>
          <p:cNvSpPr>
            <a:spLocks noChangeShapeType="1"/>
          </p:cNvSpPr>
          <p:nvPr/>
        </p:nvSpPr>
        <p:spPr bwMode="auto">
          <a:xfrm>
            <a:off x="3763963" y="4337050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2261" name="Oval 36"/>
          <p:cNvSpPr>
            <a:spLocks noChangeArrowheads="1"/>
          </p:cNvSpPr>
          <p:nvPr/>
        </p:nvSpPr>
        <p:spPr bwMode="auto">
          <a:xfrm>
            <a:off x="5475288" y="3636963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2262" name="Text Box 37"/>
          <p:cNvSpPr txBox="1">
            <a:spLocks noChangeArrowheads="1"/>
          </p:cNvSpPr>
          <p:nvPr/>
        </p:nvSpPr>
        <p:spPr bwMode="auto">
          <a:xfrm>
            <a:off x="5427663" y="3775075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52263" name="Text Box 38"/>
          <p:cNvSpPr txBox="1">
            <a:spLocks noChangeArrowheads="1"/>
          </p:cNvSpPr>
          <p:nvPr/>
        </p:nvSpPr>
        <p:spPr bwMode="auto">
          <a:xfrm>
            <a:off x="5715000" y="1165225"/>
            <a:ext cx="3276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value to enqueue: 37</a:t>
            </a:r>
          </a:p>
        </p:txBody>
      </p:sp>
      <p:sp>
        <p:nvSpPr>
          <p:cNvPr id="52264" name="Rectangle 39"/>
          <p:cNvSpPr>
            <a:spLocks noGrp="1" noChangeArrowheads="1"/>
          </p:cNvSpPr>
          <p:nvPr>
            <p:ph type="title"/>
          </p:nvPr>
        </p:nvSpPr>
        <p:spPr>
          <a:xfrm>
            <a:off x="457200" y="22225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Enqueue (cont.)</a:t>
            </a:r>
          </a:p>
        </p:txBody>
      </p:sp>
      <p:sp>
        <p:nvSpPr>
          <p:cNvPr id="52265" name="Text Box 40"/>
          <p:cNvSpPr txBox="1">
            <a:spLocks noChangeArrowheads="1"/>
          </p:cNvSpPr>
          <p:nvPr/>
        </p:nvSpPr>
        <p:spPr bwMode="auto">
          <a:xfrm>
            <a:off x="3962400" y="2308225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  <p:sp>
        <p:nvSpPr>
          <p:cNvPr id="52266" name="Oval 41"/>
          <p:cNvSpPr>
            <a:spLocks noChangeArrowheads="1"/>
          </p:cNvSpPr>
          <p:nvPr/>
        </p:nvSpPr>
        <p:spPr bwMode="auto">
          <a:xfrm>
            <a:off x="4745038" y="48910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2267" name="Line 42"/>
          <p:cNvSpPr>
            <a:spLocks noChangeShapeType="1"/>
          </p:cNvSpPr>
          <p:nvPr/>
        </p:nvSpPr>
        <p:spPr bwMode="auto">
          <a:xfrm flipH="1">
            <a:off x="5257800" y="436562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2268" name="Text Box 43"/>
          <p:cNvSpPr txBox="1">
            <a:spLocks noChangeArrowheads="1"/>
          </p:cNvSpPr>
          <p:nvPr/>
        </p:nvSpPr>
        <p:spPr bwMode="auto">
          <a:xfrm>
            <a:off x="5867400" y="4518025"/>
            <a:ext cx="3048000" cy="1196975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 dirty="0">
                <a:solidFill>
                  <a:srgbClr val="FF3300"/>
                </a:solidFill>
              </a:rPr>
              <a:t>Place the value to </a:t>
            </a:r>
            <a:r>
              <a:rPr lang="en-US" altLang="en-US" sz="2400" b="1" dirty="0" err="1">
                <a:solidFill>
                  <a:srgbClr val="FF3300"/>
                </a:solidFill>
              </a:rPr>
              <a:t>enqueue</a:t>
            </a:r>
            <a:r>
              <a:rPr lang="en-US" altLang="en-US" sz="2400" b="1" dirty="0">
                <a:solidFill>
                  <a:srgbClr val="FF3300"/>
                </a:solidFill>
              </a:rPr>
              <a:t> in the last node</a:t>
            </a:r>
          </a:p>
        </p:txBody>
      </p:sp>
      <p:sp>
        <p:nvSpPr>
          <p:cNvPr id="52269" name="Freeform 44"/>
          <p:cNvSpPr>
            <a:spLocks/>
          </p:cNvSpPr>
          <p:nvPr/>
        </p:nvSpPr>
        <p:spPr bwMode="auto">
          <a:xfrm>
            <a:off x="4711700" y="1622425"/>
            <a:ext cx="3975100" cy="3276600"/>
          </a:xfrm>
          <a:custGeom>
            <a:avLst/>
            <a:gdLst>
              <a:gd name="T0" fmla="*/ 2147483646 w 2504"/>
              <a:gd name="T1" fmla="*/ 0 h 2064"/>
              <a:gd name="T2" fmla="*/ 2147483646 w 2504"/>
              <a:gd name="T3" fmla="*/ 2147483646 h 2064"/>
              <a:gd name="T4" fmla="*/ 2147483646 w 2504"/>
              <a:gd name="T5" fmla="*/ 2147483646 h 2064"/>
              <a:gd name="T6" fmla="*/ 2147483646 w 2504"/>
              <a:gd name="T7" fmla="*/ 2147483646 h 2064"/>
              <a:gd name="T8" fmla="*/ 2147483646 w 2504"/>
              <a:gd name="T9" fmla="*/ 2147483646 h 2064"/>
              <a:gd name="T10" fmla="*/ 2147483646 w 2504"/>
              <a:gd name="T11" fmla="*/ 2147483646 h 206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504" h="2064">
                <a:moveTo>
                  <a:pt x="2456" y="0"/>
                </a:moveTo>
                <a:cubicBezTo>
                  <a:pt x="2480" y="76"/>
                  <a:pt x="2504" y="152"/>
                  <a:pt x="2456" y="192"/>
                </a:cubicBezTo>
                <a:cubicBezTo>
                  <a:pt x="2408" y="232"/>
                  <a:pt x="2496" y="208"/>
                  <a:pt x="2168" y="240"/>
                </a:cubicBezTo>
                <a:cubicBezTo>
                  <a:pt x="1840" y="272"/>
                  <a:pt x="840" y="264"/>
                  <a:pt x="488" y="384"/>
                </a:cubicBezTo>
                <a:cubicBezTo>
                  <a:pt x="136" y="504"/>
                  <a:pt x="112" y="680"/>
                  <a:pt x="56" y="960"/>
                </a:cubicBezTo>
                <a:cubicBezTo>
                  <a:pt x="0" y="1240"/>
                  <a:pt x="136" y="1880"/>
                  <a:pt x="152" y="2064"/>
                </a:cubicBezTo>
              </a:path>
            </a:pathLst>
          </a:custGeom>
          <a:noFill/>
          <a:ln w="57150" cap="flat" cmpd="sng">
            <a:solidFill>
              <a:schemeClr val="tx2"/>
            </a:solidFill>
            <a:prstDash val="sysDot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2270" name="Text Box 45"/>
          <p:cNvSpPr txBox="1">
            <a:spLocks noChangeArrowheads="1"/>
          </p:cNvSpPr>
          <p:nvPr/>
        </p:nvSpPr>
        <p:spPr bwMode="auto">
          <a:xfrm>
            <a:off x="4706938" y="4975225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r>
              <a:rPr lang="en-US" altLang="en-US" sz="2400" b="1">
                <a:solidFill>
                  <a:srgbClr val="FF3300"/>
                </a:solidFill>
              </a:rPr>
              <a:t>37</a:t>
            </a:r>
            <a:endParaRPr lang="en-US" altLang="en-US" sz="2400"/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06B4F0B6-C272-4548-8FDC-9CE8346AF014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51</a:t>
            </a:fld>
            <a:endParaRPr lang="en-US" altLang="en-US" sz="1400"/>
          </a:p>
        </p:txBody>
      </p:sp>
      <p:sp>
        <p:nvSpPr>
          <p:cNvPr id="53251" name="Oval 2"/>
          <p:cNvSpPr>
            <a:spLocks noChangeArrowheads="1"/>
          </p:cNvSpPr>
          <p:nvPr/>
        </p:nvSpPr>
        <p:spPr bwMode="auto">
          <a:xfrm>
            <a:off x="2395538" y="24479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3252" name="Text Box 3"/>
          <p:cNvSpPr txBox="1">
            <a:spLocks noChangeArrowheads="1"/>
          </p:cNvSpPr>
          <p:nvPr/>
        </p:nvSpPr>
        <p:spPr bwMode="auto">
          <a:xfrm>
            <a:off x="2336800" y="256698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53253" name="Oval 4"/>
          <p:cNvSpPr>
            <a:spLocks noChangeArrowheads="1"/>
          </p:cNvSpPr>
          <p:nvPr/>
        </p:nvSpPr>
        <p:spPr bwMode="auto">
          <a:xfrm>
            <a:off x="1370013" y="367347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3254" name="Text Box 5"/>
          <p:cNvSpPr txBox="1">
            <a:spLocks noChangeArrowheads="1"/>
          </p:cNvSpPr>
          <p:nvPr/>
        </p:nvSpPr>
        <p:spPr bwMode="auto">
          <a:xfrm>
            <a:off x="1311275" y="379095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53255" name="Oval 6"/>
          <p:cNvSpPr>
            <a:spLocks noChangeArrowheads="1"/>
          </p:cNvSpPr>
          <p:nvPr/>
        </p:nvSpPr>
        <p:spPr bwMode="auto">
          <a:xfrm>
            <a:off x="685800" y="48990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3256" name="Text Box 7"/>
          <p:cNvSpPr txBox="1">
            <a:spLocks noChangeArrowheads="1"/>
          </p:cNvSpPr>
          <p:nvPr/>
        </p:nvSpPr>
        <p:spPr bwMode="auto">
          <a:xfrm>
            <a:off x="627063" y="501650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53257" name="Oval 8"/>
          <p:cNvSpPr>
            <a:spLocks noChangeArrowheads="1"/>
          </p:cNvSpPr>
          <p:nvPr/>
        </p:nvSpPr>
        <p:spPr bwMode="auto">
          <a:xfrm>
            <a:off x="1711325" y="489743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3258" name="Text Box 9"/>
          <p:cNvSpPr txBox="1">
            <a:spLocks noChangeArrowheads="1"/>
          </p:cNvSpPr>
          <p:nvPr/>
        </p:nvSpPr>
        <p:spPr bwMode="auto">
          <a:xfrm>
            <a:off x="1652588" y="501650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53259" name="Line 10"/>
          <p:cNvSpPr>
            <a:spLocks noChangeShapeType="1"/>
          </p:cNvSpPr>
          <p:nvPr/>
        </p:nvSpPr>
        <p:spPr bwMode="auto">
          <a:xfrm flipH="1">
            <a:off x="1198563" y="437356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3260" name="Line 11"/>
          <p:cNvSpPr>
            <a:spLocks noChangeShapeType="1"/>
          </p:cNvSpPr>
          <p:nvPr/>
        </p:nvSpPr>
        <p:spPr bwMode="auto">
          <a:xfrm>
            <a:off x="1711325" y="437356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3261" name="Oval 12"/>
          <p:cNvSpPr>
            <a:spLocks noChangeArrowheads="1"/>
          </p:cNvSpPr>
          <p:nvPr/>
        </p:nvSpPr>
        <p:spPr bwMode="auto">
          <a:xfrm>
            <a:off x="4448175" y="12223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3262" name="Text Box 13"/>
          <p:cNvSpPr txBox="1">
            <a:spLocks noChangeArrowheads="1"/>
          </p:cNvSpPr>
          <p:nvPr/>
        </p:nvSpPr>
        <p:spPr bwMode="auto">
          <a:xfrm>
            <a:off x="4389438" y="134143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53263" name="Line 14"/>
          <p:cNvSpPr>
            <a:spLocks noChangeShapeType="1"/>
          </p:cNvSpPr>
          <p:nvPr/>
        </p:nvSpPr>
        <p:spPr bwMode="auto">
          <a:xfrm>
            <a:off x="2909888" y="139858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3264" name="Oval 15"/>
          <p:cNvSpPr>
            <a:spLocks noChangeArrowheads="1"/>
          </p:cNvSpPr>
          <p:nvPr/>
        </p:nvSpPr>
        <p:spPr bwMode="auto">
          <a:xfrm>
            <a:off x="3422650" y="36734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3265" name="Line 16"/>
          <p:cNvSpPr>
            <a:spLocks noChangeShapeType="1"/>
          </p:cNvSpPr>
          <p:nvPr/>
        </p:nvSpPr>
        <p:spPr bwMode="auto">
          <a:xfrm flipH="1">
            <a:off x="1882775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3266" name="Line 17"/>
          <p:cNvSpPr>
            <a:spLocks noChangeShapeType="1"/>
          </p:cNvSpPr>
          <p:nvPr/>
        </p:nvSpPr>
        <p:spPr bwMode="auto">
          <a:xfrm>
            <a:off x="2909888" y="314801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3267" name="Oval 18"/>
          <p:cNvSpPr>
            <a:spLocks noChangeArrowheads="1"/>
          </p:cNvSpPr>
          <p:nvPr/>
        </p:nvSpPr>
        <p:spPr bwMode="auto">
          <a:xfrm>
            <a:off x="6500813" y="24479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3268" name="Text Box 19"/>
          <p:cNvSpPr txBox="1">
            <a:spLocks noChangeArrowheads="1"/>
          </p:cNvSpPr>
          <p:nvPr/>
        </p:nvSpPr>
        <p:spPr bwMode="auto">
          <a:xfrm>
            <a:off x="6442075" y="256698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53269" name="Oval 20"/>
          <p:cNvSpPr>
            <a:spLocks noChangeArrowheads="1"/>
          </p:cNvSpPr>
          <p:nvPr/>
        </p:nvSpPr>
        <p:spPr bwMode="auto">
          <a:xfrm>
            <a:off x="5475288" y="367347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3270" name="Oval 21"/>
          <p:cNvSpPr>
            <a:spLocks noChangeArrowheads="1"/>
          </p:cNvSpPr>
          <p:nvPr/>
        </p:nvSpPr>
        <p:spPr bwMode="auto">
          <a:xfrm>
            <a:off x="7526338" y="36734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3271" name="Text Box 22"/>
          <p:cNvSpPr txBox="1">
            <a:spLocks noChangeArrowheads="1"/>
          </p:cNvSpPr>
          <p:nvPr/>
        </p:nvSpPr>
        <p:spPr bwMode="auto">
          <a:xfrm>
            <a:off x="7467600" y="379095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53272" name="Line 23"/>
          <p:cNvSpPr>
            <a:spLocks noChangeShapeType="1"/>
          </p:cNvSpPr>
          <p:nvPr/>
        </p:nvSpPr>
        <p:spPr bwMode="auto">
          <a:xfrm flipH="1">
            <a:off x="5988050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3273" name="Line 24"/>
          <p:cNvSpPr>
            <a:spLocks noChangeShapeType="1"/>
          </p:cNvSpPr>
          <p:nvPr/>
        </p:nvSpPr>
        <p:spPr bwMode="auto">
          <a:xfrm>
            <a:off x="7013575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3274" name="Line 25"/>
          <p:cNvSpPr>
            <a:spLocks noChangeShapeType="1"/>
          </p:cNvSpPr>
          <p:nvPr/>
        </p:nvSpPr>
        <p:spPr bwMode="auto">
          <a:xfrm flipH="1">
            <a:off x="3079750" y="174783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3275" name="Line 26"/>
          <p:cNvSpPr>
            <a:spLocks noChangeShapeType="1"/>
          </p:cNvSpPr>
          <p:nvPr/>
        </p:nvSpPr>
        <p:spPr bwMode="auto">
          <a:xfrm>
            <a:off x="5132388" y="174783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3276" name="Text Box 27"/>
          <p:cNvSpPr txBox="1">
            <a:spLocks noChangeArrowheads="1"/>
          </p:cNvSpPr>
          <p:nvPr/>
        </p:nvSpPr>
        <p:spPr bwMode="auto">
          <a:xfrm>
            <a:off x="1939925" y="104775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53277" name="Oval 28"/>
          <p:cNvSpPr>
            <a:spLocks noChangeArrowheads="1"/>
          </p:cNvSpPr>
          <p:nvPr/>
        </p:nvSpPr>
        <p:spPr bwMode="auto">
          <a:xfrm>
            <a:off x="3422650" y="367188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3278" name="Text Box 29"/>
          <p:cNvSpPr txBox="1">
            <a:spLocks noChangeArrowheads="1"/>
          </p:cNvSpPr>
          <p:nvPr/>
        </p:nvSpPr>
        <p:spPr bwMode="auto">
          <a:xfrm>
            <a:off x="3370263" y="381000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53279" name="Oval 30"/>
          <p:cNvSpPr>
            <a:spLocks noChangeArrowheads="1"/>
          </p:cNvSpPr>
          <p:nvPr/>
        </p:nvSpPr>
        <p:spPr bwMode="auto">
          <a:xfrm>
            <a:off x="2738438" y="48974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3280" name="Text Box 31"/>
          <p:cNvSpPr txBox="1">
            <a:spLocks noChangeArrowheads="1"/>
          </p:cNvSpPr>
          <p:nvPr/>
        </p:nvSpPr>
        <p:spPr bwMode="auto">
          <a:xfrm>
            <a:off x="2679700" y="501173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53281" name="Oval 32"/>
          <p:cNvSpPr>
            <a:spLocks noChangeArrowheads="1"/>
          </p:cNvSpPr>
          <p:nvPr/>
        </p:nvSpPr>
        <p:spPr bwMode="auto">
          <a:xfrm>
            <a:off x="3763963" y="489426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3282" name="Text Box 33"/>
          <p:cNvSpPr txBox="1">
            <a:spLocks noChangeArrowheads="1"/>
          </p:cNvSpPr>
          <p:nvPr/>
        </p:nvSpPr>
        <p:spPr bwMode="auto">
          <a:xfrm>
            <a:off x="3705225" y="5011738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53283" name="Line 34"/>
          <p:cNvSpPr>
            <a:spLocks noChangeShapeType="1"/>
          </p:cNvSpPr>
          <p:nvPr/>
        </p:nvSpPr>
        <p:spPr bwMode="auto">
          <a:xfrm flipH="1">
            <a:off x="3251200" y="437197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3284" name="Line 35"/>
          <p:cNvSpPr>
            <a:spLocks noChangeShapeType="1"/>
          </p:cNvSpPr>
          <p:nvPr/>
        </p:nvSpPr>
        <p:spPr bwMode="auto">
          <a:xfrm>
            <a:off x="3763963" y="4371975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3285" name="Oval 36"/>
          <p:cNvSpPr>
            <a:spLocks noChangeArrowheads="1"/>
          </p:cNvSpPr>
          <p:nvPr/>
        </p:nvSpPr>
        <p:spPr bwMode="auto">
          <a:xfrm>
            <a:off x="5475288" y="367188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3286" name="Text Box 37"/>
          <p:cNvSpPr txBox="1">
            <a:spLocks noChangeArrowheads="1"/>
          </p:cNvSpPr>
          <p:nvPr/>
        </p:nvSpPr>
        <p:spPr bwMode="auto">
          <a:xfrm>
            <a:off x="5427663" y="381000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53287" name="Rectangle 38"/>
          <p:cNvSpPr>
            <a:spLocks noGrp="1" noChangeArrowheads="1"/>
          </p:cNvSpPr>
          <p:nvPr>
            <p:ph type="title"/>
          </p:nvPr>
        </p:nvSpPr>
        <p:spPr>
          <a:xfrm>
            <a:off x="457200" y="5715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Enqueue (cont.)</a:t>
            </a:r>
          </a:p>
        </p:txBody>
      </p:sp>
      <p:sp>
        <p:nvSpPr>
          <p:cNvPr id="53288" name="Text Box 39"/>
          <p:cNvSpPr txBox="1">
            <a:spLocks noChangeArrowheads="1"/>
          </p:cNvSpPr>
          <p:nvPr/>
        </p:nvSpPr>
        <p:spPr bwMode="auto">
          <a:xfrm>
            <a:off x="3962400" y="234315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  <p:sp>
        <p:nvSpPr>
          <p:cNvPr id="53289" name="Oval 40"/>
          <p:cNvSpPr>
            <a:spLocks noChangeArrowheads="1"/>
          </p:cNvSpPr>
          <p:nvPr/>
        </p:nvSpPr>
        <p:spPr bwMode="auto">
          <a:xfrm>
            <a:off x="4745038" y="49260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3290" name="Line 41"/>
          <p:cNvSpPr>
            <a:spLocks noChangeShapeType="1"/>
          </p:cNvSpPr>
          <p:nvPr/>
        </p:nvSpPr>
        <p:spPr bwMode="auto">
          <a:xfrm flipH="1">
            <a:off x="5257800" y="4400550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3291" name="Text Box 42"/>
          <p:cNvSpPr txBox="1">
            <a:spLocks noChangeArrowheads="1"/>
          </p:cNvSpPr>
          <p:nvPr/>
        </p:nvSpPr>
        <p:spPr bwMode="auto">
          <a:xfrm>
            <a:off x="4706938" y="501015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r>
              <a:rPr lang="en-US" altLang="en-US" sz="2400" b="1">
                <a:solidFill>
                  <a:srgbClr val="FF3300"/>
                </a:solidFill>
              </a:rPr>
              <a:t>37</a:t>
            </a:r>
            <a:endParaRPr lang="en-US" altLang="en-US" sz="2400"/>
          </a:p>
        </p:txBody>
      </p:sp>
      <p:sp>
        <p:nvSpPr>
          <p:cNvPr id="53292" name="Text Box 43"/>
          <p:cNvSpPr txBox="1">
            <a:spLocks noChangeArrowheads="1"/>
          </p:cNvSpPr>
          <p:nvPr/>
        </p:nvSpPr>
        <p:spPr bwMode="auto">
          <a:xfrm>
            <a:off x="5638800" y="4781550"/>
            <a:ext cx="31242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If 37 is larger than its parent, swap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5D9CE7D2-C0F6-474D-AC4D-D05CA671CDF2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52</a:t>
            </a:fld>
            <a:endParaRPr lang="en-US" altLang="en-US" sz="1400"/>
          </a:p>
        </p:txBody>
      </p:sp>
      <p:sp>
        <p:nvSpPr>
          <p:cNvPr id="54275" name="Oval 2"/>
          <p:cNvSpPr>
            <a:spLocks noChangeArrowheads="1"/>
          </p:cNvSpPr>
          <p:nvPr/>
        </p:nvSpPr>
        <p:spPr bwMode="auto">
          <a:xfrm>
            <a:off x="2395538" y="24479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4276" name="Text Box 3"/>
          <p:cNvSpPr txBox="1">
            <a:spLocks noChangeArrowheads="1"/>
          </p:cNvSpPr>
          <p:nvPr/>
        </p:nvSpPr>
        <p:spPr bwMode="auto">
          <a:xfrm>
            <a:off x="2336800" y="256698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54277" name="Oval 4"/>
          <p:cNvSpPr>
            <a:spLocks noChangeArrowheads="1"/>
          </p:cNvSpPr>
          <p:nvPr/>
        </p:nvSpPr>
        <p:spPr bwMode="auto">
          <a:xfrm>
            <a:off x="1370013" y="367347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4278" name="Text Box 5"/>
          <p:cNvSpPr txBox="1">
            <a:spLocks noChangeArrowheads="1"/>
          </p:cNvSpPr>
          <p:nvPr/>
        </p:nvSpPr>
        <p:spPr bwMode="auto">
          <a:xfrm>
            <a:off x="1311275" y="379095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54279" name="Oval 6"/>
          <p:cNvSpPr>
            <a:spLocks noChangeArrowheads="1"/>
          </p:cNvSpPr>
          <p:nvPr/>
        </p:nvSpPr>
        <p:spPr bwMode="auto">
          <a:xfrm>
            <a:off x="685800" y="48990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4280" name="Text Box 7"/>
          <p:cNvSpPr txBox="1">
            <a:spLocks noChangeArrowheads="1"/>
          </p:cNvSpPr>
          <p:nvPr/>
        </p:nvSpPr>
        <p:spPr bwMode="auto">
          <a:xfrm>
            <a:off x="627063" y="501650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54281" name="Oval 8"/>
          <p:cNvSpPr>
            <a:spLocks noChangeArrowheads="1"/>
          </p:cNvSpPr>
          <p:nvPr/>
        </p:nvSpPr>
        <p:spPr bwMode="auto">
          <a:xfrm>
            <a:off x="1711325" y="489743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4282" name="Text Box 9"/>
          <p:cNvSpPr txBox="1">
            <a:spLocks noChangeArrowheads="1"/>
          </p:cNvSpPr>
          <p:nvPr/>
        </p:nvSpPr>
        <p:spPr bwMode="auto">
          <a:xfrm>
            <a:off x="1652588" y="501650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54283" name="Line 10"/>
          <p:cNvSpPr>
            <a:spLocks noChangeShapeType="1"/>
          </p:cNvSpPr>
          <p:nvPr/>
        </p:nvSpPr>
        <p:spPr bwMode="auto">
          <a:xfrm flipH="1">
            <a:off x="1198563" y="437356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4284" name="Line 11"/>
          <p:cNvSpPr>
            <a:spLocks noChangeShapeType="1"/>
          </p:cNvSpPr>
          <p:nvPr/>
        </p:nvSpPr>
        <p:spPr bwMode="auto">
          <a:xfrm>
            <a:off x="1711325" y="437356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4285" name="Oval 12"/>
          <p:cNvSpPr>
            <a:spLocks noChangeArrowheads="1"/>
          </p:cNvSpPr>
          <p:nvPr/>
        </p:nvSpPr>
        <p:spPr bwMode="auto">
          <a:xfrm>
            <a:off x="4448175" y="12223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4286" name="Text Box 13"/>
          <p:cNvSpPr txBox="1">
            <a:spLocks noChangeArrowheads="1"/>
          </p:cNvSpPr>
          <p:nvPr/>
        </p:nvSpPr>
        <p:spPr bwMode="auto">
          <a:xfrm>
            <a:off x="4389438" y="134143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54287" name="Line 14"/>
          <p:cNvSpPr>
            <a:spLocks noChangeShapeType="1"/>
          </p:cNvSpPr>
          <p:nvPr/>
        </p:nvSpPr>
        <p:spPr bwMode="auto">
          <a:xfrm>
            <a:off x="2909888" y="139858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4288" name="Oval 15"/>
          <p:cNvSpPr>
            <a:spLocks noChangeArrowheads="1"/>
          </p:cNvSpPr>
          <p:nvPr/>
        </p:nvSpPr>
        <p:spPr bwMode="auto">
          <a:xfrm>
            <a:off x="3422650" y="36734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4289" name="Line 16"/>
          <p:cNvSpPr>
            <a:spLocks noChangeShapeType="1"/>
          </p:cNvSpPr>
          <p:nvPr/>
        </p:nvSpPr>
        <p:spPr bwMode="auto">
          <a:xfrm flipH="1">
            <a:off x="1882775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4290" name="Line 17"/>
          <p:cNvSpPr>
            <a:spLocks noChangeShapeType="1"/>
          </p:cNvSpPr>
          <p:nvPr/>
        </p:nvSpPr>
        <p:spPr bwMode="auto">
          <a:xfrm>
            <a:off x="2909888" y="314801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4291" name="Oval 18"/>
          <p:cNvSpPr>
            <a:spLocks noChangeArrowheads="1"/>
          </p:cNvSpPr>
          <p:nvPr/>
        </p:nvSpPr>
        <p:spPr bwMode="auto">
          <a:xfrm>
            <a:off x="6500813" y="24479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4292" name="Text Box 19"/>
          <p:cNvSpPr txBox="1">
            <a:spLocks noChangeArrowheads="1"/>
          </p:cNvSpPr>
          <p:nvPr/>
        </p:nvSpPr>
        <p:spPr bwMode="auto">
          <a:xfrm>
            <a:off x="6442075" y="256698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54293" name="Oval 20"/>
          <p:cNvSpPr>
            <a:spLocks noChangeArrowheads="1"/>
          </p:cNvSpPr>
          <p:nvPr/>
        </p:nvSpPr>
        <p:spPr bwMode="auto">
          <a:xfrm>
            <a:off x="5475288" y="367347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4294" name="Oval 21"/>
          <p:cNvSpPr>
            <a:spLocks noChangeArrowheads="1"/>
          </p:cNvSpPr>
          <p:nvPr/>
        </p:nvSpPr>
        <p:spPr bwMode="auto">
          <a:xfrm>
            <a:off x="7526338" y="36734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4295" name="Text Box 22"/>
          <p:cNvSpPr txBox="1">
            <a:spLocks noChangeArrowheads="1"/>
          </p:cNvSpPr>
          <p:nvPr/>
        </p:nvSpPr>
        <p:spPr bwMode="auto">
          <a:xfrm>
            <a:off x="7467600" y="379095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54296" name="Line 23"/>
          <p:cNvSpPr>
            <a:spLocks noChangeShapeType="1"/>
          </p:cNvSpPr>
          <p:nvPr/>
        </p:nvSpPr>
        <p:spPr bwMode="auto">
          <a:xfrm flipH="1">
            <a:off x="5988050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4297" name="Line 24"/>
          <p:cNvSpPr>
            <a:spLocks noChangeShapeType="1"/>
          </p:cNvSpPr>
          <p:nvPr/>
        </p:nvSpPr>
        <p:spPr bwMode="auto">
          <a:xfrm>
            <a:off x="7013575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4298" name="Line 25"/>
          <p:cNvSpPr>
            <a:spLocks noChangeShapeType="1"/>
          </p:cNvSpPr>
          <p:nvPr/>
        </p:nvSpPr>
        <p:spPr bwMode="auto">
          <a:xfrm flipH="1">
            <a:off x="3079750" y="174783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4299" name="Line 26"/>
          <p:cNvSpPr>
            <a:spLocks noChangeShapeType="1"/>
          </p:cNvSpPr>
          <p:nvPr/>
        </p:nvSpPr>
        <p:spPr bwMode="auto">
          <a:xfrm>
            <a:off x="5132388" y="174783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4300" name="Text Box 27"/>
          <p:cNvSpPr txBox="1">
            <a:spLocks noChangeArrowheads="1"/>
          </p:cNvSpPr>
          <p:nvPr/>
        </p:nvSpPr>
        <p:spPr bwMode="auto">
          <a:xfrm>
            <a:off x="1939925" y="104775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54301" name="Oval 28"/>
          <p:cNvSpPr>
            <a:spLocks noChangeArrowheads="1"/>
          </p:cNvSpPr>
          <p:nvPr/>
        </p:nvSpPr>
        <p:spPr bwMode="auto">
          <a:xfrm>
            <a:off x="3422650" y="367188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4302" name="Text Box 29"/>
          <p:cNvSpPr txBox="1">
            <a:spLocks noChangeArrowheads="1"/>
          </p:cNvSpPr>
          <p:nvPr/>
        </p:nvSpPr>
        <p:spPr bwMode="auto">
          <a:xfrm>
            <a:off x="3370263" y="381000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54303" name="Oval 30"/>
          <p:cNvSpPr>
            <a:spLocks noChangeArrowheads="1"/>
          </p:cNvSpPr>
          <p:nvPr/>
        </p:nvSpPr>
        <p:spPr bwMode="auto">
          <a:xfrm>
            <a:off x="2738438" y="48974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4304" name="Text Box 31"/>
          <p:cNvSpPr txBox="1">
            <a:spLocks noChangeArrowheads="1"/>
          </p:cNvSpPr>
          <p:nvPr/>
        </p:nvSpPr>
        <p:spPr bwMode="auto">
          <a:xfrm>
            <a:off x="2679700" y="501173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54305" name="Oval 32"/>
          <p:cNvSpPr>
            <a:spLocks noChangeArrowheads="1"/>
          </p:cNvSpPr>
          <p:nvPr/>
        </p:nvSpPr>
        <p:spPr bwMode="auto">
          <a:xfrm>
            <a:off x="3763963" y="489426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4306" name="Text Box 33"/>
          <p:cNvSpPr txBox="1">
            <a:spLocks noChangeArrowheads="1"/>
          </p:cNvSpPr>
          <p:nvPr/>
        </p:nvSpPr>
        <p:spPr bwMode="auto">
          <a:xfrm>
            <a:off x="3705225" y="5011738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54307" name="Line 34"/>
          <p:cNvSpPr>
            <a:spLocks noChangeShapeType="1"/>
          </p:cNvSpPr>
          <p:nvPr/>
        </p:nvSpPr>
        <p:spPr bwMode="auto">
          <a:xfrm flipH="1">
            <a:off x="3251200" y="437197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4308" name="Line 35"/>
          <p:cNvSpPr>
            <a:spLocks noChangeShapeType="1"/>
          </p:cNvSpPr>
          <p:nvPr/>
        </p:nvSpPr>
        <p:spPr bwMode="auto">
          <a:xfrm>
            <a:off x="3763963" y="4371975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4309" name="Oval 36"/>
          <p:cNvSpPr>
            <a:spLocks noChangeArrowheads="1"/>
          </p:cNvSpPr>
          <p:nvPr/>
        </p:nvSpPr>
        <p:spPr bwMode="auto">
          <a:xfrm>
            <a:off x="5475288" y="367188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4310" name="Text Box 37"/>
          <p:cNvSpPr txBox="1">
            <a:spLocks noChangeArrowheads="1"/>
          </p:cNvSpPr>
          <p:nvPr/>
        </p:nvSpPr>
        <p:spPr bwMode="auto">
          <a:xfrm>
            <a:off x="5427663" y="381000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r>
              <a:rPr lang="en-US" altLang="en-US" sz="2400" b="1">
                <a:solidFill>
                  <a:srgbClr val="FF3300"/>
                </a:solidFill>
              </a:rPr>
              <a:t>24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54311" name="Rectangle 38"/>
          <p:cNvSpPr>
            <a:spLocks noGrp="1" noChangeArrowheads="1"/>
          </p:cNvSpPr>
          <p:nvPr>
            <p:ph type="title"/>
          </p:nvPr>
        </p:nvSpPr>
        <p:spPr>
          <a:xfrm>
            <a:off x="457200" y="5715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Enqueue (cont.)</a:t>
            </a:r>
          </a:p>
        </p:txBody>
      </p:sp>
      <p:sp>
        <p:nvSpPr>
          <p:cNvPr id="54312" name="Text Box 39"/>
          <p:cNvSpPr txBox="1">
            <a:spLocks noChangeArrowheads="1"/>
          </p:cNvSpPr>
          <p:nvPr/>
        </p:nvSpPr>
        <p:spPr bwMode="auto">
          <a:xfrm>
            <a:off x="3962400" y="234315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  <p:sp>
        <p:nvSpPr>
          <p:cNvPr id="54313" name="Oval 40"/>
          <p:cNvSpPr>
            <a:spLocks noChangeArrowheads="1"/>
          </p:cNvSpPr>
          <p:nvPr/>
        </p:nvSpPr>
        <p:spPr bwMode="auto">
          <a:xfrm>
            <a:off x="4745038" y="49260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4314" name="Line 41"/>
          <p:cNvSpPr>
            <a:spLocks noChangeShapeType="1"/>
          </p:cNvSpPr>
          <p:nvPr/>
        </p:nvSpPr>
        <p:spPr bwMode="auto">
          <a:xfrm flipH="1">
            <a:off x="5257800" y="4400550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4315" name="Text Box 42"/>
          <p:cNvSpPr txBox="1">
            <a:spLocks noChangeArrowheads="1"/>
          </p:cNvSpPr>
          <p:nvPr/>
        </p:nvSpPr>
        <p:spPr bwMode="auto">
          <a:xfrm>
            <a:off x="4706938" y="501015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r>
              <a:rPr lang="en-US" altLang="en-US" sz="2400" b="1">
                <a:solidFill>
                  <a:srgbClr val="FF3300"/>
                </a:solidFill>
              </a:rPr>
              <a:t>37</a:t>
            </a:r>
            <a:endParaRPr lang="en-US" altLang="en-US" sz="2400"/>
          </a:p>
        </p:txBody>
      </p:sp>
      <p:sp>
        <p:nvSpPr>
          <p:cNvPr id="54316" name="Text Box 43"/>
          <p:cNvSpPr txBox="1">
            <a:spLocks noChangeArrowheads="1"/>
          </p:cNvSpPr>
          <p:nvPr/>
        </p:nvSpPr>
        <p:spPr bwMode="auto">
          <a:xfrm>
            <a:off x="5638800" y="4781550"/>
            <a:ext cx="31242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If 37 is larger than its parent, swap</a:t>
            </a:r>
          </a:p>
        </p:txBody>
      </p:sp>
      <p:sp>
        <p:nvSpPr>
          <p:cNvPr id="54317" name="Text Box 44"/>
          <p:cNvSpPr txBox="1">
            <a:spLocks noChangeArrowheads="1"/>
          </p:cNvSpPr>
          <p:nvPr/>
        </p:nvSpPr>
        <p:spPr bwMode="auto">
          <a:xfrm>
            <a:off x="4419600" y="2876550"/>
            <a:ext cx="1524000" cy="8223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37 &gt; 24, so swap</a:t>
            </a: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BEDCA597-821A-4375-AED2-C255012E42CB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53</a:t>
            </a:fld>
            <a:endParaRPr lang="en-US" altLang="en-US" sz="1400"/>
          </a:p>
        </p:txBody>
      </p:sp>
      <p:sp>
        <p:nvSpPr>
          <p:cNvPr id="55299" name="Oval 2"/>
          <p:cNvSpPr>
            <a:spLocks noChangeArrowheads="1"/>
          </p:cNvSpPr>
          <p:nvPr/>
        </p:nvSpPr>
        <p:spPr bwMode="auto">
          <a:xfrm>
            <a:off x="2395538" y="24479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5300" name="Text Box 3"/>
          <p:cNvSpPr txBox="1">
            <a:spLocks noChangeArrowheads="1"/>
          </p:cNvSpPr>
          <p:nvPr/>
        </p:nvSpPr>
        <p:spPr bwMode="auto">
          <a:xfrm>
            <a:off x="2336800" y="256698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55301" name="Oval 4"/>
          <p:cNvSpPr>
            <a:spLocks noChangeArrowheads="1"/>
          </p:cNvSpPr>
          <p:nvPr/>
        </p:nvSpPr>
        <p:spPr bwMode="auto">
          <a:xfrm>
            <a:off x="1370013" y="367347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5302" name="Text Box 5"/>
          <p:cNvSpPr txBox="1">
            <a:spLocks noChangeArrowheads="1"/>
          </p:cNvSpPr>
          <p:nvPr/>
        </p:nvSpPr>
        <p:spPr bwMode="auto">
          <a:xfrm>
            <a:off x="1311275" y="379095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55303" name="Oval 6"/>
          <p:cNvSpPr>
            <a:spLocks noChangeArrowheads="1"/>
          </p:cNvSpPr>
          <p:nvPr/>
        </p:nvSpPr>
        <p:spPr bwMode="auto">
          <a:xfrm>
            <a:off x="685800" y="48990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5304" name="Text Box 7"/>
          <p:cNvSpPr txBox="1">
            <a:spLocks noChangeArrowheads="1"/>
          </p:cNvSpPr>
          <p:nvPr/>
        </p:nvSpPr>
        <p:spPr bwMode="auto">
          <a:xfrm>
            <a:off x="627063" y="501650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55305" name="Oval 8"/>
          <p:cNvSpPr>
            <a:spLocks noChangeArrowheads="1"/>
          </p:cNvSpPr>
          <p:nvPr/>
        </p:nvSpPr>
        <p:spPr bwMode="auto">
          <a:xfrm>
            <a:off x="1711325" y="489743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5306" name="Text Box 9"/>
          <p:cNvSpPr txBox="1">
            <a:spLocks noChangeArrowheads="1"/>
          </p:cNvSpPr>
          <p:nvPr/>
        </p:nvSpPr>
        <p:spPr bwMode="auto">
          <a:xfrm>
            <a:off x="1652588" y="501650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55307" name="Line 10"/>
          <p:cNvSpPr>
            <a:spLocks noChangeShapeType="1"/>
          </p:cNvSpPr>
          <p:nvPr/>
        </p:nvSpPr>
        <p:spPr bwMode="auto">
          <a:xfrm flipH="1">
            <a:off x="1198563" y="437356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5308" name="Line 11"/>
          <p:cNvSpPr>
            <a:spLocks noChangeShapeType="1"/>
          </p:cNvSpPr>
          <p:nvPr/>
        </p:nvSpPr>
        <p:spPr bwMode="auto">
          <a:xfrm>
            <a:off x="1711325" y="437356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5309" name="Oval 12"/>
          <p:cNvSpPr>
            <a:spLocks noChangeArrowheads="1"/>
          </p:cNvSpPr>
          <p:nvPr/>
        </p:nvSpPr>
        <p:spPr bwMode="auto">
          <a:xfrm>
            <a:off x="4448175" y="12223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5310" name="Text Box 13"/>
          <p:cNvSpPr txBox="1">
            <a:spLocks noChangeArrowheads="1"/>
          </p:cNvSpPr>
          <p:nvPr/>
        </p:nvSpPr>
        <p:spPr bwMode="auto">
          <a:xfrm>
            <a:off x="4389438" y="134143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55311" name="Line 14"/>
          <p:cNvSpPr>
            <a:spLocks noChangeShapeType="1"/>
          </p:cNvSpPr>
          <p:nvPr/>
        </p:nvSpPr>
        <p:spPr bwMode="auto">
          <a:xfrm>
            <a:off x="2909888" y="139858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5312" name="Oval 15"/>
          <p:cNvSpPr>
            <a:spLocks noChangeArrowheads="1"/>
          </p:cNvSpPr>
          <p:nvPr/>
        </p:nvSpPr>
        <p:spPr bwMode="auto">
          <a:xfrm>
            <a:off x="3422650" y="36734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5313" name="Line 16"/>
          <p:cNvSpPr>
            <a:spLocks noChangeShapeType="1"/>
          </p:cNvSpPr>
          <p:nvPr/>
        </p:nvSpPr>
        <p:spPr bwMode="auto">
          <a:xfrm flipH="1">
            <a:off x="1882775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5314" name="Line 17"/>
          <p:cNvSpPr>
            <a:spLocks noChangeShapeType="1"/>
          </p:cNvSpPr>
          <p:nvPr/>
        </p:nvSpPr>
        <p:spPr bwMode="auto">
          <a:xfrm>
            <a:off x="2909888" y="314801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5315" name="Oval 18"/>
          <p:cNvSpPr>
            <a:spLocks noChangeArrowheads="1"/>
          </p:cNvSpPr>
          <p:nvPr/>
        </p:nvSpPr>
        <p:spPr bwMode="auto">
          <a:xfrm>
            <a:off x="6500813" y="24479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5316" name="Text Box 19"/>
          <p:cNvSpPr txBox="1">
            <a:spLocks noChangeArrowheads="1"/>
          </p:cNvSpPr>
          <p:nvPr/>
        </p:nvSpPr>
        <p:spPr bwMode="auto">
          <a:xfrm>
            <a:off x="6442075" y="256698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55317" name="Oval 20"/>
          <p:cNvSpPr>
            <a:spLocks noChangeArrowheads="1"/>
          </p:cNvSpPr>
          <p:nvPr/>
        </p:nvSpPr>
        <p:spPr bwMode="auto">
          <a:xfrm>
            <a:off x="5475288" y="367347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5318" name="Oval 21"/>
          <p:cNvSpPr>
            <a:spLocks noChangeArrowheads="1"/>
          </p:cNvSpPr>
          <p:nvPr/>
        </p:nvSpPr>
        <p:spPr bwMode="auto">
          <a:xfrm>
            <a:off x="7526338" y="36734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5319" name="Text Box 22"/>
          <p:cNvSpPr txBox="1">
            <a:spLocks noChangeArrowheads="1"/>
          </p:cNvSpPr>
          <p:nvPr/>
        </p:nvSpPr>
        <p:spPr bwMode="auto">
          <a:xfrm>
            <a:off x="7467600" y="379095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55320" name="Line 23"/>
          <p:cNvSpPr>
            <a:spLocks noChangeShapeType="1"/>
          </p:cNvSpPr>
          <p:nvPr/>
        </p:nvSpPr>
        <p:spPr bwMode="auto">
          <a:xfrm flipH="1">
            <a:off x="5988050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5321" name="Line 24"/>
          <p:cNvSpPr>
            <a:spLocks noChangeShapeType="1"/>
          </p:cNvSpPr>
          <p:nvPr/>
        </p:nvSpPr>
        <p:spPr bwMode="auto">
          <a:xfrm>
            <a:off x="7013575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5322" name="Line 25"/>
          <p:cNvSpPr>
            <a:spLocks noChangeShapeType="1"/>
          </p:cNvSpPr>
          <p:nvPr/>
        </p:nvSpPr>
        <p:spPr bwMode="auto">
          <a:xfrm flipH="1">
            <a:off x="3079750" y="174783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5323" name="Line 26"/>
          <p:cNvSpPr>
            <a:spLocks noChangeShapeType="1"/>
          </p:cNvSpPr>
          <p:nvPr/>
        </p:nvSpPr>
        <p:spPr bwMode="auto">
          <a:xfrm>
            <a:off x="5132388" y="174783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5324" name="Text Box 27"/>
          <p:cNvSpPr txBox="1">
            <a:spLocks noChangeArrowheads="1"/>
          </p:cNvSpPr>
          <p:nvPr/>
        </p:nvSpPr>
        <p:spPr bwMode="auto">
          <a:xfrm>
            <a:off x="1939925" y="104775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55325" name="Oval 28"/>
          <p:cNvSpPr>
            <a:spLocks noChangeArrowheads="1"/>
          </p:cNvSpPr>
          <p:nvPr/>
        </p:nvSpPr>
        <p:spPr bwMode="auto">
          <a:xfrm>
            <a:off x="3422650" y="367188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5326" name="Text Box 29"/>
          <p:cNvSpPr txBox="1">
            <a:spLocks noChangeArrowheads="1"/>
          </p:cNvSpPr>
          <p:nvPr/>
        </p:nvSpPr>
        <p:spPr bwMode="auto">
          <a:xfrm>
            <a:off x="3370263" y="381000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55327" name="Oval 30"/>
          <p:cNvSpPr>
            <a:spLocks noChangeArrowheads="1"/>
          </p:cNvSpPr>
          <p:nvPr/>
        </p:nvSpPr>
        <p:spPr bwMode="auto">
          <a:xfrm>
            <a:off x="2738438" y="48974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5328" name="Text Box 31"/>
          <p:cNvSpPr txBox="1">
            <a:spLocks noChangeArrowheads="1"/>
          </p:cNvSpPr>
          <p:nvPr/>
        </p:nvSpPr>
        <p:spPr bwMode="auto">
          <a:xfrm>
            <a:off x="2679700" y="501173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55329" name="Oval 32"/>
          <p:cNvSpPr>
            <a:spLocks noChangeArrowheads="1"/>
          </p:cNvSpPr>
          <p:nvPr/>
        </p:nvSpPr>
        <p:spPr bwMode="auto">
          <a:xfrm>
            <a:off x="3763963" y="489426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5330" name="Text Box 33"/>
          <p:cNvSpPr txBox="1">
            <a:spLocks noChangeArrowheads="1"/>
          </p:cNvSpPr>
          <p:nvPr/>
        </p:nvSpPr>
        <p:spPr bwMode="auto">
          <a:xfrm>
            <a:off x="3705225" y="5011738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55331" name="Line 34"/>
          <p:cNvSpPr>
            <a:spLocks noChangeShapeType="1"/>
          </p:cNvSpPr>
          <p:nvPr/>
        </p:nvSpPr>
        <p:spPr bwMode="auto">
          <a:xfrm flipH="1">
            <a:off x="3251200" y="437197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5332" name="Line 35"/>
          <p:cNvSpPr>
            <a:spLocks noChangeShapeType="1"/>
          </p:cNvSpPr>
          <p:nvPr/>
        </p:nvSpPr>
        <p:spPr bwMode="auto">
          <a:xfrm>
            <a:off x="3763963" y="4371975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5333" name="Oval 36"/>
          <p:cNvSpPr>
            <a:spLocks noChangeArrowheads="1"/>
          </p:cNvSpPr>
          <p:nvPr/>
        </p:nvSpPr>
        <p:spPr bwMode="auto">
          <a:xfrm>
            <a:off x="5475288" y="367188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5334" name="Rectangle 37"/>
          <p:cNvSpPr>
            <a:spLocks noGrp="1" noChangeArrowheads="1"/>
          </p:cNvSpPr>
          <p:nvPr>
            <p:ph type="title"/>
          </p:nvPr>
        </p:nvSpPr>
        <p:spPr>
          <a:xfrm>
            <a:off x="457200" y="5715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Enqueue (cont.)</a:t>
            </a:r>
          </a:p>
        </p:txBody>
      </p:sp>
      <p:sp>
        <p:nvSpPr>
          <p:cNvPr id="55335" name="Text Box 38"/>
          <p:cNvSpPr txBox="1">
            <a:spLocks noChangeArrowheads="1"/>
          </p:cNvSpPr>
          <p:nvPr/>
        </p:nvSpPr>
        <p:spPr bwMode="auto">
          <a:xfrm>
            <a:off x="3962400" y="234315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  <p:sp>
        <p:nvSpPr>
          <p:cNvPr id="55336" name="Oval 39"/>
          <p:cNvSpPr>
            <a:spLocks noChangeArrowheads="1"/>
          </p:cNvSpPr>
          <p:nvPr/>
        </p:nvSpPr>
        <p:spPr bwMode="auto">
          <a:xfrm>
            <a:off x="4745038" y="49260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5337" name="Line 40"/>
          <p:cNvSpPr>
            <a:spLocks noChangeShapeType="1"/>
          </p:cNvSpPr>
          <p:nvPr/>
        </p:nvSpPr>
        <p:spPr bwMode="auto">
          <a:xfrm flipH="1">
            <a:off x="5257800" y="4400550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5338" name="Text Box 41"/>
          <p:cNvSpPr txBox="1">
            <a:spLocks noChangeArrowheads="1"/>
          </p:cNvSpPr>
          <p:nvPr/>
        </p:nvSpPr>
        <p:spPr bwMode="auto">
          <a:xfrm>
            <a:off x="5468938" y="379095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r>
              <a:rPr lang="en-US" altLang="en-US" sz="2400" b="1">
                <a:solidFill>
                  <a:srgbClr val="FF3300"/>
                </a:solidFill>
              </a:rPr>
              <a:t>37</a:t>
            </a:r>
            <a:endParaRPr lang="en-US" altLang="en-US" sz="2400"/>
          </a:p>
        </p:txBody>
      </p:sp>
      <p:sp>
        <p:nvSpPr>
          <p:cNvPr id="55339" name="Text Box 42"/>
          <p:cNvSpPr txBox="1">
            <a:spLocks noChangeArrowheads="1"/>
          </p:cNvSpPr>
          <p:nvPr/>
        </p:nvSpPr>
        <p:spPr bwMode="auto">
          <a:xfrm>
            <a:off x="4708525" y="501015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55340" name="Text Box 43"/>
          <p:cNvSpPr txBox="1">
            <a:spLocks noChangeArrowheads="1"/>
          </p:cNvSpPr>
          <p:nvPr/>
        </p:nvSpPr>
        <p:spPr bwMode="auto">
          <a:xfrm>
            <a:off x="5715000" y="4705350"/>
            <a:ext cx="31242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If 37 is larger than its parent, swap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63E213AC-4733-4EA9-8C54-50BEBAE92F5A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54</a:t>
            </a:fld>
            <a:endParaRPr lang="en-US" altLang="en-US" sz="1400"/>
          </a:p>
        </p:txBody>
      </p:sp>
      <p:sp>
        <p:nvSpPr>
          <p:cNvPr id="56323" name="Oval 2"/>
          <p:cNvSpPr>
            <a:spLocks noChangeArrowheads="1"/>
          </p:cNvSpPr>
          <p:nvPr/>
        </p:nvSpPr>
        <p:spPr bwMode="auto">
          <a:xfrm>
            <a:off x="2395538" y="24479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6324" name="Text Box 3"/>
          <p:cNvSpPr txBox="1">
            <a:spLocks noChangeArrowheads="1"/>
          </p:cNvSpPr>
          <p:nvPr/>
        </p:nvSpPr>
        <p:spPr bwMode="auto">
          <a:xfrm>
            <a:off x="2336800" y="256698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56325" name="Oval 4"/>
          <p:cNvSpPr>
            <a:spLocks noChangeArrowheads="1"/>
          </p:cNvSpPr>
          <p:nvPr/>
        </p:nvSpPr>
        <p:spPr bwMode="auto">
          <a:xfrm>
            <a:off x="1370013" y="367347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6326" name="Text Box 5"/>
          <p:cNvSpPr txBox="1">
            <a:spLocks noChangeArrowheads="1"/>
          </p:cNvSpPr>
          <p:nvPr/>
        </p:nvSpPr>
        <p:spPr bwMode="auto">
          <a:xfrm>
            <a:off x="1311275" y="379095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56327" name="Oval 6"/>
          <p:cNvSpPr>
            <a:spLocks noChangeArrowheads="1"/>
          </p:cNvSpPr>
          <p:nvPr/>
        </p:nvSpPr>
        <p:spPr bwMode="auto">
          <a:xfrm>
            <a:off x="685800" y="48990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6328" name="Text Box 7"/>
          <p:cNvSpPr txBox="1">
            <a:spLocks noChangeArrowheads="1"/>
          </p:cNvSpPr>
          <p:nvPr/>
        </p:nvSpPr>
        <p:spPr bwMode="auto">
          <a:xfrm>
            <a:off x="627063" y="501650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56329" name="Oval 8"/>
          <p:cNvSpPr>
            <a:spLocks noChangeArrowheads="1"/>
          </p:cNvSpPr>
          <p:nvPr/>
        </p:nvSpPr>
        <p:spPr bwMode="auto">
          <a:xfrm>
            <a:off x="1711325" y="489743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6330" name="Text Box 9"/>
          <p:cNvSpPr txBox="1">
            <a:spLocks noChangeArrowheads="1"/>
          </p:cNvSpPr>
          <p:nvPr/>
        </p:nvSpPr>
        <p:spPr bwMode="auto">
          <a:xfrm>
            <a:off x="1652588" y="501650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56331" name="Line 10"/>
          <p:cNvSpPr>
            <a:spLocks noChangeShapeType="1"/>
          </p:cNvSpPr>
          <p:nvPr/>
        </p:nvSpPr>
        <p:spPr bwMode="auto">
          <a:xfrm flipH="1">
            <a:off x="1198563" y="437356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6332" name="Line 11"/>
          <p:cNvSpPr>
            <a:spLocks noChangeShapeType="1"/>
          </p:cNvSpPr>
          <p:nvPr/>
        </p:nvSpPr>
        <p:spPr bwMode="auto">
          <a:xfrm>
            <a:off x="1711325" y="437356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6333" name="Oval 12"/>
          <p:cNvSpPr>
            <a:spLocks noChangeArrowheads="1"/>
          </p:cNvSpPr>
          <p:nvPr/>
        </p:nvSpPr>
        <p:spPr bwMode="auto">
          <a:xfrm>
            <a:off x="4448175" y="12223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6334" name="Text Box 13"/>
          <p:cNvSpPr txBox="1">
            <a:spLocks noChangeArrowheads="1"/>
          </p:cNvSpPr>
          <p:nvPr/>
        </p:nvSpPr>
        <p:spPr bwMode="auto">
          <a:xfrm>
            <a:off x="4389438" y="134143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56335" name="Line 14"/>
          <p:cNvSpPr>
            <a:spLocks noChangeShapeType="1"/>
          </p:cNvSpPr>
          <p:nvPr/>
        </p:nvSpPr>
        <p:spPr bwMode="auto">
          <a:xfrm>
            <a:off x="2909888" y="139858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6336" name="Oval 15"/>
          <p:cNvSpPr>
            <a:spLocks noChangeArrowheads="1"/>
          </p:cNvSpPr>
          <p:nvPr/>
        </p:nvSpPr>
        <p:spPr bwMode="auto">
          <a:xfrm>
            <a:off x="3422650" y="36734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6337" name="Line 16"/>
          <p:cNvSpPr>
            <a:spLocks noChangeShapeType="1"/>
          </p:cNvSpPr>
          <p:nvPr/>
        </p:nvSpPr>
        <p:spPr bwMode="auto">
          <a:xfrm flipH="1">
            <a:off x="1882775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6338" name="Line 17"/>
          <p:cNvSpPr>
            <a:spLocks noChangeShapeType="1"/>
          </p:cNvSpPr>
          <p:nvPr/>
        </p:nvSpPr>
        <p:spPr bwMode="auto">
          <a:xfrm>
            <a:off x="2909888" y="314801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6339" name="Oval 18"/>
          <p:cNvSpPr>
            <a:spLocks noChangeArrowheads="1"/>
          </p:cNvSpPr>
          <p:nvPr/>
        </p:nvSpPr>
        <p:spPr bwMode="auto">
          <a:xfrm>
            <a:off x="6500813" y="24479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6340" name="Text Box 19"/>
          <p:cNvSpPr txBox="1">
            <a:spLocks noChangeArrowheads="1"/>
          </p:cNvSpPr>
          <p:nvPr/>
        </p:nvSpPr>
        <p:spPr bwMode="auto">
          <a:xfrm>
            <a:off x="6442075" y="256698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r>
              <a:rPr lang="en-US" altLang="en-US" sz="2400" b="1">
                <a:solidFill>
                  <a:srgbClr val="FF3300"/>
                </a:solidFill>
              </a:rPr>
              <a:t>28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56341" name="Oval 20"/>
          <p:cNvSpPr>
            <a:spLocks noChangeArrowheads="1"/>
          </p:cNvSpPr>
          <p:nvPr/>
        </p:nvSpPr>
        <p:spPr bwMode="auto">
          <a:xfrm>
            <a:off x="5475288" y="367347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6342" name="Oval 21"/>
          <p:cNvSpPr>
            <a:spLocks noChangeArrowheads="1"/>
          </p:cNvSpPr>
          <p:nvPr/>
        </p:nvSpPr>
        <p:spPr bwMode="auto">
          <a:xfrm>
            <a:off x="7526338" y="36734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6343" name="Text Box 22"/>
          <p:cNvSpPr txBox="1">
            <a:spLocks noChangeArrowheads="1"/>
          </p:cNvSpPr>
          <p:nvPr/>
        </p:nvSpPr>
        <p:spPr bwMode="auto">
          <a:xfrm>
            <a:off x="7467600" y="379095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56344" name="Line 23"/>
          <p:cNvSpPr>
            <a:spLocks noChangeShapeType="1"/>
          </p:cNvSpPr>
          <p:nvPr/>
        </p:nvSpPr>
        <p:spPr bwMode="auto">
          <a:xfrm flipH="1">
            <a:off x="5988050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6345" name="Line 24"/>
          <p:cNvSpPr>
            <a:spLocks noChangeShapeType="1"/>
          </p:cNvSpPr>
          <p:nvPr/>
        </p:nvSpPr>
        <p:spPr bwMode="auto">
          <a:xfrm>
            <a:off x="7013575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6346" name="Line 25"/>
          <p:cNvSpPr>
            <a:spLocks noChangeShapeType="1"/>
          </p:cNvSpPr>
          <p:nvPr/>
        </p:nvSpPr>
        <p:spPr bwMode="auto">
          <a:xfrm flipH="1">
            <a:off x="3079750" y="174783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6347" name="Line 26"/>
          <p:cNvSpPr>
            <a:spLocks noChangeShapeType="1"/>
          </p:cNvSpPr>
          <p:nvPr/>
        </p:nvSpPr>
        <p:spPr bwMode="auto">
          <a:xfrm>
            <a:off x="5132388" y="174783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6348" name="Text Box 27"/>
          <p:cNvSpPr txBox="1">
            <a:spLocks noChangeArrowheads="1"/>
          </p:cNvSpPr>
          <p:nvPr/>
        </p:nvSpPr>
        <p:spPr bwMode="auto">
          <a:xfrm>
            <a:off x="1939925" y="104775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56349" name="Oval 28"/>
          <p:cNvSpPr>
            <a:spLocks noChangeArrowheads="1"/>
          </p:cNvSpPr>
          <p:nvPr/>
        </p:nvSpPr>
        <p:spPr bwMode="auto">
          <a:xfrm>
            <a:off x="3422650" y="367188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6350" name="Text Box 29"/>
          <p:cNvSpPr txBox="1">
            <a:spLocks noChangeArrowheads="1"/>
          </p:cNvSpPr>
          <p:nvPr/>
        </p:nvSpPr>
        <p:spPr bwMode="auto">
          <a:xfrm>
            <a:off x="3370263" y="381000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56351" name="Oval 30"/>
          <p:cNvSpPr>
            <a:spLocks noChangeArrowheads="1"/>
          </p:cNvSpPr>
          <p:nvPr/>
        </p:nvSpPr>
        <p:spPr bwMode="auto">
          <a:xfrm>
            <a:off x="2738438" y="48974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6352" name="Text Box 31"/>
          <p:cNvSpPr txBox="1">
            <a:spLocks noChangeArrowheads="1"/>
          </p:cNvSpPr>
          <p:nvPr/>
        </p:nvSpPr>
        <p:spPr bwMode="auto">
          <a:xfrm>
            <a:off x="2679700" y="501173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56353" name="Oval 32"/>
          <p:cNvSpPr>
            <a:spLocks noChangeArrowheads="1"/>
          </p:cNvSpPr>
          <p:nvPr/>
        </p:nvSpPr>
        <p:spPr bwMode="auto">
          <a:xfrm>
            <a:off x="3763963" y="489426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6354" name="Text Box 33"/>
          <p:cNvSpPr txBox="1">
            <a:spLocks noChangeArrowheads="1"/>
          </p:cNvSpPr>
          <p:nvPr/>
        </p:nvSpPr>
        <p:spPr bwMode="auto">
          <a:xfrm>
            <a:off x="3705225" y="5011738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56355" name="Line 34"/>
          <p:cNvSpPr>
            <a:spLocks noChangeShapeType="1"/>
          </p:cNvSpPr>
          <p:nvPr/>
        </p:nvSpPr>
        <p:spPr bwMode="auto">
          <a:xfrm flipH="1">
            <a:off x="3251200" y="437197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6356" name="Line 35"/>
          <p:cNvSpPr>
            <a:spLocks noChangeShapeType="1"/>
          </p:cNvSpPr>
          <p:nvPr/>
        </p:nvSpPr>
        <p:spPr bwMode="auto">
          <a:xfrm>
            <a:off x="3763963" y="4371975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6357" name="Oval 36"/>
          <p:cNvSpPr>
            <a:spLocks noChangeArrowheads="1"/>
          </p:cNvSpPr>
          <p:nvPr/>
        </p:nvSpPr>
        <p:spPr bwMode="auto">
          <a:xfrm>
            <a:off x="5475288" y="367188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6358" name="Rectangle 37"/>
          <p:cNvSpPr>
            <a:spLocks noGrp="1" noChangeArrowheads="1"/>
          </p:cNvSpPr>
          <p:nvPr>
            <p:ph type="title"/>
          </p:nvPr>
        </p:nvSpPr>
        <p:spPr>
          <a:xfrm>
            <a:off x="457200" y="5715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Enqueue (cont.)</a:t>
            </a:r>
          </a:p>
        </p:txBody>
      </p:sp>
      <p:sp>
        <p:nvSpPr>
          <p:cNvPr id="56359" name="Text Box 38"/>
          <p:cNvSpPr txBox="1">
            <a:spLocks noChangeArrowheads="1"/>
          </p:cNvSpPr>
          <p:nvPr/>
        </p:nvSpPr>
        <p:spPr bwMode="auto">
          <a:xfrm>
            <a:off x="3962400" y="234315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  <p:sp>
        <p:nvSpPr>
          <p:cNvPr id="56360" name="Oval 39"/>
          <p:cNvSpPr>
            <a:spLocks noChangeArrowheads="1"/>
          </p:cNvSpPr>
          <p:nvPr/>
        </p:nvSpPr>
        <p:spPr bwMode="auto">
          <a:xfrm>
            <a:off x="4745038" y="49260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6361" name="Line 40"/>
          <p:cNvSpPr>
            <a:spLocks noChangeShapeType="1"/>
          </p:cNvSpPr>
          <p:nvPr/>
        </p:nvSpPr>
        <p:spPr bwMode="auto">
          <a:xfrm flipH="1">
            <a:off x="5257800" y="4400550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6362" name="Text Box 41"/>
          <p:cNvSpPr txBox="1">
            <a:spLocks noChangeArrowheads="1"/>
          </p:cNvSpPr>
          <p:nvPr/>
        </p:nvSpPr>
        <p:spPr bwMode="auto">
          <a:xfrm>
            <a:off x="5468938" y="379095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r>
              <a:rPr lang="en-US" altLang="en-US" sz="2400" b="1">
                <a:solidFill>
                  <a:srgbClr val="FF3300"/>
                </a:solidFill>
              </a:rPr>
              <a:t>37</a:t>
            </a:r>
            <a:endParaRPr lang="en-US" altLang="en-US" sz="2400"/>
          </a:p>
        </p:txBody>
      </p:sp>
      <p:sp>
        <p:nvSpPr>
          <p:cNvPr id="56363" name="Text Box 42"/>
          <p:cNvSpPr txBox="1">
            <a:spLocks noChangeArrowheads="1"/>
          </p:cNvSpPr>
          <p:nvPr/>
        </p:nvSpPr>
        <p:spPr bwMode="auto">
          <a:xfrm>
            <a:off x="4708525" y="501015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56364" name="Text Box 43"/>
          <p:cNvSpPr txBox="1">
            <a:spLocks noChangeArrowheads="1"/>
          </p:cNvSpPr>
          <p:nvPr/>
        </p:nvSpPr>
        <p:spPr bwMode="auto">
          <a:xfrm>
            <a:off x="5715000" y="4705350"/>
            <a:ext cx="31242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If 37 is larger than its parent, swap</a:t>
            </a:r>
          </a:p>
        </p:txBody>
      </p:sp>
      <p:sp>
        <p:nvSpPr>
          <p:cNvPr id="56365" name="Text Box 44"/>
          <p:cNvSpPr txBox="1">
            <a:spLocks noChangeArrowheads="1"/>
          </p:cNvSpPr>
          <p:nvPr/>
        </p:nvSpPr>
        <p:spPr bwMode="auto">
          <a:xfrm>
            <a:off x="4876800" y="2343150"/>
            <a:ext cx="1524000" cy="8223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37 &gt; 28, so swap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6465CF14-AE3B-474C-BED3-F937E9FC906C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55</a:t>
            </a:fld>
            <a:endParaRPr lang="en-US" altLang="en-US" sz="1400"/>
          </a:p>
        </p:txBody>
      </p:sp>
      <p:sp>
        <p:nvSpPr>
          <p:cNvPr id="57347" name="Oval 2"/>
          <p:cNvSpPr>
            <a:spLocks noChangeArrowheads="1"/>
          </p:cNvSpPr>
          <p:nvPr/>
        </p:nvSpPr>
        <p:spPr bwMode="auto">
          <a:xfrm>
            <a:off x="2395538" y="24288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7348" name="Text Box 3"/>
          <p:cNvSpPr txBox="1">
            <a:spLocks noChangeArrowheads="1"/>
          </p:cNvSpPr>
          <p:nvPr/>
        </p:nvSpPr>
        <p:spPr bwMode="auto">
          <a:xfrm>
            <a:off x="2336800" y="25479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57349" name="Oval 4"/>
          <p:cNvSpPr>
            <a:spLocks noChangeArrowheads="1"/>
          </p:cNvSpPr>
          <p:nvPr/>
        </p:nvSpPr>
        <p:spPr bwMode="auto">
          <a:xfrm>
            <a:off x="1370013" y="365442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7350" name="Text Box 5"/>
          <p:cNvSpPr txBox="1">
            <a:spLocks noChangeArrowheads="1"/>
          </p:cNvSpPr>
          <p:nvPr/>
        </p:nvSpPr>
        <p:spPr bwMode="auto">
          <a:xfrm>
            <a:off x="1311275" y="377190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57351" name="Oval 6"/>
          <p:cNvSpPr>
            <a:spLocks noChangeArrowheads="1"/>
          </p:cNvSpPr>
          <p:nvPr/>
        </p:nvSpPr>
        <p:spPr bwMode="auto">
          <a:xfrm>
            <a:off x="685800" y="48799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7352" name="Text Box 7"/>
          <p:cNvSpPr txBox="1">
            <a:spLocks noChangeArrowheads="1"/>
          </p:cNvSpPr>
          <p:nvPr/>
        </p:nvSpPr>
        <p:spPr bwMode="auto">
          <a:xfrm>
            <a:off x="627063" y="499745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57353" name="Oval 8"/>
          <p:cNvSpPr>
            <a:spLocks noChangeArrowheads="1"/>
          </p:cNvSpPr>
          <p:nvPr/>
        </p:nvSpPr>
        <p:spPr bwMode="auto">
          <a:xfrm>
            <a:off x="1711325" y="48783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7354" name="Text Box 9"/>
          <p:cNvSpPr txBox="1">
            <a:spLocks noChangeArrowheads="1"/>
          </p:cNvSpPr>
          <p:nvPr/>
        </p:nvSpPr>
        <p:spPr bwMode="auto">
          <a:xfrm>
            <a:off x="1652588" y="499745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57355" name="Line 10"/>
          <p:cNvSpPr>
            <a:spLocks noChangeShapeType="1"/>
          </p:cNvSpPr>
          <p:nvPr/>
        </p:nvSpPr>
        <p:spPr bwMode="auto">
          <a:xfrm flipH="1">
            <a:off x="1198563" y="43545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7356" name="Line 11"/>
          <p:cNvSpPr>
            <a:spLocks noChangeShapeType="1"/>
          </p:cNvSpPr>
          <p:nvPr/>
        </p:nvSpPr>
        <p:spPr bwMode="auto">
          <a:xfrm>
            <a:off x="1711325" y="43545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7357" name="Oval 12"/>
          <p:cNvSpPr>
            <a:spLocks noChangeArrowheads="1"/>
          </p:cNvSpPr>
          <p:nvPr/>
        </p:nvSpPr>
        <p:spPr bwMode="auto">
          <a:xfrm>
            <a:off x="4448175" y="12033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7358" name="Text Box 13"/>
          <p:cNvSpPr txBox="1">
            <a:spLocks noChangeArrowheads="1"/>
          </p:cNvSpPr>
          <p:nvPr/>
        </p:nvSpPr>
        <p:spPr bwMode="auto">
          <a:xfrm>
            <a:off x="4389438" y="132238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57359" name="Line 14"/>
          <p:cNvSpPr>
            <a:spLocks noChangeShapeType="1"/>
          </p:cNvSpPr>
          <p:nvPr/>
        </p:nvSpPr>
        <p:spPr bwMode="auto">
          <a:xfrm>
            <a:off x="2909888" y="137953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7360" name="Oval 15"/>
          <p:cNvSpPr>
            <a:spLocks noChangeArrowheads="1"/>
          </p:cNvSpPr>
          <p:nvPr/>
        </p:nvSpPr>
        <p:spPr bwMode="auto">
          <a:xfrm>
            <a:off x="3422650" y="36544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7361" name="Line 16"/>
          <p:cNvSpPr>
            <a:spLocks noChangeShapeType="1"/>
          </p:cNvSpPr>
          <p:nvPr/>
        </p:nvSpPr>
        <p:spPr bwMode="auto">
          <a:xfrm flipH="1">
            <a:off x="1882775" y="31289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7362" name="Line 17"/>
          <p:cNvSpPr>
            <a:spLocks noChangeShapeType="1"/>
          </p:cNvSpPr>
          <p:nvPr/>
        </p:nvSpPr>
        <p:spPr bwMode="auto">
          <a:xfrm>
            <a:off x="2909888" y="312896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7363" name="Oval 18"/>
          <p:cNvSpPr>
            <a:spLocks noChangeArrowheads="1"/>
          </p:cNvSpPr>
          <p:nvPr/>
        </p:nvSpPr>
        <p:spPr bwMode="auto">
          <a:xfrm>
            <a:off x="6500813" y="24288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7364" name="Oval 19"/>
          <p:cNvSpPr>
            <a:spLocks noChangeArrowheads="1"/>
          </p:cNvSpPr>
          <p:nvPr/>
        </p:nvSpPr>
        <p:spPr bwMode="auto">
          <a:xfrm>
            <a:off x="5475288" y="365442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7365" name="Oval 20"/>
          <p:cNvSpPr>
            <a:spLocks noChangeArrowheads="1"/>
          </p:cNvSpPr>
          <p:nvPr/>
        </p:nvSpPr>
        <p:spPr bwMode="auto">
          <a:xfrm>
            <a:off x="7526338" y="36544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7366" name="Text Box 21"/>
          <p:cNvSpPr txBox="1">
            <a:spLocks noChangeArrowheads="1"/>
          </p:cNvSpPr>
          <p:nvPr/>
        </p:nvSpPr>
        <p:spPr bwMode="auto">
          <a:xfrm>
            <a:off x="7467600" y="37719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57367" name="Line 22"/>
          <p:cNvSpPr>
            <a:spLocks noChangeShapeType="1"/>
          </p:cNvSpPr>
          <p:nvPr/>
        </p:nvSpPr>
        <p:spPr bwMode="auto">
          <a:xfrm flipH="1">
            <a:off x="5988050" y="31289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7368" name="Line 23"/>
          <p:cNvSpPr>
            <a:spLocks noChangeShapeType="1"/>
          </p:cNvSpPr>
          <p:nvPr/>
        </p:nvSpPr>
        <p:spPr bwMode="auto">
          <a:xfrm>
            <a:off x="7013575" y="31289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7369" name="Line 24"/>
          <p:cNvSpPr>
            <a:spLocks noChangeShapeType="1"/>
          </p:cNvSpPr>
          <p:nvPr/>
        </p:nvSpPr>
        <p:spPr bwMode="auto">
          <a:xfrm flipH="1">
            <a:off x="3079750" y="172878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7370" name="Line 25"/>
          <p:cNvSpPr>
            <a:spLocks noChangeShapeType="1"/>
          </p:cNvSpPr>
          <p:nvPr/>
        </p:nvSpPr>
        <p:spPr bwMode="auto">
          <a:xfrm>
            <a:off x="5132388" y="172878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7371" name="Text Box 26"/>
          <p:cNvSpPr txBox="1">
            <a:spLocks noChangeArrowheads="1"/>
          </p:cNvSpPr>
          <p:nvPr/>
        </p:nvSpPr>
        <p:spPr bwMode="auto">
          <a:xfrm>
            <a:off x="1939925" y="102870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57372" name="Oval 27"/>
          <p:cNvSpPr>
            <a:spLocks noChangeArrowheads="1"/>
          </p:cNvSpPr>
          <p:nvPr/>
        </p:nvSpPr>
        <p:spPr bwMode="auto">
          <a:xfrm>
            <a:off x="3422650" y="365283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7373" name="Text Box 28"/>
          <p:cNvSpPr txBox="1">
            <a:spLocks noChangeArrowheads="1"/>
          </p:cNvSpPr>
          <p:nvPr/>
        </p:nvSpPr>
        <p:spPr bwMode="auto">
          <a:xfrm>
            <a:off x="3370263" y="379095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57374" name="Oval 29"/>
          <p:cNvSpPr>
            <a:spLocks noChangeArrowheads="1"/>
          </p:cNvSpPr>
          <p:nvPr/>
        </p:nvSpPr>
        <p:spPr bwMode="auto">
          <a:xfrm>
            <a:off x="2738438" y="48783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7375" name="Text Box 30"/>
          <p:cNvSpPr txBox="1">
            <a:spLocks noChangeArrowheads="1"/>
          </p:cNvSpPr>
          <p:nvPr/>
        </p:nvSpPr>
        <p:spPr bwMode="auto">
          <a:xfrm>
            <a:off x="2679700" y="499268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57376" name="Oval 31"/>
          <p:cNvSpPr>
            <a:spLocks noChangeArrowheads="1"/>
          </p:cNvSpPr>
          <p:nvPr/>
        </p:nvSpPr>
        <p:spPr bwMode="auto">
          <a:xfrm>
            <a:off x="3763963" y="48752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7377" name="Text Box 32"/>
          <p:cNvSpPr txBox="1">
            <a:spLocks noChangeArrowheads="1"/>
          </p:cNvSpPr>
          <p:nvPr/>
        </p:nvSpPr>
        <p:spPr bwMode="auto">
          <a:xfrm>
            <a:off x="3705225" y="4992688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57378" name="Line 33"/>
          <p:cNvSpPr>
            <a:spLocks noChangeShapeType="1"/>
          </p:cNvSpPr>
          <p:nvPr/>
        </p:nvSpPr>
        <p:spPr bwMode="auto">
          <a:xfrm flipH="1">
            <a:off x="3251200" y="435292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7379" name="Line 34"/>
          <p:cNvSpPr>
            <a:spLocks noChangeShapeType="1"/>
          </p:cNvSpPr>
          <p:nvPr/>
        </p:nvSpPr>
        <p:spPr bwMode="auto">
          <a:xfrm>
            <a:off x="3763963" y="4352925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7380" name="Oval 35"/>
          <p:cNvSpPr>
            <a:spLocks noChangeArrowheads="1"/>
          </p:cNvSpPr>
          <p:nvPr/>
        </p:nvSpPr>
        <p:spPr bwMode="auto">
          <a:xfrm>
            <a:off x="5475288" y="365283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7381" name="Rectangle 36"/>
          <p:cNvSpPr>
            <a:spLocks noGrp="1" noChangeArrowheads="1"/>
          </p:cNvSpPr>
          <p:nvPr>
            <p:ph type="title"/>
          </p:nvPr>
        </p:nvSpPr>
        <p:spPr>
          <a:xfrm>
            <a:off x="457200" y="3810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Enqueue (cont.)</a:t>
            </a:r>
          </a:p>
        </p:txBody>
      </p:sp>
      <p:sp>
        <p:nvSpPr>
          <p:cNvPr id="57382" name="Text Box 37"/>
          <p:cNvSpPr txBox="1">
            <a:spLocks noChangeArrowheads="1"/>
          </p:cNvSpPr>
          <p:nvPr/>
        </p:nvSpPr>
        <p:spPr bwMode="auto">
          <a:xfrm>
            <a:off x="3962400" y="23241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  <p:sp>
        <p:nvSpPr>
          <p:cNvPr id="57383" name="Oval 38"/>
          <p:cNvSpPr>
            <a:spLocks noChangeArrowheads="1"/>
          </p:cNvSpPr>
          <p:nvPr/>
        </p:nvSpPr>
        <p:spPr bwMode="auto">
          <a:xfrm>
            <a:off x="4745038" y="490696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7384" name="Line 39"/>
          <p:cNvSpPr>
            <a:spLocks noChangeShapeType="1"/>
          </p:cNvSpPr>
          <p:nvPr/>
        </p:nvSpPr>
        <p:spPr bwMode="auto">
          <a:xfrm flipH="1">
            <a:off x="5257800" y="4381500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7385" name="Text Box 40"/>
          <p:cNvSpPr txBox="1">
            <a:spLocks noChangeArrowheads="1"/>
          </p:cNvSpPr>
          <p:nvPr/>
        </p:nvSpPr>
        <p:spPr bwMode="auto">
          <a:xfrm>
            <a:off x="6477000" y="2552700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r>
              <a:rPr lang="en-US" altLang="en-US" sz="2400" b="1">
                <a:solidFill>
                  <a:srgbClr val="FF3300"/>
                </a:solidFill>
              </a:rPr>
              <a:t>37</a:t>
            </a:r>
            <a:endParaRPr lang="en-US" altLang="en-US" sz="2400"/>
          </a:p>
        </p:txBody>
      </p:sp>
      <p:sp>
        <p:nvSpPr>
          <p:cNvPr id="57386" name="Text Box 41"/>
          <p:cNvSpPr txBox="1">
            <a:spLocks noChangeArrowheads="1"/>
          </p:cNvSpPr>
          <p:nvPr/>
        </p:nvSpPr>
        <p:spPr bwMode="auto">
          <a:xfrm>
            <a:off x="4708525" y="499110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57387" name="Text Box 42"/>
          <p:cNvSpPr txBox="1">
            <a:spLocks noChangeArrowheads="1"/>
          </p:cNvSpPr>
          <p:nvPr/>
        </p:nvSpPr>
        <p:spPr bwMode="auto">
          <a:xfrm>
            <a:off x="5468938" y="3771900"/>
            <a:ext cx="855662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57388" name="Text Box 43"/>
          <p:cNvSpPr txBox="1">
            <a:spLocks noChangeArrowheads="1"/>
          </p:cNvSpPr>
          <p:nvPr/>
        </p:nvSpPr>
        <p:spPr bwMode="auto">
          <a:xfrm>
            <a:off x="5867400" y="4533900"/>
            <a:ext cx="3124200" cy="156210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Notice that 37 is guaranteed to be greater than or equal to its children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18315965-CA74-47A1-AC46-AB9F4C0F6B36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56</a:t>
            </a:fld>
            <a:endParaRPr lang="en-US" altLang="en-US" sz="1400"/>
          </a:p>
        </p:txBody>
      </p:sp>
      <p:sp>
        <p:nvSpPr>
          <p:cNvPr id="58371" name="Oval 2"/>
          <p:cNvSpPr>
            <a:spLocks noChangeArrowheads="1"/>
          </p:cNvSpPr>
          <p:nvPr/>
        </p:nvSpPr>
        <p:spPr bwMode="auto">
          <a:xfrm>
            <a:off x="2395538" y="24288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8372" name="Text Box 3"/>
          <p:cNvSpPr txBox="1">
            <a:spLocks noChangeArrowheads="1"/>
          </p:cNvSpPr>
          <p:nvPr/>
        </p:nvSpPr>
        <p:spPr bwMode="auto">
          <a:xfrm>
            <a:off x="2336800" y="25479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58373" name="Oval 4"/>
          <p:cNvSpPr>
            <a:spLocks noChangeArrowheads="1"/>
          </p:cNvSpPr>
          <p:nvPr/>
        </p:nvSpPr>
        <p:spPr bwMode="auto">
          <a:xfrm>
            <a:off x="1370013" y="365442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8374" name="Text Box 5"/>
          <p:cNvSpPr txBox="1">
            <a:spLocks noChangeArrowheads="1"/>
          </p:cNvSpPr>
          <p:nvPr/>
        </p:nvSpPr>
        <p:spPr bwMode="auto">
          <a:xfrm>
            <a:off x="1311275" y="377190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58375" name="Oval 6"/>
          <p:cNvSpPr>
            <a:spLocks noChangeArrowheads="1"/>
          </p:cNvSpPr>
          <p:nvPr/>
        </p:nvSpPr>
        <p:spPr bwMode="auto">
          <a:xfrm>
            <a:off x="685800" y="48799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8376" name="Text Box 7"/>
          <p:cNvSpPr txBox="1">
            <a:spLocks noChangeArrowheads="1"/>
          </p:cNvSpPr>
          <p:nvPr/>
        </p:nvSpPr>
        <p:spPr bwMode="auto">
          <a:xfrm>
            <a:off x="627063" y="499745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58377" name="Oval 8"/>
          <p:cNvSpPr>
            <a:spLocks noChangeArrowheads="1"/>
          </p:cNvSpPr>
          <p:nvPr/>
        </p:nvSpPr>
        <p:spPr bwMode="auto">
          <a:xfrm>
            <a:off x="1711325" y="48783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8378" name="Text Box 9"/>
          <p:cNvSpPr txBox="1">
            <a:spLocks noChangeArrowheads="1"/>
          </p:cNvSpPr>
          <p:nvPr/>
        </p:nvSpPr>
        <p:spPr bwMode="auto">
          <a:xfrm>
            <a:off x="1652588" y="499745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58379" name="Line 10"/>
          <p:cNvSpPr>
            <a:spLocks noChangeShapeType="1"/>
          </p:cNvSpPr>
          <p:nvPr/>
        </p:nvSpPr>
        <p:spPr bwMode="auto">
          <a:xfrm flipH="1">
            <a:off x="1198563" y="43545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8380" name="Line 11"/>
          <p:cNvSpPr>
            <a:spLocks noChangeShapeType="1"/>
          </p:cNvSpPr>
          <p:nvPr/>
        </p:nvSpPr>
        <p:spPr bwMode="auto">
          <a:xfrm>
            <a:off x="1711325" y="43545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8381" name="Oval 12"/>
          <p:cNvSpPr>
            <a:spLocks noChangeArrowheads="1"/>
          </p:cNvSpPr>
          <p:nvPr/>
        </p:nvSpPr>
        <p:spPr bwMode="auto">
          <a:xfrm>
            <a:off x="4448175" y="12033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8382" name="Text Box 13"/>
          <p:cNvSpPr txBox="1">
            <a:spLocks noChangeArrowheads="1"/>
          </p:cNvSpPr>
          <p:nvPr/>
        </p:nvSpPr>
        <p:spPr bwMode="auto">
          <a:xfrm>
            <a:off x="4389438" y="132238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58383" name="Line 14"/>
          <p:cNvSpPr>
            <a:spLocks noChangeShapeType="1"/>
          </p:cNvSpPr>
          <p:nvPr/>
        </p:nvSpPr>
        <p:spPr bwMode="auto">
          <a:xfrm>
            <a:off x="2909888" y="137953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8384" name="Oval 15"/>
          <p:cNvSpPr>
            <a:spLocks noChangeArrowheads="1"/>
          </p:cNvSpPr>
          <p:nvPr/>
        </p:nvSpPr>
        <p:spPr bwMode="auto">
          <a:xfrm>
            <a:off x="3422650" y="36544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8385" name="Line 16"/>
          <p:cNvSpPr>
            <a:spLocks noChangeShapeType="1"/>
          </p:cNvSpPr>
          <p:nvPr/>
        </p:nvSpPr>
        <p:spPr bwMode="auto">
          <a:xfrm flipH="1">
            <a:off x="1882775" y="31289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8386" name="Line 17"/>
          <p:cNvSpPr>
            <a:spLocks noChangeShapeType="1"/>
          </p:cNvSpPr>
          <p:nvPr/>
        </p:nvSpPr>
        <p:spPr bwMode="auto">
          <a:xfrm>
            <a:off x="2909888" y="312896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8387" name="Oval 18"/>
          <p:cNvSpPr>
            <a:spLocks noChangeArrowheads="1"/>
          </p:cNvSpPr>
          <p:nvPr/>
        </p:nvSpPr>
        <p:spPr bwMode="auto">
          <a:xfrm>
            <a:off x="6500813" y="24288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8388" name="Oval 19"/>
          <p:cNvSpPr>
            <a:spLocks noChangeArrowheads="1"/>
          </p:cNvSpPr>
          <p:nvPr/>
        </p:nvSpPr>
        <p:spPr bwMode="auto">
          <a:xfrm>
            <a:off x="5475288" y="365442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8389" name="Oval 20"/>
          <p:cNvSpPr>
            <a:spLocks noChangeArrowheads="1"/>
          </p:cNvSpPr>
          <p:nvPr/>
        </p:nvSpPr>
        <p:spPr bwMode="auto">
          <a:xfrm>
            <a:off x="7526338" y="36544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8390" name="Text Box 21"/>
          <p:cNvSpPr txBox="1">
            <a:spLocks noChangeArrowheads="1"/>
          </p:cNvSpPr>
          <p:nvPr/>
        </p:nvSpPr>
        <p:spPr bwMode="auto">
          <a:xfrm>
            <a:off x="7467600" y="37719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58391" name="Line 22"/>
          <p:cNvSpPr>
            <a:spLocks noChangeShapeType="1"/>
          </p:cNvSpPr>
          <p:nvPr/>
        </p:nvSpPr>
        <p:spPr bwMode="auto">
          <a:xfrm flipH="1">
            <a:off x="5988050" y="31289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8392" name="Line 23"/>
          <p:cNvSpPr>
            <a:spLocks noChangeShapeType="1"/>
          </p:cNvSpPr>
          <p:nvPr/>
        </p:nvSpPr>
        <p:spPr bwMode="auto">
          <a:xfrm>
            <a:off x="7013575" y="31289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8393" name="Line 24"/>
          <p:cNvSpPr>
            <a:spLocks noChangeShapeType="1"/>
          </p:cNvSpPr>
          <p:nvPr/>
        </p:nvSpPr>
        <p:spPr bwMode="auto">
          <a:xfrm flipH="1">
            <a:off x="3079750" y="172878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8394" name="Line 25"/>
          <p:cNvSpPr>
            <a:spLocks noChangeShapeType="1"/>
          </p:cNvSpPr>
          <p:nvPr/>
        </p:nvSpPr>
        <p:spPr bwMode="auto">
          <a:xfrm>
            <a:off x="5132388" y="172878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8395" name="Text Box 26"/>
          <p:cNvSpPr txBox="1">
            <a:spLocks noChangeArrowheads="1"/>
          </p:cNvSpPr>
          <p:nvPr/>
        </p:nvSpPr>
        <p:spPr bwMode="auto">
          <a:xfrm>
            <a:off x="1939925" y="102870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58396" name="Oval 27"/>
          <p:cNvSpPr>
            <a:spLocks noChangeArrowheads="1"/>
          </p:cNvSpPr>
          <p:nvPr/>
        </p:nvSpPr>
        <p:spPr bwMode="auto">
          <a:xfrm>
            <a:off x="3422650" y="365283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8397" name="Text Box 28"/>
          <p:cNvSpPr txBox="1">
            <a:spLocks noChangeArrowheads="1"/>
          </p:cNvSpPr>
          <p:nvPr/>
        </p:nvSpPr>
        <p:spPr bwMode="auto">
          <a:xfrm>
            <a:off x="3370263" y="379095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58398" name="Oval 29"/>
          <p:cNvSpPr>
            <a:spLocks noChangeArrowheads="1"/>
          </p:cNvSpPr>
          <p:nvPr/>
        </p:nvSpPr>
        <p:spPr bwMode="auto">
          <a:xfrm>
            <a:off x="2738438" y="48783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8399" name="Text Box 30"/>
          <p:cNvSpPr txBox="1">
            <a:spLocks noChangeArrowheads="1"/>
          </p:cNvSpPr>
          <p:nvPr/>
        </p:nvSpPr>
        <p:spPr bwMode="auto">
          <a:xfrm>
            <a:off x="2679700" y="499268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58400" name="Oval 31"/>
          <p:cNvSpPr>
            <a:spLocks noChangeArrowheads="1"/>
          </p:cNvSpPr>
          <p:nvPr/>
        </p:nvSpPr>
        <p:spPr bwMode="auto">
          <a:xfrm>
            <a:off x="3763963" y="48752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8401" name="Text Box 32"/>
          <p:cNvSpPr txBox="1">
            <a:spLocks noChangeArrowheads="1"/>
          </p:cNvSpPr>
          <p:nvPr/>
        </p:nvSpPr>
        <p:spPr bwMode="auto">
          <a:xfrm>
            <a:off x="3705225" y="4992688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58402" name="Line 33"/>
          <p:cNvSpPr>
            <a:spLocks noChangeShapeType="1"/>
          </p:cNvSpPr>
          <p:nvPr/>
        </p:nvSpPr>
        <p:spPr bwMode="auto">
          <a:xfrm flipH="1">
            <a:off x="3251200" y="435292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8403" name="Line 34"/>
          <p:cNvSpPr>
            <a:spLocks noChangeShapeType="1"/>
          </p:cNvSpPr>
          <p:nvPr/>
        </p:nvSpPr>
        <p:spPr bwMode="auto">
          <a:xfrm>
            <a:off x="3763963" y="4352925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8404" name="Oval 35"/>
          <p:cNvSpPr>
            <a:spLocks noChangeArrowheads="1"/>
          </p:cNvSpPr>
          <p:nvPr/>
        </p:nvSpPr>
        <p:spPr bwMode="auto">
          <a:xfrm>
            <a:off x="5475288" y="365283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8405" name="Rectangle 36"/>
          <p:cNvSpPr>
            <a:spLocks noGrp="1" noChangeArrowheads="1"/>
          </p:cNvSpPr>
          <p:nvPr>
            <p:ph type="title"/>
          </p:nvPr>
        </p:nvSpPr>
        <p:spPr>
          <a:xfrm>
            <a:off x="457200" y="3810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Enqueue (cont.)</a:t>
            </a:r>
          </a:p>
        </p:txBody>
      </p:sp>
      <p:sp>
        <p:nvSpPr>
          <p:cNvPr id="58406" name="Text Box 37"/>
          <p:cNvSpPr txBox="1">
            <a:spLocks noChangeArrowheads="1"/>
          </p:cNvSpPr>
          <p:nvPr/>
        </p:nvSpPr>
        <p:spPr bwMode="auto">
          <a:xfrm>
            <a:off x="3962400" y="23241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  <p:sp>
        <p:nvSpPr>
          <p:cNvPr id="58407" name="Oval 38"/>
          <p:cNvSpPr>
            <a:spLocks noChangeArrowheads="1"/>
          </p:cNvSpPr>
          <p:nvPr/>
        </p:nvSpPr>
        <p:spPr bwMode="auto">
          <a:xfrm>
            <a:off x="4745038" y="490696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8408" name="Line 39"/>
          <p:cNvSpPr>
            <a:spLocks noChangeShapeType="1"/>
          </p:cNvSpPr>
          <p:nvPr/>
        </p:nvSpPr>
        <p:spPr bwMode="auto">
          <a:xfrm flipH="1">
            <a:off x="5257800" y="4381500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8409" name="Text Box 40"/>
          <p:cNvSpPr txBox="1">
            <a:spLocks noChangeArrowheads="1"/>
          </p:cNvSpPr>
          <p:nvPr/>
        </p:nvSpPr>
        <p:spPr bwMode="auto">
          <a:xfrm>
            <a:off x="6477000" y="2552700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r>
              <a:rPr lang="en-US" altLang="en-US" sz="2400" b="1">
                <a:solidFill>
                  <a:srgbClr val="FF3300"/>
                </a:solidFill>
              </a:rPr>
              <a:t>37</a:t>
            </a:r>
            <a:endParaRPr lang="en-US" altLang="en-US" sz="2400"/>
          </a:p>
        </p:txBody>
      </p:sp>
      <p:sp>
        <p:nvSpPr>
          <p:cNvPr id="58410" name="Text Box 41"/>
          <p:cNvSpPr txBox="1">
            <a:spLocks noChangeArrowheads="1"/>
          </p:cNvSpPr>
          <p:nvPr/>
        </p:nvSpPr>
        <p:spPr bwMode="auto">
          <a:xfrm>
            <a:off x="4708525" y="499110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58411" name="Text Box 42"/>
          <p:cNvSpPr txBox="1">
            <a:spLocks noChangeArrowheads="1"/>
          </p:cNvSpPr>
          <p:nvPr/>
        </p:nvSpPr>
        <p:spPr bwMode="auto">
          <a:xfrm>
            <a:off x="5468938" y="3771900"/>
            <a:ext cx="855662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58412" name="Text Box 44"/>
          <p:cNvSpPr txBox="1">
            <a:spLocks noChangeArrowheads="1"/>
          </p:cNvSpPr>
          <p:nvPr/>
        </p:nvSpPr>
        <p:spPr bwMode="auto">
          <a:xfrm>
            <a:off x="5638800" y="4457700"/>
            <a:ext cx="3429000" cy="156210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It was greater than the value swapped with (28), or we wouldn’t have swapped…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35C12047-EE23-4381-A005-C6765B522F8E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57</a:t>
            </a:fld>
            <a:endParaRPr lang="en-US" altLang="en-US" sz="1400"/>
          </a:p>
        </p:txBody>
      </p:sp>
      <p:sp>
        <p:nvSpPr>
          <p:cNvPr id="59395" name="Oval 2"/>
          <p:cNvSpPr>
            <a:spLocks noChangeArrowheads="1"/>
          </p:cNvSpPr>
          <p:nvPr/>
        </p:nvSpPr>
        <p:spPr bwMode="auto">
          <a:xfrm>
            <a:off x="2395538" y="24288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9396" name="Text Box 3"/>
          <p:cNvSpPr txBox="1">
            <a:spLocks noChangeArrowheads="1"/>
          </p:cNvSpPr>
          <p:nvPr/>
        </p:nvSpPr>
        <p:spPr bwMode="auto">
          <a:xfrm>
            <a:off x="2336800" y="25479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59397" name="Oval 4"/>
          <p:cNvSpPr>
            <a:spLocks noChangeArrowheads="1"/>
          </p:cNvSpPr>
          <p:nvPr/>
        </p:nvSpPr>
        <p:spPr bwMode="auto">
          <a:xfrm>
            <a:off x="1370013" y="365442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9398" name="Text Box 5"/>
          <p:cNvSpPr txBox="1">
            <a:spLocks noChangeArrowheads="1"/>
          </p:cNvSpPr>
          <p:nvPr/>
        </p:nvSpPr>
        <p:spPr bwMode="auto">
          <a:xfrm>
            <a:off x="1311275" y="377190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59399" name="Oval 6"/>
          <p:cNvSpPr>
            <a:spLocks noChangeArrowheads="1"/>
          </p:cNvSpPr>
          <p:nvPr/>
        </p:nvSpPr>
        <p:spPr bwMode="auto">
          <a:xfrm>
            <a:off x="685800" y="48799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9400" name="Text Box 7"/>
          <p:cNvSpPr txBox="1">
            <a:spLocks noChangeArrowheads="1"/>
          </p:cNvSpPr>
          <p:nvPr/>
        </p:nvSpPr>
        <p:spPr bwMode="auto">
          <a:xfrm>
            <a:off x="627063" y="499745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59401" name="Oval 8"/>
          <p:cNvSpPr>
            <a:spLocks noChangeArrowheads="1"/>
          </p:cNvSpPr>
          <p:nvPr/>
        </p:nvSpPr>
        <p:spPr bwMode="auto">
          <a:xfrm>
            <a:off x="1711325" y="48783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9402" name="Text Box 9"/>
          <p:cNvSpPr txBox="1">
            <a:spLocks noChangeArrowheads="1"/>
          </p:cNvSpPr>
          <p:nvPr/>
        </p:nvSpPr>
        <p:spPr bwMode="auto">
          <a:xfrm>
            <a:off x="1652588" y="499745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59403" name="Line 10"/>
          <p:cNvSpPr>
            <a:spLocks noChangeShapeType="1"/>
          </p:cNvSpPr>
          <p:nvPr/>
        </p:nvSpPr>
        <p:spPr bwMode="auto">
          <a:xfrm flipH="1">
            <a:off x="1198563" y="43545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9404" name="Line 11"/>
          <p:cNvSpPr>
            <a:spLocks noChangeShapeType="1"/>
          </p:cNvSpPr>
          <p:nvPr/>
        </p:nvSpPr>
        <p:spPr bwMode="auto">
          <a:xfrm>
            <a:off x="1711325" y="43545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9405" name="Oval 12"/>
          <p:cNvSpPr>
            <a:spLocks noChangeArrowheads="1"/>
          </p:cNvSpPr>
          <p:nvPr/>
        </p:nvSpPr>
        <p:spPr bwMode="auto">
          <a:xfrm>
            <a:off x="4448175" y="12033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9406" name="Text Box 13"/>
          <p:cNvSpPr txBox="1">
            <a:spLocks noChangeArrowheads="1"/>
          </p:cNvSpPr>
          <p:nvPr/>
        </p:nvSpPr>
        <p:spPr bwMode="auto">
          <a:xfrm>
            <a:off x="4389438" y="132238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59407" name="Line 14"/>
          <p:cNvSpPr>
            <a:spLocks noChangeShapeType="1"/>
          </p:cNvSpPr>
          <p:nvPr/>
        </p:nvSpPr>
        <p:spPr bwMode="auto">
          <a:xfrm>
            <a:off x="2909888" y="137953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9408" name="Oval 15"/>
          <p:cNvSpPr>
            <a:spLocks noChangeArrowheads="1"/>
          </p:cNvSpPr>
          <p:nvPr/>
        </p:nvSpPr>
        <p:spPr bwMode="auto">
          <a:xfrm>
            <a:off x="3422650" y="36544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9409" name="Line 16"/>
          <p:cNvSpPr>
            <a:spLocks noChangeShapeType="1"/>
          </p:cNvSpPr>
          <p:nvPr/>
        </p:nvSpPr>
        <p:spPr bwMode="auto">
          <a:xfrm flipH="1">
            <a:off x="1882775" y="31289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9410" name="Line 17"/>
          <p:cNvSpPr>
            <a:spLocks noChangeShapeType="1"/>
          </p:cNvSpPr>
          <p:nvPr/>
        </p:nvSpPr>
        <p:spPr bwMode="auto">
          <a:xfrm>
            <a:off x="2909888" y="312896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9411" name="Oval 18"/>
          <p:cNvSpPr>
            <a:spLocks noChangeArrowheads="1"/>
          </p:cNvSpPr>
          <p:nvPr/>
        </p:nvSpPr>
        <p:spPr bwMode="auto">
          <a:xfrm>
            <a:off x="6500813" y="24288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9412" name="Oval 19"/>
          <p:cNvSpPr>
            <a:spLocks noChangeArrowheads="1"/>
          </p:cNvSpPr>
          <p:nvPr/>
        </p:nvSpPr>
        <p:spPr bwMode="auto">
          <a:xfrm>
            <a:off x="5475288" y="365442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9413" name="Oval 20"/>
          <p:cNvSpPr>
            <a:spLocks noChangeArrowheads="1"/>
          </p:cNvSpPr>
          <p:nvPr/>
        </p:nvSpPr>
        <p:spPr bwMode="auto">
          <a:xfrm>
            <a:off x="7526338" y="36544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9414" name="Text Box 21"/>
          <p:cNvSpPr txBox="1">
            <a:spLocks noChangeArrowheads="1"/>
          </p:cNvSpPr>
          <p:nvPr/>
        </p:nvSpPr>
        <p:spPr bwMode="auto">
          <a:xfrm>
            <a:off x="7467600" y="37719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59415" name="Line 22"/>
          <p:cNvSpPr>
            <a:spLocks noChangeShapeType="1"/>
          </p:cNvSpPr>
          <p:nvPr/>
        </p:nvSpPr>
        <p:spPr bwMode="auto">
          <a:xfrm flipH="1">
            <a:off x="5988050" y="31289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9416" name="Line 23"/>
          <p:cNvSpPr>
            <a:spLocks noChangeShapeType="1"/>
          </p:cNvSpPr>
          <p:nvPr/>
        </p:nvSpPr>
        <p:spPr bwMode="auto">
          <a:xfrm>
            <a:off x="7013575" y="31289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9417" name="Line 24"/>
          <p:cNvSpPr>
            <a:spLocks noChangeShapeType="1"/>
          </p:cNvSpPr>
          <p:nvPr/>
        </p:nvSpPr>
        <p:spPr bwMode="auto">
          <a:xfrm flipH="1">
            <a:off x="3079750" y="172878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9418" name="Line 25"/>
          <p:cNvSpPr>
            <a:spLocks noChangeShapeType="1"/>
          </p:cNvSpPr>
          <p:nvPr/>
        </p:nvSpPr>
        <p:spPr bwMode="auto">
          <a:xfrm>
            <a:off x="5132388" y="172878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9419" name="Text Box 26"/>
          <p:cNvSpPr txBox="1">
            <a:spLocks noChangeArrowheads="1"/>
          </p:cNvSpPr>
          <p:nvPr/>
        </p:nvSpPr>
        <p:spPr bwMode="auto">
          <a:xfrm>
            <a:off x="1939925" y="102870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59420" name="Oval 27"/>
          <p:cNvSpPr>
            <a:spLocks noChangeArrowheads="1"/>
          </p:cNvSpPr>
          <p:nvPr/>
        </p:nvSpPr>
        <p:spPr bwMode="auto">
          <a:xfrm>
            <a:off x="3422650" y="365283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9421" name="Text Box 28"/>
          <p:cNvSpPr txBox="1">
            <a:spLocks noChangeArrowheads="1"/>
          </p:cNvSpPr>
          <p:nvPr/>
        </p:nvSpPr>
        <p:spPr bwMode="auto">
          <a:xfrm>
            <a:off x="3370263" y="379095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59422" name="Oval 29"/>
          <p:cNvSpPr>
            <a:spLocks noChangeArrowheads="1"/>
          </p:cNvSpPr>
          <p:nvPr/>
        </p:nvSpPr>
        <p:spPr bwMode="auto">
          <a:xfrm>
            <a:off x="2738438" y="48783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9423" name="Text Box 30"/>
          <p:cNvSpPr txBox="1">
            <a:spLocks noChangeArrowheads="1"/>
          </p:cNvSpPr>
          <p:nvPr/>
        </p:nvSpPr>
        <p:spPr bwMode="auto">
          <a:xfrm>
            <a:off x="2679700" y="499268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59424" name="Oval 31"/>
          <p:cNvSpPr>
            <a:spLocks noChangeArrowheads="1"/>
          </p:cNvSpPr>
          <p:nvPr/>
        </p:nvSpPr>
        <p:spPr bwMode="auto">
          <a:xfrm>
            <a:off x="3763963" y="48752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9425" name="Text Box 32"/>
          <p:cNvSpPr txBox="1">
            <a:spLocks noChangeArrowheads="1"/>
          </p:cNvSpPr>
          <p:nvPr/>
        </p:nvSpPr>
        <p:spPr bwMode="auto">
          <a:xfrm>
            <a:off x="3705225" y="4992688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59426" name="Line 33"/>
          <p:cNvSpPr>
            <a:spLocks noChangeShapeType="1"/>
          </p:cNvSpPr>
          <p:nvPr/>
        </p:nvSpPr>
        <p:spPr bwMode="auto">
          <a:xfrm flipH="1">
            <a:off x="3251200" y="435292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9427" name="Line 34"/>
          <p:cNvSpPr>
            <a:spLocks noChangeShapeType="1"/>
          </p:cNvSpPr>
          <p:nvPr/>
        </p:nvSpPr>
        <p:spPr bwMode="auto">
          <a:xfrm>
            <a:off x="3763963" y="4352925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9428" name="Oval 35"/>
          <p:cNvSpPr>
            <a:spLocks noChangeArrowheads="1"/>
          </p:cNvSpPr>
          <p:nvPr/>
        </p:nvSpPr>
        <p:spPr bwMode="auto">
          <a:xfrm>
            <a:off x="5475288" y="365283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9429" name="Rectangle 36"/>
          <p:cNvSpPr>
            <a:spLocks noGrp="1" noChangeArrowheads="1"/>
          </p:cNvSpPr>
          <p:nvPr>
            <p:ph type="title"/>
          </p:nvPr>
        </p:nvSpPr>
        <p:spPr>
          <a:xfrm>
            <a:off x="457200" y="3810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Enqueue (cont.)</a:t>
            </a:r>
          </a:p>
        </p:txBody>
      </p:sp>
      <p:sp>
        <p:nvSpPr>
          <p:cNvPr id="59430" name="Text Box 37"/>
          <p:cNvSpPr txBox="1">
            <a:spLocks noChangeArrowheads="1"/>
          </p:cNvSpPr>
          <p:nvPr/>
        </p:nvSpPr>
        <p:spPr bwMode="auto">
          <a:xfrm>
            <a:off x="3962400" y="23241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  <p:sp>
        <p:nvSpPr>
          <p:cNvPr id="59431" name="Oval 38"/>
          <p:cNvSpPr>
            <a:spLocks noChangeArrowheads="1"/>
          </p:cNvSpPr>
          <p:nvPr/>
        </p:nvSpPr>
        <p:spPr bwMode="auto">
          <a:xfrm>
            <a:off x="4745038" y="490696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9432" name="Line 39"/>
          <p:cNvSpPr>
            <a:spLocks noChangeShapeType="1"/>
          </p:cNvSpPr>
          <p:nvPr/>
        </p:nvSpPr>
        <p:spPr bwMode="auto">
          <a:xfrm flipH="1">
            <a:off x="5257800" y="4381500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9433" name="Text Box 40"/>
          <p:cNvSpPr txBox="1">
            <a:spLocks noChangeArrowheads="1"/>
          </p:cNvSpPr>
          <p:nvPr/>
        </p:nvSpPr>
        <p:spPr bwMode="auto">
          <a:xfrm>
            <a:off x="6477000" y="2552700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r>
              <a:rPr lang="en-US" altLang="en-US" sz="2400" b="1">
                <a:solidFill>
                  <a:srgbClr val="FF3300"/>
                </a:solidFill>
              </a:rPr>
              <a:t>37</a:t>
            </a:r>
            <a:endParaRPr lang="en-US" altLang="en-US" sz="2400"/>
          </a:p>
        </p:txBody>
      </p:sp>
      <p:sp>
        <p:nvSpPr>
          <p:cNvPr id="59434" name="Text Box 41"/>
          <p:cNvSpPr txBox="1">
            <a:spLocks noChangeArrowheads="1"/>
          </p:cNvSpPr>
          <p:nvPr/>
        </p:nvSpPr>
        <p:spPr bwMode="auto">
          <a:xfrm>
            <a:off x="4708525" y="499110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59435" name="Text Box 42"/>
          <p:cNvSpPr txBox="1">
            <a:spLocks noChangeArrowheads="1"/>
          </p:cNvSpPr>
          <p:nvPr/>
        </p:nvSpPr>
        <p:spPr bwMode="auto">
          <a:xfrm>
            <a:off x="5468938" y="3771900"/>
            <a:ext cx="855662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59436" name="Text Box 43"/>
          <p:cNvSpPr txBox="1">
            <a:spLocks noChangeArrowheads="1"/>
          </p:cNvSpPr>
          <p:nvPr/>
        </p:nvSpPr>
        <p:spPr bwMode="auto">
          <a:xfrm>
            <a:off x="5638800" y="4457700"/>
            <a:ext cx="3429000" cy="156210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and 28 was greater than the other node (2) or it wouldn’t have been a heap…</a:t>
            </a: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BE1EF02A-CA78-442B-96BE-B2EEB509D619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58</a:t>
            </a:fld>
            <a:endParaRPr lang="en-US" altLang="en-US" sz="1400"/>
          </a:p>
        </p:txBody>
      </p:sp>
      <p:sp>
        <p:nvSpPr>
          <p:cNvPr id="60419" name="Oval 2"/>
          <p:cNvSpPr>
            <a:spLocks noChangeArrowheads="1"/>
          </p:cNvSpPr>
          <p:nvPr/>
        </p:nvSpPr>
        <p:spPr bwMode="auto">
          <a:xfrm>
            <a:off x="2395538" y="24479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0420" name="Text Box 3"/>
          <p:cNvSpPr txBox="1">
            <a:spLocks noChangeArrowheads="1"/>
          </p:cNvSpPr>
          <p:nvPr/>
        </p:nvSpPr>
        <p:spPr bwMode="auto">
          <a:xfrm>
            <a:off x="2336800" y="256698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60421" name="Oval 4"/>
          <p:cNvSpPr>
            <a:spLocks noChangeArrowheads="1"/>
          </p:cNvSpPr>
          <p:nvPr/>
        </p:nvSpPr>
        <p:spPr bwMode="auto">
          <a:xfrm>
            <a:off x="1370013" y="367347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0422" name="Text Box 5"/>
          <p:cNvSpPr txBox="1">
            <a:spLocks noChangeArrowheads="1"/>
          </p:cNvSpPr>
          <p:nvPr/>
        </p:nvSpPr>
        <p:spPr bwMode="auto">
          <a:xfrm>
            <a:off x="1311275" y="379095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60423" name="Oval 6"/>
          <p:cNvSpPr>
            <a:spLocks noChangeArrowheads="1"/>
          </p:cNvSpPr>
          <p:nvPr/>
        </p:nvSpPr>
        <p:spPr bwMode="auto">
          <a:xfrm>
            <a:off x="685800" y="48990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0424" name="Text Box 7"/>
          <p:cNvSpPr txBox="1">
            <a:spLocks noChangeArrowheads="1"/>
          </p:cNvSpPr>
          <p:nvPr/>
        </p:nvSpPr>
        <p:spPr bwMode="auto">
          <a:xfrm>
            <a:off x="627063" y="501650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60425" name="Oval 8"/>
          <p:cNvSpPr>
            <a:spLocks noChangeArrowheads="1"/>
          </p:cNvSpPr>
          <p:nvPr/>
        </p:nvSpPr>
        <p:spPr bwMode="auto">
          <a:xfrm>
            <a:off x="1711325" y="489743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0426" name="Text Box 9"/>
          <p:cNvSpPr txBox="1">
            <a:spLocks noChangeArrowheads="1"/>
          </p:cNvSpPr>
          <p:nvPr/>
        </p:nvSpPr>
        <p:spPr bwMode="auto">
          <a:xfrm>
            <a:off x="1652588" y="501650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60427" name="Line 10"/>
          <p:cNvSpPr>
            <a:spLocks noChangeShapeType="1"/>
          </p:cNvSpPr>
          <p:nvPr/>
        </p:nvSpPr>
        <p:spPr bwMode="auto">
          <a:xfrm flipH="1">
            <a:off x="1198563" y="437356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0428" name="Line 11"/>
          <p:cNvSpPr>
            <a:spLocks noChangeShapeType="1"/>
          </p:cNvSpPr>
          <p:nvPr/>
        </p:nvSpPr>
        <p:spPr bwMode="auto">
          <a:xfrm>
            <a:off x="1711325" y="437356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0429" name="Oval 12"/>
          <p:cNvSpPr>
            <a:spLocks noChangeArrowheads="1"/>
          </p:cNvSpPr>
          <p:nvPr/>
        </p:nvSpPr>
        <p:spPr bwMode="auto">
          <a:xfrm>
            <a:off x="4448175" y="12223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0430" name="Text Box 13"/>
          <p:cNvSpPr txBox="1">
            <a:spLocks noChangeArrowheads="1"/>
          </p:cNvSpPr>
          <p:nvPr/>
        </p:nvSpPr>
        <p:spPr bwMode="auto">
          <a:xfrm>
            <a:off x="4389438" y="134143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60431" name="Line 14"/>
          <p:cNvSpPr>
            <a:spLocks noChangeShapeType="1"/>
          </p:cNvSpPr>
          <p:nvPr/>
        </p:nvSpPr>
        <p:spPr bwMode="auto">
          <a:xfrm>
            <a:off x="2909888" y="139858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0432" name="Oval 15"/>
          <p:cNvSpPr>
            <a:spLocks noChangeArrowheads="1"/>
          </p:cNvSpPr>
          <p:nvPr/>
        </p:nvSpPr>
        <p:spPr bwMode="auto">
          <a:xfrm>
            <a:off x="3422650" y="36734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0433" name="Line 16"/>
          <p:cNvSpPr>
            <a:spLocks noChangeShapeType="1"/>
          </p:cNvSpPr>
          <p:nvPr/>
        </p:nvSpPr>
        <p:spPr bwMode="auto">
          <a:xfrm flipH="1">
            <a:off x="1882775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0434" name="Line 17"/>
          <p:cNvSpPr>
            <a:spLocks noChangeShapeType="1"/>
          </p:cNvSpPr>
          <p:nvPr/>
        </p:nvSpPr>
        <p:spPr bwMode="auto">
          <a:xfrm>
            <a:off x="2909888" y="314801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0435" name="Oval 18"/>
          <p:cNvSpPr>
            <a:spLocks noChangeArrowheads="1"/>
          </p:cNvSpPr>
          <p:nvPr/>
        </p:nvSpPr>
        <p:spPr bwMode="auto">
          <a:xfrm>
            <a:off x="6500813" y="24479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0436" name="Oval 19"/>
          <p:cNvSpPr>
            <a:spLocks noChangeArrowheads="1"/>
          </p:cNvSpPr>
          <p:nvPr/>
        </p:nvSpPr>
        <p:spPr bwMode="auto">
          <a:xfrm>
            <a:off x="5475288" y="367347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0437" name="Oval 20"/>
          <p:cNvSpPr>
            <a:spLocks noChangeArrowheads="1"/>
          </p:cNvSpPr>
          <p:nvPr/>
        </p:nvSpPr>
        <p:spPr bwMode="auto">
          <a:xfrm>
            <a:off x="7526338" y="36734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0438" name="Text Box 21"/>
          <p:cNvSpPr txBox="1">
            <a:spLocks noChangeArrowheads="1"/>
          </p:cNvSpPr>
          <p:nvPr/>
        </p:nvSpPr>
        <p:spPr bwMode="auto">
          <a:xfrm>
            <a:off x="7467600" y="379095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60439" name="Line 22"/>
          <p:cNvSpPr>
            <a:spLocks noChangeShapeType="1"/>
          </p:cNvSpPr>
          <p:nvPr/>
        </p:nvSpPr>
        <p:spPr bwMode="auto">
          <a:xfrm flipH="1">
            <a:off x="5988050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0440" name="Line 23"/>
          <p:cNvSpPr>
            <a:spLocks noChangeShapeType="1"/>
          </p:cNvSpPr>
          <p:nvPr/>
        </p:nvSpPr>
        <p:spPr bwMode="auto">
          <a:xfrm>
            <a:off x="7013575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0441" name="Line 24"/>
          <p:cNvSpPr>
            <a:spLocks noChangeShapeType="1"/>
          </p:cNvSpPr>
          <p:nvPr/>
        </p:nvSpPr>
        <p:spPr bwMode="auto">
          <a:xfrm flipH="1">
            <a:off x="3079750" y="174783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0442" name="Line 25"/>
          <p:cNvSpPr>
            <a:spLocks noChangeShapeType="1"/>
          </p:cNvSpPr>
          <p:nvPr/>
        </p:nvSpPr>
        <p:spPr bwMode="auto">
          <a:xfrm>
            <a:off x="5132388" y="174783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0443" name="Text Box 26"/>
          <p:cNvSpPr txBox="1">
            <a:spLocks noChangeArrowheads="1"/>
          </p:cNvSpPr>
          <p:nvPr/>
        </p:nvSpPr>
        <p:spPr bwMode="auto">
          <a:xfrm>
            <a:off x="1939925" y="104775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60444" name="Oval 27"/>
          <p:cNvSpPr>
            <a:spLocks noChangeArrowheads="1"/>
          </p:cNvSpPr>
          <p:nvPr/>
        </p:nvSpPr>
        <p:spPr bwMode="auto">
          <a:xfrm>
            <a:off x="3422650" y="367188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0445" name="Text Box 28"/>
          <p:cNvSpPr txBox="1">
            <a:spLocks noChangeArrowheads="1"/>
          </p:cNvSpPr>
          <p:nvPr/>
        </p:nvSpPr>
        <p:spPr bwMode="auto">
          <a:xfrm>
            <a:off x="3370263" y="381000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60446" name="Oval 29"/>
          <p:cNvSpPr>
            <a:spLocks noChangeArrowheads="1"/>
          </p:cNvSpPr>
          <p:nvPr/>
        </p:nvSpPr>
        <p:spPr bwMode="auto">
          <a:xfrm>
            <a:off x="2738438" y="48974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0447" name="Text Box 30"/>
          <p:cNvSpPr txBox="1">
            <a:spLocks noChangeArrowheads="1"/>
          </p:cNvSpPr>
          <p:nvPr/>
        </p:nvSpPr>
        <p:spPr bwMode="auto">
          <a:xfrm>
            <a:off x="2679700" y="501173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60448" name="Oval 31"/>
          <p:cNvSpPr>
            <a:spLocks noChangeArrowheads="1"/>
          </p:cNvSpPr>
          <p:nvPr/>
        </p:nvSpPr>
        <p:spPr bwMode="auto">
          <a:xfrm>
            <a:off x="3763963" y="489426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0449" name="Text Box 32"/>
          <p:cNvSpPr txBox="1">
            <a:spLocks noChangeArrowheads="1"/>
          </p:cNvSpPr>
          <p:nvPr/>
        </p:nvSpPr>
        <p:spPr bwMode="auto">
          <a:xfrm>
            <a:off x="3705225" y="5011738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60450" name="Line 33"/>
          <p:cNvSpPr>
            <a:spLocks noChangeShapeType="1"/>
          </p:cNvSpPr>
          <p:nvPr/>
        </p:nvSpPr>
        <p:spPr bwMode="auto">
          <a:xfrm flipH="1">
            <a:off x="3251200" y="437197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0451" name="Line 34"/>
          <p:cNvSpPr>
            <a:spLocks noChangeShapeType="1"/>
          </p:cNvSpPr>
          <p:nvPr/>
        </p:nvSpPr>
        <p:spPr bwMode="auto">
          <a:xfrm>
            <a:off x="3763963" y="4371975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0452" name="Oval 35"/>
          <p:cNvSpPr>
            <a:spLocks noChangeArrowheads="1"/>
          </p:cNvSpPr>
          <p:nvPr/>
        </p:nvSpPr>
        <p:spPr bwMode="auto">
          <a:xfrm>
            <a:off x="5475288" y="367188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0453" name="Rectangle 36"/>
          <p:cNvSpPr>
            <a:spLocks noGrp="1" noChangeArrowheads="1"/>
          </p:cNvSpPr>
          <p:nvPr>
            <p:ph type="title"/>
          </p:nvPr>
        </p:nvSpPr>
        <p:spPr>
          <a:xfrm>
            <a:off x="457200" y="5715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Enqueue (cont.)</a:t>
            </a:r>
          </a:p>
        </p:txBody>
      </p:sp>
      <p:sp>
        <p:nvSpPr>
          <p:cNvPr id="60454" name="Text Box 37"/>
          <p:cNvSpPr txBox="1">
            <a:spLocks noChangeArrowheads="1"/>
          </p:cNvSpPr>
          <p:nvPr/>
        </p:nvSpPr>
        <p:spPr bwMode="auto">
          <a:xfrm>
            <a:off x="3962400" y="234315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  <p:sp>
        <p:nvSpPr>
          <p:cNvPr id="60455" name="Oval 38"/>
          <p:cNvSpPr>
            <a:spLocks noChangeArrowheads="1"/>
          </p:cNvSpPr>
          <p:nvPr/>
        </p:nvSpPr>
        <p:spPr bwMode="auto">
          <a:xfrm>
            <a:off x="4745038" y="49260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0456" name="Line 39"/>
          <p:cNvSpPr>
            <a:spLocks noChangeShapeType="1"/>
          </p:cNvSpPr>
          <p:nvPr/>
        </p:nvSpPr>
        <p:spPr bwMode="auto">
          <a:xfrm flipH="1">
            <a:off x="5257800" y="4400550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0457" name="Text Box 40"/>
          <p:cNvSpPr txBox="1">
            <a:spLocks noChangeArrowheads="1"/>
          </p:cNvSpPr>
          <p:nvPr/>
        </p:nvSpPr>
        <p:spPr bwMode="auto">
          <a:xfrm>
            <a:off x="6477000" y="2571750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r>
              <a:rPr lang="en-US" altLang="en-US" sz="2400" b="1">
                <a:solidFill>
                  <a:srgbClr val="FF3300"/>
                </a:solidFill>
              </a:rPr>
              <a:t>37</a:t>
            </a:r>
            <a:endParaRPr lang="en-US" altLang="en-US" sz="2400"/>
          </a:p>
        </p:txBody>
      </p:sp>
      <p:sp>
        <p:nvSpPr>
          <p:cNvPr id="60458" name="Text Box 41"/>
          <p:cNvSpPr txBox="1">
            <a:spLocks noChangeArrowheads="1"/>
          </p:cNvSpPr>
          <p:nvPr/>
        </p:nvSpPr>
        <p:spPr bwMode="auto">
          <a:xfrm>
            <a:off x="4708525" y="501015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60459" name="Text Box 42"/>
          <p:cNvSpPr txBox="1">
            <a:spLocks noChangeArrowheads="1"/>
          </p:cNvSpPr>
          <p:nvPr/>
        </p:nvSpPr>
        <p:spPr bwMode="auto">
          <a:xfrm>
            <a:off x="5468938" y="3790950"/>
            <a:ext cx="855662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60460" name="Text Box 43"/>
          <p:cNvSpPr txBox="1">
            <a:spLocks noChangeArrowheads="1"/>
          </p:cNvSpPr>
          <p:nvPr/>
        </p:nvSpPr>
        <p:spPr bwMode="auto">
          <a:xfrm>
            <a:off x="5638800" y="4476750"/>
            <a:ext cx="3429000" cy="1196975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so 37 must be greater than the other node (2) as well.</a:t>
            </a: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C426736A-13A7-4A9C-8D0C-5B1F08EB7BB6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59</a:t>
            </a:fld>
            <a:endParaRPr lang="en-US" altLang="en-US" sz="1400"/>
          </a:p>
        </p:txBody>
      </p:sp>
      <p:sp>
        <p:nvSpPr>
          <p:cNvPr id="61443" name="Oval 2"/>
          <p:cNvSpPr>
            <a:spLocks noChangeArrowheads="1"/>
          </p:cNvSpPr>
          <p:nvPr/>
        </p:nvSpPr>
        <p:spPr bwMode="auto">
          <a:xfrm>
            <a:off x="2395538" y="24479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1444" name="Text Box 3"/>
          <p:cNvSpPr txBox="1">
            <a:spLocks noChangeArrowheads="1"/>
          </p:cNvSpPr>
          <p:nvPr/>
        </p:nvSpPr>
        <p:spPr bwMode="auto">
          <a:xfrm>
            <a:off x="2336800" y="256698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61445" name="Oval 4"/>
          <p:cNvSpPr>
            <a:spLocks noChangeArrowheads="1"/>
          </p:cNvSpPr>
          <p:nvPr/>
        </p:nvSpPr>
        <p:spPr bwMode="auto">
          <a:xfrm>
            <a:off x="1370013" y="367347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1446" name="Text Box 5"/>
          <p:cNvSpPr txBox="1">
            <a:spLocks noChangeArrowheads="1"/>
          </p:cNvSpPr>
          <p:nvPr/>
        </p:nvSpPr>
        <p:spPr bwMode="auto">
          <a:xfrm>
            <a:off x="1311275" y="379095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61447" name="Oval 6"/>
          <p:cNvSpPr>
            <a:spLocks noChangeArrowheads="1"/>
          </p:cNvSpPr>
          <p:nvPr/>
        </p:nvSpPr>
        <p:spPr bwMode="auto">
          <a:xfrm>
            <a:off x="685800" y="48990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1448" name="Text Box 7"/>
          <p:cNvSpPr txBox="1">
            <a:spLocks noChangeArrowheads="1"/>
          </p:cNvSpPr>
          <p:nvPr/>
        </p:nvSpPr>
        <p:spPr bwMode="auto">
          <a:xfrm>
            <a:off x="627063" y="501650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61449" name="Oval 8"/>
          <p:cNvSpPr>
            <a:spLocks noChangeArrowheads="1"/>
          </p:cNvSpPr>
          <p:nvPr/>
        </p:nvSpPr>
        <p:spPr bwMode="auto">
          <a:xfrm>
            <a:off x="1711325" y="489743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1450" name="Text Box 9"/>
          <p:cNvSpPr txBox="1">
            <a:spLocks noChangeArrowheads="1"/>
          </p:cNvSpPr>
          <p:nvPr/>
        </p:nvSpPr>
        <p:spPr bwMode="auto">
          <a:xfrm>
            <a:off x="1652588" y="501650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61451" name="Line 10"/>
          <p:cNvSpPr>
            <a:spLocks noChangeShapeType="1"/>
          </p:cNvSpPr>
          <p:nvPr/>
        </p:nvSpPr>
        <p:spPr bwMode="auto">
          <a:xfrm flipH="1">
            <a:off x="1198563" y="437356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1452" name="Line 11"/>
          <p:cNvSpPr>
            <a:spLocks noChangeShapeType="1"/>
          </p:cNvSpPr>
          <p:nvPr/>
        </p:nvSpPr>
        <p:spPr bwMode="auto">
          <a:xfrm>
            <a:off x="1711325" y="437356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1453" name="Oval 12"/>
          <p:cNvSpPr>
            <a:spLocks noChangeArrowheads="1"/>
          </p:cNvSpPr>
          <p:nvPr/>
        </p:nvSpPr>
        <p:spPr bwMode="auto">
          <a:xfrm>
            <a:off x="4448175" y="12223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1454" name="Text Box 13"/>
          <p:cNvSpPr txBox="1">
            <a:spLocks noChangeArrowheads="1"/>
          </p:cNvSpPr>
          <p:nvPr/>
        </p:nvSpPr>
        <p:spPr bwMode="auto">
          <a:xfrm>
            <a:off x="4389438" y="134143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61455" name="Line 14"/>
          <p:cNvSpPr>
            <a:spLocks noChangeShapeType="1"/>
          </p:cNvSpPr>
          <p:nvPr/>
        </p:nvSpPr>
        <p:spPr bwMode="auto">
          <a:xfrm>
            <a:off x="2909888" y="139858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1456" name="Oval 15"/>
          <p:cNvSpPr>
            <a:spLocks noChangeArrowheads="1"/>
          </p:cNvSpPr>
          <p:nvPr/>
        </p:nvSpPr>
        <p:spPr bwMode="auto">
          <a:xfrm>
            <a:off x="3422650" y="36734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1457" name="Line 16"/>
          <p:cNvSpPr>
            <a:spLocks noChangeShapeType="1"/>
          </p:cNvSpPr>
          <p:nvPr/>
        </p:nvSpPr>
        <p:spPr bwMode="auto">
          <a:xfrm flipH="1">
            <a:off x="1882775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1458" name="Line 17"/>
          <p:cNvSpPr>
            <a:spLocks noChangeShapeType="1"/>
          </p:cNvSpPr>
          <p:nvPr/>
        </p:nvSpPr>
        <p:spPr bwMode="auto">
          <a:xfrm>
            <a:off x="2909888" y="314801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1459" name="Oval 18"/>
          <p:cNvSpPr>
            <a:spLocks noChangeArrowheads="1"/>
          </p:cNvSpPr>
          <p:nvPr/>
        </p:nvSpPr>
        <p:spPr bwMode="auto">
          <a:xfrm>
            <a:off x="6500813" y="24479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1460" name="Oval 19"/>
          <p:cNvSpPr>
            <a:spLocks noChangeArrowheads="1"/>
          </p:cNvSpPr>
          <p:nvPr/>
        </p:nvSpPr>
        <p:spPr bwMode="auto">
          <a:xfrm>
            <a:off x="5475288" y="367347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1461" name="Oval 20"/>
          <p:cNvSpPr>
            <a:spLocks noChangeArrowheads="1"/>
          </p:cNvSpPr>
          <p:nvPr/>
        </p:nvSpPr>
        <p:spPr bwMode="auto">
          <a:xfrm>
            <a:off x="7526338" y="36734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1462" name="Text Box 21"/>
          <p:cNvSpPr txBox="1">
            <a:spLocks noChangeArrowheads="1"/>
          </p:cNvSpPr>
          <p:nvPr/>
        </p:nvSpPr>
        <p:spPr bwMode="auto">
          <a:xfrm>
            <a:off x="7467600" y="379095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61463" name="Line 22"/>
          <p:cNvSpPr>
            <a:spLocks noChangeShapeType="1"/>
          </p:cNvSpPr>
          <p:nvPr/>
        </p:nvSpPr>
        <p:spPr bwMode="auto">
          <a:xfrm flipH="1">
            <a:off x="5988050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1464" name="Line 23"/>
          <p:cNvSpPr>
            <a:spLocks noChangeShapeType="1"/>
          </p:cNvSpPr>
          <p:nvPr/>
        </p:nvSpPr>
        <p:spPr bwMode="auto">
          <a:xfrm>
            <a:off x="7013575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1465" name="Line 24"/>
          <p:cNvSpPr>
            <a:spLocks noChangeShapeType="1"/>
          </p:cNvSpPr>
          <p:nvPr/>
        </p:nvSpPr>
        <p:spPr bwMode="auto">
          <a:xfrm flipH="1">
            <a:off x="3079750" y="174783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1466" name="Line 25"/>
          <p:cNvSpPr>
            <a:spLocks noChangeShapeType="1"/>
          </p:cNvSpPr>
          <p:nvPr/>
        </p:nvSpPr>
        <p:spPr bwMode="auto">
          <a:xfrm>
            <a:off x="5132388" y="174783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1467" name="Text Box 26"/>
          <p:cNvSpPr txBox="1">
            <a:spLocks noChangeArrowheads="1"/>
          </p:cNvSpPr>
          <p:nvPr/>
        </p:nvSpPr>
        <p:spPr bwMode="auto">
          <a:xfrm>
            <a:off x="1939925" y="104775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61468" name="Oval 27"/>
          <p:cNvSpPr>
            <a:spLocks noChangeArrowheads="1"/>
          </p:cNvSpPr>
          <p:nvPr/>
        </p:nvSpPr>
        <p:spPr bwMode="auto">
          <a:xfrm>
            <a:off x="3422650" y="367188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1469" name="Text Box 28"/>
          <p:cNvSpPr txBox="1">
            <a:spLocks noChangeArrowheads="1"/>
          </p:cNvSpPr>
          <p:nvPr/>
        </p:nvSpPr>
        <p:spPr bwMode="auto">
          <a:xfrm>
            <a:off x="3370263" y="381000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61470" name="Oval 29"/>
          <p:cNvSpPr>
            <a:spLocks noChangeArrowheads="1"/>
          </p:cNvSpPr>
          <p:nvPr/>
        </p:nvSpPr>
        <p:spPr bwMode="auto">
          <a:xfrm>
            <a:off x="2738438" y="48974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1471" name="Text Box 30"/>
          <p:cNvSpPr txBox="1">
            <a:spLocks noChangeArrowheads="1"/>
          </p:cNvSpPr>
          <p:nvPr/>
        </p:nvSpPr>
        <p:spPr bwMode="auto">
          <a:xfrm>
            <a:off x="2679700" y="501173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61472" name="Oval 31"/>
          <p:cNvSpPr>
            <a:spLocks noChangeArrowheads="1"/>
          </p:cNvSpPr>
          <p:nvPr/>
        </p:nvSpPr>
        <p:spPr bwMode="auto">
          <a:xfrm>
            <a:off x="3763963" y="489426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1473" name="Text Box 32"/>
          <p:cNvSpPr txBox="1">
            <a:spLocks noChangeArrowheads="1"/>
          </p:cNvSpPr>
          <p:nvPr/>
        </p:nvSpPr>
        <p:spPr bwMode="auto">
          <a:xfrm>
            <a:off x="3705225" y="5011738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61474" name="Line 33"/>
          <p:cNvSpPr>
            <a:spLocks noChangeShapeType="1"/>
          </p:cNvSpPr>
          <p:nvPr/>
        </p:nvSpPr>
        <p:spPr bwMode="auto">
          <a:xfrm flipH="1">
            <a:off x="3251200" y="437197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1475" name="Line 34"/>
          <p:cNvSpPr>
            <a:spLocks noChangeShapeType="1"/>
          </p:cNvSpPr>
          <p:nvPr/>
        </p:nvSpPr>
        <p:spPr bwMode="auto">
          <a:xfrm>
            <a:off x="3763963" y="4371975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1476" name="Oval 35"/>
          <p:cNvSpPr>
            <a:spLocks noChangeArrowheads="1"/>
          </p:cNvSpPr>
          <p:nvPr/>
        </p:nvSpPr>
        <p:spPr bwMode="auto">
          <a:xfrm>
            <a:off x="5475288" y="367188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1477" name="Rectangle 36"/>
          <p:cNvSpPr>
            <a:spLocks noGrp="1" noChangeArrowheads="1"/>
          </p:cNvSpPr>
          <p:nvPr>
            <p:ph type="title"/>
          </p:nvPr>
        </p:nvSpPr>
        <p:spPr>
          <a:xfrm>
            <a:off x="457200" y="5715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Enqueue (cont.)</a:t>
            </a:r>
          </a:p>
        </p:txBody>
      </p:sp>
      <p:sp>
        <p:nvSpPr>
          <p:cNvPr id="61478" name="Text Box 37"/>
          <p:cNvSpPr txBox="1">
            <a:spLocks noChangeArrowheads="1"/>
          </p:cNvSpPr>
          <p:nvPr/>
        </p:nvSpPr>
        <p:spPr bwMode="auto">
          <a:xfrm>
            <a:off x="3962400" y="234315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  <p:sp>
        <p:nvSpPr>
          <p:cNvPr id="61479" name="Oval 38"/>
          <p:cNvSpPr>
            <a:spLocks noChangeArrowheads="1"/>
          </p:cNvSpPr>
          <p:nvPr/>
        </p:nvSpPr>
        <p:spPr bwMode="auto">
          <a:xfrm>
            <a:off x="4745038" y="49260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1480" name="Line 39"/>
          <p:cNvSpPr>
            <a:spLocks noChangeShapeType="1"/>
          </p:cNvSpPr>
          <p:nvPr/>
        </p:nvSpPr>
        <p:spPr bwMode="auto">
          <a:xfrm flipH="1">
            <a:off x="5257800" y="4400550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1481" name="Text Box 40"/>
          <p:cNvSpPr txBox="1">
            <a:spLocks noChangeArrowheads="1"/>
          </p:cNvSpPr>
          <p:nvPr/>
        </p:nvSpPr>
        <p:spPr bwMode="auto">
          <a:xfrm>
            <a:off x="6477000" y="2571750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r>
              <a:rPr lang="en-US" altLang="en-US" sz="2400" b="1">
                <a:solidFill>
                  <a:srgbClr val="FF3300"/>
                </a:solidFill>
              </a:rPr>
              <a:t>37</a:t>
            </a:r>
            <a:endParaRPr lang="en-US" altLang="en-US" sz="2400"/>
          </a:p>
        </p:txBody>
      </p:sp>
      <p:sp>
        <p:nvSpPr>
          <p:cNvPr id="61482" name="Text Box 41"/>
          <p:cNvSpPr txBox="1">
            <a:spLocks noChangeArrowheads="1"/>
          </p:cNvSpPr>
          <p:nvPr/>
        </p:nvSpPr>
        <p:spPr bwMode="auto">
          <a:xfrm>
            <a:off x="4708525" y="501015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61483" name="Text Box 42"/>
          <p:cNvSpPr txBox="1">
            <a:spLocks noChangeArrowheads="1"/>
          </p:cNvSpPr>
          <p:nvPr/>
        </p:nvSpPr>
        <p:spPr bwMode="auto">
          <a:xfrm>
            <a:off x="5468938" y="3790950"/>
            <a:ext cx="855662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61484" name="Text Box 43"/>
          <p:cNvSpPr txBox="1">
            <a:spLocks noChangeArrowheads="1"/>
          </p:cNvSpPr>
          <p:nvPr/>
        </p:nvSpPr>
        <p:spPr bwMode="auto">
          <a:xfrm>
            <a:off x="5715000" y="4705350"/>
            <a:ext cx="31242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If 37 is larger than its parent, swap</a:t>
            </a: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25D87E43-2D91-4A08-82D6-47D986EF27BA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60</a:t>
            </a:fld>
            <a:endParaRPr lang="en-US" altLang="en-US" sz="1400"/>
          </a:p>
        </p:txBody>
      </p:sp>
      <p:sp>
        <p:nvSpPr>
          <p:cNvPr id="62467" name="Oval 2"/>
          <p:cNvSpPr>
            <a:spLocks noChangeArrowheads="1"/>
          </p:cNvSpPr>
          <p:nvPr/>
        </p:nvSpPr>
        <p:spPr bwMode="auto">
          <a:xfrm>
            <a:off x="2395538" y="24479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2468" name="Text Box 3"/>
          <p:cNvSpPr txBox="1">
            <a:spLocks noChangeArrowheads="1"/>
          </p:cNvSpPr>
          <p:nvPr/>
        </p:nvSpPr>
        <p:spPr bwMode="auto">
          <a:xfrm>
            <a:off x="2336800" y="256698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62469" name="Oval 4"/>
          <p:cNvSpPr>
            <a:spLocks noChangeArrowheads="1"/>
          </p:cNvSpPr>
          <p:nvPr/>
        </p:nvSpPr>
        <p:spPr bwMode="auto">
          <a:xfrm>
            <a:off x="1370013" y="367347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2470" name="Text Box 5"/>
          <p:cNvSpPr txBox="1">
            <a:spLocks noChangeArrowheads="1"/>
          </p:cNvSpPr>
          <p:nvPr/>
        </p:nvSpPr>
        <p:spPr bwMode="auto">
          <a:xfrm>
            <a:off x="1311275" y="379095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62471" name="Oval 6"/>
          <p:cNvSpPr>
            <a:spLocks noChangeArrowheads="1"/>
          </p:cNvSpPr>
          <p:nvPr/>
        </p:nvSpPr>
        <p:spPr bwMode="auto">
          <a:xfrm>
            <a:off x="685800" y="48990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2472" name="Text Box 7"/>
          <p:cNvSpPr txBox="1">
            <a:spLocks noChangeArrowheads="1"/>
          </p:cNvSpPr>
          <p:nvPr/>
        </p:nvSpPr>
        <p:spPr bwMode="auto">
          <a:xfrm>
            <a:off x="627063" y="501650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62473" name="Oval 8"/>
          <p:cNvSpPr>
            <a:spLocks noChangeArrowheads="1"/>
          </p:cNvSpPr>
          <p:nvPr/>
        </p:nvSpPr>
        <p:spPr bwMode="auto">
          <a:xfrm>
            <a:off x="1711325" y="489743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2474" name="Text Box 9"/>
          <p:cNvSpPr txBox="1">
            <a:spLocks noChangeArrowheads="1"/>
          </p:cNvSpPr>
          <p:nvPr/>
        </p:nvSpPr>
        <p:spPr bwMode="auto">
          <a:xfrm>
            <a:off x="1652588" y="501650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62475" name="Line 10"/>
          <p:cNvSpPr>
            <a:spLocks noChangeShapeType="1"/>
          </p:cNvSpPr>
          <p:nvPr/>
        </p:nvSpPr>
        <p:spPr bwMode="auto">
          <a:xfrm flipH="1">
            <a:off x="1198563" y="437356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2476" name="Line 11"/>
          <p:cNvSpPr>
            <a:spLocks noChangeShapeType="1"/>
          </p:cNvSpPr>
          <p:nvPr/>
        </p:nvSpPr>
        <p:spPr bwMode="auto">
          <a:xfrm>
            <a:off x="1711325" y="437356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2477" name="Oval 12"/>
          <p:cNvSpPr>
            <a:spLocks noChangeArrowheads="1"/>
          </p:cNvSpPr>
          <p:nvPr/>
        </p:nvSpPr>
        <p:spPr bwMode="auto">
          <a:xfrm>
            <a:off x="4448175" y="12223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2478" name="Text Box 13"/>
          <p:cNvSpPr txBox="1">
            <a:spLocks noChangeArrowheads="1"/>
          </p:cNvSpPr>
          <p:nvPr/>
        </p:nvSpPr>
        <p:spPr bwMode="auto">
          <a:xfrm>
            <a:off x="4389438" y="134143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r>
              <a:rPr lang="en-US" altLang="en-US" sz="2400" b="1">
                <a:solidFill>
                  <a:srgbClr val="FF3300"/>
                </a:solidFill>
              </a:rPr>
              <a:t>39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62479" name="Line 14"/>
          <p:cNvSpPr>
            <a:spLocks noChangeShapeType="1"/>
          </p:cNvSpPr>
          <p:nvPr/>
        </p:nvSpPr>
        <p:spPr bwMode="auto">
          <a:xfrm>
            <a:off x="2909888" y="139858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2480" name="Oval 15"/>
          <p:cNvSpPr>
            <a:spLocks noChangeArrowheads="1"/>
          </p:cNvSpPr>
          <p:nvPr/>
        </p:nvSpPr>
        <p:spPr bwMode="auto">
          <a:xfrm>
            <a:off x="3422650" y="36734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2481" name="Line 16"/>
          <p:cNvSpPr>
            <a:spLocks noChangeShapeType="1"/>
          </p:cNvSpPr>
          <p:nvPr/>
        </p:nvSpPr>
        <p:spPr bwMode="auto">
          <a:xfrm flipH="1">
            <a:off x="1882775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2482" name="Line 17"/>
          <p:cNvSpPr>
            <a:spLocks noChangeShapeType="1"/>
          </p:cNvSpPr>
          <p:nvPr/>
        </p:nvSpPr>
        <p:spPr bwMode="auto">
          <a:xfrm>
            <a:off x="2909888" y="314801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2483" name="Oval 18"/>
          <p:cNvSpPr>
            <a:spLocks noChangeArrowheads="1"/>
          </p:cNvSpPr>
          <p:nvPr/>
        </p:nvSpPr>
        <p:spPr bwMode="auto">
          <a:xfrm>
            <a:off x="6500813" y="24479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2484" name="Oval 19"/>
          <p:cNvSpPr>
            <a:spLocks noChangeArrowheads="1"/>
          </p:cNvSpPr>
          <p:nvPr/>
        </p:nvSpPr>
        <p:spPr bwMode="auto">
          <a:xfrm>
            <a:off x="5475288" y="367347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2485" name="Oval 20"/>
          <p:cNvSpPr>
            <a:spLocks noChangeArrowheads="1"/>
          </p:cNvSpPr>
          <p:nvPr/>
        </p:nvSpPr>
        <p:spPr bwMode="auto">
          <a:xfrm>
            <a:off x="7526338" y="36734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2486" name="Text Box 21"/>
          <p:cNvSpPr txBox="1">
            <a:spLocks noChangeArrowheads="1"/>
          </p:cNvSpPr>
          <p:nvPr/>
        </p:nvSpPr>
        <p:spPr bwMode="auto">
          <a:xfrm>
            <a:off x="7467600" y="379095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62487" name="Line 22"/>
          <p:cNvSpPr>
            <a:spLocks noChangeShapeType="1"/>
          </p:cNvSpPr>
          <p:nvPr/>
        </p:nvSpPr>
        <p:spPr bwMode="auto">
          <a:xfrm flipH="1">
            <a:off x="5988050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2488" name="Line 23"/>
          <p:cNvSpPr>
            <a:spLocks noChangeShapeType="1"/>
          </p:cNvSpPr>
          <p:nvPr/>
        </p:nvSpPr>
        <p:spPr bwMode="auto">
          <a:xfrm>
            <a:off x="7013575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2489" name="Line 24"/>
          <p:cNvSpPr>
            <a:spLocks noChangeShapeType="1"/>
          </p:cNvSpPr>
          <p:nvPr/>
        </p:nvSpPr>
        <p:spPr bwMode="auto">
          <a:xfrm flipH="1">
            <a:off x="3079750" y="174783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2490" name="Line 25"/>
          <p:cNvSpPr>
            <a:spLocks noChangeShapeType="1"/>
          </p:cNvSpPr>
          <p:nvPr/>
        </p:nvSpPr>
        <p:spPr bwMode="auto">
          <a:xfrm>
            <a:off x="5132388" y="174783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2491" name="Text Box 26"/>
          <p:cNvSpPr txBox="1">
            <a:spLocks noChangeArrowheads="1"/>
          </p:cNvSpPr>
          <p:nvPr/>
        </p:nvSpPr>
        <p:spPr bwMode="auto">
          <a:xfrm>
            <a:off x="1939925" y="104775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62492" name="Oval 27"/>
          <p:cNvSpPr>
            <a:spLocks noChangeArrowheads="1"/>
          </p:cNvSpPr>
          <p:nvPr/>
        </p:nvSpPr>
        <p:spPr bwMode="auto">
          <a:xfrm>
            <a:off x="3422650" y="367188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2493" name="Text Box 28"/>
          <p:cNvSpPr txBox="1">
            <a:spLocks noChangeArrowheads="1"/>
          </p:cNvSpPr>
          <p:nvPr/>
        </p:nvSpPr>
        <p:spPr bwMode="auto">
          <a:xfrm>
            <a:off x="3370263" y="381000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62494" name="Oval 29"/>
          <p:cNvSpPr>
            <a:spLocks noChangeArrowheads="1"/>
          </p:cNvSpPr>
          <p:nvPr/>
        </p:nvSpPr>
        <p:spPr bwMode="auto">
          <a:xfrm>
            <a:off x="2738438" y="48974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2495" name="Text Box 30"/>
          <p:cNvSpPr txBox="1">
            <a:spLocks noChangeArrowheads="1"/>
          </p:cNvSpPr>
          <p:nvPr/>
        </p:nvSpPr>
        <p:spPr bwMode="auto">
          <a:xfrm>
            <a:off x="2679700" y="501173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62496" name="Oval 31"/>
          <p:cNvSpPr>
            <a:spLocks noChangeArrowheads="1"/>
          </p:cNvSpPr>
          <p:nvPr/>
        </p:nvSpPr>
        <p:spPr bwMode="auto">
          <a:xfrm>
            <a:off x="3763963" y="489426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2497" name="Text Box 32"/>
          <p:cNvSpPr txBox="1">
            <a:spLocks noChangeArrowheads="1"/>
          </p:cNvSpPr>
          <p:nvPr/>
        </p:nvSpPr>
        <p:spPr bwMode="auto">
          <a:xfrm>
            <a:off x="3705225" y="5011738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62498" name="Line 33"/>
          <p:cNvSpPr>
            <a:spLocks noChangeShapeType="1"/>
          </p:cNvSpPr>
          <p:nvPr/>
        </p:nvSpPr>
        <p:spPr bwMode="auto">
          <a:xfrm flipH="1">
            <a:off x="3251200" y="437197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2499" name="Line 34"/>
          <p:cNvSpPr>
            <a:spLocks noChangeShapeType="1"/>
          </p:cNvSpPr>
          <p:nvPr/>
        </p:nvSpPr>
        <p:spPr bwMode="auto">
          <a:xfrm>
            <a:off x="3763963" y="4371975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2500" name="Oval 35"/>
          <p:cNvSpPr>
            <a:spLocks noChangeArrowheads="1"/>
          </p:cNvSpPr>
          <p:nvPr/>
        </p:nvSpPr>
        <p:spPr bwMode="auto">
          <a:xfrm>
            <a:off x="5475288" y="367188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2501" name="Rectangle 36"/>
          <p:cNvSpPr>
            <a:spLocks noGrp="1" noChangeArrowheads="1"/>
          </p:cNvSpPr>
          <p:nvPr>
            <p:ph type="title"/>
          </p:nvPr>
        </p:nvSpPr>
        <p:spPr>
          <a:xfrm>
            <a:off x="457200" y="5715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Enqueue (cont.)</a:t>
            </a:r>
          </a:p>
        </p:txBody>
      </p:sp>
      <p:sp>
        <p:nvSpPr>
          <p:cNvPr id="62502" name="Text Box 37"/>
          <p:cNvSpPr txBox="1">
            <a:spLocks noChangeArrowheads="1"/>
          </p:cNvSpPr>
          <p:nvPr/>
        </p:nvSpPr>
        <p:spPr bwMode="auto">
          <a:xfrm>
            <a:off x="3962400" y="234315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  <p:sp>
        <p:nvSpPr>
          <p:cNvPr id="62503" name="Oval 38"/>
          <p:cNvSpPr>
            <a:spLocks noChangeArrowheads="1"/>
          </p:cNvSpPr>
          <p:nvPr/>
        </p:nvSpPr>
        <p:spPr bwMode="auto">
          <a:xfrm>
            <a:off x="4745038" y="49260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2504" name="Line 39"/>
          <p:cNvSpPr>
            <a:spLocks noChangeShapeType="1"/>
          </p:cNvSpPr>
          <p:nvPr/>
        </p:nvSpPr>
        <p:spPr bwMode="auto">
          <a:xfrm flipH="1">
            <a:off x="5257800" y="4400550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2505" name="Text Box 40"/>
          <p:cNvSpPr txBox="1">
            <a:spLocks noChangeArrowheads="1"/>
          </p:cNvSpPr>
          <p:nvPr/>
        </p:nvSpPr>
        <p:spPr bwMode="auto">
          <a:xfrm>
            <a:off x="6477000" y="2571750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r>
              <a:rPr lang="en-US" altLang="en-US" sz="2400" b="1">
                <a:solidFill>
                  <a:srgbClr val="FF3300"/>
                </a:solidFill>
              </a:rPr>
              <a:t>37</a:t>
            </a:r>
            <a:endParaRPr lang="en-US" altLang="en-US" sz="2400"/>
          </a:p>
        </p:txBody>
      </p:sp>
      <p:sp>
        <p:nvSpPr>
          <p:cNvPr id="62506" name="Text Box 41"/>
          <p:cNvSpPr txBox="1">
            <a:spLocks noChangeArrowheads="1"/>
          </p:cNvSpPr>
          <p:nvPr/>
        </p:nvSpPr>
        <p:spPr bwMode="auto">
          <a:xfrm>
            <a:off x="4708525" y="501015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62507" name="Text Box 42"/>
          <p:cNvSpPr txBox="1">
            <a:spLocks noChangeArrowheads="1"/>
          </p:cNvSpPr>
          <p:nvPr/>
        </p:nvSpPr>
        <p:spPr bwMode="auto">
          <a:xfrm>
            <a:off x="5468938" y="3790950"/>
            <a:ext cx="855662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62508" name="Text Box 43"/>
          <p:cNvSpPr txBox="1">
            <a:spLocks noChangeArrowheads="1"/>
          </p:cNvSpPr>
          <p:nvPr/>
        </p:nvSpPr>
        <p:spPr bwMode="auto">
          <a:xfrm>
            <a:off x="5715000" y="4705350"/>
            <a:ext cx="31242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If 37 is larger than its parent, swap</a:t>
            </a:r>
          </a:p>
        </p:txBody>
      </p:sp>
      <p:sp>
        <p:nvSpPr>
          <p:cNvPr id="62509" name="Text Box 44"/>
          <p:cNvSpPr txBox="1">
            <a:spLocks noChangeArrowheads="1"/>
          </p:cNvSpPr>
          <p:nvPr/>
        </p:nvSpPr>
        <p:spPr bwMode="auto">
          <a:xfrm>
            <a:off x="6172200" y="1352550"/>
            <a:ext cx="2514600" cy="8223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37 &lt; 39, so don’t swap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43B7E15D-B515-4203-A5FC-32EE0041A5D1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61</a:t>
            </a:fld>
            <a:endParaRPr lang="en-US" altLang="en-US" sz="1400"/>
          </a:p>
        </p:txBody>
      </p:sp>
      <p:sp>
        <p:nvSpPr>
          <p:cNvPr id="63491" name="Oval 2"/>
          <p:cNvSpPr>
            <a:spLocks noChangeArrowheads="1"/>
          </p:cNvSpPr>
          <p:nvPr/>
        </p:nvSpPr>
        <p:spPr bwMode="auto">
          <a:xfrm>
            <a:off x="2395538" y="24479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3492" name="Text Box 3"/>
          <p:cNvSpPr txBox="1">
            <a:spLocks noChangeArrowheads="1"/>
          </p:cNvSpPr>
          <p:nvPr/>
        </p:nvSpPr>
        <p:spPr bwMode="auto">
          <a:xfrm>
            <a:off x="2336800" y="256698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63493" name="Oval 4"/>
          <p:cNvSpPr>
            <a:spLocks noChangeArrowheads="1"/>
          </p:cNvSpPr>
          <p:nvPr/>
        </p:nvSpPr>
        <p:spPr bwMode="auto">
          <a:xfrm>
            <a:off x="1370013" y="367347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3494" name="Text Box 5"/>
          <p:cNvSpPr txBox="1">
            <a:spLocks noChangeArrowheads="1"/>
          </p:cNvSpPr>
          <p:nvPr/>
        </p:nvSpPr>
        <p:spPr bwMode="auto">
          <a:xfrm>
            <a:off x="1311275" y="379095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63495" name="Oval 6"/>
          <p:cNvSpPr>
            <a:spLocks noChangeArrowheads="1"/>
          </p:cNvSpPr>
          <p:nvPr/>
        </p:nvSpPr>
        <p:spPr bwMode="auto">
          <a:xfrm>
            <a:off x="685800" y="48990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3496" name="Text Box 7"/>
          <p:cNvSpPr txBox="1">
            <a:spLocks noChangeArrowheads="1"/>
          </p:cNvSpPr>
          <p:nvPr/>
        </p:nvSpPr>
        <p:spPr bwMode="auto">
          <a:xfrm>
            <a:off x="627063" y="501650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63497" name="Oval 8"/>
          <p:cNvSpPr>
            <a:spLocks noChangeArrowheads="1"/>
          </p:cNvSpPr>
          <p:nvPr/>
        </p:nvSpPr>
        <p:spPr bwMode="auto">
          <a:xfrm>
            <a:off x="1711325" y="489743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3498" name="Text Box 9"/>
          <p:cNvSpPr txBox="1">
            <a:spLocks noChangeArrowheads="1"/>
          </p:cNvSpPr>
          <p:nvPr/>
        </p:nvSpPr>
        <p:spPr bwMode="auto">
          <a:xfrm>
            <a:off x="1652588" y="501650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63499" name="Line 10"/>
          <p:cNvSpPr>
            <a:spLocks noChangeShapeType="1"/>
          </p:cNvSpPr>
          <p:nvPr/>
        </p:nvSpPr>
        <p:spPr bwMode="auto">
          <a:xfrm flipH="1">
            <a:off x="1198563" y="437356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3500" name="Line 11"/>
          <p:cNvSpPr>
            <a:spLocks noChangeShapeType="1"/>
          </p:cNvSpPr>
          <p:nvPr/>
        </p:nvSpPr>
        <p:spPr bwMode="auto">
          <a:xfrm>
            <a:off x="1711325" y="437356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3501" name="Oval 12"/>
          <p:cNvSpPr>
            <a:spLocks noChangeArrowheads="1"/>
          </p:cNvSpPr>
          <p:nvPr/>
        </p:nvSpPr>
        <p:spPr bwMode="auto">
          <a:xfrm>
            <a:off x="4448175" y="12223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3502" name="Text Box 13"/>
          <p:cNvSpPr txBox="1">
            <a:spLocks noChangeArrowheads="1"/>
          </p:cNvSpPr>
          <p:nvPr/>
        </p:nvSpPr>
        <p:spPr bwMode="auto">
          <a:xfrm>
            <a:off x="4389438" y="134143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63503" name="Line 14"/>
          <p:cNvSpPr>
            <a:spLocks noChangeShapeType="1"/>
          </p:cNvSpPr>
          <p:nvPr/>
        </p:nvSpPr>
        <p:spPr bwMode="auto">
          <a:xfrm>
            <a:off x="2909888" y="139858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3504" name="Oval 15"/>
          <p:cNvSpPr>
            <a:spLocks noChangeArrowheads="1"/>
          </p:cNvSpPr>
          <p:nvPr/>
        </p:nvSpPr>
        <p:spPr bwMode="auto">
          <a:xfrm>
            <a:off x="3422650" y="36734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3505" name="Line 16"/>
          <p:cNvSpPr>
            <a:spLocks noChangeShapeType="1"/>
          </p:cNvSpPr>
          <p:nvPr/>
        </p:nvSpPr>
        <p:spPr bwMode="auto">
          <a:xfrm flipH="1">
            <a:off x="1882775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3506" name="Line 17"/>
          <p:cNvSpPr>
            <a:spLocks noChangeShapeType="1"/>
          </p:cNvSpPr>
          <p:nvPr/>
        </p:nvSpPr>
        <p:spPr bwMode="auto">
          <a:xfrm>
            <a:off x="2909888" y="314801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3507" name="Oval 18"/>
          <p:cNvSpPr>
            <a:spLocks noChangeArrowheads="1"/>
          </p:cNvSpPr>
          <p:nvPr/>
        </p:nvSpPr>
        <p:spPr bwMode="auto">
          <a:xfrm>
            <a:off x="6500813" y="24479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3508" name="Oval 19"/>
          <p:cNvSpPr>
            <a:spLocks noChangeArrowheads="1"/>
          </p:cNvSpPr>
          <p:nvPr/>
        </p:nvSpPr>
        <p:spPr bwMode="auto">
          <a:xfrm>
            <a:off x="5475288" y="367347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3509" name="Oval 20"/>
          <p:cNvSpPr>
            <a:spLocks noChangeArrowheads="1"/>
          </p:cNvSpPr>
          <p:nvPr/>
        </p:nvSpPr>
        <p:spPr bwMode="auto">
          <a:xfrm>
            <a:off x="7526338" y="36734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3510" name="Text Box 21"/>
          <p:cNvSpPr txBox="1">
            <a:spLocks noChangeArrowheads="1"/>
          </p:cNvSpPr>
          <p:nvPr/>
        </p:nvSpPr>
        <p:spPr bwMode="auto">
          <a:xfrm>
            <a:off x="7467600" y="379095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63511" name="Line 22"/>
          <p:cNvSpPr>
            <a:spLocks noChangeShapeType="1"/>
          </p:cNvSpPr>
          <p:nvPr/>
        </p:nvSpPr>
        <p:spPr bwMode="auto">
          <a:xfrm flipH="1">
            <a:off x="5988050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3512" name="Line 23"/>
          <p:cNvSpPr>
            <a:spLocks noChangeShapeType="1"/>
          </p:cNvSpPr>
          <p:nvPr/>
        </p:nvSpPr>
        <p:spPr bwMode="auto">
          <a:xfrm>
            <a:off x="7013575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3513" name="Line 24"/>
          <p:cNvSpPr>
            <a:spLocks noChangeShapeType="1"/>
          </p:cNvSpPr>
          <p:nvPr/>
        </p:nvSpPr>
        <p:spPr bwMode="auto">
          <a:xfrm flipH="1">
            <a:off x="3079750" y="174783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3514" name="Line 25"/>
          <p:cNvSpPr>
            <a:spLocks noChangeShapeType="1"/>
          </p:cNvSpPr>
          <p:nvPr/>
        </p:nvSpPr>
        <p:spPr bwMode="auto">
          <a:xfrm>
            <a:off x="5132388" y="174783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3515" name="Text Box 26"/>
          <p:cNvSpPr txBox="1">
            <a:spLocks noChangeArrowheads="1"/>
          </p:cNvSpPr>
          <p:nvPr/>
        </p:nvSpPr>
        <p:spPr bwMode="auto">
          <a:xfrm>
            <a:off x="1939925" y="104775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63516" name="Oval 27"/>
          <p:cNvSpPr>
            <a:spLocks noChangeArrowheads="1"/>
          </p:cNvSpPr>
          <p:nvPr/>
        </p:nvSpPr>
        <p:spPr bwMode="auto">
          <a:xfrm>
            <a:off x="3422650" y="367188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3517" name="Text Box 28"/>
          <p:cNvSpPr txBox="1">
            <a:spLocks noChangeArrowheads="1"/>
          </p:cNvSpPr>
          <p:nvPr/>
        </p:nvSpPr>
        <p:spPr bwMode="auto">
          <a:xfrm>
            <a:off x="3370263" y="381000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63518" name="Oval 29"/>
          <p:cNvSpPr>
            <a:spLocks noChangeArrowheads="1"/>
          </p:cNvSpPr>
          <p:nvPr/>
        </p:nvSpPr>
        <p:spPr bwMode="auto">
          <a:xfrm>
            <a:off x="2738438" y="48974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3519" name="Text Box 30"/>
          <p:cNvSpPr txBox="1">
            <a:spLocks noChangeArrowheads="1"/>
          </p:cNvSpPr>
          <p:nvPr/>
        </p:nvSpPr>
        <p:spPr bwMode="auto">
          <a:xfrm>
            <a:off x="2679700" y="501173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63520" name="Oval 31"/>
          <p:cNvSpPr>
            <a:spLocks noChangeArrowheads="1"/>
          </p:cNvSpPr>
          <p:nvPr/>
        </p:nvSpPr>
        <p:spPr bwMode="auto">
          <a:xfrm>
            <a:off x="3763963" y="489426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3521" name="Text Box 32"/>
          <p:cNvSpPr txBox="1">
            <a:spLocks noChangeArrowheads="1"/>
          </p:cNvSpPr>
          <p:nvPr/>
        </p:nvSpPr>
        <p:spPr bwMode="auto">
          <a:xfrm>
            <a:off x="3705225" y="5011738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63522" name="Line 33"/>
          <p:cNvSpPr>
            <a:spLocks noChangeShapeType="1"/>
          </p:cNvSpPr>
          <p:nvPr/>
        </p:nvSpPr>
        <p:spPr bwMode="auto">
          <a:xfrm flipH="1">
            <a:off x="3251200" y="437197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3523" name="Line 34"/>
          <p:cNvSpPr>
            <a:spLocks noChangeShapeType="1"/>
          </p:cNvSpPr>
          <p:nvPr/>
        </p:nvSpPr>
        <p:spPr bwMode="auto">
          <a:xfrm>
            <a:off x="3763963" y="4371975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3524" name="Oval 35"/>
          <p:cNvSpPr>
            <a:spLocks noChangeArrowheads="1"/>
          </p:cNvSpPr>
          <p:nvPr/>
        </p:nvSpPr>
        <p:spPr bwMode="auto">
          <a:xfrm>
            <a:off x="5475288" y="367188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3525" name="Rectangle 36"/>
          <p:cNvSpPr>
            <a:spLocks noGrp="1" noChangeArrowheads="1"/>
          </p:cNvSpPr>
          <p:nvPr>
            <p:ph type="title"/>
          </p:nvPr>
        </p:nvSpPr>
        <p:spPr>
          <a:xfrm>
            <a:off x="457200" y="5715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Enqueue (cont.)</a:t>
            </a:r>
          </a:p>
        </p:txBody>
      </p:sp>
      <p:sp>
        <p:nvSpPr>
          <p:cNvPr id="63526" name="Text Box 37"/>
          <p:cNvSpPr txBox="1">
            <a:spLocks noChangeArrowheads="1"/>
          </p:cNvSpPr>
          <p:nvPr/>
        </p:nvSpPr>
        <p:spPr bwMode="auto">
          <a:xfrm>
            <a:off x="3962400" y="234315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  <p:sp>
        <p:nvSpPr>
          <p:cNvPr id="63527" name="Oval 38"/>
          <p:cNvSpPr>
            <a:spLocks noChangeArrowheads="1"/>
          </p:cNvSpPr>
          <p:nvPr/>
        </p:nvSpPr>
        <p:spPr bwMode="auto">
          <a:xfrm>
            <a:off x="4745038" y="49260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3528" name="Line 39"/>
          <p:cNvSpPr>
            <a:spLocks noChangeShapeType="1"/>
          </p:cNvSpPr>
          <p:nvPr/>
        </p:nvSpPr>
        <p:spPr bwMode="auto">
          <a:xfrm flipH="1">
            <a:off x="5257800" y="4400550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3529" name="Text Box 40"/>
          <p:cNvSpPr txBox="1">
            <a:spLocks noChangeArrowheads="1"/>
          </p:cNvSpPr>
          <p:nvPr/>
        </p:nvSpPr>
        <p:spPr bwMode="auto">
          <a:xfrm>
            <a:off x="6477000" y="2571750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37</a:t>
            </a:r>
            <a:endParaRPr lang="en-US" altLang="en-US" sz="2400"/>
          </a:p>
        </p:txBody>
      </p:sp>
      <p:sp>
        <p:nvSpPr>
          <p:cNvPr id="63530" name="Text Box 41"/>
          <p:cNvSpPr txBox="1">
            <a:spLocks noChangeArrowheads="1"/>
          </p:cNvSpPr>
          <p:nvPr/>
        </p:nvSpPr>
        <p:spPr bwMode="auto">
          <a:xfrm>
            <a:off x="4708525" y="501015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63531" name="Text Box 42"/>
          <p:cNvSpPr txBox="1">
            <a:spLocks noChangeArrowheads="1"/>
          </p:cNvSpPr>
          <p:nvPr/>
        </p:nvSpPr>
        <p:spPr bwMode="auto">
          <a:xfrm>
            <a:off x="5468938" y="3790950"/>
            <a:ext cx="855662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63532" name="Text Box 43"/>
          <p:cNvSpPr txBox="1">
            <a:spLocks noChangeArrowheads="1"/>
          </p:cNvSpPr>
          <p:nvPr/>
        </p:nvSpPr>
        <p:spPr bwMode="auto">
          <a:xfrm>
            <a:off x="5715000" y="4933950"/>
            <a:ext cx="3276600" cy="466725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The result is a heap!</a:t>
            </a: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D4C5A1DC-3830-408E-B3D6-A0DCEA9ABC17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62</a:t>
            </a:fld>
            <a:endParaRPr lang="en-US" altLang="en-US" sz="1400"/>
          </a:p>
        </p:txBody>
      </p:sp>
      <p:sp>
        <p:nvSpPr>
          <p:cNvPr id="64515" name="Oval 2"/>
          <p:cNvSpPr>
            <a:spLocks noChangeArrowheads="1"/>
          </p:cNvSpPr>
          <p:nvPr/>
        </p:nvSpPr>
        <p:spPr bwMode="auto">
          <a:xfrm>
            <a:off x="2395538" y="24288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4516" name="Text Box 3"/>
          <p:cNvSpPr txBox="1">
            <a:spLocks noChangeArrowheads="1"/>
          </p:cNvSpPr>
          <p:nvPr/>
        </p:nvSpPr>
        <p:spPr bwMode="auto">
          <a:xfrm>
            <a:off x="2336800" y="25479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64517" name="Oval 4"/>
          <p:cNvSpPr>
            <a:spLocks noChangeArrowheads="1"/>
          </p:cNvSpPr>
          <p:nvPr/>
        </p:nvSpPr>
        <p:spPr bwMode="auto">
          <a:xfrm>
            <a:off x="1370013" y="365442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4518" name="Text Box 5"/>
          <p:cNvSpPr txBox="1">
            <a:spLocks noChangeArrowheads="1"/>
          </p:cNvSpPr>
          <p:nvPr/>
        </p:nvSpPr>
        <p:spPr bwMode="auto">
          <a:xfrm>
            <a:off x="1311275" y="377190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64519" name="Oval 6"/>
          <p:cNvSpPr>
            <a:spLocks noChangeArrowheads="1"/>
          </p:cNvSpPr>
          <p:nvPr/>
        </p:nvSpPr>
        <p:spPr bwMode="auto">
          <a:xfrm>
            <a:off x="685800" y="48799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4520" name="Text Box 7"/>
          <p:cNvSpPr txBox="1">
            <a:spLocks noChangeArrowheads="1"/>
          </p:cNvSpPr>
          <p:nvPr/>
        </p:nvSpPr>
        <p:spPr bwMode="auto">
          <a:xfrm>
            <a:off x="627063" y="499745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64521" name="Oval 8"/>
          <p:cNvSpPr>
            <a:spLocks noChangeArrowheads="1"/>
          </p:cNvSpPr>
          <p:nvPr/>
        </p:nvSpPr>
        <p:spPr bwMode="auto">
          <a:xfrm>
            <a:off x="1711325" y="48783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4522" name="Text Box 9"/>
          <p:cNvSpPr txBox="1">
            <a:spLocks noChangeArrowheads="1"/>
          </p:cNvSpPr>
          <p:nvPr/>
        </p:nvSpPr>
        <p:spPr bwMode="auto">
          <a:xfrm>
            <a:off x="1652588" y="499745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64523" name="Line 10"/>
          <p:cNvSpPr>
            <a:spLocks noChangeShapeType="1"/>
          </p:cNvSpPr>
          <p:nvPr/>
        </p:nvSpPr>
        <p:spPr bwMode="auto">
          <a:xfrm flipH="1">
            <a:off x="1198563" y="43545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4524" name="Line 11"/>
          <p:cNvSpPr>
            <a:spLocks noChangeShapeType="1"/>
          </p:cNvSpPr>
          <p:nvPr/>
        </p:nvSpPr>
        <p:spPr bwMode="auto">
          <a:xfrm>
            <a:off x="1711325" y="43545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4525" name="Oval 12"/>
          <p:cNvSpPr>
            <a:spLocks noChangeArrowheads="1"/>
          </p:cNvSpPr>
          <p:nvPr/>
        </p:nvSpPr>
        <p:spPr bwMode="auto">
          <a:xfrm>
            <a:off x="4448175" y="12033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4526" name="Text Box 13"/>
          <p:cNvSpPr txBox="1">
            <a:spLocks noChangeArrowheads="1"/>
          </p:cNvSpPr>
          <p:nvPr/>
        </p:nvSpPr>
        <p:spPr bwMode="auto">
          <a:xfrm>
            <a:off x="4389438" y="132238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64527" name="Line 14"/>
          <p:cNvSpPr>
            <a:spLocks noChangeShapeType="1"/>
          </p:cNvSpPr>
          <p:nvPr/>
        </p:nvSpPr>
        <p:spPr bwMode="auto">
          <a:xfrm>
            <a:off x="2909888" y="137953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4528" name="Oval 15"/>
          <p:cNvSpPr>
            <a:spLocks noChangeArrowheads="1"/>
          </p:cNvSpPr>
          <p:nvPr/>
        </p:nvSpPr>
        <p:spPr bwMode="auto">
          <a:xfrm>
            <a:off x="3422650" y="36544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4529" name="Line 16"/>
          <p:cNvSpPr>
            <a:spLocks noChangeShapeType="1"/>
          </p:cNvSpPr>
          <p:nvPr/>
        </p:nvSpPr>
        <p:spPr bwMode="auto">
          <a:xfrm flipH="1">
            <a:off x="1882775" y="31289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4530" name="Line 17"/>
          <p:cNvSpPr>
            <a:spLocks noChangeShapeType="1"/>
          </p:cNvSpPr>
          <p:nvPr/>
        </p:nvSpPr>
        <p:spPr bwMode="auto">
          <a:xfrm>
            <a:off x="2909888" y="312896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4531" name="Oval 18"/>
          <p:cNvSpPr>
            <a:spLocks noChangeArrowheads="1"/>
          </p:cNvSpPr>
          <p:nvPr/>
        </p:nvSpPr>
        <p:spPr bwMode="auto">
          <a:xfrm>
            <a:off x="6500813" y="24288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4532" name="Oval 19"/>
          <p:cNvSpPr>
            <a:spLocks noChangeArrowheads="1"/>
          </p:cNvSpPr>
          <p:nvPr/>
        </p:nvSpPr>
        <p:spPr bwMode="auto">
          <a:xfrm>
            <a:off x="5475288" y="365442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4533" name="Oval 20"/>
          <p:cNvSpPr>
            <a:spLocks noChangeArrowheads="1"/>
          </p:cNvSpPr>
          <p:nvPr/>
        </p:nvSpPr>
        <p:spPr bwMode="auto">
          <a:xfrm>
            <a:off x="7526338" y="36544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4534" name="Text Box 21"/>
          <p:cNvSpPr txBox="1">
            <a:spLocks noChangeArrowheads="1"/>
          </p:cNvSpPr>
          <p:nvPr/>
        </p:nvSpPr>
        <p:spPr bwMode="auto">
          <a:xfrm>
            <a:off x="7467600" y="37719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64535" name="Line 22"/>
          <p:cNvSpPr>
            <a:spLocks noChangeShapeType="1"/>
          </p:cNvSpPr>
          <p:nvPr/>
        </p:nvSpPr>
        <p:spPr bwMode="auto">
          <a:xfrm flipH="1">
            <a:off x="5988050" y="31289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4536" name="Line 23"/>
          <p:cNvSpPr>
            <a:spLocks noChangeShapeType="1"/>
          </p:cNvSpPr>
          <p:nvPr/>
        </p:nvSpPr>
        <p:spPr bwMode="auto">
          <a:xfrm>
            <a:off x="7013575" y="31289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4537" name="Line 24"/>
          <p:cNvSpPr>
            <a:spLocks noChangeShapeType="1"/>
          </p:cNvSpPr>
          <p:nvPr/>
        </p:nvSpPr>
        <p:spPr bwMode="auto">
          <a:xfrm flipH="1">
            <a:off x="3079750" y="172878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4538" name="Line 25"/>
          <p:cNvSpPr>
            <a:spLocks noChangeShapeType="1"/>
          </p:cNvSpPr>
          <p:nvPr/>
        </p:nvSpPr>
        <p:spPr bwMode="auto">
          <a:xfrm>
            <a:off x="5132388" y="172878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4539" name="Text Box 26"/>
          <p:cNvSpPr txBox="1">
            <a:spLocks noChangeArrowheads="1"/>
          </p:cNvSpPr>
          <p:nvPr/>
        </p:nvSpPr>
        <p:spPr bwMode="auto">
          <a:xfrm>
            <a:off x="1939925" y="102870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64540" name="Oval 27"/>
          <p:cNvSpPr>
            <a:spLocks noChangeArrowheads="1"/>
          </p:cNvSpPr>
          <p:nvPr/>
        </p:nvSpPr>
        <p:spPr bwMode="auto">
          <a:xfrm>
            <a:off x="3422650" y="365283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4541" name="Text Box 28"/>
          <p:cNvSpPr txBox="1">
            <a:spLocks noChangeArrowheads="1"/>
          </p:cNvSpPr>
          <p:nvPr/>
        </p:nvSpPr>
        <p:spPr bwMode="auto">
          <a:xfrm>
            <a:off x="3370263" y="379095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64542" name="Oval 29"/>
          <p:cNvSpPr>
            <a:spLocks noChangeArrowheads="1"/>
          </p:cNvSpPr>
          <p:nvPr/>
        </p:nvSpPr>
        <p:spPr bwMode="auto">
          <a:xfrm>
            <a:off x="2738438" y="48783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4543" name="Text Box 30"/>
          <p:cNvSpPr txBox="1">
            <a:spLocks noChangeArrowheads="1"/>
          </p:cNvSpPr>
          <p:nvPr/>
        </p:nvSpPr>
        <p:spPr bwMode="auto">
          <a:xfrm>
            <a:off x="2679700" y="499268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64544" name="Oval 31"/>
          <p:cNvSpPr>
            <a:spLocks noChangeArrowheads="1"/>
          </p:cNvSpPr>
          <p:nvPr/>
        </p:nvSpPr>
        <p:spPr bwMode="auto">
          <a:xfrm>
            <a:off x="3763963" y="48752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4545" name="Text Box 32"/>
          <p:cNvSpPr txBox="1">
            <a:spLocks noChangeArrowheads="1"/>
          </p:cNvSpPr>
          <p:nvPr/>
        </p:nvSpPr>
        <p:spPr bwMode="auto">
          <a:xfrm>
            <a:off x="3705225" y="4992688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64546" name="Line 33"/>
          <p:cNvSpPr>
            <a:spLocks noChangeShapeType="1"/>
          </p:cNvSpPr>
          <p:nvPr/>
        </p:nvSpPr>
        <p:spPr bwMode="auto">
          <a:xfrm flipH="1">
            <a:off x="3251200" y="435292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4547" name="Line 34"/>
          <p:cNvSpPr>
            <a:spLocks noChangeShapeType="1"/>
          </p:cNvSpPr>
          <p:nvPr/>
        </p:nvSpPr>
        <p:spPr bwMode="auto">
          <a:xfrm>
            <a:off x="3763963" y="4352925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4548" name="Oval 35"/>
          <p:cNvSpPr>
            <a:spLocks noChangeArrowheads="1"/>
          </p:cNvSpPr>
          <p:nvPr/>
        </p:nvSpPr>
        <p:spPr bwMode="auto">
          <a:xfrm>
            <a:off x="5475288" y="365283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4549" name="Rectangle 36"/>
          <p:cNvSpPr>
            <a:spLocks noGrp="1" noChangeArrowheads="1"/>
          </p:cNvSpPr>
          <p:nvPr>
            <p:ph type="title"/>
          </p:nvPr>
        </p:nvSpPr>
        <p:spPr>
          <a:xfrm>
            <a:off x="457200" y="3810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Enqueue (cont.)</a:t>
            </a:r>
          </a:p>
        </p:txBody>
      </p:sp>
      <p:sp>
        <p:nvSpPr>
          <p:cNvPr id="64550" name="Text Box 37"/>
          <p:cNvSpPr txBox="1">
            <a:spLocks noChangeArrowheads="1"/>
          </p:cNvSpPr>
          <p:nvPr/>
        </p:nvSpPr>
        <p:spPr bwMode="auto">
          <a:xfrm>
            <a:off x="3962400" y="23241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  <p:sp>
        <p:nvSpPr>
          <p:cNvPr id="64551" name="Oval 38"/>
          <p:cNvSpPr>
            <a:spLocks noChangeArrowheads="1"/>
          </p:cNvSpPr>
          <p:nvPr/>
        </p:nvSpPr>
        <p:spPr bwMode="auto">
          <a:xfrm>
            <a:off x="4745038" y="490696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4552" name="Line 39"/>
          <p:cNvSpPr>
            <a:spLocks noChangeShapeType="1"/>
          </p:cNvSpPr>
          <p:nvPr/>
        </p:nvSpPr>
        <p:spPr bwMode="auto">
          <a:xfrm flipH="1">
            <a:off x="5257800" y="4381500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4553" name="Text Box 40"/>
          <p:cNvSpPr txBox="1">
            <a:spLocks noChangeArrowheads="1"/>
          </p:cNvSpPr>
          <p:nvPr/>
        </p:nvSpPr>
        <p:spPr bwMode="auto">
          <a:xfrm>
            <a:off x="6477000" y="2552700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37</a:t>
            </a:r>
            <a:endParaRPr lang="en-US" altLang="en-US" sz="2400"/>
          </a:p>
        </p:txBody>
      </p:sp>
      <p:sp>
        <p:nvSpPr>
          <p:cNvPr id="64554" name="Text Box 41"/>
          <p:cNvSpPr txBox="1">
            <a:spLocks noChangeArrowheads="1"/>
          </p:cNvSpPr>
          <p:nvPr/>
        </p:nvSpPr>
        <p:spPr bwMode="auto">
          <a:xfrm>
            <a:off x="4708525" y="499110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64555" name="Text Box 42"/>
          <p:cNvSpPr txBox="1">
            <a:spLocks noChangeArrowheads="1"/>
          </p:cNvSpPr>
          <p:nvPr/>
        </p:nvSpPr>
        <p:spPr bwMode="auto">
          <a:xfrm>
            <a:off x="5468938" y="3771900"/>
            <a:ext cx="855662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64556" name="Text Box 44"/>
          <p:cNvSpPr txBox="1">
            <a:spLocks noChangeArrowheads="1"/>
          </p:cNvSpPr>
          <p:nvPr/>
        </p:nvSpPr>
        <p:spPr bwMode="auto">
          <a:xfrm>
            <a:off x="5715000" y="4457700"/>
            <a:ext cx="3352800" cy="156210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Enqueue uses a loop, and it is a </a:t>
            </a:r>
            <a:r>
              <a:rPr lang="en-US" altLang="en-US" sz="2400" b="1" u="sng">
                <a:solidFill>
                  <a:srgbClr val="FF3300"/>
                </a:solidFill>
              </a:rPr>
              <a:t>O</a:t>
            </a:r>
            <a:r>
              <a:rPr lang="en-US" altLang="en-US" sz="2400" b="1" u="sng">
                <a:solidFill>
                  <a:srgbClr val="FF3300"/>
                </a:solidFill>
                <a:sym typeface="Symbol" panose="05050102010706020507" pitchFamily="18" charset="2"/>
              </a:rPr>
              <a:t>( lg n )</a:t>
            </a:r>
            <a:r>
              <a:rPr lang="en-US" altLang="en-US" sz="2400" b="1">
                <a:solidFill>
                  <a:srgbClr val="FF3300"/>
                </a:solidFill>
                <a:sym typeface="Symbol" panose="05050102010706020507" pitchFamily="18" charset="2"/>
              </a:rPr>
              <a:t> operation (swapping in reverse) </a:t>
            </a: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Oval 41"/>
          <p:cNvSpPr>
            <a:spLocks noChangeArrowheads="1"/>
          </p:cNvSpPr>
          <p:nvPr/>
        </p:nvSpPr>
        <p:spPr bwMode="auto">
          <a:xfrm>
            <a:off x="4745038" y="489940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0178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A1A5AE20-4858-4213-A11C-7F74C4466021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63</a:t>
            </a:fld>
            <a:endParaRPr lang="en-US" altLang="en-US" sz="1400"/>
          </a:p>
        </p:txBody>
      </p:sp>
      <p:sp>
        <p:nvSpPr>
          <p:cNvPr id="50179" name="Oval 2"/>
          <p:cNvSpPr>
            <a:spLocks noChangeArrowheads="1"/>
          </p:cNvSpPr>
          <p:nvPr/>
        </p:nvSpPr>
        <p:spPr bwMode="auto">
          <a:xfrm>
            <a:off x="2395538" y="242131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0180" name="Text Box 3"/>
          <p:cNvSpPr txBox="1">
            <a:spLocks noChangeArrowheads="1"/>
          </p:cNvSpPr>
          <p:nvPr/>
        </p:nvSpPr>
        <p:spPr bwMode="auto">
          <a:xfrm>
            <a:off x="2336800" y="254037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50181" name="Oval 4"/>
          <p:cNvSpPr>
            <a:spLocks noChangeArrowheads="1"/>
          </p:cNvSpPr>
          <p:nvPr/>
        </p:nvSpPr>
        <p:spPr bwMode="auto">
          <a:xfrm>
            <a:off x="1370013" y="364686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0182" name="Text Box 5"/>
          <p:cNvSpPr txBox="1">
            <a:spLocks noChangeArrowheads="1"/>
          </p:cNvSpPr>
          <p:nvPr/>
        </p:nvSpPr>
        <p:spPr bwMode="auto">
          <a:xfrm>
            <a:off x="1311275" y="376434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50183" name="Oval 6"/>
          <p:cNvSpPr>
            <a:spLocks noChangeArrowheads="1"/>
          </p:cNvSpPr>
          <p:nvPr/>
        </p:nvSpPr>
        <p:spPr bwMode="auto">
          <a:xfrm>
            <a:off x="685800" y="487241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0184" name="Text Box 7"/>
          <p:cNvSpPr txBox="1">
            <a:spLocks noChangeArrowheads="1"/>
          </p:cNvSpPr>
          <p:nvPr/>
        </p:nvSpPr>
        <p:spPr bwMode="auto">
          <a:xfrm>
            <a:off x="627063" y="498989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50185" name="Oval 8"/>
          <p:cNvSpPr>
            <a:spLocks noChangeArrowheads="1"/>
          </p:cNvSpPr>
          <p:nvPr/>
        </p:nvSpPr>
        <p:spPr bwMode="auto">
          <a:xfrm>
            <a:off x="1711325" y="487082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0186" name="Text Box 9"/>
          <p:cNvSpPr txBox="1">
            <a:spLocks noChangeArrowheads="1"/>
          </p:cNvSpPr>
          <p:nvPr/>
        </p:nvSpPr>
        <p:spPr bwMode="auto">
          <a:xfrm>
            <a:off x="1652588" y="498989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50187" name="Line 10"/>
          <p:cNvSpPr>
            <a:spLocks noChangeShapeType="1"/>
          </p:cNvSpPr>
          <p:nvPr/>
        </p:nvSpPr>
        <p:spPr bwMode="auto">
          <a:xfrm flipH="1">
            <a:off x="1198563" y="434695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0188" name="Line 11"/>
          <p:cNvSpPr>
            <a:spLocks noChangeShapeType="1"/>
          </p:cNvSpPr>
          <p:nvPr/>
        </p:nvSpPr>
        <p:spPr bwMode="auto">
          <a:xfrm>
            <a:off x="1711325" y="434695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0189" name="Oval 12"/>
          <p:cNvSpPr>
            <a:spLocks noChangeArrowheads="1"/>
          </p:cNvSpPr>
          <p:nvPr/>
        </p:nvSpPr>
        <p:spPr bwMode="auto">
          <a:xfrm>
            <a:off x="4448175" y="119576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0190" name="Text Box 13"/>
          <p:cNvSpPr txBox="1">
            <a:spLocks noChangeArrowheads="1"/>
          </p:cNvSpPr>
          <p:nvPr/>
        </p:nvSpPr>
        <p:spPr bwMode="auto">
          <a:xfrm>
            <a:off x="4389438" y="131482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50191" name="Line 14"/>
          <p:cNvSpPr>
            <a:spLocks noChangeShapeType="1"/>
          </p:cNvSpPr>
          <p:nvPr/>
        </p:nvSpPr>
        <p:spPr bwMode="auto">
          <a:xfrm>
            <a:off x="2909888" y="137197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0192" name="Oval 15"/>
          <p:cNvSpPr>
            <a:spLocks noChangeArrowheads="1"/>
          </p:cNvSpPr>
          <p:nvPr/>
        </p:nvSpPr>
        <p:spPr bwMode="auto">
          <a:xfrm>
            <a:off x="3422650" y="364686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0193" name="Line 16"/>
          <p:cNvSpPr>
            <a:spLocks noChangeShapeType="1"/>
          </p:cNvSpPr>
          <p:nvPr/>
        </p:nvSpPr>
        <p:spPr bwMode="auto">
          <a:xfrm flipH="1">
            <a:off x="1882775" y="312140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0194" name="Line 17"/>
          <p:cNvSpPr>
            <a:spLocks noChangeShapeType="1"/>
          </p:cNvSpPr>
          <p:nvPr/>
        </p:nvSpPr>
        <p:spPr bwMode="auto">
          <a:xfrm>
            <a:off x="2909888" y="312140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0195" name="Oval 18"/>
          <p:cNvSpPr>
            <a:spLocks noChangeArrowheads="1"/>
          </p:cNvSpPr>
          <p:nvPr/>
        </p:nvSpPr>
        <p:spPr bwMode="auto">
          <a:xfrm>
            <a:off x="6500813" y="242131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0196" name="Text Box 19"/>
          <p:cNvSpPr txBox="1">
            <a:spLocks noChangeArrowheads="1"/>
          </p:cNvSpPr>
          <p:nvPr/>
        </p:nvSpPr>
        <p:spPr bwMode="auto">
          <a:xfrm>
            <a:off x="6442075" y="254037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50197" name="Oval 20"/>
          <p:cNvSpPr>
            <a:spLocks noChangeArrowheads="1"/>
          </p:cNvSpPr>
          <p:nvPr/>
        </p:nvSpPr>
        <p:spPr bwMode="auto">
          <a:xfrm>
            <a:off x="5475288" y="364686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0198" name="Oval 21"/>
          <p:cNvSpPr>
            <a:spLocks noChangeArrowheads="1"/>
          </p:cNvSpPr>
          <p:nvPr/>
        </p:nvSpPr>
        <p:spPr bwMode="auto">
          <a:xfrm>
            <a:off x="7526338" y="364686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0199" name="Text Box 22"/>
          <p:cNvSpPr txBox="1">
            <a:spLocks noChangeArrowheads="1"/>
          </p:cNvSpPr>
          <p:nvPr/>
        </p:nvSpPr>
        <p:spPr bwMode="auto">
          <a:xfrm>
            <a:off x="7467600" y="376434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50200" name="Line 23"/>
          <p:cNvSpPr>
            <a:spLocks noChangeShapeType="1"/>
          </p:cNvSpPr>
          <p:nvPr/>
        </p:nvSpPr>
        <p:spPr bwMode="auto">
          <a:xfrm flipH="1">
            <a:off x="5988050" y="312140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0201" name="Line 24"/>
          <p:cNvSpPr>
            <a:spLocks noChangeShapeType="1"/>
          </p:cNvSpPr>
          <p:nvPr/>
        </p:nvSpPr>
        <p:spPr bwMode="auto">
          <a:xfrm>
            <a:off x="7013575" y="312140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0202" name="Line 25"/>
          <p:cNvSpPr>
            <a:spLocks noChangeShapeType="1"/>
          </p:cNvSpPr>
          <p:nvPr/>
        </p:nvSpPr>
        <p:spPr bwMode="auto">
          <a:xfrm flipH="1">
            <a:off x="3079750" y="172122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0203" name="Line 26"/>
          <p:cNvSpPr>
            <a:spLocks noChangeShapeType="1"/>
          </p:cNvSpPr>
          <p:nvPr/>
        </p:nvSpPr>
        <p:spPr bwMode="auto">
          <a:xfrm>
            <a:off x="5132388" y="172122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0204" name="Text Box 27"/>
          <p:cNvSpPr txBox="1">
            <a:spLocks noChangeArrowheads="1"/>
          </p:cNvSpPr>
          <p:nvPr/>
        </p:nvSpPr>
        <p:spPr bwMode="auto">
          <a:xfrm>
            <a:off x="1939925" y="102114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50205" name="Oval 28"/>
          <p:cNvSpPr>
            <a:spLocks noChangeArrowheads="1"/>
          </p:cNvSpPr>
          <p:nvPr/>
        </p:nvSpPr>
        <p:spPr bwMode="auto">
          <a:xfrm>
            <a:off x="3422650" y="364527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0206" name="Text Box 29"/>
          <p:cNvSpPr txBox="1">
            <a:spLocks noChangeArrowheads="1"/>
          </p:cNvSpPr>
          <p:nvPr/>
        </p:nvSpPr>
        <p:spPr bwMode="auto">
          <a:xfrm>
            <a:off x="3370263" y="378339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50207" name="Oval 30"/>
          <p:cNvSpPr>
            <a:spLocks noChangeArrowheads="1"/>
          </p:cNvSpPr>
          <p:nvPr/>
        </p:nvSpPr>
        <p:spPr bwMode="auto">
          <a:xfrm>
            <a:off x="2738438" y="487082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0208" name="Text Box 31"/>
          <p:cNvSpPr txBox="1">
            <a:spLocks noChangeArrowheads="1"/>
          </p:cNvSpPr>
          <p:nvPr/>
        </p:nvSpPr>
        <p:spPr bwMode="auto">
          <a:xfrm>
            <a:off x="2679700" y="498512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50209" name="Oval 32"/>
          <p:cNvSpPr>
            <a:spLocks noChangeArrowheads="1"/>
          </p:cNvSpPr>
          <p:nvPr/>
        </p:nvSpPr>
        <p:spPr bwMode="auto">
          <a:xfrm>
            <a:off x="3763963" y="486765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0210" name="Text Box 33"/>
          <p:cNvSpPr txBox="1">
            <a:spLocks noChangeArrowheads="1"/>
          </p:cNvSpPr>
          <p:nvPr/>
        </p:nvSpPr>
        <p:spPr bwMode="auto">
          <a:xfrm>
            <a:off x="3705225" y="4985128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50211" name="Line 34"/>
          <p:cNvSpPr>
            <a:spLocks noChangeShapeType="1"/>
          </p:cNvSpPr>
          <p:nvPr/>
        </p:nvSpPr>
        <p:spPr bwMode="auto">
          <a:xfrm flipH="1">
            <a:off x="3251200" y="434536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0212" name="Line 35"/>
          <p:cNvSpPr>
            <a:spLocks noChangeShapeType="1"/>
          </p:cNvSpPr>
          <p:nvPr/>
        </p:nvSpPr>
        <p:spPr bwMode="auto">
          <a:xfrm>
            <a:off x="3763963" y="4345365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50213" name="Oval 36"/>
          <p:cNvSpPr>
            <a:spLocks noChangeArrowheads="1"/>
          </p:cNvSpPr>
          <p:nvPr/>
        </p:nvSpPr>
        <p:spPr bwMode="auto">
          <a:xfrm>
            <a:off x="5475288" y="364527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50214" name="Text Box 37"/>
          <p:cNvSpPr txBox="1">
            <a:spLocks noChangeArrowheads="1"/>
          </p:cNvSpPr>
          <p:nvPr/>
        </p:nvSpPr>
        <p:spPr bwMode="auto">
          <a:xfrm>
            <a:off x="5427663" y="378339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50215" name="Text Box 38"/>
          <p:cNvSpPr txBox="1">
            <a:spLocks noChangeArrowheads="1"/>
          </p:cNvSpPr>
          <p:nvPr/>
        </p:nvSpPr>
        <p:spPr bwMode="auto">
          <a:xfrm>
            <a:off x="5715000" y="1173540"/>
            <a:ext cx="3276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 dirty="0">
                <a:solidFill>
                  <a:srgbClr val="FF3300"/>
                </a:solidFill>
              </a:rPr>
              <a:t>value to </a:t>
            </a:r>
            <a:r>
              <a:rPr lang="en-US" altLang="en-US" sz="2400" b="1" dirty="0" err="1">
                <a:solidFill>
                  <a:srgbClr val="FF3300"/>
                </a:solidFill>
              </a:rPr>
              <a:t>enqueue</a:t>
            </a:r>
            <a:r>
              <a:rPr lang="en-US" altLang="en-US" sz="2400" b="1" dirty="0">
                <a:solidFill>
                  <a:srgbClr val="FF3300"/>
                </a:solidFill>
              </a:rPr>
              <a:t>: 37</a:t>
            </a:r>
          </a:p>
        </p:txBody>
      </p:sp>
      <p:sp>
        <p:nvSpPr>
          <p:cNvPr id="50216" name="Rectangle 39"/>
          <p:cNvSpPr>
            <a:spLocks noGrp="1" noChangeArrowheads="1"/>
          </p:cNvSpPr>
          <p:nvPr>
            <p:ph type="title"/>
          </p:nvPr>
        </p:nvSpPr>
        <p:spPr>
          <a:xfrm>
            <a:off x="457200" y="3054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 dirty="0" err="1"/>
              <a:t>Enqueue</a:t>
            </a:r>
            <a:r>
              <a:rPr lang="en-US" altLang="en-US" dirty="0"/>
              <a:t> In Short</a:t>
            </a:r>
          </a:p>
        </p:txBody>
      </p:sp>
      <p:sp>
        <p:nvSpPr>
          <p:cNvPr id="50217" name="Text Box 40"/>
          <p:cNvSpPr txBox="1">
            <a:spLocks noChangeArrowheads="1"/>
          </p:cNvSpPr>
          <p:nvPr/>
        </p:nvSpPr>
        <p:spPr bwMode="auto">
          <a:xfrm>
            <a:off x="3962400" y="231654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  <p:sp>
        <p:nvSpPr>
          <p:cNvPr id="44" name="Text Box 43"/>
          <p:cNvSpPr txBox="1">
            <a:spLocks noChangeArrowheads="1"/>
          </p:cNvSpPr>
          <p:nvPr/>
        </p:nvSpPr>
        <p:spPr bwMode="auto">
          <a:xfrm>
            <a:off x="5867400" y="4526340"/>
            <a:ext cx="3048000" cy="156966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 dirty="0">
                <a:solidFill>
                  <a:srgbClr val="FF3300"/>
                </a:solidFill>
              </a:rPr>
              <a:t>Create a new node for 37, </a:t>
            </a:r>
            <a:r>
              <a:rPr lang="en-MY" altLang="en-US" sz="2400" b="1" dirty="0">
                <a:solidFill>
                  <a:srgbClr val="FF3300"/>
                </a:solidFill>
              </a:rPr>
              <a:t>then </a:t>
            </a:r>
            <a:r>
              <a:rPr lang="en-MY" altLang="en-US" sz="2400" b="1" dirty="0" err="1">
                <a:solidFill>
                  <a:srgbClr val="FF3300"/>
                </a:solidFill>
              </a:rPr>
              <a:t>heapify</a:t>
            </a:r>
            <a:r>
              <a:rPr lang="en-MY" altLang="en-US" sz="2400" b="1" dirty="0">
                <a:solidFill>
                  <a:srgbClr val="FF3300"/>
                </a:solidFill>
              </a:rPr>
              <a:t> it up to the correct location</a:t>
            </a:r>
            <a:endParaRPr lang="en-US" altLang="en-US" sz="2400" b="1" dirty="0">
              <a:solidFill>
                <a:srgbClr val="FF3300"/>
              </a:solidFill>
            </a:endParaRPr>
          </a:p>
        </p:txBody>
      </p:sp>
      <p:sp>
        <p:nvSpPr>
          <p:cNvPr id="45" name="Line 41"/>
          <p:cNvSpPr>
            <a:spLocks noChangeShapeType="1"/>
          </p:cNvSpPr>
          <p:nvPr/>
        </p:nvSpPr>
        <p:spPr bwMode="auto">
          <a:xfrm flipH="1">
            <a:off x="5257800" y="4373940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46" name="Text Box 42"/>
          <p:cNvSpPr txBox="1">
            <a:spLocks noChangeArrowheads="1"/>
          </p:cNvSpPr>
          <p:nvPr/>
        </p:nvSpPr>
        <p:spPr bwMode="auto">
          <a:xfrm>
            <a:off x="4706938" y="498354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r>
              <a:rPr lang="en-US" altLang="en-US" sz="2400" b="1">
                <a:solidFill>
                  <a:srgbClr val="FF3300"/>
                </a:solidFill>
              </a:rPr>
              <a:t>37</a:t>
            </a:r>
            <a:endParaRPr lang="en-US" altLang="en-US" sz="2400"/>
          </a:p>
        </p:txBody>
      </p:sp>
      <p:sp>
        <p:nvSpPr>
          <p:cNvPr id="48" name="Freeform 47"/>
          <p:cNvSpPr>
            <a:spLocks/>
          </p:cNvSpPr>
          <p:nvPr/>
        </p:nvSpPr>
        <p:spPr bwMode="auto">
          <a:xfrm>
            <a:off x="5087344" y="2847144"/>
            <a:ext cx="1378064" cy="2047497"/>
          </a:xfrm>
          <a:custGeom>
            <a:avLst/>
            <a:gdLst>
              <a:gd name="T0" fmla="*/ 2147483646 w 2504"/>
              <a:gd name="T1" fmla="*/ 0 h 2064"/>
              <a:gd name="T2" fmla="*/ 2147483646 w 2504"/>
              <a:gd name="T3" fmla="*/ 2147483646 h 2064"/>
              <a:gd name="T4" fmla="*/ 2147483646 w 2504"/>
              <a:gd name="T5" fmla="*/ 2147483646 h 2064"/>
              <a:gd name="T6" fmla="*/ 2147483646 w 2504"/>
              <a:gd name="T7" fmla="*/ 2147483646 h 2064"/>
              <a:gd name="T8" fmla="*/ 2147483646 w 2504"/>
              <a:gd name="T9" fmla="*/ 2147483646 h 2064"/>
              <a:gd name="T10" fmla="*/ 2147483646 w 2504"/>
              <a:gd name="T11" fmla="*/ 2147483646 h 206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connsiteX0" fmla="*/ 9694 w 9777"/>
              <a:gd name="connsiteY0" fmla="*/ 8998 h 9652"/>
              <a:gd name="connsiteX1" fmla="*/ 9638 w 9777"/>
              <a:gd name="connsiteY1" fmla="*/ 582 h 9652"/>
              <a:gd name="connsiteX2" fmla="*/ 8488 w 9777"/>
              <a:gd name="connsiteY2" fmla="*/ 815 h 9652"/>
              <a:gd name="connsiteX3" fmla="*/ 1779 w 9777"/>
              <a:gd name="connsiteY3" fmla="*/ 1512 h 9652"/>
              <a:gd name="connsiteX4" fmla="*/ 54 w 9777"/>
              <a:gd name="connsiteY4" fmla="*/ 4303 h 9652"/>
              <a:gd name="connsiteX5" fmla="*/ 437 w 9777"/>
              <a:gd name="connsiteY5" fmla="*/ 9652 h 9652"/>
              <a:gd name="connsiteX0" fmla="*/ 9915 w 10000"/>
              <a:gd name="connsiteY0" fmla="*/ 8510 h 9188"/>
              <a:gd name="connsiteX1" fmla="*/ 9858 w 10000"/>
              <a:gd name="connsiteY1" fmla="*/ 1506 h 9188"/>
              <a:gd name="connsiteX2" fmla="*/ 8682 w 10000"/>
              <a:gd name="connsiteY2" fmla="*/ 32 h 9188"/>
              <a:gd name="connsiteX3" fmla="*/ 1820 w 10000"/>
              <a:gd name="connsiteY3" fmla="*/ 755 h 9188"/>
              <a:gd name="connsiteX4" fmla="*/ 55 w 10000"/>
              <a:gd name="connsiteY4" fmla="*/ 3646 h 9188"/>
              <a:gd name="connsiteX5" fmla="*/ 447 w 10000"/>
              <a:gd name="connsiteY5" fmla="*/ 9188 h 9188"/>
              <a:gd name="connsiteX0" fmla="*/ 9915 w 10106"/>
              <a:gd name="connsiteY0" fmla="*/ 20645 h 21383"/>
              <a:gd name="connsiteX1" fmla="*/ 9858 w 10106"/>
              <a:gd name="connsiteY1" fmla="*/ 13022 h 21383"/>
              <a:gd name="connsiteX2" fmla="*/ 7136 w 10106"/>
              <a:gd name="connsiteY2" fmla="*/ 1 h 21383"/>
              <a:gd name="connsiteX3" fmla="*/ 1820 w 10106"/>
              <a:gd name="connsiteY3" fmla="*/ 12205 h 21383"/>
              <a:gd name="connsiteX4" fmla="*/ 55 w 10106"/>
              <a:gd name="connsiteY4" fmla="*/ 15351 h 21383"/>
              <a:gd name="connsiteX5" fmla="*/ 447 w 10106"/>
              <a:gd name="connsiteY5" fmla="*/ 21383 h 21383"/>
              <a:gd name="connsiteX0" fmla="*/ 9475 w 9666"/>
              <a:gd name="connsiteY0" fmla="*/ 20645 h 21383"/>
              <a:gd name="connsiteX1" fmla="*/ 9418 w 9666"/>
              <a:gd name="connsiteY1" fmla="*/ 13022 h 21383"/>
              <a:gd name="connsiteX2" fmla="*/ 6696 w 9666"/>
              <a:gd name="connsiteY2" fmla="*/ 1 h 21383"/>
              <a:gd name="connsiteX3" fmla="*/ 1380 w 9666"/>
              <a:gd name="connsiteY3" fmla="*/ 12205 h 21383"/>
              <a:gd name="connsiteX4" fmla="*/ 645 w 9666"/>
              <a:gd name="connsiteY4" fmla="*/ 16998 h 21383"/>
              <a:gd name="connsiteX5" fmla="*/ 7 w 9666"/>
              <a:gd name="connsiteY5" fmla="*/ 21383 h 21383"/>
              <a:gd name="connsiteX0" fmla="*/ 9802 w 9974"/>
              <a:gd name="connsiteY0" fmla="*/ 10168 h 10513"/>
              <a:gd name="connsiteX1" fmla="*/ 9743 w 9974"/>
              <a:gd name="connsiteY1" fmla="*/ 6603 h 10513"/>
              <a:gd name="connsiteX2" fmla="*/ 7282 w 9974"/>
              <a:gd name="connsiteY2" fmla="*/ 0 h 10513"/>
              <a:gd name="connsiteX3" fmla="*/ 1428 w 9974"/>
              <a:gd name="connsiteY3" fmla="*/ 6221 h 10513"/>
              <a:gd name="connsiteX4" fmla="*/ 667 w 9974"/>
              <a:gd name="connsiteY4" fmla="*/ 8462 h 10513"/>
              <a:gd name="connsiteX5" fmla="*/ 7 w 9974"/>
              <a:gd name="connsiteY5" fmla="*/ 10513 h 10513"/>
              <a:gd name="connsiteX0" fmla="*/ 9828 w 10000"/>
              <a:gd name="connsiteY0" fmla="*/ 9672 h 10000"/>
              <a:gd name="connsiteX1" fmla="*/ 9768 w 10000"/>
              <a:gd name="connsiteY1" fmla="*/ 6281 h 10000"/>
              <a:gd name="connsiteX2" fmla="*/ 7301 w 10000"/>
              <a:gd name="connsiteY2" fmla="*/ 0 h 10000"/>
              <a:gd name="connsiteX3" fmla="*/ 1966 w 10000"/>
              <a:gd name="connsiteY3" fmla="*/ 5917 h 10000"/>
              <a:gd name="connsiteX4" fmla="*/ 669 w 10000"/>
              <a:gd name="connsiteY4" fmla="*/ 8049 h 10000"/>
              <a:gd name="connsiteX5" fmla="*/ 7 w 10000"/>
              <a:gd name="connsiteY5" fmla="*/ 10000 h 10000"/>
              <a:gd name="connsiteX0" fmla="*/ 9828 w 10000"/>
              <a:gd name="connsiteY0" fmla="*/ 9672 h 10000"/>
              <a:gd name="connsiteX1" fmla="*/ 9768 w 10000"/>
              <a:gd name="connsiteY1" fmla="*/ 6281 h 10000"/>
              <a:gd name="connsiteX2" fmla="*/ 7301 w 10000"/>
              <a:gd name="connsiteY2" fmla="*/ 0 h 10000"/>
              <a:gd name="connsiteX3" fmla="*/ 1966 w 10000"/>
              <a:gd name="connsiteY3" fmla="*/ 5917 h 10000"/>
              <a:gd name="connsiteX4" fmla="*/ 669 w 10000"/>
              <a:gd name="connsiteY4" fmla="*/ 8049 h 10000"/>
              <a:gd name="connsiteX5" fmla="*/ 7 w 10000"/>
              <a:gd name="connsiteY5" fmla="*/ 10000 h 10000"/>
              <a:gd name="connsiteX0" fmla="*/ 9828 w 10000"/>
              <a:gd name="connsiteY0" fmla="*/ 9672 h 10000"/>
              <a:gd name="connsiteX1" fmla="*/ 9768 w 10000"/>
              <a:gd name="connsiteY1" fmla="*/ 6281 h 10000"/>
              <a:gd name="connsiteX2" fmla="*/ 7301 w 10000"/>
              <a:gd name="connsiteY2" fmla="*/ 0 h 10000"/>
              <a:gd name="connsiteX3" fmla="*/ 1966 w 10000"/>
              <a:gd name="connsiteY3" fmla="*/ 5917 h 10000"/>
              <a:gd name="connsiteX4" fmla="*/ 669 w 10000"/>
              <a:gd name="connsiteY4" fmla="*/ 8049 h 10000"/>
              <a:gd name="connsiteX5" fmla="*/ 7 w 10000"/>
              <a:gd name="connsiteY5" fmla="*/ 10000 h 10000"/>
              <a:gd name="connsiteX0" fmla="*/ 9828 w 10000"/>
              <a:gd name="connsiteY0" fmla="*/ 9672 h 10000"/>
              <a:gd name="connsiteX1" fmla="*/ 9768 w 10000"/>
              <a:gd name="connsiteY1" fmla="*/ 6281 h 10000"/>
              <a:gd name="connsiteX2" fmla="*/ 7301 w 10000"/>
              <a:gd name="connsiteY2" fmla="*/ 0 h 10000"/>
              <a:gd name="connsiteX3" fmla="*/ 1966 w 10000"/>
              <a:gd name="connsiteY3" fmla="*/ 5917 h 10000"/>
              <a:gd name="connsiteX4" fmla="*/ 669 w 10000"/>
              <a:gd name="connsiteY4" fmla="*/ 8049 h 10000"/>
              <a:gd name="connsiteX5" fmla="*/ 7 w 10000"/>
              <a:gd name="connsiteY5" fmla="*/ 10000 h 10000"/>
              <a:gd name="connsiteX0" fmla="*/ 9828 w 10000"/>
              <a:gd name="connsiteY0" fmla="*/ 9684 h 10012"/>
              <a:gd name="connsiteX1" fmla="*/ 9768 w 10000"/>
              <a:gd name="connsiteY1" fmla="*/ 6293 h 10012"/>
              <a:gd name="connsiteX2" fmla="*/ 7301 w 10000"/>
              <a:gd name="connsiteY2" fmla="*/ 12 h 10012"/>
              <a:gd name="connsiteX3" fmla="*/ 669 w 10000"/>
              <a:gd name="connsiteY3" fmla="*/ 8061 h 10012"/>
              <a:gd name="connsiteX4" fmla="*/ 7 w 10000"/>
              <a:gd name="connsiteY4" fmla="*/ 10012 h 10012"/>
              <a:gd name="connsiteX0" fmla="*/ 9821 w 9993"/>
              <a:gd name="connsiteY0" fmla="*/ 9722 h 10050"/>
              <a:gd name="connsiteX1" fmla="*/ 9761 w 9993"/>
              <a:gd name="connsiteY1" fmla="*/ 6331 h 10050"/>
              <a:gd name="connsiteX2" fmla="*/ 7294 w 9993"/>
              <a:gd name="connsiteY2" fmla="*/ 50 h 10050"/>
              <a:gd name="connsiteX3" fmla="*/ 0 w 9993"/>
              <a:gd name="connsiteY3" fmla="*/ 10050 h 10050"/>
              <a:gd name="connsiteX0" fmla="*/ 9828 w 10043"/>
              <a:gd name="connsiteY0" fmla="*/ 10060 h 10386"/>
              <a:gd name="connsiteX1" fmla="*/ 9768 w 10043"/>
              <a:gd name="connsiteY1" fmla="*/ 6686 h 10386"/>
              <a:gd name="connsiteX2" fmla="*/ 6705 w 10043"/>
              <a:gd name="connsiteY2" fmla="*/ 47 h 10386"/>
              <a:gd name="connsiteX3" fmla="*/ 0 w 10043"/>
              <a:gd name="connsiteY3" fmla="*/ 10386 h 10386"/>
              <a:gd name="connsiteX0" fmla="*/ 9828 w 9828"/>
              <a:gd name="connsiteY0" fmla="*/ 10014 h 10340"/>
              <a:gd name="connsiteX1" fmla="*/ 6705 w 9828"/>
              <a:gd name="connsiteY1" fmla="*/ 1 h 10340"/>
              <a:gd name="connsiteX2" fmla="*/ 0 w 9828"/>
              <a:gd name="connsiteY2" fmla="*/ 10340 h 10340"/>
              <a:gd name="connsiteX0" fmla="*/ 10000 w 10000"/>
              <a:gd name="connsiteY0" fmla="*/ 9692 h 9692"/>
              <a:gd name="connsiteX1" fmla="*/ 6822 w 10000"/>
              <a:gd name="connsiteY1" fmla="*/ 8 h 9692"/>
              <a:gd name="connsiteX2" fmla="*/ 0 w 10000"/>
              <a:gd name="connsiteY2" fmla="*/ 8080 h 9692"/>
              <a:gd name="connsiteX0" fmla="*/ 10000 w 10000"/>
              <a:gd name="connsiteY0" fmla="*/ 10000 h 10000"/>
              <a:gd name="connsiteX1" fmla="*/ 6822 w 10000"/>
              <a:gd name="connsiteY1" fmla="*/ 8 h 10000"/>
              <a:gd name="connsiteX2" fmla="*/ 0 w 10000"/>
              <a:gd name="connsiteY2" fmla="*/ 8337 h 10000"/>
              <a:gd name="connsiteX0" fmla="*/ 10000 w 10000"/>
              <a:gd name="connsiteY0" fmla="*/ 10001 h 10001"/>
              <a:gd name="connsiteX1" fmla="*/ 6822 w 10000"/>
              <a:gd name="connsiteY1" fmla="*/ 9 h 10001"/>
              <a:gd name="connsiteX2" fmla="*/ 0 w 10000"/>
              <a:gd name="connsiteY2" fmla="*/ 8338 h 10001"/>
              <a:gd name="connsiteX0" fmla="*/ 9516 w 9516"/>
              <a:gd name="connsiteY0" fmla="*/ 9993 h 9993"/>
              <a:gd name="connsiteX1" fmla="*/ 6338 w 9516"/>
              <a:gd name="connsiteY1" fmla="*/ 1 h 9993"/>
              <a:gd name="connsiteX2" fmla="*/ 0 w 9516"/>
              <a:gd name="connsiteY2" fmla="*/ 9882 h 9993"/>
              <a:gd name="connsiteX0" fmla="*/ 10000 w 10000"/>
              <a:gd name="connsiteY0" fmla="*/ 10000 h 10000"/>
              <a:gd name="connsiteX1" fmla="*/ 6660 w 10000"/>
              <a:gd name="connsiteY1" fmla="*/ 1 h 10000"/>
              <a:gd name="connsiteX2" fmla="*/ 0 w 10000"/>
              <a:gd name="connsiteY2" fmla="*/ 9889 h 10000"/>
              <a:gd name="connsiteX0" fmla="*/ 10174 w 10174"/>
              <a:gd name="connsiteY0" fmla="*/ 10000 h 10000"/>
              <a:gd name="connsiteX1" fmla="*/ 6834 w 10174"/>
              <a:gd name="connsiteY1" fmla="*/ 1 h 10000"/>
              <a:gd name="connsiteX2" fmla="*/ 174 w 10174"/>
              <a:gd name="connsiteY2" fmla="*/ 9889 h 10000"/>
              <a:gd name="connsiteX0" fmla="*/ 10016 w 10016"/>
              <a:gd name="connsiteY0" fmla="*/ 10000 h 10000"/>
              <a:gd name="connsiteX1" fmla="*/ 6676 w 10016"/>
              <a:gd name="connsiteY1" fmla="*/ 1 h 10000"/>
              <a:gd name="connsiteX2" fmla="*/ 16 w 10016"/>
              <a:gd name="connsiteY2" fmla="*/ 9889 h 10000"/>
              <a:gd name="connsiteX0" fmla="*/ 4079 w 19994"/>
              <a:gd name="connsiteY0" fmla="*/ 12927 h 12927"/>
              <a:gd name="connsiteX1" fmla="*/ 739 w 19994"/>
              <a:gd name="connsiteY1" fmla="*/ 2928 h 12927"/>
              <a:gd name="connsiteX2" fmla="*/ 19994 w 19994"/>
              <a:gd name="connsiteY2" fmla="*/ 1350 h 12927"/>
              <a:gd name="connsiteX0" fmla="*/ 193 w 16108"/>
              <a:gd name="connsiteY0" fmla="*/ 12532 h 12532"/>
              <a:gd name="connsiteX1" fmla="*/ 3370 w 16108"/>
              <a:gd name="connsiteY1" fmla="*/ 4724 h 12532"/>
              <a:gd name="connsiteX2" fmla="*/ 16108 w 16108"/>
              <a:gd name="connsiteY2" fmla="*/ 955 h 12532"/>
              <a:gd name="connsiteX0" fmla="*/ 1060 w 16975"/>
              <a:gd name="connsiteY0" fmla="*/ 12624 h 12624"/>
              <a:gd name="connsiteX1" fmla="*/ 1509 w 16975"/>
              <a:gd name="connsiteY1" fmla="*/ 4159 h 12624"/>
              <a:gd name="connsiteX2" fmla="*/ 16975 w 16975"/>
              <a:gd name="connsiteY2" fmla="*/ 1047 h 12624"/>
              <a:gd name="connsiteX0" fmla="*/ 1060 w 16975"/>
              <a:gd name="connsiteY0" fmla="*/ 12624 h 12624"/>
              <a:gd name="connsiteX1" fmla="*/ 1509 w 16975"/>
              <a:gd name="connsiteY1" fmla="*/ 4159 h 12624"/>
              <a:gd name="connsiteX2" fmla="*/ 16975 w 16975"/>
              <a:gd name="connsiteY2" fmla="*/ 1047 h 12624"/>
              <a:gd name="connsiteX0" fmla="*/ 169 w 16084"/>
              <a:gd name="connsiteY0" fmla="*/ 12477 h 12477"/>
              <a:gd name="connsiteX1" fmla="*/ 3649 w 16084"/>
              <a:gd name="connsiteY1" fmla="*/ 5108 h 12477"/>
              <a:gd name="connsiteX2" fmla="*/ 16084 w 16084"/>
              <a:gd name="connsiteY2" fmla="*/ 900 h 12477"/>
              <a:gd name="connsiteX0" fmla="*/ 142 w 13329"/>
              <a:gd name="connsiteY0" fmla="*/ 11377 h 11377"/>
              <a:gd name="connsiteX1" fmla="*/ 3622 w 13329"/>
              <a:gd name="connsiteY1" fmla="*/ 4008 h 11377"/>
              <a:gd name="connsiteX2" fmla="*/ 13329 w 13329"/>
              <a:gd name="connsiteY2" fmla="*/ 1042 h 11377"/>
              <a:gd name="connsiteX0" fmla="*/ 142 w 13329"/>
              <a:gd name="connsiteY0" fmla="*/ 10491 h 10491"/>
              <a:gd name="connsiteX1" fmla="*/ 3622 w 13329"/>
              <a:gd name="connsiteY1" fmla="*/ 3122 h 10491"/>
              <a:gd name="connsiteX2" fmla="*/ 13329 w 13329"/>
              <a:gd name="connsiteY2" fmla="*/ 156 h 10491"/>
              <a:gd name="connsiteX0" fmla="*/ 164 w 15776"/>
              <a:gd name="connsiteY0" fmla="*/ 11403 h 11403"/>
              <a:gd name="connsiteX1" fmla="*/ 3644 w 15776"/>
              <a:gd name="connsiteY1" fmla="*/ 4034 h 11403"/>
              <a:gd name="connsiteX2" fmla="*/ 15776 w 15776"/>
              <a:gd name="connsiteY2" fmla="*/ 119 h 11403"/>
              <a:gd name="connsiteX0" fmla="*/ 164 w 15776"/>
              <a:gd name="connsiteY0" fmla="*/ 11284 h 11284"/>
              <a:gd name="connsiteX1" fmla="*/ 3644 w 15776"/>
              <a:gd name="connsiteY1" fmla="*/ 3915 h 11284"/>
              <a:gd name="connsiteX2" fmla="*/ 15776 w 15776"/>
              <a:gd name="connsiteY2" fmla="*/ 0 h 11284"/>
              <a:gd name="connsiteX0" fmla="*/ 147 w 15759"/>
              <a:gd name="connsiteY0" fmla="*/ 11284 h 11284"/>
              <a:gd name="connsiteX1" fmla="*/ 3930 w 15759"/>
              <a:gd name="connsiteY1" fmla="*/ 3915 h 11284"/>
              <a:gd name="connsiteX2" fmla="*/ 15759 w 15759"/>
              <a:gd name="connsiteY2" fmla="*/ 0 h 11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759" h="11284">
                <a:moveTo>
                  <a:pt x="147" y="11284"/>
                </a:moveTo>
                <a:cubicBezTo>
                  <a:pt x="-549" y="9201"/>
                  <a:pt x="1328" y="5796"/>
                  <a:pt x="3930" y="3915"/>
                </a:cubicBezTo>
                <a:cubicBezTo>
                  <a:pt x="6532" y="2034"/>
                  <a:pt x="9051" y="1097"/>
                  <a:pt x="15759" y="0"/>
                </a:cubicBezTo>
              </a:path>
            </a:pathLst>
          </a:custGeom>
          <a:noFill/>
          <a:ln w="57150" cap="flat" cmpd="sng">
            <a:solidFill>
              <a:schemeClr val="tx2"/>
            </a:solidFill>
            <a:prstDash val="sysDot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</p:spTree>
    <p:extLst>
      <p:ext uri="{BB962C8B-B14F-4D97-AF65-F5344CB8AC3E}">
        <p14:creationId xmlns:p14="http://schemas.microsoft.com/office/powerpoint/2010/main" val="3237706377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D4C5A1DC-3830-408E-B3D6-A0DCEA9ABC17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64</a:t>
            </a:fld>
            <a:endParaRPr lang="en-US" altLang="en-US" sz="1400"/>
          </a:p>
        </p:txBody>
      </p:sp>
      <p:sp>
        <p:nvSpPr>
          <p:cNvPr id="64515" name="Oval 2"/>
          <p:cNvSpPr>
            <a:spLocks noChangeArrowheads="1"/>
          </p:cNvSpPr>
          <p:nvPr/>
        </p:nvSpPr>
        <p:spPr bwMode="auto">
          <a:xfrm>
            <a:off x="2395538" y="24479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4516" name="Text Box 3"/>
          <p:cNvSpPr txBox="1">
            <a:spLocks noChangeArrowheads="1"/>
          </p:cNvSpPr>
          <p:nvPr/>
        </p:nvSpPr>
        <p:spPr bwMode="auto">
          <a:xfrm>
            <a:off x="2336800" y="256698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64517" name="Oval 4"/>
          <p:cNvSpPr>
            <a:spLocks noChangeArrowheads="1"/>
          </p:cNvSpPr>
          <p:nvPr/>
        </p:nvSpPr>
        <p:spPr bwMode="auto">
          <a:xfrm>
            <a:off x="1370013" y="367347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4518" name="Text Box 5"/>
          <p:cNvSpPr txBox="1">
            <a:spLocks noChangeArrowheads="1"/>
          </p:cNvSpPr>
          <p:nvPr/>
        </p:nvSpPr>
        <p:spPr bwMode="auto">
          <a:xfrm>
            <a:off x="1311275" y="379095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64519" name="Oval 6"/>
          <p:cNvSpPr>
            <a:spLocks noChangeArrowheads="1"/>
          </p:cNvSpPr>
          <p:nvPr/>
        </p:nvSpPr>
        <p:spPr bwMode="auto">
          <a:xfrm>
            <a:off x="685800" y="48990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4520" name="Text Box 7"/>
          <p:cNvSpPr txBox="1">
            <a:spLocks noChangeArrowheads="1"/>
          </p:cNvSpPr>
          <p:nvPr/>
        </p:nvSpPr>
        <p:spPr bwMode="auto">
          <a:xfrm>
            <a:off x="627063" y="501650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64521" name="Oval 8"/>
          <p:cNvSpPr>
            <a:spLocks noChangeArrowheads="1"/>
          </p:cNvSpPr>
          <p:nvPr/>
        </p:nvSpPr>
        <p:spPr bwMode="auto">
          <a:xfrm>
            <a:off x="1711325" y="489743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4522" name="Text Box 9"/>
          <p:cNvSpPr txBox="1">
            <a:spLocks noChangeArrowheads="1"/>
          </p:cNvSpPr>
          <p:nvPr/>
        </p:nvSpPr>
        <p:spPr bwMode="auto">
          <a:xfrm>
            <a:off x="1652588" y="501650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64523" name="Line 10"/>
          <p:cNvSpPr>
            <a:spLocks noChangeShapeType="1"/>
          </p:cNvSpPr>
          <p:nvPr/>
        </p:nvSpPr>
        <p:spPr bwMode="auto">
          <a:xfrm flipH="1">
            <a:off x="1198563" y="437356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4524" name="Line 11"/>
          <p:cNvSpPr>
            <a:spLocks noChangeShapeType="1"/>
          </p:cNvSpPr>
          <p:nvPr/>
        </p:nvSpPr>
        <p:spPr bwMode="auto">
          <a:xfrm>
            <a:off x="1711325" y="437356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4525" name="Oval 12"/>
          <p:cNvSpPr>
            <a:spLocks noChangeArrowheads="1"/>
          </p:cNvSpPr>
          <p:nvPr/>
        </p:nvSpPr>
        <p:spPr bwMode="auto">
          <a:xfrm>
            <a:off x="4448175" y="12223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4526" name="Text Box 13"/>
          <p:cNvSpPr txBox="1">
            <a:spLocks noChangeArrowheads="1"/>
          </p:cNvSpPr>
          <p:nvPr/>
        </p:nvSpPr>
        <p:spPr bwMode="auto">
          <a:xfrm>
            <a:off x="4389438" y="134143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64527" name="Line 14"/>
          <p:cNvSpPr>
            <a:spLocks noChangeShapeType="1"/>
          </p:cNvSpPr>
          <p:nvPr/>
        </p:nvSpPr>
        <p:spPr bwMode="auto">
          <a:xfrm>
            <a:off x="2909888" y="139858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4528" name="Oval 15"/>
          <p:cNvSpPr>
            <a:spLocks noChangeArrowheads="1"/>
          </p:cNvSpPr>
          <p:nvPr/>
        </p:nvSpPr>
        <p:spPr bwMode="auto">
          <a:xfrm>
            <a:off x="3422650" y="36734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4529" name="Line 16"/>
          <p:cNvSpPr>
            <a:spLocks noChangeShapeType="1"/>
          </p:cNvSpPr>
          <p:nvPr/>
        </p:nvSpPr>
        <p:spPr bwMode="auto">
          <a:xfrm flipH="1">
            <a:off x="1882775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4530" name="Line 17"/>
          <p:cNvSpPr>
            <a:spLocks noChangeShapeType="1"/>
          </p:cNvSpPr>
          <p:nvPr/>
        </p:nvSpPr>
        <p:spPr bwMode="auto">
          <a:xfrm>
            <a:off x="2909888" y="314801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4531" name="Oval 18"/>
          <p:cNvSpPr>
            <a:spLocks noChangeArrowheads="1"/>
          </p:cNvSpPr>
          <p:nvPr/>
        </p:nvSpPr>
        <p:spPr bwMode="auto">
          <a:xfrm>
            <a:off x="6500813" y="24479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4532" name="Oval 19"/>
          <p:cNvSpPr>
            <a:spLocks noChangeArrowheads="1"/>
          </p:cNvSpPr>
          <p:nvPr/>
        </p:nvSpPr>
        <p:spPr bwMode="auto">
          <a:xfrm>
            <a:off x="5475288" y="367347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4533" name="Oval 20"/>
          <p:cNvSpPr>
            <a:spLocks noChangeArrowheads="1"/>
          </p:cNvSpPr>
          <p:nvPr/>
        </p:nvSpPr>
        <p:spPr bwMode="auto">
          <a:xfrm>
            <a:off x="7526338" y="36734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4534" name="Text Box 21"/>
          <p:cNvSpPr txBox="1">
            <a:spLocks noChangeArrowheads="1"/>
          </p:cNvSpPr>
          <p:nvPr/>
        </p:nvSpPr>
        <p:spPr bwMode="auto">
          <a:xfrm>
            <a:off x="7467600" y="379095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64535" name="Line 22"/>
          <p:cNvSpPr>
            <a:spLocks noChangeShapeType="1"/>
          </p:cNvSpPr>
          <p:nvPr/>
        </p:nvSpPr>
        <p:spPr bwMode="auto">
          <a:xfrm flipH="1">
            <a:off x="5988050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4536" name="Line 23"/>
          <p:cNvSpPr>
            <a:spLocks noChangeShapeType="1"/>
          </p:cNvSpPr>
          <p:nvPr/>
        </p:nvSpPr>
        <p:spPr bwMode="auto">
          <a:xfrm>
            <a:off x="7013575" y="314801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4537" name="Line 24"/>
          <p:cNvSpPr>
            <a:spLocks noChangeShapeType="1"/>
          </p:cNvSpPr>
          <p:nvPr/>
        </p:nvSpPr>
        <p:spPr bwMode="auto">
          <a:xfrm flipH="1">
            <a:off x="3079750" y="174783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4538" name="Line 25"/>
          <p:cNvSpPr>
            <a:spLocks noChangeShapeType="1"/>
          </p:cNvSpPr>
          <p:nvPr/>
        </p:nvSpPr>
        <p:spPr bwMode="auto">
          <a:xfrm>
            <a:off x="5132388" y="174783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4539" name="Text Box 26"/>
          <p:cNvSpPr txBox="1">
            <a:spLocks noChangeArrowheads="1"/>
          </p:cNvSpPr>
          <p:nvPr/>
        </p:nvSpPr>
        <p:spPr bwMode="auto">
          <a:xfrm>
            <a:off x="1939925" y="104775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64540" name="Oval 27"/>
          <p:cNvSpPr>
            <a:spLocks noChangeArrowheads="1"/>
          </p:cNvSpPr>
          <p:nvPr/>
        </p:nvSpPr>
        <p:spPr bwMode="auto">
          <a:xfrm>
            <a:off x="3422650" y="367188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4541" name="Text Box 28"/>
          <p:cNvSpPr txBox="1">
            <a:spLocks noChangeArrowheads="1"/>
          </p:cNvSpPr>
          <p:nvPr/>
        </p:nvSpPr>
        <p:spPr bwMode="auto">
          <a:xfrm>
            <a:off x="3370263" y="381000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64542" name="Oval 29"/>
          <p:cNvSpPr>
            <a:spLocks noChangeArrowheads="1"/>
          </p:cNvSpPr>
          <p:nvPr/>
        </p:nvSpPr>
        <p:spPr bwMode="auto">
          <a:xfrm>
            <a:off x="2738438" y="489743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4543" name="Text Box 30"/>
          <p:cNvSpPr txBox="1">
            <a:spLocks noChangeArrowheads="1"/>
          </p:cNvSpPr>
          <p:nvPr/>
        </p:nvSpPr>
        <p:spPr bwMode="auto">
          <a:xfrm>
            <a:off x="2679700" y="501173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64544" name="Oval 31"/>
          <p:cNvSpPr>
            <a:spLocks noChangeArrowheads="1"/>
          </p:cNvSpPr>
          <p:nvPr/>
        </p:nvSpPr>
        <p:spPr bwMode="auto">
          <a:xfrm>
            <a:off x="3763963" y="489426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4545" name="Text Box 32"/>
          <p:cNvSpPr txBox="1">
            <a:spLocks noChangeArrowheads="1"/>
          </p:cNvSpPr>
          <p:nvPr/>
        </p:nvSpPr>
        <p:spPr bwMode="auto">
          <a:xfrm>
            <a:off x="3705225" y="5011738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64546" name="Line 33"/>
          <p:cNvSpPr>
            <a:spLocks noChangeShapeType="1"/>
          </p:cNvSpPr>
          <p:nvPr/>
        </p:nvSpPr>
        <p:spPr bwMode="auto">
          <a:xfrm flipH="1">
            <a:off x="3251200" y="437197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4547" name="Line 34"/>
          <p:cNvSpPr>
            <a:spLocks noChangeShapeType="1"/>
          </p:cNvSpPr>
          <p:nvPr/>
        </p:nvSpPr>
        <p:spPr bwMode="auto">
          <a:xfrm>
            <a:off x="3763963" y="4371975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4548" name="Oval 35"/>
          <p:cNvSpPr>
            <a:spLocks noChangeArrowheads="1"/>
          </p:cNvSpPr>
          <p:nvPr/>
        </p:nvSpPr>
        <p:spPr bwMode="auto">
          <a:xfrm>
            <a:off x="5475288" y="367188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4549" name="Rectangle 36"/>
          <p:cNvSpPr>
            <a:spLocks noGrp="1" noChangeArrowheads="1"/>
          </p:cNvSpPr>
          <p:nvPr>
            <p:ph type="title"/>
          </p:nvPr>
        </p:nvSpPr>
        <p:spPr>
          <a:xfrm>
            <a:off x="457200" y="5715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 dirty="0" err="1"/>
              <a:t>Enqueue</a:t>
            </a:r>
            <a:r>
              <a:rPr lang="en-US" altLang="en-US" dirty="0"/>
              <a:t> In Short (cont.)</a:t>
            </a:r>
          </a:p>
        </p:txBody>
      </p:sp>
      <p:sp>
        <p:nvSpPr>
          <p:cNvPr id="64550" name="Text Box 37"/>
          <p:cNvSpPr txBox="1">
            <a:spLocks noChangeArrowheads="1"/>
          </p:cNvSpPr>
          <p:nvPr/>
        </p:nvSpPr>
        <p:spPr bwMode="auto">
          <a:xfrm>
            <a:off x="3962400" y="234315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  <p:sp>
        <p:nvSpPr>
          <p:cNvPr id="64551" name="Oval 38"/>
          <p:cNvSpPr>
            <a:spLocks noChangeArrowheads="1"/>
          </p:cNvSpPr>
          <p:nvPr/>
        </p:nvSpPr>
        <p:spPr bwMode="auto">
          <a:xfrm>
            <a:off x="4745038" y="49260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4552" name="Line 39"/>
          <p:cNvSpPr>
            <a:spLocks noChangeShapeType="1"/>
          </p:cNvSpPr>
          <p:nvPr/>
        </p:nvSpPr>
        <p:spPr bwMode="auto">
          <a:xfrm flipH="1">
            <a:off x="5257800" y="4400550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4553" name="Text Box 40"/>
          <p:cNvSpPr txBox="1">
            <a:spLocks noChangeArrowheads="1"/>
          </p:cNvSpPr>
          <p:nvPr/>
        </p:nvSpPr>
        <p:spPr bwMode="auto">
          <a:xfrm>
            <a:off x="6477000" y="2571750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37</a:t>
            </a:r>
            <a:endParaRPr lang="en-US" altLang="en-US" sz="2400"/>
          </a:p>
        </p:txBody>
      </p:sp>
      <p:sp>
        <p:nvSpPr>
          <p:cNvPr id="64554" name="Text Box 41"/>
          <p:cNvSpPr txBox="1">
            <a:spLocks noChangeArrowheads="1"/>
          </p:cNvSpPr>
          <p:nvPr/>
        </p:nvSpPr>
        <p:spPr bwMode="auto">
          <a:xfrm>
            <a:off x="4708525" y="501015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64555" name="Text Box 42"/>
          <p:cNvSpPr txBox="1">
            <a:spLocks noChangeArrowheads="1"/>
          </p:cNvSpPr>
          <p:nvPr/>
        </p:nvSpPr>
        <p:spPr bwMode="auto">
          <a:xfrm>
            <a:off x="5468938" y="3790950"/>
            <a:ext cx="855662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</p:spTree>
    <p:extLst>
      <p:ext uri="{BB962C8B-B14F-4D97-AF65-F5344CB8AC3E}">
        <p14:creationId xmlns:p14="http://schemas.microsoft.com/office/powerpoint/2010/main" val="982561877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AB6C1E6B-0EC2-4A14-B6E8-F10010766F8E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65</a:t>
            </a:fld>
            <a:endParaRPr lang="en-US" altLang="en-US" sz="1400"/>
          </a:p>
        </p:txBody>
      </p:sp>
      <p:sp>
        <p:nvSpPr>
          <p:cNvPr id="65539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dirty="0"/>
              <a:t>Implementing a Heap</a:t>
            </a:r>
          </a:p>
        </p:txBody>
      </p:sp>
      <p:sp>
        <p:nvSpPr>
          <p:cNvPr id="65540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>
              <a:spcBef>
                <a:spcPts val="600"/>
              </a:spcBef>
            </a:pPr>
            <a:r>
              <a:rPr lang="en-US" altLang="en-US" sz="2800" dirty="0"/>
              <a:t>Although it is helpful to think of a heap as a linked structure when visualizing the </a:t>
            </a:r>
            <a:r>
              <a:rPr lang="en-US" altLang="en-US" sz="2800" dirty="0" err="1"/>
              <a:t>enqueue</a:t>
            </a:r>
            <a:r>
              <a:rPr lang="en-US" altLang="en-US" sz="2800" dirty="0"/>
              <a:t> and </a:t>
            </a:r>
            <a:r>
              <a:rPr lang="en-US" altLang="en-US" sz="2800" dirty="0" err="1"/>
              <a:t>dequeue</a:t>
            </a:r>
            <a:r>
              <a:rPr lang="en-US" altLang="en-US" sz="2800" dirty="0"/>
              <a:t> operations, it is </a:t>
            </a:r>
            <a:r>
              <a:rPr lang="en-US" altLang="en-US" sz="2800" u="sng" dirty="0"/>
              <a:t>often implemented with an array</a:t>
            </a:r>
            <a:r>
              <a:rPr lang="en-US" altLang="en-US" sz="2800" dirty="0"/>
              <a:t>.</a:t>
            </a:r>
            <a:endParaRPr lang="en-US" altLang="en-US" sz="2800" u="sng" dirty="0"/>
          </a:p>
          <a:p>
            <a:pPr eaLnBrk="1" hangingPunct="1">
              <a:spcBef>
                <a:spcPts val="600"/>
              </a:spcBef>
            </a:pPr>
            <a:r>
              <a:rPr lang="en-US" altLang="en-US" sz="2800" dirty="0"/>
              <a:t>Don’t get mixed up with </a:t>
            </a:r>
            <a:r>
              <a:rPr lang="en-US" altLang="en-US" sz="2800" u="sng" dirty="0"/>
              <a:t>implementing a priority queue</a:t>
            </a:r>
            <a:r>
              <a:rPr lang="en-US" altLang="en-US" sz="2800" dirty="0"/>
              <a:t> (PQ) and </a:t>
            </a:r>
            <a:r>
              <a:rPr lang="en-US" altLang="en-US" sz="2800" u="sng" dirty="0"/>
              <a:t>implementing a heap</a:t>
            </a:r>
            <a:r>
              <a:rPr lang="en-US" altLang="en-US" sz="2800" dirty="0"/>
              <a:t>.</a:t>
            </a:r>
            <a:endParaRPr lang="en-US" altLang="en-US" sz="2800" u="sng" dirty="0"/>
          </a:p>
          <a:p>
            <a:pPr eaLnBrk="1" hangingPunct="1">
              <a:spcBef>
                <a:spcPts val="600"/>
              </a:spcBef>
            </a:pPr>
            <a:r>
              <a:rPr lang="en-US" altLang="en-US" sz="2800" dirty="0"/>
              <a:t>We have discussed earlier that to implement a PQ, heap is better than array overall.</a:t>
            </a:r>
          </a:p>
          <a:p>
            <a:pPr eaLnBrk="1" hangingPunct="1">
              <a:spcBef>
                <a:spcPts val="600"/>
              </a:spcBef>
            </a:pPr>
            <a:r>
              <a:rPr lang="en-US" altLang="en-US" sz="2800" dirty="0"/>
              <a:t>We are discussing implementing a heap here</a:t>
            </a:r>
          </a:p>
          <a:p>
            <a:pPr eaLnBrk="1" hangingPunct="1">
              <a:spcBef>
                <a:spcPts val="600"/>
              </a:spcBef>
            </a:pPr>
            <a:r>
              <a:rPr lang="en-US" altLang="en-US" sz="2800" dirty="0"/>
              <a:t>Let’s number the nodes of a heap, starting with 0, going top to bottom and left to right… 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71E67719-2483-4420-8FBE-C97002D5FBE9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66</a:t>
            </a:fld>
            <a:endParaRPr lang="en-US" altLang="en-US" sz="1400"/>
          </a:p>
        </p:txBody>
      </p:sp>
      <p:sp>
        <p:nvSpPr>
          <p:cNvPr id="66563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Implementing a Heap with Array</a:t>
            </a:r>
          </a:p>
        </p:txBody>
      </p:sp>
      <p:sp>
        <p:nvSpPr>
          <p:cNvPr id="66564" name="Oval 6"/>
          <p:cNvSpPr>
            <a:spLocks noChangeArrowheads="1"/>
          </p:cNvSpPr>
          <p:nvPr/>
        </p:nvSpPr>
        <p:spPr bwMode="auto">
          <a:xfrm>
            <a:off x="2308225" y="18288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6565" name="Text Box 7"/>
          <p:cNvSpPr txBox="1">
            <a:spLocks noChangeArrowheads="1"/>
          </p:cNvSpPr>
          <p:nvPr/>
        </p:nvSpPr>
        <p:spPr bwMode="auto">
          <a:xfrm>
            <a:off x="2289175" y="1930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66566" name="Oval 8"/>
          <p:cNvSpPr>
            <a:spLocks noChangeArrowheads="1"/>
          </p:cNvSpPr>
          <p:nvPr/>
        </p:nvSpPr>
        <p:spPr bwMode="auto">
          <a:xfrm>
            <a:off x="12985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6567" name="Text Box 9"/>
          <p:cNvSpPr txBox="1">
            <a:spLocks noChangeArrowheads="1"/>
          </p:cNvSpPr>
          <p:nvPr/>
        </p:nvSpPr>
        <p:spPr bwMode="auto">
          <a:xfrm>
            <a:off x="1279525" y="300990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66568" name="Oval 10"/>
          <p:cNvSpPr>
            <a:spLocks noChangeArrowheads="1"/>
          </p:cNvSpPr>
          <p:nvPr/>
        </p:nvSpPr>
        <p:spPr bwMode="auto">
          <a:xfrm>
            <a:off x="625475" y="399097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6569" name="Text Box 11"/>
          <p:cNvSpPr txBox="1">
            <a:spLocks noChangeArrowheads="1"/>
          </p:cNvSpPr>
          <p:nvPr/>
        </p:nvSpPr>
        <p:spPr bwMode="auto">
          <a:xfrm>
            <a:off x="606425" y="4089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66570" name="Text Box 12"/>
          <p:cNvSpPr txBox="1">
            <a:spLocks noChangeArrowheads="1"/>
          </p:cNvSpPr>
          <p:nvPr/>
        </p:nvSpPr>
        <p:spPr bwMode="auto">
          <a:xfrm>
            <a:off x="2057400" y="114300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66571" name="Oval 13"/>
          <p:cNvSpPr>
            <a:spLocks noChangeArrowheads="1"/>
          </p:cNvSpPr>
          <p:nvPr/>
        </p:nvSpPr>
        <p:spPr bwMode="auto">
          <a:xfrm>
            <a:off x="163512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6572" name="Text Box 14"/>
          <p:cNvSpPr txBox="1">
            <a:spLocks noChangeArrowheads="1"/>
          </p:cNvSpPr>
          <p:nvPr/>
        </p:nvSpPr>
        <p:spPr bwMode="auto">
          <a:xfrm>
            <a:off x="1616075" y="40894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3</a:t>
            </a:r>
            <a:endParaRPr lang="en-US" altLang="en-US" sz="2400"/>
          </a:p>
        </p:txBody>
      </p:sp>
      <p:sp>
        <p:nvSpPr>
          <p:cNvPr id="66573" name="Oval 15"/>
          <p:cNvSpPr>
            <a:spLocks noChangeArrowheads="1"/>
          </p:cNvSpPr>
          <p:nvPr/>
        </p:nvSpPr>
        <p:spPr bwMode="auto">
          <a:xfrm>
            <a:off x="4327525" y="12954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6574" name="Text Box 16"/>
          <p:cNvSpPr txBox="1">
            <a:spLocks noChangeArrowheads="1"/>
          </p:cNvSpPr>
          <p:nvPr/>
        </p:nvSpPr>
        <p:spPr bwMode="auto">
          <a:xfrm>
            <a:off x="4308475" y="1395413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46</a:t>
            </a:r>
            <a:endParaRPr lang="en-US" altLang="en-US" sz="2400"/>
          </a:p>
        </p:txBody>
      </p:sp>
      <p:sp>
        <p:nvSpPr>
          <p:cNvPr id="66575" name="Line 17"/>
          <p:cNvSpPr>
            <a:spLocks noChangeShapeType="1"/>
          </p:cNvSpPr>
          <p:nvPr/>
        </p:nvSpPr>
        <p:spPr bwMode="auto">
          <a:xfrm>
            <a:off x="2813050" y="145097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6576" name="Oval 18"/>
          <p:cNvSpPr>
            <a:spLocks noChangeArrowheads="1"/>
          </p:cNvSpPr>
          <p:nvPr/>
        </p:nvSpPr>
        <p:spPr bwMode="auto">
          <a:xfrm>
            <a:off x="33178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6577" name="Line 20"/>
          <p:cNvSpPr>
            <a:spLocks noChangeShapeType="1"/>
          </p:cNvSpPr>
          <p:nvPr/>
        </p:nvSpPr>
        <p:spPr bwMode="auto">
          <a:xfrm flipH="1">
            <a:off x="1803400" y="244792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6578" name="Line 21"/>
          <p:cNvSpPr>
            <a:spLocks noChangeShapeType="1"/>
          </p:cNvSpPr>
          <p:nvPr/>
        </p:nvSpPr>
        <p:spPr bwMode="auto">
          <a:xfrm>
            <a:off x="2813050" y="244792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6579" name="Oval 22"/>
          <p:cNvSpPr>
            <a:spLocks noChangeArrowheads="1"/>
          </p:cNvSpPr>
          <p:nvPr/>
        </p:nvSpPr>
        <p:spPr bwMode="auto">
          <a:xfrm>
            <a:off x="6346825" y="18288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6580" name="Text Box 23"/>
          <p:cNvSpPr txBox="1">
            <a:spLocks noChangeArrowheads="1"/>
          </p:cNvSpPr>
          <p:nvPr/>
        </p:nvSpPr>
        <p:spPr bwMode="auto">
          <a:xfrm>
            <a:off x="6327775" y="1930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66581" name="Oval 24"/>
          <p:cNvSpPr>
            <a:spLocks noChangeArrowheads="1"/>
          </p:cNvSpPr>
          <p:nvPr/>
        </p:nvSpPr>
        <p:spPr bwMode="auto">
          <a:xfrm>
            <a:off x="53371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6582" name="Oval 26"/>
          <p:cNvSpPr>
            <a:spLocks noChangeArrowheads="1"/>
          </p:cNvSpPr>
          <p:nvPr/>
        </p:nvSpPr>
        <p:spPr bwMode="auto">
          <a:xfrm>
            <a:off x="73564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6583" name="Text Box 27"/>
          <p:cNvSpPr txBox="1">
            <a:spLocks noChangeArrowheads="1"/>
          </p:cNvSpPr>
          <p:nvPr/>
        </p:nvSpPr>
        <p:spPr bwMode="auto">
          <a:xfrm>
            <a:off x="7337425" y="30099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25</a:t>
            </a:r>
            <a:endParaRPr lang="en-US" altLang="en-US" sz="2400"/>
          </a:p>
        </p:txBody>
      </p:sp>
      <p:sp>
        <p:nvSpPr>
          <p:cNvPr id="66584" name="Line 28"/>
          <p:cNvSpPr>
            <a:spLocks noChangeShapeType="1"/>
          </p:cNvSpPr>
          <p:nvPr/>
        </p:nvSpPr>
        <p:spPr bwMode="auto">
          <a:xfrm flipH="1">
            <a:off x="5842000" y="244792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6585" name="Line 29"/>
          <p:cNvSpPr>
            <a:spLocks noChangeShapeType="1"/>
          </p:cNvSpPr>
          <p:nvPr/>
        </p:nvSpPr>
        <p:spPr bwMode="auto">
          <a:xfrm>
            <a:off x="6851650" y="244792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6586" name="Line 30"/>
          <p:cNvSpPr>
            <a:spLocks noChangeShapeType="1"/>
          </p:cNvSpPr>
          <p:nvPr/>
        </p:nvSpPr>
        <p:spPr bwMode="auto">
          <a:xfrm flipH="1">
            <a:off x="2971800" y="1760538"/>
            <a:ext cx="1355725" cy="2206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6587" name="Line 31"/>
          <p:cNvSpPr>
            <a:spLocks noChangeShapeType="1"/>
          </p:cNvSpPr>
          <p:nvPr/>
        </p:nvSpPr>
        <p:spPr bwMode="auto">
          <a:xfrm>
            <a:off x="5000625" y="1760538"/>
            <a:ext cx="1400175" cy="2206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6588" name="Oval 33"/>
          <p:cNvSpPr>
            <a:spLocks noChangeArrowheads="1"/>
          </p:cNvSpPr>
          <p:nvPr/>
        </p:nvSpPr>
        <p:spPr bwMode="auto">
          <a:xfrm>
            <a:off x="33178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6589" name="Oval 35"/>
          <p:cNvSpPr>
            <a:spLocks noChangeArrowheads="1"/>
          </p:cNvSpPr>
          <p:nvPr/>
        </p:nvSpPr>
        <p:spPr bwMode="auto">
          <a:xfrm>
            <a:off x="264477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6590" name="Text Box 36"/>
          <p:cNvSpPr txBox="1">
            <a:spLocks noChangeArrowheads="1"/>
          </p:cNvSpPr>
          <p:nvPr/>
        </p:nvSpPr>
        <p:spPr bwMode="auto">
          <a:xfrm>
            <a:off x="2625725" y="408463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66591" name="Oval 37"/>
          <p:cNvSpPr>
            <a:spLocks noChangeArrowheads="1"/>
          </p:cNvSpPr>
          <p:nvPr/>
        </p:nvSpPr>
        <p:spPr bwMode="auto">
          <a:xfrm>
            <a:off x="3654425" y="39846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6592" name="Text Box 38"/>
          <p:cNvSpPr txBox="1">
            <a:spLocks noChangeArrowheads="1"/>
          </p:cNvSpPr>
          <p:nvPr/>
        </p:nvSpPr>
        <p:spPr bwMode="auto">
          <a:xfrm>
            <a:off x="3635375" y="40846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66593" name="Oval 39"/>
          <p:cNvSpPr>
            <a:spLocks noChangeArrowheads="1"/>
          </p:cNvSpPr>
          <p:nvPr/>
        </p:nvSpPr>
        <p:spPr bwMode="auto">
          <a:xfrm>
            <a:off x="53371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6594" name="Text Box 40"/>
          <p:cNvSpPr txBox="1">
            <a:spLocks noChangeArrowheads="1"/>
          </p:cNvSpPr>
          <p:nvPr/>
        </p:nvSpPr>
        <p:spPr bwMode="auto">
          <a:xfrm>
            <a:off x="5314950" y="297973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66595" name="Oval 41"/>
          <p:cNvSpPr>
            <a:spLocks noChangeArrowheads="1"/>
          </p:cNvSpPr>
          <p:nvPr/>
        </p:nvSpPr>
        <p:spPr bwMode="auto">
          <a:xfrm>
            <a:off x="4664075" y="399097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6596" name="Text Box 42"/>
          <p:cNvSpPr txBox="1">
            <a:spLocks noChangeArrowheads="1"/>
          </p:cNvSpPr>
          <p:nvPr/>
        </p:nvSpPr>
        <p:spPr bwMode="auto">
          <a:xfrm>
            <a:off x="4645025" y="408781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66597" name="Oval 43"/>
          <p:cNvSpPr>
            <a:spLocks noChangeArrowheads="1"/>
          </p:cNvSpPr>
          <p:nvPr/>
        </p:nvSpPr>
        <p:spPr bwMode="auto">
          <a:xfrm>
            <a:off x="5673725" y="39909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6598" name="Text Box 44"/>
          <p:cNvSpPr txBox="1">
            <a:spLocks noChangeArrowheads="1"/>
          </p:cNvSpPr>
          <p:nvPr/>
        </p:nvSpPr>
        <p:spPr bwMode="auto">
          <a:xfrm>
            <a:off x="5654675" y="40909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66599" name="Oval 45"/>
          <p:cNvSpPr>
            <a:spLocks noChangeArrowheads="1"/>
          </p:cNvSpPr>
          <p:nvPr/>
        </p:nvSpPr>
        <p:spPr bwMode="auto">
          <a:xfrm>
            <a:off x="6683375" y="399097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6600" name="Text Box 46"/>
          <p:cNvSpPr txBox="1">
            <a:spLocks noChangeArrowheads="1"/>
          </p:cNvSpPr>
          <p:nvPr/>
        </p:nvSpPr>
        <p:spPr bwMode="auto">
          <a:xfrm>
            <a:off x="6664325" y="408940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18</a:t>
            </a:r>
            <a:endParaRPr lang="en-US" altLang="en-US" sz="2400"/>
          </a:p>
        </p:txBody>
      </p:sp>
      <p:sp>
        <p:nvSpPr>
          <p:cNvPr id="66601" name="Oval 47"/>
          <p:cNvSpPr>
            <a:spLocks noChangeArrowheads="1"/>
          </p:cNvSpPr>
          <p:nvPr/>
        </p:nvSpPr>
        <p:spPr bwMode="auto">
          <a:xfrm>
            <a:off x="769302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6602" name="Text Box 48"/>
          <p:cNvSpPr txBox="1">
            <a:spLocks noChangeArrowheads="1"/>
          </p:cNvSpPr>
          <p:nvPr/>
        </p:nvSpPr>
        <p:spPr bwMode="auto">
          <a:xfrm>
            <a:off x="7673975" y="40894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17</a:t>
            </a:r>
            <a:endParaRPr lang="en-US" altLang="en-US" sz="2400"/>
          </a:p>
        </p:txBody>
      </p:sp>
      <p:sp>
        <p:nvSpPr>
          <p:cNvPr id="66603" name="Line 49"/>
          <p:cNvSpPr>
            <a:spLocks noChangeShapeType="1"/>
          </p:cNvSpPr>
          <p:nvPr/>
        </p:nvSpPr>
        <p:spPr bwMode="auto">
          <a:xfrm flipH="1">
            <a:off x="9620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6604" name="Line 50"/>
          <p:cNvSpPr>
            <a:spLocks noChangeShapeType="1"/>
          </p:cNvSpPr>
          <p:nvPr/>
        </p:nvSpPr>
        <p:spPr bwMode="auto">
          <a:xfrm>
            <a:off x="19716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6605" name="Line 51"/>
          <p:cNvSpPr>
            <a:spLocks noChangeShapeType="1"/>
          </p:cNvSpPr>
          <p:nvPr/>
        </p:nvSpPr>
        <p:spPr bwMode="auto">
          <a:xfrm flipH="1">
            <a:off x="29813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6606" name="Line 52"/>
          <p:cNvSpPr>
            <a:spLocks noChangeShapeType="1"/>
          </p:cNvSpPr>
          <p:nvPr/>
        </p:nvSpPr>
        <p:spPr bwMode="auto">
          <a:xfrm>
            <a:off x="39909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6607" name="Line 53"/>
          <p:cNvSpPr>
            <a:spLocks noChangeShapeType="1"/>
          </p:cNvSpPr>
          <p:nvPr/>
        </p:nvSpPr>
        <p:spPr bwMode="auto">
          <a:xfrm flipH="1">
            <a:off x="50006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6608" name="Line 54"/>
          <p:cNvSpPr>
            <a:spLocks noChangeShapeType="1"/>
          </p:cNvSpPr>
          <p:nvPr/>
        </p:nvSpPr>
        <p:spPr bwMode="auto">
          <a:xfrm>
            <a:off x="60102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6609" name="Line 55"/>
          <p:cNvSpPr>
            <a:spLocks noChangeShapeType="1"/>
          </p:cNvSpPr>
          <p:nvPr/>
        </p:nvSpPr>
        <p:spPr bwMode="auto">
          <a:xfrm flipH="1">
            <a:off x="70199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6610" name="Line 56"/>
          <p:cNvSpPr>
            <a:spLocks noChangeShapeType="1"/>
          </p:cNvSpPr>
          <p:nvPr/>
        </p:nvSpPr>
        <p:spPr bwMode="auto">
          <a:xfrm>
            <a:off x="80295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6611" name="Text Box 57"/>
          <p:cNvSpPr txBox="1">
            <a:spLocks noChangeArrowheads="1"/>
          </p:cNvSpPr>
          <p:nvPr/>
        </p:nvSpPr>
        <p:spPr bwMode="auto">
          <a:xfrm>
            <a:off x="4495800" y="1914525"/>
            <a:ext cx="6731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66612" name="Text Box 58"/>
          <p:cNvSpPr txBox="1">
            <a:spLocks noChangeArrowheads="1"/>
          </p:cNvSpPr>
          <p:nvPr/>
        </p:nvSpPr>
        <p:spPr bwMode="auto">
          <a:xfrm>
            <a:off x="2476500" y="2447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66613" name="Text Box 59"/>
          <p:cNvSpPr txBox="1">
            <a:spLocks noChangeArrowheads="1"/>
          </p:cNvSpPr>
          <p:nvPr/>
        </p:nvSpPr>
        <p:spPr bwMode="auto">
          <a:xfrm>
            <a:off x="6515100" y="2447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66614" name="Text Box 60"/>
          <p:cNvSpPr txBox="1">
            <a:spLocks noChangeArrowheads="1"/>
          </p:cNvSpPr>
          <p:nvPr/>
        </p:nvSpPr>
        <p:spPr bwMode="auto">
          <a:xfrm>
            <a:off x="14668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66615" name="Text Box 61"/>
          <p:cNvSpPr txBox="1">
            <a:spLocks noChangeArrowheads="1"/>
          </p:cNvSpPr>
          <p:nvPr/>
        </p:nvSpPr>
        <p:spPr bwMode="auto">
          <a:xfrm>
            <a:off x="34861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66616" name="Text Box 62"/>
          <p:cNvSpPr txBox="1">
            <a:spLocks noChangeArrowheads="1"/>
          </p:cNvSpPr>
          <p:nvPr/>
        </p:nvSpPr>
        <p:spPr bwMode="auto">
          <a:xfrm>
            <a:off x="55054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66617" name="Text Box 63"/>
          <p:cNvSpPr txBox="1">
            <a:spLocks noChangeArrowheads="1"/>
          </p:cNvSpPr>
          <p:nvPr/>
        </p:nvSpPr>
        <p:spPr bwMode="auto">
          <a:xfrm>
            <a:off x="75247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66618" name="Text Box 64"/>
          <p:cNvSpPr txBox="1">
            <a:spLocks noChangeArrowheads="1"/>
          </p:cNvSpPr>
          <p:nvPr/>
        </p:nvSpPr>
        <p:spPr bwMode="auto">
          <a:xfrm>
            <a:off x="79375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66619" name="Text Box 65"/>
          <p:cNvSpPr txBox="1">
            <a:spLocks noChangeArrowheads="1"/>
          </p:cNvSpPr>
          <p:nvPr/>
        </p:nvSpPr>
        <p:spPr bwMode="auto">
          <a:xfrm>
            <a:off x="180340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66620" name="Text Box 66"/>
          <p:cNvSpPr txBox="1">
            <a:spLocks noChangeArrowheads="1"/>
          </p:cNvSpPr>
          <p:nvPr/>
        </p:nvSpPr>
        <p:spPr bwMode="auto">
          <a:xfrm>
            <a:off x="281305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66621" name="Text Box 67"/>
          <p:cNvSpPr txBox="1">
            <a:spLocks noChangeArrowheads="1"/>
          </p:cNvSpPr>
          <p:nvPr/>
        </p:nvSpPr>
        <p:spPr bwMode="auto">
          <a:xfrm>
            <a:off x="36544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66622" name="Text Box 68"/>
          <p:cNvSpPr txBox="1">
            <a:spLocks noChangeArrowheads="1"/>
          </p:cNvSpPr>
          <p:nvPr/>
        </p:nvSpPr>
        <p:spPr bwMode="auto">
          <a:xfrm>
            <a:off x="466407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66623" name="Text Box 69"/>
          <p:cNvSpPr txBox="1">
            <a:spLocks noChangeArrowheads="1"/>
          </p:cNvSpPr>
          <p:nvPr/>
        </p:nvSpPr>
        <p:spPr bwMode="auto">
          <a:xfrm>
            <a:off x="56737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66624" name="Text Box 70"/>
          <p:cNvSpPr txBox="1">
            <a:spLocks noChangeArrowheads="1"/>
          </p:cNvSpPr>
          <p:nvPr/>
        </p:nvSpPr>
        <p:spPr bwMode="auto">
          <a:xfrm>
            <a:off x="668337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66625" name="Text Box 71"/>
          <p:cNvSpPr txBox="1">
            <a:spLocks noChangeArrowheads="1"/>
          </p:cNvSpPr>
          <p:nvPr/>
        </p:nvSpPr>
        <p:spPr bwMode="auto">
          <a:xfrm>
            <a:off x="76930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66626" name="Oval 72"/>
          <p:cNvSpPr>
            <a:spLocks noChangeArrowheads="1"/>
          </p:cNvSpPr>
          <p:nvPr/>
        </p:nvSpPr>
        <p:spPr bwMode="auto">
          <a:xfrm>
            <a:off x="457200" y="507047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6627" name="Text Box 73"/>
          <p:cNvSpPr txBox="1">
            <a:spLocks noChangeArrowheads="1"/>
          </p:cNvSpPr>
          <p:nvPr/>
        </p:nvSpPr>
        <p:spPr bwMode="auto">
          <a:xfrm>
            <a:off x="438150" y="51689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66628" name="Oval 74"/>
          <p:cNvSpPr>
            <a:spLocks noChangeArrowheads="1"/>
          </p:cNvSpPr>
          <p:nvPr/>
        </p:nvSpPr>
        <p:spPr bwMode="auto">
          <a:xfrm>
            <a:off x="1466850" y="506888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6629" name="Text Box 75"/>
          <p:cNvSpPr txBox="1">
            <a:spLocks noChangeArrowheads="1"/>
          </p:cNvSpPr>
          <p:nvPr/>
        </p:nvSpPr>
        <p:spPr bwMode="auto">
          <a:xfrm>
            <a:off x="1447800" y="51689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9</a:t>
            </a:r>
            <a:endParaRPr lang="en-US" altLang="en-US" sz="2400"/>
          </a:p>
        </p:txBody>
      </p:sp>
      <p:sp>
        <p:nvSpPr>
          <p:cNvPr id="66630" name="Text Box 76"/>
          <p:cNvSpPr txBox="1">
            <a:spLocks noChangeArrowheads="1"/>
          </p:cNvSpPr>
          <p:nvPr/>
        </p:nvSpPr>
        <p:spPr bwMode="auto">
          <a:xfrm>
            <a:off x="1466850" y="56356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66631" name="Line 77"/>
          <p:cNvSpPr>
            <a:spLocks noChangeShapeType="1"/>
          </p:cNvSpPr>
          <p:nvPr/>
        </p:nvSpPr>
        <p:spPr bwMode="auto">
          <a:xfrm flipH="1">
            <a:off x="625475" y="460692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6632" name="Line 78"/>
          <p:cNvSpPr>
            <a:spLocks noChangeShapeType="1"/>
          </p:cNvSpPr>
          <p:nvPr/>
        </p:nvSpPr>
        <p:spPr bwMode="auto">
          <a:xfrm>
            <a:off x="1130300" y="460692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6633" name="Text Box 80"/>
          <p:cNvSpPr txBox="1">
            <a:spLocks noChangeArrowheads="1"/>
          </p:cNvSpPr>
          <p:nvPr/>
        </p:nvSpPr>
        <p:spPr bwMode="auto">
          <a:xfrm>
            <a:off x="457200" y="56356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66634" name="Text Box 34"/>
          <p:cNvSpPr txBox="1">
            <a:spLocks noChangeArrowheads="1"/>
          </p:cNvSpPr>
          <p:nvPr/>
        </p:nvSpPr>
        <p:spPr bwMode="auto">
          <a:xfrm>
            <a:off x="3257550" y="297973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6D6E3859-C287-44D4-B178-3589F9B3DA55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67</a:t>
            </a:fld>
            <a:endParaRPr lang="en-US" altLang="en-US" sz="1400"/>
          </a:p>
        </p:txBody>
      </p:sp>
      <p:sp>
        <p:nvSpPr>
          <p:cNvPr id="67587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Heap Properties</a:t>
            </a:r>
          </a:p>
        </p:txBody>
      </p:sp>
      <p:sp>
        <p:nvSpPr>
          <p:cNvPr id="67588" name="Oval 3"/>
          <p:cNvSpPr>
            <a:spLocks noChangeArrowheads="1"/>
          </p:cNvSpPr>
          <p:nvPr/>
        </p:nvSpPr>
        <p:spPr bwMode="auto">
          <a:xfrm>
            <a:off x="2308225" y="18288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7589" name="Text Box 4"/>
          <p:cNvSpPr txBox="1">
            <a:spLocks noChangeArrowheads="1"/>
          </p:cNvSpPr>
          <p:nvPr/>
        </p:nvSpPr>
        <p:spPr bwMode="auto">
          <a:xfrm>
            <a:off x="2289175" y="1930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67590" name="Oval 5"/>
          <p:cNvSpPr>
            <a:spLocks noChangeArrowheads="1"/>
          </p:cNvSpPr>
          <p:nvPr/>
        </p:nvSpPr>
        <p:spPr bwMode="auto">
          <a:xfrm>
            <a:off x="12985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7591" name="Text Box 6"/>
          <p:cNvSpPr txBox="1">
            <a:spLocks noChangeArrowheads="1"/>
          </p:cNvSpPr>
          <p:nvPr/>
        </p:nvSpPr>
        <p:spPr bwMode="auto">
          <a:xfrm>
            <a:off x="1279525" y="300990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67592" name="Oval 7"/>
          <p:cNvSpPr>
            <a:spLocks noChangeArrowheads="1"/>
          </p:cNvSpPr>
          <p:nvPr/>
        </p:nvSpPr>
        <p:spPr bwMode="auto">
          <a:xfrm>
            <a:off x="625475" y="399097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7593" name="Text Box 8"/>
          <p:cNvSpPr txBox="1">
            <a:spLocks noChangeArrowheads="1"/>
          </p:cNvSpPr>
          <p:nvPr/>
        </p:nvSpPr>
        <p:spPr bwMode="auto">
          <a:xfrm>
            <a:off x="606425" y="4089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67594" name="Text Box 9"/>
          <p:cNvSpPr txBox="1">
            <a:spLocks noChangeArrowheads="1"/>
          </p:cNvSpPr>
          <p:nvPr/>
        </p:nvSpPr>
        <p:spPr bwMode="auto">
          <a:xfrm>
            <a:off x="2139950" y="114300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67595" name="Oval 10"/>
          <p:cNvSpPr>
            <a:spLocks noChangeArrowheads="1"/>
          </p:cNvSpPr>
          <p:nvPr/>
        </p:nvSpPr>
        <p:spPr bwMode="auto">
          <a:xfrm>
            <a:off x="163512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7596" name="Text Box 11"/>
          <p:cNvSpPr txBox="1">
            <a:spLocks noChangeArrowheads="1"/>
          </p:cNvSpPr>
          <p:nvPr/>
        </p:nvSpPr>
        <p:spPr bwMode="auto">
          <a:xfrm>
            <a:off x="1616075" y="40894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3</a:t>
            </a:r>
            <a:endParaRPr lang="en-US" altLang="en-US" sz="2400"/>
          </a:p>
        </p:txBody>
      </p:sp>
      <p:sp>
        <p:nvSpPr>
          <p:cNvPr id="67597" name="Oval 12"/>
          <p:cNvSpPr>
            <a:spLocks noChangeArrowheads="1"/>
          </p:cNvSpPr>
          <p:nvPr/>
        </p:nvSpPr>
        <p:spPr bwMode="auto">
          <a:xfrm>
            <a:off x="4327525" y="12954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7598" name="Text Box 13"/>
          <p:cNvSpPr txBox="1">
            <a:spLocks noChangeArrowheads="1"/>
          </p:cNvSpPr>
          <p:nvPr/>
        </p:nvSpPr>
        <p:spPr bwMode="auto">
          <a:xfrm>
            <a:off x="4308475" y="1395413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46</a:t>
            </a:r>
            <a:endParaRPr lang="en-US" altLang="en-US" sz="2400"/>
          </a:p>
        </p:txBody>
      </p:sp>
      <p:sp>
        <p:nvSpPr>
          <p:cNvPr id="67599" name="Line 14"/>
          <p:cNvSpPr>
            <a:spLocks noChangeShapeType="1"/>
          </p:cNvSpPr>
          <p:nvPr/>
        </p:nvSpPr>
        <p:spPr bwMode="auto">
          <a:xfrm>
            <a:off x="2813050" y="145097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7600" name="Oval 15"/>
          <p:cNvSpPr>
            <a:spLocks noChangeArrowheads="1"/>
          </p:cNvSpPr>
          <p:nvPr/>
        </p:nvSpPr>
        <p:spPr bwMode="auto">
          <a:xfrm>
            <a:off x="33178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7601" name="Line 16"/>
          <p:cNvSpPr>
            <a:spLocks noChangeShapeType="1"/>
          </p:cNvSpPr>
          <p:nvPr/>
        </p:nvSpPr>
        <p:spPr bwMode="auto">
          <a:xfrm flipH="1">
            <a:off x="1803400" y="244792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7602" name="Line 17"/>
          <p:cNvSpPr>
            <a:spLocks noChangeShapeType="1"/>
          </p:cNvSpPr>
          <p:nvPr/>
        </p:nvSpPr>
        <p:spPr bwMode="auto">
          <a:xfrm>
            <a:off x="2813050" y="244792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7603" name="Oval 18"/>
          <p:cNvSpPr>
            <a:spLocks noChangeArrowheads="1"/>
          </p:cNvSpPr>
          <p:nvPr/>
        </p:nvSpPr>
        <p:spPr bwMode="auto">
          <a:xfrm>
            <a:off x="6346825" y="18288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7604" name="Text Box 19"/>
          <p:cNvSpPr txBox="1">
            <a:spLocks noChangeArrowheads="1"/>
          </p:cNvSpPr>
          <p:nvPr/>
        </p:nvSpPr>
        <p:spPr bwMode="auto">
          <a:xfrm>
            <a:off x="6327775" y="1930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67605" name="Oval 20"/>
          <p:cNvSpPr>
            <a:spLocks noChangeArrowheads="1"/>
          </p:cNvSpPr>
          <p:nvPr/>
        </p:nvSpPr>
        <p:spPr bwMode="auto">
          <a:xfrm>
            <a:off x="53371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7606" name="Oval 21"/>
          <p:cNvSpPr>
            <a:spLocks noChangeArrowheads="1"/>
          </p:cNvSpPr>
          <p:nvPr/>
        </p:nvSpPr>
        <p:spPr bwMode="auto">
          <a:xfrm>
            <a:off x="73564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7607" name="Text Box 22"/>
          <p:cNvSpPr txBox="1">
            <a:spLocks noChangeArrowheads="1"/>
          </p:cNvSpPr>
          <p:nvPr/>
        </p:nvSpPr>
        <p:spPr bwMode="auto">
          <a:xfrm>
            <a:off x="7337425" y="30099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25</a:t>
            </a:r>
            <a:endParaRPr lang="en-US" altLang="en-US" sz="2400"/>
          </a:p>
        </p:txBody>
      </p:sp>
      <p:sp>
        <p:nvSpPr>
          <p:cNvPr id="67608" name="Line 23"/>
          <p:cNvSpPr>
            <a:spLocks noChangeShapeType="1"/>
          </p:cNvSpPr>
          <p:nvPr/>
        </p:nvSpPr>
        <p:spPr bwMode="auto">
          <a:xfrm flipH="1">
            <a:off x="5842000" y="244792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7609" name="Line 24"/>
          <p:cNvSpPr>
            <a:spLocks noChangeShapeType="1"/>
          </p:cNvSpPr>
          <p:nvPr/>
        </p:nvSpPr>
        <p:spPr bwMode="auto">
          <a:xfrm>
            <a:off x="6851650" y="244792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7610" name="Line 25"/>
          <p:cNvSpPr>
            <a:spLocks noChangeShapeType="1"/>
          </p:cNvSpPr>
          <p:nvPr/>
        </p:nvSpPr>
        <p:spPr bwMode="auto">
          <a:xfrm flipH="1">
            <a:off x="2971800" y="1760538"/>
            <a:ext cx="1355725" cy="2206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7611" name="Line 26"/>
          <p:cNvSpPr>
            <a:spLocks noChangeShapeType="1"/>
          </p:cNvSpPr>
          <p:nvPr/>
        </p:nvSpPr>
        <p:spPr bwMode="auto">
          <a:xfrm>
            <a:off x="5000625" y="1760538"/>
            <a:ext cx="1400175" cy="2206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7612" name="Oval 27"/>
          <p:cNvSpPr>
            <a:spLocks noChangeArrowheads="1"/>
          </p:cNvSpPr>
          <p:nvPr/>
        </p:nvSpPr>
        <p:spPr bwMode="auto">
          <a:xfrm>
            <a:off x="33178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7613" name="Oval 28"/>
          <p:cNvSpPr>
            <a:spLocks noChangeArrowheads="1"/>
          </p:cNvSpPr>
          <p:nvPr/>
        </p:nvSpPr>
        <p:spPr bwMode="auto">
          <a:xfrm>
            <a:off x="264477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7614" name="Text Box 29"/>
          <p:cNvSpPr txBox="1">
            <a:spLocks noChangeArrowheads="1"/>
          </p:cNvSpPr>
          <p:nvPr/>
        </p:nvSpPr>
        <p:spPr bwMode="auto">
          <a:xfrm>
            <a:off x="2625725" y="408463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67615" name="Oval 30"/>
          <p:cNvSpPr>
            <a:spLocks noChangeArrowheads="1"/>
          </p:cNvSpPr>
          <p:nvPr/>
        </p:nvSpPr>
        <p:spPr bwMode="auto">
          <a:xfrm>
            <a:off x="3654425" y="39846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7616" name="Text Box 31"/>
          <p:cNvSpPr txBox="1">
            <a:spLocks noChangeArrowheads="1"/>
          </p:cNvSpPr>
          <p:nvPr/>
        </p:nvSpPr>
        <p:spPr bwMode="auto">
          <a:xfrm>
            <a:off x="3635375" y="40846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67617" name="Oval 32"/>
          <p:cNvSpPr>
            <a:spLocks noChangeArrowheads="1"/>
          </p:cNvSpPr>
          <p:nvPr/>
        </p:nvSpPr>
        <p:spPr bwMode="auto">
          <a:xfrm>
            <a:off x="53371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7618" name="Text Box 33"/>
          <p:cNvSpPr txBox="1">
            <a:spLocks noChangeArrowheads="1"/>
          </p:cNvSpPr>
          <p:nvPr/>
        </p:nvSpPr>
        <p:spPr bwMode="auto">
          <a:xfrm>
            <a:off x="5314950" y="297973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67619" name="Oval 34"/>
          <p:cNvSpPr>
            <a:spLocks noChangeArrowheads="1"/>
          </p:cNvSpPr>
          <p:nvPr/>
        </p:nvSpPr>
        <p:spPr bwMode="auto">
          <a:xfrm>
            <a:off x="4664075" y="399097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7620" name="Text Box 35"/>
          <p:cNvSpPr txBox="1">
            <a:spLocks noChangeArrowheads="1"/>
          </p:cNvSpPr>
          <p:nvPr/>
        </p:nvSpPr>
        <p:spPr bwMode="auto">
          <a:xfrm>
            <a:off x="4645025" y="408781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67621" name="Oval 36"/>
          <p:cNvSpPr>
            <a:spLocks noChangeArrowheads="1"/>
          </p:cNvSpPr>
          <p:nvPr/>
        </p:nvSpPr>
        <p:spPr bwMode="auto">
          <a:xfrm>
            <a:off x="5673725" y="39909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7622" name="Text Box 37"/>
          <p:cNvSpPr txBox="1">
            <a:spLocks noChangeArrowheads="1"/>
          </p:cNvSpPr>
          <p:nvPr/>
        </p:nvSpPr>
        <p:spPr bwMode="auto">
          <a:xfrm>
            <a:off x="5654675" y="40909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67623" name="Oval 38"/>
          <p:cNvSpPr>
            <a:spLocks noChangeArrowheads="1"/>
          </p:cNvSpPr>
          <p:nvPr/>
        </p:nvSpPr>
        <p:spPr bwMode="auto">
          <a:xfrm>
            <a:off x="6683375" y="399097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7624" name="Text Box 39"/>
          <p:cNvSpPr txBox="1">
            <a:spLocks noChangeArrowheads="1"/>
          </p:cNvSpPr>
          <p:nvPr/>
        </p:nvSpPr>
        <p:spPr bwMode="auto">
          <a:xfrm>
            <a:off x="6664325" y="408940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18</a:t>
            </a:r>
            <a:endParaRPr lang="en-US" altLang="en-US" sz="2400"/>
          </a:p>
        </p:txBody>
      </p:sp>
      <p:sp>
        <p:nvSpPr>
          <p:cNvPr id="67625" name="Oval 40"/>
          <p:cNvSpPr>
            <a:spLocks noChangeArrowheads="1"/>
          </p:cNvSpPr>
          <p:nvPr/>
        </p:nvSpPr>
        <p:spPr bwMode="auto">
          <a:xfrm>
            <a:off x="769302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7626" name="Text Box 41"/>
          <p:cNvSpPr txBox="1">
            <a:spLocks noChangeArrowheads="1"/>
          </p:cNvSpPr>
          <p:nvPr/>
        </p:nvSpPr>
        <p:spPr bwMode="auto">
          <a:xfrm>
            <a:off x="7673975" y="40894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17</a:t>
            </a:r>
            <a:endParaRPr lang="en-US" altLang="en-US" sz="2400"/>
          </a:p>
        </p:txBody>
      </p:sp>
      <p:sp>
        <p:nvSpPr>
          <p:cNvPr id="67627" name="Line 42"/>
          <p:cNvSpPr>
            <a:spLocks noChangeShapeType="1"/>
          </p:cNvSpPr>
          <p:nvPr/>
        </p:nvSpPr>
        <p:spPr bwMode="auto">
          <a:xfrm flipH="1">
            <a:off x="9620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7628" name="Line 43"/>
          <p:cNvSpPr>
            <a:spLocks noChangeShapeType="1"/>
          </p:cNvSpPr>
          <p:nvPr/>
        </p:nvSpPr>
        <p:spPr bwMode="auto">
          <a:xfrm>
            <a:off x="19716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7629" name="Line 44"/>
          <p:cNvSpPr>
            <a:spLocks noChangeShapeType="1"/>
          </p:cNvSpPr>
          <p:nvPr/>
        </p:nvSpPr>
        <p:spPr bwMode="auto">
          <a:xfrm flipH="1">
            <a:off x="29813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7630" name="Line 45"/>
          <p:cNvSpPr>
            <a:spLocks noChangeShapeType="1"/>
          </p:cNvSpPr>
          <p:nvPr/>
        </p:nvSpPr>
        <p:spPr bwMode="auto">
          <a:xfrm>
            <a:off x="39909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7631" name="Line 46"/>
          <p:cNvSpPr>
            <a:spLocks noChangeShapeType="1"/>
          </p:cNvSpPr>
          <p:nvPr/>
        </p:nvSpPr>
        <p:spPr bwMode="auto">
          <a:xfrm flipH="1">
            <a:off x="50006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7632" name="Line 47"/>
          <p:cNvSpPr>
            <a:spLocks noChangeShapeType="1"/>
          </p:cNvSpPr>
          <p:nvPr/>
        </p:nvSpPr>
        <p:spPr bwMode="auto">
          <a:xfrm>
            <a:off x="60102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7633" name="Line 48"/>
          <p:cNvSpPr>
            <a:spLocks noChangeShapeType="1"/>
          </p:cNvSpPr>
          <p:nvPr/>
        </p:nvSpPr>
        <p:spPr bwMode="auto">
          <a:xfrm flipH="1">
            <a:off x="70199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7634" name="Line 49"/>
          <p:cNvSpPr>
            <a:spLocks noChangeShapeType="1"/>
          </p:cNvSpPr>
          <p:nvPr/>
        </p:nvSpPr>
        <p:spPr bwMode="auto">
          <a:xfrm>
            <a:off x="80295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7635" name="Text Box 50"/>
          <p:cNvSpPr txBox="1">
            <a:spLocks noChangeArrowheads="1"/>
          </p:cNvSpPr>
          <p:nvPr/>
        </p:nvSpPr>
        <p:spPr bwMode="auto">
          <a:xfrm>
            <a:off x="4495800" y="1914525"/>
            <a:ext cx="6731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67636" name="Text Box 51"/>
          <p:cNvSpPr txBox="1">
            <a:spLocks noChangeArrowheads="1"/>
          </p:cNvSpPr>
          <p:nvPr/>
        </p:nvSpPr>
        <p:spPr bwMode="auto">
          <a:xfrm>
            <a:off x="2476500" y="2447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67637" name="Text Box 52"/>
          <p:cNvSpPr txBox="1">
            <a:spLocks noChangeArrowheads="1"/>
          </p:cNvSpPr>
          <p:nvPr/>
        </p:nvSpPr>
        <p:spPr bwMode="auto">
          <a:xfrm>
            <a:off x="6515100" y="2447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67638" name="Text Box 53"/>
          <p:cNvSpPr txBox="1">
            <a:spLocks noChangeArrowheads="1"/>
          </p:cNvSpPr>
          <p:nvPr/>
        </p:nvSpPr>
        <p:spPr bwMode="auto">
          <a:xfrm>
            <a:off x="14668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67639" name="Text Box 54"/>
          <p:cNvSpPr txBox="1">
            <a:spLocks noChangeArrowheads="1"/>
          </p:cNvSpPr>
          <p:nvPr/>
        </p:nvSpPr>
        <p:spPr bwMode="auto">
          <a:xfrm>
            <a:off x="34861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67640" name="Text Box 55"/>
          <p:cNvSpPr txBox="1">
            <a:spLocks noChangeArrowheads="1"/>
          </p:cNvSpPr>
          <p:nvPr/>
        </p:nvSpPr>
        <p:spPr bwMode="auto">
          <a:xfrm>
            <a:off x="55054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67641" name="Text Box 56"/>
          <p:cNvSpPr txBox="1">
            <a:spLocks noChangeArrowheads="1"/>
          </p:cNvSpPr>
          <p:nvPr/>
        </p:nvSpPr>
        <p:spPr bwMode="auto">
          <a:xfrm>
            <a:off x="75247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67642" name="Text Box 57"/>
          <p:cNvSpPr txBox="1">
            <a:spLocks noChangeArrowheads="1"/>
          </p:cNvSpPr>
          <p:nvPr/>
        </p:nvSpPr>
        <p:spPr bwMode="auto">
          <a:xfrm>
            <a:off x="79375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67643" name="Text Box 58"/>
          <p:cNvSpPr txBox="1">
            <a:spLocks noChangeArrowheads="1"/>
          </p:cNvSpPr>
          <p:nvPr/>
        </p:nvSpPr>
        <p:spPr bwMode="auto">
          <a:xfrm>
            <a:off x="180340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67644" name="Text Box 59"/>
          <p:cNvSpPr txBox="1">
            <a:spLocks noChangeArrowheads="1"/>
          </p:cNvSpPr>
          <p:nvPr/>
        </p:nvSpPr>
        <p:spPr bwMode="auto">
          <a:xfrm>
            <a:off x="281305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67645" name="Text Box 60"/>
          <p:cNvSpPr txBox="1">
            <a:spLocks noChangeArrowheads="1"/>
          </p:cNvSpPr>
          <p:nvPr/>
        </p:nvSpPr>
        <p:spPr bwMode="auto">
          <a:xfrm>
            <a:off x="36544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67646" name="Text Box 61"/>
          <p:cNvSpPr txBox="1">
            <a:spLocks noChangeArrowheads="1"/>
          </p:cNvSpPr>
          <p:nvPr/>
        </p:nvSpPr>
        <p:spPr bwMode="auto">
          <a:xfrm>
            <a:off x="466407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67647" name="Text Box 62"/>
          <p:cNvSpPr txBox="1">
            <a:spLocks noChangeArrowheads="1"/>
          </p:cNvSpPr>
          <p:nvPr/>
        </p:nvSpPr>
        <p:spPr bwMode="auto">
          <a:xfrm>
            <a:off x="56737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67648" name="Text Box 63"/>
          <p:cNvSpPr txBox="1">
            <a:spLocks noChangeArrowheads="1"/>
          </p:cNvSpPr>
          <p:nvPr/>
        </p:nvSpPr>
        <p:spPr bwMode="auto">
          <a:xfrm>
            <a:off x="668337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67649" name="Text Box 64"/>
          <p:cNvSpPr txBox="1">
            <a:spLocks noChangeArrowheads="1"/>
          </p:cNvSpPr>
          <p:nvPr/>
        </p:nvSpPr>
        <p:spPr bwMode="auto">
          <a:xfrm>
            <a:off x="76930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67650" name="Oval 65"/>
          <p:cNvSpPr>
            <a:spLocks noChangeArrowheads="1"/>
          </p:cNvSpPr>
          <p:nvPr/>
        </p:nvSpPr>
        <p:spPr bwMode="auto">
          <a:xfrm>
            <a:off x="457200" y="507047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7651" name="Text Box 66"/>
          <p:cNvSpPr txBox="1">
            <a:spLocks noChangeArrowheads="1"/>
          </p:cNvSpPr>
          <p:nvPr/>
        </p:nvSpPr>
        <p:spPr bwMode="auto">
          <a:xfrm>
            <a:off x="438150" y="51689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67652" name="Oval 67"/>
          <p:cNvSpPr>
            <a:spLocks noChangeArrowheads="1"/>
          </p:cNvSpPr>
          <p:nvPr/>
        </p:nvSpPr>
        <p:spPr bwMode="auto">
          <a:xfrm>
            <a:off x="1466850" y="506888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7653" name="Text Box 68"/>
          <p:cNvSpPr txBox="1">
            <a:spLocks noChangeArrowheads="1"/>
          </p:cNvSpPr>
          <p:nvPr/>
        </p:nvSpPr>
        <p:spPr bwMode="auto">
          <a:xfrm>
            <a:off x="1447800" y="51689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9</a:t>
            </a:r>
            <a:endParaRPr lang="en-US" altLang="en-US" sz="2400"/>
          </a:p>
        </p:txBody>
      </p:sp>
      <p:sp>
        <p:nvSpPr>
          <p:cNvPr id="67654" name="Text Box 69"/>
          <p:cNvSpPr txBox="1">
            <a:spLocks noChangeArrowheads="1"/>
          </p:cNvSpPr>
          <p:nvPr/>
        </p:nvSpPr>
        <p:spPr bwMode="auto">
          <a:xfrm>
            <a:off x="1466850" y="56356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67655" name="Line 70"/>
          <p:cNvSpPr>
            <a:spLocks noChangeShapeType="1"/>
          </p:cNvSpPr>
          <p:nvPr/>
        </p:nvSpPr>
        <p:spPr bwMode="auto">
          <a:xfrm flipH="1">
            <a:off x="625475" y="460692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7656" name="Line 71"/>
          <p:cNvSpPr>
            <a:spLocks noChangeShapeType="1"/>
          </p:cNvSpPr>
          <p:nvPr/>
        </p:nvSpPr>
        <p:spPr bwMode="auto">
          <a:xfrm>
            <a:off x="1130300" y="460692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7657" name="Text Box 72"/>
          <p:cNvSpPr txBox="1">
            <a:spLocks noChangeArrowheads="1"/>
          </p:cNvSpPr>
          <p:nvPr/>
        </p:nvSpPr>
        <p:spPr bwMode="auto">
          <a:xfrm>
            <a:off x="457200" y="56356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67658" name="Text Box 73"/>
          <p:cNvSpPr txBox="1">
            <a:spLocks noChangeArrowheads="1"/>
          </p:cNvSpPr>
          <p:nvPr/>
        </p:nvSpPr>
        <p:spPr bwMode="auto">
          <a:xfrm>
            <a:off x="3257550" y="297973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67659" name="Text Box 74"/>
          <p:cNvSpPr txBox="1">
            <a:spLocks noChangeArrowheads="1"/>
          </p:cNvSpPr>
          <p:nvPr/>
        </p:nvSpPr>
        <p:spPr bwMode="auto">
          <a:xfrm>
            <a:off x="2514600" y="5105400"/>
            <a:ext cx="6096000" cy="466725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(left child #) = 2 * (parent #) + 1</a:t>
            </a: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37F616AA-AAAD-475E-B427-0BB6662A1F1A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68</a:t>
            </a:fld>
            <a:endParaRPr lang="en-US" altLang="en-US" sz="1400"/>
          </a:p>
        </p:txBody>
      </p:sp>
      <p:sp>
        <p:nvSpPr>
          <p:cNvPr id="68611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Heap Properties (cont.)</a:t>
            </a:r>
          </a:p>
        </p:txBody>
      </p:sp>
      <p:sp>
        <p:nvSpPr>
          <p:cNvPr id="68612" name="Oval 3"/>
          <p:cNvSpPr>
            <a:spLocks noChangeArrowheads="1"/>
          </p:cNvSpPr>
          <p:nvPr/>
        </p:nvSpPr>
        <p:spPr bwMode="auto">
          <a:xfrm>
            <a:off x="2308225" y="18288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8613" name="Text Box 4"/>
          <p:cNvSpPr txBox="1">
            <a:spLocks noChangeArrowheads="1"/>
          </p:cNvSpPr>
          <p:nvPr/>
        </p:nvSpPr>
        <p:spPr bwMode="auto">
          <a:xfrm>
            <a:off x="2289175" y="1930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68614" name="Oval 5"/>
          <p:cNvSpPr>
            <a:spLocks noChangeArrowheads="1"/>
          </p:cNvSpPr>
          <p:nvPr/>
        </p:nvSpPr>
        <p:spPr bwMode="auto">
          <a:xfrm>
            <a:off x="12985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8615" name="Text Box 6"/>
          <p:cNvSpPr txBox="1">
            <a:spLocks noChangeArrowheads="1"/>
          </p:cNvSpPr>
          <p:nvPr/>
        </p:nvSpPr>
        <p:spPr bwMode="auto">
          <a:xfrm>
            <a:off x="1279525" y="300990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68616" name="Oval 7"/>
          <p:cNvSpPr>
            <a:spLocks noChangeArrowheads="1"/>
          </p:cNvSpPr>
          <p:nvPr/>
        </p:nvSpPr>
        <p:spPr bwMode="auto">
          <a:xfrm>
            <a:off x="625475" y="399097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8617" name="Text Box 8"/>
          <p:cNvSpPr txBox="1">
            <a:spLocks noChangeArrowheads="1"/>
          </p:cNvSpPr>
          <p:nvPr/>
        </p:nvSpPr>
        <p:spPr bwMode="auto">
          <a:xfrm>
            <a:off x="606425" y="4089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68618" name="Text Box 9"/>
          <p:cNvSpPr txBox="1">
            <a:spLocks noChangeArrowheads="1"/>
          </p:cNvSpPr>
          <p:nvPr/>
        </p:nvSpPr>
        <p:spPr bwMode="auto">
          <a:xfrm>
            <a:off x="2139950" y="114300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68619" name="Oval 10"/>
          <p:cNvSpPr>
            <a:spLocks noChangeArrowheads="1"/>
          </p:cNvSpPr>
          <p:nvPr/>
        </p:nvSpPr>
        <p:spPr bwMode="auto">
          <a:xfrm>
            <a:off x="163512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8620" name="Text Box 11"/>
          <p:cNvSpPr txBox="1">
            <a:spLocks noChangeArrowheads="1"/>
          </p:cNvSpPr>
          <p:nvPr/>
        </p:nvSpPr>
        <p:spPr bwMode="auto">
          <a:xfrm>
            <a:off x="1616075" y="40894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3</a:t>
            </a:r>
            <a:endParaRPr lang="en-US" altLang="en-US" sz="2400"/>
          </a:p>
        </p:txBody>
      </p:sp>
      <p:sp>
        <p:nvSpPr>
          <p:cNvPr id="68621" name="Oval 12"/>
          <p:cNvSpPr>
            <a:spLocks noChangeArrowheads="1"/>
          </p:cNvSpPr>
          <p:nvPr/>
        </p:nvSpPr>
        <p:spPr bwMode="auto">
          <a:xfrm>
            <a:off x="4327525" y="12954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8622" name="Text Box 13"/>
          <p:cNvSpPr txBox="1">
            <a:spLocks noChangeArrowheads="1"/>
          </p:cNvSpPr>
          <p:nvPr/>
        </p:nvSpPr>
        <p:spPr bwMode="auto">
          <a:xfrm>
            <a:off x="4308475" y="1395413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46</a:t>
            </a:r>
            <a:endParaRPr lang="en-US" altLang="en-US" sz="2400"/>
          </a:p>
        </p:txBody>
      </p:sp>
      <p:sp>
        <p:nvSpPr>
          <p:cNvPr id="68623" name="Line 14"/>
          <p:cNvSpPr>
            <a:spLocks noChangeShapeType="1"/>
          </p:cNvSpPr>
          <p:nvPr/>
        </p:nvSpPr>
        <p:spPr bwMode="auto">
          <a:xfrm>
            <a:off x="2813050" y="145097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8624" name="Oval 15"/>
          <p:cNvSpPr>
            <a:spLocks noChangeArrowheads="1"/>
          </p:cNvSpPr>
          <p:nvPr/>
        </p:nvSpPr>
        <p:spPr bwMode="auto">
          <a:xfrm>
            <a:off x="33178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8625" name="Line 16"/>
          <p:cNvSpPr>
            <a:spLocks noChangeShapeType="1"/>
          </p:cNvSpPr>
          <p:nvPr/>
        </p:nvSpPr>
        <p:spPr bwMode="auto">
          <a:xfrm flipH="1">
            <a:off x="1803400" y="244792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8626" name="Line 17"/>
          <p:cNvSpPr>
            <a:spLocks noChangeShapeType="1"/>
          </p:cNvSpPr>
          <p:nvPr/>
        </p:nvSpPr>
        <p:spPr bwMode="auto">
          <a:xfrm>
            <a:off x="2813050" y="244792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8627" name="Oval 18"/>
          <p:cNvSpPr>
            <a:spLocks noChangeArrowheads="1"/>
          </p:cNvSpPr>
          <p:nvPr/>
        </p:nvSpPr>
        <p:spPr bwMode="auto">
          <a:xfrm>
            <a:off x="6346825" y="18288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8628" name="Text Box 19"/>
          <p:cNvSpPr txBox="1">
            <a:spLocks noChangeArrowheads="1"/>
          </p:cNvSpPr>
          <p:nvPr/>
        </p:nvSpPr>
        <p:spPr bwMode="auto">
          <a:xfrm>
            <a:off x="6327775" y="1930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68629" name="Oval 20"/>
          <p:cNvSpPr>
            <a:spLocks noChangeArrowheads="1"/>
          </p:cNvSpPr>
          <p:nvPr/>
        </p:nvSpPr>
        <p:spPr bwMode="auto">
          <a:xfrm>
            <a:off x="53371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8630" name="Oval 21"/>
          <p:cNvSpPr>
            <a:spLocks noChangeArrowheads="1"/>
          </p:cNvSpPr>
          <p:nvPr/>
        </p:nvSpPr>
        <p:spPr bwMode="auto">
          <a:xfrm>
            <a:off x="73564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8631" name="Text Box 22"/>
          <p:cNvSpPr txBox="1">
            <a:spLocks noChangeArrowheads="1"/>
          </p:cNvSpPr>
          <p:nvPr/>
        </p:nvSpPr>
        <p:spPr bwMode="auto">
          <a:xfrm>
            <a:off x="7337425" y="30099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25</a:t>
            </a:r>
            <a:endParaRPr lang="en-US" altLang="en-US" sz="2400"/>
          </a:p>
        </p:txBody>
      </p:sp>
      <p:sp>
        <p:nvSpPr>
          <p:cNvPr id="68632" name="Line 23"/>
          <p:cNvSpPr>
            <a:spLocks noChangeShapeType="1"/>
          </p:cNvSpPr>
          <p:nvPr/>
        </p:nvSpPr>
        <p:spPr bwMode="auto">
          <a:xfrm flipH="1">
            <a:off x="5842000" y="244792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8633" name="Line 24"/>
          <p:cNvSpPr>
            <a:spLocks noChangeShapeType="1"/>
          </p:cNvSpPr>
          <p:nvPr/>
        </p:nvSpPr>
        <p:spPr bwMode="auto">
          <a:xfrm>
            <a:off x="6851650" y="244792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8634" name="Line 25"/>
          <p:cNvSpPr>
            <a:spLocks noChangeShapeType="1"/>
          </p:cNvSpPr>
          <p:nvPr/>
        </p:nvSpPr>
        <p:spPr bwMode="auto">
          <a:xfrm flipH="1">
            <a:off x="2971800" y="1760538"/>
            <a:ext cx="1355725" cy="2206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8635" name="Line 26"/>
          <p:cNvSpPr>
            <a:spLocks noChangeShapeType="1"/>
          </p:cNvSpPr>
          <p:nvPr/>
        </p:nvSpPr>
        <p:spPr bwMode="auto">
          <a:xfrm>
            <a:off x="5000625" y="1760538"/>
            <a:ext cx="1400175" cy="2206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8636" name="Oval 27"/>
          <p:cNvSpPr>
            <a:spLocks noChangeArrowheads="1"/>
          </p:cNvSpPr>
          <p:nvPr/>
        </p:nvSpPr>
        <p:spPr bwMode="auto">
          <a:xfrm>
            <a:off x="33178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8637" name="Oval 28"/>
          <p:cNvSpPr>
            <a:spLocks noChangeArrowheads="1"/>
          </p:cNvSpPr>
          <p:nvPr/>
        </p:nvSpPr>
        <p:spPr bwMode="auto">
          <a:xfrm>
            <a:off x="264477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8638" name="Text Box 29"/>
          <p:cNvSpPr txBox="1">
            <a:spLocks noChangeArrowheads="1"/>
          </p:cNvSpPr>
          <p:nvPr/>
        </p:nvSpPr>
        <p:spPr bwMode="auto">
          <a:xfrm>
            <a:off x="2625725" y="408463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68639" name="Oval 30"/>
          <p:cNvSpPr>
            <a:spLocks noChangeArrowheads="1"/>
          </p:cNvSpPr>
          <p:nvPr/>
        </p:nvSpPr>
        <p:spPr bwMode="auto">
          <a:xfrm>
            <a:off x="3654425" y="39846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8640" name="Text Box 31"/>
          <p:cNvSpPr txBox="1">
            <a:spLocks noChangeArrowheads="1"/>
          </p:cNvSpPr>
          <p:nvPr/>
        </p:nvSpPr>
        <p:spPr bwMode="auto">
          <a:xfrm>
            <a:off x="3635375" y="40846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68641" name="Oval 32"/>
          <p:cNvSpPr>
            <a:spLocks noChangeArrowheads="1"/>
          </p:cNvSpPr>
          <p:nvPr/>
        </p:nvSpPr>
        <p:spPr bwMode="auto">
          <a:xfrm>
            <a:off x="53371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8642" name="Text Box 33"/>
          <p:cNvSpPr txBox="1">
            <a:spLocks noChangeArrowheads="1"/>
          </p:cNvSpPr>
          <p:nvPr/>
        </p:nvSpPr>
        <p:spPr bwMode="auto">
          <a:xfrm>
            <a:off x="5314950" y="297973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68643" name="Oval 34"/>
          <p:cNvSpPr>
            <a:spLocks noChangeArrowheads="1"/>
          </p:cNvSpPr>
          <p:nvPr/>
        </p:nvSpPr>
        <p:spPr bwMode="auto">
          <a:xfrm>
            <a:off x="4664075" y="399097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8644" name="Text Box 35"/>
          <p:cNvSpPr txBox="1">
            <a:spLocks noChangeArrowheads="1"/>
          </p:cNvSpPr>
          <p:nvPr/>
        </p:nvSpPr>
        <p:spPr bwMode="auto">
          <a:xfrm>
            <a:off x="4645025" y="408781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68645" name="Oval 36"/>
          <p:cNvSpPr>
            <a:spLocks noChangeArrowheads="1"/>
          </p:cNvSpPr>
          <p:nvPr/>
        </p:nvSpPr>
        <p:spPr bwMode="auto">
          <a:xfrm>
            <a:off x="5673725" y="39909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8646" name="Text Box 37"/>
          <p:cNvSpPr txBox="1">
            <a:spLocks noChangeArrowheads="1"/>
          </p:cNvSpPr>
          <p:nvPr/>
        </p:nvSpPr>
        <p:spPr bwMode="auto">
          <a:xfrm>
            <a:off x="5654675" y="40909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68647" name="Oval 38"/>
          <p:cNvSpPr>
            <a:spLocks noChangeArrowheads="1"/>
          </p:cNvSpPr>
          <p:nvPr/>
        </p:nvSpPr>
        <p:spPr bwMode="auto">
          <a:xfrm>
            <a:off x="6683375" y="399097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8648" name="Text Box 39"/>
          <p:cNvSpPr txBox="1">
            <a:spLocks noChangeArrowheads="1"/>
          </p:cNvSpPr>
          <p:nvPr/>
        </p:nvSpPr>
        <p:spPr bwMode="auto">
          <a:xfrm>
            <a:off x="6664325" y="408940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18</a:t>
            </a:r>
            <a:endParaRPr lang="en-US" altLang="en-US" sz="2400"/>
          </a:p>
        </p:txBody>
      </p:sp>
      <p:sp>
        <p:nvSpPr>
          <p:cNvPr id="68649" name="Oval 40"/>
          <p:cNvSpPr>
            <a:spLocks noChangeArrowheads="1"/>
          </p:cNvSpPr>
          <p:nvPr/>
        </p:nvSpPr>
        <p:spPr bwMode="auto">
          <a:xfrm>
            <a:off x="769302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8650" name="Text Box 41"/>
          <p:cNvSpPr txBox="1">
            <a:spLocks noChangeArrowheads="1"/>
          </p:cNvSpPr>
          <p:nvPr/>
        </p:nvSpPr>
        <p:spPr bwMode="auto">
          <a:xfrm>
            <a:off x="7673975" y="40894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17</a:t>
            </a:r>
            <a:endParaRPr lang="en-US" altLang="en-US" sz="2400"/>
          </a:p>
        </p:txBody>
      </p:sp>
      <p:sp>
        <p:nvSpPr>
          <p:cNvPr id="68651" name="Line 42"/>
          <p:cNvSpPr>
            <a:spLocks noChangeShapeType="1"/>
          </p:cNvSpPr>
          <p:nvPr/>
        </p:nvSpPr>
        <p:spPr bwMode="auto">
          <a:xfrm flipH="1">
            <a:off x="9620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8652" name="Line 43"/>
          <p:cNvSpPr>
            <a:spLocks noChangeShapeType="1"/>
          </p:cNvSpPr>
          <p:nvPr/>
        </p:nvSpPr>
        <p:spPr bwMode="auto">
          <a:xfrm>
            <a:off x="19716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8653" name="Line 44"/>
          <p:cNvSpPr>
            <a:spLocks noChangeShapeType="1"/>
          </p:cNvSpPr>
          <p:nvPr/>
        </p:nvSpPr>
        <p:spPr bwMode="auto">
          <a:xfrm flipH="1">
            <a:off x="29813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8654" name="Line 45"/>
          <p:cNvSpPr>
            <a:spLocks noChangeShapeType="1"/>
          </p:cNvSpPr>
          <p:nvPr/>
        </p:nvSpPr>
        <p:spPr bwMode="auto">
          <a:xfrm>
            <a:off x="39909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8655" name="Line 46"/>
          <p:cNvSpPr>
            <a:spLocks noChangeShapeType="1"/>
          </p:cNvSpPr>
          <p:nvPr/>
        </p:nvSpPr>
        <p:spPr bwMode="auto">
          <a:xfrm flipH="1">
            <a:off x="50006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8656" name="Line 47"/>
          <p:cNvSpPr>
            <a:spLocks noChangeShapeType="1"/>
          </p:cNvSpPr>
          <p:nvPr/>
        </p:nvSpPr>
        <p:spPr bwMode="auto">
          <a:xfrm>
            <a:off x="60102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8657" name="Line 48"/>
          <p:cNvSpPr>
            <a:spLocks noChangeShapeType="1"/>
          </p:cNvSpPr>
          <p:nvPr/>
        </p:nvSpPr>
        <p:spPr bwMode="auto">
          <a:xfrm flipH="1">
            <a:off x="70199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8658" name="Line 49"/>
          <p:cNvSpPr>
            <a:spLocks noChangeShapeType="1"/>
          </p:cNvSpPr>
          <p:nvPr/>
        </p:nvSpPr>
        <p:spPr bwMode="auto">
          <a:xfrm>
            <a:off x="80295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8659" name="Text Box 50"/>
          <p:cNvSpPr txBox="1">
            <a:spLocks noChangeArrowheads="1"/>
          </p:cNvSpPr>
          <p:nvPr/>
        </p:nvSpPr>
        <p:spPr bwMode="auto">
          <a:xfrm>
            <a:off x="4495800" y="1914525"/>
            <a:ext cx="6731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68660" name="Text Box 51"/>
          <p:cNvSpPr txBox="1">
            <a:spLocks noChangeArrowheads="1"/>
          </p:cNvSpPr>
          <p:nvPr/>
        </p:nvSpPr>
        <p:spPr bwMode="auto">
          <a:xfrm>
            <a:off x="2476500" y="2447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68661" name="Text Box 52"/>
          <p:cNvSpPr txBox="1">
            <a:spLocks noChangeArrowheads="1"/>
          </p:cNvSpPr>
          <p:nvPr/>
        </p:nvSpPr>
        <p:spPr bwMode="auto">
          <a:xfrm>
            <a:off x="6515100" y="2447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68662" name="Text Box 53"/>
          <p:cNvSpPr txBox="1">
            <a:spLocks noChangeArrowheads="1"/>
          </p:cNvSpPr>
          <p:nvPr/>
        </p:nvSpPr>
        <p:spPr bwMode="auto">
          <a:xfrm>
            <a:off x="14668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68663" name="Text Box 54"/>
          <p:cNvSpPr txBox="1">
            <a:spLocks noChangeArrowheads="1"/>
          </p:cNvSpPr>
          <p:nvPr/>
        </p:nvSpPr>
        <p:spPr bwMode="auto">
          <a:xfrm>
            <a:off x="34861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68664" name="Text Box 55"/>
          <p:cNvSpPr txBox="1">
            <a:spLocks noChangeArrowheads="1"/>
          </p:cNvSpPr>
          <p:nvPr/>
        </p:nvSpPr>
        <p:spPr bwMode="auto">
          <a:xfrm>
            <a:off x="55054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68665" name="Text Box 56"/>
          <p:cNvSpPr txBox="1">
            <a:spLocks noChangeArrowheads="1"/>
          </p:cNvSpPr>
          <p:nvPr/>
        </p:nvSpPr>
        <p:spPr bwMode="auto">
          <a:xfrm>
            <a:off x="75247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68666" name="Text Box 57"/>
          <p:cNvSpPr txBox="1">
            <a:spLocks noChangeArrowheads="1"/>
          </p:cNvSpPr>
          <p:nvPr/>
        </p:nvSpPr>
        <p:spPr bwMode="auto">
          <a:xfrm>
            <a:off x="79375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68667" name="Text Box 58"/>
          <p:cNvSpPr txBox="1">
            <a:spLocks noChangeArrowheads="1"/>
          </p:cNvSpPr>
          <p:nvPr/>
        </p:nvSpPr>
        <p:spPr bwMode="auto">
          <a:xfrm>
            <a:off x="180340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68668" name="Text Box 59"/>
          <p:cNvSpPr txBox="1">
            <a:spLocks noChangeArrowheads="1"/>
          </p:cNvSpPr>
          <p:nvPr/>
        </p:nvSpPr>
        <p:spPr bwMode="auto">
          <a:xfrm>
            <a:off x="281305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68669" name="Text Box 60"/>
          <p:cNvSpPr txBox="1">
            <a:spLocks noChangeArrowheads="1"/>
          </p:cNvSpPr>
          <p:nvPr/>
        </p:nvSpPr>
        <p:spPr bwMode="auto">
          <a:xfrm>
            <a:off x="36544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68670" name="Text Box 61"/>
          <p:cNvSpPr txBox="1">
            <a:spLocks noChangeArrowheads="1"/>
          </p:cNvSpPr>
          <p:nvPr/>
        </p:nvSpPr>
        <p:spPr bwMode="auto">
          <a:xfrm>
            <a:off x="466407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68671" name="Text Box 62"/>
          <p:cNvSpPr txBox="1">
            <a:spLocks noChangeArrowheads="1"/>
          </p:cNvSpPr>
          <p:nvPr/>
        </p:nvSpPr>
        <p:spPr bwMode="auto">
          <a:xfrm>
            <a:off x="56737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68672" name="Text Box 63"/>
          <p:cNvSpPr txBox="1">
            <a:spLocks noChangeArrowheads="1"/>
          </p:cNvSpPr>
          <p:nvPr/>
        </p:nvSpPr>
        <p:spPr bwMode="auto">
          <a:xfrm>
            <a:off x="668337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68673" name="Text Box 64"/>
          <p:cNvSpPr txBox="1">
            <a:spLocks noChangeArrowheads="1"/>
          </p:cNvSpPr>
          <p:nvPr/>
        </p:nvSpPr>
        <p:spPr bwMode="auto">
          <a:xfrm>
            <a:off x="76930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68674" name="Oval 65"/>
          <p:cNvSpPr>
            <a:spLocks noChangeArrowheads="1"/>
          </p:cNvSpPr>
          <p:nvPr/>
        </p:nvSpPr>
        <p:spPr bwMode="auto">
          <a:xfrm>
            <a:off x="457200" y="507047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8675" name="Text Box 66"/>
          <p:cNvSpPr txBox="1">
            <a:spLocks noChangeArrowheads="1"/>
          </p:cNvSpPr>
          <p:nvPr/>
        </p:nvSpPr>
        <p:spPr bwMode="auto">
          <a:xfrm>
            <a:off x="438150" y="51689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68676" name="Oval 67"/>
          <p:cNvSpPr>
            <a:spLocks noChangeArrowheads="1"/>
          </p:cNvSpPr>
          <p:nvPr/>
        </p:nvSpPr>
        <p:spPr bwMode="auto">
          <a:xfrm>
            <a:off x="1466850" y="506888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8677" name="Text Box 68"/>
          <p:cNvSpPr txBox="1">
            <a:spLocks noChangeArrowheads="1"/>
          </p:cNvSpPr>
          <p:nvPr/>
        </p:nvSpPr>
        <p:spPr bwMode="auto">
          <a:xfrm>
            <a:off x="1447800" y="51689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9</a:t>
            </a:r>
            <a:endParaRPr lang="en-US" altLang="en-US" sz="2400"/>
          </a:p>
        </p:txBody>
      </p:sp>
      <p:sp>
        <p:nvSpPr>
          <p:cNvPr id="68678" name="Text Box 69"/>
          <p:cNvSpPr txBox="1">
            <a:spLocks noChangeArrowheads="1"/>
          </p:cNvSpPr>
          <p:nvPr/>
        </p:nvSpPr>
        <p:spPr bwMode="auto">
          <a:xfrm>
            <a:off x="1466850" y="56356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68679" name="Line 70"/>
          <p:cNvSpPr>
            <a:spLocks noChangeShapeType="1"/>
          </p:cNvSpPr>
          <p:nvPr/>
        </p:nvSpPr>
        <p:spPr bwMode="auto">
          <a:xfrm flipH="1">
            <a:off x="625475" y="460692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8680" name="Line 71"/>
          <p:cNvSpPr>
            <a:spLocks noChangeShapeType="1"/>
          </p:cNvSpPr>
          <p:nvPr/>
        </p:nvSpPr>
        <p:spPr bwMode="auto">
          <a:xfrm>
            <a:off x="1130300" y="460692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8681" name="Text Box 72"/>
          <p:cNvSpPr txBox="1">
            <a:spLocks noChangeArrowheads="1"/>
          </p:cNvSpPr>
          <p:nvPr/>
        </p:nvSpPr>
        <p:spPr bwMode="auto">
          <a:xfrm>
            <a:off x="457200" y="56356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68682" name="Text Box 73"/>
          <p:cNvSpPr txBox="1">
            <a:spLocks noChangeArrowheads="1"/>
          </p:cNvSpPr>
          <p:nvPr/>
        </p:nvSpPr>
        <p:spPr bwMode="auto">
          <a:xfrm>
            <a:off x="3257550" y="297973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68683" name="Text Box 74"/>
          <p:cNvSpPr txBox="1">
            <a:spLocks noChangeArrowheads="1"/>
          </p:cNvSpPr>
          <p:nvPr/>
        </p:nvSpPr>
        <p:spPr bwMode="auto">
          <a:xfrm>
            <a:off x="2514600" y="5105400"/>
            <a:ext cx="6096000" cy="466725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(left child #) = 2 * (parent #) + 1</a:t>
            </a:r>
          </a:p>
        </p:txBody>
      </p:sp>
      <p:sp>
        <p:nvSpPr>
          <p:cNvPr id="68684" name="Oval 75"/>
          <p:cNvSpPr>
            <a:spLocks noChangeArrowheads="1"/>
          </p:cNvSpPr>
          <p:nvPr/>
        </p:nvSpPr>
        <p:spPr bwMode="auto">
          <a:xfrm>
            <a:off x="609600" y="5562600"/>
            <a:ext cx="457200" cy="457200"/>
          </a:xfrm>
          <a:prstGeom prst="ellipse">
            <a:avLst/>
          </a:prstGeom>
          <a:noFill/>
          <a:ln w="38100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8685" name="Oval 77"/>
          <p:cNvSpPr>
            <a:spLocks noChangeArrowheads="1"/>
          </p:cNvSpPr>
          <p:nvPr/>
        </p:nvSpPr>
        <p:spPr bwMode="auto">
          <a:xfrm>
            <a:off x="762000" y="4572000"/>
            <a:ext cx="457200" cy="457200"/>
          </a:xfrm>
          <a:prstGeom prst="ellipse">
            <a:avLst/>
          </a:prstGeom>
          <a:noFill/>
          <a:ln w="38100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95BE2283-874A-44A0-9DFD-EFEA1583A2A2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69</a:t>
            </a:fld>
            <a:endParaRPr lang="en-US" altLang="en-US" sz="1400"/>
          </a:p>
        </p:txBody>
      </p:sp>
      <p:sp>
        <p:nvSpPr>
          <p:cNvPr id="69635" name="Oval 3"/>
          <p:cNvSpPr>
            <a:spLocks noChangeArrowheads="1"/>
          </p:cNvSpPr>
          <p:nvPr/>
        </p:nvSpPr>
        <p:spPr bwMode="auto">
          <a:xfrm>
            <a:off x="2308225" y="18288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9636" name="Text Box 4"/>
          <p:cNvSpPr txBox="1">
            <a:spLocks noChangeArrowheads="1"/>
          </p:cNvSpPr>
          <p:nvPr/>
        </p:nvSpPr>
        <p:spPr bwMode="auto">
          <a:xfrm>
            <a:off x="2289175" y="1930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69637" name="Oval 5"/>
          <p:cNvSpPr>
            <a:spLocks noChangeArrowheads="1"/>
          </p:cNvSpPr>
          <p:nvPr/>
        </p:nvSpPr>
        <p:spPr bwMode="auto">
          <a:xfrm>
            <a:off x="12985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9638" name="Text Box 6"/>
          <p:cNvSpPr txBox="1">
            <a:spLocks noChangeArrowheads="1"/>
          </p:cNvSpPr>
          <p:nvPr/>
        </p:nvSpPr>
        <p:spPr bwMode="auto">
          <a:xfrm>
            <a:off x="1279525" y="300990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69639" name="Oval 7"/>
          <p:cNvSpPr>
            <a:spLocks noChangeArrowheads="1"/>
          </p:cNvSpPr>
          <p:nvPr/>
        </p:nvSpPr>
        <p:spPr bwMode="auto">
          <a:xfrm>
            <a:off x="625475" y="399097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9640" name="Text Box 8"/>
          <p:cNvSpPr txBox="1">
            <a:spLocks noChangeArrowheads="1"/>
          </p:cNvSpPr>
          <p:nvPr/>
        </p:nvSpPr>
        <p:spPr bwMode="auto">
          <a:xfrm>
            <a:off x="606425" y="4089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69641" name="Text Box 9"/>
          <p:cNvSpPr txBox="1">
            <a:spLocks noChangeArrowheads="1"/>
          </p:cNvSpPr>
          <p:nvPr/>
        </p:nvSpPr>
        <p:spPr bwMode="auto">
          <a:xfrm>
            <a:off x="2139950" y="114300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69642" name="Oval 10"/>
          <p:cNvSpPr>
            <a:spLocks noChangeArrowheads="1"/>
          </p:cNvSpPr>
          <p:nvPr/>
        </p:nvSpPr>
        <p:spPr bwMode="auto">
          <a:xfrm>
            <a:off x="163512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9643" name="Text Box 11"/>
          <p:cNvSpPr txBox="1">
            <a:spLocks noChangeArrowheads="1"/>
          </p:cNvSpPr>
          <p:nvPr/>
        </p:nvSpPr>
        <p:spPr bwMode="auto">
          <a:xfrm>
            <a:off x="1616075" y="40894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3</a:t>
            </a:r>
            <a:endParaRPr lang="en-US" altLang="en-US" sz="2400"/>
          </a:p>
        </p:txBody>
      </p:sp>
      <p:sp>
        <p:nvSpPr>
          <p:cNvPr id="69644" name="Oval 12"/>
          <p:cNvSpPr>
            <a:spLocks noChangeArrowheads="1"/>
          </p:cNvSpPr>
          <p:nvPr/>
        </p:nvSpPr>
        <p:spPr bwMode="auto">
          <a:xfrm>
            <a:off x="4327525" y="12954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9645" name="Text Box 13"/>
          <p:cNvSpPr txBox="1">
            <a:spLocks noChangeArrowheads="1"/>
          </p:cNvSpPr>
          <p:nvPr/>
        </p:nvSpPr>
        <p:spPr bwMode="auto">
          <a:xfrm>
            <a:off x="4308475" y="1395413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46</a:t>
            </a:r>
            <a:endParaRPr lang="en-US" altLang="en-US" sz="2400"/>
          </a:p>
        </p:txBody>
      </p:sp>
      <p:sp>
        <p:nvSpPr>
          <p:cNvPr id="69646" name="Line 14"/>
          <p:cNvSpPr>
            <a:spLocks noChangeShapeType="1"/>
          </p:cNvSpPr>
          <p:nvPr/>
        </p:nvSpPr>
        <p:spPr bwMode="auto">
          <a:xfrm>
            <a:off x="2813050" y="145097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9647" name="Oval 15"/>
          <p:cNvSpPr>
            <a:spLocks noChangeArrowheads="1"/>
          </p:cNvSpPr>
          <p:nvPr/>
        </p:nvSpPr>
        <p:spPr bwMode="auto">
          <a:xfrm>
            <a:off x="33178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9648" name="Line 16"/>
          <p:cNvSpPr>
            <a:spLocks noChangeShapeType="1"/>
          </p:cNvSpPr>
          <p:nvPr/>
        </p:nvSpPr>
        <p:spPr bwMode="auto">
          <a:xfrm flipH="1">
            <a:off x="1803400" y="244792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9649" name="Line 17"/>
          <p:cNvSpPr>
            <a:spLocks noChangeShapeType="1"/>
          </p:cNvSpPr>
          <p:nvPr/>
        </p:nvSpPr>
        <p:spPr bwMode="auto">
          <a:xfrm>
            <a:off x="2813050" y="244792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9650" name="Oval 18"/>
          <p:cNvSpPr>
            <a:spLocks noChangeArrowheads="1"/>
          </p:cNvSpPr>
          <p:nvPr/>
        </p:nvSpPr>
        <p:spPr bwMode="auto">
          <a:xfrm>
            <a:off x="6346825" y="18288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9651" name="Text Box 19"/>
          <p:cNvSpPr txBox="1">
            <a:spLocks noChangeArrowheads="1"/>
          </p:cNvSpPr>
          <p:nvPr/>
        </p:nvSpPr>
        <p:spPr bwMode="auto">
          <a:xfrm>
            <a:off x="6327775" y="1930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69652" name="Oval 20"/>
          <p:cNvSpPr>
            <a:spLocks noChangeArrowheads="1"/>
          </p:cNvSpPr>
          <p:nvPr/>
        </p:nvSpPr>
        <p:spPr bwMode="auto">
          <a:xfrm>
            <a:off x="53371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9653" name="Oval 21"/>
          <p:cNvSpPr>
            <a:spLocks noChangeArrowheads="1"/>
          </p:cNvSpPr>
          <p:nvPr/>
        </p:nvSpPr>
        <p:spPr bwMode="auto">
          <a:xfrm>
            <a:off x="73564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9654" name="Text Box 22"/>
          <p:cNvSpPr txBox="1">
            <a:spLocks noChangeArrowheads="1"/>
          </p:cNvSpPr>
          <p:nvPr/>
        </p:nvSpPr>
        <p:spPr bwMode="auto">
          <a:xfrm>
            <a:off x="7337425" y="30099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25</a:t>
            </a:r>
            <a:endParaRPr lang="en-US" altLang="en-US" sz="2400"/>
          </a:p>
        </p:txBody>
      </p:sp>
      <p:sp>
        <p:nvSpPr>
          <p:cNvPr id="69655" name="Line 23"/>
          <p:cNvSpPr>
            <a:spLocks noChangeShapeType="1"/>
          </p:cNvSpPr>
          <p:nvPr/>
        </p:nvSpPr>
        <p:spPr bwMode="auto">
          <a:xfrm flipH="1">
            <a:off x="5842000" y="244792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9656" name="Line 24"/>
          <p:cNvSpPr>
            <a:spLocks noChangeShapeType="1"/>
          </p:cNvSpPr>
          <p:nvPr/>
        </p:nvSpPr>
        <p:spPr bwMode="auto">
          <a:xfrm>
            <a:off x="6851650" y="244792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9657" name="Line 25"/>
          <p:cNvSpPr>
            <a:spLocks noChangeShapeType="1"/>
          </p:cNvSpPr>
          <p:nvPr/>
        </p:nvSpPr>
        <p:spPr bwMode="auto">
          <a:xfrm flipH="1">
            <a:off x="2971800" y="1760538"/>
            <a:ext cx="1355725" cy="2206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9658" name="Line 26"/>
          <p:cNvSpPr>
            <a:spLocks noChangeShapeType="1"/>
          </p:cNvSpPr>
          <p:nvPr/>
        </p:nvSpPr>
        <p:spPr bwMode="auto">
          <a:xfrm>
            <a:off x="5000625" y="1760538"/>
            <a:ext cx="1400175" cy="2206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9659" name="Oval 27"/>
          <p:cNvSpPr>
            <a:spLocks noChangeArrowheads="1"/>
          </p:cNvSpPr>
          <p:nvPr/>
        </p:nvSpPr>
        <p:spPr bwMode="auto">
          <a:xfrm>
            <a:off x="33178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9660" name="Oval 28"/>
          <p:cNvSpPr>
            <a:spLocks noChangeArrowheads="1"/>
          </p:cNvSpPr>
          <p:nvPr/>
        </p:nvSpPr>
        <p:spPr bwMode="auto">
          <a:xfrm>
            <a:off x="264477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9661" name="Text Box 29"/>
          <p:cNvSpPr txBox="1">
            <a:spLocks noChangeArrowheads="1"/>
          </p:cNvSpPr>
          <p:nvPr/>
        </p:nvSpPr>
        <p:spPr bwMode="auto">
          <a:xfrm>
            <a:off x="2625725" y="408463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69662" name="Oval 30"/>
          <p:cNvSpPr>
            <a:spLocks noChangeArrowheads="1"/>
          </p:cNvSpPr>
          <p:nvPr/>
        </p:nvSpPr>
        <p:spPr bwMode="auto">
          <a:xfrm>
            <a:off x="3654425" y="39846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9663" name="Text Box 31"/>
          <p:cNvSpPr txBox="1">
            <a:spLocks noChangeArrowheads="1"/>
          </p:cNvSpPr>
          <p:nvPr/>
        </p:nvSpPr>
        <p:spPr bwMode="auto">
          <a:xfrm>
            <a:off x="3635375" y="40846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69664" name="Oval 32"/>
          <p:cNvSpPr>
            <a:spLocks noChangeArrowheads="1"/>
          </p:cNvSpPr>
          <p:nvPr/>
        </p:nvSpPr>
        <p:spPr bwMode="auto">
          <a:xfrm>
            <a:off x="53371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9665" name="Text Box 33"/>
          <p:cNvSpPr txBox="1">
            <a:spLocks noChangeArrowheads="1"/>
          </p:cNvSpPr>
          <p:nvPr/>
        </p:nvSpPr>
        <p:spPr bwMode="auto">
          <a:xfrm>
            <a:off x="5314950" y="297973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69666" name="Oval 34"/>
          <p:cNvSpPr>
            <a:spLocks noChangeArrowheads="1"/>
          </p:cNvSpPr>
          <p:nvPr/>
        </p:nvSpPr>
        <p:spPr bwMode="auto">
          <a:xfrm>
            <a:off x="4664075" y="399097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9667" name="Text Box 35"/>
          <p:cNvSpPr txBox="1">
            <a:spLocks noChangeArrowheads="1"/>
          </p:cNvSpPr>
          <p:nvPr/>
        </p:nvSpPr>
        <p:spPr bwMode="auto">
          <a:xfrm>
            <a:off x="4645025" y="408781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69668" name="Oval 36"/>
          <p:cNvSpPr>
            <a:spLocks noChangeArrowheads="1"/>
          </p:cNvSpPr>
          <p:nvPr/>
        </p:nvSpPr>
        <p:spPr bwMode="auto">
          <a:xfrm>
            <a:off x="5673725" y="39909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9669" name="Text Box 37"/>
          <p:cNvSpPr txBox="1">
            <a:spLocks noChangeArrowheads="1"/>
          </p:cNvSpPr>
          <p:nvPr/>
        </p:nvSpPr>
        <p:spPr bwMode="auto">
          <a:xfrm>
            <a:off x="5654675" y="40909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69670" name="Oval 38"/>
          <p:cNvSpPr>
            <a:spLocks noChangeArrowheads="1"/>
          </p:cNvSpPr>
          <p:nvPr/>
        </p:nvSpPr>
        <p:spPr bwMode="auto">
          <a:xfrm>
            <a:off x="6683375" y="399097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9671" name="Text Box 39"/>
          <p:cNvSpPr txBox="1">
            <a:spLocks noChangeArrowheads="1"/>
          </p:cNvSpPr>
          <p:nvPr/>
        </p:nvSpPr>
        <p:spPr bwMode="auto">
          <a:xfrm>
            <a:off x="6664325" y="408940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18</a:t>
            </a:r>
            <a:endParaRPr lang="en-US" altLang="en-US" sz="2400"/>
          </a:p>
        </p:txBody>
      </p:sp>
      <p:sp>
        <p:nvSpPr>
          <p:cNvPr id="69672" name="Oval 40"/>
          <p:cNvSpPr>
            <a:spLocks noChangeArrowheads="1"/>
          </p:cNvSpPr>
          <p:nvPr/>
        </p:nvSpPr>
        <p:spPr bwMode="auto">
          <a:xfrm>
            <a:off x="769302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9673" name="Text Box 41"/>
          <p:cNvSpPr txBox="1">
            <a:spLocks noChangeArrowheads="1"/>
          </p:cNvSpPr>
          <p:nvPr/>
        </p:nvSpPr>
        <p:spPr bwMode="auto">
          <a:xfrm>
            <a:off x="7673975" y="40894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17</a:t>
            </a:r>
            <a:endParaRPr lang="en-US" altLang="en-US" sz="2400"/>
          </a:p>
        </p:txBody>
      </p:sp>
      <p:sp>
        <p:nvSpPr>
          <p:cNvPr id="69674" name="Line 42"/>
          <p:cNvSpPr>
            <a:spLocks noChangeShapeType="1"/>
          </p:cNvSpPr>
          <p:nvPr/>
        </p:nvSpPr>
        <p:spPr bwMode="auto">
          <a:xfrm flipH="1">
            <a:off x="9620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9675" name="Line 43"/>
          <p:cNvSpPr>
            <a:spLocks noChangeShapeType="1"/>
          </p:cNvSpPr>
          <p:nvPr/>
        </p:nvSpPr>
        <p:spPr bwMode="auto">
          <a:xfrm>
            <a:off x="19716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9676" name="Line 44"/>
          <p:cNvSpPr>
            <a:spLocks noChangeShapeType="1"/>
          </p:cNvSpPr>
          <p:nvPr/>
        </p:nvSpPr>
        <p:spPr bwMode="auto">
          <a:xfrm flipH="1">
            <a:off x="29813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9677" name="Line 45"/>
          <p:cNvSpPr>
            <a:spLocks noChangeShapeType="1"/>
          </p:cNvSpPr>
          <p:nvPr/>
        </p:nvSpPr>
        <p:spPr bwMode="auto">
          <a:xfrm>
            <a:off x="39909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9678" name="Line 46"/>
          <p:cNvSpPr>
            <a:spLocks noChangeShapeType="1"/>
          </p:cNvSpPr>
          <p:nvPr/>
        </p:nvSpPr>
        <p:spPr bwMode="auto">
          <a:xfrm flipH="1">
            <a:off x="50006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9679" name="Line 47"/>
          <p:cNvSpPr>
            <a:spLocks noChangeShapeType="1"/>
          </p:cNvSpPr>
          <p:nvPr/>
        </p:nvSpPr>
        <p:spPr bwMode="auto">
          <a:xfrm>
            <a:off x="60102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9680" name="Line 48"/>
          <p:cNvSpPr>
            <a:spLocks noChangeShapeType="1"/>
          </p:cNvSpPr>
          <p:nvPr/>
        </p:nvSpPr>
        <p:spPr bwMode="auto">
          <a:xfrm flipH="1">
            <a:off x="70199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9681" name="Line 49"/>
          <p:cNvSpPr>
            <a:spLocks noChangeShapeType="1"/>
          </p:cNvSpPr>
          <p:nvPr/>
        </p:nvSpPr>
        <p:spPr bwMode="auto">
          <a:xfrm>
            <a:off x="80295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9682" name="Text Box 50"/>
          <p:cNvSpPr txBox="1">
            <a:spLocks noChangeArrowheads="1"/>
          </p:cNvSpPr>
          <p:nvPr/>
        </p:nvSpPr>
        <p:spPr bwMode="auto">
          <a:xfrm>
            <a:off x="4495800" y="1914525"/>
            <a:ext cx="6731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69683" name="Text Box 51"/>
          <p:cNvSpPr txBox="1">
            <a:spLocks noChangeArrowheads="1"/>
          </p:cNvSpPr>
          <p:nvPr/>
        </p:nvSpPr>
        <p:spPr bwMode="auto">
          <a:xfrm>
            <a:off x="2476500" y="2447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69684" name="Text Box 52"/>
          <p:cNvSpPr txBox="1">
            <a:spLocks noChangeArrowheads="1"/>
          </p:cNvSpPr>
          <p:nvPr/>
        </p:nvSpPr>
        <p:spPr bwMode="auto">
          <a:xfrm>
            <a:off x="6515100" y="2447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69685" name="Text Box 53"/>
          <p:cNvSpPr txBox="1">
            <a:spLocks noChangeArrowheads="1"/>
          </p:cNvSpPr>
          <p:nvPr/>
        </p:nvSpPr>
        <p:spPr bwMode="auto">
          <a:xfrm>
            <a:off x="14668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69686" name="Text Box 54"/>
          <p:cNvSpPr txBox="1">
            <a:spLocks noChangeArrowheads="1"/>
          </p:cNvSpPr>
          <p:nvPr/>
        </p:nvSpPr>
        <p:spPr bwMode="auto">
          <a:xfrm>
            <a:off x="34861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69687" name="Text Box 55"/>
          <p:cNvSpPr txBox="1">
            <a:spLocks noChangeArrowheads="1"/>
          </p:cNvSpPr>
          <p:nvPr/>
        </p:nvSpPr>
        <p:spPr bwMode="auto">
          <a:xfrm>
            <a:off x="55054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69688" name="Text Box 56"/>
          <p:cNvSpPr txBox="1">
            <a:spLocks noChangeArrowheads="1"/>
          </p:cNvSpPr>
          <p:nvPr/>
        </p:nvSpPr>
        <p:spPr bwMode="auto">
          <a:xfrm>
            <a:off x="75247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69689" name="Text Box 57"/>
          <p:cNvSpPr txBox="1">
            <a:spLocks noChangeArrowheads="1"/>
          </p:cNvSpPr>
          <p:nvPr/>
        </p:nvSpPr>
        <p:spPr bwMode="auto">
          <a:xfrm>
            <a:off x="79375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69690" name="Text Box 58"/>
          <p:cNvSpPr txBox="1">
            <a:spLocks noChangeArrowheads="1"/>
          </p:cNvSpPr>
          <p:nvPr/>
        </p:nvSpPr>
        <p:spPr bwMode="auto">
          <a:xfrm>
            <a:off x="180340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69691" name="Text Box 59"/>
          <p:cNvSpPr txBox="1">
            <a:spLocks noChangeArrowheads="1"/>
          </p:cNvSpPr>
          <p:nvPr/>
        </p:nvSpPr>
        <p:spPr bwMode="auto">
          <a:xfrm>
            <a:off x="281305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69692" name="Text Box 60"/>
          <p:cNvSpPr txBox="1">
            <a:spLocks noChangeArrowheads="1"/>
          </p:cNvSpPr>
          <p:nvPr/>
        </p:nvSpPr>
        <p:spPr bwMode="auto">
          <a:xfrm>
            <a:off x="36544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69693" name="Text Box 61"/>
          <p:cNvSpPr txBox="1">
            <a:spLocks noChangeArrowheads="1"/>
          </p:cNvSpPr>
          <p:nvPr/>
        </p:nvSpPr>
        <p:spPr bwMode="auto">
          <a:xfrm>
            <a:off x="466407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69694" name="Text Box 62"/>
          <p:cNvSpPr txBox="1">
            <a:spLocks noChangeArrowheads="1"/>
          </p:cNvSpPr>
          <p:nvPr/>
        </p:nvSpPr>
        <p:spPr bwMode="auto">
          <a:xfrm>
            <a:off x="56737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69695" name="Text Box 63"/>
          <p:cNvSpPr txBox="1">
            <a:spLocks noChangeArrowheads="1"/>
          </p:cNvSpPr>
          <p:nvPr/>
        </p:nvSpPr>
        <p:spPr bwMode="auto">
          <a:xfrm>
            <a:off x="668337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69696" name="Text Box 64"/>
          <p:cNvSpPr txBox="1">
            <a:spLocks noChangeArrowheads="1"/>
          </p:cNvSpPr>
          <p:nvPr/>
        </p:nvSpPr>
        <p:spPr bwMode="auto">
          <a:xfrm>
            <a:off x="76930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69697" name="Oval 65"/>
          <p:cNvSpPr>
            <a:spLocks noChangeArrowheads="1"/>
          </p:cNvSpPr>
          <p:nvPr/>
        </p:nvSpPr>
        <p:spPr bwMode="auto">
          <a:xfrm>
            <a:off x="457200" y="507047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9698" name="Text Box 66"/>
          <p:cNvSpPr txBox="1">
            <a:spLocks noChangeArrowheads="1"/>
          </p:cNvSpPr>
          <p:nvPr/>
        </p:nvSpPr>
        <p:spPr bwMode="auto">
          <a:xfrm>
            <a:off x="438150" y="51689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69699" name="Oval 67"/>
          <p:cNvSpPr>
            <a:spLocks noChangeArrowheads="1"/>
          </p:cNvSpPr>
          <p:nvPr/>
        </p:nvSpPr>
        <p:spPr bwMode="auto">
          <a:xfrm>
            <a:off x="1466850" y="506888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9700" name="Text Box 68"/>
          <p:cNvSpPr txBox="1">
            <a:spLocks noChangeArrowheads="1"/>
          </p:cNvSpPr>
          <p:nvPr/>
        </p:nvSpPr>
        <p:spPr bwMode="auto">
          <a:xfrm>
            <a:off x="1447800" y="51689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9</a:t>
            </a:r>
            <a:endParaRPr lang="en-US" altLang="en-US" sz="2400"/>
          </a:p>
        </p:txBody>
      </p:sp>
      <p:sp>
        <p:nvSpPr>
          <p:cNvPr id="69701" name="Text Box 69"/>
          <p:cNvSpPr txBox="1">
            <a:spLocks noChangeArrowheads="1"/>
          </p:cNvSpPr>
          <p:nvPr/>
        </p:nvSpPr>
        <p:spPr bwMode="auto">
          <a:xfrm>
            <a:off x="1466850" y="56356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69702" name="Line 70"/>
          <p:cNvSpPr>
            <a:spLocks noChangeShapeType="1"/>
          </p:cNvSpPr>
          <p:nvPr/>
        </p:nvSpPr>
        <p:spPr bwMode="auto">
          <a:xfrm flipH="1">
            <a:off x="625475" y="460692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9703" name="Line 71"/>
          <p:cNvSpPr>
            <a:spLocks noChangeShapeType="1"/>
          </p:cNvSpPr>
          <p:nvPr/>
        </p:nvSpPr>
        <p:spPr bwMode="auto">
          <a:xfrm>
            <a:off x="1130300" y="460692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69704" name="Text Box 72"/>
          <p:cNvSpPr txBox="1">
            <a:spLocks noChangeArrowheads="1"/>
          </p:cNvSpPr>
          <p:nvPr/>
        </p:nvSpPr>
        <p:spPr bwMode="auto">
          <a:xfrm>
            <a:off x="457200" y="56356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69705" name="Text Box 73"/>
          <p:cNvSpPr txBox="1">
            <a:spLocks noChangeArrowheads="1"/>
          </p:cNvSpPr>
          <p:nvPr/>
        </p:nvSpPr>
        <p:spPr bwMode="auto">
          <a:xfrm>
            <a:off x="3257550" y="297973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69706" name="Text Box 74"/>
          <p:cNvSpPr txBox="1">
            <a:spLocks noChangeArrowheads="1"/>
          </p:cNvSpPr>
          <p:nvPr/>
        </p:nvSpPr>
        <p:spPr bwMode="auto">
          <a:xfrm>
            <a:off x="2514600" y="5105400"/>
            <a:ext cx="6096000" cy="466725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(left child #) = 2 * (parent #) + 1</a:t>
            </a:r>
          </a:p>
        </p:txBody>
      </p:sp>
      <p:sp>
        <p:nvSpPr>
          <p:cNvPr id="69707" name="Oval 75"/>
          <p:cNvSpPr>
            <a:spLocks noChangeArrowheads="1"/>
          </p:cNvSpPr>
          <p:nvPr/>
        </p:nvSpPr>
        <p:spPr bwMode="auto">
          <a:xfrm>
            <a:off x="4800600" y="4572000"/>
            <a:ext cx="457200" cy="457200"/>
          </a:xfrm>
          <a:prstGeom prst="ellipse">
            <a:avLst/>
          </a:prstGeom>
          <a:noFill/>
          <a:ln w="38100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9708" name="Oval 76"/>
          <p:cNvSpPr>
            <a:spLocks noChangeArrowheads="1"/>
          </p:cNvSpPr>
          <p:nvPr/>
        </p:nvSpPr>
        <p:spPr bwMode="auto">
          <a:xfrm>
            <a:off x="5486400" y="3505200"/>
            <a:ext cx="457200" cy="457200"/>
          </a:xfrm>
          <a:prstGeom prst="ellipse">
            <a:avLst/>
          </a:prstGeom>
          <a:noFill/>
          <a:ln w="38100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69709" name="Rectangle 78"/>
          <p:cNvSpPr>
            <a:spLocks noGrp="1" noChangeArrowheads="1"/>
          </p:cNvSpPr>
          <p:nvPr>
            <p:ph type="title"/>
          </p:nvPr>
        </p:nvSpPr>
        <p:spPr>
          <a:xfrm>
            <a:off x="457200" y="0"/>
            <a:ext cx="8229600" cy="11430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Heap Properties (cont.)</a:t>
            </a: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4DC3AD14-427B-41C7-98D1-7686B088D941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70</a:t>
            </a:fld>
            <a:endParaRPr lang="en-US" altLang="en-US" sz="1400"/>
          </a:p>
        </p:txBody>
      </p:sp>
      <p:sp>
        <p:nvSpPr>
          <p:cNvPr id="70659" name="Oval 3"/>
          <p:cNvSpPr>
            <a:spLocks noChangeArrowheads="1"/>
          </p:cNvSpPr>
          <p:nvPr/>
        </p:nvSpPr>
        <p:spPr bwMode="auto">
          <a:xfrm>
            <a:off x="2308225" y="18288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0660" name="Text Box 4"/>
          <p:cNvSpPr txBox="1">
            <a:spLocks noChangeArrowheads="1"/>
          </p:cNvSpPr>
          <p:nvPr/>
        </p:nvSpPr>
        <p:spPr bwMode="auto">
          <a:xfrm>
            <a:off x="2289175" y="1930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70661" name="Oval 5"/>
          <p:cNvSpPr>
            <a:spLocks noChangeArrowheads="1"/>
          </p:cNvSpPr>
          <p:nvPr/>
        </p:nvSpPr>
        <p:spPr bwMode="auto">
          <a:xfrm>
            <a:off x="12985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0662" name="Text Box 6"/>
          <p:cNvSpPr txBox="1">
            <a:spLocks noChangeArrowheads="1"/>
          </p:cNvSpPr>
          <p:nvPr/>
        </p:nvSpPr>
        <p:spPr bwMode="auto">
          <a:xfrm>
            <a:off x="1279525" y="300990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70663" name="Oval 7"/>
          <p:cNvSpPr>
            <a:spLocks noChangeArrowheads="1"/>
          </p:cNvSpPr>
          <p:nvPr/>
        </p:nvSpPr>
        <p:spPr bwMode="auto">
          <a:xfrm>
            <a:off x="625475" y="399097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0664" name="Text Box 8"/>
          <p:cNvSpPr txBox="1">
            <a:spLocks noChangeArrowheads="1"/>
          </p:cNvSpPr>
          <p:nvPr/>
        </p:nvSpPr>
        <p:spPr bwMode="auto">
          <a:xfrm>
            <a:off x="606425" y="4089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70665" name="Text Box 9"/>
          <p:cNvSpPr txBox="1">
            <a:spLocks noChangeArrowheads="1"/>
          </p:cNvSpPr>
          <p:nvPr/>
        </p:nvSpPr>
        <p:spPr bwMode="auto">
          <a:xfrm>
            <a:off x="2139950" y="114300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70666" name="Oval 10"/>
          <p:cNvSpPr>
            <a:spLocks noChangeArrowheads="1"/>
          </p:cNvSpPr>
          <p:nvPr/>
        </p:nvSpPr>
        <p:spPr bwMode="auto">
          <a:xfrm>
            <a:off x="163512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0667" name="Text Box 11"/>
          <p:cNvSpPr txBox="1">
            <a:spLocks noChangeArrowheads="1"/>
          </p:cNvSpPr>
          <p:nvPr/>
        </p:nvSpPr>
        <p:spPr bwMode="auto">
          <a:xfrm>
            <a:off x="1616075" y="40894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3</a:t>
            </a:r>
            <a:endParaRPr lang="en-US" altLang="en-US" sz="2400"/>
          </a:p>
        </p:txBody>
      </p:sp>
      <p:sp>
        <p:nvSpPr>
          <p:cNvPr id="70668" name="Oval 12"/>
          <p:cNvSpPr>
            <a:spLocks noChangeArrowheads="1"/>
          </p:cNvSpPr>
          <p:nvPr/>
        </p:nvSpPr>
        <p:spPr bwMode="auto">
          <a:xfrm>
            <a:off x="4327525" y="12954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0669" name="Text Box 13"/>
          <p:cNvSpPr txBox="1">
            <a:spLocks noChangeArrowheads="1"/>
          </p:cNvSpPr>
          <p:nvPr/>
        </p:nvSpPr>
        <p:spPr bwMode="auto">
          <a:xfrm>
            <a:off x="4308475" y="1395413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46</a:t>
            </a:r>
            <a:endParaRPr lang="en-US" altLang="en-US" sz="2400"/>
          </a:p>
        </p:txBody>
      </p:sp>
      <p:sp>
        <p:nvSpPr>
          <p:cNvPr id="70670" name="Line 14"/>
          <p:cNvSpPr>
            <a:spLocks noChangeShapeType="1"/>
          </p:cNvSpPr>
          <p:nvPr/>
        </p:nvSpPr>
        <p:spPr bwMode="auto">
          <a:xfrm>
            <a:off x="2813050" y="145097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0671" name="Oval 15"/>
          <p:cNvSpPr>
            <a:spLocks noChangeArrowheads="1"/>
          </p:cNvSpPr>
          <p:nvPr/>
        </p:nvSpPr>
        <p:spPr bwMode="auto">
          <a:xfrm>
            <a:off x="33178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0672" name="Line 16"/>
          <p:cNvSpPr>
            <a:spLocks noChangeShapeType="1"/>
          </p:cNvSpPr>
          <p:nvPr/>
        </p:nvSpPr>
        <p:spPr bwMode="auto">
          <a:xfrm flipH="1">
            <a:off x="1803400" y="244792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0673" name="Line 17"/>
          <p:cNvSpPr>
            <a:spLocks noChangeShapeType="1"/>
          </p:cNvSpPr>
          <p:nvPr/>
        </p:nvSpPr>
        <p:spPr bwMode="auto">
          <a:xfrm>
            <a:off x="2813050" y="244792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0674" name="Oval 18"/>
          <p:cNvSpPr>
            <a:spLocks noChangeArrowheads="1"/>
          </p:cNvSpPr>
          <p:nvPr/>
        </p:nvSpPr>
        <p:spPr bwMode="auto">
          <a:xfrm>
            <a:off x="6346825" y="18288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0675" name="Text Box 19"/>
          <p:cNvSpPr txBox="1">
            <a:spLocks noChangeArrowheads="1"/>
          </p:cNvSpPr>
          <p:nvPr/>
        </p:nvSpPr>
        <p:spPr bwMode="auto">
          <a:xfrm>
            <a:off x="6327775" y="1930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70676" name="Oval 20"/>
          <p:cNvSpPr>
            <a:spLocks noChangeArrowheads="1"/>
          </p:cNvSpPr>
          <p:nvPr/>
        </p:nvSpPr>
        <p:spPr bwMode="auto">
          <a:xfrm>
            <a:off x="53371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0677" name="Oval 21"/>
          <p:cNvSpPr>
            <a:spLocks noChangeArrowheads="1"/>
          </p:cNvSpPr>
          <p:nvPr/>
        </p:nvSpPr>
        <p:spPr bwMode="auto">
          <a:xfrm>
            <a:off x="73564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0678" name="Text Box 22"/>
          <p:cNvSpPr txBox="1">
            <a:spLocks noChangeArrowheads="1"/>
          </p:cNvSpPr>
          <p:nvPr/>
        </p:nvSpPr>
        <p:spPr bwMode="auto">
          <a:xfrm>
            <a:off x="7337425" y="30099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25</a:t>
            </a:r>
            <a:endParaRPr lang="en-US" altLang="en-US" sz="2400"/>
          </a:p>
        </p:txBody>
      </p:sp>
      <p:sp>
        <p:nvSpPr>
          <p:cNvPr id="70679" name="Line 23"/>
          <p:cNvSpPr>
            <a:spLocks noChangeShapeType="1"/>
          </p:cNvSpPr>
          <p:nvPr/>
        </p:nvSpPr>
        <p:spPr bwMode="auto">
          <a:xfrm flipH="1">
            <a:off x="5842000" y="244792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0680" name="Line 24"/>
          <p:cNvSpPr>
            <a:spLocks noChangeShapeType="1"/>
          </p:cNvSpPr>
          <p:nvPr/>
        </p:nvSpPr>
        <p:spPr bwMode="auto">
          <a:xfrm>
            <a:off x="6851650" y="244792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0681" name="Line 25"/>
          <p:cNvSpPr>
            <a:spLocks noChangeShapeType="1"/>
          </p:cNvSpPr>
          <p:nvPr/>
        </p:nvSpPr>
        <p:spPr bwMode="auto">
          <a:xfrm flipH="1">
            <a:off x="2971800" y="1760538"/>
            <a:ext cx="1355725" cy="2206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0682" name="Line 26"/>
          <p:cNvSpPr>
            <a:spLocks noChangeShapeType="1"/>
          </p:cNvSpPr>
          <p:nvPr/>
        </p:nvSpPr>
        <p:spPr bwMode="auto">
          <a:xfrm>
            <a:off x="5000625" y="1760538"/>
            <a:ext cx="1400175" cy="2206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0683" name="Oval 27"/>
          <p:cNvSpPr>
            <a:spLocks noChangeArrowheads="1"/>
          </p:cNvSpPr>
          <p:nvPr/>
        </p:nvSpPr>
        <p:spPr bwMode="auto">
          <a:xfrm>
            <a:off x="33178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0684" name="Oval 28"/>
          <p:cNvSpPr>
            <a:spLocks noChangeArrowheads="1"/>
          </p:cNvSpPr>
          <p:nvPr/>
        </p:nvSpPr>
        <p:spPr bwMode="auto">
          <a:xfrm>
            <a:off x="264477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0685" name="Text Box 29"/>
          <p:cNvSpPr txBox="1">
            <a:spLocks noChangeArrowheads="1"/>
          </p:cNvSpPr>
          <p:nvPr/>
        </p:nvSpPr>
        <p:spPr bwMode="auto">
          <a:xfrm>
            <a:off x="2625725" y="408463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70686" name="Oval 30"/>
          <p:cNvSpPr>
            <a:spLocks noChangeArrowheads="1"/>
          </p:cNvSpPr>
          <p:nvPr/>
        </p:nvSpPr>
        <p:spPr bwMode="auto">
          <a:xfrm>
            <a:off x="3654425" y="39846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0687" name="Text Box 31"/>
          <p:cNvSpPr txBox="1">
            <a:spLocks noChangeArrowheads="1"/>
          </p:cNvSpPr>
          <p:nvPr/>
        </p:nvSpPr>
        <p:spPr bwMode="auto">
          <a:xfrm>
            <a:off x="3635375" y="40846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70688" name="Oval 32"/>
          <p:cNvSpPr>
            <a:spLocks noChangeArrowheads="1"/>
          </p:cNvSpPr>
          <p:nvPr/>
        </p:nvSpPr>
        <p:spPr bwMode="auto">
          <a:xfrm>
            <a:off x="53371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0689" name="Text Box 33"/>
          <p:cNvSpPr txBox="1">
            <a:spLocks noChangeArrowheads="1"/>
          </p:cNvSpPr>
          <p:nvPr/>
        </p:nvSpPr>
        <p:spPr bwMode="auto">
          <a:xfrm>
            <a:off x="5314950" y="297973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70690" name="Oval 34"/>
          <p:cNvSpPr>
            <a:spLocks noChangeArrowheads="1"/>
          </p:cNvSpPr>
          <p:nvPr/>
        </p:nvSpPr>
        <p:spPr bwMode="auto">
          <a:xfrm>
            <a:off x="4664075" y="399097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0691" name="Text Box 35"/>
          <p:cNvSpPr txBox="1">
            <a:spLocks noChangeArrowheads="1"/>
          </p:cNvSpPr>
          <p:nvPr/>
        </p:nvSpPr>
        <p:spPr bwMode="auto">
          <a:xfrm>
            <a:off x="4645025" y="408781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70692" name="Oval 36"/>
          <p:cNvSpPr>
            <a:spLocks noChangeArrowheads="1"/>
          </p:cNvSpPr>
          <p:nvPr/>
        </p:nvSpPr>
        <p:spPr bwMode="auto">
          <a:xfrm>
            <a:off x="5673725" y="39909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0693" name="Text Box 37"/>
          <p:cNvSpPr txBox="1">
            <a:spLocks noChangeArrowheads="1"/>
          </p:cNvSpPr>
          <p:nvPr/>
        </p:nvSpPr>
        <p:spPr bwMode="auto">
          <a:xfrm>
            <a:off x="5654675" y="40909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70694" name="Oval 38"/>
          <p:cNvSpPr>
            <a:spLocks noChangeArrowheads="1"/>
          </p:cNvSpPr>
          <p:nvPr/>
        </p:nvSpPr>
        <p:spPr bwMode="auto">
          <a:xfrm>
            <a:off x="6683375" y="399097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0695" name="Text Box 39"/>
          <p:cNvSpPr txBox="1">
            <a:spLocks noChangeArrowheads="1"/>
          </p:cNvSpPr>
          <p:nvPr/>
        </p:nvSpPr>
        <p:spPr bwMode="auto">
          <a:xfrm>
            <a:off x="6664325" y="408940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18</a:t>
            </a:r>
            <a:endParaRPr lang="en-US" altLang="en-US" sz="2400"/>
          </a:p>
        </p:txBody>
      </p:sp>
      <p:sp>
        <p:nvSpPr>
          <p:cNvPr id="70696" name="Oval 40"/>
          <p:cNvSpPr>
            <a:spLocks noChangeArrowheads="1"/>
          </p:cNvSpPr>
          <p:nvPr/>
        </p:nvSpPr>
        <p:spPr bwMode="auto">
          <a:xfrm>
            <a:off x="769302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0697" name="Text Box 41"/>
          <p:cNvSpPr txBox="1">
            <a:spLocks noChangeArrowheads="1"/>
          </p:cNvSpPr>
          <p:nvPr/>
        </p:nvSpPr>
        <p:spPr bwMode="auto">
          <a:xfrm>
            <a:off x="7673975" y="40894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17</a:t>
            </a:r>
            <a:endParaRPr lang="en-US" altLang="en-US" sz="2400"/>
          </a:p>
        </p:txBody>
      </p:sp>
      <p:sp>
        <p:nvSpPr>
          <p:cNvPr id="70698" name="Line 42"/>
          <p:cNvSpPr>
            <a:spLocks noChangeShapeType="1"/>
          </p:cNvSpPr>
          <p:nvPr/>
        </p:nvSpPr>
        <p:spPr bwMode="auto">
          <a:xfrm flipH="1">
            <a:off x="9620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0699" name="Line 43"/>
          <p:cNvSpPr>
            <a:spLocks noChangeShapeType="1"/>
          </p:cNvSpPr>
          <p:nvPr/>
        </p:nvSpPr>
        <p:spPr bwMode="auto">
          <a:xfrm>
            <a:off x="19716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0700" name="Line 44"/>
          <p:cNvSpPr>
            <a:spLocks noChangeShapeType="1"/>
          </p:cNvSpPr>
          <p:nvPr/>
        </p:nvSpPr>
        <p:spPr bwMode="auto">
          <a:xfrm flipH="1">
            <a:off x="29813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0701" name="Line 45"/>
          <p:cNvSpPr>
            <a:spLocks noChangeShapeType="1"/>
          </p:cNvSpPr>
          <p:nvPr/>
        </p:nvSpPr>
        <p:spPr bwMode="auto">
          <a:xfrm>
            <a:off x="39909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0702" name="Line 46"/>
          <p:cNvSpPr>
            <a:spLocks noChangeShapeType="1"/>
          </p:cNvSpPr>
          <p:nvPr/>
        </p:nvSpPr>
        <p:spPr bwMode="auto">
          <a:xfrm flipH="1">
            <a:off x="50006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0703" name="Line 47"/>
          <p:cNvSpPr>
            <a:spLocks noChangeShapeType="1"/>
          </p:cNvSpPr>
          <p:nvPr/>
        </p:nvSpPr>
        <p:spPr bwMode="auto">
          <a:xfrm>
            <a:off x="60102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0704" name="Line 48"/>
          <p:cNvSpPr>
            <a:spLocks noChangeShapeType="1"/>
          </p:cNvSpPr>
          <p:nvPr/>
        </p:nvSpPr>
        <p:spPr bwMode="auto">
          <a:xfrm flipH="1">
            <a:off x="70199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0705" name="Line 49"/>
          <p:cNvSpPr>
            <a:spLocks noChangeShapeType="1"/>
          </p:cNvSpPr>
          <p:nvPr/>
        </p:nvSpPr>
        <p:spPr bwMode="auto">
          <a:xfrm>
            <a:off x="80295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0706" name="Text Box 50"/>
          <p:cNvSpPr txBox="1">
            <a:spLocks noChangeArrowheads="1"/>
          </p:cNvSpPr>
          <p:nvPr/>
        </p:nvSpPr>
        <p:spPr bwMode="auto">
          <a:xfrm>
            <a:off x="4495800" y="1914525"/>
            <a:ext cx="6731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70707" name="Text Box 51"/>
          <p:cNvSpPr txBox="1">
            <a:spLocks noChangeArrowheads="1"/>
          </p:cNvSpPr>
          <p:nvPr/>
        </p:nvSpPr>
        <p:spPr bwMode="auto">
          <a:xfrm>
            <a:off x="2476500" y="2447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70708" name="Text Box 52"/>
          <p:cNvSpPr txBox="1">
            <a:spLocks noChangeArrowheads="1"/>
          </p:cNvSpPr>
          <p:nvPr/>
        </p:nvSpPr>
        <p:spPr bwMode="auto">
          <a:xfrm>
            <a:off x="6515100" y="2447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70709" name="Text Box 53"/>
          <p:cNvSpPr txBox="1">
            <a:spLocks noChangeArrowheads="1"/>
          </p:cNvSpPr>
          <p:nvPr/>
        </p:nvSpPr>
        <p:spPr bwMode="auto">
          <a:xfrm>
            <a:off x="14668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70710" name="Text Box 54"/>
          <p:cNvSpPr txBox="1">
            <a:spLocks noChangeArrowheads="1"/>
          </p:cNvSpPr>
          <p:nvPr/>
        </p:nvSpPr>
        <p:spPr bwMode="auto">
          <a:xfrm>
            <a:off x="34861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70711" name="Text Box 55"/>
          <p:cNvSpPr txBox="1">
            <a:spLocks noChangeArrowheads="1"/>
          </p:cNvSpPr>
          <p:nvPr/>
        </p:nvSpPr>
        <p:spPr bwMode="auto">
          <a:xfrm>
            <a:off x="55054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70712" name="Text Box 56"/>
          <p:cNvSpPr txBox="1">
            <a:spLocks noChangeArrowheads="1"/>
          </p:cNvSpPr>
          <p:nvPr/>
        </p:nvSpPr>
        <p:spPr bwMode="auto">
          <a:xfrm>
            <a:off x="75247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70713" name="Text Box 57"/>
          <p:cNvSpPr txBox="1">
            <a:spLocks noChangeArrowheads="1"/>
          </p:cNvSpPr>
          <p:nvPr/>
        </p:nvSpPr>
        <p:spPr bwMode="auto">
          <a:xfrm>
            <a:off x="79375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70714" name="Text Box 58"/>
          <p:cNvSpPr txBox="1">
            <a:spLocks noChangeArrowheads="1"/>
          </p:cNvSpPr>
          <p:nvPr/>
        </p:nvSpPr>
        <p:spPr bwMode="auto">
          <a:xfrm>
            <a:off x="180340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70715" name="Text Box 59"/>
          <p:cNvSpPr txBox="1">
            <a:spLocks noChangeArrowheads="1"/>
          </p:cNvSpPr>
          <p:nvPr/>
        </p:nvSpPr>
        <p:spPr bwMode="auto">
          <a:xfrm>
            <a:off x="281305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70716" name="Text Box 60"/>
          <p:cNvSpPr txBox="1">
            <a:spLocks noChangeArrowheads="1"/>
          </p:cNvSpPr>
          <p:nvPr/>
        </p:nvSpPr>
        <p:spPr bwMode="auto">
          <a:xfrm>
            <a:off x="36544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70717" name="Text Box 61"/>
          <p:cNvSpPr txBox="1">
            <a:spLocks noChangeArrowheads="1"/>
          </p:cNvSpPr>
          <p:nvPr/>
        </p:nvSpPr>
        <p:spPr bwMode="auto">
          <a:xfrm>
            <a:off x="466407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70718" name="Text Box 62"/>
          <p:cNvSpPr txBox="1">
            <a:spLocks noChangeArrowheads="1"/>
          </p:cNvSpPr>
          <p:nvPr/>
        </p:nvSpPr>
        <p:spPr bwMode="auto">
          <a:xfrm>
            <a:off x="56737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70719" name="Text Box 63"/>
          <p:cNvSpPr txBox="1">
            <a:spLocks noChangeArrowheads="1"/>
          </p:cNvSpPr>
          <p:nvPr/>
        </p:nvSpPr>
        <p:spPr bwMode="auto">
          <a:xfrm>
            <a:off x="668337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70720" name="Text Box 64"/>
          <p:cNvSpPr txBox="1">
            <a:spLocks noChangeArrowheads="1"/>
          </p:cNvSpPr>
          <p:nvPr/>
        </p:nvSpPr>
        <p:spPr bwMode="auto">
          <a:xfrm>
            <a:off x="76930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70721" name="Oval 65"/>
          <p:cNvSpPr>
            <a:spLocks noChangeArrowheads="1"/>
          </p:cNvSpPr>
          <p:nvPr/>
        </p:nvSpPr>
        <p:spPr bwMode="auto">
          <a:xfrm>
            <a:off x="457200" y="507047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0722" name="Text Box 66"/>
          <p:cNvSpPr txBox="1">
            <a:spLocks noChangeArrowheads="1"/>
          </p:cNvSpPr>
          <p:nvPr/>
        </p:nvSpPr>
        <p:spPr bwMode="auto">
          <a:xfrm>
            <a:off x="438150" y="51689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70723" name="Oval 67"/>
          <p:cNvSpPr>
            <a:spLocks noChangeArrowheads="1"/>
          </p:cNvSpPr>
          <p:nvPr/>
        </p:nvSpPr>
        <p:spPr bwMode="auto">
          <a:xfrm>
            <a:off x="1466850" y="506888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0724" name="Text Box 68"/>
          <p:cNvSpPr txBox="1">
            <a:spLocks noChangeArrowheads="1"/>
          </p:cNvSpPr>
          <p:nvPr/>
        </p:nvSpPr>
        <p:spPr bwMode="auto">
          <a:xfrm>
            <a:off x="1447800" y="51689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9</a:t>
            </a:r>
            <a:endParaRPr lang="en-US" altLang="en-US" sz="2400"/>
          </a:p>
        </p:txBody>
      </p:sp>
      <p:sp>
        <p:nvSpPr>
          <p:cNvPr id="70725" name="Text Box 69"/>
          <p:cNvSpPr txBox="1">
            <a:spLocks noChangeArrowheads="1"/>
          </p:cNvSpPr>
          <p:nvPr/>
        </p:nvSpPr>
        <p:spPr bwMode="auto">
          <a:xfrm>
            <a:off x="1466850" y="56356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70726" name="Line 70"/>
          <p:cNvSpPr>
            <a:spLocks noChangeShapeType="1"/>
          </p:cNvSpPr>
          <p:nvPr/>
        </p:nvSpPr>
        <p:spPr bwMode="auto">
          <a:xfrm flipH="1">
            <a:off x="625475" y="460692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0727" name="Line 71"/>
          <p:cNvSpPr>
            <a:spLocks noChangeShapeType="1"/>
          </p:cNvSpPr>
          <p:nvPr/>
        </p:nvSpPr>
        <p:spPr bwMode="auto">
          <a:xfrm>
            <a:off x="1130300" y="460692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0728" name="Text Box 72"/>
          <p:cNvSpPr txBox="1">
            <a:spLocks noChangeArrowheads="1"/>
          </p:cNvSpPr>
          <p:nvPr/>
        </p:nvSpPr>
        <p:spPr bwMode="auto">
          <a:xfrm>
            <a:off x="457200" y="56356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70729" name="Text Box 73"/>
          <p:cNvSpPr txBox="1">
            <a:spLocks noChangeArrowheads="1"/>
          </p:cNvSpPr>
          <p:nvPr/>
        </p:nvSpPr>
        <p:spPr bwMode="auto">
          <a:xfrm>
            <a:off x="3257550" y="297973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70730" name="Text Box 74"/>
          <p:cNvSpPr txBox="1">
            <a:spLocks noChangeArrowheads="1"/>
          </p:cNvSpPr>
          <p:nvPr/>
        </p:nvSpPr>
        <p:spPr bwMode="auto">
          <a:xfrm>
            <a:off x="2514600" y="5105400"/>
            <a:ext cx="6096000" cy="466725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(left child #) = 2 * (parent #) + 1</a:t>
            </a:r>
          </a:p>
        </p:txBody>
      </p:sp>
      <p:sp>
        <p:nvSpPr>
          <p:cNvPr id="70731" name="Oval 75"/>
          <p:cNvSpPr>
            <a:spLocks noChangeArrowheads="1"/>
          </p:cNvSpPr>
          <p:nvPr/>
        </p:nvSpPr>
        <p:spPr bwMode="auto">
          <a:xfrm>
            <a:off x="762000" y="4572000"/>
            <a:ext cx="457200" cy="457200"/>
          </a:xfrm>
          <a:prstGeom prst="ellipse">
            <a:avLst/>
          </a:prstGeom>
          <a:noFill/>
          <a:ln w="38100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0732" name="Oval 76"/>
          <p:cNvSpPr>
            <a:spLocks noChangeArrowheads="1"/>
          </p:cNvSpPr>
          <p:nvPr/>
        </p:nvSpPr>
        <p:spPr bwMode="auto">
          <a:xfrm>
            <a:off x="1447800" y="3505200"/>
            <a:ext cx="457200" cy="457200"/>
          </a:xfrm>
          <a:prstGeom prst="ellipse">
            <a:avLst/>
          </a:prstGeom>
          <a:noFill/>
          <a:ln w="38100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0733" name="Rectangle 78"/>
          <p:cNvSpPr>
            <a:spLocks noGrp="1" noChangeArrowheads="1"/>
          </p:cNvSpPr>
          <p:nvPr>
            <p:ph type="title"/>
          </p:nvPr>
        </p:nvSpPr>
        <p:spPr>
          <a:xfrm>
            <a:off x="457200" y="0"/>
            <a:ext cx="8229600" cy="11430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Heap Properties (cont.)</a:t>
            </a: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8C5F7F48-3BA7-4DCB-96DB-A9AF1C0BE82F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71</a:t>
            </a:fld>
            <a:endParaRPr lang="en-US" altLang="en-US" sz="1400"/>
          </a:p>
        </p:txBody>
      </p:sp>
      <p:sp>
        <p:nvSpPr>
          <p:cNvPr id="71683" name="Oval 3"/>
          <p:cNvSpPr>
            <a:spLocks noChangeArrowheads="1"/>
          </p:cNvSpPr>
          <p:nvPr/>
        </p:nvSpPr>
        <p:spPr bwMode="auto">
          <a:xfrm>
            <a:off x="2308225" y="18288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1684" name="Text Box 4"/>
          <p:cNvSpPr txBox="1">
            <a:spLocks noChangeArrowheads="1"/>
          </p:cNvSpPr>
          <p:nvPr/>
        </p:nvSpPr>
        <p:spPr bwMode="auto">
          <a:xfrm>
            <a:off x="2289175" y="1930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71685" name="Oval 5"/>
          <p:cNvSpPr>
            <a:spLocks noChangeArrowheads="1"/>
          </p:cNvSpPr>
          <p:nvPr/>
        </p:nvSpPr>
        <p:spPr bwMode="auto">
          <a:xfrm>
            <a:off x="12985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1686" name="Text Box 6"/>
          <p:cNvSpPr txBox="1">
            <a:spLocks noChangeArrowheads="1"/>
          </p:cNvSpPr>
          <p:nvPr/>
        </p:nvSpPr>
        <p:spPr bwMode="auto">
          <a:xfrm>
            <a:off x="1279525" y="300990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71687" name="Oval 7"/>
          <p:cNvSpPr>
            <a:spLocks noChangeArrowheads="1"/>
          </p:cNvSpPr>
          <p:nvPr/>
        </p:nvSpPr>
        <p:spPr bwMode="auto">
          <a:xfrm>
            <a:off x="625475" y="399097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1688" name="Text Box 8"/>
          <p:cNvSpPr txBox="1">
            <a:spLocks noChangeArrowheads="1"/>
          </p:cNvSpPr>
          <p:nvPr/>
        </p:nvSpPr>
        <p:spPr bwMode="auto">
          <a:xfrm>
            <a:off x="606425" y="4089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71689" name="Text Box 9"/>
          <p:cNvSpPr txBox="1">
            <a:spLocks noChangeArrowheads="1"/>
          </p:cNvSpPr>
          <p:nvPr/>
        </p:nvSpPr>
        <p:spPr bwMode="auto">
          <a:xfrm>
            <a:off x="2139950" y="114300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71690" name="Oval 10"/>
          <p:cNvSpPr>
            <a:spLocks noChangeArrowheads="1"/>
          </p:cNvSpPr>
          <p:nvPr/>
        </p:nvSpPr>
        <p:spPr bwMode="auto">
          <a:xfrm>
            <a:off x="163512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1691" name="Text Box 11"/>
          <p:cNvSpPr txBox="1">
            <a:spLocks noChangeArrowheads="1"/>
          </p:cNvSpPr>
          <p:nvPr/>
        </p:nvSpPr>
        <p:spPr bwMode="auto">
          <a:xfrm>
            <a:off x="1616075" y="40894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3</a:t>
            </a:r>
            <a:endParaRPr lang="en-US" altLang="en-US" sz="2400"/>
          </a:p>
        </p:txBody>
      </p:sp>
      <p:sp>
        <p:nvSpPr>
          <p:cNvPr id="71692" name="Oval 12"/>
          <p:cNvSpPr>
            <a:spLocks noChangeArrowheads="1"/>
          </p:cNvSpPr>
          <p:nvPr/>
        </p:nvSpPr>
        <p:spPr bwMode="auto">
          <a:xfrm>
            <a:off x="4327525" y="12954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1693" name="Text Box 13"/>
          <p:cNvSpPr txBox="1">
            <a:spLocks noChangeArrowheads="1"/>
          </p:cNvSpPr>
          <p:nvPr/>
        </p:nvSpPr>
        <p:spPr bwMode="auto">
          <a:xfrm>
            <a:off x="4308475" y="1395413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46</a:t>
            </a:r>
            <a:endParaRPr lang="en-US" altLang="en-US" sz="2400"/>
          </a:p>
        </p:txBody>
      </p:sp>
      <p:sp>
        <p:nvSpPr>
          <p:cNvPr id="71694" name="Line 14"/>
          <p:cNvSpPr>
            <a:spLocks noChangeShapeType="1"/>
          </p:cNvSpPr>
          <p:nvPr/>
        </p:nvSpPr>
        <p:spPr bwMode="auto">
          <a:xfrm>
            <a:off x="2813050" y="145097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1695" name="Oval 15"/>
          <p:cNvSpPr>
            <a:spLocks noChangeArrowheads="1"/>
          </p:cNvSpPr>
          <p:nvPr/>
        </p:nvSpPr>
        <p:spPr bwMode="auto">
          <a:xfrm>
            <a:off x="33178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1696" name="Line 16"/>
          <p:cNvSpPr>
            <a:spLocks noChangeShapeType="1"/>
          </p:cNvSpPr>
          <p:nvPr/>
        </p:nvSpPr>
        <p:spPr bwMode="auto">
          <a:xfrm flipH="1">
            <a:off x="1803400" y="244792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1697" name="Line 17"/>
          <p:cNvSpPr>
            <a:spLocks noChangeShapeType="1"/>
          </p:cNvSpPr>
          <p:nvPr/>
        </p:nvSpPr>
        <p:spPr bwMode="auto">
          <a:xfrm>
            <a:off x="2813050" y="244792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1698" name="Oval 18"/>
          <p:cNvSpPr>
            <a:spLocks noChangeArrowheads="1"/>
          </p:cNvSpPr>
          <p:nvPr/>
        </p:nvSpPr>
        <p:spPr bwMode="auto">
          <a:xfrm>
            <a:off x="6346825" y="18288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1699" name="Text Box 19"/>
          <p:cNvSpPr txBox="1">
            <a:spLocks noChangeArrowheads="1"/>
          </p:cNvSpPr>
          <p:nvPr/>
        </p:nvSpPr>
        <p:spPr bwMode="auto">
          <a:xfrm>
            <a:off x="6327775" y="1930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71700" name="Oval 20"/>
          <p:cNvSpPr>
            <a:spLocks noChangeArrowheads="1"/>
          </p:cNvSpPr>
          <p:nvPr/>
        </p:nvSpPr>
        <p:spPr bwMode="auto">
          <a:xfrm>
            <a:off x="53371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1701" name="Oval 21"/>
          <p:cNvSpPr>
            <a:spLocks noChangeArrowheads="1"/>
          </p:cNvSpPr>
          <p:nvPr/>
        </p:nvSpPr>
        <p:spPr bwMode="auto">
          <a:xfrm>
            <a:off x="73564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1702" name="Text Box 22"/>
          <p:cNvSpPr txBox="1">
            <a:spLocks noChangeArrowheads="1"/>
          </p:cNvSpPr>
          <p:nvPr/>
        </p:nvSpPr>
        <p:spPr bwMode="auto">
          <a:xfrm>
            <a:off x="7337425" y="30099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25</a:t>
            </a:r>
            <a:endParaRPr lang="en-US" altLang="en-US" sz="2400"/>
          </a:p>
        </p:txBody>
      </p:sp>
      <p:sp>
        <p:nvSpPr>
          <p:cNvPr id="71703" name="Line 23"/>
          <p:cNvSpPr>
            <a:spLocks noChangeShapeType="1"/>
          </p:cNvSpPr>
          <p:nvPr/>
        </p:nvSpPr>
        <p:spPr bwMode="auto">
          <a:xfrm flipH="1">
            <a:off x="5842000" y="244792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1704" name="Line 24"/>
          <p:cNvSpPr>
            <a:spLocks noChangeShapeType="1"/>
          </p:cNvSpPr>
          <p:nvPr/>
        </p:nvSpPr>
        <p:spPr bwMode="auto">
          <a:xfrm>
            <a:off x="6851650" y="244792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1705" name="Line 25"/>
          <p:cNvSpPr>
            <a:spLocks noChangeShapeType="1"/>
          </p:cNvSpPr>
          <p:nvPr/>
        </p:nvSpPr>
        <p:spPr bwMode="auto">
          <a:xfrm flipH="1">
            <a:off x="2971800" y="1760538"/>
            <a:ext cx="1355725" cy="2206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1706" name="Line 26"/>
          <p:cNvSpPr>
            <a:spLocks noChangeShapeType="1"/>
          </p:cNvSpPr>
          <p:nvPr/>
        </p:nvSpPr>
        <p:spPr bwMode="auto">
          <a:xfrm>
            <a:off x="5000625" y="1760538"/>
            <a:ext cx="1400175" cy="2206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1707" name="Oval 27"/>
          <p:cNvSpPr>
            <a:spLocks noChangeArrowheads="1"/>
          </p:cNvSpPr>
          <p:nvPr/>
        </p:nvSpPr>
        <p:spPr bwMode="auto">
          <a:xfrm>
            <a:off x="33178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1708" name="Oval 28"/>
          <p:cNvSpPr>
            <a:spLocks noChangeArrowheads="1"/>
          </p:cNvSpPr>
          <p:nvPr/>
        </p:nvSpPr>
        <p:spPr bwMode="auto">
          <a:xfrm>
            <a:off x="264477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1709" name="Text Box 29"/>
          <p:cNvSpPr txBox="1">
            <a:spLocks noChangeArrowheads="1"/>
          </p:cNvSpPr>
          <p:nvPr/>
        </p:nvSpPr>
        <p:spPr bwMode="auto">
          <a:xfrm>
            <a:off x="2625725" y="408463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71710" name="Oval 30"/>
          <p:cNvSpPr>
            <a:spLocks noChangeArrowheads="1"/>
          </p:cNvSpPr>
          <p:nvPr/>
        </p:nvSpPr>
        <p:spPr bwMode="auto">
          <a:xfrm>
            <a:off x="3654425" y="39846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1711" name="Text Box 31"/>
          <p:cNvSpPr txBox="1">
            <a:spLocks noChangeArrowheads="1"/>
          </p:cNvSpPr>
          <p:nvPr/>
        </p:nvSpPr>
        <p:spPr bwMode="auto">
          <a:xfrm>
            <a:off x="3635375" y="40846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71712" name="Oval 32"/>
          <p:cNvSpPr>
            <a:spLocks noChangeArrowheads="1"/>
          </p:cNvSpPr>
          <p:nvPr/>
        </p:nvSpPr>
        <p:spPr bwMode="auto">
          <a:xfrm>
            <a:off x="53371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1713" name="Text Box 33"/>
          <p:cNvSpPr txBox="1">
            <a:spLocks noChangeArrowheads="1"/>
          </p:cNvSpPr>
          <p:nvPr/>
        </p:nvSpPr>
        <p:spPr bwMode="auto">
          <a:xfrm>
            <a:off x="5314950" y="297973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71714" name="Oval 34"/>
          <p:cNvSpPr>
            <a:spLocks noChangeArrowheads="1"/>
          </p:cNvSpPr>
          <p:nvPr/>
        </p:nvSpPr>
        <p:spPr bwMode="auto">
          <a:xfrm>
            <a:off x="4664075" y="399097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1715" name="Text Box 35"/>
          <p:cNvSpPr txBox="1">
            <a:spLocks noChangeArrowheads="1"/>
          </p:cNvSpPr>
          <p:nvPr/>
        </p:nvSpPr>
        <p:spPr bwMode="auto">
          <a:xfrm>
            <a:off x="4645025" y="408781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71716" name="Oval 36"/>
          <p:cNvSpPr>
            <a:spLocks noChangeArrowheads="1"/>
          </p:cNvSpPr>
          <p:nvPr/>
        </p:nvSpPr>
        <p:spPr bwMode="auto">
          <a:xfrm>
            <a:off x="5673725" y="39909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1717" name="Text Box 37"/>
          <p:cNvSpPr txBox="1">
            <a:spLocks noChangeArrowheads="1"/>
          </p:cNvSpPr>
          <p:nvPr/>
        </p:nvSpPr>
        <p:spPr bwMode="auto">
          <a:xfrm>
            <a:off x="5654675" y="40909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71718" name="Oval 38"/>
          <p:cNvSpPr>
            <a:spLocks noChangeArrowheads="1"/>
          </p:cNvSpPr>
          <p:nvPr/>
        </p:nvSpPr>
        <p:spPr bwMode="auto">
          <a:xfrm>
            <a:off x="6683375" y="399097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1719" name="Text Box 39"/>
          <p:cNvSpPr txBox="1">
            <a:spLocks noChangeArrowheads="1"/>
          </p:cNvSpPr>
          <p:nvPr/>
        </p:nvSpPr>
        <p:spPr bwMode="auto">
          <a:xfrm>
            <a:off x="6664325" y="408940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18</a:t>
            </a:r>
            <a:endParaRPr lang="en-US" altLang="en-US" sz="2400"/>
          </a:p>
        </p:txBody>
      </p:sp>
      <p:sp>
        <p:nvSpPr>
          <p:cNvPr id="71720" name="Oval 40"/>
          <p:cNvSpPr>
            <a:spLocks noChangeArrowheads="1"/>
          </p:cNvSpPr>
          <p:nvPr/>
        </p:nvSpPr>
        <p:spPr bwMode="auto">
          <a:xfrm>
            <a:off x="769302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1721" name="Text Box 41"/>
          <p:cNvSpPr txBox="1">
            <a:spLocks noChangeArrowheads="1"/>
          </p:cNvSpPr>
          <p:nvPr/>
        </p:nvSpPr>
        <p:spPr bwMode="auto">
          <a:xfrm>
            <a:off x="7673975" y="40894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17</a:t>
            </a:r>
            <a:endParaRPr lang="en-US" altLang="en-US" sz="2400"/>
          </a:p>
        </p:txBody>
      </p:sp>
      <p:sp>
        <p:nvSpPr>
          <p:cNvPr id="71722" name="Line 42"/>
          <p:cNvSpPr>
            <a:spLocks noChangeShapeType="1"/>
          </p:cNvSpPr>
          <p:nvPr/>
        </p:nvSpPr>
        <p:spPr bwMode="auto">
          <a:xfrm flipH="1">
            <a:off x="9620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1723" name="Line 43"/>
          <p:cNvSpPr>
            <a:spLocks noChangeShapeType="1"/>
          </p:cNvSpPr>
          <p:nvPr/>
        </p:nvSpPr>
        <p:spPr bwMode="auto">
          <a:xfrm>
            <a:off x="19716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1724" name="Line 44"/>
          <p:cNvSpPr>
            <a:spLocks noChangeShapeType="1"/>
          </p:cNvSpPr>
          <p:nvPr/>
        </p:nvSpPr>
        <p:spPr bwMode="auto">
          <a:xfrm flipH="1">
            <a:off x="29813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1725" name="Line 45"/>
          <p:cNvSpPr>
            <a:spLocks noChangeShapeType="1"/>
          </p:cNvSpPr>
          <p:nvPr/>
        </p:nvSpPr>
        <p:spPr bwMode="auto">
          <a:xfrm>
            <a:off x="39909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1726" name="Line 46"/>
          <p:cNvSpPr>
            <a:spLocks noChangeShapeType="1"/>
          </p:cNvSpPr>
          <p:nvPr/>
        </p:nvSpPr>
        <p:spPr bwMode="auto">
          <a:xfrm flipH="1">
            <a:off x="50006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1727" name="Line 47"/>
          <p:cNvSpPr>
            <a:spLocks noChangeShapeType="1"/>
          </p:cNvSpPr>
          <p:nvPr/>
        </p:nvSpPr>
        <p:spPr bwMode="auto">
          <a:xfrm>
            <a:off x="60102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1728" name="Line 48"/>
          <p:cNvSpPr>
            <a:spLocks noChangeShapeType="1"/>
          </p:cNvSpPr>
          <p:nvPr/>
        </p:nvSpPr>
        <p:spPr bwMode="auto">
          <a:xfrm flipH="1">
            <a:off x="70199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1729" name="Line 49"/>
          <p:cNvSpPr>
            <a:spLocks noChangeShapeType="1"/>
          </p:cNvSpPr>
          <p:nvPr/>
        </p:nvSpPr>
        <p:spPr bwMode="auto">
          <a:xfrm>
            <a:off x="80295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1730" name="Text Box 50"/>
          <p:cNvSpPr txBox="1">
            <a:spLocks noChangeArrowheads="1"/>
          </p:cNvSpPr>
          <p:nvPr/>
        </p:nvSpPr>
        <p:spPr bwMode="auto">
          <a:xfrm>
            <a:off x="4495800" y="1914525"/>
            <a:ext cx="6731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71731" name="Text Box 51"/>
          <p:cNvSpPr txBox="1">
            <a:spLocks noChangeArrowheads="1"/>
          </p:cNvSpPr>
          <p:nvPr/>
        </p:nvSpPr>
        <p:spPr bwMode="auto">
          <a:xfrm>
            <a:off x="2476500" y="2447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71732" name="Text Box 52"/>
          <p:cNvSpPr txBox="1">
            <a:spLocks noChangeArrowheads="1"/>
          </p:cNvSpPr>
          <p:nvPr/>
        </p:nvSpPr>
        <p:spPr bwMode="auto">
          <a:xfrm>
            <a:off x="6515100" y="2447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71733" name="Text Box 53"/>
          <p:cNvSpPr txBox="1">
            <a:spLocks noChangeArrowheads="1"/>
          </p:cNvSpPr>
          <p:nvPr/>
        </p:nvSpPr>
        <p:spPr bwMode="auto">
          <a:xfrm>
            <a:off x="14668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71734" name="Text Box 54"/>
          <p:cNvSpPr txBox="1">
            <a:spLocks noChangeArrowheads="1"/>
          </p:cNvSpPr>
          <p:nvPr/>
        </p:nvSpPr>
        <p:spPr bwMode="auto">
          <a:xfrm>
            <a:off x="34861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71735" name="Text Box 55"/>
          <p:cNvSpPr txBox="1">
            <a:spLocks noChangeArrowheads="1"/>
          </p:cNvSpPr>
          <p:nvPr/>
        </p:nvSpPr>
        <p:spPr bwMode="auto">
          <a:xfrm>
            <a:off x="55054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71736" name="Text Box 56"/>
          <p:cNvSpPr txBox="1">
            <a:spLocks noChangeArrowheads="1"/>
          </p:cNvSpPr>
          <p:nvPr/>
        </p:nvSpPr>
        <p:spPr bwMode="auto">
          <a:xfrm>
            <a:off x="75247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71737" name="Text Box 57"/>
          <p:cNvSpPr txBox="1">
            <a:spLocks noChangeArrowheads="1"/>
          </p:cNvSpPr>
          <p:nvPr/>
        </p:nvSpPr>
        <p:spPr bwMode="auto">
          <a:xfrm>
            <a:off x="79375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71738" name="Text Box 58"/>
          <p:cNvSpPr txBox="1">
            <a:spLocks noChangeArrowheads="1"/>
          </p:cNvSpPr>
          <p:nvPr/>
        </p:nvSpPr>
        <p:spPr bwMode="auto">
          <a:xfrm>
            <a:off x="180340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71739" name="Text Box 59"/>
          <p:cNvSpPr txBox="1">
            <a:spLocks noChangeArrowheads="1"/>
          </p:cNvSpPr>
          <p:nvPr/>
        </p:nvSpPr>
        <p:spPr bwMode="auto">
          <a:xfrm>
            <a:off x="281305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71740" name="Text Box 60"/>
          <p:cNvSpPr txBox="1">
            <a:spLocks noChangeArrowheads="1"/>
          </p:cNvSpPr>
          <p:nvPr/>
        </p:nvSpPr>
        <p:spPr bwMode="auto">
          <a:xfrm>
            <a:off x="36544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71741" name="Text Box 61"/>
          <p:cNvSpPr txBox="1">
            <a:spLocks noChangeArrowheads="1"/>
          </p:cNvSpPr>
          <p:nvPr/>
        </p:nvSpPr>
        <p:spPr bwMode="auto">
          <a:xfrm>
            <a:off x="466407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71742" name="Text Box 62"/>
          <p:cNvSpPr txBox="1">
            <a:spLocks noChangeArrowheads="1"/>
          </p:cNvSpPr>
          <p:nvPr/>
        </p:nvSpPr>
        <p:spPr bwMode="auto">
          <a:xfrm>
            <a:off x="56737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71743" name="Text Box 63"/>
          <p:cNvSpPr txBox="1">
            <a:spLocks noChangeArrowheads="1"/>
          </p:cNvSpPr>
          <p:nvPr/>
        </p:nvSpPr>
        <p:spPr bwMode="auto">
          <a:xfrm>
            <a:off x="668337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71744" name="Text Box 64"/>
          <p:cNvSpPr txBox="1">
            <a:spLocks noChangeArrowheads="1"/>
          </p:cNvSpPr>
          <p:nvPr/>
        </p:nvSpPr>
        <p:spPr bwMode="auto">
          <a:xfrm>
            <a:off x="76930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71745" name="Oval 65"/>
          <p:cNvSpPr>
            <a:spLocks noChangeArrowheads="1"/>
          </p:cNvSpPr>
          <p:nvPr/>
        </p:nvSpPr>
        <p:spPr bwMode="auto">
          <a:xfrm>
            <a:off x="457200" y="507047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1746" name="Text Box 66"/>
          <p:cNvSpPr txBox="1">
            <a:spLocks noChangeArrowheads="1"/>
          </p:cNvSpPr>
          <p:nvPr/>
        </p:nvSpPr>
        <p:spPr bwMode="auto">
          <a:xfrm>
            <a:off x="438150" y="51689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71747" name="Oval 67"/>
          <p:cNvSpPr>
            <a:spLocks noChangeArrowheads="1"/>
          </p:cNvSpPr>
          <p:nvPr/>
        </p:nvSpPr>
        <p:spPr bwMode="auto">
          <a:xfrm>
            <a:off x="1466850" y="506888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1748" name="Text Box 68"/>
          <p:cNvSpPr txBox="1">
            <a:spLocks noChangeArrowheads="1"/>
          </p:cNvSpPr>
          <p:nvPr/>
        </p:nvSpPr>
        <p:spPr bwMode="auto">
          <a:xfrm>
            <a:off x="1447800" y="51689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9</a:t>
            </a:r>
            <a:endParaRPr lang="en-US" altLang="en-US" sz="2400"/>
          </a:p>
        </p:txBody>
      </p:sp>
      <p:sp>
        <p:nvSpPr>
          <p:cNvPr id="71749" name="Text Box 69"/>
          <p:cNvSpPr txBox="1">
            <a:spLocks noChangeArrowheads="1"/>
          </p:cNvSpPr>
          <p:nvPr/>
        </p:nvSpPr>
        <p:spPr bwMode="auto">
          <a:xfrm>
            <a:off x="1466850" y="56356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71750" name="Line 70"/>
          <p:cNvSpPr>
            <a:spLocks noChangeShapeType="1"/>
          </p:cNvSpPr>
          <p:nvPr/>
        </p:nvSpPr>
        <p:spPr bwMode="auto">
          <a:xfrm flipH="1">
            <a:off x="625475" y="460692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1751" name="Line 71"/>
          <p:cNvSpPr>
            <a:spLocks noChangeShapeType="1"/>
          </p:cNvSpPr>
          <p:nvPr/>
        </p:nvSpPr>
        <p:spPr bwMode="auto">
          <a:xfrm>
            <a:off x="1130300" y="460692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1752" name="Text Box 72"/>
          <p:cNvSpPr txBox="1">
            <a:spLocks noChangeArrowheads="1"/>
          </p:cNvSpPr>
          <p:nvPr/>
        </p:nvSpPr>
        <p:spPr bwMode="auto">
          <a:xfrm>
            <a:off x="457200" y="56356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71753" name="Text Box 73"/>
          <p:cNvSpPr txBox="1">
            <a:spLocks noChangeArrowheads="1"/>
          </p:cNvSpPr>
          <p:nvPr/>
        </p:nvSpPr>
        <p:spPr bwMode="auto">
          <a:xfrm>
            <a:off x="3257550" y="297973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71754" name="Text Box 74"/>
          <p:cNvSpPr txBox="1">
            <a:spLocks noChangeArrowheads="1"/>
          </p:cNvSpPr>
          <p:nvPr/>
        </p:nvSpPr>
        <p:spPr bwMode="auto">
          <a:xfrm>
            <a:off x="2514600" y="5105400"/>
            <a:ext cx="6096000" cy="466725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(right child #) = 2 * (parent #) + 2</a:t>
            </a:r>
          </a:p>
        </p:txBody>
      </p:sp>
      <p:sp>
        <p:nvSpPr>
          <p:cNvPr id="71755" name="Oval 75"/>
          <p:cNvSpPr>
            <a:spLocks noChangeArrowheads="1"/>
          </p:cNvSpPr>
          <p:nvPr/>
        </p:nvSpPr>
        <p:spPr bwMode="auto">
          <a:xfrm>
            <a:off x="7467600" y="3505200"/>
            <a:ext cx="457200" cy="457200"/>
          </a:xfrm>
          <a:prstGeom prst="ellipse">
            <a:avLst/>
          </a:prstGeom>
          <a:noFill/>
          <a:ln w="38100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1756" name="Oval 76"/>
          <p:cNvSpPr>
            <a:spLocks noChangeArrowheads="1"/>
          </p:cNvSpPr>
          <p:nvPr/>
        </p:nvSpPr>
        <p:spPr bwMode="auto">
          <a:xfrm>
            <a:off x="6477000" y="2438400"/>
            <a:ext cx="457200" cy="457200"/>
          </a:xfrm>
          <a:prstGeom prst="ellipse">
            <a:avLst/>
          </a:prstGeom>
          <a:noFill/>
          <a:ln w="38100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1757" name="Rectangle 78"/>
          <p:cNvSpPr>
            <a:spLocks noGrp="1" noChangeArrowheads="1"/>
          </p:cNvSpPr>
          <p:nvPr>
            <p:ph type="title"/>
          </p:nvPr>
        </p:nvSpPr>
        <p:spPr>
          <a:xfrm>
            <a:off x="457200" y="0"/>
            <a:ext cx="8229600" cy="11430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Heap Properties (cont.)</a:t>
            </a: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D8B6FA2B-BAF8-40ED-BA19-C5824B539FCC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72</a:t>
            </a:fld>
            <a:endParaRPr lang="en-US" altLang="en-US" sz="1400"/>
          </a:p>
        </p:txBody>
      </p:sp>
      <p:sp>
        <p:nvSpPr>
          <p:cNvPr id="72707" name="Oval 3"/>
          <p:cNvSpPr>
            <a:spLocks noChangeArrowheads="1"/>
          </p:cNvSpPr>
          <p:nvPr/>
        </p:nvSpPr>
        <p:spPr bwMode="auto">
          <a:xfrm>
            <a:off x="2308225" y="18288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2708" name="Text Box 4"/>
          <p:cNvSpPr txBox="1">
            <a:spLocks noChangeArrowheads="1"/>
          </p:cNvSpPr>
          <p:nvPr/>
        </p:nvSpPr>
        <p:spPr bwMode="auto">
          <a:xfrm>
            <a:off x="2289175" y="1930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72709" name="Oval 5"/>
          <p:cNvSpPr>
            <a:spLocks noChangeArrowheads="1"/>
          </p:cNvSpPr>
          <p:nvPr/>
        </p:nvSpPr>
        <p:spPr bwMode="auto">
          <a:xfrm>
            <a:off x="12985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2710" name="Text Box 6"/>
          <p:cNvSpPr txBox="1">
            <a:spLocks noChangeArrowheads="1"/>
          </p:cNvSpPr>
          <p:nvPr/>
        </p:nvSpPr>
        <p:spPr bwMode="auto">
          <a:xfrm>
            <a:off x="1279525" y="300990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72711" name="Oval 7"/>
          <p:cNvSpPr>
            <a:spLocks noChangeArrowheads="1"/>
          </p:cNvSpPr>
          <p:nvPr/>
        </p:nvSpPr>
        <p:spPr bwMode="auto">
          <a:xfrm>
            <a:off x="625475" y="399097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2712" name="Text Box 8"/>
          <p:cNvSpPr txBox="1">
            <a:spLocks noChangeArrowheads="1"/>
          </p:cNvSpPr>
          <p:nvPr/>
        </p:nvSpPr>
        <p:spPr bwMode="auto">
          <a:xfrm>
            <a:off x="606425" y="4089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72713" name="Text Box 9"/>
          <p:cNvSpPr txBox="1">
            <a:spLocks noChangeArrowheads="1"/>
          </p:cNvSpPr>
          <p:nvPr/>
        </p:nvSpPr>
        <p:spPr bwMode="auto">
          <a:xfrm>
            <a:off x="2139950" y="114300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72714" name="Oval 10"/>
          <p:cNvSpPr>
            <a:spLocks noChangeArrowheads="1"/>
          </p:cNvSpPr>
          <p:nvPr/>
        </p:nvSpPr>
        <p:spPr bwMode="auto">
          <a:xfrm>
            <a:off x="163512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2715" name="Text Box 11"/>
          <p:cNvSpPr txBox="1">
            <a:spLocks noChangeArrowheads="1"/>
          </p:cNvSpPr>
          <p:nvPr/>
        </p:nvSpPr>
        <p:spPr bwMode="auto">
          <a:xfrm>
            <a:off x="1616075" y="40894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3</a:t>
            </a:r>
            <a:endParaRPr lang="en-US" altLang="en-US" sz="2400"/>
          </a:p>
        </p:txBody>
      </p:sp>
      <p:sp>
        <p:nvSpPr>
          <p:cNvPr id="72716" name="Oval 12"/>
          <p:cNvSpPr>
            <a:spLocks noChangeArrowheads="1"/>
          </p:cNvSpPr>
          <p:nvPr/>
        </p:nvSpPr>
        <p:spPr bwMode="auto">
          <a:xfrm>
            <a:off x="4327525" y="12954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2717" name="Text Box 13"/>
          <p:cNvSpPr txBox="1">
            <a:spLocks noChangeArrowheads="1"/>
          </p:cNvSpPr>
          <p:nvPr/>
        </p:nvSpPr>
        <p:spPr bwMode="auto">
          <a:xfrm>
            <a:off x="4308475" y="1395413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46</a:t>
            </a:r>
            <a:endParaRPr lang="en-US" altLang="en-US" sz="2400"/>
          </a:p>
        </p:txBody>
      </p:sp>
      <p:sp>
        <p:nvSpPr>
          <p:cNvPr id="72718" name="Line 14"/>
          <p:cNvSpPr>
            <a:spLocks noChangeShapeType="1"/>
          </p:cNvSpPr>
          <p:nvPr/>
        </p:nvSpPr>
        <p:spPr bwMode="auto">
          <a:xfrm>
            <a:off x="2813050" y="145097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2719" name="Oval 15"/>
          <p:cNvSpPr>
            <a:spLocks noChangeArrowheads="1"/>
          </p:cNvSpPr>
          <p:nvPr/>
        </p:nvSpPr>
        <p:spPr bwMode="auto">
          <a:xfrm>
            <a:off x="33178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2720" name="Line 16"/>
          <p:cNvSpPr>
            <a:spLocks noChangeShapeType="1"/>
          </p:cNvSpPr>
          <p:nvPr/>
        </p:nvSpPr>
        <p:spPr bwMode="auto">
          <a:xfrm flipH="1">
            <a:off x="1803400" y="244792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2721" name="Line 17"/>
          <p:cNvSpPr>
            <a:spLocks noChangeShapeType="1"/>
          </p:cNvSpPr>
          <p:nvPr/>
        </p:nvSpPr>
        <p:spPr bwMode="auto">
          <a:xfrm>
            <a:off x="2813050" y="244792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2722" name="Oval 18"/>
          <p:cNvSpPr>
            <a:spLocks noChangeArrowheads="1"/>
          </p:cNvSpPr>
          <p:nvPr/>
        </p:nvSpPr>
        <p:spPr bwMode="auto">
          <a:xfrm>
            <a:off x="6346825" y="18288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2723" name="Text Box 19"/>
          <p:cNvSpPr txBox="1">
            <a:spLocks noChangeArrowheads="1"/>
          </p:cNvSpPr>
          <p:nvPr/>
        </p:nvSpPr>
        <p:spPr bwMode="auto">
          <a:xfrm>
            <a:off x="6327775" y="1930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72724" name="Oval 20"/>
          <p:cNvSpPr>
            <a:spLocks noChangeArrowheads="1"/>
          </p:cNvSpPr>
          <p:nvPr/>
        </p:nvSpPr>
        <p:spPr bwMode="auto">
          <a:xfrm>
            <a:off x="53371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2725" name="Oval 21"/>
          <p:cNvSpPr>
            <a:spLocks noChangeArrowheads="1"/>
          </p:cNvSpPr>
          <p:nvPr/>
        </p:nvSpPr>
        <p:spPr bwMode="auto">
          <a:xfrm>
            <a:off x="73564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2726" name="Text Box 22"/>
          <p:cNvSpPr txBox="1">
            <a:spLocks noChangeArrowheads="1"/>
          </p:cNvSpPr>
          <p:nvPr/>
        </p:nvSpPr>
        <p:spPr bwMode="auto">
          <a:xfrm>
            <a:off x="7337425" y="30099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25</a:t>
            </a:r>
            <a:endParaRPr lang="en-US" altLang="en-US" sz="2400"/>
          </a:p>
        </p:txBody>
      </p:sp>
      <p:sp>
        <p:nvSpPr>
          <p:cNvPr id="72727" name="Line 23"/>
          <p:cNvSpPr>
            <a:spLocks noChangeShapeType="1"/>
          </p:cNvSpPr>
          <p:nvPr/>
        </p:nvSpPr>
        <p:spPr bwMode="auto">
          <a:xfrm flipH="1">
            <a:off x="5842000" y="244792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2728" name="Line 24"/>
          <p:cNvSpPr>
            <a:spLocks noChangeShapeType="1"/>
          </p:cNvSpPr>
          <p:nvPr/>
        </p:nvSpPr>
        <p:spPr bwMode="auto">
          <a:xfrm>
            <a:off x="6851650" y="244792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2729" name="Line 25"/>
          <p:cNvSpPr>
            <a:spLocks noChangeShapeType="1"/>
          </p:cNvSpPr>
          <p:nvPr/>
        </p:nvSpPr>
        <p:spPr bwMode="auto">
          <a:xfrm flipH="1">
            <a:off x="2971800" y="1760538"/>
            <a:ext cx="1355725" cy="2206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2730" name="Line 26"/>
          <p:cNvSpPr>
            <a:spLocks noChangeShapeType="1"/>
          </p:cNvSpPr>
          <p:nvPr/>
        </p:nvSpPr>
        <p:spPr bwMode="auto">
          <a:xfrm>
            <a:off x="5000625" y="1760538"/>
            <a:ext cx="1400175" cy="2206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2731" name="Oval 27"/>
          <p:cNvSpPr>
            <a:spLocks noChangeArrowheads="1"/>
          </p:cNvSpPr>
          <p:nvPr/>
        </p:nvSpPr>
        <p:spPr bwMode="auto">
          <a:xfrm>
            <a:off x="33178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2732" name="Oval 28"/>
          <p:cNvSpPr>
            <a:spLocks noChangeArrowheads="1"/>
          </p:cNvSpPr>
          <p:nvPr/>
        </p:nvSpPr>
        <p:spPr bwMode="auto">
          <a:xfrm>
            <a:off x="264477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2733" name="Text Box 29"/>
          <p:cNvSpPr txBox="1">
            <a:spLocks noChangeArrowheads="1"/>
          </p:cNvSpPr>
          <p:nvPr/>
        </p:nvSpPr>
        <p:spPr bwMode="auto">
          <a:xfrm>
            <a:off x="2625725" y="408463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72734" name="Oval 30"/>
          <p:cNvSpPr>
            <a:spLocks noChangeArrowheads="1"/>
          </p:cNvSpPr>
          <p:nvPr/>
        </p:nvSpPr>
        <p:spPr bwMode="auto">
          <a:xfrm>
            <a:off x="3654425" y="39846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2735" name="Text Box 31"/>
          <p:cNvSpPr txBox="1">
            <a:spLocks noChangeArrowheads="1"/>
          </p:cNvSpPr>
          <p:nvPr/>
        </p:nvSpPr>
        <p:spPr bwMode="auto">
          <a:xfrm>
            <a:off x="3635375" y="40846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72736" name="Oval 32"/>
          <p:cNvSpPr>
            <a:spLocks noChangeArrowheads="1"/>
          </p:cNvSpPr>
          <p:nvPr/>
        </p:nvSpPr>
        <p:spPr bwMode="auto">
          <a:xfrm>
            <a:off x="53371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2737" name="Text Box 33"/>
          <p:cNvSpPr txBox="1">
            <a:spLocks noChangeArrowheads="1"/>
          </p:cNvSpPr>
          <p:nvPr/>
        </p:nvSpPr>
        <p:spPr bwMode="auto">
          <a:xfrm>
            <a:off x="5314950" y="297973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72738" name="Oval 34"/>
          <p:cNvSpPr>
            <a:spLocks noChangeArrowheads="1"/>
          </p:cNvSpPr>
          <p:nvPr/>
        </p:nvSpPr>
        <p:spPr bwMode="auto">
          <a:xfrm>
            <a:off x="4664075" y="399097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2739" name="Text Box 35"/>
          <p:cNvSpPr txBox="1">
            <a:spLocks noChangeArrowheads="1"/>
          </p:cNvSpPr>
          <p:nvPr/>
        </p:nvSpPr>
        <p:spPr bwMode="auto">
          <a:xfrm>
            <a:off x="4645025" y="408781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72740" name="Oval 36"/>
          <p:cNvSpPr>
            <a:spLocks noChangeArrowheads="1"/>
          </p:cNvSpPr>
          <p:nvPr/>
        </p:nvSpPr>
        <p:spPr bwMode="auto">
          <a:xfrm>
            <a:off x="5673725" y="39909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2741" name="Text Box 37"/>
          <p:cNvSpPr txBox="1">
            <a:spLocks noChangeArrowheads="1"/>
          </p:cNvSpPr>
          <p:nvPr/>
        </p:nvSpPr>
        <p:spPr bwMode="auto">
          <a:xfrm>
            <a:off x="5654675" y="40909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72742" name="Oval 38"/>
          <p:cNvSpPr>
            <a:spLocks noChangeArrowheads="1"/>
          </p:cNvSpPr>
          <p:nvPr/>
        </p:nvSpPr>
        <p:spPr bwMode="auto">
          <a:xfrm>
            <a:off x="6683375" y="399097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2743" name="Text Box 39"/>
          <p:cNvSpPr txBox="1">
            <a:spLocks noChangeArrowheads="1"/>
          </p:cNvSpPr>
          <p:nvPr/>
        </p:nvSpPr>
        <p:spPr bwMode="auto">
          <a:xfrm>
            <a:off x="6664325" y="408940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18</a:t>
            </a:r>
            <a:endParaRPr lang="en-US" altLang="en-US" sz="2400"/>
          </a:p>
        </p:txBody>
      </p:sp>
      <p:sp>
        <p:nvSpPr>
          <p:cNvPr id="72744" name="Oval 40"/>
          <p:cNvSpPr>
            <a:spLocks noChangeArrowheads="1"/>
          </p:cNvSpPr>
          <p:nvPr/>
        </p:nvSpPr>
        <p:spPr bwMode="auto">
          <a:xfrm>
            <a:off x="769302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2745" name="Text Box 41"/>
          <p:cNvSpPr txBox="1">
            <a:spLocks noChangeArrowheads="1"/>
          </p:cNvSpPr>
          <p:nvPr/>
        </p:nvSpPr>
        <p:spPr bwMode="auto">
          <a:xfrm>
            <a:off x="7673975" y="40894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17</a:t>
            </a:r>
            <a:endParaRPr lang="en-US" altLang="en-US" sz="2400"/>
          </a:p>
        </p:txBody>
      </p:sp>
      <p:sp>
        <p:nvSpPr>
          <p:cNvPr id="72746" name="Line 42"/>
          <p:cNvSpPr>
            <a:spLocks noChangeShapeType="1"/>
          </p:cNvSpPr>
          <p:nvPr/>
        </p:nvSpPr>
        <p:spPr bwMode="auto">
          <a:xfrm flipH="1">
            <a:off x="9620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2747" name="Line 43"/>
          <p:cNvSpPr>
            <a:spLocks noChangeShapeType="1"/>
          </p:cNvSpPr>
          <p:nvPr/>
        </p:nvSpPr>
        <p:spPr bwMode="auto">
          <a:xfrm>
            <a:off x="19716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2748" name="Line 44"/>
          <p:cNvSpPr>
            <a:spLocks noChangeShapeType="1"/>
          </p:cNvSpPr>
          <p:nvPr/>
        </p:nvSpPr>
        <p:spPr bwMode="auto">
          <a:xfrm flipH="1">
            <a:off x="29813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2749" name="Line 45"/>
          <p:cNvSpPr>
            <a:spLocks noChangeShapeType="1"/>
          </p:cNvSpPr>
          <p:nvPr/>
        </p:nvSpPr>
        <p:spPr bwMode="auto">
          <a:xfrm>
            <a:off x="39909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2750" name="Line 46"/>
          <p:cNvSpPr>
            <a:spLocks noChangeShapeType="1"/>
          </p:cNvSpPr>
          <p:nvPr/>
        </p:nvSpPr>
        <p:spPr bwMode="auto">
          <a:xfrm flipH="1">
            <a:off x="50006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2751" name="Line 47"/>
          <p:cNvSpPr>
            <a:spLocks noChangeShapeType="1"/>
          </p:cNvSpPr>
          <p:nvPr/>
        </p:nvSpPr>
        <p:spPr bwMode="auto">
          <a:xfrm>
            <a:off x="60102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2752" name="Line 48"/>
          <p:cNvSpPr>
            <a:spLocks noChangeShapeType="1"/>
          </p:cNvSpPr>
          <p:nvPr/>
        </p:nvSpPr>
        <p:spPr bwMode="auto">
          <a:xfrm flipH="1">
            <a:off x="70199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2753" name="Line 49"/>
          <p:cNvSpPr>
            <a:spLocks noChangeShapeType="1"/>
          </p:cNvSpPr>
          <p:nvPr/>
        </p:nvSpPr>
        <p:spPr bwMode="auto">
          <a:xfrm>
            <a:off x="80295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2754" name="Text Box 50"/>
          <p:cNvSpPr txBox="1">
            <a:spLocks noChangeArrowheads="1"/>
          </p:cNvSpPr>
          <p:nvPr/>
        </p:nvSpPr>
        <p:spPr bwMode="auto">
          <a:xfrm>
            <a:off x="4495800" y="1914525"/>
            <a:ext cx="6731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72755" name="Text Box 51"/>
          <p:cNvSpPr txBox="1">
            <a:spLocks noChangeArrowheads="1"/>
          </p:cNvSpPr>
          <p:nvPr/>
        </p:nvSpPr>
        <p:spPr bwMode="auto">
          <a:xfrm>
            <a:off x="2476500" y="2447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72756" name="Text Box 52"/>
          <p:cNvSpPr txBox="1">
            <a:spLocks noChangeArrowheads="1"/>
          </p:cNvSpPr>
          <p:nvPr/>
        </p:nvSpPr>
        <p:spPr bwMode="auto">
          <a:xfrm>
            <a:off x="6515100" y="2447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72757" name="Text Box 53"/>
          <p:cNvSpPr txBox="1">
            <a:spLocks noChangeArrowheads="1"/>
          </p:cNvSpPr>
          <p:nvPr/>
        </p:nvSpPr>
        <p:spPr bwMode="auto">
          <a:xfrm>
            <a:off x="14668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72758" name="Text Box 54"/>
          <p:cNvSpPr txBox="1">
            <a:spLocks noChangeArrowheads="1"/>
          </p:cNvSpPr>
          <p:nvPr/>
        </p:nvSpPr>
        <p:spPr bwMode="auto">
          <a:xfrm>
            <a:off x="34861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72759" name="Text Box 55"/>
          <p:cNvSpPr txBox="1">
            <a:spLocks noChangeArrowheads="1"/>
          </p:cNvSpPr>
          <p:nvPr/>
        </p:nvSpPr>
        <p:spPr bwMode="auto">
          <a:xfrm>
            <a:off x="55054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72760" name="Text Box 56"/>
          <p:cNvSpPr txBox="1">
            <a:spLocks noChangeArrowheads="1"/>
          </p:cNvSpPr>
          <p:nvPr/>
        </p:nvSpPr>
        <p:spPr bwMode="auto">
          <a:xfrm>
            <a:off x="75247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72761" name="Text Box 57"/>
          <p:cNvSpPr txBox="1">
            <a:spLocks noChangeArrowheads="1"/>
          </p:cNvSpPr>
          <p:nvPr/>
        </p:nvSpPr>
        <p:spPr bwMode="auto">
          <a:xfrm>
            <a:off x="79375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72762" name="Text Box 58"/>
          <p:cNvSpPr txBox="1">
            <a:spLocks noChangeArrowheads="1"/>
          </p:cNvSpPr>
          <p:nvPr/>
        </p:nvSpPr>
        <p:spPr bwMode="auto">
          <a:xfrm>
            <a:off x="180340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72763" name="Text Box 59"/>
          <p:cNvSpPr txBox="1">
            <a:spLocks noChangeArrowheads="1"/>
          </p:cNvSpPr>
          <p:nvPr/>
        </p:nvSpPr>
        <p:spPr bwMode="auto">
          <a:xfrm>
            <a:off x="281305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72764" name="Text Box 60"/>
          <p:cNvSpPr txBox="1">
            <a:spLocks noChangeArrowheads="1"/>
          </p:cNvSpPr>
          <p:nvPr/>
        </p:nvSpPr>
        <p:spPr bwMode="auto">
          <a:xfrm>
            <a:off x="36544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72765" name="Text Box 61"/>
          <p:cNvSpPr txBox="1">
            <a:spLocks noChangeArrowheads="1"/>
          </p:cNvSpPr>
          <p:nvPr/>
        </p:nvSpPr>
        <p:spPr bwMode="auto">
          <a:xfrm>
            <a:off x="466407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72766" name="Text Box 62"/>
          <p:cNvSpPr txBox="1">
            <a:spLocks noChangeArrowheads="1"/>
          </p:cNvSpPr>
          <p:nvPr/>
        </p:nvSpPr>
        <p:spPr bwMode="auto">
          <a:xfrm>
            <a:off x="56737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72767" name="Text Box 63"/>
          <p:cNvSpPr txBox="1">
            <a:spLocks noChangeArrowheads="1"/>
          </p:cNvSpPr>
          <p:nvPr/>
        </p:nvSpPr>
        <p:spPr bwMode="auto">
          <a:xfrm>
            <a:off x="668337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72768" name="Text Box 64"/>
          <p:cNvSpPr txBox="1">
            <a:spLocks noChangeArrowheads="1"/>
          </p:cNvSpPr>
          <p:nvPr/>
        </p:nvSpPr>
        <p:spPr bwMode="auto">
          <a:xfrm>
            <a:off x="76930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72769" name="Oval 65"/>
          <p:cNvSpPr>
            <a:spLocks noChangeArrowheads="1"/>
          </p:cNvSpPr>
          <p:nvPr/>
        </p:nvSpPr>
        <p:spPr bwMode="auto">
          <a:xfrm>
            <a:off x="457200" y="507047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2770" name="Text Box 66"/>
          <p:cNvSpPr txBox="1">
            <a:spLocks noChangeArrowheads="1"/>
          </p:cNvSpPr>
          <p:nvPr/>
        </p:nvSpPr>
        <p:spPr bwMode="auto">
          <a:xfrm>
            <a:off x="438150" y="51689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72771" name="Oval 67"/>
          <p:cNvSpPr>
            <a:spLocks noChangeArrowheads="1"/>
          </p:cNvSpPr>
          <p:nvPr/>
        </p:nvSpPr>
        <p:spPr bwMode="auto">
          <a:xfrm>
            <a:off x="1466850" y="506888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2772" name="Text Box 68"/>
          <p:cNvSpPr txBox="1">
            <a:spLocks noChangeArrowheads="1"/>
          </p:cNvSpPr>
          <p:nvPr/>
        </p:nvSpPr>
        <p:spPr bwMode="auto">
          <a:xfrm>
            <a:off x="1447800" y="51689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9</a:t>
            </a:r>
            <a:endParaRPr lang="en-US" altLang="en-US" sz="2400"/>
          </a:p>
        </p:txBody>
      </p:sp>
      <p:sp>
        <p:nvSpPr>
          <p:cNvPr id="72773" name="Text Box 69"/>
          <p:cNvSpPr txBox="1">
            <a:spLocks noChangeArrowheads="1"/>
          </p:cNvSpPr>
          <p:nvPr/>
        </p:nvSpPr>
        <p:spPr bwMode="auto">
          <a:xfrm>
            <a:off x="1466850" y="56356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72774" name="Line 70"/>
          <p:cNvSpPr>
            <a:spLocks noChangeShapeType="1"/>
          </p:cNvSpPr>
          <p:nvPr/>
        </p:nvSpPr>
        <p:spPr bwMode="auto">
          <a:xfrm flipH="1">
            <a:off x="625475" y="460692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2775" name="Line 71"/>
          <p:cNvSpPr>
            <a:spLocks noChangeShapeType="1"/>
          </p:cNvSpPr>
          <p:nvPr/>
        </p:nvSpPr>
        <p:spPr bwMode="auto">
          <a:xfrm>
            <a:off x="1130300" y="460692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2776" name="Text Box 72"/>
          <p:cNvSpPr txBox="1">
            <a:spLocks noChangeArrowheads="1"/>
          </p:cNvSpPr>
          <p:nvPr/>
        </p:nvSpPr>
        <p:spPr bwMode="auto">
          <a:xfrm>
            <a:off x="457200" y="56356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72777" name="Text Box 73"/>
          <p:cNvSpPr txBox="1">
            <a:spLocks noChangeArrowheads="1"/>
          </p:cNvSpPr>
          <p:nvPr/>
        </p:nvSpPr>
        <p:spPr bwMode="auto">
          <a:xfrm>
            <a:off x="3257550" y="297973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72778" name="Text Box 74"/>
          <p:cNvSpPr txBox="1">
            <a:spLocks noChangeArrowheads="1"/>
          </p:cNvSpPr>
          <p:nvPr/>
        </p:nvSpPr>
        <p:spPr bwMode="auto">
          <a:xfrm>
            <a:off x="2514600" y="5105400"/>
            <a:ext cx="6096000" cy="466725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(right child #) = 2 * (parent #) + 2</a:t>
            </a:r>
          </a:p>
        </p:txBody>
      </p:sp>
      <p:sp>
        <p:nvSpPr>
          <p:cNvPr id="72779" name="Oval 75"/>
          <p:cNvSpPr>
            <a:spLocks noChangeArrowheads="1"/>
          </p:cNvSpPr>
          <p:nvPr/>
        </p:nvSpPr>
        <p:spPr bwMode="auto">
          <a:xfrm>
            <a:off x="3429000" y="3505200"/>
            <a:ext cx="457200" cy="457200"/>
          </a:xfrm>
          <a:prstGeom prst="ellipse">
            <a:avLst/>
          </a:prstGeom>
          <a:noFill/>
          <a:ln w="38100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2780" name="Oval 76"/>
          <p:cNvSpPr>
            <a:spLocks noChangeArrowheads="1"/>
          </p:cNvSpPr>
          <p:nvPr/>
        </p:nvSpPr>
        <p:spPr bwMode="auto">
          <a:xfrm>
            <a:off x="2438400" y="2438400"/>
            <a:ext cx="457200" cy="457200"/>
          </a:xfrm>
          <a:prstGeom prst="ellipse">
            <a:avLst/>
          </a:prstGeom>
          <a:noFill/>
          <a:ln w="38100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2781" name="Rectangle 78"/>
          <p:cNvSpPr>
            <a:spLocks noGrp="1" noChangeArrowheads="1"/>
          </p:cNvSpPr>
          <p:nvPr>
            <p:ph type="title"/>
          </p:nvPr>
        </p:nvSpPr>
        <p:spPr>
          <a:xfrm>
            <a:off x="457200" y="0"/>
            <a:ext cx="8229600" cy="11430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Heap Properties (cont.)</a:t>
            </a: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EB6FA45C-D505-4DCC-8266-7951A2C87B82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73</a:t>
            </a:fld>
            <a:endParaRPr lang="en-US" altLang="en-US" sz="1400"/>
          </a:p>
        </p:txBody>
      </p:sp>
      <p:sp>
        <p:nvSpPr>
          <p:cNvPr id="73731" name="Oval 3"/>
          <p:cNvSpPr>
            <a:spLocks noChangeArrowheads="1"/>
          </p:cNvSpPr>
          <p:nvPr/>
        </p:nvSpPr>
        <p:spPr bwMode="auto">
          <a:xfrm>
            <a:off x="2308225" y="18288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3732" name="Text Box 4"/>
          <p:cNvSpPr txBox="1">
            <a:spLocks noChangeArrowheads="1"/>
          </p:cNvSpPr>
          <p:nvPr/>
        </p:nvSpPr>
        <p:spPr bwMode="auto">
          <a:xfrm>
            <a:off x="2289175" y="1930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73733" name="Oval 5"/>
          <p:cNvSpPr>
            <a:spLocks noChangeArrowheads="1"/>
          </p:cNvSpPr>
          <p:nvPr/>
        </p:nvSpPr>
        <p:spPr bwMode="auto">
          <a:xfrm>
            <a:off x="12985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3734" name="Text Box 6"/>
          <p:cNvSpPr txBox="1">
            <a:spLocks noChangeArrowheads="1"/>
          </p:cNvSpPr>
          <p:nvPr/>
        </p:nvSpPr>
        <p:spPr bwMode="auto">
          <a:xfrm>
            <a:off x="1279525" y="300990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73735" name="Oval 7"/>
          <p:cNvSpPr>
            <a:spLocks noChangeArrowheads="1"/>
          </p:cNvSpPr>
          <p:nvPr/>
        </p:nvSpPr>
        <p:spPr bwMode="auto">
          <a:xfrm>
            <a:off x="625475" y="399097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3736" name="Text Box 8"/>
          <p:cNvSpPr txBox="1">
            <a:spLocks noChangeArrowheads="1"/>
          </p:cNvSpPr>
          <p:nvPr/>
        </p:nvSpPr>
        <p:spPr bwMode="auto">
          <a:xfrm>
            <a:off x="606425" y="4089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73737" name="Text Box 9"/>
          <p:cNvSpPr txBox="1">
            <a:spLocks noChangeArrowheads="1"/>
          </p:cNvSpPr>
          <p:nvPr/>
        </p:nvSpPr>
        <p:spPr bwMode="auto">
          <a:xfrm>
            <a:off x="2139950" y="114300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73738" name="Oval 10"/>
          <p:cNvSpPr>
            <a:spLocks noChangeArrowheads="1"/>
          </p:cNvSpPr>
          <p:nvPr/>
        </p:nvSpPr>
        <p:spPr bwMode="auto">
          <a:xfrm>
            <a:off x="163512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3739" name="Text Box 11"/>
          <p:cNvSpPr txBox="1">
            <a:spLocks noChangeArrowheads="1"/>
          </p:cNvSpPr>
          <p:nvPr/>
        </p:nvSpPr>
        <p:spPr bwMode="auto">
          <a:xfrm>
            <a:off x="1616075" y="40894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3</a:t>
            </a:r>
            <a:endParaRPr lang="en-US" altLang="en-US" sz="2400"/>
          </a:p>
        </p:txBody>
      </p:sp>
      <p:sp>
        <p:nvSpPr>
          <p:cNvPr id="73740" name="Oval 12"/>
          <p:cNvSpPr>
            <a:spLocks noChangeArrowheads="1"/>
          </p:cNvSpPr>
          <p:nvPr/>
        </p:nvSpPr>
        <p:spPr bwMode="auto">
          <a:xfrm>
            <a:off x="4327525" y="12954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3741" name="Text Box 13"/>
          <p:cNvSpPr txBox="1">
            <a:spLocks noChangeArrowheads="1"/>
          </p:cNvSpPr>
          <p:nvPr/>
        </p:nvSpPr>
        <p:spPr bwMode="auto">
          <a:xfrm>
            <a:off x="4308475" y="1395413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46</a:t>
            </a:r>
            <a:endParaRPr lang="en-US" altLang="en-US" sz="2400"/>
          </a:p>
        </p:txBody>
      </p:sp>
      <p:sp>
        <p:nvSpPr>
          <p:cNvPr id="73742" name="Line 14"/>
          <p:cNvSpPr>
            <a:spLocks noChangeShapeType="1"/>
          </p:cNvSpPr>
          <p:nvPr/>
        </p:nvSpPr>
        <p:spPr bwMode="auto">
          <a:xfrm>
            <a:off x="2813050" y="145097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3743" name="Oval 15"/>
          <p:cNvSpPr>
            <a:spLocks noChangeArrowheads="1"/>
          </p:cNvSpPr>
          <p:nvPr/>
        </p:nvSpPr>
        <p:spPr bwMode="auto">
          <a:xfrm>
            <a:off x="33178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3744" name="Line 16"/>
          <p:cNvSpPr>
            <a:spLocks noChangeShapeType="1"/>
          </p:cNvSpPr>
          <p:nvPr/>
        </p:nvSpPr>
        <p:spPr bwMode="auto">
          <a:xfrm flipH="1">
            <a:off x="1803400" y="244792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3745" name="Line 17"/>
          <p:cNvSpPr>
            <a:spLocks noChangeShapeType="1"/>
          </p:cNvSpPr>
          <p:nvPr/>
        </p:nvSpPr>
        <p:spPr bwMode="auto">
          <a:xfrm>
            <a:off x="2813050" y="244792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3746" name="Oval 18"/>
          <p:cNvSpPr>
            <a:spLocks noChangeArrowheads="1"/>
          </p:cNvSpPr>
          <p:nvPr/>
        </p:nvSpPr>
        <p:spPr bwMode="auto">
          <a:xfrm>
            <a:off x="6346825" y="18288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3747" name="Text Box 19"/>
          <p:cNvSpPr txBox="1">
            <a:spLocks noChangeArrowheads="1"/>
          </p:cNvSpPr>
          <p:nvPr/>
        </p:nvSpPr>
        <p:spPr bwMode="auto">
          <a:xfrm>
            <a:off x="6327775" y="1930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73748" name="Oval 20"/>
          <p:cNvSpPr>
            <a:spLocks noChangeArrowheads="1"/>
          </p:cNvSpPr>
          <p:nvPr/>
        </p:nvSpPr>
        <p:spPr bwMode="auto">
          <a:xfrm>
            <a:off x="53371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3749" name="Oval 21"/>
          <p:cNvSpPr>
            <a:spLocks noChangeArrowheads="1"/>
          </p:cNvSpPr>
          <p:nvPr/>
        </p:nvSpPr>
        <p:spPr bwMode="auto">
          <a:xfrm>
            <a:off x="73564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3750" name="Text Box 22"/>
          <p:cNvSpPr txBox="1">
            <a:spLocks noChangeArrowheads="1"/>
          </p:cNvSpPr>
          <p:nvPr/>
        </p:nvSpPr>
        <p:spPr bwMode="auto">
          <a:xfrm>
            <a:off x="7337425" y="30099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25</a:t>
            </a:r>
            <a:endParaRPr lang="en-US" altLang="en-US" sz="2400"/>
          </a:p>
        </p:txBody>
      </p:sp>
      <p:sp>
        <p:nvSpPr>
          <p:cNvPr id="73751" name="Line 23"/>
          <p:cNvSpPr>
            <a:spLocks noChangeShapeType="1"/>
          </p:cNvSpPr>
          <p:nvPr/>
        </p:nvSpPr>
        <p:spPr bwMode="auto">
          <a:xfrm flipH="1">
            <a:off x="5842000" y="244792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3752" name="Line 24"/>
          <p:cNvSpPr>
            <a:spLocks noChangeShapeType="1"/>
          </p:cNvSpPr>
          <p:nvPr/>
        </p:nvSpPr>
        <p:spPr bwMode="auto">
          <a:xfrm>
            <a:off x="6851650" y="244792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3753" name="Line 25"/>
          <p:cNvSpPr>
            <a:spLocks noChangeShapeType="1"/>
          </p:cNvSpPr>
          <p:nvPr/>
        </p:nvSpPr>
        <p:spPr bwMode="auto">
          <a:xfrm flipH="1">
            <a:off x="2971800" y="1760538"/>
            <a:ext cx="1355725" cy="2206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3754" name="Line 26"/>
          <p:cNvSpPr>
            <a:spLocks noChangeShapeType="1"/>
          </p:cNvSpPr>
          <p:nvPr/>
        </p:nvSpPr>
        <p:spPr bwMode="auto">
          <a:xfrm>
            <a:off x="5000625" y="1760538"/>
            <a:ext cx="1400175" cy="2206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3755" name="Oval 27"/>
          <p:cNvSpPr>
            <a:spLocks noChangeArrowheads="1"/>
          </p:cNvSpPr>
          <p:nvPr/>
        </p:nvSpPr>
        <p:spPr bwMode="auto">
          <a:xfrm>
            <a:off x="33178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3756" name="Oval 28"/>
          <p:cNvSpPr>
            <a:spLocks noChangeArrowheads="1"/>
          </p:cNvSpPr>
          <p:nvPr/>
        </p:nvSpPr>
        <p:spPr bwMode="auto">
          <a:xfrm>
            <a:off x="264477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3757" name="Text Box 29"/>
          <p:cNvSpPr txBox="1">
            <a:spLocks noChangeArrowheads="1"/>
          </p:cNvSpPr>
          <p:nvPr/>
        </p:nvSpPr>
        <p:spPr bwMode="auto">
          <a:xfrm>
            <a:off x="2625725" y="408463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73758" name="Oval 30"/>
          <p:cNvSpPr>
            <a:spLocks noChangeArrowheads="1"/>
          </p:cNvSpPr>
          <p:nvPr/>
        </p:nvSpPr>
        <p:spPr bwMode="auto">
          <a:xfrm>
            <a:off x="3654425" y="39846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3759" name="Text Box 31"/>
          <p:cNvSpPr txBox="1">
            <a:spLocks noChangeArrowheads="1"/>
          </p:cNvSpPr>
          <p:nvPr/>
        </p:nvSpPr>
        <p:spPr bwMode="auto">
          <a:xfrm>
            <a:off x="3635375" y="40846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73760" name="Oval 32"/>
          <p:cNvSpPr>
            <a:spLocks noChangeArrowheads="1"/>
          </p:cNvSpPr>
          <p:nvPr/>
        </p:nvSpPr>
        <p:spPr bwMode="auto">
          <a:xfrm>
            <a:off x="53371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3761" name="Text Box 33"/>
          <p:cNvSpPr txBox="1">
            <a:spLocks noChangeArrowheads="1"/>
          </p:cNvSpPr>
          <p:nvPr/>
        </p:nvSpPr>
        <p:spPr bwMode="auto">
          <a:xfrm>
            <a:off x="5314950" y="297973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73762" name="Oval 34"/>
          <p:cNvSpPr>
            <a:spLocks noChangeArrowheads="1"/>
          </p:cNvSpPr>
          <p:nvPr/>
        </p:nvSpPr>
        <p:spPr bwMode="auto">
          <a:xfrm>
            <a:off x="4664075" y="399097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3763" name="Text Box 35"/>
          <p:cNvSpPr txBox="1">
            <a:spLocks noChangeArrowheads="1"/>
          </p:cNvSpPr>
          <p:nvPr/>
        </p:nvSpPr>
        <p:spPr bwMode="auto">
          <a:xfrm>
            <a:off x="4645025" y="408781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73764" name="Oval 36"/>
          <p:cNvSpPr>
            <a:spLocks noChangeArrowheads="1"/>
          </p:cNvSpPr>
          <p:nvPr/>
        </p:nvSpPr>
        <p:spPr bwMode="auto">
          <a:xfrm>
            <a:off x="5673725" y="39909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3765" name="Text Box 37"/>
          <p:cNvSpPr txBox="1">
            <a:spLocks noChangeArrowheads="1"/>
          </p:cNvSpPr>
          <p:nvPr/>
        </p:nvSpPr>
        <p:spPr bwMode="auto">
          <a:xfrm>
            <a:off x="5654675" y="40909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73766" name="Oval 38"/>
          <p:cNvSpPr>
            <a:spLocks noChangeArrowheads="1"/>
          </p:cNvSpPr>
          <p:nvPr/>
        </p:nvSpPr>
        <p:spPr bwMode="auto">
          <a:xfrm>
            <a:off x="6683375" y="399097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3767" name="Text Box 39"/>
          <p:cNvSpPr txBox="1">
            <a:spLocks noChangeArrowheads="1"/>
          </p:cNvSpPr>
          <p:nvPr/>
        </p:nvSpPr>
        <p:spPr bwMode="auto">
          <a:xfrm>
            <a:off x="6664325" y="408940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18</a:t>
            </a:r>
            <a:endParaRPr lang="en-US" altLang="en-US" sz="2400"/>
          </a:p>
        </p:txBody>
      </p:sp>
      <p:sp>
        <p:nvSpPr>
          <p:cNvPr id="73768" name="Oval 40"/>
          <p:cNvSpPr>
            <a:spLocks noChangeArrowheads="1"/>
          </p:cNvSpPr>
          <p:nvPr/>
        </p:nvSpPr>
        <p:spPr bwMode="auto">
          <a:xfrm>
            <a:off x="769302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3769" name="Text Box 41"/>
          <p:cNvSpPr txBox="1">
            <a:spLocks noChangeArrowheads="1"/>
          </p:cNvSpPr>
          <p:nvPr/>
        </p:nvSpPr>
        <p:spPr bwMode="auto">
          <a:xfrm>
            <a:off x="7673975" y="40894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17</a:t>
            </a:r>
            <a:endParaRPr lang="en-US" altLang="en-US" sz="2400"/>
          </a:p>
        </p:txBody>
      </p:sp>
      <p:sp>
        <p:nvSpPr>
          <p:cNvPr id="73770" name="Line 42"/>
          <p:cNvSpPr>
            <a:spLocks noChangeShapeType="1"/>
          </p:cNvSpPr>
          <p:nvPr/>
        </p:nvSpPr>
        <p:spPr bwMode="auto">
          <a:xfrm flipH="1">
            <a:off x="9620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3771" name="Line 43"/>
          <p:cNvSpPr>
            <a:spLocks noChangeShapeType="1"/>
          </p:cNvSpPr>
          <p:nvPr/>
        </p:nvSpPr>
        <p:spPr bwMode="auto">
          <a:xfrm>
            <a:off x="19716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3772" name="Line 44"/>
          <p:cNvSpPr>
            <a:spLocks noChangeShapeType="1"/>
          </p:cNvSpPr>
          <p:nvPr/>
        </p:nvSpPr>
        <p:spPr bwMode="auto">
          <a:xfrm flipH="1">
            <a:off x="29813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3773" name="Line 45"/>
          <p:cNvSpPr>
            <a:spLocks noChangeShapeType="1"/>
          </p:cNvSpPr>
          <p:nvPr/>
        </p:nvSpPr>
        <p:spPr bwMode="auto">
          <a:xfrm>
            <a:off x="39909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3774" name="Line 46"/>
          <p:cNvSpPr>
            <a:spLocks noChangeShapeType="1"/>
          </p:cNvSpPr>
          <p:nvPr/>
        </p:nvSpPr>
        <p:spPr bwMode="auto">
          <a:xfrm flipH="1">
            <a:off x="50006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3775" name="Line 47"/>
          <p:cNvSpPr>
            <a:spLocks noChangeShapeType="1"/>
          </p:cNvSpPr>
          <p:nvPr/>
        </p:nvSpPr>
        <p:spPr bwMode="auto">
          <a:xfrm>
            <a:off x="60102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3776" name="Line 48"/>
          <p:cNvSpPr>
            <a:spLocks noChangeShapeType="1"/>
          </p:cNvSpPr>
          <p:nvPr/>
        </p:nvSpPr>
        <p:spPr bwMode="auto">
          <a:xfrm flipH="1">
            <a:off x="70199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3777" name="Line 49"/>
          <p:cNvSpPr>
            <a:spLocks noChangeShapeType="1"/>
          </p:cNvSpPr>
          <p:nvPr/>
        </p:nvSpPr>
        <p:spPr bwMode="auto">
          <a:xfrm>
            <a:off x="80295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3778" name="Text Box 50"/>
          <p:cNvSpPr txBox="1">
            <a:spLocks noChangeArrowheads="1"/>
          </p:cNvSpPr>
          <p:nvPr/>
        </p:nvSpPr>
        <p:spPr bwMode="auto">
          <a:xfrm>
            <a:off x="4495800" y="1914525"/>
            <a:ext cx="6731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73779" name="Text Box 51"/>
          <p:cNvSpPr txBox="1">
            <a:spLocks noChangeArrowheads="1"/>
          </p:cNvSpPr>
          <p:nvPr/>
        </p:nvSpPr>
        <p:spPr bwMode="auto">
          <a:xfrm>
            <a:off x="2476500" y="2447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73780" name="Text Box 52"/>
          <p:cNvSpPr txBox="1">
            <a:spLocks noChangeArrowheads="1"/>
          </p:cNvSpPr>
          <p:nvPr/>
        </p:nvSpPr>
        <p:spPr bwMode="auto">
          <a:xfrm>
            <a:off x="6515100" y="2447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73781" name="Text Box 53"/>
          <p:cNvSpPr txBox="1">
            <a:spLocks noChangeArrowheads="1"/>
          </p:cNvSpPr>
          <p:nvPr/>
        </p:nvSpPr>
        <p:spPr bwMode="auto">
          <a:xfrm>
            <a:off x="14668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73782" name="Text Box 54"/>
          <p:cNvSpPr txBox="1">
            <a:spLocks noChangeArrowheads="1"/>
          </p:cNvSpPr>
          <p:nvPr/>
        </p:nvSpPr>
        <p:spPr bwMode="auto">
          <a:xfrm>
            <a:off x="34861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73783" name="Text Box 55"/>
          <p:cNvSpPr txBox="1">
            <a:spLocks noChangeArrowheads="1"/>
          </p:cNvSpPr>
          <p:nvPr/>
        </p:nvSpPr>
        <p:spPr bwMode="auto">
          <a:xfrm>
            <a:off x="55054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73784" name="Text Box 56"/>
          <p:cNvSpPr txBox="1">
            <a:spLocks noChangeArrowheads="1"/>
          </p:cNvSpPr>
          <p:nvPr/>
        </p:nvSpPr>
        <p:spPr bwMode="auto">
          <a:xfrm>
            <a:off x="75247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73785" name="Text Box 57"/>
          <p:cNvSpPr txBox="1">
            <a:spLocks noChangeArrowheads="1"/>
          </p:cNvSpPr>
          <p:nvPr/>
        </p:nvSpPr>
        <p:spPr bwMode="auto">
          <a:xfrm>
            <a:off x="79375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73786" name="Text Box 58"/>
          <p:cNvSpPr txBox="1">
            <a:spLocks noChangeArrowheads="1"/>
          </p:cNvSpPr>
          <p:nvPr/>
        </p:nvSpPr>
        <p:spPr bwMode="auto">
          <a:xfrm>
            <a:off x="180340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73787" name="Text Box 59"/>
          <p:cNvSpPr txBox="1">
            <a:spLocks noChangeArrowheads="1"/>
          </p:cNvSpPr>
          <p:nvPr/>
        </p:nvSpPr>
        <p:spPr bwMode="auto">
          <a:xfrm>
            <a:off x="281305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73788" name="Text Box 60"/>
          <p:cNvSpPr txBox="1">
            <a:spLocks noChangeArrowheads="1"/>
          </p:cNvSpPr>
          <p:nvPr/>
        </p:nvSpPr>
        <p:spPr bwMode="auto">
          <a:xfrm>
            <a:off x="36544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73789" name="Text Box 61"/>
          <p:cNvSpPr txBox="1">
            <a:spLocks noChangeArrowheads="1"/>
          </p:cNvSpPr>
          <p:nvPr/>
        </p:nvSpPr>
        <p:spPr bwMode="auto">
          <a:xfrm>
            <a:off x="466407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73790" name="Text Box 62"/>
          <p:cNvSpPr txBox="1">
            <a:spLocks noChangeArrowheads="1"/>
          </p:cNvSpPr>
          <p:nvPr/>
        </p:nvSpPr>
        <p:spPr bwMode="auto">
          <a:xfrm>
            <a:off x="56737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73791" name="Text Box 63"/>
          <p:cNvSpPr txBox="1">
            <a:spLocks noChangeArrowheads="1"/>
          </p:cNvSpPr>
          <p:nvPr/>
        </p:nvSpPr>
        <p:spPr bwMode="auto">
          <a:xfrm>
            <a:off x="668337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73792" name="Text Box 64"/>
          <p:cNvSpPr txBox="1">
            <a:spLocks noChangeArrowheads="1"/>
          </p:cNvSpPr>
          <p:nvPr/>
        </p:nvSpPr>
        <p:spPr bwMode="auto">
          <a:xfrm>
            <a:off x="76930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73793" name="Oval 65"/>
          <p:cNvSpPr>
            <a:spLocks noChangeArrowheads="1"/>
          </p:cNvSpPr>
          <p:nvPr/>
        </p:nvSpPr>
        <p:spPr bwMode="auto">
          <a:xfrm>
            <a:off x="457200" y="507047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3794" name="Text Box 66"/>
          <p:cNvSpPr txBox="1">
            <a:spLocks noChangeArrowheads="1"/>
          </p:cNvSpPr>
          <p:nvPr/>
        </p:nvSpPr>
        <p:spPr bwMode="auto">
          <a:xfrm>
            <a:off x="438150" y="51689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73795" name="Oval 67"/>
          <p:cNvSpPr>
            <a:spLocks noChangeArrowheads="1"/>
          </p:cNvSpPr>
          <p:nvPr/>
        </p:nvSpPr>
        <p:spPr bwMode="auto">
          <a:xfrm>
            <a:off x="1466850" y="506888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3796" name="Text Box 68"/>
          <p:cNvSpPr txBox="1">
            <a:spLocks noChangeArrowheads="1"/>
          </p:cNvSpPr>
          <p:nvPr/>
        </p:nvSpPr>
        <p:spPr bwMode="auto">
          <a:xfrm>
            <a:off x="1447800" y="51689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9</a:t>
            </a:r>
            <a:endParaRPr lang="en-US" altLang="en-US" sz="2400"/>
          </a:p>
        </p:txBody>
      </p:sp>
      <p:sp>
        <p:nvSpPr>
          <p:cNvPr id="73797" name="Text Box 69"/>
          <p:cNvSpPr txBox="1">
            <a:spLocks noChangeArrowheads="1"/>
          </p:cNvSpPr>
          <p:nvPr/>
        </p:nvSpPr>
        <p:spPr bwMode="auto">
          <a:xfrm>
            <a:off x="1466850" y="56356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73798" name="Line 70"/>
          <p:cNvSpPr>
            <a:spLocks noChangeShapeType="1"/>
          </p:cNvSpPr>
          <p:nvPr/>
        </p:nvSpPr>
        <p:spPr bwMode="auto">
          <a:xfrm flipH="1">
            <a:off x="625475" y="460692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3799" name="Line 71"/>
          <p:cNvSpPr>
            <a:spLocks noChangeShapeType="1"/>
          </p:cNvSpPr>
          <p:nvPr/>
        </p:nvSpPr>
        <p:spPr bwMode="auto">
          <a:xfrm>
            <a:off x="1130300" y="460692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3800" name="Text Box 72"/>
          <p:cNvSpPr txBox="1">
            <a:spLocks noChangeArrowheads="1"/>
          </p:cNvSpPr>
          <p:nvPr/>
        </p:nvSpPr>
        <p:spPr bwMode="auto">
          <a:xfrm>
            <a:off x="457200" y="56356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73801" name="Text Box 73"/>
          <p:cNvSpPr txBox="1">
            <a:spLocks noChangeArrowheads="1"/>
          </p:cNvSpPr>
          <p:nvPr/>
        </p:nvSpPr>
        <p:spPr bwMode="auto">
          <a:xfrm>
            <a:off x="3257550" y="297973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73802" name="Text Box 74"/>
          <p:cNvSpPr txBox="1">
            <a:spLocks noChangeArrowheads="1"/>
          </p:cNvSpPr>
          <p:nvPr/>
        </p:nvSpPr>
        <p:spPr bwMode="auto">
          <a:xfrm>
            <a:off x="2514600" y="5105400"/>
            <a:ext cx="6096000" cy="466725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(right child #) = 2 * (parent #) + 2</a:t>
            </a:r>
          </a:p>
        </p:txBody>
      </p:sp>
      <p:sp>
        <p:nvSpPr>
          <p:cNvPr id="73803" name="Oval 75"/>
          <p:cNvSpPr>
            <a:spLocks noChangeArrowheads="1"/>
          </p:cNvSpPr>
          <p:nvPr/>
        </p:nvSpPr>
        <p:spPr bwMode="auto">
          <a:xfrm>
            <a:off x="762000" y="4572000"/>
            <a:ext cx="457200" cy="457200"/>
          </a:xfrm>
          <a:prstGeom prst="ellipse">
            <a:avLst/>
          </a:prstGeom>
          <a:noFill/>
          <a:ln w="38100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3804" name="Oval 76"/>
          <p:cNvSpPr>
            <a:spLocks noChangeArrowheads="1"/>
          </p:cNvSpPr>
          <p:nvPr/>
        </p:nvSpPr>
        <p:spPr bwMode="auto">
          <a:xfrm>
            <a:off x="1600200" y="5562600"/>
            <a:ext cx="457200" cy="457200"/>
          </a:xfrm>
          <a:prstGeom prst="ellipse">
            <a:avLst/>
          </a:prstGeom>
          <a:noFill/>
          <a:ln w="38100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3805" name="Rectangle 78"/>
          <p:cNvSpPr>
            <a:spLocks noGrp="1" noChangeArrowheads="1"/>
          </p:cNvSpPr>
          <p:nvPr>
            <p:ph type="title"/>
          </p:nvPr>
        </p:nvSpPr>
        <p:spPr>
          <a:xfrm>
            <a:off x="457200" y="0"/>
            <a:ext cx="8229600" cy="11430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Heap Properties (cont.)</a:t>
            </a: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216D1E5A-E0E2-41EC-B902-DAF2793C79F5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74</a:t>
            </a:fld>
            <a:endParaRPr lang="en-US" altLang="en-US" sz="1400"/>
          </a:p>
        </p:txBody>
      </p:sp>
      <p:sp>
        <p:nvSpPr>
          <p:cNvPr id="74755" name="Oval 3"/>
          <p:cNvSpPr>
            <a:spLocks noChangeArrowheads="1"/>
          </p:cNvSpPr>
          <p:nvPr/>
        </p:nvSpPr>
        <p:spPr bwMode="auto">
          <a:xfrm>
            <a:off x="2308225" y="18288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4756" name="Text Box 4"/>
          <p:cNvSpPr txBox="1">
            <a:spLocks noChangeArrowheads="1"/>
          </p:cNvSpPr>
          <p:nvPr/>
        </p:nvSpPr>
        <p:spPr bwMode="auto">
          <a:xfrm>
            <a:off x="2289175" y="1930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74757" name="Oval 5"/>
          <p:cNvSpPr>
            <a:spLocks noChangeArrowheads="1"/>
          </p:cNvSpPr>
          <p:nvPr/>
        </p:nvSpPr>
        <p:spPr bwMode="auto">
          <a:xfrm>
            <a:off x="12985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4758" name="Text Box 6"/>
          <p:cNvSpPr txBox="1">
            <a:spLocks noChangeArrowheads="1"/>
          </p:cNvSpPr>
          <p:nvPr/>
        </p:nvSpPr>
        <p:spPr bwMode="auto">
          <a:xfrm>
            <a:off x="1279525" y="300990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74759" name="Oval 7"/>
          <p:cNvSpPr>
            <a:spLocks noChangeArrowheads="1"/>
          </p:cNvSpPr>
          <p:nvPr/>
        </p:nvSpPr>
        <p:spPr bwMode="auto">
          <a:xfrm>
            <a:off x="625475" y="399097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4760" name="Text Box 8"/>
          <p:cNvSpPr txBox="1">
            <a:spLocks noChangeArrowheads="1"/>
          </p:cNvSpPr>
          <p:nvPr/>
        </p:nvSpPr>
        <p:spPr bwMode="auto">
          <a:xfrm>
            <a:off x="606425" y="4089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74761" name="Text Box 9"/>
          <p:cNvSpPr txBox="1">
            <a:spLocks noChangeArrowheads="1"/>
          </p:cNvSpPr>
          <p:nvPr/>
        </p:nvSpPr>
        <p:spPr bwMode="auto">
          <a:xfrm>
            <a:off x="2139950" y="114300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74762" name="Oval 10"/>
          <p:cNvSpPr>
            <a:spLocks noChangeArrowheads="1"/>
          </p:cNvSpPr>
          <p:nvPr/>
        </p:nvSpPr>
        <p:spPr bwMode="auto">
          <a:xfrm>
            <a:off x="163512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4763" name="Text Box 11"/>
          <p:cNvSpPr txBox="1">
            <a:spLocks noChangeArrowheads="1"/>
          </p:cNvSpPr>
          <p:nvPr/>
        </p:nvSpPr>
        <p:spPr bwMode="auto">
          <a:xfrm>
            <a:off x="1616075" y="40894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3</a:t>
            </a:r>
            <a:endParaRPr lang="en-US" altLang="en-US" sz="2400"/>
          </a:p>
        </p:txBody>
      </p:sp>
      <p:sp>
        <p:nvSpPr>
          <p:cNvPr id="74764" name="Oval 12"/>
          <p:cNvSpPr>
            <a:spLocks noChangeArrowheads="1"/>
          </p:cNvSpPr>
          <p:nvPr/>
        </p:nvSpPr>
        <p:spPr bwMode="auto">
          <a:xfrm>
            <a:off x="4327525" y="12954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4765" name="Text Box 13"/>
          <p:cNvSpPr txBox="1">
            <a:spLocks noChangeArrowheads="1"/>
          </p:cNvSpPr>
          <p:nvPr/>
        </p:nvSpPr>
        <p:spPr bwMode="auto">
          <a:xfrm>
            <a:off x="4308475" y="1395413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46</a:t>
            </a:r>
            <a:endParaRPr lang="en-US" altLang="en-US" sz="2400"/>
          </a:p>
        </p:txBody>
      </p:sp>
      <p:sp>
        <p:nvSpPr>
          <p:cNvPr id="74766" name="Line 14"/>
          <p:cNvSpPr>
            <a:spLocks noChangeShapeType="1"/>
          </p:cNvSpPr>
          <p:nvPr/>
        </p:nvSpPr>
        <p:spPr bwMode="auto">
          <a:xfrm>
            <a:off x="2813050" y="145097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4767" name="Oval 15"/>
          <p:cNvSpPr>
            <a:spLocks noChangeArrowheads="1"/>
          </p:cNvSpPr>
          <p:nvPr/>
        </p:nvSpPr>
        <p:spPr bwMode="auto">
          <a:xfrm>
            <a:off x="33178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4768" name="Line 16"/>
          <p:cNvSpPr>
            <a:spLocks noChangeShapeType="1"/>
          </p:cNvSpPr>
          <p:nvPr/>
        </p:nvSpPr>
        <p:spPr bwMode="auto">
          <a:xfrm flipH="1">
            <a:off x="1803400" y="244792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4769" name="Line 17"/>
          <p:cNvSpPr>
            <a:spLocks noChangeShapeType="1"/>
          </p:cNvSpPr>
          <p:nvPr/>
        </p:nvSpPr>
        <p:spPr bwMode="auto">
          <a:xfrm>
            <a:off x="2813050" y="244792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4770" name="Oval 18"/>
          <p:cNvSpPr>
            <a:spLocks noChangeArrowheads="1"/>
          </p:cNvSpPr>
          <p:nvPr/>
        </p:nvSpPr>
        <p:spPr bwMode="auto">
          <a:xfrm>
            <a:off x="6346825" y="18288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4771" name="Text Box 19"/>
          <p:cNvSpPr txBox="1">
            <a:spLocks noChangeArrowheads="1"/>
          </p:cNvSpPr>
          <p:nvPr/>
        </p:nvSpPr>
        <p:spPr bwMode="auto">
          <a:xfrm>
            <a:off x="6327775" y="1930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74772" name="Oval 20"/>
          <p:cNvSpPr>
            <a:spLocks noChangeArrowheads="1"/>
          </p:cNvSpPr>
          <p:nvPr/>
        </p:nvSpPr>
        <p:spPr bwMode="auto">
          <a:xfrm>
            <a:off x="53371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4773" name="Oval 21"/>
          <p:cNvSpPr>
            <a:spLocks noChangeArrowheads="1"/>
          </p:cNvSpPr>
          <p:nvPr/>
        </p:nvSpPr>
        <p:spPr bwMode="auto">
          <a:xfrm>
            <a:off x="73564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4774" name="Text Box 22"/>
          <p:cNvSpPr txBox="1">
            <a:spLocks noChangeArrowheads="1"/>
          </p:cNvSpPr>
          <p:nvPr/>
        </p:nvSpPr>
        <p:spPr bwMode="auto">
          <a:xfrm>
            <a:off x="7337425" y="30099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25</a:t>
            </a:r>
            <a:endParaRPr lang="en-US" altLang="en-US" sz="2400"/>
          </a:p>
        </p:txBody>
      </p:sp>
      <p:sp>
        <p:nvSpPr>
          <p:cNvPr id="74775" name="Line 23"/>
          <p:cNvSpPr>
            <a:spLocks noChangeShapeType="1"/>
          </p:cNvSpPr>
          <p:nvPr/>
        </p:nvSpPr>
        <p:spPr bwMode="auto">
          <a:xfrm flipH="1">
            <a:off x="5842000" y="244792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4776" name="Line 24"/>
          <p:cNvSpPr>
            <a:spLocks noChangeShapeType="1"/>
          </p:cNvSpPr>
          <p:nvPr/>
        </p:nvSpPr>
        <p:spPr bwMode="auto">
          <a:xfrm>
            <a:off x="6851650" y="244792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4777" name="Line 25"/>
          <p:cNvSpPr>
            <a:spLocks noChangeShapeType="1"/>
          </p:cNvSpPr>
          <p:nvPr/>
        </p:nvSpPr>
        <p:spPr bwMode="auto">
          <a:xfrm flipH="1">
            <a:off x="2971800" y="1760538"/>
            <a:ext cx="1355725" cy="2206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4778" name="Line 26"/>
          <p:cNvSpPr>
            <a:spLocks noChangeShapeType="1"/>
          </p:cNvSpPr>
          <p:nvPr/>
        </p:nvSpPr>
        <p:spPr bwMode="auto">
          <a:xfrm>
            <a:off x="5000625" y="1760538"/>
            <a:ext cx="1400175" cy="2206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4779" name="Oval 27"/>
          <p:cNvSpPr>
            <a:spLocks noChangeArrowheads="1"/>
          </p:cNvSpPr>
          <p:nvPr/>
        </p:nvSpPr>
        <p:spPr bwMode="auto">
          <a:xfrm>
            <a:off x="33178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4780" name="Oval 28"/>
          <p:cNvSpPr>
            <a:spLocks noChangeArrowheads="1"/>
          </p:cNvSpPr>
          <p:nvPr/>
        </p:nvSpPr>
        <p:spPr bwMode="auto">
          <a:xfrm>
            <a:off x="264477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4781" name="Text Box 29"/>
          <p:cNvSpPr txBox="1">
            <a:spLocks noChangeArrowheads="1"/>
          </p:cNvSpPr>
          <p:nvPr/>
        </p:nvSpPr>
        <p:spPr bwMode="auto">
          <a:xfrm>
            <a:off x="2625725" y="408463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74782" name="Oval 30"/>
          <p:cNvSpPr>
            <a:spLocks noChangeArrowheads="1"/>
          </p:cNvSpPr>
          <p:nvPr/>
        </p:nvSpPr>
        <p:spPr bwMode="auto">
          <a:xfrm>
            <a:off x="3654425" y="39846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4783" name="Text Box 31"/>
          <p:cNvSpPr txBox="1">
            <a:spLocks noChangeArrowheads="1"/>
          </p:cNvSpPr>
          <p:nvPr/>
        </p:nvSpPr>
        <p:spPr bwMode="auto">
          <a:xfrm>
            <a:off x="3635375" y="40846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74784" name="Oval 32"/>
          <p:cNvSpPr>
            <a:spLocks noChangeArrowheads="1"/>
          </p:cNvSpPr>
          <p:nvPr/>
        </p:nvSpPr>
        <p:spPr bwMode="auto">
          <a:xfrm>
            <a:off x="53371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4785" name="Text Box 33"/>
          <p:cNvSpPr txBox="1">
            <a:spLocks noChangeArrowheads="1"/>
          </p:cNvSpPr>
          <p:nvPr/>
        </p:nvSpPr>
        <p:spPr bwMode="auto">
          <a:xfrm>
            <a:off x="5314950" y="297973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74786" name="Oval 34"/>
          <p:cNvSpPr>
            <a:spLocks noChangeArrowheads="1"/>
          </p:cNvSpPr>
          <p:nvPr/>
        </p:nvSpPr>
        <p:spPr bwMode="auto">
          <a:xfrm>
            <a:off x="4664075" y="399097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4787" name="Text Box 35"/>
          <p:cNvSpPr txBox="1">
            <a:spLocks noChangeArrowheads="1"/>
          </p:cNvSpPr>
          <p:nvPr/>
        </p:nvSpPr>
        <p:spPr bwMode="auto">
          <a:xfrm>
            <a:off x="4645025" y="408781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74788" name="Oval 36"/>
          <p:cNvSpPr>
            <a:spLocks noChangeArrowheads="1"/>
          </p:cNvSpPr>
          <p:nvPr/>
        </p:nvSpPr>
        <p:spPr bwMode="auto">
          <a:xfrm>
            <a:off x="5673725" y="39909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4789" name="Text Box 37"/>
          <p:cNvSpPr txBox="1">
            <a:spLocks noChangeArrowheads="1"/>
          </p:cNvSpPr>
          <p:nvPr/>
        </p:nvSpPr>
        <p:spPr bwMode="auto">
          <a:xfrm>
            <a:off x="5654675" y="40909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74790" name="Oval 38"/>
          <p:cNvSpPr>
            <a:spLocks noChangeArrowheads="1"/>
          </p:cNvSpPr>
          <p:nvPr/>
        </p:nvSpPr>
        <p:spPr bwMode="auto">
          <a:xfrm>
            <a:off x="6683375" y="399097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4791" name="Text Box 39"/>
          <p:cNvSpPr txBox="1">
            <a:spLocks noChangeArrowheads="1"/>
          </p:cNvSpPr>
          <p:nvPr/>
        </p:nvSpPr>
        <p:spPr bwMode="auto">
          <a:xfrm>
            <a:off x="6664325" y="408940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18</a:t>
            </a:r>
            <a:endParaRPr lang="en-US" altLang="en-US" sz="2400"/>
          </a:p>
        </p:txBody>
      </p:sp>
      <p:sp>
        <p:nvSpPr>
          <p:cNvPr id="74792" name="Oval 40"/>
          <p:cNvSpPr>
            <a:spLocks noChangeArrowheads="1"/>
          </p:cNvSpPr>
          <p:nvPr/>
        </p:nvSpPr>
        <p:spPr bwMode="auto">
          <a:xfrm>
            <a:off x="769302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4793" name="Text Box 41"/>
          <p:cNvSpPr txBox="1">
            <a:spLocks noChangeArrowheads="1"/>
          </p:cNvSpPr>
          <p:nvPr/>
        </p:nvSpPr>
        <p:spPr bwMode="auto">
          <a:xfrm>
            <a:off x="7673975" y="40894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17</a:t>
            </a:r>
            <a:endParaRPr lang="en-US" altLang="en-US" sz="2400"/>
          </a:p>
        </p:txBody>
      </p:sp>
      <p:sp>
        <p:nvSpPr>
          <p:cNvPr id="74794" name="Line 42"/>
          <p:cNvSpPr>
            <a:spLocks noChangeShapeType="1"/>
          </p:cNvSpPr>
          <p:nvPr/>
        </p:nvSpPr>
        <p:spPr bwMode="auto">
          <a:xfrm flipH="1">
            <a:off x="9620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4795" name="Line 43"/>
          <p:cNvSpPr>
            <a:spLocks noChangeShapeType="1"/>
          </p:cNvSpPr>
          <p:nvPr/>
        </p:nvSpPr>
        <p:spPr bwMode="auto">
          <a:xfrm>
            <a:off x="19716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4796" name="Line 44"/>
          <p:cNvSpPr>
            <a:spLocks noChangeShapeType="1"/>
          </p:cNvSpPr>
          <p:nvPr/>
        </p:nvSpPr>
        <p:spPr bwMode="auto">
          <a:xfrm flipH="1">
            <a:off x="29813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4797" name="Line 45"/>
          <p:cNvSpPr>
            <a:spLocks noChangeShapeType="1"/>
          </p:cNvSpPr>
          <p:nvPr/>
        </p:nvSpPr>
        <p:spPr bwMode="auto">
          <a:xfrm>
            <a:off x="39909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4798" name="Line 46"/>
          <p:cNvSpPr>
            <a:spLocks noChangeShapeType="1"/>
          </p:cNvSpPr>
          <p:nvPr/>
        </p:nvSpPr>
        <p:spPr bwMode="auto">
          <a:xfrm flipH="1">
            <a:off x="50006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4799" name="Line 47"/>
          <p:cNvSpPr>
            <a:spLocks noChangeShapeType="1"/>
          </p:cNvSpPr>
          <p:nvPr/>
        </p:nvSpPr>
        <p:spPr bwMode="auto">
          <a:xfrm>
            <a:off x="60102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4800" name="Line 48"/>
          <p:cNvSpPr>
            <a:spLocks noChangeShapeType="1"/>
          </p:cNvSpPr>
          <p:nvPr/>
        </p:nvSpPr>
        <p:spPr bwMode="auto">
          <a:xfrm flipH="1">
            <a:off x="70199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4801" name="Line 49"/>
          <p:cNvSpPr>
            <a:spLocks noChangeShapeType="1"/>
          </p:cNvSpPr>
          <p:nvPr/>
        </p:nvSpPr>
        <p:spPr bwMode="auto">
          <a:xfrm>
            <a:off x="80295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4802" name="Text Box 50"/>
          <p:cNvSpPr txBox="1">
            <a:spLocks noChangeArrowheads="1"/>
          </p:cNvSpPr>
          <p:nvPr/>
        </p:nvSpPr>
        <p:spPr bwMode="auto">
          <a:xfrm>
            <a:off x="4495800" y="1914525"/>
            <a:ext cx="6731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74803" name="Text Box 51"/>
          <p:cNvSpPr txBox="1">
            <a:spLocks noChangeArrowheads="1"/>
          </p:cNvSpPr>
          <p:nvPr/>
        </p:nvSpPr>
        <p:spPr bwMode="auto">
          <a:xfrm>
            <a:off x="2476500" y="2447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74804" name="Text Box 52"/>
          <p:cNvSpPr txBox="1">
            <a:spLocks noChangeArrowheads="1"/>
          </p:cNvSpPr>
          <p:nvPr/>
        </p:nvSpPr>
        <p:spPr bwMode="auto">
          <a:xfrm>
            <a:off x="6515100" y="2447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74805" name="Text Box 53"/>
          <p:cNvSpPr txBox="1">
            <a:spLocks noChangeArrowheads="1"/>
          </p:cNvSpPr>
          <p:nvPr/>
        </p:nvSpPr>
        <p:spPr bwMode="auto">
          <a:xfrm>
            <a:off x="14668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74806" name="Text Box 54"/>
          <p:cNvSpPr txBox="1">
            <a:spLocks noChangeArrowheads="1"/>
          </p:cNvSpPr>
          <p:nvPr/>
        </p:nvSpPr>
        <p:spPr bwMode="auto">
          <a:xfrm>
            <a:off x="34861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74807" name="Text Box 55"/>
          <p:cNvSpPr txBox="1">
            <a:spLocks noChangeArrowheads="1"/>
          </p:cNvSpPr>
          <p:nvPr/>
        </p:nvSpPr>
        <p:spPr bwMode="auto">
          <a:xfrm>
            <a:off x="55054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74808" name="Text Box 56"/>
          <p:cNvSpPr txBox="1">
            <a:spLocks noChangeArrowheads="1"/>
          </p:cNvSpPr>
          <p:nvPr/>
        </p:nvSpPr>
        <p:spPr bwMode="auto">
          <a:xfrm>
            <a:off x="75247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74809" name="Text Box 57"/>
          <p:cNvSpPr txBox="1">
            <a:spLocks noChangeArrowheads="1"/>
          </p:cNvSpPr>
          <p:nvPr/>
        </p:nvSpPr>
        <p:spPr bwMode="auto">
          <a:xfrm>
            <a:off x="79375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74810" name="Text Box 58"/>
          <p:cNvSpPr txBox="1">
            <a:spLocks noChangeArrowheads="1"/>
          </p:cNvSpPr>
          <p:nvPr/>
        </p:nvSpPr>
        <p:spPr bwMode="auto">
          <a:xfrm>
            <a:off x="180340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74811" name="Text Box 59"/>
          <p:cNvSpPr txBox="1">
            <a:spLocks noChangeArrowheads="1"/>
          </p:cNvSpPr>
          <p:nvPr/>
        </p:nvSpPr>
        <p:spPr bwMode="auto">
          <a:xfrm>
            <a:off x="281305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74812" name="Text Box 60"/>
          <p:cNvSpPr txBox="1">
            <a:spLocks noChangeArrowheads="1"/>
          </p:cNvSpPr>
          <p:nvPr/>
        </p:nvSpPr>
        <p:spPr bwMode="auto">
          <a:xfrm>
            <a:off x="36544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74813" name="Text Box 61"/>
          <p:cNvSpPr txBox="1">
            <a:spLocks noChangeArrowheads="1"/>
          </p:cNvSpPr>
          <p:nvPr/>
        </p:nvSpPr>
        <p:spPr bwMode="auto">
          <a:xfrm>
            <a:off x="466407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74814" name="Text Box 62"/>
          <p:cNvSpPr txBox="1">
            <a:spLocks noChangeArrowheads="1"/>
          </p:cNvSpPr>
          <p:nvPr/>
        </p:nvSpPr>
        <p:spPr bwMode="auto">
          <a:xfrm>
            <a:off x="56737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74815" name="Text Box 63"/>
          <p:cNvSpPr txBox="1">
            <a:spLocks noChangeArrowheads="1"/>
          </p:cNvSpPr>
          <p:nvPr/>
        </p:nvSpPr>
        <p:spPr bwMode="auto">
          <a:xfrm>
            <a:off x="668337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74816" name="Text Box 64"/>
          <p:cNvSpPr txBox="1">
            <a:spLocks noChangeArrowheads="1"/>
          </p:cNvSpPr>
          <p:nvPr/>
        </p:nvSpPr>
        <p:spPr bwMode="auto">
          <a:xfrm>
            <a:off x="76930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74817" name="Oval 65"/>
          <p:cNvSpPr>
            <a:spLocks noChangeArrowheads="1"/>
          </p:cNvSpPr>
          <p:nvPr/>
        </p:nvSpPr>
        <p:spPr bwMode="auto">
          <a:xfrm>
            <a:off x="457200" y="507047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4818" name="Text Box 66"/>
          <p:cNvSpPr txBox="1">
            <a:spLocks noChangeArrowheads="1"/>
          </p:cNvSpPr>
          <p:nvPr/>
        </p:nvSpPr>
        <p:spPr bwMode="auto">
          <a:xfrm>
            <a:off x="438150" y="51689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74819" name="Oval 67"/>
          <p:cNvSpPr>
            <a:spLocks noChangeArrowheads="1"/>
          </p:cNvSpPr>
          <p:nvPr/>
        </p:nvSpPr>
        <p:spPr bwMode="auto">
          <a:xfrm>
            <a:off x="1466850" y="506888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4820" name="Text Box 68"/>
          <p:cNvSpPr txBox="1">
            <a:spLocks noChangeArrowheads="1"/>
          </p:cNvSpPr>
          <p:nvPr/>
        </p:nvSpPr>
        <p:spPr bwMode="auto">
          <a:xfrm>
            <a:off x="1447800" y="51689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9</a:t>
            </a:r>
            <a:endParaRPr lang="en-US" altLang="en-US" sz="2400"/>
          </a:p>
        </p:txBody>
      </p:sp>
      <p:sp>
        <p:nvSpPr>
          <p:cNvPr id="74821" name="Text Box 69"/>
          <p:cNvSpPr txBox="1">
            <a:spLocks noChangeArrowheads="1"/>
          </p:cNvSpPr>
          <p:nvPr/>
        </p:nvSpPr>
        <p:spPr bwMode="auto">
          <a:xfrm>
            <a:off x="1466850" y="56356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74822" name="Line 70"/>
          <p:cNvSpPr>
            <a:spLocks noChangeShapeType="1"/>
          </p:cNvSpPr>
          <p:nvPr/>
        </p:nvSpPr>
        <p:spPr bwMode="auto">
          <a:xfrm flipH="1">
            <a:off x="625475" y="460692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4823" name="Line 71"/>
          <p:cNvSpPr>
            <a:spLocks noChangeShapeType="1"/>
          </p:cNvSpPr>
          <p:nvPr/>
        </p:nvSpPr>
        <p:spPr bwMode="auto">
          <a:xfrm>
            <a:off x="1130300" y="460692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4824" name="Text Box 72"/>
          <p:cNvSpPr txBox="1">
            <a:spLocks noChangeArrowheads="1"/>
          </p:cNvSpPr>
          <p:nvPr/>
        </p:nvSpPr>
        <p:spPr bwMode="auto">
          <a:xfrm>
            <a:off x="457200" y="56356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74825" name="Text Box 73"/>
          <p:cNvSpPr txBox="1">
            <a:spLocks noChangeArrowheads="1"/>
          </p:cNvSpPr>
          <p:nvPr/>
        </p:nvSpPr>
        <p:spPr bwMode="auto">
          <a:xfrm>
            <a:off x="3257550" y="297973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74826" name="Text Box 74"/>
          <p:cNvSpPr txBox="1">
            <a:spLocks noChangeArrowheads="1"/>
          </p:cNvSpPr>
          <p:nvPr/>
        </p:nvSpPr>
        <p:spPr bwMode="auto">
          <a:xfrm>
            <a:off x="2514600" y="5105400"/>
            <a:ext cx="60960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(parent #) = (child # - 1) / 2                        (using integer division)</a:t>
            </a:r>
          </a:p>
        </p:txBody>
      </p:sp>
      <p:sp>
        <p:nvSpPr>
          <p:cNvPr id="74827" name="Oval 75"/>
          <p:cNvSpPr>
            <a:spLocks noChangeArrowheads="1"/>
          </p:cNvSpPr>
          <p:nvPr/>
        </p:nvSpPr>
        <p:spPr bwMode="auto">
          <a:xfrm>
            <a:off x="7467600" y="3505200"/>
            <a:ext cx="457200" cy="457200"/>
          </a:xfrm>
          <a:prstGeom prst="ellipse">
            <a:avLst/>
          </a:prstGeom>
          <a:noFill/>
          <a:ln w="38100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4828" name="Oval 76"/>
          <p:cNvSpPr>
            <a:spLocks noChangeArrowheads="1"/>
          </p:cNvSpPr>
          <p:nvPr/>
        </p:nvSpPr>
        <p:spPr bwMode="auto">
          <a:xfrm>
            <a:off x="6858000" y="4572000"/>
            <a:ext cx="457200" cy="457200"/>
          </a:xfrm>
          <a:prstGeom prst="ellipse">
            <a:avLst/>
          </a:prstGeom>
          <a:noFill/>
          <a:ln w="38100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4829" name="Rectangle 78"/>
          <p:cNvSpPr>
            <a:spLocks noGrp="1" noChangeArrowheads="1"/>
          </p:cNvSpPr>
          <p:nvPr>
            <p:ph type="title"/>
          </p:nvPr>
        </p:nvSpPr>
        <p:spPr>
          <a:xfrm>
            <a:off x="457200" y="0"/>
            <a:ext cx="8229600" cy="11430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Heap Properties (cont.)</a:t>
            </a: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6B48C18B-885F-412B-AFF9-18ABC9F312E5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75</a:t>
            </a:fld>
            <a:endParaRPr lang="en-US" altLang="en-US" sz="1400"/>
          </a:p>
        </p:txBody>
      </p:sp>
      <p:sp>
        <p:nvSpPr>
          <p:cNvPr id="75779" name="Oval 3"/>
          <p:cNvSpPr>
            <a:spLocks noChangeArrowheads="1"/>
          </p:cNvSpPr>
          <p:nvPr/>
        </p:nvSpPr>
        <p:spPr bwMode="auto">
          <a:xfrm>
            <a:off x="2308225" y="18288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5780" name="Text Box 4"/>
          <p:cNvSpPr txBox="1">
            <a:spLocks noChangeArrowheads="1"/>
          </p:cNvSpPr>
          <p:nvPr/>
        </p:nvSpPr>
        <p:spPr bwMode="auto">
          <a:xfrm>
            <a:off x="2289175" y="1930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75781" name="Oval 5"/>
          <p:cNvSpPr>
            <a:spLocks noChangeArrowheads="1"/>
          </p:cNvSpPr>
          <p:nvPr/>
        </p:nvSpPr>
        <p:spPr bwMode="auto">
          <a:xfrm>
            <a:off x="12985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5782" name="Text Box 6"/>
          <p:cNvSpPr txBox="1">
            <a:spLocks noChangeArrowheads="1"/>
          </p:cNvSpPr>
          <p:nvPr/>
        </p:nvSpPr>
        <p:spPr bwMode="auto">
          <a:xfrm>
            <a:off x="1279525" y="300990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75783" name="Oval 7"/>
          <p:cNvSpPr>
            <a:spLocks noChangeArrowheads="1"/>
          </p:cNvSpPr>
          <p:nvPr/>
        </p:nvSpPr>
        <p:spPr bwMode="auto">
          <a:xfrm>
            <a:off x="625475" y="399097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5784" name="Text Box 8"/>
          <p:cNvSpPr txBox="1">
            <a:spLocks noChangeArrowheads="1"/>
          </p:cNvSpPr>
          <p:nvPr/>
        </p:nvSpPr>
        <p:spPr bwMode="auto">
          <a:xfrm>
            <a:off x="606425" y="4089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75785" name="Text Box 9"/>
          <p:cNvSpPr txBox="1">
            <a:spLocks noChangeArrowheads="1"/>
          </p:cNvSpPr>
          <p:nvPr/>
        </p:nvSpPr>
        <p:spPr bwMode="auto">
          <a:xfrm>
            <a:off x="2139950" y="114300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75786" name="Oval 10"/>
          <p:cNvSpPr>
            <a:spLocks noChangeArrowheads="1"/>
          </p:cNvSpPr>
          <p:nvPr/>
        </p:nvSpPr>
        <p:spPr bwMode="auto">
          <a:xfrm>
            <a:off x="163512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5787" name="Text Box 11"/>
          <p:cNvSpPr txBox="1">
            <a:spLocks noChangeArrowheads="1"/>
          </p:cNvSpPr>
          <p:nvPr/>
        </p:nvSpPr>
        <p:spPr bwMode="auto">
          <a:xfrm>
            <a:off x="1616075" y="40894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3</a:t>
            </a:r>
            <a:endParaRPr lang="en-US" altLang="en-US" sz="2400"/>
          </a:p>
        </p:txBody>
      </p:sp>
      <p:sp>
        <p:nvSpPr>
          <p:cNvPr id="75788" name="Oval 12"/>
          <p:cNvSpPr>
            <a:spLocks noChangeArrowheads="1"/>
          </p:cNvSpPr>
          <p:nvPr/>
        </p:nvSpPr>
        <p:spPr bwMode="auto">
          <a:xfrm>
            <a:off x="4327525" y="12954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5789" name="Text Box 13"/>
          <p:cNvSpPr txBox="1">
            <a:spLocks noChangeArrowheads="1"/>
          </p:cNvSpPr>
          <p:nvPr/>
        </p:nvSpPr>
        <p:spPr bwMode="auto">
          <a:xfrm>
            <a:off x="4308475" y="1395413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46</a:t>
            </a:r>
            <a:endParaRPr lang="en-US" altLang="en-US" sz="2400"/>
          </a:p>
        </p:txBody>
      </p:sp>
      <p:sp>
        <p:nvSpPr>
          <p:cNvPr id="75790" name="Line 14"/>
          <p:cNvSpPr>
            <a:spLocks noChangeShapeType="1"/>
          </p:cNvSpPr>
          <p:nvPr/>
        </p:nvSpPr>
        <p:spPr bwMode="auto">
          <a:xfrm>
            <a:off x="2813050" y="145097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5791" name="Oval 15"/>
          <p:cNvSpPr>
            <a:spLocks noChangeArrowheads="1"/>
          </p:cNvSpPr>
          <p:nvPr/>
        </p:nvSpPr>
        <p:spPr bwMode="auto">
          <a:xfrm>
            <a:off x="33178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5792" name="Line 16"/>
          <p:cNvSpPr>
            <a:spLocks noChangeShapeType="1"/>
          </p:cNvSpPr>
          <p:nvPr/>
        </p:nvSpPr>
        <p:spPr bwMode="auto">
          <a:xfrm flipH="1">
            <a:off x="1803400" y="244792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5793" name="Line 17"/>
          <p:cNvSpPr>
            <a:spLocks noChangeShapeType="1"/>
          </p:cNvSpPr>
          <p:nvPr/>
        </p:nvSpPr>
        <p:spPr bwMode="auto">
          <a:xfrm>
            <a:off x="2813050" y="244792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5794" name="Oval 18"/>
          <p:cNvSpPr>
            <a:spLocks noChangeArrowheads="1"/>
          </p:cNvSpPr>
          <p:nvPr/>
        </p:nvSpPr>
        <p:spPr bwMode="auto">
          <a:xfrm>
            <a:off x="6346825" y="18288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5795" name="Text Box 19"/>
          <p:cNvSpPr txBox="1">
            <a:spLocks noChangeArrowheads="1"/>
          </p:cNvSpPr>
          <p:nvPr/>
        </p:nvSpPr>
        <p:spPr bwMode="auto">
          <a:xfrm>
            <a:off x="6327775" y="1930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75796" name="Oval 20"/>
          <p:cNvSpPr>
            <a:spLocks noChangeArrowheads="1"/>
          </p:cNvSpPr>
          <p:nvPr/>
        </p:nvSpPr>
        <p:spPr bwMode="auto">
          <a:xfrm>
            <a:off x="53371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5797" name="Oval 21"/>
          <p:cNvSpPr>
            <a:spLocks noChangeArrowheads="1"/>
          </p:cNvSpPr>
          <p:nvPr/>
        </p:nvSpPr>
        <p:spPr bwMode="auto">
          <a:xfrm>
            <a:off x="73564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5798" name="Text Box 22"/>
          <p:cNvSpPr txBox="1">
            <a:spLocks noChangeArrowheads="1"/>
          </p:cNvSpPr>
          <p:nvPr/>
        </p:nvSpPr>
        <p:spPr bwMode="auto">
          <a:xfrm>
            <a:off x="7337425" y="30099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25</a:t>
            </a:r>
            <a:endParaRPr lang="en-US" altLang="en-US" sz="2400"/>
          </a:p>
        </p:txBody>
      </p:sp>
      <p:sp>
        <p:nvSpPr>
          <p:cNvPr id="75799" name="Line 23"/>
          <p:cNvSpPr>
            <a:spLocks noChangeShapeType="1"/>
          </p:cNvSpPr>
          <p:nvPr/>
        </p:nvSpPr>
        <p:spPr bwMode="auto">
          <a:xfrm flipH="1">
            <a:off x="5842000" y="244792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5800" name="Line 24"/>
          <p:cNvSpPr>
            <a:spLocks noChangeShapeType="1"/>
          </p:cNvSpPr>
          <p:nvPr/>
        </p:nvSpPr>
        <p:spPr bwMode="auto">
          <a:xfrm>
            <a:off x="6851650" y="244792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5801" name="Line 25"/>
          <p:cNvSpPr>
            <a:spLocks noChangeShapeType="1"/>
          </p:cNvSpPr>
          <p:nvPr/>
        </p:nvSpPr>
        <p:spPr bwMode="auto">
          <a:xfrm flipH="1">
            <a:off x="2971800" y="1760538"/>
            <a:ext cx="1355725" cy="2206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5802" name="Line 26"/>
          <p:cNvSpPr>
            <a:spLocks noChangeShapeType="1"/>
          </p:cNvSpPr>
          <p:nvPr/>
        </p:nvSpPr>
        <p:spPr bwMode="auto">
          <a:xfrm>
            <a:off x="5000625" y="1760538"/>
            <a:ext cx="1400175" cy="2206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5803" name="Oval 27"/>
          <p:cNvSpPr>
            <a:spLocks noChangeArrowheads="1"/>
          </p:cNvSpPr>
          <p:nvPr/>
        </p:nvSpPr>
        <p:spPr bwMode="auto">
          <a:xfrm>
            <a:off x="33178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5804" name="Oval 28"/>
          <p:cNvSpPr>
            <a:spLocks noChangeArrowheads="1"/>
          </p:cNvSpPr>
          <p:nvPr/>
        </p:nvSpPr>
        <p:spPr bwMode="auto">
          <a:xfrm>
            <a:off x="264477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5805" name="Text Box 29"/>
          <p:cNvSpPr txBox="1">
            <a:spLocks noChangeArrowheads="1"/>
          </p:cNvSpPr>
          <p:nvPr/>
        </p:nvSpPr>
        <p:spPr bwMode="auto">
          <a:xfrm>
            <a:off x="2625725" y="408463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75806" name="Oval 30"/>
          <p:cNvSpPr>
            <a:spLocks noChangeArrowheads="1"/>
          </p:cNvSpPr>
          <p:nvPr/>
        </p:nvSpPr>
        <p:spPr bwMode="auto">
          <a:xfrm>
            <a:off x="3654425" y="39846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5807" name="Text Box 31"/>
          <p:cNvSpPr txBox="1">
            <a:spLocks noChangeArrowheads="1"/>
          </p:cNvSpPr>
          <p:nvPr/>
        </p:nvSpPr>
        <p:spPr bwMode="auto">
          <a:xfrm>
            <a:off x="3635375" y="40846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75808" name="Oval 32"/>
          <p:cNvSpPr>
            <a:spLocks noChangeArrowheads="1"/>
          </p:cNvSpPr>
          <p:nvPr/>
        </p:nvSpPr>
        <p:spPr bwMode="auto">
          <a:xfrm>
            <a:off x="53371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5809" name="Text Box 33"/>
          <p:cNvSpPr txBox="1">
            <a:spLocks noChangeArrowheads="1"/>
          </p:cNvSpPr>
          <p:nvPr/>
        </p:nvSpPr>
        <p:spPr bwMode="auto">
          <a:xfrm>
            <a:off x="5314950" y="297973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75810" name="Oval 34"/>
          <p:cNvSpPr>
            <a:spLocks noChangeArrowheads="1"/>
          </p:cNvSpPr>
          <p:nvPr/>
        </p:nvSpPr>
        <p:spPr bwMode="auto">
          <a:xfrm>
            <a:off x="4664075" y="399097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5811" name="Text Box 35"/>
          <p:cNvSpPr txBox="1">
            <a:spLocks noChangeArrowheads="1"/>
          </p:cNvSpPr>
          <p:nvPr/>
        </p:nvSpPr>
        <p:spPr bwMode="auto">
          <a:xfrm>
            <a:off x="4645025" y="408781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75812" name="Oval 36"/>
          <p:cNvSpPr>
            <a:spLocks noChangeArrowheads="1"/>
          </p:cNvSpPr>
          <p:nvPr/>
        </p:nvSpPr>
        <p:spPr bwMode="auto">
          <a:xfrm>
            <a:off x="5673725" y="39909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5813" name="Text Box 37"/>
          <p:cNvSpPr txBox="1">
            <a:spLocks noChangeArrowheads="1"/>
          </p:cNvSpPr>
          <p:nvPr/>
        </p:nvSpPr>
        <p:spPr bwMode="auto">
          <a:xfrm>
            <a:off x="5654675" y="40909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75814" name="Oval 38"/>
          <p:cNvSpPr>
            <a:spLocks noChangeArrowheads="1"/>
          </p:cNvSpPr>
          <p:nvPr/>
        </p:nvSpPr>
        <p:spPr bwMode="auto">
          <a:xfrm>
            <a:off x="6683375" y="399097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5815" name="Text Box 39"/>
          <p:cNvSpPr txBox="1">
            <a:spLocks noChangeArrowheads="1"/>
          </p:cNvSpPr>
          <p:nvPr/>
        </p:nvSpPr>
        <p:spPr bwMode="auto">
          <a:xfrm>
            <a:off x="6664325" y="408940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18</a:t>
            </a:r>
            <a:endParaRPr lang="en-US" altLang="en-US" sz="2400"/>
          </a:p>
        </p:txBody>
      </p:sp>
      <p:sp>
        <p:nvSpPr>
          <p:cNvPr id="75816" name="Oval 40"/>
          <p:cNvSpPr>
            <a:spLocks noChangeArrowheads="1"/>
          </p:cNvSpPr>
          <p:nvPr/>
        </p:nvSpPr>
        <p:spPr bwMode="auto">
          <a:xfrm>
            <a:off x="769302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5817" name="Text Box 41"/>
          <p:cNvSpPr txBox="1">
            <a:spLocks noChangeArrowheads="1"/>
          </p:cNvSpPr>
          <p:nvPr/>
        </p:nvSpPr>
        <p:spPr bwMode="auto">
          <a:xfrm>
            <a:off x="7673975" y="40894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17</a:t>
            </a:r>
            <a:endParaRPr lang="en-US" altLang="en-US" sz="2400"/>
          </a:p>
        </p:txBody>
      </p:sp>
      <p:sp>
        <p:nvSpPr>
          <p:cNvPr id="75818" name="Line 42"/>
          <p:cNvSpPr>
            <a:spLocks noChangeShapeType="1"/>
          </p:cNvSpPr>
          <p:nvPr/>
        </p:nvSpPr>
        <p:spPr bwMode="auto">
          <a:xfrm flipH="1">
            <a:off x="9620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5819" name="Line 43"/>
          <p:cNvSpPr>
            <a:spLocks noChangeShapeType="1"/>
          </p:cNvSpPr>
          <p:nvPr/>
        </p:nvSpPr>
        <p:spPr bwMode="auto">
          <a:xfrm>
            <a:off x="19716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5820" name="Line 44"/>
          <p:cNvSpPr>
            <a:spLocks noChangeShapeType="1"/>
          </p:cNvSpPr>
          <p:nvPr/>
        </p:nvSpPr>
        <p:spPr bwMode="auto">
          <a:xfrm flipH="1">
            <a:off x="29813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5821" name="Line 45"/>
          <p:cNvSpPr>
            <a:spLocks noChangeShapeType="1"/>
          </p:cNvSpPr>
          <p:nvPr/>
        </p:nvSpPr>
        <p:spPr bwMode="auto">
          <a:xfrm>
            <a:off x="39909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5822" name="Line 46"/>
          <p:cNvSpPr>
            <a:spLocks noChangeShapeType="1"/>
          </p:cNvSpPr>
          <p:nvPr/>
        </p:nvSpPr>
        <p:spPr bwMode="auto">
          <a:xfrm flipH="1">
            <a:off x="50006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5823" name="Line 47"/>
          <p:cNvSpPr>
            <a:spLocks noChangeShapeType="1"/>
          </p:cNvSpPr>
          <p:nvPr/>
        </p:nvSpPr>
        <p:spPr bwMode="auto">
          <a:xfrm>
            <a:off x="60102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5824" name="Line 48"/>
          <p:cNvSpPr>
            <a:spLocks noChangeShapeType="1"/>
          </p:cNvSpPr>
          <p:nvPr/>
        </p:nvSpPr>
        <p:spPr bwMode="auto">
          <a:xfrm flipH="1">
            <a:off x="70199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5825" name="Line 49"/>
          <p:cNvSpPr>
            <a:spLocks noChangeShapeType="1"/>
          </p:cNvSpPr>
          <p:nvPr/>
        </p:nvSpPr>
        <p:spPr bwMode="auto">
          <a:xfrm>
            <a:off x="80295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5826" name="Text Box 50"/>
          <p:cNvSpPr txBox="1">
            <a:spLocks noChangeArrowheads="1"/>
          </p:cNvSpPr>
          <p:nvPr/>
        </p:nvSpPr>
        <p:spPr bwMode="auto">
          <a:xfrm>
            <a:off x="4495800" y="1914525"/>
            <a:ext cx="6731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75827" name="Text Box 51"/>
          <p:cNvSpPr txBox="1">
            <a:spLocks noChangeArrowheads="1"/>
          </p:cNvSpPr>
          <p:nvPr/>
        </p:nvSpPr>
        <p:spPr bwMode="auto">
          <a:xfrm>
            <a:off x="2476500" y="2447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75828" name="Text Box 52"/>
          <p:cNvSpPr txBox="1">
            <a:spLocks noChangeArrowheads="1"/>
          </p:cNvSpPr>
          <p:nvPr/>
        </p:nvSpPr>
        <p:spPr bwMode="auto">
          <a:xfrm>
            <a:off x="6515100" y="2447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75829" name="Text Box 53"/>
          <p:cNvSpPr txBox="1">
            <a:spLocks noChangeArrowheads="1"/>
          </p:cNvSpPr>
          <p:nvPr/>
        </p:nvSpPr>
        <p:spPr bwMode="auto">
          <a:xfrm>
            <a:off x="14668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75830" name="Text Box 54"/>
          <p:cNvSpPr txBox="1">
            <a:spLocks noChangeArrowheads="1"/>
          </p:cNvSpPr>
          <p:nvPr/>
        </p:nvSpPr>
        <p:spPr bwMode="auto">
          <a:xfrm>
            <a:off x="34861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75831" name="Text Box 55"/>
          <p:cNvSpPr txBox="1">
            <a:spLocks noChangeArrowheads="1"/>
          </p:cNvSpPr>
          <p:nvPr/>
        </p:nvSpPr>
        <p:spPr bwMode="auto">
          <a:xfrm>
            <a:off x="55054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75832" name="Text Box 56"/>
          <p:cNvSpPr txBox="1">
            <a:spLocks noChangeArrowheads="1"/>
          </p:cNvSpPr>
          <p:nvPr/>
        </p:nvSpPr>
        <p:spPr bwMode="auto">
          <a:xfrm>
            <a:off x="75247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75833" name="Text Box 57"/>
          <p:cNvSpPr txBox="1">
            <a:spLocks noChangeArrowheads="1"/>
          </p:cNvSpPr>
          <p:nvPr/>
        </p:nvSpPr>
        <p:spPr bwMode="auto">
          <a:xfrm>
            <a:off x="79375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75834" name="Text Box 58"/>
          <p:cNvSpPr txBox="1">
            <a:spLocks noChangeArrowheads="1"/>
          </p:cNvSpPr>
          <p:nvPr/>
        </p:nvSpPr>
        <p:spPr bwMode="auto">
          <a:xfrm>
            <a:off x="180340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75835" name="Text Box 59"/>
          <p:cNvSpPr txBox="1">
            <a:spLocks noChangeArrowheads="1"/>
          </p:cNvSpPr>
          <p:nvPr/>
        </p:nvSpPr>
        <p:spPr bwMode="auto">
          <a:xfrm>
            <a:off x="281305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75836" name="Text Box 60"/>
          <p:cNvSpPr txBox="1">
            <a:spLocks noChangeArrowheads="1"/>
          </p:cNvSpPr>
          <p:nvPr/>
        </p:nvSpPr>
        <p:spPr bwMode="auto">
          <a:xfrm>
            <a:off x="36544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75837" name="Text Box 61"/>
          <p:cNvSpPr txBox="1">
            <a:spLocks noChangeArrowheads="1"/>
          </p:cNvSpPr>
          <p:nvPr/>
        </p:nvSpPr>
        <p:spPr bwMode="auto">
          <a:xfrm>
            <a:off x="466407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75838" name="Text Box 62"/>
          <p:cNvSpPr txBox="1">
            <a:spLocks noChangeArrowheads="1"/>
          </p:cNvSpPr>
          <p:nvPr/>
        </p:nvSpPr>
        <p:spPr bwMode="auto">
          <a:xfrm>
            <a:off x="56737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75839" name="Text Box 63"/>
          <p:cNvSpPr txBox="1">
            <a:spLocks noChangeArrowheads="1"/>
          </p:cNvSpPr>
          <p:nvPr/>
        </p:nvSpPr>
        <p:spPr bwMode="auto">
          <a:xfrm>
            <a:off x="668337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75840" name="Text Box 64"/>
          <p:cNvSpPr txBox="1">
            <a:spLocks noChangeArrowheads="1"/>
          </p:cNvSpPr>
          <p:nvPr/>
        </p:nvSpPr>
        <p:spPr bwMode="auto">
          <a:xfrm>
            <a:off x="76930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75841" name="Oval 65"/>
          <p:cNvSpPr>
            <a:spLocks noChangeArrowheads="1"/>
          </p:cNvSpPr>
          <p:nvPr/>
        </p:nvSpPr>
        <p:spPr bwMode="auto">
          <a:xfrm>
            <a:off x="457200" y="507047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5842" name="Text Box 66"/>
          <p:cNvSpPr txBox="1">
            <a:spLocks noChangeArrowheads="1"/>
          </p:cNvSpPr>
          <p:nvPr/>
        </p:nvSpPr>
        <p:spPr bwMode="auto">
          <a:xfrm>
            <a:off x="438150" y="51689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75843" name="Oval 67"/>
          <p:cNvSpPr>
            <a:spLocks noChangeArrowheads="1"/>
          </p:cNvSpPr>
          <p:nvPr/>
        </p:nvSpPr>
        <p:spPr bwMode="auto">
          <a:xfrm>
            <a:off x="1466850" y="506888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5844" name="Text Box 68"/>
          <p:cNvSpPr txBox="1">
            <a:spLocks noChangeArrowheads="1"/>
          </p:cNvSpPr>
          <p:nvPr/>
        </p:nvSpPr>
        <p:spPr bwMode="auto">
          <a:xfrm>
            <a:off x="1447800" y="51689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9</a:t>
            </a:r>
            <a:endParaRPr lang="en-US" altLang="en-US" sz="2400"/>
          </a:p>
        </p:txBody>
      </p:sp>
      <p:sp>
        <p:nvSpPr>
          <p:cNvPr id="75845" name="Text Box 69"/>
          <p:cNvSpPr txBox="1">
            <a:spLocks noChangeArrowheads="1"/>
          </p:cNvSpPr>
          <p:nvPr/>
        </p:nvSpPr>
        <p:spPr bwMode="auto">
          <a:xfrm>
            <a:off x="1466850" y="56356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75846" name="Line 70"/>
          <p:cNvSpPr>
            <a:spLocks noChangeShapeType="1"/>
          </p:cNvSpPr>
          <p:nvPr/>
        </p:nvSpPr>
        <p:spPr bwMode="auto">
          <a:xfrm flipH="1">
            <a:off x="625475" y="460692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5847" name="Line 71"/>
          <p:cNvSpPr>
            <a:spLocks noChangeShapeType="1"/>
          </p:cNvSpPr>
          <p:nvPr/>
        </p:nvSpPr>
        <p:spPr bwMode="auto">
          <a:xfrm>
            <a:off x="1130300" y="460692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5848" name="Text Box 72"/>
          <p:cNvSpPr txBox="1">
            <a:spLocks noChangeArrowheads="1"/>
          </p:cNvSpPr>
          <p:nvPr/>
        </p:nvSpPr>
        <p:spPr bwMode="auto">
          <a:xfrm>
            <a:off x="457200" y="56356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75849" name="Text Box 73"/>
          <p:cNvSpPr txBox="1">
            <a:spLocks noChangeArrowheads="1"/>
          </p:cNvSpPr>
          <p:nvPr/>
        </p:nvSpPr>
        <p:spPr bwMode="auto">
          <a:xfrm>
            <a:off x="3257550" y="297973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75850" name="Text Box 74"/>
          <p:cNvSpPr txBox="1">
            <a:spLocks noChangeArrowheads="1"/>
          </p:cNvSpPr>
          <p:nvPr/>
        </p:nvSpPr>
        <p:spPr bwMode="auto">
          <a:xfrm>
            <a:off x="2514600" y="5105400"/>
            <a:ext cx="60960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(parent #) = (child # - 1) / 2                        (using integer division)</a:t>
            </a:r>
          </a:p>
        </p:txBody>
      </p:sp>
      <p:sp>
        <p:nvSpPr>
          <p:cNvPr id="75851" name="Oval 75"/>
          <p:cNvSpPr>
            <a:spLocks noChangeArrowheads="1"/>
          </p:cNvSpPr>
          <p:nvPr/>
        </p:nvSpPr>
        <p:spPr bwMode="auto">
          <a:xfrm>
            <a:off x="6477000" y="2438400"/>
            <a:ext cx="457200" cy="457200"/>
          </a:xfrm>
          <a:prstGeom prst="ellipse">
            <a:avLst/>
          </a:prstGeom>
          <a:noFill/>
          <a:ln w="38100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5852" name="Oval 76"/>
          <p:cNvSpPr>
            <a:spLocks noChangeArrowheads="1"/>
          </p:cNvSpPr>
          <p:nvPr/>
        </p:nvSpPr>
        <p:spPr bwMode="auto">
          <a:xfrm>
            <a:off x="5486400" y="3505200"/>
            <a:ext cx="457200" cy="457200"/>
          </a:xfrm>
          <a:prstGeom prst="ellipse">
            <a:avLst/>
          </a:prstGeom>
          <a:noFill/>
          <a:ln w="38100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5853" name="Rectangle 78"/>
          <p:cNvSpPr>
            <a:spLocks noGrp="1" noChangeArrowheads="1"/>
          </p:cNvSpPr>
          <p:nvPr>
            <p:ph type="title"/>
          </p:nvPr>
        </p:nvSpPr>
        <p:spPr>
          <a:xfrm>
            <a:off x="457200" y="0"/>
            <a:ext cx="8229600" cy="11430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Heap Properties (cont.)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EF3C9233-C6BE-4ECE-BDB2-59256B09E5ED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76</a:t>
            </a:fld>
            <a:endParaRPr lang="en-US" altLang="en-US" sz="1400"/>
          </a:p>
        </p:txBody>
      </p:sp>
      <p:sp>
        <p:nvSpPr>
          <p:cNvPr id="76803" name="Oval 3"/>
          <p:cNvSpPr>
            <a:spLocks noChangeArrowheads="1"/>
          </p:cNvSpPr>
          <p:nvPr/>
        </p:nvSpPr>
        <p:spPr bwMode="auto">
          <a:xfrm>
            <a:off x="2308225" y="18288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6804" name="Text Box 4"/>
          <p:cNvSpPr txBox="1">
            <a:spLocks noChangeArrowheads="1"/>
          </p:cNvSpPr>
          <p:nvPr/>
        </p:nvSpPr>
        <p:spPr bwMode="auto">
          <a:xfrm>
            <a:off x="2289175" y="1930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76805" name="Oval 5"/>
          <p:cNvSpPr>
            <a:spLocks noChangeArrowheads="1"/>
          </p:cNvSpPr>
          <p:nvPr/>
        </p:nvSpPr>
        <p:spPr bwMode="auto">
          <a:xfrm>
            <a:off x="12985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6806" name="Text Box 6"/>
          <p:cNvSpPr txBox="1">
            <a:spLocks noChangeArrowheads="1"/>
          </p:cNvSpPr>
          <p:nvPr/>
        </p:nvSpPr>
        <p:spPr bwMode="auto">
          <a:xfrm>
            <a:off x="1279525" y="300990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76807" name="Oval 7"/>
          <p:cNvSpPr>
            <a:spLocks noChangeArrowheads="1"/>
          </p:cNvSpPr>
          <p:nvPr/>
        </p:nvSpPr>
        <p:spPr bwMode="auto">
          <a:xfrm>
            <a:off x="625475" y="399097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6808" name="Text Box 8"/>
          <p:cNvSpPr txBox="1">
            <a:spLocks noChangeArrowheads="1"/>
          </p:cNvSpPr>
          <p:nvPr/>
        </p:nvSpPr>
        <p:spPr bwMode="auto">
          <a:xfrm>
            <a:off x="606425" y="4089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76809" name="Text Box 9"/>
          <p:cNvSpPr txBox="1">
            <a:spLocks noChangeArrowheads="1"/>
          </p:cNvSpPr>
          <p:nvPr/>
        </p:nvSpPr>
        <p:spPr bwMode="auto">
          <a:xfrm>
            <a:off x="2139950" y="114300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76810" name="Oval 10"/>
          <p:cNvSpPr>
            <a:spLocks noChangeArrowheads="1"/>
          </p:cNvSpPr>
          <p:nvPr/>
        </p:nvSpPr>
        <p:spPr bwMode="auto">
          <a:xfrm>
            <a:off x="163512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6811" name="Text Box 11"/>
          <p:cNvSpPr txBox="1">
            <a:spLocks noChangeArrowheads="1"/>
          </p:cNvSpPr>
          <p:nvPr/>
        </p:nvSpPr>
        <p:spPr bwMode="auto">
          <a:xfrm>
            <a:off x="1616075" y="40894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3</a:t>
            </a:r>
            <a:endParaRPr lang="en-US" altLang="en-US" sz="2400"/>
          </a:p>
        </p:txBody>
      </p:sp>
      <p:sp>
        <p:nvSpPr>
          <p:cNvPr id="76812" name="Oval 12"/>
          <p:cNvSpPr>
            <a:spLocks noChangeArrowheads="1"/>
          </p:cNvSpPr>
          <p:nvPr/>
        </p:nvSpPr>
        <p:spPr bwMode="auto">
          <a:xfrm>
            <a:off x="4327525" y="12954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6813" name="Text Box 13"/>
          <p:cNvSpPr txBox="1">
            <a:spLocks noChangeArrowheads="1"/>
          </p:cNvSpPr>
          <p:nvPr/>
        </p:nvSpPr>
        <p:spPr bwMode="auto">
          <a:xfrm>
            <a:off x="4308475" y="1395413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46</a:t>
            </a:r>
            <a:endParaRPr lang="en-US" altLang="en-US" sz="2400"/>
          </a:p>
        </p:txBody>
      </p:sp>
      <p:sp>
        <p:nvSpPr>
          <p:cNvPr id="76814" name="Line 14"/>
          <p:cNvSpPr>
            <a:spLocks noChangeShapeType="1"/>
          </p:cNvSpPr>
          <p:nvPr/>
        </p:nvSpPr>
        <p:spPr bwMode="auto">
          <a:xfrm>
            <a:off x="2813050" y="145097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6815" name="Oval 15"/>
          <p:cNvSpPr>
            <a:spLocks noChangeArrowheads="1"/>
          </p:cNvSpPr>
          <p:nvPr/>
        </p:nvSpPr>
        <p:spPr bwMode="auto">
          <a:xfrm>
            <a:off x="33178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6816" name="Line 16"/>
          <p:cNvSpPr>
            <a:spLocks noChangeShapeType="1"/>
          </p:cNvSpPr>
          <p:nvPr/>
        </p:nvSpPr>
        <p:spPr bwMode="auto">
          <a:xfrm flipH="1">
            <a:off x="1803400" y="244792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6817" name="Line 17"/>
          <p:cNvSpPr>
            <a:spLocks noChangeShapeType="1"/>
          </p:cNvSpPr>
          <p:nvPr/>
        </p:nvSpPr>
        <p:spPr bwMode="auto">
          <a:xfrm>
            <a:off x="2813050" y="244792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6818" name="Oval 18"/>
          <p:cNvSpPr>
            <a:spLocks noChangeArrowheads="1"/>
          </p:cNvSpPr>
          <p:nvPr/>
        </p:nvSpPr>
        <p:spPr bwMode="auto">
          <a:xfrm>
            <a:off x="6346825" y="18288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6819" name="Text Box 19"/>
          <p:cNvSpPr txBox="1">
            <a:spLocks noChangeArrowheads="1"/>
          </p:cNvSpPr>
          <p:nvPr/>
        </p:nvSpPr>
        <p:spPr bwMode="auto">
          <a:xfrm>
            <a:off x="6327775" y="19304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76820" name="Oval 20"/>
          <p:cNvSpPr>
            <a:spLocks noChangeArrowheads="1"/>
          </p:cNvSpPr>
          <p:nvPr/>
        </p:nvSpPr>
        <p:spPr bwMode="auto">
          <a:xfrm>
            <a:off x="53371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6821" name="Oval 21"/>
          <p:cNvSpPr>
            <a:spLocks noChangeArrowheads="1"/>
          </p:cNvSpPr>
          <p:nvPr/>
        </p:nvSpPr>
        <p:spPr bwMode="auto">
          <a:xfrm>
            <a:off x="73564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6822" name="Text Box 22"/>
          <p:cNvSpPr txBox="1">
            <a:spLocks noChangeArrowheads="1"/>
          </p:cNvSpPr>
          <p:nvPr/>
        </p:nvSpPr>
        <p:spPr bwMode="auto">
          <a:xfrm>
            <a:off x="7337425" y="30099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25</a:t>
            </a:r>
            <a:endParaRPr lang="en-US" altLang="en-US" sz="2400"/>
          </a:p>
        </p:txBody>
      </p:sp>
      <p:sp>
        <p:nvSpPr>
          <p:cNvPr id="76823" name="Line 23"/>
          <p:cNvSpPr>
            <a:spLocks noChangeShapeType="1"/>
          </p:cNvSpPr>
          <p:nvPr/>
        </p:nvSpPr>
        <p:spPr bwMode="auto">
          <a:xfrm flipH="1">
            <a:off x="5842000" y="244792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6824" name="Line 24"/>
          <p:cNvSpPr>
            <a:spLocks noChangeShapeType="1"/>
          </p:cNvSpPr>
          <p:nvPr/>
        </p:nvSpPr>
        <p:spPr bwMode="auto">
          <a:xfrm>
            <a:off x="6851650" y="244792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6825" name="Line 25"/>
          <p:cNvSpPr>
            <a:spLocks noChangeShapeType="1"/>
          </p:cNvSpPr>
          <p:nvPr/>
        </p:nvSpPr>
        <p:spPr bwMode="auto">
          <a:xfrm flipH="1">
            <a:off x="2971800" y="1760538"/>
            <a:ext cx="1355725" cy="2206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6826" name="Line 26"/>
          <p:cNvSpPr>
            <a:spLocks noChangeShapeType="1"/>
          </p:cNvSpPr>
          <p:nvPr/>
        </p:nvSpPr>
        <p:spPr bwMode="auto">
          <a:xfrm>
            <a:off x="5000625" y="1760538"/>
            <a:ext cx="1400175" cy="2206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6827" name="Oval 27"/>
          <p:cNvSpPr>
            <a:spLocks noChangeArrowheads="1"/>
          </p:cNvSpPr>
          <p:nvPr/>
        </p:nvSpPr>
        <p:spPr bwMode="auto">
          <a:xfrm>
            <a:off x="3317875" y="290830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6828" name="Oval 28"/>
          <p:cNvSpPr>
            <a:spLocks noChangeArrowheads="1"/>
          </p:cNvSpPr>
          <p:nvPr/>
        </p:nvSpPr>
        <p:spPr bwMode="auto">
          <a:xfrm>
            <a:off x="264477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6829" name="Text Box 29"/>
          <p:cNvSpPr txBox="1">
            <a:spLocks noChangeArrowheads="1"/>
          </p:cNvSpPr>
          <p:nvPr/>
        </p:nvSpPr>
        <p:spPr bwMode="auto">
          <a:xfrm>
            <a:off x="2625725" y="408463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29</a:t>
            </a:r>
            <a:endParaRPr lang="en-US" altLang="en-US" sz="2400"/>
          </a:p>
        </p:txBody>
      </p:sp>
      <p:sp>
        <p:nvSpPr>
          <p:cNvPr id="76830" name="Oval 30"/>
          <p:cNvSpPr>
            <a:spLocks noChangeArrowheads="1"/>
          </p:cNvSpPr>
          <p:nvPr/>
        </p:nvSpPr>
        <p:spPr bwMode="auto">
          <a:xfrm>
            <a:off x="3654425" y="39846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6831" name="Text Box 31"/>
          <p:cNvSpPr txBox="1">
            <a:spLocks noChangeArrowheads="1"/>
          </p:cNvSpPr>
          <p:nvPr/>
        </p:nvSpPr>
        <p:spPr bwMode="auto">
          <a:xfrm>
            <a:off x="3635375" y="40846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76832" name="Oval 32"/>
          <p:cNvSpPr>
            <a:spLocks noChangeArrowheads="1"/>
          </p:cNvSpPr>
          <p:nvPr/>
        </p:nvSpPr>
        <p:spPr bwMode="auto">
          <a:xfrm>
            <a:off x="5337175" y="290830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6833" name="Text Box 33"/>
          <p:cNvSpPr txBox="1">
            <a:spLocks noChangeArrowheads="1"/>
          </p:cNvSpPr>
          <p:nvPr/>
        </p:nvSpPr>
        <p:spPr bwMode="auto">
          <a:xfrm>
            <a:off x="5314950" y="297973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76834" name="Oval 34"/>
          <p:cNvSpPr>
            <a:spLocks noChangeArrowheads="1"/>
          </p:cNvSpPr>
          <p:nvPr/>
        </p:nvSpPr>
        <p:spPr bwMode="auto">
          <a:xfrm>
            <a:off x="4664075" y="399097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6835" name="Text Box 35"/>
          <p:cNvSpPr txBox="1">
            <a:spLocks noChangeArrowheads="1"/>
          </p:cNvSpPr>
          <p:nvPr/>
        </p:nvSpPr>
        <p:spPr bwMode="auto">
          <a:xfrm>
            <a:off x="4645025" y="408781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76836" name="Oval 36"/>
          <p:cNvSpPr>
            <a:spLocks noChangeArrowheads="1"/>
          </p:cNvSpPr>
          <p:nvPr/>
        </p:nvSpPr>
        <p:spPr bwMode="auto">
          <a:xfrm>
            <a:off x="5673725" y="39909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6837" name="Text Box 37"/>
          <p:cNvSpPr txBox="1">
            <a:spLocks noChangeArrowheads="1"/>
          </p:cNvSpPr>
          <p:nvPr/>
        </p:nvSpPr>
        <p:spPr bwMode="auto">
          <a:xfrm>
            <a:off x="5654675" y="40909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76838" name="Oval 38"/>
          <p:cNvSpPr>
            <a:spLocks noChangeArrowheads="1"/>
          </p:cNvSpPr>
          <p:nvPr/>
        </p:nvSpPr>
        <p:spPr bwMode="auto">
          <a:xfrm>
            <a:off x="6683375" y="399097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6839" name="Text Box 39"/>
          <p:cNvSpPr txBox="1">
            <a:spLocks noChangeArrowheads="1"/>
          </p:cNvSpPr>
          <p:nvPr/>
        </p:nvSpPr>
        <p:spPr bwMode="auto">
          <a:xfrm>
            <a:off x="6664325" y="408940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18</a:t>
            </a:r>
            <a:endParaRPr lang="en-US" altLang="en-US" sz="2400"/>
          </a:p>
        </p:txBody>
      </p:sp>
      <p:sp>
        <p:nvSpPr>
          <p:cNvPr id="76840" name="Oval 40"/>
          <p:cNvSpPr>
            <a:spLocks noChangeArrowheads="1"/>
          </p:cNvSpPr>
          <p:nvPr/>
        </p:nvSpPr>
        <p:spPr bwMode="auto">
          <a:xfrm>
            <a:off x="7693025" y="398780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6841" name="Text Box 41"/>
          <p:cNvSpPr txBox="1">
            <a:spLocks noChangeArrowheads="1"/>
          </p:cNvSpPr>
          <p:nvPr/>
        </p:nvSpPr>
        <p:spPr bwMode="auto">
          <a:xfrm>
            <a:off x="7673975" y="40894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17</a:t>
            </a:r>
            <a:endParaRPr lang="en-US" altLang="en-US" sz="2400"/>
          </a:p>
        </p:txBody>
      </p:sp>
      <p:sp>
        <p:nvSpPr>
          <p:cNvPr id="76842" name="Line 42"/>
          <p:cNvSpPr>
            <a:spLocks noChangeShapeType="1"/>
          </p:cNvSpPr>
          <p:nvPr/>
        </p:nvSpPr>
        <p:spPr bwMode="auto">
          <a:xfrm flipH="1">
            <a:off x="9620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6843" name="Line 43"/>
          <p:cNvSpPr>
            <a:spLocks noChangeShapeType="1"/>
          </p:cNvSpPr>
          <p:nvPr/>
        </p:nvSpPr>
        <p:spPr bwMode="auto">
          <a:xfrm>
            <a:off x="19716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6844" name="Line 44"/>
          <p:cNvSpPr>
            <a:spLocks noChangeShapeType="1"/>
          </p:cNvSpPr>
          <p:nvPr/>
        </p:nvSpPr>
        <p:spPr bwMode="auto">
          <a:xfrm flipH="1">
            <a:off x="29813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6845" name="Line 45"/>
          <p:cNvSpPr>
            <a:spLocks noChangeShapeType="1"/>
          </p:cNvSpPr>
          <p:nvPr/>
        </p:nvSpPr>
        <p:spPr bwMode="auto">
          <a:xfrm>
            <a:off x="39909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6846" name="Line 46"/>
          <p:cNvSpPr>
            <a:spLocks noChangeShapeType="1"/>
          </p:cNvSpPr>
          <p:nvPr/>
        </p:nvSpPr>
        <p:spPr bwMode="auto">
          <a:xfrm flipH="1">
            <a:off x="50006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6847" name="Line 47"/>
          <p:cNvSpPr>
            <a:spLocks noChangeShapeType="1"/>
          </p:cNvSpPr>
          <p:nvPr/>
        </p:nvSpPr>
        <p:spPr bwMode="auto">
          <a:xfrm>
            <a:off x="60102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6848" name="Line 48"/>
          <p:cNvSpPr>
            <a:spLocks noChangeShapeType="1"/>
          </p:cNvSpPr>
          <p:nvPr/>
        </p:nvSpPr>
        <p:spPr bwMode="auto">
          <a:xfrm flipH="1">
            <a:off x="7019925" y="337343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6849" name="Line 49"/>
          <p:cNvSpPr>
            <a:spLocks noChangeShapeType="1"/>
          </p:cNvSpPr>
          <p:nvPr/>
        </p:nvSpPr>
        <p:spPr bwMode="auto">
          <a:xfrm>
            <a:off x="8029575" y="337343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6850" name="Text Box 50"/>
          <p:cNvSpPr txBox="1">
            <a:spLocks noChangeArrowheads="1"/>
          </p:cNvSpPr>
          <p:nvPr/>
        </p:nvSpPr>
        <p:spPr bwMode="auto">
          <a:xfrm>
            <a:off x="4495800" y="1914525"/>
            <a:ext cx="6731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76851" name="Text Box 51"/>
          <p:cNvSpPr txBox="1">
            <a:spLocks noChangeArrowheads="1"/>
          </p:cNvSpPr>
          <p:nvPr/>
        </p:nvSpPr>
        <p:spPr bwMode="auto">
          <a:xfrm>
            <a:off x="2476500" y="2447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76852" name="Text Box 52"/>
          <p:cNvSpPr txBox="1">
            <a:spLocks noChangeArrowheads="1"/>
          </p:cNvSpPr>
          <p:nvPr/>
        </p:nvSpPr>
        <p:spPr bwMode="auto">
          <a:xfrm>
            <a:off x="6515100" y="2447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76853" name="Text Box 53"/>
          <p:cNvSpPr txBox="1">
            <a:spLocks noChangeArrowheads="1"/>
          </p:cNvSpPr>
          <p:nvPr/>
        </p:nvSpPr>
        <p:spPr bwMode="auto">
          <a:xfrm>
            <a:off x="14668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76854" name="Text Box 54"/>
          <p:cNvSpPr txBox="1">
            <a:spLocks noChangeArrowheads="1"/>
          </p:cNvSpPr>
          <p:nvPr/>
        </p:nvSpPr>
        <p:spPr bwMode="auto">
          <a:xfrm>
            <a:off x="34861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76855" name="Text Box 55"/>
          <p:cNvSpPr txBox="1">
            <a:spLocks noChangeArrowheads="1"/>
          </p:cNvSpPr>
          <p:nvPr/>
        </p:nvSpPr>
        <p:spPr bwMode="auto">
          <a:xfrm>
            <a:off x="55054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76856" name="Text Box 56"/>
          <p:cNvSpPr txBox="1">
            <a:spLocks noChangeArrowheads="1"/>
          </p:cNvSpPr>
          <p:nvPr/>
        </p:nvSpPr>
        <p:spPr bwMode="auto">
          <a:xfrm>
            <a:off x="7524750" y="35274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76857" name="Text Box 57"/>
          <p:cNvSpPr txBox="1">
            <a:spLocks noChangeArrowheads="1"/>
          </p:cNvSpPr>
          <p:nvPr/>
        </p:nvSpPr>
        <p:spPr bwMode="auto">
          <a:xfrm>
            <a:off x="79375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76858" name="Text Box 58"/>
          <p:cNvSpPr txBox="1">
            <a:spLocks noChangeArrowheads="1"/>
          </p:cNvSpPr>
          <p:nvPr/>
        </p:nvSpPr>
        <p:spPr bwMode="auto">
          <a:xfrm>
            <a:off x="180340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76859" name="Text Box 59"/>
          <p:cNvSpPr txBox="1">
            <a:spLocks noChangeArrowheads="1"/>
          </p:cNvSpPr>
          <p:nvPr/>
        </p:nvSpPr>
        <p:spPr bwMode="auto">
          <a:xfrm>
            <a:off x="2813050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76860" name="Text Box 60"/>
          <p:cNvSpPr txBox="1">
            <a:spLocks noChangeArrowheads="1"/>
          </p:cNvSpPr>
          <p:nvPr/>
        </p:nvSpPr>
        <p:spPr bwMode="auto">
          <a:xfrm>
            <a:off x="36544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76861" name="Text Box 61"/>
          <p:cNvSpPr txBox="1">
            <a:spLocks noChangeArrowheads="1"/>
          </p:cNvSpPr>
          <p:nvPr/>
        </p:nvSpPr>
        <p:spPr bwMode="auto">
          <a:xfrm>
            <a:off x="466407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76862" name="Text Box 62"/>
          <p:cNvSpPr txBox="1">
            <a:spLocks noChangeArrowheads="1"/>
          </p:cNvSpPr>
          <p:nvPr/>
        </p:nvSpPr>
        <p:spPr bwMode="auto">
          <a:xfrm>
            <a:off x="56737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76863" name="Text Box 63"/>
          <p:cNvSpPr txBox="1">
            <a:spLocks noChangeArrowheads="1"/>
          </p:cNvSpPr>
          <p:nvPr/>
        </p:nvSpPr>
        <p:spPr bwMode="auto">
          <a:xfrm>
            <a:off x="668337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76864" name="Text Box 64"/>
          <p:cNvSpPr txBox="1">
            <a:spLocks noChangeArrowheads="1"/>
          </p:cNvSpPr>
          <p:nvPr/>
        </p:nvSpPr>
        <p:spPr bwMode="auto">
          <a:xfrm>
            <a:off x="7693025" y="46069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76865" name="Oval 65"/>
          <p:cNvSpPr>
            <a:spLocks noChangeArrowheads="1"/>
          </p:cNvSpPr>
          <p:nvPr/>
        </p:nvSpPr>
        <p:spPr bwMode="auto">
          <a:xfrm>
            <a:off x="457200" y="507047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6866" name="Text Box 66"/>
          <p:cNvSpPr txBox="1">
            <a:spLocks noChangeArrowheads="1"/>
          </p:cNvSpPr>
          <p:nvPr/>
        </p:nvSpPr>
        <p:spPr bwMode="auto">
          <a:xfrm>
            <a:off x="438150" y="516890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76867" name="Oval 67"/>
          <p:cNvSpPr>
            <a:spLocks noChangeArrowheads="1"/>
          </p:cNvSpPr>
          <p:nvPr/>
        </p:nvSpPr>
        <p:spPr bwMode="auto">
          <a:xfrm>
            <a:off x="1466850" y="506888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6868" name="Text Box 68"/>
          <p:cNvSpPr txBox="1">
            <a:spLocks noChangeArrowheads="1"/>
          </p:cNvSpPr>
          <p:nvPr/>
        </p:nvSpPr>
        <p:spPr bwMode="auto">
          <a:xfrm>
            <a:off x="1447800" y="516890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9</a:t>
            </a:r>
            <a:endParaRPr lang="en-US" altLang="en-US" sz="2400"/>
          </a:p>
        </p:txBody>
      </p:sp>
      <p:sp>
        <p:nvSpPr>
          <p:cNvPr id="76869" name="Text Box 69"/>
          <p:cNvSpPr txBox="1">
            <a:spLocks noChangeArrowheads="1"/>
          </p:cNvSpPr>
          <p:nvPr/>
        </p:nvSpPr>
        <p:spPr bwMode="auto">
          <a:xfrm>
            <a:off x="1466850" y="56356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76870" name="Line 70"/>
          <p:cNvSpPr>
            <a:spLocks noChangeShapeType="1"/>
          </p:cNvSpPr>
          <p:nvPr/>
        </p:nvSpPr>
        <p:spPr bwMode="auto">
          <a:xfrm flipH="1">
            <a:off x="625475" y="460692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6871" name="Line 71"/>
          <p:cNvSpPr>
            <a:spLocks noChangeShapeType="1"/>
          </p:cNvSpPr>
          <p:nvPr/>
        </p:nvSpPr>
        <p:spPr bwMode="auto">
          <a:xfrm>
            <a:off x="1130300" y="460692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76872" name="Text Box 72"/>
          <p:cNvSpPr txBox="1">
            <a:spLocks noChangeArrowheads="1"/>
          </p:cNvSpPr>
          <p:nvPr/>
        </p:nvSpPr>
        <p:spPr bwMode="auto">
          <a:xfrm>
            <a:off x="457200" y="563562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76873" name="Text Box 73"/>
          <p:cNvSpPr txBox="1">
            <a:spLocks noChangeArrowheads="1"/>
          </p:cNvSpPr>
          <p:nvPr/>
        </p:nvSpPr>
        <p:spPr bwMode="auto">
          <a:xfrm>
            <a:off x="3257550" y="297973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76874" name="Text Box 74"/>
          <p:cNvSpPr txBox="1">
            <a:spLocks noChangeArrowheads="1"/>
          </p:cNvSpPr>
          <p:nvPr/>
        </p:nvSpPr>
        <p:spPr bwMode="auto">
          <a:xfrm>
            <a:off x="2514600" y="5105400"/>
            <a:ext cx="60960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(parent #) = (child # - 1) / 2                        (using integer division)</a:t>
            </a:r>
          </a:p>
        </p:txBody>
      </p:sp>
      <p:sp>
        <p:nvSpPr>
          <p:cNvPr id="76875" name="Oval 75"/>
          <p:cNvSpPr>
            <a:spLocks noChangeArrowheads="1"/>
          </p:cNvSpPr>
          <p:nvPr/>
        </p:nvSpPr>
        <p:spPr bwMode="auto">
          <a:xfrm>
            <a:off x="2438400" y="2438400"/>
            <a:ext cx="457200" cy="457200"/>
          </a:xfrm>
          <a:prstGeom prst="ellipse">
            <a:avLst/>
          </a:prstGeom>
          <a:noFill/>
          <a:ln w="38100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6876" name="Oval 76"/>
          <p:cNvSpPr>
            <a:spLocks noChangeArrowheads="1"/>
          </p:cNvSpPr>
          <p:nvPr/>
        </p:nvSpPr>
        <p:spPr bwMode="auto">
          <a:xfrm>
            <a:off x="3429000" y="3505200"/>
            <a:ext cx="457200" cy="457200"/>
          </a:xfrm>
          <a:prstGeom prst="ellipse">
            <a:avLst/>
          </a:prstGeom>
          <a:noFill/>
          <a:ln w="38100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6877" name="Rectangle 78"/>
          <p:cNvSpPr>
            <a:spLocks noGrp="1" noChangeArrowheads="1"/>
          </p:cNvSpPr>
          <p:nvPr>
            <p:ph type="title"/>
          </p:nvPr>
        </p:nvSpPr>
        <p:spPr>
          <a:xfrm>
            <a:off x="457200" y="0"/>
            <a:ext cx="8229600" cy="11430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Heap Properties (cont.)</a:t>
            </a: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80BFE515-C9D8-41D4-93B9-1F3DCBD241EB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77</a:t>
            </a:fld>
            <a:endParaRPr lang="en-US" altLang="en-US" sz="1400"/>
          </a:p>
        </p:txBody>
      </p:sp>
      <p:sp>
        <p:nvSpPr>
          <p:cNvPr id="77827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Array Implementation of Heap</a:t>
            </a:r>
          </a:p>
        </p:txBody>
      </p:sp>
      <p:sp>
        <p:nvSpPr>
          <p:cNvPr id="77828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en-US" altLang="en-US" dirty="0"/>
              <a:t>These remarkable properties of the heap allow us to place the elements into an array.</a:t>
            </a:r>
          </a:p>
          <a:p>
            <a:pPr eaLnBrk="1" hangingPunct="1"/>
            <a:r>
              <a:rPr lang="en-US" altLang="en-US" dirty="0"/>
              <a:t>The red numbers on the previous slide correspond to the array indexes.</a:t>
            </a: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3DF342B8-D293-41AA-9AAE-078A7ADC3099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78</a:t>
            </a:fld>
            <a:endParaRPr lang="en-US" altLang="en-US" sz="1400"/>
          </a:p>
        </p:txBody>
      </p:sp>
      <p:sp>
        <p:nvSpPr>
          <p:cNvPr id="78851" name="Rectangle 3"/>
          <p:cNvSpPr>
            <a:spLocks noChangeArrowheads="1"/>
          </p:cNvSpPr>
          <p:nvPr/>
        </p:nvSpPr>
        <p:spPr bwMode="auto">
          <a:xfrm rot="-5400000">
            <a:off x="196057" y="2166143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8852" name="Text Box 4"/>
          <p:cNvSpPr txBox="1">
            <a:spLocks noChangeArrowheads="1"/>
          </p:cNvSpPr>
          <p:nvPr/>
        </p:nvSpPr>
        <p:spPr bwMode="auto">
          <a:xfrm>
            <a:off x="228600" y="2211388"/>
            <a:ext cx="952500" cy="506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46</a:t>
            </a:r>
          </a:p>
        </p:txBody>
      </p:sp>
      <p:sp>
        <p:nvSpPr>
          <p:cNvPr id="78853" name="Rectangle 5"/>
          <p:cNvSpPr>
            <a:spLocks noChangeArrowheads="1"/>
          </p:cNvSpPr>
          <p:nvPr/>
        </p:nvSpPr>
        <p:spPr bwMode="auto">
          <a:xfrm rot="-5400000">
            <a:off x="702469" y="2166144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8854" name="Text Box 6"/>
          <p:cNvSpPr txBox="1">
            <a:spLocks noChangeArrowheads="1"/>
          </p:cNvSpPr>
          <p:nvPr/>
        </p:nvSpPr>
        <p:spPr bwMode="auto">
          <a:xfrm>
            <a:off x="735013" y="2211388"/>
            <a:ext cx="952500" cy="506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39</a:t>
            </a:r>
          </a:p>
        </p:txBody>
      </p:sp>
      <p:sp>
        <p:nvSpPr>
          <p:cNvPr id="78855" name="Rectangle 7"/>
          <p:cNvSpPr>
            <a:spLocks noChangeArrowheads="1"/>
          </p:cNvSpPr>
          <p:nvPr/>
        </p:nvSpPr>
        <p:spPr bwMode="auto">
          <a:xfrm rot="-5400000">
            <a:off x="12072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8856" name="Text Box 8"/>
          <p:cNvSpPr txBox="1">
            <a:spLocks noChangeArrowheads="1"/>
          </p:cNvSpPr>
          <p:nvPr/>
        </p:nvSpPr>
        <p:spPr bwMode="auto">
          <a:xfrm>
            <a:off x="12398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28</a:t>
            </a:r>
          </a:p>
        </p:txBody>
      </p:sp>
      <p:sp>
        <p:nvSpPr>
          <p:cNvPr id="78857" name="Rectangle 9"/>
          <p:cNvSpPr>
            <a:spLocks noChangeArrowheads="1"/>
          </p:cNvSpPr>
          <p:nvPr/>
        </p:nvSpPr>
        <p:spPr bwMode="auto">
          <a:xfrm rot="-5400000">
            <a:off x="1714500" y="2166938"/>
            <a:ext cx="571500" cy="508000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8858" name="Text Box 10"/>
          <p:cNvSpPr txBox="1">
            <a:spLocks noChangeArrowheads="1"/>
          </p:cNvSpPr>
          <p:nvPr/>
        </p:nvSpPr>
        <p:spPr bwMode="auto">
          <a:xfrm>
            <a:off x="1746250" y="2212975"/>
            <a:ext cx="9525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16</a:t>
            </a:r>
          </a:p>
        </p:txBody>
      </p:sp>
      <p:sp>
        <p:nvSpPr>
          <p:cNvPr id="78859" name="Rectangle 11"/>
          <p:cNvSpPr>
            <a:spLocks noChangeArrowheads="1"/>
          </p:cNvSpPr>
          <p:nvPr/>
        </p:nvSpPr>
        <p:spPr bwMode="auto">
          <a:xfrm rot="-5400000">
            <a:off x="2221707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8860" name="Text Box 12"/>
          <p:cNvSpPr txBox="1">
            <a:spLocks noChangeArrowheads="1"/>
          </p:cNvSpPr>
          <p:nvPr/>
        </p:nvSpPr>
        <p:spPr bwMode="auto">
          <a:xfrm>
            <a:off x="2254250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32</a:t>
            </a:r>
          </a:p>
        </p:txBody>
      </p:sp>
      <p:sp>
        <p:nvSpPr>
          <p:cNvPr id="78861" name="Rectangle 13"/>
          <p:cNvSpPr>
            <a:spLocks noChangeArrowheads="1"/>
          </p:cNvSpPr>
          <p:nvPr/>
        </p:nvSpPr>
        <p:spPr bwMode="auto">
          <a:xfrm rot="-5400000">
            <a:off x="27281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8862" name="Text Box 14"/>
          <p:cNvSpPr txBox="1">
            <a:spLocks noChangeArrowheads="1"/>
          </p:cNvSpPr>
          <p:nvPr/>
        </p:nvSpPr>
        <p:spPr bwMode="auto">
          <a:xfrm>
            <a:off x="27606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24</a:t>
            </a:r>
          </a:p>
        </p:txBody>
      </p:sp>
      <p:sp>
        <p:nvSpPr>
          <p:cNvPr id="78863" name="Rectangle 15"/>
          <p:cNvSpPr>
            <a:spLocks noChangeArrowheads="1"/>
          </p:cNvSpPr>
          <p:nvPr/>
        </p:nvSpPr>
        <p:spPr bwMode="auto">
          <a:xfrm rot="-5400000">
            <a:off x="323453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8864" name="Text Box 16"/>
          <p:cNvSpPr txBox="1">
            <a:spLocks noChangeArrowheads="1"/>
          </p:cNvSpPr>
          <p:nvPr/>
        </p:nvSpPr>
        <p:spPr bwMode="auto">
          <a:xfrm>
            <a:off x="326707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25</a:t>
            </a:r>
          </a:p>
        </p:txBody>
      </p:sp>
      <p:sp>
        <p:nvSpPr>
          <p:cNvPr id="78865" name="Rectangle 17"/>
          <p:cNvSpPr>
            <a:spLocks noChangeArrowheads="1"/>
          </p:cNvSpPr>
          <p:nvPr/>
        </p:nvSpPr>
        <p:spPr bwMode="auto">
          <a:xfrm rot="-5400000">
            <a:off x="3739357" y="2169319"/>
            <a:ext cx="571500" cy="503237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8866" name="Text Box 18"/>
          <p:cNvSpPr txBox="1">
            <a:spLocks noChangeArrowheads="1"/>
          </p:cNvSpPr>
          <p:nvPr/>
        </p:nvSpPr>
        <p:spPr bwMode="auto">
          <a:xfrm>
            <a:off x="3771900" y="2214563"/>
            <a:ext cx="952500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14</a:t>
            </a:r>
          </a:p>
        </p:txBody>
      </p:sp>
      <p:sp>
        <p:nvSpPr>
          <p:cNvPr id="78867" name="Rectangle 19"/>
          <p:cNvSpPr>
            <a:spLocks noChangeArrowheads="1"/>
          </p:cNvSpPr>
          <p:nvPr/>
        </p:nvSpPr>
        <p:spPr bwMode="auto">
          <a:xfrm rot="-5400000">
            <a:off x="424418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8868" name="Text Box 20"/>
          <p:cNvSpPr txBox="1">
            <a:spLocks noChangeArrowheads="1"/>
          </p:cNvSpPr>
          <p:nvPr/>
        </p:nvSpPr>
        <p:spPr bwMode="auto">
          <a:xfrm>
            <a:off x="427672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</a:t>
            </a:r>
          </a:p>
        </p:txBody>
      </p:sp>
      <p:sp>
        <p:nvSpPr>
          <p:cNvPr id="78869" name="Rectangle 21"/>
          <p:cNvSpPr>
            <a:spLocks noChangeArrowheads="1"/>
          </p:cNvSpPr>
          <p:nvPr/>
        </p:nvSpPr>
        <p:spPr bwMode="auto">
          <a:xfrm rot="-5400000">
            <a:off x="4750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8870" name="Text Box 22"/>
          <p:cNvSpPr txBox="1">
            <a:spLocks noChangeArrowheads="1"/>
          </p:cNvSpPr>
          <p:nvPr/>
        </p:nvSpPr>
        <p:spPr bwMode="auto">
          <a:xfrm>
            <a:off x="4783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29</a:t>
            </a:r>
          </a:p>
        </p:txBody>
      </p:sp>
      <p:sp>
        <p:nvSpPr>
          <p:cNvPr id="78871" name="Rectangle 23"/>
          <p:cNvSpPr>
            <a:spLocks noChangeArrowheads="1"/>
          </p:cNvSpPr>
          <p:nvPr/>
        </p:nvSpPr>
        <p:spPr bwMode="auto">
          <a:xfrm rot="-5400000">
            <a:off x="526176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8872" name="Text Box 24"/>
          <p:cNvSpPr txBox="1">
            <a:spLocks noChangeArrowheads="1"/>
          </p:cNvSpPr>
          <p:nvPr/>
        </p:nvSpPr>
        <p:spPr bwMode="auto">
          <a:xfrm>
            <a:off x="529431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15</a:t>
            </a:r>
          </a:p>
        </p:txBody>
      </p:sp>
      <p:sp>
        <p:nvSpPr>
          <p:cNvPr id="78873" name="Rectangle 25"/>
          <p:cNvSpPr>
            <a:spLocks noChangeArrowheads="1"/>
          </p:cNvSpPr>
          <p:nvPr/>
        </p:nvSpPr>
        <p:spPr bwMode="auto">
          <a:xfrm rot="-5400000">
            <a:off x="576738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8874" name="Text Box 26"/>
          <p:cNvSpPr txBox="1">
            <a:spLocks noChangeArrowheads="1"/>
          </p:cNvSpPr>
          <p:nvPr/>
        </p:nvSpPr>
        <p:spPr bwMode="auto">
          <a:xfrm>
            <a:off x="579913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5</a:t>
            </a:r>
          </a:p>
        </p:txBody>
      </p:sp>
      <p:sp>
        <p:nvSpPr>
          <p:cNvPr id="78875" name="Rectangle 27"/>
          <p:cNvSpPr>
            <a:spLocks noChangeArrowheads="1"/>
          </p:cNvSpPr>
          <p:nvPr/>
        </p:nvSpPr>
        <p:spPr bwMode="auto">
          <a:xfrm rot="-5400000">
            <a:off x="6274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8876" name="Text Box 28"/>
          <p:cNvSpPr txBox="1">
            <a:spLocks noChangeArrowheads="1"/>
          </p:cNvSpPr>
          <p:nvPr/>
        </p:nvSpPr>
        <p:spPr bwMode="auto">
          <a:xfrm>
            <a:off x="6307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7</a:t>
            </a:r>
          </a:p>
        </p:txBody>
      </p:sp>
      <p:sp>
        <p:nvSpPr>
          <p:cNvPr id="78877" name="Rectangle 29"/>
          <p:cNvSpPr>
            <a:spLocks noChangeArrowheads="1"/>
          </p:cNvSpPr>
          <p:nvPr/>
        </p:nvSpPr>
        <p:spPr bwMode="auto">
          <a:xfrm rot="-5400000">
            <a:off x="6780213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8878" name="Text Box 30"/>
          <p:cNvSpPr txBox="1">
            <a:spLocks noChangeArrowheads="1"/>
          </p:cNvSpPr>
          <p:nvPr/>
        </p:nvSpPr>
        <p:spPr bwMode="auto">
          <a:xfrm>
            <a:off x="6811963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18</a:t>
            </a:r>
          </a:p>
        </p:txBody>
      </p:sp>
      <p:sp>
        <p:nvSpPr>
          <p:cNvPr id="78879" name="Rectangle 31"/>
          <p:cNvSpPr>
            <a:spLocks noChangeArrowheads="1"/>
          </p:cNvSpPr>
          <p:nvPr/>
        </p:nvSpPr>
        <p:spPr bwMode="auto">
          <a:xfrm rot="-5400000">
            <a:off x="72874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8880" name="Text Box 32"/>
          <p:cNvSpPr txBox="1">
            <a:spLocks noChangeArrowheads="1"/>
          </p:cNvSpPr>
          <p:nvPr/>
        </p:nvSpPr>
        <p:spPr bwMode="auto">
          <a:xfrm>
            <a:off x="73199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17</a:t>
            </a:r>
          </a:p>
        </p:txBody>
      </p:sp>
      <p:sp>
        <p:nvSpPr>
          <p:cNvPr id="78881" name="Rectangle 33"/>
          <p:cNvSpPr>
            <a:spLocks noChangeArrowheads="1"/>
          </p:cNvSpPr>
          <p:nvPr/>
        </p:nvSpPr>
        <p:spPr bwMode="auto">
          <a:xfrm rot="-5400000">
            <a:off x="779303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8882" name="Text Box 34"/>
          <p:cNvSpPr txBox="1">
            <a:spLocks noChangeArrowheads="1"/>
          </p:cNvSpPr>
          <p:nvPr/>
        </p:nvSpPr>
        <p:spPr bwMode="auto">
          <a:xfrm>
            <a:off x="782478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11</a:t>
            </a:r>
          </a:p>
        </p:txBody>
      </p:sp>
      <p:sp>
        <p:nvSpPr>
          <p:cNvPr id="78883" name="Rectangle 35"/>
          <p:cNvSpPr>
            <a:spLocks noChangeArrowheads="1"/>
          </p:cNvSpPr>
          <p:nvPr/>
        </p:nvSpPr>
        <p:spPr bwMode="auto">
          <a:xfrm rot="-5400000">
            <a:off x="830024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8884" name="Text Box 36"/>
          <p:cNvSpPr txBox="1">
            <a:spLocks noChangeArrowheads="1"/>
          </p:cNvSpPr>
          <p:nvPr/>
        </p:nvSpPr>
        <p:spPr bwMode="auto">
          <a:xfrm>
            <a:off x="8332788" y="2212975"/>
            <a:ext cx="582612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9</a:t>
            </a:r>
          </a:p>
        </p:txBody>
      </p:sp>
      <p:sp>
        <p:nvSpPr>
          <p:cNvPr id="78885" name="Text Box 38"/>
          <p:cNvSpPr txBox="1">
            <a:spLocks noChangeArrowheads="1"/>
          </p:cNvSpPr>
          <p:nvPr/>
        </p:nvSpPr>
        <p:spPr bwMode="auto">
          <a:xfrm>
            <a:off x="1066800" y="3581400"/>
            <a:ext cx="7010400" cy="22923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So now, this is our heap.  It has no linked nodes, so it is much easier to work with.</a:t>
            </a:r>
          </a:p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Let’s </a:t>
            </a:r>
            <a:r>
              <a:rPr lang="en-US" altLang="en-US" sz="2400" b="1" u="sng">
                <a:solidFill>
                  <a:srgbClr val="FF3300"/>
                </a:solidFill>
              </a:rPr>
              <a:t>dequeue</a:t>
            </a:r>
            <a:r>
              <a:rPr lang="en-US" altLang="en-US" sz="2400" b="1">
                <a:solidFill>
                  <a:srgbClr val="FF3300"/>
                </a:solidFill>
              </a:rPr>
              <a:t> an element.</a:t>
            </a:r>
          </a:p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The highest value is stored in the root node (index 0).</a:t>
            </a:r>
          </a:p>
        </p:txBody>
      </p:sp>
      <p:sp>
        <p:nvSpPr>
          <p:cNvPr id="78886" name="Text Box 41"/>
          <p:cNvSpPr txBox="1">
            <a:spLocks noChangeArrowheads="1"/>
          </p:cNvSpPr>
          <p:nvPr/>
        </p:nvSpPr>
        <p:spPr bwMode="auto">
          <a:xfrm>
            <a:off x="228600" y="2820988"/>
            <a:ext cx="8763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0   1    2    3    4     5    6    7    8    9   10  11  12  13  14  15  16</a:t>
            </a:r>
          </a:p>
        </p:txBody>
      </p:sp>
      <p:sp>
        <p:nvSpPr>
          <p:cNvPr id="78887" name="Rectangle 4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Array Implementation of Heap (cont.)</a:t>
            </a: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F98D8143-7C70-40A6-BD99-3ACECB4A3FB4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79</a:t>
            </a:fld>
            <a:endParaRPr lang="en-US" altLang="en-US" sz="1400"/>
          </a:p>
        </p:txBody>
      </p:sp>
      <p:sp>
        <p:nvSpPr>
          <p:cNvPr id="79875" name="Rectangle 2"/>
          <p:cNvSpPr>
            <a:spLocks noChangeArrowheads="1"/>
          </p:cNvSpPr>
          <p:nvPr/>
        </p:nvSpPr>
        <p:spPr bwMode="auto">
          <a:xfrm rot="-5400000">
            <a:off x="196057" y="2166143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9876" name="Text Box 3"/>
          <p:cNvSpPr txBox="1">
            <a:spLocks noChangeArrowheads="1"/>
          </p:cNvSpPr>
          <p:nvPr/>
        </p:nvSpPr>
        <p:spPr bwMode="auto">
          <a:xfrm>
            <a:off x="228600" y="2211388"/>
            <a:ext cx="952500" cy="506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46</a:t>
            </a:r>
          </a:p>
        </p:txBody>
      </p:sp>
      <p:sp>
        <p:nvSpPr>
          <p:cNvPr id="79877" name="Rectangle 4"/>
          <p:cNvSpPr>
            <a:spLocks noChangeArrowheads="1"/>
          </p:cNvSpPr>
          <p:nvPr/>
        </p:nvSpPr>
        <p:spPr bwMode="auto">
          <a:xfrm rot="-5400000">
            <a:off x="702469" y="2166144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9878" name="Text Box 5"/>
          <p:cNvSpPr txBox="1">
            <a:spLocks noChangeArrowheads="1"/>
          </p:cNvSpPr>
          <p:nvPr/>
        </p:nvSpPr>
        <p:spPr bwMode="auto">
          <a:xfrm>
            <a:off x="735013" y="2211388"/>
            <a:ext cx="952500" cy="506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39</a:t>
            </a:r>
          </a:p>
        </p:txBody>
      </p:sp>
      <p:sp>
        <p:nvSpPr>
          <p:cNvPr id="79879" name="Rectangle 6"/>
          <p:cNvSpPr>
            <a:spLocks noChangeArrowheads="1"/>
          </p:cNvSpPr>
          <p:nvPr/>
        </p:nvSpPr>
        <p:spPr bwMode="auto">
          <a:xfrm rot="-5400000">
            <a:off x="12072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9880" name="Text Box 7"/>
          <p:cNvSpPr txBox="1">
            <a:spLocks noChangeArrowheads="1"/>
          </p:cNvSpPr>
          <p:nvPr/>
        </p:nvSpPr>
        <p:spPr bwMode="auto">
          <a:xfrm>
            <a:off x="12398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28</a:t>
            </a:r>
          </a:p>
        </p:txBody>
      </p:sp>
      <p:sp>
        <p:nvSpPr>
          <p:cNvPr id="79881" name="Rectangle 8"/>
          <p:cNvSpPr>
            <a:spLocks noChangeArrowheads="1"/>
          </p:cNvSpPr>
          <p:nvPr/>
        </p:nvSpPr>
        <p:spPr bwMode="auto">
          <a:xfrm rot="-5400000">
            <a:off x="1714500" y="2166938"/>
            <a:ext cx="571500" cy="508000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9882" name="Text Box 9"/>
          <p:cNvSpPr txBox="1">
            <a:spLocks noChangeArrowheads="1"/>
          </p:cNvSpPr>
          <p:nvPr/>
        </p:nvSpPr>
        <p:spPr bwMode="auto">
          <a:xfrm>
            <a:off x="1746250" y="2212975"/>
            <a:ext cx="9525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16</a:t>
            </a:r>
          </a:p>
        </p:txBody>
      </p:sp>
      <p:sp>
        <p:nvSpPr>
          <p:cNvPr id="79883" name="Rectangle 10"/>
          <p:cNvSpPr>
            <a:spLocks noChangeArrowheads="1"/>
          </p:cNvSpPr>
          <p:nvPr/>
        </p:nvSpPr>
        <p:spPr bwMode="auto">
          <a:xfrm rot="-5400000">
            <a:off x="2221707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9884" name="Text Box 11"/>
          <p:cNvSpPr txBox="1">
            <a:spLocks noChangeArrowheads="1"/>
          </p:cNvSpPr>
          <p:nvPr/>
        </p:nvSpPr>
        <p:spPr bwMode="auto">
          <a:xfrm>
            <a:off x="2254250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32</a:t>
            </a:r>
          </a:p>
        </p:txBody>
      </p:sp>
      <p:sp>
        <p:nvSpPr>
          <p:cNvPr id="79885" name="Rectangle 12"/>
          <p:cNvSpPr>
            <a:spLocks noChangeArrowheads="1"/>
          </p:cNvSpPr>
          <p:nvPr/>
        </p:nvSpPr>
        <p:spPr bwMode="auto">
          <a:xfrm rot="-5400000">
            <a:off x="27281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9886" name="Text Box 13"/>
          <p:cNvSpPr txBox="1">
            <a:spLocks noChangeArrowheads="1"/>
          </p:cNvSpPr>
          <p:nvPr/>
        </p:nvSpPr>
        <p:spPr bwMode="auto">
          <a:xfrm>
            <a:off x="27606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24</a:t>
            </a:r>
          </a:p>
        </p:txBody>
      </p:sp>
      <p:sp>
        <p:nvSpPr>
          <p:cNvPr id="79887" name="Rectangle 14"/>
          <p:cNvSpPr>
            <a:spLocks noChangeArrowheads="1"/>
          </p:cNvSpPr>
          <p:nvPr/>
        </p:nvSpPr>
        <p:spPr bwMode="auto">
          <a:xfrm rot="-5400000">
            <a:off x="323453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9888" name="Text Box 15"/>
          <p:cNvSpPr txBox="1">
            <a:spLocks noChangeArrowheads="1"/>
          </p:cNvSpPr>
          <p:nvPr/>
        </p:nvSpPr>
        <p:spPr bwMode="auto">
          <a:xfrm>
            <a:off x="326707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25</a:t>
            </a:r>
          </a:p>
        </p:txBody>
      </p:sp>
      <p:sp>
        <p:nvSpPr>
          <p:cNvPr id="79889" name="Rectangle 16"/>
          <p:cNvSpPr>
            <a:spLocks noChangeArrowheads="1"/>
          </p:cNvSpPr>
          <p:nvPr/>
        </p:nvSpPr>
        <p:spPr bwMode="auto">
          <a:xfrm rot="-5400000">
            <a:off x="3739357" y="2169319"/>
            <a:ext cx="571500" cy="503237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9890" name="Text Box 17"/>
          <p:cNvSpPr txBox="1">
            <a:spLocks noChangeArrowheads="1"/>
          </p:cNvSpPr>
          <p:nvPr/>
        </p:nvSpPr>
        <p:spPr bwMode="auto">
          <a:xfrm>
            <a:off x="3771900" y="2214563"/>
            <a:ext cx="952500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14</a:t>
            </a:r>
          </a:p>
        </p:txBody>
      </p:sp>
      <p:sp>
        <p:nvSpPr>
          <p:cNvPr id="79891" name="Rectangle 18"/>
          <p:cNvSpPr>
            <a:spLocks noChangeArrowheads="1"/>
          </p:cNvSpPr>
          <p:nvPr/>
        </p:nvSpPr>
        <p:spPr bwMode="auto">
          <a:xfrm rot="-5400000">
            <a:off x="424418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9892" name="Text Box 19"/>
          <p:cNvSpPr txBox="1">
            <a:spLocks noChangeArrowheads="1"/>
          </p:cNvSpPr>
          <p:nvPr/>
        </p:nvSpPr>
        <p:spPr bwMode="auto">
          <a:xfrm>
            <a:off x="427672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</a:t>
            </a:r>
          </a:p>
        </p:txBody>
      </p:sp>
      <p:sp>
        <p:nvSpPr>
          <p:cNvPr id="79893" name="Rectangle 20"/>
          <p:cNvSpPr>
            <a:spLocks noChangeArrowheads="1"/>
          </p:cNvSpPr>
          <p:nvPr/>
        </p:nvSpPr>
        <p:spPr bwMode="auto">
          <a:xfrm rot="-5400000">
            <a:off x="4750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9894" name="Text Box 21"/>
          <p:cNvSpPr txBox="1">
            <a:spLocks noChangeArrowheads="1"/>
          </p:cNvSpPr>
          <p:nvPr/>
        </p:nvSpPr>
        <p:spPr bwMode="auto">
          <a:xfrm>
            <a:off x="4783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29</a:t>
            </a:r>
          </a:p>
        </p:txBody>
      </p:sp>
      <p:sp>
        <p:nvSpPr>
          <p:cNvPr id="79895" name="Rectangle 22"/>
          <p:cNvSpPr>
            <a:spLocks noChangeArrowheads="1"/>
          </p:cNvSpPr>
          <p:nvPr/>
        </p:nvSpPr>
        <p:spPr bwMode="auto">
          <a:xfrm rot="-5400000">
            <a:off x="526176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9896" name="Text Box 23"/>
          <p:cNvSpPr txBox="1">
            <a:spLocks noChangeArrowheads="1"/>
          </p:cNvSpPr>
          <p:nvPr/>
        </p:nvSpPr>
        <p:spPr bwMode="auto">
          <a:xfrm>
            <a:off x="529431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15</a:t>
            </a:r>
          </a:p>
        </p:txBody>
      </p:sp>
      <p:sp>
        <p:nvSpPr>
          <p:cNvPr id="79897" name="Rectangle 24"/>
          <p:cNvSpPr>
            <a:spLocks noChangeArrowheads="1"/>
          </p:cNvSpPr>
          <p:nvPr/>
        </p:nvSpPr>
        <p:spPr bwMode="auto">
          <a:xfrm rot="-5400000">
            <a:off x="576738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9898" name="Text Box 25"/>
          <p:cNvSpPr txBox="1">
            <a:spLocks noChangeArrowheads="1"/>
          </p:cNvSpPr>
          <p:nvPr/>
        </p:nvSpPr>
        <p:spPr bwMode="auto">
          <a:xfrm>
            <a:off x="579913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5</a:t>
            </a:r>
          </a:p>
        </p:txBody>
      </p:sp>
      <p:sp>
        <p:nvSpPr>
          <p:cNvPr id="79899" name="Rectangle 26"/>
          <p:cNvSpPr>
            <a:spLocks noChangeArrowheads="1"/>
          </p:cNvSpPr>
          <p:nvPr/>
        </p:nvSpPr>
        <p:spPr bwMode="auto">
          <a:xfrm rot="-5400000">
            <a:off x="6274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9900" name="Text Box 27"/>
          <p:cNvSpPr txBox="1">
            <a:spLocks noChangeArrowheads="1"/>
          </p:cNvSpPr>
          <p:nvPr/>
        </p:nvSpPr>
        <p:spPr bwMode="auto">
          <a:xfrm>
            <a:off x="6307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7</a:t>
            </a:r>
          </a:p>
        </p:txBody>
      </p:sp>
      <p:sp>
        <p:nvSpPr>
          <p:cNvPr id="79901" name="Rectangle 28"/>
          <p:cNvSpPr>
            <a:spLocks noChangeArrowheads="1"/>
          </p:cNvSpPr>
          <p:nvPr/>
        </p:nvSpPr>
        <p:spPr bwMode="auto">
          <a:xfrm rot="-5400000">
            <a:off x="6780213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9902" name="Text Box 29"/>
          <p:cNvSpPr txBox="1">
            <a:spLocks noChangeArrowheads="1"/>
          </p:cNvSpPr>
          <p:nvPr/>
        </p:nvSpPr>
        <p:spPr bwMode="auto">
          <a:xfrm>
            <a:off x="6811963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18</a:t>
            </a:r>
          </a:p>
        </p:txBody>
      </p:sp>
      <p:sp>
        <p:nvSpPr>
          <p:cNvPr id="79903" name="Rectangle 30"/>
          <p:cNvSpPr>
            <a:spLocks noChangeArrowheads="1"/>
          </p:cNvSpPr>
          <p:nvPr/>
        </p:nvSpPr>
        <p:spPr bwMode="auto">
          <a:xfrm rot="-5400000">
            <a:off x="72874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9904" name="Text Box 31"/>
          <p:cNvSpPr txBox="1">
            <a:spLocks noChangeArrowheads="1"/>
          </p:cNvSpPr>
          <p:nvPr/>
        </p:nvSpPr>
        <p:spPr bwMode="auto">
          <a:xfrm>
            <a:off x="73199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17</a:t>
            </a:r>
          </a:p>
        </p:txBody>
      </p:sp>
      <p:sp>
        <p:nvSpPr>
          <p:cNvPr id="79905" name="Rectangle 32"/>
          <p:cNvSpPr>
            <a:spLocks noChangeArrowheads="1"/>
          </p:cNvSpPr>
          <p:nvPr/>
        </p:nvSpPr>
        <p:spPr bwMode="auto">
          <a:xfrm rot="-5400000">
            <a:off x="779303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9906" name="Text Box 33"/>
          <p:cNvSpPr txBox="1">
            <a:spLocks noChangeArrowheads="1"/>
          </p:cNvSpPr>
          <p:nvPr/>
        </p:nvSpPr>
        <p:spPr bwMode="auto">
          <a:xfrm>
            <a:off x="782478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11</a:t>
            </a:r>
          </a:p>
        </p:txBody>
      </p:sp>
      <p:sp>
        <p:nvSpPr>
          <p:cNvPr id="79907" name="Rectangle 34"/>
          <p:cNvSpPr>
            <a:spLocks noChangeArrowheads="1"/>
          </p:cNvSpPr>
          <p:nvPr/>
        </p:nvSpPr>
        <p:spPr bwMode="auto">
          <a:xfrm rot="-5400000">
            <a:off x="830024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79908" name="Text Box 35"/>
          <p:cNvSpPr txBox="1">
            <a:spLocks noChangeArrowheads="1"/>
          </p:cNvSpPr>
          <p:nvPr/>
        </p:nvSpPr>
        <p:spPr bwMode="auto">
          <a:xfrm>
            <a:off x="8332788" y="2212975"/>
            <a:ext cx="582612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9</a:t>
            </a:r>
          </a:p>
        </p:txBody>
      </p:sp>
      <p:sp>
        <p:nvSpPr>
          <p:cNvPr id="79909" name="Text Box 36"/>
          <p:cNvSpPr txBox="1">
            <a:spLocks noChangeArrowheads="1"/>
          </p:cNvSpPr>
          <p:nvPr/>
        </p:nvSpPr>
        <p:spPr bwMode="auto">
          <a:xfrm>
            <a:off x="228600" y="2820988"/>
            <a:ext cx="8763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0   1    2    3    4     5    6    7    8    9   10  11  12  13  14  15  16</a:t>
            </a:r>
          </a:p>
        </p:txBody>
      </p:sp>
      <p:sp>
        <p:nvSpPr>
          <p:cNvPr id="79910" name="Rectangle 37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/>
              <a:t>Array Implementation of Heap</a:t>
            </a:r>
            <a:br>
              <a:rPr lang="en-US" altLang="en-US" sz="4000"/>
            </a:br>
            <a:r>
              <a:rPr lang="en-US" altLang="en-US" sz="4000"/>
              <a:t>(cont.)</a:t>
            </a:r>
          </a:p>
        </p:txBody>
      </p:sp>
      <p:sp>
        <p:nvSpPr>
          <p:cNvPr id="79911" name="Text Box 38"/>
          <p:cNvSpPr txBox="1">
            <a:spLocks noChangeArrowheads="1"/>
          </p:cNvSpPr>
          <p:nvPr/>
        </p:nvSpPr>
        <p:spPr bwMode="auto">
          <a:xfrm>
            <a:off x="152400" y="3886200"/>
            <a:ext cx="2667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79912" name="Text Box 40"/>
          <p:cNvSpPr txBox="1">
            <a:spLocks noChangeArrowheads="1"/>
          </p:cNvSpPr>
          <p:nvPr/>
        </p:nvSpPr>
        <p:spPr bwMode="auto">
          <a:xfrm>
            <a:off x="2971800" y="3581400"/>
            <a:ext cx="5334000" cy="2109788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Now we need to move the object at the last node to the root node</a:t>
            </a:r>
          </a:p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We need to keep track of the object in the last position of the heap using a heapsize variable</a:t>
            </a:r>
          </a:p>
        </p:txBody>
      </p:sp>
      <p:sp>
        <p:nvSpPr>
          <p:cNvPr id="79913" name="Line 40"/>
          <p:cNvSpPr>
            <a:spLocks noChangeShapeType="1"/>
          </p:cNvSpPr>
          <p:nvPr/>
        </p:nvSpPr>
        <p:spPr bwMode="auto">
          <a:xfrm>
            <a:off x="533400" y="2590800"/>
            <a:ext cx="1752600" cy="1295400"/>
          </a:xfrm>
          <a:prstGeom prst="line">
            <a:avLst/>
          </a:prstGeom>
          <a:noFill/>
          <a:ln w="57150">
            <a:solidFill>
              <a:schemeClr val="hlink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36B5D796-4F03-40C3-9AB4-054BCF14B544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80</a:t>
            </a:fld>
            <a:endParaRPr lang="en-US" altLang="en-US" sz="1400"/>
          </a:p>
        </p:txBody>
      </p:sp>
      <p:sp>
        <p:nvSpPr>
          <p:cNvPr id="80899" name="Rectangle 2"/>
          <p:cNvSpPr>
            <a:spLocks noChangeArrowheads="1"/>
          </p:cNvSpPr>
          <p:nvPr/>
        </p:nvSpPr>
        <p:spPr bwMode="auto">
          <a:xfrm rot="-5400000">
            <a:off x="196057" y="2166143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0900" name="Text Box 3"/>
          <p:cNvSpPr txBox="1">
            <a:spLocks noChangeArrowheads="1"/>
          </p:cNvSpPr>
          <p:nvPr/>
        </p:nvSpPr>
        <p:spPr bwMode="auto">
          <a:xfrm>
            <a:off x="228600" y="2211388"/>
            <a:ext cx="952500" cy="506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46</a:t>
            </a:r>
          </a:p>
        </p:txBody>
      </p:sp>
      <p:sp>
        <p:nvSpPr>
          <p:cNvPr id="80901" name="Rectangle 4"/>
          <p:cNvSpPr>
            <a:spLocks noChangeArrowheads="1"/>
          </p:cNvSpPr>
          <p:nvPr/>
        </p:nvSpPr>
        <p:spPr bwMode="auto">
          <a:xfrm rot="-5400000">
            <a:off x="702469" y="2166144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0902" name="Text Box 5"/>
          <p:cNvSpPr txBox="1">
            <a:spLocks noChangeArrowheads="1"/>
          </p:cNvSpPr>
          <p:nvPr/>
        </p:nvSpPr>
        <p:spPr bwMode="auto">
          <a:xfrm>
            <a:off x="735013" y="2211388"/>
            <a:ext cx="952500" cy="506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39</a:t>
            </a:r>
          </a:p>
        </p:txBody>
      </p:sp>
      <p:sp>
        <p:nvSpPr>
          <p:cNvPr id="80903" name="Rectangle 6"/>
          <p:cNvSpPr>
            <a:spLocks noChangeArrowheads="1"/>
          </p:cNvSpPr>
          <p:nvPr/>
        </p:nvSpPr>
        <p:spPr bwMode="auto">
          <a:xfrm rot="-5400000">
            <a:off x="12072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0904" name="Text Box 7"/>
          <p:cNvSpPr txBox="1">
            <a:spLocks noChangeArrowheads="1"/>
          </p:cNvSpPr>
          <p:nvPr/>
        </p:nvSpPr>
        <p:spPr bwMode="auto">
          <a:xfrm>
            <a:off x="12398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28</a:t>
            </a:r>
          </a:p>
        </p:txBody>
      </p:sp>
      <p:sp>
        <p:nvSpPr>
          <p:cNvPr id="80905" name="Rectangle 8"/>
          <p:cNvSpPr>
            <a:spLocks noChangeArrowheads="1"/>
          </p:cNvSpPr>
          <p:nvPr/>
        </p:nvSpPr>
        <p:spPr bwMode="auto">
          <a:xfrm rot="-5400000">
            <a:off x="1714500" y="2166938"/>
            <a:ext cx="571500" cy="508000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0906" name="Text Box 9"/>
          <p:cNvSpPr txBox="1">
            <a:spLocks noChangeArrowheads="1"/>
          </p:cNvSpPr>
          <p:nvPr/>
        </p:nvSpPr>
        <p:spPr bwMode="auto">
          <a:xfrm>
            <a:off x="1746250" y="2212975"/>
            <a:ext cx="9525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16</a:t>
            </a:r>
          </a:p>
        </p:txBody>
      </p:sp>
      <p:sp>
        <p:nvSpPr>
          <p:cNvPr id="80907" name="Rectangle 10"/>
          <p:cNvSpPr>
            <a:spLocks noChangeArrowheads="1"/>
          </p:cNvSpPr>
          <p:nvPr/>
        </p:nvSpPr>
        <p:spPr bwMode="auto">
          <a:xfrm rot="-5400000">
            <a:off x="2221707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0908" name="Text Box 11"/>
          <p:cNvSpPr txBox="1">
            <a:spLocks noChangeArrowheads="1"/>
          </p:cNvSpPr>
          <p:nvPr/>
        </p:nvSpPr>
        <p:spPr bwMode="auto">
          <a:xfrm>
            <a:off x="2254250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32</a:t>
            </a:r>
          </a:p>
        </p:txBody>
      </p:sp>
      <p:sp>
        <p:nvSpPr>
          <p:cNvPr id="80909" name="Rectangle 12"/>
          <p:cNvSpPr>
            <a:spLocks noChangeArrowheads="1"/>
          </p:cNvSpPr>
          <p:nvPr/>
        </p:nvSpPr>
        <p:spPr bwMode="auto">
          <a:xfrm rot="-5400000">
            <a:off x="27281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0910" name="Text Box 13"/>
          <p:cNvSpPr txBox="1">
            <a:spLocks noChangeArrowheads="1"/>
          </p:cNvSpPr>
          <p:nvPr/>
        </p:nvSpPr>
        <p:spPr bwMode="auto">
          <a:xfrm>
            <a:off x="27606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24</a:t>
            </a:r>
          </a:p>
        </p:txBody>
      </p:sp>
      <p:sp>
        <p:nvSpPr>
          <p:cNvPr id="80911" name="Rectangle 14"/>
          <p:cNvSpPr>
            <a:spLocks noChangeArrowheads="1"/>
          </p:cNvSpPr>
          <p:nvPr/>
        </p:nvSpPr>
        <p:spPr bwMode="auto">
          <a:xfrm rot="-5400000">
            <a:off x="323453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0912" name="Text Box 15"/>
          <p:cNvSpPr txBox="1">
            <a:spLocks noChangeArrowheads="1"/>
          </p:cNvSpPr>
          <p:nvPr/>
        </p:nvSpPr>
        <p:spPr bwMode="auto">
          <a:xfrm>
            <a:off x="326707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25</a:t>
            </a:r>
          </a:p>
        </p:txBody>
      </p:sp>
      <p:sp>
        <p:nvSpPr>
          <p:cNvPr id="80913" name="Rectangle 16"/>
          <p:cNvSpPr>
            <a:spLocks noChangeArrowheads="1"/>
          </p:cNvSpPr>
          <p:nvPr/>
        </p:nvSpPr>
        <p:spPr bwMode="auto">
          <a:xfrm rot="-5400000">
            <a:off x="3739357" y="2169319"/>
            <a:ext cx="571500" cy="503237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0914" name="Text Box 17"/>
          <p:cNvSpPr txBox="1">
            <a:spLocks noChangeArrowheads="1"/>
          </p:cNvSpPr>
          <p:nvPr/>
        </p:nvSpPr>
        <p:spPr bwMode="auto">
          <a:xfrm>
            <a:off x="3771900" y="2214563"/>
            <a:ext cx="952500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14</a:t>
            </a:r>
          </a:p>
        </p:txBody>
      </p:sp>
      <p:sp>
        <p:nvSpPr>
          <p:cNvPr id="80915" name="Rectangle 18"/>
          <p:cNvSpPr>
            <a:spLocks noChangeArrowheads="1"/>
          </p:cNvSpPr>
          <p:nvPr/>
        </p:nvSpPr>
        <p:spPr bwMode="auto">
          <a:xfrm rot="-5400000">
            <a:off x="424418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0916" name="Text Box 19"/>
          <p:cNvSpPr txBox="1">
            <a:spLocks noChangeArrowheads="1"/>
          </p:cNvSpPr>
          <p:nvPr/>
        </p:nvSpPr>
        <p:spPr bwMode="auto">
          <a:xfrm>
            <a:off x="427672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</a:t>
            </a:r>
          </a:p>
        </p:txBody>
      </p:sp>
      <p:sp>
        <p:nvSpPr>
          <p:cNvPr id="80917" name="Rectangle 20"/>
          <p:cNvSpPr>
            <a:spLocks noChangeArrowheads="1"/>
          </p:cNvSpPr>
          <p:nvPr/>
        </p:nvSpPr>
        <p:spPr bwMode="auto">
          <a:xfrm rot="-5400000">
            <a:off x="4750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0918" name="Text Box 21"/>
          <p:cNvSpPr txBox="1">
            <a:spLocks noChangeArrowheads="1"/>
          </p:cNvSpPr>
          <p:nvPr/>
        </p:nvSpPr>
        <p:spPr bwMode="auto">
          <a:xfrm>
            <a:off x="4783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29</a:t>
            </a:r>
          </a:p>
        </p:txBody>
      </p:sp>
      <p:sp>
        <p:nvSpPr>
          <p:cNvPr id="80919" name="Rectangle 22"/>
          <p:cNvSpPr>
            <a:spLocks noChangeArrowheads="1"/>
          </p:cNvSpPr>
          <p:nvPr/>
        </p:nvSpPr>
        <p:spPr bwMode="auto">
          <a:xfrm rot="-5400000">
            <a:off x="526176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0920" name="Text Box 23"/>
          <p:cNvSpPr txBox="1">
            <a:spLocks noChangeArrowheads="1"/>
          </p:cNvSpPr>
          <p:nvPr/>
        </p:nvSpPr>
        <p:spPr bwMode="auto">
          <a:xfrm>
            <a:off x="529431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15</a:t>
            </a:r>
          </a:p>
        </p:txBody>
      </p:sp>
      <p:sp>
        <p:nvSpPr>
          <p:cNvPr id="80921" name="Rectangle 24"/>
          <p:cNvSpPr>
            <a:spLocks noChangeArrowheads="1"/>
          </p:cNvSpPr>
          <p:nvPr/>
        </p:nvSpPr>
        <p:spPr bwMode="auto">
          <a:xfrm rot="-5400000">
            <a:off x="576738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0922" name="Text Box 25"/>
          <p:cNvSpPr txBox="1">
            <a:spLocks noChangeArrowheads="1"/>
          </p:cNvSpPr>
          <p:nvPr/>
        </p:nvSpPr>
        <p:spPr bwMode="auto">
          <a:xfrm>
            <a:off x="579913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5</a:t>
            </a:r>
          </a:p>
        </p:txBody>
      </p:sp>
      <p:sp>
        <p:nvSpPr>
          <p:cNvPr id="80923" name="Rectangle 26"/>
          <p:cNvSpPr>
            <a:spLocks noChangeArrowheads="1"/>
          </p:cNvSpPr>
          <p:nvPr/>
        </p:nvSpPr>
        <p:spPr bwMode="auto">
          <a:xfrm rot="-5400000">
            <a:off x="6274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0924" name="Text Box 27"/>
          <p:cNvSpPr txBox="1">
            <a:spLocks noChangeArrowheads="1"/>
          </p:cNvSpPr>
          <p:nvPr/>
        </p:nvSpPr>
        <p:spPr bwMode="auto">
          <a:xfrm>
            <a:off x="6307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7</a:t>
            </a:r>
          </a:p>
        </p:txBody>
      </p:sp>
      <p:sp>
        <p:nvSpPr>
          <p:cNvPr id="80925" name="Rectangle 28"/>
          <p:cNvSpPr>
            <a:spLocks noChangeArrowheads="1"/>
          </p:cNvSpPr>
          <p:nvPr/>
        </p:nvSpPr>
        <p:spPr bwMode="auto">
          <a:xfrm rot="-5400000">
            <a:off x="6780213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0926" name="Text Box 29"/>
          <p:cNvSpPr txBox="1">
            <a:spLocks noChangeArrowheads="1"/>
          </p:cNvSpPr>
          <p:nvPr/>
        </p:nvSpPr>
        <p:spPr bwMode="auto">
          <a:xfrm>
            <a:off x="6811963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18</a:t>
            </a:r>
          </a:p>
        </p:txBody>
      </p:sp>
      <p:sp>
        <p:nvSpPr>
          <p:cNvPr id="80927" name="Rectangle 30"/>
          <p:cNvSpPr>
            <a:spLocks noChangeArrowheads="1"/>
          </p:cNvSpPr>
          <p:nvPr/>
        </p:nvSpPr>
        <p:spPr bwMode="auto">
          <a:xfrm rot="-5400000">
            <a:off x="72874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0928" name="Text Box 31"/>
          <p:cNvSpPr txBox="1">
            <a:spLocks noChangeArrowheads="1"/>
          </p:cNvSpPr>
          <p:nvPr/>
        </p:nvSpPr>
        <p:spPr bwMode="auto">
          <a:xfrm>
            <a:off x="73199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17</a:t>
            </a:r>
          </a:p>
        </p:txBody>
      </p:sp>
      <p:sp>
        <p:nvSpPr>
          <p:cNvPr id="80929" name="Rectangle 32"/>
          <p:cNvSpPr>
            <a:spLocks noChangeArrowheads="1"/>
          </p:cNvSpPr>
          <p:nvPr/>
        </p:nvSpPr>
        <p:spPr bwMode="auto">
          <a:xfrm rot="-5400000">
            <a:off x="779303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0930" name="Text Box 33"/>
          <p:cNvSpPr txBox="1">
            <a:spLocks noChangeArrowheads="1"/>
          </p:cNvSpPr>
          <p:nvPr/>
        </p:nvSpPr>
        <p:spPr bwMode="auto">
          <a:xfrm>
            <a:off x="782478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11</a:t>
            </a:r>
          </a:p>
        </p:txBody>
      </p:sp>
      <p:sp>
        <p:nvSpPr>
          <p:cNvPr id="80931" name="Rectangle 34"/>
          <p:cNvSpPr>
            <a:spLocks noChangeArrowheads="1"/>
          </p:cNvSpPr>
          <p:nvPr/>
        </p:nvSpPr>
        <p:spPr bwMode="auto">
          <a:xfrm rot="-5400000">
            <a:off x="830024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0932" name="Text Box 35"/>
          <p:cNvSpPr txBox="1">
            <a:spLocks noChangeArrowheads="1"/>
          </p:cNvSpPr>
          <p:nvPr/>
        </p:nvSpPr>
        <p:spPr bwMode="auto">
          <a:xfrm>
            <a:off x="8332788" y="2212975"/>
            <a:ext cx="582612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9</a:t>
            </a:r>
          </a:p>
        </p:txBody>
      </p:sp>
      <p:sp>
        <p:nvSpPr>
          <p:cNvPr id="80933" name="Text Box 36"/>
          <p:cNvSpPr txBox="1">
            <a:spLocks noChangeArrowheads="1"/>
          </p:cNvSpPr>
          <p:nvPr/>
        </p:nvSpPr>
        <p:spPr bwMode="auto">
          <a:xfrm>
            <a:off x="228600" y="2820988"/>
            <a:ext cx="8763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0   1    2    3    4     5    6    7    8    9   10  11  12  13  14  15  16</a:t>
            </a:r>
          </a:p>
        </p:txBody>
      </p:sp>
      <p:sp>
        <p:nvSpPr>
          <p:cNvPr id="80934" name="Rectangle 37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/>
              <a:t>Array Implementation of Heap</a:t>
            </a:r>
            <a:br>
              <a:rPr lang="en-US" altLang="en-US" sz="4000"/>
            </a:br>
            <a:r>
              <a:rPr lang="en-US" altLang="en-US" sz="4000"/>
              <a:t>(cont.)</a:t>
            </a:r>
          </a:p>
        </p:txBody>
      </p:sp>
      <p:sp>
        <p:nvSpPr>
          <p:cNvPr id="80935" name="Text Box 38"/>
          <p:cNvSpPr txBox="1">
            <a:spLocks noChangeArrowheads="1"/>
          </p:cNvSpPr>
          <p:nvPr/>
        </p:nvSpPr>
        <p:spPr bwMode="auto">
          <a:xfrm>
            <a:off x="152400" y="3886200"/>
            <a:ext cx="2667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80936" name="Text Box 39"/>
          <p:cNvSpPr txBox="1">
            <a:spLocks noChangeArrowheads="1"/>
          </p:cNvSpPr>
          <p:nvPr/>
        </p:nvSpPr>
        <p:spPr bwMode="auto">
          <a:xfrm>
            <a:off x="2971800" y="3581400"/>
            <a:ext cx="5334000" cy="2109788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Now we need to move the object at the last node to the root node</a:t>
            </a:r>
          </a:p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We need to keep track of the object in the last position of the heap using a heapsize variable</a:t>
            </a:r>
          </a:p>
        </p:txBody>
      </p:sp>
      <p:sp>
        <p:nvSpPr>
          <p:cNvPr id="80937" name="Text Box 40"/>
          <p:cNvSpPr txBox="1">
            <a:spLocks noChangeArrowheads="1"/>
          </p:cNvSpPr>
          <p:nvPr/>
        </p:nvSpPr>
        <p:spPr bwMode="auto">
          <a:xfrm>
            <a:off x="152400" y="44958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heapsize: 17</a:t>
            </a: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17928D67-3979-4C91-8447-E7AE6C5D9F2D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81</a:t>
            </a:fld>
            <a:endParaRPr lang="en-US" altLang="en-US" sz="1400"/>
          </a:p>
        </p:txBody>
      </p:sp>
      <p:sp>
        <p:nvSpPr>
          <p:cNvPr id="81923" name="Rectangle 2"/>
          <p:cNvSpPr>
            <a:spLocks noChangeArrowheads="1"/>
          </p:cNvSpPr>
          <p:nvPr/>
        </p:nvSpPr>
        <p:spPr bwMode="auto">
          <a:xfrm rot="-5400000">
            <a:off x="196057" y="2166143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1924" name="Text Box 3"/>
          <p:cNvSpPr txBox="1">
            <a:spLocks noChangeArrowheads="1"/>
          </p:cNvSpPr>
          <p:nvPr/>
        </p:nvSpPr>
        <p:spPr bwMode="auto">
          <a:xfrm>
            <a:off x="228600" y="2211388"/>
            <a:ext cx="952500" cy="506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46</a:t>
            </a:r>
          </a:p>
        </p:txBody>
      </p:sp>
      <p:sp>
        <p:nvSpPr>
          <p:cNvPr id="81925" name="Rectangle 4"/>
          <p:cNvSpPr>
            <a:spLocks noChangeArrowheads="1"/>
          </p:cNvSpPr>
          <p:nvPr/>
        </p:nvSpPr>
        <p:spPr bwMode="auto">
          <a:xfrm rot="-5400000">
            <a:off x="702469" y="2166144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1926" name="Text Box 5"/>
          <p:cNvSpPr txBox="1">
            <a:spLocks noChangeArrowheads="1"/>
          </p:cNvSpPr>
          <p:nvPr/>
        </p:nvSpPr>
        <p:spPr bwMode="auto">
          <a:xfrm>
            <a:off x="735013" y="2211388"/>
            <a:ext cx="952500" cy="506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39</a:t>
            </a:r>
          </a:p>
        </p:txBody>
      </p:sp>
      <p:sp>
        <p:nvSpPr>
          <p:cNvPr id="81927" name="Rectangle 6"/>
          <p:cNvSpPr>
            <a:spLocks noChangeArrowheads="1"/>
          </p:cNvSpPr>
          <p:nvPr/>
        </p:nvSpPr>
        <p:spPr bwMode="auto">
          <a:xfrm rot="-5400000">
            <a:off x="12072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1928" name="Text Box 7"/>
          <p:cNvSpPr txBox="1">
            <a:spLocks noChangeArrowheads="1"/>
          </p:cNvSpPr>
          <p:nvPr/>
        </p:nvSpPr>
        <p:spPr bwMode="auto">
          <a:xfrm>
            <a:off x="12398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28</a:t>
            </a:r>
          </a:p>
        </p:txBody>
      </p:sp>
      <p:sp>
        <p:nvSpPr>
          <p:cNvPr id="81929" name="Rectangle 8"/>
          <p:cNvSpPr>
            <a:spLocks noChangeArrowheads="1"/>
          </p:cNvSpPr>
          <p:nvPr/>
        </p:nvSpPr>
        <p:spPr bwMode="auto">
          <a:xfrm rot="-5400000">
            <a:off x="1714500" y="2166938"/>
            <a:ext cx="571500" cy="508000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1930" name="Text Box 9"/>
          <p:cNvSpPr txBox="1">
            <a:spLocks noChangeArrowheads="1"/>
          </p:cNvSpPr>
          <p:nvPr/>
        </p:nvSpPr>
        <p:spPr bwMode="auto">
          <a:xfrm>
            <a:off x="1746250" y="2212975"/>
            <a:ext cx="9525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16</a:t>
            </a:r>
          </a:p>
        </p:txBody>
      </p:sp>
      <p:sp>
        <p:nvSpPr>
          <p:cNvPr id="81931" name="Rectangle 10"/>
          <p:cNvSpPr>
            <a:spLocks noChangeArrowheads="1"/>
          </p:cNvSpPr>
          <p:nvPr/>
        </p:nvSpPr>
        <p:spPr bwMode="auto">
          <a:xfrm rot="-5400000">
            <a:off x="2221707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1932" name="Text Box 11"/>
          <p:cNvSpPr txBox="1">
            <a:spLocks noChangeArrowheads="1"/>
          </p:cNvSpPr>
          <p:nvPr/>
        </p:nvSpPr>
        <p:spPr bwMode="auto">
          <a:xfrm>
            <a:off x="2254250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32</a:t>
            </a:r>
          </a:p>
        </p:txBody>
      </p:sp>
      <p:sp>
        <p:nvSpPr>
          <p:cNvPr id="81933" name="Rectangle 12"/>
          <p:cNvSpPr>
            <a:spLocks noChangeArrowheads="1"/>
          </p:cNvSpPr>
          <p:nvPr/>
        </p:nvSpPr>
        <p:spPr bwMode="auto">
          <a:xfrm rot="-5400000">
            <a:off x="27281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1934" name="Text Box 13"/>
          <p:cNvSpPr txBox="1">
            <a:spLocks noChangeArrowheads="1"/>
          </p:cNvSpPr>
          <p:nvPr/>
        </p:nvSpPr>
        <p:spPr bwMode="auto">
          <a:xfrm>
            <a:off x="27606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24</a:t>
            </a:r>
          </a:p>
        </p:txBody>
      </p:sp>
      <p:sp>
        <p:nvSpPr>
          <p:cNvPr id="81935" name="Rectangle 14"/>
          <p:cNvSpPr>
            <a:spLocks noChangeArrowheads="1"/>
          </p:cNvSpPr>
          <p:nvPr/>
        </p:nvSpPr>
        <p:spPr bwMode="auto">
          <a:xfrm rot="-5400000">
            <a:off x="323453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1936" name="Text Box 15"/>
          <p:cNvSpPr txBox="1">
            <a:spLocks noChangeArrowheads="1"/>
          </p:cNvSpPr>
          <p:nvPr/>
        </p:nvSpPr>
        <p:spPr bwMode="auto">
          <a:xfrm>
            <a:off x="326707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25</a:t>
            </a:r>
          </a:p>
        </p:txBody>
      </p:sp>
      <p:sp>
        <p:nvSpPr>
          <p:cNvPr id="81937" name="Rectangle 16"/>
          <p:cNvSpPr>
            <a:spLocks noChangeArrowheads="1"/>
          </p:cNvSpPr>
          <p:nvPr/>
        </p:nvSpPr>
        <p:spPr bwMode="auto">
          <a:xfrm rot="-5400000">
            <a:off x="3739357" y="2169319"/>
            <a:ext cx="571500" cy="503237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1938" name="Text Box 17"/>
          <p:cNvSpPr txBox="1">
            <a:spLocks noChangeArrowheads="1"/>
          </p:cNvSpPr>
          <p:nvPr/>
        </p:nvSpPr>
        <p:spPr bwMode="auto">
          <a:xfrm>
            <a:off x="3771900" y="2214563"/>
            <a:ext cx="952500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14</a:t>
            </a:r>
          </a:p>
        </p:txBody>
      </p:sp>
      <p:sp>
        <p:nvSpPr>
          <p:cNvPr id="81939" name="Rectangle 18"/>
          <p:cNvSpPr>
            <a:spLocks noChangeArrowheads="1"/>
          </p:cNvSpPr>
          <p:nvPr/>
        </p:nvSpPr>
        <p:spPr bwMode="auto">
          <a:xfrm rot="-5400000">
            <a:off x="424418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1940" name="Text Box 19"/>
          <p:cNvSpPr txBox="1">
            <a:spLocks noChangeArrowheads="1"/>
          </p:cNvSpPr>
          <p:nvPr/>
        </p:nvSpPr>
        <p:spPr bwMode="auto">
          <a:xfrm>
            <a:off x="427672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</a:t>
            </a:r>
          </a:p>
        </p:txBody>
      </p:sp>
      <p:sp>
        <p:nvSpPr>
          <p:cNvPr id="81941" name="Rectangle 20"/>
          <p:cNvSpPr>
            <a:spLocks noChangeArrowheads="1"/>
          </p:cNvSpPr>
          <p:nvPr/>
        </p:nvSpPr>
        <p:spPr bwMode="auto">
          <a:xfrm rot="-5400000">
            <a:off x="4750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1942" name="Text Box 21"/>
          <p:cNvSpPr txBox="1">
            <a:spLocks noChangeArrowheads="1"/>
          </p:cNvSpPr>
          <p:nvPr/>
        </p:nvSpPr>
        <p:spPr bwMode="auto">
          <a:xfrm>
            <a:off x="4783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29</a:t>
            </a:r>
          </a:p>
        </p:txBody>
      </p:sp>
      <p:sp>
        <p:nvSpPr>
          <p:cNvPr id="81943" name="Rectangle 22"/>
          <p:cNvSpPr>
            <a:spLocks noChangeArrowheads="1"/>
          </p:cNvSpPr>
          <p:nvPr/>
        </p:nvSpPr>
        <p:spPr bwMode="auto">
          <a:xfrm rot="-5400000">
            <a:off x="526176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1944" name="Text Box 23"/>
          <p:cNvSpPr txBox="1">
            <a:spLocks noChangeArrowheads="1"/>
          </p:cNvSpPr>
          <p:nvPr/>
        </p:nvSpPr>
        <p:spPr bwMode="auto">
          <a:xfrm>
            <a:off x="529431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15</a:t>
            </a:r>
          </a:p>
        </p:txBody>
      </p:sp>
      <p:sp>
        <p:nvSpPr>
          <p:cNvPr id="81945" name="Rectangle 24"/>
          <p:cNvSpPr>
            <a:spLocks noChangeArrowheads="1"/>
          </p:cNvSpPr>
          <p:nvPr/>
        </p:nvSpPr>
        <p:spPr bwMode="auto">
          <a:xfrm rot="-5400000">
            <a:off x="576738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1946" name="Text Box 25"/>
          <p:cNvSpPr txBox="1">
            <a:spLocks noChangeArrowheads="1"/>
          </p:cNvSpPr>
          <p:nvPr/>
        </p:nvSpPr>
        <p:spPr bwMode="auto">
          <a:xfrm>
            <a:off x="579913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5</a:t>
            </a:r>
          </a:p>
        </p:txBody>
      </p:sp>
      <p:sp>
        <p:nvSpPr>
          <p:cNvPr id="81947" name="Rectangle 26"/>
          <p:cNvSpPr>
            <a:spLocks noChangeArrowheads="1"/>
          </p:cNvSpPr>
          <p:nvPr/>
        </p:nvSpPr>
        <p:spPr bwMode="auto">
          <a:xfrm rot="-5400000">
            <a:off x="6274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1948" name="Text Box 27"/>
          <p:cNvSpPr txBox="1">
            <a:spLocks noChangeArrowheads="1"/>
          </p:cNvSpPr>
          <p:nvPr/>
        </p:nvSpPr>
        <p:spPr bwMode="auto">
          <a:xfrm>
            <a:off x="6307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7</a:t>
            </a:r>
          </a:p>
        </p:txBody>
      </p:sp>
      <p:sp>
        <p:nvSpPr>
          <p:cNvPr id="81949" name="Rectangle 28"/>
          <p:cNvSpPr>
            <a:spLocks noChangeArrowheads="1"/>
          </p:cNvSpPr>
          <p:nvPr/>
        </p:nvSpPr>
        <p:spPr bwMode="auto">
          <a:xfrm rot="-5400000">
            <a:off x="6780213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1950" name="Text Box 29"/>
          <p:cNvSpPr txBox="1">
            <a:spLocks noChangeArrowheads="1"/>
          </p:cNvSpPr>
          <p:nvPr/>
        </p:nvSpPr>
        <p:spPr bwMode="auto">
          <a:xfrm>
            <a:off x="6811963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18</a:t>
            </a:r>
          </a:p>
        </p:txBody>
      </p:sp>
      <p:sp>
        <p:nvSpPr>
          <p:cNvPr id="81951" name="Rectangle 30"/>
          <p:cNvSpPr>
            <a:spLocks noChangeArrowheads="1"/>
          </p:cNvSpPr>
          <p:nvPr/>
        </p:nvSpPr>
        <p:spPr bwMode="auto">
          <a:xfrm rot="-5400000">
            <a:off x="72874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1952" name="Text Box 31"/>
          <p:cNvSpPr txBox="1">
            <a:spLocks noChangeArrowheads="1"/>
          </p:cNvSpPr>
          <p:nvPr/>
        </p:nvSpPr>
        <p:spPr bwMode="auto">
          <a:xfrm>
            <a:off x="73199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17</a:t>
            </a:r>
          </a:p>
        </p:txBody>
      </p:sp>
      <p:sp>
        <p:nvSpPr>
          <p:cNvPr id="81953" name="Rectangle 32"/>
          <p:cNvSpPr>
            <a:spLocks noChangeArrowheads="1"/>
          </p:cNvSpPr>
          <p:nvPr/>
        </p:nvSpPr>
        <p:spPr bwMode="auto">
          <a:xfrm rot="-5400000">
            <a:off x="779303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1954" name="Text Box 33"/>
          <p:cNvSpPr txBox="1">
            <a:spLocks noChangeArrowheads="1"/>
          </p:cNvSpPr>
          <p:nvPr/>
        </p:nvSpPr>
        <p:spPr bwMode="auto">
          <a:xfrm>
            <a:off x="782478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11</a:t>
            </a:r>
          </a:p>
        </p:txBody>
      </p:sp>
      <p:sp>
        <p:nvSpPr>
          <p:cNvPr id="81955" name="Rectangle 34"/>
          <p:cNvSpPr>
            <a:spLocks noChangeArrowheads="1"/>
          </p:cNvSpPr>
          <p:nvPr/>
        </p:nvSpPr>
        <p:spPr bwMode="auto">
          <a:xfrm rot="-5400000">
            <a:off x="830024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1956" name="Text Box 35"/>
          <p:cNvSpPr txBox="1">
            <a:spLocks noChangeArrowheads="1"/>
          </p:cNvSpPr>
          <p:nvPr/>
        </p:nvSpPr>
        <p:spPr bwMode="auto">
          <a:xfrm>
            <a:off x="8332788" y="2212975"/>
            <a:ext cx="582612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9</a:t>
            </a:r>
          </a:p>
        </p:txBody>
      </p:sp>
      <p:sp>
        <p:nvSpPr>
          <p:cNvPr id="81957" name="Text Box 36"/>
          <p:cNvSpPr txBox="1">
            <a:spLocks noChangeArrowheads="1"/>
          </p:cNvSpPr>
          <p:nvPr/>
        </p:nvSpPr>
        <p:spPr bwMode="auto">
          <a:xfrm>
            <a:off x="228600" y="2820988"/>
            <a:ext cx="8763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0   1    2    3    4     5    6    7    8    9   10  11  12  13  14  15  16</a:t>
            </a:r>
          </a:p>
        </p:txBody>
      </p:sp>
      <p:sp>
        <p:nvSpPr>
          <p:cNvPr id="81958" name="Rectangle 37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/>
              <a:t>Array Implementation of Heap</a:t>
            </a:r>
            <a:br>
              <a:rPr lang="en-US" altLang="en-US" sz="4000"/>
            </a:br>
            <a:r>
              <a:rPr lang="en-US" altLang="en-US" sz="4000"/>
              <a:t>(cont.)</a:t>
            </a:r>
          </a:p>
        </p:txBody>
      </p:sp>
      <p:sp>
        <p:nvSpPr>
          <p:cNvPr id="81959" name="Text Box 38"/>
          <p:cNvSpPr txBox="1">
            <a:spLocks noChangeArrowheads="1"/>
          </p:cNvSpPr>
          <p:nvPr/>
        </p:nvSpPr>
        <p:spPr bwMode="auto">
          <a:xfrm>
            <a:off x="152400" y="3886200"/>
            <a:ext cx="2667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81960" name="Text Box 40"/>
          <p:cNvSpPr txBox="1">
            <a:spLocks noChangeArrowheads="1"/>
          </p:cNvSpPr>
          <p:nvPr/>
        </p:nvSpPr>
        <p:spPr bwMode="auto">
          <a:xfrm>
            <a:off x="152400" y="44958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heapsize: 17</a:t>
            </a:r>
          </a:p>
        </p:txBody>
      </p:sp>
      <p:sp>
        <p:nvSpPr>
          <p:cNvPr id="81961" name="Text Box 41"/>
          <p:cNvSpPr txBox="1">
            <a:spLocks noChangeArrowheads="1"/>
          </p:cNvSpPr>
          <p:nvPr/>
        </p:nvSpPr>
        <p:spPr bwMode="auto">
          <a:xfrm>
            <a:off x="3886200" y="3962400"/>
            <a:ext cx="4572000" cy="156210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Now we can access the object in the last node using elements[ heapsize – 1 ] and assign it to elements[ 0 ]</a:t>
            </a: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056CB796-9D17-4A2F-B617-72ABCCB78CA5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82</a:t>
            </a:fld>
            <a:endParaRPr lang="en-US" altLang="en-US" sz="1400"/>
          </a:p>
        </p:txBody>
      </p:sp>
      <p:sp>
        <p:nvSpPr>
          <p:cNvPr id="82947" name="Rectangle 2"/>
          <p:cNvSpPr>
            <a:spLocks noChangeArrowheads="1"/>
          </p:cNvSpPr>
          <p:nvPr/>
        </p:nvSpPr>
        <p:spPr bwMode="auto">
          <a:xfrm rot="-5400000">
            <a:off x="196057" y="2166143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2948" name="Text Box 3"/>
          <p:cNvSpPr txBox="1">
            <a:spLocks noChangeArrowheads="1"/>
          </p:cNvSpPr>
          <p:nvPr/>
        </p:nvSpPr>
        <p:spPr bwMode="auto">
          <a:xfrm>
            <a:off x="228600" y="2211388"/>
            <a:ext cx="952500" cy="506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9</a:t>
            </a:r>
          </a:p>
        </p:txBody>
      </p:sp>
      <p:sp>
        <p:nvSpPr>
          <p:cNvPr id="82949" name="Rectangle 4"/>
          <p:cNvSpPr>
            <a:spLocks noChangeArrowheads="1"/>
          </p:cNvSpPr>
          <p:nvPr/>
        </p:nvSpPr>
        <p:spPr bwMode="auto">
          <a:xfrm rot="-5400000">
            <a:off x="702469" y="2166144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2950" name="Text Box 5"/>
          <p:cNvSpPr txBox="1">
            <a:spLocks noChangeArrowheads="1"/>
          </p:cNvSpPr>
          <p:nvPr/>
        </p:nvSpPr>
        <p:spPr bwMode="auto">
          <a:xfrm>
            <a:off x="735013" y="2211388"/>
            <a:ext cx="952500" cy="506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39</a:t>
            </a:r>
          </a:p>
        </p:txBody>
      </p:sp>
      <p:sp>
        <p:nvSpPr>
          <p:cNvPr id="82951" name="Rectangle 6"/>
          <p:cNvSpPr>
            <a:spLocks noChangeArrowheads="1"/>
          </p:cNvSpPr>
          <p:nvPr/>
        </p:nvSpPr>
        <p:spPr bwMode="auto">
          <a:xfrm rot="-5400000">
            <a:off x="12072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2952" name="Text Box 7"/>
          <p:cNvSpPr txBox="1">
            <a:spLocks noChangeArrowheads="1"/>
          </p:cNvSpPr>
          <p:nvPr/>
        </p:nvSpPr>
        <p:spPr bwMode="auto">
          <a:xfrm>
            <a:off x="12398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28</a:t>
            </a:r>
          </a:p>
        </p:txBody>
      </p:sp>
      <p:sp>
        <p:nvSpPr>
          <p:cNvPr id="82953" name="Rectangle 8"/>
          <p:cNvSpPr>
            <a:spLocks noChangeArrowheads="1"/>
          </p:cNvSpPr>
          <p:nvPr/>
        </p:nvSpPr>
        <p:spPr bwMode="auto">
          <a:xfrm rot="-5400000">
            <a:off x="1714500" y="2166938"/>
            <a:ext cx="571500" cy="508000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2954" name="Text Box 9"/>
          <p:cNvSpPr txBox="1">
            <a:spLocks noChangeArrowheads="1"/>
          </p:cNvSpPr>
          <p:nvPr/>
        </p:nvSpPr>
        <p:spPr bwMode="auto">
          <a:xfrm>
            <a:off x="1746250" y="2212975"/>
            <a:ext cx="9525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16</a:t>
            </a:r>
          </a:p>
        </p:txBody>
      </p:sp>
      <p:sp>
        <p:nvSpPr>
          <p:cNvPr id="82955" name="Rectangle 10"/>
          <p:cNvSpPr>
            <a:spLocks noChangeArrowheads="1"/>
          </p:cNvSpPr>
          <p:nvPr/>
        </p:nvSpPr>
        <p:spPr bwMode="auto">
          <a:xfrm rot="-5400000">
            <a:off x="2221707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2956" name="Text Box 11"/>
          <p:cNvSpPr txBox="1">
            <a:spLocks noChangeArrowheads="1"/>
          </p:cNvSpPr>
          <p:nvPr/>
        </p:nvSpPr>
        <p:spPr bwMode="auto">
          <a:xfrm>
            <a:off x="2254250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32</a:t>
            </a:r>
          </a:p>
        </p:txBody>
      </p:sp>
      <p:sp>
        <p:nvSpPr>
          <p:cNvPr id="82957" name="Rectangle 12"/>
          <p:cNvSpPr>
            <a:spLocks noChangeArrowheads="1"/>
          </p:cNvSpPr>
          <p:nvPr/>
        </p:nvSpPr>
        <p:spPr bwMode="auto">
          <a:xfrm rot="-5400000">
            <a:off x="27281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2958" name="Text Box 13"/>
          <p:cNvSpPr txBox="1">
            <a:spLocks noChangeArrowheads="1"/>
          </p:cNvSpPr>
          <p:nvPr/>
        </p:nvSpPr>
        <p:spPr bwMode="auto">
          <a:xfrm>
            <a:off x="27606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24</a:t>
            </a:r>
          </a:p>
        </p:txBody>
      </p:sp>
      <p:sp>
        <p:nvSpPr>
          <p:cNvPr id="82959" name="Rectangle 14"/>
          <p:cNvSpPr>
            <a:spLocks noChangeArrowheads="1"/>
          </p:cNvSpPr>
          <p:nvPr/>
        </p:nvSpPr>
        <p:spPr bwMode="auto">
          <a:xfrm rot="-5400000">
            <a:off x="323453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2960" name="Text Box 15"/>
          <p:cNvSpPr txBox="1">
            <a:spLocks noChangeArrowheads="1"/>
          </p:cNvSpPr>
          <p:nvPr/>
        </p:nvSpPr>
        <p:spPr bwMode="auto">
          <a:xfrm>
            <a:off x="326707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25</a:t>
            </a:r>
          </a:p>
        </p:txBody>
      </p:sp>
      <p:sp>
        <p:nvSpPr>
          <p:cNvPr id="82961" name="Rectangle 16"/>
          <p:cNvSpPr>
            <a:spLocks noChangeArrowheads="1"/>
          </p:cNvSpPr>
          <p:nvPr/>
        </p:nvSpPr>
        <p:spPr bwMode="auto">
          <a:xfrm rot="-5400000">
            <a:off x="3739357" y="2169319"/>
            <a:ext cx="571500" cy="503237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2962" name="Text Box 17"/>
          <p:cNvSpPr txBox="1">
            <a:spLocks noChangeArrowheads="1"/>
          </p:cNvSpPr>
          <p:nvPr/>
        </p:nvSpPr>
        <p:spPr bwMode="auto">
          <a:xfrm>
            <a:off x="3771900" y="2214563"/>
            <a:ext cx="952500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14</a:t>
            </a:r>
          </a:p>
        </p:txBody>
      </p:sp>
      <p:sp>
        <p:nvSpPr>
          <p:cNvPr id="82963" name="Rectangle 18"/>
          <p:cNvSpPr>
            <a:spLocks noChangeArrowheads="1"/>
          </p:cNvSpPr>
          <p:nvPr/>
        </p:nvSpPr>
        <p:spPr bwMode="auto">
          <a:xfrm rot="-5400000">
            <a:off x="424418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2964" name="Text Box 19"/>
          <p:cNvSpPr txBox="1">
            <a:spLocks noChangeArrowheads="1"/>
          </p:cNvSpPr>
          <p:nvPr/>
        </p:nvSpPr>
        <p:spPr bwMode="auto">
          <a:xfrm>
            <a:off x="427672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</a:t>
            </a:r>
          </a:p>
        </p:txBody>
      </p:sp>
      <p:sp>
        <p:nvSpPr>
          <p:cNvPr id="82965" name="Rectangle 20"/>
          <p:cNvSpPr>
            <a:spLocks noChangeArrowheads="1"/>
          </p:cNvSpPr>
          <p:nvPr/>
        </p:nvSpPr>
        <p:spPr bwMode="auto">
          <a:xfrm rot="-5400000">
            <a:off x="4750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2966" name="Text Box 21"/>
          <p:cNvSpPr txBox="1">
            <a:spLocks noChangeArrowheads="1"/>
          </p:cNvSpPr>
          <p:nvPr/>
        </p:nvSpPr>
        <p:spPr bwMode="auto">
          <a:xfrm>
            <a:off x="4783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29</a:t>
            </a:r>
          </a:p>
        </p:txBody>
      </p:sp>
      <p:sp>
        <p:nvSpPr>
          <p:cNvPr id="82967" name="Rectangle 22"/>
          <p:cNvSpPr>
            <a:spLocks noChangeArrowheads="1"/>
          </p:cNvSpPr>
          <p:nvPr/>
        </p:nvSpPr>
        <p:spPr bwMode="auto">
          <a:xfrm rot="-5400000">
            <a:off x="526176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2968" name="Text Box 23"/>
          <p:cNvSpPr txBox="1">
            <a:spLocks noChangeArrowheads="1"/>
          </p:cNvSpPr>
          <p:nvPr/>
        </p:nvSpPr>
        <p:spPr bwMode="auto">
          <a:xfrm>
            <a:off x="529431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15</a:t>
            </a:r>
          </a:p>
        </p:txBody>
      </p:sp>
      <p:sp>
        <p:nvSpPr>
          <p:cNvPr id="82969" name="Rectangle 24"/>
          <p:cNvSpPr>
            <a:spLocks noChangeArrowheads="1"/>
          </p:cNvSpPr>
          <p:nvPr/>
        </p:nvSpPr>
        <p:spPr bwMode="auto">
          <a:xfrm rot="-5400000">
            <a:off x="576738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2970" name="Text Box 25"/>
          <p:cNvSpPr txBox="1">
            <a:spLocks noChangeArrowheads="1"/>
          </p:cNvSpPr>
          <p:nvPr/>
        </p:nvSpPr>
        <p:spPr bwMode="auto">
          <a:xfrm>
            <a:off x="579913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5</a:t>
            </a:r>
          </a:p>
        </p:txBody>
      </p:sp>
      <p:sp>
        <p:nvSpPr>
          <p:cNvPr id="82971" name="Rectangle 26"/>
          <p:cNvSpPr>
            <a:spLocks noChangeArrowheads="1"/>
          </p:cNvSpPr>
          <p:nvPr/>
        </p:nvSpPr>
        <p:spPr bwMode="auto">
          <a:xfrm rot="-5400000">
            <a:off x="6274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2972" name="Text Box 27"/>
          <p:cNvSpPr txBox="1">
            <a:spLocks noChangeArrowheads="1"/>
          </p:cNvSpPr>
          <p:nvPr/>
        </p:nvSpPr>
        <p:spPr bwMode="auto">
          <a:xfrm>
            <a:off x="6307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7</a:t>
            </a:r>
          </a:p>
        </p:txBody>
      </p:sp>
      <p:sp>
        <p:nvSpPr>
          <p:cNvPr id="82973" name="Rectangle 28"/>
          <p:cNvSpPr>
            <a:spLocks noChangeArrowheads="1"/>
          </p:cNvSpPr>
          <p:nvPr/>
        </p:nvSpPr>
        <p:spPr bwMode="auto">
          <a:xfrm rot="-5400000">
            <a:off x="6780213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2974" name="Text Box 29"/>
          <p:cNvSpPr txBox="1">
            <a:spLocks noChangeArrowheads="1"/>
          </p:cNvSpPr>
          <p:nvPr/>
        </p:nvSpPr>
        <p:spPr bwMode="auto">
          <a:xfrm>
            <a:off x="6811963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18</a:t>
            </a:r>
          </a:p>
        </p:txBody>
      </p:sp>
      <p:sp>
        <p:nvSpPr>
          <p:cNvPr id="82975" name="Rectangle 30"/>
          <p:cNvSpPr>
            <a:spLocks noChangeArrowheads="1"/>
          </p:cNvSpPr>
          <p:nvPr/>
        </p:nvSpPr>
        <p:spPr bwMode="auto">
          <a:xfrm rot="-5400000">
            <a:off x="72874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2976" name="Text Box 31"/>
          <p:cNvSpPr txBox="1">
            <a:spLocks noChangeArrowheads="1"/>
          </p:cNvSpPr>
          <p:nvPr/>
        </p:nvSpPr>
        <p:spPr bwMode="auto">
          <a:xfrm>
            <a:off x="73199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17</a:t>
            </a:r>
          </a:p>
        </p:txBody>
      </p:sp>
      <p:sp>
        <p:nvSpPr>
          <p:cNvPr id="82977" name="Rectangle 32"/>
          <p:cNvSpPr>
            <a:spLocks noChangeArrowheads="1"/>
          </p:cNvSpPr>
          <p:nvPr/>
        </p:nvSpPr>
        <p:spPr bwMode="auto">
          <a:xfrm rot="-5400000">
            <a:off x="779303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2978" name="Text Box 33"/>
          <p:cNvSpPr txBox="1">
            <a:spLocks noChangeArrowheads="1"/>
          </p:cNvSpPr>
          <p:nvPr/>
        </p:nvSpPr>
        <p:spPr bwMode="auto">
          <a:xfrm>
            <a:off x="782478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11</a:t>
            </a:r>
          </a:p>
        </p:txBody>
      </p:sp>
      <p:sp>
        <p:nvSpPr>
          <p:cNvPr id="82979" name="Rectangle 34"/>
          <p:cNvSpPr>
            <a:spLocks noChangeArrowheads="1"/>
          </p:cNvSpPr>
          <p:nvPr/>
        </p:nvSpPr>
        <p:spPr bwMode="auto">
          <a:xfrm rot="-5400000">
            <a:off x="830024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2980" name="Text Box 35"/>
          <p:cNvSpPr txBox="1">
            <a:spLocks noChangeArrowheads="1"/>
          </p:cNvSpPr>
          <p:nvPr/>
        </p:nvSpPr>
        <p:spPr bwMode="auto">
          <a:xfrm>
            <a:off x="8332788" y="2212975"/>
            <a:ext cx="582612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r>
              <a:rPr lang="en-US" altLang="en-US" sz="2400" b="1">
                <a:solidFill>
                  <a:srgbClr val="FF3300"/>
                </a:solidFill>
              </a:rPr>
              <a:t>9</a:t>
            </a:r>
          </a:p>
        </p:txBody>
      </p:sp>
      <p:sp>
        <p:nvSpPr>
          <p:cNvPr id="82981" name="Text Box 36"/>
          <p:cNvSpPr txBox="1">
            <a:spLocks noChangeArrowheads="1"/>
          </p:cNvSpPr>
          <p:nvPr/>
        </p:nvSpPr>
        <p:spPr bwMode="auto">
          <a:xfrm>
            <a:off x="228600" y="2820988"/>
            <a:ext cx="8763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0   1    2    3    4     5    6    7    8    9   10  11  12  13  14  15  16</a:t>
            </a:r>
          </a:p>
        </p:txBody>
      </p:sp>
      <p:sp>
        <p:nvSpPr>
          <p:cNvPr id="82982" name="Rectangle 37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/>
              <a:t>Array Implementation of Heap</a:t>
            </a:r>
            <a:br>
              <a:rPr lang="en-US" altLang="en-US" sz="4000"/>
            </a:br>
            <a:r>
              <a:rPr lang="en-US" altLang="en-US" sz="4000"/>
              <a:t>(cont.)</a:t>
            </a:r>
          </a:p>
        </p:txBody>
      </p:sp>
      <p:sp>
        <p:nvSpPr>
          <p:cNvPr id="82983" name="Text Box 38"/>
          <p:cNvSpPr txBox="1">
            <a:spLocks noChangeArrowheads="1"/>
          </p:cNvSpPr>
          <p:nvPr/>
        </p:nvSpPr>
        <p:spPr bwMode="auto">
          <a:xfrm>
            <a:off x="152400" y="3886200"/>
            <a:ext cx="2667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82984" name="Text Box 39"/>
          <p:cNvSpPr txBox="1">
            <a:spLocks noChangeArrowheads="1"/>
          </p:cNvSpPr>
          <p:nvPr/>
        </p:nvSpPr>
        <p:spPr bwMode="auto">
          <a:xfrm>
            <a:off x="152400" y="44958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heapsize: 17</a:t>
            </a:r>
          </a:p>
        </p:txBody>
      </p:sp>
      <p:sp>
        <p:nvSpPr>
          <p:cNvPr id="82985" name="Text Box 40"/>
          <p:cNvSpPr txBox="1">
            <a:spLocks noChangeArrowheads="1"/>
          </p:cNvSpPr>
          <p:nvPr/>
        </p:nvSpPr>
        <p:spPr bwMode="auto">
          <a:xfrm>
            <a:off x="3886200" y="3962400"/>
            <a:ext cx="4572000" cy="156210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Now we can access the object in the last node using elements[ heapsize – 1 ] and assign it to elements[ 0 ]</a:t>
            </a:r>
          </a:p>
        </p:txBody>
      </p:sp>
      <p:sp>
        <p:nvSpPr>
          <p:cNvPr id="82986" name="Freeform 46"/>
          <p:cNvSpPr>
            <a:spLocks/>
          </p:cNvSpPr>
          <p:nvPr/>
        </p:nvSpPr>
        <p:spPr bwMode="auto">
          <a:xfrm>
            <a:off x="7086600" y="1752600"/>
            <a:ext cx="1447800" cy="457200"/>
          </a:xfrm>
          <a:custGeom>
            <a:avLst/>
            <a:gdLst>
              <a:gd name="T0" fmla="*/ 2147483646 w 912"/>
              <a:gd name="T1" fmla="*/ 2147483646 h 288"/>
              <a:gd name="T2" fmla="*/ 2147483646 w 912"/>
              <a:gd name="T3" fmla="*/ 2147483646 h 288"/>
              <a:gd name="T4" fmla="*/ 0 w 912"/>
              <a:gd name="T5" fmla="*/ 0 h 28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912" h="288">
                <a:moveTo>
                  <a:pt x="912" y="288"/>
                </a:moveTo>
                <a:cubicBezTo>
                  <a:pt x="892" y="192"/>
                  <a:pt x="872" y="96"/>
                  <a:pt x="720" y="48"/>
                </a:cubicBezTo>
                <a:cubicBezTo>
                  <a:pt x="568" y="0"/>
                  <a:pt x="120" y="8"/>
                  <a:pt x="0" y="0"/>
                </a:cubicBezTo>
              </a:path>
            </a:pathLst>
          </a:custGeom>
          <a:noFill/>
          <a:ln w="57150" cap="flat" cmpd="sng">
            <a:solidFill>
              <a:schemeClr val="hlink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82987" name="Line 47"/>
          <p:cNvSpPr>
            <a:spLocks noChangeShapeType="1"/>
          </p:cNvSpPr>
          <p:nvPr/>
        </p:nvSpPr>
        <p:spPr bwMode="auto">
          <a:xfrm flipH="1">
            <a:off x="990600" y="1752600"/>
            <a:ext cx="6096000" cy="0"/>
          </a:xfrm>
          <a:prstGeom prst="line">
            <a:avLst/>
          </a:prstGeom>
          <a:noFill/>
          <a:ln w="57150">
            <a:solidFill>
              <a:schemeClr val="hlink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82988" name="Freeform 53"/>
          <p:cNvSpPr>
            <a:spLocks/>
          </p:cNvSpPr>
          <p:nvPr/>
        </p:nvSpPr>
        <p:spPr bwMode="auto">
          <a:xfrm>
            <a:off x="431800" y="1752600"/>
            <a:ext cx="635000" cy="381000"/>
          </a:xfrm>
          <a:custGeom>
            <a:avLst/>
            <a:gdLst>
              <a:gd name="T0" fmla="*/ 2147483646 w 400"/>
              <a:gd name="T1" fmla="*/ 2147483646 h 240"/>
              <a:gd name="T2" fmla="*/ 2147483646 w 400"/>
              <a:gd name="T3" fmla="*/ 2147483646 h 240"/>
              <a:gd name="T4" fmla="*/ 2147483646 w 400"/>
              <a:gd name="T5" fmla="*/ 2147483646 h 240"/>
              <a:gd name="T6" fmla="*/ 2147483646 w 400"/>
              <a:gd name="T7" fmla="*/ 0 h 2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00" h="240">
                <a:moveTo>
                  <a:pt x="16" y="240"/>
                </a:moveTo>
                <a:cubicBezTo>
                  <a:pt x="8" y="208"/>
                  <a:pt x="0" y="176"/>
                  <a:pt x="16" y="144"/>
                </a:cubicBezTo>
                <a:cubicBezTo>
                  <a:pt x="32" y="112"/>
                  <a:pt x="48" y="72"/>
                  <a:pt x="112" y="48"/>
                </a:cubicBezTo>
                <a:cubicBezTo>
                  <a:pt x="176" y="24"/>
                  <a:pt x="352" y="8"/>
                  <a:pt x="400" y="0"/>
                </a:cubicBezTo>
              </a:path>
            </a:pathLst>
          </a:custGeom>
          <a:noFill/>
          <a:ln w="57150" cap="flat" cmpd="sng">
            <a:solidFill>
              <a:schemeClr val="hlink"/>
            </a:solidFill>
            <a:prstDash val="sysDot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2FC692AB-00BD-40E9-BBB7-541A7421223E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83</a:t>
            </a:fld>
            <a:endParaRPr lang="en-US" altLang="en-US" sz="1400"/>
          </a:p>
        </p:txBody>
      </p:sp>
      <p:sp>
        <p:nvSpPr>
          <p:cNvPr id="83971" name="Rectangle 2"/>
          <p:cNvSpPr>
            <a:spLocks noChangeArrowheads="1"/>
          </p:cNvSpPr>
          <p:nvPr/>
        </p:nvSpPr>
        <p:spPr bwMode="auto">
          <a:xfrm rot="-5400000">
            <a:off x="196057" y="2166143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3972" name="Text Box 3"/>
          <p:cNvSpPr txBox="1">
            <a:spLocks noChangeArrowheads="1"/>
          </p:cNvSpPr>
          <p:nvPr/>
        </p:nvSpPr>
        <p:spPr bwMode="auto">
          <a:xfrm>
            <a:off x="228600" y="2211388"/>
            <a:ext cx="952500" cy="506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9</a:t>
            </a:r>
          </a:p>
        </p:txBody>
      </p:sp>
      <p:sp>
        <p:nvSpPr>
          <p:cNvPr id="83973" name="Rectangle 4"/>
          <p:cNvSpPr>
            <a:spLocks noChangeArrowheads="1"/>
          </p:cNvSpPr>
          <p:nvPr/>
        </p:nvSpPr>
        <p:spPr bwMode="auto">
          <a:xfrm rot="-5400000">
            <a:off x="702469" y="2166144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3974" name="Text Box 5"/>
          <p:cNvSpPr txBox="1">
            <a:spLocks noChangeArrowheads="1"/>
          </p:cNvSpPr>
          <p:nvPr/>
        </p:nvSpPr>
        <p:spPr bwMode="auto">
          <a:xfrm>
            <a:off x="735013" y="2211388"/>
            <a:ext cx="952500" cy="506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39</a:t>
            </a:r>
          </a:p>
        </p:txBody>
      </p:sp>
      <p:sp>
        <p:nvSpPr>
          <p:cNvPr id="83975" name="Rectangle 6"/>
          <p:cNvSpPr>
            <a:spLocks noChangeArrowheads="1"/>
          </p:cNvSpPr>
          <p:nvPr/>
        </p:nvSpPr>
        <p:spPr bwMode="auto">
          <a:xfrm rot="-5400000">
            <a:off x="12072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3976" name="Text Box 7"/>
          <p:cNvSpPr txBox="1">
            <a:spLocks noChangeArrowheads="1"/>
          </p:cNvSpPr>
          <p:nvPr/>
        </p:nvSpPr>
        <p:spPr bwMode="auto">
          <a:xfrm>
            <a:off x="12398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28</a:t>
            </a:r>
          </a:p>
        </p:txBody>
      </p:sp>
      <p:sp>
        <p:nvSpPr>
          <p:cNvPr id="83977" name="Rectangle 8"/>
          <p:cNvSpPr>
            <a:spLocks noChangeArrowheads="1"/>
          </p:cNvSpPr>
          <p:nvPr/>
        </p:nvSpPr>
        <p:spPr bwMode="auto">
          <a:xfrm rot="-5400000">
            <a:off x="1714500" y="2166938"/>
            <a:ext cx="571500" cy="508000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3978" name="Text Box 9"/>
          <p:cNvSpPr txBox="1">
            <a:spLocks noChangeArrowheads="1"/>
          </p:cNvSpPr>
          <p:nvPr/>
        </p:nvSpPr>
        <p:spPr bwMode="auto">
          <a:xfrm>
            <a:off x="1746250" y="2212975"/>
            <a:ext cx="9525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16</a:t>
            </a:r>
          </a:p>
        </p:txBody>
      </p:sp>
      <p:sp>
        <p:nvSpPr>
          <p:cNvPr id="83979" name="Rectangle 10"/>
          <p:cNvSpPr>
            <a:spLocks noChangeArrowheads="1"/>
          </p:cNvSpPr>
          <p:nvPr/>
        </p:nvSpPr>
        <p:spPr bwMode="auto">
          <a:xfrm rot="-5400000">
            <a:off x="2221707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3980" name="Text Box 11"/>
          <p:cNvSpPr txBox="1">
            <a:spLocks noChangeArrowheads="1"/>
          </p:cNvSpPr>
          <p:nvPr/>
        </p:nvSpPr>
        <p:spPr bwMode="auto">
          <a:xfrm>
            <a:off x="2254250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32</a:t>
            </a:r>
          </a:p>
        </p:txBody>
      </p:sp>
      <p:sp>
        <p:nvSpPr>
          <p:cNvPr id="83981" name="Rectangle 12"/>
          <p:cNvSpPr>
            <a:spLocks noChangeArrowheads="1"/>
          </p:cNvSpPr>
          <p:nvPr/>
        </p:nvSpPr>
        <p:spPr bwMode="auto">
          <a:xfrm rot="-5400000">
            <a:off x="27281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3982" name="Text Box 13"/>
          <p:cNvSpPr txBox="1">
            <a:spLocks noChangeArrowheads="1"/>
          </p:cNvSpPr>
          <p:nvPr/>
        </p:nvSpPr>
        <p:spPr bwMode="auto">
          <a:xfrm>
            <a:off x="27606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24</a:t>
            </a:r>
          </a:p>
        </p:txBody>
      </p:sp>
      <p:sp>
        <p:nvSpPr>
          <p:cNvPr id="83983" name="Rectangle 14"/>
          <p:cNvSpPr>
            <a:spLocks noChangeArrowheads="1"/>
          </p:cNvSpPr>
          <p:nvPr/>
        </p:nvSpPr>
        <p:spPr bwMode="auto">
          <a:xfrm rot="-5400000">
            <a:off x="323453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3984" name="Text Box 15"/>
          <p:cNvSpPr txBox="1">
            <a:spLocks noChangeArrowheads="1"/>
          </p:cNvSpPr>
          <p:nvPr/>
        </p:nvSpPr>
        <p:spPr bwMode="auto">
          <a:xfrm>
            <a:off x="326707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25</a:t>
            </a:r>
          </a:p>
        </p:txBody>
      </p:sp>
      <p:sp>
        <p:nvSpPr>
          <p:cNvPr id="83985" name="Rectangle 16"/>
          <p:cNvSpPr>
            <a:spLocks noChangeArrowheads="1"/>
          </p:cNvSpPr>
          <p:nvPr/>
        </p:nvSpPr>
        <p:spPr bwMode="auto">
          <a:xfrm rot="-5400000">
            <a:off x="3739357" y="2169319"/>
            <a:ext cx="571500" cy="503237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3986" name="Text Box 17"/>
          <p:cNvSpPr txBox="1">
            <a:spLocks noChangeArrowheads="1"/>
          </p:cNvSpPr>
          <p:nvPr/>
        </p:nvSpPr>
        <p:spPr bwMode="auto">
          <a:xfrm>
            <a:off x="3771900" y="2214563"/>
            <a:ext cx="952500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14</a:t>
            </a:r>
          </a:p>
        </p:txBody>
      </p:sp>
      <p:sp>
        <p:nvSpPr>
          <p:cNvPr id="83987" name="Rectangle 18"/>
          <p:cNvSpPr>
            <a:spLocks noChangeArrowheads="1"/>
          </p:cNvSpPr>
          <p:nvPr/>
        </p:nvSpPr>
        <p:spPr bwMode="auto">
          <a:xfrm rot="-5400000">
            <a:off x="424418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3988" name="Text Box 19"/>
          <p:cNvSpPr txBox="1">
            <a:spLocks noChangeArrowheads="1"/>
          </p:cNvSpPr>
          <p:nvPr/>
        </p:nvSpPr>
        <p:spPr bwMode="auto">
          <a:xfrm>
            <a:off x="427672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</a:t>
            </a:r>
          </a:p>
        </p:txBody>
      </p:sp>
      <p:sp>
        <p:nvSpPr>
          <p:cNvPr id="83989" name="Rectangle 20"/>
          <p:cNvSpPr>
            <a:spLocks noChangeArrowheads="1"/>
          </p:cNvSpPr>
          <p:nvPr/>
        </p:nvSpPr>
        <p:spPr bwMode="auto">
          <a:xfrm rot="-5400000">
            <a:off x="4750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3990" name="Text Box 21"/>
          <p:cNvSpPr txBox="1">
            <a:spLocks noChangeArrowheads="1"/>
          </p:cNvSpPr>
          <p:nvPr/>
        </p:nvSpPr>
        <p:spPr bwMode="auto">
          <a:xfrm>
            <a:off x="4783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29</a:t>
            </a:r>
          </a:p>
        </p:txBody>
      </p:sp>
      <p:sp>
        <p:nvSpPr>
          <p:cNvPr id="83991" name="Rectangle 22"/>
          <p:cNvSpPr>
            <a:spLocks noChangeArrowheads="1"/>
          </p:cNvSpPr>
          <p:nvPr/>
        </p:nvSpPr>
        <p:spPr bwMode="auto">
          <a:xfrm rot="-5400000">
            <a:off x="526176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3992" name="Text Box 23"/>
          <p:cNvSpPr txBox="1">
            <a:spLocks noChangeArrowheads="1"/>
          </p:cNvSpPr>
          <p:nvPr/>
        </p:nvSpPr>
        <p:spPr bwMode="auto">
          <a:xfrm>
            <a:off x="529431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15</a:t>
            </a:r>
          </a:p>
        </p:txBody>
      </p:sp>
      <p:sp>
        <p:nvSpPr>
          <p:cNvPr id="83993" name="Rectangle 24"/>
          <p:cNvSpPr>
            <a:spLocks noChangeArrowheads="1"/>
          </p:cNvSpPr>
          <p:nvPr/>
        </p:nvSpPr>
        <p:spPr bwMode="auto">
          <a:xfrm rot="-5400000">
            <a:off x="576738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3994" name="Text Box 25"/>
          <p:cNvSpPr txBox="1">
            <a:spLocks noChangeArrowheads="1"/>
          </p:cNvSpPr>
          <p:nvPr/>
        </p:nvSpPr>
        <p:spPr bwMode="auto">
          <a:xfrm>
            <a:off x="579913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5</a:t>
            </a:r>
          </a:p>
        </p:txBody>
      </p:sp>
      <p:sp>
        <p:nvSpPr>
          <p:cNvPr id="83995" name="Rectangle 26"/>
          <p:cNvSpPr>
            <a:spLocks noChangeArrowheads="1"/>
          </p:cNvSpPr>
          <p:nvPr/>
        </p:nvSpPr>
        <p:spPr bwMode="auto">
          <a:xfrm rot="-5400000">
            <a:off x="6274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3996" name="Text Box 27"/>
          <p:cNvSpPr txBox="1">
            <a:spLocks noChangeArrowheads="1"/>
          </p:cNvSpPr>
          <p:nvPr/>
        </p:nvSpPr>
        <p:spPr bwMode="auto">
          <a:xfrm>
            <a:off x="6307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7</a:t>
            </a:r>
          </a:p>
        </p:txBody>
      </p:sp>
      <p:sp>
        <p:nvSpPr>
          <p:cNvPr id="83997" name="Rectangle 28"/>
          <p:cNvSpPr>
            <a:spLocks noChangeArrowheads="1"/>
          </p:cNvSpPr>
          <p:nvPr/>
        </p:nvSpPr>
        <p:spPr bwMode="auto">
          <a:xfrm rot="-5400000">
            <a:off x="6780213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3998" name="Text Box 29"/>
          <p:cNvSpPr txBox="1">
            <a:spLocks noChangeArrowheads="1"/>
          </p:cNvSpPr>
          <p:nvPr/>
        </p:nvSpPr>
        <p:spPr bwMode="auto">
          <a:xfrm>
            <a:off x="6811963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18</a:t>
            </a:r>
          </a:p>
        </p:txBody>
      </p:sp>
      <p:sp>
        <p:nvSpPr>
          <p:cNvPr id="83999" name="Rectangle 30"/>
          <p:cNvSpPr>
            <a:spLocks noChangeArrowheads="1"/>
          </p:cNvSpPr>
          <p:nvPr/>
        </p:nvSpPr>
        <p:spPr bwMode="auto">
          <a:xfrm rot="-5400000">
            <a:off x="72874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4000" name="Text Box 31"/>
          <p:cNvSpPr txBox="1">
            <a:spLocks noChangeArrowheads="1"/>
          </p:cNvSpPr>
          <p:nvPr/>
        </p:nvSpPr>
        <p:spPr bwMode="auto">
          <a:xfrm>
            <a:off x="73199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17</a:t>
            </a:r>
          </a:p>
        </p:txBody>
      </p:sp>
      <p:sp>
        <p:nvSpPr>
          <p:cNvPr id="84001" name="Rectangle 32"/>
          <p:cNvSpPr>
            <a:spLocks noChangeArrowheads="1"/>
          </p:cNvSpPr>
          <p:nvPr/>
        </p:nvSpPr>
        <p:spPr bwMode="auto">
          <a:xfrm rot="-5400000">
            <a:off x="779303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4002" name="Text Box 33"/>
          <p:cNvSpPr txBox="1">
            <a:spLocks noChangeArrowheads="1"/>
          </p:cNvSpPr>
          <p:nvPr/>
        </p:nvSpPr>
        <p:spPr bwMode="auto">
          <a:xfrm>
            <a:off x="782478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11</a:t>
            </a:r>
          </a:p>
        </p:txBody>
      </p:sp>
      <p:sp>
        <p:nvSpPr>
          <p:cNvPr id="84003" name="Rectangle 34"/>
          <p:cNvSpPr>
            <a:spLocks noChangeArrowheads="1"/>
          </p:cNvSpPr>
          <p:nvPr/>
        </p:nvSpPr>
        <p:spPr bwMode="auto">
          <a:xfrm rot="-5400000">
            <a:off x="830024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4004" name="Text Box 35"/>
          <p:cNvSpPr txBox="1">
            <a:spLocks noChangeArrowheads="1"/>
          </p:cNvSpPr>
          <p:nvPr/>
        </p:nvSpPr>
        <p:spPr bwMode="auto">
          <a:xfrm>
            <a:off x="8332788" y="2212975"/>
            <a:ext cx="582612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9</a:t>
            </a:r>
          </a:p>
        </p:txBody>
      </p:sp>
      <p:sp>
        <p:nvSpPr>
          <p:cNvPr id="84005" name="Text Box 36"/>
          <p:cNvSpPr txBox="1">
            <a:spLocks noChangeArrowheads="1"/>
          </p:cNvSpPr>
          <p:nvPr/>
        </p:nvSpPr>
        <p:spPr bwMode="auto">
          <a:xfrm>
            <a:off x="228600" y="2820988"/>
            <a:ext cx="8763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0   1    2    3    4     5    6    7    8    9   10  11  12  13  14  15  16</a:t>
            </a:r>
          </a:p>
        </p:txBody>
      </p:sp>
      <p:sp>
        <p:nvSpPr>
          <p:cNvPr id="84006" name="Rectangle 37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/>
              <a:t>Array Implementation of Heap</a:t>
            </a:r>
            <a:br>
              <a:rPr lang="en-US" altLang="en-US" sz="4000"/>
            </a:br>
            <a:r>
              <a:rPr lang="en-US" altLang="en-US" sz="4000"/>
              <a:t>(cont.)</a:t>
            </a:r>
          </a:p>
        </p:txBody>
      </p:sp>
      <p:sp>
        <p:nvSpPr>
          <p:cNvPr id="84007" name="Text Box 38"/>
          <p:cNvSpPr txBox="1">
            <a:spLocks noChangeArrowheads="1"/>
          </p:cNvSpPr>
          <p:nvPr/>
        </p:nvSpPr>
        <p:spPr bwMode="auto">
          <a:xfrm>
            <a:off x="152400" y="3886200"/>
            <a:ext cx="2667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84008" name="Text Box 39"/>
          <p:cNvSpPr txBox="1">
            <a:spLocks noChangeArrowheads="1"/>
          </p:cNvSpPr>
          <p:nvPr/>
        </p:nvSpPr>
        <p:spPr bwMode="auto">
          <a:xfrm>
            <a:off x="152400" y="44958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heapsize: 17</a:t>
            </a:r>
          </a:p>
        </p:txBody>
      </p:sp>
      <p:sp>
        <p:nvSpPr>
          <p:cNvPr id="84009" name="Text Box 40"/>
          <p:cNvSpPr txBox="1">
            <a:spLocks noChangeArrowheads="1"/>
          </p:cNvSpPr>
          <p:nvPr/>
        </p:nvSpPr>
        <p:spPr bwMode="auto">
          <a:xfrm>
            <a:off x="3886200" y="3962400"/>
            <a:ext cx="4572000" cy="466725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Next, decrement the heap size</a:t>
            </a:r>
          </a:p>
        </p:txBody>
      </p:sp>
      <p:sp>
        <p:nvSpPr>
          <p:cNvPr id="84010" name="Line 44"/>
          <p:cNvSpPr>
            <a:spLocks noChangeShapeType="1"/>
          </p:cNvSpPr>
          <p:nvPr/>
        </p:nvSpPr>
        <p:spPr bwMode="auto">
          <a:xfrm flipH="1">
            <a:off x="2133600" y="4191000"/>
            <a:ext cx="1752600" cy="45720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76F72C96-244E-4CB3-8D3E-86AC24C3F7B1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84</a:t>
            </a:fld>
            <a:endParaRPr lang="en-US" altLang="en-US" sz="1400"/>
          </a:p>
        </p:txBody>
      </p:sp>
      <p:sp>
        <p:nvSpPr>
          <p:cNvPr id="84995" name="Rectangle 2"/>
          <p:cNvSpPr>
            <a:spLocks noChangeArrowheads="1"/>
          </p:cNvSpPr>
          <p:nvPr/>
        </p:nvSpPr>
        <p:spPr bwMode="auto">
          <a:xfrm rot="-5400000">
            <a:off x="196057" y="2166143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4996" name="Text Box 3"/>
          <p:cNvSpPr txBox="1">
            <a:spLocks noChangeArrowheads="1"/>
          </p:cNvSpPr>
          <p:nvPr/>
        </p:nvSpPr>
        <p:spPr bwMode="auto">
          <a:xfrm>
            <a:off x="228600" y="2211388"/>
            <a:ext cx="952500" cy="506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9</a:t>
            </a:r>
          </a:p>
        </p:txBody>
      </p:sp>
      <p:sp>
        <p:nvSpPr>
          <p:cNvPr id="84997" name="Rectangle 4"/>
          <p:cNvSpPr>
            <a:spLocks noChangeArrowheads="1"/>
          </p:cNvSpPr>
          <p:nvPr/>
        </p:nvSpPr>
        <p:spPr bwMode="auto">
          <a:xfrm rot="-5400000">
            <a:off x="702469" y="2166144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4998" name="Text Box 5"/>
          <p:cNvSpPr txBox="1">
            <a:spLocks noChangeArrowheads="1"/>
          </p:cNvSpPr>
          <p:nvPr/>
        </p:nvSpPr>
        <p:spPr bwMode="auto">
          <a:xfrm>
            <a:off x="735013" y="2211388"/>
            <a:ext cx="952500" cy="506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39</a:t>
            </a:r>
          </a:p>
        </p:txBody>
      </p:sp>
      <p:sp>
        <p:nvSpPr>
          <p:cNvPr id="84999" name="Rectangle 6"/>
          <p:cNvSpPr>
            <a:spLocks noChangeArrowheads="1"/>
          </p:cNvSpPr>
          <p:nvPr/>
        </p:nvSpPr>
        <p:spPr bwMode="auto">
          <a:xfrm rot="-5400000">
            <a:off x="12072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5000" name="Text Box 7"/>
          <p:cNvSpPr txBox="1">
            <a:spLocks noChangeArrowheads="1"/>
          </p:cNvSpPr>
          <p:nvPr/>
        </p:nvSpPr>
        <p:spPr bwMode="auto">
          <a:xfrm>
            <a:off x="12398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28</a:t>
            </a:r>
          </a:p>
        </p:txBody>
      </p:sp>
      <p:sp>
        <p:nvSpPr>
          <p:cNvPr id="85001" name="Rectangle 8"/>
          <p:cNvSpPr>
            <a:spLocks noChangeArrowheads="1"/>
          </p:cNvSpPr>
          <p:nvPr/>
        </p:nvSpPr>
        <p:spPr bwMode="auto">
          <a:xfrm rot="-5400000">
            <a:off x="1714500" y="2166938"/>
            <a:ext cx="571500" cy="508000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5002" name="Text Box 9"/>
          <p:cNvSpPr txBox="1">
            <a:spLocks noChangeArrowheads="1"/>
          </p:cNvSpPr>
          <p:nvPr/>
        </p:nvSpPr>
        <p:spPr bwMode="auto">
          <a:xfrm>
            <a:off x="1746250" y="2212975"/>
            <a:ext cx="9525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16</a:t>
            </a:r>
          </a:p>
        </p:txBody>
      </p:sp>
      <p:sp>
        <p:nvSpPr>
          <p:cNvPr id="85003" name="Rectangle 10"/>
          <p:cNvSpPr>
            <a:spLocks noChangeArrowheads="1"/>
          </p:cNvSpPr>
          <p:nvPr/>
        </p:nvSpPr>
        <p:spPr bwMode="auto">
          <a:xfrm rot="-5400000">
            <a:off x="2221707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5004" name="Text Box 11"/>
          <p:cNvSpPr txBox="1">
            <a:spLocks noChangeArrowheads="1"/>
          </p:cNvSpPr>
          <p:nvPr/>
        </p:nvSpPr>
        <p:spPr bwMode="auto">
          <a:xfrm>
            <a:off x="2254250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32</a:t>
            </a:r>
          </a:p>
        </p:txBody>
      </p:sp>
      <p:sp>
        <p:nvSpPr>
          <p:cNvPr id="85005" name="Rectangle 12"/>
          <p:cNvSpPr>
            <a:spLocks noChangeArrowheads="1"/>
          </p:cNvSpPr>
          <p:nvPr/>
        </p:nvSpPr>
        <p:spPr bwMode="auto">
          <a:xfrm rot="-5400000">
            <a:off x="27281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5006" name="Text Box 13"/>
          <p:cNvSpPr txBox="1">
            <a:spLocks noChangeArrowheads="1"/>
          </p:cNvSpPr>
          <p:nvPr/>
        </p:nvSpPr>
        <p:spPr bwMode="auto">
          <a:xfrm>
            <a:off x="27606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24</a:t>
            </a:r>
          </a:p>
        </p:txBody>
      </p:sp>
      <p:sp>
        <p:nvSpPr>
          <p:cNvPr id="85007" name="Rectangle 14"/>
          <p:cNvSpPr>
            <a:spLocks noChangeArrowheads="1"/>
          </p:cNvSpPr>
          <p:nvPr/>
        </p:nvSpPr>
        <p:spPr bwMode="auto">
          <a:xfrm rot="-5400000">
            <a:off x="323453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5008" name="Text Box 15"/>
          <p:cNvSpPr txBox="1">
            <a:spLocks noChangeArrowheads="1"/>
          </p:cNvSpPr>
          <p:nvPr/>
        </p:nvSpPr>
        <p:spPr bwMode="auto">
          <a:xfrm>
            <a:off x="326707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25</a:t>
            </a:r>
          </a:p>
        </p:txBody>
      </p:sp>
      <p:sp>
        <p:nvSpPr>
          <p:cNvPr id="85009" name="Rectangle 16"/>
          <p:cNvSpPr>
            <a:spLocks noChangeArrowheads="1"/>
          </p:cNvSpPr>
          <p:nvPr/>
        </p:nvSpPr>
        <p:spPr bwMode="auto">
          <a:xfrm rot="-5400000">
            <a:off x="3739357" y="2169319"/>
            <a:ext cx="571500" cy="503237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5010" name="Text Box 17"/>
          <p:cNvSpPr txBox="1">
            <a:spLocks noChangeArrowheads="1"/>
          </p:cNvSpPr>
          <p:nvPr/>
        </p:nvSpPr>
        <p:spPr bwMode="auto">
          <a:xfrm>
            <a:off x="3771900" y="2214563"/>
            <a:ext cx="952500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14</a:t>
            </a:r>
          </a:p>
        </p:txBody>
      </p:sp>
      <p:sp>
        <p:nvSpPr>
          <p:cNvPr id="85011" name="Rectangle 18"/>
          <p:cNvSpPr>
            <a:spLocks noChangeArrowheads="1"/>
          </p:cNvSpPr>
          <p:nvPr/>
        </p:nvSpPr>
        <p:spPr bwMode="auto">
          <a:xfrm rot="-5400000">
            <a:off x="424418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5012" name="Text Box 19"/>
          <p:cNvSpPr txBox="1">
            <a:spLocks noChangeArrowheads="1"/>
          </p:cNvSpPr>
          <p:nvPr/>
        </p:nvSpPr>
        <p:spPr bwMode="auto">
          <a:xfrm>
            <a:off x="427672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</a:t>
            </a:r>
          </a:p>
        </p:txBody>
      </p:sp>
      <p:sp>
        <p:nvSpPr>
          <p:cNvPr id="85013" name="Rectangle 20"/>
          <p:cNvSpPr>
            <a:spLocks noChangeArrowheads="1"/>
          </p:cNvSpPr>
          <p:nvPr/>
        </p:nvSpPr>
        <p:spPr bwMode="auto">
          <a:xfrm rot="-5400000">
            <a:off x="4750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5014" name="Text Box 21"/>
          <p:cNvSpPr txBox="1">
            <a:spLocks noChangeArrowheads="1"/>
          </p:cNvSpPr>
          <p:nvPr/>
        </p:nvSpPr>
        <p:spPr bwMode="auto">
          <a:xfrm>
            <a:off x="4783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29</a:t>
            </a:r>
          </a:p>
        </p:txBody>
      </p:sp>
      <p:sp>
        <p:nvSpPr>
          <p:cNvPr id="85015" name="Rectangle 22"/>
          <p:cNvSpPr>
            <a:spLocks noChangeArrowheads="1"/>
          </p:cNvSpPr>
          <p:nvPr/>
        </p:nvSpPr>
        <p:spPr bwMode="auto">
          <a:xfrm rot="-5400000">
            <a:off x="526176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5016" name="Text Box 23"/>
          <p:cNvSpPr txBox="1">
            <a:spLocks noChangeArrowheads="1"/>
          </p:cNvSpPr>
          <p:nvPr/>
        </p:nvSpPr>
        <p:spPr bwMode="auto">
          <a:xfrm>
            <a:off x="529431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15</a:t>
            </a:r>
          </a:p>
        </p:txBody>
      </p:sp>
      <p:sp>
        <p:nvSpPr>
          <p:cNvPr id="85017" name="Rectangle 24"/>
          <p:cNvSpPr>
            <a:spLocks noChangeArrowheads="1"/>
          </p:cNvSpPr>
          <p:nvPr/>
        </p:nvSpPr>
        <p:spPr bwMode="auto">
          <a:xfrm rot="-5400000">
            <a:off x="576738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5018" name="Text Box 25"/>
          <p:cNvSpPr txBox="1">
            <a:spLocks noChangeArrowheads="1"/>
          </p:cNvSpPr>
          <p:nvPr/>
        </p:nvSpPr>
        <p:spPr bwMode="auto">
          <a:xfrm>
            <a:off x="579913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5</a:t>
            </a:r>
          </a:p>
        </p:txBody>
      </p:sp>
      <p:sp>
        <p:nvSpPr>
          <p:cNvPr id="85019" name="Rectangle 26"/>
          <p:cNvSpPr>
            <a:spLocks noChangeArrowheads="1"/>
          </p:cNvSpPr>
          <p:nvPr/>
        </p:nvSpPr>
        <p:spPr bwMode="auto">
          <a:xfrm rot="-5400000">
            <a:off x="6274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5020" name="Text Box 27"/>
          <p:cNvSpPr txBox="1">
            <a:spLocks noChangeArrowheads="1"/>
          </p:cNvSpPr>
          <p:nvPr/>
        </p:nvSpPr>
        <p:spPr bwMode="auto">
          <a:xfrm>
            <a:off x="6307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7</a:t>
            </a:r>
          </a:p>
        </p:txBody>
      </p:sp>
      <p:sp>
        <p:nvSpPr>
          <p:cNvPr id="85021" name="Rectangle 28"/>
          <p:cNvSpPr>
            <a:spLocks noChangeArrowheads="1"/>
          </p:cNvSpPr>
          <p:nvPr/>
        </p:nvSpPr>
        <p:spPr bwMode="auto">
          <a:xfrm rot="-5400000">
            <a:off x="6780213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5022" name="Text Box 29"/>
          <p:cNvSpPr txBox="1">
            <a:spLocks noChangeArrowheads="1"/>
          </p:cNvSpPr>
          <p:nvPr/>
        </p:nvSpPr>
        <p:spPr bwMode="auto">
          <a:xfrm>
            <a:off x="6811963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18</a:t>
            </a:r>
          </a:p>
        </p:txBody>
      </p:sp>
      <p:sp>
        <p:nvSpPr>
          <p:cNvPr id="85023" name="Rectangle 30"/>
          <p:cNvSpPr>
            <a:spLocks noChangeArrowheads="1"/>
          </p:cNvSpPr>
          <p:nvPr/>
        </p:nvSpPr>
        <p:spPr bwMode="auto">
          <a:xfrm rot="-5400000">
            <a:off x="72874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5024" name="Text Box 31"/>
          <p:cNvSpPr txBox="1">
            <a:spLocks noChangeArrowheads="1"/>
          </p:cNvSpPr>
          <p:nvPr/>
        </p:nvSpPr>
        <p:spPr bwMode="auto">
          <a:xfrm>
            <a:off x="73199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17</a:t>
            </a:r>
          </a:p>
        </p:txBody>
      </p:sp>
      <p:sp>
        <p:nvSpPr>
          <p:cNvPr id="85025" name="Rectangle 32"/>
          <p:cNvSpPr>
            <a:spLocks noChangeArrowheads="1"/>
          </p:cNvSpPr>
          <p:nvPr/>
        </p:nvSpPr>
        <p:spPr bwMode="auto">
          <a:xfrm rot="-5400000">
            <a:off x="779303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5026" name="Text Box 33"/>
          <p:cNvSpPr txBox="1">
            <a:spLocks noChangeArrowheads="1"/>
          </p:cNvSpPr>
          <p:nvPr/>
        </p:nvSpPr>
        <p:spPr bwMode="auto">
          <a:xfrm>
            <a:off x="782478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11</a:t>
            </a:r>
          </a:p>
        </p:txBody>
      </p:sp>
      <p:sp>
        <p:nvSpPr>
          <p:cNvPr id="85027" name="Rectangle 34"/>
          <p:cNvSpPr>
            <a:spLocks noChangeArrowheads="1"/>
          </p:cNvSpPr>
          <p:nvPr/>
        </p:nvSpPr>
        <p:spPr bwMode="auto">
          <a:xfrm rot="-5400000">
            <a:off x="830024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5028" name="Text Box 35"/>
          <p:cNvSpPr txBox="1">
            <a:spLocks noChangeArrowheads="1"/>
          </p:cNvSpPr>
          <p:nvPr/>
        </p:nvSpPr>
        <p:spPr bwMode="auto">
          <a:xfrm>
            <a:off x="8332788" y="2212975"/>
            <a:ext cx="582612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9</a:t>
            </a:r>
          </a:p>
        </p:txBody>
      </p:sp>
      <p:sp>
        <p:nvSpPr>
          <p:cNvPr id="85029" name="Text Box 36"/>
          <p:cNvSpPr txBox="1">
            <a:spLocks noChangeArrowheads="1"/>
          </p:cNvSpPr>
          <p:nvPr/>
        </p:nvSpPr>
        <p:spPr bwMode="auto">
          <a:xfrm>
            <a:off x="228600" y="2820988"/>
            <a:ext cx="8763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0   1    2    3    4     5    6    7    8    9   10  11  12  13  14  15  16</a:t>
            </a:r>
          </a:p>
        </p:txBody>
      </p:sp>
      <p:sp>
        <p:nvSpPr>
          <p:cNvPr id="85030" name="Rectangle 37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/>
              <a:t>Array Implementation of Heap</a:t>
            </a:r>
            <a:br>
              <a:rPr lang="en-US" altLang="en-US" sz="4000"/>
            </a:br>
            <a:r>
              <a:rPr lang="en-US" altLang="en-US" sz="4000"/>
              <a:t>(cont.)</a:t>
            </a:r>
          </a:p>
        </p:txBody>
      </p:sp>
      <p:sp>
        <p:nvSpPr>
          <p:cNvPr id="85031" name="Text Box 38"/>
          <p:cNvSpPr txBox="1">
            <a:spLocks noChangeArrowheads="1"/>
          </p:cNvSpPr>
          <p:nvPr/>
        </p:nvSpPr>
        <p:spPr bwMode="auto">
          <a:xfrm>
            <a:off x="152400" y="3886200"/>
            <a:ext cx="2667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85032" name="Text Box 39"/>
          <p:cNvSpPr txBox="1">
            <a:spLocks noChangeArrowheads="1"/>
          </p:cNvSpPr>
          <p:nvPr/>
        </p:nvSpPr>
        <p:spPr bwMode="auto">
          <a:xfrm>
            <a:off x="152400" y="44958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heapsize: 16</a:t>
            </a:r>
          </a:p>
        </p:txBody>
      </p:sp>
      <p:sp>
        <p:nvSpPr>
          <p:cNvPr id="85033" name="Text Box 40"/>
          <p:cNvSpPr txBox="1">
            <a:spLocks noChangeArrowheads="1"/>
          </p:cNvSpPr>
          <p:nvPr/>
        </p:nvSpPr>
        <p:spPr bwMode="auto">
          <a:xfrm>
            <a:off x="3886200" y="3962400"/>
            <a:ext cx="4572000" cy="466725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Next, decrement the heap size</a:t>
            </a:r>
          </a:p>
        </p:txBody>
      </p:sp>
      <p:sp>
        <p:nvSpPr>
          <p:cNvPr id="85034" name="Line 41"/>
          <p:cNvSpPr>
            <a:spLocks noChangeShapeType="1"/>
          </p:cNvSpPr>
          <p:nvPr/>
        </p:nvSpPr>
        <p:spPr bwMode="auto">
          <a:xfrm flipH="1">
            <a:off x="2133600" y="4191000"/>
            <a:ext cx="1752600" cy="45720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A96EA196-19B5-458B-B936-6F0F2C75021C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85</a:t>
            </a:fld>
            <a:endParaRPr lang="en-US" altLang="en-US" sz="1400"/>
          </a:p>
        </p:txBody>
      </p:sp>
      <p:sp>
        <p:nvSpPr>
          <p:cNvPr id="86019" name="Rectangle 2"/>
          <p:cNvSpPr>
            <a:spLocks noChangeArrowheads="1"/>
          </p:cNvSpPr>
          <p:nvPr/>
        </p:nvSpPr>
        <p:spPr bwMode="auto">
          <a:xfrm rot="-5400000">
            <a:off x="196057" y="2166143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6020" name="Text Box 3"/>
          <p:cNvSpPr txBox="1">
            <a:spLocks noChangeArrowheads="1"/>
          </p:cNvSpPr>
          <p:nvPr/>
        </p:nvSpPr>
        <p:spPr bwMode="auto">
          <a:xfrm>
            <a:off x="228600" y="2211388"/>
            <a:ext cx="952500" cy="506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9</a:t>
            </a:r>
          </a:p>
        </p:txBody>
      </p:sp>
      <p:sp>
        <p:nvSpPr>
          <p:cNvPr id="86021" name="Rectangle 4"/>
          <p:cNvSpPr>
            <a:spLocks noChangeArrowheads="1"/>
          </p:cNvSpPr>
          <p:nvPr/>
        </p:nvSpPr>
        <p:spPr bwMode="auto">
          <a:xfrm rot="-5400000">
            <a:off x="702469" y="2166144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6022" name="Text Box 5"/>
          <p:cNvSpPr txBox="1">
            <a:spLocks noChangeArrowheads="1"/>
          </p:cNvSpPr>
          <p:nvPr/>
        </p:nvSpPr>
        <p:spPr bwMode="auto">
          <a:xfrm>
            <a:off x="735013" y="2211388"/>
            <a:ext cx="952500" cy="506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39</a:t>
            </a:r>
          </a:p>
        </p:txBody>
      </p:sp>
      <p:sp>
        <p:nvSpPr>
          <p:cNvPr id="86023" name="Rectangle 6"/>
          <p:cNvSpPr>
            <a:spLocks noChangeArrowheads="1"/>
          </p:cNvSpPr>
          <p:nvPr/>
        </p:nvSpPr>
        <p:spPr bwMode="auto">
          <a:xfrm rot="-5400000">
            <a:off x="12072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6024" name="Text Box 7"/>
          <p:cNvSpPr txBox="1">
            <a:spLocks noChangeArrowheads="1"/>
          </p:cNvSpPr>
          <p:nvPr/>
        </p:nvSpPr>
        <p:spPr bwMode="auto">
          <a:xfrm>
            <a:off x="12398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28</a:t>
            </a:r>
          </a:p>
        </p:txBody>
      </p:sp>
      <p:sp>
        <p:nvSpPr>
          <p:cNvPr id="86025" name="Rectangle 8"/>
          <p:cNvSpPr>
            <a:spLocks noChangeArrowheads="1"/>
          </p:cNvSpPr>
          <p:nvPr/>
        </p:nvSpPr>
        <p:spPr bwMode="auto">
          <a:xfrm rot="-5400000">
            <a:off x="1714500" y="2166938"/>
            <a:ext cx="571500" cy="508000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6026" name="Text Box 9"/>
          <p:cNvSpPr txBox="1">
            <a:spLocks noChangeArrowheads="1"/>
          </p:cNvSpPr>
          <p:nvPr/>
        </p:nvSpPr>
        <p:spPr bwMode="auto">
          <a:xfrm>
            <a:off x="1746250" y="2212975"/>
            <a:ext cx="9525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16</a:t>
            </a:r>
          </a:p>
        </p:txBody>
      </p:sp>
      <p:sp>
        <p:nvSpPr>
          <p:cNvPr id="86027" name="Rectangle 10"/>
          <p:cNvSpPr>
            <a:spLocks noChangeArrowheads="1"/>
          </p:cNvSpPr>
          <p:nvPr/>
        </p:nvSpPr>
        <p:spPr bwMode="auto">
          <a:xfrm rot="-5400000">
            <a:off x="2221707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6028" name="Text Box 11"/>
          <p:cNvSpPr txBox="1">
            <a:spLocks noChangeArrowheads="1"/>
          </p:cNvSpPr>
          <p:nvPr/>
        </p:nvSpPr>
        <p:spPr bwMode="auto">
          <a:xfrm>
            <a:off x="2254250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32</a:t>
            </a:r>
          </a:p>
        </p:txBody>
      </p:sp>
      <p:sp>
        <p:nvSpPr>
          <p:cNvPr id="86029" name="Rectangle 12"/>
          <p:cNvSpPr>
            <a:spLocks noChangeArrowheads="1"/>
          </p:cNvSpPr>
          <p:nvPr/>
        </p:nvSpPr>
        <p:spPr bwMode="auto">
          <a:xfrm rot="-5400000">
            <a:off x="27281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6030" name="Text Box 13"/>
          <p:cNvSpPr txBox="1">
            <a:spLocks noChangeArrowheads="1"/>
          </p:cNvSpPr>
          <p:nvPr/>
        </p:nvSpPr>
        <p:spPr bwMode="auto">
          <a:xfrm>
            <a:off x="27606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24</a:t>
            </a:r>
          </a:p>
        </p:txBody>
      </p:sp>
      <p:sp>
        <p:nvSpPr>
          <p:cNvPr id="86031" name="Rectangle 14"/>
          <p:cNvSpPr>
            <a:spLocks noChangeArrowheads="1"/>
          </p:cNvSpPr>
          <p:nvPr/>
        </p:nvSpPr>
        <p:spPr bwMode="auto">
          <a:xfrm rot="-5400000">
            <a:off x="323453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6032" name="Text Box 15"/>
          <p:cNvSpPr txBox="1">
            <a:spLocks noChangeArrowheads="1"/>
          </p:cNvSpPr>
          <p:nvPr/>
        </p:nvSpPr>
        <p:spPr bwMode="auto">
          <a:xfrm>
            <a:off x="326707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25</a:t>
            </a:r>
          </a:p>
        </p:txBody>
      </p:sp>
      <p:sp>
        <p:nvSpPr>
          <p:cNvPr id="86033" name="Rectangle 16"/>
          <p:cNvSpPr>
            <a:spLocks noChangeArrowheads="1"/>
          </p:cNvSpPr>
          <p:nvPr/>
        </p:nvSpPr>
        <p:spPr bwMode="auto">
          <a:xfrm rot="-5400000">
            <a:off x="3739357" y="2169319"/>
            <a:ext cx="571500" cy="503237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6034" name="Text Box 17"/>
          <p:cNvSpPr txBox="1">
            <a:spLocks noChangeArrowheads="1"/>
          </p:cNvSpPr>
          <p:nvPr/>
        </p:nvSpPr>
        <p:spPr bwMode="auto">
          <a:xfrm>
            <a:off x="3771900" y="2214563"/>
            <a:ext cx="952500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14</a:t>
            </a:r>
          </a:p>
        </p:txBody>
      </p:sp>
      <p:sp>
        <p:nvSpPr>
          <p:cNvPr id="86035" name="Rectangle 18"/>
          <p:cNvSpPr>
            <a:spLocks noChangeArrowheads="1"/>
          </p:cNvSpPr>
          <p:nvPr/>
        </p:nvSpPr>
        <p:spPr bwMode="auto">
          <a:xfrm rot="-5400000">
            <a:off x="424418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6036" name="Text Box 19"/>
          <p:cNvSpPr txBox="1">
            <a:spLocks noChangeArrowheads="1"/>
          </p:cNvSpPr>
          <p:nvPr/>
        </p:nvSpPr>
        <p:spPr bwMode="auto">
          <a:xfrm>
            <a:off x="427672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</a:t>
            </a:r>
          </a:p>
        </p:txBody>
      </p:sp>
      <p:sp>
        <p:nvSpPr>
          <p:cNvPr id="86037" name="Rectangle 20"/>
          <p:cNvSpPr>
            <a:spLocks noChangeArrowheads="1"/>
          </p:cNvSpPr>
          <p:nvPr/>
        </p:nvSpPr>
        <p:spPr bwMode="auto">
          <a:xfrm rot="-5400000">
            <a:off x="4750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6038" name="Text Box 21"/>
          <p:cNvSpPr txBox="1">
            <a:spLocks noChangeArrowheads="1"/>
          </p:cNvSpPr>
          <p:nvPr/>
        </p:nvSpPr>
        <p:spPr bwMode="auto">
          <a:xfrm>
            <a:off x="4783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29</a:t>
            </a:r>
          </a:p>
        </p:txBody>
      </p:sp>
      <p:sp>
        <p:nvSpPr>
          <p:cNvPr id="86039" name="Rectangle 22"/>
          <p:cNvSpPr>
            <a:spLocks noChangeArrowheads="1"/>
          </p:cNvSpPr>
          <p:nvPr/>
        </p:nvSpPr>
        <p:spPr bwMode="auto">
          <a:xfrm rot="-5400000">
            <a:off x="526176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6040" name="Text Box 23"/>
          <p:cNvSpPr txBox="1">
            <a:spLocks noChangeArrowheads="1"/>
          </p:cNvSpPr>
          <p:nvPr/>
        </p:nvSpPr>
        <p:spPr bwMode="auto">
          <a:xfrm>
            <a:off x="529431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15</a:t>
            </a:r>
          </a:p>
        </p:txBody>
      </p:sp>
      <p:sp>
        <p:nvSpPr>
          <p:cNvPr id="86041" name="Rectangle 24"/>
          <p:cNvSpPr>
            <a:spLocks noChangeArrowheads="1"/>
          </p:cNvSpPr>
          <p:nvPr/>
        </p:nvSpPr>
        <p:spPr bwMode="auto">
          <a:xfrm rot="-5400000">
            <a:off x="576738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6042" name="Text Box 25"/>
          <p:cNvSpPr txBox="1">
            <a:spLocks noChangeArrowheads="1"/>
          </p:cNvSpPr>
          <p:nvPr/>
        </p:nvSpPr>
        <p:spPr bwMode="auto">
          <a:xfrm>
            <a:off x="579913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5</a:t>
            </a:r>
          </a:p>
        </p:txBody>
      </p:sp>
      <p:sp>
        <p:nvSpPr>
          <p:cNvPr id="86043" name="Rectangle 26"/>
          <p:cNvSpPr>
            <a:spLocks noChangeArrowheads="1"/>
          </p:cNvSpPr>
          <p:nvPr/>
        </p:nvSpPr>
        <p:spPr bwMode="auto">
          <a:xfrm rot="-5400000">
            <a:off x="6274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6044" name="Text Box 27"/>
          <p:cNvSpPr txBox="1">
            <a:spLocks noChangeArrowheads="1"/>
          </p:cNvSpPr>
          <p:nvPr/>
        </p:nvSpPr>
        <p:spPr bwMode="auto">
          <a:xfrm>
            <a:off x="6307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7</a:t>
            </a:r>
          </a:p>
        </p:txBody>
      </p:sp>
      <p:sp>
        <p:nvSpPr>
          <p:cNvPr id="86045" name="Rectangle 28"/>
          <p:cNvSpPr>
            <a:spLocks noChangeArrowheads="1"/>
          </p:cNvSpPr>
          <p:nvPr/>
        </p:nvSpPr>
        <p:spPr bwMode="auto">
          <a:xfrm rot="-5400000">
            <a:off x="6780213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6046" name="Text Box 29"/>
          <p:cNvSpPr txBox="1">
            <a:spLocks noChangeArrowheads="1"/>
          </p:cNvSpPr>
          <p:nvPr/>
        </p:nvSpPr>
        <p:spPr bwMode="auto">
          <a:xfrm>
            <a:off x="6811963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18</a:t>
            </a:r>
          </a:p>
        </p:txBody>
      </p:sp>
      <p:sp>
        <p:nvSpPr>
          <p:cNvPr id="86047" name="Rectangle 30"/>
          <p:cNvSpPr>
            <a:spLocks noChangeArrowheads="1"/>
          </p:cNvSpPr>
          <p:nvPr/>
        </p:nvSpPr>
        <p:spPr bwMode="auto">
          <a:xfrm rot="-5400000">
            <a:off x="72874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6048" name="Text Box 31"/>
          <p:cNvSpPr txBox="1">
            <a:spLocks noChangeArrowheads="1"/>
          </p:cNvSpPr>
          <p:nvPr/>
        </p:nvSpPr>
        <p:spPr bwMode="auto">
          <a:xfrm>
            <a:off x="73199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17</a:t>
            </a:r>
          </a:p>
        </p:txBody>
      </p:sp>
      <p:sp>
        <p:nvSpPr>
          <p:cNvPr id="86049" name="Rectangle 32"/>
          <p:cNvSpPr>
            <a:spLocks noChangeArrowheads="1"/>
          </p:cNvSpPr>
          <p:nvPr/>
        </p:nvSpPr>
        <p:spPr bwMode="auto">
          <a:xfrm rot="-5400000">
            <a:off x="779303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6050" name="Text Box 33"/>
          <p:cNvSpPr txBox="1">
            <a:spLocks noChangeArrowheads="1"/>
          </p:cNvSpPr>
          <p:nvPr/>
        </p:nvSpPr>
        <p:spPr bwMode="auto">
          <a:xfrm>
            <a:off x="782478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11</a:t>
            </a:r>
          </a:p>
        </p:txBody>
      </p:sp>
      <p:sp>
        <p:nvSpPr>
          <p:cNvPr id="86051" name="Rectangle 34"/>
          <p:cNvSpPr>
            <a:spLocks noChangeArrowheads="1"/>
          </p:cNvSpPr>
          <p:nvPr/>
        </p:nvSpPr>
        <p:spPr bwMode="auto">
          <a:xfrm rot="-5400000">
            <a:off x="830024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6052" name="Text Box 35"/>
          <p:cNvSpPr txBox="1">
            <a:spLocks noChangeArrowheads="1"/>
          </p:cNvSpPr>
          <p:nvPr/>
        </p:nvSpPr>
        <p:spPr bwMode="auto">
          <a:xfrm>
            <a:off x="8332788" y="2212975"/>
            <a:ext cx="582612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9</a:t>
            </a:r>
          </a:p>
        </p:txBody>
      </p:sp>
      <p:sp>
        <p:nvSpPr>
          <p:cNvPr id="86053" name="Text Box 36"/>
          <p:cNvSpPr txBox="1">
            <a:spLocks noChangeArrowheads="1"/>
          </p:cNvSpPr>
          <p:nvPr/>
        </p:nvSpPr>
        <p:spPr bwMode="auto">
          <a:xfrm>
            <a:off x="228600" y="2820988"/>
            <a:ext cx="8763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0   1    2    3    4     5    6    7    8    9   10  11  12  13  14  15  16</a:t>
            </a:r>
          </a:p>
        </p:txBody>
      </p:sp>
      <p:sp>
        <p:nvSpPr>
          <p:cNvPr id="86054" name="Rectangle 37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/>
              <a:t>Array Implementation of Heap</a:t>
            </a:r>
            <a:br>
              <a:rPr lang="en-US" altLang="en-US" sz="4000"/>
            </a:br>
            <a:r>
              <a:rPr lang="en-US" altLang="en-US" sz="4000"/>
              <a:t>(cont.)</a:t>
            </a:r>
          </a:p>
        </p:txBody>
      </p:sp>
      <p:sp>
        <p:nvSpPr>
          <p:cNvPr id="86055" name="Text Box 38"/>
          <p:cNvSpPr txBox="1">
            <a:spLocks noChangeArrowheads="1"/>
          </p:cNvSpPr>
          <p:nvPr/>
        </p:nvSpPr>
        <p:spPr bwMode="auto">
          <a:xfrm>
            <a:off x="152400" y="3886200"/>
            <a:ext cx="2667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86056" name="Text Box 39"/>
          <p:cNvSpPr txBox="1">
            <a:spLocks noChangeArrowheads="1"/>
          </p:cNvSpPr>
          <p:nvPr/>
        </p:nvSpPr>
        <p:spPr bwMode="auto">
          <a:xfrm>
            <a:off x="152400" y="44958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heapsize: 16</a:t>
            </a:r>
          </a:p>
        </p:txBody>
      </p:sp>
      <p:sp>
        <p:nvSpPr>
          <p:cNvPr id="86057" name="Text Box 42"/>
          <p:cNvSpPr txBox="1">
            <a:spLocks noChangeArrowheads="1"/>
          </p:cNvSpPr>
          <p:nvPr/>
        </p:nvSpPr>
        <p:spPr bwMode="auto">
          <a:xfrm>
            <a:off x="3810000" y="3657600"/>
            <a:ext cx="4191000" cy="156210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The value at index 16 can’t be used anymore; it will be overwritten on the next enqueue</a:t>
            </a:r>
          </a:p>
        </p:txBody>
      </p:sp>
      <p:sp>
        <p:nvSpPr>
          <p:cNvPr id="86058" name="Freeform 44"/>
          <p:cNvSpPr>
            <a:spLocks/>
          </p:cNvSpPr>
          <p:nvPr/>
        </p:nvSpPr>
        <p:spPr bwMode="auto">
          <a:xfrm>
            <a:off x="8001000" y="3352800"/>
            <a:ext cx="660400" cy="889000"/>
          </a:xfrm>
          <a:custGeom>
            <a:avLst/>
            <a:gdLst>
              <a:gd name="T0" fmla="*/ 0 w 416"/>
              <a:gd name="T1" fmla="*/ 2147483646 h 560"/>
              <a:gd name="T2" fmla="*/ 2147483646 w 416"/>
              <a:gd name="T3" fmla="*/ 2147483646 h 560"/>
              <a:gd name="T4" fmla="*/ 2147483646 w 416"/>
              <a:gd name="T5" fmla="*/ 2147483646 h 560"/>
              <a:gd name="T6" fmla="*/ 2147483646 w 416"/>
              <a:gd name="T7" fmla="*/ 0 h 56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16" h="560">
                <a:moveTo>
                  <a:pt x="0" y="528"/>
                </a:moveTo>
                <a:cubicBezTo>
                  <a:pt x="64" y="544"/>
                  <a:pt x="128" y="560"/>
                  <a:pt x="192" y="528"/>
                </a:cubicBezTo>
                <a:cubicBezTo>
                  <a:pt x="256" y="496"/>
                  <a:pt x="352" y="424"/>
                  <a:pt x="384" y="336"/>
                </a:cubicBezTo>
                <a:cubicBezTo>
                  <a:pt x="416" y="248"/>
                  <a:pt x="384" y="56"/>
                  <a:pt x="384" y="0"/>
                </a:cubicBezTo>
              </a:path>
            </a:pathLst>
          </a:custGeom>
          <a:noFill/>
          <a:ln w="38100" cap="flat" cmpd="sng">
            <a:solidFill>
              <a:srgbClr val="FF33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0AA3C8F7-27FC-4310-9E18-5FAB7567437A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86</a:t>
            </a:fld>
            <a:endParaRPr lang="en-US" altLang="en-US" sz="1400"/>
          </a:p>
        </p:txBody>
      </p:sp>
      <p:sp>
        <p:nvSpPr>
          <p:cNvPr id="87043" name="Rectangle 2"/>
          <p:cNvSpPr>
            <a:spLocks noChangeArrowheads="1"/>
          </p:cNvSpPr>
          <p:nvPr/>
        </p:nvSpPr>
        <p:spPr bwMode="auto">
          <a:xfrm rot="-5400000">
            <a:off x="196057" y="2166143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7044" name="Text Box 3"/>
          <p:cNvSpPr txBox="1">
            <a:spLocks noChangeArrowheads="1"/>
          </p:cNvSpPr>
          <p:nvPr/>
        </p:nvSpPr>
        <p:spPr bwMode="auto">
          <a:xfrm>
            <a:off x="228600" y="2211388"/>
            <a:ext cx="952500" cy="506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9</a:t>
            </a:r>
          </a:p>
        </p:txBody>
      </p:sp>
      <p:sp>
        <p:nvSpPr>
          <p:cNvPr id="87045" name="Rectangle 4"/>
          <p:cNvSpPr>
            <a:spLocks noChangeArrowheads="1"/>
          </p:cNvSpPr>
          <p:nvPr/>
        </p:nvSpPr>
        <p:spPr bwMode="auto">
          <a:xfrm rot="-5400000">
            <a:off x="702469" y="2166144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7046" name="Text Box 5"/>
          <p:cNvSpPr txBox="1">
            <a:spLocks noChangeArrowheads="1"/>
          </p:cNvSpPr>
          <p:nvPr/>
        </p:nvSpPr>
        <p:spPr bwMode="auto">
          <a:xfrm>
            <a:off x="735013" y="2211388"/>
            <a:ext cx="952500" cy="506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39</a:t>
            </a:r>
          </a:p>
        </p:txBody>
      </p:sp>
      <p:sp>
        <p:nvSpPr>
          <p:cNvPr id="87047" name="Rectangle 6"/>
          <p:cNvSpPr>
            <a:spLocks noChangeArrowheads="1"/>
          </p:cNvSpPr>
          <p:nvPr/>
        </p:nvSpPr>
        <p:spPr bwMode="auto">
          <a:xfrm rot="-5400000">
            <a:off x="12072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7048" name="Text Box 7"/>
          <p:cNvSpPr txBox="1">
            <a:spLocks noChangeArrowheads="1"/>
          </p:cNvSpPr>
          <p:nvPr/>
        </p:nvSpPr>
        <p:spPr bwMode="auto">
          <a:xfrm>
            <a:off x="12398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28</a:t>
            </a:r>
          </a:p>
        </p:txBody>
      </p:sp>
      <p:sp>
        <p:nvSpPr>
          <p:cNvPr id="87049" name="Rectangle 8"/>
          <p:cNvSpPr>
            <a:spLocks noChangeArrowheads="1"/>
          </p:cNvSpPr>
          <p:nvPr/>
        </p:nvSpPr>
        <p:spPr bwMode="auto">
          <a:xfrm rot="-5400000">
            <a:off x="1714500" y="2166938"/>
            <a:ext cx="571500" cy="508000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7050" name="Text Box 9"/>
          <p:cNvSpPr txBox="1">
            <a:spLocks noChangeArrowheads="1"/>
          </p:cNvSpPr>
          <p:nvPr/>
        </p:nvSpPr>
        <p:spPr bwMode="auto">
          <a:xfrm>
            <a:off x="1746250" y="2212975"/>
            <a:ext cx="9525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16</a:t>
            </a:r>
          </a:p>
        </p:txBody>
      </p:sp>
      <p:sp>
        <p:nvSpPr>
          <p:cNvPr id="87051" name="Rectangle 10"/>
          <p:cNvSpPr>
            <a:spLocks noChangeArrowheads="1"/>
          </p:cNvSpPr>
          <p:nvPr/>
        </p:nvSpPr>
        <p:spPr bwMode="auto">
          <a:xfrm rot="-5400000">
            <a:off x="2221707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7052" name="Text Box 11"/>
          <p:cNvSpPr txBox="1">
            <a:spLocks noChangeArrowheads="1"/>
          </p:cNvSpPr>
          <p:nvPr/>
        </p:nvSpPr>
        <p:spPr bwMode="auto">
          <a:xfrm>
            <a:off x="2254250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32</a:t>
            </a:r>
          </a:p>
        </p:txBody>
      </p:sp>
      <p:sp>
        <p:nvSpPr>
          <p:cNvPr id="87053" name="Rectangle 12"/>
          <p:cNvSpPr>
            <a:spLocks noChangeArrowheads="1"/>
          </p:cNvSpPr>
          <p:nvPr/>
        </p:nvSpPr>
        <p:spPr bwMode="auto">
          <a:xfrm rot="-5400000">
            <a:off x="27281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7054" name="Text Box 13"/>
          <p:cNvSpPr txBox="1">
            <a:spLocks noChangeArrowheads="1"/>
          </p:cNvSpPr>
          <p:nvPr/>
        </p:nvSpPr>
        <p:spPr bwMode="auto">
          <a:xfrm>
            <a:off x="27606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24</a:t>
            </a:r>
          </a:p>
        </p:txBody>
      </p:sp>
      <p:sp>
        <p:nvSpPr>
          <p:cNvPr id="87055" name="Rectangle 14"/>
          <p:cNvSpPr>
            <a:spLocks noChangeArrowheads="1"/>
          </p:cNvSpPr>
          <p:nvPr/>
        </p:nvSpPr>
        <p:spPr bwMode="auto">
          <a:xfrm rot="-5400000">
            <a:off x="323453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7056" name="Text Box 15"/>
          <p:cNvSpPr txBox="1">
            <a:spLocks noChangeArrowheads="1"/>
          </p:cNvSpPr>
          <p:nvPr/>
        </p:nvSpPr>
        <p:spPr bwMode="auto">
          <a:xfrm>
            <a:off x="326707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25</a:t>
            </a:r>
          </a:p>
        </p:txBody>
      </p:sp>
      <p:sp>
        <p:nvSpPr>
          <p:cNvPr id="87057" name="Rectangle 16"/>
          <p:cNvSpPr>
            <a:spLocks noChangeArrowheads="1"/>
          </p:cNvSpPr>
          <p:nvPr/>
        </p:nvSpPr>
        <p:spPr bwMode="auto">
          <a:xfrm rot="-5400000">
            <a:off x="3739357" y="2169319"/>
            <a:ext cx="571500" cy="503237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7058" name="Text Box 17"/>
          <p:cNvSpPr txBox="1">
            <a:spLocks noChangeArrowheads="1"/>
          </p:cNvSpPr>
          <p:nvPr/>
        </p:nvSpPr>
        <p:spPr bwMode="auto">
          <a:xfrm>
            <a:off x="3771900" y="2214563"/>
            <a:ext cx="952500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14</a:t>
            </a:r>
          </a:p>
        </p:txBody>
      </p:sp>
      <p:sp>
        <p:nvSpPr>
          <p:cNvPr id="87059" name="Rectangle 18"/>
          <p:cNvSpPr>
            <a:spLocks noChangeArrowheads="1"/>
          </p:cNvSpPr>
          <p:nvPr/>
        </p:nvSpPr>
        <p:spPr bwMode="auto">
          <a:xfrm rot="-5400000">
            <a:off x="424418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7060" name="Text Box 19"/>
          <p:cNvSpPr txBox="1">
            <a:spLocks noChangeArrowheads="1"/>
          </p:cNvSpPr>
          <p:nvPr/>
        </p:nvSpPr>
        <p:spPr bwMode="auto">
          <a:xfrm>
            <a:off x="427672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</a:t>
            </a:r>
          </a:p>
        </p:txBody>
      </p:sp>
      <p:sp>
        <p:nvSpPr>
          <p:cNvPr id="87061" name="Rectangle 20"/>
          <p:cNvSpPr>
            <a:spLocks noChangeArrowheads="1"/>
          </p:cNvSpPr>
          <p:nvPr/>
        </p:nvSpPr>
        <p:spPr bwMode="auto">
          <a:xfrm rot="-5400000">
            <a:off x="4750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7062" name="Text Box 21"/>
          <p:cNvSpPr txBox="1">
            <a:spLocks noChangeArrowheads="1"/>
          </p:cNvSpPr>
          <p:nvPr/>
        </p:nvSpPr>
        <p:spPr bwMode="auto">
          <a:xfrm>
            <a:off x="4783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29</a:t>
            </a:r>
          </a:p>
        </p:txBody>
      </p:sp>
      <p:sp>
        <p:nvSpPr>
          <p:cNvPr id="87063" name="Rectangle 22"/>
          <p:cNvSpPr>
            <a:spLocks noChangeArrowheads="1"/>
          </p:cNvSpPr>
          <p:nvPr/>
        </p:nvSpPr>
        <p:spPr bwMode="auto">
          <a:xfrm rot="-5400000">
            <a:off x="526176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7064" name="Text Box 23"/>
          <p:cNvSpPr txBox="1">
            <a:spLocks noChangeArrowheads="1"/>
          </p:cNvSpPr>
          <p:nvPr/>
        </p:nvSpPr>
        <p:spPr bwMode="auto">
          <a:xfrm>
            <a:off x="529431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15</a:t>
            </a:r>
          </a:p>
        </p:txBody>
      </p:sp>
      <p:sp>
        <p:nvSpPr>
          <p:cNvPr id="87065" name="Rectangle 24"/>
          <p:cNvSpPr>
            <a:spLocks noChangeArrowheads="1"/>
          </p:cNvSpPr>
          <p:nvPr/>
        </p:nvSpPr>
        <p:spPr bwMode="auto">
          <a:xfrm rot="-5400000">
            <a:off x="576738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7066" name="Text Box 25"/>
          <p:cNvSpPr txBox="1">
            <a:spLocks noChangeArrowheads="1"/>
          </p:cNvSpPr>
          <p:nvPr/>
        </p:nvSpPr>
        <p:spPr bwMode="auto">
          <a:xfrm>
            <a:off x="579913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5</a:t>
            </a:r>
          </a:p>
        </p:txBody>
      </p:sp>
      <p:sp>
        <p:nvSpPr>
          <p:cNvPr id="87067" name="Rectangle 26"/>
          <p:cNvSpPr>
            <a:spLocks noChangeArrowheads="1"/>
          </p:cNvSpPr>
          <p:nvPr/>
        </p:nvSpPr>
        <p:spPr bwMode="auto">
          <a:xfrm rot="-5400000">
            <a:off x="6274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7068" name="Text Box 27"/>
          <p:cNvSpPr txBox="1">
            <a:spLocks noChangeArrowheads="1"/>
          </p:cNvSpPr>
          <p:nvPr/>
        </p:nvSpPr>
        <p:spPr bwMode="auto">
          <a:xfrm>
            <a:off x="6307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7</a:t>
            </a:r>
          </a:p>
        </p:txBody>
      </p:sp>
      <p:sp>
        <p:nvSpPr>
          <p:cNvPr id="87069" name="Rectangle 28"/>
          <p:cNvSpPr>
            <a:spLocks noChangeArrowheads="1"/>
          </p:cNvSpPr>
          <p:nvPr/>
        </p:nvSpPr>
        <p:spPr bwMode="auto">
          <a:xfrm rot="-5400000">
            <a:off x="6780213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7070" name="Text Box 29"/>
          <p:cNvSpPr txBox="1">
            <a:spLocks noChangeArrowheads="1"/>
          </p:cNvSpPr>
          <p:nvPr/>
        </p:nvSpPr>
        <p:spPr bwMode="auto">
          <a:xfrm>
            <a:off x="6811963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18</a:t>
            </a:r>
          </a:p>
        </p:txBody>
      </p:sp>
      <p:sp>
        <p:nvSpPr>
          <p:cNvPr id="87071" name="Rectangle 30"/>
          <p:cNvSpPr>
            <a:spLocks noChangeArrowheads="1"/>
          </p:cNvSpPr>
          <p:nvPr/>
        </p:nvSpPr>
        <p:spPr bwMode="auto">
          <a:xfrm rot="-5400000">
            <a:off x="72874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7072" name="Text Box 31"/>
          <p:cNvSpPr txBox="1">
            <a:spLocks noChangeArrowheads="1"/>
          </p:cNvSpPr>
          <p:nvPr/>
        </p:nvSpPr>
        <p:spPr bwMode="auto">
          <a:xfrm>
            <a:off x="73199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17</a:t>
            </a:r>
          </a:p>
        </p:txBody>
      </p:sp>
      <p:sp>
        <p:nvSpPr>
          <p:cNvPr id="87073" name="Rectangle 32"/>
          <p:cNvSpPr>
            <a:spLocks noChangeArrowheads="1"/>
          </p:cNvSpPr>
          <p:nvPr/>
        </p:nvSpPr>
        <p:spPr bwMode="auto">
          <a:xfrm rot="-5400000">
            <a:off x="779303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7074" name="Text Box 33"/>
          <p:cNvSpPr txBox="1">
            <a:spLocks noChangeArrowheads="1"/>
          </p:cNvSpPr>
          <p:nvPr/>
        </p:nvSpPr>
        <p:spPr bwMode="auto">
          <a:xfrm>
            <a:off x="782478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11</a:t>
            </a:r>
          </a:p>
        </p:txBody>
      </p:sp>
      <p:sp>
        <p:nvSpPr>
          <p:cNvPr id="87075" name="Rectangle 34"/>
          <p:cNvSpPr>
            <a:spLocks noChangeArrowheads="1"/>
          </p:cNvSpPr>
          <p:nvPr/>
        </p:nvSpPr>
        <p:spPr bwMode="auto">
          <a:xfrm rot="-5400000">
            <a:off x="830024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7076" name="Text Box 35"/>
          <p:cNvSpPr txBox="1">
            <a:spLocks noChangeArrowheads="1"/>
          </p:cNvSpPr>
          <p:nvPr/>
        </p:nvSpPr>
        <p:spPr bwMode="auto">
          <a:xfrm>
            <a:off x="8332788" y="2212975"/>
            <a:ext cx="582612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9</a:t>
            </a:r>
          </a:p>
        </p:txBody>
      </p:sp>
      <p:sp>
        <p:nvSpPr>
          <p:cNvPr id="87077" name="Text Box 36"/>
          <p:cNvSpPr txBox="1">
            <a:spLocks noChangeArrowheads="1"/>
          </p:cNvSpPr>
          <p:nvPr/>
        </p:nvSpPr>
        <p:spPr bwMode="auto">
          <a:xfrm>
            <a:off x="228600" y="2820988"/>
            <a:ext cx="8763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0   1    2    3    4     5    6    7    8    9   10  11  12  13  14  15  16</a:t>
            </a:r>
          </a:p>
        </p:txBody>
      </p:sp>
      <p:sp>
        <p:nvSpPr>
          <p:cNvPr id="87078" name="Rectangle 37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/>
              <a:t>Array Implementation of Heap</a:t>
            </a:r>
            <a:br>
              <a:rPr lang="en-US" altLang="en-US" sz="4000"/>
            </a:br>
            <a:r>
              <a:rPr lang="en-US" altLang="en-US" sz="4000"/>
              <a:t>(cont.)</a:t>
            </a:r>
          </a:p>
        </p:txBody>
      </p:sp>
      <p:sp>
        <p:nvSpPr>
          <p:cNvPr id="87079" name="Text Box 38"/>
          <p:cNvSpPr txBox="1">
            <a:spLocks noChangeArrowheads="1"/>
          </p:cNvSpPr>
          <p:nvPr/>
        </p:nvSpPr>
        <p:spPr bwMode="auto">
          <a:xfrm>
            <a:off x="152400" y="3886200"/>
            <a:ext cx="2667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87080" name="Text Box 39"/>
          <p:cNvSpPr txBox="1">
            <a:spLocks noChangeArrowheads="1"/>
          </p:cNvSpPr>
          <p:nvPr/>
        </p:nvSpPr>
        <p:spPr bwMode="auto">
          <a:xfrm>
            <a:off x="152400" y="44958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heapsize: 16</a:t>
            </a:r>
          </a:p>
        </p:txBody>
      </p:sp>
      <p:sp>
        <p:nvSpPr>
          <p:cNvPr id="87081" name="Text Box 42"/>
          <p:cNvSpPr txBox="1">
            <a:spLocks noChangeArrowheads="1"/>
          </p:cNvSpPr>
          <p:nvPr/>
        </p:nvSpPr>
        <p:spPr bwMode="auto">
          <a:xfrm>
            <a:off x="3886200" y="3505200"/>
            <a:ext cx="4191000" cy="2109788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Now, we need to find the greatest child of node 0 and compare it to 9.</a:t>
            </a:r>
          </a:p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But how do we get the greatest child?</a:t>
            </a: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8C84D815-F481-4333-9A5A-904A8F4EED91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87</a:t>
            </a:fld>
            <a:endParaRPr lang="en-US" altLang="en-US" sz="1400"/>
          </a:p>
        </p:txBody>
      </p:sp>
      <p:sp>
        <p:nvSpPr>
          <p:cNvPr id="88067" name="Rectangle 2"/>
          <p:cNvSpPr>
            <a:spLocks noChangeArrowheads="1"/>
          </p:cNvSpPr>
          <p:nvPr/>
        </p:nvSpPr>
        <p:spPr bwMode="auto">
          <a:xfrm rot="-5400000">
            <a:off x="196057" y="2166143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8068" name="Text Box 3"/>
          <p:cNvSpPr txBox="1">
            <a:spLocks noChangeArrowheads="1"/>
          </p:cNvSpPr>
          <p:nvPr/>
        </p:nvSpPr>
        <p:spPr bwMode="auto">
          <a:xfrm>
            <a:off x="228600" y="2211388"/>
            <a:ext cx="952500" cy="506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9</a:t>
            </a:r>
          </a:p>
        </p:txBody>
      </p:sp>
      <p:sp>
        <p:nvSpPr>
          <p:cNvPr id="88069" name="Rectangle 4"/>
          <p:cNvSpPr>
            <a:spLocks noChangeArrowheads="1"/>
          </p:cNvSpPr>
          <p:nvPr/>
        </p:nvSpPr>
        <p:spPr bwMode="auto">
          <a:xfrm rot="-5400000">
            <a:off x="702469" y="2166144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8070" name="Text Box 5"/>
          <p:cNvSpPr txBox="1">
            <a:spLocks noChangeArrowheads="1"/>
          </p:cNvSpPr>
          <p:nvPr/>
        </p:nvSpPr>
        <p:spPr bwMode="auto">
          <a:xfrm>
            <a:off x="735013" y="2211388"/>
            <a:ext cx="952500" cy="506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39</a:t>
            </a:r>
          </a:p>
        </p:txBody>
      </p:sp>
      <p:sp>
        <p:nvSpPr>
          <p:cNvPr id="88071" name="Rectangle 6"/>
          <p:cNvSpPr>
            <a:spLocks noChangeArrowheads="1"/>
          </p:cNvSpPr>
          <p:nvPr/>
        </p:nvSpPr>
        <p:spPr bwMode="auto">
          <a:xfrm rot="-5400000">
            <a:off x="12072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8072" name="Text Box 7"/>
          <p:cNvSpPr txBox="1">
            <a:spLocks noChangeArrowheads="1"/>
          </p:cNvSpPr>
          <p:nvPr/>
        </p:nvSpPr>
        <p:spPr bwMode="auto">
          <a:xfrm>
            <a:off x="12398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28</a:t>
            </a:r>
          </a:p>
        </p:txBody>
      </p:sp>
      <p:sp>
        <p:nvSpPr>
          <p:cNvPr id="88073" name="Rectangle 8"/>
          <p:cNvSpPr>
            <a:spLocks noChangeArrowheads="1"/>
          </p:cNvSpPr>
          <p:nvPr/>
        </p:nvSpPr>
        <p:spPr bwMode="auto">
          <a:xfrm rot="-5400000">
            <a:off x="1714500" y="2166938"/>
            <a:ext cx="571500" cy="508000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8074" name="Text Box 9"/>
          <p:cNvSpPr txBox="1">
            <a:spLocks noChangeArrowheads="1"/>
          </p:cNvSpPr>
          <p:nvPr/>
        </p:nvSpPr>
        <p:spPr bwMode="auto">
          <a:xfrm>
            <a:off x="1746250" y="2212975"/>
            <a:ext cx="9525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16</a:t>
            </a:r>
          </a:p>
        </p:txBody>
      </p:sp>
      <p:sp>
        <p:nvSpPr>
          <p:cNvPr id="88075" name="Rectangle 10"/>
          <p:cNvSpPr>
            <a:spLocks noChangeArrowheads="1"/>
          </p:cNvSpPr>
          <p:nvPr/>
        </p:nvSpPr>
        <p:spPr bwMode="auto">
          <a:xfrm rot="-5400000">
            <a:off x="2221707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8076" name="Text Box 11"/>
          <p:cNvSpPr txBox="1">
            <a:spLocks noChangeArrowheads="1"/>
          </p:cNvSpPr>
          <p:nvPr/>
        </p:nvSpPr>
        <p:spPr bwMode="auto">
          <a:xfrm>
            <a:off x="2254250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32</a:t>
            </a:r>
          </a:p>
        </p:txBody>
      </p:sp>
      <p:sp>
        <p:nvSpPr>
          <p:cNvPr id="88077" name="Rectangle 12"/>
          <p:cNvSpPr>
            <a:spLocks noChangeArrowheads="1"/>
          </p:cNvSpPr>
          <p:nvPr/>
        </p:nvSpPr>
        <p:spPr bwMode="auto">
          <a:xfrm rot="-5400000">
            <a:off x="27281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8078" name="Text Box 13"/>
          <p:cNvSpPr txBox="1">
            <a:spLocks noChangeArrowheads="1"/>
          </p:cNvSpPr>
          <p:nvPr/>
        </p:nvSpPr>
        <p:spPr bwMode="auto">
          <a:xfrm>
            <a:off x="27606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24</a:t>
            </a:r>
          </a:p>
        </p:txBody>
      </p:sp>
      <p:sp>
        <p:nvSpPr>
          <p:cNvPr id="88079" name="Rectangle 14"/>
          <p:cNvSpPr>
            <a:spLocks noChangeArrowheads="1"/>
          </p:cNvSpPr>
          <p:nvPr/>
        </p:nvSpPr>
        <p:spPr bwMode="auto">
          <a:xfrm rot="-5400000">
            <a:off x="323453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8080" name="Text Box 15"/>
          <p:cNvSpPr txBox="1">
            <a:spLocks noChangeArrowheads="1"/>
          </p:cNvSpPr>
          <p:nvPr/>
        </p:nvSpPr>
        <p:spPr bwMode="auto">
          <a:xfrm>
            <a:off x="326707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25</a:t>
            </a:r>
          </a:p>
        </p:txBody>
      </p:sp>
      <p:sp>
        <p:nvSpPr>
          <p:cNvPr id="88081" name="Rectangle 16"/>
          <p:cNvSpPr>
            <a:spLocks noChangeArrowheads="1"/>
          </p:cNvSpPr>
          <p:nvPr/>
        </p:nvSpPr>
        <p:spPr bwMode="auto">
          <a:xfrm rot="-5400000">
            <a:off x="3739357" y="2169319"/>
            <a:ext cx="571500" cy="503237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8082" name="Text Box 17"/>
          <p:cNvSpPr txBox="1">
            <a:spLocks noChangeArrowheads="1"/>
          </p:cNvSpPr>
          <p:nvPr/>
        </p:nvSpPr>
        <p:spPr bwMode="auto">
          <a:xfrm>
            <a:off x="3771900" y="2214563"/>
            <a:ext cx="952500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14</a:t>
            </a:r>
          </a:p>
        </p:txBody>
      </p:sp>
      <p:sp>
        <p:nvSpPr>
          <p:cNvPr id="88083" name="Rectangle 18"/>
          <p:cNvSpPr>
            <a:spLocks noChangeArrowheads="1"/>
          </p:cNvSpPr>
          <p:nvPr/>
        </p:nvSpPr>
        <p:spPr bwMode="auto">
          <a:xfrm rot="-5400000">
            <a:off x="424418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8084" name="Text Box 19"/>
          <p:cNvSpPr txBox="1">
            <a:spLocks noChangeArrowheads="1"/>
          </p:cNvSpPr>
          <p:nvPr/>
        </p:nvSpPr>
        <p:spPr bwMode="auto">
          <a:xfrm>
            <a:off x="427672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</a:t>
            </a:r>
          </a:p>
        </p:txBody>
      </p:sp>
      <p:sp>
        <p:nvSpPr>
          <p:cNvPr id="88085" name="Rectangle 20"/>
          <p:cNvSpPr>
            <a:spLocks noChangeArrowheads="1"/>
          </p:cNvSpPr>
          <p:nvPr/>
        </p:nvSpPr>
        <p:spPr bwMode="auto">
          <a:xfrm rot="-5400000">
            <a:off x="4750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8086" name="Text Box 21"/>
          <p:cNvSpPr txBox="1">
            <a:spLocks noChangeArrowheads="1"/>
          </p:cNvSpPr>
          <p:nvPr/>
        </p:nvSpPr>
        <p:spPr bwMode="auto">
          <a:xfrm>
            <a:off x="4783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29</a:t>
            </a:r>
          </a:p>
        </p:txBody>
      </p:sp>
      <p:sp>
        <p:nvSpPr>
          <p:cNvPr id="88087" name="Rectangle 22"/>
          <p:cNvSpPr>
            <a:spLocks noChangeArrowheads="1"/>
          </p:cNvSpPr>
          <p:nvPr/>
        </p:nvSpPr>
        <p:spPr bwMode="auto">
          <a:xfrm rot="-5400000">
            <a:off x="526176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8088" name="Text Box 23"/>
          <p:cNvSpPr txBox="1">
            <a:spLocks noChangeArrowheads="1"/>
          </p:cNvSpPr>
          <p:nvPr/>
        </p:nvSpPr>
        <p:spPr bwMode="auto">
          <a:xfrm>
            <a:off x="529431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15</a:t>
            </a:r>
          </a:p>
        </p:txBody>
      </p:sp>
      <p:sp>
        <p:nvSpPr>
          <p:cNvPr id="88089" name="Rectangle 24"/>
          <p:cNvSpPr>
            <a:spLocks noChangeArrowheads="1"/>
          </p:cNvSpPr>
          <p:nvPr/>
        </p:nvSpPr>
        <p:spPr bwMode="auto">
          <a:xfrm rot="-5400000">
            <a:off x="576738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8090" name="Text Box 25"/>
          <p:cNvSpPr txBox="1">
            <a:spLocks noChangeArrowheads="1"/>
          </p:cNvSpPr>
          <p:nvPr/>
        </p:nvSpPr>
        <p:spPr bwMode="auto">
          <a:xfrm>
            <a:off x="579913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5</a:t>
            </a:r>
          </a:p>
        </p:txBody>
      </p:sp>
      <p:sp>
        <p:nvSpPr>
          <p:cNvPr id="88091" name="Rectangle 26"/>
          <p:cNvSpPr>
            <a:spLocks noChangeArrowheads="1"/>
          </p:cNvSpPr>
          <p:nvPr/>
        </p:nvSpPr>
        <p:spPr bwMode="auto">
          <a:xfrm rot="-5400000">
            <a:off x="6274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8092" name="Text Box 27"/>
          <p:cNvSpPr txBox="1">
            <a:spLocks noChangeArrowheads="1"/>
          </p:cNvSpPr>
          <p:nvPr/>
        </p:nvSpPr>
        <p:spPr bwMode="auto">
          <a:xfrm>
            <a:off x="6307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7</a:t>
            </a:r>
          </a:p>
        </p:txBody>
      </p:sp>
      <p:sp>
        <p:nvSpPr>
          <p:cNvPr id="88093" name="Rectangle 28"/>
          <p:cNvSpPr>
            <a:spLocks noChangeArrowheads="1"/>
          </p:cNvSpPr>
          <p:nvPr/>
        </p:nvSpPr>
        <p:spPr bwMode="auto">
          <a:xfrm rot="-5400000">
            <a:off x="6780213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8094" name="Text Box 29"/>
          <p:cNvSpPr txBox="1">
            <a:spLocks noChangeArrowheads="1"/>
          </p:cNvSpPr>
          <p:nvPr/>
        </p:nvSpPr>
        <p:spPr bwMode="auto">
          <a:xfrm>
            <a:off x="6811963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18</a:t>
            </a:r>
          </a:p>
        </p:txBody>
      </p:sp>
      <p:sp>
        <p:nvSpPr>
          <p:cNvPr id="88095" name="Rectangle 30"/>
          <p:cNvSpPr>
            <a:spLocks noChangeArrowheads="1"/>
          </p:cNvSpPr>
          <p:nvPr/>
        </p:nvSpPr>
        <p:spPr bwMode="auto">
          <a:xfrm rot="-5400000">
            <a:off x="72874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8096" name="Text Box 31"/>
          <p:cNvSpPr txBox="1">
            <a:spLocks noChangeArrowheads="1"/>
          </p:cNvSpPr>
          <p:nvPr/>
        </p:nvSpPr>
        <p:spPr bwMode="auto">
          <a:xfrm>
            <a:off x="73199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17</a:t>
            </a:r>
          </a:p>
        </p:txBody>
      </p:sp>
      <p:sp>
        <p:nvSpPr>
          <p:cNvPr id="88097" name="Rectangle 32"/>
          <p:cNvSpPr>
            <a:spLocks noChangeArrowheads="1"/>
          </p:cNvSpPr>
          <p:nvPr/>
        </p:nvSpPr>
        <p:spPr bwMode="auto">
          <a:xfrm rot="-5400000">
            <a:off x="779303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8098" name="Text Box 33"/>
          <p:cNvSpPr txBox="1">
            <a:spLocks noChangeArrowheads="1"/>
          </p:cNvSpPr>
          <p:nvPr/>
        </p:nvSpPr>
        <p:spPr bwMode="auto">
          <a:xfrm>
            <a:off x="782478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11</a:t>
            </a:r>
          </a:p>
        </p:txBody>
      </p:sp>
      <p:sp>
        <p:nvSpPr>
          <p:cNvPr id="88099" name="Rectangle 34"/>
          <p:cNvSpPr>
            <a:spLocks noChangeArrowheads="1"/>
          </p:cNvSpPr>
          <p:nvPr/>
        </p:nvSpPr>
        <p:spPr bwMode="auto">
          <a:xfrm rot="-5400000">
            <a:off x="830024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8100" name="Text Box 35"/>
          <p:cNvSpPr txBox="1">
            <a:spLocks noChangeArrowheads="1"/>
          </p:cNvSpPr>
          <p:nvPr/>
        </p:nvSpPr>
        <p:spPr bwMode="auto">
          <a:xfrm>
            <a:off x="8332788" y="2212975"/>
            <a:ext cx="582612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9</a:t>
            </a:r>
          </a:p>
        </p:txBody>
      </p:sp>
      <p:sp>
        <p:nvSpPr>
          <p:cNvPr id="88101" name="Text Box 36"/>
          <p:cNvSpPr txBox="1">
            <a:spLocks noChangeArrowheads="1"/>
          </p:cNvSpPr>
          <p:nvPr/>
        </p:nvSpPr>
        <p:spPr bwMode="auto">
          <a:xfrm>
            <a:off x="228600" y="2820988"/>
            <a:ext cx="8763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0   1    2    3    4     5    6    7    8    9   10  11  12  13  14  15  16</a:t>
            </a:r>
          </a:p>
        </p:txBody>
      </p:sp>
      <p:sp>
        <p:nvSpPr>
          <p:cNvPr id="88102" name="Rectangle 37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/>
              <a:t>Array Implementation of Heap</a:t>
            </a:r>
            <a:br>
              <a:rPr lang="en-US" altLang="en-US" sz="4000"/>
            </a:br>
            <a:r>
              <a:rPr lang="en-US" altLang="en-US" sz="4000"/>
              <a:t>(cont.)</a:t>
            </a:r>
          </a:p>
        </p:txBody>
      </p:sp>
      <p:sp>
        <p:nvSpPr>
          <p:cNvPr id="88103" name="Text Box 38"/>
          <p:cNvSpPr txBox="1">
            <a:spLocks noChangeArrowheads="1"/>
          </p:cNvSpPr>
          <p:nvPr/>
        </p:nvSpPr>
        <p:spPr bwMode="auto">
          <a:xfrm>
            <a:off x="152400" y="3886200"/>
            <a:ext cx="2667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88104" name="Text Box 39"/>
          <p:cNvSpPr txBox="1">
            <a:spLocks noChangeArrowheads="1"/>
          </p:cNvSpPr>
          <p:nvPr/>
        </p:nvSpPr>
        <p:spPr bwMode="auto">
          <a:xfrm>
            <a:off x="152400" y="44958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heapsize: 16</a:t>
            </a:r>
          </a:p>
        </p:txBody>
      </p:sp>
      <p:sp>
        <p:nvSpPr>
          <p:cNvPr id="88105" name="Text Box 41"/>
          <p:cNvSpPr txBox="1">
            <a:spLocks noChangeArrowheads="1"/>
          </p:cNvSpPr>
          <p:nvPr/>
        </p:nvSpPr>
        <p:spPr bwMode="auto">
          <a:xfrm>
            <a:off x="2743200" y="4267200"/>
            <a:ext cx="60198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By using the formulas we noted earlier (this is why an array can be used)…</a:t>
            </a: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3CEEB97E-5C98-475D-993F-697D98F39512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88</a:t>
            </a:fld>
            <a:endParaRPr lang="en-US" altLang="en-US" sz="1400"/>
          </a:p>
        </p:txBody>
      </p:sp>
      <p:sp>
        <p:nvSpPr>
          <p:cNvPr id="89091" name="Rectangle 2"/>
          <p:cNvSpPr>
            <a:spLocks noChangeArrowheads="1"/>
          </p:cNvSpPr>
          <p:nvPr/>
        </p:nvSpPr>
        <p:spPr bwMode="auto">
          <a:xfrm rot="-5400000">
            <a:off x="196057" y="2166143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9092" name="Text Box 3"/>
          <p:cNvSpPr txBox="1">
            <a:spLocks noChangeArrowheads="1"/>
          </p:cNvSpPr>
          <p:nvPr/>
        </p:nvSpPr>
        <p:spPr bwMode="auto">
          <a:xfrm>
            <a:off x="228600" y="2211388"/>
            <a:ext cx="952500" cy="506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9</a:t>
            </a:r>
          </a:p>
        </p:txBody>
      </p:sp>
      <p:sp>
        <p:nvSpPr>
          <p:cNvPr id="89093" name="Rectangle 4"/>
          <p:cNvSpPr>
            <a:spLocks noChangeArrowheads="1"/>
          </p:cNvSpPr>
          <p:nvPr/>
        </p:nvSpPr>
        <p:spPr bwMode="auto">
          <a:xfrm rot="-5400000">
            <a:off x="702469" y="2166144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9094" name="Text Box 5"/>
          <p:cNvSpPr txBox="1">
            <a:spLocks noChangeArrowheads="1"/>
          </p:cNvSpPr>
          <p:nvPr/>
        </p:nvSpPr>
        <p:spPr bwMode="auto">
          <a:xfrm>
            <a:off x="735013" y="2211388"/>
            <a:ext cx="952500" cy="506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39</a:t>
            </a:r>
          </a:p>
        </p:txBody>
      </p:sp>
      <p:sp>
        <p:nvSpPr>
          <p:cNvPr id="89095" name="Rectangle 6"/>
          <p:cNvSpPr>
            <a:spLocks noChangeArrowheads="1"/>
          </p:cNvSpPr>
          <p:nvPr/>
        </p:nvSpPr>
        <p:spPr bwMode="auto">
          <a:xfrm rot="-5400000">
            <a:off x="12072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9096" name="Text Box 7"/>
          <p:cNvSpPr txBox="1">
            <a:spLocks noChangeArrowheads="1"/>
          </p:cNvSpPr>
          <p:nvPr/>
        </p:nvSpPr>
        <p:spPr bwMode="auto">
          <a:xfrm>
            <a:off x="12398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28</a:t>
            </a:r>
          </a:p>
        </p:txBody>
      </p:sp>
      <p:sp>
        <p:nvSpPr>
          <p:cNvPr id="89097" name="Rectangle 8"/>
          <p:cNvSpPr>
            <a:spLocks noChangeArrowheads="1"/>
          </p:cNvSpPr>
          <p:nvPr/>
        </p:nvSpPr>
        <p:spPr bwMode="auto">
          <a:xfrm rot="-5400000">
            <a:off x="1714500" y="2166938"/>
            <a:ext cx="571500" cy="508000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9098" name="Text Box 9"/>
          <p:cNvSpPr txBox="1">
            <a:spLocks noChangeArrowheads="1"/>
          </p:cNvSpPr>
          <p:nvPr/>
        </p:nvSpPr>
        <p:spPr bwMode="auto">
          <a:xfrm>
            <a:off x="1746250" y="2212975"/>
            <a:ext cx="9525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16</a:t>
            </a:r>
          </a:p>
        </p:txBody>
      </p:sp>
      <p:sp>
        <p:nvSpPr>
          <p:cNvPr id="89099" name="Rectangle 10"/>
          <p:cNvSpPr>
            <a:spLocks noChangeArrowheads="1"/>
          </p:cNvSpPr>
          <p:nvPr/>
        </p:nvSpPr>
        <p:spPr bwMode="auto">
          <a:xfrm rot="-5400000">
            <a:off x="2221707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9100" name="Text Box 11"/>
          <p:cNvSpPr txBox="1">
            <a:spLocks noChangeArrowheads="1"/>
          </p:cNvSpPr>
          <p:nvPr/>
        </p:nvSpPr>
        <p:spPr bwMode="auto">
          <a:xfrm>
            <a:off x="2254250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32</a:t>
            </a:r>
          </a:p>
        </p:txBody>
      </p:sp>
      <p:sp>
        <p:nvSpPr>
          <p:cNvPr id="89101" name="Rectangle 12"/>
          <p:cNvSpPr>
            <a:spLocks noChangeArrowheads="1"/>
          </p:cNvSpPr>
          <p:nvPr/>
        </p:nvSpPr>
        <p:spPr bwMode="auto">
          <a:xfrm rot="-5400000">
            <a:off x="27281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9102" name="Text Box 13"/>
          <p:cNvSpPr txBox="1">
            <a:spLocks noChangeArrowheads="1"/>
          </p:cNvSpPr>
          <p:nvPr/>
        </p:nvSpPr>
        <p:spPr bwMode="auto">
          <a:xfrm>
            <a:off x="27606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24</a:t>
            </a:r>
          </a:p>
        </p:txBody>
      </p:sp>
      <p:sp>
        <p:nvSpPr>
          <p:cNvPr id="89103" name="Rectangle 14"/>
          <p:cNvSpPr>
            <a:spLocks noChangeArrowheads="1"/>
          </p:cNvSpPr>
          <p:nvPr/>
        </p:nvSpPr>
        <p:spPr bwMode="auto">
          <a:xfrm rot="-5400000">
            <a:off x="323453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9104" name="Text Box 15"/>
          <p:cNvSpPr txBox="1">
            <a:spLocks noChangeArrowheads="1"/>
          </p:cNvSpPr>
          <p:nvPr/>
        </p:nvSpPr>
        <p:spPr bwMode="auto">
          <a:xfrm>
            <a:off x="326707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25</a:t>
            </a:r>
          </a:p>
        </p:txBody>
      </p:sp>
      <p:sp>
        <p:nvSpPr>
          <p:cNvPr id="89105" name="Rectangle 16"/>
          <p:cNvSpPr>
            <a:spLocks noChangeArrowheads="1"/>
          </p:cNvSpPr>
          <p:nvPr/>
        </p:nvSpPr>
        <p:spPr bwMode="auto">
          <a:xfrm rot="-5400000">
            <a:off x="3739357" y="2169319"/>
            <a:ext cx="571500" cy="503237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9106" name="Text Box 17"/>
          <p:cNvSpPr txBox="1">
            <a:spLocks noChangeArrowheads="1"/>
          </p:cNvSpPr>
          <p:nvPr/>
        </p:nvSpPr>
        <p:spPr bwMode="auto">
          <a:xfrm>
            <a:off x="3771900" y="2214563"/>
            <a:ext cx="952500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14</a:t>
            </a:r>
          </a:p>
        </p:txBody>
      </p:sp>
      <p:sp>
        <p:nvSpPr>
          <p:cNvPr id="89107" name="Rectangle 18"/>
          <p:cNvSpPr>
            <a:spLocks noChangeArrowheads="1"/>
          </p:cNvSpPr>
          <p:nvPr/>
        </p:nvSpPr>
        <p:spPr bwMode="auto">
          <a:xfrm rot="-5400000">
            <a:off x="424418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9108" name="Text Box 19"/>
          <p:cNvSpPr txBox="1">
            <a:spLocks noChangeArrowheads="1"/>
          </p:cNvSpPr>
          <p:nvPr/>
        </p:nvSpPr>
        <p:spPr bwMode="auto">
          <a:xfrm>
            <a:off x="427672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</a:t>
            </a:r>
          </a:p>
        </p:txBody>
      </p:sp>
      <p:sp>
        <p:nvSpPr>
          <p:cNvPr id="89109" name="Rectangle 20"/>
          <p:cNvSpPr>
            <a:spLocks noChangeArrowheads="1"/>
          </p:cNvSpPr>
          <p:nvPr/>
        </p:nvSpPr>
        <p:spPr bwMode="auto">
          <a:xfrm rot="-5400000">
            <a:off x="4750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9110" name="Text Box 21"/>
          <p:cNvSpPr txBox="1">
            <a:spLocks noChangeArrowheads="1"/>
          </p:cNvSpPr>
          <p:nvPr/>
        </p:nvSpPr>
        <p:spPr bwMode="auto">
          <a:xfrm>
            <a:off x="4783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29</a:t>
            </a:r>
          </a:p>
        </p:txBody>
      </p:sp>
      <p:sp>
        <p:nvSpPr>
          <p:cNvPr id="89111" name="Rectangle 22"/>
          <p:cNvSpPr>
            <a:spLocks noChangeArrowheads="1"/>
          </p:cNvSpPr>
          <p:nvPr/>
        </p:nvSpPr>
        <p:spPr bwMode="auto">
          <a:xfrm rot="-5400000">
            <a:off x="526176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9112" name="Text Box 23"/>
          <p:cNvSpPr txBox="1">
            <a:spLocks noChangeArrowheads="1"/>
          </p:cNvSpPr>
          <p:nvPr/>
        </p:nvSpPr>
        <p:spPr bwMode="auto">
          <a:xfrm>
            <a:off x="529431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15</a:t>
            </a:r>
          </a:p>
        </p:txBody>
      </p:sp>
      <p:sp>
        <p:nvSpPr>
          <p:cNvPr id="89113" name="Rectangle 24"/>
          <p:cNvSpPr>
            <a:spLocks noChangeArrowheads="1"/>
          </p:cNvSpPr>
          <p:nvPr/>
        </p:nvSpPr>
        <p:spPr bwMode="auto">
          <a:xfrm rot="-5400000">
            <a:off x="576738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9114" name="Text Box 25"/>
          <p:cNvSpPr txBox="1">
            <a:spLocks noChangeArrowheads="1"/>
          </p:cNvSpPr>
          <p:nvPr/>
        </p:nvSpPr>
        <p:spPr bwMode="auto">
          <a:xfrm>
            <a:off x="579913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5</a:t>
            </a:r>
          </a:p>
        </p:txBody>
      </p:sp>
      <p:sp>
        <p:nvSpPr>
          <p:cNvPr id="89115" name="Rectangle 26"/>
          <p:cNvSpPr>
            <a:spLocks noChangeArrowheads="1"/>
          </p:cNvSpPr>
          <p:nvPr/>
        </p:nvSpPr>
        <p:spPr bwMode="auto">
          <a:xfrm rot="-5400000">
            <a:off x="6274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9116" name="Text Box 27"/>
          <p:cNvSpPr txBox="1">
            <a:spLocks noChangeArrowheads="1"/>
          </p:cNvSpPr>
          <p:nvPr/>
        </p:nvSpPr>
        <p:spPr bwMode="auto">
          <a:xfrm>
            <a:off x="6307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7</a:t>
            </a:r>
          </a:p>
        </p:txBody>
      </p:sp>
      <p:sp>
        <p:nvSpPr>
          <p:cNvPr id="89117" name="Rectangle 28"/>
          <p:cNvSpPr>
            <a:spLocks noChangeArrowheads="1"/>
          </p:cNvSpPr>
          <p:nvPr/>
        </p:nvSpPr>
        <p:spPr bwMode="auto">
          <a:xfrm rot="-5400000">
            <a:off x="6780213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9118" name="Text Box 29"/>
          <p:cNvSpPr txBox="1">
            <a:spLocks noChangeArrowheads="1"/>
          </p:cNvSpPr>
          <p:nvPr/>
        </p:nvSpPr>
        <p:spPr bwMode="auto">
          <a:xfrm>
            <a:off x="6811963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18</a:t>
            </a:r>
          </a:p>
        </p:txBody>
      </p:sp>
      <p:sp>
        <p:nvSpPr>
          <p:cNvPr id="89119" name="Rectangle 30"/>
          <p:cNvSpPr>
            <a:spLocks noChangeArrowheads="1"/>
          </p:cNvSpPr>
          <p:nvPr/>
        </p:nvSpPr>
        <p:spPr bwMode="auto">
          <a:xfrm rot="-5400000">
            <a:off x="72874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9120" name="Text Box 31"/>
          <p:cNvSpPr txBox="1">
            <a:spLocks noChangeArrowheads="1"/>
          </p:cNvSpPr>
          <p:nvPr/>
        </p:nvSpPr>
        <p:spPr bwMode="auto">
          <a:xfrm>
            <a:off x="73199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17</a:t>
            </a:r>
          </a:p>
        </p:txBody>
      </p:sp>
      <p:sp>
        <p:nvSpPr>
          <p:cNvPr id="89121" name="Rectangle 32"/>
          <p:cNvSpPr>
            <a:spLocks noChangeArrowheads="1"/>
          </p:cNvSpPr>
          <p:nvPr/>
        </p:nvSpPr>
        <p:spPr bwMode="auto">
          <a:xfrm rot="-5400000">
            <a:off x="779303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9122" name="Text Box 33"/>
          <p:cNvSpPr txBox="1">
            <a:spLocks noChangeArrowheads="1"/>
          </p:cNvSpPr>
          <p:nvPr/>
        </p:nvSpPr>
        <p:spPr bwMode="auto">
          <a:xfrm>
            <a:off x="782478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11</a:t>
            </a:r>
          </a:p>
        </p:txBody>
      </p:sp>
      <p:sp>
        <p:nvSpPr>
          <p:cNvPr id="89123" name="Rectangle 34"/>
          <p:cNvSpPr>
            <a:spLocks noChangeArrowheads="1"/>
          </p:cNvSpPr>
          <p:nvPr/>
        </p:nvSpPr>
        <p:spPr bwMode="auto">
          <a:xfrm rot="-5400000">
            <a:off x="830024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89124" name="Text Box 35"/>
          <p:cNvSpPr txBox="1">
            <a:spLocks noChangeArrowheads="1"/>
          </p:cNvSpPr>
          <p:nvPr/>
        </p:nvSpPr>
        <p:spPr bwMode="auto">
          <a:xfrm>
            <a:off x="8332788" y="2212975"/>
            <a:ext cx="582612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9</a:t>
            </a:r>
          </a:p>
        </p:txBody>
      </p:sp>
      <p:sp>
        <p:nvSpPr>
          <p:cNvPr id="89125" name="Text Box 36"/>
          <p:cNvSpPr txBox="1">
            <a:spLocks noChangeArrowheads="1"/>
          </p:cNvSpPr>
          <p:nvPr/>
        </p:nvSpPr>
        <p:spPr bwMode="auto">
          <a:xfrm>
            <a:off x="228600" y="2820988"/>
            <a:ext cx="8763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0   1    2    3    4     5    6    7    8    9   10  11  12  13  14  15  16</a:t>
            </a:r>
          </a:p>
        </p:txBody>
      </p:sp>
      <p:sp>
        <p:nvSpPr>
          <p:cNvPr id="89126" name="Rectangle 37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/>
              <a:t>Array Implementation of Heap</a:t>
            </a:r>
            <a:br>
              <a:rPr lang="en-US" altLang="en-US" sz="4000"/>
            </a:br>
            <a:r>
              <a:rPr lang="en-US" altLang="en-US" sz="4000"/>
              <a:t>(cont.)</a:t>
            </a:r>
          </a:p>
        </p:txBody>
      </p:sp>
      <p:sp>
        <p:nvSpPr>
          <p:cNvPr id="89127" name="Text Box 38"/>
          <p:cNvSpPr txBox="1">
            <a:spLocks noChangeArrowheads="1"/>
          </p:cNvSpPr>
          <p:nvPr/>
        </p:nvSpPr>
        <p:spPr bwMode="auto">
          <a:xfrm>
            <a:off x="152400" y="3886200"/>
            <a:ext cx="2667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89128" name="Text Box 39"/>
          <p:cNvSpPr txBox="1">
            <a:spLocks noChangeArrowheads="1"/>
          </p:cNvSpPr>
          <p:nvPr/>
        </p:nvSpPr>
        <p:spPr bwMode="auto">
          <a:xfrm>
            <a:off x="152400" y="44958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heapsize: 16</a:t>
            </a:r>
          </a:p>
        </p:txBody>
      </p:sp>
      <p:sp>
        <p:nvSpPr>
          <p:cNvPr id="89129" name="Text Box 40"/>
          <p:cNvSpPr txBox="1">
            <a:spLocks noChangeArrowheads="1"/>
          </p:cNvSpPr>
          <p:nvPr/>
        </p:nvSpPr>
        <p:spPr bwMode="auto">
          <a:xfrm>
            <a:off x="2971800" y="4000500"/>
            <a:ext cx="2819400" cy="156210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(left child #) =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2*(parent #) + 1 =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2 * 0 + 1 =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1</a:t>
            </a:r>
          </a:p>
        </p:txBody>
      </p:sp>
      <p:sp>
        <p:nvSpPr>
          <p:cNvPr id="89130" name="Text Box 41"/>
          <p:cNvSpPr txBox="1">
            <a:spLocks noChangeArrowheads="1"/>
          </p:cNvSpPr>
          <p:nvPr/>
        </p:nvSpPr>
        <p:spPr bwMode="auto">
          <a:xfrm>
            <a:off x="6096000" y="4000500"/>
            <a:ext cx="2743200" cy="156210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(right child #) =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2*(parent #) + 2 =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2 * 0 + 2 =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2</a:t>
            </a:r>
          </a:p>
        </p:txBody>
      </p:sp>
      <p:sp>
        <p:nvSpPr>
          <p:cNvPr id="89131" name="Freeform 42"/>
          <p:cNvSpPr>
            <a:spLocks/>
          </p:cNvSpPr>
          <p:nvPr/>
        </p:nvSpPr>
        <p:spPr bwMode="auto">
          <a:xfrm>
            <a:off x="914400" y="3276600"/>
            <a:ext cx="2667000" cy="762000"/>
          </a:xfrm>
          <a:custGeom>
            <a:avLst/>
            <a:gdLst>
              <a:gd name="T0" fmla="*/ 2147483646 w 1680"/>
              <a:gd name="T1" fmla="*/ 2147483646 h 480"/>
              <a:gd name="T2" fmla="*/ 2147483646 w 1680"/>
              <a:gd name="T3" fmla="*/ 2147483646 h 480"/>
              <a:gd name="T4" fmla="*/ 2147483646 w 1680"/>
              <a:gd name="T5" fmla="*/ 2147483646 h 480"/>
              <a:gd name="T6" fmla="*/ 2147483646 w 1680"/>
              <a:gd name="T7" fmla="*/ 2147483646 h 480"/>
              <a:gd name="T8" fmla="*/ 0 w 1680"/>
              <a:gd name="T9" fmla="*/ 0 h 48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680" h="480">
                <a:moveTo>
                  <a:pt x="1680" y="480"/>
                </a:moveTo>
                <a:cubicBezTo>
                  <a:pt x="1680" y="424"/>
                  <a:pt x="1680" y="368"/>
                  <a:pt x="1536" y="336"/>
                </a:cubicBezTo>
                <a:cubicBezTo>
                  <a:pt x="1392" y="304"/>
                  <a:pt x="1040" y="296"/>
                  <a:pt x="816" y="288"/>
                </a:cubicBezTo>
                <a:cubicBezTo>
                  <a:pt x="592" y="280"/>
                  <a:pt x="328" y="336"/>
                  <a:pt x="192" y="288"/>
                </a:cubicBezTo>
                <a:cubicBezTo>
                  <a:pt x="56" y="240"/>
                  <a:pt x="32" y="48"/>
                  <a:pt x="0" y="0"/>
                </a:cubicBezTo>
              </a:path>
            </a:pathLst>
          </a:custGeom>
          <a:noFill/>
          <a:ln w="38100" cap="flat" cmpd="sng">
            <a:solidFill>
              <a:srgbClr val="FF33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89132" name="Freeform 43"/>
          <p:cNvSpPr>
            <a:spLocks/>
          </p:cNvSpPr>
          <p:nvPr/>
        </p:nvSpPr>
        <p:spPr bwMode="auto">
          <a:xfrm>
            <a:off x="1447800" y="3276600"/>
            <a:ext cx="5105400" cy="685800"/>
          </a:xfrm>
          <a:custGeom>
            <a:avLst/>
            <a:gdLst>
              <a:gd name="T0" fmla="*/ 2147483646 w 3216"/>
              <a:gd name="T1" fmla="*/ 2147483646 h 432"/>
              <a:gd name="T2" fmla="*/ 2147483646 w 3216"/>
              <a:gd name="T3" fmla="*/ 2147483646 h 432"/>
              <a:gd name="T4" fmla="*/ 2147483646 w 3216"/>
              <a:gd name="T5" fmla="*/ 2147483646 h 432"/>
              <a:gd name="T6" fmla="*/ 2147483646 w 3216"/>
              <a:gd name="T7" fmla="*/ 2147483646 h 432"/>
              <a:gd name="T8" fmla="*/ 2147483646 w 3216"/>
              <a:gd name="T9" fmla="*/ 2147483646 h 432"/>
              <a:gd name="T10" fmla="*/ 2147483646 w 3216"/>
              <a:gd name="T11" fmla="*/ 2147483646 h 432"/>
              <a:gd name="T12" fmla="*/ 0 w 3216"/>
              <a:gd name="T13" fmla="*/ 0 h 43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216" h="432">
                <a:moveTo>
                  <a:pt x="3216" y="432"/>
                </a:moveTo>
                <a:cubicBezTo>
                  <a:pt x="3212" y="380"/>
                  <a:pt x="3208" y="328"/>
                  <a:pt x="3072" y="288"/>
                </a:cubicBezTo>
                <a:cubicBezTo>
                  <a:pt x="2936" y="248"/>
                  <a:pt x="2616" y="208"/>
                  <a:pt x="2400" y="192"/>
                </a:cubicBezTo>
                <a:cubicBezTo>
                  <a:pt x="2184" y="176"/>
                  <a:pt x="2032" y="192"/>
                  <a:pt x="1776" y="192"/>
                </a:cubicBezTo>
                <a:cubicBezTo>
                  <a:pt x="1520" y="192"/>
                  <a:pt x="1128" y="192"/>
                  <a:pt x="864" y="192"/>
                </a:cubicBezTo>
                <a:cubicBezTo>
                  <a:pt x="600" y="192"/>
                  <a:pt x="336" y="224"/>
                  <a:pt x="192" y="192"/>
                </a:cubicBezTo>
                <a:cubicBezTo>
                  <a:pt x="48" y="160"/>
                  <a:pt x="32" y="32"/>
                  <a:pt x="0" y="0"/>
                </a:cubicBezTo>
              </a:path>
            </a:pathLst>
          </a:custGeom>
          <a:noFill/>
          <a:ln w="38100" cap="flat" cmpd="sng">
            <a:solidFill>
              <a:srgbClr val="FF33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89133" name="Text Box 44"/>
          <p:cNvSpPr txBox="1">
            <a:spLocks noChangeArrowheads="1"/>
          </p:cNvSpPr>
          <p:nvPr/>
        </p:nvSpPr>
        <p:spPr bwMode="auto">
          <a:xfrm>
            <a:off x="914400" y="1371600"/>
            <a:ext cx="4800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Greatest Child   39 &gt; 9, so swap</a:t>
            </a:r>
          </a:p>
        </p:txBody>
      </p:sp>
      <p:sp>
        <p:nvSpPr>
          <p:cNvPr id="89134" name="Line 45"/>
          <p:cNvSpPr>
            <a:spLocks noChangeShapeType="1"/>
          </p:cNvSpPr>
          <p:nvPr/>
        </p:nvSpPr>
        <p:spPr bwMode="auto">
          <a:xfrm flipH="1">
            <a:off x="990600" y="1828800"/>
            <a:ext cx="304800" cy="45720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5DF25C83-2B56-485E-B97E-BBF5A58571A5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89</a:t>
            </a:fld>
            <a:endParaRPr lang="en-US" altLang="en-US" sz="1400"/>
          </a:p>
        </p:txBody>
      </p:sp>
      <p:sp>
        <p:nvSpPr>
          <p:cNvPr id="90115" name="Rectangle 2"/>
          <p:cNvSpPr>
            <a:spLocks noChangeArrowheads="1"/>
          </p:cNvSpPr>
          <p:nvPr/>
        </p:nvSpPr>
        <p:spPr bwMode="auto">
          <a:xfrm rot="-5400000">
            <a:off x="196057" y="2166143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0116" name="Rectangle 3"/>
          <p:cNvSpPr>
            <a:spLocks noChangeArrowheads="1"/>
          </p:cNvSpPr>
          <p:nvPr/>
        </p:nvSpPr>
        <p:spPr bwMode="auto">
          <a:xfrm rot="-5400000">
            <a:off x="702469" y="2166144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0117" name="Text Box 4"/>
          <p:cNvSpPr txBox="1">
            <a:spLocks noChangeArrowheads="1"/>
          </p:cNvSpPr>
          <p:nvPr/>
        </p:nvSpPr>
        <p:spPr bwMode="auto">
          <a:xfrm>
            <a:off x="2286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39</a:t>
            </a:r>
          </a:p>
        </p:txBody>
      </p:sp>
      <p:sp>
        <p:nvSpPr>
          <p:cNvPr id="90118" name="Rectangle 5"/>
          <p:cNvSpPr>
            <a:spLocks noChangeArrowheads="1"/>
          </p:cNvSpPr>
          <p:nvPr/>
        </p:nvSpPr>
        <p:spPr bwMode="auto">
          <a:xfrm rot="-5400000">
            <a:off x="12072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0119" name="Text Box 6"/>
          <p:cNvSpPr txBox="1">
            <a:spLocks noChangeArrowheads="1"/>
          </p:cNvSpPr>
          <p:nvPr/>
        </p:nvSpPr>
        <p:spPr bwMode="auto">
          <a:xfrm>
            <a:off x="12398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28</a:t>
            </a:r>
          </a:p>
        </p:txBody>
      </p:sp>
      <p:sp>
        <p:nvSpPr>
          <p:cNvPr id="90120" name="Rectangle 7"/>
          <p:cNvSpPr>
            <a:spLocks noChangeArrowheads="1"/>
          </p:cNvSpPr>
          <p:nvPr/>
        </p:nvSpPr>
        <p:spPr bwMode="auto">
          <a:xfrm rot="-5400000">
            <a:off x="1714500" y="2166938"/>
            <a:ext cx="571500" cy="508000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0121" name="Text Box 8"/>
          <p:cNvSpPr txBox="1">
            <a:spLocks noChangeArrowheads="1"/>
          </p:cNvSpPr>
          <p:nvPr/>
        </p:nvSpPr>
        <p:spPr bwMode="auto">
          <a:xfrm>
            <a:off x="1746250" y="2212975"/>
            <a:ext cx="9525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 dirty="0"/>
              <a:t>16</a:t>
            </a:r>
          </a:p>
        </p:txBody>
      </p:sp>
      <p:sp>
        <p:nvSpPr>
          <p:cNvPr id="90122" name="Rectangle 9"/>
          <p:cNvSpPr>
            <a:spLocks noChangeArrowheads="1"/>
          </p:cNvSpPr>
          <p:nvPr/>
        </p:nvSpPr>
        <p:spPr bwMode="auto">
          <a:xfrm rot="-5400000">
            <a:off x="2221707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0123" name="Text Box 10"/>
          <p:cNvSpPr txBox="1">
            <a:spLocks noChangeArrowheads="1"/>
          </p:cNvSpPr>
          <p:nvPr/>
        </p:nvSpPr>
        <p:spPr bwMode="auto">
          <a:xfrm>
            <a:off x="2254250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 dirty="0"/>
              <a:t>32</a:t>
            </a:r>
          </a:p>
        </p:txBody>
      </p:sp>
      <p:sp>
        <p:nvSpPr>
          <p:cNvPr id="90124" name="Rectangle 11"/>
          <p:cNvSpPr>
            <a:spLocks noChangeArrowheads="1"/>
          </p:cNvSpPr>
          <p:nvPr/>
        </p:nvSpPr>
        <p:spPr bwMode="auto">
          <a:xfrm rot="-5400000">
            <a:off x="27281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0125" name="Text Box 12"/>
          <p:cNvSpPr txBox="1">
            <a:spLocks noChangeArrowheads="1"/>
          </p:cNvSpPr>
          <p:nvPr/>
        </p:nvSpPr>
        <p:spPr bwMode="auto">
          <a:xfrm>
            <a:off x="27606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24</a:t>
            </a:r>
          </a:p>
        </p:txBody>
      </p:sp>
      <p:sp>
        <p:nvSpPr>
          <p:cNvPr id="90126" name="Rectangle 13"/>
          <p:cNvSpPr>
            <a:spLocks noChangeArrowheads="1"/>
          </p:cNvSpPr>
          <p:nvPr/>
        </p:nvSpPr>
        <p:spPr bwMode="auto">
          <a:xfrm rot="-5400000">
            <a:off x="323453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0127" name="Text Box 14"/>
          <p:cNvSpPr txBox="1">
            <a:spLocks noChangeArrowheads="1"/>
          </p:cNvSpPr>
          <p:nvPr/>
        </p:nvSpPr>
        <p:spPr bwMode="auto">
          <a:xfrm>
            <a:off x="326707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25</a:t>
            </a:r>
          </a:p>
        </p:txBody>
      </p:sp>
      <p:sp>
        <p:nvSpPr>
          <p:cNvPr id="90128" name="Rectangle 15"/>
          <p:cNvSpPr>
            <a:spLocks noChangeArrowheads="1"/>
          </p:cNvSpPr>
          <p:nvPr/>
        </p:nvSpPr>
        <p:spPr bwMode="auto">
          <a:xfrm rot="-5400000">
            <a:off x="3739357" y="2169319"/>
            <a:ext cx="571500" cy="503237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0129" name="Text Box 16"/>
          <p:cNvSpPr txBox="1">
            <a:spLocks noChangeArrowheads="1"/>
          </p:cNvSpPr>
          <p:nvPr/>
        </p:nvSpPr>
        <p:spPr bwMode="auto">
          <a:xfrm>
            <a:off x="3771900" y="2214563"/>
            <a:ext cx="952500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14</a:t>
            </a:r>
          </a:p>
        </p:txBody>
      </p:sp>
      <p:sp>
        <p:nvSpPr>
          <p:cNvPr id="90130" name="Rectangle 17"/>
          <p:cNvSpPr>
            <a:spLocks noChangeArrowheads="1"/>
          </p:cNvSpPr>
          <p:nvPr/>
        </p:nvSpPr>
        <p:spPr bwMode="auto">
          <a:xfrm rot="-5400000">
            <a:off x="424418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0131" name="Text Box 18"/>
          <p:cNvSpPr txBox="1">
            <a:spLocks noChangeArrowheads="1"/>
          </p:cNvSpPr>
          <p:nvPr/>
        </p:nvSpPr>
        <p:spPr bwMode="auto">
          <a:xfrm>
            <a:off x="427672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</a:t>
            </a:r>
          </a:p>
        </p:txBody>
      </p:sp>
      <p:sp>
        <p:nvSpPr>
          <p:cNvPr id="90132" name="Rectangle 19"/>
          <p:cNvSpPr>
            <a:spLocks noChangeArrowheads="1"/>
          </p:cNvSpPr>
          <p:nvPr/>
        </p:nvSpPr>
        <p:spPr bwMode="auto">
          <a:xfrm rot="-5400000">
            <a:off x="4750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0133" name="Text Box 20"/>
          <p:cNvSpPr txBox="1">
            <a:spLocks noChangeArrowheads="1"/>
          </p:cNvSpPr>
          <p:nvPr/>
        </p:nvSpPr>
        <p:spPr bwMode="auto">
          <a:xfrm>
            <a:off x="4783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29</a:t>
            </a:r>
          </a:p>
        </p:txBody>
      </p:sp>
      <p:sp>
        <p:nvSpPr>
          <p:cNvPr id="90134" name="Rectangle 21"/>
          <p:cNvSpPr>
            <a:spLocks noChangeArrowheads="1"/>
          </p:cNvSpPr>
          <p:nvPr/>
        </p:nvSpPr>
        <p:spPr bwMode="auto">
          <a:xfrm rot="-5400000">
            <a:off x="526176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0135" name="Text Box 22"/>
          <p:cNvSpPr txBox="1">
            <a:spLocks noChangeArrowheads="1"/>
          </p:cNvSpPr>
          <p:nvPr/>
        </p:nvSpPr>
        <p:spPr bwMode="auto">
          <a:xfrm>
            <a:off x="529431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15</a:t>
            </a:r>
          </a:p>
        </p:txBody>
      </p:sp>
      <p:sp>
        <p:nvSpPr>
          <p:cNvPr id="90136" name="Rectangle 23"/>
          <p:cNvSpPr>
            <a:spLocks noChangeArrowheads="1"/>
          </p:cNvSpPr>
          <p:nvPr/>
        </p:nvSpPr>
        <p:spPr bwMode="auto">
          <a:xfrm rot="-5400000">
            <a:off x="576738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0137" name="Text Box 24"/>
          <p:cNvSpPr txBox="1">
            <a:spLocks noChangeArrowheads="1"/>
          </p:cNvSpPr>
          <p:nvPr/>
        </p:nvSpPr>
        <p:spPr bwMode="auto">
          <a:xfrm>
            <a:off x="579913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5</a:t>
            </a:r>
          </a:p>
        </p:txBody>
      </p:sp>
      <p:sp>
        <p:nvSpPr>
          <p:cNvPr id="90138" name="Rectangle 25"/>
          <p:cNvSpPr>
            <a:spLocks noChangeArrowheads="1"/>
          </p:cNvSpPr>
          <p:nvPr/>
        </p:nvSpPr>
        <p:spPr bwMode="auto">
          <a:xfrm rot="-5400000">
            <a:off x="6274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0139" name="Text Box 26"/>
          <p:cNvSpPr txBox="1">
            <a:spLocks noChangeArrowheads="1"/>
          </p:cNvSpPr>
          <p:nvPr/>
        </p:nvSpPr>
        <p:spPr bwMode="auto">
          <a:xfrm>
            <a:off x="6307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7</a:t>
            </a:r>
          </a:p>
        </p:txBody>
      </p:sp>
      <p:sp>
        <p:nvSpPr>
          <p:cNvPr id="90140" name="Rectangle 27"/>
          <p:cNvSpPr>
            <a:spLocks noChangeArrowheads="1"/>
          </p:cNvSpPr>
          <p:nvPr/>
        </p:nvSpPr>
        <p:spPr bwMode="auto">
          <a:xfrm rot="-5400000">
            <a:off x="6780213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0141" name="Text Box 28"/>
          <p:cNvSpPr txBox="1">
            <a:spLocks noChangeArrowheads="1"/>
          </p:cNvSpPr>
          <p:nvPr/>
        </p:nvSpPr>
        <p:spPr bwMode="auto">
          <a:xfrm>
            <a:off x="6811963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18</a:t>
            </a:r>
          </a:p>
        </p:txBody>
      </p:sp>
      <p:sp>
        <p:nvSpPr>
          <p:cNvPr id="90142" name="Rectangle 29"/>
          <p:cNvSpPr>
            <a:spLocks noChangeArrowheads="1"/>
          </p:cNvSpPr>
          <p:nvPr/>
        </p:nvSpPr>
        <p:spPr bwMode="auto">
          <a:xfrm rot="-5400000">
            <a:off x="72874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0143" name="Text Box 30"/>
          <p:cNvSpPr txBox="1">
            <a:spLocks noChangeArrowheads="1"/>
          </p:cNvSpPr>
          <p:nvPr/>
        </p:nvSpPr>
        <p:spPr bwMode="auto">
          <a:xfrm>
            <a:off x="73199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17</a:t>
            </a:r>
          </a:p>
        </p:txBody>
      </p:sp>
      <p:sp>
        <p:nvSpPr>
          <p:cNvPr id="90144" name="Rectangle 31"/>
          <p:cNvSpPr>
            <a:spLocks noChangeArrowheads="1"/>
          </p:cNvSpPr>
          <p:nvPr/>
        </p:nvSpPr>
        <p:spPr bwMode="auto">
          <a:xfrm rot="-5400000">
            <a:off x="779303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0145" name="Text Box 32"/>
          <p:cNvSpPr txBox="1">
            <a:spLocks noChangeArrowheads="1"/>
          </p:cNvSpPr>
          <p:nvPr/>
        </p:nvSpPr>
        <p:spPr bwMode="auto">
          <a:xfrm>
            <a:off x="782478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11</a:t>
            </a:r>
          </a:p>
        </p:txBody>
      </p:sp>
      <p:sp>
        <p:nvSpPr>
          <p:cNvPr id="90146" name="Rectangle 33"/>
          <p:cNvSpPr>
            <a:spLocks noChangeArrowheads="1"/>
          </p:cNvSpPr>
          <p:nvPr/>
        </p:nvSpPr>
        <p:spPr bwMode="auto">
          <a:xfrm rot="-5400000">
            <a:off x="830024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0147" name="Text Box 34"/>
          <p:cNvSpPr txBox="1">
            <a:spLocks noChangeArrowheads="1"/>
          </p:cNvSpPr>
          <p:nvPr/>
        </p:nvSpPr>
        <p:spPr bwMode="auto">
          <a:xfrm>
            <a:off x="8332788" y="2212975"/>
            <a:ext cx="582612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9</a:t>
            </a:r>
          </a:p>
        </p:txBody>
      </p:sp>
      <p:sp>
        <p:nvSpPr>
          <p:cNvPr id="90148" name="Text Box 35"/>
          <p:cNvSpPr txBox="1">
            <a:spLocks noChangeArrowheads="1"/>
          </p:cNvSpPr>
          <p:nvPr/>
        </p:nvSpPr>
        <p:spPr bwMode="auto">
          <a:xfrm>
            <a:off x="228600" y="2820988"/>
            <a:ext cx="8763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0   1    2    3    4     5    6    7    8    9   10  11  12  13  14  15  16</a:t>
            </a:r>
          </a:p>
        </p:txBody>
      </p:sp>
      <p:sp>
        <p:nvSpPr>
          <p:cNvPr id="90149" name="Rectangle 36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/>
              <a:t>Array Implementation of Heap</a:t>
            </a:r>
            <a:br>
              <a:rPr lang="en-US" altLang="en-US" sz="4000"/>
            </a:br>
            <a:r>
              <a:rPr lang="en-US" altLang="en-US" sz="4000"/>
              <a:t>(cont.)</a:t>
            </a:r>
          </a:p>
        </p:txBody>
      </p:sp>
      <p:sp>
        <p:nvSpPr>
          <p:cNvPr id="90150" name="Text Box 37"/>
          <p:cNvSpPr txBox="1">
            <a:spLocks noChangeArrowheads="1"/>
          </p:cNvSpPr>
          <p:nvPr/>
        </p:nvSpPr>
        <p:spPr bwMode="auto">
          <a:xfrm>
            <a:off x="152400" y="3886200"/>
            <a:ext cx="2667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90151" name="Text Box 38"/>
          <p:cNvSpPr txBox="1">
            <a:spLocks noChangeArrowheads="1"/>
          </p:cNvSpPr>
          <p:nvPr/>
        </p:nvSpPr>
        <p:spPr bwMode="auto">
          <a:xfrm>
            <a:off x="152400" y="44958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heapsize: 16</a:t>
            </a:r>
          </a:p>
        </p:txBody>
      </p:sp>
      <p:sp>
        <p:nvSpPr>
          <p:cNvPr id="90152" name="Text Box 39"/>
          <p:cNvSpPr txBox="1">
            <a:spLocks noChangeArrowheads="1"/>
          </p:cNvSpPr>
          <p:nvPr/>
        </p:nvSpPr>
        <p:spPr bwMode="auto">
          <a:xfrm>
            <a:off x="7239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9</a:t>
            </a:r>
          </a:p>
        </p:txBody>
      </p:sp>
      <p:sp>
        <p:nvSpPr>
          <p:cNvPr id="90153" name="Text Box 40"/>
          <p:cNvSpPr txBox="1">
            <a:spLocks noChangeArrowheads="1"/>
          </p:cNvSpPr>
          <p:nvPr/>
        </p:nvSpPr>
        <p:spPr bwMode="auto">
          <a:xfrm>
            <a:off x="3810000" y="3886200"/>
            <a:ext cx="41148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If the greatest child of 9 is greater than 9, then swap</a:t>
            </a: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A0BF4BD8-7C67-4F78-9D58-AF9F5E5B3ABC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90</a:t>
            </a:fld>
            <a:endParaRPr lang="en-US" altLang="en-US" sz="1400"/>
          </a:p>
        </p:txBody>
      </p:sp>
      <p:sp>
        <p:nvSpPr>
          <p:cNvPr id="91139" name="Rectangle 2"/>
          <p:cNvSpPr>
            <a:spLocks noChangeArrowheads="1"/>
          </p:cNvSpPr>
          <p:nvPr/>
        </p:nvSpPr>
        <p:spPr bwMode="auto">
          <a:xfrm rot="-5400000">
            <a:off x="196057" y="2166143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1140" name="Rectangle 3"/>
          <p:cNvSpPr>
            <a:spLocks noChangeArrowheads="1"/>
          </p:cNvSpPr>
          <p:nvPr/>
        </p:nvSpPr>
        <p:spPr bwMode="auto">
          <a:xfrm rot="-5400000">
            <a:off x="702469" y="2166144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1141" name="Text Box 4"/>
          <p:cNvSpPr txBox="1">
            <a:spLocks noChangeArrowheads="1"/>
          </p:cNvSpPr>
          <p:nvPr/>
        </p:nvSpPr>
        <p:spPr bwMode="auto">
          <a:xfrm>
            <a:off x="2286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39</a:t>
            </a:r>
          </a:p>
        </p:txBody>
      </p:sp>
      <p:sp>
        <p:nvSpPr>
          <p:cNvPr id="91142" name="Rectangle 5"/>
          <p:cNvSpPr>
            <a:spLocks noChangeArrowheads="1"/>
          </p:cNvSpPr>
          <p:nvPr/>
        </p:nvSpPr>
        <p:spPr bwMode="auto">
          <a:xfrm rot="-5400000">
            <a:off x="12072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1143" name="Text Box 6"/>
          <p:cNvSpPr txBox="1">
            <a:spLocks noChangeArrowheads="1"/>
          </p:cNvSpPr>
          <p:nvPr/>
        </p:nvSpPr>
        <p:spPr bwMode="auto">
          <a:xfrm>
            <a:off x="12398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28</a:t>
            </a:r>
          </a:p>
        </p:txBody>
      </p:sp>
      <p:sp>
        <p:nvSpPr>
          <p:cNvPr id="91144" name="Rectangle 7"/>
          <p:cNvSpPr>
            <a:spLocks noChangeArrowheads="1"/>
          </p:cNvSpPr>
          <p:nvPr/>
        </p:nvSpPr>
        <p:spPr bwMode="auto">
          <a:xfrm rot="-5400000">
            <a:off x="1714500" y="2166938"/>
            <a:ext cx="571500" cy="508000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1145" name="Text Box 8"/>
          <p:cNvSpPr txBox="1">
            <a:spLocks noChangeArrowheads="1"/>
          </p:cNvSpPr>
          <p:nvPr/>
        </p:nvSpPr>
        <p:spPr bwMode="auto">
          <a:xfrm>
            <a:off x="1746250" y="2212975"/>
            <a:ext cx="9525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16</a:t>
            </a:r>
          </a:p>
        </p:txBody>
      </p:sp>
      <p:sp>
        <p:nvSpPr>
          <p:cNvPr id="91146" name="Rectangle 9"/>
          <p:cNvSpPr>
            <a:spLocks noChangeArrowheads="1"/>
          </p:cNvSpPr>
          <p:nvPr/>
        </p:nvSpPr>
        <p:spPr bwMode="auto">
          <a:xfrm rot="-5400000">
            <a:off x="2221707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1147" name="Text Box 10"/>
          <p:cNvSpPr txBox="1">
            <a:spLocks noChangeArrowheads="1"/>
          </p:cNvSpPr>
          <p:nvPr/>
        </p:nvSpPr>
        <p:spPr bwMode="auto">
          <a:xfrm>
            <a:off x="2254250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32</a:t>
            </a:r>
          </a:p>
        </p:txBody>
      </p:sp>
      <p:sp>
        <p:nvSpPr>
          <p:cNvPr id="91148" name="Rectangle 11"/>
          <p:cNvSpPr>
            <a:spLocks noChangeArrowheads="1"/>
          </p:cNvSpPr>
          <p:nvPr/>
        </p:nvSpPr>
        <p:spPr bwMode="auto">
          <a:xfrm rot="-5400000">
            <a:off x="27281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1149" name="Text Box 12"/>
          <p:cNvSpPr txBox="1">
            <a:spLocks noChangeArrowheads="1"/>
          </p:cNvSpPr>
          <p:nvPr/>
        </p:nvSpPr>
        <p:spPr bwMode="auto">
          <a:xfrm>
            <a:off x="27606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24</a:t>
            </a:r>
          </a:p>
        </p:txBody>
      </p:sp>
      <p:sp>
        <p:nvSpPr>
          <p:cNvPr id="91150" name="Rectangle 13"/>
          <p:cNvSpPr>
            <a:spLocks noChangeArrowheads="1"/>
          </p:cNvSpPr>
          <p:nvPr/>
        </p:nvSpPr>
        <p:spPr bwMode="auto">
          <a:xfrm rot="-5400000">
            <a:off x="323453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1151" name="Text Box 14"/>
          <p:cNvSpPr txBox="1">
            <a:spLocks noChangeArrowheads="1"/>
          </p:cNvSpPr>
          <p:nvPr/>
        </p:nvSpPr>
        <p:spPr bwMode="auto">
          <a:xfrm>
            <a:off x="326707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25</a:t>
            </a:r>
          </a:p>
        </p:txBody>
      </p:sp>
      <p:sp>
        <p:nvSpPr>
          <p:cNvPr id="91152" name="Rectangle 15"/>
          <p:cNvSpPr>
            <a:spLocks noChangeArrowheads="1"/>
          </p:cNvSpPr>
          <p:nvPr/>
        </p:nvSpPr>
        <p:spPr bwMode="auto">
          <a:xfrm rot="-5400000">
            <a:off x="3739357" y="2169319"/>
            <a:ext cx="571500" cy="503237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1153" name="Text Box 16"/>
          <p:cNvSpPr txBox="1">
            <a:spLocks noChangeArrowheads="1"/>
          </p:cNvSpPr>
          <p:nvPr/>
        </p:nvSpPr>
        <p:spPr bwMode="auto">
          <a:xfrm>
            <a:off x="3771900" y="2214563"/>
            <a:ext cx="952500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14</a:t>
            </a:r>
          </a:p>
        </p:txBody>
      </p:sp>
      <p:sp>
        <p:nvSpPr>
          <p:cNvPr id="91154" name="Rectangle 17"/>
          <p:cNvSpPr>
            <a:spLocks noChangeArrowheads="1"/>
          </p:cNvSpPr>
          <p:nvPr/>
        </p:nvSpPr>
        <p:spPr bwMode="auto">
          <a:xfrm rot="-5400000">
            <a:off x="424418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1155" name="Text Box 18"/>
          <p:cNvSpPr txBox="1">
            <a:spLocks noChangeArrowheads="1"/>
          </p:cNvSpPr>
          <p:nvPr/>
        </p:nvSpPr>
        <p:spPr bwMode="auto">
          <a:xfrm>
            <a:off x="427672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</a:t>
            </a:r>
          </a:p>
        </p:txBody>
      </p:sp>
      <p:sp>
        <p:nvSpPr>
          <p:cNvPr id="91156" name="Rectangle 19"/>
          <p:cNvSpPr>
            <a:spLocks noChangeArrowheads="1"/>
          </p:cNvSpPr>
          <p:nvPr/>
        </p:nvSpPr>
        <p:spPr bwMode="auto">
          <a:xfrm rot="-5400000">
            <a:off x="4750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1157" name="Text Box 20"/>
          <p:cNvSpPr txBox="1">
            <a:spLocks noChangeArrowheads="1"/>
          </p:cNvSpPr>
          <p:nvPr/>
        </p:nvSpPr>
        <p:spPr bwMode="auto">
          <a:xfrm>
            <a:off x="4783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29</a:t>
            </a:r>
          </a:p>
        </p:txBody>
      </p:sp>
      <p:sp>
        <p:nvSpPr>
          <p:cNvPr id="91158" name="Rectangle 21"/>
          <p:cNvSpPr>
            <a:spLocks noChangeArrowheads="1"/>
          </p:cNvSpPr>
          <p:nvPr/>
        </p:nvSpPr>
        <p:spPr bwMode="auto">
          <a:xfrm rot="-5400000">
            <a:off x="526176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1159" name="Text Box 22"/>
          <p:cNvSpPr txBox="1">
            <a:spLocks noChangeArrowheads="1"/>
          </p:cNvSpPr>
          <p:nvPr/>
        </p:nvSpPr>
        <p:spPr bwMode="auto">
          <a:xfrm>
            <a:off x="529431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15</a:t>
            </a:r>
          </a:p>
        </p:txBody>
      </p:sp>
      <p:sp>
        <p:nvSpPr>
          <p:cNvPr id="91160" name="Rectangle 23"/>
          <p:cNvSpPr>
            <a:spLocks noChangeArrowheads="1"/>
          </p:cNvSpPr>
          <p:nvPr/>
        </p:nvSpPr>
        <p:spPr bwMode="auto">
          <a:xfrm rot="-5400000">
            <a:off x="576738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1161" name="Text Box 24"/>
          <p:cNvSpPr txBox="1">
            <a:spLocks noChangeArrowheads="1"/>
          </p:cNvSpPr>
          <p:nvPr/>
        </p:nvSpPr>
        <p:spPr bwMode="auto">
          <a:xfrm>
            <a:off x="579913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5</a:t>
            </a:r>
          </a:p>
        </p:txBody>
      </p:sp>
      <p:sp>
        <p:nvSpPr>
          <p:cNvPr id="91162" name="Rectangle 25"/>
          <p:cNvSpPr>
            <a:spLocks noChangeArrowheads="1"/>
          </p:cNvSpPr>
          <p:nvPr/>
        </p:nvSpPr>
        <p:spPr bwMode="auto">
          <a:xfrm rot="-5400000">
            <a:off x="6274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1163" name="Text Box 26"/>
          <p:cNvSpPr txBox="1">
            <a:spLocks noChangeArrowheads="1"/>
          </p:cNvSpPr>
          <p:nvPr/>
        </p:nvSpPr>
        <p:spPr bwMode="auto">
          <a:xfrm>
            <a:off x="6307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7</a:t>
            </a:r>
          </a:p>
        </p:txBody>
      </p:sp>
      <p:sp>
        <p:nvSpPr>
          <p:cNvPr id="91164" name="Rectangle 27"/>
          <p:cNvSpPr>
            <a:spLocks noChangeArrowheads="1"/>
          </p:cNvSpPr>
          <p:nvPr/>
        </p:nvSpPr>
        <p:spPr bwMode="auto">
          <a:xfrm rot="-5400000">
            <a:off x="6780213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1165" name="Text Box 28"/>
          <p:cNvSpPr txBox="1">
            <a:spLocks noChangeArrowheads="1"/>
          </p:cNvSpPr>
          <p:nvPr/>
        </p:nvSpPr>
        <p:spPr bwMode="auto">
          <a:xfrm>
            <a:off x="6811963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18</a:t>
            </a:r>
          </a:p>
        </p:txBody>
      </p:sp>
      <p:sp>
        <p:nvSpPr>
          <p:cNvPr id="91166" name="Rectangle 29"/>
          <p:cNvSpPr>
            <a:spLocks noChangeArrowheads="1"/>
          </p:cNvSpPr>
          <p:nvPr/>
        </p:nvSpPr>
        <p:spPr bwMode="auto">
          <a:xfrm rot="-5400000">
            <a:off x="72874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1167" name="Text Box 30"/>
          <p:cNvSpPr txBox="1">
            <a:spLocks noChangeArrowheads="1"/>
          </p:cNvSpPr>
          <p:nvPr/>
        </p:nvSpPr>
        <p:spPr bwMode="auto">
          <a:xfrm>
            <a:off x="73199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17</a:t>
            </a:r>
          </a:p>
        </p:txBody>
      </p:sp>
      <p:sp>
        <p:nvSpPr>
          <p:cNvPr id="91168" name="Rectangle 31"/>
          <p:cNvSpPr>
            <a:spLocks noChangeArrowheads="1"/>
          </p:cNvSpPr>
          <p:nvPr/>
        </p:nvSpPr>
        <p:spPr bwMode="auto">
          <a:xfrm rot="-5400000">
            <a:off x="779303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1169" name="Text Box 32"/>
          <p:cNvSpPr txBox="1">
            <a:spLocks noChangeArrowheads="1"/>
          </p:cNvSpPr>
          <p:nvPr/>
        </p:nvSpPr>
        <p:spPr bwMode="auto">
          <a:xfrm>
            <a:off x="782478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11</a:t>
            </a:r>
          </a:p>
        </p:txBody>
      </p:sp>
      <p:sp>
        <p:nvSpPr>
          <p:cNvPr id="91170" name="Rectangle 33"/>
          <p:cNvSpPr>
            <a:spLocks noChangeArrowheads="1"/>
          </p:cNvSpPr>
          <p:nvPr/>
        </p:nvSpPr>
        <p:spPr bwMode="auto">
          <a:xfrm rot="-5400000">
            <a:off x="830024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1171" name="Text Box 34"/>
          <p:cNvSpPr txBox="1">
            <a:spLocks noChangeArrowheads="1"/>
          </p:cNvSpPr>
          <p:nvPr/>
        </p:nvSpPr>
        <p:spPr bwMode="auto">
          <a:xfrm>
            <a:off x="8332788" y="2212975"/>
            <a:ext cx="582612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9</a:t>
            </a:r>
          </a:p>
        </p:txBody>
      </p:sp>
      <p:sp>
        <p:nvSpPr>
          <p:cNvPr id="91172" name="Text Box 35"/>
          <p:cNvSpPr txBox="1">
            <a:spLocks noChangeArrowheads="1"/>
          </p:cNvSpPr>
          <p:nvPr/>
        </p:nvSpPr>
        <p:spPr bwMode="auto">
          <a:xfrm>
            <a:off x="228600" y="2820988"/>
            <a:ext cx="8763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0   1    2    3    4     5    6    7    8    9   10  11  12  13  14  15  16</a:t>
            </a:r>
          </a:p>
        </p:txBody>
      </p:sp>
      <p:sp>
        <p:nvSpPr>
          <p:cNvPr id="91173" name="Rectangle 36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/>
              <a:t>Array Implementation of Heap</a:t>
            </a:r>
            <a:br>
              <a:rPr lang="en-US" altLang="en-US" sz="4000"/>
            </a:br>
            <a:r>
              <a:rPr lang="en-US" altLang="en-US" sz="4000"/>
              <a:t>(cont.)</a:t>
            </a:r>
          </a:p>
        </p:txBody>
      </p:sp>
      <p:sp>
        <p:nvSpPr>
          <p:cNvPr id="91174" name="Text Box 37"/>
          <p:cNvSpPr txBox="1">
            <a:spLocks noChangeArrowheads="1"/>
          </p:cNvSpPr>
          <p:nvPr/>
        </p:nvSpPr>
        <p:spPr bwMode="auto">
          <a:xfrm>
            <a:off x="152400" y="3886200"/>
            <a:ext cx="2667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91175" name="Text Box 38"/>
          <p:cNvSpPr txBox="1">
            <a:spLocks noChangeArrowheads="1"/>
          </p:cNvSpPr>
          <p:nvPr/>
        </p:nvSpPr>
        <p:spPr bwMode="auto">
          <a:xfrm>
            <a:off x="152400" y="44958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heapsize: 16</a:t>
            </a:r>
          </a:p>
        </p:txBody>
      </p:sp>
      <p:sp>
        <p:nvSpPr>
          <p:cNvPr id="91176" name="Text Box 39"/>
          <p:cNvSpPr txBox="1">
            <a:spLocks noChangeArrowheads="1"/>
          </p:cNvSpPr>
          <p:nvPr/>
        </p:nvSpPr>
        <p:spPr bwMode="auto">
          <a:xfrm>
            <a:off x="7239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9</a:t>
            </a:r>
          </a:p>
        </p:txBody>
      </p:sp>
      <p:sp>
        <p:nvSpPr>
          <p:cNvPr id="91177" name="Text Box 40"/>
          <p:cNvSpPr txBox="1">
            <a:spLocks noChangeArrowheads="1"/>
          </p:cNvSpPr>
          <p:nvPr/>
        </p:nvSpPr>
        <p:spPr bwMode="auto">
          <a:xfrm>
            <a:off x="2971800" y="4000500"/>
            <a:ext cx="2819400" cy="156210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(left child #) =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2*(parent #) + 1 =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2 * 1 + 1 =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3</a:t>
            </a:r>
          </a:p>
        </p:txBody>
      </p:sp>
      <p:sp>
        <p:nvSpPr>
          <p:cNvPr id="91178" name="Text Box 41"/>
          <p:cNvSpPr txBox="1">
            <a:spLocks noChangeArrowheads="1"/>
          </p:cNvSpPr>
          <p:nvPr/>
        </p:nvSpPr>
        <p:spPr bwMode="auto">
          <a:xfrm>
            <a:off x="6096000" y="4000500"/>
            <a:ext cx="2743200" cy="156210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(right child #) =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2*(parent #) + 2 =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2 * 1 + 2 =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4</a:t>
            </a:r>
          </a:p>
        </p:txBody>
      </p:sp>
      <p:sp>
        <p:nvSpPr>
          <p:cNvPr id="91179" name="Freeform 42"/>
          <p:cNvSpPr>
            <a:spLocks/>
          </p:cNvSpPr>
          <p:nvPr/>
        </p:nvSpPr>
        <p:spPr bwMode="auto">
          <a:xfrm>
            <a:off x="1981200" y="3276600"/>
            <a:ext cx="1524000" cy="685800"/>
          </a:xfrm>
          <a:custGeom>
            <a:avLst/>
            <a:gdLst>
              <a:gd name="T0" fmla="*/ 2147483646 w 960"/>
              <a:gd name="T1" fmla="*/ 2147483646 h 432"/>
              <a:gd name="T2" fmla="*/ 2147483646 w 960"/>
              <a:gd name="T3" fmla="*/ 2147483646 h 432"/>
              <a:gd name="T4" fmla="*/ 2147483646 w 960"/>
              <a:gd name="T5" fmla="*/ 2147483646 h 432"/>
              <a:gd name="T6" fmla="*/ 0 w 960"/>
              <a:gd name="T7" fmla="*/ 0 h 43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960" h="432">
                <a:moveTo>
                  <a:pt x="960" y="432"/>
                </a:moveTo>
                <a:cubicBezTo>
                  <a:pt x="960" y="372"/>
                  <a:pt x="960" y="312"/>
                  <a:pt x="864" y="288"/>
                </a:cubicBezTo>
                <a:cubicBezTo>
                  <a:pt x="768" y="264"/>
                  <a:pt x="528" y="336"/>
                  <a:pt x="384" y="288"/>
                </a:cubicBezTo>
                <a:cubicBezTo>
                  <a:pt x="240" y="240"/>
                  <a:pt x="64" y="48"/>
                  <a:pt x="0" y="0"/>
                </a:cubicBezTo>
              </a:path>
            </a:pathLst>
          </a:custGeom>
          <a:noFill/>
          <a:ln w="38100" cap="flat" cmpd="sng">
            <a:solidFill>
              <a:srgbClr val="FF33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91180" name="Freeform 43"/>
          <p:cNvSpPr>
            <a:spLocks/>
          </p:cNvSpPr>
          <p:nvPr/>
        </p:nvSpPr>
        <p:spPr bwMode="auto">
          <a:xfrm>
            <a:off x="2628900" y="3200400"/>
            <a:ext cx="4305300" cy="762000"/>
          </a:xfrm>
          <a:custGeom>
            <a:avLst/>
            <a:gdLst>
              <a:gd name="T0" fmla="*/ 2147483646 w 2712"/>
              <a:gd name="T1" fmla="*/ 2147483646 h 480"/>
              <a:gd name="T2" fmla="*/ 2147483646 w 2712"/>
              <a:gd name="T3" fmla="*/ 2147483646 h 480"/>
              <a:gd name="T4" fmla="*/ 2147483646 w 2712"/>
              <a:gd name="T5" fmla="*/ 2147483646 h 480"/>
              <a:gd name="T6" fmla="*/ 2147483646 w 2712"/>
              <a:gd name="T7" fmla="*/ 2147483646 h 480"/>
              <a:gd name="T8" fmla="*/ 0 w 2712"/>
              <a:gd name="T9" fmla="*/ 0 h 48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712" h="480">
                <a:moveTo>
                  <a:pt x="2688" y="480"/>
                </a:moveTo>
                <a:cubicBezTo>
                  <a:pt x="2700" y="408"/>
                  <a:pt x="2712" y="336"/>
                  <a:pt x="2640" y="288"/>
                </a:cubicBezTo>
                <a:cubicBezTo>
                  <a:pt x="2568" y="240"/>
                  <a:pt x="2632" y="208"/>
                  <a:pt x="2256" y="192"/>
                </a:cubicBezTo>
                <a:cubicBezTo>
                  <a:pt x="1880" y="176"/>
                  <a:pt x="760" y="224"/>
                  <a:pt x="384" y="192"/>
                </a:cubicBezTo>
                <a:cubicBezTo>
                  <a:pt x="8" y="160"/>
                  <a:pt x="64" y="32"/>
                  <a:pt x="0" y="0"/>
                </a:cubicBezTo>
              </a:path>
            </a:pathLst>
          </a:custGeom>
          <a:noFill/>
          <a:ln w="38100" cap="flat" cmpd="sng">
            <a:solidFill>
              <a:srgbClr val="FF33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91181" name="Text Box 44"/>
          <p:cNvSpPr txBox="1">
            <a:spLocks noChangeArrowheads="1"/>
          </p:cNvSpPr>
          <p:nvPr/>
        </p:nvSpPr>
        <p:spPr bwMode="auto">
          <a:xfrm>
            <a:off x="2438400" y="1371600"/>
            <a:ext cx="4876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Greatest Child   32 &gt; 9, so swap</a:t>
            </a:r>
          </a:p>
        </p:txBody>
      </p:sp>
      <p:sp>
        <p:nvSpPr>
          <p:cNvPr id="91182" name="Line 45"/>
          <p:cNvSpPr>
            <a:spLocks noChangeShapeType="1"/>
          </p:cNvSpPr>
          <p:nvPr/>
        </p:nvSpPr>
        <p:spPr bwMode="auto">
          <a:xfrm flipH="1">
            <a:off x="2514600" y="1828800"/>
            <a:ext cx="304800" cy="45720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E3392584-37E5-47BC-83DB-98FE165427A7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91</a:t>
            </a:fld>
            <a:endParaRPr lang="en-US" altLang="en-US" sz="1400"/>
          </a:p>
        </p:txBody>
      </p:sp>
      <p:sp>
        <p:nvSpPr>
          <p:cNvPr id="92163" name="Rectangle 2"/>
          <p:cNvSpPr>
            <a:spLocks noChangeArrowheads="1"/>
          </p:cNvSpPr>
          <p:nvPr/>
        </p:nvSpPr>
        <p:spPr bwMode="auto">
          <a:xfrm rot="-5400000">
            <a:off x="196057" y="2166143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2164" name="Rectangle 3"/>
          <p:cNvSpPr>
            <a:spLocks noChangeArrowheads="1"/>
          </p:cNvSpPr>
          <p:nvPr/>
        </p:nvSpPr>
        <p:spPr bwMode="auto">
          <a:xfrm rot="-5400000">
            <a:off x="702469" y="2166144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2165" name="Text Box 4"/>
          <p:cNvSpPr txBox="1">
            <a:spLocks noChangeArrowheads="1"/>
          </p:cNvSpPr>
          <p:nvPr/>
        </p:nvSpPr>
        <p:spPr bwMode="auto">
          <a:xfrm>
            <a:off x="2286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39</a:t>
            </a:r>
          </a:p>
        </p:txBody>
      </p:sp>
      <p:sp>
        <p:nvSpPr>
          <p:cNvPr id="92166" name="Rectangle 5"/>
          <p:cNvSpPr>
            <a:spLocks noChangeArrowheads="1"/>
          </p:cNvSpPr>
          <p:nvPr/>
        </p:nvSpPr>
        <p:spPr bwMode="auto">
          <a:xfrm rot="-5400000">
            <a:off x="12072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2167" name="Text Box 6"/>
          <p:cNvSpPr txBox="1">
            <a:spLocks noChangeArrowheads="1"/>
          </p:cNvSpPr>
          <p:nvPr/>
        </p:nvSpPr>
        <p:spPr bwMode="auto">
          <a:xfrm>
            <a:off x="12398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28</a:t>
            </a:r>
          </a:p>
        </p:txBody>
      </p:sp>
      <p:sp>
        <p:nvSpPr>
          <p:cNvPr id="92168" name="Rectangle 7"/>
          <p:cNvSpPr>
            <a:spLocks noChangeArrowheads="1"/>
          </p:cNvSpPr>
          <p:nvPr/>
        </p:nvSpPr>
        <p:spPr bwMode="auto">
          <a:xfrm rot="-5400000">
            <a:off x="1714500" y="2166938"/>
            <a:ext cx="571500" cy="508000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2169" name="Text Box 8"/>
          <p:cNvSpPr txBox="1">
            <a:spLocks noChangeArrowheads="1"/>
          </p:cNvSpPr>
          <p:nvPr/>
        </p:nvSpPr>
        <p:spPr bwMode="auto">
          <a:xfrm>
            <a:off x="1746250" y="2212975"/>
            <a:ext cx="9525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16</a:t>
            </a:r>
          </a:p>
        </p:txBody>
      </p:sp>
      <p:sp>
        <p:nvSpPr>
          <p:cNvPr id="92170" name="Rectangle 9"/>
          <p:cNvSpPr>
            <a:spLocks noChangeArrowheads="1"/>
          </p:cNvSpPr>
          <p:nvPr/>
        </p:nvSpPr>
        <p:spPr bwMode="auto">
          <a:xfrm rot="-5400000">
            <a:off x="2221707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2171" name="Text Box 10"/>
          <p:cNvSpPr txBox="1">
            <a:spLocks noChangeArrowheads="1"/>
          </p:cNvSpPr>
          <p:nvPr/>
        </p:nvSpPr>
        <p:spPr bwMode="auto">
          <a:xfrm>
            <a:off x="7239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32</a:t>
            </a:r>
          </a:p>
        </p:txBody>
      </p:sp>
      <p:sp>
        <p:nvSpPr>
          <p:cNvPr id="92172" name="Rectangle 11"/>
          <p:cNvSpPr>
            <a:spLocks noChangeArrowheads="1"/>
          </p:cNvSpPr>
          <p:nvPr/>
        </p:nvSpPr>
        <p:spPr bwMode="auto">
          <a:xfrm rot="-5400000">
            <a:off x="27281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2173" name="Text Box 12"/>
          <p:cNvSpPr txBox="1">
            <a:spLocks noChangeArrowheads="1"/>
          </p:cNvSpPr>
          <p:nvPr/>
        </p:nvSpPr>
        <p:spPr bwMode="auto">
          <a:xfrm>
            <a:off x="27606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24</a:t>
            </a:r>
          </a:p>
        </p:txBody>
      </p:sp>
      <p:sp>
        <p:nvSpPr>
          <p:cNvPr id="92174" name="Rectangle 13"/>
          <p:cNvSpPr>
            <a:spLocks noChangeArrowheads="1"/>
          </p:cNvSpPr>
          <p:nvPr/>
        </p:nvSpPr>
        <p:spPr bwMode="auto">
          <a:xfrm rot="-5400000">
            <a:off x="323453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2175" name="Text Box 14"/>
          <p:cNvSpPr txBox="1">
            <a:spLocks noChangeArrowheads="1"/>
          </p:cNvSpPr>
          <p:nvPr/>
        </p:nvSpPr>
        <p:spPr bwMode="auto">
          <a:xfrm>
            <a:off x="326707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25</a:t>
            </a:r>
          </a:p>
        </p:txBody>
      </p:sp>
      <p:sp>
        <p:nvSpPr>
          <p:cNvPr id="92176" name="Rectangle 15"/>
          <p:cNvSpPr>
            <a:spLocks noChangeArrowheads="1"/>
          </p:cNvSpPr>
          <p:nvPr/>
        </p:nvSpPr>
        <p:spPr bwMode="auto">
          <a:xfrm rot="-5400000">
            <a:off x="3739357" y="2169319"/>
            <a:ext cx="571500" cy="503237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2177" name="Text Box 16"/>
          <p:cNvSpPr txBox="1">
            <a:spLocks noChangeArrowheads="1"/>
          </p:cNvSpPr>
          <p:nvPr/>
        </p:nvSpPr>
        <p:spPr bwMode="auto">
          <a:xfrm>
            <a:off x="3771900" y="2214563"/>
            <a:ext cx="952500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14</a:t>
            </a:r>
          </a:p>
        </p:txBody>
      </p:sp>
      <p:sp>
        <p:nvSpPr>
          <p:cNvPr id="92178" name="Rectangle 17"/>
          <p:cNvSpPr>
            <a:spLocks noChangeArrowheads="1"/>
          </p:cNvSpPr>
          <p:nvPr/>
        </p:nvSpPr>
        <p:spPr bwMode="auto">
          <a:xfrm rot="-5400000">
            <a:off x="424418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2179" name="Text Box 18"/>
          <p:cNvSpPr txBox="1">
            <a:spLocks noChangeArrowheads="1"/>
          </p:cNvSpPr>
          <p:nvPr/>
        </p:nvSpPr>
        <p:spPr bwMode="auto">
          <a:xfrm>
            <a:off x="427672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</a:t>
            </a:r>
          </a:p>
        </p:txBody>
      </p:sp>
      <p:sp>
        <p:nvSpPr>
          <p:cNvPr id="92180" name="Rectangle 19"/>
          <p:cNvSpPr>
            <a:spLocks noChangeArrowheads="1"/>
          </p:cNvSpPr>
          <p:nvPr/>
        </p:nvSpPr>
        <p:spPr bwMode="auto">
          <a:xfrm rot="-5400000">
            <a:off x="4750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2181" name="Text Box 20"/>
          <p:cNvSpPr txBox="1">
            <a:spLocks noChangeArrowheads="1"/>
          </p:cNvSpPr>
          <p:nvPr/>
        </p:nvSpPr>
        <p:spPr bwMode="auto">
          <a:xfrm>
            <a:off x="4783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29</a:t>
            </a:r>
          </a:p>
        </p:txBody>
      </p:sp>
      <p:sp>
        <p:nvSpPr>
          <p:cNvPr id="92182" name="Rectangle 21"/>
          <p:cNvSpPr>
            <a:spLocks noChangeArrowheads="1"/>
          </p:cNvSpPr>
          <p:nvPr/>
        </p:nvSpPr>
        <p:spPr bwMode="auto">
          <a:xfrm rot="-5400000">
            <a:off x="526176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2183" name="Text Box 22"/>
          <p:cNvSpPr txBox="1">
            <a:spLocks noChangeArrowheads="1"/>
          </p:cNvSpPr>
          <p:nvPr/>
        </p:nvSpPr>
        <p:spPr bwMode="auto">
          <a:xfrm>
            <a:off x="529431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15</a:t>
            </a:r>
          </a:p>
        </p:txBody>
      </p:sp>
      <p:sp>
        <p:nvSpPr>
          <p:cNvPr id="92184" name="Rectangle 23"/>
          <p:cNvSpPr>
            <a:spLocks noChangeArrowheads="1"/>
          </p:cNvSpPr>
          <p:nvPr/>
        </p:nvSpPr>
        <p:spPr bwMode="auto">
          <a:xfrm rot="-5400000">
            <a:off x="576738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2185" name="Text Box 24"/>
          <p:cNvSpPr txBox="1">
            <a:spLocks noChangeArrowheads="1"/>
          </p:cNvSpPr>
          <p:nvPr/>
        </p:nvSpPr>
        <p:spPr bwMode="auto">
          <a:xfrm>
            <a:off x="579913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5</a:t>
            </a:r>
          </a:p>
        </p:txBody>
      </p:sp>
      <p:sp>
        <p:nvSpPr>
          <p:cNvPr id="92186" name="Rectangle 25"/>
          <p:cNvSpPr>
            <a:spLocks noChangeArrowheads="1"/>
          </p:cNvSpPr>
          <p:nvPr/>
        </p:nvSpPr>
        <p:spPr bwMode="auto">
          <a:xfrm rot="-5400000">
            <a:off x="6274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2187" name="Text Box 26"/>
          <p:cNvSpPr txBox="1">
            <a:spLocks noChangeArrowheads="1"/>
          </p:cNvSpPr>
          <p:nvPr/>
        </p:nvSpPr>
        <p:spPr bwMode="auto">
          <a:xfrm>
            <a:off x="6307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7</a:t>
            </a:r>
          </a:p>
        </p:txBody>
      </p:sp>
      <p:sp>
        <p:nvSpPr>
          <p:cNvPr id="92188" name="Rectangle 27"/>
          <p:cNvSpPr>
            <a:spLocks noChangeArrowheads="1"/>
          </p:cNvSpPr>
          <p:nvPr/>
        </p:nvSpPr>
        <p:spPr bwMode="auto">
          <a:xfrm rot="-5400000">
            <a:off x="6780213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2189" name="Text Box 28"/>
          <p:cNvSpPr txBox="1">
            <a:spLocks noChangeArrowheads="1"/>
          </p:cNvSpPr>
          <p:nvPr/>
        </p:nvSpPr>
        <p:spPr bwMode="auto">
          <a:xfrm>
            <a:off x="6811963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18</a:t>
            </a:r>
          </a:p>
        </p:txBody>
      </p:sp>
      <p:sp>
        <p:nvSpPr>
          <p:cNvPr id="92190" name="Rectangle 29"/>
          <p:cNvSpPr>
            <a:spLocks noChangeArrowheads="1"/>
          </p:cNvSpPr>
          <p:nvPr/>
        </p:nvSpPr>
        <p:spPr bwMode="auto">
          <a:xfrm rot="-5400000">
            <a:off x="72874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2191" name="Text Box 30"/>
          <p:cNvSpPr txBox="1">
            <a:spLocks noChangeArrowheads="1"/>
          </p:cNvSpPr>
          <p:nvPr/>
        </p:nvSpPr>
        <p:spPr bwMode="auto">
          <a:xfrm>
            <a:off x="73199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17</a:t>
            </a:r>
          </a:p>
        </p:txBody>
      </p:sp>
      <p:sp>
        <p:nvSpPr>
          <p:cNvPr id="92192" name="Rectangle 31"/>
          <p:cNvSpPr>
            <a:spLocks noChangeArrowheads="1"/>
          </p:cNvSpPr>
          <p:nvPr/>
        </p:nvSpPr>
        <p:spPr bwMode="auto">
          <a:xfrm rot="-5400000">
            <a:off x="779303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2193" name="Text Box 32"/>
          <p:cNvSpPr txBox="1">
            <a:spLocks noChangeArrowheads="1"/>
          </p:cNvSpPr>
          <p:nvPr/>
        </p:nvSpPr>
        <p:spPr bwMode="auto">
          <a:xfrm>
            <a:off x="782478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11</a:t>
            </a:r>
          </a:p>
        </p:txBody>
      </p:sp>
      <p:sp>
        <p:nvSpPr>
          <p:cNvPr id="92194" name="Rectangle 33"/>
          <p:cNvSpPr>
            <a:spLocks noChangeArrowheads="1"/>
          </p:cNvSpPr>
          <p:nvPr/>
        </p:nvSpPr>
        <p:spPr bwMode="auto">
          <a:xfrm rot="-5400000">
            <a:off x="830024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2195" name="Text Box 34"/>
          <p:cNvSpPr txBox="1">
            <a:spLocks noChangeArrowheads="1"/>
          </p:cNvSpPr>
          <p:nvPr/>
        </p:nvSpPr>
        <p:spPr bwMode="auto">
          <a:xfrm>
            <a:off x="8332788" y="2212975"/>
            <a:ext cx="582612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9</a:t>
            </a:r>
          </a:p>
        </p:txBody>
      </p:sp>
      <p:sp>
        <p:nvSpPr>
          <p:cNvPr id="92196" name="Text Box 35"/>
          <p:cNvSpPr txBox="1">
            <a:spLocks noChangeArrowheads="1"/>
          </p:cNvSpPr>
          <p:nvPr/>
        </p:nvSpPr>
        <p:spPr bwMode="auto">
          <a:xfrm>
            <a:off x="228600" y="2820988"/>
            <a:ext cx="8763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0   1    2    3    4     5    6    7    8    9   10  11  12  13  14  15  16</a:t>
            </a:r>
          </a:p>
        </p:txBody>
      </p:sp>
      <p:sp>
        <p:nvSpPr>
          <p:cNvPr id="92197" name="Rectangle 36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/>
              <a:t>Array Implementation of Heap</a:t>
            </a:r>
            <a:br>
              <a:rPr lang="en-US" altLang="en-US" sz="4000"/>
            </a:br>
            <a:r>
              <a:rPr lang="en-US" altLang="en-US" sz="4000"/>
              <a:t>(cont.)</a:t>
            </a:r>
          </a:p>
        </p:txBody>
      </p:sp>
      <p:sp>
        <p:nvSpPr>
          <p:cNvPr id="92198" name="Text Box 37"/>
          <p:cNvSpPr txBox="1">
            <a:spLocks noChangeArrowheads="1"/>
          </p:cNvSpPr>
          <p:nvPr/>
        </p:nvSpPr>
        <p:spPr bwMode="auto">
          <a:xfrm>
            <a:off x="152400" y="3886200"/>
            <a:ext cx="2667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92199" name="Text Box 38"/>
          <p:cNvSpPr txBox="1">
            <a:spLocks noChangeArrowheads="1"/>
          </p:cNvSpPr>
          <p:nvPr/>
        </p:nvSpPr>
        <p:spPr bwMode="auto">
          <a:xfrm>
            <a:off x="152400" y="44958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heapsize: 16</a:t>
            </a:r>
          </a:p>
        </p:txBody>
      </p:sp>
      <p:sp>
        <p:nvSpPr>
          <p:cNvPr id="92200" name="Text Box 39"/>
          <p:cNvSpPr txBox="1">
            <a:spLocks noChangeArrowheads="1"/>
          </p:cNvSpPr>
          <p:nvPr/>
        </p:nvSpPr>
        <p:spPr bwMode="auto">
          <a:xfrm>
            <a:off x="22479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9</a:t>
            </a:r>
          </a:p>
        </p:txBody>
      </p:sp>
      <p:sp>
        <p:nvSpPr>
          <p:cNvPr id="92201" name="Text Box 40"/>
          <p:cNvSpPr txBox="1">
            <a:spLocks noChangeArrowheads="1"/>
          </p:cNvSpPr>
          <p:nvPr/>
        </p:nvSpPr>
        <p:spPr bwMode="auto">
          <a:xfrm>
            <a:off x="3810000" y="3886200"/>
            <a:ext cx="41148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If the greatest child of 9 is greater than 9, then swap</a:t>
            </a: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4AFE7881-E5B2-4430-B7C3-44BB888712D5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92</a:t>
            </a:fld>
            <a:endParaRPr lang="en-US" altLang="en-US" sz="1400"/>
          </a:p>
        </p:txBody>
      </p:sp>
      <p:sp>
        <p:nvSpPr>
          <p:cNvPr id="93187" name="Rectangle 2"/>
          <p:cNvSpPr>
            <a:spLocks noChangeArrowheads="1"/>
          </p:cNvSpPr>
          <p:nvPr/>
        </p:nvSpPr>
        <p:spPr bwMode="auto">
          <a:xfrm rot="-5400000">
            <a:off x="196057" y="2166143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3188" name="Rectangle 3"/>
          <p:cNvSpPr>
            <a:spLocks noChangeArrowheads="1"/>
          </p:cNvSpPr>
          <p:nvPr/>
        </p:nvSpPr>
        <p:spPr bwMode="auto">
          <a:xfrm rot="-5400000">
            <a:off x="702469" y="2166144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3189" name="Text Box 4"/>
          <p:cNvSpPr txBox="1">
            <a:spLocks noChangeArrowheads="1"/>
          </p:cNvSpPr>
          <p:nvPr/>
        </p:nvSpPr>
        <p:spPr bwMode="auto">
          <a:xfrm>
            <a:off x="2286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39</a:t>
            </a:r>
          </a:p>
        </p:txBody>
      </p:sp>
      <p:sp>
        <p:nvSpPr>
          <p:cNvPr id="93190" name="Rectangle 5"/>
          <p:cNvSpPr>
            <a:spLocks noChangeArrowheads="1"/>
          </p:cNvSpPr>
          <p:nvPr/>
        </p:nvSpPr>
        <p:spPr bwMode="auto">
          <a:xfrm rot="-5400000">
            <a:off x="12072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3191" name="Text Box 6"/>
          <p:cNvSpPr txBox="1">
            <a:spLocks noChangeArrowheads="1"/>
          </p:cNvSpPr>
          <p:nvPr/>
        </p:nvSpPr>
        <p:spPr bwMode="auto">
          <a:xfrm>
            <a:off x="12398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28</a:t>
            </a:r>
          </a:p>
        </p:txBody>
      </p:sp>
      <p:sp>
        <p:nvSpPr>
          <p:cNvPr id="93192" name="Rectangle 7"/>
          <p:cNvSpPr>
            <a:spLocks noChangeArrowheads="1"/>
          </p:cNvSpPr>
          <p:nvPr/>
        </p:nvSpPr>
        <p:spPr bwMode="auto">
          <a:xfrm rot="-5400000">
            <a:off x="1714500" y="2166938"/>
            <a:ext cx="571500" cy="508000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3193" name="Text Box 8"/>
          <p:cNvSpPr txBox="1">
            <a:spLocks noChangeArrowheads="1"/>
          </p:cNvSpPr>
          <p:nvPr/>
        </p:nvSpPr>
        <p:spPr bwMode="auto">
          <a:xfrm>
            <a:off x="1746250" y="2212975"/>
            <a:ext cx="9525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16</a:t>
            </a:r>
          </a:p>
        </p:txBody>
      </p:sp>
      <p:sp>
        <p:nvSpPr>
          <p:cNvPr id="93194" name="Rectangle 9"/>
          <p:cNvSpPr>
            <a:spLocks noChangeArrowheads="1"/>
          </p:cNvSpPr>
          <p:nvPr/>
        </p:nvSpPr>
        <p:spPr bwMode="auto">
          <a:xfrm rot="-5400000">
            <a:off x="2221707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3195" name="Text Box 10"/>
          <p:cNvSpPr txBox="1">
            <a:spLocks noChangeArrowheads="1"/>
          </p:cNvSpPr>
          <p:nvPr/>
        </p:nvSpPr>
        <p:spPr bwMode="auto">
          <a:xfrm>
            <a:off x="7239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32</a:t>
            </a:r>
          </a:p>
        </p:txBody>
      </p:sp>
      <p:sp>
        <p:nvSpPr>
          <p:cNvPr id="93196" name="Rectangle 11"/>
          <p:cNvSpPr>
            <a:spLocks noChangeArrowheads="1"/>
          </p:cNvSpPr>
          <p:nvPr/>
        </p:nvSpPr>
        <p:spPr bwMode="auto">
          <a:xfrm rot="-5400000">
            <a:off x="27281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3197" name="Text Box 12"/>
          <p:cNvSpPr txBox="1">
            <a:spLocks noChangeArrowheads="1"/>
          </p:cNvSpPr>
          <p:nvPr/>
        </p:nvSpPr>
        <p:spPr bwMode="auto">
          <a:xfrm>
            <a:off x="27606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24</a:t>
            </a:r>
          </a:p>
        </p:txBody>
      </p:sp>
      <p:sp>
        <p:nvSpPr>
          <p:cNvPr id="93198" name="Rectangle 13"/>
          <p:cNvSpPr>
            <a:spLocks noChangeArrowheads="1"/>
          </p:cNvSpPr>
          <p:nvPr/>
        </p:nvSpPr>
        <p:spPr bwMode="auto">
          <a:xfrm rot="-5400000">
            <a:off x="323453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3199" name="Text Box 14"/>
          <p:cNvSpPr txBox="1">
            <a:spLocks noChangeArrowheads="1"/>
          </p:cNvSpPr>
          <p:nvPr/>
        </p:nvSpPr>
        <p:spPr bwMode="auto">
          <a:xfrm>
            <a:off x="326707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25</a:t>
            </a:r>
          </a:p>
        </p:txBody>
      </p:sp>
      <p:sp>
        <p:nvSpPr>
          <p:cNvPr id="93200" name="Rectangle 15"/>
          <p:cNvSpPr>
            <a:spLocks noChangeArrowheads="1"/>
          </p:cNvSpPr>
          <p:nvPr/>
        </p:nvSpPr>
        <p:spPr bwMode="auto">
          <a:xfrm rot="-5400000">
            <a:off x="3739357" y="2169319"/>
            <a:ext cx="571500" cy="503237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3201" name="Text Box 16"/>
          <p:cNvSpPr txBox="1">
            <a:spLocks noChangeArrowheads="1"/>
          </p:cNvSpPr>
          <p:nvPr/>
        </p:nvSpPr>
        <p:spPr bwMode="auto">
          <a:xfrm>
            <a:off x="3771900" y="2214563"/>
            <a:ext cx="952500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14</a:t>
            </a:r>
          </a:p>
        </p:txBody>
      </p:sp>
      <p:sp>
        <p:nvSpPr>
          <p:cNvPr id="93202" name="Rectangle 17"/>
          <p:cNvSpPr>
            <a:spLocks noChangeArrowheads="1"/>
          </p:cNvSpPr>
          <p:nvPr/>
        </p:nvSpPr>
        <p:spPr bwMode="auto">
          <a:xfrm rot="-5400000">
            <a:off x="424418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3203" name="Text Box 18"/>
          <p:cNvSpPr txBox="1">
            <a:spLocks noChangeArrowheads="1"/>
          </p:cNvSpPr>
          <p:nvPr/>
        </p:nvSpPr>
        <p:spPr bwMode="auto">
          <a:xfrm>
            <a:off x="427672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</a:t>
            </a:r>
          </a:p>
        </p:txBody>
      </p:sp>
      <p:sp>
        <p:nvSpPr>
          <p:cNvPr id="93204" name="Rectangle 19"/>
          <p:cNvSpPr>
            <a:spLocks noChangeArrowheads="1"/>
          </p:cNvSpPr>
          <p:nvPr/>
        </p:nvSpPr>
        <p:spPr bwMode="auto">
          <a:xfrm rot="-5400000">
            <a:off x="4750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3205" name="Text Box 20"/>
          <p:cNvSpPr txBox="1">
            <a:spLocks noChangeArrowheads="1"/>
          </p:cNvSpPr>
          <p:nvPr/>
        </p:nvSpPr>
        <p:spPr bwMode="auto">
          <a:xfrm>
            <a:off x="4783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29</a:t>
            </a:r>
          </a:p>
        </p:txBody>
      </p:sp>
      <p:sp>
        <p:nvSpPr>
          <p:cNvPr id="93206" name="Rectangle 21"/>
          <p:cNvSpPr>
            <a:spLocks noChangeArrowheads="1"/>
          </p:cNvSpPr>
          <p:nvPr/>
        </p:nvSpPr>
        <p:spPr bwMode="auto">
          <a:xfrm rot="-5400000">
            <a:off x="526176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3207" name="Text Box 22"/>
          <p:cNvSpPr txBox="1">
            <a:spLocks noChangeArrowheads="1"/>
          </p:cNvSpPr>
          <p:nvPr/>
        </p:nvSpPr>
        <p:spPr bwMode="auto">
          <a:xfrm>
            <a:off x="529431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15</a:t>
            </a:r>
          </a:p>
        </p:txBody>
      </p:sp>
      <p:sp>
        <p:nvSpPr>
          <p:cNvPr id="93208" name="Rectangle 23"/>
          <p:cNvSpPr>
            <a:spLocks noChangeArrowheads="1"/>
          </p:cNvSpPr>
          <p:nvPr/>
        </p:nvSpPr>
        <p:spPr bwMode="auto">
          <a:xfrm rot="-5400000">
            <a:off x="576738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3209" name="Text Box 24"/>
          <p:cNvSpPr txBox="1">
            <a:spLocks noChangeArrowheads="1"/>
          </p:cNvSpPr>
          <p:nvPr/>
        </p:nvSpPr>
        <p:spPr bwMode="auto">
          <a:xfrm>
            <a:off x="579913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5</a:t>
            </a:r>
          </a:p>
        </p:txBody>
      </p:sp>
      <p:sp>
        <p:nvSpPr>
          <p:cNvPr id="93210" name="Rectangle 25"/>
          <p:cNvSpPr>
            <a:spLocks noChangeArrowheads="1"/>
          </p:cNvSpPr>
          <p:nvPr/>
        </p:nvSpPr>
        <p:spPr bwMode="auto">
          <a:xfrm rot="-5400000">
            <a:off x="6274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3211" name="Text Box 26"/>
          <p:cNvSpPr txBox="1">
            <a:spLocks noChangeArrowheads="1"/>
          </p:cNvSpPr>
          <p:nvPr/>
        </p:nvSpPr>
        <p:spPr bwMode="auto">
          <a:xfrm>
            <a:off x="6307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7</a:t>
            </a:r>
          </a:p>
        </p:txBody>
      </p:sp>
      <p:sp>
        <p:nvSpPr>
          <p:cNvPr id="93212" name="Rectangle 27"/>
          <p:cNvSpPr>
            <a:spLocks noChangeArrowheads="1"/>
          </p:cNvSpPr>
          <p:nvPr/>
        </p:nvSpPr>
        <p:spPr bwMode="auto">
          <a:xfrm rot="-5400000">
            <a:off x="6780213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3213" name="Text Box 28"/>
          <p:cNvSpPr txBox="1">
            <a:spLocks noChangeArrowheads="1"/>
          </p:cNvSpPr>
          <p:nvPr/>
        </p:nvSpPr>
        <p:spPr bwMode="auto">
          <a:xfrm>
            <a:off x="6811963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18</a:t>
            </a:r>
          </a:p>
        </p:txBody>
      </p:sp>
      <p:sp>
        <p:nvSpPr>
          <p:cNvPr id="93214" name="Rectangle 29"/>
          <p:cNvSpPr>
            <a:spLocks noChangeArrowheads="1"/>
          </p:cNvSpPr>
          <p:nvPr/>
        </p:nvSpPr>
        <p:spPr bwMode="auto">
          <a:xfrm rot="-5400000">
            <a:off x="72874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3215" name="Text Box 30"/>
          <p:cNvSpPr txBox="1">
            <a:spLocks noChangeArrowheads="1"/>
          </p:cNvSpPr>
          <p:nvPr/>
        </p:nvSpPr>
        <p:spPr bwMode="auto">
          <a:xfrm>
            <a:off x="73199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17</a:t>
            </a:r>
          </a:p>
        </p:txBody>
      </p:sp>
      <p:sp>
        <p:nvSpPr>
          <p:cNvPr id="93216" name="Rectangle 31"/>
          <p:cNvSpPr>
            <a:spLocks noChangeArrowheads="1"/>
          </p:cNvSpPr>
          <p:nvPr/>
        </p:nvSpPr>
        <p:spPr bwMode="auto">
          <a:xfrm rot="-5400000">
            <a:off x="779303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3217" name="Text Box 32"/>
          <p:cNvSpPr txBox="1">
            <a:spLocks noChangeArrowheads="1"/>
          </p:cNvSpPr>
          <p:nvPr/>
        </p:nvSpPr>
        <p:spPr bwMode="auto">
          <a:xfrm>
            <a:off x="782478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11</a:t>
            </a:r>
          </a:p>
        </p:txBody>
      </p:sp>
      <p:sp>
        <p:nvSpPr>
          <p:cNvPr id="93218" name="Rectangle 33"/>
          <p:cNvSpPr>
            <a:spLocks noChangeArrowheads="1"/>
          </p:cNvSpPr>
          <p:nvPr/>
        </p:nvSpPr>
        <p:spPr bwMode="auto">
          <a:xfrm rot="-5400000">
            <a:off x="830024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3219" name="Text Box 34"/>
          <p:cNvSpPr txBox="1">
            <a:spLocks noChangeArrowheads="1"/>
          </p:cNvSpPr>
          <p:nvPr/>
        </p:nvSpPr>
        <p:spPr bwMode="auto">
          <a:xfrm>
            <a:off x="8332788" y="2212975"/>
            <a:ext cx="582612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9</a:t>
            </a:r>
          </a:p>
        </p:txBody>
      </p:sp>
      <p:sp>
        <p:nvSpPr>
          <p:cNvPr id="93220" name="Text Box 35"/>
          <p:cNvSpPr txBox="1">
            <a:spLocks noChangeArrowheads="1"/>
          </p:cNvSpPr>
          <p:nvPr/>
        </p:nvSpPr>
        <p:spPr bwMode="auto">
          <a:xfrm>
            <a:off x="228600" y="2820988"/>
            <a:ext cx="8763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0   1    2    3    4     5    6    7    8    9   10  11  12  13  14  15  16</a:t>
            </a:r>
          </a:p>
        </p:txBody>
      </p:sp>
      <p:sp>
        <p:nvSpPr>
          <p:cNvPr id="93221" name="Rectangle 36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/>
              <a:t>Array Implementation of Heap</a:t>
            </a:r>
            <a:br>
              <a:rPr lang="en-US" altLang="en-US" sz="4000"/>
            </a:br>
            <a:r>
              <a:rPr lang="en-US" altLang="en-US" sz="4000"/>
              <a:t>(cont.)</a:t>
            </a:r>
          </a:p>
        </p:txBody>
      </p:sp>
      <p:sp>
        <p:nvSpPr>
          <p:cNvPr id="93222" name="Text Box 37"/>
          <p:cNvSpPr txBox="1">
            <a:spLocks noChangeArrowheads="1"/>
          </p:cNvSpPr>
          <p:nvPr/>
        </p:nvSpPr>
        <p:spPr bwMode="auto">
          <a:xfrm>
            <a:off x="152400" y="3886200"/>
            <a:ext cx="2667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93223" name="Text Box 38"/>
          <p:cNvSpPr txBox="1">
            <a:spLocks noChangeArrowheads="1"/>
          </p:cNvSpPr>
          <p:nvPr/>
        </p:nvSpPr>
        <p:spPr bwMode="auto">
          <a:xfrm>
            <a:off x="152400" y="44958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heapsize: 16</a:t>
            </a:r>
          </a:p>
        </p:txBody>
      </p:sp>
      <p:sp>
        <p:nvSpPr>
          <p:cNvPr id="93224" name="Text Box 39"/>
          <p:cNvSpPr txBox="1">
            <a:spLocks noChangeArrowheads="1"/>
          </p:cNvSpPr>
          <p:nvPr/>
        </p:nvSpPr>
        <p:spPr bwMode="auto">
          <a:xfrm>
            <a:off x="22479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9</a:t>
            </a:r>
          </a:p>
        </p:txBody>
      </p:sp>
      <p:sp>
        <p:nvSpPr>
          <p:cNvPr id="93225" name="Text Box 40"/>
          <p:cNvSpPr txBox="1">
            <a:spLocks noChangeArrowheads="1"/>
          </p:cNvSpPr>
          <p:nvPr/>
        </p:nvSpPr>
        <p:spPr bwMode="auto">
          <a:xfrm>
            <a:off x="2971800" y="4000500"/>
            <a:ext cx="2819400" cy="156210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(left child #) =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2*(parent #) + 1 =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2 * 4 + 1 =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9</a:t>
            </a:r>
          </a:p>
        </p:txBody>
      </p:sp>
      <p:sp>
        <p:nvSpPr>
          <p:cNvPr id="93226" name="Text Box 41"/>
          <p:cNvSpPr txBox="1">
            <a:spLocks noChangeArrowheads="1"/>
          </p:cNvSpPr>
          <p:nvPr/>
        </p:nvSpPr>
        <p:spPr bwMode="auto">
          <a:xfrm>
            <a:off x="6096000" y="4000500"/>
            <a:ext cx="2743200" cy="156210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(right child #) =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2*(parent #) + 2 =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2 * 4 + 2 =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10</a:t>
            </a:r>
          </a:p>
        </p:txBody>
      </p:sp>
      <p:sp>
        <p:nvSpPr>
          <p:cNvPr id="93227" name="Line 42"/>
          <p:cNvSpPr>
            <a:spLocks noChangeShapeType="1"/>
          </p:cNvSpPr>
          <p:nvPr/>
        </p:nvSpPr>
        <p:spPr bwMode="auto">
          <a:xfrm flipV="1">
            <a:off x="4343400" y="3276600"/>
            <a:ext cx="685800" cy="68580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93228" name="Line 43"/>
          <p:cNvSpPr>
            <a:spLocks noChangeShapeType="1"/>
          </p:cNvSpPr>
          <p:nvPr/>
        </p:nvSpPr>
        <p:spPr bwMode="auto">
          <a:xfrm flipH="1" flipV="1">
            <a:off x="5638800" y="3276600"/>
            <a:ext cx="990600" cy="68580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93229" name="Text Box 44"/>
          <p:cNvSpPr txBox="1">
            <a:spLocks noChangeArrowheads="1"/>
          </p:cNvSpPr>
          <p:nvPr/>
        </p:nvSpPr>
        <p:spPr bwMode="auto">
          <a:xfrm>
            <a:off x="2895600" y="1447800"/>
            <a:ext cx="4876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Greatest Child   29 &gt; 9, so swap </a:t>
            </a:r>
          </a:p>
        </p:txBody>
      </p:sp>
      <p:sp>
        <p:nvSpPr>
          <p:cNvPr id="93230" name="Line 45"/>
          <p:cNvSpPr>
            <a:spLocks noChangeShapeType="1"/>
          </p:cNvSpPr>
          <p:nvPr/>
        </p:nvSpPr>
        <p:spPr bwMode="auto">
          <a:xfrm>
            <a:off x="4800600" y="1828800"/>
            <a:ext cx="152400" cy="45720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A0CACEE4-FF2D-4B67-9A31-C27045EABEC5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93</a:t>
            </a:fld>
            <a:endParaRPr lang="en-US" altLang="en-US" sz="1400"/>
          </a:p>
        </p:txBody>
      </p:sp>
      <p:sp>
        <p:nvSpPr>
          <p:cNvPr id="94211" name="Rectangle 2"/>
          <p:cNvSpPr>
            <a:spLocks noChangeArrowheads="1"/>
          </p:cNvSpPr>
          <p:nvPr/>
        </p:nvSpPr>
        <p:spPr bwMode="auto">
          <a:xfrm rot="-5400000">
            <a:off x="196057" y="2166143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4212" name="Rectangle 3"/>
          <p:cNvSpPr>
            <a:spLocks noChangeArrowheads="1"/>
          </p:cNvSpPr>
          <p:nvPr/>
        </p:nvSpPr>
        <p:spPr bwMode="auto">
          <a:xfrm rot="-5400000">
            <a:off x="702469" y="2166144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4213" name="Text Box 4"/>
          <p:cNvSpPr txBox="1">
            <a:spLocks noChangeArrowheads="1"/>
          </p:cNvSpPr>
          <p:nvPr/>
        </p:nvSpPr>
        <p:spPr bwMode="auto">
          <a:xfrm>
            <a:off x="2286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39</a:t>
            </a:r>
          </a:p>
        </p:txBody>
      </p:sp>
      <p:sp>
        <p:nvSpPr>
          <p:cNvPr id="94214" name="Rectangle 5"/>
          <p:cNvSpPr>
            <a:spLocks noChangeArrowheads="1"/>
          </p:cNvSpPr>
          <p:nvPr/>
        </p:nvSpPr>
        <p:spPr bwMode="auto">
          <a:xfrm rot="-5400000">
            <a:off x="12072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4215" name="Text Box 6"/>
          <p:cNvSpPr txBox="1">
            <a:spLocks noChangeArrowheads="1"/>
          </p:cNvSpPr>
          <p:nvPr/>
        </p:nvSpPr>
        <p:spPr bwMode="auto">
          <a:xfrm>
            <a:off x="12398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28</a:t>
            </a:r>
          </a:p>
        </p:txBody>
      </p:sp>
      <p:sp>
        <p:nvSpPr>
          <p:cNvPr id="94216" name="Rectangle 7"/>
          <p:cNvSpPr>
            <a:spLocks noChangeArrowheads="1"/>
          </p:cNvSpPr>
          <p:nvPr/>
        </p:nvSpPr>
        <p:spPr bwMode="auto">
          <a:xfrm rot="-5400000">
            <a:off x="1714500" y="2166938"/>
            <a:ext cx="571500" cy="508000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4217" name="Text Box 8"/>
          <p:cNvSpPr txBox="1">
            <a:spLocks noChangeArrowheads="1"/>
          </p:cNvSpPr>
          <p:nvPr/>
        </p:nvSpPr>
        <p:spPr bwMode="auto">
          <a:xfrm>
            <a:off x="1746250" y="2212975"/>
            <a:ext cx="9525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16</a:t>
            </a:r>
          </a:p>
        </p:txBody>
      </p:sp>
      <p:sp>
        <p:nvSpPr>
          <p:cNvPr id="94218" name="Rectangle 9"/>
          <p:cNvSpPr>
            <a:spLocks noChangeArrowheads="1"/>
          </p:cNvSpPr>
          <p:nvPr/>
        </p:nvSpPr>
        <p:spPr bwMode="auto">
          <a:xfrm rot="-5400000">
            <a:off x="2221707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4219" name="Text Box 10"/>
          <p:cNvSpPr txBox="1">
            <a:spLocks noChangeArrowheads="1"/>
          </p:cNvSpPr>
          <p:nvPr/>
        </p:nvSpPr>
        <p:spPr bwMode="auto">
          <a:xfrm>
            <a:off x="7239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32</a:t>
            </a:r>
          </a:p>
        </p:txBody>
      </p:sp>
      <p:sp>
        <p:nvSpPr>
          <p:cNvPr id="94220" name="Rectangle 11"/>
          <p:cNvSpPr>
            <a:spLocks noChangeArrowheads="1"/>
          </p:cNvSpPr>
          <p:nvPr/>
        </p:nvSpPr>
        <p:spPr bwMode="auto">
          <a:xfrm rot="-5400000">
            <a:off x="27281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4221" name="Text Box 12"/>
          <p:cNvSpPr txBox="1">
            <a:spLocks noChangeArrowheads="1"/>
          </p:cNvSpPr>
          <p:nvPr/>
        </p:nvSpPr>
        <p:spPr bwMode="auto">
          <a:xfrm>
            <a:off x="27606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24</a:t>
            </a:r>
          </a:p>
        </p:txBody>
      </p:sp>
      <p:sp>
        <p:nvSpPr>
          <p:cNvPr id="94222" name="Rectangle 13"/>
          <p:cNvSpPr>
            <a:spLocks noChangeArrowheads="1"/>
          </p:cNvSpPr>
          <p:nvPr/>
        </p:nvSpPr>
        <p:spPr bwMode="auto">
          <a:xfrm rot="-5400000">
            <a:off x="323453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4223" name="Text Box 14"/>
          <p:cNvSpPr txBox="1">
            <a:spLocks noChangeArrowheads="1"/>
          </p:cNvSpPr>
          <p:nvPr/>
        </p:nvSpPr>
        <p:spPr bwMode="auto">
          <a:xfrm>
            <a:off x="326707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25</a:t>
            </a:r>
          </a:p>
        </p:txBody>
      </p:sp>
      <p:sp>
        <p:nvSpPr>
          <p:cNvPr id="94224" name="Rectangle 15"/>
          <p:cNvSpPr>
            <a:spLocks noChangeArrowheads="1"/>
          </p:cNvSpPr>
          <p:nvPr/>
        </p:nvSpPr>
        <p:spPr bwMode="auto">
          <a:xfrm rot="-5400000">
            <a:off x="3739357" y="2169319"/>
            <a:ext cx="571500" cy="503237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4225" name="Text Box 16"/>
          <p:cNvSpPr txBox="1">
            <a:spLocks noChangeArrowheads="1"/>
          </p:cNvSpPr>
          <p:nvPr/>
        </p:nvSpPr>
        <p:spPr bwMode="auto">
          <a:xfrm>
            <a:off x="3771900" y="2214563"/>
            <a:ext cx="952500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14</a:t>
            </a:r>
          </a:p>
        </p:txBody>
      </p:sp>
      <p:sp>
        <p:nvSpPr>
          <p:cNvPr id="94226" name="Rectangle 17"/>
          <p:cNvSpPr>
            <a:spLocks noChangeArrowheads="1"/>
          </p:cNvSpPr>
          <p:nvPr/>
        </p:nvSpPr>
        <p:spPr bwMode="auto">
          <a:xfrm rot="-5400000">
            <a:off x="424418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4227" name="Text Box 18"/>
          <p:cNvSpPr txBox="1">
            <a:spLocks noChangeArrowheads="1"/>
          </p:cNvSpPr>
          <p:nvPr/>
        </p:nvSpPr>
        <p:spPr bwMode="auto">
          <a:xfrm>
            <a:off x="427672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</a:t>
            </a:r>
          </a:p>
        </p:txBody>
      </p:sp>
      <p:sp>
        <p:nvSpPr>
          <p:cNvPr id="94228" name="Rectangle 19"/>
          <p:cNvSpPr>
            <a:spLocks noChangeArrowheads="1"/>
          </p:cNvSpPr>
          <p:nvPr/>
        </p:nvSpPr>
        <p:spPr bwMode="auto">
          <a:xfrm rot="-5400000">
            <a:off x="4750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4229" name="Text Box 20"/>
          <p:cNvSpPr txBox="1">
            <a:spLocks noChangeArrowheads="1"/>
          </p:cNvSpPr>
          <p:nvPr/>
        </p:nvSpPr>
        <p:spPr bwMode="auto">
          <a:xfrm>
            <a:off x="22479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29</a:t>
            </a:r>
          </a:p>
        </p:txBody>
      </p:sp>
      <p:sp>
        <p:nvSpPr>
          <p:cNvPr id="94230" name="Rectangle 21"/>
          <p:cNvSpPr>
            <a:spLocks noChangeArrowheads="1"/>
          </p:cNvSpPr>
          <p:nvPr/>
        </p:nvSpPr>
        <p:spPr bwMode="auto">
          <a:xfrm rot="-5400000">
            <a:off x="526176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4231" name="Text Box 22"/>
          <p:cNvSpPr txBox="1">
            <a:spLocks noChangeArrowheads="1"/>
          </p:cNvSpPr>
          <p:nvPr/>
        </p:nvSpPr>
        <p:spPr bwMode="auto">
          <a:xfrm>
            <a:off x="529431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15</a:t>
            </a:r>
          </a:p>
        </p:txBody>
      </p:sp>
      <p:sp>
        <p:nvSpPr>
          <p:cNvPr id="94232" name="Rectangle 23"/>
          <p:cNvSpPr>
            <a:spLocks noChangeArrowheads="1"/>
          </p:cNvSpPr>
          <p:nvPr/>
        </p:nvSpPr>
        <p:spPr bwMode="auto">
          <a:xfrm rot="-5400000">
            <a:off x="576738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4233" name="Text Box 24"/>
          <p:cNvSpPr txBox="1">
            <a:spLocks noChangeArrowheads="1"/>
          </p:cNvSpPr>
          <p:nvPr/>
        </p:nvSpPr>
        <p:spPr bwMode="auto">
          <a:xfrm>
            <a:off x="579913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5</a:t>
            </a:r>
          </a:p>
        </p:txBody>
      </p:sp>
      <p:sp>
        <p:nvSpPr>
          <p:cNvPr id="94234" name="Rectangle 25"/>
          <p:cNvSpPr>
            <a:spLocks noChangeArrowheads="1"/>
          </p:cNvSpPr>
          <p:nvPr/>
        </p:nvSpPr>
        <p:spPr bwMode="auto">
          <a:xfrm rot="-5400000">
            <a:off x="6274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4235" name="Text Box 26"/>
          <p:cNvSpPr txBox="1">
            <a:spLocks noChangeArrowheads="1"/>
          </p:cNvSpPr>
          <p:nvPr/>
        </p:nvSpPr>
        <p:spPr bwMode="auto">
          <a:xfrm>
            <a:off x="6307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7</a:t>
            </a:r>
          </a:p>
        </p:txBody>
      </p:sp>
      <p:sp>
        <p:nvSpPr>
          <p:cNvPr id="94236" name="Rectangle 27"/>
          <p:cNvSpPr>
            <a:spLocks noChangeArrowheads="1"/>
          </p:cNvSpPr>
          <p:nvPr/>
        </p:nvSpPr>
        <p:spPr bwMode="auto">
          <a:xfrm rot="-5400000">
            <a:off x="6780213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4237" name="Text Box 28"/>
          <p:cNvSpPr txBox="1">
            <a:spLocks noChangeArrowheads="1"/>
          </p:cNvSpPr>
          <p:nvPr/>
        </p:nvSpPr>
        <p:spPr bwMode="auto">
          <a:xfrm>
            <a:off x="6811963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18</a:t>
            </a:r>
          </a:p>
        </p:txBody>
      </p:sp>
      <p:sp>
        <p:nvSpPr>
          <p:cNvPr id="94238" name="Rectangle 29"/>
          <p:cNvSpPr>
            <a:spLocks noChangeArrowheads="1"/>
          </p:cNvSpPr>
          <p:nvPr/>
        </p:nvSpPr>
        <p:spPr bwMode="auto">
          <a:xfrm rot="-5400000">
            <a:off x="72874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4239" name="Text Box 30"/>
          <p:cNvSpPr txBox="1">
            <a:spLocks noChangeArrowheads="1"/>
          </p:cNvSpPr>
          <p:nvPr/>
        </p:nvSpPr>
        <p:spPr bwMode="auto">
          <a:xfrm>
            <a:off x="73199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17</a:t>
            </a:r>
          </a:p>
        </p:txBody>
      </p:sp>
      <p:sp>
        <p:nvSpPr>
          <p:cNvPr id="94240" name="Rectangle 31"/>
          <p:cNvSpPr>
            <a:spLocks noChangeArrowheads="1"/>
          </p:cNvSpPr>
          <p:nvPr/>
        </p:nvSpPr>
        <p:spPr bwMode="auto">
          <a:xfrm rot="-5400000">
            <a:off x="779303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4241" name="Text Box 32"/>
          <p:cNvSpPr txBox="1">
            <a:spLocks noChangeArrowheads="1"/>
          </p:cNvSpPr>
          <p:nvPr/>
        </p:nvSpPr>
        <p:spPr bwMode="auto">
          <a:xfrm>
            <a:off x="782478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11</a:t>
            </a:r>
          </a:p>
        </p:txBody>
      </p:sp>
      <p:sp>
        <p:nvSpPr>
          <p:cNvPr id="94242" name="Rectangle 33"/>
          <p:cNvSpPr>
            <a:spLocks noChangeArrowheads="1"/>
          </p:cNvSpPr>
          <p:nvPr/>
        </p:nvSpPr>
        <p:spPr bwMode="auto">
          <a:xfrm rot="-5400000">
            <a:off x="830024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4243" name="Text Box 34"/>
          <p:cNvSpPr txBox="1">
            <a:spLocks noChangeArrowheads="1"/>
          </p:cNvSpPr>
          <p:nvPr/>
        </p:nvSpPr>
        <p:spPr bwMode="auto">
          <a:xfrm>
            <a:off x="8332788" y="2212975"/>
            <a:ext cx="582612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9</a:t>
            </a:r>
          </a:p>
        </p:txBody>
      </p:sp>
      <p:sp>
        <p:nvSpPr>
          <p:cNvPr id="94244" name="Text Box 35"/>
          <p:cNvSpPr txBox="1">
            <a:spLocks noChangeArrowheads="1"/>
          </p:cNvSpPr>
          <p:nvPr/>
        </p:nvSpPr>
        <p:spPr bwMode="auto">
          <a:xfrm>
            <a:off x="228600" y="2820988"/>
            <a:ext cx="8763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0   1    2    3    4     5    6    7    8    9   10  11  12  13  14  15  16</a:t>
            </a:r>
          </a:p>
        </p:txBody>
      </p:sp>
      <p:sp>
        <p:nvSpPr>
          <p:cNvPr id="94245" name="Rectangle 36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/>
              <a:t>Array Implementation of Heap</a:t>
            </a:r>
            <a:br>
              <a:rPr lang="en-US" altLang="en-US" sz="4000"/>
            </a:br>
            <a:r>
              <a:rPr lang="en-US" altLang="en-US" sz="4000"/>
              <a:t>(cont.)</a:t>
            </a:r>
          </a:p>
        </p:txBody>
      </p:sp>
      <p:sp>
        <p:nvSpPr>
          <p:cNvPr id="94246" name="Text Box 37"/>
          <p:cNvSpPr txBox="1">
            <a:spLocks noChangeArrowheads="1"/>
          </p:cNvSpPr>
          <p:nvPr/>
        </p:nvSpPr>
        <p:spPr bwMode="auto">
          <a:xfrm>
            <a:off x="152400" y="3886200"/>
            <a:ext cx="2667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94247" name="Text Box 38"/>
          <p:cNvSpPr txBox="1">
            <a:spLocks noChangeArrowheads="1"/>
          </p:cNvSpPr>
          <p:nvPr/>
        </p:nvSpPr>
        <p:spPr bwMode="auto">
          <a:xfrm>
            <a:off x="152400" y="44958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heapsize: 16</a:t>
            </a:r>
          </a:p>
        </p:txBody>
      </p:sp>
      <p:sp>
        <p:nvSpPr>
          <p:cNvPr id="94248" name="Text Box 39"/>
          <p:cNvSpPr txBox="1">
            <a:spLocks noChangeArrowheads="1"/>
          </p:cNvSpPr>
          <p:nvPr/>
        </p:nvSpPr>
        <p:spPr bwMode="auto">
          <a:xfrm>
            <a:off x="47625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9</a:t>
            </a:r>
          </a:p>
        </p:txBody>
      </p:sp>
      <p:sp>
        <p:nvSpPr>
          <p:cNvPr id="94249" name="Text Box 40"/>
          <p:cNvSpPr txBox="1">
            <a:spLocks noChangeArrowheads="1"/>
          </p:cNvSpPr>
          <p:nvPr/>
        </p:nvSpPr>
        <p:spPr bwMode="auto">
          <a:xfrm>
            <a:off x="3810000" y="3886200"/>
            <a:ext cx="41148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If the greatest child of 9 is greater than 9, then swap</a:t>
            </a: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3F6EC032-3C89-41E8-8B6E-D323F16E4392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94</a:t>
            </a:fld>
            <a:endParaRPr lang="en-US" altLang="en-US" sz="1400"/>
          </a:p>
        </p:txBody>
      </p:sp>
      <p:sp>
        <p:nvSpPr>
          <p:cNvPr id="95235" name="Rectangle 2"/>
          <p:cNvSpPr>
            <a:spLocks noChangeArrowheads="1"/>
          </p:cNvSpPr>
          <p:nvPr/>
        </p:nvSpPr>
        <p:spPr bwMode="auto">
          <a:xfrm rot="-5400000">
            <a:off x="196057" y="2166143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5236" name="Rectangle 3"/>
          <p:cNvSpPr>
            <a:spLocks noChangeArrowheads="1"/>
          </p:cNvSpPr>
          <p:nvPr/>
        </p:nvSpPr>
        <p:spPr bwMode="auto">
          <a:xfrm rot="-5400000">
            <a:off x="702469" y="2166144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5237" name="Text Box 4"/>
          <p:cNvSpPr txBox="1">
            <a:spLocks noChangeArrowheads="1"/>
          </p:cNvSpPr>
          <p:nvPr/>
        </p:nvSpPr>
        <p:spPr bwMode="auto">
          <a:xfrm>
            <a:off x="2286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39</a:t>
            </a:r>
          </a:p>
        </p:txBody>
      </p:sp>
      <p:sp>
        <p:nvSpPr>
          <p:cNvPr id="95238" name="Rectangle 5"/>
          <p:cNvSpPr>
            <a:spLocks noChangeArrowheads="1"/>
          </p:cNvSpPr>
          <p:nvPr/>
        </p:nvSpPr>
        <p:spPr bwMode="auto">
          <a:xfrm rot="-5400000">
            <a:off x="12072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5239" name="Text Box 6"/>
          <p:cNvSpPr txBox="1">
            <a:spLocks noChangeArrowheads="1"/>
          </p:cNvSpPr>
          <p:nvPr/>
        </p:nvSpPr>
        <p:spPr bwMode="auto">
          <a:xfrm>
            <a:off x="12398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28</a:t>
            </a:r>
          </a:p>
        </p:txBody>
      </p:sp>
      <p:sp>
        <p:nvSpPr>
          <p:cNvPr id="95240" name="Rectangle 7"/>
          <p:cNvSpPr>
            <a:spLocks noChangeArrowheads="1"/>
          </p:cNvSpPr>
          <p:nvPr/>
        </p:nvSpPr>
        <p:spPr bwMode="auto">
          <a:xfrm rot="-5400000">
            <a:off x="1714500" y="2166938"/>
            <a:ext cx="571500" cy="508000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5241" name="Text Box 8"/>
          <p:cNvSpPr txBox="1">
            <a:spLocks noChangeArrowheads="1"/>
          </p:cNvSpPr>
          <p:nvPr/>
        </p:nvSpPr>
        <p:spPr bwMode="auto">
          <a:xfrm>
            <a:off x="1746250" y="2212975"/>
            <a:ext cx="9525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16</a:t>
            </a:r>
          </a:p>
        </p:txBody>
      </p:sp>
      <p:sp>
        <p:nvSpPr>
          <p:cNvPr id="95242" name="Rectangle 9"/>
          <p:cNvSpPr>
            <a:spLocks noChangeArrowheads="1"/>
          </p:cNvSpPr>
          <p:nvPr/>
        </p:nvSpPr>
        <p:spPr bwMode="auto">
          <a:xfrm rot="-5400000">
            <a:off x="2221707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5243" name="Text Box 10"/>
          <p:cNvSpPr txBox="1">
            <a:spLocks noChangeArrowheads="1"/>
          </p:cNvSpPr>
          <p:nvPr/>
        </p:nvSpPr>
        <p:spPr bwMode="auto">
          <a:xfrm>
            <a:off x="7239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32</a:t>
            </a:r>
          </a:p>
        </p:txBody>
      </p:sp>
      <p:sp>
        <p:nvSpPr>
          <p:cNvPr id="95244" name="Rectangle 11"/>
          <p:cNvSpPr>
            <a:spLocks noChangeArrowheads="1"/>
          </p:cNvSpPr>
          <p:nvPr/>
        </p:nvSpPr>
        <p:spPr bwMode="auto">
          <a:xfrm rot="-5400000">
            <a:off x="27281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5245" name="Text Box 12"/>
          <p:cNvSpPr txBox="1">
            <a:spLocks noChangeArrowheads="1"/>
          </p:cNvSpPr>
          <p:nvPr/>
        </p:nvSpPr>
        <p:spPr bwMode="auto">
          <a:xfrm>
            <a:off x="27606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24</a:t>
            </a:r>
          </a:p>
        </p:txBody>
      </p:sp>
      <p:sp>
        <p:nvSpPr>
          <p:cNvPr id="95246" name="Rectangle 13"/>
          <p:cNvSpPr>
            <a:spLocks noChangeArrowheads="1"/>
          </p:cNvSpPr>
          <p:nvPr/>
        </p:nvSpPr>
        <p:spPr bwMode="auto">
          <a:xfrm rot="-5400000">
            <a:off x="323453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5247" name="Text Box 14"/>
          <p:cNvSpPr txBox="1">
            <a:spLocks noChangeArrowheads="1"/>
          </p:cNvSpPr>
          <p:nvPr/>
        </p:nvSpPr>
        <p:spPr bwMode="auto">
          <a:xfrm>
            <a:off x="326707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25</a:t>
            </a:r>
          </a:p>
        </p:txBody>
      </p:sp>
      <p:sp>
        <p:nvSpPr>
          <p:cNvPr id="95248" name="Rectangle 15"/>
          <p:cNvSpPr>
            <a:spLocks noChangeArrowheads="1"/>
          </p:cNvSpPr>
          <p:nvPr/>
        </p:nvSpPr>
        <p:spPr bwMode="auto">
          <a:xfrm rot="-5400000">
            <a:off x="3739357" y="2169319"/>
            <a:ext cx="571500" cy="503237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5249" name="Text Box 16"/>
          <p:cNvSpPr txBox="1">
            <a:spLocks noChangeArrowheads="1"/>
          </p:cNvSpPr>
          <p:nvPr/>
        </p:nvSpPr>
        <p:spPr bwMode="auto">
          <a:xfrm>
            <a:off x="3771900" y="2214563"/>
            <a:ext cx="952500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14</a:t>
            </a:r>
          </a:p>
        </p:txBody>
      </p:sp>
      <p:sp>
        <p:nvSpPr>
          <p:cNvPr id="95250" name="Rectangle 17"/>
          <p:cNvSpPr>
            <a:spLocks noChangeArrowheads="1"/>
          </p:cNvSpPr>
          <p:nvPr/>
        </p:nvSpPr>
        <p:spPr bwMode="auto">
          <a:xfrm rot="-5400000">
            <a:off x="424418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5251" name="Text Box 18"/>
          <p:cNvSpPr txBox="1">
            <a:spLocks noChangeArrowheads="1"/>
          </p:cNvSpPr>
          <p:nvPr/>
        </p:nvSpPr>
        <p:spPr bwMode="auto">
          <a:xfrm>
            <a:off x="427672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</a:t>
            </a:r>
          </a:p>
        </p:txBody>
      </p:sp>
      <p:sp>
        <p:nvSpPr>
          <p:cNvPr id="95252" name="Rectangle 19"/>
          <p:cNvSpPr>
            <a:spLocks noChangeArrowheads="1"/>
          </p:cNvSpPr>
          <p:nvPr/>
        </p:nvSpPr>
        <p:spPr bwMode="auto">
          <a:xfrm rot="-5400000">
            <a:off x="4750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5253" name="Text Box 20"/>
          <p:cNvSpPr txBox="1">
            <a:spLocks noChangeArrowheads="1"/>
          </p:cNvSpPr>
          <p:nvPr/>
        </p:nvSpPr>
        <p:spPr bwMode="auto">
          <a:xfrm>
            <a:off x="22479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29</a:t>
            </a:r>
          </a:p>
        </p:txBody>
      </p:sp>
      <p:sp>
        <p:nvSpPr>
          <p:cNvPr id="95254" name="Rectangle 21"/>
          <p:cNvSpPr>
            <a:spLocks noChangeArrowheads="1"/>
          </p:cNvSpPr>
          <p:nvPr/>
        </p:nvSpPr>
        <p:spPr bwMode="auto">
          <a:xfrm rot="-5400000">
            <a:off x="526176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5255" name="Text Box 22"/>
          <p:cNvSpPr txBox="1">
            <a:spLocks noChangeArrowheads="1"/>
          </p:cNvSpPr>
          <p:nvPr/>
        </p:nvSpPr>
        <p:spPr bwMode="auto">
          <a:xfrm>
            <a:off x="529431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15</a:t>
            </a:r>
          </a:p>
        </p:txBody>
      </p:sp>
      <p:sp>
        <p:nvSpPr>
          <p:cNvPr id="95256" name="Rectangle 23"/>
          <p:cNvSpPr>
            <a:spLocks noChangeArrowheads="1"/>
          </p:cNvSpPr>
          <p:nvPr/>
        </p:nvSpPr>
        <p:spPr bwMode="auto">
          <a:xfrm rot="-5400000">
            <a:off x="576738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5257" name="Text Box 24"/>
          <p:cNvSpPr txBox="1">
            <a:spLocks noChangeArrowheads="1"/>
          </p:cNvSpPr>
          <p:nvPr/>
        </p:nvSpPr>
        <p:spPr bwMode="auto">
          <a:xfrm>
            <a:off x="579913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5</a:t>
            </a:r>
          </a:p>
        </p:txBody>
      </p:sp>
      <p:sp>
        <p:nvSpPr>
          <p:cNvPr id="95258" name="Rectangle 25"/>
          <p:cNvSpPr>
            <a:spLocks noChangeArrowheads="1"/>
          </p:cNvSpPr>
          <p:nvPr/>
        </p:nvSpPr>
        <p:spPr bwMode="auto">
          <a:xfrm rot="-5400000">
            <a:off x="6274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5259" name="Text Box 26"/>
          <p:cNvSpPr txBox="1">
            <a:spLocks noChangeArrowheads="1"/>
          </p:cNvSpPr>
          <p:nvPr/>
        </p:nvSpPr>
        <p:spPr bwMode="auto">
          <a:xfrm>
            <a:off x="6307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7</a:t>
            </a:r>
          </a:p>
        </p:txBody>
      </p:sp>
      <p:sp>
        <p:nvSpPr>
          <p:cNvPr id="95260" name="Rectangle 27"/>
          <p:cNvSpPr>
            <a:spLocks noChangeArrowheads="1"/>
          </p:cNvSpPr>
          <p:nvPr/>
        </p:nvSpPr>
        <p:spPr bwMode="auto">
          <a:xfrm rot="-5400000">
            <a:off x="6780213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5261" name="Text Box 28"/>
          <p:cNvSpPr txBox="1">
            <a:spLocks noChangeArrowheads="1"/>
          </p:cNvSpPr>
          <p:nvPr/>
        </p:nvSpPr>
        <p:spPr bwMode="auto">
          <a:xfrm>
            <a:off x="6811963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18</a:t>
            </a:r>
          </a:p>
        </p:txBody>
      </p:sp>
      <p:sp>
        <p:nvSpPr>
          <p:cNvPr id="95262" name="Rectangle 29"/>
          <p:cNvSpPr>
            <a:spLocks noChangeArrowheads="1"/>
          </p:cNvSpPr>
          <p:nvPr/>
        </p:nvSpPr>
        <p:spPr bwMode="auto">
          <a:xfrm rot="-5400000">
            <a:off x="72874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5263" name="Text Box 30"/>
          <p:cNvSpPr txBox="1">
            <a:spLocks noChangeArrowheads="1"/>
          </p:cNvSpPr>
          <p:nvPr/>
        </p:nvSpPr>
        <p:spPr bwMode="auto">
          <a:xfrm>
            <a:off x="73199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17</a:t>
            </a:r>
          </a:p>
        </p:txBody>
      </p:sp>
      <p:sp>
        <p:nvSpPr>
          <p:cNvPr id="95264" name="Rectangle 31"/>
          <p:cNvSpPr>
            <a:spLocks noChangeArrowheads="1"/>
          </p:cNvSpPr>
          <p:nvPr/>
        </p:nvSpPr>
        <p:spPr bwMode="auto">
          <a:xfrm rot="-5400000">
            <a:off x="779303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5265" name="Text Box 32"/>
          <p:cNvSpPr txBox="1">
            <a:spLocks noChangeArrowheads="1"/>
          </p:cNvSpPr>
          <p:nvPr/>
        </p:nvSpPr>
        <p:spPr bwMode="auto">
          <a:xfrm>
            <a:off x="782478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11</a:t>
            </a:r>
          </a:p>
        </p:txBody>
      </p:sp>
      <p:sp>
        <p:nvSpPr>
          <p:cNvPr id="95266" name="Rectangle 33"/>
          <p:cNvSpPr>
            <a:spLocks noChangeArrowheads="1"/>
          </p:cNvSpPr>
          <p:nvPr/>
        </p:nvSpPr>
        <p:spPr bwMode="auto">
          <a:xfrm rot="-5400000">
            <a:off x="830024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5267" name="Text Box 34"/>
          <p:cNvSpPr txBox="1">
            <a:spLocks noChangeArrowheads="1"/>
          </p:cNvSpPr>
          <p:nvPr/>
        </p:nvSpPr>
        <p:spPr bwMode="auto">
          <a:xfrm>
            <a:off x="8332788" y="2212975"/>
            <a:ext cx="582612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9</a:t>
            </a:r>
          </a:p>
        </p:txBody>
      </p:sp>
      <p:sp>
        <p:nvSpPr>
          <p:cNvPr id="95268" name="Text Box 35"/>
          <p:cNvSpPr txBox="1">
            <a:spLocks noChangeArrowheads="1"/>
          </p:cNvSpPr>
          <p:nvPr/>
        </p:nvSpPr>
        <p:spPr bwMode="auto">
          <a:xfrm>
            <a:off x="228600" y="2820988"/>
            <a:ext cx="8763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0   1    2    3    4     5    6    7    8    9   10  11  12  13  14  15  16</a:t>
            </a:r>
          </a:p>
        </p:txBody>
      </p:sp>
      <p:sp>
        <p:nvSpPr>
          <p:cNvPr id="95269" name="Rectangle 36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/>
              <a:t>Array Implementation of Heap</a:t>
            </a:r>
            <a:br>
              <a:rPr lang="en-US" altLang="en-US" sz="4000"/>
            </a:br>
            <a:r>
              <a:rPr lang="en-US" altLang="en-US" sz="4000"/>
              <a:t>(cont.)</a:t>
            </a:r>
          </a:p>
        </p:txBody>
      </p:sp>
      <p:sp>
        <p:nvSpPr>
          <p:cNvPr id="95270" name="Text Box 37"/>
          <p:cNvSpPr txBox="1">
            <a:spLocks noChangeArrowheads="1"/>
          </p:cNvSpPr>
          <p:nvPr/>
        </p:nvSpPr>
        <p:spPr bwMode="auto">
          <a:xfrm>
            <a:off x="152400" y="3886200"/>
            <a:ext cx="2667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95271" name="Text Box 38"/>
          <p:cNvSpPr txBox="1">
            <a:spLocks noChangeArrowheads="1"/>
          </p:cNvSpPr>
          <p:nvPr/>
        </p:nvSpPr>
        <p:spPr bwMode="auto">
          <a:xfrm>
            <a:off x="152400" y="44958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heapsize: 16</a:t>
            </a:r>
          </a:p>
        </p:txBody>
      </p:sp>
      <p:sp>
        <p:nvSpPr>
          <p:cNvPr id="95272" name="Text Box 39"/>
          <p:cNvSpPr txBox="1">
            <a:spLocks noChangeArrowheads="1"/>
          </p:cNvSpPr>
          <p:nvPr/>
        </p:nvSpPr>
        <p:spPr bwMode="auto">
          <a:xfrm>
            <a:off x="47625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9</a:t>
            </a:r>
          </a:p>
        </p:txBody>
      </p:sp>
      <p:sp>
        <p:nvSpPr>
          <p:cNvPr id="95273" name="Text Box 40"/>
          <p:cNvSpPr txBox="1">
            <a:spLocks noChangeArrowheads="1"/>
          </p:cNvSpPr>
          <p:nvPr/>
        </p:nvSpPr>
        <p:spPr bwMode="auto">
          <a:xfrm>
            <a:off x="2971800" y="4000500"/>
            <a:ext cx="2819400" cy="156210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(left child #) =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2*(parent #) + 1 =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2 * 9 + 1 =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19</a:t>
            </a:r>
          </a:p>
        </p:txBody>
      </p:sp>
      <p:sp>
        <p:nvSpPr>
          <p:cNvPr id="95274" name="Line 41"/>
          <p:cNvSpPr>
            <a:spLocks noChangeShapeType="1"/>
          </p:cNvSpPr>
          <p:nvPr/>
        </p:nvSpPr>
        <p:spPr bwMode="auto">
          <a:xfrm flipH="1" flipV="1">
            <a:off x="2133600" y="4800600"/>
            <a:ext cx="914400" cy="53340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95275" name="Text Box 42"/>
          <p:cNvSpPr txBox="1">
            <a:spLocks noChangeArrowheads="1"/>
          </p:cNvSpPr>
          <p:nvPr/>
        </p:nvSpPr>
        <p:spPr bwMode="auto">
          <a:xfrm>
            <a:off x="381000" y="5105400"/>
            <a:ext cx="2438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19 &gt; heapsize</a:t>
            </a: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A4560BCE-8A7F-4E6E-909E-EC5FA069BDD9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95</a:t>
            </a:fld>
            <a:endParaRPr lang="en-US" altLang="en-US" sz="1400"/>
          </a:p>
        </p:txBody>
      </p:sp>
      <p:sp>
        <p:nvSpPr>
          <p:cNvPr id="96259" name="Rectangle 2"/>
          <p:cNvSpPr>
            <a:spLocks noChangeArrowheads="1"/>
          </p:cNvSpPr>
          <p:nvPr/>
        </p:nvSpPr>
        <p:spPr bwMode="auto">
          <a:xfrm rot="-5400000">
            <a:off x="196057" y="2166143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6260" name="Rectangle 3"/>
          <p:cNvSpPr>
            <a:spLocks noChangeArrowheads="1"/>
          </p:cNvSpPr>
          <p:nvPr/>
        </p:nvSpPr>
        <p:spPr bwMode="auto">
          <a:xfrm rot="-5400000">
            <a:off x="702469" y="2166144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6261" name="Text Box 4"/>
          <p:cNvSpPr txBox="1">
            <a:spLocks noChangeArrowheads="1"/>
          </p:cNvSpPr>
          <p:nvPr/>
        </p:nvSpPr>
        <p:spPr bwMode="auto">
          <a:xfrm>
            <a:off x="2286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39</a:t>
            </a:r>
          </a:p>
        </p:txBody>
      </p:sp>
      <p:sp>
        <p:nvSpPr>
          <p:cNvPr id="96262" name="Rectangle 5"/>
          <p:cNvSpPr>
            <a:spLocks noChangeArrowheads="1"/>
          </p:cNvSpPr>
          <p:nvPr/>
        </p:nvSpPr>
        <p:spPr bwMode="auto">
          <a:xfrm rot="-5400000">
            <a:off x="12072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6263" name="Text Box 6"/>
          <p:cNvSpPr txBox="1">
            <a:spLocks noChangeArrowheads="1"/>
          </p:cNvSpPr>
          <p:nvPr/>
        </p:nvSpPr>
        <p:spPr bwMode="auto">
          <a:xfrm>
            <a:off x="12398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28</a:t>
            </a:r>
          </a:p>
        </p:txBody>
      </p:sp>
      <p:sp>
        <p:nvSpPr>
          <p:cNvPr id="96264" name="Rectangle 7"/>
          <p:cNvSpPr>
            <a:spLocks noChangeArrowheads="1"/>
          </p:cNvSpPr>
          <p:nvPr/>
        </p:nvSpPr>
        <p:spPr bwMode="auto">
          <a:xfrm rot="-5400000">
            <a:off x="1714500" y="2166938"/>
            <a:ext cx="571500" cy="508000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6265" name="Text Box 8"/>
          <p:cNvSpPr txBox="1">
            <a:spLocks noChangeArrowheads="1"/>
          </p:cNvSpPr>
          <p:nvPr/>
        </p:nvSpPr>
        <p:spPr bwMode="auto">
          <a:xfrm>
            <a:off x="1746250" y="2212975"/>
            <a:ext cx="9525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16</a:t>
            </a:r>
          </a:p>
        </p:txBody>
      </p:sp>
      <p:sp>
        <p:nvSpPr>
          <p:cNvPr id="96266" name="Rectangle 9"/>
          <p:cNvSpPr>
            <a:spLocks noChangeArrowheads="1"/>
          </p:cNvSpPr>
          <p:nvPr/>
        </p:nvSpPr>
        <p:spPr bwMode="auto">
          <a:xfrm rot="-5400000">
            <a:off x="2221707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6267" name="Text Box 10"/>
          <p:cNvSpPr txBox="1">
            <a:spLocks noChangeArrowheads="1"/>
          </p:cNvSpPr>
          <p:nvPr/>
        </p:nvSpPr>
        <p:spPr bwMode="auto">
          <a:xfrm>
            <a:off x="7239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32</a:t>
            </a:r>
          </a:p>
        </p:txBody>
      </p:sp>
      <p:sp>
        <p:nvSpPr>
          <p:cNvPr id="96268" name="Rectangle 11"/>
          <p:cNvSpPr>
            <a:spLocks noChangeArrowheads="1"/>
          </p:cNvSpPr>
          <p:nvPr/>
        </p:nvSpPr>
        <p:spPr bwMode="auto">
          <a:xfrm rot="-5400000">
            <a:off x="27281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6269" name="Text Box 12"/>
          <p:cNvSpPr txBox="1">
            <a:spLocks noChangeArrowheads="1"/>
          </p:cNvSpPr>
          <p:nvPr/>
        </p:nvSpPr>
        <p:spPr bwMode="auto">
          <a:xfrm>
            <a:off x="27606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24</a:t>
            </a:r>
          </a:p>
        </p:txBody>
      </p:sp>
      <p:sp>
        <p:nvSpPr>
          <p:cNvPr id="96270" name="Rectangle 13"/>
          <p:cNvSpPr>
            <a:spLocks noChangeArrowheads="1"/>
          </p:cNvSpPr>
          <p:nvPr/>
        </p:nvSpPr>
        <p:spPr bwMode="auto">
          <a:xfrm rot="-5400000">
            <a:off x="323453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6271" name="Text Box 14"/>
          <p:cNvSpPr txBox="1">
            <a:spLocks noChangeArrowheads="1"/>
          </p:cNvSpPr>
          <p:nvPr/>
        </p:nvSpPr>
        <p:spPr bwMode="auto">
          <a:xfrm>
            <a:off x="326707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25</a:t>
            </a:r>
          </a:p>
        </p:txBody>
      </p:sp>
      <p:sp>
        <p:nvSpPr>
          <p:cNvPr id="96272" name="Rectangle 15"/>
          <p:cNvSpPr>
            <a:spLocks noChangeArrowheads="1"/>
          </p:cNvSpPr>
          <p:nvPr/>
        </p:nvSpPr>
        <p:spPr bwMode="auto">
          <a:xfrm rot="-5400000">
            <a:off x="3739357" y="2169319"/>
            <a:ext cx="571500" cy="503237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6273" name="Text Box 16"/>
          <p:cNvSpPr txBox="1">
            <a:spLocks noChangeArrowheads="1"/>
          </p:cNvSpPr>
          <p:nvPr/>
        </p:nvSpPr>
        <p:spPr bwMode="auto">
          <a:xfrm>
            <a:off x="3771900" y="2214563"/>
            <a:ext cx="952500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14</a:t>
            </a:r>
          </a:p>
        </p:txBody>
      </p:sp>
      <p:sp>
        <p:nvSpPr>
          <p:cNvPr id="96274" name="Rectangle 17"/>
          <p:cNvSpPr>
            <a:spLocks noChangeArrowheads="1"/>
          </p:cNvSpPr>
          <p:nvPr/>
        </p:nvSpPr>
        <p:spPr bwMode="auto">
          <a:xfrm rot="-5400000">
            <a:off x="424418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6275" name="Text Box 18"/>
          <p:cNvSpPr txBox="1">
            <a:spLocks noChangeArrowheads="1"/>
          </p:cNvSpPr>
          <p:nvPr/>
        </p:nvSpPr>
        <p:spPr bwMode="auto">
          <a:xfrm>
            <a:off x="427672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</a:t>
            </a:r>
          </a:p>
        </p:txBody>
      </p:sp>
      <p:sp>
        <p:nvSpPr>
          <p:cNvPr id="96276" name="Rectangle 19"/>
          <p:cNvSpPr>
            <a:spLocks noChangeArrowheads="1"/>
          </p:cNvSpPr>
          <p:nvPr/>
        </p:nvSpPr>
        <p:spPr bwMode="auto">
          <a:xfrm rot="-5400000">
            <a:off x="4750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6277" name="Text Box 20"/>
          <p:cNvSpPr txBox="1">
            <a:spLocks noChangeArrowheads="1"/>
          </p:cNvSpPr>
          <p:nvPr/>
        </p:nvSpPr>
        <p:spPr bwMode="auto">
          <a:xfrm>
            <a:off x="22479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29</a:t>
            </a:r>
          </a:p>
        </p:txBody>
      </p:sp>
      <p:sp>
        <p:nvSpPr>
          <p:cNvPr id="96278" name="Rectangle 21"/>
          <p:cNvSpPr>
            <a:spLocks noChangeArrowheads="1"/>
          </p:cNvSpPr>
          <p:nvPr/>
        </p:nvSpPr>
        <p:spPr bwMode="auto">
          <a:xfrm rot="-5400000">
            <a:off x="526176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6279" name="Text Box 22"/>
          <p:cNvSpPr txBox="1">
            <a:spLocks noChangeArrowheads="1"/>
          </p:cNvSpPr>
          <p:nvPr/>
        </p:nvSpPr>
        <p:spPr bwMode="auto">
          <a:xfrm>
            <a:off x="529431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15</a:t>
            </a:r>
          </a:p>
        </p:txBody>
      </p:sp>
      <p:sp>
        <p:nvSpPr>
          <p:cNvPr id="96280" name="Rectangle 23"/>
          <p:cNvSpPr>
            <a:spLocks noChangeArrowheads="1"/>
          </p:cNvSpPr>
          <p:nvPr/>
        </p:nvSpPr>
        <p:spPr bwMode="auto">
          <a:xfrm rot="-5400000">
            <a:off x="576738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6281" name="Text Box 24"/>
          <p:cNvSpPr txBox="1">
            <a:spLocks noChangeArrowheads="1"/>
          </p:cNvSpPr>
          <p:nvPr/>
        </p:nvSpPr>
        <p:spPr bwMode="auto">
          <a:xfrm>
            <a:off x="579913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5</a:t>
            </a:r>
          </a:p>
        </p:txBody>
      </p:sp>
      <p:sp>
        <p:nvSpPr>
          <p:cNvPr id="96282" name="Rectangle 25"/>
          <p:cNvSpPr>
            <a:spLocks noChangeArrowheads="1"/>
          </p:cNvSpPr>
          <p:nvPr/>
        </p:nvSpPr>
        <p:spPr bwMode="auto">
          <a:xfrm rot="-5400000">
            <a:off x="6274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6283" name="Text Box 26"/>
          <p:cNvSpPr txBox="1">
            <a:spLocks noChangeArrowheads="1"/>
          </p:cNvSpPr>
          <p:nvPr/>
        </p:nvSpPr>
        <p:spPr bwMode="auto">
          <a:xfrm>
            <a:off x="6307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7</a:t>
            </a:r>
          </a:p>
        </p:txBody>
      </p:sp>
      <p:sp>
        <p:nvSpPr>
          <p:cNvPr id="96284" name="Rectangle 27"/>
          <p:cNvSpPr>
            <a:spLocks noChangeArrowheads="1"/>
          </p:cNvSpPr>
          <p:nvPr/>
        </p:nvSpPr>
        <p:spPr bwMode="auto">
          <a:xfrm rot="-5400000">
            <a:off x="6780213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6285" name="Text Box 28"/>
          <p:cNvSpPr txBox="1">
            <a:spLocks noChangeArrowheads="1"/>
          </p:cNvSpPr>
          <p:nvPr/>
        </p:nvSpPr>
        <p:spPr bwMode="auto">
          <a:xfrm>
            <a:off x="6811963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18</a:t>
            </a:r>
          </a:p>
        </p:txBody>
      </p:sp>
      <p:sp>
        <p:nvSpPr>
          <p:cNvPr id="96286" name="Rectangle 29"/>
          <p:cNvSpPr>
            <a:spLocks noChangeArrowheads="1"/>
          </p:cNvSpPr>
          <p:nvPr/>
        </p:nvSpPr>
        <p:spPr bwMode="auto">
          <a:xfrm rot="-5400000">
            <a:off x="72874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6287" name="Text Box 30"/>
          <p:cNvSpPr txBox="1">
            <a:spLocks noChangeArrowheads="1"/>
          </p:cNvSpPr>
          <p:nvPr/>
        </p:nvSpPr>
        <p:spPr bwMode="auto">
          <a:xfrm>
            <a:off x="73199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17</a:t>
            </a:r>
          </a:p>
        </p:txBody>
      </p:sp>
      <p:sp>
        <p:nvSpPr>
          <p:cNvPr id="96288" name="Rectangle 31"/>
          <p:cNvSpPr>
            <a:spLocks noChangeArrowheads="1"/>
          </p:cNvSpPr>
          <p:nvPr/>
        </p:nvSpPr>
        <p:spPr bwMode="auto">
          <a:xfrm rot="-5400000">
            <a:off x="779303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6289" name="Text Box 32"/>
          <p:cNvSpPr txBox="1">
            <a:spLocks noChangeArrowheads="1"/>
          </p:cNvSpPr>
          <p:nvPr/>
        </p:nvSpPr>
        <p:spPr bwMode="auto">
          <a:xfrm>
            <a:off x="782478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11</a:t>
            </a:r>
          </a:p>
        </p:txBody>
      </p:sp>
      <p:sp>
        <p:nvSpPr>
          <p:cNvPr id="96290" name="Rectangle 33"/>
          <p:cNvSpPr>
            <a:spLocks noChangeArrowheads="1"/>
          </p:cNvSpPr>
          <p:nvPr/>
        </p:nvSpPr>
        <p:spPr bwMode="auto">
          <a:xfrm rot="-5400000">
            <a:off x="830024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6291" name="Text Box 34"/>
          <p:cNvSpPr txBox="1">
            <a:spLocks noChangeArrowheads="1"/>
          </p:cNvSpPr>
          <p:nvPr/>
        </p:nvSpPr>
        <p:spPr bwMode="auto">
          <a:xfrm>
            <a:off x="8332788" y="2212975"/>
            <a:ext cx="582612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9</a:t>
            </a:r>
          </a:p>
        </p:txBody>
      </p:sp>
      <p:sp>
        <p:nvSpPr>
          <p:cNvPr id="96292" name="Text Box 35"/>
          <p:cNvSpPr txBox="1">
            <a:spLocks noChangeArrowheads="1"/>
          </p:cNvSpPr>
          <p:nvPr/>
        </p:nvSpPr>
        <p:spPr bwMode="auto">
          <a:xfrm>
            <a:off x="228600" y="2820988"/>
            <a:ext cx="8763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0   1    2    3    4     5    6    7    8    9   10  11  12  13  14  15  16</a:t>
            </a:r>
          </a:p>
        </p:txBody>
      </p:sp>
      <p:sp>
        <p:nvSpPr>
          <p:cNvPr id="96293" name="Rectangle 36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/>
              <a:t>Array Implementation of Heap</a:t>
            </a:r>
            <a:br>
              <a:rPr lang="en-US" altLang="en-US" sz="4000"/>
            </a:br>
            <a:r>
              <a:rPr lang="en-US" altLang="en-US" sz="4000"/>
              <a:t>(cont.)</a:t>
            </a:r>
          </a:p>
        </p:txBody>
      </p:sp>
      <p:sp>
        <p:nvSpPr>
          <p:cNvPr id="96294" name="Text Box 37"/>
          <p:cNvSpPr txBox="1">
            <a:spLocks noChangeArrowheads="1"/>
          </p:cNvSpPr>
          <p:nvPr/>
        </p:nvSpPr>
        <p:spPr bwMode="auto">
          <a:xfrm>
            <a:off x="152400" y="3886200"/>
            <a:ext cx="2667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remElement: 46</a:t>
            </a:r>
          </a:p>
        </p:txBody>
      </p:sp>
      <p:sp>
        <p:nvSpPr>
          <p:cNvPr id="96295" name="Text Box 38"/>
          <p:cNvSpPr txBox="1">
            <a:spLocks noChangeArrowheads="1"/>
          </p:cNvSpPr>
          <p:nvPr/>
        </p:nvSpPr>
        <p:spPr bwMode="auto">
          <a:xfrm>
            <a:off x="152400" y="44958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heapsize: 16</a:t>
            </a:r>
          </a:p>
        </p:txBody>
      </p:sp>
      <p:sp>
        <p:nvSpPr>
          <p:cNvPr id="96296" name="Text Box 39"/>
          <p:cNvSpPr txBox="1">
            <a:spLocks noChangeArrowheads="1"/>
          </p:cNvSpPr>
          <p:nvPr/>
        </p:nvSpPr>
        <p:spPr bwMode="auto">
          <a:xfrm>
            <a:off x="47625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9</a:t>
            </a:r>
          </a:p>
        </p:txBody>
      </p:sp>
      <p:sp>
        <p:nvSpPr>
          <p:cNvPr id="96297" name="Text Box 40"/>
          <p:cNvSpPr txBox="1">
            <a:spLocks noChangeArrowheads="1"/>
          </p:cNvSpPr>
          <p:nvPr/>
        </p:nvSpPr>
        <p:spPr bwMode="auto">
          <a:xfrm>
            <a:off x="2971800" y="4000500"/>
            <a:ext cx="2819400" cy="156210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(left child #) =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2*(parent #) + 1 =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2 * 9 + 1 =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19</a:t>
            </a:r>
          </a:p>
        </p:txBody>
      </p:sp>
      <p:sp>
        <p:nvSpPr>
          <p:cNvPr id="96298" name="Line 43"/>
          <p:cNvSpPr>
            <a:spLocks noChangeShapeType="1"/>
          </p:cNvSpPr>
          <p:nvPr/>
        </p:nvSpPr>
        <p:spPr bwMode="auto">
          <a:xfrm flipV="1">
            <a:off x="4876800" y="3276600"/>
            <a:ext cx="152400" cy="68580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96299" name="Text Box 44"/>
          <p:cNvSpPr txBox="1">
            <a:spLocks noChangeArrowheads="1"/>
          </p:cNvSpPr>
          <p:nvPr/>
        </p:nvSpPr>
        <p:spPr bwMode="auto">
          <a:xfrm>
            <a:off x="5181600" y="3276600"/>
            <a:ext cx="3733800" cy="1004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so 9 must be a leaf node</a:t>
            </a:r>
          </a:p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             (we can stop)</a:t>
            </a: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37BD407E-8A6B-48C3-9DF9-47188922CA91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96</a:t>
            </a:fld>
            <a:endParaRPr lang="en-US" altLang="en-US" sz="1400"/>
          </a:p>
        </p:txBody>
      </p:sp>
      <p:sp>
        <p:nvSpPr>
          <p:cNvPr id="97283" name="Rectangle 2"/>
          <p:cNvSpPr>
            <a:spLocks noChangeArrowheads="1"/>
          </p:cNvSpPr>
          <p:nvPr/>
        </p:nvSpPr>
        <p:spPr bwMode="auto">
          <a:xfrm rot="-5400000">
            <a:off x="196057" y="2166143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7284" name="Rectangle 3"/>
          <p:cNvSpPr>
            <a:spLocks noChangeArrowheads="1"/>
          </p:cNvSpPr>
          <p:nvPr/>
        </p:nvSpPr>
        <p:spPr bwMode="auto">
          <a:xfrm rot="-5400000">
            <a:off x="702469" y="2166144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7285" name="Text Box 4"/>
          <p:cNvSpPr txBox="1">
            <a:spLocks noChangeArrowheads="1"/>
          </p:cNvSpPr>
          <p:nvPr/>
        </p:nvSpPr>
        <p:spPr bwMode="auto">
          <a:xfrm>
            <a:off x="2286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39</a:t>
            </a:r>
          </a:p>
        </p:txBody>
      </p:sp>
      <p:sp>
        <p:nvSpPr>
          <p:cNvPr id="97286" name="Rectangle 5"/>
          <p:cNvSpPr>
            <a:spLocks noChangeArrowheads="1"/>
          </p:cNvSpPr>
          <p:nvPr/>
        </p:nvSpPr>
        <p:spPr bwMode="auto">
          <a:xfrm rot="-5400000">
            <a:off x="12072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7287" name="Text Box 6"/>
          <p:cNvSpPr txBox="1">
            <a:spLocks noChangeArrowheads="1"/>
          </p:cNvSpPr>
          <p:nvPr/>
        </p:nvSpPr>
        <p:spPr bwMode="auto">
          <a:xfrm>
            <a:off x="12398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28</a:t>
            </a:r>
          </a:p>
        </p:txBody>
      </p:sp>
      <p:sp>
        <p:nvSpPr>
          <p:cNvPr id="97288" name="Rectangle 7"/>
          <p:cNvSpPr>
            <a:spLocks noChangeArrowheads="1"/>
          </p:cNvSpPr>
          <p:nvPr/>
        </p:nvSpPr>
        <p:spPr bwMode="auto">
          <a:xfrm rot="-5400000">
            <a:off x="1714500" y="2166938"/>
            <a:ext cx="571500" cy="508000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7289" name="Text Box 8"/>
          <p:cNvSpPr txBox="1">
            <a:spLocks noChangeArrowheads="1"/>
          </p:cNvSpPr>
          <p:nvPr/>
        </p:nvSpPr>
        <p:spPr bwMode="auto">
          <a:xfrm>
            <a:off x="1746250" y="2212975"/>
            <a:ext cx="9525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16</a:t>
            </a:r>
          </a:p>
        </p:txBody>
      </p:sp>
      <p:sp>
        <p:nvSpPr>
          <p:cNvPr id="97290" name="Rectangle 9"/>
          <p:cNvSpPr>
            <a:spLocks noChangeArrowheads="1"/>
          </p:cNvSpPr>
          <p:nvPr/>
        </p:nvSpPr>
        <p:spPr bwMode="auto">
          <a:xfrm rot="-5400000">
            <a:off x="2221707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7291" name="Text Box 10"/>
          <p:cNvSpPr txBox="1">
            <a:spLocks noChangeArrowheads="1"/>
          </p:cNvSpPr>
          <p:nvPr/>
        </p:nvSpPr>
        <p:spPr bwMode="auto">
          <a:xfrm>
            <a:off x="7239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32</a:t>
            </a:r>
          </a:p>
        </p:txBody>
      </p:sp>
      <p:sp>
        <p:nvSpPr>
          <p:cNvPr id="97292" name="Rectangle 11"/>
          <p:cNvSpPr>
            <a:spLocks noChangeArrowheads="1"/>
          </p:cNvSpPr>
          <p:nvPr/>
        </p:nvSpPr>
        <p:spPr bwMode="auto">
          <a:xfrm rot="-5400000">
            <a:off x="27281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7293" name="Text Box 12"/>
          <p:cNvSpPr txBox="1">
            <a:spLocks noChangeArrowheads="1"/>
          </p:cNvSpPr>
          <p:nvPr/>
        </p:nvSpPr>
        <p:spPr bwMode="auto">
          <a:xfrm>
            <a:off x="27606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24</a:t>
            </a:r>
          </a:p>
        </p:txBody>
      </p:sp>
      <p:sp>
        <p:nvSpPr>
          <p:cNvPr id="97294" name="Rectangle 13"/>
          <p:cNvSpPr>
            <a:spLocks noChangeArrowheads="1"/>
          </p:cNvSpPr>
          <p:nvPr/>
        </p:nvSpPr>
        <p:spPr bwMode="auto">
          <a:xfrm rot="-5400000">
            <a:off x="323453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7295" name="Text Box 14"/>
          <p:cNvSpPr txBox="1">
            <a:spLocks noChangeArrowheads="1"/>
          </p:cNvSpPr>
          <p:nvPr/>
        </p:nvSpPr>
        <p:spPr bwMode="auto">
          <a:xfrm>
            <a:off x="326707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25</a:t>
            </a:r>
          </a:p>
        </p:txBody>
      </p:sp>
      <p:sp>
        <p:nvSpPr>
          <p:cNvPr id="97296" name="Rectangle 15"/>
          <p:cNvSpPr>
            <a:spLocks noChangeArrowheads="1"/>
          </p:cNvSpPr>
          <p:nvPr/>
        </p:nvSpPr>
        <p:spPr bwMode="auto">
          <a:xfrm rot="-5400000">
            <a:off x="3739357" y="2169319"/>
            <a:ext cx="571500" cy="503237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7297" name="Text Box 16"/>
          <p:cNvSpPr txBox="1">
            <a:spLocks noChangeArrowheads="1"/>
          </p:cNvSpPr>
          <p:nvPr/>
        </p:nvSpPr>
        <p:spPr bwMode="auto">
          <a:xfrm>
            <a:off x="3771900" y="2214563"/>
            <a:ext cx="952500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14</a:t>
            </a:r>
          </a:p>
        </p:txBody>
      </p:sp>
      <p:sp>
        <p:nvSpPr>
          <p:cNvPr id="97298" name="Rectangle 17"/>
          <p:cNvSpPr>
            <a:spLocks noChangeArrowheads="1"/>
          </p:cNvSpPr>
          <p:nvPr/>
        </p:nvSpPr>
        <p:spPr bwMode="auto">
          <a:xfrm rot="-5400000">
            <a:off x="424418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7299" name="Text Box 18"/>
          <p:cNvSpPr txBox="1">
            <a:spLocks noChangeArrowheads="1"/>
          </p:cNvSpPr>
          <p:nvPr/>
        </p:nvSpPr>
        <p:spPr bwMode="auto">
          <a:xfrm>
            <a:off x="427672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</a:t>
            </a:r>
          </a:p>
        </p:txBody>
      </p:sp>
      <p:sp>
        <p:nvSpPr>
          <p:cNvPr id="97300" name="Rectangle 19"/>
          <p:cNvSpPr>
            <a:spLocks noChangeArrowheads="1"/>
          </p:cNvSpPr>
          <p:nvPr/>
        </p:nvSpPr>
        <p:spPr bwMode="auto">
          <a:xfrm rot="-5400000">
            <a:off x="4750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7301" name="Text Box 20"/>
          <p:cNvSpPr txBox="1">
            <a:spLocks noChangeArrowheads="1"/>
          </p:cNvSpPr>
          <p:nvPr/>
        </p:nvSpPr>
        <p:spPr bwMode="auto">
          <a:xfrm>
            <a:off x="22479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29</a:t>
            </a:r>
          </a:p>
        </p:txBody>
      </p:sp>
      <p:sp>
        <p:nvSpPr>
          <p:cNvPr id="97302" name="Rectangle 21"/>
          <p:cNvSpPr>
            <a:spLocks noChangeArrowheads="1"/>
          </p:cNvSpPr>
          <p:nvPr/>
        </p:nvSpPr>
        <p:spPr bwMode="auto">
          <a:xfrm rot="-5400000">
            <a:off x="526176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7303" name="Text Box 22"/>
          <p:cNvSpPr txBox="1">
            <a:spLocks noChangeArrowheads="1"/>
          </p:cNvSpPr>
          <p:nvPr/>
        </p:nvSpPr>
        <p:spPr bwMode="auto">
          <a:xfrm>
            <a:off x="529431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15</a:t>
            </a:r>
          </a:p>
        </p:txBody>
      </p:sp>
      <p:sp>
        <p:nvSpPr>
          <p:cNvPr id="97304" name="Rectangle 23"/>
          <p:cNvSpPr>
            <a:spLocks noChangeArrowheads="1"/>
          </p:cNvSpPr>
          <p:nvPr/>
        </p:nvSpPr>
        <p:spPr bwMode="auto">
          <a:xfrm rot="-5400000">
            <a:off x="576738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7305" name="Text Box 24"/>
          <p:cNvSpPr txBox="1">
            <a:spLocks noChangeArrowheads="1"/>
          </p:cNvSpPr>
          <p:nvPr/>
        </p:nvSpPr>
        <p:spPr bwMode="auto">
          <a:xfrm>
            <a:off x="579913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5</a:t>
            </a:r>
          </a:p>
        </p:txBody>
      </p:sp>
      <p:sp>
        <p:nvSpPr>
          <p:cNvPr id="97306" name="Rectangle 25"/>
          <p:cNvSpPr>
            <a:spLocks noChangeArrowheads="1"/>
          </p:cNvSpPr>
          <p:nvPr/>
        </p:nvSpPr>
        <p:spPr bwMode="auto">
          <a:xfrm rot="-5400000">
            <a:off x="6274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7307" name="Text Box 26"/>
          <p:cNvSpPr txBox="1">
            <a:spLocks noChangeArrowheads="1"/>
          </p:cNvSpPr>
          <p:nvPr/>
        </p:nvSpPr>
        <p:spPr bwMode="auto">
          <a:xfrm>
            <a:off x="6307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7</a:t>
            </a:r>
          </a:p>
        </p:txBody>
      </p:sp>
      <p:sp>
        <p:nvSpPr>
          <p:cNvPr id="97308" name="Rectangle 27"/>
          <p:cNvSpPr>
            <a:spLocks noChangeArrowheads="1"/>
          </p:cNvSpPr>
          <p:nvPr/>
        </p:nvSpPr>
        <p:spPr bwMode="auto">
          <a:xfrm rot="-5400000">
            <a:off x="6780213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7309" name="Text Box 28"/>
          <p:cNvSpPr txBox="1">
            <a:spLocks noChangeArrowheads="1"/>
          </p:cNvSpPr>
          <p:nvPr/>
        </p:nvSpPr>
        <p:spPr bwMode="auto">
          <a:xfrm>
            <a:off x="6811963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18</a:t>
            </a:r>
          </a:p>
        </p:txBody>
      </p:sp>
      <p:sp>
        <p:nvSpPr>
          <p:cNvPr id="97310" name="Rectangle 29"/>
          <p:cNvSpPr>
            <a:spLocks noChangeArrowheads="1"/>
          </p:cNvSpPr>
          <p:nvPr/>
        </p:nvSpPr>
        <p:spPr bwMode="auto">
          <a:xfrm rot="-5400000">
            <a:off x="72874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7311" name="Text Box 30"/>
          <p:cNvSpPr txBox="1">
            <a:spLocks noChangeArrowheads="1"/>
          </p:cNvSpPr>
          <p:nvPr/>
        </p:nvSpPr>
        <p:spPr bwMode="auto">
          <a:xfrm>
            <a:off x="73199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17</a:t>
            </a:r>
          </a:p>
        </p:txBody>
      </p:sp>
      <p:sp>
        <p:nvSpPr>
          <p:cNvPr id="97312" name="Rectangle 31"/>
          <p:cNvSpPr>
            <a:spLocks noChangeArrowheads="1"/>
          </p:cNvSpPr>
          <p:nvPr/>
        </p:nvSpPr>
        <p:spPr bwMode="auto">
          <a:xfrm rot="-5400000">
            <a:off x="779303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7313" name="Text Box 32"/>
          <p:cNvSpPr txBox="1">
            <a:spLocks noChangeArrowheads="1"/>
          </p:cNvSpPr>
          <p:nvPr/>
        </p:nvSpPr>
        <p:spPr bwMode="auto">
          <a:xfrm>
            <a:off x="782478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11</a:t>
            </a:r>
          </a:p>
        </p:txBody>
      </p:sp>
      <p:sp>
        <p:nvSpPr>
          <p:cNvPr id="97314" name="Rectangle 33"/>
          <p:cNvSpPr>
            <a:spLocks noChangeArrowheads="1"/>
          </p:cNvSpPr>
          <p:nvPr/>
        </p:nvSpPr>
        <p:spPr bwMode="auto">
          <a:xfrm rot="-5400000">
            <a:off x="830024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7315" name="Text Box 34"/>
          <p:cNvSpPr txBox="1">
            <a:spLocks noChangeArrowheads="1"/>
          </p:cNvSpPr>
          <p:nvPr/>
        </p:nvSpPr>
        <p:spPr bwMode="auto">
          <a:xfrm>
            <a:off x="8332788" y="2212975"/>
            <a:ext cx="582612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9</a:t>
            </a:r>
          </a:p>
        </p:txBody>
      </p:sp>
      <p:sp>
        <p:nvSpPr>
          <p:cNvPr id="97316" name="Text Box 35"/>
          <p:cNvSpPr txBox="1">
            <a:spLocks noChangeArrowheads="1"/>
          </p:cNvSpPr>
          <p:nvPr/>
        </p:nvSpPr>
        <p:spPr bwMode="auto">
          <a:xfrm>
            <a:off x="228600" y="2820988"/>
            <a:ext cx="8763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0   1    2    3    4     5    6    7    8    9   10  11  12  13  14  15  16</a:t>
            </a:r>
          </a:p>
        </p:txBody>
      </p:sp>
      <p:sp>
        <p:nvSpPr>
          <p:cNvPr id="97317" name="Rectangle 36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/>
              <a:t>Array Implementation of Heap</a:t>
            </a:r>
            <a:br>
              <a:rPr lang="en-US" altLang="en-US" sz="4000"/>
            </a:br>
            <a:r>
              <a:rPr lang="en-US" altLang="en-US" sz="4000"/>
              <a:t>(cont.)</a:t>
            </a:r>
          </a:p>
        </p:txBody>
      </p:sp>
      <p:sp>
        <p:nvSpPr>
          <p:cNvPr id="97318" name="Text Box 38"/>
          <p:cNvSpPr txBox="1">
            <a:spLocks noChangeArrowheads="1"/>
          </p:cNvSpPr>
          <p:nvPr/>
        </p:nvSpPr>
        <p:spPr bwMode="auto">
          <a:xfrm>
            <a:off x="152400" y="44958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heapsize: 16</a:t>
            </a:r>
          </a:p>
        </p:txBody>
      </p:sp>
      <p:sp>
        <p:nvSpPr>
          <p:cNvPr id="97319" name="Text Box 39"/>
          <p:cNvSpPr txBox="1">
            <a:spLocks noChangeArrowheads="1"/>
          </p:cNvSpPr>
          <p:nvPr/>
        </p:nvSpPr>
        <p:spPr bwMode="auto">
          <a:xfrm>
            <a:off x="47625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</a:t>
            </a:r>
            <a:r>
              <a:rPr lang="en-US" altLang="en-US" sz="2400" b="1"/>
              <a:t>9</a:t>
            </a:r>
          </a:p>
        </p:txBody>
      </p:sp>
      <p:sp>
        <p:nvSpPr>
          <p:cNvPr id="97320" name="Text Box 43"/>
          <p:cNvSpPr txBox="1">
            <a:spLocks noChangeArrowheads="1"/>
          </p:cNvSpPr>
          <p:nvPr/>
        </p:nvSpPr>
        <p:spPr bwMode="auto">
          <a:xfrm>
            <a:off x="2895600" y="3962400"/>
            <a:ext cx="5638800" cy="1196975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An enqueue is done by placing the new element at elements[ heapsize ], then swapping upwards</a:t>
            </a: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0B1C89A8-8252-4CCC-9831-AF2F464E20B5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97</a:t>
            </a:fld>
            <a:endParaRPr lang="en-US" altLang="en-US" sz="1400"/>
          </a:p>
        </p:txBody>
      </p:sp>
      <p:sp>
        <p:nvSpPr>
          <p:cNvPr id="98307" name="Rectangle 2"/>
          <p:cNvSpPr>
            <a:spLocks noChangeArrowheads="1"/>
          </p:cNvSpPr>
          <p:nvPr/>
        </p:nvSpPr>
        <p:spPr bwMode="auto">
          <a:xfrm rot="-5400000">
            <a:off x="196057" y="2166143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8308" name="Rectangle 3"/>
          <p:cNvSpPr>
            <a:spLocks noChangeArrowheads="1"/>
          </p:cNvSpPr>
          <p:nvPr/>
        </p:nvSpPr>
        <p:spPr bwMode="auto">
          <a:xfrm rot="-5400000">
            <a:off x="702469" y="2166144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8309" name="Text Box 4"/>
          <p:cNvSpPr txBox="1">
            <a:spLocks noChangeArrowheads="1"/>
          </p:cNvSpPr>
          <p:nvPr/>
        </p:nvSpPr>
        <p:spPr bwMode="auto">
          <a:xfrm>
            <a:off x="2286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39</a:t>
            </a:r>
          </a:p>
        </p:txBody>
      </p:sp>
      <p:sp>
        <p:nvSpPr>
          <p:cNvPr id="98310" name="Rectangle 5"/>
          <p:cNvSpPr>
            <a:spLocks noChangeArrowheads="1"/>
          </p:cNvSpPr>
          <p:nvPr/>
        </p:nvSpPr>
        <p:spPr bwMode="auto">
          <a:xfrm rot="-5400000">
            <a:off x="12072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8311" name="Text Box 6"/>
          <p:cNvSpPr txBox="1">
            <a:spLocks noChangeArrowheads="1"/>
          </p:cNvSpPr>
          <p:nvPr/>
        </p:nvSpPr>
        <p:spPr bwMode="auto">
          <a:xfrm>
            <a:off x="12398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28</a:t>
            </a:r>
          </a:p>
        </p:txBody>
      </p:sp>
      <p:sp>
        <p:nvSpPr>
          <p:cNvPr id="98312" name="Rectangle 7"/>
          <p:cNvSpPr>
            <a:spLocks noChangeArrowheads="1"/>
          </p:cNvSpPr>
          <p:nvPr/>
        </p:nvSpPr>
        <p:spPr bwMode="auto">
          <a:xfrm rot="-5400000">
            <a:off x="1714500" y="2166938"/>
            <a:ext cx="571500" cy="508000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8313" name="Text Box 8"/>
          <p:cNvSpPr txBox="1">
            <a:spLocks noChangeArrowheads="1"/>
          </p:cNvSpPr>
          <p:nvPr/>
        </p:nvSpPr>
        <p:spPr bwMode="auto">
          <a:xfrm>
            <a:off x="1746250" y="2212975"/>
            <a:ext cx="9525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16</a:t>
            </a:r>
          </a:p>
        </p:txBody>
      </p:sp>
      <p:sp>
        <p:nvSpPr>
          <p:cNvPr id="98314" name="Rectangle 9"/>
          <p:cNvSpPr>
            <a:spLocks noChangeArrowheads="1"/>
          </p:cNvSpPr>
          <p:nvPr/>
        </p:nvSpPr>
        <p:spPr bwMode="auto">
          <a:xfrm rot="-5400000">
            <a:off x="2221707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8315" name="Text Box 10"/>
          <p:cNvSpPr txBox="1">
            <a:spLocks noChangeArrowheads="1"/>
          </p:cNvSpPr>
          <p:nvPr/>
        </p:nvSpPr>
        <p:spPr bwMode="auto">
          <a:xfrm>
            <a:off x="7239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32</a:t>
            </a:r>
          </a:p>
        </p:txBody>
      </p:sp>
      <p:sp>
        <p:nvSpPr>
          <p:cNvPr id="98316" name="Rectangle 11"/>
          <p:cNvSpPr>
            <a:spLocks noChangeArrowheads="1"/>
          </p:cNvSpPr>
          <p:nvPr/>
        </p:nvSpPr>
        <p:spPr bwMode="auto">
          <a:xfrm rot="-5400000">
            <a:off x="27281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8317" name="Text Box 12"/>
          <p:cNvSpPr txBox="1">
            <a:spLocks noChangeArrowheads="1"/>
          </p:cNvSpPr>
          <p:nvPr/>
        </p:nvSpPr>
        <p:spPr bwMode="auto">
          <a:xfrm>
            <a:off x="27606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24</a:t>
            </a:r>
          </a:p>
        </p:txBody>
      </p:sp>
      <p:sp>
        <p:nvSpPr>
          <p:cNvPr id="98318" name="Rectangle 13"/>
          <p:cNvSpPr>
            <a:spLocks noChangeArrowheads="1"/>
          </p:cNvSpPr>
          <p:nvPr/>
        </p:nvSpPr>
        <p:spPr bwMode="auto">
          <a:xfrm rot="-5400000">
            <a:off x="323453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8319" name="Text Box 14"/>
          <p:cNvSpPr txBox="1">
            <a:spLocks noChangeArrowheads="1"/>
          </p:cNvSpPr>
          <p:nvPr/>
        </p:nvSpPr>
        <p:spPr bwMode="auto">
          <a:xfrm>
            <a:off x="326707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25</a:t>
            </a:r>
          </a:p>
        </p:txBody>
      </p:sp>
      <p:sp>
        <p:nvSpPr>
          <p:cNvPr id="98320" name="Rectangle 15"/>
          <p:cNvSpPr>
            <a:spLocks noChangeArrowheads="1"/>
          </p:cNvSpPr>
          <p:nvPr/>
        </p:nvSpPr>
        <p:spPr bwMode="auto">
          <a:xfrm rot="-5400000">
            <a:off x="3739357" y="2169319"/>
            <a:ext cx="571500" cy="503237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8321" name="Text Box 16"/>
          <p:cNvSpPr txBox="1">
            <a:spLocks noChangeArrowheads="1"/>
          </p:cNvSpPr>
          <p:nvPr/>
        </p:nvSpPr>
        <p:spPr bwMode="auto">
          <a:xfrm>
            <a:off x="3771900" y="2214563"/>
            <a:ext cx="952500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14</a:t>
            </a:r>
          </a:p>
        </p:txBody>
      </p:sp>
      <p:sp>
        <p:nvSpPr>
          <p:cNvPr id="98322" name="Rectangle 17"/>
          <p:cNvSpPr>
            <a:spLocks noChangeArrowheads="1"/>
          </p:cNvSpPr>
          <p:nvPr/>
        </p:nvSpPr>
        <p:spPr bwMode="auto">
          <a:xfrm rot="-5400000">
            <a:off x="4244182" y="2167731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8323" name="Text Box 18"/>
          <p:cNvSpPr txBox="1">
            <a:spLocks noChangeArrowheads="1"/>
          </p:cNvSpPr>
          <p:nvPr/>
        </p:nvSpPr>
        <p:spPr bwMode="auto">
          <a:xfrm>
            <a:off x="4276725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</a:t>
            </a:r>
          </a:p>
        </p:txBody>
      </p:sp>
      <p:sp>
        <p:nvSpPr>
          <p:cNvPr id="98324" name="Rectangle 19"/>
          <p:cNvSpPr>
            <a:spLocks noChangeArrowheads="1"/>
          </p:cNvSpPr>
          <p:nvPr/>
        </p:nvSpPr>
        <p:spPr bwMode="auto">
          <a:xfrm rot="-5400000">
            <a:off x="4750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8325" name="Text Box 20"/>
          <p:cNvSpPr txBox="1">
            <a:spLocks noChangeArrowheads="1"/>
          </p:cNvSpPr>
          <p:nvPr/>
        </p:nvSpPr>
        <p:spPr bwMode="auto">
          <a:xfrm>
            <a:off x="22479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29</a:t>
            </a:r>
          </a:p>
        </p:txBody>
      </p:sp>
      <p:sp>
        <p:nvSpPr>
          <p:cNvPr id="98326" name="Rectangle 21"/>
          <p:cNvSpPr>
            <a:spLocks noChangeArrowheads="1"/>
          </p:cNvSpPr>
          <p:nvPr/>
        </p:nvSpPr>
        <p:spPr bwMode="auto">
          <a:xfrm rot="-5400000">
            <a:off x="526176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8327" name="Text Box 22"/>
          <p:cNvSpPr txBox="1">
            <a:spLocks noChangeArrowheads="1"/>
          </p:cNvSpPr>
          <p:nvPr/>
        </p:nvSpPr>
        <p:spPr bwMode="auto">
          <a:xfrm>
            <a:off x="529431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15</a:t>
            </a:r>
          </a:p>
        </p:txBody>
      </p:sp>
      <p:sp>
        <p:nvSpPr>
          <p:cNvPr id="98328" name="Rectangle 23"/>
          <p:cNvSpPr>
            <a:spLocks noChangeArrowheads="1"/>
          </p:cNvSpPr>
          <p:nvPr/>
        </p:nvSpPr>
        <p:spPr bwMode="auto">
          <a:xfrm rot="-5400000">
            <a:off x="576738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8329" name="Text Box 24"/>
          <p:cNvSpPr txBox="1">
            <a:spLocks noChangeArrowheads="1"/>
          </p:cNvSpPr>
          <p:nvPr/>
        </p:nvSpPr>
        <p:spPr bwMode="auto">
          <a:xfrm>
            <a:off x="579913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5</a:t>
            </a:r>
          </a:p>
        </p:txBody>
      </p:sp>
      <p:sp>
        <p:nvSpPr>
          <p:cNvPr id="98330" name="Rectangle 25"/>
          <p:cNvSpPr>
            <a:spLocks noChangeArrowheads="1"/>
          </p:cNvSpPr>
          <p:nvPr/>
        </p:nvSpPr>
        <p:spPr bwMode="auto">
          <a:xfrm rot="-5400000">
            <a:off x="627459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8331" name="Text Box 26"/>
          <p:cNvSpPr txBox="1">
            <a:spLocks noChangeArrowheads="1"/>
          </p:cNvSpPr>
          <p:nvPr/>
        </p:nvSpPr>
        <p:spPr bwMode="auto">
          <a:xfrm>
            <a:off x="6307138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7</a:t>
            </a:r>
          </a:p>
        </p:txBody>
      </p:sp>
      <p:sp>
        <p:nvSpPr>
          <p:cNvPr id="98332" name="Rectangle 27"/>
          <p:cNvSpPr>
            <a:spLocks noChangeArrowheads="1"/>
          </p:cNvSpPr>
          <p:nvPr/>
        </p:nvSpPr>
        <p:spPr bwMode="auto">
          <a:xfrm rot="-5400000">
            <a:off x="6780213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8333" name="Text Box 28"/>
          <p:cNvSpPr txBox="1">
            <a:spLocks noChangeArrowheads="1"/>
          </p:cNvSpPr>
          <p:nvPr/>
        </p:nvSpPr>
        <p:spPr bwMode="auto">
          <a:xfrm>
            <a:off x="6811963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18</a:t>
            </a:r>
          </a:p>
        </p:txBody>
      </p:sp>
      <p:sp>
        <p:nvSpPr>
          <p:cNvPr id="98334" name="Rectangle 29"/>
          <p:cNvSpPr>
            <a:spLocks noChangeArrowheads="1"/>
          </p:cNvSpPr>
          <p:nvPr/>
        </p:nvSpPr>
        <p:spPr bwMode="auto">
          <a:xfrm rot="-5400000">
            <a:off x="7287419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8335" name="Text Box 30"/>
          <p:cNvSpPr txBox="1">
            <a:spLocks noChangeArrowheads="1"/>
          </p:cNvSpPr>
          <p:nvPr/>
        </p:nvSpPr>
        <p:spPr bwMode="auto">
          <a:xfrm>
            <a:off x="7319963" y="2212975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17</a:t>
            </a:r>
          </a:p>
        </p:txBody>
      </p:sp>
      <p:sp>
        <p:nvSpPr>
          <p:cNvPr id="98336" name="Rectangle 31"/>
          <p:cNvSpPr>
            <a:spLocks noChangeArrowheads="1"/>
          </p:cNvSpPr>
          <p:nvPr/>
        </p:nvSpPr>
        <p:spPr bwMode="auto">
          <a:xfrm rot="-5400000">
            <a:off x="7793038" y="2168525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8337" name="Text Box 32"/>
          <p:cNvSpPr txBox="1">
            <a:spLocks noChangeArrowheads="1"/>
          </p:cNvSpPr>
          <p:nvPr/>
        </p:nvSpPr>
        <p:spPr bwMode="auto">
          <a:xfrm>
            <a:off x="7824788" y="2214563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11</a:t>
            </a:r>
          </a:p>
        </p:txBody>
      </p:sp>
      <p:sp>
        <p:nvSpPr>
          <p:cNvPr id="98338" name="Rectangle 33"/>
          <p:cNvSpPr>
            <a:spLocks noChangeArrowheads="1"/>
          </p:cNvSpPr>
          <p:nvPr/>
        </p:nvSpPr>
        <p:spPr bwMode="auto">
          <a:xfrm rot="-5400000">
            <a:off x="8300244" y="2167732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98339" name="Text Box 34"/>
          <p:cNvSpPr txBox="1">
            <a:spLocks noChangeArrowheads="1"/>
          </p:cNvSpPr>
          <p:nvPr/>
        </p:nvSpPr>
        <p:spPr bwMode="auto">
          <a:xfrm>
            <a:off x="8332788" y="2212975"/>
            <a:ext cx="582612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9</a:t>
            </a:r>
          </a:p>
        </p:txBody>
      </p:sp>
      <p:sp>
        <p:nvSpPr>
          <p:cNvPr id="98340" name="Text Box 35"/>
          <p:cNvSpPr txBox="1">
            <a:spLocks noChangeArrowheads="1"/>
          </p:cNvSpPr>
          <p:nvPr/>
        </p:nvSpPr>
        <p:spPr bwMode="auto">
          <a:xfrm>
            <a:off x="228600" y="2820988"/>
            <a:ext cx="8763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0   1    2    3    4     5    6    7    8    9   10  11  12  13  14  15  16</a:t>
            </a:r>
          </a:p>
        </p:txBody>
      </p:sp>
      <p:sp>
        <p:nvSpPr>
          <p:cNvPr id="98341" name="Rectangle 36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/>
              <a:t>Array Implementation of Heap</a:t>
            </a:r>
            <a:br>
              <a:rPr lang="en-US" altLang="en-US" sz="4000"/>
            </a:br>
            <a:r>
              <a:rPr lang="en-US" altLang="en-US" sz="4000"/>
              <a:t>(cont.)</a:t>
            </a:r>
          </a:p>
        </p:txBody>
      </p:sp>
      <p:sp>
        <p:nvSpPr>
          <p:cNvPr id="98342" name="Text Box 37"/>
          <p:cNvSpPr txBox="1">
            <a:spLocks noChangeArrowheads="1"/>
          </p:cNvSpPr>
          <p:nvPr/>
        </p:nvSpPr>
        <p:spPr bwMode="auto">
          <a:xfrm>
            <a:off x="152400" y="44958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heapsize: 16</a:t>
            </a:r>
          </a:p>
        </p:txBody>
      </p:sp>
      <p:sp>
        <p:nvSpPr>
          <p:cNvPr id="98343" name="Text Box 38"/>
          <p:cNvSpPr txBox="1">
            <a:spLocks noChangeArrowheads="1"/>
          </p:cNvSpPr>
          <p:nvPr/>
        </p:nvSpPr>
        <p:spPr bwMode="auto">
          <a:xfrm>
            <a:off x="4762500" y="22098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</a:t>
            </a:r>
            <a:r>
              <a:rPr lang="en-US" altLang="en-US" sz="2400" b="1"/>
              <a:t>9</a:t>
            </a:r>
          </a:p>
        </p:txBody>
      </p:sp>
      <p:sp>
        <p:nvSpPr>
          <p:cNvPr id="98344" name="Text Box 39"/>
          <p:cNvSpPr txBox="1">
            <a:spLocks noChangeArrowheads="1"/>
          </p:cNvSpPr>
          <p:nvPr/>
        </p:nvSpPr>
        <p:spPr bwMode="auto">
          <a:xfrm>
            <a:off x="2971800" y="3810000"/>
            <a:ext cx="5410200" cy="1927225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 dirty="0">
                <a:solidFill>
                  <a:srgbClr val="FF3300"/>
                </a:solidFill>
              </a:rPr>
              <a:t>When </a:t>
            </a:r>
            <a:r>
              <a:rPr lang="en-US" altLang="en-US" sz="2400" b="1" dirty="0" err="1">
                <a:solidFill>
                  <a:srgbClr val="FF3300"/>
                </a:solidFill>
              </a:rPr>
              <a:t>enqueuing</a:t>
            </a:r>
            <a:r>
              <a:rPr lang="en-US" altLang="en-US" sz="2400" b="1" dirty="0">
                <a:solidFill>
                  <a:srgbClr val="FF3300"/>
                </a:solidFill>
              </a:rPr>
              <a:t>, the parent is always found by using the parent formula: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2400" b="1" dirty="0">
              <a:solidFill>
                <a:srgbClr val="FF3300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 dirty="0">
                <a:solidFill>
                  <a:srgbClr val="FF3300"/>
                </a:solidFill>
              </a:rPr>
              <a:t>(parent #) = (child # - 1 ) / 2</a:t>
            </a: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8ED88703-6C5D-4653-B50A-B70DF9A5075C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98</a:t>
            </a:fld>
            <a:endParaRPr lang="en-US" altLang="en-US" sz="1400"/>
          </a:p>
        </p:txBody>
      </p:sp>
      <p:sp>
        <p:nvSpPr>
          <p:cNvPr id="99331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4000" dirty="0"/>
              <a:t>Reducing the Work </a:t>
            </a:r>
            <a:br>
              <a:rPr lang="en-US" altLang="en-US" sz="4000" dirty="0"/>
            </a:br>
            <a:r>
              <a:rPr lang="en-US" altLang="en-US" sz="4000" dirty="0"/>
              <a:t>in a Swap</a:t>
            </a:r>
          </a:p>
        </p:txBody>
      </p:sp>
      <p:sp>
        <p:nvSpPr>
          <p:cNvPr id="99332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en-US" altLang="en-US" dirty="0"/>
              <a:t>A swap (using simple assignments) would normally involve three statements:</a:t>
            </a:r>
          </a:p>
          <a:p>
            <a:pPr eaLnBrk="1" hangingPunct="1"/>
            <a:endParaRPr lang="en-US" altLang="en-US" dirty="0"/>
          </a:p>
          <a:p>
            <a:pPr lvl="1" eaLnBrk="1" hangingPunct="1">
              <a:buFontTx/>
              <a:buNone/>
            </a:pPr>
            <a:r>
              <a:rPr lang="en-US" altLang="en-US" dirty="0"/>
              <a:t>temp = elements[ </a:t>
            </a:r>
            <a:r>
              <a:rPr lang="en-US" altLang="en-US" dirty="0" err="1"/>
              <a:t>i</a:t>
            </a:r>
            <a:r>
              <a:rPr lang="en-US" altLang="en-US" dirty="0"/>
              <a:t> ];</a:t>
            </a:r>
          </a:p>
          <a:p>
            <a:pPr lvl="1" eaLnBrk="1" hangingPunct="1">
              <a:buFontTx/>
              <a:buNone/>
            </a:pPr>
            <a:r>
              <a:rPr lang="en-US" altLang="en-US" dirty="0"/>
              <a:t>elements[ </a:t>
            </a:r>
            <a:r>
              <a:rPr lang="en-US" altLang="en-US" dirty="0" err="1"/>
              <a:t>i</a:t>
            </a:r>
            <a:r>
              <a:rPr lang="en-US" altLang="en-US" dirty="0"/>
              <a:t> ] = elements[ j ];</a:t>
            </a:r>
          </a:p>
          <a:p>
            <a:pPr lvl="1" eaLnBrk="1" hangingPunct="1">
              <a:buFontTx/>
              <a:buNone/>
            </a:pPr>
            <a:r>
              <a:rPr lang="en-US" altLang="en-US" dirty="0"/>
              <a:t>elements[ j ] = temp;</a:t>
            </a:r>
          </a:p>
          <a:p>
            <a:pPr lvl="1" eaLnBrk="1" hangingPunct="1"/>
            <a:endParaRPr lang="en-US" altLang="en-US" dirty="0"/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1083CC3E-F546-4532-99E2-EA5487593C7C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99</a:t>
            </a:fld>
            <a:endParaRPr lang="en-US" altLang="en-US" sz="1400"/>
          </a:p>
        </p:txBody>
      </p:sp>
      <p:sp>
        <p:nvSpPr>
          <p:cNvPr id="10035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4000"/>
              <a:t>Reducing the Work </a:t>
            </a:r>
            <a:br>
              <a:rPr lang="en-US" altLang="en-US" sz="4000"/>
            </a:br>
            <a:r>
              <a:rPr lang="en-US" altLang="en-US" sz="4000"/>
              <a:t>in a Swap (cont.)</a:t>
            </a:r>
          </a:p>
        </p:txBody>
      </p:sp>
      <p:sp>
        <p:nvSpPr>
          <p:cNvPr id="100356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en-US" altLang="en-US" dirty="0"/>
              <a:t>In an </a:t>
            </a:r>
            <a:r>
              <a:rPr lang="en-US" altLang="en-US" dirty="0" err="1"/>
              <a:t>enqueue</a:t>
            </a:r>
            <a:r>
              <a:rPr lang="en-US" altLang="en-US" dirty="0"/>
              <a:t> or a </a:t>
            </a:r>
            <a:r>
              <a:rPr lang="en-US" altLang="en-US" dirty="0" err="1"/>
              <a:t>dequeue</a:t>
            </a:r>
            <a:r>
              <a:rPr lang="en-US" altLang="en-US" dirty="0"/>
              <a:t> for a heap, we do not really have to use this three-assignment swap (although it helped to visualize how the </a:t>
            </a:r>
            <a:r>
              <a:rPr lang="en-US" altLang="en-US" dirty="0" err="1"/>
              <a:t>enqueue</a:t>
            </a:r>
            <a:r>
              <a:rPr lang="en-US" altLang="en-US" dirty="0"/>
              <a:t> and </a:t>
            </a:r>
            <a:r>
              <a:rPr lang="en-US" altLang="en-US" dirty="0" err="1"/>
              <a:t>dequeue</a:t>
            </a:r>
            <a:r>
              <a:rPr lang="en-US" altLang="en-US" dirty="0"/>
              <a:t> process worked).</a:t>
            </a:r>
          </a:p>
          <a:p>
            <a:pPr eaLnBrk="1" hangingPunct="1"/>
            <a:r>
              <a:rPr lang="en-US" altLang="en-US" dirty="0"/>
              <a:t>We can save the value we are swapping upwards or downwards.</a:t>
            </a:r>
          </a:p>
          <a:p>
            <a:pPr eaLnBrk="1" hangingPunct="1"/>
            <a:r>
              <a:rPr lang="en-US" altLang="en-US" dirty="0"/>
              <a:t>Let’s look at an </a:t>
            </a:r>
            <a:r>
              <a:rPr lang="en-US" altLang="en-US" dirty="0" err="1"/>
              <a:t>enqueue</a:t>
            </a:r>
            <a:r>
              <a:rPr lang="en-US" altLang="en-US" dirty="0"/>
              <a:t>…</a:t>
            </a: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C2087CF1-9816-40BA-8E22-A39150926EA8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100</a:t>
            </a:fld>
            <a:endParaRPr lang="en-US" altLang="en-US" sz="1400"/>
          </a:p>
        </p:txBody>
      </p:sp>
      <p:sp>
        <p:nvSpPr>
          <p:cNvPr id="101379" name="Oval 2"/>
          <p:cNvSpPr>
            <a:spLocks noChangeArrowheads="1"/>
          </p:cNvSpPr>
          <p:nvPr/>
        </p:nvSpPr>
        <p:spPr bwMode="auto">
          <a:xfrm>
            <a:off x="2395538" y="25431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1380" name="Text Box 3"/>
          <p:cNvSpPr txBox="1">
            <a:spLocks noChangeArrowheads="1"/>
          </p:cNvSpPr>
          <p:nvPr/>
        </p:nvSpPr>
        <p:spPr bwMode="auto">
          <a:xfrm>
            <a:off x="2336800" y="26622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101381" name="Oval 4"/>
          <p:cNvSpPr>
            <a:spLocks noChangeArrowheads="1"/>
          </p:cNvSpPr>
          <p:nvPr/>
        </p:nvSpPr>
        <p:spPr bwMode="auto">
          <a:xfrm>
            <a:off x="1370013" y="376872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1382" name="Text Box 5"/>
          <p:cNvSpPr txBox="1">
            <a:spLocks noChangeArrowheads="1"/>
          </p:cNvSpPr>
          <p:nvPr/>
        </p:nvSpPr>
        <p:spPr bwMode="auto">
          <a:xfrm>
            <a:off x="1311275" y="388620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01383" name="Oval 6"/>
          <p:cNvSpPr>
            <a:spLocks noChangeArrowheads="1"/>
          </p:cNvSpPr>
          <p:nvPr/>
        </p:nvSpPr>
        <p:spPr bwMode="auto">
          <a:xfrm>
            <a:off x="685800" y="49942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1384" name="Text Box 7"/>
          <p:cNvSpPr txBox="1">
            <a:spLocks noChangeArrowheads="1"/>
          </p:cNvSpPr>
          <p:nvPr/>
        </p:nvSpPr>
        <p:spPr bwMode="auto">
          <a:xfrm>
            <a:off x="627063" y="511175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101385" name="Oval 8"/>
          <p:cNvSpPr>
            <a:spLocks noChangeArrowheads="1"/>
          </p:cNvSpPr>
          <p:nvPr/>
        </p:nvSpPr>
        <p:spPr bwMode="auto">
          <a:xfrm>
            <a:off x="1711325" y="49926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1386" name="Text Box 9"/>
          <p:cNvSpPr txBox="1">
            <a:spLocks noChangeArrowheads="1"/>
          </p:cNvSpPr>
          <p:nvPr/>
        </p:nvSpPr>
        <p:spPr bwMode="auto">
          <a:xfrm>
            <a:off x="1652588" y="511175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101387" name="Line 10"/>
          <p:cNvSpPr>
            <a:spLocks noChangeShapeType="1"/>
          </p:cNvSpPr>
          <p:nvPr/>
        </p:nvSpPr>
        <p:spPr bwMode="auto">
          <a:xfrm flipH="1">
            <a:off x="1198563" y="44688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1388" name="Line 11"/>
          <p:cNvSpPr>
            <a:spLocks noChangeShapeType="1"/>
          </p:cNvSpPr>
          <p:nvPr/>
        </p:nvSpPr>
        <p:spPr bwMode="auto">
          <a:xfrm>
            <a:off x="1711325" y="44688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1389" name="Oval 12"/>
          <p:cNvSpPr>
            <a:spLocks noChangeArrowheads="1"/>
          </p:cNvSpPr>
          <p:nvPr/>
        </p:nvSpPr>
        <p:spPr bwMode="auto">
          <a:xfrm>
            <a:off x="4448175" y="13176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1390" name="Text Box 13"/>
          <p:cNvSpPr txBox="1">
            <a:spLocks noChangeArrowheads="1"/>
          </p:cNvSpPr>
          <p:nvPr/>
        </p:nvSpPr>
        <p:spPr bwMode="auto">
          <a:xfrm>
            <a:off x="4389438" y="143668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101391" name="Line 14"/>
          <p:cNvSpPr>
            <a:spLocks noChangeShapeType="1"/>
          </p:cNvSpPr>
          <p:nvPr/>
        </p:nvSpPr>
        <p:spPr bwMode="auto">
          <a:xfrm>
            <a:off x="2909888" y="149383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1392" name="Oval 15"/>
          <p:cNvSpPr>
            <a:spLocks noChangeArrowheads="1"/>
          </p:cNvSpPr>
          <p:nvPr/>
        </p:nvSpPr>
        <p:spPr bwMode="auto">
          <a:xfrm>
            <a:off x="3422650" y="37687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1393" name="Line 16"/>
          <p:cNvSpPr>
            <a:spLocks noChangeShapeType="1"/>
          </p:cNvSpPr>
          <p:nvPr/>
        </p:nvSpPr>
        <p:spPr bwMode="auto">
          <a:xfrm flipH="1">
            <a:off x="1882775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1394" name="Line 17"/>
          <p:cNvSpPr>
            <a:spLocks noChangeShapeType="1"/>
          </p:cNvSpPr>
          <p:nvPr/>
        </p:nvSpPr>
        <p:spPr bwMode="auto">
          <a:xfrm>
            <a:off x="2909888" y="324326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1395" name="Oval 18"/>
          <p:cNvSpPr>
            <a:spLocks noChangeArrowheads="1"/>
          </p:cNvSpPr>
          <p:nvPr/>
        </p:nvSpPr>
        <p:spPr bwMode="auto">
          <a:xfrm>
            <a:off x="6500813" y="25431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1396" name="Text Box 19"/>
          <p:cNvSpPr txBox="1">
            <a:spLocks noChangeArrowheads="1"/>
          </p:cNvSpPr>
          <p:nvPr/>
        </p:nvSpPr>
        <p:spPr bwMode="auto">
          <a:xfrm>
            <a:off x="6442075" y="26622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101397" name="Oval 20"/>
          <p:cNvSpPr>
            <a:spLocks noChangeArrowheads="1"/>
          </p:cNvSpPr>
          <p:nvPr/>
        </p:nvSpPr>
        <p:spPr bwMode="auto">
          <a:xfrm>
            <a:off x="5475288" y="376872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1398" name="Oval 21"/>
          <p:cNvSpPr>
            <a:spLocks noChangeArrowheads="1"/>
          </p:cNvSpPr>
          <p:nvPr/>
        </p:nvSpPr>
        <p:spPr bwMode="auto">
          <a:xfrm>
            <a:off x="7526338" y="37687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1399" name="Text Box 22"/>
          <p:cNvSpPr txBox="1">
            <a:spLocks noChangeArrowheads="1"/>
          </p:cNvSpPr>
          <p:nvPr/>
        </p:nvSpPr>
        <p:spPr bwMode="auto">
          <a:xfrm>
            <a:off x="7467600" y="38862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101400" name="Line 23"/>
          <p:cNvSpPr>
            <a:spLocks noChangeShapeType="1"/>
          </p:cNvSpPr>
          <p:nvPr/>
        </p:nvSpPr>
        <p:spPr bwMode="auto">
          <a:xfrm flipH="1">
            <a:off x="5988050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1401" name="Line 24"/>
          <p:cNvSpPr>
            <a:spLocks noChangeShapeType="1"/>
          </p:cNvSpPr>
          <p:nvPr/>
        </p:nvSpPr>
        <p:spPr bwMode="auto">
          <a:xfrm>
            <a:off x="7013575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1402" name="Line 25"/>
          <p:cNvSpPr>
            <a:spLocks noChangeShapeType="1"/>
          </p:cNvSpPr>
          <p:nvPr/>
        </p:nvSpPr>
        <p:spPr bwMode="auto">
          <a:xfrm flipH="1">
            <a:off x="3079750" y="184308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1403" name="Line 26"/>
          <p:cNvSpPr>
            <a:spLocks noChangeShapeType="1"/>
          </p:cNvSpPr>
          <p:nvPr/>
        </p:nvSpPr>
        <p:spPr bwMode="auto">
          <a:xfrm>
            <a:off x="5132388" y="184308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1404" name="Text Box 27"/>
          <p:cNvSpPr txBox="1">
            <a:spLocks noChangeArrowheads="1"/>
          </p:cNvSpPr>
          <p:nvPr/>
        </p:nvSpPr>
        <p:spPr bwMode="auto">
          <a:xfrm>
            <a:off x="1939925" y="114300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101405" name="Oval 28"/>
          <p:cNvSpPr>
            <a:spLocks noChangeArrowheads="1"/>
          </p:cNvSpPr>
          <p:nvPr/>
        </p:nvSpPr>
        <p:spPr bwMode="auto">
          <a:xfrm>
            <a:off x="3422650" y="376713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1406" name="Text Box 29"/>
          <p:cNvSpPr txBox="1">
            <a:spLocks noChangeArrowheads="1"/>
          </p:cNvSpPr>
          <p:nvPr/>
        </p:nvSpPr>
        <p:spPr bwMode="auto">
          <a:xfrm>
            <a:off x="3370263" y="390525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101407" name="Oval 30"/>
          <p:cNvSpPr>
            <a:spLocks noChangeArrowheads="1"/>
          </p:cNvSpPr>
          <p:nvPr/>
        </p:nvSpPr>
        <p:spPr bwMode="auto">
          <a:xfrm>
            <a:off x="2738438" y="49926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1408" name="Text Box 31"/>
          <p:cNvSpPr txBox="1">
            <a:spLocks noChangeArrowheads="1"/>
          </p:cNvSpPr>
          <p:nvPr/>
        </p:nvSpPr>
        <p:spPr bwMode="auto">
          <a:xfrm>
            <a:off x="2679700" y="510698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01409" name="Oval 32"/>
          <p:cNvSpPr>
            <a:spLocks noChangeArrowheads="1"/>
          </p:cNvSpPr>
          <p:nvPr/>
        </p:nvSpPr>
        <p:spPr bwMode="auto">
          <a:xfrm>
            <a:off x="3763963" y="49895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1410" name="Text Box 33"/>
          <p:cNvSpPr txBox="1">
            <a:spLocks noChangeArrowheads="1"/>
          </p:cNvSpPr>
          <p:nvPr/>
        </p:nvSpPr>
        <p:spPr bwMode="auto">
          <a:xfrm>
            <a:off x="3705225" y="5106988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101411" name="Line 34"/>
          <p:cNvSpPr>
            <a:spLocks noChangeShapeType="1"/>
          </p:cNvSpPr>
          <p:nvPr/>
        </p:nvSpPr>
        <p:spPr bwMode="auto">
          <a:xfrm flipH="1">
            <a:off x="3251200" y="446722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1412" name="Line 35"/>
          <p:cNvSpPr>
            <a:spLocks noChangeShapeType="1"/>
          </p:cNvSpPr>
          <p:nvPr/>
        </p:nvSpPr>
        <p:spPr bwMode="auto">
          <a:xfrm>
            <a:off x="3763963" y="4467225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1413" name="Oval 36"/>
          <p:cNvSpPr>
            <a:spLocks noChangeArrowheads="1"/>
          </p:cNvSpPr>
          <p:nvPr/>
        </p:nvSpPr>
        <p:spPr bwMode="auto">
          <a:xfrm>
            <a:off x="5475288" y="376713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1414" name="Text Box 37"/>
          <p:cNvSpPr txBox="1">
            <a:spLocks noChangeArrowheads="1"/>
          </p:cNvSpPr>
          <p:nvPr/>
        </p:nvSpPr>
        <p:spPr bwMode="auto">
          <a:xfrm>
            <a:off x="5427663" y="390525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101415" name="Text Box 38"/>
          <p:cNvSpPr txBox="1">
            <a:spLocks noChangeArrowheads="1"/>
          </p:cNvSpPr>
          <p:nvPr/>
        </p:nvSpPr>
        <p:spPr bwMode="auto">
          <a:xfrm>
            <a:off x="5715000" y="1295400"/>
            <a:ext cx="3276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value to enqueue: 37</a:t>
            </a:r>
          </a:p>
        </p:txBody>
      </p:sp>
      <p:sp>
        <p:nvSpPr>
          <p:cNvPr id="101416" name="Rectangle 39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Enqueue </a:t>
            </a:r>
          </a:p>
        </p:txBody>
      </p:sp>
      <p:sp>
        <p:nvSpPr>
          <p:cNvPr id="101417" name="Text Box 40"/>
          <p:cNvSpPr txBox="1">
            <a:spLocks noChangeArrowheads="1"/>
          </p:cNvSpPr>
          <p:nvPr/>
        </p:nvSpPr>
        <p:spPr bwMode="auto">
          <a:xfrm>
            <a:off x="3962400" y="24384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4A4E7580-0083-421D-8B28-B366C6C641C9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101</a:t>
            </a:fld>
            <a:endParaRPr lang="en-US" altLang="en-US" sz="1400"/>
          </a:p>
        </p:txBody>
      </p:sp>
      <p:sp>
        <p:nvSpPr>
          <p:cNvPr id="102403" name="Oval 2"/>
          <p:cNvSpPr>
            <a:spLocks noChangeArrowheads="1"/>
          </p:cNvSpPr>
          <p:nvPr/>
        </p:nvSpPr>
        <p:spPr bwMode="auto">
          <a:xfrm>
            <a:off x="2395538" y="25431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2404" name="Text Box 3"/>
          <p:cNvSpPr txBox="1">
            <a:spLocks noChangeArrowheads="1"/>
          </p:cNvSpPr>
          <p:nvPr/>
        </p:nvSpPr>
        <p:spPr bwMode="auto">
          <a:xfrm>
            <a:off x="2336800" y="26622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102405" name="Oval 4"/>
          <p:cNvSpPr>
            <a:spLocks noChangeArrowheads="1"/>
          </p:cNvSpPr>
          <p:nvPr/>
        </p:nvSpPr>
        <p:spPr bwMode="auto">
          <a:xfrm>
            <a:off x="1370013" y="376872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2406" name="Text Box 5"/>
          <p:cNvSpPr txBox="1">
            <a:spLocks noChangeArrowheads="1"/>
          </p:cNvSpPr>
          <p:nvPr/>
        </p:nvSpPr>
        <p:spPr bwMode="auto">
          <a:xfrm>
            <a:off x="1311275" y="388620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02407" name="Oval 6"/>
          <p:cNvSpPr>
            <a:spLocks noChangeArrowheads="1"/>
          </p:cNvSpPr>
          <p:nvPr/>
        </p:nvSpPr>
        <p:spPr bwMode="auto">
          <a:xfrm>
            <a:off x="685800" y="49942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2408" name="Text Box 7"/>
          <p:cNvSpPr txBox="1">
            <a:spLocks noChangeArrowheads="1"/>
          </p:cNvSpPr>
          <p:nvPr/>
        </p:nvSpPr>
        <p:spPr bwMode="auto">
          <a:xfrm>
            <a:off x="627063" y="511175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102409" name="Oval 8"/>
          <p:cNvSpPr>
            <a:spLocks noChangeArrowheads="1"/>
          </p:cNvSpPr>
          <p:nvPr/>
        </p:nvSpPr>
        <p:spPr bwMode="auto">
          <a:xfrm>
            <a:off x="1711325" y="49926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2410" name="Text Box 9"/>
          <p:cNvSpPr txBox="1">
            <a:spLocks noChangeArrowheads="1"/>
          </p:cNvSpPr>
          <p:nvPr/>
        </p:nvSpPr>
        <p:spPr bwMode="auto">
          <a:xfrm>
            <a:off x="1652588" y="511175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102411" name="Line 10"/>
          <p:cNvSpPr>
            <a:spLocks noChangeShapeType="1"/>
          </p:cNvSpPr>
          <p:nvPr/>
        </p:nvSpPr>
        <p:spPr bwMode="auto">
          <a:xfrm flipH="1">
            <a:off x="1198563" y="44688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2412" name="Line 11"/>
          <p:cNvSpPr>
            <a:spLocks noChangeShapeType="1"/>
          </p:cNvSpPr>
          <p:nvPr/>
        </p:nvSpPr>
        <p:spPr bwMode="auto">
          <a:xfrm>
            <a:off x="1711325" y="44688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2413" name="Oval 12"/>
          <p:cNvSpPr>
            <a:spLocks noChangeArrowheads="1"/>
          </p:cNvSpPr>
          <p:nvPr/>
        </p:nvSpPr>
        <p:spPr bwMode="auto">
          <a:xfrm>
            <a:off x="4448175" y="13176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2414" name="Text Box 13"/>
          <p:cNvSpPr txBox="1">
            <a:spLocks noChangeArrowheads="1"/>
          </p:cNvSpPr>
          <p:nvPr/>
        </p:nvSpPr>
        <p:spPr bwMode="auto">
          <a:xfrm>
            <a:off x="4389438" y="143668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102415" name="Line 14"/>
          <p:cNvSpPr>
            <a:spLocks noChangeShapeType="1"/>
          </p:cNvSpPr>
          <p:nvPr/>
        </p:nvSpPr>
        <p:spPr bwMode="auto">
          <a:xfrm>
            <a:off x="2909888" y="149383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2416" name="Oval 15"/>
          <p:cNvSpPr>
            <a:spLocks noChangeArrowheads="1"/>
          </p:cNvSpPr>
          <p:nvPr/>
        </p:nvSpPr>
        <p:spPr bwMode="auto">
          <a:xfrm>
            <a:off x="3422650" y="37687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2417" name="Line 16"/>
          <p:cNvSpPr>
            <a:spLocks noChangeShapeType="1"/>
          </p:cNvSpPr>
          <p:nvPr/>
        </p:nvSpPr>
        <p:spPr bwMode="auto">
          <a:xfrm flipH="1">
            <a:off x="1882775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2418" name="Line 17"/>
          <p:cNvSpPr>
            <a:spLocks noChangeShapeType="1"/>
          </p:cNvSpPr>
          <p:nvPr/>
        </p:nvSpPr>
        <p:spPr bwMode="auto">
          <a:xfrm>
            <a:off x="2909888" y="324326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2419" name="Oval 18"/>
          <p:cNvSpPr>
            <a:spLocks noChangeArrowheads="1"/>
          </p:cNvSpPr>
          <p:nvPr/>
        </p:nvSpPr>
        <p:spPr bwMode="auto">
          <a:xfrm>
            <a:off x="6500813" y="25431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2420" name="Text Box 19"/>
          <p:cNvSpPr txBox="1">
            <a:spLocks noChangeArrowheads="1"/>
          </p:cNvSpPr>
          <p:nvPr/>
        </p:nvSpPr>
        <p:spPr bwMode="auto">
          <a:xfrm>
            <a:off x="6442075" y="26622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102421" name="Oval 20"/>
          <p:cNvSpPr>
            <a:spLocks noChangeArrowheads="1"/>
          </p:cNvSpPr>
          <p:nvPr/>
        </p:nvSpPr>
        <p:spPr bwMode="auto">
          <a:xfrm>
            <a:off x="5475288" y="376872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2422" name="Oval 21"/>
          <p:cNvSpPr>
            <a:spLocks noChangeArrowheads="1"/>
          </p:cNvSpPr>
          <p:nvPr/>
        </p:nvSpPr>
        <p:spPr bwMode="auto">
          <a:xfrm>
            <a:off x="7526338" y="37687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2423" name="Text Box 22"/>
          <p:cNvSpPr txBox="1">
            <a:spLocks noChangeArrowheads="1"/>
          </p:cNvSpPr>
          <p:nvPr/>
        </p:nvSpPr>
        <p:spPr bwMode="auto">
          <a:xfrm>
            <a:off x="7467600" y="38862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102424" name="Line 23"/>
          <p:cNvSpPr>
            <a:spLocks noChangeShapeType="1"/>
          </p:cNvSpPr>
          <p:nvPr/>
        </p:nvSpPr>
        <p:spPr bwMode="auto">
          <a:xfrm flipH="1">
            <a:off x="5988050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2425" name="Line 24"/>
          <p:cNvSpPr>
            <a:spLocks noChangeShapeType="1"/>
          </p:cNvSpPr>
          <p:nvPr/>
        </p:nvSpPr>
        <p:spPr bwMode="auto">
          <a:xfrm>
            <a:off x="7013575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2426" name="Line 25"/>
          <p:cNvSpPr>
            <a:spLocks noChangeShapeType="1"/>
          </p:cNvSpPr>
          <p:nvPr/>
        </p:nvSpPr>
        <p:spPr bwMode="auto">
          <a:xfrm flipH="1">
            <a:off x="3079750" y="184308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2427" name="Line 26"/>
          <p:cNvSpPr>
            <a:spLocks noChangeShapeType="1"/>
          </p:cNvSpPr>
          <p:nvPr/>
        </p:nvSpPr>
        <p:spPr bwMode="auto">
          <a:xfrm>
            <a:off x="5132388" y="184308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2428" name="Text Box 27"/>
          <p:cNvSpPr txBox="1">
            <a:spLocks noChangeArrowheads="1"/>
          </p:cNvSpPr>
          <p:nvPr/>
        </p:nvSpPr>
        <p:spPr bwMode="auto">
          <a:xfrm>
            <a:off x="1939925" y="114300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102429" name="Oval 28"/>
          <p:cNvSpPr>
            <a:spLocks noChangeArrowheads="1"/>
          </p:cNvSpPr>
          <p:nvPr/>
        </p:nvSpPr>
        <p:spPr bwMode="auto">
          <a:xfrm>
            <a:off x="3422650" y="376713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2430" name="Text Box 29"/>
          <p:cNvSpPr txBox="1">
            <a:spLocks noChangeArrowheads="1"/>
          </p:cNvSpPr>
          <p:nvPr/>
        </p:nvSpPr>
        <p:spPr bwMode="auto">
          <a:xfrm>
            <a:off x="3370263" y="390525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102431" name="Oval 30"/>
          <p:cNvSpPr>
            <a:spLocks noChangeArrowheads="1"/>
          </p:cNvSpPr>
          <p:nvPr/>
        </p:nvSpPr>
        <p:spPr bwMode="auto">
          <a:xfrm>
            <a:off x="2738438" y="49926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2432" name="Text Box 31"/>
          <p:cNvSpPr txBox="1">
            <a:spLocks noChangeArrowheads="1"/>
          </p:cNvSpPr>
          <p:nvPr/>
        </p:nvSpPr>
        <p:spPr bwMode="auto">
          <a:xfrm>
            <a:off x="2679700" y="510698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02433" name="Oval 32"/>
          <p:cNvSpPr>
            <a:spLocks noChangeArrowheads="1"/>
          </p:cNvSpPr>
          <p:nvPr/>
        </p:nvSpPr>
        <p:spPr bwMode="auto">
          <a:xfrm>
            <a:off x="3763963" y="49895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2434" name="Text Box 33"/>
          <p:cNvSpPr txBox="1">
            <a:spLocks noChangeArrowheads="1"/>
          </p:cNvSpPr>
          <p:nvPr/>
        </p:nvSpPr>
        <p:spPr bwMode="auto">
          <a:xfrm>
            <a:off x="3705225" y="5106988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102435" name="Line 34"/>
          <p:cNvSpPr>
            <a:spLocks noChangeShapeType="1"/>
          </p:cNvSpPr>
          <p:nvPr/>
        </p:nvSpPr>
        <p:spPr bwMode="auto">
          <a:xfrm flipH="1">
            <a:off x="3251200" y="446722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2436" name="Line 35"/>
          <p:cNvSpPr>
            <a:spLocks noChangeShapeType="1"/>
          </p:cNvSpPr>
          <p:nvPr/>
        </p:nvSpPr>
        <p:spPr bwMode="auto">
          <a:xfrm>
            <a:off x="3763963" y="4467225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2437" name="Oval 36"/>
          <p:cNvSpPr>
            <a:spLocks noChangeArrowheads="1"/>
          </p:cNvSpPr>
          <p:nvPr/>
        </p:nvSpPr>
        <p:spPr bwMode="auto">
          <a:xfrm>
            <a:off x="5475288" y="376713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2438" name="Text Box 37"/>
          <p:cNvSpPr txBox="1">
            <a:spLocks noChangeArrowheads="1"/>
          </p:cNvSpPr>
          <p:nvPr/>
        </p:nvSpPr>
        <p:spPr bwMode="auto">
          <a:xfrm>
            <a:off x="5427663" y="390525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102439" name="Text Box 38"/>
          <p:cNvSpPr txBox="1">
            <a:spLocks noChangeArrowheads="1"/>
          </p:cNvSpPr>
          <p:nvPr/>
        </p:nvSpPr>
        <p:spPr bwMode="auto">
          <a:xfrm>
            <a:off x="5715000" y="1295400"/>
            <a:ext cx="3276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value to enqueue: 37</a:t>
            </a:r>
          </a:p>
        </p:txBody>
      </p:sp>
      <p:sp>
        <p:nvSpPr>
          <p:cNvPr id="102440" name="Rectangle 39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Enqueue (cont.)</a:t>
            </a:r>
          </a:p>
        </p:txBody>
      </p:sp>
      <p:sp>
        <p:nvSpPr>
          <p:cNvPr id="102441" name="Text Box 40"/>
          <p:cNvSpPr txBox="1">
            <a:spLocks noChangeArrowheads="1"/>
          </p:cNvSpPr>
          <p:nvPr/>
        </p:nvSpPr>
        <p:spPr bwMode="auto">
          <a:xfrm>
            <a:off x="3962400" y="24384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  <p:sp>
        <p:nvSpPr>
          <p:cNvPr id="102442" name="Text Box 41"/>
          <p:cNvSpPr txBox="1">
            <a:spLocks noChangeArrowheads="1"/>
          </p:cNvSpPr>
          <p:nvPr/>
        </p:nvSpPr>
        <p:spPr bwMode="auto">
          <a:xfrm>
            <a:off x="5943600" y="4572000"/>
            <a:ext cx="30480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Create a new node in the last position</a:t>
            </a:r>
          </a:p>
        </p:txBody>
      </p:sp>
      <p:sp>
        <p:nvSpPr>
          <p:cNvPr id="102443" name="Oval 42"/>
          <p:cNvSpPr>
            <a:spLocks noChangeArrowheads="1"/>
          </p:cNvSpPr>
          <p:nvPr/>
        </p:nvSpPr>
        <p:spPr bwMode="auto">
          <a:xfrm>
            <a:off x="4800600" y="5029200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2444" name="Line 43"/>
          <p:cNvSpPr>
            <a:spLocks noChangeShapeType="1"/>
          </p:cNvSpPr>
          <p:nvPr/>
        </p:nvSpPr>
        <p:spPr bwMode="auto">
          <a:xfrm flipH="1">
            <a:off x="5313363" y="4503738"/>
            <a:ext cx="341312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9EAB821F-4C04-49C4-A131-A45A3CDC7E1F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102</a:t>
            </a:fld>
            <a:endParaRPr lang="en-US" altLang="en-US" sz="1400"/>
          </a:p>
        </p:txBody>
      </p:sp>
      <p:sp>
        <p:nvSpPr>
          <p:cNvPr id="103427" name="Oval 2"/>
          <p:cNvSpPr>
            <a:spLocks noChangeArrowheads="1"/>
          </p:cNvSpPr>
          <p:nvPr/>
        </p:nvSpPr>
        <p:spPr bwMode="auto">
          <a:xfrm>
            <a:off x="2395538" y="25431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3428" name="Text Box 3"/>
          <p:cNvSpPr txBox="1">
            <a:spLocks noChangeArrowheads="1"/>
          </p:cNvSpPr>
          <p:nvPr/>
        </p:nvSpPr>
        <p:spPr bwMode="auto">
          <a:xfrm>
            <a:off x="2336800" y="26622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103429" name="Oval 4"/>
          <p:cNvSpPr>
            <a:spLocks noChangeArrowheads="1"/>
          </p:cNvSpPr>
          <p:nvPr/>
        </p:nvSpPr>
        <p:spPr bwMode="auto">
          <a:xfrm>
            <a:off x="1370013" y="376872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3430" name="Text Box 5"/>
          <p:cNvSpPr txBox="1">
            <a:spLocks noChangeArrowheads="1"/>
          </p:cNvSpPr>
          <p:nvPr/>
        </p:nvSpPr>
        <p:spPr bwMode="auto">
          <a:xfrm>
            <a:off x="1311275" y="388620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03431" name="Oval 6"/>
          <p:cNvSpPr>
            <a:spLocks noChangeArrowheads="1"/>
          </p:cNvSpPr>
          <p:nvPr/>
        </p:nvSpPr>
        <p:spPr bwMode="auto">
          <a:xfrm>
            <a:off x="685800" y="49942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3432" name="Text Box 7"/>
          <p:cNvSpPr txBox="1">
            <a:spLocks noChangeArrowheads="1"/>
          </p:cNvSpPr>
          <p:nvPr/>
        </p:nvSpPr>
        <p:spPr bwMode="auto">
          <a:xfrm>
            <a:off x="627063" y="511175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103433" name="Oval 8"/>
          <p:cNvSpPr>
            <a:spLocks noChangeArrowheads="1"/>
          </p:cNvSpPr>
          <p:nvPr/>
        </p:nvSpPr>
        <p:spPr bwMode="auto">
          <a:xfrm>
            <a:off x="1711325" y="49926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3434" name="Text Box 9"/>
          <p:cNvSpPr txBox="1">
            <a:spLocks noChangeArrowheads="1"/>
          </p:cNvSpPr>
          <p:nvPr/>
        </p:nvSpPr>
        <p:spPr bwMode="auto">
          <a:xfrm>
            <a:off x="1652588" y="511175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103435" name="Line 10"/>
          <p:cNvSpPr>
            <a:spLocks noChangeShapeType="1"/>
          </p:cNvSpPr>
          <p:nvPr/>
        </p:nvSpPr>
        <p:spPr bwMode="auto">
          <a:xfrm flipH="1">
            <a:off x="1198563" y="44688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3436" name="Line 11"/>
          <p:cNvSpPr>
            <a:spLocks noChangeShapeType="1"/>
          </p:cNvSpPr>
          <p:nvPr/>
        </p:nvSpPr>
        <p:spPr bwMode="auto">
          <a:xfrm>
            <a:off x="1711325" y="44688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3437" name="Oval 12"/>
          <p:cNvSpPr>
            <a:spLocks noChangeArrowheads="1"/>
          </p:cNvSpPr>
          <p:nvPr/>
        </p:nvSpPr>
        <p:spPr bwMode="auto">
          <a:xfrm>
            <a:off x="4448175" y="13176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3438" name="Text Box 13"/>
          <p:cNvSpPr txBox="1">
            <a:spLocks noChangeArrowheads="1"/>
          </p:cNvSpPr>
          <p:nvPr/>
        </p:nvSpPr>
        <p:spPr bwMode="auto">
          <a:xfrm>
            <a:off x="4389438" y="143668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103439" name="Line 14"/>
          <p:cNvSpPr>
            <a:spLocks noChangeShapeType="1"/>
          </p:cNvSpPr>
          <p:nvPr/>
        </p:nvSpPr>
        <p:spPr bwMode="auto">
          <a:xfrm>
            <a:off x="2909888" y="149383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3440" name="Oval 15"/>
          <p:cNvSpPr>
            <a:spLocks noChangeArrowheads="1"/>
          </p:cNvSpPr>
          <p:nvPr/>
        </p:nvSpPr>
        <p:spPr bwMode="auto">
          <a:xfrm>
            <a:off x="3422650" y="37687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3441" name="Line 16"/>
          <p:cNvSpPr>
            <a:spLocks noChangeShapeType="1"/>
          </p:cNvSpPr>
          <p:nvPr/>
        </p:nvSpPr>
        <p:spPr bwMode="auto">
          <a:xfrm flipH="1">
            <a:off x="1882775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3442" name="Line 17"/>
          <p:cNvSpPr>
            <a:spLocks noChangeShapeType="1"/>
          </p:cNvSpPr>
          <p:nvPr/>
        </p:nvSpPr>
        <p:spPr bwMode="auto">
          <a:xfrm>
            <a:off x="2909888" y="324326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3443" name="Oval 18"/>
          <p:cNvSpPr>
            <a:spLocks noChangeArrowheads="1"/>
          </p:cNvSpPr>
          <p:nvPr/>
        </p:nvSpPr>
        <p:spPr bwMode="auto">
          <a:xfrm>
            <a:off x="6500813" y="25431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3444" name="Text Box 19"/>
          <p:cNvSpPr txBox="1">
            <a:spLocks noChangeArrowheads="1"/>
          </p:cNvSpPr>
          <p:nvPr/>
        </p:nvSpPr>
        <p:spPr bwMode="auto">
          <a:xfrm>
            <a:off x="6442075" y="26622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103445" name="Oval 20"/>
          <p:cNvSpPr>
            <a:spLocks noChangeArrowheads="1"/>
          </p:cNvSpPr>
          <p:nvPr/>
        </p:nvSpPr>
        <p:spPr bwMode="auto">
          <a:xfrm>
            <a:off x="5475288" y="376872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3446" name="Oval 21"/>
          <p:cNvSpPr>
            <a:spLocks noChangeArrowheads="1"/>
          </p:cNvSpPr>
          <p:nvPr/>
        </p:nvSpPr>
        <p:spPr bwMode="auto">
          <a:xfrm>
            <a:off x="7526338" y="37687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3447" name="Text Box 22"/>
          <p:cNvSpPr txBox="1">
            <a:spLocks noChangeArrowheads="1"/>
          </p:cNvSpPr>
          <p:nvPr/>
        </p:nvSpPr>
        <p:spPr bwMode="auto">
          <a:xfrm>
            <a:off x="7467600" y="38862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103448" name="Line 23"/>
          <p:cNvSpPr>
            <a:spLocks noChangeShapeType="1"/>
          </p:cNvSpPr>
          <p:nvPr/>
        </p:nvSpPr>
        <p:spPr bwMode="auto">
          <a:xfrm flipH="1">
            <a:off x="5988050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3449" name="Line 24"/>
          <p:cNvSpPr>
            <a:spLocks noChangeShapeType="1"/>
          </p:cNvSpPr>
          <p:nvPr/>
        </p:nvSpPr>
        <p:spPr bwMode="auto">
          <a:xfrm>
            <a:off x="7013575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3450" name="Line 25"/>
          <p:cNvSpPr>
            <a:spLocks noChangeShapeType="1"/>
          </p:cNvSpPr>
          <p:nvPr/>
        </p:nvSpPr>
        <p:spPr bwMode="auto">
          <a:xfrm flipH="1">
            <a:off x="3079750" y="184308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3451" name="Line 26"/>
          <p:cNvSpPr>
            <a:spLocks noChangeShapeType="1"/>
          </p:cNvSpPr>
          <p:nvPr/>
        </p:nvSpPr>
        <p:spPr bwMode="auto">
          <a:xfrm>
            <a:off x="5132388" y="184308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3452" name="Text Box 27"/>
          <p:cNvSpPr txBox="1">
            <a:spLocks noChangeArrowheads="1"/>
          </p:cNvSpPr>
          <p:nvPr/>
        </p:nvSpPr>
        <p:spPr bwMode="auto">
          <a:xfrm>
            <a:off x="1939925" y="114300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103453" name="Oval 28"/>
          <p:cNvSpPr>
            <a:spLocks noChangeArrowheads="1"/>
          </p:cNvSpPr>
          <p:nvPr/>
        </p:nvSpPr>
        <p:spPr bwMode="auto">
          <a:xfrm>
            <a:off x="3422650" y="376713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3454" name="Text Box 29"/>
          <p:cNvSpPr txBox="1">
            <a:spLocks noChangeArrowheads="1"/>
          </p:cNvSpPr>
          <p:nvPr/>
        </p:nvSpPr>
        <p:spPr bwMode="auto">
          <a:xfrm>
            <a:off x="3370263" y="390525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103455" name="Oval 30"/>
          <p:cNvSpPr>
            <a:spLocks noChangeArrowheads="1"/>
          </p:cNvSpPr>
          <p:nvPr/>
        </p:nvSpPr>
        <p:spPr bwMode="auto">
          <a:xfrm>
            <a:off x="2738438" y="49926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3456" name="Text Box 31"/>
          <p:cNvSpPr txBox="1">
            <a:spLocks noChangeArrowheads="1"/>
          </p:cNvSpPr>
          <p:nvPr/>
        </p:nvSpPr>
        <p:spPr bwMode="auto">
          <a:xfrm>
            <a:off x="2679700" y="510698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03457" name="Oval 32"/>
          <p:cNvSpPr>
            <a:spLocks noChangeArrowheads="1"/>
          </p:cNvSpPr>
          <p:nvPr/>
        </p:nvSpPr>
        <p:spPr bwMode="auto">
          <a:xfrm>
            <a:off x="3763963" y="49895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3458" name="Text Box 33"/>
          <p:cNvSpPr txBox="1">
            <a:spLocks noChangeArrowheads="1"/>
          </p:cNvSpPr>
          <p:nvPr/>
        </p:nvSpPr>
        <p:spPr bwMode="auto">
          <a:xfrm>
            <a:off x="3705225" y="5106988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103459" name="Line 34"/>
          <p:cNvSpPr>
            <a:spLocks noChangeShapeType="1"/>
          </p:cNvSpPr>
          <p:nvPr/>
        </p:nvSpPr>
        <p:spPr bwMode="auto">
          <a:xfrm flipH="1">
            <a:off x="3251200" y="446722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3460" name="Line 35"/>
          <p:cNvSpPr>
            <a:spLocks noChangeShapeType="1"/>
          </p:cNvSpPr>
          <p:nvPr/>
        </p:nvSpPr>
        <p:spPr bwMode="auto">
          <a:xfrm>
            <a:off x="3763963" y="4467225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3461" name="Oval 36"/>
          <p:cNvSpPr>
            <a:spLocks noChangeArrowheads="1"/>
          </p:cNvSpPr>
          <p:nvPr/>
        </p:nvSpPr>
        <p:spPr bwMode="auto">
          <a:xfrm>
            <a:off x="5475288" y="376713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3462" name="Text Box 37"/>
          <p:cNvSpPr txBox="1">
            <a:spLocks noChangeArrowheads="1"/>
          </p:cNvSpPr>
          <p:nvPr/>
        </p:nvSpPr>
        <p:spPr bwMode="auto">
          <a:xfrm>
            <a:off x="5427663" y="390525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103463" name="Text Box 38"/>
          <p:cNvSpPr txBox="1">
            <a:spLocks noChangeArrowheads="1"/>
          </p:cNvSpPr>
          <p:nvPr/>
        </p:nvSpPr>
        <p:spPr bwMode="auto">
          <a:xfrm>
            <a:off x="5715000" y="1295400"/>
            <a:ext cx="3276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value to enqueue: 37</a:t>
            </a:r>
          </a:p>
        </p:txBody>
      </p:sp>
      <p:sp>
        <p:nvSpPr>
          <p:cNvPr id="103464" name="Rectangle 39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Enqueue (cont.)</a:t>
            </a:r>
          </a:p>
        </p:txBody>
      </p:sp>
      <p:sp>
        <p:nvSpPr>
          <p:cNvPr id="103465" name="Text Box 40"/>
          <p:cNvSpPr txBox="1">
            <a:spLocks noChangeArrowheads="1"/>
          </p:cNvSpPr>
          <p:nvPr/>
        </p:nvSpPr>
        <p:spPr bwMode="auto">
          <a:xfrm>
            <a:off x="3962400" y="24384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  <p:sp>
        <p:nvSpPr>
          <p:cNvPr id="103466" name="Oval 41"/>
          <p:cNvSpPr>
            <a:spLocks noChangeArrowheads="1"/>
          </p:cNvSpPr>
          <p:nvPr/>
        </p:nvSpPr>
        <p:spPr bwMode="auto">
          <a:xfrm>
            <a:off x="4800600" y="5029200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3467" name="Line 42"/>
          <p:cNvSpPr>
            <a:spLocks noChangeShapeType="1"/>
          </p:cNvSpPr>
          <p:nvPr/>
        </p:nvSpPr>
        <p:spPr bwMode="auto">
          <a:xfrm flipH="1">
            <a:off x="5313363" y="4503738"/>
            <a:ext cx="341312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3468" name="Text Box 43"/>
          <p:cNvSpPr txBox="1">
            <a:spLocks noChangeArrowheads="1"/>
          </p:cNvSpPr>
          <p:nvPr/>
        </p:nvSpPr>
        <p:spPr bwMode="auto">
          <a:xfrm>
            <a:off x="6019800" y="4572000"/>
            <a:ext cx="28194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We just “pretend” that 37 is here</a:t>
            </a:r>
          </a:p>
        </p:txBody>
      </p:sp>
      <p:sp>
        <p:nvSpPr>
          <p:cNvPr id="103469" name="Line 44"/>
          <p:cNvSpPr>
            <a:spLocks noChangeShapeType="1"/>
          </p:cNvSpPr>
          <p:nvPr/>
        </p:nvSpPr>
        <p:spPr bwMode="auto">
          <a:xfrm flipH="1">
            <a:off x="5257800" y="5029200"/>
            <a:ext cx="762000" cy="30480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77624D37-745B-47E3-9727-E2D6A285BBDE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103</a:t>
            </a:fld>
            <a:endParaRPr lang="en-US" altLang="en-US" sz="1400"/>
          </a:p>
        </p:txBody>
      </p:sp>
      <p:sp>
        <p:nvSpPr>
          <p:cNvPr id="104451" name="Oval 2"/>
          <p:cNvSpPr>
            <a:spLocks noChangeArrowheads="1"/>
          </p:cNvSpPr>
          <p:nvPr/>
        </p:nvSpPr>
        <p:spPr bwMode="auto">
          <a:xfrm>
            <a:off x="2395538" y="25431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4452" name="Text Box 3"/>
          <p:cNvSpPr txBox="1">
            <a:spLocks noChangeArrowheads="1"/>
          </p:cNvSpPr>
          <p:nvPr/>
        </p:nvSpPr>
        <p:spPr bwMode="auto">
          <a:xfrm>
            <a:off x="2336800" y="26622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104453" name="Oval 4"/>
          <p:cNvSpPr>
            <a:spLocks noChangeArrowheads="1"/>
          </p:cNvSpPr>
          <p:nvPr/>
        </p:nvSpPr>
        <p:spPr bwMode="auto">
          <a:xfrm>
            <a:off x="1370013" y="376872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4454" name="Text Box 5"/>
          <p:cNvSpPr txBox="1">
            <a:spLocks noChangeArrowheads="1"/>
          </p:cNvSpPr>
          <p:nvPr/>
        </p:nvSpPr>
        <p:spPr bwMode="auto">
          <a:xfrm>
            <a:off x="1311275" y="388620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04455" name="Oval 6"/>
          <p:cNvSpPr>
            <a:spLocks noChangeArrowheads="1"/>
          </p:cNvSpPr>
          <p:nvPr/>
        </p:nvSpPr>
        <p:spPr bwMode="auto">
          <a:xfrm>
            <a:off x="685800" y="49942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4456" name="Text Box 7"/>
          <p:cNvSpPr txBox="1">
            <a:spLocks noChangeArrowheads="1"/>
          </p:cNvSpPr>
          <p:nvPr/>
        </p:nvSpPr>
        <p:spPr bwMode="auto">
          <a:xfrm>
            <a:off x="627063" y="511175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104457" name="Oval 8"/>
          <p:cNvSpPr>
            <a:spLocks noChangeArrowheads="1"/>
          </p:cNvSpPr>
          <p:nvPr/>
        </p:nvSpPr>
        <p:spPr bwMode="auto">
          <a:xfrm>
            <a:off x="1711325" y="49926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4458" name="Text Box 9"/>
          <p:cNvSpPr txBox="1">
            <a:spLocks noChangeArrowheads="1"/>
          </p:cNvSpPr>
          <p:nvPr/>
        </p:nvSpPr>
        <p:spPr bwMode="auto">
          <a:xfrm>
            <a:off x="1652588" y="511175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104459" name="Line 10"/>
          <p:cNvSpPr>
            <a:spLocks noChangeShapeType="1"/>
          </p:cNvSpPr>
          <p:nvPr/>
        </p:nvSpPr>
        <p:spPr bwMode="auto">
          <a:xfrm flipH="1">
            <a:off x="1198563" y="44688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4460" name="Line 11"/>
          <p:cNvSpPr>
            <a:spLocks noChangeShapeType="1"/>
          </p:cNvSpPr>
          <p:nvPr/>
        </p:nvSpPr>
        <p:spPr bwMode="auto">
          <a:xfrm>
            <a:off x="1711325" y="44688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4461" name="Oval 12"/>
          <p:cNvSpPr>
            <a:spLocks noChangeArrowheads="1"/>
          </p:cNvSpPr>
          <p:nvPr/>
        </p:nvSpPr>
        <p:spPr bwMode="auto">
          <a:xfrm>
            <a:off x="4448175" y="13176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4462" name="Text Box 13"/>
          <p:cNvSpPr txBox="1">
            <a:spLocks noChangeArrowheads="1"/>
          </p:cNvSpPr>
          <p:nvPr/>
        </p:nvSpPr>
        <p:spPr bwMode="auto">
          <a:xfrm>
            <a:off x="4389438" y="143668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104463" name="Line 14"/>
          <p:cNvSpPr>
            <a:spLocks noChangeShapeType="1"/>
          </p:cNvSpPr>
          <p:nvPr/>
        </p:nvSpPr>
        <p:spPr bwMode="auto">
          <a:xfrm>
            <a:off x="2909888" y="149383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4464" name="Oval 15"/>
          <p:cNvSpPr>
            <a:spLocks noChangeArrowheads="1"/>
          </p:cNvSpPr>
          <p:nvPr/>
        </p:nvSpPr>
        <p:spPr bwMode="auto">
          <a:xfrm>
            <a:off x="3422650" y="37687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4465" name="Line 16"/>
          <p:cNvSpPr>
            <a:spLocks noChangeShapeType="1"/>
          </p:cNvSpPr>
          <p:nvPr/>
        </p:nvSpPr>
        <p:spPr bwMode="auto">
          <a:xfrm flipH="1">
            <a:off x="1882775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4466" name="Line 17"/>
          <p:cNvSpPr>
            <a:spLocks noChangeShapeType="1"/>
          </p:cNvSpPr>
          <p:nvPr/>
        </p:nvSpPr>
        <p:spPr bwMode="auto">
          <a:xfrm>
            <a:off x="2909888" y="324326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4467" name="Oval 18"/>
          <p:cNvSpPr>
            <a:spLocks noChangeArrowheads="1"/>
          </p:cNvSpPr>
          <p:nvPr/>
        </p:nvSpPr>
        <p:spPr bwMode="auto">
          <a:xfrm>
            <a:off x="6500813" y="25431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4468" name="Text Box 19"/>
          <p:cNvSpPr txBox="1">
            <a:spLocks noChangeArrowheads="1"/>
          </p:cNvSpPr>
          <p:nvPr/>
        </p:nvSpPr>
        <p:spPr bwMode="auto">
          <a:xfrm>
            <a:off x="6442075" y="26622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104469" name="Oval 20"/>
          <p:cNvSpPr>
            <a:spLocks noChangeArrowheads="1"/>
          </p:cNvSpPr>
          <p:nvPr/>
        </p:nvSpPr>
        <p:spPr bwMode="auto">
          <a:xfrm>
            <a:off x="5475288" y="376872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4470" name="Oval 21"/>
          <p:cNvSpPr>
            <a:spLocks noChangeArrowheads="1"/>
          </p:cNvSpPr>
          <p:nvPr/>
        </p:nvSpPr>
        <p:spPr bwMode="auto">
          <a:xfrm>
            <a:off x="7526338" y="37687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4471" name="Text Box 22"/>
          <p:cNvSpPr txBox="1">
            <a:spLocks noChangeArrowheads="1"/>
          </p:cNvSpPr>
          <p:nvPr/>
        </p:nvSpPr>
        <p:spPr bwMode="auto">
          <a:xfrm>
            <a:off x="7467600" y="38862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104472" name="Line 23"/>
          <p:cNvSpPr>
            <a:spLocks noChangeShapeType="1"/>
          </p:cNvSpPr>
          <p:nvPr/>
        </p:nvSpPr>
        <p:spPr bwMode="auto">
          <a:xfrm flipH="1">
            <a:off x="5988050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4473" name="Line 24"/>
          <p:cNvSpPr>
            <a:spLocks noChangeShapeType="1"/>
          </p:cNvSpPr>
          <p:nvPr/>
        </p:nvSpPr>
        <p:spPr bwMode="auto">
          <a:xfrm>
            <a:off x="7013575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4474" name="Line 25"/>
          <p:cNvSpPr>
            <a:spLocks noChangeShapeType="1"/>
          </p:cNvSpPr>
          <p:nvPr/>
        </p:nvSpPr>
        <p:spPr bwMode="auto">
          <a:xfrm flipH="1">
            <a:off x="3079750" y="184308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4475" name="Line 26"/>
          <p:cNvSpPr>
            <a:spLocks noChangeShapeType="1"/>
          </p:cNvSpPr>
          <p:nvPr/>
        </p:nvSpPr>
        <p:spPr bwMode="auto">
          <a:xfrm>
            <a:off x="5132388" y="184308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4476" name="Text Box 27"/>
          <p:cNvSpPr txBox="1">
            <a:spLocks noChangeArrowheads="1"/>
          </p:cNvSpPr>
          <p:nvPr/>
        </p:nvSpPr>
        <p:spPr bwMode="auto">
          <a:xfrm>
            <a:off x="1939925" y="114300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104477" name="Oval 28"/>
          <p:cNvSpPr>
            <a:spLocks noChangeArrowheads="1"/>
          </p:cNvSpPr>
          <p:nvPr/>
        </p:nvSpPr>
        <p:spPr bwMode="auto">
          <a:xfrm>
            <a:off x="3422650" y="376713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4478" name="Text Box 29"/>
          <p:cNvSpPr txBox="1">
            <a:spLocks noChangeArrowheads="1"/>
          </p:cNvSpPr>
          <p:nvPr/>
        </p:nvSpPr>
        <p:spPr bwMode="auto">
          <a:xfrm>
            <a:off x="3370263" y="390525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104479" name="Oval 30"/>
          <p:cNvSpPr>
            <a:spLocks noChangeArrowheads="1"/>
          </p:cNvSpPr>
          <p:nvPr/>
        </p:nvSpPr>
        <p:spPr bwMode="auto">
          <a:xfrm>
            <a:off x="2738438" y="49926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4480" name="Text Box 31"/>
          <p:cNvSpPr txBox="1">
            <a:spLocks noChangeArrowheads="1"/>
          </p:cNvSpPr>
          <p:nvPr/>
        </p:nvSpPr>
        <p:spPr bwMode="auto">
          <a:xfrm>
            <a:off x="2679700" y="510698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04481" name="Oval 32"/>
          <p:cNvSpPr>
            <a:spLocks noChangeArrowheads="1"/>
          </p:cNvSpPr>
          <p:nvPr/>
        </p:nvSpPr>
        <p:spPr bwMode="auto">
          <a:xfrm>
            <a:off x="3763963" y="49895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4482" name="Text Box 33"/>
          <p:cNvSpPr txBox="1">
            <a:spLocks noChangeArrowheads="1"/>
          </p:cNvSpPr>
          <p:nvPr/>
        </p:nvSpPr>
        <p:spPr bwMode="auto">
          <a:xfrm>
            <a:off x="3705225" y="5106988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104483" name="Line 34"/>
          <p:cNvSpPr>
            <a:spLocks noChangeShapeType="1"/>
          </p:cNvSpPr>
          <p:nvPr/>
        </p:nvSpPr>
        <p:spPr bwMode="auto">
          <a:xfrm flipH="1">
            <a:off x="3251200" y="446722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4484" name="Line 35"/>
          <p:cNvSpPr>
            <a:spLocks noChangeShapeType="1"/>
          </p:cNvSpPr>
          <p:nvPr/>
        </p:nvSpPr>
        <p:spPr bwMode="auto">
          <a:xfrm>
            <a:off x="3763963" y="4467225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4485" name="Oval 36"/>
          <p:cNvSpPr>
            <a:spLocks noChangeArrowheads="1"/>
          </p:cNvSpPr>
          <p:nvPr/>
        </p:nvSpPr>
        <p:spPr bwMode="auto">
          <a:xfrm>
            <a:off x="5475288" y="376713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4486" name="Text Box 37"/>
          <p:cNvSpPr txBox="1">
            <a:spLocks noChangeArrowheads="1"/>
          </p:cNvSpPr>
          <p:nvPr/>
        </p:nvSpPr>
        <p:spPr bwMode="auto">
          <a:xfrm>
            <a:off x="5427663" y="390525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24</a:t>
            </a:r>
            <a:endParaRPr lang="en-US" altLang="en-US" sz="2400"/>
          </a:p>
        </p:txBody>
      </p:sp>
      <p:sp>
        <p:nvSpPr>
          <p:cNvPr id="104487" name="Text Box 38"/>
          <p:cNvSpPr txBox="1">
            <a:spLocks noChangeArrowheads="1"/>
          </p:cNvSpPr>
          <p:nvPr/>
        </p:nvSpPr>
        <p:spPr bwMode="auto">
          <a:xfrm>
            <a:off x="5715000" y="1295400"/>
            <a:ext cx="3276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value to enqueue: 37</a:t>
            </a:r>
          </a:p>
        </p:txBody>
      </p:sp>
      <p:sp>
        <p:nvSpPr>
          <p:cNvPr id="104488" name="Rectangle 39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Enqueue (cont.)</a:t>
            </a:r>
          </a:p>
        </p:txBody>
      </p:sp>
      <p:sp>
        <p:nvSpPr>
          <p:cNvPr id="104489" name="Text Box 40"/>
          <p:cNvSpPr txBox="1">
            <a:spLocks noChangeArrowheads="1"/>
          </p:cNvSpPr>
          <p:nvPr/>
        </p:nvSpPr>
        <p:spPr bwMode="auto">
          <a:xfrm>
            <a:off x="3962400" y="24384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  <p:sp>
        <p:nvSpPr>
          <p:cNvPr id="104490" name="Oval 41"/>
          <p:cNvSpPr>
            <a:spLocks noChangeArrowheads="1"/>
          </p:cNvSpPr>
          <p:nvPr/>
        </p:nvSpPr>
        <p:spPr bwMode="auto">
          <a:xfrm>
            <a:off x="4800600" y="5029200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4491" name="Line 42"/>
          <p:cNvSpPr>
            <a:spLocks noChangeShapeType="1"/>
          </p:cNvSpPr>
          <p:nvPr/>
        </p:nvSpPr>
        <p:spPr bwMode="auto">
          <a:xfrm flipH="1">
            <a:off x="5313363" y="4503738"/>
            <a:ext cx="341312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4492" name="Text Box 43"/>
          <p:cNvSpPr txBox="1">
            <a:spLocks noChangeArrowheads="1"/>
          </p:cNvSpPr>
          <p:nvPr/>
        </p:nvSpPr>
        <p:spPr bwMode="auto">
          <a:xfrm>
            <a:off x="6019800" y="4495800"/>
            <a:ext cx="3048000" cy="1187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37 &gt; 24, so we pretend to  swap (we just copy 24)</a:t>
            </a: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BB22EE51-6173-4A47-B64E-F50148F605CD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104</a:t>
            </a:fld>
            <a:endParaRPr lang="en-US" altLang="en-US" sz="1400"/>
          </a:p>
        </p:txBody>
      </p:sp>
      <p:sp>
        <p:nvSpPr>
          <p:cNvPr id="105475" name="Oval 2"/>
          <p:cNvSpPr>
            <a:spLocks noChangeArrowheads="1"/>
          </p:cNvSpPr>
          <p:nvPr/>
        </p:nvSpPr>
        <p:spPr bwMode="auto">
          <a:xfrm>
            <a:off x="2395538" y="25431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5476" name="Text Box 3"/>
          <p:cNvSpPr txBox="1">
            <a:spLocks noChangeArrowheads="1"/>
          </p:cNvSpPr>
          <p:nvPr/>
        </p:nvSpPr>
        <p:spPr bwMode="auto">
          <a:xfrm>
            <a:off x="2336800" y="26622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105477" name="Oval 4"/>
          <p:cNvSpPr>
            <a:spLocks noChangeArrowheads="1"/>
          </p:cNvSpPr>
          <p:nvPr/>
        </p:nvSpPr>
        <p:spPr bwMode="auto">
          <a:xfrm>
            <a:off x="1370013" y="376872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5478" name="Text Box 5"/>
          <p:cNvSpPr txBox="1">
            <a:spLocks noChangeArrowheads="1"/>
          </p:cNvSpPr>
          <p:nvPr/>
        </p:nvSpPr>
        <p:spPr bwMode="auto">
          <a:xfrm>
            <a:off x="1311275" y="388620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05479" name="Oval 6"/>
          <p:cNvSpPr>
            <a:spLocks noChangeArrowheads="1"/>
          </p:cNvSpPr>
          <p:nvPr/>
        </p:nvSpPr>
        <p:spPr bwMode="auto">
          <a:xfrm>
            <a:off x="685800" y="49942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5480" name="Text Box 7"/>
          <p:cNvSpPr txBox="1">
            <a:spLocks noChangeArrowheads="1"/>
          </p:cNvSpPr>
          <p:nvPr/>
        </p:nvSpPr>
        <p:spPr bwMode="auto">
          <a:xfrm>
            <a:off x="627063" y="511175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105481" name="Oval 8"/>
          <p:cNvSpPr>
            <a:spLocks noChangeArrowheads="1"/>
          </p:cNvSpPr>
          <p:nvPr/>
        </p:nvSpPr>
        <p:spPr bwMode="auto">
          <a:xfrm>
            <a:off x="1711325" y="49926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5482" name="Text Box 9"/>
          <p:cNvSpPr txBox="1">
            <a:spLocks noChangeArrowheads="1"/>
          </p:cNvSpPr>
          <p:nvPr/>
        </p:nvSpPr>
        <p:spPr bwMode="auto">
          <a:xfrm>
            <a:off x="1652588" y="511175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105483" name="Line 10"/>
          <p:cNvSpPr>
            <a:spLocks noChangeShapeType="1"/>
          </p:cNvSpPr>
          <p:nvPr/>
        </p:nvSpPr>
        <p:spPr bwMode="auto">
          <a:xfrm flipH="1">
            <a:off x="1198563" y="44688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5484" name="Line 11"/>
          <p:cNvSpPr>
            <a:spLocks noChangeShapeType="1"/>
          </p:cNvSpPr>
          <p:nvPr/>
        </p:nvSpPr>
        <p:spPr bwMode="auto">
          <a:xfrm>
            <a:off x="1711325" y="44688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5485" name="Oval 12"/>
          <p:cNvSpPr>
            <a:spLocks noChangeArrowheads="1"/>
          </p:cNvSpPr>
          <p:nvPr/>
        </p:nvSpPr>
        <p:spPr bwMode="auto">
          <a:xfrm>
            <a:off x="4448175" y="13176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5486" name="Text Box 13"/>
          <p:cNvSpPr txBox="1">
            <a:spLocks noChangeArrowheads="1"/>
          </p:cNvSpPr>
          <p:nvPr/>
        </p:nvSpPr>
        <p:spPr bwMode="auto">
          <a:xfrm>
            <a:off x="4389438" y="143668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105487" name="Line 14"/>
          <p:cNvSpPr>
            <a:spLocks noChangeShapeType="1"/>
          </p:cNvSpPr>
          <p:nvPr/>
        </p:nvSpPr>
        <p:spPr bwMode="auto">
          <a:xfrm>
            <a:off x="2909888" y="149383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5488" name="Oval 15"/>
          <p:cNvSpPr>
            <a:spLocks noChangeArrowheads="1"/>
          </p:cNvSpPr>
          <p:nvPr/>
        </p:nvSpPr>
        <p:spPr bwMode="auto">
          <a:xfrm>
            <a:off x="3422650" y="37687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5489" name="Line 16"/>
          <p:cNvSpPr>
            <a:spLocks noChangeShapeType="1"/>
          </p:cNvSpPr>
          <p:nvPr/>
        </p:nvSpPr>
        <p:spPr bwMode="auto">
          <a:xfrm flipH="1">
            <a:off x="1882775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5490" name="Line 17"/>
          <p:cNvSpPr>
            <a:spLocks noChangeShapeType="1"/>
          </p:cNvSpPr>
          <p:nvPr/>
        </p:nvSpPr>
        <p:spPr bwMode="auto">
          <a:xfrm>
            <a:off x="2909888" y="324326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5491" name="Oval 18"/>
          <p:cNvSpPr>
            <a:spLocks noChangeArrowheads="1"/>
          </p:cNvSpPr>
          <p:nvPr/>
        </p:nvSpPr>
        <p:spPr bwMode="auto">
          <a:xfrm>
            <a:off x="6500813" y="25431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5492" name="Text Box 19"/>
          <p:cNvSpPr txBox="1">
            <a:spLocks noChangeArrowheads="1"/>
          </p:cNvSpPr>
          <p:nvPr/>
        </p:nvSpPr>
        <p:spPr bwMode="auto">
          <a:xfrm>
            <a:off x="6442075" y="26622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105493" name="Oval 20"/>
          <p:cNvSpPr>
            <a:spLocks noChangeArrowheads="1"/>
          </p:cNvSpPr>
          <p:nvPr/>
        </p:nvSpPr>
        <p:spPr bwMode="auto">
          <a:xfrm>
            <a:off x="5475288" y="376872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5494" name="Oval 21"/>
          <p:cNvSpPr>
            <a:spLocks noChangeArrowheads="1"/>
          </p:cNvSpPr>
          <p:nvPr/>
        </p:nvSpPr>
        <p:spPr bwMode="auto">
          <a:xfrm>
            <a:off x="7526338" y="37687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5495" name="Text Box 22"/>
          <p:cNvSpPr txBox="1">
            <a:spLocks noChangeArrowheads="1"/>
          </p:cNvSpPr>
          <p:nvPr/>
        </p:nvSpPr>
        <p:spPr bwMode="auto">
          <a:xfrm>
            <a:off x="7467600" y="38862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105496" name="Line 23"/>
          <p:cNvSpPr>
            <a:spLocks noChangeShapeType="1"/>
          </p:cNvSpPr>
          <p:nvPr/>
        </p:nvSpPr>
        <p:spPr bwMode="auto">
          <a:xfrm flipH="1">
            <a:off x="5988050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5497" name="Line 24"/>
          <p:cNvSpPr>
            <a:spLocks noChangeShapeType="1"/>
          </p:cNvSpPr>
          <p:nvPr/>
        </p:nvSpPr>
        <p:spPr bwMode="auto">
          <a:xfrm>
            <a:off x="7013575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5498" name="Line 25"/>
          <p:cNvSpPr>
            <a:spLocks noChangeShapeType="1"/>
          </p:cNvSpPr>
          <p:nvPr/>
        </p:nvSpPr>
        <p:spPr bwMode="auto">
          <a:xfrm flipH="1">
            <a:off x="3079750" y="184308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5499" name="Line 26"/>
          <p:cNvSpPr>
            <a:spLocks noChangeShapeType="1"/>
          </p:cNvSpPr>
          <p:nvPr/>
        </p:nvSpPr>
        <p:spPr bwMode="auto">
          <a:xfrm>
            <a:off x="5132388" y="184308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5500" name="Text Box 27"/>
          <p:cNvSpPr txBox="1">
            <a:spLocks noChangeArrowheads="1"/>
          </p:cNvSpPr>
          <p:nvPr/>
        </p:nvSpPr>
        <p:spPr bwMode="auto">
          <a:xfrm>
            <a:off x="1939925" y="114300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105501" name="Oval 28"/>
          <p:cNvSpPr>
            <a:spLocks noChangeArrowheads="1"/>
          </p:cNvSpPr>
          <p:nvPr/>
        </p:nvSpPr>
        <p:spPr bwMode="auto">
          <a:xfrm>
            <a:off x="3422650" y="376713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5502" name="Text Box 29"/>
          <p:cNvSpPr txBox="1">
            <a:spLocks noChangeArrowheads="1"/>
          </p:cNvSpPr>
          <p:nvPr/>
        </p:nvSpPr>
        <p:spPr bwMode="auto">
          <a:xfrm>
            <a:off x="3370263" y="390525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105503" name="Oval 30"/>
          <p:cNvSpPr>
            <a:spLocks noChangeArrowheads="1"/>
          </p:cNvSpPr>
          <p:nvPr/>
        </p:nvSpPr>
        <p:spPr bwMode="auto">
          <a:xfrm>
            <a:off x="2738438" y="49926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5504" name="Text Box 31"/>
          <p:cNvSpPr txBox="1">
            <a:spLocks noChangeArrowheads="1"/>
          </p:cNvSpPr>
          <p:nvPr/>
        </p:nvSpPr>
        <p:spPr bwMode="auto">
          <a:xfrm>
            <a:off x="2679700" y="510698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05505" name="Oval 32"/>
          <p:cNvSpPr>
            <a:spLocks noChangeArrowheads="1"/>
          </p:cNvSpPr>
          <p:nvPr/>
        </p:nvSpPr>
        <p:spPr bwMode="auto">
          <a:xfrm>
            <a:off x="3763963" y="49895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5506" name="Text Box 33"/>
          <p:cNvSpPr txBox="1">
            <a:spLocks noChangeArrowheads="1"/>
          </p:cNvSpPr>
          <p:nvPr/>
        </p:nvSpPr>
        <p:spPr bwMode="auto">
          <a:xfrm>
            <a:off x="3705225" y="5106988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105507" name="Line 34"/>
          <p:cNvSpPr>
            <a:spLocks noChangeShapeType="1"/>
          </p:cNvSpPr>
          <p:nvPr/>
        </p:nvSpPr>
        <p:spPr bwMode="auto">
          <a:xfrm flipH="1">
            <a:off x="3251200" y="446722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5508" name="Line 35"/>
          <p:cNvSpPr>
            <a:spLocks noChangeShapeType="1"/>
          </p:cNvSpPr>
          <p:nvPr/>
        </p:nvSpPr>
        <p:spPr bwMode="auto">
          <a:xfrm>
            <a:off x="3763963" y="4467225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5509" name="Oval 36"/>
          <p:cNvSpPr>
            <a:spLocks noChangeArrowheads="1"/>
          </p:cNvSpPr>
          <p:nvPr/>
        </p:nvSpPr>
        <p:spPr bwMode="auto">
          <a:xfrm>
            <a:off x="5475288" y="376713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5510" name="Text Box 37"/>
          <p:cNvSpPr txBox="1">
            <a:spLocks noChangeArrowheads="1"/>
          </p:cNvSpPr>
          <p:nvPr/>
        </p:nvSpPr>
        <p:spPr bwMode="auto">
          <a:xfrm>
            <a:off x="5427663" y="390525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endParaRPr lang="en-US" altLang="en-US" sz="2400"/>
          </a:p>
        </p:txBody>
      </p:sp>
      <p:sp>
        <p:nvSpPr>
          <p:cNvPr id="105511" name="Rectangle 3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Enqueue (cont.)</a:t>
            </a:r>
          </a:p>
        </p:txBody>
      </p:sp>
      <p:sp>
        <p:nvSpPr>
          <p:cNvPr id="105512" name="Text Box 39"/>
          <p:cNvSpPr txBox="1">
            <a:spLocks noChangeArrowheads="1"/>
          </p:cNvSpPr>
          <p:nvPr/>
        </p:nvSpPr>
        <p:spPr bwMode="auto">
          <a:xfrm>
            <a:off x="3962400" y="24384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  <p:sp>
        <p:nvSpPr>
          <p:cNvPr id="105513" name="Oval 40"/>
          <p:cNvSpPr>
            <a:spLocks noChangeArrowheads="1"/>
          </p:cNvSpPr>
          <p:nvPr/>
        </p:nvSpPr>
        <p:spPr bwMode="auto">
          <a:xfrm>
            <a:off x="4800600" y="5029200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5514" name="Line 41"/>
          <p:cNvSpPr>
            <a:spLocks noChangeShapeType="1"/>
          </p:cNvSpPr>
          <p:nvPr/>
        </p:nvSpPr>
        <p:spPr bwMode="auto">
          <a:xfrm flipH="1">
            <a:off x="5313363" y="4503738"/>
            <a:ext cx="341312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5515" name="Text Box 42"/>
          <p:cNvSpPr txBox="1">
            <a:spLocks noChangeArrowheads="1"/>
          </p:cNvSpPr>
          <p:nvPr/>
        </p:nvSpPr>
        <p:spPr bwMode="auto">
          <a:xfrm>
            <a:off x="5638800" y="4876800"/>
            <a:ext cx="34290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We now “pretend” 37 has been placed here</a:t>
            </a:r>
          </a:p>
        </p:txBody>
      </p:sp>
      <p:sp>
        <p:nvSpPr>
          <p:cNvPr id="105516" name="Text Box 43"/>
          <p:cNvSpPr txBox="1">
            <a:spLocks noChangeArrowheads="1"/>
          </p:cNvSpPr>
          <p:nvPr/>
        </p:nvSpPr>
        <p:spPr bwMode="auto">
          <a:xfrm>
            <a:off x="4876800" y="51054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24</a:t>
            </a:r>
          </a:p>
        </p:txBody>
      </p:sp>
      <p:sp>
        <p:nvSpPr>
          <p:cNvPr id="105517" name="Text Box 44"/>
          <p:cNvSpPr txBox="1">
            <a:spLocks noChangeArrowheads="1"/>
          </p:cNvSpPr>
          <p:nvPr/>
        </p:nvSpPr>
        <p:spPr bwMode="auto">
          <a:xfrm>
            <a:off x="5562600" y="38862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24</a:t>
            </a:r>
          </a:p>
        </p:txBody>
      </p:sp>
      <p:sp>
        <p:nvSpPr>
          <p:cNvPr id="105518" name="Text Box 45"/>
          <p:cNvSpPr txBox="1">
            <a:spLocks noChangeArrowheads="1"/>
          </p:cNvSpPr>
          <p:nvPr/>
        </p:nvSpPr>
        <p:spPr bwMode="auto">
          <a:xfrm>
            <a:off x="5715000" y="1295400"/>
            <a:ext cx="3276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value to enqueue: 37</a:t>
            </a:r>
          </a:p>
        </p:txBody>
      </p:sp>
      <p:sp>
        <p:nvSpPr>
          <p:cNvPr id="105519" name="Line 46"/>
          <p:cNvSpPr>
            <a:spLocks noChangeShapeType="1"/>
          </p:cNvSpPr>
          <p:nvPr/>
        </p:nvSpPr>
        <p:spPr bwMode="auto">
          <a:xfrm flipH="1" flipV="1">
            <a:off x="5715000" y="4267200"/>
            <a:ext cx="1295400" cy="60960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4DDDF3AF-D9D6-4260-845A-25CEB0378889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105</a:t>
            </a:fld>
            <a:endParaRPr lang="en-US" altLang="en-US" sz="1400"/>
          </a:p>
        </p:txBody>
      </p:sp>
      <p:sp>
        <p:nvSpPr>
          <p:cNvPr id="106499" name="Oval 2"/>
          <p:cNvSpPr>
            <a:spLocks noChangeArrowheads="1"/>
          </p:cNvSpPr>
          <p:nvPr/>
        </p:nvSpPr>
        <p:spPr bwMode="auto">
          <a:xfrm>
            <a:off x="2395538" y="25431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6500" name="Text Box 3"/>
          <p:cNvSpPr txBox="1">
            <a:spLocks noChangeArrowheads="1"/>
          </p:cNvSpPr>
          <p:nvPr/>
        </p:nvSpPr>
        <p:spPr bwMode="auto">
          <a:xfrm>
            <a:off x="2336800" y="26622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106501" name="Oval 4"/>
          <p:cNvSpPr>
            <a:spLocks noChangeArrowheads="1"/>
          </p:cNvSpPr>
          <p:nvPr/>
        </p:nvSpPr>
        <p:spPr bwMode="auto">
          <a:xfrm>
            <a:off x="1370013" y="376872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6502" name="Text Box 5"/>
          <p:cNvSpPr txBox="1">
            <a:spLocks noChangeArrowheads="1"/>
          </p:cNvSpPr>
          <p:nvPr/>
        </p:nvSpPr>
        <p:spPr bwMode="auto">
          <a:xfrm>
            <a:off x="1311275" y="388620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06503" name="Oval 6"/>
          <p:cNvSpPr>
            <a:spLocks noChangeArrowheads="1"/>
          </p:cNvSpPr>
          <p:nvPr/>
        </p:nvSpPr>
        <p:spPr bwMode="auto">
          <a:xfrm>
            <a:off x="685800" y="49942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6504" name="Text Box 7"/>
          <p:cNvSpPr txBox="1">
            <a:spLocks noChangeArrowheads="1"/>
          </p:cNvSpPr>
          <p:nvPr/>
        </p:nvSpPr>
        <p:spPr bwMode="auto">
          <a:xfrm>
            <a:off x="627063" y="511175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106505" name="Oval 8"/>
          <p:cNvSpPr>
            <a:spLocks noChangeArrowheads="1"/>
          </p:cNvSpPr>
          <p:nvPr/>
        </p:nvSpPr>
        <p:spPr bwMode="auto">
          <a:xfrm>
            <a:off x="1711325" y="49926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6506" name="Text Box 9"/>
          <p:cNvSpPr txBox="1">
            <a:spLocks noChangeArrowheads="1"/>
          </p:cNvSpPr>
          <p:nvPr/>
        </p:nvSpPr>
        <p:spPr bwMode="auto">
          <a:xfrm>
            <a:off x="1652588" y="511175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106507" name="Line 10"/>
          <p:cNvSpPr>
            <a:spLocks noChangeShapeType="1"/>
          </p:cNvSpPr>
          <p:nvPr/>
        </p:nvSpPr>
        <p:spPr bwMode="auto">
          <a:xfrm flipH="1">
            <a:off x="1198563" y="44688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6508" name="Line 11"/>
          <p:cNvSpPr>
            <a:spLocks noChangeShapeType="1"/>
          </p:cNvSpPr>
          <p:nvPr/>
        </p:nvSpPr>
        <p:spPr bwMode="auto">
          <a:xfrm>
            <a:off x="1711325" y="44688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6509" name="Oval 12"/>
          <p:cNvSpPr>
            <a:spLocks noChangeArrowheads="1"/>
          </p:cNvSpPr>
          <p:nvPr/>
        </p:nvSpPr>
        <p:spPr bwMode="auto">
          <a:xfrm>
            <a:off x="4448175" y="13176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6510" name="Text Box 13"/>
          <p:cNvSpPr txBox="1">
            <a:spLocks noChangeArrowheads="1"/>
          </p:cNvSpPr>
          <p:nvPr/>
        </p:nvSpPr>
        <p:spPr bwMode="auto">
          <a:xfrm>
            <a:off x="4389438" y="143668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106511" name="Line 14"/>
          <p:cNvSpPr>
            <a:spLocks noChangeShapeType="1"/>
          </p:cNvSpPr>
          <p:nvPr/>
        </p:nvSpPr>
        <p:spPr bwMode="auto">
          <a:xfrm>
            <a:off x="2909888" y="149383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6512" name="Oval 15"/>
          <p:cNvSpPr>
            <a:spLocks noChangeArrowheads="1"/>
          </p:cNvSpPr>
          <p:nvPr/>
        </p:nvSpPr>
        <p:spPr bwMode="auto">
          <a:xfrm>
            <a:off x="3422650" y="37687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6513" name="Line 16"/>
          <p:cNvSpPr>
            <a:spLocks noChangeShapeType="1"/>
          </p:cNvSpPr>
          <p:nvPr/>
        </p:nvSpPr>
        <p:spPr bwMode="auto">
          <a:xfrm flipH="1">
            <a:off x="1882775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6514" name="Line 17"/>
          <p:cNvSpPr>
            <a:spLocks noChangeShapeType="1"/>
          </p:cNvSpPr>
          <p:nvPr/>
        </p:nvSpPr>
        <p:spPr bwMode="auto">
          <a:xfrm>
            <a:off x="2909888" y="324326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6515" name="Oval 18"/>
          <p:cNvSpPr>
            <a:spLocks noChangeArrowheads="1"/>
          </p:cNvSpPr>
          <p:nvPr/>
        </p:nvSpPr>
        <p:spPr bwMode="auto">
          <a:xfrm>
            <a:off x="6500813" y="25431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6516" name="Text Box 19"/>
          <p:cNvSpPr txBox="1">
            <a:spLocks noChangeArrowheads="1"/>
          </p:cNvSpPr>
          <p:nvPr/>
        </p:nvSpPr>
        <p:spPr bwMode="auto">
          <a:xfrm>
            <a:off x="6442075" y="26622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106517" name="Oval 20"/>
          <p:cNvSpPr>
            <a:spLocks noChangeArrowheads="1"/>
          </p:cNvSpPr>
          <p:nvPr/>
        </p:nvSpPr>
        <p:spPr bwMode="auto">
          <a:xfrm>
            <a:off x="5475288" y="376872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6518" name="Oval 21"/>
          <p:cNvSpPr>
            <a:spLocks noChangeArrowheads="1"/>
          </p:cNvSpPr>
          <p:nvPr/>
        </p:nvSpPr>
        <p:spPr bwMode="auto">
          <a:xfrm>
            <a:off x="7526338" y="37687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6519" name="Text Box 22"/>
          <p:cNvSpPr txBox="1">
            <a:spLocks noChangeArrowheads="1"/>
          </p:cNvSpPr>
          <p:nvPr/>
        </p:nvSpPr>
        <p:spPr bwMode="auto">
          <a:xfrm>
            <a:off x="7467600" y="38862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106520" name="Line 23"/>
          <p:cNvSpPr>
            <a:spLocks noChangeShapeType="1"/>
          </p:cNvSpPr>
          <p:nvPr/>
        </p:nvSpPr>
        <p:spPr bwMode="auto">
          <a:xfrm flipH="1">
            <a:off x="5988050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6521" name="Line 24"/>
          <p:cNvSpPr>
            <a:spLocks noChangeShapeType="1"/>
          </p:cNvSpPr>
          <p:nvPr/>
        </p:nvSpPr>
        <p:spPr bwMode="auto">
          <a:xfrm>
            <a:off x="7013575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6522" name="Line 25"/>
          <p:cNvSpPr>
            <a:spLocks noChangeShapeType="1"/>
          </p:cNvSpPr>
          <p:nvPr/>
        </p:nvSpPr>
        <p:spPr bwMode="auto">
          <a:xfrm flipH="1">
            <a:off x="3079750" y="184308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6523" name="Line 26"/>
          <p:cNvSpPr>
            <a:spLocks noChangeShapeType="1"/>
          </p:cNvSpPr>
          <p:nvPr/>
        </p:nvSpPr>
        <p:spPr bwMode="auto">
          <a:xfrm>
            <a:off x="5132388" y="184308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6524" name="Text Box 27"/>
          <p:cNvSpPr txBox="1">
            <a:spLocks noChangeArrowheads="1"/>
          </p:cNvSpPr>
          <p:nvPr/>
        </p:nvSpPr>
        <p:spPr bwMode="auto">
          <a:xfrm>
            <a:off x="1939925" y="114300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106525" name="Oval 28"/>
          <p:cNvSpPr>
            <a:spLocks noChangeArrowheads="1"/>
          </p:cNvSpPr>
          <p:nvPr/>
        </p:nvSpPr>
        <p:spPr bwMode="auto">
          <a:xfrm>
            <a:off x="3422650" y="376713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6526" name="Text Box 29"/>
          <p:cNvSpPr txBox="1">
            <a:spLocks noChangeArrowheads="1"/>
          </p:cNvSpPr>
          <p:nvPr/>
        </p:nvSpPr>
        <p:spPr bwMode="auto">
          <a:xfrm>
            <a:off x="3370263" y="390525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106527" name="Oval 30"/>
          <p:cNvSpPr>
            <a:spLocks noChangeArrowheads="1"/>
          </p:cNvSpPr>
          <p:nvPr/>
        </p:nvSpPr>
        <p:spPr bwMode="auto">
          <a:xfrm>
            <a:off x="2738438" y="49926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6528" name="Text Box 31"/>
          <p:cNvSpPr txBox="1">
            <a:spLocks noChangeArrowheads="1"/>
          </p:cNvSpPr>
          <p:nvPr/>
        </p:nvSpPr>
        <p:spPr bwMode="auto">
          <a:xfrm>
            <a:off x="2679700" y="510698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06529" name="Oval 32"/>
          <p:cNvSpPr>
            <a:spLocks noChangeArrowheads="1"/>
          </p:cNvSpPr>
          <p:nvPr/>
        </p:nvSpPr>
        <p:spPr bwMode="auto">
          <a:xfrm>
            <a:off x="3763963" y="49895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6530" name="Text Box 33"/>
          <p:cNvSpPr txBox="1">
            <a:spLocks noChangeArrowheads="1"/>
          </p:cNvSpPr>
          <p:nvPr/>
        </p:nvSpPr>
        <p:spPr bwMode="auto">
          <a:xfrm>
            <a:off x="3705225" y="5106988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106531" name="Line 34"/>
          <p:cNvSpPr>
            <a:spLocks noChangeShapeType="1"/>
          </p:cNvSpPr>
          <p:nvPr/>
        </p:nvSpPr>
        <p:spPr bwMode="auto">
          <a:xfrm flipH="1">
            <a:off x="3251200" y="446722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6532" name="Line 35"/>
          <p:cNvSpPr>
            <a:spLocks noChangeShapeType="1"/>
          </p:cNvSpPr>
          <p:nvPr/>
        </p:nvSpPr>
        <p:spPr bwMode="auto">
          <a:xfrm>
            <a:off x="3763963" y="4467225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6533" name="Oval 36"/>
          <p:cNvSpPr>
            <a:spLocks noChangeArrowheads="1"/>
          </p:cNvSpPr>
          <p:nvPr/>
        </p:nvSpPr>
        <p:spPr bwMode="auto">
          <a:xfrm>
            <a:off x="5475288" y="376713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6534" name="Text Box 37"/>
          <p:cNvSpPr txBox="1">
            <a:spLocks noChangeArrowheads="1"/>
          </p:cNvSpPr>
          <p:nvPr/>
        </p:nvSpPr>
        <p:spPr bwMode="auto">
          <a:xfrm>
            <a:off x="5427663" y="390525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endParaRPr lang="en-US" altLang="en-US" sz="2400"/>
          </a:p>
        </p:txBody>
      </p:sp>
      <p:sp>
        <p:nvSpPr>
          <p:cNvPr id="106535" name="Rectangle 3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Enqueue (cont.)</a:t>
            </a:r>
          </a:p>
        </p:txBody>
      </p:sp>
      <p:sp>
        <p:nvSpPr>
          <p:cNvPr id="106536" name="Text Box 39"/>
          <p:cNvSpPr txBox="1">
            <a:spLocks noChangeArrowheads="1"/>
          </p:cNvSpPr>
          <p:nvPr/>
        </p:nvSpPr>
        <p:spPr bwMode="auto">
          <a:xfrm>
            <a:off x="3962400" y="24384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  <p:sp>
        <p:nvSpPr>
          <p:cNvPr id="106537" name="Oval 40"/>
          <p:cNvSpPr>
            <a:spLocks noChangeArrowheads="1"/>
          </p:cNvSpPr>
          <p:nvPr/>
        </p:nvSpPr>
        <p:spPr bwMode="auto">
          <a:xfrm>
            <a:off x="4800600" y="5029200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6538" name="Line 41"/>
          <p:cNvSpPr>
            <a:spLocks noChangeShapeType="1"/>
          </p:cNvSpPr>
          <p:nvPr/>
        </p:nvSpPr>
        <p:spPr bwMode="auto">
          <a:xfrm flipH="1">
            <a:off x="5313363" y="4503738"/>
            <a:ext cx="341312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6539" name="Text Box 42"/>
          <p:cNvSpPr txBox="1">
            <a:spLocks noChangeArrowheads="1"/>
          </p:cNvSpPr>
          <p:nvPr/>
        </p:nvSpPr>
        <p:spPr bwMode="auto">
          <a:xfrm>
            <a:off x="4876800" y="51054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24</a:t>
            </a:r>
          </a:p>
        </p:txBody>
      </p:sp>
      <p:sp>
        <p:nvSpPr>
          <p:cNvPr id="106540" name="Text Box 43"/>
          <p:cNvSpPr txBox="1">
            <a:spLocks noChangeArrowheads="1"/>
          </p:cNvSpPr>
          <p:nvPr/>
        </p:nvSpPr>
        <p:spPr bwMode="auto">
          <a:xfrm>
            <a:off x="5562600" y="38862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24</a:t>
            </a:r>
          </a:p>
        </p:txBody>
      </p:sp>
      <p:sp>
        <p:nvSpPr>
          <p:cNvPr id="106541" name="Text Box 44"/>
          <p:cNvSpPr txBox="1">
            <a:spLocks noChangeArrowheads="1"/>
          </p:cNvSpPr>
          <p:nvPr/>
        </p:nvSpPr>
        <p:spPr bwMode="auto">
          <a:xfrm>
            <a:off x="5715000" y="4603750"/>
            <a:ext cx="3276600" cy="1196975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and we compare 37 to 28 to see if we should “swap” again</a:t>
            </a:r>
          </a:p>
        </p:txBody>
      </p:sp>
      <p:sp>
        <p:nvSpPr>
          <p:cNvPr id="106542" name="Text Box 45"/>
          <p:cNvSpPr txBox="1">
            <a:spLocks noChangeArrowheads="1"/>
          </p:cNvSpPr>
          <p:nvPr/>
        </p:nvSpPr>
        <p:spPr bwMode="auto">
          <a:xfrm>
            <a:off x="5715000" y="1295400"/>
            <a:ext cx="3276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value to enqueue: 37</a:t>
            </a: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161F4673-E1D9-4ECF-8B86-AFF8E6713DD4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106</a:t>
            </a:fld>
            <a:endParaRPr lang="en-US" altLang="en-US" sz="1400"/>
          </a:p>
        </p:txBody>
      </p:sp>
      <p:sp>
        <p:nvSpPr>
          <p:cNvPr id="107523" name="Oval 2"/>
          <p:cNvSpPr>
            <a:spLocks noChangeArrowheads="1"/>
          </p:cNvSpPr>
          <p:nvPr/>
        </p:nvSpPr>
        <p:spPr bwMode="auto">
          <a:xfrm>
            <a:off x="2395538" y="25431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7524" name="Text Box 3"/>
          <p:cNvSpPr txBox="1">
            <a:spLocks noChangeArrowheads="1"/>
          </p:cNvSpPr>
          <p:nvPr/>
        </p:nvSpPr>
        <p:spPr bwMode="auto">
          <a:xfrm>
            <a:off x="2336800" y="26622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107525" name="Oval 4"/>
          <p:cNvSpPr>
            <a:spLocks noChangeArrowheads="1"/>
          </p:cNvSpPr>
          <p:nvPr/>
        </p:nvSpPr>
        <p:spPr bwMode="auto">
          <a:xfrm>
            <a:off x="1370013" y="376872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7526" name="Text Box 5"/>
          <p:cNvSpPr txBox="1">
            <a:spLocks noChangeArrowheads="1"/>
          </p:cNvSpPr>
          <p:nvPr/>
        </p:nvSpPr>
        <p:spPr bwMode="auto">
          <a:xfrm>
            <a:off x="1311275" y="388620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07527" name="Oval 6"/>
          <p:cNvSpPr>
            <a:spLocks noChangeArrowheads="1"/>
          </p:cNvSpPr>
          <p:nvPr/>
        </p:nvSpPr>
        <p:spPr bwMode="auto">
          <a:xfrm>
            <a:off x="685800" y="49942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7528" name="Text Box 7"/>
          <p:cNvSpPr txBox="1">
            <a:spLocks noChangeArrowheads="1"/>
          </p:cNvSpPr>
          <p:nvPr/>
        </p:nvSpPr>
        <p:spPr bwMode="auto">
          <a:xfrm>
            <a:off x="627063" y="511175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107529" name="Oval 8"/>
          <p:cNvSpPr>
            <a:spLocks noChangeArrowheads="1"/>
          </p:cNvSpPr>
          <p:nvPr/>
        </p:nvSpPr>
        <p:spPr bwMode="auto">
          <a:xfrm>
            <a:off x="1711325" y="49926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7530" name="Text Box 9"/>
          <p:cNvSpPr txBox="1">
            <a:spLocks noChangeArrowheads="1"/>
          </p:cNvSpPr>
          <p:nvPr/>
        </p:nvSpPr>
        <p:spPr bwMode="auto">
          <a:xfrm>
            <a:off x="1652588" y="511175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107531" name="Line 10"/>
          <p:cNvSpPr>
            <a:spLocks noChangeShapeType="1"/>
          </p:cNvSpPr>
          <p:nvPr/>
        </p:nvSpPr>
        <p:spPr bwMode="auto">
          <a:xfrm flipH="1">
            <a:off x="1198563" y="44688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7532" name="Line 11"/>
          <p:cNvSpPr>
            <a:spLocks noChangeShapeType="1"/>
          </p:cNvSpPr>
          <p:nvPr/>
        </p:nvSpPr>
        <p:spPr bwMode="auto">
          <a:xfrm>
            <a:off x="1711325" y="44688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7533" name="Oval 12"/>
          <p:cNvSpPr>
            <a:spLocks noChangeArrowheads="1"/>
          </p:cNvSpPr>
          <p:nvPr/>
        </p:nvSpPr>
        <p:spPr bwMode="auto">
          <a:xfrm>
            <a:off x="4448175" y="13176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7534" name="Text Box 13"/>
          <p:cNvSpPr txBox="1">
            <a:spLocks noChangeArrowheads="1"/>
          </p:cNvSpPr>
          <p:nvPr/>
        </p:nvSpPr>
        <p:spPr bwMode="auto">
          <a:xfrm>
            <a:off x="4389438" y="143668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107535" name="Line 14"/>
          <p:cNvSpPr>
            <a:spLocks noChangeShapeType="1"/>
          </p:cNvSpPr>
          <p:nvPr/>
        </p:nvSpPr>
        <p:spPr bwMode="auto">
          <a:xfrm>
            <a:off x="2909888" y="149383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7536" name="Oval 15"/>
          <p:cNvSpPr>
            <a:spLocks noChangeArrowheads="1"/>
          </p:cNvSpPr>
          <p:nvPr/>
        </p:nvSpPr>
        <p:spPr bwMode="auto">
          <a:xfrm>
            <a:off x="3422650" y="37687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7537" name="Line 16"/>
          <p:cNvSpPr>
            <a:spLocks noChangeShapeType="1"/>
          </p:cNvSpPr>
          <p:nvPr/>
        </p:nvSpPr>
        <p:spPr bwMode="auto">
          <a:xfrm flipH="1">
            <a:off x="1882775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7538" name="Line 17"/>
          <p:cNvSpPr>
            <a:spLocks noChangeShapeType="1"/>
          </p:cNvSpPr>
          <p:nvPr/>
        </p:nvSpPr>
        <p:spPr bwMode="auto">
          <a:xfrm>
            <a:off x="2909888" y="324326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7539" name="Oval 18"/>
          <p:cNvSpPr>
            <a:spLocks noChangeArrowheads="1"/>
          </p:cNvSpPr>
          <p:nvPr/>
        </p:nvSpPr>
        <p:spPr bwMode="auto">
          <a:xfrm>
            <a:off x="6500813" y="25431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7540" name="Text Box 19"/>
          <p:cNvSpPr txBox="1">
            <a:spLocks noChangeArrowheads="1"/>
          </p:cNvSpPr>
          <p:nvPr/>
        </p:nvSpPr>
        <p:spPr bwMode="auto">
          <a:xfrm>
            <a:off x="6442075" y="26622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28</a:t>
            </a:r>
            <a:endParaRPr lang="en-US" altLang="en-US" sz="2400"/>
          </a:p>
        </p:txBody>
      </p:sp>
      <p:sp>
        <p:nvSpPr>
          <p:cNvPr id="107541" name="Oval 20"/>
          <p:cNvSpPr>
            <a:spLocks noChangeArrowheads="1"/>
          </p:cNvSpPr>
          <p:nvPr/>
        </p:nvSpPr>
        <p:spPr bwMode="auto">
          <a:xfrm>
            <a:off x="5475288" y="376872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7542" name="Oval 21"/>
          <p:cNvSpPr>
            <a:spLocks noChangeArrowheads="1"/>
          </p:cNvSpPr>
          <p:nvPr/>
        </p:nvSpPr>
        <p:spPr bwMode="auto">
          <a:xfrm>
            <a:off x="7526338" y="37687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7543" name="Text Box 22"/>
          <p:cNvSpPr txBox="1">
            <a:spLocks noChangeArrowheads="1"/>
          </p:cNvSpPr>
          <p:nvPr/>
        </p:nvSpPr>
        <p:spPr bwMode="auto">
          <a:xfrm>
            <a:off x="7467600" y="38862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107544" name="Line 23"/>
          <p:cNvSpPr>
            <a:spLocks noChangeShapeType="1"/>
          </p:cNvSpPr>
          <p:nvPr/>
        </p:nvSpPr>
        <p:spPr bwMode="auto">
          <a:xfrm flipH="1">
            <a:off x="5988050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7545" name="Line 24"/>
          <p:cNvSpPr>
            <a:spLocks noChangeShapeType="1"/>
          </p:cNvSpPr>
          <p:nvPr/>
        </p:nvSpPr>
        <p:spPr bwMode="auto">
          <a:xfrm>
            <a:off x="7013575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7546" name="Line 25"/>
          <p:cNvSpPr>
            <a:spLocks noChangeShapeType="1"/>
          </p:cNvSpPr>
          <p:nvPr/>
        </p:nvSpPr>
        <p:spPr bwMode="auto">
          <a:xfrm flipH="1">
            <a:off x="3079750" y="184308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7547" name="Line 26"/>
          <p:cNvSpPr>
            <a:spLocks noChangeShapeType="1"/>
          </p:cNvSpPr>
          <p:nvPr/>
        </p:nvSpPr>
        <p:spPr bwMode="auto">
          <a:xfrm>
            <a:off x="5132388" y="184308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7548" name="Text Box 27"/>
          <p:cNvSpPr txBox="1">
            <a:spLocks noChangeArrowheads="1"/>
          </p:cNvSpPr>
          <p:nvPr/>
        </p:nvSpPr>
        <p:spPr bwMode="auto">
          <a:xfrm>
            <a:off x="1939925" y="114300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107549" name="Oval 28"/>
          <p:cNvSpPr>
            <a:spLocks noChangeArrowheads="1"/>
          </p:cNvSpPr>
          <p:nvPr/>
        </p:nvSpPr>
        <p:spPr bwMode="auto">
          <a:xfrm>
            <a:off x="3422650" y="376713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7550" name="Text Box 29"/>
          <p:cNvSpPr txBox="1">
            <a:spLocks noChangeArrowheads="1"/>
          </p:cNvSpPr>
          <p:nvPr/>
        </p:nvSpPr>
        <p:spPr bwMode="auto">
          <a:xfrm>
            <a:off x="3370263" y="390525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107551" name="Oval 30"/>
          <p:cNvSpPr>
            <a:spLocks noChangeArrowheads="1"/>
          </p:cNvSpPr>
          <p:nvPr/>
        </p:nvSpPr>
        <p:spPr bwMode="auto">
          <a:xfrm>
            <a:off x="2738438" y="49926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7552" name="Text Box 31"/>
          <p:cNvSpPr txBox="1">
            <a:spLocks noChangeArrowheads="1"/>
          </p:cNvSpPr>
          <p:nvPr/>
        </p:nvSpPr>
        <p:spPr bwMode="auto">
          <a:xfrm>
            <a:off x="2679700" y="510698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07553" name="Oval 32"/>
          <p:cNvSpPr>
            <a:spLocks noChangeArrowheads="1"/>
          </p:cNvSpPr>
          <p:nvPr/>
        </p:nvSpPr>
        <p:spPr bwMode="auto">
          <a:xfrm>
            <a:off x="3763963" y="49895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7554" name="Text Box 33"/>
          <p:cNvSpPr txBox="1">
            <a:spLocks noChangeArrowheads="1"/>
          </p:cNvSpPr>
          <p:nvPr/>
        </p:nvSpPr>
        <p:spPr bwMode="auto">
          <a:xfrm>
            <a:off x="3705225" y="5106988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107555" name="Line 34"/>
          <p:cNvSpPr>
            <a:spLocks noChangeShapeType="1"/>
          </p:cNvSpPr>
          <p:nvPr/>
        </p:nvSpPr>
        <p:spPr bwMode="auto">
          <a:xfrm flipH="1">
            <a:off x="3251200" y="446722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7556" name="Line 35"/>
          <p:cNvSpPr>
            <a:spLocks noChangeShapeType="1"/>
          </p:cNvSpPr>
          <p:nvPr/>
        </p:nvSpPr>
        <p:spPr bwMode="auto">
          <a:xfrm>
            <a:off x="3763963" y="4467225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7557" name="Oval 36"/>
          <p:cNvSpPr>
            <a:spLocks noChangeArrowheads="1"/>
          </p:cNvSpPr>
          <p:nvPr/>
        </p:nvSpPr>
        <p:spPr bwMode="auto">
          <a:xfrm>
            <a:off x="5475288" y="376713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7558" name="Text Box 37"/>
          <p:cNvSpPr txBox="1">
            <a:spLocks noChangeArrowheads="1"/>
          </p:cNvSpPr>
          <p:nvPr/>
        </p:nvSpPr>
        <p:spPr bwMode="auto">
          <a:xfrm>
            <a:off x="5427663" y="390525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endParaRPr lang="en-US" altLang="en-US" sz="2400"/>
          </a:p>
        </p:txBody>
      </p:sp>
      <p:sp>
        <p:nvSpPr>
          <p:cNvPr id="107559" name="Rectangle 3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Enqueue (cont.)</a:t>
            </a:r>
          </a:p>
        </p:txBody>
      </p:sp>
      <p:sp>
        <p:nvSpPr>
          <p:cNvPr id="107560" name="Text Box 39"/>
          <p:cNvSpPr txBox="1">
            <a:spLocks noChangeArrowheads="1"/>
          </p:cNvSpPr>
          <p:nvPr/>
        </p:nvSpPr>
        <p:spPr bwMode="auto">
          <a:xfrm>
            <a:off x="3962400" y="24384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  <p:sp>
        <p:nvSpPr>
          <p:cNvPr id="107561" name="Oval 40"/>
          <p:cNvSpPr>
            <a:spLocks noChangeArrowheads="1"/>
          </p:cNvSpPr>
          <p:nvPr/>
        </p:nvSpPr>
        <p:spPr bwMode="auto">
          <a:xfrm>
            <a:off x="4800600" y="5029200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7562" name="Line 41"/>
          <p:cNvSpPr>
            <a:spLocks noChangeShapeType="1"/>
          </p:cNvSpPr>
          <p:nvPr/>
        </p:nvSpPr>
        <p:spPr bwMode="auto">
          <a:xfrm flipH="1">
            <a:off x="5313363" y="4503738"/>
            <a:ext cx="341312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7563" name="Text Box 42"/>
          <p:cNvSpPr txBox="1">
            <a:spLocks noChangeArrowheads="1"/>
          </p:cNvSpPr>
          <p:nvPr/>
        </p:nvSpPr>
        <p:spPr bwMode="auto">
          <a:xfrm>
            <a:off x="4876800" y="51054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24</a:t>
            </a:r>
          </a:p>
        </p:txBody>
      </p:sp>
      <p:sp>
        <p:nvSpPr>
          <p:cNvPr id="107564" name="Text Box 43"/>
          <p:cNvSpPr txBox="1">
            <a:spLocks noChangeArrowheads="1"/>
          </p:cNvSpPr>
          <p:nvPr/>
        </p:nvSpPr>
        <p:spPr bwMode="auto">
          <a:xfrm>
            <a:off x="5562600" y="3886200"/>
            <a:ext cx="685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24</a:t>
            </a:r>
          </a:p>
        </p:txBody>
      </p:sp>
      <p:sp>
        <p:nvSpPr>
          <p:cNvPr id="107565" name="Text Box 44"/>
          <p:cNvSpPr txBox="1">
            <a:spLocks noChangeArrowheads="1"/>
          </p:cNvSpPr>
          <p:nvPr/>
        </p:nvSpPr>
        <p:spPr bwMode="auto">
          <a:xfrm>
            <a:off x="5867400" y="4648200"/>
            <a:ext cx="3124200" cy="1196975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37 &gt; 28, so we do a one-assignment swap again</a:t>
            </a:r>
          </a:p>
        </p:txBody>
      </p:sp>
      <p:sp>
        <p:nvSpPr>
          <p:cNvPr id="107566" name="Text Box 45"/>
          <p:cNvSpPr txBox="1">
            <a:spLocks noChangeArrowheads="1"/>
          </p:cNvSpPr>
          <p:nvPr/>
        </p:nvSpPr>
        <p:spPr bwMode="auto">
          <a:xfrm>
            <a:off x="5715000" y="1295400"/>
            <a:ext cx="3276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value to enqueue: 37</a:t>
            </a: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447C86F2-AE24-44E0-9092-D280E754C116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107</a:t>
            </a:fld>
            <a:endParaRPr lang="en-US" altLang="en-US" sz="1400"/>
          </a:p>
        </p:txBody>
      </p:sp>
      <p:sp>
        <p:nvSpPr>
          <p:cNvPr id="108547" name="Oval 2"/>
          <p:cNvSpPr>
            <a:spLocks noChangeArrowheads="1"/>
          </p:cNvSpPr>
          <p:nvPr/>
        </p:nvSpPr>
        <p:spPr bwMode="auto">
          <a:xfrm>
            <a:off x="2395538" y="25431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8548" name="Text Box 3"/>
          <p:cNvSpPr txBox="1">
            <a:spLocks noChangeArrowheads="1"/>
          </p:cNvSpPr>
          <p:nvPr/>
        </p:nvSpPr>
        <p:spPr bwMode="auto">
          <a:xfrm>
            <a:off x="2336800" y="26622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108549" name="Oval 4"/>
          <p:cNvSpPr>
            <a:spLocks noChangeArrowheads="1"/>
          </p:cNvSpPr>
          <p:nvPr/>
        </p:nvSpPr>
        <p:spPr bwMode="auto">
          <a:xfrm>
            <a:off x="1370013" y="376872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8550" name="Text Box 5"/>
          <p:cNvSpPr txBox="1">
            <a:spLocks noChangeArrowheads="1"/>
          </p:cNvSpPr>
          <p:nvPr/>
        </p:nvSpPr>
        <p:spPr bwMode="auto">
          <a:xfrm>
            <a:off x="1311275" y="388620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08551" name="Oval 6"/>
          <p:cNvSpPr>
            <a:spLocks noChangeArrowheads="1"/>
          </p:cNvSpPr>
          <p:nvPr/>
        </p:nvSpPr>
        <p:spPr bwMode="auto">
          <a:xfrm>
            <a:off x="685800" y="49942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8552" name="Text Box 7"/>
          <p:cNvSpPr txBox="1">
            <a:spLocks noChangeArrowheads="1"/>
          </p:cNvSpPr>
          <p:nvPr/>
        </p:nvSpPr>
        <p:spPr bwMode="auto">
          <a:xfrm>
            <a:off x="627063" y="511175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108553" name="Oval 8"/>
          <p:cNvSpPr>
            <a:spLocks noChangeArrowheads="1"/>
          </p:cNvSpPr>
          <p:nvPr/>
        </p:nvSpPr>
        <p:spPr bwMode="auto">
          <a:xfrm>
            <a:off x="1711325" y="49926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8554" name="Text Box 9"/>
          <p:cNvSpPr txBox="1">
            <a:spLocks noChangeArrowheads="1"/>
          </p:cNvSpPr>
          <p:nvPr/>
        </p:nvSpPr>
        <p:spPr bwMode="auto">
          <a:xfrm>
            <a:off x="1652588" y="511175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108555" name="Line 10"/>
          <p:cNvSpPr>
            <a:spLocks noChangeShapeType="1"/>
          </p:cNvSpPr>
          <p:nvPr/>
        </p:nvSpPr>
        <p:spPr bwMode="auto">
          <a:xfrm flipH="1">
            <a:off x="1198563" y="44688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8556" name="Line 11"/>
          <p:cNvSpPr>
            <a:spLocks noChangeShapeType="1"/>
          </p:cNvSpPr>
          <p:nvPr/>
        </p:nvSpPr>
        <p:spPr bwMode="auto">
          <a:xfrm>
            <a:off x="1711325" y="44688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8557" name="Oval 12"/>
          <p:cNvSpPr>
            <a:spLocks noChangeArrowheads="1"/>
          </p:cNvSpPr>
          <p:nvPr/>
        </p:nvSpPr>
        <p:spPr bwMode="auto">
          <a:xfrm>
            <a:off x="4448175" y="13176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8558" name="Text Box 13"/>
          <p:cNvSpPr txBox="1">
            <a:spLocks noChangeArrowheads="1"/>
          </p:cNvSpPr>
          <p:nvPr/>
        </p:nvSpPr>
        <p:spPr bwMode="auto">
          <a:xfrm>
            <a:off x="4389438" y="143668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108559" name="Line 14"/>
          <p:cNvSpPr>
            <a:spLocks noChangeShapeType="1"/>
          </p:cNvSpPr>
          <p:nvPr/>
        </p:nvSpPr>
        <p:spPr bwMode="auto">
          <a:xfrm>
            <a:off x="2909888" y="149383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8560" name="Oval 15"/>
          <p:cNvSpPr>
            <a:spLocks noChangeArrowheads="1"/>
          </p:cNvSpPr>
          <p:nvPr/>
        </p:nvSpPr>
        <p:spPr bwMode="auto">
          <a:xfrm>
            <a:off x="3422650" y="37687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8561" name="Line 16"/>
          <p:cNvSpPr>
            <a:spLocks noChangeShapeType="1"/>
          </p:cNvSpPr>
          <p:nvPr/>
        </p:nvSpPr>
        <p:spPr bwMode="auto">
          <a:xfrm flipH="1">
            <a:off x="1882775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8562" name="Line 17"/>
          <p:cNvSpPr>
            <a:spLocks noChangeShapeType="1"/>
          </p:cNvSpPr>
          <p:nvPr/>
        </p:nvSpPr>
        <p:spPr bwMode="auto">
          <a:xfrm>
            <a:off x="2909888" y="324326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8563" name="Oval 18"/>
          <p:cNvSpPr>
            <a:spLocks noChangeArrowheads="1"/>
          </p:cNvSpPr>
          <p:nvPr/>
        </p:nvSpPr>
        <p:spPr bwMode="auto">
          <a:xfrm>
            <a:off x="6500813" y="25431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8564" name="Text Box 19"/>
          <p:cNvSpPr txBox="1">
            <a:spLocks noChangeArrowheads="1"/>
          </p:cNvSpPr>
          <p:nvPr/>
        </p:nvSpPr>
        <p:spPr bwMode="auto">
          <a:xfrm>
            <a:off x="6442075" y="26622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endParaRPr lang="en-US" altLang="en-US" sz="2400"/>
          </a:p>
        </p:txBody>
      </p:sp>
      <p:sp>
        <p:nvSpPr>
          <p:cNvPr id="108565" name="Oval 20"/>
          <p:cNvSpPr>
            <a:spLocks noChangeArrowheads="1"/>
          </p:cNvSpPr>
          <p:nvPr/>
        </p:nvSpPr>
        <p:spPr bwMode="auto">
          <a:xfrm>
            <a:off x="5475288" y="376872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8566" name="Oval 21"/>
          <p:cNvSpPr>
            <a:spLocks noChangeArrowheads="1"/>
          </p:cNvSpPr>
          <p:nvPr/>
        </p:nvSpPr>
        <p:spPr bwMode="auto">
          <a:xfrm>
            <a:off x="7526338" y="37687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8567" name="Text Box 22"/>
          <p:cNvSpPr txBox="1">
            <a:spLocks noChangeArrowheads="1"/>
          </p:cNvSpPr>
          <p:nvPr/>
        </p:nvSpPr>
        <p:spPr bwMode="auto">
          <a:xfrm>
            <a:off x="7467600" y="38862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108568" name="Line 23"/>
          <p:cNvSpPr>
            <a:spLocks noChangeShapeType="1"/>
          </p:cNvSpPr>
          <p:nvPr/>
        </p:nvSpPr>
        <p:spPr bwMode="auto">
          <a:xfrm flipH="1">
            <a:off x="5988050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8569" name="Line 24"/>
          <p:cNvSpPr>
            <a:spLocks noChangeShapeType="1"/>
          </p:cNvSpPr>
          <p:nvPr/>
        </p:nvSpPr>
        <p:spPr bwMode="auto">
          <a:xfrm>
            <a:off x="7013575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8570" name="Line 25"/>
          <p:cNvSpPr>
            <a:spLocks noChangeShapeType="1"/>
          </p:cNvSpPr>
          <p:nvPr/>
        </p:nvSpPr>
        <p:spPr bwMode="auto">
          <a:xfrm flipH="1">
            <a:off x="3079750" y="184308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8571" name="Line 26"/>
          <p:cNvSpPr>
            <a:spLocks noChangeShapeType="1"/>
          </p:cNvSpPr>
          <p:nvPr/>
        </p:nvSpPr>
        <p:spPr bwMode="auto">
          <a:xfrm>
            <a:off x="5132388" y="184308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8572" name="Text Box 27"/>
          <p:cNvSpPr txBox="1">
            <a:spLocks noChangeArrowheads="1"/>
          </p:cNvSpPr>
          <p:nvPr/>
        </p:nvSpPr>
        <p:spPr bwMode="auto">
          <a:xfrm>
            <a:off x="1939925" y="114300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108573" name="Oval 28"/>
          <p:cNvSpPr>
            <a:spLocks noChangeArrowheads="1"/>
          </p:cNvSpPr>
          <p:nvPr/>
        </p:nvSpPr>
        <p:spPr bwMode="auto">
          <a:xfrm>
            <a:off x="3422650" y="376713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8574" name="Text Box 29"/>
          <p:cNvSpPr txBox="1">
            <a:spLocks noChangeArrowheads="1"/>
          </p:cNvSpPr>
          <p:nvPr/>
        </p:nvSpPr>
        <p:spPr bwMode="auto">
          <a:xfrm>
            <a:off x="3370263" y="390525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108575" name="Oval 30"/>
          <p:cNvSpPr>
            <a:spLocks noChangeArrowheads="1"/>
          </p:cNvSpPr>
          <p:nvPr/>
        </p:nvSpPr>
        <p:spPr bwMode="auto">
          <a:xfrm>
            <a:off x="2738438" y="49926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8576" name="Text Box 31"/>
          <p:cNvSpPr txBox="1">
            <a:spLocks noChangeArrowheads="1"/>
          </p:cNvSpPr>
          <p:nvPr/>
        </p:nvSpPr>
        <p:spPr bwMode="auto">
          <a:xfrm>
            <a:off x="2679700" y="510698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08577" name="Oval 32"/>
          <p:cNvSpPr>
            <a:spLocks noChangeArrowheads="1"/>
          </p:cNvSpPr>
          <p:nvPr/>
        </p:nvSpPr>
        <p:spPr bwMode="auto">
          <a:xfrm>
            <a:off x="3763963" y="49895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8578" name="Text Box 33"/>
          <p:cNvSpPr txBox="1">
            <a:spLocks noChangeArrowheads="1"/>
          </p:cNvSpPr>
          <p:nvPr/>
        </p:nvSpPr>
        <p:spPr bwMode="auto">
          <a:xfrm>
            <a:off x="3705225" y="5106988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108579" name="Line 34"/>
          <p:cNvSpPr>
            <a:spLocks noChangeShapeType="1"/>
          </p:cNvSpPr>
          <p:nvPr/>
        </p:nvSpPr>
        <p:spPr bwMode="auto">
          <a:xfrm flipH="1">
            <a:off x="3251200" y="446722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8580" name="Line 35"/>
          <p:cNvSpPr>
            <a:spLocks noChangeShapeType="1"/>
          </p:cNvSpPr>
          <p:nvPr/>
        </p:nvSpPr>
        <p:spPr bwMode="auto">
          <a:xfrm>
            <a:off x="3763963" y="4467225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8581" name="Oval 36"/>
          <p:cNvSpPr>
            <a:spLocks noChangeArrowheads="1"/>
          </p:cNvSpPr>
          <p:nvPr/>
        </p:nvSpPr>
        <p:spPr bwMode="auto">
          <a:xfrm>
            <a:off x="5475288" y="376713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8582" name="Text Box 37"/>
          <p:cNvSpPr txBox="1">
            <a:spLocks noChangeArrowheads="1"/>
          </p:cNvSpPr>
          <p:nvPr/>
        </p:nvSpPr>
        <p:spPr bwMode="auto">
          <a:xfrm>
            <a:off x="5427663" y="390525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endParaRPr lang="en-US" altLang="en-US" sz="2400"/>
          </a:p>
        </p:txBody>
      </p:sp>
      <p:sp>
        <p:nvSpPr>
          <p:cNvPr id="108583" name="Rectangle 3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Enqueue (cont.)</a:t>
            </a:r>
          </a:p>
        </p:txBody>
      </p:sp>
      <p:sp>
        <p:nvSpPr>
          <p:cNvPr id="108584" name="Text Box 39"/>
          <p:cNvSpPr txBox="1">
            <a:spLocks noChangeArrowheads="1"/>
          </p:cNvSpPr>
          <p:nvPr/>
        </p:nvSpPr>
        <p:spPr bwMode="auto">
          <a:xfrm>
            <a:off x="3962400" y="24384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  <p:sp>
        <p:nvSpPr>
          <p:cNvPr id="108585" name="Oval 40"/>
          <p:cNvSpPr>
            <a:spLocks noChangeArrowheads="1"/>
          </p:cNvSpPr>
          <p:nvPr/>
        </p:nvSpPr>
        <p:spPr bwMode="auto">
          <a:xfrm>
            <a:off x="4800600" y="5029200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8586" name="Line 41"/>
          <p:cNvSpPr>
            <a:spLocks noChangeShapeType="1"/>
          </p:cNvSpPr>
          <p:nvPr/>
        </p:nvSpPr>
        <p:spPr bwMode="auto">
          <a:xfrm flipH="1">
            <a:off x="5313363" y="4503738"/>
            <a:ext cx="341312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8587" name="Text Box 42"/>
          <p:cNvSpPr txBox="1">
            <a:spLocks noChangeArrowheads="1"/>
          </p:cNvSpPr>
          <p:nvPr/>
        </p:nvSpPr>
        <p:spPr bwMode="auto">
          <a:xfrm>
            <a:off x="4876800" y="51054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24</a:t>
            </a:r>
          </a:p>
        </p:txBody>
      </p:sp>
      <p:sp>
        <p:nvSpPr>
          <p:cNvPr id="108588" name="Text Box 43"/>
          <p:cNvSpPr txBox="1">
            <a:spLocks noChangeArrowheads="1"/>
          </p:cNvSpPr>
          <p:nvPr/>
        </p:nvSpPr>
        <p:spPr bwMode="auto">
          <a:xfrm>
            <a:off x="6553200" y="2667000"/>
            <a:ext cx="1143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28</a:t>
            </a:r>
          </a:p>
        </p:txBody>
      </p:sp>
      <p:sp>
        <p:nvSpPr>
          <p:cNvPr id="108589" name="Text Box 44"/>
          <p:cNvSpPr txBox="1">
            <a:spLocks noChangeArrowheads="1"/>
          </p:cNvSpPr>
          <p:nvPr/>
        </p:nvSpPr>
        <p:spPr bwMode="auto">
          <a:xfrm>
            <a:off x="5562600" y="38862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28</a:t>
            </a:r>
          </a:p>
        </p:txBody>
      </p:sp>
      <p:sp>
        <p:nvSpPr>
          <p:cNvPr id="108590" name="Text Box 45"/>
          <p:cNvSpPr txBox="1">
            <a:spLocks noChangeArrowheads="1"/>
          </p:cNvSpPr>
          <p:nvPr/>
        </p:nvSpPr>
        <p:spPr bwMode="auto">
          <a:xfrm>
            <a:off x="5715000" y="1295400"/>
            <a:ext cx="3276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value to enqueue: 37</a:t>
            </a:r>
          </a:p>
        </p:txBody>
      </p:sp>
      <p:sp>
        <p:nvSpPr>
          <p:cNvPr id="108591" name="Text Box 46"/>
          <p:cNvSpPr txBox="1">
            <a:spLocks noChangeArrowheads="1"/>
          </p:cNvSpPr>
          <p:nvPr/>
        </p:nvSpPr>
        <p:spPr bwMode="auto">
          <a:xfrm>
            <a:off x="6019800" y="4648200"/>
            <a:ext cx="28956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We “pretend” 37 is here</a:t>
            </a:r>
          </a:p>
        </p:txBody>
      </p:sp>
      <p:sp>
        <p:nvSpPr>
          <p:cNvPr id="108592" name="Line 47"/>
          <p:cNvSpPr>
            <a:spLocks noChangeShapeType="1"/>
          </p:cNvSpPr>
          <p:nvPr/>
        </p:nvSpPr>
        <p:spPr bwMode="auto">
          <a:xfrm flipV="1">
            <a:off x="6858000" y="3048000"/>
            <a:ext cx="0" cy="160020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748272E1-96BE-4EEF-92A0-040A86ADCDE7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108</a:t>
            </a:fld>
            <a:endParaRPr lang="en-US" altLang="en-US" sz="1400"/>
          </a:p>
        </p:txBody>
      </p:sp>
      <p:sp>
        <p:nvSpPr>
          <p:cNvPr id="109571" name="Oval 2"/>
          <p:cNvSpPr>
            <a:spLocks noChangeArrowheads="1"/>
          </p:cNvSpPr>
          <p:nvPr/>
        </p:nvSpPr>
        <p:spPr bwMode="auto">
          <a:xfrm>
            <a:off x="2395538" y="25431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9572" name="Text Box 3"/>
          <p:cNvSpPr txBox="1">
            <a:spLocks noChangeArrowheads="1"/>
          </p:cNvSpPr>
          <p:nvPr/>
        </p:nvSpPr>
        <p:spPr bwMode="auto">
          <a:xfrm>
            <a:off x="2336800" y="26622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109573" name="Oval 4"/>
          <p:cNvSpPr>
            <a:spLocks noChangeArrowheads="1"/>
          </p:cNvSpPr>
          <p:nvPr/>
        </p:nvSpPr>
        <p:spPr bwMode="auto">
          <a:xfrm>
            <a:off x="1370013" y="376872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9574" name="Text Box 5"/>
          <p:cNvSpPr txBox="1">
            <a:spLocks noChangeArrowheads="1"/>
          </p:cNvSpPr>
          <p:nvPr/>
        </p:nvSpPr>
        <p:spPr bwMode="auto">
          <a:xfrm>
            <a:off x="1311275" y="388620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09575" name="Oval 6"/>
          <p:cNvSpPr>
            <a:spLocks noChangeArrowheads="1"/>
          </p:cNvSpPr>
          <p:nvPr/>
        </p:nvSpPr>
        <p:spPr bwMode="auto">
          <a:xfrm>
            <a:off x="685800" y="49942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9576" name="Text Box 7"/>
          <p:cNvSpPr txBox="1">
            <a:spLocks noChangeArrowheads="1"/>
          </p:cNvSpPr>
          <p:nvPr/>
        </p:nvSpPr>
        <p:spPr bwMode="auto">
          <a:xfrm>
            <a:off x="627063" y="511175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109577" name="Oval 8"/>
          <p:cNvSpPr>
            <a:spLocks noChangeArrowheads="1"/>
          </p:cNvSpPr>
          <p:nvPr/>
        </p:nvSpPr>
        <p:spPr bwMode="auto">
          <a:xfrm>
            <a:off x="1711325" y="49926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9578" name="Text Box 9"/>
          <p:cNvSpPr txBox="1">
            <a:spLocks noChangeArrowheads="1"/>
          </p:cNvSpPr>
          <p:nvPr/>
        </p:nvSpPr>
        <p:spPr bwMode="auto">
          <a:xfrm>
            <a:off x="1652588" y="511175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109579" name="Line 10"/>
          <p:cNvSpPr>
            <a:spLocks noChangeShapeType="1"/>
          </p:cNvSpPr>
          <p:nvPr/>
        </p:nvSpPr>
        <p:spPr bwMode="auto">
          <a:xfrm flipH="1">
            <a:off x="1198563" y="44688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9580" name="Line 11"/>
          <p:cNvSpPr>
            <a:spLocks noChangeShapeType="1"/>
          </p:cNvSpPr>
          <p:nvPr/>
        </p:nvSpPr>
        <p:spPr bwMode="auto">
          <a:xfrm>
            <a:off x="1711325" y="44688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9581" name="Oval 12"/>
          <p:cNvSpPr>
            <a:spLocks noChangeArrowheads="1"/>
          </p:cNvSpPr>
          <p:nvPr/>
        </p:nvSpPr>
        <p:spPr bwMode="auto">
          <a:xfrm>
            <a:off x="4448175" y="13176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9582" name="Text Box 13"/>
          <p:cNvSpPr txBox="1">
            <a:spLocks noChangeArrowheads="1"/>
          </p:cNvSpPr>
          <p:nvPr/>
        </p:nvSpPr>
        <p:spPr bwMode="auto">
          <a:xfrm>
            <a:off x="4389438" y="143668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109583" name="Line 14"/>
          <p:cNvSpPr>
            <a:spLocks noChangeShapeType="1"/>
          </p:cNvSpPr>
          <p:nvPr/>
        </p:nvSpPr>
        <p:spPr bwMode="auto">
          <a:xfrm>
            <a:off x="2909888" y="149383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9584" name="Oval 15"/>
          <p:cNvSpPr>
            <a:spLocks noChangeArrowheads="1"/>
          </p:cNvSpPr>
          <p:nvPr/>
        </p:nvSpPr>
        <p:spPr bwMode="auto">
          <a:xfrm>
            <a:off x="3422650" y="37687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9585" name="Line 16"/>
          <p:cNvSpPr>
            <a:spLocks noChangeShapeType="1"/>
          </p:cNvSpPr>
          <p:nvPr/>
        </p:nvSpPr>
        <p:spPr bwMode="auto">
          <a:xfrm flipH="1">
            <a:off x="1882775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9586" name="Line 17"/>
          <p:cNvSpPr>
            <a:spLocks noChangeShapeType="1"/>
          </p:cNvSpPr>
          <p:nvPr/>
        </p:nvSpPr>
        <p:spPr bwMode="auto">
          <a:xfrm>
            <a:off x="2909888" y="324326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9587" name="Oval 18"/>
          <p:cNvSpPr>
            <a:spLocks noChangeArrowheads="1"/>
          </p:cNvSpPr>
          <p:nvPr/>
        </p:nvSpPr>
        <p:spPr bwMode="auto">
          <a:xfrm>
            <a:off x="6500813" y="25431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9588" name="Text Box 19"/>
          <p:cNvSpPr txBox="1">
            <a:spLocks noChangeArrowheads="1"/>
          </p:cNvSpPr>
          <p:nvPr/>
        </p:nvSpPr>
        <p:spPr bwMode="auto">
          <a:xfrm>
            <a:off x="6442075" y="26622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endParaRPr lang="en-US" altLang="en-US" sz="2400"/>
          </a:p>
        </p:txBody>
      </p:sp>
      <p:sp>
        <p:nvSpPr>
          <p:cNvPr id="109589" name="Oval 20"/>
          <p:cNvSpPr>
            <a:spLocks noChangeArrowheads="1"/>
          </p:cNvSpPr>
          <p:nvPr/>
        </p:nvSpPr>
        <p:spPr bwMode="auto">
          <a:xfrm>
            <a:off x="5475288" y="376872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9590" name="Oval 21"/>
          <p:cNvSpPr>
            <a:spLocks noChangeArrowheads="1"/>
          </p:cNvSpPr>
          <p:nvPr/>
        </p:nvSpPr>
        <p:spPr bwMode="auto">
          <a:xfrm>
            <a:off x="7526338" y="37687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9591" name="Text Box 22"/>
          <p:cNvSpPr txBox="1">
            <a:spLocks noChangeArrowheads="1"/>
          </p:cNvSpPr>
          <p:nvPr/>
        </p:nvSpPr>
        <p:spPr bwMode="auto">
          <a:xfrm>
            <a:off x="7467600" y="38862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109592" name="Line 23"/>
          <p:cNvSpPr>
            <a:spLocks noChangeShapeType="1"/>
          </p:cNvSpPr>
          <p:nvPr/>
        </p:nvSpPr>
        <p:spPr bwMode="auto">
          <a:xfrm flipH="1">
            <a:off x="5988050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9593" name="Line 24"/>
          <p:cNvSpPr>
            <a:spLocks noChangeShapeType="1"/>
          </p:cNvSpPr>
          <p:nvPr/>
        </p:nvSpPr>
        <p:spPr bwMode="auto">
          <a:xfrm>
            <a:off x="7013575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9594" name="Line 25"/>
          <p:cNvSpPr>
            <a:spLocks noChangeShapeType="1"/>
          </p:cNvSpPr>
          <p:nvPr/>
        </p:nvSpPr>
        <p:spPr bwMode="auto">
          <a:xfrm flipH="1">
            <a:off x="3079750" y="184308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9595" name="Line 26"/>
          <p:cNvSpPr>
            <a:spLocks noChangeShapeType="1"/>
          </p:cNvSpPr>
          <p:nvPr/>
        </p:nvSpPr>
        <p:spPr bwMode="auto">
          <a:xfrm>
            <a:off x="5132388" y="184308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9596" name="Text Box 27"/>
          <p:cNvSpPr txBox="1">
            <a:spLocks noChangeArrowheads="1"/>
          </p:cNvSpPr>
          <p:nvPr/>
        </p:nvSpPr>
        <p:spPr bwMode="auto">
          <a:xfrm>
            <a:off x="1939925" y="114300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109597" name="Oval 28"/>
          <p:cNvSpPr>
            <a:spLocks noChangeArrowheads="1"/>
          </p:cNvSpPr>
          <p:nvPr/>
        </p:nvSpPr>
        <p:spPr bwMode="auto">
          <a:xfrm>
            <a:off x="3422650" y="376713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9598" name="Text Box 29"/>
          <p:cNvSpPr txBox="1">
            <a:spLocks noChangeArrowheads="1"/>
          </p:cNvSpPr>
          <p:nvPr/>
        </p:nvSpPr>
        <p:spPr bwMode="auto">
          <a:xfrm>
            <a:off x="3370263" y="390525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109599" name="Oval 30"/>
          <p:cNvSpPr>
            <a:spLocks noChangeArrowheads="1"/>
          </p:cNvSpPr>
          <p:nvPr/>
        </p:nvSpPr>
        <p:spPr bwMode="auto">
          <a:xfrm>
            <a:off x="2738438" y="49926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9600" name="Text Box 31"/>
          <p:cNvSpPr txBox="1">
            <a:spLocks noChangeArrowheads="1"/>
          </p:cNvSpPr>
          <p:nvPr/>
        </p:nvSpPr>
        <p:spPr bwMode="auto">
          <a:xfrm>
            <a:off x="2679700" y="510698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09601" name="Oval 32"/>
          <p:cNvSpPr>
            <a:spLocks noChangeArrowheads="1"/>
          </p:cNvSpPr>
          <p:nvPr/>
        </p:nvSpPr>
        <p:spPr bwMode="auto">
          <a:xfrm>
            <a:off x="3763963" y="49895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9602" name="Text Box 33"/>
          <p:cNvSpPr txBox="1">
            <a:spLocks noChangeArrowheads="1"/>
          </p:cNvSpPr>
          <p:nvPr/>
        </p:nvSpPr>
        <p:spPr bwMode="auto">
          <a:xfrm>
            <a:off x="3705225" y="5106988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109603" name="Line 34"/>
          <p:cNvSpPr>
            <a:spLocks noChangeShapeType="1"/>
          </p:cNvSpPr>
          <p:nvPr/>
        </p:nvSpPr>
        <p:spPr bwMode="auto">
          <a:xfrm flipH="1">
            <a:off x="3251200" y="446722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9604" name="Line 35"/>
          <p:cNvSpPr>
            <a:spLocks noChangeShapeType="1"/>
          </p:cNvSpPr>
          <p:nvPr/>
        </p:nvSpPr>
        <p:spPr bwMode="auto">
          <a:xfrm>
            <a:off x="3763963" y="4467225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9605" name="Oval 36"/>
          <p:cNvSpPr>
            <a:spLocks noChangeArrowheads="1"/>
          </p:cNvSpPr>
          <p:nvPr/>
        </p:nvSpPr>
        <p:spPr bwMode="auto">
          <a:xfrm>
            <a:off x="5475288" y="376713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9606" name="Text Box 37"/>
          <p:cNvSpPr txBox="1">
            <a:spLocks noChangeArrowheads="1"/>
          </p:cNvSpPr>
          <p:nvPr/>
        </p:nvSpPr>
        <p:spPr bwMode="auto">
          <a:xfrm>
            <a:off x="5427663" y="390525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endParaRPr lang="en-US" altLang="en-US" sz="2400"/>
          </a:p>
        </p:txBody>
      </p:sp>
      <p:sp>
        <p:nvSpPr>
          <p:cNvPr id="109607" name="Rectangle 3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Enqueue (cont.)</a:t>
            </a:r>
          </a:p>
        </p:txBody>
      </p:sp>
      <p:sp>
        <p:nvSpPr>
          <p:cNvPr id="109608" name="Text Box 39"/>
          <p:cNvSpPr txBox="1">
            <a:spLocks noChangeArrowheads="1"/>
          </p:cNvSpPr>
          <p:nvPr/>
        </p:nvSpPr>
        <p:spPr bwMode="auto">
          <a:xfrm>
            <a:off x="3962400" y="24384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  <p:sp>
        <p:nvSpPr>
          <p:cNvPr id="109609" name="Oval 40"/>
          <p:cNvSpPr>
            <a:spLocks noChangeArrowheads="1"/>
          </p:cNvSpPr>
          <p:nvPr/>
        </p:nvSpPr>
        <p:spPr bwMode="auto">
          <a:xfrm>
            <a:off x="4800600" y="5029200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09610" name="Line 41"/>
          <p:cNvSpPr>
            <a:spLocks noChangeShapeType="1"/>
          </p:cNvSpPr>
          <p:nvPr/>
        </p:nvSpPr>
        <p:spPr bwMode="auto">
          <a:xfrm flipH="1">
            <a:off x="5313363" y="4503738"/>
            <a:ext cx="341312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09611" name="Text Box 42"/>
          <p:cNvSpPr txBox="1">
            <a:spLocks noChangeArrowheads="1"/>
          </p:cNvSpPr>
          <p:nvPr/>
        </p:nvSpPr>
        <p:spPr bwMode="auto">
          <a:xfrm>
            <a:off x="4876800" y="51054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24</a:t>
            </a:r>
          </a:p>
        </p:txBody>
      </p:sp>
      <p:sp>
        <p:nvSpPr>
          <p:cNvPr id="109612" name="Text Box 43"/>
          <p:cNvSpPr txBox="1">
            <a:spLocks noChangeArrowheads="1"/>
          </p:cNvSpPr>
          <p:nvPr/>
        </p:nvSpPr>
        <p:spPr bwMode="auto">
          <a:xfrm>
            <a:off x="6553200" y="2667000"/>
            <a:ext cx="1143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28</a:t>
            </a:r>
          </a:p>
        </p:txBody>
      </p:sp>
      <p:sp>
        <p:nvSpPr>
          <p:cNvPr id="109613" name="Text Box 44"/>
          <p:cNvSpPr txBox="1">
            <a:spLocks noChangeArrowheads="1"/>
          </p:cNvSpPr>
          <p:nvPr/>
        </p:nvSpPr>
        <p:spPr bwMode="auto">
          <a:xfrm>
            <a:off x="5562600" y="38862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28</a:t>
            </a:r>
          </a:p>
        </p:txBody>
      </p:sp>
      <p:sp>
        <p:nvSpPr>
          <p:cNvPr id="109614" name="Text Box 45"/>
          <p:cNvSpPr txBox="1">
            <a:spLocks noChangeArrowheads="1"/>
          </p:cNvSpPr>
          <p:nvPr/>
        </p:nvSpPr>
        <p:spPr bwMode="auto">
          <a:xfrm>
            <a:off x="5715000" y="1295400"/>
            <a:ext cx="3276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value to enqueue: 37</a:t>
            </a:r>
          </a:p>
        </p:txBody>
      </p:sp>
      <p:sp>
        <p:nvSpPr>
          <p:cNvPr id="109615" name="Text Box 46"/>
          <p:cNvSpPr txBox="1">
            <a:spLocks noChangeArrowheads="1"/>
          </p:cNvSpPr>
          <p:nvPr/>
        </p:nvSpPr>
        <p:spPr bwMode="auto">
          <a:xfrm>
            <a:off x="5715000" y="4648200"/>
            <a:ext cx="3276600" cy="1196975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and compare 37 to 39 to see if we should “swap” again</a:t>
            </a: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710C0EF4-5DB8-4F73-B827-236DD2656FD2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109</a:t>
            </a:fld>
            <a:endParaRPr lang="en-US" altLang="en-US" sz="1400"/>
          </a:p>
        </p:txBody>
      </p:sp>
      <p:sp>
        <p:nvSpPr>
          <p:cNvPr id="110595" name="Oval 2"/>
          <p:cNvSpPr>
            <a:spLocks noChangeArrowheads="1"/>
          </p:cNvSpPr>
          <p:nvPr/>
        </p:nvSpPr>
        <p:spPr bwMode="auto">
          <a:xfrm>
            <a:off x="2395538" y="25431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0596" name="Text Box 3"/>
          <p:cNvSpPr txBox="1">
            <a:spLocks noChangeArrowheads="1"/>
          </p:cNvSpPr>
          <p:nvPr/>
        </p:nvSpPr>
        <p:spPr bwMode="auto">
          <a:xfrm>
            <a:off x="2336800" y="26622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110597" name="Oval 4"/>
          <p:cNvSpPr>
            <a:spLocks noChangeArrowheads="1"/>
          </p:cNvSpPr>
          <p:nvPr/>
        </p:nvSpPr>
        <p:spPr bwMode="auto">
          <a:xfrm>
            <a:off x="1370013" y="376872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0598" name="Text Box 5"/>
          <p:cNvSpPr txBox="1">
            <a:spLocks noChangeArrowheads="1"/>
          </p:cNvSpPr>
          <p:nvPr/>
        </p:nvSpPr>
        <p:spPr bwMode="auto">
          <a:xfrm>
            <a:off x="1311275" y="388620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10599" name="Oval 6"/>
          <p:cNvSpPr>
            <a:spLocks noChangeArrowheads="1"/>
          </p:cNvSpPr>
          <p:nvPr/>
        </p:nvSpPr>
        <p:spPr bwMode="auto">
          <a:xfrm>
            <a:off x="685800" y="49942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0600" name="Text Box 7"/>
          <p:cNvSpPr txBox="1">
            <a:spLocks noChangeArrowheads="1"/>
          </p:cNvSpPr>
          <p:nvPr/>
        </p:nvSpPr>
        <p:spPr bwMode="auto">
          <a:xfrm>
            <a:off x="627063" y="511175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110601" name="Oval 8"/>
          <p:cNvSpPr>
            <a:spLocks noChangeArrowheads="1"/>
          </p:cNvSpPr>
          <p:nvPr/>
        </p:nvSpPr>
        <p:spPr bwMode="auto">
          <a:xfrm>
            <a:off x="1711325" y="49926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0602" name="Text Box 9"/>
          <p:cNvSpPr txBox="1">
            <a:spLocks noChangeArrowheads="1"/>
          </p:cNvSpPr>
          <p:nvPr/>
        </p:nvSpPr>
        <p:spPr bwMode="auto">
          <a:xfrm>
            <a:off x="1652588" y="511175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110603" name="Line 10"/>
          <p:cNvSpPr>
            <a:spLocks noChangeShapeType="1"/>
          </p:cNvSpPr>
          <p:nvPr/>
        </p:nvSpPr>
        <p:spPr bwMode="auto">
          <a:xfrm flipH="1">
            <a:off x="1198563" y="44688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0604" name="Line 11"/>
          <p:cNvSpPr>
            <a:spLocks noChangeShapeType="1"/>
          </p:cNvSpPr>
          <p:nvPr/>
        </p:nvSpPr>
        <p:spPr bwMode="auto">
          <a:xfrm>
            <a:off x="1711325" y="44688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0605" name="Oval 12"/>
          <p:cNvSpPr>
            <a:spLocks noChangeArrowheads="1"/>
          </p:cNvSpPr>
          <p:nvPr/>
        </p:nvSpPr>
        <p:spPr bwMode="auto">
          <a:xfrm>
            <a:off x="4448175" y="13176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0606" name="Text Box 13"/>
          <p:cNvSpPr txBox="1">
            <a:spLocks noChangeArrowheads="1"/>
          </p:cNvSpPr>
          <p:nvPr/>
        </p:nvSpPr>
        <p:spPr bwMode="auto">
          <a:xfrm>
            <a:off x="4389438" y="143668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110607" name="Line 14"/>
          <p:cNvSpPr>
            <a:spLocks noChangeShapeType="1"/>
          </p:cNvSpPr>
          <p:nvPr/>
        </p:nvSpPr>
        <p:spPr bwMode="auto">
          <a:xfrm>
            <a:off x="2909888" y="149383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0608" name="Oval 15"/>
          <p:cNvSpPr>
            <a:spLocks noChangeArrowheads="1"/>
          </p:cNvSpPr>
          <p:nvPr/>
        </p:nvSpPr>
        <p:spPr bwMode="auto">
          <a:xfrm>
            <a:off x="3422650" y="37687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0609" name="Line 16"/>
          <p:cNvSpPr>
            <a:spLocks noChangeShapeType="1"/>
          </p:cNvSpPr>
          <p:nvPr/>
        </p:nvSpPr>
        <p:spPr bwMode="auto">
          <a:xfrm flipH="1">
            <a:off x="1882775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0610" name="Line 17"/>
          <p:cNvSpPr>
            <a:spLocks noChangeShapeType="1"/>
          </p:cNvSpPr>
          <p:nvPr/>
        </p:nvSpPr>
        <p:spPr bwMode="auto">
          <a:xfrm>
            <a:off x="2909888" y="324326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0611" name="Oval 18"/>
          <p:cNvSpPr>
            <a:spLocks noChangeArrowheads="1"/>
          </p:cNvSpPr>
          <p:nvPr/>
        </p:nvSpPr>
        <p:spPr bwMode="auto">
          <a:xfrm>
            <a:off x="6500813" y="25431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0612" name="Text Box 19"/>
          <p:cNvSpPr txBox="1">
            <a:spLocks noChangeArrowheads="1"/>
          </p:cNvSpPr>
          <p:nvPr/>
        </p:nvSpPr>
        <p:spPr bwMode="auto">
          <a:xfrm>
            <a:off x="6442075" y="26622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endParaRPr lang="en-US" altLang="en-US" sz="2400"/>
          </a:p>
        </p:txBody>
      </p:sp>
      <p:sp>
        <p:nvSpPr>
          <p:cNvPr id="110613" name="Oval 20"/>
          <p:cNvSpPr>
            <a:spLocks noChangeArrowheads="1"/>
          </p:cNvSpPr>
          <p:nvPr/>
        </p:nvSpPr>
        <p:spPr bwMode="auto">
          <a:xfrm>
            <a:off x="5475288" y="376872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0614" name="Oval 21"/>
          <p:cNvSpPr>
            <a:spLocks noChangeArrowheads="1"/>
          </p:cNvSpPr>
          <p:nvPr/>
        </p:nvSpPr>
        <p:spPr bwMode="auto">
          <a:xfrm>
            <a:off x="7526338" y="37687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0615" name="Text Box 22"/>
          <p:cNvSpPr txBox="1">
            <a:spLocks noChangeArrowheads="1"/>
          </p:cNvSpPr>
          <p:nvPr/>
        </p:nvSpPr>
        <p:spPr bwMode="auto">
          <a:xfrm>
            <a:off x="7467600" y="38862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110616" name="Line 23"/>
          <p:cNvSpPr>
            <a:spLocks noChangeShapeType="1"/>
          </p:cNvSpPr>
          <p:nvPr/>
        </p:nvSpPr>
        <p:spPr bwMode="auto">
          <a:xfrm flipH="1">
            <a:off x="5988050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0617" name="Line 24"/>
          <p:cNvSpPr>
            <a:spLocks noChangeShapeType="1"/>
          </p:cNvSpPr>
          <p:nvPr/>
        </p:nvSpPr>
        <p:spPr bwMode="auto">
          <a:xfrm>
            <a:off x="7013575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0618" name="Line 25"/>
          <p:cNvSpPr>
            <a:spLocks noChangeShapeType="1"/>
          </p:cNvSpPr>
          <p:nvPr/>
        </p:nvSpPr>
        <p:spPr bwMode="auto">
          <a:xfrm flipH="1">
            <a:off x="3079750" y="184308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0619" name="Line 26"/>
          <p:cNvSpPr>
            <a:spLocks noChangeShapeType="1"/>
          </p:cNvSpPr>
          <p:nvPr/>
        </p:nvSpPr>
        <p:spPr bwMode="auto">
          <a:xfrm>
            <a:off x="5132388" y="184308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0620" name="Text Box 27"/>
          <p:cNvSpPr txBox="1">
            <a:spLocks noChangeArrowheads="1"/>
          </p:cNvSpPr>
          <p:nvPr/>
        </p:nvSpPr>
        <p:spPr bwMode="auto">
          <a:xfrm>
            <a:off x="1939925" y="114300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110621" name="Oval 28"/>
          <p:cNvSpPr>
            <a:spLocks noChangeArrowheads="1"/>
          </p:cNvSpPr>
          <p:nvPr/>
        </p:nvSpPr>
        <p:spPr bwMode="auto">
          <a:xfrm>
            <a:off x="3422650" y="376713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0622" name="Text Box 29"/>
          <p:cNvSpPr txBox="1">
            <a:spLocks noChangeArrowheads="1"/>
          </p:cNvSpPr>
          <p:nvPr/>
        </p:nvSpPr>
        <p:spPr bwMode="auto">
          <a:xfrm>
            <a:off x="3370263" y="390525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110623" name="Oval 30"/>
          <p:cNvSpPr>
            <a:spLocks noChangeArrowheads="1"/>
          </p:cNvSpPr>
          <p:nvPr/>
        </p:nvSpPr>
        <p:spPr bwMode="auto">
          <a:xfrm>
            <a:off x="2738438" y="49926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0624" name="Text Box 31"/>
          <p:cNvSpPr txBox="1">
            <a:spLocks noChangeArrowheads="1"/>
          </p:cNvSpPr>
          <p:nvPr/>
        </p:nvSpPr>
        <p:spPr bwMode="auto">
          <a:xfrm>
            <a:off x="2679700" y="510698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10625" name="Oval 32"/>
          <p:cNvSpPr>
            <a:spLocks noChangeArrowheads="1"/>
          </p:cNvSpPr>
          <p:nvPr/>
        </p:nvSpPr>
        <p:spPr bwMode="auto">
          <a:xfrm>
            <a:off x="3763963" y="49895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0626" name="Text Box 33"/>
          <p:cNvSpPr txBox="1">
            <a:spLocks noChangeArrowheads="1"/>
          </p:cNvSpPr>
          <p:nvPr/>
        </p:nvSpPr>
        <p:spPr bwMode="auto">
          <a:xfrm>
            <a:off x="3705225" y="5106988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110627" name="Line 34"/>
          <p:cNvSpPr>
            <a:spLocks noChangeShapeType="1"/>
          </p:cNvSpPr>
          <p:nvPr/>
        </p:nvSpPr>
        <p:spPr bwMode="auto">
          <a:xfrm flipH="1">
            <a:off x="3251200" y="446722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0628" name="Line 35"/>
          <p:cNvSpPr>
            <a:spLocks noChangeShapeType="1"/>
          </p:cNvSpPr>
          <p:nvPr/>
        </p:nvSpPr>
        <p:spPr bwMode="auto">
          <a:xfrm>
            <a:off x="3763963" y="4467225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0629" name="Oval 36"/>
          <p:cNvSpPr>
            <a:spLocks noChangeArrowheads="1"/>
          </p:cNvSpPr>
          <p:nvPr/>
        </p:nvSpPr>
        <p:spPr bwMode="auto">
          <a:xfrm>
            <a:off x="5475288" y="376713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0630" name="Text Box 37"/>
          <p:cNvSpPr txBox="1">
            <a:spLocks noChangeArrowheads="1"/>
          </p:cNvSpPr>
          <p:nvPr/>
        </p:nvSpPr>
        <p:spPr bwMode="auto">
          <a:xfrm>
            <a:off x="5427663" y="390525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endParaRPr lang="en-US" altLang="en-US" sz="2400"/>
          </a:p>
        </p:txBody>
      </p:sp>
      <p:sp>
        <p:nvSpPr>
          <p:cNvPr id="110631" name="Rectangle 3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Enqueue (cont.)</a:t>
            </a:r>
          </a:p>
        </p:txBody>
      </p:sp>
      <p:sp>
        <p:nvSpPr>
          <p:cNvPr id="110632" name="Text Box 39"/>
          <p:cNvSpPr txBox="1">
            <a:spLocks noChangeArrowheads="1"/>
          </p:cNvSpPr>
          <p:nvPr/>
        </p:nvSpPr>
        <p:spPr bwMode="auto">
          <a:xfrm>
            <a:off x="3962400" y="24384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  <p:sp>
        <p:nvSpPr>
          <p:cNvPr id="110633" name="Oval 40"/>
          <p:cNvSpPr>
            <a:spLocks noChangeArrowheads="1"/>
          </p:cNvSpPr>
          <p:nvPr/>
        </p:nvSpPr>
        <p:spPr bwMode="auto">
          <a:xfrm>
            <a:off x="4800600" y="5029200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0634" name="Line 41"/>
          <p:cNvSpPr>
            <a:spLocks noChangeShapeType="1"/>
          </p:cNvSpPr>
          <p:nvPr/>
        </p:nvSpPr>
        <p:spPr bwMode="auto">
          <a:xfrm flipH="1">
            <a:off x="5313363" y="4503738"/>
            <a:ext cx="341312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0635" name="Text Box 42"/>
          <p:cNvSpPr txBox="1">
            <a:spLocks noChangeArrowheads="1"/>
          </p:cNvSpPr>
          <p:nvPr/>
        </p:nvSpPr>
        <p:spPr bwMode="auto">
          <a:xfrm>
            <a:off x="4876800" y="51054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24</a:t>
            </a:r>
          </a:p>
        </p:txBody>
      </p:sp>
      <p:sp>
        <p:nvSpPr>
          <p:cNvPr id="110636" name="Text Box 43"/>
          <p:cNvSpPr txBox="1">
            <a:spLocks noChangeArrowheads="1"/>
          </p:cNvSpPr>
          <p:nvPr/>
        </p:nvSpPr>
        <p:spPr bwMode="auto">
          <a:xfrm>
            <a:off x="6553200" y="2667000"/>
            <a:ext cx="1143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28</a:t>
            </a:r>
          </a:p>
        </p:txBody>
      </p:sp>
      <p:sp>
        <p:nvSpPr>
          <p:cNvPr id="110637" name="Text Box 44"/>
          <p:cNvSpPr txBox="1">
            <a:spLocks noChangeArrowheads="1"/>
          </p:cNvSpPr>
          <p:nvPr/>
        </p:nvSpPr>
        <p:spPr bwMode="auto">
          <a:xfrm>
            <a:off x="5562600" y="38862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28</a:t>
            </a:r>
          </a:p>
        </p:txBody>
      </p:sp>
      <p:sp>
        <p:nvSpPr>
          <p:cNvPr id="110638" name="Text Box 45"/>
          <p:cNvSpPr txBox="1">
            <a:spLocks noChangeArrowheads="1"/>
          </p:cNvSpPr>
          <p:nvPr/>
        </p:nvSpPr>
        <p:spPr bwMode="auto">
          <a:xfrm>
            <a:off x="5715000" y="1295400"/>
            <a:ext cx="3276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value to enqueue: 37</a:t>
            </a:r>
          </a:p>
        </p:txBody>
      </p:sp>
      <p:sp>
        <p:nvSpPr>
          <p:cNvPr id="110639" name="Text Box 46"/>
          <p:cNvSpPr txBox="1">
            <a:spLocks noChangeArrowheads="1"/>
          </p:cNvSpPr>
          <p:nvPr/>
        </p:nvSpPr>
        <p:spPr bwMode="auto">
          <a:xfrm>
            <a:off x="5867400" y="4572000"/>
            <a:ext cx="31242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This time we shouldn’t swap…</a:t>
            </a: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A00C7101-7079-4E6F-8969-6F18B3210CD2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110</a:t>
            </a:fld>
            <a:endParaRPr lang="en-US" altLang="en-US" sz="1400"/>
          </a:p>
        </p:txBody>
      </p:sp>
      <p:sp>
        <p:nvSpPr>
          <p:cNvPr id="111619" name="Oval 2"/>
          <p:cNvSpPr>
            <a:spLocks noChangeArrowheads="1"/>
          </p:cNvSpPr>
          <p:nvPr/>
        </p:nvSpPr>
        <p:spPr bwMode="auto">
          <a:xfrm>
            <a:off x="2395538" y="25431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2336800" y="26622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111621" name="Oval 4"/>
          <p:cNvSpPr>
            <a:spLocks noChangeArrowheads="1"/>
          </p:cNvSpPr>
          <p:nvPr/>
        </p:nvSpPr>
        <p:spPr bwMode="auto">
          <a:xfrm>
            <a:off x="1370013" y="376872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1622" name="Text Box 5"/>
          <p:cNvSpPr txBox="1">
            <a:spLocks noChangeArrowheads="1"/>
          </p:cNvSpPr>
          <p:nvPr/>
        </p:nvSpPr>
        <p:spPr bwMode="auto">
          <a:xfrm>
            <a:off x="1311275" y="388620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11623" name="Oval 6"/>
          <p:cNvSpPr>
            <a:spLocks noChangeArrowheads="1"/>
          </p:cNvSpPr>
          <p:nvPr/>
        </p:nvSpPr>
        <p:spPr bwMode="auto">
          <a:xfrm>
            <a:off x="685800" y="49942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1624" name="Text Box 7"/>
          <p:cNvSpPr txBox="1">
            <a:spLocks noChangeArrowheads="1"/>
          </p:cNvSpPr>
          <p:nvPr/>
        </p:nvSpPr>
        <p:spPr bwMode="auto">
          <a:xfrm>
            <a:off x="627063" y="511175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111625" name="Oval 8"/>
          <p:cNvSpPr>
            <a:spLocks noChangeArrowheads="1"/>
          </p:cNvSpPr>
          <p:nvPr/>
        </p:nvSpPr>
        <p:spPr bwMode="auto">
          <a:xfrm>
            <a:off x="1711325" y="49926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1626" name="Text Box 9"/>
          <p:cNvSpPr txBox="1">
            <a:spLocks noChangeArrowheads="1"/>
          </p:cNvSpPr>
          <p:nvPr/>
        </p:nvSpPr>
        <p:spPr bwMode="auto">
          <a:xfrm>
            <a:off x="1652588" y="511175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111627" name="Line 10"/>
          <p:cNvSpPr>
            <a:spLocks noChangeShapeType="1"/>
          </p:cNvSpPr>
          <p:nvPr/>
        </p:nvSpPr>
        <p:spPr bwMode="auto">
          <a:xfrm flipH="1">
            <a:off x="1198563" y="44688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1628" name="Line 11"/>
          <p:cNvSpPr>
            <a:spLocks noChangeShapeType="1"/>
          </p:cNvSpPr>
          <p:nvPr/>
        </p:nvSpPr>
        <p:spPr bwMode="auto">
          <a:xfrm>
            <a:off x="1711325" y="44688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1629" name="Oval 12"/>
          <p:cNvSpPr>
            <a:spLocks noChangeArrowheads="1"/>
          </p:cNvSpPr>
          <p:nvPr/>
        </p:nvSpPr>
        <p:spPr bwMode="auto">
          <a:xfrm>
            <a:off x="4448175" y="13176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1630" name="Text Box 13"/>
          <p:cNvSpPr txBox="1">
            <a:spLocks noChangeArrowheads="1"/>
          </p:cNvSpPr>
          <p:nvPr/>
        </p:nvSpPr>
        <p:spPr bwMode="auto">
          <a:xfrm>
            <a:off x="4389438" y="143668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111631" name="Line 14"/>
          <p:cNvSpPr>
            <a:spLocks noChangeShapeType="1"/>
          </p:cNvSpPr>
          <p:nvPr/>
        </p:nvSpPr>
        <p:spPr bwMode="auto">
          <a:xfrm>
            <a:off x="2909888" y="149383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1632" name="Oval 15"/>
          <p:cNvSpPr>
            <a:spLocks noChangeArrowheads="1"/>
          </p:cNvSpPr>
          <p:nvPr/>
        </p:nvSpPr>
        <p:spPr bwMode="auto">
          <a:xfrm>
            <a:off x="3422650" y="37687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1633" name="Line 16"/>
          <p:cNvSpPr>
            <a:spLocks noChangeShapeType="1"/>
          </p:cNvSpPr>
          <p:nvPr/>
        </p:nvSpPr>
        <p:spPr bwMode="auto">
          <a:xfrm flipH="1">
            <a:off x="1882775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1634" name="Line 17"/>
          <p:cNvSpPr>
            <a:spLocks noChangeShapeType="1"/>
          </p:cNvSpPr>
          <p:nvPr/>
        </p:nvSpPr>
        <p:spPr bwMode="auto">
          <a:xfrm>
            <a:off x="2909888" y="324326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1635" name="Oval 18"/>
          <p:cNvSpPr>
            <a:spLocks noChangeArrowheads="1"/>
          </p:cNvSpPr>
          <p:nvPr/>
        </p:nvSpPr>
        <p:spPr bwMode="auto">
          <a:xfrm>
            <a:off x="6500813" y="25431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1636" name="Text Box 19"/>
          <p:cNvSpPr txBox="1">
            <a:spLocks noChangeArrowheads="1"/>
          </p:cNvSpPr>
          <p:nvPr/>
        </p:nvSpPr>
        <p:spPr bwMode="auto">
          <a:xfrm>
            <a:off x="6442075" y="26622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endParaRPr lang="en-US" altLang="en-US" sz="2400"/>
          </a:p>
        </p:txBody>
      </p:sp>
      <p:sp>
        <p:nvSpPr>
          <p:cNvPr id="111637" name="Oval 20"/>
          <p:cNvSpPr>
            <a:spLocks noChangeArrowheads="1"/>
          </p:cNvSpPr>
          <p:nvPr/>
        </p:nvSpPr>
        <p:spPr bwMode="auto">
          <a:xfrm>
            <a:off x="5475288" y="376872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1638" name="Oval 21"/>
          <p:cNvSpPr>
            <a:spLocks noChangeArrowheads="1"/>
          </p:cNvSpPr>
          <p:nvPr/>
        </p:nvSpPr>
        <p:spPr bwMode="auto">
          <a:xfrm>
            <a:off x="7526338" y="37687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1639" name="Text Box 22"/>
          <p:cNvSpPr txBox="1">
            <a:spLocks noChangeArrowheads="1"/>
          </p:cNvSpPr>
          <p:nvPr/>
        </p:nvSpPr>
        <p:spPr bwMode="auto">
          <a:xfrm>
            <a:off x="7467600" y="38862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111640" name="Line 23"/>
          <p:cNvSpPr>
            <a:spLocks noChangeShapeType="1"/>
          </p:cNvSpPr>
          <p:nvPr/>
        </p:nvSpPr>
        <p:spPr bwMode="auto">
          <a:xfrm flipH="1">
            <a:off x="5988050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1641" name="Line 24"/>
          <p:cNvSpPr>
            <a:spLocks noChangeShapeType="1"/>
          </p:cNvSpPr>
          <p:nvPr/>
        </p:nvSpPr>
        <p:spPr bwMode="auto">
          <a:xfrm>
            <a:off x="7013575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1642" name="Line 25"/>
          <p:cNvSpPr>
            <a:spLocks noChangeShapeType="1"/>
          </p:cNvSpPr>
          <p:nvPr/>
        </p:nvSpPr>
        <p:spPr bwMode="auto">
          <a:xfrm flipH="1">
            <a:off x="3079750" y="184308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1643" name="Line 26"/>
          <p:cNvSpPr>
            <a:spLocks noChangeShapeType="1"/>
          </p:cNvSpPr>
          <p:nvPr/>
        </p:nvSpPr>
        <p:spPr bwMode="auto">
          <a:xfrm>
            <a:off x="5132388" y="184308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1644" name="Text Box 27"/>
          <p:cNvSpPr txBox="1">
            <a:spLocks noChangeArrowheads="1"/>
          </p:cNvSpPr>
          <p:nvPr/>
        </p:nvSpPr>
        <p:spPr bwMode="auto">
          <a:xfrm>
            <a:off x="1939925" y="114300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111645" name="Oval 28"/>
          <p:cNvSpPr>
            <a:spLocks noChangeArrowheads="1"/>
          </p:cNvSpPr>
          <p:nvPr/>
        </p:nvSpPr>
        <p:spPr bwMode="auto">
          <a:xfrm>
            <a:off x="3422650" y="376713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1646" name="Text Box 29"/>
          <p:cNvSpPr txBox="1">
            <a:spLocks noChangeArrowheads="1"/>
          </p:cNvSpPr>
          <p:nvPr/>
        </p:nvSpPr>
        <p:spPr bwMode="auto">
          <a:xfrm>
            <a:off x="3370263" y="390525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111647" name="Oval 30"/>
          <p:cNvSpPr>
            <a:spLocks noChangeArrowheads="1"/>
          </p:cNvSpPr>
          <p:nvPr/>
        </p:nvSpPr>
        <p:spPr bwMode="auto">
          <a:xfrm>
            <a:off x="2738438" y="49926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1648" name="Text Box 31"/>
          <p:cNvSpPr txBox="1">
            <a:spLocks noChangeArrowheads="1"/>
          </p:cNvSpPr>
          <p:nvPr/>
        </p:nvSpPr>
        <p:spPr bwMode="auto">
          <a:xfrm>
            <a:off x="2679700" y="510698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11649" name="Oval 32"/>
          <p:cNvSpPr>
            <a:spLocks noChangeArrowheads="1"/>
          </p:cNvSpPr>
          <p:nvPr/>
        </p:nvSpPr>
        <p:spPr bwMode="auto">
          <a:xfrm>
            <a:off x="3763963" y="49895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1650" name="Text Box 33"/>
          <p:cNvSpPr txBox="1">
            <a:spLocks noChangeArrowheads="1"/>
          </p:cNvSpPr>
          <p:nvPr/>
        </p:nvSpPr>
        <p:spPr bwMode="auto">
          <a:xfrm>
            <a:off x="3705225" y="5106988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111651" name="Line 34"/>
          <p:cNvSpPr>
            <a:spLocks noChangeShapeType="1"/>
          </p:cNvSpPr>
          <p:nvPr/>
        </p:nvSpPr>
        <p:spPr bwMode="auto">
          <a:xfrm flipH="1">
            <a:off x="3251200" y="446722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1652" name="Line 35"/>
          <p:cNvSpPr>
            <a:spLocks noChangeShapeType="1"/>
          </p:cNvSpPr>
          <p:nvPr/>
        </p:nvSpPr>
        <p:spPr bwMode="auto">
          <a:xfrm>
            <a:off x="3763963" y="4467225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1653" name="Oval 36"/>
          <p:cNvSpPr>
            <a:spLocks noChangeArrowheads="1"/>
          </p:cNvSpPr>
          <p:nvPr/>
        </p:nvSpPr>
        <p:spPr bwMode="auto">
          <a:xfrm>
            <a:off x="5475288" y="376713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1654" name="Text Box 37"/>
          <p:cNvSpPr txBox="1">
            <a:spLocks noChangeArrowheads="1"/>
          </p:cNvSpPr>
          <p:nvPr/>
        </p:nvSpPr>
        <p:spPr bwMode="auto">
          <a:xfrm>
            <a:off x="5427663" y="390525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endParaRPr lang="en-US" altLang="en-US" sz="2400"/>
          </a:p>
        </p:txBody>
      </p:sp>
      <p:sp>
        <p:nvSpPr>
          <p:cNvPr id="111655" name="Rectangle 3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Enqueue (cont.)</a:t>
            </a:r>
          </a:p>
        </p:txBody>
      </p:sp>
      <p:sp>
        <p:nvSpPr>
          <p:cNvPr id="111656" name="Text Box 39"/>
          <p:cNvSpPr txBox="1">
            <a:spLocks noChangeArrowheads="1"/>
          </p:cNvSpPr>
          <p:nvPr/>
        </p:nvSpPr>
        <p:spPr bwMode="auto">
          <a:xfrm>
            <a:off x="3962400" y="24384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  <p:sp>
        <p:nvSpPr>
          <p:cNvPr id="111657" name="Oval 40"/>
          <p:cNvSpPr>
            <a:spLocks noChangeArrowheads="1"/>
          </p:cNvSpPr>
          <p:nvPr/>
        </p:nvSpPr>
        <p:spPr bwMode="auto">
          <a:xfrm>
            <a:off x="4800600" y="5029200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1658" name="Line 41"/>
          <p:cNvSpPr>
            <a:spLocks noChangeShapeType="1"/>
          </p:cNvSpPr>
          <p:nvPr/>
        </p:nvSpPr>
        <p:spPr bwMode="auto">
          <a:xfrm flipH="1">
            <a:off x="5313363" y="4503738"/>
            <a:ext cx="341312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1659" name="Text Box 42"/>
          <p:cNvSpPr txBox="1">
            <a:spLocks noChangeArrowheads="1"/>
          </p:cNvSpPr>
          <p:nvPr/>
        </p:nvSpPr>
        <p:spPr bwMode="auto">
          <a:xfrm>
            <a:off x="4876800" y="51054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24</a:t>
            </a:r>
          </a:p>
        </p:txBody>
      </p:sp>
      <p:sp>
        <p:nvSpPr>
          <p:cNvPr id="111660" name="Text Box 43"/>
          <p:cNvSpPr txBox="1">
            <a:spLocks noChangeArrowheads="1"/>
          </p:cNvSpPr>
          <p:nvPr/>
        </p:nvSpPr>
        <p:spPr bwMode="auto">
          <a:xfrm>
            <a:off x="6553200" y="2667000"/>
            <a:ext cx="1143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37</a:t>
            </a:r>
          </a:p>
        </p:txBody>
      </p:sp>
      <p:sp>
        <p:nvSpPr>
          <p:cNvPr id="111661" name="Text Box 44"/>
          <p:cNvSpPr txBox="1">
            <a:spLocks noChangeArrowheads="1"/>
          </p:cNvSpPr>
          <p:nvPr/>
        </p:nvSpPr>
        <p:spPr bwMode="auto">
          <a:xfrm>
            <a:off x="5562600" y="38862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28</a:t>
            </a:r>
          </a:p>
        </p:txBody>
      </p:sp>
      <p:sp>
        <p:nvSpPr>
          <p:cNvPr id="111662" name="Text Box 45"/>
          <p:cNvSpPr txBox="1">
            <a:spLocks noChangeArrowheads="1"/>
          </p:cNvSpPr>
          <p:nvPr/>
        </p:nvSpPr>
        <p:spPr bwMode="auto">
          <a:xfrm>
            <a:off x="5715000" y="1295400"/>
            <a:ext cx="3276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value to enqueue: 37</a:t>
            </a:r>
          </a:p>
        </p:txBody>
      </p:sp>
      <p:sp>
        <p:nvSpPr>
          <p:cNvPr id="111663" name="Text Box 46"/>
          <p:cNvSpPr txBox="1">
            <a:spLocks noChangeArrowheads="1"/>
          </p:cNvSpPr>
          <p:nvPr/>
        </p:nvSpPr>
        <p:spPr bwMode="auto">
          <a:xfrm>
            <a:off x="5867400" y="4572000"/>
            <a:ext cx="31242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but we have one final assignment</a:t>
            </a:r>
          </a:p>
        </p:txBody>
      </p:sp>
      <p:sp>
        <p:nvSpPr>
          <p:cNvPr id="111664" name="Line 47"/>
          <p:cNvSpPr>
            <a:spLocks noChangeShapeType="1"/>
          </p:cNvSpPr>
          <p:nvPr/>
        </p:nvSpPr>
        <p:spPr bwMode="auto">
          <a:xfrm flipH="1">
            <a:off x="7010400" y="1752600"/>
            <a:ext cx="1600200" cy="990600"/>
          </a:xfrm>
          <a:prstGeom prst="line">
            <a:avLst/>
          </a:prstGeom>
          <a:noFill/>
          <a:ln w="57150" cap="rnd">
            <a:solidFill>
              <a:schemeClr val="hlink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FC393CCE-DCE0-44AD-A9A6-F4393083740B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111</a:t>
            </a:fld>
            <a:endParaRPr lang="en-US" altLang="en-US" sz="1400"/>
          </a:p>
        </p:txBody>
      </p:sp>
      <p:sp>
        <p:nvSpPr>
          <p:cNvPr id="112643" name="Oval 2"/>
          <p:cNvSpPr>
            <a:spLocks noChangeArrowheads="1"/>
          </p:cNvSpPr>
          <p:nvPr/>
        </p:nvSpPr>
        <p:spPr bwMode="auto">
          <a:xfrm>
            <a:off x="2395538" y="25431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2644" name="Text Box 3"/>
          <p:cNvSpPr txBox="1">
            <a:spLocks noChangeArrowheads="1"/>
          </p:cNvSpPr>
          <p:nvPr/>
        </p:nvSpPr>
        <p:spPr bwMode="auto">
          <a:xfrm>
            <a:off x="2336800" y="26622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112645" name="Oval 4"/>
          <p:cNvSpPr>
            <a:spLocks noChangeArrowheads="1"/>
          </p:cNvSpPr>
          <p:nvPr/>
        </p:nvSpPr>
        <p:spPr bwMode="auto">
          <a:xfrm>
            <a:off x="1370013" y="376872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2646" name="Text Box 5"/>
          <p:cNvSpPr txBox="1">
            <a:spLocks noChangeArrowheads="1"/>
          </p:cNvSpPr>
          <p:nvPr/>
        </p:nvSpPr>
        <p:spPr bwMode="auto">
          <a:xfrm>
            <a:off x="1311275" y="388620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12647" name="Oval 6"/>
          <p:cNvSpPr>
            <a:spLocks noChangeArrowheads="1"/>
          </p:cNvSpPr>
          <p:nvPr/>
        </p:nvSpPr>
        <p:spPr bwMode="auto">
          <a:xfrm>
            <a:off x="685800" y="49942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2648" name="Text Box 7"/>
          <p:cNvSpPr txBox="1">
            <a:spLocks noChangeArrowheads="1"/>
          </p:cNvSpPr>
          <p:nvPr/>
        </p:nvSpPr>
        <p:spPr bwMode="auto">
          <a:xfrm>
            <a:off x="627063" y="511175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112649" name="Oval 8"/>
          <p:cNvSpPr>
            <a:spLocks noChangeArrowheads="1"/>
          </p:cNvSpPr>
          <p:nvPr/>
        </p:nvSpPr>
        <p:spPr bwMode="auto">
          <a:xfrm>
            <a:off x="1711325" y="49926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2650" name="Text Box 9"/>
          <p:cNvSpPr txBox="1">
            <a:spLocks noChangeArrowheads="1"/>
          </p:cNvSpPr>
          <p:nvPr/>
        </p:nvSpPr>
        <p:spPr bwMode="auto">
          <a:xfrm>
            <a:off x="1652588" y="511175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112651" name="Line 10"/>
          <p:cNvSpPr>
            <a:spLocks noChangeShapeType="1"/>
          </p:cNvSpPr>
          <p:nvPr/>
        </p:nvSpPr>
        <p:spPr bwMode="auto">
          <a:xfrm flipH="1">
            <a:off x="1198563" y="44688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2652" name="Line 11"/>
          <p:cNvSpPr>
            <a:spLocks noChangeShapeType="1"/>
          </p:cNvSpPr>
          <p:nvPr/>
        </p:nvSpPr>
        <p:spPr bwMode="auto">
          <a:xfrm>
            <a:off x="1711325" y="44688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2653" name="Oval 12"/>
          <p:cNvSpPr>
            <a:spLocks noChangeArrowheads="1"/>
          </p:cNvSpPr>
          <p:nvPr/>
        </p:nvSpPr>
        <p:spPr bwMode="auto">
          <a:xfrm>
            <a:off x="4448175" y="13176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2654" name="Text Box 13"/>
          <p:cNvSpPr txBox="1">
            <a:spLocks noChangeArrowheads="1"/>
          </p:cNvSpPr>
          <p:nvPr/>
        </p:nvSpPr>
        <p:spPr bwMode="auto">
          <a:xfrm>
            <a:off x="4389438" y="143668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112655" name="Line 14"/>
          <p:cNvSpPr>
            <a:spLocks noChangeShapeType="1"/>
          </p:cNvSpPr>
          <p:nvPr/>
        </p:nvSpPr>
        <p:spPr bwMode="auto">
          <a:xfrm>
            <a:off x="2909888" y="149383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2656" name="Oval 15"/>
          <p:cNvSpPr>
            <a:spLocks noChangeArrowheads="1"/>
          </p:cNvSpPr>
          <p:nvPr/>
        </p:nvSpPr>
        <p:spPr bwMode="auto">
          <a:xfrm>
            <a:off x="3422650" y="37687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2657" name="Line 16"/>
          <p:cNvSpPr>
            <a:spLocks noChangeShapeType="1"/>
          </p:cNvSpPr>
          <p:nvPr/>
        </p:nvSpPr>
        <p:spPr bwMode="auto">
          <a:xfrm flipH="1">
            <a:off x="1882775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2658" name="Line 17"/>
          <p:cNvSpPr>
            <a:spLocks noChangeShapeType="1"/>
          </p:cNvSpPr>
          <p:nvPr/>
        </p:nvSpPr>
        <p:spPr bwMode="auto">
          <a:xfrm>
            <a:off x="2909888" y="324326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2659" name="Oval 18"/>
          <p:cNvSpPr>
            <a:spLocks noChangeArrowheads="1"/>
          </p:cNvSpPr>
          <p:nvPr/>
        </p:nvSpPr>
        <p:spPr bwMode="auto">
          <a:xfrm>
            <a:off x="6500813" y="25431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2660" name="Text Box 19"/>
          <p:cNvSpPr txBox="1">
            <a:spLocks noChangeArrowheads="1"/>
          </p:cNvSpPr>
          <p:nvPr/>
        </p:nvSpPr>
        <p:spPr bwMode="auto">
          <a:xfrm>
            <a:off x="6442075" y="26622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endParaRPr lang="en-US" altLang="en-US" sz="2400"/>
          </a:p>
        </p:txBody>
      </p:sp>
      <p:sp>
        <p:nvSpPr>
          <p:cNvPr id="112661" name="Oval 20"/>
          <p:cNvSpPr>
            <a:spLocks noChangeArrowheads="1"/>
          </p:cNvSpPr>
          <p:nvPr/>
        </p:nvSpPr>
        <p:spPr bwMode="auto">
          <a:xfrm>
            <a:off x="5475288" y="376872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2662" name="Oval 21"/>
          <p:cNvSpPr>
            <a:spLocks noChangeArrowheads="1"/>
          </p:cNvSpPr>
          <p:nvPr/>
        </p:nvSpPr>
        <p:spPr bwMode="auto">
          <a:xfrm>
            <a:off x="7526338" y="37687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2663" name="Text Box 22"/>
          <p:cNvSpPr txBox="1">
            <a:spLocks noChangeArrowheads="1"/>
          </p:cNvSpPr>
          <p:nvPr/>
        </p:nvSpPr>
        <p:spPr bwMode="auto">
          <a:xfrm>
            <a:off x="7467600" y="38862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112664" name="Line 23"/>
          <p:cNvSpPr>
            <a:spLocks noChangeShapeType="1"/>
          </p:cNvSpPr>
          <p:nvPr/>
        </p:nvSpPr>
        <p:spPr bwMode="auto">
          <a:xfrm flipH="1">
            <a:off x="5988050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2665" name="Line 24"/>
          <p:cNvSpPr>
            <a:spLocks noChangeShapeType="1"/>
          </p:cNvSpPr>
          <p:nvPr/>
        </p:nvSpPr>
        <p:spPr bwMode="auto">
          <a:xfrm>
            <a:off x="7013575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2666" name="Line 25"/>
          <p:cNvSpPr>
            <a:spLocks noChangeShapeType="1"/>
          </p:cNvSpPr>
          <p:nvPr/>
        </p:nvSpPr>
        <p:spPr bwMode="auto">
          <a:xfrm flipH="1">
            <a:off x="3079750" y="184308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2667" name="Line 26"/>
          <p:cNvSpPr>
            <a:spLocks noChangeShapeType="1"/>
          </p:cNvSpPr>
          <p:nvPr/>
        </p:nvSpPr>
        <p:spPr bwMode="auto">
          <a:xfrm>
            <a:off x="5132388" y="184308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2668" name="Text Box 27"/>
          <p:cNvSpPr txBox="1">
            <a:spLocks noChangeArrowheads="1"/>
          </p:cNvSpPr>
          <p:nvPr/>
        </p:nvSpPr>
        <p:spPr bwMode="auto">
          <a:xfrm>
            <a:off x="1939925" y="114300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112669" name="Oval 28"/>
          <p:cNvSpPr>
            <a:spLocks noChangeArrowheads="1"/>
          </p:cNvSpPr>
          <p:nvPr/>
        </p:nvSpPr>
        <p:spPr bwMode="auto">
          <a:xfrm>
            <a:off x="3422650" y="376713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2670" name="Text Box 29"/>
          <p:cNvSpPr txBox="1">
            <a:spLocks noChangeArrowheads="1"/>
          </p:cNvSpPr>
          <p:nvPr/>
        </p:nvSpPr>
        <p:spPr bwMode="auto">
          <a:xfrm>
            <a:off x="3370263" y="390525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112671" name="Oval 30"/>
          <p:cNvSpPr>
            <a:spLocks noChangeArrowheads="1"/>
          </p:cNvSpPr>
          <p:nvPr/>
        </p:nvSpPr>
        <p:spPr bwMode="auto">
          <a:xfrm>
            <a:off x="2738438" y="49926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2672" name="Text Box 31"/>
          <p:cNvSpPr txBox="1">
            <a:spLocks noChangeArrowheads="1"/>
          </p:cNvSpPr>
          <p:nvPr/>
        </p:nvSpPr>
        <p:spPr bwMode="auto">
          <a:xfrm>
            <a:off x="2679700" y="510698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12673" name="Oval 32"/>
          <p:cNvSpPr>
            <a:spLocks noChangeArrowheads="1"/>
          </p:cNvSpPr>
          <p:nvPr/>
        </p:nvSpPr>
        <p:spPr bwMode="auto">
          <a:xfrm>
            <a:off x="3763963" y="49895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2674" name="Text Box 33"/>
          <p:cNvSpPr txBox="1">
            <a:spLocks noChangeArrowheads="1"/>
          </p:cNvSpPr>
          <p:nvPr/>
        </p:nvSpPr>
        <p:spPr bwMode="auto">
          <a:xfrm>
            <a:off x="3705225" y="5106988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112675" name="Line 34"/>
          <p:cNvSpPr>
            <a:spLocks noChangeShapeType="1"/>
          </p:cNvSpPr>
          <p:nvPr/>
        </p:nvSpPr>
        <p:spPr bwMode="auto">
          <a:xfrm flipH="1">
            <a:off x="3251200" y="446722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2676" name="Line 35"/>
          <p:cNvSpPr>
            <a:spLocks noChangeShapeType="1"/>
          </p:cNvSpPr>
          <p:nvPr/>
        </p:nvSpPr>
        <p:spPr bwMode="auto">
          <a:xfrm>
            <a:off x="3763963" y="4467225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2677" name="Oval 36"/>
          <p:cNvSpPr>
            <a:spLocks noChangeArrowheads="1"/>
          </p:cNvSpPr>
          <p:nvPr/>
        </p:nvSpPr>
        <p:spPr bwMode="auto">
          <a:xfrm>
            <a:off x="5475288" y="376713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2678" name="Text Box 37"/>
          <p:cNvSpPr txBox="1">
            <a:spLocks noChangeArrowheads="1"/>
          </p:cNvSpPr>
          <p:nvPr/>
        </p:nvSpPr>
        <p:spPr bwMode="auto">
          <a:xfrm>
            <a:off x="5427663" y="390525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endParaRPr lang="en-US" altLang="en-US" sz="2400"/>
          </a:p>
        </p:txBody>
      </p:sp>
      <p:sp>
        <p:nvSpPr>
          <p:cNvPr id="112679" name="Rectangle 3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Enqueue (cont.)</a:t>
            </a:r>
          </a:p>
        </p:txBody>
      </p:sp>
      <p:sp>
        <p:nvSpPr>
          <p:cNvPr id="112680" name="Text Box 39"/>
          <p:cNvSpPr txBox="1">
            <a:spLocks noChangeArrowheads="1"/>
          </p:cNvSpPr>
          <p:nvPr/>
        </p:nvSpPr>
        <p:spPr bwMode="auto">
          <a:xfrm>
            <a:off x="3962400" y="24384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  <p:sp>
        <p:nvSpPr>
          <p:cNvPr id="112681" name="Oval 40"/>
          <p:cNvSpPr>
            <a:spLocks noChangeArrowheads="1"/>
          </p:cNvSpPr>
          <p:nvPr/>
        </p:nvSpPr>
        <p:spPr bwMode="auto">
          <a:xfrm>
            <a:off x="4800600" y="5029200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2682" name="Line 41"/>
          <p:cNvSpPr>
            <a:spLocks noChangeShapeType="1"/>
          </p:cNvSpPr>
          <p:nvPr/>
        </p:nvSpPr>
        <p:spPr bwMode="auto">
          <a:xfrm flipH="1">
            <a:off x="5313363" y="4503738"/>
            <a:ext cx="341312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2683" name="Text Box 42"/>
          <p:cNvSpPr txBox="1">
            <a:spLocks noChangeArrowheads="1"/>
          </p:cNvSpPr>
          <p:nvPr/>
        </p:nvSpPr>
        <p:spPr bwMode="auto">
          <a:xfrm>
            <a:off x="4876800" y="51054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24</a:t>
            </a:r>
          </a:p>
        </p:txBody>
      </p:sp>
      <p:sp>
        <p:nvSpPr>
          <p:cNvPr id="112684" name="Text Box 43"/>
          <p:cNvSpPr txBox="1">
            <a:spLocks noChangeArrowheads="1"/>
          </p:cNvSpPr>
          <p:nvPr/>
        </p:nvSpPr>
        <p:spPr bwMode="auto">
          <a:xfrm>
            <a:off x="6553200" y="2667000"/>
            <a:ext cx="1143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37</a:t>
            </a:r>
          </a:p>
        </p:txBody>
      </p:sp>
      <p:sp>
        <p:nvSpPr>
          <p:cNvPr id="112685" name="Text Box 44"/>
          <p:cNvSpPr txBox="1">
            <a:spLocks noChangeArrowheads="1"/>
          </p:cNvSpPr>
          <p:nvPr/>
        </p:nvSpPr>
        <p:spPr bwMode="auto">
          <a:xfrm>
            <a:off x="5562600" y="38862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28</a:t>
            </a:r>
          </a:p>
        </p:txBody>
      </p:sp>
      <p:sp>
        <p:nvSpPr>
          <p:cNvPr id="112686" name="Text Box 45"/>
          <p:cNvSpPr txBox="1">
            <a:spLocks noChangeArrowheads="1"/>
          </p:cNvSpPr>
          <p:nvPr/>
        </p:nvSpPr>
        <p:spPr bwMode="auto">
          <a:xfrm>
            <a:off x="5715000" y="1295400"/>
            <a:ext cx="3276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value to enqueue: 37</a:t>
            </a:r>
          </a:p>
        </p:txBody>
      </p:sp>
      <p:sp>
        <p:nvSpPr>
          <p:cNvPr id="112687" name="Text Box 46"/>
          <p:cNvSpPr txBox="1">
            <a:spLocks noChangeArrowheads="1"/>
          </p:cNvSpPr>
          <p:nvPr/>
        </p:nvSpPr>
        <p:spPr bwMode="auto">
          <a:xfrm>
            <a:off x="5867400" y="4572000"/>
            <a:ext cx="21336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(we can stop pretending)</a:t>
            </a: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35B6E400-14DA-4833-8C64-A57907F52344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112</a:t>
            </a:fld>
            <a:endParaRPr lang="en-US" altLang="en-US" sz="1400"/>
          </a:p>
        </p:txBody>
      </p:sp>
      <p:sp>
        <p:nvSpPr>
          <p:cNvPr id="113667" name="Oval 2"/>
          <p:cNvSpPr>
            <a:spLocks noChangeArrowheads="1"/>
          </p:cNvSpPr>
          <p:nvPr/>
        </p:nvSpPr>
        <p:spPr bwMode="auto">
          <a:xfrm>
            <a:off x="2395538" y="25431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3668" name="Text Box 3"/>
          <p:cNvSpPr txBox="1">
            <a:spLocks noChangeArrowheads="1"/>
          </p:cNvSpPr>
          <p:nvPr/>
        </p:nvSpPr>
        <p:spPr bwMode="auto">
          <a:xfrm>
            <a:off x="2336800" y="26622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 </a:t>
            </a:r>
            <a:endParaRPr lang="en-US" altLang="en-US" sz="2400"/>
          </a:p>
        </p:txBody>
      </p:sp>
      <p:sp>
        <p:nvSpPr>
          <p:cNvPr id="113669" name="Oval 4"/>
          <p:cNvSpPr>
            <a:spLocks noChangeArrowheads="1"/>
          </p:cNvSpPr>
          <p:nvPr/>
        </p:nvSpPr>
        <p:spPr bwMode="auto">
          <a:xfrm>
            <a:off x="1370013" y="3768725"/>
            <a:ext cx="684212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3670" name="Text Box 5"/>
          <p:cNvSpPr txBox="1">
            <a:spLocks noChangeArrowheads="1"/>
          </p:cNvSpPr>
          <p:nvPr/>
        </p:nvSpPr>
        <p:spPr bwMode="auto">
          <a:xfrm>
            <a:off x="1311275" y="3886200"/>
            <a:ext cx="8556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13671" name="Oval 6"/>
          <p:cNvSpPr>
            <a:spLocks noChangeArrowheads="1"/>
          </p:cNvSpPr>
          <p:nvPr/>
        </p:nvSpPr>
        <p:spPr bwMode="auto">
          <a:xfrm>
            <a:off x="685800" y="499427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3672" name="Text Box 7"/>
          <p:cNvSpPr txBox="1">
            <a:spLocks noChangeArrowheads="1"/>
          </p:cNvSpPr>
          <p:nvPr/>
        </p:nvSpPr>
        <p:spPr bwMode="auto">
          <a:xfrm>
            <a:off x="627063" y="5111750"/>
            <a:ext cx="855662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14</a:t>
            </a:r>
            <a:endParaRPr lang="en-US" altLang="en-US" sz="2400"/>
          </a:p>
        </p:txBody>
      </p:sp>
      <p:sp>
        <p:nvSpPr>
          <p:cNvPr id="113673" name="Oval 8"/>
          <p:cNvSpPr>
            <a:spLocks noChangeArrowheads="1"/>
          </p:cNvSpPr>
          <p:nvPr/>
        </p:nvSpPr>
        <p:spPr bwMode="auto">
          <a:xfrm>
            <a:off x="1711325" y="4992688"/>
            <a:ext cx="684213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3674" name="Text Box 9"/>
          <p:cNvSpPr txBox="1">
            <a:spLocks noChangeArrowheads="1"/>
          </p:cNvSpPr>
          <p:nvPr/>
        </p:nvSpPr>
        <p:spPr bwMode="auto">
          <a:xfrm>
            <a:off x="1652588" y="5111750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 3</a:t>
            </a:r>
            <a:endParaRPr lang="en-US" altLang="en-US" sz="2400"/>
          </a:p>
        </p:txBody>
      </p:sp>
      <p:sp>
        <p:nvSpPr>
          <p:cNvPr id="113675" name="Line 10"/>
          <p:cNvSpPr>
            <a:spLocks noChangeShapeType="1"/>
          </p:cNvSpPr>
          <p:nvPr/>
        </p:nvSpPr>
        <p:spPr bwMode="auto">
          <a:xfrm flipH="1">
            <a:off x="1198563" y="44688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3676" name="Line 11"/>
          <p:cNvSpPr>
            <a:spLocks noChangeShapeType="1"/>
          </p:cNvSpPr>
          <p:nvPr/>
        </p:nvSpPr>
        <p:spPr bwMode="auto">
          <a:xfrm>
            <a:off x="1711325" y="4468813"/>
            <a:ext cx="342900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3677" name="Oval 12"/>
          <p:cNvSpPr>
            <a:spLocks noChangeArrowheads="1"/>
          </p:cNvSpPr>
          <p:nvPr/>
        </p:nvSpPr>
        <p:spPr bwMode="auto">
          <a:xfrm>
            <a:off x="4448175" y="13176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3678" name="Text Box 13"/>
          <p:cNvSpPr txBox="1">
            <a:spLocks noChangeArrowheads="1"/>
          </p:cNvSpPr>
          <p:nvPr/>
        </p:nvSpPr>
        <p:spPr bwMode="auto">
          <a:xfrm>
            <a:off x="4389438" y="1436688"/>
            <a:ext cx="855662" cy="69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>
              <a:solidFill>
                <a:srgbClr val="FF3300"/>
              </a:solidFill>
            </a:endParaRPr>
          </a:p>
        </p:txBody>
      </p:sp>
      <p:sp>
        <p:nvSpPr>
          <p:cNvPr id="113679" name="Line 14"/>
          <p:cNvSpPr>
            <a:spLocks noChangeShapeType="1"/>
          </p:cNvSpPr>
          <p:nvPr/>
        </p:nvSpPr>
        <p:spPr bwMode="auto">
          <a:xfrm>
            <a:off x="2909888" y="1493838"/>
            <a:ext cx="1538287" cy="174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3680" name="Oval 15"/>
          <p:cNvSpPr>
            <a:spLocks noChangeArrowheads="1"/>
          </p:cNvSpPr>
          <p:nvPr/>
        </p:nvSpPr>
        <p:spPr bwMode="auto">
          <a:xfrm>
            <a:off x="3422650" y="3768725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3681" name="Line 16"/>
          <p:cNvSpPr>
            <a:spLocks noChangeShapeType="1"/>
          </p:cNvSpPr>
          <p:nvPr/>
        </p:nvSpPr>
        <p:spPr bwMode="auto">
          <a:xfrm flipH="1">
            <a:off x="1882775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3682" name="Line 17"/>
          <p:cNvSpPr>
            <a:spLocks noChangeShapeType="1"/>
          </p:cNvSpPr>
          <p:nvPr/>
        </p:nvSpPr>
        <p:spPr bwMode="auto">
          <a:xfrm>
            <a:off x="2909888" y="3243263"/>
            <a:ext cx="682625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3683" name="Oval 18"/>
          <p:cNvSpPr>
            <a:spLocks noChangeArrowheads="1"/>
          </p:cNvSpPr>
          <p:nvPr/>
        </p:nvSpPr>
        <p:spPr bwMode="auto">
          <a:xfrm>
            <a:off x="6500813" y="254317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3684" name="Text Box 19"/>
          <p:cNvSpPr txBox="1">
            <a:spLocks noChangeArrowheads="1"/>
          </p:cNvSpPr>
          <p:nvPr/>
        </p:nvSpPr>
        <p:spPr bwMode="auto">
          <a:xfrm>
            <a:off x="6442075" y="2662238"/>
            <a:ext cx="855663" cy="69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endParaRPr lang="en-US" altLang="en-US" sz="2400"/>
          </a:p>
        </p:txBody>
      </p:sp>
      <p:sp>
        <p:nvSpPr>
          <p:cNvPr id="113685" name="Oval 20"/>
          <p:cNvSpPr>
            <a:spLocks noChangeArrowheads="1"/>
          </p:cNvSpPr>
          <p:nvPr/>
        </p:nvSpPr>
        <p:spPr bwMode="auto">
          <a:xfrm>
            <a:off x="5475288" y="3768725"/>
            <a:ext cx="682625" cy="7032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3686" name="Oval 21"/>
          <p:cNvSpPr>
            <a:spLocks noChangeArrowheads="1"/>
          </p:cNvSpPr>
          <p:nvPr/>
        </p:nvSpPr>
        <p:spPr bwMode="auto">
          <a:xfrm>
            <a:off x="7526338" y="3768725"/>
            <a:ext cx="684212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3687" name="Text Box 22"/>
          <p:cNvSpPr txBox="1">
            <a:spLocks noChangeArrowheads="1"/>
          </p:cNvSpPr>
          <p:nvPr/>
        </p:nvSpPr>
        <p:spPr bwMode="auto">
          <a:xfrm>
            <a:off x="7467600" y="3886200"/>
            <a:ext cx="855663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2</a:t>
            </a:r>
            <a:endParaRPr lang="en-US" altLang="en-US" sz="2400"/>
          </a:p>
        </p:txBody>
      </p:sp>
      <p:sp>
        <p:nvSpPr>
          <p:cNvPr id="113688" name="Line 23"/>
          <p:cNvSpPr>
            <a:spLocks noChangeShapeType="1"/>
          </p:cNvSpPr>
          <p:nvPr/>
        </p:nvSpPr>
        <p:spPr bwMode="auto">
          <a:xfrm flipH="1">
            <a:off x="5988050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3689" name="Line 24"/>
          <p:cNvSpPr>
            <a:spLocks noChangeShapeType="1"/>
          </p:cNvSpPr>
          <p:nvPr/>
        </p:nvSpPr>
        <p:spPr bwMode="auto">
          <a:xfrm>
            <a:off x="7013575" y="3243263"/>
            <a:ext cx="684213" cy="5254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3690" name="Line 25"/>
          <p:cNvSpPr>
            <a:spLocks noChangeShapeType="1"/>
          </p:cNvSpPr>
          <p:nvPr/>
        </p:nvSpPr>
        <p:spPr bwMode="auto">
          <a:xfrm flipH="1">
            <a:off x="3079750" y="1843088"/>
            <a:ext cx="1368425" cy="876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3691" name="Line 26"/>
          <p:cNvSpPr>
            <a:spLocks noChangeShapeType="1"/>
          </p:cNvSpPr>
          <p:nvPr/>
        </p:nvSpPr>
        <p:spPr bwMode="auto">
          <a:xfrm>
            <a:off x="5132388" y="1843088"/>
            <a:ext cx="1539875" cy="7000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3692" name="Text Box 27"/>
          <p:cNvSpPr txBox="1">
            <a:spLocks noChangeArrowheads="1"/>
          </p:cNvSpPr>
          <p:nvPr/>
        </p:nvSpPr>
        <p:spPr bwMode="auto">
          <a:xfrm>
            <a:off x="1939925" y="1143000"/>
            <a:ext cx="1139825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</a:p>
        </p:txBody>
      </p:sp>
      <p:sp>
        <p:nvSpPr>
          <p:cNvPr id="113693" name="Oval 28"/>
          <p:cNvSpPr>
            <a:spLocks noChangeArrowheads="1"/>
          </p:cNvSpPr>
          <p:nvPr/>
        </p:nvSpPr>
        <p:spPr bwMode="auto">
          <a:xfrm>
            <a:off x="3422650" y="3767138"/>
            <a:ext cx="684213" cy="70167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3694" name="Text Box 29"/>
          <p:cNvSpPr txBox="1">
            <a:spLocks noChangeArrowheads="1"/>
          </p:cNvSpPr>
          <p:nvPr/>
        </p:nvSpPr>
        <p:spPr bwMode="auto">
          <a:xfrm>
            <a:off x="3370263" y="3905250"/>
            <a:ext cx="854075" cy="696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29</a:t>
            </a:r>
            <a:endParaRPr lang="en-US" altLang="en-US" sz="2400"/>
          </a:p>
        </p:txBody>
      </p:sp>
      <p:sp>
        <p:nvSpPr>
          <p:cNvPr id="113695" name="Oval 30"/>
          <p:cNvSpPr>
            <a:spLocks noChangeArrowheads="1"/>
          </p:cNvSpPr>
          <p:nvPr/>
        </p:nvSpPr>
        <p:spPr bwMode="auto">
          <a:xfrm>
            <a:off x="2738438" y="4992688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3696" name="Text Box 31"/>
          <p:cNvSpPr txBox="1">
            <a:spLocks noChangeArrowheads="1"/>
          </p:cNvSpPr>
          <p:nvPr/>
        </p:nvSpPr>
        <p:spPr bwMode="auto">
          <a:xfrm>
            <a:off x="2679700" y="5106988"/>
            <a:ext cx="854075" cy="700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13697" name="Oval 32"/>
          <p:cNvSpPr>
            <a:spLocks noChangeArrowheads="1"/>
          </p:cNvSpPr>
          <p:nvPr/>
        </p:nvSpPr>
        <p:spPr bwMode="auto">
          <a:xfrm>
            <a:off x="3763963" y="4989513"/>
            <a:ext cx="684212" cy="700087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3698" name="Text Box 33"/>
          <p:cNvSpPr txBox="1">
            <a:spLocks noChangeArrowheads="1"/>
          </p:cNvSpPr>
          <p:nvPr/>
        </p:nvSpPr>
        <p:spPr bwMode="auto">
          <a:xfrm>
            <a:off x="3705225" y="5106988"/>
            <a:ext cx="855663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15</a:t>
            </a:r>
            <a:endParaRPr lang="en-US" altLang="en-US" sz="2400"/>
          </a:p>
        </p:txBody>
      </p:sp>
      <p:sp>
        <p:nvSpPr>
          <p:cNvPr id="113699" name="Line 34"/>
          <p:cNvSpPr>
            <a:spLocks noChangeShapeType="1"/>
          </p:cNvSpPr>
          <p:nvPr/>
        </p:nvSpPr>
        <p:spPr bwMode="auto">
          <a:xfrm flipH="1">
            <a:off x="3251200" y="4467225"/>
            <a:ext cx="341313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3700" name="Line 35"/>
          <p:cNvSpPr>
            <a:spLocks noChangeShapeType="1"/>
          </p:cNvSpPr>
          <p:nvPr/>
        </p:nvSpPr>
        <p:spPr bwMode="auto">
          <a:xfrm>
            <a:off x="3763963" y="4467225"/>
            <a:ext cx="342900" cy="5222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3701" name="Oval 36"/>
          <p:cNvSpPr>
            <a:spLocks noChangeArrowheads="1"/>
          </p:cNvSpPr>
          <p:nvPr/>
        </p:nvSpPr>
        <p:spPr bwMode="auto">
          <a:xfrm>
            <a:off x="5475288" y="3767138"/>
            <a:ext cx="682625" cy="7048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3702" name="Text Box 37"/>
          <p:cNvSpPr txBox="1">
            <a:spLocks noChangeArrowheads="1"/>
          </p:cNvSpPr>
          <p:nvPr/>
        </p:nvSpPr>
        <p:spPr bwMode="auto">
          <a:xfrm>
            <a:off x="5427663" y="3905250"/>
            <a:ext cx="85407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  <a:endParaRPr lang="en-US" altLang="en-US" sz="2400"/>
          </a:p>
        </p:txBody>
      </p:sp>
      <p:sp>
        <p:nvSpPr>
          <p:cNvPr id="113703" name="Rectangle 3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Dequeue</a:t>
            </a:r>
          </a:p>
        </p:txBody>
      </p:sp>
      <p:sp>
        <p:nvSpPr>
          <p:cNvPr id="113704" name="Text Box 39"/>
          <p:cNvSpPr txBox="1">
            <a:spLocks noChangeArrowheads="1"/>
          </p:cNvSpPr>
          <p:nvPr/>
        </p:nvSpPr>
        <p:spPr bwMode="auto">
          <a:xfrm>
            <a:off x="3962400" y="24384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/>
              <a:t>  </a:t>
            </a:r>
          </a:p>
        </p:txBody>
      </p:sp>
      <p:sp>
        <p:nvSpPr>
          <p:cNvPr id="113705" name="Oval 40"/>
          <p:cNvSpPr>
            <a:spLocks noChangeArrowheads="1"/>
          </p:cNvSpPr>
          <p:nvPr/>
        </p:nvSpPr>
        <p:spPr bwMode="auto">
          <a:xfrm>
            <a:off x="4800600" y="5029200"/>
            <a:ext cx="684213" cy="70008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3706" name="Line 41"/>
          <p:cNvSpPr>
            <a:spLocks noChangeShapeType="1"/>
          </p:cNvSpPr>
          <p:nvPr/>
        </p:nvSpPr>
        <p:spPr bwMode="auto">
          <a:xfrm flipH="1">
            <a:off x="5313363" y="4503738"/>
            <a:ext cx="341312" cy="522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3707" name="Text Box 42"/>
          <p:cNvSpPr txBox="1">
            <a:spLocks noChangeArrowheads="1"/>
          </p:cNvSpPr>
          <p:nvPr/>
        </p:nvSpPr>
        <p:spPr bwMode="auto">
          <a:xfrm>
            <a:off x="4876800" y="51054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24</a:t>
            </a:r>
          </a:p>
        </p:txBody>
      </p:sp>
      <p:sp>
        <p:nvSpPr>
          <p:cNvPr id="113708" name="Text Box 43"/>
          <p:cNvSpPr txBox="1">
            <a:spLocks noChangeArrowheads="1"/>
          </p:cNvSpPr>
          <p:nvPr/>
        </p:nvSpPr>
        <p:spPr bwMode="auto">
          <a:xfrm>
            <a:off x="6553200" y="2667000"/>
            <a:ext cx="1143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37</a:t>
            </a:r>
          </a:p>
        </p:txBody>
      </p:sp>
      <p:sp>
        <p:nvSpPr>
          <p:cNvPr id="113709" name="Text Box 44"/>
          <p:cNvSpPr txBox="1">
            <a:spLocks noChangeArrowheads="1"/>
          </p:cNvSpPr>
          <p:nvPr/>
        </p:nvSpPr>
        <p:spPr bwMode="auto">
          <a:xfrm>
            <a:off x="5562600" y="38862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28</a:t>
            </a:r>
          </a:p>
        </p:txBody>
      </p:sp>
      <p:sp>
        <p:nvSpPr>
          <p:cNvPr id="113710" name="Text Box 46"/>
          <p:cNvSpPr txBox="1">
            <a:spLocks noChangeArrowheads="1"/>
          </p:cNvSpPr>
          <p:nvPr/>
        </p:nvSpPr>
        <p:spPr bwMode="auto">
          <a:xfrm>
            <a:off x="5791200" y="4648200"/>
            <a:ext cx="3200400" cy="1196975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The same technique can be used when swapping downward</a:t>
            </a: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208C4926-7C43-425D-BDF0-C394F362EA79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113</a:t>
            </a:fld>
            <a:endParaRPr lang="en-US" altLang="en-US" sz="1400"/>
          </a:p>
        </p:txBody>
      </p:sp>
      <p:sp>
        <p:nvSpPr>
          <p:cNvPr id="114691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Parent-Child Formulas</a:t>
            </a:r>
          </a:p>
        </p:txBody>
      </p:sp>
      <p:sp>
        <p:nvSpPr>
          <p:cNvPr id="114692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en-US" altLang="en-US" dirty="0"/>
              <a:t>Parent-child formulas can also be sped up:</a:t>
            </a:r>
          </a:p>
          <a:p>
            <a:pPr lvl="1" eaLnBrk="1" hangingPunct="1">
              <a:buFontTx/>
              <a:buNone/>
            </a:pPr>
            <a:r>
              <a:rPr lang="en-US" altLang="en-US" dirty="0"/>
              <a:t>(left child #) = (parent #) &lt;&lt; 1 + 1</a:t>
            </a:r>
          </a:p>
          <a:p>
            <a:pPr lvl="2" eaLnBrk="1" hangingPunct="1"/>
            <a:r>
              <a:rPr lang="en-US" altLang="en-US" dirty="0"/>
              <a:t>the shift &lt;&lt; operator is the same as </a:t>
            </a:r>
            <a:r>
              <a:rPr lang="en-US" altLang="en-US" u="sng" dirty="0"/>
              <a:t>integer multiplication by 2</a:t>
            </a:r>
            <a:r>
              <a:rPr lang="en-US" altLang="en-US" dirty="0"/>
              <a:t>.</a:t>
            </a:r>
          </a:p>
          <a:p>
            <a:pPr lvl="1" eaLnBrk="1" hangingPunct="1">
              <a:buFontTx/>
              <a:buNone/>
            </a:pPr>
            <a:r>
              <a:rPr lang="en-US" altLang="en-US" dirty="0"/>
              <a:t>(right child #) = (left child #) + 1</a:t>
            </a:r>
          </a:p>
          <a:p>
            <a:pPr lvl="2" eaLnBrk="1" hangingPunct="1"/>
            <a:r>
              <a:rPr lang="en-US" altLang="en-US" dirty="0"/>
              <a:t>when finding the greatest child, the left and right children are always found together</a:t>
            </a:r>
          </a:p>
          <a:p>
            <a:pPr lvl="1" eaLnBrk="1" hangingPunct="1">
              <a:buFontTx/>
              <a:buNone/>
            </a:pPr>
            <a:r>
              <a:rPr lang="en-US" altLang="en-US" dirty="0"/>
              <a:t>(parent #) = (child # - 1) &gt;&gt; 1</a:t>
            </a:r>
          </a:p>
          <a:p>
            <a:pPr lvl="2" eaLnBrk="1" hangingPunct="1"/>
            <a:r>
              <a:rPr lang="en-US" altLang="en-US" dirty="0"/>
              <a:t>the shift &gt;&gt; operator is the same as </a:t>
            </a:r>
            <a:r>
              <a:rPr lang="en-US" altLang="en-US" u="sng" dirty="0"/>
              <a:t>integer division by 2</a:t>
            </a:r>
            <a:r>
              <a:rPr lang="en-US" altLang="en-US" dirty="0"/>
              <a:t>.</a:t>
            </a: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43961A2C-1FC1-4D09-BB7A-E6E2B152A8E5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114</a:t>
            </a:fld>
            <a:endParaRPr lang="en-US" altLang="en-US" sz="1400"/>
          </a:p>
        </p:txBody>
      </p:sp>
      <p:sp>
        <p:nvSpPr>
          <p:cNvPr id="11571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Forming an Initial Heap</a:t>
            </a:r>
          </a:p>
        </p:txBody>
      </p:sp>
      <p:sp>
        <p:nvSpPr>
          <p:cNvPr id="11571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447800"/>
            <a:ext cx="7772400" cy="4953000"/>
          </a:xfrm>
        </p:spPr>
        <p:txBody>
          <a:bodyPr/>
          <a:lstStyle/>
          <a:p>
            <a:pPr eaLnBrk="1" hangingPunct="1">
              <a:spcBef>
                <a:spcPts val="1200"/>
              </a:spcBef>
            </a:pPr>
            <a:r>
              <a:rPr lang="en-US" altLang="en-US" sz="2800" dirty="0"/>
              <a:t>A heap of size n can be made by </a:t>
            </a:r>
            <a:r>
              <a:rPr lang="en-US" altLang="en-US" sz="2800" u="sng" dirty="0"/>
              <a:t>enqueuing n elements one at a time</a:t>
            </a:r>
            <a:r>
              <a:rPr lang="en-US" altLang="en-US" sz="2800" dirty="0"/>
              <a:t> – but it would take </a:t>
            </a:r>
            <a:r>
              <a:rPr lang="en-US" altLang="en-US" sz="2800" u="sng" dirty="0"/>
              <a:t>O( n lg n )</a:t>
            </a:r>
            <a:r>
              <a:rPr lang="en-US" altLang="en-US" sz="2800" dirty="0"/>
              <a:t> time.</a:t>
            </a:r>
          </a:p>
          <a:p>
            <a:pPr eaLnBrk="1" hangingPunct="1">
              <a:spcBef>
                <a:spcPts val="1200"/>
              </a:spcBef>
            </a:pPr>
            <a:r>
              <a:rPr lang="en-US" altLang="en-US" sz="2800" dirty="0"/>
              <a:t>A </a:t>
            </a:r>
            <a:r>
              <a:rPr lang="en-US" altLang="en-US" sz="2800" u="sng" dirty="0"/>
              <a:t>faster</a:t>
            </a:r>
            <a:r>
              <a:rPr lang="en-US" altLang="en-US" sz="2800" dirty="0"/>
              <a:t> method can be used to </a:t>
            </a:r>
            <a:r>
              <a:rPr lang="en-US" altLang="en-US" sz="2800" u="sng" dirty="0"/>
              <a:t>make a heap out of an initial array</a:t>
            </a:r>
            <a:r>
              <a:rPr lang="en-US" altLang="en-US" sz="2800" dirty="0"/>
              <a:t> </a:t>
            </a:r>
            <a:r>
              <a:rPr lang="en-US" altLang="en-US" sz="2800"/>
              <a:t>in </a:t>
            </a:r>
            <a:r>
              <a:rPr lang="en-US" altLang="en-US" sz="2800" u="sng">
                <a:sym typeface="Symbol" panose="05050102010706020507" pitchFamily="18" charset="2"/>
              </a:rPr>
              <a:t>Θ( </a:t>
            </a:r>
            <a:r>
              <a:rPr lang="en-US" altLang="en-US" sz="2800" u="sng" dirty="0">
                <a:sym typeface="Symbol" panose="05050102010706020507" pitchFamily="18" charset="2"/>
              </a:rPr>
              <a:t>n )</a:t>
            </a:r>
            <a:r>
              <a:rPr lang="en-US" altLang="en-US" sz="2800" dirty="0">
                <a:sym typeface="Symbol" panose="05050102010706020507" pitchFamily="18" charset="2"/>
              </a:rPr>
              <a:t> time.</a:t>
            </a:r>
          </a:p>
          <a:p>
            <a:pPr eaLnBrk="1" hangingPunct="1">
              <a:spcBef>
                <a:spcPts val="1200"/>
              </a:spcBef>
            </a:pPr>
            <a:r>
              <a:rPr lang="en-US" altLang="en-US" sz="2800" dirty="0">
                <a:sym typeface="Symbol" panose="05050102010706020507" pitchFamily="18" charset="2"/>
              </a:rPr>
              <a:t>The heap will be shown as a linked tree to help visualize how the method works – but in actuality, it is used on the array</a:t>
            </a:r>
            <a:r>
              <a:rPr lang="en-US" altLang="en-US" sz="2800" dirty="0"/>
              <a:t>.</a:t>
            </a: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CE526AF5-663E-4035-9079-087C49A71944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115</a:t>
            </a:fld>
            <a:endParaRPr lang="en-US" altLang="en-US" sz="1400"/>
          </a:p>
        </p:txBody>
      </p:sp>
      <p:sp>
        <p:nvSpPr>
          <p:cNvPr id="116739" name="Rectangle 2"/>
          <p:cNvSpPr>
            <a:spLocks noChangeArrowheads="1"/>
          </p:cNvSpPr>
          <p:nvPr/>
        </p:nvSpPr>
        <p:spPr bwMode="auto">
          <a:xfrm rot="-5400000">
            <a:off x="196057" y="2013743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6740" name="Text Box 3"/>
          <p:cNvSpPr txBox="1">
            <a:spLocks noChangeArrowheads="1"/>
          </p:cNvSpPr>
          <p:nvPr/>
        </p:nvSpPr>
        <p:spPr bwMode="auto">
          <a:xfrm rot="-5400000">
            <a:off x="5557" y="1823243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</a:t>
            </a:r>
          </a:p>
        </p:txBody>
      </p:sp>
      <p:sp>
        <p:nvSpPr>
          <p:cNvPr id="116741" name="Rectangle 4"/>
          <p:cNvSpPr>
            <a:spLocks noChangeArrowheads="1"/>
          </p:cNvSpPr>
          <p:nvPr/>
        </p:nvSpPr>
        <p:spPr bwMode="auto">
          <a:xfrm rot="-5400000">
            <a:off x="702469" y="2013744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6742" name="Text Box 5"/>
          <p:cNvSpPr txBox="1">
            <a:spLocks noChangeArrowheads="1"/>
          </p:cNvSpPr>
          <p:nvPr/>
        </p:nvSpPr>
        <p:spPr bwMode="auto">
          <a:xfrm>
            <a:off x="860425" y="19812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2400" b="1"/>
          </a:p>
        </p:txBody>
      </p:sp>
      <p:sp>
        <p:nvSpPr>
          <p:cNvPr id="116743" name="Rectangle 6"/>
          <p:cNvSpPr>
            <a:spLocks noChangeArrowheads="1"/>
          </p:cNvSpPr>
          <p:nvPr/>
        </p:nvSpPr>
        <p:spPr bwMode="auto">
          <a:xfrm rot="-5400000">
            <a:off x="1208882" y="2013743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6744" name="Text Box 7"/>
          <p:cNvSpPr txBox="1">
            <a:spLocks noChangeArrowheads="1"/>
          </p:cNvSpPr>
          <p:nvPr/>
        </p:nvSpPr>
        <p:spPr bwMode="auto">
          <a:xfrm>
            <a:off x="1295400" y="20574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5</a:t>
            </a:r>
          </a:p>
        </p:txBody>
      </p:sp>
      <p:sp>
        <p:nvSpPr>
          <p:cNvPr id="116745" name="Rectangle 8"/>
          <p:cNvSpPr>
            <a:spLocks noChangeArrowheads="1"/>
          </p:cNvSpPr>
          <p:nvPr/>
        </p:nvSpPr>
        <p:spPr bwMode="auto">
          <a:xfrm rot="-5400000">
            <a:off x="1716088" y="2012950"/>
            <a:ext cx="571500" cy="508000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6746" name="Text Box 9"/>
          <p:cNvSpPr txBox="1">
            <a:spLocks noChangeArrowheads="1"/>
          </p:cNvSpPr>
          <p:nvPr/>
        </p:nvSpPr>
        <p:spPr bwMode="auto">
          <a:xfrm>
            <a:off x="1752600" y="2057400"/>
            <a:ext cx="9525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34</a:t>
            </a:r>
          </a:p>
        </p:txBody>
      </p:sp>
      <p:sp>
        <p:nvSpPr>
          <p:cNvPr id="116747" name="Rectangle 10"/>
          <p:cNvSpPr>
            <a:spLocks noChangeArrowheads="1"/>
          </p:cNvSpPr>
          <p:nvPr/>
        </p:nvSpPr>
        <p:spPr bwMode="auto">
          <a:xfrm rot="-5400000">
            <a:off x="2223294" y="2013744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6748" name="Text Box 11"/>
          <p:cNvSpPr txBox="1">
            <a:spLocks noChangeArrowheads="1"/>
          </p:cNvSpPr>
          <p:nvPr/>
        </p:nvSpPr>
        <p:spPr bwMode="auto">
          <a:xfrm>
            <a:off x="2381250" y="19812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2400" b="1"/>
          </a:p>
        </p:txBody>
      </p:sp>
      <p:sp>
        <p:nvSpPr>
          <p:cNvPr id="116749" name="Rectangle 12"/>
          <p:cNvSpPr>
            <a:spLocks noChangeArrowheads="1"/>
          </p:cNvSpPr>
          <p:nvPr/>
        </p:nvSpPr>
        <p:spPr bwMode="auto">
          <a:xfrm rot="-5400000">
            <a:off x="2729707" y="2013743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6750" name="Text Box 13"/>
          <p:cNvSpPr txBox="1">
            <a:spLocks noChangeArrowheads="1"/>
          </p:cNvSpPr>
          <p:nvPr/>
        </p:nvSpPr>
        <p:spPr bwMode="auto">
          <a:xfrm>
            <a:off x="2743200" y="20574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11</a:t>
            </a:r>
          </a:p>
        </p:txBody>
      </p:sp>
      <p:sp>
        <p:nvSpPr>
          <p:cNvPr id="116751" name="Rectangle 14"/>
          <p:cNvSpPr>
            <a:spLocks noChangeArrowheads="1"/>
          </p:cNvSpPr>
          <p:nvPr/>
        </p:nvSpPr>
        <p:spPr bwMode="auto">
          <a:xfrm rot="-5400000">
            <a:off x="3236119" y="2013744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6752" name="Text Box 15"/>
          <p:cNvSpPr txBox="1">
            <a:spLocks noChangeArrowheads="1"/>
          </p:cNvSpPr>
          <p:nvPr/>
        </p:nvSpPr>
        <p:spPr bwMode="auto">
          <a:xfrm>
            <a:off x="3352800" y="20574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7</a:t>
            </a:r>
          </a:p>
        </p:txBody>
      </p:sp>
      <p:sp>
        <p:nvSpPr>
          <p:cNvPr id="116753" name="Rectangle 16"/>
          <p:cNvSpPr>
            <a:spLocks noChangeArrowheads="1"/>
          </p:cNvSpPr>
          <p:nvPr/>
        </p:nvSpPr>
        <p:spPr bwMode="auto">
          <a:xfrm rot="-5400000">
            <a:off x="3740944" y="2015331"/>
            <a:ext cx="571500" cy="503238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6754" name="Text Box 17"/>
          <p:cNvSpPr txBox="1">
            <a:spLocks noChangeArrowheads="1"/>
          </p:cNvSpPr>
          <p:nvPr/>
        </p:nvSpPr>
        <p:spPr bwMode="auto">
          <a:xfrm>
            <a:off x="3886200" y="2057400"/>
            <a:ext cx="952500" cy="503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7</a:t>
            </a:r>
          </a:p>
        </p:txBody>
      </p:sp>
      <p:sp>
        <p:nvSpPr>
          <p:cNvPr id="116755" name="Rectangle 18"/>
          <p:cNvSpPr>
            <a:spLocks noChangeArrowheads="1"/>
          </p:cNvSpPr>
          <p:nvPr/>
        </p:nvSpPr>
        <p:spPr bwMode="auto">
          <a:xfrm rot="-5400000">
            <a:off x="4245769" y="2013744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6756" name="Text Box 19"/>
          <p:cNvSpPr txBox="1">
            <a:spLocks noChangeArrowheads="1"/>
          </p:cNvSpPr>
          <p:nvPr/>
        </p:nvSpPr>
        <p:spPr bwMode="auto">
          <a:xfrm>
            <a:off x="4267200" y="20574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12</a:t>
            </a:r>
          </a:p>
        </p:txBody>
      </p:sp>
      <p:sp>
        <p:nvSpPr>
          <p:cNvPr id="116757" name="Rectangle 20"/>
          <p:cNvSpPr>
            <a:spLocks noChangeArrowheads="1"/>
          </p:cNvSpPr>
          <p:nvPr/>
        </p:nvSpPr>
        <p:spPr bwMode="auto">
          <a:xfrm rot="-5400000">
            <a:off x="4752182" y="2013743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6758" name="Text Box 21"/>
          <p:cNvSpPr txBox="1">
            <a:spLocks noChangeArrowheads="1"/>
          </p:cNvSpPr>
          <p:nvPr/>
        </p:nvSpPr>
        <p:spPr bwMode="auto">
          <a:xfrm>
            <a:off x="4910138" y="19812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2400" b="1"/>
          </a:p>
        </p:txBody>
      </p:sp>
      <p:sp>
        <p:nvSpPr>
          <p:cNvPr id="116759" name="Rectangle 22"/>
          <p:cNvSpPr>
            <a:spLocks noChangeArrowheads="1"/>
          </p:cNvSpPr>
          <p:nvPr/>
        </p:nvSpPr>
        <p:spPr bwMode="auto">
          <a:xfrm rot="-5400000">
            <a:off x="5263357" y="2013743"/>
            <a:ext cx="571500" cy="506413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6760" name="Text Box 23"/>
          <p:cNvSpPr txBox="1">
            <a:spLocks noChangeArrowheads="1"/>
          </p:cNvSpPr>
          <p:nvPr/>
        </p:nvSpPr>
        <p:spPr bwMode="auto">
          <a:xfrm>
            <a:off x="5295900" y="20574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38</a:t>
            </a:r>
          </a:p>
        </p:txBody>
      </p:sp>
      <p:sp>
        <p:nvSpPr>
          <p:cNvPr id="116761" name="Rectangle 24"/>
          <p:cNvSpPr>
            <a:spLocks noChangeArrowheads="1"/>
          </p:cNvSpPr>
          <p:nvPr/>
        </p:nvSpPr>
        <p:spPr bwMode="auto">
          <a:xfrm rot="-5400000">
            <a:off x="5768182" y="2015331"/>
            <a:ext cx="571500" cy="503237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6762" name="Text Box 25"/>
          <p:cNvSpPr txBox="1">
            <a:spLocks noChangeArrowheads="1"/>
          </p:cNvSpPr>
          <p:nvPr/>
        </p:nvSpPr>
        <p:spPr bwMode="auto">
          <a:xfrm>
            <a:off x="5791200" y="2057400"/>
            <a:ext cx="952500" cy="503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5</a:t>
            </a:r>
          </a:p>
        </p:txBody>
      </p:sp>
      <p:sp>
        <p:nvSpPr>
          <p:cNvPr id="116763" name="Rectangle 26"/>
          <p:cNvSpPr>
            <a:spLocks noChangeArrowheads="1"/>
          </p:cNvSpPr>
          <p:nvPr/>
        </p:nvSpPr>
        <p:spPr bwMode="auto">
          <a:xfrm rot="-5400000">
            <a:off x="6274594" y="2013744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6764" name="Text Box 27"/>
          <p:cNvSpPr txBox="1">
            <a:spLocks noChangeArrowheads="1"/>
          </p:cNvSpPr>
          <p:nvPr/>
        </p:nvSpPr>
        <p:spPr bwMode="auto">
          <a:xfrm>
            <a:off x="6210300" y="20574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</a:p>
        </p:txBody>
      </p:sp>
      <p:sp>
        <p:nvSpPr>
          <p:cNvPr id="116765" name="Rectangle 28"/>
          <p:cNvSpPr>
            <a:spLocks noChangeArrowheads="1"/>
          </p:cNvSpPr>
          <p:nvPr/>
        </p:nvSpPr>
        <p:spPr bwMode="auto">
          <a:xfrm rot="-5400000">
            <a:off x="6780213" y="2014537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6766" name="Text Box 29"/>
          <p:cNvSpPr txBox="1">
            <a:spLocks noChangeArrowheads="1"/>
          </p:cNvSpPr>
          <p:nvPr/>
        </p:nvSpPr>
        <p:spPr bwMode="auto">
          <a:xfrm>
            <a:off x="6896100" y="2057400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</a:t>
            </a:r>
          </a:p>
        </p:txBody>
      </p:sp>
      <p:sp>
        <p:nvSpPr>
          <p:cNvPr id="116767" name="Rectangle 30"/>
          <p:cNvSpPr>
            <a:spLocks noChangeArrowheads="1"/>
          </p:cNvSpPr>
          <p:nvPr/>
        </p:nvSpPr>
        <p:spPr bwMode="auto">
          <a:xfrm rot="-5400000">
            <a:off x="7287419" y="2013744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6768" name="Text Box 31"/>
          <p:cNvSpPr txBox="1">
            <a:spLocks noChangeArrowheads="1"/>
          </p:cNvSpPr>
          <p:nvPr/>
        </p:nvSpPr>
        <p:spPr bwMode="auto">
          <a:xfrm>
            <a:off x="7315200" y="2057400"/>
            <a:ext cx="9525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34</a:t>
            </a:r>
          </a:p>
        </p:txBody>
      </p:sp>
      <p:sp>
        <p:nvSpPr>
          <p:cNvPr id="116769" name="Rectangle 32"/>
          <p:cNvSpPr>
            <a:spLocks noChangeArrowheads="1"/>
          </p:cNvSpPr>
          <p:nvPr/>
        </p:nvSpPr>
        <p:spPr bwMode="auto">
          <a:xfrm rot="-5400000">
            <a:off x="7793038" y="2014537"/>
            <a:ext cx="571500" cy="504825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6770" name="Text Box 33"/>
          <p:cNvSpPr txBox="1">
            <a:spLocks noChangeArrowheads="1"/>
          </p:cNvSpPr>
          <p:nvPr/>
        </p:nvSpPr>
        <p:spPr bwMode="auto">
          <a:xfrm>
            <a:off x="7810500" y="2057400"/>
            <a:ext cx="9525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27</a:t>
            </a:r>
          </a:p>
        </p:txBody>
      </p:sp>
      <p:sp>
        <p:nvSpPr>
          <p:cNvPr id="116771" name="Rectangle 34"/>
          <p:cNvSpPr>
            <a:spLocks noChangeArrowheads="1"/>
          </p:cNvSpPr>
          <p:nvPr/>
        </p:nvSpPr>
        <p:spPr bwMode="auto">
          <a:xfrm rot="-5400000">
            <a:off x="8300244" y="2013744"/>
            <a:ext cx="571500" cy="506412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FF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6772" name="Text Box 35"/>
          <p:cNvSpPr txBox="1">
            <a:spLocks noChangeArrowheads="1"/>
          </p:cNvSpPr>
          <p:nvPr/>
        </p:nvSpPr>
        <p:spPr bwMode="auto">
          <a:xfrm>
            <a:off x="8305800" y="2057400"/>
            <a:ext cx="685800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16</a:t>
            </a:r>
          </a:p>
        </p:txBody>
      </p:sp>
      <p:sp>
        <p:nvSpPr>
          <p:cNvPr id="116773" name="Text Box 39"/>
          <p:cNvSpPr txBox="1">
            <a:spLocks noChangeArrowheads="1"/>
          </p:cNvSpPr>
          <p:nvPr/>
        </p:nvSpPr>
        <p:spPr bwMode="auto">
          <a:xfrm>
            <a:off x="303213" y="20574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6</a:t>
            </a:r>
          </a:p>
        </p:txBody>
      </p:sp>
      <p:sp>
        <p:nvSpPr>
          <p:cNvPr id="116774" name="Text Box 40"/>
          <p:cNvSpPr txBox="1">
            <a:spLocks noChangeArrowheads="1"/>
          </p:cNvSpPr>
          <p:nvPr/>
        </p:nvSpPr>
        <p:spPr bwMode="auto">
          <a:xfrm>
            <a:off x="762000" y="2057400"/>
            <a:ext cx="838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31</a:t>
            </a:r>
          </a:p>
        </p:txBody>
      </p:sp>
      <p:sp>
        <p:nvSpPr>
          <p:cNvPr id="116775" name="Text Box 41"/>
          <p:cNvSpPr txBox="1">
            <a:spLocks noChangeArrowheads="1"/>
          </p:cNvSpPr>
          <p:nvPr/>
        </p:nvSpPr>
        <p:spPr bwMode="auto">
          <a:xfrm>
            <a:off x="4778375" y="2057400"/>
            <a:ext cx="6318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39</a:t>
            </a:r>
          </a:p>
        </p:txBody>
      </p:sp>
      <p:sp>
        <p:nvSpPr>
          <p:cNvPr id="116776" name="Text Box 42"/>
          <p:cNvSpPr txBox="1">
            <a:spLocks noChangeArrowheads="1"/>
          </p:cNvSpPr>
          <p:nvPr/>
        </p:nvSpPr>
        <p:spPr bwMode="auto">
          <a:xfrm>
            <a:off x="2286000" y="2057400"/>
            <a:ext cx="76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34</a:t>
            </a:r>
          </a:p>
        </p:txBody>
      </p:sp>
      <p:sp>
        <p:nvSpPr>
          <p:cNvPr id="116777" name="Text Box 44"/>
          <p:cNvSpPr txBox="1">
            <a:spLocks noChangeArrowheads="1"/>
          </p:cNvSpPr>
          <p:nvPr/>
        </p:nvSpPr>
        <p:spPr bwMode="auto">
          <a:xfrm>
            <a:off x="762000" y="3352800"/>
            <a:ext cx="7239000" cy="22923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Suppose the initial array looks like this.</a:t>
            </a:r>
          </a:p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It is not initially a heap, but by rearranging the elements, it will be.</a:t>
            </a:r>
          </a:p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We will look at the tree form of this to see why the method works.</a:t>
            </a:r>
          </a:p>
        </p:txBody>
      </p:sp>
      <p:sp>
        <p:nvSpPr>
          <p:cNvPr id="116778" name="Rectangle 47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Forming an Initial Heap (cont.)</a:t>
            </a:r>
          </a:p>
        </p:txBody>
      </p:sp>
      <p:sp>
        <p:nvSpPr>
          <p:cNvPr id="116779" name="Text Box 48"/>
          <p:cNvSpPr txBox="1">
            <a:spLocks noChangeArrowheads="1"/>
          </p:cNvSpPr>
          <p:nvPr/>
        </p:nvSpPr>
        <p:spPr bwMode="auto">
          <a:xfrm>
            <a:off x="0" y="2667000"/>
            <a:ext cx="8991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   0    1    2    3    4    5    6    7    8    9   10  11  12  13  14  15  16   </a:t>
            </a: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64A768F7-5466-40C2-AA9F-DC98EF6926B3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116</a:t>
            </a:fld>
            <a:endParaRPr lang="en-US" altLang="en-US" sz="1400"/>
          </a:p>
        </p:txBody>
      </p:sp>
      <p:sp>
        <p:nvSpPr>
          <p:cNvPr id="117763" name="Oval 3"/>
          <p:cNvSpPr>
            <a:spLocks noChangeArrowheads="1"/>
          </p:cNvSpPr>
          <p:nvPr/>
        </p:nvSpPr>
        <p:spPr bwMode="auto">
          <a:xfrm>
            <a:off x="23272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7764" name="Text Box 4"/>
          <p:cNvSpPr txBox="1">
            <a:spLocks noChangeArrowheads="1"/>
          </p:cNvSpPr>
          <p:nvPr/>
        </p:nvSpPr>
        <p:spPr bwMode="auto">
          <a:xfrm>
            <a:off x="23082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31</a:t>
            </a:r>
            <a:endParaRPr lang="en-US" altLang="en-US" sz="2400"/>
          </a:p>
        </p:txBody>
      </p:sp>
      <p:sp>
        <p:nvSpPr>
          <p:cNvPr id="117765" name="Oval 5"/>
          <p:cNvSpPr>
            <a:spLocks noChangeArrowheads="1"/>
          </p:cNvSpPr>
          <p:nvPr/>
        </p:nvSpPr>
        <p:spPr bwMode="auto">
          <a:xfrm>
            <a:off x="13176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7766" name="Text Box 6"/>
          <p:cNvSpPr txBox="1">
            <a:spLocks noChangeArrowheads="1"/>
          </p:cNvSpPr>
          <p:nvPr/>
        </p:nvSpPr>
        <p:spPr bwMode="auto">
          <a:xfrm>
            <a:off x="1298575" y="307975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17767" name="Oval 7"/>
          <p:cNvSpPr>
            <a:spLocks noChangeArrowheads="1"/>
          </p:cNvSpPr>
          <p:nvPr/>
        </p:nvSpPr>
        <p:spPr bwMode="auto">
          <a:xfrm>
            <a:off x="6445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7768" name="Text Box 8"/>
          <p:cNvSpPr txBox="1">
            <a:spLocks noChangeArrowheads="1"/>
          </p:cNvSpPr>
          <p:nvPr/>
        </p:nvSpPr>
        <p:spPr bwMode="auto">
          <a:xfrm>
            <a:off x="625475" y="4159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17769" name="Text Box 9"/>
          <p:cNvSpPr txBox="1">
            <a:spLocks noChangeArrowheads="1"/>
          </p:cNvSpPr>
          <p:nvPr/>
        </p:nvSpPr>
        <p:spPr bwMode="auto">
          <a:xfrm>
            <a:off x="2057400" y="121285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117770" name="Oval 10"/>
          <p:cNvSpPr>
            <a:spLocks noChangeArrowheads="1"/>
          </p:cNvSpPr>
          <p:nvPr/>
        </p:nvSpPr>
        <p:spPr bwMode="auto">
          <a:xfrm>
            <a:off x="16541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7771" name="Text Box 11"/>
          <p:cNvSpPr txBox="1">
            <a:spLocks noChangeArrowheads="1"/>
          </p:cNvSpPr>
          <p:nvPr/>
        </p:nvSpPr>
        <p:spPr bwMode="auto">
          <a:xfrm>
            <a:off x="16351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12</a:t>
            </a:r>
            <a:endParaRPr lang="en-US" altLang="en-US" sz="2400"/>
          </a:p>
        </p:txBody>
      </p:sp>
      <p:sp>
        <p:nvSpPr>
          <p:cNvPr id="117772" name="Oval 12"/>
          <p:cNvSpPr>
            <a:spLocks noChangeArrowheads="1"/>
          </p:cNvSpPr>
          <p:nvPr/>
        </p:nvSpPr>
        <p:spPr bwMode="auto">
          <a:xfrm>
            <a:off x="4346575" y="14255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7773" name="Text Box 13"/>
          <p:cNvSpPr txBox="1">
            <a:spLocks noChangeArrowheads="1"/>
          </p:cNvSpPr>
          <p:nvPr/>
        </p:nvSpPr>
        <p:spPr bwMode="auto">
          <a:xfrm>
            <a:off x="4327525" y="1525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6</a:t>
            </a:r>
            <a:endParaRPr lang="en-US" altLang="en-US" sz="2400"/>
          </a:p>
        </p:txBody>
      </p:sp>
      <p:sp>
        <p:nvSpPr>
          <p:cNvPr id="117774" name="Line 14"/>
          <p:cNvSpPr>
            <a:spLocks noChangeShapeType="1"/>
          </p:cNvSpPr>
          <p:nvPr/>
        </p:nvSpPr>
        <p:spPr bwMode="auto">
          <a:xfrm>
            <a:off x="2832100" y="152082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7775" name="Oval 15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7776" name="Line 16"/>
          <p:cNvSpPr>
            <a:spLocks noChangeShapeType="1"/>
          </p:cNvSpPr>
          <p:nvPr/>
        </p:nvSpPr>
        <p:spPr bwMode="auto">
          <a:xfrm flipH="1">
            <a:off x="182245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7777" name="Line 17"/>
          <p:cNvSpPr>
            <a:spLocks noChangeShapeType="1"/>
          </p:cNvSpPr>
          <p:nvPr/>
        </p:nvSpPr>
        <p:spPr bwMode="auto">
          <a:xfrm>
            <a:off x="283210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7778" name="Oval 18"/>
          <p:cNvSpPr>
            <a:spLocks noChangeArrowheads="1"/>
          </p:cNvSpPr>
          <p:nvPr/>
        </p:nvSpPr>
        <p:spPr bwMode="auto">
          <a:xfrm>
            <a:off x="63658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7779" name="Text Box 19"/>
          <p:cNvSpPr txBox="1">
            <a:spLocks noChangeArrowheads="1"/>
          </p:cNvSpPr>
          <p:nvPr/>
        </p:nvSpPr>
        <p:spPr bwMode="auto">
          <a:xfrm>
            <a:off x="63468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17780" name="Oval 20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7781" name="Oval 21"/>
          <p:cNvSpPr>
            <a:spLocks noChangeArrowheads="1"/>
          </p:cNvSpPr>
          <p:nvPr/>
        </p:nvSpPr>
        <p:spPr bwMode="auto">
          <a:xfrm>
            <a:off x="73755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7782" name="Text Box 22"/>
          <p:cNvSpPr txBox="1">
            <a:spLocks noChangeArrowheads="1"/>
          </p:cNvSpPr>
          <p:nvPr/>
        </p:nvSpPr>
        <p:spPr bwMode="auto">
          <a:xfrm>
            <a:off x="7356475" y="3079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17783" name="Line 23"/>
          <p:cNvSpPr>
            <a:spLocks noChangeShapeType="1"/>
          </p:cNvSpPr>
          <p:nvPr/>
        </p:nvSpPr>
        <p:spPr bwMode="auto">
          <a:xfrm flipH="1">
            <a:off x="586105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7784" name="Line 24"/>
          <p:cNvSpPr>
            <a:spLocks noChangeShapeType="1"/>
          </p:cNvSpPr>
          <p:nvPr/>
        </p:nvSpPr>
        <p:spPr bwMode="auto">
          <a:xfrm>
            <a:off x="687070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7785" name="Line 25"/>
          <p:cNvSpPr>
            <a:spLocks noChangeShapeType="1"/>
          </p:cNvSpPr>
          <p:nvPr/>
        </p:nvSpPr>
        <p:spPr bwMode="auto">
          <a:xfrm flipH="1">
            <a:off x="3000375" y="1828800"/>
            <a:ext cx="1343025" cy="2270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7786" name="Line 26"/>
          <p:cNvSpPr>
            <a:spLocks noChangeShapeType="1"/>
          </p:cNvSpPr>
          <p:nvPr/>
        </p:nvSpPr>
        <p:spPr bwMode="auto">
          <a:xfrm>
            <a:off x="5029200" y="1752600"/>
            <a:ext cx="1371600" cy="3048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7787" name="Oval 27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7788" name="Oval 28"/>
          <p:cNvSpPr>
            <a:spLocks noChangeArrowheads="1"/>
          </p:cNvSpPr>
          <p:nvPr/>
        </p:nvSpPr>
        <p:spPr bwMode="auto">
          <a:xfrm>
            <a:off x="266382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7789" name="Text Box 29"/>
          <p:cNvSpPr txBox="1">
            <a:spLocks noChangeArrowheads="1"/>
          </p:cNvSpPr>
          <p:nvPr/>
        </p:nvSpPr>
        <p:spPr bwMode="auto">
          <a:xfrm>
            <a:off x="2644775" y="415448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117790" name="Oval 30"/>
          <p:cNvSpPr>
            <a:spLocks noChangeArrowheads="1"/>
          </p:cNvSpPr>
          <p:nvPr/>
        </p:nvSpPr>
        <p:spPr bwMode="auto">
          <a:xfrm>
            <a:off x="3673475" y="40544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7791" name="Text Box 31"/>
          <p:cNvSpPr txBox="1">
            <a:spLocks noChangeArrowheads="1"/>
          </p:cNvSpPr>
          <p:nvPr/>
        </p:nvSpPr>
        <p:spPr bwMode="auto">
          <a:xfrm>
            <a:off x="3654425" y="41544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38</a:t>
            </a:r>
            <a:endParaRPr lang="en-US" altLang="en-US" sz="2400"/>
          </a:p>
        </p:txBody>
      </p:sp>
      <p:sp>
        <p:nvSpPr>
          <p:cNvPr id="117792" name="Oval 32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7793" name="Text Box 33"/>
          <p:cNvSpPr txBox="1">
            <a:spLocks noChangeArrowheads="1"/>
          </p:cNvSpPr>
          <p:nvPr/>
        </p:nvSpPr>
        <p:spPr bwMode="auto">
          <a:xfrm>
            <a:off x="5334000" y="304958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117794" name="Oval 34"/>
          <p:cNvSpPr>
            <a:spLocks noChangeArrowheads="1"/>
          </p:cNvSpPr>
          <p:nvPr/>
        </p:nvSpPr>
        <p:spPr bwMode="auto">
          <a:xfrm>
            <a:off x="4683125" y="406082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7795" name="Text Box 35"/>
          <p:cNvSpPr txBox="1">
            <a:spLocks noChangeArrowheads="1"/>
          </p:cNvSpPr>
          <p:nvPr/>
        </p:nvSpPr>
        <p:spPr bwMode="auto">
          <a:xfrm>
            <a:off x="4664075" y="415766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17796" name="Oval 36"/>
          <p:cNvSpPr>
            <a:spLocks noChangeArrowheads="1"/>
          </p:cNvSpPr>
          <p:nvPr/>
        </p:nvSpPr>
        <p:spPr bwMode="auto">
          <a:xfrm>
            <a:off x="5692775" y="40608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7797" name="Text Box 37"/>
          <p:cNvSpPr txBox="1">
            <a:spLocks noChangeArrowheads="1"/>
          </p:cNvSpPr>
          <p:nvPr/>
        </p:nvSpPr>
        <p:spPr bwMode="auto">
          <a:xfrm>
            <a:off x="5673725" y="41608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117798" name="Oval 38"/>
          <p:cNvSpPr>
            <a:spLocks noChangeArrowheads="1"/>
          </p:cNvSpPr>
          <p:nvPr/>
        </p:nvSpPr>
        <p:spPr bwMode="auto">
          <a:xfrm>
            <a:off x="67024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7799" name="Text Box 39"/>
          <p:cNvSpPr txBox="1">
            <a:spLocks noChangeArrowheads="1"/>
          </p:cNvSpPr>
          <p:nvPr/>
        </p:nvSpPr>
        <p:spPr bwMode="auto">
          <a:xfrm>
            <a:off x="6683375" y="415925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</a:t>
            </a:r>
            <a:endParaRPr lang="en-US" altLang="en-US" sz="2400"/>
          </a:p>
        </p:txBody>
      </p:sp>
      <p:sp>
        <p:nvSpPr>
          <p:cNvPr id="117800" name="Oval 40"/>
          <p:cNvSpPr>
            <a:spLocks noChangeArrowheads="1"/>
          </p:cNvSpPr>
          <p:nvPr/>
        </p:nvSpPr>
        <p:spPr bwMode="auto">
          <a:xfrm>
            <a:off x="77120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7801" name="Text Box 41"/>
          <p:cNvSpPr txBox="1">
            <a:spLocks noChangeArrowheads="1"/>
          </p:cNvSpPr>
          <p:nvPr/>
        </p:nvSpPr>
        <p:spPr bwMode="auto">
          <a:xfrm>
            <a:off x="76930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17802" name="Line 42"/>
          <p:cNvSpPr>
            <a:spLocks noChangeShapeType="1"/>
          </p:cNvSpPr>
          <p:nvPr/>
        </p:nvSpPr>
        <p:spPr bwMode="auto">
          <a:xfrm flipH="1">
            <a:off x="9810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7803" name="Line 43"/>
          <p:cNvSpPr>
            <a:spLocks noChangeShapeType="1"/>
          </p:cNvSpPr>
          <p:nvPr/>
        </p:nvSpPr>
        <p:spPr bwMode="auto">
          <a:xfrm>
            <a:off x="19907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7804" name="Line 44"/>
          <p:cNvSpPr>
            <a:spLocks noChangeShapeType="1"/>
          </p:cNvSpPr>
          <p:nvPr/>
        </p:nvSpPr>
        <p:spPr bwMode="auto">
          <a:xfrm flipH="1">
            <a:off x="30003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7805" name="Line 45"/>
          <p:cNvSpPr>
            <a:spLocks noChangeShapeType="1"/>
          </p:cNvSpPr>
          <p:nvPr/>
        </p:nvSpPr>
        <p:spPr bwMode="auto">
          <a:xfrm>
            <a:off x="40100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7806" name="Line 46"/>
          <p:cNvSpPr>
            <a:spLocks noChangeShapeType="1"/>
          </p:cNvSpPr>
          <p:nvPr/>
        </p:nvSpPr>
        <p:spPr bwMode="auto">
          <a:xfrm flipH="1">
            <a:off x="50196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7807" name="Line 47"/>
          <p:cNvSpPr>
            <a:spLocks noChangeShapeType="1"/>
          </p:cNvSpPr>
          <p:nvPr/>
        </p:nvSpPr>
        <p:spPr bwMode="auto">
          <a:xfrm>
            <a:off x="60293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7808" name="Line 48"/>
          <p:cNvSpPr>
            <a:spLocks noChangeShapeType="1"/>
          </p:cNvSpPr>
          <p:nvPr/>
        </p:nvSpPr>
        <p:spPr bwMode="auto">
          <a:xfrm flipH="1">
            <a:off x="70389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7809" name="Line 49"/>
          <p:cNvSpPr>
            <a:spLocks noChangeShapeType="1"/>
          </p:cNvSpPr>
          <p:nvPr/>
        </p:nvSpPr>
        <p:spPr bwMode="auto">
          <a:xfrm>
            <a:off x="80486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7810" name="Text Box 50"/>
          <p:cNvSpPr txBox="1">
            <a:spLocks noChangeArrowheads="1"/>
          </p:cNvSpPr>
          <p:nvPr/>
        </p:nvSpPr>
        <p:spPr bwMode="auto">
          <a:xfrm>
            <a:off x="4514850" y="1976438"/>
            <a:ext cx="6731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117811" name="Text Box 51"/>
          <p:cNvSpPr txBox="1">
            <a:spLocks noChangeArrowheads="1"/>
          </p:cNvSpPr>
          <p:nvPr/>
        </p:nvSpPr>
        <p:spPr bwMode="auto">
          <a:xfrm>
            <a:off x="24955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117812" name="Text Box 52"/>
          <p:cNvSpPr txBox="1">
            <a:spLocks noChangeArrowheads="1"/>
          </p:cNvSpPr>
          <p:nvPr/>
        </p:nvSpPr>
        <p:spPr bwMode="auto">
          <a:xfrm>
            <a:off x="65341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117813" name="Text Box 53"/>
          <p:cNvSpPr txBox="1">
            <a:spLocks noChangeArrowheads="1"/>
          </p:cNvSpPr>
          <p:nvPr/>
        </p:nvSpPr>
        <p:spPr bwMode="auto">
          <a:xfrm>
            <a:off x="14859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117814" name="Text Box 54"/>
          <p:cNvSpPr txBox="1">
            <a:spLocks noChangeArrowheads="1"/>
          </p:cNvSpPr>
          <p:nvPr/>
        </p:nvSpPr>
        <p:spPr bwMode="auto">
          <a:xfrm>
            <a:off x="35052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117815" name="Text Box 55"/>
          <p:cNvSpPr txBox="1">
            <a:spLocks noChangeArrowheads="1"/>
          </p:cNvSpPr>
          <p:nvPr/>
        </p:nvSpPr>
        <p:spPr bwMode="auto">
          <a:xfrm>
            <a:off x="55245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117816" name="Text Box 56"/>
          <p:cNvSpPr txBox="1">
            <a:spLocks noChangeArrowheads="1"/>
          </p:cNvSpPr>
          <p:nvPr/>
        </p:nvSpPr>
        <p:spPr bwMode="auto">
          <a:xfrm>
            <a:off x="75438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117817" name="Text Box 57"/>
          <p:cNvSpPr txBox="1">
            <a:spLocks noChangeArrowheads="1"/>
          </p:cNvSpPr>
          <p:nvPr/>
        </p:nvSpPr>
        <p:spPr bwMode="auto">
          <a:xfrm>
            <a:off x="8128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117818" name="Text Box 58"/>
          <p:cNvSpPr txBox="1">
            <a:spLocks noChangeArrowheads="1"/>
          </p:cNvSpPr>
          <p:nvPr/>
        </p:nvSpPr>
        <p:spPr bwMode="auto">
          <a:xfrm>
            <a:off x="182245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117819" name="Text Box 59"/>
          <p:cNvSpPr txBox="1">
            <a:spLocks noChangeArrowheads="1"/>
          </p:cNvSpPr>
          <p:nvPr/>
        </p:nvSpPr>
        <p:spPr bwMode="auto">
          <a:xfrm>
            <a:off x="28321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117820" name="Text Box 60"/>
          <p:cNvSpPr txBox="1">
            <a:spLocks noChangeArrowheads="1"/>
          </p:cNvSpPr>
          <p:nvPr/>
        </p:nvSpPr>
        <p:spPr bwMode="auto">
          <a:xfrm>
            <a:off x="36734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117821" name="Text Box 61"/>
          <p:cNvSpPr txBox="1">
            <a:spLocks noChangeArrowheads="1"/>
          </p:cNvSpPr>
          <p:nvPr/>
        </p:nvSpPr>
        <p:spPr bwMode="auto">
          <a:xfrm>
            <a:off x="46831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117822" name="Text Box 62"/>
          <p:cNvSpPr txBox="1">
            <a:spLocks noChangeArrowheads="1"/>
          </p:cNvSpPr>
          <p:nvPr/>
        </p:nvSpPr>
        <p:spPr bwMode="auto">
          <a:xfrm>
            <a:off x="56927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117823" name="Text Box 63"/>
          <p:cNvSpPr txBox="1">
            <a:spLocks noChangeArrowheads="1"/>
          </p:cNvSpPr>
          <p:nvPr/>
        </p:nvSpPr>
        <p:spPr bwMode="auto">
          <a:xfrm>
            <a:off x="67024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117824" name="Text Box 64"/>
          <p:cNvSpPr txBox="1">
            <a:spLocks noChangeArrowheads="1"/>
          </p:cNvSpPr>
          <p:nvPr/>
        </p:nvSpPr>
        <p:spPr bwMode="auto">
          <a:xfrm>
            <a:off x="77120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117825" name="Oval 65"/>
          <p:cNvSpPr>
            <a:spLocks noChangeArrowheads="1"/>
          </p:cNvSpPr>
          <p:nvPr/>
        </p:nvSpPr>
        <p:spPr bwMode="auto">
          <a:xfrm>
            <a:off x="476250" y="514032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7826" name="Text Box 66"/>
          <p:cNvSpPr txBox="1">
            <a:spLocks noChangeArrowheads="1"/>
          </p:cNvSpPr>
          <p:nvPr/>
        </p:nvSpPr>
        <p:spPr bwMode="auto">
          <a:xfrm>
            <a:off x="457200" y="52387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27</a:t>
            </a:r>
            <a:endParaRPr lang="en-US" altLang="en-US" sz="2400"/>
          </a:p>
        </p:txBody>
      </p:sp>
      <p:sp>
        <p:nvSpPr>
          <p:cNvPr id="117827" name="Oval 67"/>
          <p:cNvSpPr>
            <a:spLocks noChangeArrowheads="1"/>
          </p:cNvSpPr>
          <p:nvPr/>
        </p:nvSpPr>
        <p:spPr bwMode="auto">
          <a:xfrm>
            <a:off x="1485900" y="513873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7828" name="Text Box 68"/>
          <p:cNvSpPr txBox="1">
            <a:spLocks noChangeArrowheads="1"/>
          </p:cNvSpPr>
          <p:nvPr/>
        </p:nvSpPr>
        <p:spPr bwMode="auto">
          <a:xfrm>
            <a:off x="1466850" y="5238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17829" name="Text Box 69"/>
          <p:cNvSpPr txBox="1">
            <a:spLocks noChangeArrowheads="1"/>
          </p:cNvSpPr>
          <p:nvPr/>
        </p:nvSpPr>
        <p:spPr bwMode="auto">
          <a:xfrm>
            <a:off x="148590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117830" name="Line 70"/>
          <p:cNvSpPr>
            <a:spLocks noChangeShapeType="1"/>
          </p:cNvSpPr>
          <p:nvPr/>
        </p:nvSpPr>
        <p:spPr bwMode="auto">
          <a:xfrm flipH="1">
            <a:off x="644525" y="467677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7831" name="Line 71"/>
          <p:cNvSpPr>
            <a:spLocks noChangeShapeType="1"/>
          </p:cNvSpPr>
          <p:nvPr/>
        </p:nvSpPr>
        <p:spPr bwMode="auto">
          <a:xfrm>
            <a:off x="1149350" y="467677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7832" name="Text Box 72"/>
          <p:cNvSpPr txBox="1">
            <a:spLocks noChangeArrowheads="1"/>
          </p:cNvSpPr>
          <p:nvPr/>
        </p:nvSpPr>
        <p:spPr bwMode="auto">
          <a:xfrm>
            <a:off x="47625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117833" name="Text Box 73"/>
          <p:cNvSpPr txBox="1">
            <a:spLocks noChangeArrowheads="1"/>
          </p:cNvSpPr>
          <p:nvPr/>
        </p:nvSpPr>
        <p:spPr bwMode="auto">
          <a:xfrm>
            <a:off x="3276600" y="3049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17834" name="Text Box 78"/>
          <p:cNvSpPr txBox="1">
            <a:spLocks noChangeArrowheads="1"/>
          </p:cNvSpPr>
          <p:nvPr/>
        </p:nvSpPr>
        <p:spPr bwMode="auto">
          <a:xfrm>
            <a:off x="2819400" y="5181600"/>
            <a:ext cx="60198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Drawing it this way, we can easily see that the initial array is not a heap</a:t>
            </a:r>
          </a:p>
        </p:txBody>
      </p:sp>
      <p:sp>
        <p:nvSpPr>
          <p:cNvPr id="117835" name="Rectangle 79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Forming an Initial Heap (cont.)</a:t>
            </a: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30F598F9-80C1-4E2A-BDC2-F2E15DFA97B7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117</a:t>
            </a:fld>
            <a:endParaRPr lang="en-US" altLang="en-US" sz="1400"/>
          </a:p>
        </p:txBody>
      </p:sp>
      <p:sp>
        <p:nvSpPr>
          <p:cNvPr id="118787" name="Oval 2"/>
          <p:cNvSpPr>
            <a:spLocks noChangeArrowheads="1"/>
          </p:cNvSpPr>
          <p:nvPr/>
        </p:nvSpPr>
        <p:spPr bwMode="auto">
          <a:xfrm>
            <a:off x="23272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8788" name="Text Box 3"/>
          <p:cNvSpPr txBox="1">
            <a:spLocks noChangeArrowheads="1"/>
          </p:cNvSpPr>
          <p:nvPr/>
        </p:nvSpPr>
        <p:spPr bwMode="auto">
          <a:xfrm>
            <a:off x="23082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31</a:t>
            </a:r>
            <a:endParaRPr lang="en-US" altLang="en-US" sz="2400"/>
          </a:p>
        </p:txBody>
      </p:sp>
      <p:sp>
        <p:nvSpPr>
          <p:cNvPr id="118789" name="Oval 4"/>
          <p:cNvSpPr>
            <a:spLocks noChangeArrowheads="1"/>
          </p:cNvSpPr>
          <p:nvPr/>
        </p:nvSpPr>
        <p:spPr bwMode="auto">
          <a:xfrm>
            <a:off x="13176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8790" name="Text Box 5"/>
          <p:cNvSpPr txBox="1">
            <a:spLocks noChangeArrowheads="1"/>
          </p:cNvSpPr>
          <p:nvPr/>
        </p:nvSpPr>
        <p:spPr bwMode="auto">
          <a:xfrm>
            <a:off x="1298575" y="307975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18791" name="Oval 6"/>
          <p:cNvSpPr>
            <a:spLocks noChangeArrowheads="1"/>
          </p:cNvSpPr>
          <p:nvPr/>
        </p:nvSpPr>
        <p:spPr bwMode="auto">
          <a:xfrm>
            <a:off x="6445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8792" name="Text Box 7"/>
          <p:cNvSpPr txBox="1">
            <a:spLocks noChangeArrowheads="1"/>
          </p:cNvSpPr>
          <p:nvPr/>
        </p:nvSpPr>
        <p:spPr bwMode="auto">
          <a:xfrm>
            <a:off x="625475" y="4159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18793" name="Text Box 8"/>
          <p:cNvSpPr txBox="1">
            <a:spLocks noChangeArrowheads="1"/>
          </p:cNvSpPr>
          <p:nvPr/>
        </p:nvSpPr>
        <p:spPr bwMode="auto">
          <a:xfrm>
            <a:off x="2057400" y="121285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118794" name="Oval 9"/>
          <p:cNvSpPr>
            <a:spLocks noChangeArrowheads="1"/>
          </p:cNvSpPr>
          <p:nvPr/>
        </p:nvSpPr>
        <p:spPr bwMode="auto">
          <a:xfrm>
            <a:off x="16541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FF33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8795" name="Text Box 10"/>
          <p:cNvSpPr txBox="1">
            <a:spLocks noChangeArrowheads="1"/>
          </p:cNvSpPr>
          <p:nvPr/>
        </p:nvSpPr>
        <p:spPr bwMode="auto">
          <a:xfrm>
            <a:off x="16351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12</a:t>
            </a:r>
            <a:endParaRPr lang="en-US" altLang="en-US" sz="2400"/>
          </a:p>
        </p:txBody>
      </p:sp>
      <p:sp>
        <p:nvSpPr>
          <p:cNvPr id="118796" name="Oval 11"/>
          <p:cNvSpPr>
            <a:spLocks noChangeArrowheads="1"/>
          </p:cNvSpPr>
          <p:nvPr/>
        </p:nvSpPr>
        <p:spPr bwMode="auto">
          <a:xfrm>
            <a:off x="4346575" y="14255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8797" name="Text Box 12"/>
          <p:cNvSpPr txBox="1">
            <a:spLocks noChangeArrowheads="1"/>
          </p:cNvSpPr>
          <p:nvPr/>
        </p:nvSpPr>
        <p:spPr bwMode="auto">
          <a:xfrm>
            <a:off x="4327525" y="1525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6</a:t>
            </a:r>
            <a:endParaRPr lang="en-US" altLang="en-US" sz="2400"/>
          </a:p>
        </p:txBody>
      </p:sp>
      <p:sp>
        <p:nvSpPr>
          <p:cNvPr id="118798" name="Line 13"/>
          <p:cNvSpPr>
            <a:spLocks noChangeShapeType="1"/>
          </p:cNvSpPr>
          <p:nvPr/>
        </p:nvSpPr>
        <p:spPr bwMode="auto">
          <a:xfrm>
            <a:off x="2832100" y="152082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8799" name="Oval 14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8800" name="Line 15"/>
          <p:cNvSpPr>
            <a:spLocks noChangeShapeType="1"/>
          </p:cNvSpPr>
          <p:nvPr/>
        </p:nvSpPr>
        <p:spPr bwMode="auto">
          <a:xfrm flipH="1">
            <a:off x="182245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8801" name="Line 16"/>
          <p:cNvSpPr>
            <a:spLocks noChangeShapeType="1"/>
          </p:cNvSpPr>
          <p:nvPr/>
        </p:nvSpPr>
        <p:spPr bwMode="auto">
          <a:xfrm>
            <a:off x="283210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8802" name="Oval 17"/>
          <p:cNvSpPr>
            <a:spLocks noChangeArrowheads="1"/>
          </p:cNvSpPr>
          <p:nvPr/>
        </p:nvSpPr>
        <p:spPr bwMode="auto">
          <a:xfrm>
            <a:off x="63658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8803" name="Text Box 18"/>
          <p:cNvSpPr txBox="1">
            <a:spLocks noChangeArrowheads="1"/>
          </p:cNvSpPr>
          <p:nvPr/>
        </p:nvSpPr>
        <p:spPr bwMode="auto">
          <a:xfrm>
            <a:off x="63468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18804" name="Oval 19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8805" name="Oval 20"/>
          <p:cNvSpPr>
            <a:spLocks noChangeArrowheads="1"/>
          </p:cNvSpPr>
          <p:nvPr/>
        </p:nvSpPr>
        <p:spPr bwMode="auto">
          <a:xfrm>
            <a:off x="73755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8806" name="Text Box 21"/>
          <p:cNvSpPr txBox="1">
            <a:spLocks noChangeArrowheads="1"/>
          </p:cNvSpPr>
          <p:nvPr/>
        </p:nvSpPr>
        <p:spPr bwMode="auto">
          <a:xfrm>
            <a:off x="7356475" y="3079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18807" name="Line 22"/>
          <p:cNvSpPr>
            <a:spLocks noChangeShapeType="1"/>
          </p:cNvSpPr>
          <p:nvPr/>
        </p:nvSpPr>
        <p:spPr bwMode="auto">
          <a:xfrm flipH="1">
            <a:off x="586105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8808" name="Line 23"/>
          <p:cNvSpPr>
            <a:spLocks noChangeShapeType="1"/>
          </p:cNvSpPr>
          <p:nvPr/>
        </p:nvSpPr>
        <p:spPr bwMode="auto">
          <a:xfrm>
            <a:off x="687070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8809" name="Line 24"/>
          <p:cNvSpPr>
            <a:spLocks noChangeShapeType="1"/>
          </p:cNvSpPr>
          <p:nvPr/>
        </p:nvSpPr>
        <p:spPr bwMode="auto">
          <a:xfrm flipH="1">
            <a:off x="3000375" y="1828800"/>
            <a:ext cx="1343025" cy="2270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8810" name="Line 25"/>
          <p:cNvSpPr>
            <a:spLocks noChangeShapeType="1"/>
          </p:cNvSpPr>
          <p:nvPr/>
        </p:nvSpPr>
        <p:spPr bwMode="auto">
          <a:xfrm>
            <a:off x="5029200" y="1752600"/>
            <a:ext cx="1371600" cy="3048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8811" name="Oval 26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8812" name="Oval 27"/>
          <p:cNvSpPr>
            <a:spLocks noChangeArrowheads="1"/>
          </p:cNvSpPr>
          <p:nvPr/>
        </p:nvSpPr>
        <p:spPr bwMode="auto">
          <a:xfrm>
            <a:off x="266382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FF33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8813" name="Text Box 28"/>
          <p:cNvSpPr txBox="1">
            <a:spLocks noChangeArrowheads="1"/>
          </p:cNvSpPr>
          <p:nvPr/>
        </p:nvSpPr>
        <p:spPr bwMode="auto">
          <a:xfrm>
            <a:off x="2644775" y="415448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118814" name="Oval 29"/>
          <p:cNvSpPr>
            <a:spLocks noChangeArrowheads="1"/>
          </p:cNvSpPr>
          <p:nvPr/>
        </p:nvSpPr>
        <p:spPr bwMode="auto">
          <a:xfrm>
            <a:off x="3673475" y="40544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FF33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8815" name="Text Box 30"/>
          <p:cNvSpPr txBox="1">
            <a:spLocks noChangeArrowheads="1"/>
          </p:cNvSpPr>
          <p:nvPr/>
        </p:nvSpPr>
        <p:spPr bwMode="auto">
          <a:xfrm>
            <a:off x="3654425" y="41544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38</a:t>
            </a:r>
            <a:endParaRPr lang="en-US" altLang="en-US" sz="2400"/>
          </a:p>
        </p:txBody>
      </p:sp>
      <p:sp>
        <p:nvSpPr>
          <p:cNvPr id="118816" name="Oval 31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8817" name="Text Box 32"/>
          <p:cNvSpPr txBox="1">
            <a:spLocks noChangeArrowheads="1"/>
          </p:cNvSpPr>
          <p:nvPr/>
        </p:nvSpPr>
        <p:spPr bwMode="auto">
          <a:xfrm>
            <a:off x="5334000" y="304958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118818" name="Oval 33"/>
          <p:cNvSpPr>
            <a:spLocks noChangeArrowheads="1"/>
          </p:cNvSpPr>
          <p:nvPr/>
        </p:nvSpPr>
        <p:spPr bwMode="auto">
          <a:xfrm>
            <a:off x="4683125" y="406082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FF33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8819" name="Text Box 34"/>
          <p:cNvSpPr txBox="1">
            <a:spLocks noChangeArrowheads="1"/>
          </p:cNvSpPr>
          <p:nvPr/>
        </p:nvSpPr>
        <p:spPr bwMode="auto">
          <a:xfrm>
            <a:off x="4664075" y="415766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18820" name="Oval 35"/>
          <p:cNvSpPr>
            <a:spLocks noChangeArrowheads="1"/>
          </p:cNvSpPr>
          <p:nvPr/>
        </p:nvSpPr>
        <p:spPr bwMode="auto">
          <a:xfrm>
            <a:off x="5692775" y="40608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FF33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8821" name="Text Box 36"/>
          <p:cNvSpPr txBox="1">
            <a:spLocks noChangeArrowheads="1"/>
          </p:cNvSpPr>
          <p:nvPr/>
        </p:nvSpPr>
        <p:spPr bwMode="auto">
          <a:xfrm>
            <a:off x="5673725" y="41608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118822" name="Oval 37"/>
          <p:cNvSpPr>
            <a:spLocks noChangeArrowheads="1"/>
          </p:cNvSpPr>
          <p:nvPr/>
        </p:nvSpPr>
        <p:spPr bwMode="auto">
          <a:xfrm>
            <a:off x="67024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FF33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8823" name="Text Box 38"/>
          <p:cNvSpPr txBox="1">
            <a:spLocks noChangeArrowheads="1"/>
          </p:cNvSpPr>
          <p:nvPr/>
        </p:nvSpPr>
        <p:spPr bwMode="auto">
          <a:xfrm>
            <a:off x="6683375" y="415925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</a:t>
            </a:r>
            <a:endParaRPr lang="en-US" altLang="en-US" sz="2400"/>
          </a:p>
        </p:txBody>
      </p:sp>
      <p:sp>
        <p:nvSpPr>
          <p:cNvPr id="118824" name="Oval 39"/>
          <p:cNvSpPr>
            <a:spLocks noChangeArrowheads="1"/>
          </p:cNvSpPr>
          <p:nvPr/>
        </p:nvSpPr>
        <p:spPr bwMode="auto">
          <a:xfrm>
            <a:off x="77120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FF33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8825" name="Text Box 40"/>
          <p:cNvSpPr txBox="1">
            <a:spLocks noChangeArrowheads="1"/>
          </p:cNvSpPr>
          <p:nvPr/>
        </p:nvSpPr>
        <p:spPr bwMode="auto">
          <a:xfrm>
            <a:off x="76930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18826" name="Line 41"/>
          <p:cNvSpPr>
            <a:spLocks noChangeShapeType="1"/>
          </p:cNvSpPr>
          <p:nvPr/>
        </p:nvSpPr>
        <p:spPr bwMode="auto">
          <a:xfrm flipH="1">
            <a:off x="9810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8827" name="Line 42"/>
          <p:cNvSpPr>
            <a:spLocks noChangeShapeType="1"/>
          </p:cNvSpPr>
          <p:nvPr/>
        </p:nvSpPr>
        <p:spPr bwMode="auto">
          <a:xfrm>
            <a:off x="19907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8828" name="Line 43"/>
          <p:cNvSpPr>
            <a:spLocks noChangeShapeType="1"/>
          </p:cNvSpPr>
          <p:nvPr/>
        </p:nvSpPr>
        <p:spPr bwMode="auto">
          <a:xfrm flipH="1">
            <a:off x="30003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8829" name="Line 44"/>
          <p:cNvSpPr>
            <a:spLocks noChangeShapeType="1"/>
          </p:cNvSpPr>
          <p:nvPr/>
        </p:nvSpPr>
        <p:spPr bwMode="auto">
          <a:xfrm>
            <a:off x="40100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8830" name="Line 45"/>
          <p:cNvSpPr>
            <a:spLocks noChangeShapeType="1"/>
          </p:cNvSpPr>
          <p:nvPr/>
        </p:nvSpPr>
        <p:spPr bwMode="auto">
          <a:xfrm flipH="1">
            <a:off x="50196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8831" name="Line 46"/>
          <p:cNvSpPr>
            <a:spLocks noChangeShapeType="1"/>
          </p:cNvSpPr>
          <p:nvPr/>
        </p:nvSpPr>
        <p:spPr bwMode="auto">
          <a:xfrm>
            <a:off x="60293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8832" name="Line 47"/>
          <p:cNvSpPr>
            <a:spLocks noChangeShapeType="1"/>
          </p:cNvSpPr>
          <p:nvPr/>
        </p:nvSpPr>
        <p:spPr bwMode="auto">
          <a:xfrm flipH="1">
            <a:off x="70389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8833" name="Line 48"/>
          <p:cNvSpPr>
            <a:spLocks noChangeShapeType="1"/>
          </p:cNvSpPr>
          <p:nvPr/>
        </p:nvSpPr>
        <p:spPr bwMode="auto">
          <a:xfrm>
            <a:off x="80486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8834" name="Text Box 49"/>
          <p:cNvSpPr txBox="1">
            <a:spLocks noChangeArrowheads="1"/>
          </p:cNvSpPr>
          <p:nvPr/>
        </p:nvSpPr>
        <p:spPr bwMode="auto">
          <a:xfrm>
            <a:off x="4514850" y="1976438"/>
            <a:ext cx="6731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118835" name="Text Box 50"/>
          <p:cNvSpPr txBox="1">
            <a:spLocks noChangeArrowheads="1"/>
          </p:cNvSpPr>
          <p:nvPr/>
        </p:nvSpPr>
        <p:spPr bwMode="auto">
          <a:xfrm>
            <a:off x="24955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118836" name="Text Box 51"/>
          <p:cNvSpPr txBox="1">
            <a:spLocks noChangeArrowheads="1"/>
          </p:cNvSpPr>
          <p:nvPr/>
        </p:nvSpPr>
        <p:spPr bwMode="auto">
          <a:xfrm>
            <a:off x="65341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118837" name="Text Box 52"/>
          <p:cNvSpPr txBox="1">
            <a:spLocks noChangeArrowheads="1"/>
          </p:cNvSpPr>
          <p:nvPr/>
        </p:nvSpPr>
        <p:spPr bwMode="auto">
          <a:xfrm>
            <a:off x="14859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118838" name="Text Box 53"/>
          <p:cNvSpPr txBox="1">
            <a:spLocks noChangeArrowheads="1"/>
          </p:cNvSpPr>
          <p:nvPr/>
        </p:nvSpPr>
        <p:spPr bwMode="auto">
          <a:xfrm>
            <a:off x="35052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118839" name="Text Box 54"/>
          <p:cNvSpPr txBox="1">
            <a:spLocks noChangeArrowheads="1"/>
          </p:cNvSpPr>
          <p:nvPr/>
        </p:nvSpPr>
        <p:spPr bwMode="auto">
          <a:xfrm>
            <a:off x="55245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118840" name="Text Box 55"/>
          <p:cNvSpPr txBox="1">
            <a:spLocks noChangeArrowheads="1"/>
          </p:cNvSpPr>
          <p:nvPr/>
        </p:nvSpPr>
        <p:spPr bwMode="auto">
          <a:xfrm>
            <a:off x="75438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118841" name="Text Box 56"/>
          <p:cNvSpPr txBox="1">
            <a:spLocks noChangeArrowheads="1"/>
          </p:cNvSpPr>
          <p:nvPr/>
        </p:nvSpPr>
        <p:spPr bwMode="auto">
          <a:xfrm>
            <a:off x="8128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118842" name="Text Box 57"/>
          <p:cNvSpPr txBox="1">
            <a:spLocks noChangeArrowheads="1"/>
          </p:cNvSpPr>
          <p:nvPr/>
        </p:nvSpPr>
        <p:spPr bwMode="auto">
          <a:xfrm>
            <a:off x="182245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118843" name="Text Box 58"/>
          <p:cNvSpPr txBox="1">
            <a:spLocks noChangeArrowheads="1"/>
          </p:cNvSpPr>
          <p:nvPr/>
        </p:nvSpPr>
        <p:spPr bwMode="auto">
          <a:xfrm>
            <a:off x="28321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118844" name="Text Box 59"/>
          <p:cNvSpPr txBox="1">
            <a:spLocks noChangeArrowheads="1"/>
          </p:cNvSpPr>
          <p:nvPr/>
        </p:nvSpPr>
        <p:spPr bwMode="auto">
          <a:xfrm>
            <a:off x="36734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118845" name="Text Box 60"/>
          <p:cNvSpPr txBox="1">
            <a:spLocks noChangeArrowheads="1"/>
          </p:cNvSpPr>
          <p:nvPr/>
        </p:nvSpPr>
        <p:spPr bwMode="auto">
          <a:xfrm>
            <a:off x="46831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118846" name="Text Box 61"/>
          <p:cNvSpPr txBox="1">
            <a:spLocks noChangeArrowheads="1"/>
          </p:cNvSpPr>
          <p:nvPr/>
        </p:nvSpPr>
        <p:spPr bwMode="auto">
          <a:xfrm>
            <a:off x="56927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118847" name="Text Box 62"/>
          <p:cNvSpPr txBox="1">
            <a:spLocks noChangeArrowheads="1"/>
          </p:cNvSpPr>
          <p:nvPr/>
        </p:nvSpPr>
        <p:spPr bwMode="auto">
          <a:xfrm>
            <a:off x="67024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118848" name="Text Box 63"/>
          <p:cNvSpPr txBox="1">
            <a:spLocks noChangeArrowheads="1"/>
          </p:cNvSpPr>
          <p:nvPr/>
        </p:nvSpPr>
        <p:spPr bwMode="auto">
          <a:xfrm>
            <a:off x="77120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118849" name="Oval 64"/>
          <p:cNvSpPr>
            <a:spLocks noChangeArrowheads="1"/>
          </p:cNvSpPr>
          <p:nvPr/>
        </p:nvSpPr>
        <p:spPr bwMode="auto">
          <a:xfrm>
            <a:off x="476250" y="514032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FF33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8850" name="Text Box 65"/>
          <p:cNvSpPr txBox="1">
            <a:spLocks noChangeArrowheads="1"/>
          </p:cNvSpPr>
          <p:nvPr/>
        </p:nvSpPr>
        <p:spPr bwMode="auto">
          <a:xfrm>
            <a:off x="457200" y="52387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27</a:t>
            </a:r>
            <a:endParaRPr lang="en-US" altLang="en-US" sz="2400"/>
          </a:p>
        </p:txBody>
      </p:sp>
      <p:sp>
        <p:nvSpPr>
          <p:cNvPr id="118851" name="Oval 66"/>
          <p:cNvSpPr>
            <a:spLocks noChangeArrowheads="1"/>
          </p:cNvSpPr>
          <p:nvPr/>
        </p:nvSpPr>
        <p:spPr bwMode="auto">
          <a:xfrm>
            <a:off x="1485900" y="513873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FF33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8852" name="Text Box 67"/>
          <p:cNvSpPr txBox="1">
            <a:spLocks noChangeArrowheads="1"/>
          </p:cNvSpPr>
          <p:nvPr/>
        </p:nvSpPr>
        <p:spPr bwMode="auto">
          <a:xfrm>
            <a:off x="1466850" y="5238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18853" name="Text Box 68"/>
          <p:cNvSpPr txBox="1">
            <a:spLocks noChangeArrowheads="1"/>
          </p:cNvSpPr>
          <p:nvPr/>
        </p:nvSpPr>
        <p:spPr bwMode="auto">
          <a:xfrm>
            <a:off x="148590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118854" name="Line 69"/>
          <p:cNvSpPr>
            <a:spLocks noChangeShapeType="1"/>
          </p:cNvSpPr>
          <p:nvPr/>
        </p:nvSpPr>
        <p:spPr bwMode="auto">
          <a:xfrm flipH="1">
            <a:off x="644525" y="467677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8855" name="Line 70"/>
          <p:cNvSpPr>
            <a:spLocks noChangeShapeType="1"/>
          </p:cNvSpPr>
          <p:nvPr/>
        </p:nvSpPr>
        <p:spPr bwMode="auto">
          <a:xfrm>
            <a:off x="1149350" y="467677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8856" name="Text Box 71"/>
          <p:cNvSpPr txBox="1">
            <a:spLocks noChangeArrowheads="1"/>
          </p:cNvSpPr>
          <p:nvPr/>
        </p:nvSpPr>
        <p:spPr bwMode="auto">
          <a:xfrm>
            <a:off x="47625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118857" name="Text Box 72"/>
          <p:cNvSpPr txBox="1">
            <a:spLocks noChangeArrowheads="1"/>
          </p:cNvSpPr>
          <p:nvPr/>
        </p:nvSpPr>
        <p:spPr bwMode="auto">
          <a:xfrm>
            <a:off x="3276600" y="3049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18858" name="Text Box 73"/>
          <p:cNvSpPr txBox="1">
            <a:spLocks noChangeArrowheads="1"/>
          </p:cNvSpPr>
          <p:nvPr/>
        </p:nvSpPr>
        <p:spPr bwMode="auto">
          <a:xfrm>
            <a:off x="2819400" y="5181600"/>
            <a:ext cx="60198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We realize that nodes 8 through 16 are subheaps of only one node.</a:t>
            </a:r>
          </a:p>
        </p:txBody>
      </p:sp>
      <p:sp>
        <p:nvSpPr>
          <p:cNvPr id="118859" name="Rectangle 74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Forming an Initial Heap (cont.)</a:t>
            </a: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5B80E0A2-1FA7-452A-A9FB-6A8D1A55D0E7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118</a:t>
            </a:fld>
            <a:endParaRPr lang="en-US" altLang="en-US" sz="1400"/>
          </a:p>
        </p:txBody>
      </p:sp>
      <p:sp>
        <p:nvSpPr>
          <p:cNvPr id="119811" name="Oval 2"/>
          <p:cNvSpPr>
            <a:spLocks noChangeArrowheads="1"/>
          </p:cNvSpPr>
          <p:nvPr/>
        </p:nvSpPr>
        <p:spPr bwMode="auto">
          <a:xfrm>
            <a:off x="23272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9812" name="Text Box 3"/>
          <p:cNvSpPr txBox="1">
            <a:spLocks noChangeArrowheads="1"/>
          </p:cNvSpPr>
          <p:nvPr/>
        </p:nvSpPr>
        <p:spPr bwMode="auto">
          <a:xfrm>
            <a:off x="23082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31</a:t>
            </a:r>
            <a:endParaRPr lang="en-US" altLang="en-US" sz="2400"/>
          </a:p>
        </p:txBody>
      </p:sp>
      <p:sp>
        <p:nvSpPr>
          <p:cNvPr id="119813" name="Oval 4"/>
          <p:cNvSpPr>
            <a:spLocks noChangeArrowheads="1"/>
          </p:cNvSpPr>
          <p:nvPr/>
        </p:nvSpPr>
        <p:spPr bwMode="auto">
          <a:xfrm>
            <a:off x="13176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9814" name="Text Box 5"/>
          <p:cNvSpPr txBox="1">
            <a:spLocks noChangeArrowheads="1"/>
          </p:cNvSpPr>
          <p:nvPr/>
        </p:nvSpPr>
        <p:spPr bwMode="auto">
          <a:xfrm>
            <a:off x="1298575" y="307975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19815" name="Oval 6"/>
          <p:cNvSpPr>
            <a:spLocks noChangeArrowheads="1"/>
          </p:cNvSpPr>
          <p:nvPr/>
        </p:nvSpPr>
        <p:spPr bwMode="auto">
          <a:xfrm>
            <a:off x="6445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9816" name="Text Box 7"/>
          <p:cNvSpPr txBox="1">
            <a:spLocks noChangeArrowheads="1"/>
          </p:cNvSpPr>
          <p:nvPr/>
        </p:nvSpPr>
        <p:spPr bwMode="auto">
          <a:xfrm>
            <a:off x="625475" y="4159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19817" name="Text Box 8"/>
          <p:cNvSpPr txBox="1">
            <a:spLocks noChangeArrowheads="1"/>
          </p:cNvSpPr>
          <p:nvPr/>
        </p:nvSpPr>
        <p:spPr bwMode="auto">
          <a:xfrm>
            <a:off x="2057400" y="121285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119818" name="Oval 9"/>
          <p:cNvSpPr>
            <a:spLocks noChangeArrowheads="1"/>
          </p:cNvSpPr>
          <p:nvPr/>
        </p:nvSpPr>
        <p:spPr bwMode="auto">
          <a:xfrm>
            <a:off x="16541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9819" name="Text Box 10"/>
          <p:cNvSpPr txBox="1">
            <a:spLocks noChangeArrowheads="1"/>
          </p:cNvSpPr>
          <p:nvPr/>
        </p:nvSpPr>
        <p:spPr bwMode="auto">
          <a:xfrm>
            <a:off x="16351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12</a:t>
            </a:r>
            <a:endParaRPr lang="en-US" altLang="en-US" sz="2400"/>
          </a:p>
        </p:txBody>
      </p:sp>
      <p:sp>
        <p:nvSpPr>
          <p:cNvPr id="119820" name="Oval 11"/>
          <p:cNvSpPr>
            <a:spLocks noChangeArrowheads="1"/>
          </p:cNvSpPr>
          <p:nvPr/>
        </p:nvSpPr>
        <p:spPr bwMode="auto">
          <a:xfrm>
            <a:off x="4346575" y="14255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9821" name="Text Box 12"/>
          <p:cNvSpPr txBox="1">
            <a:spLocks noChangeArrowheads="1"/>
          </p:cNvSpPr>
          <p:nvPr/>
        </p:nvSpPr>
        <p:spPr bwMode="auto">
          <a:xfrm>
            <a:off x="4327525" y="1525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6</a:t>
            </a:r>
            <a:endParaRPr lang="en-US" altLang="en-US" sz="2400"/>
          </a:p>
        </p:txBody>
      </p:sp>
      <p:sp>
        <p:nvSpPr>
          <p:cNvPr id="119822" name="Line 13"/>
          <p:cNvSpPr>
            <a:spLocks noChangeShapeType="1"/>
          </p:cNvSpPr>
          <p:nvPr/>
        </p:nvSpPr>
        <p:spPr bwMode="auto">
          <a:xfrm>
            <a:off x="2832100" y="152082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9823" name="Oval 14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9824" name="Line 15"/>
          <p:cNvSpPr>
            <a:spLocks noChangeShapeType="1"/>
          </p:cNvSpPr>
          <p:nvPr/>
        </p:nvSpPr>
        <p:spPr bwMode="auto">
          <a:xfrm flipH="1">
            <a:off x="182245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9825" name="Line 16"/>
          <p:cNvSpPr>
            <a:spLocks noChangeShapeType="1"/>
          </p:cNvSpPr>
          <p:nvPr/>
        </p:nvSpPr>
        <p:spPr bwMode="auto">
          <a:xfrm>
            <a:off x="283210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9826" name="Oval 17"/>
          <p:cNvSpPr>
            <a:spLocks noChangeArrowheads="1"/>
          </p:cNvSpPr>
          <p:nvPr/>
        </p:nvSpPr>
        <p:spPr bwMode="auto">
          <a:xfrm>
            <a:off x="63658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9827" name="Text Box 18"/>
          <p:cNvSpPr txBox="1">
            <a:spLocks noChangeArrowheads="1"/>
          </p:cNvSpPr>
          <p:nvPr/>
        </p:nvSpPr>
        <p:spPr bwMode="auto">
          <a:xfrm>
            <a:off x="63468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19828" name="Oval 19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9829" name="Oval 20"/>
          <p:cNvSpPr>
            <a:spLocks noChangeArrowheads="1"/>
          </p:cNvSpPr>
          <p:nvPr/>
        </p:nvSpPr>
        <p:spPr bwMode="auto">
          <a:xfrm>
            <a:off x="73755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9830" name="Text Box 21"/>
          <p:cNvSpPr txBox="1">
            <a:spLocks noChangeArrowheads="1"/>
          </p:cNvSpPr>
          <p:nvPr/>
        </p:nvSpPr>
        <p:spPr bwMode="auto">
          <a:xfrm>
            <a:off x="7356475" y="3079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19831" name="Line 22"/>
          <p:cNvSpPr>
            <a:spLocks noChangeShapeType="1"/>
          </p:cNvSpPr>
          <p:nvPr/>
        </p:nvSpPr>
        <p:spPr bwMode="auto">
          <a:xfrm flipH="1">
            <a:off x="586105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9832" name="Line 23"/>
          <p:cNvSpPr>
            <a:spLocks noChangeShapeType="1"/>
          </p:cNvSpPr>
          <p:nvPr/>
        </p:nvSpPr>
        <p:spPr bwMode="auto">
          <a:xfrm>
            <a:off x="687070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9833" name="Line 24"/>
          <p:cNvSpPr>
            <a:spLocks noChangeShapeType="1"/>
          </p:cNvSpPr>
          <p:nvPr/>
        </p:nvSpPr>
        <p:spPr bwMode="auto">
          <a:xfrm flipH="1">
            <a:off x="3000375" y="1828800"/>
            <a:ext cx="1343025" cy="2270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9834" name="Line 25"/>
          <p:cNvSpPr>
            <a:spLocks noChangeShapeType="1"/>
          </p:cNvSpPr>
          <p:nvPr/>
        </p:nvSpPr>
        <p:spPr bwMode="auto">
          <a:xfrm>
            <a:off x="5029200" y="1752600"/>
            <a:ext cx="1371600" cy="3048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9835" name="Oval 26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9836" name="Oval 27"/>
          <p:cNvSpPr>
            <a:spLocks noChangeArrowheads="1"/>
          </p:cNvSpPr>
          <p:nvPr/>
        </p:nvSpPr>
        <p:spPr bwMode="auto">
          <a:xfrm>
            <a:off x="266382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9837" name="Text Box 28"/>
          <p:cNvSpPr txBox="1">
            <a:spLocks noChangeArrowheads="1"/>
          </p:cNvSpPr>
          <p:nvPr/>
        </p:nvSpPr>
        <p:spPr bwMode="auto">
          <a:xfrm>
            <a:off x="2644775" y="415448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119838" name="Oval 29"/>
          <p:cNvSpPr>
            <a:spLocks noChangeArrowheads="1"/>
          </p:cNvSpPr>
          <p:nvPr/>
        </p:nvSpPr>
        <p:spPr bwMode="auto">
          <a:xfrm>
            <a:off x="3673475" y="40544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9839" name="Text Box 30"/>
          <p:cNvSpPr txBox="1">
            <a:spLocks noChangeArrowheads="1"/>
          </p:cNvSpPr>
          <p:nvPr/>
        </p:nvSpPr>
        <p:spPr bwMode="auto">
          <a:xfrm>
            <a:off x="3654425" y="41544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38</a:t>
            </a:r>
            <a:endParaRPr lang="en-US" altLang="en-US" sz="2400"/>
          </a:p>
        </p:txBody>
      </p:sp>
      <p:sp>
        <p:nvSpPr>
          <p:cNvPr id="119840" name="Oval 31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9841" name="Text Box 32"/>
          <p:cNvSpPr txBox="1">
            <a:spLocks noChangeArrowheads="1"/>
          </p:cNvSpPr>
          <p:nvPr/>
        </p:nvSpPr>
        <p:spPr bwMode="auto">
          <a:xfrm>
            <a:off x="5334000" y="304958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119842" name="Oval 33"/>
          <p:cNvSpPr>
            <a:spLocks noChangeArrowheads="1"/>
          </p:cNvSpPr>
          <p:nvPr/>
        </p:nvSpPr>
        <p:spPr bwMode="auto">
          <a:xfrm>
            <a:off x="4683125" y="406082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9843" name="Text Box 34"/>
          <p:cNvSpPr txBox="1">
            <a:spLocks noChangeArrowheads="1"/>
          </p:cNvSpPr>
          <p:nvPr/>
        </p:nvSpPr>
        <p:spPr bwMode="auto">
          <a:xfrm>
            <a:off x="4664075" y="415766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19844" name="Oval 35"/>
          <p:cNvSpPr>
            <a:spLocks noChangeArrowheads="1"/>
          </p:cNvSpPr>
          <p:nvPr/>
        </p:nvSpPr>
        <p:spPr bwMode="auto">
          <a:xfrm>
            <a:off x="5692775" y="40608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9845" name="Text Box 36"/>
          <p:cNvSpPr txBox="1">
            <a:spLocks noChangeArrowheads="1"/>
          </p:cNvSpPr>
          <p:nvPr/>
        </p:nvSpPr>
        <p:spPr bwMode="auto">
          <a:xfrm>
            <a:off x="5673725" y="41608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119846" name="Oval 37"/>
          <p:cNvSpPr>
            <a:spLocks noChangeArrowheads="1"/>
          </p:cNvSpPr>
          <p:nvPr/>
        </p:nvSpPr>
        <p:spPr bwMode="auto">
          <a:xfrm>
            <a:off x="67024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9847" name="Text Box 38"/>
          <p:cNvSpPr txBox="1">
            <a:spLocks noChangeArrowheads="1"/>
          </p:cNvSpPr>
          <p:nvPr/>
        </p:nvSpPr>
        <p:spPr bwMode="auto">
          <a:xfrm>
            <a:off x="6683375" y="415925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</a:t>
            </a:r>
            <a:endParaRPr lang="en-US" altLang="en-US" sz="2400"/>
          </a:p>
        </p:txBody>
      </p:sp>
      <p:sp>
        <p:nvSpPr>
          <p:cNvPr id="119848" name="Oval 39"/>
          <p:cNvSpPr>
            <a:spLocks noChangeArrowheads="1"/>
          </p:cNvSpPr>
          <p:nvPr/>
        </p:nvSpPr>
        <p:spPr bwMode="auto">
          <a:xfrm>
            <a:off x="77120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9849" name="Text Box 40"/>
          <p:cNvSpPr txBox="1">
            <a:spLocks noChangeArrowheads="1"/>
          </p:cNvSpPr>
          <p:nvPr/>
        </p:nvSpPr>
        <p:spPr bwMode="auto">
          <a:xfrm>
            <a:off x="76930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19850" name="Line 41"/>
          <p:cNvSpPr>
            <a:spLocks noChangeShapeType="1"/>
          </p:cNvSpPr>
          <p:nvPr/>
        </p:nvSpPr>
        <p:spPr bwMode="auto">
          <a:xfrm flipH="1">
            <a:off x="9810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9851" name="Line 42"/>
          <p:cNvSpPr>
            <a:spLocks noChangeShapeType="1"/>
          </p:cNvSpPr>
          <p:nvPr/>
        </p:nvSpPr>
        <p:spPr bwMode="auto">
          <a:xfrm>
            <a:off x="19907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9852" name="Line 43"/>
          <p:cNvSpPr>
            <a:spLocks noChangeShapeType="1"/>
          </p:cNvSpPr>
          <p:nvPr/>
        </p:nvSpPr>
        <p:spPr bwMode="auto">
          <a:xfrm flipH="1">
            <a:off x="30003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9853" name="Line 44"/>
          <p:cNvSpPr>
            <a:spLocks noChangeShapeType="1"/>
          </p:cNvSpPr>
          <p:nvPr/>
        </p:nvSpPr>
        <p:spPr bwMode="auto">
          <a:xfrm>
            <a:off x="40100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9854" name="Line 45"/>
          <p:cNvSpPr>
            <a:spLocks noChangeShapeType="1"/>
          </p:cNvSpPr>
          <p:nvPr/>
        </p:nvSpPr>
        <p:spPr bwMode="auto">
          <a:xfrm flipH="1">
            <a:off x="50196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9855" name="Line 46"/>
          <p:cNvSpPr>
            <a:spLocks noChangeShapeType="1"/>
          </p:cNvSpPr>
          <p:nvPr/>
        </p:nvSpPr>
        <p:spPr bwMode="auto">
          <a:xfrm>
            <a:off x="60293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9856" name="Line 47"/>
          <p:cNvSpPr>
            <a:spLocks noChangeShapeType="1"/>
          </p:cNvSpPr>
          <p:nvPr/>
        </p:nvSpPr>
        <p:spPr bwMode="auto">
          <a:xfrm flipH="1">
            <a:off x="70389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9857" name="Line 48"/>
          <p:cNvSpPr>
            <a:spLocks noChangeShapeType="1"/>
          </p:cNvSpPr>
          <p:nvPr/>
        </p:nvSpPr>
        <p:spPr bwMode="auto">
          <a:xfrm>
            <a:off x="80486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9858" name="Text Box 49"/>
          <p:cNvSpPr txBox="1">
            <a:spLocks noChangeArrowheads="1"/>
          </p:cNvSpPr>
          <p:nvPr/>
        </p:nvSpPr>
        <p:spPr bwMode="auto">
          <a:xfrm>
            <a:off x="4514850" y="1976438"/>
            <a:ext cx="6731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119859" name="Text Box 50"/>
          <p:cNvSpPr txBox="1">
            <a:spLocks noChangeArrowheads="1"/>
          </p:cNvSpPr>
          <p:nvPr/>
        </p:nvSpPr>
        <p:spPr bwMode="auto">
          <a:xfrm>
            <a:off x="24955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119860" name="Text Box 51"/>
          <p:cNvSpPr txBox="1">
            <a:spLocks noChangeArrowheads="1"/>
          </p:cNvSpPr>
          <p:nvPr/>
        </p:nvSpPr>
        <p:spPr bwMode="auto">
          <a:xfrm>
            <a:off x="65341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119861" name="Text Box 52"/>
          <p:cNvSpPr txBox="1">
            <a:spLocks noChangeArrowheads="1"/>
          </p:cNvSpPr>
          <p:nvPr/>
        </p:nvSpPr>
        <p:spPr bwMode="auto">
          <a:xfrm>
            <a:off x="14859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119862" name="Text Box 53"/>
          <p:cNvSpPr txBox="1">
            <a:spLocks noChangeArrowheads="1"/>
          </p:cNvSpPr>
          <p:nvPr/>
        </p:nvSpPr>
        <p:spPr bwMode="auto">
          <a:xfrm>
            <a:off x="35052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119863" name="Text Box 54"/>
          <p:cNvSpPr txBox="1">
            <a:spLocks noChangeArrowheads="1"/>
          </p:cNvSpPr>
          <p:nvPr/>
        </p:nvSpPr>
        <p:spPr bwMode="auto">
          <a:xfrm>
            <a:off x="55245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119864" name="Text Box 55"/>
          <p:cNvSpPr txBox="1">
            <a:spLocks noChangeArrowheads="1"/>
          </p:cNvSpPr>
          <p:nvPr/>
        </p:nvSpPr>
        <p:spPr bwMode="auto">
          <a:xfrm>
            <a:off x="75438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119865" name="Text Box 56"/>
          <p:cNvSpPr txBox="1">
            <a:spLocks noChangeArrowheads="1"/>
          </p:cNvSpPr>
          <p:nvPr/>
        </p:nvSpPr>
        <p:spPr bwMode="auto">
          <a:xfrm>
            <a:off x="8128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119866" name="Text Box 57"/>
          <p:cNvSpPr txBox="1">
            <a:spLocks noChangeArrowheads="1"/>
          </p:cNvSpPr>
          <p:nvPr/>
        </p:nvSpPr>
        <p:spPr bwMode="auto">
          <a:xfrm>
            <a:off x="182245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119867" name="Text Box 58"/>
          <p:cNvSpPr txBox="1">
            <a:spLocks noChangeArrowheads="1"/>
          </p:cNvSpPr>
          <p:nvPr/>
        </p:nvSpPr>
        <p:spPr bwMode="auto">
          <a:xfrm>
            <a:off x="28321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119868" name="Text Box 59"/>
          <p:cNvSpPr txBox="1">
            <a:spLocks noChangeArrowheads="1"/>
          </p:cNvSpPr>
          <p:nvPr/>
        </p:nvSpPr>
        <p:spPr bwMode="auto">
          <a:xfrm>
            <a:off x="36734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119869" name="Text Box 60"/>
          <p:cNvSpPr txBox="1">
            <a:spLocks noChangeArrowheads="1"/>
          </p:cNvSpPr>
          <p:nvPr/>
        </p:nvSpPr>
        <p:spPr bwMode="auto">
          <a:xfrm>
            <a:off x="46831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119870" name="Text Box 61"/>
          <p:cNvSpPr txBox="1">
            <a:spLocks noChangeArrowheads="1"/>
          </p:cNvSpPr>
          <p:nvPr/>
        </p:nvSpPr>
        <p:spPr bwMode="auto">
          <a:xfrm>
            <a:off x="56927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119871" name="Text Box 62"/>
          <p:cNvSpPr txBox="1">
            <a:spLocks noChangeArrowheads="1"/>
          </p:cNvSpPr>
          <p:nvPr/>
        </p:nvSpPr>
        <p:spPr bwMode="auto">
          <a:xfrm>
            <a:off x="67024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119872" name="Text Box 63"/>
          <p:cNvSpPr txBox="1">
            <a:spLocks noChangeArrowheads="1"/>
          </p:cNvSpPr>
          <p:nvPr/>
        </p:nvSpPr>
        <p:spPr bwMode="auto">
          <a:xfrm>
            <a:off x="77120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119873" name="Oval 64"/>
          <p:cNvSpPr>
            <a:spLocks noChangeArrowheads="1"/>
          </p:cNvSpPr>
          <p:nvPr/>
        </p:nvSpPr>
        <p:spPr bwMode="auto">
          <a:xfrm>
            <a:off x="476250" y="514032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9874" name="Text Box 65"/>
          <p:cNvSpPr txBox="1">
            <a:spLocks noChangeArrowheads="1"/>
          </p:cNvSpPr>
          <p:nvPr/>
        </p:nvSpPr>
        <p:spPr bwMode="auto">
          <a:xfrm>
            <a:off x="457200" y="52387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27</a:t>
            </a:r>
            <a:endParaRPr lang="en-US" altLang="en-US" sz="2400"/>
          </a:p>
        </p:txBody>
      </p:sp>
      <p:sp>
        <p:nvSpPr>
          <p:cNvPr id="119875" name="Oval 66"/>
          <p:cNvSpPr>
            <a:spLocks noChangeArrowheads="1"/>
          </p:cNvSpPr>
          <p:nvPr/>
        </p:nvSpPr>
        <p:spPr bwMode="auto">
          <a:xfrm>
            <a:off x="1485900" y="513873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19876" name="Text Box 67"/>
          <p:cNvSpPr txBox="1">
            <a:spLocks noChangeArrowheads="1"/>
          </p:cNvSpPr>
          <p:nvPr/>
        </p:nvSpPr>
        <p:spPr bwMode="auto">
          <a:xfrm>
            <a:off x="1466850" y="5238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19877" name="Text Box 68"/>
          <p:cNvSpPr txBox="1">
            <a:spLocks noChangeArrowheads="1"/>
          </p:cNvSpPr>
          <p:nvPr/>
        </p:nvSpPr>
        <p:spPr bwMode="auto">
          <a:xfrm>
            <a:off x="148590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119878" name="Line 69"/>
          <p:cNvSpPr>
            <a:spLocks noChangeShapeType="1"/>
          </p:cNvSpPr>
          <p:nvPr/>
        </p:nvSpPr>
        <p:spPr bwMode="auto">
          <a:xfrm flipH="1">
            <a:off x="644525" y="467677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9879" name="Line 70"/>
          <p:cNvSpPr>
            <a:spLocks noChangeShapeType="1"/>
          </p:cNvSpPr>
          <p:nvPr/>
        </p:nvSpPr>
        <p:spPr bwMode="auto">
          <a:xfrm>
            <a:off x="1149350" y="467677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19880" name="Text Box 71"/>
          <p:cNvSpPr txBox="1">
            <a:spLocks noChangeArrowheads="1"/>
          </p:cNvSpPr>
          <p:nvPr/>
        </p:nvSpPr>
        <p:spPr bwMode="auto">
          <a:xfrm>
            <a:off x="47625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119881" name="Text Box 72"/>
          <p:cNvSpPr txBox="1">
            <a:spLocks noChangeArrowheads="1"/>
          </p:cNvSpPr>
          <p:nvPr/>
        </p:nvSpPr>
        <p:spPr bwMode="auto">
          <a:xfrm>
            <a:off x="3276600" y="3049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19882" name="Text Box 73"/>
          <p:cNvSpPr txBox="1">
            <a:spLocks noChangeArrowheads="1"/>
          </p:cNvSpPr>
          <p:nvPr/>
        </p:nvSpPr>
        <p:spPr bwMode="auto">
          <a:xfrm>
            <a:off x="2819400" y="5181600"/>
            <a:ext cx="60198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 dirty="0">
                <a:solidFill>
                  <a:srgbClr val="FF3300"/>
                </a:solidFill>
              </a:rPr>
              <a:t>We want to </a:t>
            </a:r>
            <a:r>
              <a:rPr lang="en-US" altLang="en-US" sz="2400" b="1" u="sng" dirty="0" err="1">
                <a:solidFill>
                  <a:srgbClr val="FF3300"/>
                </a:solidFill>
              </a:rPr>
              <a:t>heapify</a:t>
            </a:r>
            <a:r>
              <a:rPr lang="en-US" altLang="en-US" sz="2400" b="1" u="sng" dirty="0">
                <a:solidFill>
                  <a:srgbClr val="FF3300"/>
                </a:solidFill>
              </a:rPr>
              <a:t> starting with the parent of the last leaf node</a:t>
            </a:r>
            <a:r>
              <a:rPr lang="en-US" altLang="en-US" sz="2400" b="1" dirty="0">
                <a:solidFill>
                  <a:srgbClr val="FF3300"/>
                </a:solidFill>
              </a:rPr>
              <a:t>.</a:t>
            </a:r>
          </a:p>
        </p:txBody>
      </p:sp>
      <p:sp>
        <p:nvSpPr>
          <p:cNvPr id="119883" name="Rectangle 74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Forming an Initial Heap (cont.)</a:t>
            </a: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1520BACA-A550-4DED-8056-66A8B825C331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119</a:t>
            </a:fld>
            <a:endParaRPr lang="en-US" altLang="en-US" sz="1400"/>
          </a:p>
        </p:txBody>
      </p:sp>
      <p:sp>
        <p:nvSpPr>
          <p:cNvPr id="120835" name="Oval 2"/>
          <p:cNvSpPr>
            <a:spLocks noChangeArrowheads="1"/>
          </p:cNvSpPr>
          <p:nvPr/>
        </p:nvSpPr>
        <p:spPr bwMode="auto">
          <a:xfrm>
            <a:off x="23272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0836" name="Text Box 3"/>
          <p:cNvSpPr txBox="1">
            <a:spLocks noChangeArrowheads="1"/>
          </p:cNvSpPr>
          <p:nvPr/>
        </p:nvSpPr>
        <p:spPr bwMode="auto">
          <a:xfrm>
            <a:off x="23082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31</a:t>
            </a:r>
            <a:endParaRPr lang="en-US" altLang="en-US" sz="2400"/>
          </a:p>
        </p:txBody>
      </p:sp>
      <p:sp>
        <p:nvSpPr>
          <p:cNvPr id="120837" name="Oval 4"/>
          <p:cNvSpPr>
            <a:spLocks noChangeArrowheads="1"/>
          </p:cNvSpPr>
          <p:nvPr/>
        </p:nvSpPr>
        <p:spPr bwMode="auto">
          <a:xfrm>
            <a:off x="13176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0838" name="Text Box 5"/>
          <p:cNvSpPr txBox="1">
            <a:spLocks noChangeArrowheads="1"/>
          </p:cNvSpPr>
          <p:nvPr/>
        </p:nvSpPr>
        <p:spPr bwMode="auto">
          <a:xfrm>
            <a:off x="1298575" y="307975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20839" name="Oval 6"/>
          <p:cNvSpPr>
            <a:spLocks noChangeArrowheads="1"/>
          </p:cNvSpPr>
          <p:nvPr/>
        </p:nvSpPr>
        <p:spPr bwMode="auto">
          <a:xfrm>
            <a:off x="6445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0840" name="Text Box 7"/>
          <p:cNvSpPr txBox="1">
            <a:spLocks noChangeArrowheads="1"/>
          </p:cNvSpPr>
          <p:nvPr/>
        </p:nvSpPr>
        <p:spPr bwMode="auto">
          <a:xfrm>
            <a:off x="625475" y="4159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20841" name="Text Box 8"/>
          <p:cNvSpPr txBox="1">
            <a:spLocks noChangeArrowheads="1"/>
          </p:cNvSpPr>
          <p:nvPr/>
        </p:nvSpPr>
        <p:spPr bwMode="auto">
          <a:xfrm>
            <a:off x="2057400" y="121285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120842" name="Oval 9"/>
          <p:cNvSpPr>
            <a:spLocks noChangeArrowheads="1"/>
          </p:cNvSpPr>
          <p:nvPr/>
        </p:nvSpPr>
        <p:spPr bwMode="auto">
          <a:xfrm>
            <a:off x="16541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0843" name="Text Box 10"/>
          <p:cNvSpPr txBox="1">
            <a:spLocks noChangeArrowheads="1"/>
          </p:cNvSpPr>
          <p:nvPr/>
        </p:nvSpPr>
        <p:spPr bwMode="auto">
          <a:xfrm>
            <a:off x="16351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12</a:t>
            </a:r>
            <a:endParaRPr lang="en-US" altLang="en-US" sz="2400"/>
          </a:p>
        </p:txBody>
      </p:sp>
      <p:sp>
        <p:nvSpPr>
          <p:cNvPr id="120844" name="Oval 11"/>
          <p:cNvSpPr>
            <a:spLocks noChangeArrowheads="1"/>
          </p:cNvSpPr>
          <p:nvPr/>
        </p:nvSpPr>
        <p:spPr bwMode="auto">
          <a:xfrm>
            <a:off x="4346575" y="14255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0845" name="Text Box 12"/>
          <p:cNvSpPr txBox="1">
            <a:spLocks noChangeArrowheads="1"/>
          </p:cNvSpPr>
          <p:nvPr/>
        </p:nvSpPr>
        <p:spPr bwMode="auto">
          <a:xfrm>
            <a:off x="4327525" y="1525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6</a:t>
            </a:r>
            <a:endParaRPr lang="en-US" altLang="en-US" sz="2400"/>
          </a:p>
        </p:txBody>
      </p:sp>
      <p:sp>
        <p:nvSpPr>
          <p:cNvPr id="120846" name="Line 13"/>
          <p:cNvSpPr>
            <a:spLocks noChangeShapeType="1"/>
          </p:cNvSpPr>
          <p:nvPr/>
        </p:nvSpPr>
        <p:spPr bwMode="auto">
          <a:xfrm>
            <a:off x="2832100" y="152082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0847" name="Oval 14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0848" name="Line 15"/>
          <p:cNvSpPr>
            <a:spLocks noChangeShapeType="1"/>
          </p:cNvSpPr>
          <p:nvPr/>
        </p:nvSpPr>
        <p:spPr bwMode="auto">
          <a:xfrm flipH="1">
            <a:off x="182245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0849" name="Line 16"/>
          <p:cNvSpPr>
            <a:spLocks noChangeShapeType="1"/>
          </p:cNvSpPr>
          <p:nvPr/>
        </p:nvSpPr>
        <p:spPr bwMode="auto">
          <a:xfrm>
            <a:off x="283210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0850" name="Oval 17"/>
          <p:cNvSpPr>
            <a:spLocks noChangeArrowheads="1"/>
          </p:cNvSpPr>
          <p:nvPr/>
        </p:nvSpPr>
        <p:spPr bwMode="auto">
          <a:xfrm>
            <a:off x="63658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0851" name="Text Box 18"/>
          <p:cNvSpPr txBox="1">
            <a:spLocks noChangeArrowheads="1"/>
          </p:cNvSpPr>
          <p:nvPr/>
        </p:nvSpPr>
        <p:spPr bwMode="auto">
          <a:xfrm>
            <a:off x="63468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20852" name="Oval 19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0853" name="Oval 20"/>
          <p:cNvSpPr>
            <a:spLocks noChangeArrowheads="1"/>
          </p:cNvSpPr>
          <p:nvPr/>
        </p:nvSpPr>
        <p:spPr bwMode="auto">
          <a:xfrm>
            <a:off x="73755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0854" name="Text Box 21"/>
          <p:cNvSpPr txBox="1">
            <a:spLocks noChangeArrowheads="1"/>
          </p:cNvSpPr>
          <p:nvPr/>
        </p:nvSpPr>
        <p:spPr bwMode="auto">
          <a:xfrm>
            <a:off x="7356475" y="3079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20855" name="Line 22"/>
          <p:cNvSpPr>
            <a:spLocks noChangeShapeType="1"/>
          </p:cNvSpPr>
          <p:nvPr/>
        </p:nvSpPr>
        <p:spPr bwMode="auto">
          <a:xfrm flipH="1">
            <a:off x="586105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0856" name="Line 23"/>
          <p:cNvSpPr>
            <a:spLocks noChangeShapeType="1"/>
          </p:cNvSpPr>
          <p:nvPr/>
        </p:nvSpPr>
        <p:spPr bwMode="auto">
          <a:xfrm>
            <a:off x="687070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0857" name="Line 24"/>
          <p:cNvSpPr>
            <a:spLocks noChangeShapeType="1"/>
          </p:cNvSpPr>
          <p:nvPr/>
        </p:nvSpPr>
        <p:spPr bwMode="auto">
          <a:xfrm flipH="1">
            <a:off x="3000375" y="1828800"/>
            <a:ext cx="1343025" cy="2270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0858" name="Line 25"/>
          <p:cNvSpPr>
            <a:spLocks noChangeShapeType="1"/>
          </p:cNvSpPr>
          <p:nvPr/>
        </p:nvSpPr>
        <p:spPr bwMode="auto">
          <a:xfrm>
            <a:off x="5029200" y="1752600"/>
            <a:ext cx="1371600" cy="3048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0859" name="Oval 26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0860" name="Oval 27"/>
          <p:cNvSpPr>
            <a:spLocks noChangeArrowheads="1"/>
          </p:cNvSpPr>
          <p:nvPr/>
        </p:nvSpPr>
        <p:spPr bwMode="auto">
          <a:xfrm>
            <a:off x="266382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0861" name="Text Box 28"/>
          <p:cNvSpPr txBox="1">
            <a:spLocks noChangeArrowheads="1"/>
          </p:cNvSpPr>
          <p:nvPr/>
        </p:nvSpPr>
        <p:spPr bwMode="auto">
          <a:xfrm>
            <a:off x="2644775" y="415448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120862" name="Oval 29"/>
          <p:cNvSpPr>
            <a:spLocks noChangeArrowheads="1"/>
          </p:cNvSpPr>
          <p:nvPr/>
        </p:nvSpPr>
        <p:spPr bwMode="auto">
          <a:xfrm>
            <a:off x="3673475" y="40544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0863" name="Text Box 30"/>
          <p:cNvSpPr txBox="1">
            <a:spLocks noChangeArrowheads="1"/>
          </p:cNvSpPr>
          <p:nvPr/>
        </p:nvSpPr>
        <p:spPr bwMode="auto">
          <a:xfrm>
            <a:off x="3654425" y="41544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38</a:t>
            </a:r>
            <a:endParaRPr lang="en-US" altLang="en-US" sz="2400"/>
          </a:p>
        </p:txBody>
      </p:sp>
      <p:sp>
        <p:nvSpPr>
          <p:cNvPr id="120864" name="Oval 31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0865" name="Text Box 32"/>
          <p:cNvSpPr txBox="1">
            <a:spLocks noChangeArrowheads="1"/>
          </p:cNvSpPr>
          <p:nvPr/>
        </p:nvSpPr>
        <p:spPr bwMode="auto">
          <a:xfrm>
            <a:off x="5334000" y="304958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120866" name="Oval 33"/>
          <p:cNvSpPr>
            <a:spLocks noChangeArrowheads="1"/>
          </p:cNvSpPr>
          <p:nvPr/>
        </p:nvSpPr>
        <p:spPr bwMode="auto">
          <a:xfrm>
            <a:off x="4683125" y="406082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0867" name="Text Box 34"/>
          <p:cNvSpPr txBox="1">
            <a:spLocks noChangeArrowheads="1"/>
          </p:cNvSpPr>
          <p:nvPr/>
        </p:nvSpPr>
        <p:spPr bwMode="auto">
          <a:xfrm>
            <a:off x="4664075" y="415766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20868" name="Oval 35"/>
          <p:cNvSpPr>
            <a:spLocks noChangeArrowheads="1"/>
          </p:cNvSpPr>
          <p:nvPr/>
        </p:nvSpPr>
        <p:spPr bwMode="auto">
          <a:xfrm>
            <a:off x="5692775" y="40608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0869" name="Text Box 36"/>
          <p:cNvSpPr txBox="1">
            <a:spLocks noChangeArrowheads="1"/>
          </p:cNvSpPr>
          <p:nvPr/>
        </p:nvSpPr>
        <p:spPr bwMode="auto">
          <a:xfrm>
            <a:off x="5673725" y="41608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120870" name="Oval 37"/>
          <p:cNvSpPr>
            <a:spLocks noChangeArrowheads="1"/>
          </p:cNvSpPr>
          <p:nvPr/>
        </p:nvSpPr>
        <p:spPr bwMode="auto">
          <a:xfrm>
            <a:off x="67024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0871" name="Text Box 38"/>
          <p:cNvSpPr txBox="1">
            <a:spLocks noChangeArrowheads="1"/>
          </p:cNvSpPr>
          <p:nvPr/>
        </p:nvSpPr>
        <p:spPr bwMode="auto">
          <a:xfrm>
            <a:off x="6683375" y="415925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</a:t>
            </a:r>
            <a:endParaRPr lang="en-US" altLang="en-US" sz="2400"/>
          </a:p>
        </p:txBody>
      </p:sp>
      <p:sp>
        <p:nvSpPr>
          <p:cNvPr id="120872" name="Oval 39"/>
          <p:cNvSpPr>
            <a:spLocks noChangeArrowheads="1"/>
          </p:cNvSpPr>
          <p:nvPr/>
        </p:nvSpPr>
        <p:spPr bwMode="auto">
          <a:xfrm>
            <a:off x="77120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0873" name="Text Box 40"/>
          <p:cNvSpPr txBox="1">
            <a:spLocks noChangeArrowheads="1"/>
          </p:cNvSpPr>
          <p:nvPr/>
        </p:nvSpPr>
        <p:spPr bwMode="auto">
          <a:xfrm>
            <a:off x="76930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20874" name="Line 41"/>
          <p:cNvSpPr>
            <a:spLocks noChangeShapeType="1"/>
          </p:cNvSpPr>
          <p:nvPr/>
        </p:nvSpPr>
        <p:spPr bwMode="auto">
          <a:xfrm flipH="1">
            <a:off x="9810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0875" name="Line 42"/>
          <p:cNvSpPr>
            <a:spLocks noChangeShapeType="1"/>
          </p:cNvSpPr>
          <p:nvPr/>
        </p:nvSpPr>
        <p:spPr bwMode="auto">
          <a:xfrm>
            <a:off x="19907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0876" name="Line 43"/>
          <p:cNvSpPr>
            <a:spLocks noChangeShapeType="1"/>
          </p:cNvSpPr>
          <p:nvPr/>
        </p:nvSpPr>
        <p:spPr bwMode="auto">
          <a:xfrm flipH="1">
            <a:off x="30003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0877" name="Line 44"/>
          <p:cNvSpPr>
            <a:spLocks noChangeShapeType="1"/>
          </p:cNvSpPr>
          <p:nvPr/>
        </p:nvSpPr>
        <p:spPr bwMode="auto">
          <a:xfrm>
            <a:off x="40100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0878" name="Line 45"/>
          <p:cNvSpPr>
            <a:spLocks noChangeShapeType="1"/>
          </p:cNvSpPr>
          <p:nvPr/>
        </p:nvSpPr>
        <p:spPr bwMode="auto">
          <a:xfrm flipH="1">
            <a:off x="50196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0879" name="Line 46"/>
          <p:cNvSpPr>
            <a:spLocks noChangeShapeType="1"/>
          </p:cNvSpPr>
          <p:nvPr/>
        </p:nvSpPr>
        <p:spPr bwMode="auto">
          <a:xfrm>
            <a:off x="60293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0880" name="Line 47"/>
          <p:cNvSpPr>
            <a:spLocks noChangeShapeType="1"/>
          </p:cNvSpPr>
          <p:nvPr/>
        </p:nvSpPr>
        <p:spPr bwMode="auto">
          <a:xfrm flipH="1">
            <a:off x="70389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0881" name="Line 48"/>
          <p:cNvSpPr>
            <a:spLocks noChangeShapeType="1"/>
          </p:cNvSpPr>
          <p:nvPr/>
        </p:nvSpPr>
        <p:spPr bwMode="auto">
          <a:xfrm>
            <a:off x="80486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0882" name="Text Box 49"/>
          <p:cNvSpPr txBox="1">
            <a:spLocks noChangeArrowheads="1"/>
          </p:cNvSpPr>
          <p:nvPr/>
        </p:nvSpPr>
        <p:spPr bwMode="auto">
          <a:xfrm>
            <a:off x="4514850" y="1976438"/>
            <a:ext cx="6731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120883" name="Text Box 50"/>
          <p:cNvSpPr txBox="1">
            <a:spLocks noChangeArrowheads="1"/>
          </p:cNvSpPr>
          <p:nvPr/>
        </p:nvSpPr>
        <p:spPr bwMode="auto">
          <a:xfrm>
            <a:off x="24955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120884" name="Text Box 51"/>
          <p:cNvSpPr txBox="1">
            <a:spLocks noChangeArrowheads="1"/>
          </p:cNvSpPr>
          <p:nvPr/>
        </p:nvSpPr>
        <p:spPr bwMode="auto">
          <a:xfrm>
            <a:off x="65341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120885" name="Text Box 52"/>
          <p:cNvSpPr txBox="1">
            <a:spLocks noChangeArrowheads="1"/>
          </p:cNvSpPr>
          <p:nvPr/>
        </p:nvSpPr>
        <p:spPr bwMode="auto">
          <a:xfrm>
            <a:off x="14859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120886" name="Text Box 53"/>
          <p:cNvSpPr txBox="1">
            <a:spLocks noChangeArrowheads="1"/>
          </p:cNvSpPr>
          <p:nvPr/>
        </p:nvSpPr>
        <p:spPr bwMode="auto">
          <a:xfrm>
            <a:off x="35052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120887" name="Text Box 54"/>
          <p:cNvSpPr txBox="1">
            <a:spLocks noChangeArrowheads="1"/>
          </p:cNvSpPr>
          <p:nvPr/>
        </p:nvSpPr>
        <p:spPr bwMode="auto">
          <a:xfrm>
            <a:off x="55245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120888" name="Text Box 55"/>
          <p:cNvSpPr txBox="1">
            <a:spLocks noChangeArrowheads="1"/>
          </p:cNvSpPr>
          <p:nvPr/>
        </p:nvSpPr>
        <p:spPr bwMode="auto">
          <a:xfrm>
            <a:off x="75438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120889" name="Text Box 56"/>
          <p:cNvSpPr txBox="1">
            <a:spLocks noChangeArrowheads="1"/>
          </p:cNvSpPr>
          <p:nvPr/>
        </p:nvSpPr>
        <p:spPr bwMode="auto">
          <a:xfrm>
            <a:off x="8128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120890" name="Text Box 57"/>
          <p:cNvSpPr txBox="1">
            <a:spLocks noChangeArrowheads="1"/>
          </p:cNvSpPr>
          <p:nvPr/>
        </p:nvSpPr>
        <p:spPr bwMode="auto">
          <a:xfrm>
            <a:off x="182245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120891" name="Text Box 58"/>
          <p:cNvSpPr txBox="1">
            <a:spLocks noChangeArrowheads="1"/>
          </p:cNvSpPr>
          <p:nvPr/>
        </p:nvSpPr>
        <p:spPr bwMode="auto">
          <a:xfrm>
            <a:off x="28321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120892" name="Text Box 59"/>
          <p:cNvSpPr txBox="1">
            <a:spLocks noChangeArrowheads="1"/>
          </p:cNvSpPr>
          <p:nvPr/>
        </p:nvSpPr>
        <p:spPr bwMode="auto">
          <a:xfrm>
            <a:off x="36734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120893" name="Text Box 60"/>
          <p:cNvSpPr txBox="1">
            <a:spLocks noChangeArrowheads="1"/>
          </p:cNvSpPr>
          <p:nvPr/>
        </p:nvSpPr>
        <p:spPr bwMode="auto">
          <a:xfrm>
            <a:off x="46831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120894" name="Text Box 61"/>
          <p:cNvSpPr txBox="1">
            <a:spLocks noChangeArrowheads="1"/>
          </p:cNvSpPr>
          <p:nvPr/>
        </p:nvSpPr>
        <p:spPr bwMode="auto">
          <a:xfrm>
            <a:off x="56927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120895" name="Text Box 62"/>
          <p:cNvSpPr txBox="1">
            <a:spLocks noChangeArrowheads="1"/>
          </p:cNvSpPr>
          <p:nvPr/>
        </p:nvSpPr>
        <p:spPr bwMode="auto">
          <a:xfrm>
            <a:off x="67024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120896" name="Text Box 63"/>
          <p:cNvSpPr txBox="1">
            <a:spLocks noChangeArrowheads="1"/>
          </p:cNvSpPr>
          <p:nvPr/>
        </p:nvSpPr>
        <p:spPr bwMode="auto">
          <a:xfrm>
            <a:off x="77120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120897" name="Oval 64"/>
          <p:cNvSpPr>
            <a:spLocks noChangeArrowheads="1"/>
          </p:cNvSpPr>
          <p:nvPr/>
        </p:nvSpPr>
        <p:spPr bwMode="auto">
          <a:xfrm>
            <a:off x="476250" y="514032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0898" name="Text Box 65"/>
          <p:cNvSpPr txBox="1">
            <a:spLocks noChangeArrowheads="1"/>
          </p:cNvSpPr>
          <p:nvPr/>
        </p:nvSpPr>
        <p:spPr bwMode="auto">
          <a:xfrm>
            <a:off x="457200" y="52387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27</a:t>
            </a:r>
            <a:endParaRPr lang="en-US" altLang="en-US" sz="2400"/>
          </a:p>
        </p:txBody>
      </p:sp>
      <p:sp>
        <p:nvSpPr>
          <p:cNvPr id="120899" name="Oval 66"/>
          <p:cNvSpPr>
            <a:spLocks noChangeArrowheads="1"/>
          </p:cNvSpPr>
          <p:nvPr/>
        </p:nvSpPr>
        <p:spPr bwMode="auto">
          <a:xfrm>
            <a:off x="1485900" y="513873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0900" name="Text Box 67"/>
          <p:cNvSpPr txBox="1">
            <a:spLocks noChangeArrowheads="1"/>
          </p:cNvSpPr>
          <p:nvPr/>
        </p:nvSpPr>
        <p:spPr bwMode="auto">
          <a:xfrm>
            <a:off x="1466850" y="5238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20901" name="Text Box 68"/>
          <p:cNvSpPr txBox="1">
            <a:spLocks noChangeArrowheads="1"/>
          </p:cNvSpPr>
          <p:nvPr/>
        </p:nvSpPr>
        <p:spPr bwMode="auto">
          <a:xfrm>
            <a:off x="148590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120902" name="Line 69"/>
          <p:cNvSpPr>
            <a:spLocks noChangeShapeType="1"/>
          </p:cNvSpPr>
          <p:nvPr/>
        </p:nvSpPr>
        <p:spPr bwMode="auto">
          <a:xfrm flipH="1">
            <a:off x="644525" y="467677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0903" name="Line 70"/>
          <p:cNvSpPr>
            <a:spLocks noChangeShapeType="1"/>
          </p:cNvSpPr>
          <p:nvPr/>
        </p:nvSpPr>
        <p:spPr bwMode="auto">
          <a:xfrm>
            <a:off x="1149350" y="467677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0904" name="Text Box 71"/>
          <p:cNvSpPr txBox="1">
            <a:spLocks noChangeArrowheads="1"/>
          </p:cNvSpPr>
          <p:nvPr/>
        </p:nvSpPr>
        <p:spPr bwMode="auto">
          <a:xfrm>
            <a:off x="47625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120905" name="Text Box 72"/>
          <p:cNvSpPr txBox="1">
            <a:spLocks noChangeArrowheads="1"/>
          </p:cNvSpPr>
          <p:nvPr/>
        </p:nvSpPr>
        <p:spPr bwMode="auto">
          <a:xfrm>
            <a:off x="3276600" y="3049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20906" name="Text Box 73"/>
          <p:cNvSpPr txBox="1">
            <a:spLocks noChangeArrowheads="1"/>
          </p:cNvSpPr>
          <p:nvPr/>
        </p:nvSpPr>
        <p:spPr bwMode="auto">
          <a:xfrm>
            <a:off x="2819400" y="5181600"/>
            <a:ext cx="60198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To find the last leaf node, we use heapsize – 1  (17 – 1 = 16)</a:t>
            </a:r>
          </a:p>
        </p:txBody>
      </p:sp>
      <p:sp>
        <p:nvSpPr>
          <p:cNvPr id="120907" name="Rectangle 74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Forming an Initial Heap (cont.)</a:t>
            </a:r>
          </a:p>
        </p:txBody>
      </p:sp>
      <p:sp>
        <p:nvSpPr>
          <p:cNvPr id="120908" name="Line 75"/>
          <p:cNvSpPr>
            <a:spLocks noChangeShapeType="1"/>
          </p:cNvSpPr>
          <p:nvPr/>
        </p:nvSpPr>
        <p:spPr bwMode="auto">
          <a:xfrm flipH="1">
            <a:off x="2133600" y="5486400"/>
            <a:ext cx="685800" cy="38100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477A368A-0FDA-4846-B7DB-DFAD63F803B2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120</a:t>
            </a:fld>
            <a:endParaRPr lang="en-US" altLang="en-US" sz="1400"/>
          </a:p>
        </p:txBody>
      </p:sp>
      <p:sp>
        <p:nvSpPr>
          <p:cNvPr id="121859" name="Oval 2"/>
          <p:cNvSpPr>
            <a:spLocks noChangeArrowheads="1"/>
          </p:cNvSpPr>
          <p:nvPr/>
        </p:nvSpPr>
        <p:spPr bwMode="auto">
          <a:xfrm>
            <a:off x="23272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1860" name="Text Box 3"/>
          <p:cNvSpPr txBox="1">
            <a:spLocks noChangeArrowheads="1"/>
          </p:cNvSpPr>
          <p:nvPr/>
        </p:nvSpPr>
        <p:spPr bwMode="auto">
          <a:xfrm>
            <a:off x="23082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31</a:t>
            </a:r>
            <a:endParaRPr lang="en-US" altLang="en-US" sz="2400"/>
          </a:p>
        </p:txBody>
      </p:sp>
      <p:sp>
        <p:nvSpPr>
          <p:cNvPr id="121861" name="Oval 4"/>
          <p:cNvSpPr>
            <a:spLocks noChangeArrowheads="1"/>
          </p:cNvSpPr>
          <p:nvPr/>
        </p:nvSpPr>
        <p:spPr bwMode="auto">
          <a:xfrm>
            <a:off x="13176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1862" name="Text Box 5"/>
          <p:cNvSpPr txBox="1">
            <a:spLocks noChangeArrowheads="1"/>
          </p:cNvSpPr>
          <p:nvPr/>
        </p:nvSpPr>
        <p:spPr bwMode="auto">
          <a:xfrm>
            <a:off x="1298575" y="307975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21863" name="Oval 6"/>
          <p:cNvSpPr>
            <a:spLocks noChangeArrowheads="1"/>
          </p:cNvSpPr>
          <p:nvPr/>
        </p:nvSpPr>
        <p:spPr bwMode="auto">
          <a:xfrm>
            <a:off x="6445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FF33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1864" name="Text Box 7"/>
          <p:cNvSpPr txBox="1">
            <a:spLocks noChangeArrowheads="1"/>
          </p:cNvSpPr>
          <p:nvPr/>
        </p:nvSpPr>
        <p:spPr bwMode="auto">
          <a:xfrm>
            <a:off x="625475" y="4159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21865" name="Text Box 8"/>
          <p:cNvSpPr txBox="1">
            <a:spLocks noChangeArrowheads="1"/>
          </p:cNvSpPr>
          <p:nvPr/>
        </p:nvSpPr>
        <p:spPr bwMode="auto">
          <a:xfrm>
            <a:off x="2057400" y="121285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121866" name="Oval 9"/>
          <p:cNvSpPr>
            <a:spLocks noChangeArrowheads="1"/>
          </p:cNvSpPr>
          <p:nvPr/>
        </p:nvSpPr>
        <p:spPr bwMode="auto">
          <a:xfrm>
            <a:off x="16541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1867" name="Text Box 10"/>
          <p:cNvSpPr txBox="1">
            <a:spLocks noChangeArrowheads="1"/>
          </p:cNvSpPr>
          <p:nvPr/>
        </p:nvSpPr>
        <p:spPr bwMode="auto">
          <a:xfrm>
            <a:off x="16351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12</a:t>
            </a:r>
            <a:endParaRPr lang="en-US" altLang="en-US" sz="2400"/>
          </a:p>
        </p:txBody>
      </p:sp>
      <p:sp>
        <p:nvSpPr>
          <p:cNvPr id="121868" name="Oval 11"/>
          <p:cNvSpPr>
            <a:spLocks noChangeArrowheads="1"/>
          </p:cNvSpPr>
          <p:nvPr/>
        </p:nvSpPr>
        <p:spPr bwMode="auto">
          <a:xfrm>
            <a:off x="4346575" y="14255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1869" name="Text Box 12"/>
          <p:cNvSpPr txBox="1">
            <a:spLocks noChangeArrowheads="1"/>
          </p:cNvSpPr>
          <p:nvPr/>
        </p:nvSpPr>
        <p:spPr bwMode="auto">
          <a:xfrm>
            <a:off x="4327525" y="1525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6</a:t>
            </a:r>
            <a:endParaRPr lang="en-US" altLang="en-US" sz="2400"/>
          </a:p>
        </p:txBody>
      </p:sp>
      <p:sp>
        <p:nvSpPr>
          <p:cNvPr id="121870" name="Line 13"/>
          <p:cNvSpPr>
            <a:spLocks noChangeShapeType="1"/>
          </p:cNvSpPr>
          <p:nvPr/>
        </p:nvSpPr>
        <p:spPr bwMode="auto">
          <a:xfrm>
            <a:off x="2832100" y="152082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1871" name="Oval 14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1872" name="Line 15"/>
          <p:cNvSpPr>
            <a:spLocks noChangeShapeType="1"/>
          </p:cNvSpPr>
          <p:nvPr/>
        </p:nvSpPr>
        <p:spPr bwMode="auto">
          <a:xfrm flipH="1">
            <a:off x="182245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1873" name="Line 16"/>
          <p:cNvSpPr>
            <a:spLocks noChangeShapeType="1"/>
          </p:cNvSpPr>
          <p:nvPr/>
        </p:nvSpPr>
        <p:spPr bwMode="auto">
          <a:xfrm>
            <a:off x="283210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1874" name="Oval 17"/>
          <p:cNvSpPr>
            <a:spLocks noChangeArrowheads="1"/>
          </p:cNvSpPr>
          <p:nvPr/>
        </p:nvSpPr>
        <p:spPr bwMode="auto">
          <a:xfrm>
            <a:off x="63658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1875" name="Text Box 18"/>
          <p:cNvSpPr txBox="1">
            <a:spLocks noChangeArrowheads="1"/>
          </p:cNvSpPr>
          <p:nvPr/>
        </p:nvSpPr>
        <p:spPr bwMode="auto">
          <a:xfrm>
            <a:off x="63468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21876" name="Oval 19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1877" name="Oval 20"/>
          <p:cNvSpPr>
            <a:spLocks noChangeArrowheads="1"/>
          </p:cNvSpPr>
          <p:nvPr/>
        </p:nvSpPr>
        <p:spPr bwMode="auto">
          <a:xfrm>
            <a:off x="73755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1878" name="Text Box 21"/>
          <p:cNvSpPr txBox="1">
            <a:spLocks noChangeArrowheads="1"/>
          </p:cNvSpPr>
          <p:nvPr/>
        </p:nvSpPr>
        <p:spPr bwMode="auto">
          <a:xfrm>
            <a:off x="7356475" y="3079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21879" name="Line 22"/>
          <p:cNvSpPr>
            <a:spLocks noChangeShapeType="1"/>
          </p:cNvSpPr>
          <p:nvPr/>
        </p:nvSpPr>
        <p:spPr bwMode="auto">
          <a:xfrm flipH="1">
            <a:off x="586105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1880" name="Line 23"/>
          <p:cNvSpPr>
            <a:spLocks noChangeShapeType="1"/>
          </p:cNvSpPr>
          <p:nvPr/>
        </p:nvSpPr>
        <p:spPr bwMode="auto">
          <a:xfrm>
            <a:off x="687070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1881" name="Line 24"/>
          <p:cNvSpPr>
            <a:spLocks noChangeShapeType="1"/>
          </p:cNvSpPr>
          <p:nvPr/>
        </p:nvSpPr>
        <p:spPr bwMode="auto">
          <a:xfrm flipH="1">
            <a:off x="3000375" y="1828800"/>
            <a:ext cx="1343025" cy="2270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1882" name="Line 25"/>
          <p:cNvSpPr>
            <a:spLocks noChangeShapeType="1"/>
          </p:cNvSpPr>
          <p:nvPr/>
        </p:nvSpPr>
        <p:spPr bwMode="auto">
          <a:xfrm>
            <a:off x="5029200" y="1752600"/>
            <a:ext cx="1371600" cy="3048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1883" name="Oval 26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1884" name="Oval 27"/>
          <p:cNvSpPr>
            <a:spLocks noChangeArrowheads="1"/>
          </p:cNvSpPr>
          <p:nvPr/>
        </p:nvSpPr>
        <p:spPr bwMode="auto">
          <a:xfrm>
            <a:off x="266382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1885" name="Text Box 28"/>
          <p:cNvSpPr txBox="1">
            <a:spLocks noChangeArrowheads="1"/>
          </p:cNvSpPr>
          <p:nvPr/>
        </p:nvSpPr>
        <p:spPr bwMode="auto">
          <a:xfrm>
            <a:off x="2644775" y="415448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121886" name="Oval 29"/>
          <p:cNvSpPr>
            <a:spLocks noChangeArrowheads="1"/>
          </p:cNvSpPr>
          <p:nvPr/>
        </p:nvSpPr>
        <p:spPr bwMode="auto">
          <a:xfrm>
            <a:off x="3673475" y="40544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1887" name="Text Box 30"/>
          <p:cNvSpPr txBox="1">
            <a:spLocks noChangeArrowheads="1"/>
          </p:cNvSpPr>
          <p:nvPr/>
        </p:nvSpPr>
        <p:spPr bwMode="auto">
          <a:xfrm>
            <a:off x="3654425" y="41544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38</a:t>
            </a:r>
            <a:endParaRPr lang="en-US" altLang="en-US" sz="2400"/>
          </a:p>
        </p:txBody>
      </p:sp>
      <p:sp>
        <p:nvSpPr>
          <p:cNvPr id="121888" name="Oval 31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1889" name="Text Box 32"/>
          <p:cNvSpPr txBox="1">
            <a:spLocks noChangeArrowheads="1"/>
          </p:cNvSpPr>
          <p:nvPr/>
        </p:nvSpPr>
        <p:spPr bwMode="auto">
          <a:xfrm>
            <a:off x="5334000" y="304958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121890" name="Oval 33"/>
          <p:cNvSpPr>
            <a:spLocks noChangeArrowheads="1"/>
          </p:cNvSpPr>
          <p:nvPr/>
        </p:nvSpPr>
        <p:spPr bwMode="auto">
          <a:xfrm>
            <a:off x="4683125" y="406082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1891" name="Text Box 34"/>
          <p:cNvSpPr txBox="1">
            <a:spLocks noChangeArrowheads="1"/>
          </p:cNvSpPr>
          <p:nvPr/>
        </p:nvSpPr>
        <p:spPr bwMode="auto">
          <a:xfrm>
            <a:off x="4664075" y="415766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21892" name="Oval 35"/>
          <p:cNvSpPr>
            <a:spLocks noChangeArrowheads="1"/>
          </p:cNvSpPr>
          <p:nvPr/>
        </p:nvSpPr>
        <p:spPr bwMode="auto">
          <a:xfrm>
            <a:off x="5692775" y="40608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1893" name="Text Box 36"/>
          <p:cNvSpPr txBox="1">
            <a:spLocks noChangeArrowheads="1"/>
          </p:cNvSpPr>
          <p:nvPr/>
        </p:nvSpPr>
        <p:spPr bwMode="auto">
          <a:xfrm>
            <a:off x="5673725" y="41608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121894" name="Oval 37"/>
          <p:cNvSpPr>
            <a:spLocks noChangeArrowheads="1"/>
          </p:cNvSpPr>
          <p:nvPr/>
        </p:nvSpPr>
        <p:spPr bwMode="auto">
          <a:xfrm>
            <a:off x="67024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1895" name="Text Box 38"/>
          <p:cNvSpPr txBox="1">
            <a:spLocks noChangeArrowheads="1"/>
          </p:cNvSpPr>
          <p:nvPr/>
        </p:nvSpPr>
        <p:spPr bwMode="auto">
          <a:xfrm>
            <a:off x="6683375" y="415925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</a:t>
            </a:r>
            <a:endParaRPr lang="en-US" altLang="en-US" sz="2400"/>
          </a:p>
        </p:txBody>
      </p:sp>
      <p:sp>
        <p:nvSpPr>
          <p:cNvPr id="121896" name="Oval 39"/>
          <p:cNvSpPr>
            <a:spLocks noChangeArrowheads="1"/>
          </p:cNvSpPr>
          <p:nvPr/>
        </p:nvSpPr>
        <p:spPr bwMode="auto">
          <a:xfrm>
            <a:off x="77120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1897" name="Text Box 40"/>
          <p:cNvSpPr txBox="1">
            <a:spLocks noChangeArrowheads="1"/>
          </p:cNvSpPr>
          <p:nvPr/>
        </p:nvSpPr>
        <p:spPr bwMode="auto">
          <a:xfrm>
            <a:off x="76930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21898" name="Line 41"/>
          <p:cNvSpPr>
            <a:spLocks noChangeShapeType="1"/>
          </p:cNvSpPr>
          <p:nvPr/>
        </p:nvSpPr>
        <p:spPr bwMode="auto">
          <a:xfrm flipH="1">
            <a:off x="9810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1899" name="Line 42"/>
          <p:cNvSpPr>
            <a:spLocks noChangeShapeType="1"/>
          </p:cNvSpPr>
          <p:nvPr/>
        </p:nvSpPr>
        <p:spPr bwMode="auto">
          <a:xfrm>
            <a:off x="19907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1900" name="Line 43"/>
          <p:cNvSpPr>
            <a:spLocks noChangeShapeType="1"/>
          </p:cNvSpPr>
          <p:nvPr/>
        </p:nvSpPr>
        <p:spPr bwMode="auto">
          <a:xfrm flipH="1">
            <a:off x="30003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1901" name="Line 44"/>
          <p:cNvSpPr>
            <a:spLocks noChangeShapeType="1"/>
          </p:cNvSpPr>
          <p:nvPr/>
        </p:nvSpPr>
        <p:spPr bwMode="auto">
          <a:xfrm>
            <a:off x="40100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1902" name="Line 45"/>
          <p:cNvSpPr>
            <a:spLocks noChangeShapeType="1"/>
          </p:cNvSpPr>
          <p:nvPr/>
        </p:nvSpPr>
        <p:spPr bwMode="auto">
          <a:xfrm flipH="1">
            <a:off x="50196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1903" name="Line 46"/>
          <p:cNvSpPr>
            <a:spLocks noChangeShapeType="1"/>
          </p:cNvSpPr>
          <p:nvPr/>
        </p:nvSpPr>
        <p:spPr bwMode="auto">
          <a:xfrm>
            <a:off x="60293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1904" name="Line 47"/>
          <p:cNvSpPr>
            <a:spLocks noChangeShapeType="1"/>
          </p:cNvSpPr>
          <p:nvPr/>
        </p:nvSpPr>
        <p:spPr bwMode="auto">
          <a:xfrm flipH="1">
            <a:off x="70389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1905" name="Line 48"/>
          <p:cNvSpPr>
            <a:spLocks noChangeShapeType="1"/>
          </p:cNvSpPr>
          <p:nvPr/>
        </p:nvSpPr>
        <p:spPr bwMode="auto">
          <a:xfrm>
            <a:off x="80486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1906" name="Text Box 49"/>
          <p:cNvSpPr txBox="1">
            <a:spLocks noChangeArrowheads="1"/>
          </p:cNvSpPr>
          <p:nvPr/>
        </p:nvSpPr>
        <p:spPr bwMode="auto">
          <a:xfrm>
            <a:off x="4514850" y="1976438"/>
            <a:ext cx="6731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121907" name="Text Box 50"/>
          <p:cNvSpPr txBox="1">
            <a:spLocks noChangeArrowheads="1"/>
          </p:cNvSpPr>
          <p:nvPr/>
        </p:nvSpPr>
        <p:spPr bwMode="auto">
          <a:xfrm>
            <a:off x="24955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121908" name="Text Box 51"/>
          <p:cNvSpPr txBox="1">
            <a:spLocks noChangeArrowheads="1"/>
          </p:cNvSpPr>
          <p:nvPr/>
        </p:nvSpPr>
        <p:spPr bwMode="auto">
          <a:xfrm>
            <a:off x="65341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121909" name="Text Box 52"/>
          <p:cNvSpPr txBox="1">
            <a:spLocks noChangeArrowheads="1"/>
          </p:cNvSpPr>
          <p:nvPr/>
        </p:nvSpPr>
        <p:spPr bwMode="auto">
          <a:xfrm>
            <a:off x="14859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121910" name="Text Box 53"/>
          <p:cNvSpPr txBox="1">
            <a:spLocks noChangeArrowheads="1"/>
          </p:cNvSpPr>
          <p:nvPr/>
        </p:nvSpPr>
        <p:spPr bwMode="auto">
          <a:xfrm>
            <a:off x="35052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121911" name="Text Box 54"/>
          <p:cNvSpPr txBox="1">
            <a:spLocks noChangeArrowheads="1"/>
          </p:cNvSpPr>
          <p:nvPr/>
        </p:nvSpPr>
        <p:spPr bwMode="auto">
          <a:xfrm>
            <a:off x="55245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121912" name="Text Box 55"/>
          <p:cNvSpPr txBox="1">
            <a:spLocks noChangeArrowheads="1"/>
          </p:cNvSpPr>
          <p:nvPr/>
        </p:nvSpPr>
        <p:spPr bwMode="auto">
          <a:xfrm>
            <a:off x="75438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121913" name="Text Box 56"/>
          <p:cNvSpPr txBox="1">
            <a:spLocks noChangeArrowheads="1"/>
          </p:cNvSpPr>
          <p:nvPr/>
        </p:nvSpPr>
        <p:spPr bwMode="auto">
          <a:xfrm>
            <a:off x="8128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121914" name="Text Box 57"/>
          <p:cNvSpPr txBox="1">
            <a:spLocks noChangeArrowheads="1"/>
          </p:cNvSpPr>
          <p:nvPr/>
        </p:nvSpPr>
        <p:spPr bwMode="auto">
          <a:xfrm>
            <a:off x="182245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121915" name="Text Box 58"/>
          <p:cNvSpPr txBox="1">
            <a:spLocks noChangeArrowheads="1"/>
          </p:cNvSpPr>
          <p:nvPr/>
        </p:nvSpPr>
        <p:spPr bwMode="auto">
          <a:xfrm>
            <a:off x="28321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121916" name="Text Box 59"/>
          <p:cNvSpPr txBox="1">
            <a:spLocks noChangeArrowheads="1"/>
          </p:cNvSpPr>
          <p:nvPr/>
        </p:nvSpPr>
        <p:spPr bwMode="auto">
          <a:xfrm>
            <a:off x="36734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121917" name="Text Box 60"/>
          <p:cNvSpPr txBox="1">
            <a:spLocks noChangeArrowheads="1"/>
          </p:cNvSpPr>
          <p:nvPr/>
        </p:nvSpPr>
        <p:spPr bwMode="auto">
          <a:xfrm>
            <a:off x="46831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121918" name="Text Box 61"/>
          <p:cNvSpPr txBox="1">
            <a:spLocks noChangeArrowheads="1"/>
          </p:cNvSpPr>
          <p:nvPr/>
        </p:nvSpPr>
        <p:spPr bwMode="auto">
          <a:xfrm>
            <a:off x="56927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121919" name="Text Box 62"/>
          <p:cNvSpPr txBox="1">
            <a:spLocks noChangeArrowheads="1"/>
          </p:cNvSpPr>
          <p:nvPr/>
        </p:nvSpPr>
        <p:spPr bwMode="auto">
          <a:xfrm>
            <a:off x="67024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121920" name="Text Box 63"/>
          <p:cNvSpPr txBox="1">
            <a:spLocks noChangeArrowheads="1"/>
          </p:cNvSpPr>
          <p:nvPr/>
        </p:nvSpPr>
        <p:spPr bwMode="auto">
          <a:xfrm>
            <a:off x="77120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121921" name="Oval 64"/>
          <p:cNvSpPr>
            <a:spLocks noChangeArrowheads="1"/>
          </p:cNvSpPr>
          <p:nvPr/>
        </p:nvSpPr>
        <p:spPr bwMode="auto">
          <a:xfrm>
            <a:off x="476250" y="514032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1922" name="Text Box 65"/>
          <p:cNvSpPr txBox="1">
            <a:spLocks noChangeArrowheads="1"/>
          </p:cNvSpPr>
          <p:nvPr/>
        </p:nvSpPr>
        <p:spPr bwMode="auto">
          <a:xfrm>
            <a:off x="457200" y="52387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27</a:t>
            </a:r>
            <a:endParaRPr lang="en-US" altLang="en-US" sz="2400"/>
          </a:p>
        </p:txBody>
      </p:sp>
      <p:sp>
        <p:nvSpPr>
          <p:cNvPr id="121923" name="Oval 66"/>
          <p:cNvSpPr>
            <a:spLocks noChangeArrowheads="1"/>
          </p:cNvSpPr>
          <p:nvPr/>
        </p:nvSpPr>
        <p:spPr bwMode="auto">
          <a:xfrm>
            <a:off x="1485900" y="513873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1924" name="Text Box 67"/>
          <p:cNvSpPr txBox="1">
            <a:spLocks noChangeArrowheads="1"/>
          </p:cNvSpPr>
          <p:nvPr/>
        </p:nvSpPr>
        <p:spPr bwMode="auto">
          <a:xfrm>
            <a:off x="1466850" y="5238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21925" name="Text Box 68"/>
          <p:cNvSpPr txBox="1">
            <a:spLocks noChangeArrowheads="1"/>
          </p:cNvSpPr>
          <p:nvPr/>
        </p:nvSpPr>
        <p:spPr bwMode="auto">
          <a:xfrm>
            <a:off x="148590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121926" name="Line 69"/>
          <p:cNvSpPr>
            <a:spLocks noChangeShapeType="1"/>
          </p:cNvSpPr>
          <p:nvPr/>
        </p:nvSpPr>
        <p:spPr bwMode="auto">
          <a:xfrm flipH="1">
            <a:off x="644525" y="467677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1927" name="Line 70"/>
          <p:cNvSpPr>
            <a:spLocks noChangeShapeType="1"/>
          </p:cNvSpPr>
          <p:nvPr/>
        </p:nvSpPr>
        <p:spPr bwMode="auto">
          <a:xfrm>
            <a:off x="1149350" y="467677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1928" name="Text Box 71"/>
          <p:cNvSpPr txBox="1">
            <a:spLocks noChangeArrowheads="1"/>
          </p:cNvSpPr>
          <p:nvPr/>
        </p:nvSpPr>
        <p:spPr bwMode="auto">
          <a:xfrm>
            <a:off x="47625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121929" name="Text Box 72"/>
          <p:cNvSpPr txBox="1">
            <a:spLocks noChangeArrowheads="1"/>
          </p:cNvSpPr>
          <p:nvPr/>
        </p:nvSpPr>
        <p:spPr bwMode="auto">
          <a:xfrm>
            <a:off x="3276600" y="3049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21930" name="Text Box 73"/>
          <p:cNvSpPr txBox="1">
            <a:spLocks noChangeArrowheads="1"/>
          </p:cNvSpPr>
          <p:nvPr/>
        </p:nvSpPr>
        <p:spPr bwMode="auto">
          <a:xfrm>
            <a:off x="2819400" y="5181600"/>
            <a:ext cx="60198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Then the parent of the last node is       (16 – 1) / 2 = 7</a:t>
            </a:r>
          </a:p>
        </p:txBody>
      </p:sp>
      <p:sp>
        <p:nvSpPr>
          <p:cNvPr id="121931" name="Rectangle 74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Forming an Initial Heap (cont.)</a:t>
            </a:r>
          </a:p>
        </p:txBody>
      </p:sp>
      <p:sp>
        <p:nvSpPr>
          <p:cNvPr id="121932" name="Line 76"/>
          <p:cNvSpPr>
            <a:spLocks noChangeShapeType="1"/>
          </p:cNvSpPr>
          <p:nvPr/>
        </p:nvSpPr>
        <p:spPr bwMode="auto">
          <a:xfrm flipH="1" flipV="1">
            <a:off x="1295400" y="4648200"/>
            <a:ext cx="1524000" cy="68580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BE519CBF-2C6F-466C-9337-4400A288792F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121</a:t>
            </a:fld>
            <a:endParaRPr lang="en-US" altLang="en-US" sz="1400"/>
          </a:p>
        </p:txBody>
      </p:sp>
      <p:sp>
        <p:nvSpPr>
          <p:cNvPr id="122883" name="Oval 2"/>
          <p:cNvSpPr>
            <a:spLocks noChangeArrowheads="1"/>
          </p:cNvSpPr>
          <p:nvPr/>
        </p:nvSpPr>
        <p:spPr bwMode="auto">
          <a:xfrm>
            <a:off x="23272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2884" name="Text Box 3"/>
          <p:cNvSpPr txBox="1">
            <a:spLocks noChangeArrowheads="1"/>
          </p:cNvSpPr>
          <p:nvPr/>
        </p:nvSpPr>
        <p:spPr bwMode="auto">
          <a:xfrm>
            <a:off x="23082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31</a:t>
            </a:r>
            <a:endParaRPr lang="en-US" altLang="en-US" sz="2400"/>
          </a:p>
        </p:txBody>
      </p:sp>
      <p:sp>
        <p:nvSpPr>
          <p:cNvPr id="122885" name="Oval 4"/>
          <p:cNvSpPr>
            <a:spLocks noChangeArrowheads="1"/>
          </p:cNvSpPr>
          <p:nvPr/>
        </p:nvSpPr>
        <p:spPr bwMode="auto">
          <a:xfrm>
            <a:off x="13176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2886" name="Text Box 5"/>
          <p:cNvSpPr txBox="1">
            <a:spLocks noChangeArrowheads="1"/>
          </p:cNvSpPr>
          <p:nvPr/>
        </p:nvSpPr>
        <p:spPr bwMode="auto">
          <a:xfrm>
            <a:off x="1298575" y="307975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22887" name="Oval 6"/>
          <p:cNvSpPr>
            <a:spLocks noChangeArrowheads="1"/>
          </p:cNvSpPr>
          <p:nvPr/>
        </p:nvSpPr>
        <p:spPr bwMode="auto">
          <a:xfrm>
            <a:off x="6445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FF33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2888" name="Text Box 7"/>
          <p:cNvSpPr txBox="1">
            <a:spLocks noChangeArrowheads="1"/>
          </p:cNvSpPr>
          <p:nvPr/>
        </p:nvSpPr>
        <p:spPr bwMode="auto">
          <a:xfrm>
            <a:off x="625475" y="4159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22889" name="Text Box 8"/>
          <p:cNvSpPr txBox="1">
            <a:spLocks noChangeArrowheads="1"/>
          </p:cNvSpPr>
          <p:nvPr/>
        </p:nvSpPr>
        <p:spPr bwMode="auto">
          <a:xfrm>
            <a:off x="2057400" y="121285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122890" name="Oval 9"/>
          <p:cNvSpPr>
            <a:spLocks noChangeArrowheads="1"/>
          </p:cNvSpPr>
          <p:nvPr/>
        </p:nvSpPr>
        <p:spPr bwMode="auto">
          <a:xfrm>
            <a:off x="16541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2891" name="Text Box 10"/>
          <p:cNvSpPr txBox="1">
            <a:spLocks noChangeArrowheads="1"/>
          </p:cNvSpPr>
          <p:nvPr/>
        </p:nvSpPr>
        <p:spPr bwMode="auto">
          <a:xfrm>
            <a:off x="16351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12</a:t>
            </a:r>
            <a:endParaRPr lang="en-US" altLang="en-US" sz="2400"/>
          </a:p>
        </p:txBody>
      </p:sp>
      <p:sp>
        <p:nvSpPr>
          <p:cNvPr id="122892" name="Oval 11"/>
          <p:cNvSpPr>
            <a:spLocks noChangeArrowheads="1"/>
          </p:cNvSpPr>
          <p:nvPr/>
        </p:nvSpPr>
        <p:spPr bwMode="auto">
          <a:xfrm>
            <a:off x="4346575" y="14255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2893" name="Text Box 12"/>
          <p:cNvSpPr txBox="1">
            <a:spLocks noChangeArrowheads="1"/>
          </p:cNvSpPr>
          <p:nvPr/>
        </p:nvSpPr>
        <p:spPr bwMode="auto">
          <a:xfrm>
            <a:off x="4327525" y="1525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6</a:t>
            </a:r>
            <a:endParaRPr lang="en-US" altLang="en-US" sz="2400"/>
          </a:p>
        </p:txBody>
      </p:sp>
      <p:sp>
        <p:nvSpPr>
          <p:cNvPr id="122894" name="Line 13"/>
          <p:cNvSpPr>
            <a:spLocks noChangeShapeType="1"/>
          </p:cNvSpPr>
          <p:nvPr/>
        </p:nvSpPr>
        <p:spPr bwMode="auto">
          <a:xfrm>
            <a:off x="2832100" y="152082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2895" name="Oval 14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2896" name="Line 15"/>
          <p:cNvSpPr>
            <a:spLocks noChangeShapeType="1"/>
          </p:cNvSpPr>
          <p:nvPr/>
        </p:nvSpPr>
        <p:spPr bwMode="auto">
          <a:xfrm flipH="1">
            <a:off x="182245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2897" name="Line 16"/>
          <p:cNvSpPr>
            <a:spLocks noChangeShapeType="1"/>
          </p:cNvSpPr>
          <p:nvPr/>
        </p:nvSpPr>
        <p:spPr bwMode="auto">
          <a:xfrm>
            <a:off x="283210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2898" name="Oval 17"/>
          <p:cNvSpPr>
            <a:spLocks noChangeArrowheads="1"/>
          </p:cNvSpPr>
          <p:nvPr/>
        </p:nvSpPr>
        <p:spPr bwMode="auto">
          <a:xfrm>
            <a:off x="63658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2899" name="Text Box 18"/>
          <p:cNvSpPr txBox="1">
            <a:spLocks noChangeArrowheads="1"/>
          </p:cNvSpPr>
          <p:nvPr/>
        </p:nvSpPr>
        <p:spPr bwMode="auto">
          <a:xfrm>
            <a:off x="63468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22900" name="Oval 19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2901" name="Oval 20"/>
          <p:cNvSpPr>
            <a:spLocks noChangeArrowheads="1"/>
          </p:cNvSpPr>
          <p:nvPr/>
        </p:nvSpPr>
        <p:spPr bwMode="auto">
          <a:xfrm>
            <a:off x="73755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2902" name="Text Box 21"/>
          <p:cNvSpPr txBox="1">
            <a:spLocks noChangeArrowheads="1"/>
          </p:cNvSpPr>
          <p:nvPr/>
        </p:nvSpPr>
        <p:spPr bwMode="auto">
          <a:xfrm>
            <a:off x="7356475" y="3079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22903" name="Line 22"/>
          <p:cNvSpPr>
            <a:spLocks noChangeShapeType="1"/>
          </p:cNvSpPr>
          <p:nvPr/>
        </p:nvSpPr>
        <p:spPr bwMode="auto">
          <a:xfrm flipH="1">
            <a:off x="586105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2904" name="Line 23"/>
          <p:cNvSpPr>
            <a:spLocks noChangeShapeType="1"/>
          </p:cNvSpPr>
          <p:nvPr/>
        </p:nvSpPr>
        <p:spPr bwMode="auto">
          <a:xfrm>
            <a:off x="687070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2905" name="Line 24"/>
          <p:cNvSpPr>
            <a:spLocks noChangeShapeType="1"/>
          </p:cNvSpPr>
          <p:nvPr/>
        </p:nvSpPr>
        <p:spPr bwMode="auto">
          <a:xfrm flipH="1">
            <a:off x="3000375" y="1828800"/>
            <a:ext cx="1343025" cy="2270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2906" name="Line 25"/>
          <p:cNvSpPr>
            <a:spLocks noChangeShapeType="1"/>
          </p:cNvSpPr>
          <p:nvPr/>
        </p:nvSpPr>
        <p:spPr bwMode="auto">
          <a:xfrm>
            <a:off x="5029200" y="1752600"/>
            <a:ext cx="1371600" cy="3048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2907" name="Oval 26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2908" name="Oval 27"/>
          <p:cNvSpPr>
            <a:spLocks noChangeArrowheads="1"/>
          </p:cNvSpPr>
          <p:nvPr/>
        </p:nvSpPr>
        <p:spPr bwMode="auto">
          <a:xfrm>
            <a:off x="266382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2909" name="Text Box 28"/>
          <p:cNvSpPr txBox="1">
            <a:spLocks noChangeArrowheads="1"/>
          </p:cNvSpPr>
          <p:nvPr/>
        </p:nvSpPr>
        <p:spPr bwMode="auto">
          <a:xfrm>
            <a:off x="2644775" y="415448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122910" name="Oval 29"/>
          <p:cNvSpPr>
            <a:spLocks noChangeArrowheads="1"/>
          </p:cNvSpPr>
          <p:nvPr/>
        </p:nvSpPr>
        <p:spPr bwMode="auto">
          <a:xfrm>
            <a:off x="3673475" y="40544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2911" name="Text Box 30"/>
          <p:cNvSpPr txBox="1">
            <a:spLocks noChangeArrowheads="1"/>
          </p:cNvSpPr>
          <p:nvPr/>
        </p:nvSpPr>
        <p:spPr bwMode="auto">
          <a:xfrm>
            <a:off x="3654425" y="41544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38</a:t>
            </a:r>
            <a:endParaRPr lang="en-US" altLang="en-US" sz="2400"/>
          </a:p>
        </p:txBody>
      </p:sp>
      <p:sp>
        <p:nvSpPr>
          <p:cNvPr id="122912" name="Oval 31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2913" name="Text Box 32"/>
          <p:cNvSpPr txBox="1">
            <a:spLocks noChangeArrowheads="1"/>
          </p:cNvSpPr>
          <p:nvPr/>
        </p:nvSpPr>
        <p:spPr bwMode="auto">
          <a:xfrm>
            <a:off x="5334000" y="304958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122914" name="Oval 33"/>
          <p:cNvSpPr>
            <a:spLocks noChangeArrowheads="1"/>
          </p:cNvSpPr>
          <p:nvPr/>
        </p:nvSpPr>
        <p:spPr bwMode="auto">
          <a:xfrm>
            <a:off x="4683125" y="406082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2915" name="Text Box 34"/>
          <p:cNvSpPr txBox="1">
            <a:spLocks noChangeArrowheads="1"/>
          </p:cNvSpPr>
          <p:nvPr/>
        </p:nvSpPr>
        <p:spPr bwMode="auto">
          <a:xfrm>
            <a:off x="4664075" y="415766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22916" name="Oval 35"/>
          <p:cNvSpPr>
            <a:spLocks noChangeArrowheads="1"/>
          </p:cNvSpPr>
          <p:nvPr/>
        </p:nvSpPr>
        <p:spPr bwMode="auto">
          <a:xfrm>
            <a:off x="5692775" y="40608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2917" name="Text Box 36"/>
          <p:cNvSpPr txBox="1">
            <a:spLocks noChangeArrowheads="1"/>
          </p:cNvSpPr>
          <p:nvPr/>
        </p:nvSpPr>
        <p:spPr bwMode="auto">
          <a:xfrm>
            <a:off x="5673725" y="41608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122918" name="Oval 37"/>
          <p:cNvSpPr>
            <a:spLocks noChangeArrowheads="1"/>
          </p:cNvSpPr>
          <p:nvPr/>
        </p:nvSpPr>
        <p:spPr bwMode="auto">
          <a:xfrm>
            <a:off x="67024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2919" name="Text Box 38"/>
          <p:cNvSpPr txBox="1">
            <a:spLocks noChangeArrowheads="1"/>
          </p:cNvSpPr>
          <p:nvPr/>
        </p:nvSpPr>
        <p:spPr bwMode="auto">
          <a:xfrm>
            <a:off x="6683375" y="415925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</a:t>
            </a:r>
            <a:endParaRPr lang="en-US" altLang="en-US" sz="2400"/>
          </a:p>
        </p:txBody>
      </p:sp>
      <p:sp>
        <p:nvSpPr>
          <p:cNvPr id="122920" name="Oval 39"/>
          <p:cNvSpPr>
            <a:spLocks noChangeArrowheads="1"/>
          </p:cNvSpPr>
          <p:nvPr/>
        </p:nvSpPr>
        <p:spPr bwMode="auto">
          <a:xfrm>
            <a:off x="77120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2921" name="Text Box 40"/>
          <p:cNvSpPr txBox="1">
            <a:spLocks noChangeArrowheads="1"/>
          </p:cNvSpPr>
          <p:nvPr/>
        </p:nvSpPr>
        <p:spPr bwMode="auto">
          <a:xfrm>
            <a:off x="76930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22922" name="Line 41"/>
          <p:cNvSpPr>
            <a:spLocks noChangeShapeType="1"/>
          </p:cNvSpPr>
          <p:nvPr/>
        </p:nvSpPr>
        <p:spPr bwMode="auto">
          <a:xfrm flipH="1">
            <a:off x="9810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2923" name="Line 42"/>
          <p:cNvSpPr>
            <a:spLocks noChangeShapeType="1"/>
          </p:cNvSpPr>
          <p:nvPr/>
        </p:nvSpPr>
        <p:spPr bwMode="auto">
          <a:xfrm>
            <a:off x="19907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2924" name="Line 43"/>
          <p:cNvSpPr>
            <a:spLocks noChangeShapeType="1"/>
          </p:cNvSpPr>
          <p:nvPr/>
        </p:nvSpPr>
        <p:spPr bwMode="auto">
          <a:xfrm flipH="1">
            <a:off x="30003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2925" name="Line 44"/>
          <p:cNvSpPr>
            <a:spLocks noChangeShapeType="1"/>
          </p:cNvSpPr>
          <p:nvPr/>
        </p:nvSpPr>
        <p:spPr bwMode="auto">
          <a:xfrm>
            <a:off x="40100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2926" name="Line 45"/>
          <p:cNvSpPr>
            <a:spLocks noChangeShapeType="1"/>
          </p:cNvSpPr>
          <p:nvPr/>
        </p:nvSpPr>
        <p:spPr bwMode="auto">
          <a:xfrm flipH="1">
            <a:off x="50196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2927" name="Line 46"/>
          <p:cNvSpPr>
            <a:spLocks noChangeShapeType="1"/>
          </p:cNvSpPr>
          <p:nvPr/>
        </p:nvSpPr>
        <p:spPr bwMode="auto">
          <a:xfrm>
            <a:off x="60293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2928" name="Line 47"/>
          <p:cNvSpPr>
            <a:spLocks noChangeShapeType="1"/>
          </p:cNvSpPr>
          <p:nvPr/>
        </p:nvSpPr>
        <p:spPr bwMode="auto">
          <a:xfrm flipH="1">
            <a:off x="70389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2929" name="Line 48"/>
          <p:cNvSpPr>
            <a:spLocks noChangeShapeType="1"/>
          </p:cNvSpPr>
          <p:nvPr/>
        </p:nvSpPr>
        <p:spPr bwMode="auto">
          <a:xfrm>
            <a:off x="80486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2930" name="Text Box 49"/>
          <p:cNvSpPr txBox="1">
            <a:spLocks noChangeArrowheads="1"/>
          </p:cNvSpPr>
          <p:nvPr/>
        </p:nvSpPr>
        <p:spPr bwMode="auto">
          <a:xfrm>
            <a:off x="4514850" y="1976438"/>
            <a:ext cx="6731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122931" name="Text Box 50"/>
          <p:cNvSpPr txBox="1">
            <a:spLocks noChangeArrowheads="1"/>
          </p:cNvSpPr>
          <p:nvPr/>
        </p:nvSpPr>
        <p:spPr bwMode="auto">
          <a:xfrm>
            <a:off x="24955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122932" name="Text Box 51"/>
          <p:cNvSpPr txBox="1">
            <a:spLocks noChangeArrowheads="1"/>
          </p:cNvSpPr>
          <p:nvPr/>
        </p:nvSpPr>
        <p:spPr bwMode="auto">
          <a:xfrm>
            <a:off x="65341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122933" name="Text Box 52"/>
          <p:cNvSpPr txBox="1">
            <a:spLocks noChangeArrowheads="1"/>
          </p:cNvSpPr>
          <p:nvPr/>
        </p:nvSpPr>
        <p:spPr bwMode="auto">
          <a:xfrm>
            <a:off x="14859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122934" name="Text Box 53"/>
          <p:cNvSpPr txBox="1">
            <a:spLocks noChangeArrowheads="1"/>
          </p:cNvSpPr>
          <p:nvPr/>
        </p:nvSpPr>
        <p:spPr bwMode="auto">
          <a:xfrm>
            <a:off x="35052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122935" name="Text Box 54"/>
          <p:cNvSpPr txBox="1">
            <a:spLocks noChangeArrowheads="1"/>
          </p:cNvSpPr>
          <p:nvPr/>
        </p:nvSpPr>
        <p:spPr bwMode="auto">
          <a:xfrm>
            <a:off x="55245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122936" name="Text Box 55"/>
          <p:cNvSpPr txBox="1">
            <a:spLocks noChangeArrowheads="1"/>
          </p:cNvSpPr>
          <p:nvPr/>
        </p:nvSpPr>
        <p:spPr bwMode="auto">
          <a:xfrm>
            <a:off x="75438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122937" name="Text Box 56"/>
          <p:cNvSpPr txBox="1">
            <a:spLocks noChangeArrowheads="1"/>
          </p:cNvSpPr>
          <p:nvPr/>
        </p:nvSpPr>
        <p:spPr bwMode="auto">
          <a:xfrm>
            <a:off x="8128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122938" name="Text Box 57"/>
          <p:cNvSpPr txBox="1">
            <a:spLocks noChangeArrowheads="1"/>
          </p:cNvSpPr>
          <p:nvPr/>
        </p:nvSpPr>
        <p:spPr bwMode="auto">
          <a:xfrm>
            <a:off x="182245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122939" name="Text Box 58"/>
          <p:cNvSpPr txBox="1">
            <a:spLocks noChangeArrowheads="1"/>
          </p:cNvSpPr>
          <p:nvPr/>
        </p:nvSpPr>
        <p:spPr bwMode="auto">
          <a:xfrm>
            <a:off x="28321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122940" name="Text Box 59"/>
          <p:cNvSpPr txBox="1">
            <a:spLocks noChangeArrowheads="1"/>
          </p:cNvSpPr>
          <p:nvPr/>
        </p:nvSpPr>
        <p:spPr bwMode="auto">
          <a:xfrm>
            <a:off x="36734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122941" name="Text Box 60"/>
          <p:cNvSpPr txBox="1">
            <a:spLocks noChangeArrowheads="1"/>
          </p:cNvSpPr>
          <p:nvPr/>
        </p:nvSpPr>
        <p:spPr bwMode="auto">
          <a:xfrm>
            <a:off x="46831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122942" name="Text Box 61"/>
          <p:cNvSpPr txBox="1">
            <a:spLocks noChangeArrowheads="1"/>
          </p:cNvSpPr>
          <p:nvPr/>
        </p:nvSpPr>
        <p:spPr bwMode="auto">
          <a:xfrm>
            <a:off x="56927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122943" name="Text Box 62"/>
          <p:cNvSpPr txBox="1">
            <a:spLocks noChangeArrowheads="1"/>
          </p:cNvSpPr>
          <p:nvPr/>
        </p:nvSpPr>
        <p:spPr bwMode="auto">
          <a:xfrm>
            <a:off x="67024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122944" name="Text Box 63"/>
          <p:cNvSpPr txBox="1">
            <a:spLocks noChangeArrowheads="1"/>
          </p:cNvSpPr>
          <p:nvPr/>
        </p:nvSpPr>
        <p:spPr bwMode="auto">
          <a:xfrm>
            <a:off x="77120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122945" name="Oval 64"/>
          <p:cNvSpPr>
            <a:spLocks noChangeArrowheads="1"/>
          </p:cNvSpPr>
          <p:nvPr/>
        </p:nvSpPr>
        <p:spPr bwMode="auto">
          <a:xfrm>
            <a:off x="476250" y="514032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2946" name="Text Box 65"/>
          <p:cNvSpPr txBox="1">
            <a:spLocks noChangeArrowheads="1"/>
          </p:cNvSpPr>
          <p:nvPr/>
        </p:nvSpPr>
        <p:spPr bwMode="auto">
          <a:xfrm>
            <a:off x="457200" y="52387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27</a:t>
            </a:r>
            <a:endParaRPr lang="en-US" altLang="en-US" sz="2400"/>
          </a:p>
        </p:txBody>
      </p:sp>
      <p:sp>
        <p:nvSpPr>
          <p:cNvPr id="122947" name="Oval 66"/>
          <p:cNvSpPr>
            <a:spLocks noChangeArrowheads="1"/>
          </p:cNvSpPr>
          <p:nvPr/>
        </p:nvSpPr>
        <p:spPr bwMode="auto">
          <a:xfrm>
            <a:off x="1485900" y="513873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2948" name="Text Box 67"/>
          <p:cNvSpPr txBox="1">
            <a:spLocks noChangeArrowheads="1"/>
          </p:cNvSpPr>
          <p:nvPr/>
        </p:nvSpPr>
        <p:spPr bwMode="auto">
          <a:xfrm>
            <a:off x="1466850" y="5238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22949" name="Text Box 68"/>
          <p:cNvSpPr txBox="1">
            <a:spLocks noChangeArrowheads="1"/>
          </p:cNvSpPr>
          <p:nvPr/>
        </p:nvSpPr>
        <p:spPr bwMode="auto">
          <a:xfrm>
            <a:off x="148590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122950" name="Line 69"/>
          <p:cNvSpPr>
            <a:spLocks noChangeShapeType="1"/>
          </p:cNvSpPr>
          <p:nvPr/>
        </p:nvSpPr>
        <p:spPr bwMode="auto">
          <a:xfrm flipH="1">
            <a:off x="644525" y="467677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2951" name="Line 70"/>
          <p:cNvSpPr>
            <a:spLocks noChangeShapeType="1"/>
          </p:cNvSpPr>
          <p:nvPr/>
        </p:nvSpPr>
        <p:spPr bwMode="auto">
          <a:xfrm>
            <a:off x="1149350" y="467677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2952" name="Text Box 71"/>
          <p:cNvSpPr txBox="1">
            <a:spLocks noChangeArrowheads="1"/>
          </p:cNvSpPr>
          <p:nvPr/>
        </p:nvSpPr>
        <p:spPr bwMode="auto">
          <a:xfrm>
            <a:off x="47625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122953" name="Text Box 72"/>
          <p:cNvSpPr txBox="1">
            <a:spLocks noChangeArrowheads="1"/>
          </p:cNvSpPr>
          <p:nvPr/>
        </p:nvSpPr>
        <p:spPr bwMode="auto">
          <a:xfrm>
            <a:off x="3276600" y="3049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22954" name="Text Box 73"/>
          <p:cNvSpPr txBox="1">
            <a:spLocks noChangeArrowheads="1"/>
          </p:cNvSpPr>
          <p:nvPr/>
        </p:nvSpPr>
        <p:spPr bwMode="auto">
          <a:xfrm>
            <a:off x="2362200" y="5181600"/>
            <a:ext cx="64770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Heapifying works only if the structure is a heap except for possibly the root.</a:t>
            </a:r>
          </a:p>
        </p:txBody>
      </p:sp>
      <p:sp>
        <p:nvSpPr>
          <p:cNvPr id="122955" name="Rectangle 74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Forming an Initial Heap (cont.)</a:t>
            </a: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6ABD9AF0-87CF-47B4-B469-8011D384D67D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122</a:t>
            </a:fld>
            <a:endParaRPr lang="en-US" altLang="en-US" sz="1400"/>
          </a:p>
        </p:txBody>
      </p:sp>
      <p:sp>
        <p:nvSpPr>
          <p:cNvPr id="123907" name="Oval 2"/>
          <p:cNvSpPr>
            <a:spLocks noChangeArrowheads="1"/>
          </p:cNvSpPr>
          <p:nvPr/>
        </p:nvSpPr>
        <p:spPr bwMode="auto">
          <a:xfrm>
            <a:off x="23272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3908" name="Text Box 3"/>
          <p:cNvSpPr txBox="1">
            <a:spLocks noChangeArrowheads="1"/>
          </p:cNvSpPr>
          <p:nvPr/>
        </p:nvSpPr>
        <p:spPr bwMode="auto">
          <a:xfrm>
            <a:off x="23082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31</a:t>
            </a:r>
            <a:endParaRPr lang="en-US" altLang="en-US" sz="2400"/>
          </a:p>
        </p:txBody>
      </p:sp>
      <p:sp>
        <p:nvSpPr>
          <p:cNvPr id="123909" name="Oval 4"/>
          <p:cNvSpPr>
            <a:spLocks noChangeArrowheads="1"/>
          </p:cNvSpPr>
          <p:nvPr/>
        </p:nvSpPr>
        <p:spPr bwMode="auto">
          <a:xfrm>
            <a:off x="13176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3910" name="Text Box 5"/>
          <p:cNvSpPr txBox="1">
            <a:spLocks noChangeArrowheads="1"/>
          </p:cNvSpPr>
          <p:nvPr/>
        </p:nvSpPr>
        <p:spPr bwMode="auto">
          <a:xfrm>
            <a:off x="1298575" y="307975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23911" name="Oval 6"/>
          <p:cNvSpPr>
            <a:spLocks noChangeArrowheads="1"/>
          </p:cNvSpPr>
          <p:nvPr/>
        </p:nvSpPr>
        <p:spPr bwMode="auto">
          <a:xfrm>
            <a:off x="6445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FF33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3912" name="Text Box 7"/>
          <p:cNvSpPr txBox="1">
            <a:spLocks noChangeArrowheads="1"/>
          </p:cNvSpPr>
          <p:nvPr/>
        </p:nvSpPr>
        <p:spPr bwMode="auto">
          <a:xfrm>
            <a:off x="625475" y="4159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23913" name="Text Box 8"/>
          <p:cNvSpPr txBox="1">
            <a:spLocks noChangeArrowheads="1"/>
          </p:cNvSpPr>
          <p:nvPr/>
        </p:nvSpPr>
        <p:spPr bwMode="auto">
          <a:xfrm>
            <a:off x="2057400" y="121285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123914" name="Oval 9"/>
          <p:cNvSpPr>
            <a:spLocks noChangeArrowheads="1"/>
          </p:cNvSpPr>
          <p:nvPr/>
        </p:nvSpPr>
        <p:spPr bwMode="auto">
          <a:xfrm>
            <a:off x="16541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3915" name="Text Box 10"/>
          <p:cNvSpPr txBox="1">
            <a:spLocks noChangeArrowheads="1"/>
          </p:cNvSpPr>
          <p:nvPr/>
        </p:nvSpPr>
        <p:spPr bwMode="auto">
          <a:xfrm>
            <a:off x="16351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12</a:t>
            </a:r>
            <a:endParaRPr lang="en-US" altLang="en-US" sz="2400"/>
          </a:p>
        </p:txBody>
      </p:sp>
      <p:sp>
        <p:nvSpPr>
          <p:cNvPr id="123916" name="Oval 11"/>
          <p:cNvSpPr>
            <a:spLocks noChangeArrowheads="1"/>
          </p:cNvSpPr>
          <p:nvPr/>
        </p:nvSpPr>
        <p:spPr bwMode="auto">
          <a:xfrm>
            <a:off x="4346575" y="14255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3917" name="Text Box 12"/>
          <p:cNvSpPr txBox="1">
            <a:spLocks noChangeArrowheads="1"/>
          </p:cNvSpPr>
          <p:nvPr/>
        </p:nvSpPr>
        <p:spPr bwMode="auto">
          <a:xfrm>
            <a:off x="4327525" y="1525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6</a:t>
            </a:r>
            <a:endParaRPr lang="en-US" altLang="en-US" sz="2400"/>
          </a:p>
        </p:txBody>
      </p:sp>
      <p:sp>
        <p:nvSpPr>
          <p:cNvPr id="123918" name="Line 13"/>
          <p:cNvSpPr>
            <a:spLocks noChangeShapeType="1"/>
          </p:cNvSpPr>
          <p:nvPr/>
        </p:nvSpPr>
        <p:spPr bwMode="auto">
          <a:xfrm>
            <a:off x="2832100" y="152082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3919" name="Oval 14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3920" name="Line 15"/>
          <p:cNvSpPr>
            <a:spLocks noChangeShapeType="1"/>
          </p:cNvSpPr>
          <p:nvPr/>
        </p:nvSpPr>
        <p:spPr bwMode="auto">
          <a:xfrm flipH="1">
            <a:off x="182245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3921" name="Line 16"/>
          <p:cNvSpPr>
            <a:spLocks noChangeShapeType="1"/>
          </p:cNvSpPr>
          <p:nvPr/>
        </p:nvSpPr>
        <p:spPr bwMode="auto">
          <a:xfrm>
            <a:off x="283210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3922" name="Oval 17"/>
          <p:cNvSpPr>
            <a:spLocks noChangeArrowheads="1"/>
          </p:cNvSpPr>
          <p:nvPr/>
        </p:nvSpPr>
        <p:spPr bwMode="auto">
          <a:xfrm>
            <a:off x="63658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3923" name="Text Box 18"/>
          <p:cNvSpPr txBox="1">
            <a:spLocks noChangeArrowheads="1"/>
          </p:cNvSpPr>
          <p:nvPr/>
        </p:nvSpPr>
        <p:spPr bwMode="auto">
          <a:xfrm>
            <a:off x="63468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23924" name="Oval 19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3925" name="Oval 20"/>
          <p:cNvSpPr>
            <a:spLocks noChangeArrowheads="1"/>
          </p:cNvSpPr>
          <p:nvPr/>
        </p:nvSpPr>
        <p:spPr bwMode="auto">
          <a:xfrm>
            <a:off x="73755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3926" name="Text Box 21"/>
          <p:cNvSpPr txBox="1">
            <a:spLocks noChangeArrowheads="1"/>
          </p:cNvSpPr>
          <p:nvPr/>
        </p:nvSpPr>
        <p:spPr bwMode="auto">
          <a:xfrm>
            <a:off x="7356475" y="3079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23927" name="Line 22"/>
          <p:cNvSpPr>
            <a:spLocks noChangeShapeType="1"/>
          </p:cNvSpPr>
          <p:nvPr/>
        </p:nvSpPr>
        <p:spPr bwMode="auto">
          <a:xfrm flipH="1">
            <a:off x="586105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3928" name="Line 23"/>
          <p:cNvSpPr>
            <a:spLocks noChangeShapeType="1"/>
          </p:cNvSpPr>
          <p:nvPr/>
        </p:nvSpPr>
        <p:spPr bwMode="auto">
          <a:xfrm>
            <a:off x="687070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3929" name="Line 24"/>
          <p:cNvSpPr>
            <a:spLocks noChangeShapeType="1"/>
          </p:cNvSpPr>
          <p:nvPr/>
        </p:nvSpPr>
        <p:spPr bwMode="auto">
          <a:xfrm flipH="1">
            <a:off x="3000375" y="1828800"/>
            <a:ext cx="1343025" cy="2270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3930" name="Line 25"/>
          <p:cNvSpPr>
            <a:spLocks noChangeShapeType="1"/>
          </p:cNvSpPr>
          <p:nvPr/>
        </p:nvSpPr>
        <p:spPr bwMode="auto">
          <a:xfrm>
            <a:off x="5029200" y="1752600"/>
            <a:ext cx="1371600" cy="3048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3931" name="Oval 26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3932" name="Oval 27"/>
          <p:cNvSpPr>
            <a:spLocks noChangeArrowheads="1"/>
          </p:cNvSpPr>
          <p:nvPr/>
        </p:nvSpPr>
        <p:spPr bwMode="auto">
          <a:xfrm>
            <a:off x="266382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3933" name="Text Box 28"/>
          <p:cNvSpPr txBox="1">
            <a:spLocks noChangeArrowheads="1"/>
          </p:cNvSpPr>
          <p:nvPr/>
        </p:nvSpPr>
        <p:spPr bwMode="auto">
          <a:xfrm>
            <a:off x="2644775" y="415448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123934" name="Oval 29"/>
          <p:cNvSpPr>
            <a:spLocks noChangeArrowheads="1"/>
          </p:cNvSpPr>
          <p:nvPr/>
        </p:nvSpPr>
        <p:spPr bwMode="auto">
          <a:xfrm>
            <a:off x="3673475" y="40544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3935" name="Text Box 30"/>
          <p:cNvSpPr txBox="1">
            <a:spLocks noChangeArrowheads="1"/>
          </p:cNvSpPr>
          <p:nvPr/>
        </p:nvSpPr>
        <p:spPr bwMode="auto">
          <a:xfrm>
            <a:off x="3654425" y="41544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38</a:t>
            </a:r>
            <a:endParaRPr lang="en-US" altLang="en-US" sz="2400"/>
          </a:p>
        </p:txBody>
      </p:sp>
      <p:sp>
        <p:nvSpPr>
          <p:cNvPr id="123936" name="Oval 31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3937" name="Text Box 32"/>
          <p:cNvSpPr txBox="1">
            <a:spLocks noChangeArrowheads="1"/>
          </p:cNvSpPr>
          <p:nvPr/>
        </p:nvSpPr>
        <p:spPr bwMode="auto">
          <a:xfrm>
            <a:off x="5334000" y="304958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123938" name="Oval 33"/>
          <p:cNvSpPr>
            <a:spLocks noChangeArrowheads="1"/>
          </p:cNvSpPr>
          <p:nvPr/>
        </p:nvSpPr>
        <p:spPr bwMode="auto">
          <a:xfrm>
            <a:off x="4683125" y="406082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3939" name="Text Box 34"/>
          <p:cNvSpPr txBox="1">
            <a:spLocks noChangeArrowheads="1"/>
          </p:cNvSpPr>
          <p:nvPr/>
        </p:nvSpPr>
        <p:spPr bwMode="auto">
          <a:xfrm>
            <a:off x="4664075" y="415766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23940" name="Oval 35"/>
          <p:cNvSpPr>
            <a:spLocks noChangeArrowheads="1"/>
          </p:cNvSpPr>
          <p:nvPr/>
        </p:nvSpPr>
        <p:spPr bwMode="auto">
          <a:xfrm>
            <a:off x="5692775" y="40608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3941" name="Text Box 36"/>
          <p:cNvSpPr txBox="1">
            <a:spLocks noChangeArrowheads="1"/>
          </p:cNvSpPr>
          <p:nvPr/>
        </p:nvSpPr>
        <p:spPr bwMode="auto">
          <a:xfrm>
            <a:off x="5673725" y="41608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123942" name="Oval 37"/>
          <p:cNvSpPr>
            <a:spLocks noChangeArrowheads="1"/>
          </p:cNvSpPr>
          <p:nvPr/>
        </p:nvSpPr>
        <p:spPr bwMode="auto">
          <a:xfrm>
            <a:off x="67024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3943" name="Text Box 38"/>
          <p:cNvSpPr txBox="1">
            <a:spLocks noChangeArrowheads="1"/>
          </p:cNvSpPr>
          <p:nvPr/>
        </p:nvSpPr>
        <p:spPr bwMode="auto">
          <a:xfrm>
            <a:off x="6683375" y="415925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</a:t>
            </a:r>
            <a:endParaRPr lang="en-US" altLang="en-US" sz="2400"/>
          </a:p>
        </p:txBody>
      </p:sp>
      <p:sp>
        <p:nvSpPr>
          <p:cNvPr id="123944" name="Oval 39"/>
          <p:cNvSpPr>
            <a:spLocks noChangeArrowheads="1"/>
          </p:cNvSpPr>
          <p:nvPr/>
        </p:nvSpPr>
        <p:spPr bwMode="auto">
          <a:xfrm>
            <a:off x="77120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3945" name="Text Box 40"/>
          <p:cNvSpPr txBox="1">
            <a:spLocks noChangeArrowheads="1"/>
          </p:cNvSpPr>
          <p:nvPr/>
        </p:nvSpPr>
        <p:spPr bwMode="auto">
          <a:xfrm>
            <a:off x="76930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23946" name="Line 41"/>
          <p:cNvSpPr>
            <a:spLocks noChangeShapeType="1"/>
          </p:cNvSpPr>
          <p:nvPr/>
        </p:nvSpPr>
        <p:spPr bwMode="auto">
          <a:xfrm flipH="1">
            <a:off x="9810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3947" name="Line 42"/>
          <p:cNvSpPr>
            <a:spLocks noChangeShapeType="1"/>
          </p:cNvSpPr>
          <p:nvPr/>
        </p:nvSpPr>
        <p:spPr bwMode="auto">
          <a:xfrm>
            <a:off x="19907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3948" name="Line 43"/>
          <p:cNvSpPr>
            <a:spLocks noChangeShapeType="1"/>
          </p:cNvSpPr>
          <p:nvPr/>
        </p:nvSpPr>
        <p:spPr bwMode="auto">
          <a:xfrm flipH="1">
            <a:off x="30003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3949" name="Line 44"/>
          <p:cNvSpPr>
            <a:spLocks noChangeShapeType="1"/>
          </p:cNvSpPr>
          <p:nvPr/>
        </p:nvSpPr>
        <p:spPr bwMode="auto">
          <a:xfrm>
            <a:off x="40100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3950" name="Line 45"/>
          <p:cNvSpPr>
            <a:spLocks noChangeShapeType="1"/>
          </p:cNvSpPr>
          <p:nvPr/>
        </p:nvSpPr>
        <p:spPr bwMode="auto">
          <a:xfrm flipH="1">
            <a:off x="50196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3951" name="Line 46"/>
          <p:cNvSpPr>
            <a:spLocks noChangeShapeType="1"/>
          </p:cNvSpPr>
          <p:nvPr/>
        </p:nvSpPr>
        <p:spPr bwMode="auto">
          <a:xfrm>
            <a:off x="60293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3952" name="Line 47"/>
          <p:cNvSpPr>
            <a:spLocks noChangeShapeType="1"/>
          </p:cNvSpPr>
          <p:nvPr/>
        </p:nvSpPr>
        <p:spPr bwMode="auto">
          <a:xfrm flipH="1">
            <a:off x="70389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3953" name="Line 48"/>
          <p:cNvSpPr>
            <a:spLocks noChangeShapeType="1"/>
          </p:cNvSpPr>
          <p:nvPr/>
        </p:nvSpPr>
        <p:spPr bwMode="auto">
          <a:xfrm>
            <a:off x="80486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3954" name="Text Box 49"/>
          <p:cNvSpPr txBox="1">
            <a:spLocks noChangeArrowheads="1"/>
          </p:cNvSpPr>
          <p:nvPr/>
        </p:nvSpPr>
        <p:spPr bwMode="auto">
          <a:xfrm>
            <a:off x="4514850" y="1976438"/>
            <a:ext cx="6731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123955" name="Text Box 50"/>
          <p:cNvSpPr txBox="1">
            <a:spLocks noChangeArrowheads="1"/>
          </p:cNvSpPr>
          <p:nvPr/>
        </p:nvSpPr>
        <p:spPr bwMode="auto">
          <a:xfrm>
            <a:off x="24955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123956" name="Text Box 51"/>
          <p:cNvSpPr txBox="1">
            <a:spLocks noChangeArrowheads="1"/>
          </p:cNvSpPr>
          <p:nvPr/>
        </p:nvSpPr>
        <p:spPr bwMode="auto">
          <a:xfrm>
            <a:off x="65341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123957" name="Text Box 52"/>
          <p:cNvSpPr txBox="1">
            <a:spLocks noChangeArrowheads="1"/>
          </p:cNvSpPr>
          <p:nvPr/>
        </p:nvSpPr>
        <p:spPr bwMode="auto">
          <a:xfrm>
            <a:off x="14859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123958" name="Text Box 53"/>
          <p:cNvSpPr txBox="1">
            <a:spLocks noChangeArrowheads="1"/>
          </p:cNvSpPr>
          <p:nvPr/>
        </p:nvSpPr>
        <p:spPr bwMode="auto">
          <a:xfrm>
            <a:off x="35052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123959" name="Text Box 54"/>
          <p:cNvSpPr txBox="1">
            <a:spLocks noChangeArrowheads="1"/>
          </p:cNvSpPr>
          <p:nvPr/>
        </p:nvSpPr>
        <p:spPr bwMode="auto">
          <a:xfrm>
            <a:off x="55245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123960" name="Text Box 55"/>
          <p:cNvSpPr txBox="1">
            <a:spLocks noChangeArrowheads="1"/>
          </p:cNvSpPr>
          <p:nvPr/>
        </p:nvSpPr>
        <p:spPr bwMode="auto">
          <a:xfrm>
            <a:off x="75438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123961" name="Text Box 56"/>
          <p:cNvSpPr txBox="1">
            <a:spLocks noChangeArrowheads="1"/>
          </p:cNvSpPr>
          <p:nvPr/>
        </p:nvSpPr>
        <p:spPr bwMode="auto">
          <a:xfrm>
            <a:off x="8128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123962" name="Text Box 57"/>
          <p:cNvSpPr txBox="1">
            <a:spLocks noChangeArrowheads="1"/>
          </p:cNvSpPr>
          <p:nvPr/>
        </p:nvSpPr>
        <p:spPr bwMode="auto">
          <a:xfrm>
            <a:off x="182245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123963" name="Text Box 58"/>
          <p:cNvSpPr txBox="1">
            <a:spLocks noChangeArrowheads="1"/>
          </p:cNvSpPr>
          <p:nvPr/>
        </p:nvSpPr>
        <p:spPr bwMode="auto">
          <a:xfrm>
            <a:off x="28321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123964" name="Text Box 59"/>
          <p:cNvSpPr txBox="1">
            <a:spLocks noChangeArrowheads="1"/>
          </p:cNvSpPr>
          <p:nvPr/>
        </p:nvSpPr>
        <p:spPr bwMode="auto">
          <a:xfrm>
            <a:off x="36734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123965" name="Text Box 60"/>
          <p:cNvSpPr txBox="1">
            <a:spLocks noChangeArrowheads="1"/>
          </p:cNvSpPr>
          <p:nvPr/>
        </p:nvSpPr>
        <p:spPr bwMode="auto">
          <a:xfrm>
            <a:off x="46831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123966" name="Text Box 61"/>
          <p:cNvSpPr txBox="1">
            <a:spLocks noChangeArrowheads="1"/>
          </p:cNvSpPr>
          <p:nvPr/>
        </p:nvSpPr>
        <p:spPr bwMode="auto">
          <a:xfrm>
            <a:off x="56927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123967" name="Text Box 62"/>
          <p:cNvSpPr txBox="1">
            <a:spLocks noChangeArrowheads="1"/>
          </p:cNvSpPr>
          <p:nvPr/>
        </p:nvSpPr>
        <p:spPr bwMode="auto">
          <a:xfrm>
            <a:off x="67024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123968" name="Text Box 63"/>
          <p:cNvSpPr txBox="1">
            <a:spLocks noChangeArrowheads="1"/>
          </p:cNvSpPr>
          <p:nvPr/>
        </p:nvSpPr>
        <p:spPr bwMode="auto">
          <a:xfrm>
            <a:off x="77120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123969" name="Oval 64"/>
          <p:cNvSpPr>
            <a:spLocks noChangeArrowheads="1"/>
          </p:cNvSpPr>
          <p:nvPr/>
        </p:nvSpPr>
        <p:spPr bwMode="auto">
          <a:xfrm>
            <a:off x="476250" y="514032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3970" name="Text Box 65"/>
          <p:cNvSpPr txBox="1">
            <a:spLocks noChangeArrowheads="1"/>
          </p:cNvSpPr>
          <p:nvPr/>
        </p:nvSpPr>
        <p:spPr bwMode="auto">
          <a:xfrm>
            <a:off x="457200" y="52387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27</a:t>
            </a:r>
            <a:endParaRPr lang="en-US" altLang="en-US" sz="2400"/>
          </a:p>
        </p:txBody>
      </p:sp>
      <p:sp>
        <p:nvSpPr>
          <p:cNvPr id="123971" name="Oval 66"/>
          <p:cNvSpPr>
            <a:spLocks noChangeArrowheads="1"/>
          </p:cNvSpPr>
          <p:nvPr/>
        </p:nvSpPr>
        <p:spPr bwMode="auto">
          <a:xfrm>
            <a:off x="1485900" y="513873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3972" name="Text Box 67"/>
          <p:cNvSpPr txBox="1">
            <a:spLocks noChangeArrowheads="1"/>
          </p:cNvSpPr>
          <p:nvPr/>
        </p:nvSpPr>
        <p:spPr bwMode="auto">
          <a:xfrm>
            <a:off x="1466850" y="5238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23973" name="Text Box 68"/>
          <p:cNvSpPr txBox="1">
            <a:spLocks noChangeArrowheads="1"/>
          </p:cNvSpPr>
          <p:nvPr/>
        </p:nvSpPr>
        <p:spPr bwMode="auto">
          <a:xfrm>
            <a:off x="148590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123974" name="Line 69"/>
          <p:cNvSpPr>
            <a:spLocks noChangeShapeType="1"/>
          </p:cNvSpPr>
          <p:nvPr/>
        </p:nvSpPr>
        <p:spPr bwMode="auto">
          <a:xfrm flipH="1">
            <a:off x="644525" y="467677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3975" name="Line 70"/>
          <p:cNvSpPr>
            <a:spLocks noChangeShapeType="1"/>
          </p:cNvSpPr>
          <p:nvPr/>
        </p:nvSpPr>
        <p:spPr bwMode="auto">
          <a:xfrm>
            <a:off x="1149350" y="467677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3976" name="Text Box 71"/>
          <p:cNvSpPr txBox="1">
            <a:spLocks noChangeArrowheads="1"/>
          </p:cNvSpPr>
          <p:nvPr/>
        </p:nvSpPr>
        <p:spPr bwMode="auto">
          <a:xfrm>
            <a:off x="47625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123977" name="Text Box 72"/>
          <p:cNvSpPr txBox="1">
            <a:spLocks noChangeArrowheads="1"/>
          </p:cNvSpPr>
          <p:nvPr/>
        </p:nvSpPr>
        <p:spPr bwMode="auto">
          <a:xfrm>
            <a:off x="3276600" y="3049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23978" name="Text Box 73"/>
          <p:cNvSpPr txBox="1">
            <a:spLocks noChangeArrowheads="1"/>
          </p:cNvSpPr>
          <p:nvPr/>
        </p:nvSpPr>
        <p:spPr bwMode="auto">
          <a:xfrm>
            <a:off x="2362200" y="5181600"/>
            <a:ext cx="64770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This is true for the structure rooted at index 7, so we can use heapify on it…</a:t>
            </a:r>
          </a:p>
        </p:txBody>
      </p:sp>
      <p:sp>
        <p:nvSpPr>
          <p:cNvPr id="123979" name="Rectangle 74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Forming an Initial Heap (cont.)</a:t>
            </a: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027C01A1-A93B-42D7-94B3-638E7C914D2E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123</a:t>
            </a:fld>
            <a:endParaRPr lang="en-US" altLang="en-US" sz="1400"/>
          </a:p>
        </p:txBody>
      </p:sp>
      <p:sp>
        <p:nvSpPr>
          <p:cNvPr id="124931" name="Oval 2"/>
          <p:cNvSpPr>
            <a:spLocks noChangeArrowheads="1"/>
          </p:cNvSpPr>
          <p:nvPr/>
        </p:nvSpPr>
        <p:spPr bwMode="auto">
          <a:xfrm>
            <a:off x="23272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4932" name="Text Box 3"/>
          <p:cNvSpPr txBox="1">
            <a:spLocks noChangeArrowheads="1"/>
          </p:cNvSpPr>
          <p:nvPr/>
        </p:nvSpPr>
        <p:spPr bwMode="auto">
          <a:xfrm>
            <a:off x="23082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31</a:t>
            </a:r>
            <a:endParaRPr lang="en-US" altLang="en-US" sz="2400"/>
          </a:p>
        </p:txBody>
      </p:sp>
      <p:sp>
        <p:nvSpPr>
          <p:cNvPr id="124933" name="Oval 4"/>
          <p:cNvSpPr>
            <a:spLocks noChangeArrowheads="1"/>
          </p:cNvSpPr>
          <p:nvPr/>
        </p:nvSpPr>
        <p:spPr bwMode="auto">
          <a:xfrm>
            <a:off x="13176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4934" name="Text Box 5"/>
          <p:cNvSpPr txBox="1">
            <a:spLocks noChangeArrowheads="1"/>
          </p:cNvSpPr>
          <p:nvPr/>
        </p:nvSpPr>
        <p:spPr bwMode="auto">
          <a:xfrm>
            <a:off x="1298575" y="307975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24935" name="Oval 6"/>
          <p:cNvSpPr>
            <a:spLocks noChangeArrowheads="1"/>
          </p:cNvSpPr>
          <p:nvPr/>
        </p:nvSpPr>
        <p:spPr bwMode="auto">
          <a:xfrm>
            <a:off x="6445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FF33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4936" name="Text Box 7"/>
          <p:cNvSpPr txBox="1">
            <a:spLocks noChangeArrowheads="1"/>
          </p:cNvSpPr>
          <p:nvPr/>
        </p:nvSpPr>
        <p:spPr bwMode="auto">
          <a:xfrm>
            <a:off x="625475" y="4159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27</a:t>
            </a:r>
            <a:endParaRPr lang="en-US" altLang="en-US" sz="2400"/>
          </a:p>
        </p:txBody>
      </p:sp>
      <p:sp>
        <p:nvSpPr>
          <p:cNvPr id="124937" name="Text Box 8"/>
          <p:cNvSpPr txBox="1">
            <a:spLocks noChangeArrowheads="1"/>
          </p:cNvSpPr>
          <p:nvPr/>
        </p:nvSpPr>
        <p:spPr bwMode="auto">
          <a:xfrm>
            <a:off x="2057400" y="121285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124938" name="Oval 9"/>
          <p:cNvSpPr>
            <a:spLocks noChangeArrowheads="1"/>
          </p:cNvSpPr>
          <p:nvPr/>
        </p:nvSpPr>
        <p:spPr bwMode="auto">
          <a:xfrm>
            <a:off x="16541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4939" name="Text Box 10"/>
          <p:cNvSpPr txBox="1">
            <a:spLocks noChangeArrowheads="1"/>
          </p:cNvSpPr>
          <p:nvPr/>
        </p:nvSpPr>
        <p:spPr bwMode="auto">
          <a:xfrm>
            <a:off x="16351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12</a:t>
            </a:r>
            <a:endParaRPr lang="en-US" altLang="en-US" sz="2400"/>
          </a:p>
        </p:txBody>
      </p:sp>
      <p:sp>
        <p:nvSpPr>
          <p:cNvPr id="124940" name="Oval 11"/>
          <p:cNvSpPr>
            <a:spLocks noChangeArrowheads="1"/>
          </p:cNvSpPr>
          <p:nvPr/>
        </p:nvSpPr>
        <p:spPr bwMode="auto">
          <a:xfrm>
            <a:off x="4346575" y="14255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4941" name="Text Box 12"/>
          <p:cNvSpPr txBox="1">
            <a:spLocks noChangeArrowheads="1"/>
          </p:cNvSpPr>
          <p:nvPr/>
        </p:nvSpPr>
        <p:spPr bwMode="auto">
          <a:xfrm>
            <a:off x="4327525" y="1525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6</a:t>
            </a:r>
            <a:endParaRPr lang="en-US" altLang="en-US" sz="2400"/>
          </a:p>
        </p:txBody>
      </p:sp>
      <p:sp>
        <p:nvSpPr>
          <p:cNvPr id="124942" name="Line 13"/>
          <p:cNvSpPr>
            <a:spLocks noChangeShapeType="1"/>
          </p:cNvSpPr>
          <p:nvPr/>
        </p:nvSpPr>
        <p:spPr bwMode="auto">
          <a:xfrm>
            <a:off x="2832100" y="152082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4943" name="Oval 14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4944" name="Line 15"/>
          <p:cNvSpPr>
            <a:spLocks noChangeShapeType="1"/>
          </p:cNvSpPr>
          <p:nvPr/>
        </p:nvSpPr>
        <p:spPr bwMode="auto">
          <a:xfrm flipH="1">
            <a:off x="182245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4945" name="Line 16"/>
          <p:cNvSpPr>
            <a:spLocks noChangeShapeType="1"/>
          </p:cNvSpPr>
          <p:nvPr/>
        </p:nvSpPr>
        <p:spPr bwMode="auto">
          <a:xfrm>
            <a:off x="283210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4946" name="Oval 17"/>
          <p:cNvSpPr>
            <a:spLocks noChangeArrowheads="1"/>
          </p:cNvSpPr>
          <p:nvPr/>
        </p:nvSpPr>
        <p:spPr bwMode="auto">
          <a:xfrm>
            <a:off x="63658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4947" name="Text Box 18"/>
          <p:cNvSpPr txBox="1">
            <a:spLocks noChangeArrowheads="1"/>
          </p:cNvSpPr>
          <p:nvPr/>
        </p:nvSpPr>
        <p:spPr bwMode="auto">
          <a:xfrm>
            <a:off x="63468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24948" name="Oval 19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4949" name="Oval 20"/>
          <p:cNvSpPr>
            <a:spLocks noChangeArrowheads="1"/>
          </p:cNvSpPr>
          <p:nvPr/>
        </p:nvSpPr>
        <p:spPr bwMode="auto">
          <a:xfrm>
            <a:off x="73755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4950" name="Text Box 21"/>
          <p:cNvSpPr txBox="1">
            <a:spLocks noChangeArrowheads="1"/>
          </p:cNvSpPr>
          <p:nvPr/>
        </p:nvSpPr>
        <p:spPr bwMode="auto">
          <a:xfrm>
            <a:off x="7356475" y="3079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24951" name="Line 22"/>
          <p:cNvSpPr>
            <a:spLocks noChangeShapeType="1"/>
          </p:cNvSpPr>
          <p:nvPr/>
        </p:nvSpPr>
        <p:spPr bwMode="auto">
          <a:xfrm flipH="1">
            <a:off x="586105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4952" name="Line 23"/>
          <p:cNvSpPr>
            <a:spLocks noChangeShapeType="1"/>
          </p:cNvSpPr>
          <p:nvPr/>
        </p:nvSpPr>
        <p:spPr bwMode="auto">
          <a:xfrm>
            <a:off x="687070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4953" name="Line 24"/>
          <p:cNvSpPr>
            <a:spLocks noChangeShapeType="1"/>
          </p:cNvSpPr>
          <p:nvPr/>
        </p:nvSpPr>
        <p:spPr bwMode="auto">
          <a:xfrm flipH="1">
            <a:off x="3000375" y="1828800"/>
            <a:ext cx="1343025" cy="2270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4954" name="Line 25"/>
          <p:cNvSpPr>
            <a:spLocks noChangeShapeType="1"/>
          </p:cNvSpPr>
          <p:nvPr/>
        </p:nvSpPr>
        <p:spPr bwMode="auto">
          <a:xfrm>
            <a:off x="5029200" y="1752600"/>
            <a:ext cx="1371600" cy="3048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4955" name="Oval 26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4956" name="Oval 27"/>
          <p:cNvSpPr>
            <a:spLocks noChangeArrowheads="1"/>
          </p:cNvSpPr>
          <p:nvPr/>
        </p:nvSpPr>
        <p:spPr bwMode="auto">
          <a:xfrm>
            <a:off x="266382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4957" name="Text Box 28"/>
          <p:cNvSpPr txBox="1">
            <a:spLocks noChangeArrowheads="1"/>
          </p:cNvSpPr>
          <p:nvPr/>
        </p:nvSpPr>
        <p:spPr bwMode="auto">
          <a:xfrm>
            <a:off x="2644775" y="415448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124958" name="Oval 29"/>
          <p:cNvSpPr>
            <a:spLocks noChangeArrowheads="1"/>
          </p:cNvSpPr>
          <p:nvPr/>
        </p:nvSpPr>
        <p:spPr bwMode="auto">
          <a:xfrm>
            <a:off x="3673475" y="40544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4959" name="Text Box 30"/>
          <p:cNvSpPr txBox="1">
            <a:spLocks noChangeArrowheads="1"/>
          </p:cNvSpPr>
          <p:nvPr/>
        </p:nvSpPr>
        <p:spPr bwMode="auto">
          <a:xfrm>
            <a:off x="3654425" y="41544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38</a:t>
            </a:r>
            <a:endParaRPr lang="en-US" altLang="en-US" sz="2400"/>
          </a:p>
        </p:txBody>
      </p:sp>
      <p:sp>
        <p:nvSpPr>
          <p:cNvPr id="124960" name="Oval 31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4961" name="Text Box 32"/>
          <p:cNvSpPr txBox="1">
            <a:spLocks noChangeArrowheads="1"/>
          </p:cNvSpPr>
          <p:nvPr/>
        </p:nvSpPr>
        <p:spPr bwMode="auto">
          <a:xfrm>
            <a:off x="5334000" y="304958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124962" name="Oval 33"/>
          <p:cNvSpPr>
            <a:spLocks noChangeArrowheads="1"/>
          </p:cNvSpPr>
          <p:nvPr/>
        </p:nvSpPr>
        <p:spPr bwMode="auto">
          <a:xfrm>
            <a:off x="4683125" y="406082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4963" name="Text Box 34"/>
          <p:cNvSpPr txBox="1">
            <a:spLocks noChangeArrowheads="1"/>
          </p:cNvSpPr>
          <p:nvPr/>
        </p:nvSpPr>
        <p:spPr bwMode="auto">
          <a:xfrm>
            <a:off x="4664075" y="415766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24964" name="Oval 35"/>
          <p:cNvSpPr>
            <a:spLocks noChangeArrowheads="1"/>
          </p:cNvSpPr>
          <p:nvPr/>
        </p:nvSpPr>
        <p:spPr bwMode="auto">
          <a:xfrm>
            <a:off x="5692775" y="40608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4965" name="Text Box 36"/>
          <p:cNvSpPr txBox="1">
            <a:spLocks noChangeArrowheads="1"/>
          </p:cNvSpPr>
          <p:nvPr/>
        </p:nvSpPr>
        <p:spPr bwMode="auto">
          <a:xfrm>
            <a:off x="5673725" y="41608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124966" name="Oval 37"/>
          <p:cNvSpPr>
            <a:spLocks noChangeArrowheads="1"/>
          </p:cNvSpPr>
          <p:nvPr/>
        </p:nvSpPr>
        <p:spPr bwMode="auto">
          <a:xfrm>
            <a:off x="67024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4967" name="Text Box 38"/>
          <p:cNvSpPr txBox="1">
            <a:spLocks noChangeArrowheads="1"/>
          </p:cNvSpPr>
          <p:nvPr/>
        </p:nvSpPr>
        <p:spPr bwMode="auto">
          <a:xfrm>
            <a:off x="6683375" y="415925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</a:t>
            </a:r>
            <a:endParaRPr lang="en-US" altLang="en-US" sz="2400"/>
          </a:p>
        </p:txBody>
      </p:sp>
      <p:sp>
        <p:nvSpPr>
          <p:cNvPr id="124968" name="Oval 39"/>
          <p:cNvSpPr>
            <a:spLocks noChangeArrowheads="1"/>
          </p:cNvSpPr>
          <p:nvPr/>
        </p:nvSpPr>
        <p:spPr bwMode="auto">
          <a:xfrm>
            <a:off x="77120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4969" name="Text Box 40"/>
          <p:cNvSpPr txBox="1">
            <a:spLocks noChangeArrowheads="1"/>
          </p:cNvSpPr>
          <p:nvPr/>
        </p:nvSpPr>
        <p:spPr bwMode="auto">
          <a:xfrm>
            <a:off x="76930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24970" name="Line 41"/>
          <p:cNvSpPr>
            <a:spLocks noChangeShapeType="1"/>
          </p:cNvSpPr>
          <p:nvPr/>
        </p:nvSpPr>
        <p:spPr bwMode="auto">
          <a:xfrm flipH="1">
            <a:off x="9810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4971" name="Line 42"/>
          <p:cNvSpPr>
            <a:spLocks noChangeShapeType="1"/>
          </p:cNvSpPr>
          <p:nvPr/>
        </p:nvSpPr>
        <p:spPr bwMode="auto">
          <a:xfrm>
            <a:off x="19907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4972" name="Line 43"/>
          <p:cNvSpPr>
            <a:spLocks noChangeShapeType="1"/>
          </p:cNvSpPr>
          <p:nvPr/>
        </p:nvSpPr>
        <p:spPr bwMode="auto">
          <a:xfrm flipH="1">
            <a:off x="30003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4973" name="Line 44"/>
          <p:cNvSpPr>
            <a:spLocks noChangeShapeType="1"/>
          </p:cNvSpPr>
          <p:nvPr/>
        </p:nvSpPr>
        <p:spPr bwMode="auto">
          <a:xfrm>
            <a:off x="40100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4974" name="Line 45"/>
          <p:cNvSpPr>
            <a:spLocks noChangeShapeType="1"/>
          </p:cNvSpPr>
          <p:nvPr/>
        </p:nvSpPr>
        <p:spPr bwMode="auto">
          <a:xfrm flipH="1">
            <a:off x="50196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4975" name="Line 46"/>
          <p:cNvSpPr>
            <a:spLocks noChangeShapeType="1"/>
          </p:cNvSpPr>
          <p:nvPr/>
        </p:nvSpPr>
        <p:spPr bwMode="auto">
          <a:xfrm>
            <a:off x="60293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4976" name="Line 47"/>
          <p:cNvSpPr>
            <a:spLocks noChangeShapeType="1"/>
          </p:cNvSpPr>
          <p:nvPr/>
        </p:nvSpPr>
        <p:spPr bwMode="auto">
          <a:xfrm flipH="1">
            <a:off x="70389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4977" name="Line 48"/>
          <p:cNvSpPr>
            <a:spLocks noChangeShapeType="1"/>
          </p:cNvSpPr>
          <p:nvPr/>
        </p:nvSpPr>
        <p:spPr bwMode="auto">
          <a:xfrm>
            <a:off x="80486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4978" name="Text Box 49"/>
          <p:cNvSpPr txBox="1">
            <a:spLocks noChangeArrowheads="1"/>
          </p:cNvSpPr>
          <p:nvPr/>
        </p:nvSpPr>
        <p:spPr bwMode="auto">
          <a:xfrm>
            <a:off x="4514850" y="1976438"/>
            <a:ext cx="6731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124979" name="Text Box 50"/>
          <p:cNvSpPr txBox="1">
            <a:spLocks noChangeArrowheads="1"/>
          </p:cNvSpPr>
          <p:nvPr/>
        </p:nvSpPr>
        <p:spPr bwMode="auto">
          <a:xfrm>
            <a:off x="24955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124980" name="Text Box 51"/>
          <p:cNvSpPr txBox="1">
            <a:spLocks noChangeArrowheads="1"/>
          </p:cNvSpPr>
          <p:nvPr/>
        </p:nvSpPr>
        <p:spPr bwMode="auto">
          <a:xfrm>
            <a:off x="65341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124981" name="Text Box 52"/>
          <p:cNvSpPr txBox="1">
            <a:spLocks noChangeArrowheads="1"/>
          </p:cNvSpPr>
          <p:nvPr/>
        </p:nvSpPr>
        <p:spPr bwMode="auto">
          <a:xfrm>
            <a:off x="14859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124982" name="Text Box 53"/>
          <p:cNvSpPr txBox="1">
            <a:spLocks noChangeArrowheads="1"/>
          </p:cNvSpPr>
          <p:nvPr/>
        </p:nvSpPr>
        <p:spPr bwMode="auto">
          <a:xfrm>
            <a:off x="35052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124983" name="Text Box 54"/>
          <p:cNvSpPr txBox="1">
            <a:spLocks noChangeArrowheads="1"/>
          </p:cNvSpPr>
          <p:nvPr/>
        </p:nvSpPr>
        <p:spPr bwMode="auto">
          <a:xfrm>
            <a:off x="55245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124984" name="Text Box 55"/>
          <p:cNvSpPr txBox="1">
            <a:spLocks noChangeArrowheads="1"/>
          </p:cNvSpPr>
          <p:nvPr/>
        </p:nvSpPr>
        <p:spPr bwMode="auto">
          <a:xfrm>
            <a:off x="75438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124985" name="Text Box 56"/>
          <p:cNvSpPr txBox="1">
            <a:spLocks noChangeArrowheads="1"/>
          </p:cNvSpPr>
          <p:nvPr/>
        </p:nvSpPr>
        <p:spPr bwMode="auto">
          <a:xfrm>
            <a:off x="8128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124986" name="Text Box 57"/>
          <p:cNvSpPr txBox="1">
            <a:spLocks noChangeArrowheads="1"/>
          </p:cNvSpPr>
          <p:nvPr/>
        </p:nvSpPr>
        <p:spPr bwMode="auto">
          <a:xfrm>
            <a:off x="182245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124987" name="Text Box 58"/>
          <p:cNvSpPr txBox="1">
            <a:spLocks noChangeArrowheads="1"/>
          </p:cNvSpPr>
          <p:nvPr/>
        </p:nvSpPr>
        <p:spPr bwMode="auto">
          <a:xfrm>
            <a:off x="28321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124988" name="Text Box 59"/>
          <p:cNvSpPr txBox="1">
            <a:spLocks noChangeArrowheads="1"/>
          </p:cNvSpPr>
          <p:nvPr/>
        </p:nvSpPr>
        <p:spPr bwMode="auto">
          <a:xfrm>
            <a:off x="36734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124989" name="Text Box 60"/>
          <p:cNvSpPr txBox="1">
            <a:spLocks noChangeArrowheads="1"/>
          </p:cNvSpPr>
          <p:nvPr/>
        </p:nvSpPr>
        <p:spPr bwMode="auto">
          <a:xfrm>
            <a:off x="46831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124990" name="Text Box 61"/>
          <p:cNvSpPr txBox="1">
            <a:spLocks noChangeArrowheads="1"/>
          </p:cNvSpPr>
          <p:nvPr/>
        </p:nvSpPr>
        <p:spPr bwMode="auto">
          <a:xfrm>
            <a:off x="56927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124991" name="Text Box 62"/>
          <p:cNvSpPr txBox="1">
            <a:spLocks noChangeArrowheads="1"/>
          </p:cNvSpPr>
          <p:nvPr/>
        </p:nvSpPr>
        <p:spPr bwMode="auto">
          <a:xfrm>
            <a:off x="67024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124992" name="Text Box 63"/>
          <p:cNvSpPr txBox="1">
            <a:spLocks noChangeArrowheads="1"/>
          </p:cNvSpPr>
          <p:nvPr/>
        </p:nvSpPr>
        <p:spPr bwMode="auto">
          <a:xfrm>
            <a:off x="77120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124993" name="Oval 64"/>
          <p:cNvSpPr>
            <a:spLocks noChangeArrowheads="1"/>
          </p:cNvSpPr>
          <p:nvPr/>
        </p:nvSpPr>
        <p:spPr bwMode="auto">
          <a:xfrm>
            <a:off x="476250" y="514032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4994" name="Text Box 65"/>
          <p:cNvSpPr txBox="1">
            <a:spLocks noChangeArrowheads="1"/>
          </p:cNvSpPr>
          <p:nvPr/>
        </p:nvSpPr>
        <p:spPr bwMode="auto">
          <a:xfrm>
            <a:off x="457200" y="52387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24995" name="Oval 66"/>
          <p:cNvSpPr>
            <a:spLocks noChangeArrowheads="1"/>
          </p:cNvSpPr>
          <p:nvPr/>
        </p:nvSpPr>
        <p:spPr bwMode="auto">
          <a:xfrm>
            <a:off x="1485900" y="513873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4996" name="Text Box 67"/>
          <p:cNvSpPr txBox="1">
            <a:spLocks noChangeArrowheads="1"/>
          </p:cNvSpPr>
          <p:nvPr/>
        </p:nvSpPr>
        <p:spPr bwMode="auto">
          <a:xfrm>
            <a:off x="1466850" y="5238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24997" name="Text Box 68"/>
          <p:cNvSpPr txBox="1">
            <a:spLocks noChangeArrowheads="1"/>
          </p:cNvSpPr>
          <p:nvPr/>
        </p:nvSpPr>
        <p:spPr bwMode="auto">
          <a:xfrm>
            <a:off x="148590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124998" name="Line 69"/>
          <p:cNvSpPr>
            <a:spLocks noChangeShapeType="1"/>
          </p:cNvSpPr>
          <p:nvPr/>
        </p:nvSpPr>
        <p:spPr bwMode="auto">
          <a:xfrm flipH="1">
            <a:off x="644525" y="467677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4999" name="Line 70"/>
          <p:cNvSpPr>
            <a:spLocks noChangeShapeType="1"/>
          </p:cNvSpPr>
          <p:nvPr/>
        </p:nvSpPr>
        <p:spPr bwMode="auto">
          <a:xfrm>
            <a:off x="1149350" y="467677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5000" name="Text Box 71"/>
          <p:cNvSpPr txBox="1">
            <a:spLocks noChangeArrowheads="1"/>
          </p:cNvSpPr>
          <p:nvPr/>
        </p:nvSpPr>
        <p:spPr bwMode="auto">
          <a:xfrm>
            <a:off x="47625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125001" name="Text Box 72"/>
          <p:cNvSpPr txBox="1">
            <a:spLocks noChangeArrowheads="1"/>
          </p:cNvSpPr>
          <p:nvPr/>
        </p:nvSpPr>
        <p:spPr bwMode="auto">
          <a:xfrm>
            <a:off x="3276600" y="3049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25002" name="Text Box 73"/>
          <p:cNvSpPr txBox="1">
            <a:spLocks noChangeArrowheads="1"/>
          </p:cNvSpPr>
          <p:nvPr/>
        </p:nvSpPr>
        <p:spPr bwMode="auto">
          <a:xfrm>
            <a:off x="2362200" y="5181600"/>
            <a:ext cx="64770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This is true for the structure rooted at index 7, so we can use heapify on it…</a:t>
            </a:r>
          </a:p>
        </p:txBody>
      </p:sp>
      <p:sp>
        <p:nvSpPr>
          <p:cNvPr id="125003" name="Rectangle 74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Forming an Initial Heap (cont.)</a:t>
            </a: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E5B51AF6-2CF7-485B-9B0D-C5A539B08340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124</a:t>
            </a:fld>
            <a:endParaRPr lang="en-US" altLang="en-US" sz="1400"/>
          </a:p>
        </p:txBody>
      </p:sp>
      <p:sp>
        <p:nvSpPr>
          <p:cNvPr id="125955" name="Oval 2"/>
          <p:cNvSpPr>
            <a:spLocks noChangeArrowheads="1"/>
          </p:cNvSpPr>
          <p:nvPr/>
        </p:nvSpPr>
        <p:spPr bwMode="auto">
          <a:xfrm>
            <a:off x="23272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5956" name="Text Box 3"/>
          <p:cNvSpPr txBox="1">
            <a:spLocks noChangeArrowheads="1"/>
          </p:cNvSpPr>
          <p:nvPr/>
        </p:nvSpPr>
        <p:spPr bwMode="auto">
          <a:xfrm>
            <a:off x="23082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31</a:t>
            </a:r>
            <a:endParaRPr lang="en-US" altLang="en-US" sz="2400"/>
          </a:p>
        </p:txBody>
      </p:sp>
      <p:sp>
        <p:nvSpPr>
          <p:cNvPr id="125957" name="Oval 4"/>
          <p:cNvSpPr>
            <a:spLocks noChangeArrowheads="1"/>
          </p:cNvSpPr>
          <p:nvPr/>
        </p:nvSpPr>
        <p:spPr bwMode="auto">
          <a:xfrm>
            <a:off x="13176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5958" name="Text Box 5"/>
          <p:cNvSpPr txBox="1">
            <a:spLocks noChangeArrowheads="1"/>
          </p:cNvSpPr>
          <p:nvPr/>
        </p:nvSpPr>
        <p:spPr bwMode="auto">
          <a:xfrm>
            <a:off x="1298575" y="307975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25959" name="Oval 6"/>
          <p:cNvSpPr>
            <a:spLocks noChangeArrowheads="1"/>
          </p:cNvSpPr>
          <p:nvPr/>
        </p:nvSpPr>
        <p:spPr bwMode="auto">
          <a:xfrm>
            <a:off x="6445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5960" name="Text Box 7"/>
          <p:cNvSpPr txBox="1">
            <a:spLocks noChangeArrowheads="1"/>
          </p:cNvSpPr>
          <p:nvPr/>
        </p:nvSpPr>
        <p:spPr bwMode="auto">
          <a:xfrm>
            <a:off x="625475" y="4159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27</a:t>
            </a:r>
            <a:endParaRPr lang="en-US" altLang="en-US" sz="2400"/>
          </a:p>
        </p:txBody>
      </p:sp>
      <p:sp>
        <p:nvSpPr>
          <p:cNvPr id="125961" name="Text Box 8"/>
          <p:cNvSpPr txBox="1">
            <a:spLocks noChangeArrowheads="1"/>
          </p:cNvSpPr>
          <p:nvPr/>
        </p:nvSpPr>
        <p:spPr bwMode="auto">
          <a:xfrm>
            <a:off x="2057400" y="121285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125962" name="Oval 9"/>
          <p:cNvSpPr>
            <a:spLocks noChangeArrowheads="1"/>
          </p:cNvSpPr>
          <p:nvPr/>
        </p:nvSpPr>
        <p:spPr bwMode="auto">
          <a:xfrm>
            <a:off x="16541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5963" name="Text Box 10"/>
          <p:cNvSpPr txBox="1">
            <a:spLocks noChangeArrowheads="1"/>
          </p:cNvSpPr>
          <p:nvPr/>
        </p:nvSpPr>
        <p:spPr bwMode="auto">
          <a:xfrm>
            <a:off x="16351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12</a:t>
            </a:r>
            <a:endParaRPr lang="en-US" altLang="en-US" sz="2400"/>
          </a:p>
        </p:txBody>
      </p:sp>
      <p:sp>
        <p:nvSpPr>
          <p:cNvPr id="125964" name="Oval 11"/>
          <p:cNvSpPr>
            <a:spLocks noChangeArrowheads="1"/>
          </p:cNvSpPr>
          <p:nvPr/>
        </p:nvSpPr>
        <p:spPr bwMode="auto">
          <a:xfrm>
            <a:off x="4346575" y="14255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5965" name="Text Box 12"/>
          <p:cNvSpPr txBox="1">
            <a:spLocks noChangeArrowheads="1"/>
          </p:cNvSpPr>
          <p:nvPr/>
        </p:nvSpPr>
        <p:spPr bwMode="auto">
          <a:xfrm>
            <a:off x="4327525" y="1525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6</a:t>
            </a:r>
            <a:endParaRPr lang="en-US" altLang="en-US" sz="2400"/>
          </a:p>
        </p:txBody>
      </p:sp>
      <p:sp>
        <p:nvSpPr>
          <p:cNvPr id="125966" name="Line 13"/>
          <p:cNvSpPr>
            <a:spLocks noChangeShapeType="1"/>
          </p:cNvSpPr>
          <p:nvPr/>
        </p:nvSpPr>
        <p:spPr bwMode="auto">
          <a:xfrm>
            <a:off x="2832100" y="152082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5967" name="Oval 14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5968" name="Line 15"/>
          <p:cNvSpPr>
            <a:spLocks noChangeShapeType="1"/>
          </p:cNvSpPr>
          <p:nvPr/>
        </p:nvSpPr>
        <p:spPr bwMode="auto">
          <a:xfrm flipH="1">
            <a:off x="182245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5969" name="Line 16"/>
          <p:cNvSpPr>
            <a:spLocks noChangeShapeType="1"/>
          </p:cNvSpPr>
          <p:nvPr/>
        </p:nvSpPr>
        <p:spPr bwMode="auto">
          <a:xfrm>
            <a:off x="283210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5970" name="Oval 17"/>
          <p:cNvSpPr>
            <a:spLocks noChangeArrowheads="1"/>
          </p:cNvSpPr>
          <p:nvPr/>
        </p:nvSpPr>
        <p:spPr bwMode="auto">
          <a:xfrm>
            <a:off x="63658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5971" name="Text Box 18"/>
          <p:cNvSpPr txBox="1">
            <a:spLocks noChangeArrowheads="1"/>
          </p:cNvSpPr>
          <p:nvPr/>
        </p:nvSpPr>
        <p:spPr bwMode="auto">
          <a:xfrm>
            <a:off x="63468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25972" name="Oval 19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5973" name="Oval 20"/>
          <p:cNvSpPr>
            <a:spLocks noChangeArrowheads="1"/>
          </p:cNvSpPr>
          <p:nvPr/>
        </p:nvSpPr>
        <p:spPr bwMode="auto">
          <a:xfrm>
            <a:off x="73755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FF33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5974" name="Text Box 21"/>
          <p:cNvSpPr txBox="1">
            <a:spLocks noChangeArrowheads="1"/>
          </p:cNvSpPr>
          <p:nvPr/>
        </p:nvSpPr>
        <p:spPr bwMode="auto">
          <a:xfrm>
            <a:off x="7356475" y="3079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25975" name="Line 22"/>
          <p:cNvSpPr>
            <a:spLocks noChangeShapeType="1"/>
          </p:cNvSpPr>
          <p:nvPr/>
        </p:nvSpPr>
        <p:spPr bwMode="auto">
          <a:xfrm flipH="1">
            <a:off x="586105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5976" name="Line 23"/>
          <p:cNvSpPr>
            <a:spLocks noChangeShapeType="1"/>
          </p:cNvSpPr>
          <p:nvPr/>
        </p:nvSpPr>
        <p:spPr bwMode="auto">
          <a:xfrm>
            <a:off x="687070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5977" name="Line 24"/>
          <p:cNvSpPr>
            <a:spLocks noChangeShapeType="1"/>
          </p:cNvSpPr>
          <p:nvPr/>
        </p:nvSpPr>
        <p:spPr bwMode="auto">
          <a:xfrm flipH="1">
            <a:off x="3000375" y="1828800"/>
            <a:ext cx="1343025" cy="2270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5978" name="Line 25"/>
          <p:cNvSpPr>
            <a:spLocks noChangeShapeType="1"/>
          </p:cNvSpPr>
          <p:nvPr/>
        </p:nvSpPr>
        <p:spPr bwMode="auto">
          <a:xfrm>
            <a:off x="5029200" y="1752600"/>
            <a:ext cx="1371600" cy="3048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5979" name="Oval 26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5980" name="Oval 27"/>
          <p:cNvSpPr>
            <a:spLocks noChangeArrowheads="1"/>
          </p:cNvSpPr>
          <p:nvPr/>
        </p:nvSpPr>
        <p:spPr bwMode="auto">
          <a:xfrm>
            <a:off x="266382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5981" name="Text Box 28"/>
          <p:cNvSpPr txBox="1">
            <a:spLocks noChangeArrowheads="1"/>
          </p:cNvSpPr>
          <p:nvPr/>
        </p:nvSpPr>
        <p:spPr bwMode="auto">
          <a:xfrm>
            <a:off x="2644775" y="415448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125982" name="Oval 29"/>
          <p:cNvSpPr>
            <a:spLocks noChangeArrowheads="1"/>
          </p:cNvSpPr>
          <p:nvPr/>
        </p:nvSpPr>
        <p:spPr bwMode="auto">
          <a:xfrm>
            <a:off x="3673475" y="40544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5983" name="Text Box 30"/>
          <p:cNvSpPr txBox="1">
            <a:spLocks noChangeArrowheads="1"/>
          </p:cNvSpPr>
          <p:nvPr/>
        </p:nvSpPr>
        <p:spPr bwMode="auto">
          <a:xfrm>
            <a:off x="3654425" y="41544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38</a:t>
            </a:r>
            <a:endParaRPr lang="en-US" altLang="en-US" sz="2400"/>
          </a:p>
        </p:txBody>
      </p:sp>
      <p:sp>
        <p:nvSpPr>
          <p:cNvPr id="125984" name="Oval 31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5985" name="Text Box 32"/>
          <p:cNvSpPr txBox="1">
            <a:spLocks noChangeArrowheads="1"/>
          </p:cNvSpPr>
          <p:nvPr/>
        </p:nvSpPr>
        <p:spPr bwMode="auto">
          <a:xfrm>
            <a:off x="5334000" y="304958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125986" name="Oval 33"/>
          <p:cNvSpPr>
            <a:spLocks noChangeArrowheads="1"/>
          </p:cNvSpPr>
          <p:nvPr/>
        </p:nvSpPr>
        <p:spPr bwMode="auto">
          <a:xfrm>
            <a:off x="4683125" y="406082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5987" name="Text Box 34"/>
          <p:cNvSpPr txBox="1">
            <a:spLocks noChangeArrowheads="1"/>
          </p:cNvSpPr>
          <p:nvPr/>
        </p:nvSpPr>
        <p:spPr bwMode="auto">
          <a:xfrm>
            <a:off x="4664075" y="415766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25988" name="Oval 35"/>
          <p:cNvSpPr>
            <a:spLocks noChangeArrowheads="1"/>
          </p:cNvSpPr>
          <p:nvPr/>
        </p:nvSpPr>
        <p:spPr bwMode="auto">
          <a:xfrm>
            <a:off x="5692775" y="40608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5989" name="Text Box 36"/>
          <p:cNvSpPr txBox="1">
            <a:spLocks noChangeArrowheads="1"/>
          </p:cNvSpPr>
          <p:nvPr/>
        </p:nvSpPr>
        <p:spPr bwMode="auto">
          <a:xfrm>
            <a:off x="5673725" y="41608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125990" name="Oval 37"/>
          <p:cNvSpPr>
            <a:spLocks noChangeArrowheads="1"/>
          </p:cNvSpPr>
          <p:nvPr/>
        </p:nvSpPr>
        <p:spPr bwMode="auto">
          <a:xfrm>
            <a:off x="67024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5991" name="Text Box 38"/>
          <p:cNvSpPr txBox="1">
            <a:spLocks noChangeArrowheads="1"/>
          </p:cNvSpPr>
          <p:nvPr/>
        </p:nvSpPr>
        <p:spPr bwMode="auto">
          <a:xfrm>
            <a:off x="6683375" y="415925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</a:t>
            </a:r>
            <a:endParaRPr lang="en-US" altLang="en-US" sz="2400"/>
          </a:p>
        </p:txBody>
      </p:sp>
      <p:sp>
        <p:nvSpPr>
          <p:cNvPr id="125992" name="Oval 39"/>
          <p:cNvSpPr>
            <a:spLocks noChangeArrowheads="1"/>
          </p:cNvSpPr>
          <p:nvPr/>
        </p:nvSpPr>
        <p:spPr bwMode="auto">
          <a:xfrm>
            <a:off x="77120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5993" name="Text Box 40"/>
          <p:cNvSpPr txBox="1">
            <a:spLocks noChangeArrowheads="1"/>
          </p:cNvSpPr>
          <p:nvPr/>
        </p:nvSpPr>
        <p:spPr bwMode="auto">
          <a:xfrm>
            <a:off x="76930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25994" name="Line 41"/>
          <p:cNvSpPr>
            <a:spLocks noChangeShapeType="1"/>
          </p:cNvSpPr>
          <p:nvPr/>
        </p:nvSpPr>
        <p:spPr bwMode="auto">
          <a:xfrm flipH="1">
            <a:off x="9810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5995" name="Line 42"/>
          <p:cNvSpPr>
            <a:spLocks noChangeShapeType="1"/>
          </p:cNvSpPr>
          <p:nvPr/>
        </p:nvSpPr>
        <p:spPr bwMode="auto">
          <a:xfrm>
            <a:off x="19907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5996" name="Line 43"/>
          <p:cNvSpPr>
            <a:spLocks noChangeShapeType="1"/>
          </p:cNvSpPr>
          <p:nvPr/>
        </p:nvSpPr>
        <p:spPr bwMode="auto">
          <a:xfrm flipH="1">
            <a:off x="30003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5997" name="Line 44"/>
          <p:cNvSpPr>
            <a:spLocks noChangeShapeType="1"/>
          </p:cNvSpPr>
          <p:nvPr/>
        </p:nvSpPr>
        <p:spPr bwMode="auto">
          <a:xfrm>
            <a:off x="40100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5998" name="Line 45"/>
          <p:cNvSpPr>
            <a:spLocks noChangeShapeType="1"/>
          </p:cNvSpPr>
          <p:nvPr/>
        </p:nvSpPr>
        <p:spPr bwMode="auto">
          <a:xfrm flipH="1">
            <a:off x="50196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5999" name="Line 46"/>
          <p:cNvSpPr>
            <a:spLocks noChangeShapeType="1"/>
          </p:cNvSpPr>
          <p:nvPr/>
        </p:nvSpPr>
        <p:spPr bwMode="auto">
          <a:xfrm>
            <a:off x="60293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6000" name="Line 47"/>
          <p:cNvSpPr>
            <a:spLocks noChangeShapeType="1"/>
          </p:cNvSpPr>
          <p:nvPr/>
        </p:nvSpPr>
        <p:spPr bwMode="auto">
          <a:xfrm flipH="1">
            <a:off x="70389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6001" name="Line 48"/>
          <p:cNvSpPr>
            <a:spLocks noChangeShapeType="1"/>
          </p:cNvSpPr>
          <p:nvPr/>
        </p:nvSpPr>
        <p:spPr bwMode="auto">
          <a:xfrm>
            <a:off x="80486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6002" name="Text Box 49"/>
          <p:cNvSpPr txBox="1">
            <a:spLocks noChangeArrowheads="1"/>
          </p:cNvSpPr>
          <p:nvPr/>
        </p:nvSpPr>
        <p:spPr bwMode="auto">
          <a:xfrm>
            <a:off x="4514850" y="1976438"/>
            <a:ext cx="6731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126003" name="Text Box 50"/>
          <p:cNvSpPr txBox="1">
            <a:spLocks noChangeArrowheads="1"/>
          </p:cNvSpPr>
          <p:nvPr/>
        </p:nvSpPr>
        <p:spPr bwMode="auto">
          <a:xfrm>
            <a:off x="24955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126004" name="Text Box 51"/>
          <p:cNvSpPr txBox="1">
            <a:spLocks noChangeArrowheads="1"/>
          </p:cNvSpPr>
          <p:nvPr/>
        </p:nvSpPr>
        <p:spPr bwMode="auto">
          <a:xfrm>
            <a:off x="65341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126005" name="Text Box 52"/>
          <p:cNvSpPr txBox="1">
            <a:spLocks noChangeArrowheads="1"/>
          </p:cNvSpPr>
          <p:nvPr/>
        </p:nvSpPr>
        <p:spPr bwMode="auto">
          <a:xfrm>
            <a:off x="14859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126006" name="Text Box 53"/>
          <p:cNvSpPr txBox="1">
            <a:spLocks noChangeArrowheads="1"/>
          </p:cNvSpPr>
          <p:nvPr/>
        </p:nvSpPr>
        <p:spPr bwMode="auto">
          <a:xfrm>
            <a:off x="35052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126007" name="Text Box 54"/>
          <p:cNvSpPr txBox="1">
            <a:spLocks noChangeArrowheads="1"/>
          </p:cNvSpPr>
          <p:nvPr/>
        </p:nvSpPr>
        <p:spPr bwMode="auto">
          <a:xfrm>
            <a:off x="55245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126008" name="Text Box 55"/>
          <p:cNvSpPr txBox="1">
            <a:spLocks noChangeArrowheads="1"/>
          </p:cNvSpPr>
          <p:nvPr/>
        </p:nvSpPr>
        <p:spPr bwMode="auto">
          <a:xfrm>
            <a:off x="75438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126009" name="Text Box 56"/>
          <p:cNvSpPr txBox="1">
            <a:spLocks noChangeArrowheads="1"/>
          </p:cNvSpPr>
          <p:nvPr/>
        </p:nvSpPr>
        <p:spPr bwMode="auto">
          <a:xfrm>
            <a:off x="8128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126010" name="Text Box 57"/>
          <p:cNvSpPr txBox="1">
            <a:spLocks noChangeArrowheads="1"/>
          </p:cNvSpPr>
          <p:nvPr/>
        </p:nvSpPr>
        <p:spPr bwMode="auto">
          <a:xfrm>
            <a:off x="182245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126011" name="Text Box 58"/>
          <p:cNvSpPr txBox="1">
            <a:spLocks noChangeArrowheads="1"/>
          </p:cNvSpPr>
          <p:nvPr/>
        </p:nvSpPr>
        <p:spPr bwMode="auto">
          <a:xfrm>
            <a:off x="28321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126012" name="Text Box 59"/>
          <p:cNvSpPr txBox="1">
            <a:spLocks noChangeArrowheads="1"/>
          </p:cNvSpPr>
          <p:nvPr/>
        </p:nvSpPr>
        <p:spPr bwMode="auto">
          <a:xfrm>
            <a:off x="36734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126013" name="Text Box 60"/>
          <p:cNvSpPr txBox="1">
            <a:spLocks noChangeArrowheads="1"/>
          </p:cNvSpPr>
          <p:nvPr/>
        </p:nvSpPr>
        <p:spPr bwMode="auto">
          <a:xfrm>
            <a:off x="46831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126014" name="Text Box 61"/>
          <p:cNvSpPr txBox="1">
            <a:spLocks noChangeArrowheads="1"/>
          </p:cNvSpPr>
          <p:nvPr/>
        </p:nvSpPr>
        <p:spPr bwMode="auto">
          <a:xfrm>
            <a:off x="56927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126015" name="Text Box 62"/>
          <p:cNvSpPr txBox="1">
            <a:spLocks noChangeArrowheads="1"/>
          </p:cNvSpPr>
          <p:nvPr/>
        </p:nvSpPr>
        <p:spPr bwMode="auto">
          <a:xfrm>
            <a:off x="67024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126016" name="Text Box 63"/>
          <p:cNvSpPr txBox="1">
            <a:spLocks noChangeArrowheads="1"/>
          </p:cNvSpPr>
          <p:nvPr/>
        </p:nvSpPr>
        <p:spPr bwMode="auto">
          <a:xfrm>
            <a:off x="77120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126017" name="Oval 64"/>
          <p:cNvSpPr>
            <a:spLocks noChangeArrowheads="1"/>
          </p:cNvSpPr>
          <p:nvPr/>
        </p:nvSpPr>
        <p:spPr bwMode="auto">
          <a:xfrm>
            <a:off x="476250" y="514032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6018" name="Text Box 65"/>
          <p:cNvSpPr txBox="1">
            <a:spLocks noChangeArrowheads="1"/>
          </p:cNvSpPr>
          <p:nvPr/>
        </p:nvSpPr>
        <p:spPr bwMode="auto">
          <a:xfrm>
            <a:off x="457200" y="52387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26019" name="Oval 66"/>
          <p:cNvSpPr>
            <a:spLocks noChangeArrowheads="1"/>
          </p:cNvSpPr>
          <p:nvPr/>
        </p:nvSpPr>
        <p:spPr bwMode="auto">
          <a:xfrm>
            <a:off x="1485900" y="513873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6020" name="Text Box 67"/>
          <p:cNvSpPr txBox="1">
            <a:spLocks noChangeArrowheads="1"/>
          </p:cNvSpPr>
          <p:nvPr/>
        </p:nvSpPr>
        <p:spPr bwMode="auto">
          <a:xfrm>
            <a:off x="1466850" y="5238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26021" name="Text Box 68"/>
          <p:cNvSpPr txBox="1">
            <a:spLocks noChangeArrowheads="1"/>
          </p:cNvSpPr>
          <p:nvPr/>
        </p:nvSpPr>
        <p:spPr bwMode="auto">
          <a:xfrm>
            <a:off x="148590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126022" name="Line 69"/>
          <p:cNvSpPr>
            <a:spLocks noChangeShapeType="1"/>
          </p:cNvSpPr>
          <p:nvPr/>
        </p:nvSpPr>
        <p:spPr bwMode="auto">
          <a:xfrm flipH="1">
            <a:off x="644525" y="467677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6023" name="Line 70"/>
          <p:cNvSpPr>
            <a:spLocks noChangeShapeType="1"/>
          </p:cNvSpPr>
          <p:nvPr/>
        </p:nvSpPr>
        <p:spPr bwMode="auto">
          <a:xfrm>
            <a:off x="1149350" y="467677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6024" name="Text Box 71"/>
          <p:cNvSpPr txBox="1">
            <a:spLocks noChangeArrowheads="1"/>
          </p:cNvSpPr>
          <p:nvPr/>
        </p:nvSpPr>
        <p:spPr bwMode="auto">
          <a:xfrm>
            <a:off x="47625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126025" name="Text Box 72"/>
          <p:cNvSpPr txBox="1">
            <a:spLocks noChangeArrowheads="1"/>
          </p:cNvSpPr>
          <p:nvPr/>
        </p:nvSpPr>
        <p:spPr bwMode="auto">
          <a:xfrm>
            <a:off x="3276600" y="3049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26026" name="Text Box 73"/>
          <p:cNvSpPr txBox="1">
            <a:spLocks noChangeArrowheads="1"/>
          </p:cNvSpPr>
          <p:nvPr/>
        </p:nvSpPr>
        <p:spPr bwMode="auto">
          <a:xfrm>
            <a:off x="2362200" y="5181600"/>
            <a:ext cx="64770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Then we decrement index 7 and use heapify again…</a:t>
            </a:r>
          </a:p>
        </p:txBody>
      </p:sp>
      <p:sp>
        <p:nvSpPr>
          <p:cNvPr id="126027" name="Rectangle 74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Forming an Initial Heap (cont.)</a:t>
            </a: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505C4B48-1C07-4A32-B4B5-1ECEC6EA19DB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125</a:t>
            </a:fld>
            <a:endParaRPr lang="en-US" altLang="en-US" sz="1400"/>
          </a:p>
        </p:txBody>
      </p:sp>
      <p:sp>
        <p:nvSpPr>
          <p:cNvPr id="126979" name="Oval 2"/>
          <p:cNvSpPr>
            <a:spLocks noChangeArrowheads="1"/>
          </p:cNvSpPr>
          <p:nvPr/>
        </p:nvSpPr>
        <p:spPr bwMode="auto">
          <a:xfrm>
            <a:off x="23272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6980" name="Text Box 3"/>
          <p:cNvSpPr txBox="1">
            <a:spLocks noChangeArrowheads="1"/>
          </p:cNvSpPr>
          <p:nvPr/>
        </p:nvSpPr>
        <p:spPr bwMode="auto">
          <a:xfrm>
            <a:off x="23082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31</a:t>
            </a:r>
            <a:endParaRPr lang="en-US" altLang="en-US" sz="2400"/>
          </a:p>
        </p:txBody>
      </p:sp>
      <p:sp>
        <p:nvSpPr>
          <p:cNvPr id="126981" name="Oval 4"/>
          <p:cNvSpPr>
            <a:spLocks noChangeArrowheads="1"/>
          </p:cNvSpPr>
          <p:nvPr/>
        </p:nvSpPr>
        <p:spPr bwMode="auto">
          <a:xfrm>
            <a:off x="13176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6982" name="Text Box 5"/>
          <p:cNvSpPr txBox="1">
            <a:spLocks noChangeArrowheads="1"/>
          </p:cNvSpPr>
          <p:nvPr/>
        </p:nvSpPr>
        <p:spPr bwMode="auto">
          <a:xfrm>
            <a:off x="1298575" y="307975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26983" name="Oval 6"/>
          <p:cNvSpPr>
            <a:spLocks noChangeArrowheads="1"/>
          </p:cNvSpPr>
          <p:nvPr/>
        </p:nvSpPr>
        <p:spPr bwMode="auto">
          <a:xfrm>
            <a:off x="6445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6984" name="Text Box 7"/>
          <p:cNvSpPr txBox="1">
            <a:spLocks noChangeArrowheads="1"/>
          </p:cNvSpPr>
          <p:nvPr/>
        </p:nvSpPr>
        <p:spPr bwMode="auto">
          <a:xfrm>
            <a:off x="625475" y="4159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27</a:t>
            </a:r>
            <a:endParaRPr lang="en-US" altLang="en-US" sz="2400"/>
          </a:p>
        </p:txBody>
      </p:sp>
      <p:sp>
        <p:nvSpPr>
          <p:cNvPr id="126985" name="Text Box 8"/>
          <p:cNvSpPr txBox="1">
            <a:spLocks noChangeArrowheads="1"/>
          </p:cNvSpPr>
          <p:nvPr/>
        </p:nvSpPr>
        <p:spPr bwMode="auto">
          <a:xfrm>
            <a:off x="2057400" y="121285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126986" name="Oval 9"/>
          <p:cNvSpPr>
            <a:spLocks noChangeArrowheads="1"/>
          </p:cNvSpPr>
          <p:nvPr/>
        </p:nvSpPr>
        <p:spPr bwMode="auto">
          <a:xfrm>
            <a:off x="16541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6987" name="Text Box 10"/>
          <p:cNvSpPr txBox="1">
            <a:spLocks noChangeArrowheads="1"/>
          </p:cNvSpPr>
          <p:nvPr/>
        </p:nvSpPr>
        <p:spPr bwMode="auto">
          <a:xfrm>
            <a:off x="16351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12</a:t>
            </a:r>
            <a:endParaRPr lang="en-US" altLang="en-US" sz="2400"/>
          </a:p>
        </p:txBody>
      </p:sp>
      <p:sp>
        <p:nvSpPr>
          <p:cNvPr id="126988" name="Oval 11"/>
          <p:cNvSpPr>
            <a:spLocks noChangeArrowheads="1"/>
          </p:cNvSpPr>
          <p:nvPr/>
        </p:nvSpPr>
        <p:spPr bwMode="auto">
          <a:xfrm>
            <a:off x="4346575" y="14255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6989" name="Text Box 12"/>
          <p:cNvSpPr txBox="1">
            <a:spLocks noChangeArrowheads="1"/>
          </p:cNvSpPr>
          <p:nvPr/>
        </p:nvSpPr>
        <p:spPr bwMode="auto">
          <a:xfrm>
            <a:off x="4327525" y="1525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6</a:t>
            </a:r>
            <a:endParaRPr lang="en-US" altLang="en-US" sz="2400"/>
          </a:p>
        </p:txBody>
      </p:sp>
      <p:sp>
        <p:nvSpPr>
          <p:cNvPr id="126990" name="Line 13"/>
          <p:cNvSpPr>
            <a:spLocks noChangeShapeType="1"/>
          </p:cNvSpPr>
          <p:nvPr/>
        </p:nvSpPr>
        <p:spPr bwMode="auto">
          <a:xfrm>
            <a:off x="2832100" y="152082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6991" name="Oval 14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6992" name="Line 15"/>
          <p:cNvSpPr>
            <a:spLocks noChangeShapeType="1"/>
          </p:cNvSpPr>
          <p:nvPr/>
        </p:nvSpPr>
        <p:spPr bwMode="auto">
          <a:xfrm flipH="1">
            <a:off x="182245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6993" name="Line 16"/>
          <p:cNvSpPr>
            <a:spLocks noChangeShapeType="1"/>
          </p:cNvSpPr>
          <p:nvPr/>
        </p:nvSpPr>
        <p:spPr bwMode="auto">
          <a:xfrm>
            <a:off x="283210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6994" name="Oval 17"/>
          <p:cNvSpPr>
            <a:spLocks noChangeArrowheads="1"/>
          </p:cNvSpPr>
          <p:nvPr/>
        </p:nvSpPr>
        <p:spPr bwMode="auto">
          <a:xfrm>
            <a:off x="63658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6995" name="Text Box 18"/>
          <p:cNvSpPr txBox="1">
            <a:spLocks noChangeArrowheads="1"/>
          </p:cNvSpPr>
          <p:nvPr/>
        </p:nvSpPr>
        <p:spPr bwMode="auto">
          <a:xfrm>
            <a:off x="63468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26996" name="Oval 19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6997" name="Oval 20"/>
          <p:cNvSpPr>
            <a:spLocks noChangeArrowheads="1"/>
          </p:cNvSpPr>
          <p:nvPr/>
        </p:nvSpPr>
        <p:spPr bwMode="auto">
          <a:xfrm>
            <a:off x="73755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FF33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6998" name="Text Box 21"/>
          <p:cNvSpPr txBox="1">
            <a:spLocks noChangeArrowheads="1"/>
          </p:cNvSpPr>
          <p:nvPr/>
        </p:nvSpPr>
        <p:spPr bwMode="auto">
          <a:xfrm>
            <a:off x="7356475" y="3079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26999" name="Line 22"/>
          <p:cNvSpPr>
            <a:spLocks noChangeShapeType="1"/>
          </p:cNvSpPr>
          <p:nvPr/>
        </p:nvSpPr>
        <p:spPr bwMode="auto">
          <a:xfrm flipH="1">
            <a:off x="586105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7000" name="Line 23"/>
          <p:cNvSpPr>
            <a:spLocks noChangeShapeType="1"/>
          </p:cNvSpPr>
          <p:nvPr/>
        </p:nvSpPr>
        <p:spPr bwMode="auto">
          <a:xfrm>
            <a:off x="687070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7001" name="Line 24"/>
          <p:cNvSpPr>
            <a:spLocks noChangeShapeType="1"/>
          </p:cNvSpPr>
          <p:nvPr/>
        </p:nvSpPr>
        <p:spPr bwMode="auto">
          <a:xfrm flipH="1">
            <a:off x="3000375" y="1828800"/>
            <a:ext cx="1343025" cy="2270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7002" name="Line 25"/>
          <p:cNvSpPr>
            <a:spLocks noChangeShapeType="1"/>
          </p:cNvSpPr>
          <p:nvPr/>
        </p:nvSpPr>
        <p:spPr bwMode="auto">
          <a:xfrm>
            <a:off x="5029200" y="1752600"/>
            <a:ext cx="1371600" cy="3048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7003" name="Oval 26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7004" name="Oval 27"/>
          <p:cNvSpPr>
            <a:spLocks noChangeArrowheads="1"/>
          </p:cNvSpPr>
          <p:nvPr/>
        </p:nvSpPr>
        <p:spPr bwMode="auto">
          <a:xfrm>
            <a:off x="266382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7005" name="Text Box 28"/>
          <p:cNvSpPr txBox="1">
            <a:spLocks noChangeArrowheads="1"/>
          </p:cNvSpPr>
          <p:nvPr/>
        </p:nvSpPr>
        <p:spPr bwMode="auto">
          <a:xfrm>
            <a:off x="2644775" y="415448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127006" name="Oval 29"/>
          <p:cNvSpPr>
            <a:spLocks noChangeArrowheads="1"/>
          </p:cNvSpPr>
          <p:nvPr/>
        </p:nvSpPr>
        <p:spPr bwMode="auto">
          <a:xfrm>
            <a:off x="3673475" y="40544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7007" name="Text Box 30"/>
          <p:cNvSpPr txBox="1">
            <a:spLocks noChangeArrowheads="1"/>
          </p:cNvSpPr>
          <p:nvPr/>
        </p:nvSpPr>
        <p:spPr bwMode="auto">
          <a:xfrm>
            <a:off x="3654425" y="41544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38</a:t>
            </a:r>
            <a:endParaRPr lang="en-US" altLang="en-US" sz="2400"/>
          </a:p>
        </p:txBody>
      </p:sp>
      <p:sp>
        <p:nvSpPr>
          <p:cNvPr id="127008" name="Oval 31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7009" name="Text Box 32"/>
          <p:cNvSpPr txBox="1">
            <a:spLocks noChangeArrowheads="1"/>
          </p:cNvSpPr>
          <p:nvPr/>
        </p:nvSpPr>
        <p:spPr bwMode="auto">
          <a:xfrm>
            <a:off x="5334000" y="304958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127010" name="Oval 33"/>
          <p:cNvSpPr>
            <a:spLocks noChangeArrowheads="1"/>
          </p:cNvSpPr>
          <p:nvPr/>
        </p:nvSpPr>
        <p:spPr bwMode="auto">
          <a:xfrm>
            <a:off x="4683125" y="406082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7011" name="Text Box 34"/>
          <p:cNvSpPr txBox="1">
            <a:spLocks noChangeArrowheads="1"/>
          </p:cNvSpPr>
          <p:nvPr/>
        </p:nvSpPr>
        <p:spPr bwMode="auto">
          <a:xfrm>
            <a:off x="4664075" y="415766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27012" name="Oval 35"/>
          <p:cNvSpPr>
            <a:spLocks noChangeArrowheads="1"/>
          </p:cNvSpPr>
          <p:nvPr/>
        </p:nvSpPr>
        <p:spPr bwMode="auto">
          <a:xfrm>
            <a:off x="5692775" y="40608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7013" name="Text Box 36"/>
          <p:cNvSpPr txBox="1">
            <a:spLocks noChangeArrowheads="1"/>
          </p:cNvSpPr>
          <p:nvPr/>
        </p:nvSpPr>
        <p:spPr bwMode="auto">
          <a:xfrm>
            <a:off x="5673725" y="41608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127014" name="Oval 37"/>
          <p:cNvSpPr>
            <a:spLocks noChangeArrowheads="1"/>
          </p:cNvSpPr>
          <p:nvPr/>
        </p:nvSpPr>
        <p:spPr bwMode="auto">
          <a:xfrm>
            <a:off x="67024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7015" name="Text Box 38"/>
          <p:cNvSpPr txBox="1">
            <a:spLocks noChangeArrowheads="1"/>
          </p:cNvSpPr>
          <p:nvPr/>
        </p:nvSpPr>
        <p:spPr bwMode="auto">
          <a:xfrm>
            <a:off x="6683375" y="415925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</a:t>
            </a:r>
            <a:endParaRPr lang="en-US" altLang="en-US" sz="2400"/>
          </a:p>
        </p:txBody>
      </p:sp>
      <p:sp>
        <p:nvSpPr>
          <p:cNvPr id="127016" name="Oval 39"/>
          <p:cNvSpPr>
            <a:spLocks noChangeArrowheads="1"/>
          </p:cNvSpPr>
          <p:nvPr/>
        </p:nvSpPr>
        <p:spPr bwMode="auto">
          <a:xfrm>
            <a:off x="77120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7017" name="Text Box 40"/>
          <p:cNvSpPr txBox="1">
            <a:spLocks noChangeArrowheads="1"/>
          </p:cNvSpPr>
          <p:nvPr/>
        </p:nvSpPr>
        <p:spPr bwMode="auto">
          <a:xfrm>
            <a:off x="76930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27018" name="Line 41"/>
          <p:cNvSpPr>
            <a:spLocks noChangeShapeType="1"/>
          </p:cNvSpPr>
          <p:nvPr/>
        </p:nvSpPr>
        <p:spPr bwMode="auto">
          <a:xfrm flipH="1">
            <a:off x="9810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7019" name="Line 42"/>
          <p:cNvSpPr>
            <a:spLocks noChangeShapeType="1"/>
          </p:cNvSpPr>
          <p:nvPr/>
        </p:nvSpPr>
        <p:spPr bwMode="auto">
          <a:xfrm>
            <a:off x="19907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7020" name="Line 43"/>
          <p:cNvSpPr>
            <a:spLocks noChangeShapeType="1"/>
          </p:cNvSpPr>
          <p:nvPr/>
        </p:nvSpPr>
        <p:spPr bwMode="auto">
          <a:xfrm flipH="1">
            <a:off x="30003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7021" name="Line 44"/>
          <p:cNvSpPr>
            <a:spLocks noChangeShapeType="1"/>
          </p:cNvSpPr>
          <p:nvPr/>
        </p:nvSpPr>
        <p:spPr bwMode="auto">
          <a:xfrm>
            <a:off x="40100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7022" name="Line 45"/>
          <p:cNvSpPr>
            <a:spLocks noChangeShapeType="1"/>
          </p:cNvSpPr>
          <p:nvPr/>
        </p:nvSpPr>
        <p:spPr bwMode="auto">
          <a:xfrm flipH="1">
            <a:off x="50196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7023" name="Line 46"/>
          <p:cNvSpPr>
            <a:spLocks noChangeShapeType="1"/>
          </p:cNvSpPr>
          <p:nvPr/>
        </p:nvSpPr>
        <p:spPr bwMode="auto">
          <a:xfrm>
            <a:off x="60293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7024" name="Line 47"/>
          <p:cNvSpPr>
            <a:spLocks noChangeShapeType="1"/>
          </p:cNvSpPr>
          <p:nvPr/>
        </p:nvSpPr>
        <p:spPr bwMode="auto">
          <a:xfrm flipH="1">
            <a:off x="70389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7025" name="Line 48"/>
          <p:cNvSpPr>
            <a:spLocks noChangeShapeType="1"/>
          </p:cNvSpPr>
          <p:nvPr/>
        </p:nvSpPr>
        <p:spPr bwMode="auto">
          <a:xfrm>
            <a:off x="80486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7026" name="Text Box 49"/>
          <p:cNvSpPr txBox="1">
            <a:spLocks noChangeArrowheads="1"/>
          </p:cNvSpPr>
          <p:nvPr/>
        </p:nvSpPr>
        <p:spPr bwMode="auto">
          <a:xfrm>
            <a:off x="4514850" y="1976438"/>
            <a:ext cx="6731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127027" name="Text Box 50"/>
          <p:cNvSpPr txBox="1">
            <a:spLocks noChangeArrowheads="1"/>
          </p:cNvSpPr>
          <p:nvPr/>
        </p:nvSpPr>
        <p:spPr bwMode="auto">
          <a:xfrm>
            <a:off x="24955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127028" name="Text Box 51"/>
          <p:cNvSpPr txBox="1">
            <a:spLocks noChangeArrowheads="1"/>
          </p:cNvSpPr>
          <p:nvPr/>
        </p:nvSpPr>
        <p:spPr bwMode="auto">
          <a:xfrm>
            <a:off x="65341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127029" name="Text Box 52"/>
          <p:cNvSpPr txBox="1">
            <a:spLocks noChangeArrowheads="1"/>
          </p:cNvSpPr>
          <p:nvPr/>
        </p:nvSpPr>
        <p:spPr bwMode="auto">
          <a:xfrm>
            <a:off x="14859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127030" name="Text Box 53"/>
          <p:cNvSpPr txBox="1">
            <a:spLocks noChangeArrowheads="1"/>
          </p:cNvSpPr>
          <p:nvPr/>
        </p:nvSpPr>
        <p:spPr bwMode="auto">
          <a:xfrm>
            <a:off x="35052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127031" name="Text Box 54"/>
          <p:cNvSpPr txBox="1">
            <a:spLocks noChangeArrowheads="1"/>
          </p:cNvSpPr>
          <p:nvPr/>
        </p:nvSpPr>
        <p:spPr bwMode="auto">
          <a:xfrm>
            <a:off x="55245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127032" name="Text Box 55"/>
          <p:cNvSpPr txBox="1">
            <a:spLocks noChangeArrowheads="1"/>
          </p:cNvSpPr>
          <p:nvPr/>
        </p:nvSpPr>
        <p:spPr bwMode="auto">
          <a:xfrm>
            <a:off x="75438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127033" name="Text Box 56"/>
          <p:cNvSpPr txBox="1">
            <a:spLocks noChangeArrowheads="1"/>
          </p:cNvSpPr>
          <p:nvPr/>
        </p:nvSpPr>
        <p:spPr bwMode="auto">
          <a:xfrm>
            <a:off x="8128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127034" name="Text Box 57"/>
          <p:cNvSpPr txBox="1">
            <a:spLocks noChangeArrowheads="1"/>
          </p:cNvSpPr>
          <p:nvPr/>
        </p:nvSpPr>
        <p:spPr bwMode="auto">
          <a:xfrm>
            <a:off x="182245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127035" name="Text Box 58"/>
          <p:cNvSpPr txBox="1">
            <a:spLocks noChangeArrowheads="1"/>
          </p:cNvSpPr>
          <p:nvPr/>
        </p:nvSpPr>
        <p:spPr bwMode="auto">
          <a:xfrm>
            <a:off x="28321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127036" name="Text Box 59"/>
          <p:cNvSpPr txBox="1">
            <a:spLocks noChangeArrowheads="1"/>
          </p:cNvSpPr>
          <p:nvPr/>
        </p:nvSpPr>
        <p:spPr bwMode="auto">
          <a:xfrm>
            <a:off x="36734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127037" name="Text Box 60"/>
          <p:cNvSpPr txBox="1">
            <a:spLocks noChangeArrowheads="1"/>
          </p:cNvSpPr>
          <p:nvPr/>
        </p:nvSpPr>
        <p:spPr bwMode="auto">
          <a:xfrm>
            <a:off x="46831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127038" name="Text Box 61"/>
          <p:cNvSpPr txBox="1">
            <a:spLocks noChangeArrowheads="1"/>
          </p:cNvSpPr>
          <p:nvPr/>
        </p:nvSpPr>
        <p:spPr bwMode="auto">
          <a:xfrm>
            <a:off x="56927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127039" name="Text Box 62"/>
          <p:cNvSpPr txBox="1">
            <a:spLocks noChangeArrowheads="1"/>
          </p:cNvSpPr>
          <p:nvPr/>
        </p:nvSpPr>
        <p:spPr bwMode="auto">
          <a:xfrm>
            <a:off x="67024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127040" name="Text Box 63"/>
          <p:cNvSpPr txBox="1">
            <a:spLocks noChangeArrowheads="1"/>
          </p:cNvSpPr>
          <p:nvPr/>
        </p:nvSpPr>
        <p:spPr bwMode="auto">
          <a:xfrm>
            <a:off x="77120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127041" name="Oval 64"/>
          <p:cNvSpPr>
            <a:spLocks noChangeArrowheads="1"/>
          </p:cNvSpPr>
          <p:nvPr/>
        </p:nvSpPr>
        <p:spPr bwMode="auto">
          <a:xfrm>
            <a:off x="476250" y="514032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7042" name="Text Box 65"/>
          <p:cNvSpPr txBox="1">
            <a:spLocks noChangeArrowheads="1"/>
          </p:cNvSpPr>
          <p:nvPr/>
        </p:nvSpPr>
        <p:spPr bwMode="auto">
          <a:xfrm>
            <a:off x="457200" y="52387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27043" name="Oval 66"/>
          <p:cNvSpPr>
            <a:spLocks noChangeArrowheads="1"/>
          </p:cNvSpPr>
          <p:nvPr/>
        </p:nvSpPr>
        <p:spPr bwMode="auto">
          <a:xfrm>
            <a:off x="1485900" y="513873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7044" name="Text Box 67"/>
          <p:cNvSpPr txBox="1">
            <a:spLocks noChangeArrowheads="1"/>
          </p:cNvSpPr>
          <p:nvPr/>
        </p:nvSpPr>
        <p:spPr bwMode="auto">
          <a:xfrm>
            <a:off x="1466850" y="5238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27045" name="Text Box 68"/>
          <p:cNvSpPr txBox="1">
            <a:spLocks noChangeArrowheads="1"/>
          </p:cNvSpPr>
          <p:nvPr/>
        </p:nvSpPr>
        <p:spPr bwMode="auto">
          <a:xfrm>
            <a:off x="148590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127046" name="Line 69"/>
          <p:cNvSpPr>
            <a:spLocks noChangeShapeType="1"/>
          </p:cNvSpPr>
          <p:nvPr/>
        </p:nvSpPr>
        <p:spPr bwMode="auto">
          <a:xfrm flipH="1">
            <a:off x="644525" y="467677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7047" name="Line 70"/>
          <p:cNvSpPr>
            <a:spLocks noChangeShapeType="1"/>
          </p:cNvSpPr>
          <p:nvPr/>
        </p:nvSpPr>
        <p:spPr bwMode="auto">
          <a:xfrm>
            <a:off x="1149350" y="467677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7048" name="Text Box 71"/>
          <p:cNvSpPr txBox="1">
            <a:spLocks noChangeArrowheads="1"/>
          </p:cNvSpPr>
          <p:nvPr/>
        </p:nvSpPr>
        <p:spPr bwMode="auto">
          <a:xfrm>
            <a:off x="47625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127049" name="Text Box 72"/>
          <p:cNvSpPr txBox="1">
            <a:spLocks noChangeArrowheads="1"/>
          </p:cNvSpPr>
          <p:nvPr/>
        </p:nvSpPr>
        <p:spPr bwMode="auto">
          <a:xfrm>
            <a:off x="3276600" y="3049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27050" name="Text Box 73"/>
          <p:cNvSpPr txBox="1">
            <a:spLocks noChangeArrowheads="1"/>
          </p:cNvSpPr>
          <p:nvPr/>
        </p:nvSpPr>
        <p:spPr bwMode="auto">
          <a:xfrm>
            <a:off x="2362200" y="5181600"/>
            <a:ext cx="64770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Then we decrement index 7 and use heapify again…</a:t>
            </a:r>
          </a:p>
        </p:txBody>
      </p:sp>
      <p:sp>
        <p:nvSpPr>
          <p:cNvPr id="127051" name="Rectangle 74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Forming an Initial Heap (cont.)</a:t>
            </a: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ED98E2AF-F86E-4990-97C4-980C7B4DB79E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126</a:t>
            </a:fld>
            <a:endParaRPr lang="en-US" altLang="en-US" sz="1400"/>
          </a:p>
        </p:txBody>
      </p:sp>
      <p:sp>
        <p:nvSpPr>
          <p:cNvPr id="128003" name="Oval 2"/>
          <p:cNvSpPr>
            <a:spLocks noChangeArrowheads="1"/>
          </p:cNvSpPr>
          <p:nvPr/>
        </p:nvSpPr>
        <p:spPr bwMode="auto">
          <a:xfrm>
            <a:off x="23272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8004" name="Text Box 3"/>
          <p:cNvSpPr txBox="1">
            <a:spLocks noChangeArrowheads="1"/>
          </p:cNvSpPr>
          <p:nvPr/>
        </p:nvSpPr>
        <p:spPr bwMode="auto">
          <a:xfrm>
            <a:off x="23082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31</a:t>
            </a:r>
            <a:endParaRPr lang="en-US" altLang="en-US" sz="2400"/>
          </a:p>
        </p:txBody>
      </p:sp>
      <p:sp>
        <p:nvSpPr>
          <p:cNvPr id="128005" name="Oval 4"/>
          <p:cNvSpPr>
            <a:spLocks noChangeArrowheads="1"/>
          </p:cNvSpPr>
          <p:nvPr/>
        </p:nvSpPr>
        <p:spPr bwMode="auto">
          <a:xfrm>
            <a:off x="13176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8006" name="Text Box 5"/>
          <p:cNvSpPr txBox="1">
            <a:spLocks noChangeArrowheads="1"/>
          </p:cNvSpPr>
          <p:nvPr/>
        </p:nvSpPr>
        <p:spPr bwMode="auto">
          <a:xfrm>
            <a:off x="1298575" y="307975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28007" name="Oval 6"/>
          <p:cNvSpPr>
            <a:spLocks noChangeArrowheads="1"/>
          </p:cNvSpPr>
          <p:nvPr/>
        </p:nvSpPr>
        <p:spPr bwMode="auto">
          <a:xfrm>
            <a:off x="6445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8008" name="Text Box 7"/>
          <p:cNvSpPr txBox="1">
            <a:spLocks noChangeArrowheads="1"/>
          </p:cNvSpPr>
          <p:nvPr/>
        </p:nvSpPr>
        <p:spPr bwMode="auto">
          <a:xfrm>
            <a:off x="625475" y="4159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27</a:t>
            </a:r>
            <a:endParaRPr lang="en-US" altLang="en-US" sz="2400"/>
          </a:p>
        </p:txBody>
      </p:sp>
      <p:sp>
        <p:nvSpPr>
          <p:cNvPr id="128009" name="Text Box 8"/>
          <p:cNvSpPr txBox="1">
            <a:spLocks noChangeArrowheads="1"/>
          </p:cNvSpPr>
          <p:nvPr/>
        </p:nvSpPr>
        <p:spPr bwMode="auto">
          <a:xfrm>
            <a:off x="2057400" y="121285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128010" name="Oval 9"/>
          <p:cNvSpPr>
            <a:spLocks noChangeArrowheads="1"/>
          </p:cNvSpPr>
          <p:nvPr/>
        </p:nvSpPr>
        <p:spPr bwMode="auto">
          <a:xfrm>
            <a:off x="16541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8011" name="Text Box 10"/>
          <p:cNvSpPr txBox="1">
            <a:spLocks noChangeArrowheads="1"/>
          </p:cNvSpPr>
          <p:nvPr/>
        </p:nvSpPr>
        <p:spPr bwMode="auto">
          <a:xfrm>
            <a:off x="16351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12</a:t>
            </a:r>
            <a:endParaRPr lang="en-US" altLang="en-US" sz="2400"/>
          </a:p>
        </p:txBody>
      </p:sp>
      <p:sp>
        <p:nvSpPr>
          <p:cNvPr id="128012" name="Oval 11"/>
          <p:cNvSpPr>
            <a:spLocks noChangeArrowheads="1"/>
          </p:cNvSpPr>
          <p:nvPr/>
        </p:nvSpPr>
        <p:spPr bwMode="auto">
          <a:xfrm>
            <a:off x="4346575" y="14255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8013" name="Text Box 12"/>
          <p:cNvSpPr txBox="1">
            <a:spLocks noChangeArrowheads="1"/>
          </p:cNvSpPr>
          <p:nvPr/>
        </p:nvSpPr>
        <p:spPr bwMode="auto">
          <a:xfrm>
            <a:off x="4327525" y="1525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6</a:t>
            </a:r>
            <a:endParaRPr lang="en-US" altLang="en-US" sz="2400"/>
          </a:p>
        </p:txBody>
      </p:sp>
      <p:sp>
        <p:nvSpPr>
          <p:cNvPr id="128014" name="Line 13"/>
          <p:cNvSpPr>
            <a:spLocks noChangeShapeType="1"/>
          </p:cNvSpPr>
          <p:nvPr/>
        </p:nvSpPr>
        <p:spPr bwMode="auto">
          <a:xfrm>
            <a:off x="2832100" y="152082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8015" name="Oval 14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8016" name="Line 15"/>
          <p:cNvSpPr>
            <a:spLocks noChangeShapeType="1"/>
          </p:cNvSpPr>
          <p:nvPr/>
        </p:nvSpPr>
        <p:spPr bwMode="auto">
          <a:xfrm flipH="1">
            <a:off x="182245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8017" name="Line 16"/>
          <p:cNvSpPr>
            <a:spLocks noChangeShapeType="1"/>
          </p:cNvSpPr>
          <p:nvPr/>
        </p:nvSpPr>
        <p:spPr bwMode="auto">
          <a:xfrm>
            <a:off x="283210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8018" name="Oval 17"/>
          <p:cNvSpPr>
            <a:spLocks noChangeArrowheads="1"/>
          </p:cNvSpPr>
          <p:nvPr/>
        </p:nvSpPr>
        <p:spPr bwMode="auto">
          <a:xfrm>
            <a:off x="63658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8019" name="Text Box 18"/>
          <p:cNvSpPr txBox="1">
            <a:spLocks noChangeArrowheads="1"/>
          </p:cNvSpPr>
          <p:nvPr/>
        </p:nvSpPr>
        <p:spPr bwMode="auto">
          <a:xfrm>
            <a:off x="63468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28020" name="Oval 19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8021" name="Oval 20"/>
          <p:cNvSpPr>
            <a:spLocks noChangeArrowheads="1"/>
          </p:cNvSpPr>
          <p:nvPr/>
        </p:nvSpPr>
        <p:spPr bwMode="auto">
          <a:xfrm>
            <a:off x="73755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FF33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8022" name="Text Box 21"/>
          <p:cNvSpPr txBox="1">
            <a:spLocks noChangeArrowheads="1"/>
          </p:cNvSpPr>
          <p:nvPr/>
        </p:nvSpPr>
        <p:spPr bwMode="auto">
          <a:xfrm>
            <a:off x="7356475" y="3079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28023" name="Line 22"/>
          <p:cNvSpPr>
            <a:spLocks noChangeShapeType="1"/>
          </p:cNvSpPr>
          <p:nvPr/>
        </p:nvSpPr>
        <p:spPr bwMode="auto">
          <a:xfrm flipH="1">
            <a:off x="586105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8024" name="Line 23"/>
          <p:cNvSpPr>
            <a:spLocks noChangeShapeType="1"/>
          </p:cNvSpPr>
          <p:nvPr/>
        </p:nvSpPr>
        <p:spPr bwMode="auto">
          <a:xfrm>
            <a:off x="687070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8025" name="Line 24"/>
          <p:cNvSpPr>
            <a:spLocks noChangeShapeType="1"/>
          </p:cNvSpPr>
          <p:nvPr/>
        </p:nvSpPr>
        <p:spPr bwMode="auto">
          <a:xfrm flipH="1">
            <a:off x="3000375" y="1828800"/>
            <a:ext cx="1343025" cy="2270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8026" name="Line 25"/>
          <p:cNvSpPr>
            <a:spLocks noChangeShapeType="1"/>
          </p:cNvSpPr>
          <p:nvPr/>
        </p:nvSpPr>
        <p:spPr bwMode="auto">
          <a:xfrm>
            <a:off x="5029200" y="1752600"/>
            <a:ext cx="1371600" cy="3048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8027" name="Oval 26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8028" name="Oval 27"/>
          <p:cNvSpPr>
            <a:spLocks noChangeArrowheads="1"/>
          </p:cNvSpPr>
          <p:nvPr/>
        </p:nvSpPr>
        <p:spPr bwMode="auto">
          <a:xfrm>
            <a:off x="266382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8029" name="Text Box 28"/>
          <p:cNvSpPr txBox="1">
            <a:spLocks noChangeArrowheads="1"/>
          </p:cNvSpPr>
          <p:nvPr/>
        </p:nvSpPr>
        <p:spPr bwMode="auto">
          <a:xfrm>
            <a:off x="2644775" y="415448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128030" name="Oval 29"/>
          <p:cNvSpPr>
            <a:spLocks noChangeArrowheads="1"/>
          </p:cNvSpPr>
          <p:nvPr/>
        </p:nvSpPr>
        <p:spPr bwMode="auto">
          <a:xfrm>
            <a:off x="3673475" y="40544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8031" name="Text Box 30"/>
          <p:cNvSpPr txBox="1">
            <a:spLocks noChangeArrowheads="1"/>
          </p:cNvSpPr>
          <p:nvPr/>
        </p:nvSpPr>
        <p:spPr bwMode="auto">
          <a:xfrm>
            <a:off x="3654425" y="41544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38</a:t>
            </a:r>
            <a:endParaRPr lang="en-US" altLang="en-US" sz="2400"/>
          </a:p>
        </p:txBody>
      </p:sp>
      <p:sp>
        <p:nvSpPr>
          <p:cNvPr id="128032" name="Oval 31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8033" name="Text Box 32"/>
          <p:cNvSpPr txBox="1">
            <a:spLocks noChangeArrowheads="1"/>
          </p:cNvSpPr>
          <p:nvPr/>
        </p:nvSpPr>
        <p:spPr bwMode="auto">
          <a:xfrm>
            <a:off x="5334000" y="304958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128034" name="Oval 33"/>
          <p:cNvSpPr>
            <a:spLocks noChangeArrowheads="1"/>
          </p:cNvSpPr>
          <p:nvPr/>
        </p:nvSpPr>
        <p:spPr bwMode="auto">
          <a:xfrm>
            <a:off x="4683125" y="406082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8035" name="Text Box 34"/>
          <p:cNvSpPr txBox="1">
            <a:spLocks noChangeArrowheads="1"/>
          </p:cNvSpPr>
          <p:nvPr/>
        </p:nvSpPr>
        <p:spPr bwMode="auto">
          <a:xfrm>
            <a:off x="4664075" y="415766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28036" name="Oval 35"/>
          <p:cNvSpPr>
            <a:spLocks noChangeArrowheads="1"/>
          </p:cNvSpPr>
          <p:nvPr/>
        </p:nvSpPr>
        <p:spPr bwMode="auto">
          <a:xfrm>
            <a:off x="5692775" y="40608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8037" name="Text Box 36"/>
          <p:cNvSpPr txBox="1">
            <a:spLocks noChangeArrowheads="1"/>
          </p:cNvSpPr>
          <p:nvPr/>
        </p:nvSpPr>
        <p:spPr bwMode="auto">
          <a:xfrm>
            <a:off x="5673725" y="41608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128038" name="Oval 37"/>
          <p:cNvSpPr>
            <a:spLocks noChangeArrowheads="1"/>
          </p:cNvSpPr>
          <p:nvPr/>
        </p:nvSpPr>
        <p:spPr bwMode="auto">
          <a:xfrm>
            <a:off x="67024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8039" name="Text Box 38"/>
          <p:cNvSpPr txBox="1">
            <a:spLocks noChangeArrowheads="1"/>
          </p:cNvSpPr>
          <p:nvPr/>
        </p:nvSpPr>
        <p:spPr bwMode="auto">
          <a:xfrm>
            <a:off x="6683375" y="415925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</a:t>
            </a:r>
            <a:endParaRPr lang="en-US" altLang="en-US" sz="2400"/>
          </a:p>
        </p:txBody>
      </p:sp>
      <p:sp>
        <p:nvSpPr>
          <p:cNvPr id="128040" name="Oval 39"/>
          <p:cNvSpPr>
            <a:spLocks noChangeArrowheads="1"/>
          </p:cNvSpPr>
          <p:nvPr/>
        </p:nvSpPr>
        <p:spPr bwMode="auto">
          <a:xfrm>
            <a:off x="77120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8041" name="Text Box 40"/>
          <p:cNvSpPr txBox="1">
            <a:spLocks noChangeArrowheads="1"/>
          </p:cNvSpPr>
          <p:nvPr/>
        </p:nvSpPr>
        <p:spPr bwMode="auto">
          <a:xfrm>
            <a:off x="76930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28042" name="Line 41"/>
          <p:cNvSpPr>
            <a:spLocks noChangeShapeType="1"/>
          </p:cNvSpPr>
          <p:nvPr/>
        </p:nvSpPr>
        <p:spPr bwMode="auto">
          <a:xfrm flipH="1">
            <a:off x="9810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8043" name="Line 42"/>
          <p:cNvSpPr>
            <a:spLocks noChangeShapeType="1"/>
          </p:cNvSpPr>
          <p:nvPr/>
        </p:nvSpPr>
        <p:spPr bwMode="auto">
          <a:xfrm>
            <a:off x="19907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8044" name="Line 43"/>
          <p:cNvSpPr>
            <a:spLocks noChangeShapeType="1"/>
          </p:cNvSpPr>
          <p:nvPr/>
        </p:nvSpPr>
        <p:spPr bwMode="auto">
          <a:xfrm flipH="1">
            <a:off x="30003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8045" name="Line 44"/>
          <p:cNvSpPr>
            <a:spLocks noChangeShapeType="1"/>
          </p:cNvSpPr>
          <p:nvPr/>
        </p:nvSpPr>
        <p:spPr bwMode="auto">
          <a:xfrm>
            <a:off x="40100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8046" name="Line 45"/>
          <p:cNvSpPr>
            <a:spLocks noChangeShapeType="1"/>
          </p:cNvSpPr>
          <p:nvPr/>
        </p:nvSpPr>
        <p:spPr bwMode="auto">
          <a:xfrm flipH="1">
            <a:off x="50196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8047" name="Line 46"/>
          <p:cNvSpPr>
            <a:spLocks noChangeShapeType="1"/>
          </p:cNvSpPr>
          <p:nvPr/>
        </p:nvSpPr>
        <p:spPr bwMode="auto">
          <a:xfrm>
            <a:off x="60293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8048" name="Line 47"/>
          <p:cNvSpPr>
            <a:spLocks noChangeShapeType="1"/>
          </p:cNvSpPr>
          <p:nvPr/>
        </p:nvSpPr>
        <p:spPr bwMode="auto">
          <a:xfrm flipH="1">
            <a:off x="70389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8049" name="Line 48"/>
          <p:cNvSpPr>
            <a:spLocks noChangeShapeType="1"/>
          </p:cNvSpPr>
          <p:nvPr/>
        </p:nvSpPr>
        <p:spPr bwMode="auto">
          <a:xfrm>
            <a:off x="80486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8050" name="Text Box 49"/>
          <p:cNvSpPr txBox="1">
            <a:spLocks noChangeArrowheads="1"/>
          </p:cNvSpPr>
          <p:nvPr/>
        </p:nvSpPr>
        <p:spPr bwMode="auto">
          <a:xfrm>
            <a:off x="4514850" y="1976438"/>
            <a:ext cx="6731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128051" name="Text Box 50"/>
          <p:cNvSpPr txBox="1">
            <a:spLocks noChangeArrowheads="1"/>
          </p:cNvSpPr>
          <p:nvPr/>
        </p:nvSpPr>
        <p:spPr bwMode="auto">
          <a:xfrm>
            <a:off x="24955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128052" name="Text Box 51"/>
          <p:cNvSpPr txBox="1">
            <a:spLocks noChangeArrowheads="1"/>
          </p:cNvSpPr>
          <p:nvPr/>
        </p:nvSpPr>
        <p:spPr bwMode="auto">
          <a:xfrm>
            <a:off x="65341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128053" name="Text Box 52"/>
          <p:cNvSpPr txBox="1">
            <a:spLocks noChangeArrowheads="1"/>
          </p:cNvSpPr>
          <p:nvPr/>
        </p:nvSpPr>
        <p:spPr bwMode="auto">
          <a:xfrm>
            <a:off x="14859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128054" name="Text Box 53"/>
          <p:cNvSpPr txBox="1">
            <a:spLocks noChangeArrowheads="1"/>
          </p:cNvSpPr>
          <p:nvPr/>
        </p:nvSpPr>
        <p:spPr bwMode="auto">
          <a:xfrm>
            <a:off x="35052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128055" name="Text Box 54"/>
          <p:cNvSpPr txBox="1">
            <a:spLocks noChangeArrowheads="1"/>
          </p:cNvSpPr>
          <p:nvPr/>
        </p:nvSpPr>
        <p:spPr bwMode="auto">
          <a:xfrm>
            <a:off x="55245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128056" name="Text Box 55"/>
          <p:cNvSpPr txBox="1">
            <a:spLocks noChangeArrowheads="1"/>
          </p:cNvSpPr>
          <p:nvPr/>
        </p:nvSpPr>
        <p:spPr bwMode="auto">
          <a:xfrm>
            <a:off x="75438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128057" name="Text Box 56"/>
          <p:cNvSpPr txBox="1">
            <a:spLocks noChangeArrowheads="1"/>
          </p:cNvSpPr>
          <p:nvPr/>
        </p:nvSpPr>
        <p:spPr bwMode="auto">
          <a:xfrm>
            <a:off x="8128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128058" name="Text Box 57"/>
          <p:cNvSpPr txBox="1">
            <a:spLocks noChangeArrowheads="1"/>
          </p:cNvSpPr>
          <p:nvPr/>
        </p:nvSpPr>
        <p:spPr bwMode="auto">
          <a:xfrm>
            <a:off x="182245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128059" name="Text Box 58"/>
          <p:cNvSpPr txBox="1">
            <a:spLocks noChangeArrowheads="1"/>
          </p:cNvSpPr>
          <p:nvPr/>
        </p:nvSpPr>
        <p:spPr bwMode="auto">
          <a:xfrm>
            <a:off x="28321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128060" name="Text Box 59"/>
          <p:cNvSpPr txBox="1">
            <a:spLocks noChangeArrowheads="1"/>
          </p:cNvSpPr>
          <p:nvPr/>
        </p:nvSpPr>
        <p:spPr bwMode="auto">
          <a:xfrm>
            <a:off x="36734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128061" name="Text Box 60"/>
          <p:cNvSpPr txBox="1">
            <a:spLocks noChangeArrowheads="1"/>
          </p:cNvSpPr>
          <p:nvPr/>
        </p:nvSpPr>
        <p:spPr bwMode="auto">
          <a:xfrm>
            <a:off x="46831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128062" name="Text Box 61"/>
          <p:cNvSpPr txBox="1">
            <a:spLocks noChangeArrowheads="1"/>
          </p:cNvSpPr>
          <p:nvPr/>
        </p:nvSpPr>
        <p:spPr bwMode="auto">
          <a:xfrm>
            <a:off x="56927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128063" name="Text Box 62"/>
          <p:cNvSpPr txBox="1">
            <a:spLocks noChangeArrowheads="1"/>
          </p:cNvSpPr>
          <p:nvPr/>
        </p:nvSpPr>
        <p:spPr bwMode="auto">
          <a:xfrm>
            <a:off x="67024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128064" name="Text Box 63"/>
          <p:cNvSpPr txBox="1">
            <a:spLocks noChangeArrowheads="1"/>
          </p:cNvSpPr>
          <p:nvPr/>
        </p:nvSpPr>
        <p:spPr bwMode="auto">
          <a:xfrm>
            <a:off x="77120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128065" name="Oval 64"/>
          <p:cNvSpPr>
            <a:spLocks noChangeArrowheads="1"/>
          </p:cNvSpPr>
          <p:nvPr/>
        </p:nvSpPr>
        <p:spPr bwMode="auto">
          <a:xfrm>
            <a:off x="476250" y="514032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8066" name="Text Box 65"/>
          <p:cNvSpPr txBox="1">
            <a:spLocks noChangeArrowheads="1"/>
          </p:cNvSpPr>
          <p:nvPr/>
        </p:nvSpPr>
        <p:spPr bwMode="auto">
          <a:xfrm>
            <a:off x="457200" y="52387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28067" name="Oval 66"/>
          <p:cNvSpPr>
            <a:spLocks noChangeArrowheads="1"/>
          </p:cNvSpPr>
          <p:nvPr/>
        </p:nvSpPr>
        <p:spPr bwMode="auto">
          <a:xfrm>
            <a:off x="1485900" y="513873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8068" name="Text Box 67"/>
          <p:cNvSpPr txBox="1">
            <a:spLocks noChangeArrowheads="1"/>
          </p:cNvSpPr>
          <p:nvPr/>
        </p:nvSpPr>
        <p:spPr bwMode="auto">
          <a:xfrm>
            <a:off x="1466850" y="5238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28069" name="Text Box 68"/>
          <p:cNvSpPr txBox="1">
            <a:spLocks noChangeArrowheads="1"/>
          </p:cNvSpPr>
          <p:nvPr/>
        </p:nvSpPr>
        <p:spPr bwMode="auto">
          <a:xfrm>
            <a:off x="148590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128070" name="Line 69"/>
          <p:cNvSpPr>
            <a:spLocks noChangeShapeType="1"/>
          </p:cNvSpPr>
          <p:nvPr/>
        </p:nvSpPr>
        <p:spPr bwMode="auto">
          <a:xfrm flipH="1">
            <a:off x="644525" y="467677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8071" name="Line 70"/>
          <p:cNvSpPr>
            <a:spLocks noChangeShapeType="1"/>
          </p:cNvSpPr>
          <p:nvPr/>
        </p:nvSpPr>
        <p:spPr bwMode="auto">
          <a:xfrm>
            <a:off x="1149350" y="467677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8072" name="Text Box 71"/>
          <p:cNvSpPr txBox="1">
            <a:spLocks noChangeArrowheads="1"/>
          </p:cNvSpPr>
          <p:nvPr/>
        </p:nvSpPr>
        <p:spPr bwMode="auto">
          <a:xfrm>
            <a:off x="47625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128073" name="Text Box 72"/>
          <p:cNvSpPr txBox="1">
            <a:spLocks noChangeArrowheads="1"/>
          </p:cNvSpPr>
          <p:nvPr/>
        </p:nvSpPr>
        <p:spPr bwMode="auto">
          <a:xfrm>
            <a:off x="3276600" y="3049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28074" name="Text Box 73"/>
          <p:cNvSpPr txBox="1">
            <a:spLocks noChangeArrowheads="1"/>
          </p:cNvSpPr>
          <p:nvPr/>
        </p:nvSpPr>
        <p:spPr bwMode="auto">
          <a:xfrm>
            <a:off x="2362200" y="5181600"/>
            <a:ext cx="6477000" cy="831850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This process continues until we heapify at the root</a:t>
            </a:r>
          </a:p>
        </p:txBody>
      </p:sp>
      <p:sp>
        <p:nvSpPr>
          <p:cNvPr id="128075" name="Rectangle 74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Forming an Initial Heap (cont.)</a:t>
            </a: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136B9D6C-3FB8-4831-9DCC-CAA179D810E1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127</a:t>
            </a:fld>
            <a:endParaRPr lang="en-US" altLang="en-US" sz="1400"/>
          </a:p>
        </p:txBody>
      </p:sp>
      <p:sp>
        <p:nvSpPr>
          <p:cNvPr id="129027" name="Oval 2"/>
          <p:cNvSpPr>
            <a:spLocks noChangeArrowheads="1"/>
          </p:cNvSpPr>
          <p:nvPr/>
        </p:nvSpPr>
        <p:spPr bwMode="auto">
          <a:xfrm>
            <a:off x="23272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9028" name="Text Box 3"/>
          <p:cNvSpPr txBox="1">
            <a:spLocks noChangeArrowheads="1"/>
          </p:cNvSpPr>
          <p:nvPr/>
        </p:nvSpPr>
        <p:spPr bwMode="auto">
          <a:xfrm>
            <a:off x="23082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31</a:t>
            </a:r>
            <a:endParaRPr lang="en-US" altLang="en-US" sz="2400"/>
          </a:p>
        </p:txBody>
      </p:sp>
      <p:sp>
        <p:nvSpPr>
          <p:cNvPr id="129029" name="Oval 4"/>
          <p:cNvSpPr>
            <a:spLocks noChangeArrowheads="1"/>
          </p:cNvSpPr>
          <p:nvPr/>
        </p:nvSpPr>
        <p:spPr bwMode="auto">
          <a:xfrm>
            <a:off x="13176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9030" name="Text Box 5"/>
          <p:cNvSpPr txBox="1">
            <a:spLocks noChangeArrowheads="1"/>
          </p:cNvSpPr>
          <p:nvPr/>
        </p:nvSpPr>
        <p:spPr bwMode="auto">
          <a:xfrm>
            <a:off x="1298575" y="307975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29031" name="Oval 6"/>
          <p:cNvSpPr>
            <a:spLocks noChangeArrowheads="1"/>
          </p:cNvSpPr>
          <p:nvPr/>
        </p:nvSpPr>
        <p:spPr bwMode="auto">
          <a:xfrm>
            <a:off x="6445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9032" name="Text Box 7"/>
          <p:cNvSpPr txBox="1">
            <a:spLocks noChangeArrowheads="1"/>
          </p:cNvSpPr>
          <p:nvPr/>
        </p:nvSpPr>
        <p:spPr bwMode="auto">
          <a:xfrm>
            <a:off x="625475" y="4159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27</a:t>
            </a:r>
            <a:endParaRPr lang="en-US" altLang="en-US" sz="2400"/>
          </a:p>
        </p:txBody>
      </p:sp>
      <p:sp>
        <p:nvSpPr>
          <p:cNvPr id="129033" name="Text Box 8"/>
          <p:cNvSpPr txBox="1">
            <a:spLocks noChangeArrowheads="1"/>
          </p:cNvSpPr>
          <p:nvPr/>
        </p:nvSpPr>
        <p:spPr bwMode="auto">
          <a:xfrm>
            <a:off x="2057400" y="121285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129034" name="Oval 9"/>
          <p:cNvSpPr>
            <a:spLocks noChangeArrowheads="1"/>
          </p:cNvSpPr>
          <p:nvPr/>
        </p:nvSpPr>
        <p:spPr bwMode="auto">
          <a:xfrm>
            <a:off x="16541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9035" name="Text Box 10"/>
          <p:cNvSpPr txBox="1">
            <a:spLocks noChangeArrowheads="1"/>
          </p:cNvSpPr>
          <p:nvPr/>
        </p:nvSpPr>
        <p:spPr bwMode="auto">
          <a:xfrm>
            <a:off x="16351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12</a:t>
            </a:r>
            <a:endParaRPr lang="en-US" altLang="en-US" sz="2400"/>
          </a:p>
        </p:txBody>
      </p:sp>
      <p:sp>
        <p:nvSpPr>
          <p:cNvPr id="129036" name="Oval 11"/>
          <p:cNvSpPr>
            <a:spLocks noChangeArrowheads="1"/>
          </p:cNvSpPr>
          <p:nvPr/>
        </p:nvSpPr>
        <p:spPr bwMode="auto">
          <a:xfrm>
            <a:off x="4346575" y="14255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9037" name="Text Box 12"/>
          <p:cNvSpPr txBox="1">
            <a:spLocks noChangeArrowheads="1"/>
          </p:cNvSpPr>
          <p:nvPr/>
        </p:nvSpPr>
        <p:spPr bwMode="auto">
          <a:xfrm>
            <a:off x="4327525" y="1525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6</a:t>
            </a:r>
            <a:endParaRPr lang="en-US" altLang="en-US" sz="2400"/>
          </a:p>
        </p:txBody>
      </p:sp>
      <p:sp>
        <p:nvSpPr>
          <p:cNvPr id="129038" name="Line 13"/>
          <p:cNvSpPr>
            <a:spLocks noChangeShapeType="1"/>
          </p:cNvSpPr>
          <p:nvPr/>
        </p:nvSpPr>
        <p:spPr bwMode="auto">
          <a:xfrm>
            <a:off x="2832100" y="152082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9039" name="Oval 14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9040" name="Line 15"/>
          <p:cNvSpPr>
            <a:spLocks noChangeShapeType="1"/>
          </p:cNvSpPr>
          <p:nvPr/>
        </p:nvSpPr>
        <p:spPr bwMode="auto">
          <a:xfrm flipH="1">
            <a:off x="182245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9041" name="Line 16"/>
          <p:cNvSpPr>
            <a:spLocks noChangeShapeType="1"/>
          </p:cNvSpPr>
          <p:nvPr/>
        </p:nvSpPr>
        <p:spPr bwMode="auto">
          <a:xfrm>
            <a:off x="283210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9042" name="Oval 17"/>
          <p:cNvSpPr>
            <a:spLocks noChangeArrowheads="1"/>
          </p:cNvSpPr>
          <p:nvPr/>
        </p:nvSpPr>
        <p:spPr bwMode="auto">
          <a:xfrm>
            <a:off x="63658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9043" name="Text Box 18"/>
          <p:cNvSpPr txBox="1">
            <a:spLocks noChangeArrowheads="1"/>
          </p:cNvSpPr>
          <p:nvPr/>
        </p:nvSpPr>
        <p:spPr bwMode="auto">
          <a:xfrm>
            <a:off x="63468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29044" name="Oval 19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9045" name="Oval 20"/>
          <p:cNvSpPr>
            <a:spLocks noChangeArrowheads="1"/>
          </p:cNvSpPr>
          <p:nvPr/>
        </p:nvSpPr>
        <p:spPr bwMode="auto">
          <a:xfrm>
            <a:off x="73755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9046" name="Text Box 21"/>
          <p:cNvSpPr txBox="1">
            <a:spLocks noChangeArrowheads="1"/>
          </p:cNvSpPr>
          <p:nvPr/>
        </p:nvSpPr>
        <p:spPr bwMode="auto">
          <a:xfrm>
            <a:off x="7356475" y="3079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29047" name="Line 22"/>
          <p:cNvSpPr>
            <a:spLocks noChangeShapeType="1"/>
          </p:cNvSpPr>
          <p:nvPr/>
        </p:nvSpPr>
        <p:spPr bwMode="auto">
          <a:xfrm flipH="1">
            <a:off x="586105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9048" name="Line 23"/>
          <p:cNvSpPr>
            <a:spLocks noChangeShapeType="1"/>
          </p:cNvSpPr>
          <p:nvPr/>
        </p:nvSpPr>
        <p:spPr bwMode="auto">
          <a:xfrm>
            <a:off x="687070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9049" name="Line 24"/>
          <p:cNvSpPr>
            <a:spLocks noChangeShapeType="1"/>
          </p:cNvSpPr>
          <p:nvPr/>
        </p:nvSpPr>
        <p:spPr bwMode="auto">
          <a:xfrm flipH="1">
            <a:off x="3000375" y="1828800"/>
            <a:ext cx="1343025" cy="2270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9050" name="Line 25"/>
          <p:cNvSpPr>
            <a:spLocks noChangeShapeType="1"/>
          </p:cNvSpPr>
          <p:nvPr/>
        </p:nvSpPr>
        <p:spPr bwMode="auto">
          <a:xfrm>
            <a:off x="5029200" y="1752600"/>
            <a:ext cx="1371600" cy="3048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9051" name="Oval 26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9052" name="Oval 27"/>
          <p:cNvSpPr>
            <a:spLocks noChangeArrowheads="1"/>
          </p:cNvSpPr>
          <p:nvPr/>
        </p:nvSpPr>
        <p:spPr bwMode="auto">
          <a:xfrm>
            <a:off x="266382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9053" name="Text Box 28"/>
          <p:cNvSpPr txBox="1">
            <a:spLocks noChangeArrowheads="1"/>
          </p:cNvSpPr>
          <p:nvPr/>
        </p:nvSpPr>
        <p:spPr bwMode="auto">
          <a:xfrm>
            <a:off x="2644775" y="415448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129054" name="Oval 29"/>
          <p:cNvSpPr>
            <a:spLocks noChangeArrowheads="1"/>
          </p:cNvSpPr>
          <p:nvPr/>
        </p:nvSpPr>
        <p:spPr bwMode="auto">
          <a:xfrm>
            <a:off x="3673475" y="40544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9055" name="Text Box 30"/>
          <p:cNvSpPr txBox="1">
            <a:spLocks noChangeArrowheads="1"/>
          </p:cNvSpPr>
          <p:nvPr/>
        </p:nvSpPr>
        <p:spPr bwMode="auto">
          <a:xfrm>
            <a:off x="3654425" y="41544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38</a:t>
            </a:r>
            <a:endParaRPr lang="en-US" altLang="en-US" sz="2400"/>
          </a:p>
        </p:txBody>
      </p:sp>
      <p:sp>
        <p:nvSpPr>
          <p:cNvPr id="129056" name="Oval 31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FF33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9057" name="Text Box 32"/>
          <p:cNvSpPr txBox="1">
            <a:spLocks noChangeArrowheads="1"/>
          </p:cNvSpPr>
          <p:nvPr/>
        </p:nvSpPr>
        <p:spPr bwMode="auto">
          <a:xfrm>
            <a:off x="5334000" y="304958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129058" name="Oval 33"/>
          <p:cNvSpPr>
            <a:spLocks noChangeArrowheads="1"/>
          </p:cNvSpPr>
          <p:nvPr/>
        </p:nvSpPr>
        <p:spPr bwMode="auto">
          <a:xfrm>
            <a:off x="4683125" y="406082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9059" name="Text Box 34"/>
          <p:cNvSpPr txBox="1">
            <a:spLocks noChangeArrowheads="1"/>
          </p:cNvSpPr>
          <p:nvPr/>
        </p:nvSpPr>
        <p:spPr bwMode="auto">
          <a:xfrm>
            <a:off x="4664075" y="415766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29060" name="Oval 35"/>
          <p:cNvSpPr>
            <a:spLocks noChangeArrowheads="1"/>
          </p:cNvSpPr>
          <p:nvPr/>
        </p:nvSpPr>
        <p:spPr bwMode="auto">
          <a:xfrm>
            <a:off x="5692775" y="40608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9061" name="Text Box 36"/>
          <p:cNvSpPr txBox="1">
            <a:spLocks noChangeArrowheads="1"/>
          </p:cNvSpPr>
          <p:nvPr/>
        </p:nvSpPr>
        <p:spPr bwMode="auto">
          <a:xfrm>
            <a:off x="5673725" y="41608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129062" name="Oval 37"/>
          <p:cNvSpPr>
            <a:spLocks noChangeArrowheads="1"/>
          </p:cNvSpPr>
          <p:nvPr/>
        </p:nvSpPr>
        <p:spPr bwMode="auto">
          <a:xfrm>
            <a:off x="67024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9063" name="Text Box 38"/>
          <p:cNvSpPr txBox="1">
            <a:spLocks noChangeArrowheads="1"/>
          </p:cNvSpPr>
          <p:nvPr/>
        </p:nvSpPr>
        <p:spPr bwMode="auto">
          <a:xfrm>
            <a:off x="6683375" y="415925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</a:t>
            </a:r>
            <a:endParaRPr lang="en-US" altLang="en-US" sz="2400"/>
          </a:p>
        </p:txBody>
      </p:sp>
      <p:sp>
        <p:nvSpPr>
          <p:cNvPr id="129064" name="Oval 39"/>
          <p:cNvSpPr>
            <a:spLocks noChangeArrowheads="1"/>
          </p:cNvSpPr>
          <p:nvPr/>
        </p:nvSpPr>
        <p:spPr bwMode="auto">
          <a:xfrm>
            <a:off x="77120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9065" name="Text Box 40"/>
          <p:cNvSpPr txBox="1">
            <a:spLocks noChangeArrowheads="1"/>
          </p:cNvSpPr>
          <p:nvPr/>
        </p:nvSpPr>
        <p:spPr bwMode="auto">
          <a:xfrm>
            <a:off x="76930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29066" name="Line 41"/>
          <p:cNvSpPr>
            <a:spLocks noChangeShapeType="1"/>
          </p:cNvSpPr>
          <p:nvPr/>
        </p:nvSpPr>
        <p:spPr bwMode="auto">
          <a:xfrm flipH="1">
            <a:off x="9810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9067" name="Line 42"/>
          <p:cNvSpPr>
            <a:spLocks noChangeShapeType="1"/>
          </p:cNvSpPr>
          <p:nvPr/>
        </p:nvSpPr>
        <p:spPr bwMode="auto">
          <a:xfrm>
            <a:off x="19907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9068" name="Line 43"/>
          <p:cNvSpPr>
            <a:spLocks noChangeShapeType="1"/>
          </p:cNvSpPr>
          <p:nvPr/>
        </p:nvSpPr>
        <p:spPr bwMode="auto">
          <a:xfrm flipH="1">
            <a:off x="30003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9069" name="Line 44"/>
          <p:cNvSpPr>
            <a:spLocks noChangeShapeType="1"/>
          </p:cNvSpPr>
          <p:nvPr/>
        </p:nvSpPr>
        <p:spPr bwMode="auto">
          <a:xfrm>
            <a:off x="40100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9070" name="Line 45"/>
          <p:cNvSpPr>
            <a:spLocks noChangeShapeType="1"/>
          </p:cNvSpPr>
          <p:nvPr/>
        </p:nvSpPr>
        <p:spPr bwMode="auto">
          <a:xfrm flipH="1">
            <a:off x="50196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9071" name="Line 46"/>
          <p:cNvSpPr>
            <a:spLocks noChangeShapeType="1"/>
          </p:cNvSpPr>
          <p:nvPr/>
        </p:nvSpPr>
        <p:spPr bwMode="auto">
          <a:xfrm>
            <a:off x="60293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9072" name="Line 47"/>
          <p:cNvSpPr>
            <a:spLocks noChangeShapeType="1"/>
          </p:cNvSpPr>
          <p:nvPr/>
        </p:nvSpPr>
        <p:spPr bwMode="auto">
          <a:xfrm flipH="1">
            <a:off x="70389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9073" name="Line 48"/>
          <p:cNvSpPr>
            <a:spLocks noChangeShapeType="1"/>
          </p:cNvSpPr>
          <p:nvPr/>
        </p:nvSpPr>
        <p:spPr bwMode="auto">
          <a:xfrm>
            <a:off x="80486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9074" name="Text Box 49"/>
          <p:cNvSpPr txBox="1">
            <a:spLocks noChangeArrowheads="1"/>
          </p:cNvSpPr>
          <p:nvPr/>
        </p:nvSpPr>
        <p:spPr bwMode="auto">
          <a:xfrm>
            <a:off x="4514850" y="1976438"/>
            <a:ext cx="6731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129075" name="Text Box 50"/>
          <p:cNvSpPr txBox="1">
            <a:spLocks noChangeArrowheads="1"/>
          </p:cNvSpPr>
          <p:nvPr/>
        </p:nvSpPr>
        <p:spPr bwMode="auto">
          <a:xfrm>
            <a:off x="24955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129076" name="Text Box 51"/>
          <p:cNvSpPr txBox="1">
            <a:spLocks noChangeArrowheads="1"/>
          </p:cNvSpPr>
          <p:nvPr/>
        </p:nvSpPr>
        <p:spPr bwMode="auto">
          <a:xfrm>
            <a:off x="65341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129077" name="Text Box 52"/>
          <p:cNvSpPr txBox="1">
            <a:spLocks noChangeArrowheads="1"/>
          </p:cNvSpPr>
          <p:nvPr/>
        </p:nvSpPr>
        <p:spPr bwMode="auto">
          <a:xfrm>
            <a:off x="14859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129078" name="Text Box 53"/>
          <p:cNvSpPr txBox="1">
            <a:spLocks noChangeArrowheads="1"/>
          </p:cNvSpPr>
          <p:nvPr/>
        </p:nvSpPr>
        <p:spPr bwMode="auto">
          <a:xfrm>
            <a:off x="35052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129079" name="Text Box 54"/>
          <p:cNvSpPr txBox="1">
            <a:spLocks noChangeArrowheads="1"/>
          </p:cNvSpPr>
          <p:nvPr/>
        </p:nvSpPr>
        <p:spPr bwMode="auto">
          <a:xfrm>
            <a:off x="55245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129080" name="Text Box 55"/>
          <p:cNvSpPr txBox="1">
            <a:spLocks noChangeArrowheads="1"/>
          </p:cNvSpPr>
          <p:nvPr/>
        </p:nvSpPr>
        <p:spPr bwMode="auto">
          <a:xfrm>
            <a:off x="75438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129081" name="Text Box 56"/>
          <p:cNvSpPr txBox="1">
            <a:spLocks noChangeArrowheads="1"/>
          </p:cNvSpPr>
          <p:nvPr/>
        </p:nvSpPr>
        <p:spPr bwMode="auto">
          <a:xfrm>
            <a:off x="8128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129082" name="Text Box 57"/>
          <p:cNvSpPr txBox="1">
            <a:spLocks noChangeArrowheads="1"/>
          </p:cNvSpPr>
          <p:nvPr/>
        </p:nvSpPr>
        <p:spPr bwMode="auto">
          <a:xfrm>
            <a:off x="182245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129083" name="Text Box 58"/>
          <p:cNvSpPr txBox="1">
            <a:spLocks noChangeArrowheads="1"/>
          </p:cNvSpPr>
          <p:nvPr/>
        </p:nvSpPr>
        <p:spPr bwMode="auto">
          <a:xfrm>
            <a:off x="28321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129084" name="Text Box 59"/>
          <p:cNvSpPr txBox="1">
            <a:spLocks noChangeArrowheads="1"/>
          </p:cNvSpPr>
          <p:nvPr/>
        </p:nvSpPr>
        <p:spPr bwMode="auto">
          <a:xfrm>
            <a:off x="36734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129085" name="Text Box 60"/>
          <p:cNvSpPr txBox="1">
            <a:spLocks noChangeArrowheads="1"/>
          </p:cNvSpPr>
          <p:nvPr/>
        </p:nvSpPr>
        <p:spPr bwMode="auto">
          <a:xfrm>
            <a:off x="46831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129086" name="Text Box 61"/>
          <p:cNvSpPr txBox="1">
            <a:spLocks noChangeArrowheads="1"/>
          </p:cNvSpPr>
          <p:nvPr/>
        </p:nvSpPr>
        <p:spPr bwMode="auto">
          <a:xfrm>
            <a:off x="56927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129087" name="Text Box 62"/>
          <p:cNvSpPr txBox="1">
            <a:spLocks noChangeArrowheads="1"/>
          </p:cNvSpPr>
          <p:nvPr/>
        </p:nvSpPr>
        <p:spPr bwMode="auto">
          <a:xfrm>
            <a:off x="67024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129088" name="Text Box 63"/>
          <p:cNvSpPr txBox="1">
            <a:spLocks noChangeArrowheads="1"/>
          </p:cNvSpPr>
          <p:nvPr/>
        </p:nvSpPr>
        <p:spPr bwMode="auto">
          <a:xfrm>
            <a:off x="77120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129089" name="Oval 64"/>
          <p:cNvSpPr>
            <a:spLocks noChangeArrowheads="1"/>
          </p:cNvSpPr>
          <p:nvPr/>
        </p:nvSpPr>
        <p:spPr bwMode="auto">
          <a:xfrm>
            <a:off x="476250" y="514032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9090" name="Text Box 65"/>
          <p:cNvSpPr txBox="1">
            <a:spLocks noChangeArrowheads="1"/>
          </p:cNvSpPr>
          <p:nvPr/>
        </p:nvSpPr>
        <p:spPr bwMode="auto">
          <a:xfrm>
            <a:off x="457200" y="52387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29091" name="Oval 66"/>
          <p:cNvSpPr>
            <a:spLocks noChangeArrowheads="1"/>
          </p:cNvSpPr>
          <p:nvPr/>
        </p:nvSpPr>
        <p:spPr bwMode="auto">
          <a:xfrm>
            <a:off x="1485900" y="513873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29092" name="Text Box 67"/>
          <p:cNvSpPr txBox="1">
            <a:spLocks noChangeArrowheads="1"/>
          </p:cNvSpPr>
          <p:nvPr/>
        </p:nvSpPr>
        <p:spPr bwMode="auto">
          <a:xfrm>
            <a:off x="1466850" y="5238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29093" name="Text Box 68"/>
          <p:cNvSpPr txBox="1">
            <a:spLocks noChangeArrowheads="1"/>
          </p:cNvSpPr>
          <p:nvPr/>
        </p:nvSpPr>
        <p:spPr bwMode="auto">
          <a:xfrm>
            <a:off x="148590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129094" name="Line 69"/>
          <p:cNvSpPr>
            <a:spLocks noChangeShapeType="1"/>
          </p:cNvSpPr>
          <p:nvPr/>
        </p:nvSpPr>
        <p:spPr bwMode="auto">
          <a:xfrm flipH="1">
            <a:off x="644525" y="467677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9095" name="Line 70"/>
          <p:cNvSpPr>
            <a:spLocks noChangeShapeType="1"/>
          </p:cNvSpPr>
          <p:nvPr/>
        </p:nvSpPr>
        <p:spPr bwMode="auto">
          <a:xfrm>
            <a:off x="1149350" y="467677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29096" name="Text Box 71"/>
          <p:cNvSpPr txBox="1">
            <a:spLocks noChangeArrowheads="1"/>
          </p:cNvSpPr>
          <p:nvPr/>
        </p:nvSpPr>
        <p:spPr bwMode="auto">
          <a:xfrm>
            <a:off x="47625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129097" name="Text Box 72"/>
          <p:cNvSpPr txBox="1">
            <a:spLocks noChangeArrowheads="1"/>
          </p:cNvSpPr>
          <p:nvPr/>
        </p:nvSpPr>
        <p:spPr bwMode="auto">
          <a:xfrm>
            <a:off x="3276600" y="3049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29098" name="Rectangle 73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Forming an Initial Heap (cont.)</a:t>
            </a: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0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0FFB3496-4AE3-4636-A6B5-0CC9F61A01DD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128</a:t>
            </a:fld>
            <a:endParaRPr lang="en-US" altLang="en-US" sz="1400"/>
          </a:p>
        </p:txBody>
      </p:sp>
      <p:sp>
        <p:nvSpPr>
          <p:cNvPr id="130051" name="Oval 2"/>
          <p:cNvSpPr>
            <a:spLocks noChangeArrowheads="1"/>
          </p:cNvSpPr>
          <p:nvPr/>
        </p:nvSpPr>
        <p:spPr bwMode="auto">
          <a:xfrm>
            <a:off x="23272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0052" name="Text Box 3"/>
          <p:cNvSpPr txBox="1">
            <a:spLocks noChangeArrowheads="1"/>
          </p:cNvSpPr>
          <p:nvPr/>
        </p:nvSpPr>
        <p:spPr bwMode="auto">
          <a:xfrm>
            <a:off x="23082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31</a:t>
            </a:r>
            <a:endParaRPr lang="en-US" altLang="en-US" sz="2400"/>
          </a:p>
        </p:txBody>
      </p:sp>
      <p:sp>
        <p:nvSpPr>
          <p:cNvPr id="130053" name="Oval 4"/>
          <p:cNvSpPr>
            <a:spLocks noChangeArrowheads="1"/>
          </p:cNvSpPr>
          <p:nvPr/>
        </p:nvSpPr>
        <p:spPr bwMode="auto">
          <a:xfrm>
            <a:off x="13176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0054" name="Text Box 5"/>
          <p:cNvSpPr txBox="1">
            <a:spLocks noChangeArrowheads="1"/>
          </p:cNvSpPr>
          <p:nvPr/>
        </p:nvSpPr>
        <p:spPr bwMode="auto">
          <a:xfrm>
            <a:off x="1298575" y="307975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30055" name="Oval 6"/>
          <p:cNvSpPr>
            <a:spLocks noChangeArrowheads="1"/>
          </p:cNvSpPr>
          <p:nvPr/>
        </p:nvSpPr>
        <p:spPr bwMode="auto">
          <a:xfrm>
            <a:off x="6445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0056" name="Text Box 7"/>
          <p:cNvSpPr txBox="1">
            <a:spLocks noChangeArrowheads="1"/>
          </p:cNvSpPr>
          <p:nvPr/>
        </p:nvSpPr>
        <p:spPr bwMode="auto">
          <a:xfrm>
            <a:off x="625475" y="4159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27</a:t>
            </a:r>
            <a:endParaRPr lang="en-US" altLang="en-US" sz="2400"/>
          </a:p>
        </p:txBody>
      </p:sp>
      <p:sp>
        <p:nvSpPr>
          <p:cNvPr id="130057" name="Text Box 8"/>
          <p:cNvSpPr txBox="1">
            <a:spLocks noChangeArrowheads="1"/>
          </p:cNvSpPr>
          <p:nvPr/>
        </p:nvSpPr>
        <p:spPr bwMode="auto">
          <a:xfrm>
            <a:off x="2057400" y="121285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130058" name="Oval 9"/>
          <p:cNvSpPr>
            <a:spLocks noChangeArrowheads="1"/>
          </p:cNvSpPr>
          <p:nvPr/>
        </p:nvSpPr>
        <p:spPr bwMode="auto">
          <a:xfrm>
            <a:off x="16541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0059" name="Text Box 10"/>
          <p:cNvSpPr txBox="1">
            <a:spLocks noChangeArrowheads="1"/>
          </p:cNvSpPr>
          <p:nvPr/>
        </p:nvSpPr>
        <p:spPr bwMode="auto">
          <a:xfrm>
            <a:off x="16351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12</a:t>
            </a:r>
            <a:endParaRPr lang="en-US" altLang="en-US" sz="2400"/>
          </a:p>
        </p:txBody>
      </p:sp>
      <p:sp>
        <p:nvSpPr>
          <p:cNvPr id="130060" name="Oval 11"/>
          <p:cNvSpPr>
            <a:spLocks noChangeArrowheads="1"/>
          </p:cNvSpPr>
          <p:nvPr/>
        </p:nvSpPr>
        <p:spPr bwMode="auto">
          <a:xfrm>
            <a:off x="4346575" y="14255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0061" name="Text Box 12"/>
          <p:cNvSpPr txBox="1">
            <a:spLocks noChangeArrowheads="1"/>
          </p:cNvSpPr>
          <p:nvPr/>
        </p:nvSpPr>
        <p:spPr bwMode="auto">
          <a:xfrm>
            <a:off x="4327525" y="1525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6</a:t>
            </a:r>
            <a:endParaRPr lang="en-US" altLang="en-US" sz="2400"/>
          </a:p>
        </p:txBody>
      </p:sp>
      <p:sp>
        <p:nvSpPr>
          <p:cNvPr id="130062" name="Line 13"/>
          <p:cNvSpPr>
            <a:spLocks noChangeShapeType="1"/>
          </p:cNvSpPr>
          <p:nvPr/>
        </p:nvSpPr>
        <p:spPr bwMode="auto">
          <a:xfrm>
            <a:off x="2832100" y="152082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0063" name="Oval 14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0064" name="Line 15"/>
          <p:cNvSpPr>
            <a:spLocks noChangeShapeType="1"/>
          </p:cNvSpPr>
          <p:nvPr/>
        </p:nvSpPr>
        <p:spPr bwMode="auto">
          <a:xfrm flipH="1">
            <a:off x="182245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0065" name="Line 16"/>
          <p:cNvSpPr>
            <a:spLocks noChangeShapeType="1"/>
          </p:cNvSpPr>
          <p:nvPr/>
        </p:nvSpPr>
        <p:spPr bwMode="auto">
          <a:xfrm>
            <a:off x="283210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0066" name="Oval 17"/>
          <p:cNvSpPr>
            <a:spLocks noChangeArrowheads="1"/>
          </p:cNvSpPr>
          <p:nvPr/>
        </p:nvSpPr>
        <p:spPr bwMode="auto">
          <a:xfrm>
            <a:off x="63658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0067" name="Text Box 18"/>
          <p:cNvSpPr txBox="1">
            <a:spLocks noChangeArrowheads="1"/>
          </p:cNvSpPr>
          <p:nvPr/>
        </p:nvSpPr>
        <p:spPr bwMode="auto">
          <a:xfrm>
            <a:off x="63468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30068" name="Oval 19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0069" name="Oval 20"/>
          <p:cNvSpPr>
            <a:spLocks noChangeArrowheads="1"/>
          </p:cNvSpPr>
          <p:nvPr/>
        </p:nvSpPr>
        <p:spPr bwMode="auto">
          <a:xfrm>
            <a:off x="73755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0070" name="Text Box 21"/>
          <p:cNvSpPr txBox="1">
            <a:spLocks noChangeArrowheads="1"/>
          </p:cNvSpPr>
          <p:nvPr/>
        </p:nvSpPr>
        <p:spPr bwMode="auto">
          <a:xfrm>
            <a:off x="7356475" y="3079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30071" name="Line 22"/>
          <p:cNvSpPr>
            <a:spLocks noChangeShapeType="1"/>
          </p:cNvSpPr>
          <p:nvPr/>
        </p:nvSpPr>
        <p:spPr bwMode="auto">
          <a:xfrm flipH="1">
            <a:off x="586105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0072" name="Line 23"/>
          <p:cNvSpPr>
            <a:spLocks noChangeShapeType="1"/>
          </p:cNvSpPr>
          <p:nvPr/>
        </p:nvSpPr>
        <p:spPr bwMode="auto">
          <a:xfrm>
            <a:off x="687070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0073" name="Line 24"/>
          <p:cNvSpPr>
            <a:spLocks noChangeShapeType="1"/>
          </p:cNvSpPr>
          <p:nvPr/>
        </p:nvSpPr>
        <p:spPr bwMode="auto">
          <a:xfrm flipH="1">
            <a:off x="3000375" y="1828800"/>
            <a:ext cx="1343025" cy="2270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0074" name="Line 25"/>
          <p:cNvSpPr>
            <a:spLocks noChangeShapeType="1"/>
          </p:cNvSpPr>
          <p:nvPr/>
        </p:nvSpPr>
        <p:spPr bwMode="auto">
          <a:xfrm>
            <a:off x="5029200" y="1752600"/>
            <a:ext cx="1371600" cy="3048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0075" name="Oval 26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FF33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0076" name="Oval 27"/>
          <p:cNvSpPr>
            <a:spLocks noChangeArrowheads="1"/>
          </p:cNvSpPr>
          <p:nvPr/>
        </p:nvSpPr>
        <p:spPr bwMode="auto">
          <a:xfrm>
            <a:off x="266382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0077" name="Text Box 28"/>
          <p:cNvSpPr txBox="1">
            <a:spLocks noChangeArrowheads="1"/>
          </p:cNvSpPr>
          <p:nvPr/>
        </p:nvSpPr>
        <p:spPr bwMode="auto">
          <a:xfrm>
            <a:off x="2644775" y="415448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30078" name="Oval 29"/>
          <p:cNvSpPr>
            <a:spLocks noChangeArrowheads="1"/>
          </p:cNvSpPr>
          <p:nvPr/>
        </p:nvSpPr>
        <p:spPr bwMode="auto">
          <a:xfrm>
            <a:off x="3673475" y="40544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0079" name="Text Box 30"/>
          <p:cNvSpPr txBox="1">
            <a:spLocks noChangeArrowheads="1"/>
          </p:cNvSpPr>
          <p:nvPr/>
        </p:nvSpPr>
        <p:spPr bwMode="auto">
          <a:xfrm>
            <a:off x="3654425" y="41544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38</a:t>
            </a:r>
            <a:endParaRPr lang="en-US" altLang="en-US" sz="2400"/>
          </a:p>
        </p:txBody>
      </p:sp>
      <p:sp>
        <p:nvSpPr>
          <p:cNvPr id="130080" name="Oval 31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0081" name="Text Box 32"/>
          <p:cNvSpPr txBox="1">
            <a:spLocks noChangeArrowheads="1"/>
          </p:cNvSpPr>
          <p:nvPr/>
        </p:nvSpPr>
        <p:spPr bwMode="auto">
          <a:xfrm>
            <a:off x="5334000" y="304958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130082" name="Oval 33"/>
          <p:cNvSpPr>
            <a:spLocks noChangeArrowheads="1"/>
          </p:cNvSpPr>
          <p:nvPr/>
        </p:nvSpPr>
        <p:spPr bwMode="auto">
          <a:xfrm>
            <a:off x="4683125" y="406082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0083" name="Text Box 34"/>
          <p:cNvSpPr txBox="1">
            <a:spLocks noChangeArrowheads="1"/>
          </p:cNvSpPr>
          <p:nvPr/>
        </p:nvSpPr>
        <p:spPr bwMode="auto">
          <a:xfrm>
            <a:off x="4664075" y="415766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30084" name="Oval 35"/>
          <p:cNvSpPr>
            <a:spLocks noChangeArrowheads="1"/>
          </p:cNvSpPr>
          <p:nvPr/>
        </p:nvSpPr>
        <p:spPr bwMode="auto">
          <a:xfrm>
            <a:off x="5692775" y="40608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0085" name="Text Box 36"/>
          <p:cNvSpPr txBox="1">
            <a:spLocks noChangeArrowheads="1"/>
          </p:cNvSpPr>
          <p:nvPr/>
        </p:nvSpPr>
        <p:spPr bwMode="auto">
          <a:xfrm>
            <a:off x="5673725" y="41608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130086" name="Oval 37"/>
          <p:cNvSpPr>
            <a:spLocks noChangeArrowheads="1"/>
          </p:cNvSpPr>
          <p:nvPr/>
        </p:nvSpPr>
        <p:spPr bwMode="auto">
          <a:xfrm>
            <a:off x="67024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0087" name="Text Box 38"/>
          <p:cNvSpPr txBox="1">
            <a:spLocks noChangeArrowheads="1"/>
          </p:cNvSpPr>
          <p:nvPr/>
        </p:nvSpPr>
        <p:spPr bwMode="auto">
          <a:xfrm>
            <a:off x="6683375" y="415925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</a:t>
            </a:r>
            <a:endParaRPr lang="en-US" altLang="en-US" sz="2400"/>
          </a:p>
        </p:txBody>
      </p:sp>
      <p:sp>
        <p:nvSpPr>
          <p:cNvPr id="130088" name="Oval 39"/>
          <p:cNvSpPr>
            <a:spLocks noChangeArrowheads="1"/>
          </p:cNvSpPr>
          <p:nvPr/>
        </p:nvSpPr>
        <p:spPr bwMode="auto">
          <a:xfrm>
            <a:off x="77120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0089" name="Text Box 40"/>
          <p:cNvSpPr txBox="1">
            <a:spLocks noChangeArrowheads="1"/>
          </p:cNvSpPr>
          <p:nvPr/>
        </p:nvSpPr>
        <p:spPr bwMode="auto">
          <a:xfrm>
            <a:off x="76930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30090" name="Line 41"/>
          <p:cNvSpPr>
            <a:spLocks noChangeShapeType="1"/>
          </p:cNvSpPr>
          <p:nvPr/>
        </p:nvSpPr>
        <p:spPr bwMode="auto">
          <a:xfrm flipH="1">
            <a:off x="9810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0091" name="Line 42"/>
          <p:cNvSpPr>
            <a:spLocks noChangeShapeType="1"/>
          </p:cNvSpPr>
          <p:nvPr/>
        </p:nvSpPr>
        <p:spPr bwMode="auto">
          <a:xfrm>
            <a:off x="19907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0092" name="Line 43"/>
          <p:cNvSpPr>
            <a:spLocks noChangeShapeType="1"/>
          </p:cNvSpPr>
          <p:nvPr/>
        </p:nvSpPr>
        <p:spPr bwMode="auto">
          <a:xfrm flipH="1">
            <a:off x="30003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0093" name="Line 44"/>
          <p:cNvSpPr>
            <a:spLocks noChangeShapeType="1"/>
          </p:cNvSpPr>
          <p:nvPr/>
        </p:nvSpPr>
        <p:spPr bwMode="auto">
          <a:xfrm>
            <a:off x="40100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0094" name="Line 45"/>
          <p:cNvSpPr>
            <a:spLocks noChangeShapeType="1"/>
          </p:cNvSpPr>
          <p:nvPr/>
        </p:nvSpPr>
        <p:spPr bwMode="auto">
          <a:xfrm flipH="1">
            <a:off x="50196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0095" name="Line 46"/>
          <p:cNvSpPr>
            <a:spLocks noChangeShapeType="1"/>
          </p:cNvSpPr>
          <p:nvPr/>
        </p:nvSpPr>
        <p:spPr bwMode="auto">
          <a:xfrm>
            <a:off x="60293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0096" name="Line 47"/>
          <p:cNvSpPr>
            <a:spLocks noChangeShapeType="1"/>
          </p:cNvSpPr>
          <p:nvPr/>
        </p:nvSpPr>
        <p:spPr bwMode="auto">
          <a:xfrm flipH="1">
            <a:off x="70389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0097" name="Line 48"/>
          <p:cNvSpPr>
            <a:spLocks noChangeShapeType="1"/>
          </p:cNvSpPr>
          <p:nvPr/>
        </p:nvSpPr>
        <p:spPr bwMode="auto">
          <a:xfrm>
            <a:off x="80486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0098" name="Text Box 49"/>
          <p:cNvSpPr txBox="1">
            <a:spLocks noChangeArrowheads="1"/>
          </p:cNvSpPr>
          <p:nvPr/>
        </p:nvSpPr>
        <p:spPr bwMode="auto">
          <a:xfrm>
            <a:off x="4514850" y="1976438"/>
            <a:ext cx="6731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130099" name="Text Box 50"/>
          <p:cNvSpPr txBox="1">
            <a:spLocks noChangeArrowheads="1"/>
          </p:cNvSpPr>
          <p:nvPr/>
        </p:nvSpPr>
        <p:spPr bwMode="auto">
          <a:xfrm>
            <a:off x="24955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130100" name="Text Box 51"/>
          <p:cNvSpPr txBox="1">
            <a:spLocks noChangeArrowheads="1"/>
          </p:cNvSpPr>
          <p:nvPr/>
        </p:nvSpPr>
        <p:spPr bwMode="auto">
          <a:xfrm>
            <a:off x="65341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130101" name="Text Box 52"/>
          <p:cNvSpPr txBox="1">
            <a:spLocks noChangeArrowheads="1"/>
          </p:cNvSpPr>
          <p:nvPr/>
        </p:nvSpPr>
        <p:spPr bwMode="auto">
          <a:xfrm>
            <a:off x="14859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130102" name="Text Box 53"/>
          <p:cNvSpPr txBox="1">
            <a:spLocks noChangeArrowheads="1"/>
          </p:cNvSpPr>
          <p:nvPr/>
        </p:nvSpPr>
        <p:spPr bwMode="auto">
          <a:xfrm>
            <a:off x="35052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130103" name="Text Box 54"/>
          <p:cNvSpPr txBox="1">
            <a:spLocks noChangeArrowheads="1"/>
          </p:cNvSpPr>
          <p:nvPr/>
        </p:nvSpPr>
        <p:spPr bwMode="auto">
          <a:xfrm>
            <a:off x="55245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130104" name="Text Box 55"/>
          <p:cNvSpPr txBox="1">
            <a:spLocks noChangeArrowheads="1"/>
          </p:cNvSpPr>
          <p:nvPr/>
        </p:nvSpPr>
        <p:spPr bwMode="auto">
          <a:xfrm>
            <a:off x="75438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130105" name="Text Box 56"/>
          <p:cNvSpPr txBox="1">
            <a:spLocks noChangeArrowheads="1"/>
          </p:cNvSpPr>
          <p:nvPr/>
        </p:nvSpPr>
        <p:spPr bwMode="auto">
          <a:xfrm>
            <a:off x="8128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130106" name="Text Box 57"/>
          <p:cNvSpPr txBox="1">
            <a:spLocks noChangeArrowheads="1"/>
          </p:cNvSpPr>
          <p:nvPr/>
        </p:nvSpPr>
        <p:spPr bwMode="auto">
          <a:xfrm>
            <a:off x="182245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130107" name="Text Box 58"/>
          <p:cNvSpPr txBox="1">
            <a:spLocks noChangeArrowheads="1"/>
          </p:cNvSpPr>
          <p:nvPr/>
        </p:nvSpPr>
        <p:spPr bwMode="auto">
          <a:xfrm>
            <a:off x="28321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130108" name="Text Box 59"/>
          <p:cNvSpPr txBox="1">
            <a:spLocks noChangeArrowheads="1"/>
          </p:cNvSpPr>
          <p:nvPr/>
        </p:nvSpPr>
        <p:spPr bwMode="auto">
          <a:xfrm>
            <a:off x="36734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130109" name="Text Box 60"/>
          <p:cNvSpPr txBox="1">
            <a:spLocks noChangeArrowheads="1"/>
          </p:cNvSpPr>
          <p:nvPr/>
        </p:nvSpPr>
        <p:spPr bwMode="auto">
          <a:xfrm>
            <a:off x="46831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130110" name="Text Box 61"/>
          <p:cNvSpPr txBox="1">
            <a:spLocks noChangeArrowheads="1"/>
          </p:cNvSpPr>
          <p:nvPr/>
        </p:nvSpPr>
        <p:spPr bwMode="auto">
          <a:xfrm>
            <a:off x="56927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130111" name="Text Box 62"/>
          <p:cNvSpPr txBox="1">
            <a:spLocks noChangeArrowheads="1"/>
          </p:cNvSpPr>
          <p:nvPr/>
        </p:nvSpPr>
        <p:spPr bwMode="auto">
          <a:xfrm>
            <a:off x="67024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130112" name="Text Box 63"/>
          <p:cNvSpPr txBox="1">
            <a:spLocks noChangeArrowheads="1"/>
          </p:cNvSpPr>
          <p:nvPr/>
        </p:nvSpPr>
        <p:spPr bwMode="auto">
          <a:xfrm>
            <a:off x="77120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130113" name="Oval 64"/>
          <p:cNvSpPr>
            <a:spLocks noChangeArrowheads="1"/>
          </p:cNvSpPr>
          <p:nvPr/>
        </p:nvSpPr>
        <p:spPr bwMode="auto">
          <a:xfrm>
            <a:off x="476250" y="514032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0114" name="Text Box 65"/>
          <p:cNvSpPr txBox="1">
            <a:spLocks noChangeArrowheads="1"/>
          </p:cNvSpPr>
          <p:nvPr/>
        </p:nvSpPr>
        <p:spPr bwMode="auto">
          <a:xfrm>
            <a:off x="457200" y="52387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30115" name="Oval 66"/>
          <p:cNvSpPr>
            <a:spLocks noChangeArrowheads="1"/>
          </p:cNvSpPr>
          <p:nvPr/>
        </p:nvSpPr>
        <p:spPr bwMode="auto">
          <a:xfrm>
            <a:off x="1485900" y="513873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0116" name="Text Box 67"/>
          <p:cNvSpPr txBox="1">
            <a:spLocks noChangeArrowheads="1"/>
          </p:cNvSpPr>
          <p:nvPr/>
        </p:nvSpPr>
        <p:spPr bwMode="auto">
          <a:xfrm>
            <a:off x="1466850" y="5238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30117" name="Text Box 68"/>
          <p:cNvSpPr txBox="1">
            <a:spLocks noChangeArrowheads="1"/>
          </p:cNvSpPr>
          <p:nvPr/>
        </p:nvSpPr>
        <p:spPr bwMode="auto">
          <a:xfrm>
            <a:off x="148590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130118" name="Line 69"/>
          <p:cNvSpPr>
            <a:spLocks noChangeShapeType="1"/>
          </p:cNvSpPr>
          <p:nvPr/>
        </p:nvSpPr>
        <p:spPr bwMode="auto">
          <a:xfrm flipH="1">
            <a:off x="644525" y="467677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0119" name="Line 70"/>
          <p:cNvSpPr>
            <a:spLocks noChangeShapeType="1"/>
          </p:cNvSpPr>
          <p:nvPr/>
        </p:nvSpPr>
        <p:spPr bwMode="auto">
          <a:xfrm>
            <a:off x="1149350" y="467677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0120" name="Text Box 71"/>
          <p:cNvSpPr txBox="1">
            <a:spLocks noChangeArrowheads="1"/>
          </p:cNvSpPr>
          <p:nvPr/>
        </p:nvSpPr>
        <p:spPr bwMode="auto">
          <a:xfrm>
            <a:off x="47625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130121" name="Text Box 72"/>
          <p:cNvSpPr txBox="1">
            <a:spLocks noChangeArrowheads="1"/>
          </p:cNvSpPr>
          <p:nvPr/>
        </p:nvSpPr>
        <p:spPr bwMode="auto">
          <a:xfrm>
            <a:off x="3276600" y="3049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130122" name="Rectangle 73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Forming an Initial Heap (cont.)</a:t>
            </a: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3D44A5F0-AEC0-45FE-9D12-A642975EEBA5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129</a:t>
            </a:fld>
            <a:endParaRPr lang="en-US" altLang="en-US" sz="1400"/>
          </a:p>
        </p:txBody>
      </p:sp>
      <p:sp>
        <p:nvSpPr>
          <p:cNvPr id="131075" name="Oval 2"/>
          <p:cNvSpPr>
            <a:spLocks noChangeArrowheads="1"/>
          </p:cNvSpPr>
          <p:nvPr/>
        </p:nvSpPr>
        <p:spPr bwMode="auto">
          <a:xfrm>
            <a:off x="23272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1076" name="Text Box 3"/>
          <p:cNvSpPr txBox="1">
            <a:spLocks noChangeArrowheads="1"/>
          </p:cNvSpPr>
          <p:nvPr/>
        </p:nvSpPr>
        <p:spPr bwMode="auto">
          <a:xfrm>
            <a:off x="23082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31</a:t>
            </a:r>
            <a:endParaRPr lang="en-US" altLang="en-US" sz="2400"/>
          </a:p>
        </p:txBody>
      </p:sp>
      <p:sp>
        <p:nvSpPr>
          <p:cNvPr id="131077" name="Oval 4"/>
          <p:cNvSpPr>
            <a:spLocks noChangeArrowheads="1"/>
          </p:cNvSpPr>
          <p:nvPr/>
        </p:nvSpPr>
        <p:spPr bwMode="auto">
          <a:xfrm>
            <a:off x="13176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FF33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1078" name="Text Box 5"/>
          <p:cNvSpPr txBox="1">
            <a:spLocks noChangeArrowheads="1"/>
          </p:cNvSpPr>
          <p:nvPr/>
        </p:nvSpPr>
        <p:spPr bwMode="auto">
          <a:xfrm>
            <a:off x="1298575" y="307975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31079" name="Oval 6"/>
          <p:cNvSpPr>
            <a:spLocks noChangeArrowheads="1"/>
          </p:cNvSpPr>
          <p:nvPr/>
        </p:nvSpPr>
        <p:spPr bwMode="auto">
          <a:xfrm>
            <a:off x="6445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1080" name="Text Box 7"/>
          <p:cNvSpPr txBox="1">
            <a:spLocks noChangeArrowheads="1"/>
          </p:cNvSpPr>
          <p:nvPr/>
        </p:nvSpPr>
        <p:spPr bwMode="auto">
          <a:xfrm>
            <a:off x="625475" y="4159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27</a:t>
            </a:r>
            <a:endParaRPr lang="en-US" altLang="en-US" sz="2400"/>
          </a:p>
        </p:txBody>
      </p:sp>
      <p:sp>
        <p:nvSpPr>
          <p:cNvPr id="131081" name="Text Box 8"/>
          <p:cNvSpPr txBox="1">
            <a:spLocks noChangeArrowheads="1"/>
          </p:cNvSpPr>
          <p:nvPr/>
        </p:nvSpPr>
        <p:spPr bwMode="auto">
          <a:xfrm>
            <a:off x="2057400" y="121285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131082" name="Oval 9"/>
          <p:cNvSpPr>
            <a:spLocks noChangeArrowheads="1"/>
          </p:cNvSpPr>
          <p:nvPr/>
        </p:nvSpPr>
        <p:spPr bwMode="auto">
          <a:xfrm>
            <a:off x="16541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1083" name="Text Box 10"/>
          <p:cNvSpPr txBox="1">
            <a:spLocks noChangeArrowheads="1"/>
          </p:cNvSpPr>
          <p:nvPr/>
        </p:nvSpPr>
        <p:spPr bwMode="auto">
          <a:xfrm>
            <a:off x="16351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12</a:t>
            </a:r>
            <a:endParaRPr lang="en-US" altLang="en-US" sz="2400"/>
          </a:p>
        </p:txBody>
      </p:sp>
      <p:sp>
        <p:nvSpPr>
          <p:cNvPr id="131084" name="Oval 11"/>
          <p:cNvSpPr>
            <a:spLocks noChangeArrowheads="1"/>
          </p:cNvSpPr>
          <p:nvPr/>
        </p:nvSpPr>
        <p:spPr bwMode="auto">
          <a:xfrm>
            <a:off x="4346575" y="14255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1085" name="Text Box 12"/>
          <p:cNvSpPr txBox="1">
            <a:spLocks noChangeArrowheads="1"/>
          </p:cNvSpPr>
          <p:nvPr/>
        </p:nvSpPr>
        <p:spPr bwMode="auto">
          <a:xfrm>
            <a:off x="4327525" y="1525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6</a:t>
            </a:r>
            <a:endParaRPr lang="en-US" altLang="en-US" sz="2400"/>
          </a:p>
        </p:txBody>
      </p:sp>
      <p:sp>
        <p:nvSpPr>
          <p:cNvPr id="131086" name="Line 13"/>
          <p:cNvSpPr>
            <a:spLocks noChangeShapeType="1"/>
          </p:cNvSpPr>
          <p:nvPr/>
        </p:nvSpPr>
        <p:spPr bwMode="auto">
          <a:xfrm>
            <a:off x="2832100" y="152082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1087" name="Oval 14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1088" name="Line 15"/>
          <p:cNvSpPr>
            <a:spLocks noChangeShapeType="1"/>
          </p:cNvSpPr>
          <p:nvPr/>
        </p:nvSpPr>
        <p:spPr bwMode="auto">
          <a:xfrm flipH="1">
            <a:off x="182245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1089" name="Line 16"/>
          <p:cNvSpPr>
            <a:spLocks noChangeShapeType="1"/>
          </p:cNvSpPr>
          <p:nvPr/>
        </p:nvSpPr>
        <p:spPr bwMode="auto">
          <a:xfrm>
            <a:off x="283210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1090" name="Oval 17"/>
          <p:cNvSpPr>
            <a:spLocks noChangeArrowheads="1"/>
          </p:cNvSpPr>
          <p:nvPr/>
        </p:nvSpPr>
        <p:spPr bwMode="auto">
          <a:xfrm>
            <a:off x="63658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1091" name="Text Box 18"/>
          <p:cNvSpPr txBox="1">
            <a:spLocks noChangeArrowheads="1"/>
          </p:cNvSpPr>
          <p:nvPr/>
        </p:nvSpPr>
        <p:spPr bwMode="auto">
          <a:xfrm>
            <a:off x="63468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31092" name="Oval 19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1093" name="Oval 20"/>
          <p:cNvSpPr>
            <a:spLocks noChangeArrowheads="1"/>
          </p:cNvSpPr>
          <p:nvPr/>
        </p:nvSpPr>
        <p:spPr bwMode="auto">
          <a:xfrm>
            <a:off x="73755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1094" name="Text Box 21"/>
          <p:cNvSpPr txBox="1">
            <a:spLocks noChangeArrowheads="1"/>
          </p:cNvSpPr>
          <p:nvPr/>
        </p:nvSpPr>
        <p:spPr bwMode="auto">
          <a:xfrm>
            <a:off x="7356475" y="3079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31095" name="Line 22"/>
          <p:cNvSpPr>
            <a:spLocks noChangeShapeType="1"/>
          </p:cNvSpPr>
          <p:nvPr/>
        </p:nvSpPr>
        <p:spPr bwMode="auto">
          <a:xfrm flipH="1">
            <a:off x="586105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1096" name="Line 23"/>
          <p:cNvSpPr>
            <a:spLocks noChangeShapeType="1"/>
          </p:cNvSpPr>
          <p:nvPr/>
        </p:nvSpPr>
        <p:spPr bwMode="auto">
          <a:xfrm>
            <a:off x="687070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1097" name="Line 24"/>
          <p:cNvSpPr>
            <a:spLocks noChangeShapeType="1"/>
          </p:cNvSpPr>
          <p:nvPr/>
        </p:nvSpPr>
        <p:spPr bwMode="auto">
          <a:xfrm flipH="1">
            <a:off x="3000375" y="1828800"/>
            <a:ext cx="1343025" cy="2270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1098" name="Line 25"/>
          <p:cNvSpPr>
            <a:spLocks noChangeShapeType="1"/>
          </p:cNvSpPr>
          <p:nvPr/>
        </p:nvSpPr>
        <p:spPr bwMode="auto">
          <a:xfrm>
            <a:off x="5029200" y="1752600"/>
            <a:ext cx="1371600" cy="3048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1099" name="Oval 26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1100" name="Oval 27"/>
          <p:cNvSpPr>
            <a:spLocks noChangeArrowheads="1"/>
          </p:cNvSpPr>
          <p:nvPr/>
        </p:nvSpPr>
        <p:spPr bwMode="auto">
          <a:xfrm>
            <a:off x="266382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1101" name="Text Box 28"/>
          <p:cNvSpPr txBox="1">
            <a:spLocks noChangeArrowheads="1"/>
          </p:cNvSpPr>
          <p:nvPr/>
        </p:nvSpPr>
        <p:spPr bwMode="auto">
          <a:xfrm>
            <a:off x="2644775" y="415448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31102" name="Oval 29"/>
          <p:cNvSpPr>
            <a:spLocks noChangeArrowheads="1"/>
          </p:cNvSpPr>
          <p:nvPr/>
        </p:nvSpPr>
        <p:spPr bwMode="auto">
          <a:xfrm>
            <a:off x="3673475" y="40544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1103" name="Text Box 30"/>
          <p:cNvSpPr txBox="1">
            <a:spLocks noChangeArrowheads="1"/>
          </p:cNvSpPr>
          <p:nvPr/>
        </p:nvSpPr>
        <p:spPr bwMode="auto">
          <a:xfrm>
            <a:off x="3654425" y="41544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38</a:t>
            </a:r>
            <a:endParaRPr lang="en-US" altLang="en-US" sz="2400"/>
          </a:p>
        </p:txBody>
      </p:sp>
      <p:sp>
        <p:nvSpPr>
          <p:cNvPr id="131104" name="Oval 31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1105" name="Text Box 32"/>
          <p:cNvSpPr txBox="1">
            <a:spLocks noChangeArrowheads="1"/>
          </p:cNvSpPr>
          <p:nvPr/>
        </p:nvSpPr>
        <p:spPr bwMode="auto">
          <a:xfrm>
            <a:off x="5334000" y="304958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131106" name="Oval 33"/>
          <p:cNvSpPr>
            <a:spLocks noChangeArrowheads="1"/>
          </p:cNvSpPr>
          <p:nvPr/>
        </p:nvSpPr>
        <p:spPr bwMode="auto">
          <a:xfrm>
            <a:off x="4683125" y="406082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1107" name="Text Box 34"/>
          <p:cNvSpPr txBox="1">
            <a:spLocks noChangeArrowheads="1"/>
          </p:cNvSpPr>
          <p:nvPr/>
        </p:nvSpPr>
        <p:spPr bwMode="auto">
          <a:xfrm>
            <a:off x="4664075" y="415766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31108" name="Oval 35"/>
          <p:cNvSpPr>
            <a:spLocks noChangeArrowheads="1"/>
          </p:cNvSpPr>
          <p:nvPr/>
        </p:nvSpPr>
        <p:spPr bwMode="auto">
          <a:xfrm>
            <a:off x="5692775" y="40608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1109" name="Text Box 36"/>
          <p:cNvSpPr txBox="1">
            <a:spLocks noChangeArrowheads="1"/>
          </p:cNvSpPr>
          <p:nvPr/>
        </p:nvSpPr>
        <p:spPr bwMode="auto">
          <a:xfrm>
            <a:off x="5673725" y="41608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131110" name="Oval 37"/>
          <p:cNvSpPr>
            <a:spLocks noChangeArrowheads="1"/>
          </p:cNvSpPr>
          <p:nvPr/>
        </p:nvSpPr>
        <p:spPr bwMode="auto">
          <a:xfrm>
            <a:off x="67024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1111" name="Text Box 38"/>
          <p:cNvSpPr txBox="1">
            <a:spLocks noChangeArrowheads="1"/>
          </p:cNvSpPr>
          <p:nvPr/>
        </p:nvSpPr>
        <p:spPr bwMode="auto">
          <a:xfrm>
            <a:off x="6683375" y="415925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</a:t>
            </a:r>
            <a:endParaRPr lang="en-US" altLang="en-US" sz="2400"/>
          </a:p>
        </p:txBody>
      </p:sp>
      <p:sp>
        <p:nvSpPr>
          <p:cNvPr id="131112" name="Oval 39"/>
          <p:cNvSpPr>
            <a:spLocks noChangeArrowheads="1"/>
          </p:cNvSpPr>
          <p:nvPr/>
        </p:nvSpPr>
        <p:spPr bwMode="auto">
          <a:xfrm>
            <a:off x="77120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1113" name="Text Box 40"/>
          <p:cNvSpPr txBox="1">
            <a:spLocks noChangeArrowheads="1"/>
          </p:cNvSpPr>
          <p:nvPr/>
        </p:nvSpPr>
        <p:spPr bwMode="auto">
          <a:xfrm>
            <a:off x="76930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31114" name="Line 41"/>
          <p:cNvSpPr>
            <a:spLocks noChangeShapeType="1"/>
          </p:cNvSpPr>
          <p:nvPr/>
        </p:nvSpPr>
        <p:spPr bwMode="auto">
          <a:xfrm flipH="1">
            <a:off x="9810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1115" name="Line 42"/>
          <p:cNvSpPr>
            <a:spLocks noChangeShapeType="1"/>
          </p:cNvSpPr>
          <p:nvPr/>
        </p:nvSpPr>
        <p:spPr bwMode="auto">
          <a:xfrm>
            <a:off x="19907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1116" name="Line 43"/>
          <p:cNvSpPr>
            <a:spLocks noChangeShapeType="1"/>
          </p:cNvSpPr>
          <p:nvPr/>
        </p:nvSpPr>
        <p:spPr bwMode="auto">
          <a:xfrm flipH="1">
            <a:off x="30003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1117" name="Line 44"/>
          <p:cNvSpPr>
            <a:spLocks noChangeShapeType="1"/>
          </p:cNvSpPr>
          <p:nvPr/>
        </p:nvSpPr>
        <p:spPr bwMode="auto">
          <a:xfrm>
            <a:off x="40100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1118" name="Line 45"/>
          <p:cNvSpPr>
            <a:spLocks noChangeShapeType="1"/>
          </p:cNvSpPr>
          <p:nvPr/>
        </p:nvSpPr>
        <p:spPr bwMode="auto">
          <a:xfrm flipH="1">
            <a:off x="50196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1119" name="Line 46"/>
          <p:cNvSpPr>
            <a:spLocks noChangeShapeType="1"/>
          </p:cNvSpPr>
          <p:nvPr/>
        </p:nvSpPr>
        <p:spPr bwMode="auto">
          <a:xfrm>
            <a:off x="60293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1120" name="Line 47"/>
          <p:cNvSpPr>
            <a:spLocks noChangeShapeType="1"/>
          </p:cNvSpPr>
          <p:nvPr/>
        </p:nvSpPr>
        <p:spPr bwMode="auto">
          <a:xfrm flipH="1">
            <a:off x="70389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1121" name="Line 48"/>
          <p:cNvSpPr>
            <a:spLocks noChangeShapeType="1"/>
          </p:cNvSpPr>
          <p:nvPr/>
        </p:nvSpPr>
        <p:spPr bwMode="auto">
          <a:xfrm>
            <a:off x="80486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1122" name="Text Box 49"/>
          <p:cNvSpPr txBox="1">
            <a:spLocks noChangeArrowheads="1"/>
          </p:cNvSpPr>
          <p:nvPr/>
        </p:nvSpPr>
        <p:spPr bwMode="auto">
          <a:xfrm>
            <a:off x="4514850" y="1976438"/>
            <a:ext cx="6731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131123" name="Text Box 50"/>
          <p:cNvSpPr txBox="1">
            <a:spLocks noChangeArrowheads="1"/>
          </p:cNvSpPr>
          <p:nvPr/>
        </p:nvSpPr>
        <p:spPr bwMode="auto">
          <a:xfrm>
            <a:off x="24955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131124" name="Text Box 51"/>
          <p:cNvSpPr txBox="1">
            <a:spLocks noChangeArrowheads="1"/>
          </p:cNvSpPr>
          <p:nvPr/>
        </p:nvSpPr>
        <p:spPr bwMode="auto">
          <a:xfrm>
            <a:off x="65341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131125" name="Text Box 52"/>
          <p:cNvSpPr txBox="1">
            <a:spLocks noChangeArrowheads="1"/>
          </p:cNvSpPr>
          <p:nvPr/>
        </p:nvSpPr>
        <p:spPr bwMode="auto">
          <a:xfrm>
            <a:off x="14859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131126" name="Text Box 53"/>
          <p:cNvSpPr txBox="1">
            <a:spLocks noChangeArrowheads="1"/>
          </p:cNvSpPr>
          <p:nvPr/>
        </p:nvSpPr>
        <p:spPr bwMode="auto">
          <a:xfrm>
            <a:off x="35052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131127" name="Text Box 54"/>
          <p:cNvSpPr txBox="1">
            <a:spLocks noChangeArrowheads="1"/>
          </p:cNvSpPr>
          <p:nvPr/>
        </p:nvSpPr>
        <p:spPr bwMode="auto">
          <a:xfrm>
            <a:off x="55245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131128" name="Text Box 55"/>
          <p:cNvSpPr txBox="1">
            <a:spLocks noChangeArrowheads="1"/>
          </p:cNvSpPr>
          <p:nvPr/>
        </p:nvSpPr>
        <p:spPr bwMode="auto">
          <a:xfrm>
            <a:off x="75438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131129" name="Text Box 56"/>
          <p:cNvSpPr txBox="1">
            <a:spLocks noChangeArrowheads="1"/>
          </p:cNvSpPr>
          <p:nvPr/>
        </p:nvSpPr>
        <p:spPr bwMode="auto">
          <a:xfrm>
            <a:off x="8128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131130" name="Text Box 57"/>
          <p:cNvSpPr txBox="1">
            <a:spLocks noChangeArrowheads="1"/>
          </p:cNvSpPr>
          <p:nvPr/>
        </p:nvSpPr>
        <p:spPr bwMode="auto">
          <a:xfrm>
            <a:off x="182245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131131" name="Text Box 58"/>
          <p:cNvSpPr txBox="1">
            <a:spLocks noChangeArrowheads="1"/>
          </p:cNvSpPr>
          <p:nvPr/>
        </p:nvSpPr>
        <p:spPr bwMode="auto">
          <a:xfrm>
            <a:off x="28321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131132" name="Text Box 59"/>
          <p:cNvSpPr txBox="1">
            <a:spLocks noChangeArrowheads="1"/>
          </p:cNvSpPr>
          <p:nvPr/>
        </p:nvSpPr>
        <p:spPr bwMode="auto">
          <a:xfrm>
            <a:off x="36734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131133" name="Text Box 60"/>
          <p:cNvSpPr txBox="1">
            <a:spLocks noChangeArrowheads="1"/>
          </p:cNvSpPr>
          <p:nvPr/>
        </p:nvSpPr>
        <p:spPr bwMode="auto">
          <a:xfrm>
            <a:off x="46831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131134" name="Text Box 61"/>
          <p:cNvSpPr txBox="1">
            <a:spLocks noChangeArrowheads="1"/>
          </p:cNvSpPr>
          <p:nvPr/>
        </p:nvSpPr>
        <p:spPr bwMode="auto">
          <a:xfrm>
            <a:off x="56927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131135" name="Text Box 62"/>
          <p:cNvSpPr txBox="1">
            <a:spLocks noChangeArrowheads="1"/>
          </p:cNvSpPr>
          <p:nvPr/>
        </p:nvSpPr>
        <p:spPr bwMode="auto">
          <a:xfrm>
            <a:off x="67024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131136" name="Text Box 63"/>
          <p:cNvSpPr txBox="1">
            <a:spLocks noChangeArrowheads="1"/>
          </p:cNvSpPr>
          <p:nvPr/>
        </p:nvSpPr>
        <p:spPr bwMode="auto">
          <a:xfrm>
            <a:off x="77120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131137" name="Oval 64"/>
          <p:cNvSpPr>
            <a:spLocks noChangeArrowheads="1"/>
          </p:cNvSpPr>
          <p:nvPr/>
        </p:nvSpPr>
        <p:spPr bwMode="auto">
          <a:xfrm>
            <a:off x="476250" y="514032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1138" name="Text Box 65"/>
          <p:cNvSpPr txBox="1">
            <a:spLocks noChangeArrowheads="1"/>
          </p:cNvSpPr>
          <p:nvPr/>
        </p:nvSpPr>
        <p:spPr bwMode="auto">
          <a:xfrm>
            <a:off x="457200" y="52387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31139" name="Oval 66"/>
          <p:cNvSpPr>
            <a:spLocks noChangeArrowheads="1"/>
          </p:cNvSpPr>
          <p:nvPr/>
        </p:nvSpPr>
        <p:spPr bwMode="auto">
          <a:xfrm>
            <a:off x="1485900" y="513873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1140" name="Text Box 67"/>
          <p:cNvSpPr txBox="1">
            <a:spLocks noChangeArrowheads="1"/>
          </p:cNvSpPr>
          <p:nvPr/>
        </p:nvSpPr>
        <p:spPr bwMode="auto">
          <a:xfrm>
            <a:off x="1466850" y="5238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31141" name="Text Box 68"/>
          <p:cNvSpPr txBox="1">
            <a:spLocks noChangeArrowheads="1"/>
          </p:cNvSpPr>
          <p:nvPr/>
        </p:nvSpPr>
        <p:spPr bwMode="auto">
          <a:xfrm>
            <a:off x="148590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131142" name="Line 69"/>
          <p:cNvSpPr>
            <a:spLocks noChangeShapeType="1"/>
          </p:cNvSpPr>
          <p:nvPr/>
        </p:nvSpPr>
        <p:spPr bwMode="auto">
          <a:xfrm flipH="1">
            <a:off x="644525" y="467677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1143" name="Line 70"/>
          <p:cNvSpPr>
            <a:spLocks noChangeShapeType="1"/>
          </p:cNvSpPr>
          <p:nvPr/>
        </p:nvSpPr>
        <p:spPr bwMode="auto">
          <a:xfrm>
            <a:off x="1149350" y="467677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1144" name="Text Box 71"/>
          <p:cNvSpPr txBox="1">
            <a:spLocks noChangeArrowheads="1"/>
          </p:cNvSpPr>
          <p:nvPr/>
        </p:nvSpPr>
        <p:spPr bwMode="auto">
          <a:xfrm>
            <a:off x="47625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131145" name="Text Box 72"/>
          <p:cNvSpPr txBox="1">
            <a:spLocks noChangeArrowheads="1"/>
          </p:cNvSpPr>
          <p:nvPr/>
        </p:nvSpPr>
        <p:spPr bwMode="auto">
          <a:xfrm>
            <a:off x="3276600" y="3049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131146" name="Rectangle 73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Forming an Initial Heap (cont.)</a:t>
            </a:r>
          </a:p>
        </p:txBody>
      </p:sp>
      <p:sp>
        <p:nvSpPr>
          <p:cNvPr id="131147" name="Text Box 74"/>
          <p:cNvSpPr txBox="1">
            <a:spLocks noChangeArrowheads="1"/>
          </p:cNvSpPr>
          <p:nvPr/>
        </p:nvSpPr>
        <p:spPr bwMode="auto">
          <a:xfrm>
            <a:off x="2590800" y="5410200"/>
            <a:ext cx="2362200" cy="466725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already a heap</a:t>
            </a: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8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64F7723C-05F0-4331-B395-39AA3E3C1509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130</a:t>
            </a:fld>
            <a:endParaRPr lang="en-US" altLang="en-US" sz="1400"/>
          </a:p>
        </p:txBody>
      </p:sp>
      <p:sp>
        <p:nvSpPr>
          <p:cNvPr id="132099" name="Oval 2"/>
          <p:cNvSpPr>
            <a:spLocks noChangeArrowheads="1"/>
          </p:cNvSpPr>
          <p:nvPr/>
        </p:nvSpPr>
        <p:spPr bwMode="auto">
          <a:xfrm>
            <a:off x="23272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2100" name="Text Box 3"/>
          <p:cNvSpPr txBox="1">
            <a:spLocks noChangeArrowheads="1"/>
          </p:cNvSpPr>
          <p:nvPr/>
        </p:nvSpPr>
        <p:spPr bwMode="auto">
          <a:xfrm>
            <a:off x="23082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31</a:t>
            </a:r>
            <a:endParaRPr lang="en-US" altLang="en-US" sz="2400"/>
          </a:p>
        </p:txBody>
      </p:sp>
      <p:sp>
        <p:nvSpPr>
          <p:cNvPr id="132101" name="Oval 4"/>
          <p:cNvSpPr>
            <a:spLocks noChangeArrowheads="1"/>
          </p:cNvSpPr>
          <p:nvPr/>
        </p:nvSpPr>
        <p:spPr bwMode="auto">
          <a:xfrm>
            <a:off x="13176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2102" name="Text Box 5"/>
          <p:cNvSpPr txBox="1">
            <a:spLocks noChangeArrowheads="1"/>
          </p:cNvSpPr>
          <p:nvPr/>
        </p:nvSpPr>
        <p:spPr bwMode="auto">
          <a:xfrm>
            <a:off x="1298575" y="307975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32103" name="Oval 6"/>
          <p:cNvSpPr>
            <a:spLocks noChangeArrowheads="1"/>
          </p:cNvSpPr>
          <p:nvPr/>
        </p:nvSpPr>
        <p:spPr bwMode="auto">
          <a:xfrm>
            <a:off x="6445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2104" name="Text Box 7"/>
          <p:cNvSpPr txBox="1">
            <a:spLocks noChangeArrowheads="1"/>
          </p:cNvSpPr>
          <p:nvPr/>
        </p:nvSpPr>
        <p:spPr bwMode="auto">
          <a:xfrm>
            <a:off x="625475" y="4159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27</a:t>
            </a:r>
            <a:endParaRPr lang="en-US" altLang="en-US" sz="2400"/>
          </a:p>
        </p:txBody>
      </p:sp>
      <p:sp>
        <p:nvSpPr>
          <p:cNvPr id="132105" name="Text Box 8"/>
          <p:cNvSpPr txBox="1">
            <a:spLocks noChangeArrowheads="1"/>
          </p:cNvSpPr>
          <p:nvPr/>
        </p:nvSpPr>
        <p:spPr bwMode="auto">
          <a:xfrm>
            <a:off x="2057400" y="121285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132106" name="Oval 9"/>
          <p:cNvSpPr>
            <a:spLocks noChangeArrowheads="1"/>
          </p:cNvSpPr>
          <p:nvPr/>
        </p:nvSpPr>
        <p:spPr bwMode="auto">
          <a:xfrm>
            <a:off x="16541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2107" name="Text Box 10"/>
          <p:cNvSpPr txBox="1">
            <a:spLocks noChangeArrowheads="1"/>
          </p:cNvSpPr>
          <p:nvPr/>
        </p:nvSpPr>
        <p:spPr bwMode="auto">
          <a:xfrm>
            <a:off x="16351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12</a:t>
            </a:r>
            <a:endParaRPr lang="en-US" altLang="en-US" sz="2400"/>
          </a:p>
        </p:txBody>
      </p:sp>
      <p:sp>
        <p:nvSpPr>
          <p:cNvPr id="132108" name="Oval 11"/>
          <p:cNvSpPr>
            <a:spLocks noChangeArrowheads="1"/>
          </p:cNvSpPr>
          <p:nvPr/>
        </p:nvSpPr>
        <p:spPr bwMode="auto">
          <a:xfrm>
            <a:off x="4346575" y="14255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2109" name="Text Box 12"/>
          <p:cNvSpPr txBox="1">
            <a:spLocks noChangeArrowheads="1"/>
          </p:cNvSpPr>
          <p:nvPr/>
        </p:nvSpPr>
        <p:spPr bwMode="auto">
          <a:xfrm>
            <a:off x="4327525" y="1525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6</a:t>
            </a:r>
            <a:endParaRPr lang="en-US" altLang="en-US" sz="2400"/>
          </a:p>
        </p:txBody>
      </p:sp>
      <p:sp>
        <p:nvSpPr>
          <p:cNvPr id="132110" name="Line 13"/>
          <p:cNvSpPr>
            <a:spLocks noChangeShapeType="1"/>
          </p:cNvSpPr>
          <p:nvPr/>
        </p:nvSpPr>
        <p:spPr bwMode="auto">
          <a:xfrm>
            <a:off x="2832100" y="152082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2111" name="Oval 14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2112" name="Line 15"/>
          <p:cNvSpPr>
            <a:spLocks noChangeShapeType="1"/>
          </p:cNvSpPr>
          <p:nvPr/>
        </p:nvSpPr>
        <p:spPr bwMode="auto">
          <a:xfrm flipH="1">
            <a:off x="182245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2113" name="Line 16"/>
          <p:cNvSpPr>
            <a:spLocks noChangeShapeType="1"/>
          </p:cNvSpPr>
          <p:nvPr/>
        </p:nvSpPr>
        <p:spPr bwMode="auto">
          <a:xfrm>
            <a:off x="283210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2114" name="Oval 17"/>
          <p:cNvSpPr>
            <a:spLocks noChangeArrowheads="1"/>
          </p:cNvSpPr>
          <p:nvPr/>
        </p:nvSpPr>
        <p:spPr bwMode="auto">
          <a:xfrm>
            <a:off x="63658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FF33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2115" name="Text Box 18"/>
          <p:cNvSpPr txBox="1">
            <a:spLocks noChangeArrowheads="1"/>
          </p:cNvSpPr>
          <p:nvPr/>
        </p:nvSpPr>
        <p:spPr bwMode="auto">
          <a:xfrm>
            <a:off x="63468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32116" name="Oval 19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2117" name="Oval 20"/>
          <p:cNvSpPr>
            <a:spLocks noChangeArrowheads="1"/>
          </p:cNvSpPr>
          <p:nvPr/>
        </p:nvSpPr>
        <p:spPr bwMode="auto">
          <a:xfrm>
            <a:off x="73755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2118" name="Text Box 21"/>
          <p:cNvSpPr txBox="1">
            <a:spLocks noChangeArrowheads="1"/>
          </p:cNvSpPr>
          <p:nvPr/>
        </p:nvSpPr>
        <p:spPr bwMode="auto">
          <a:xfrm>
            <a:off x="7356475" y="3079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32119" name="Line 22"/>
          <p:cNvSpPr>
            <a:spLocks noChangeShapeType="1"/>
          </p:cNvSpPr>
          <p:nvPr/>
        </p:nvSpPr>
        <p:spPr bwMode="auto">
          <a:xfrm flipH="1">
            <a:off x="586105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2120" name="Line 23"/>
          <p:cNvSpPr>
            <a:spLocks noChangeShapeType="1"/>
          </p:cNvSpPr>
          <p:nvPr/>
        </p:nvSpPr>
        <p:spPr bwMode="auto">
          <a:xfrm>
            <a:off x="687070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2121" name="Line 24"/>
          <p:cNvSpPr>
            <a:spLocks noChangeShapeType="1"/>
          </p:cNvSpPr>
          <p:nvPr/>
        </p:nvSpPr>
        <p:spPr bwMode="auto">
          <a:xfrm flipH="1">
            <a:off x="3000375" y="1828800"/>
            <a:ext cx="1343025" cy="2270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2122" name="Line 25"/>
          <p:cNvSpPr>
            <a:spLocks noChangeShapeType="1"/>
          </p:cNvSpPr>
          <p:nvPr/>
        </p:nvSpPr>
        <p:spPr bwMode="auto">
          <a:xfrm>
            <a:off x="5029200" y="1752600"/>
            <a:ext cx="1371600" cy="3048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2123" name="Oval 26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2124" name="Oval 27"/>
          <p:cNvSpPr>
            <a:spLocks noChangeArrowheads="1"/>
          </p:cNvSpPr>
          <p:nvPr/>
        </p:nvSpPr>
        <p:spPr bwMode="auto">
          <a:xfrm>
            <a:off x="266382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2125" name="Text Box 28"/>
          <p:cNvSpPr txBox="1">
            <a:spLocks noChangeArrowheads="1"/>
          </p:cNvSpPr>
          <p:nvPr/>
        </p:nvSpPr>
        <p:spPr bwMode="auto">
          <a:xfrm>
            <a:off x="2644775" y="415448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32126" name="Oval 29"/>
          <p:cNvSpPr>
            <a:spLocks noChangeArrowheads="1"/>
          </p:cNvSpPr>
          <p:nvPr/>
        </p:nvSpPr>
        <p:spPr bwMode="auto">
          <a:xfrm>
            <a:off x="3673475" y="40544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2127" name="Text Box 30"/>
          <p:cNvSpPr txBox="1">
            <a:spLocks noChangeArrowheads="1"/>
          </p:cNvSpPr>
          <p:nvPr/>
        </p:nvSpPr>
        <p:spPr bwMode="auto">
          <a:xfrm>
            <a:off x="3654425" y="41544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38</a:t>
            </a:r>
            <a:endParaRPr lang="en-US" altLang="en-US" sz="2400"/>
          </a:p>
        </p:txBody>
      </p:sp>
      <p:sp>
        <p:nvSpPr>
          <p:cNvPr id="132128" name="Oval 31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2129" name="Text Box 32"/>
          <p:cNvSpPr txBox="1">
            <a:spLocks noChangeArrowheads="1"/>
          </p:cNvSpPr>
          <p:nvPr/>
        </p:nvSpPr>
        <p:spPr bwMode="auto">
          <a:xfrm>
            <a:off x="5334000" y="304958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132130" name="Oval 33"/>
          <p:cNvSpPr>
            <a:spLocks noChangeArrowheads="1"/>
          </p:cNvSpPr>
          <p:nvPr/>
        </p:nvSpPr>
        <p:spPr bwMode="auto">
          <a:xfrm>
            <a:off x="4683125" y="406082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2131" name="Text Box 34"/>
          <p:cNvSpPr txBox="1">
            <a:spLocks noChangeArrowheads="1"/>
          </p:cNvSpPr>
          <p:nvPr/>
        </p:nvSpPr>
        <p:spPr bwMode="auto">
          <a:xfrm>
            <a:off x="4664075" y="415766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32132" name="Oval 35"/>
          <p:cNvSpPr>
            <a:spLocks noChangeArrowheads="1"/>
          </p:cNvSpPr>
          <p:nvPr/>
        </p:nvSpPr>
        <p:spPr bwMode="auto">
          <a:xfrm>
            <a:off x="5692775" y="40608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2133" name="Text Box 36"/>
          <p:cNvSpPr txBox="1">
            <a:spLocks noChangeArrowheads="1"/>
          </p:cNvSpPr>
          <p:nvPr/>
        </p:nvSpPr>
        <p:spPr bwMode="auto">
          <a:xfrm>
            <a:off x="5673725" y="41608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132134" name="Oval 37"/>
          <p:cNvSpPr>
            <a:spLocks noChangeArrowheads="1"/>
          </p:cNvSpPr>
          <p:nvPr/>
        </p:nvSpPr>
        <p:spPr bwMode="auto">
          <a:xfrm>
            <a:off x="67024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2135" name="Text Box 38"/>
          <p:cNvSpPr txBox="1">
            <a:spLocks noChangeArrowheads="1"/>
          </p:cNvSpPr>
          <p:nvPr/>
        </p:nvSpPr>
        <p:spPr bwMode="auto">
          <a:xfrm>
            <a:off x="6683375" y="415925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</a:t>
            </a:r>
            <a:endParaRPr lang="en-US" altLang="en-US" sz="2400"/>
          </a:p>
        </p:txBody>
      </p:sp>
      <p:sp>
        <p:nvSpPr>
          <p:cNvPr id="132136" name="Oval 39"/>
          <p:cNvSpPr>
            <a:spLocks noChangeArrowheads="1"/>
          </p:cNvSpPr>
          <p:nvPr/>
        </p:nvSpPr>
        <p:spPr bwMode="auto">
          <a:xfrm>
            <a:off x="77120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2137" name="Text Box 40"/>
          <p:cNvSpPr txBox="1">
            <a:spLocks noChangeArrowheads="1"/>
          </p:cNvSpPr>
          <p:nvPr/>
        </p:nvSpPr>
        <p:spPr bwMode="auto">
          <a:xfrm>
            <a:off x="76930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32138" name="Line 41"/>
          <p:cNvSpPr>
            <a:spLocks noChangeShapeType="1"/>
          </p:cNvSpPr>
          <p:nvPr/>
        </p:nvSpPr>
        <p:spPr bwMode="auto">
          <a:xfrm flipH="1">
            <a:off x="9810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2139" name="Line 42"/>
          <p:cNvSpPr>
            <a:spLocks noChangeShapeType="1"/>
          </p:cNvSpPr>
          <p:nvPr/>
        </p:nvSpPr>
        <p:spPr bwMode="auto">
          <a:xfrm>
            <a:off x="19907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2140" name="Line 43"/>
          <p:cNvSpPr>
            <a:spLocks noChangeShapeType="1"/>
          </p:cNvSpPr>
          <p:nvPr/>
        </p:nvSpPr>
        <p:spPr bwMode="auto">
          <a:xfrm flipH="1">
            <a:off x="30003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2141" name="Line 44"/>
          <p:cNvSpPr>
            <a:spLocks noChangeShapeType="1"/>
          </p:cNvSpPr>
          <p:nvPr/>
        </p:nvSpPr>
        <p:spPr bwMode="auto">
          <a:xfrm>
            <a:off x="40100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2142" name="Line 45"/>
          <p:cNvSpPr>
            <a:spLocks noChangeShapeType="1"/>
          </p:cNvSpPr>
          <p:nvPr/>
        </p:nvSpPr>
        <p:spPr bwMode="auto">
          <a:xfrm flipH="1">
            <a:off x="50196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2143" name="Line 46"/>
          <p:cNvSpPr>
            <a:spLocks noChangeShapeType="1"/>
          </p:cNvSpPr>
          <p:nvPr/>
        </p:nvSpPr>
        <p:spPr bwMode="auto">
          <a:xfrm>
            <a:off x="60293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2144" name="Line 47"/>
          <p:cNvSpPr>
            <a:spLocks noChangeShapeType="1"/>
          </p:cNvSpPr>
          <p:nvPr/>
        </p:nvSpPr>
        <p:spPr bwMode="auto">
          <a:xfrm flipH="1">
            <a:off x="70389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2145" name="Line 48"/>
          <p:cNvSpPr>
            <a:spLocks noChangeShapeType="1"/>
          </p:cNvSpPr>
          <p:nvPr/>
        </p:nvSpPr>
        <p:spPr bwMode="auto">
          <a:xfrm>
            <a:off x="80486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2146" name="Text Box 49"/>
          <p:cNvSpPr txBox="1">
            <a:spLocks noChangeArrowheads="1"/>
          </p:cNvSpPr>
          <p:nvPr/>
        </p:nvSpPr>
        <p:spPr bwMode="auto">
          <a:xfrm>
            <a:off x="4514850" y="1976438"/>
            <a:ext cx="6731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132147" name="Text Box 50"/>
          <p:cNvSpPr txBox="1">
            <a:spLocks noChangeArrowheads="1"/>
          </p:cNvSpPr>
          <p:nvPr/>
        </p:nvSpPr>
        <p:spPr bwMode="auto">
          <a:xfrm>
            <a:off x="24955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132148" name="Text Box 51"/>
          <p:cNvSpPr txBox="1">
            <a:spLocks noChangeArrowheads="1"/>
          </p:cNvSpPr>
          <p:nvPr/>
        </p:nvSpPr>
        <p:spPr bwMode="auto">
          <a:xfrm>
            <a:off x="65341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132149" name="Text Box 52"/>
          <p:cNvSpPr txBox="1">
            <a:spLocks noChangeArrowheads="1"/>
          </p:cNvSpPr>
          <p:nvPr/>
        </p:nvSpPr>
        <p:spPr bwMode="auto">
          <a:xfrm>
            <a:off x="14859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132150" name="Text Box 53"/>
          <p:cNvSpPr txBox="1">
            <a:spLocks noChangeArrowheads="1"/>
          </p:cNvSpPr>
          <p:nvPr/>
        </p:nvSpPr>
        <p:spPr bwMode="auto">
          <a:xfrm>
            <a:off x="35052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132151" name="Text Box 54"/>
          <p:cNvSpPr txBox="1">
            <a:spLocks noChangeArrowheads="1"/>
          </p:cNvSpPr>
          <p:nvPr/>
        </p:nvSpPr>
        <p:spPr bwMode="auto">
          <a:xfrm>
            <a:off x="55245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132152" name="Text Box 55"/>
          <p:cNvSpPr txBox="1">
            <a:spLocks noChangeArrowheads="1"/>
          </p:cNvSpPr>
          <p:nvPr/>
        </p:nvSpPr>
        <p:spPr bwMode="auto">
          <a:xfrm>
            <a:off x="75438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132153" name="Text Box 56"/>
          <p:cNvSpPr txBox="1">
            <a:spLocks noChangeArrowheads="1"/>
          </p:cNvSpPr>
          <p:nvPr/>
        </p:nvSpPr>
        <p:spPr bwMode="auto">
          <a:xfrm>
            <a:off x="8128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132154" name="Text Box 57"/>
          <p:cNvSpPr txBox="1">
            <a:spLocks noChangeArrowheads="1"/>
          </p:cNvSpPr>
          <p:nvPr/>
        </p:nvSpPr>
        <p:spPr bwMode="auto">
          <a:xfrm>
            <a:off x="182245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132155" name="Text Box 58"/>
          <p:cNvSpPr txBox="1">
            <a:spLocks noChangeArrowheads="1"/>
          </p:cNvSpPr>
          <p:nvPr/>
        </p:nvSpPr>
        <p:spPr bwMode="auto">
          <a:xfrm>
            <a:off x="28321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132156" name="Text Box 59"/>
          <p:cNvSpPr txBox="1">
            <a:spLocks noChangeArrowheads="1"/>
          </p:cNvSpPr>
          <p:nvPr/>
        </p:nvSpPr>
        <p:spPr bwMode="auto">
          <a:xfrm>
            <a:off x="36734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132157" name="Text Box 60"/>
          <p:cNvSpPr txBox="1">
            <a:spLocks noChangeArrowheads="1"/>
          </p:cNvSpPr>
          <p:nvPr/>
        </p:nvSpPr>
        <p:spPr bwMode="auto">
          <a:xfrm>
            <a:off x="46831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132158" name="Text Box 61"/>
          <p:cNvSpPr txBox="1">
            <a:spLocks noChangeArrowheads="1"/>
          </p:cNvSpPr>
          <p:nvPr/>
        </p:nvSpPr>
        <p:spPr bwMode="auto">
          <a:xfrm>
            <a:off x="56927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132159" name="Text Box 62"/>
          <p:cNvSpPr txBox="1">
            <a:spLocks noChangeArrowheads="1"/>
          </p:cNvSpPr>
          <p:nvPr/>
        </p:nvSpPr>
        <p:spPr bwMode="auto">
          <a:xfrm>
            <a:off x="67024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132160" name="Text Box 63"/>
          <p:cNvSpPr txBox="1">
            <a:spLocks noChangeArrowheads="1"/>
          </p:cNvSpPr>
          <p:nvPr/>
        </p:nvSpPr>
        <p:spPr bwMode="auto">
          <a:xfrm>
            <a:off x="77120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132161" name="Oval 64"/>
          <p:cNvSpPr>
            <a:spLocks noChangeArrowheads="1"/>
          </p:cNvSpPr>
          <p:nvPr/>
        </p:nvSpPr>
        <p:spPr bwMode="auto">
          <a:xfrm>
            <a:off x="476250" y="514032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2162" name="Text Box 65"/>
          <p:cNvSpPr txBox="1">
            <a:spLocks noChangeArrowheads="1"/>
          </p:cNvSpPr>
          <p:nvPr/>
        </p:nvSpPr>
        <p:spPr bwMode="auto">
          <a:xfrm>
            <a:off x="457200" y="52387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32163" name="Oval 66"/>
          <p:cNvSpPr>
            <a:spLocks noChangeArrowheads="1"/>
          </p:cNvSpPr>
          <p:nvPr/>
        </p:nvSpPr>
        <p:spPr bwMode="auto">
          <a:xfrm>
            <a:off x="1485900" y="513873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2164" name="Text Box 67"/>
          <p:cNvSpPr txBox="1">
            <a:spLocks noChangeArrowheads="1"/>
          </p:cNvSpPr>
          <p:nvPr/>
        </p:nvSpPr>
        <p:spPr bwMode="auto">
          <a:xfrm>
            <a:off x="1466850" y="5238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32165" name="Text Box 68"/>
          <p:cNvSpPr txBox="1">
            <a:spLocks noChangeArrowheads="1"/>
          </p:cNvSpPr>
          <p:nvPr/>
        </p:nvSpPr>
        <p:spPr bwMode="auto">
          <a:xfrm>
            <a:off x="148590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132166" name="Line 69"/>
          <p:cNvSpPr>
            <a:spLocks noChangeShapeType="1"/>
          </p:cNvSpPr>
          <p:nvPr/>
        </p:nvSpPr>
        <p:spPr bwMode="auto">
          <a:xfrm flipH="1">
            <a:off x="644525" y="467677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2167" name="Line 70"/>
          <p:cNvSpPr>
            <a:spLocks noChangeShapeType="1"/>
          </p:cNvSpPr>
          <p:nvPr/>
        </p:nvSpPr>
        <p:spPr bwMode="auto">
          <a:xfrm>
            <a:off x="1149350" y="467677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2168" name="Text Box 71"/>
          <p:cNvSpPr txBox="1">
            <a:spLocks noChangeArrowheads="1"/>
          </p:cNvSpPr>
          <p:nvPr/>
        </p:nvSpPr>
        <p:spPr bwMode="auto">
          <a:xfrm>
            <a:off x="47625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132169" name="Text Box 72"/>
          <p:cNvSpPr txBox="1">
            <a:spLocks noChangeArrowheads="1"/>
          </p:cNvSpPr>
          <p:nvPr/>
        </p:nvSpPr>
        <p:spPr bwMode="auto">
          <a:xfrm>
            <a:off x="3276600" y="3049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132170" name="Rectangle 73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Forming an Initial Heap (cont.)</a:t>
            </a:r>
          </a:p>
        </p:txBody>
      </p:sp>
      <p:sp>
        <p:nvSpPr>
          <p:cNvPr id="132171" name="Freeform 74"/>
          <p:cNvSpPr>
            <a:spLocks/>
          </p:cNvSpPr>
          <p:nvPr/>
        </p:nvSpPr>
        <p:spPr bwMode="auto">
          <a:xfrm>
            <a:off x="7086600" y="2133600"/>
            <a:ext cx="812800" cy="762000"/>
          </a:xfrm>
          <a:custGeom>
            <a:avLst/>
            <a:gdLst>
              <a:gd name="T0" fmla="*/ 0 w 512"/>
              <a:gd name="T1" fmla="*/ 0 h 480"/>
              <a:gd name="T2" fmla="*/ 2147483646 w 512"/>
              <a:gd name="T3" fmla="*/ 2147483646 h 480"/>
              <a:gd name="T4" fmla="*/ 2147483646 w 512"/>
              <a:gd name="T5" fmla="*/ 2147483646 h 48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512" h="480">
                <a:moveTo>
                  <a:pt x="0" y="0"/>
                </a:moveTo>
                <a:cubicBezTo>
                  <a:pt x="176" y="8"/>
                  <a:pt x="352" y="16"/>
                  <a:pt x="432" y="96"/>
                </a:cubicBezTo>
                <a:cubicBezTo>
                  <a:pt x="512" y="176"/>
                  <a:pt x="472" y="416"/>
                  <a:pt x="480" y="480"/>
                </a:cubicBezTo>
              </a:path>
            </a:pathLst>
          </a:custGeom>
          <a:noFill/>
          <a:ln w="57150" cap="rnd" cmpd="sng">
            <a:solidFill>
              <a:schemeClr val="hlink"/>
            </a:solidFill>
            <a:prstDash val="sysDot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2172" name="Freeform 76"/>
          <p:cNvSpPr>
            <a:spLocks/>
          </p:cNvSpPr>
          <p:nvPr/>
        </p:nvSpPr>
        <p:spPr bwMode="auto">
          <a:xfrm>
            <a:off x="8153400" y="3276600"/>
            <a:ext cx="495300" cy="838200"/>
          </a:xfrm>
          <a:custGeom>
            <a:avLst/>
            <a:gdLst>
              <a:gd name="T0" fmla="*/ 0 w 312"/>
              <a:gd name="T1" fmla="*/ 0 h 528"/>
              <a:gd name="T2" fmla="*/ 2147483646 w 312"/>
              <a:gd name="T3" fmla="*/ 2147483646 h 528"/>
              <a:gd name="T4" fmla="*/ 2147483646 w 312"/>
              <a:gd name="T5" fmla="*/ 2147483646 h 52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12" h="528">
                <a:moveTo>
                  <a:pt x="0" y="0"/>
                </a:moveTo>
                <a:cubicBezTo>
                  <a:pt x="132" y="4"/>
                  <a:pt x="264" y="8"/>
                  <a:pt x="288" y="96"/>
                </a:cubicBezTo>
                <a:cubicBezTo>
                  <a:pt x="312" y="184"/>
                  <a:pt x="168" y="456"/>
                  <a:pt x="144" y="528"/>
                </a:cubicBezTo>
              </a:path>
            </a:pathLst>
          </a:custGeom>
          <a:noFill/>
          <a:ln w="57150" cap="rnd" cmpd="sng">
            <a:solidFill>
              <a:schemeClr val="hlink"/>
            </a:solidFill>
            <a:prstDash val="sysDot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2173" name="Text Box 80"/>
          <p:cNvSpPr txBox="1">
            <a:spLocks noChangeArrowheads="1"/>
          </p:cNvSpPr>
          <p:nvPr/>
        </p:nvSpPr>
        <p:spPr bwMode="auto">
          <a:xfrm>
            <a:off x="4572000" y="5334000"/>
            <a:ext cx="3581400" cy="466725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one-assignment swaps</a:t>
            </a:r>
          </a:p>
        </p:txBody>
      </p:sp>
      <p:sp>
        <p:nvSpPr>
          <p:cNvPr id="132174" name="Text Box 81"/>
          <p:cNvSpPr txBox="1">
            <a:spLocks noChangeArrowheads="1"/>
          </p:cNvSpPr>
          <p:nvPr/>
        </p:nvSpPr>
        <p:spPr bwMode="auto">
          <a:xfrm>
            <a:off x="7467600" y="1143000"/>
            <a:ext cx="1219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temp</a:t>
            </a:r>
          </a:p>
        </p:txBody>
      </p:sp>
      <p:sp>
        <p:nvSpPr>
          <p:cNvPr id="132175" name="Line 82"/>
          <p:cNvSpPr>
            <a:spLocks noChangeShapeType="1"/>
          </p:cNvSpPr>
          <p:nvPr/>
        </p:nvSpPr>
        <p:spPr bwMode="auto">
          <a:xfrm flipV="1">
            <a:off x="6934200" y="1524000"/>
            <a:ext cx="609600" cy="381000"/>
          </a:xfrm>
          <a:prstGeom prst="line">
            <a:avLst/>
          </a:prstGeom>
          <a:noFill/>
          <a:ln w="57150" cap="rnd">
            <a:solidFill>
              <a:schemeClr val="hlink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2176" name="Freeform 83"/>
          <p:cNvSpPr>
            <a:spLocks/>
          </p:cNvSpPr>
          <p:nvPr/>
        </p:nvSpPr>
        <p:spPr bwMode="auto">
          <a:xfrm>
            <a:off x="8229600" y="1676400"/>
            <a:ext cx="736600" cy="2667000"/>
          </a:xfrm>
          <a:custGeom>
            <a:avLst/>
            <a:gdLst>
              <a:gd name="T0" fmla="*/ 0 w 464"/>
              <a:gd name="T1" fmla="*/ 0 h 1680"/>
              <a:gd name="T2" fmla="*/ 2147483646 w 464"/>
              <a:gd name="T3" fmla="*/ 2147483646 h 1680"/>
              <a:gd name="T4" fmla="*/ 2147483646 w 464"/>
              <a:gd name="T5" fmla="*/ 2147483646 h 1680"/>
              <a:gd name="T6" fmla="*/ 2147483646 w 464"/>
              <a:gd name="T7" fmla="*/ 2147483646 h 168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64" h="1680">
                <a:moveTo>
                  <a:pt x="0" y="0"/>
                </a:moveTo>
                <a:cubicBezTo>
                  <a:pt x="132" y="196"/>
                  <a:pt x="264" y="392"/>
                  <a:pt x="336" y="624"/>
                </a:cubicBezTo>
                <a:cubicBezTo>
                  <a:pt x="408" y="856"/>
                  <a:pt x="464" y="1216"/>
                  <a:pt x="432" y="1392"/>
                </a:cubicBezTo>
                <a:cubicBezTo>
                  <a:pt x="400" y="1568"/>
                  <a:pt x="192" y="1632"/>
                  <a:pt x="144" y="1680"/>
                </a:cubicBezTo>
              </a:path>
            </a:pathLst>
          </a:custGeom>
          <a:noFill/>
          <a:ln w="57150" cap="rnd" cmpd="sng">
            <a:solidFill>
              <a:schemeClr val="hlink"/>
            </a:solidFill>
            <a:prstDash val="sysDot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EE7C60A0-41CA-424D-89A3-F096CE0D1097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131</a:t>
            </a:fld>
            <a:endParaRPr lang="en-US" altLang="en-US" sz="1400"/>
          </a:p>
        </p:txBody>
      </p:sp>
      <p:sp>
        <p:nvSpPr>
          <p:cNvPr id="133123" name="Oval 2"/>
          <p:cNvSpPr>
            <a:spLocks noChangeArrowheads="1"/>
          </p:cNvSpPr>
          <p:nvPr/>
        </p:nvSpPr>
        <p:spPr bwMode="auto">
          <a:xfrm>
            <a:off x="23272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124" name="Text Box 3"/>
          <p:cNvSpPr txBox="1">
            <a:spLocks noChangeArrowheads="1"/>
          </p:cNvSpPr>
          <p:nvPr/>
        </p:nvSpPr>
        <p:spPr bwMode="auto">
          <a:xfrm>
            <a:off x="23082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31</a:t>
            </a:r>
            <a:endParaRPr lang="en-US" altLang="en-US" sz="2400"/>
          </a:p>
        </p:txBody>
      </p:sp>
      <p:sp>
        <p:nvSpPr>
          <p:cNvPr id="133125" name="Oval 4"/>
          <p:cNvSpPr>
            <a:spLocks noChangeArrowheads="1"/>
          </p:cNvSpPr>
          <p:nvPr/>
        </p:nvSpPr>
        <p:spPr bwMode="auto">
          <a:xfrm>
            <a:off x="13176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126" name="Text Box 5"/>
          <p:cNvSpPr txBox="1">
            <a:spLocks noChangeArrowheads="1"/>
          </p:cNvSpPr>
          <p:nvPr/>
        </p:nvSpPr>
        <p:spPr bwMode="auto">
          <a:xfrm>
            <a:off x="1298575" y="307975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33127" name="Oval 6"/>
          <p:cNvSpPr>
            <a:spLocks noChangeArrowheads="1"/>
          </p:cNvSpPr>
          <p:nvPr/>
        </p:nvSpPr>
        <p:spPr bwMode="auto">
          <a:xfrm>
            <a:off x="6445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128" name="Text Box 7"/>
          <p:cNvSpPr txBox="1">
            <a:spLocks noChangeArrowheads="1"/>
          </p:cNvSpPr>
          <p:nvPr/>
        </p:nvSpPr>
        <p:spPr bwMode="auto">
          <a:xfrm>
            <a:off x="625475" y="4159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27</a:t>
            </a:r>
            <a:endParaRPr lang="en-US" altLang="en-US" sz="2400"/>
          </a:p>
        </p:txBody>
      </p:sp>
      <p:sp>
        <p:nvSpPr>
          <p:cNvPr id="133129" name="Text Box 8"/>
          <p:cNvSpPr txBox="1">
            <a:spLocks noChangeArrowheads="1"/>
          </p:cNvSpPr>
          <p:nvPr/>
        </p:nvSpPr>
        <p:spPr bwMode="auto">
          <a:xfrm>
            <a:off x="2057400" y="121285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133130" name="Oval 9"/>
          <p:cNvSpPr>
            <a:spLocks noChangeArrowheads="1"/>
          </p:cNvSpPr>
          <p:nvPr/>
        </p:nvSpPr>
        <p:spPr bwMode="auto">
          <a:xfrm>
            <a:off x="16541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131" name="Text Box 10"/>
          <p:cNvSpPr txBox="1">
            <a:spLocks noChangeArrowheads="1"/>
          </p:cNvSpPr>
          <p:nvPr/>
        </p:nvSpPr>
        <p:spPr bwMode="auto">
          <a:xfrm>
            <a:off x="16351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12</a:t>
            </a:r>
            <a:endParaRPr lang="en-US" altLang="en-US" sz="2400"/>
          </a:p>
        </p:txBody>
      </p:sp>
      <p:sp>
        <p:nvSpPr>
          <p:cNvPr id="133132" name="Oval 11"/>
          <p:cNvSpPr>
            <a:spLocks noChangeArrowheads="1"/>
          </p:cNvSpPr>
          <p:nvPr/>
        </p:nvSpPr>
        <p:spPr bwMode="auto">
          <a:xfrm>
            <a:off x="4346575" y="14255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133" name="Text Box 12"/>
          <p:cNvSpPr txBox="1">
            <a:spLocks noChangeArrowheads="1"/>
          </p:cNvSpPr>
          <p:nvPr/>
        </p:nvSpPr>
        <p:spPr bwMode="auto">
          <a:xfrm>
            <a:off x="4327525" y="1525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6</a:t>
            </a:r>
            <a:endParaRPr lang="en-US" altLang="en-US" sz="2400"/>
          </a:p>
        </p:txBody>
      </p:sp>
      <p:sp>
        <p:nvSpPr>
          <p:cNvPr id="133134" name="Line 13"/>
          <p:cNvSpPr>
            <a:spLocks noChangeShapeType="1"/>
          </p:cNvSpPr>
          <p:nvPr/>
        </p:nvSpPr>
        <p:spPr bwMode="auto">
          <a:xfrm>
            <a:off x="2832100" y="152082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3135" name="Oval 14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136" name="Line 15"/>
          <p:cNvSpPr>
            <a:spLocks noChangeShapeType="1"/>
          </p:cNvSpPr>
          <p:nvPr/>
        </p:nvSpPr>
        <p:spPr bwMode="auto">
          <a:xfrm flipH="1">
            <a:off x="182245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3137" name="Line 16"/>
          <p:cNvSpPr>
            <a:spLocks noChangeShapeType="1"/>
          </p:cNvSpPr>
          <p:nvPr/>
        </p:nvSpPr>
        <p:spPr bwMode="auto">
          <a:xfrm>
            <a:off x="283210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3138" name="Oval 17"/>
          <p:cNvSpPr>
            <a:spLocks noChangeArrowheads="1"/>
          </p:cNvSpPr>
          <p:nvPr/>
        </p:nvSpPr>
        <p:spPr bwMode="auto">
          <a:xfrm>
            <a:off x="63658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FF33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139" name="Text Box 18"/>
          <p:cNvSpPr txBox="1">
            <a:spLocks noChangeArrowheads="1"/>
          </p:cNvSpPr>
          <p:nvPr/>
        </p:nvSpPr>
        <p:spPr bwMode="auto">
          <a:xfrm>
            <a:off x="63468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33140" name="Oval 19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141" name="Oval 20"/>
          <p:cNvSpPr>
            <a:spLocks noChangeArrowheads="1"/>
          </p:cNvSpPr>
          <p:nvPr/>
        </p:nvSpPr>
        <p:spPr bwMode="auto">
          <a:xfrm>
            <a:off x="73755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142" name="Text Box 21"/>
          <p:cNvSpPr txBox="1">
            <a:spLocks noChangeArrowheads="1"/>
          </p:cNvSpPr>
          <p:nvPr/>
        </p:nvSpPr>
        <p:spPr bwMode="auto">
          <a:xfrm>
            <a:off x="7356475" y="3079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33143" name="Line 22"/>
          <p:cNvSpPr>
            <a:spLocks noChangeShapeType="1"/>
          </p:cNvSpPr>
          <p:nvPr/>
        </p:nvSpPr>
        <p:spPr bwMode="auto">
          <a:xfrm flipH="1">
            <a:off x="586105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3144" name="Line 23"/>
          <p:cNvSpPr>
            <a:spLocks noChangeShapeType="1"/>
          </p:cNvSpPr>
          <p:nvPr/>
        </p:nvSpPr>
        <p:spPr bwMode="auto">
          <a:xfrm>
            <a:off x="687070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3145" name="Line 24"/>
          <p:cNvSpPr>
            <a:spLocks noChangeShapeType="1"/>
          </p:cNvSpPr>
          <p:nvPr/>
        </p:nvSpPr>
        <p:spPr bwMode="auto">
          <a:xfrm flipH="1">
            <a:off x="3000375" y="1828800"/>
            <a:ext cx="1343025" cy="2270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3146" name="Line 25"/>
          <p:cNvSpPr>
            <a:spLocks noChangeShapeType="1"/>
          </p:cNvSpPr>
          <p:nvPr/>
        </p:nvSpPr>
        <p:spPr bwMode="auto">
          <a:xfrm>
            <a:off x="5029200" y="1752600"/>
            <a:ext cx="1371600" cy="3048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3147" name="Oval 26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148" name="Oval 27"/>
          <p:cNvSpPr>
            <a:spLocks noChangeArrowheads="1"/>
          </p:cNvSpPr>
          <p:nvPr/>
        </p:nvSpPr>
        <p:spPr bwMode="auto">
          <a:xfrm>
            <a:off x="266382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149" name="Text Box 28"/>
          <p:cNvSpPr txBox="1">
            <a:spLocks noChangeArrowheads="1"/>
          </p:cNvSpPr>
          <p:nvPr/>
        </p:nvSpPr>
        <p:spPr bwMode="auto">
          <a:xfrm>
            <a:off x="2644775" y="415448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33150" name="Oval 29"/>
          <p:cNvSpPr>
            <a:spLocks noChangeArrowheads="1"/>
          </p:cNvSpPr>
          <p:nvPr/>
        </p:nvSpPr>
        <p:spPr bwMode="auto">
          <a:xfrm>
            <a:off x="3673475" y="40544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151" name="Text Box 30"/>
          <p:cNvSpPr txBox="1">
            <a:spLocks noChangeArrowheads="1"/>
          </p:cNvSpPr>
          <p:nvPr/>
        </p:nvSpPr>
        <p:spPr bwMode="auto">
          <a:xfrm>
            <a:off x="3654425" y="41544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38</a:t>
            </a:r>
            <a:endParaRPr lang="en-US" altLang="en-US" sz="2400"/>
          </a:p>
        </p:txBody>
      </p:sp>
      <p:sp>
        <p:nvSpPr>
          <p:cNvPr id="133152" name="Oval 31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153" name="Text Box 32"/>
          <p:cNvSpPr txBox="1">
            <a:spLocks noChangeArrowheads="1"/>
          </p:cNvSpPr>
          <p:nvPr/>
        </p:nvSpPr>
        <p:spPr bwMode="auto">
          <a:xfrm>
            <a:off x="5334000" y="304958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133154" name="Oval 33"/>
          <p:cNvSpPr>
            <a:spLocks noChangeArrowheads="1"/>
          </p:cNvSpPr>
          <p:nvPr/>
        </p:nvSpPr>
        <p:spPr bwMode="auto">
          <a:xfrm>
            <a:off x="4683125" y="406082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155" name="Text Box 34"/>
          <p:cNvSpPr txBox="1">
            <a:spLocks noChangeArrowheads="1"/>
          </p:cNvSpPr>
          <p:nvPr/>
        </p:nvSpPr>
        <p:spPr bwMode="auto">
          <a:xfrm>
            <a:off x="4664075" y="415766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33156" name="Oval 35"/>
          <p:cNvSpPr>
            <a:spLocks noChangeArrowheads="1"/>
          </p:cNvSpPr>
          <p:nvPr/>
        </p:nvSpPr>
        <p:spPr bwMode="auto">
          <a:xfrm>
            <a:off x="5692775" y="40608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157" name="Text Box 36"/>
          <p:cNvSpPr txBox="1">
            <a:spLocks noChangeArrowheads="1"/>
          </p:cNvSpPr>
          <p:nvPr/>
        </p:nvSpPr>
        <p:spPr bwMode="auto">
          <a:xfrm>
            <a:off x="5673725" y="41608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133158" name="Oval 37"/>
          <p:cNvSpPr>
            <a:spLocks noChangeArrowheads="1"/>
          </p:cNvSpPr>
          <p:nvPr/>
        </p:nvSpPr>
        <p:spPr bwMode="auto">
          <a:xfrm>
            <a:off x="67024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159" name="Text Box 38"/>
          <p:cNvSpPr txBox="1">
            <a:spLocks noChangeArrowheads="1"/>
          </p:cNvSpPr>
          <p:nvPr/>
        </p:nvSpPr>
        <p:spPr bwMode="auto">
          <a:xfrm>
            <a:off x="6683375" y="415925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</a:t>
            </a:r>
            <a:endParaRPr lang="en-US" altLang="en-US" sz="2400"/>
          </a:p>
        </p:txBody>
      </p:sp>
      <p:sp>
        <p:nvSpPr>
          <p:cNvPr id="133160" name="Oval 39"/>
          <p:cNvSpPr>
            <a:spLocks noChangeArrowheads="1"/>
          </p:cNvSpPr>
          <p:nvPr/>
        </p:nvSpPr>
        <p:spPr bwMode="auto">
          <a:xfrm>
            <a:off x="77120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161" name="Text Box 40"/>
          <p:cNvSpPr txBox="1">
            <a:spLocks noChangeArrowheads="1"/>
          </p:cNvSpPr>
          <p:nvPr/>
        </p:nvSpPr>
        <p:spPr bwMode="auto">
          <a:xfrm>
            <a:off x="76930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33162" name="Line 41"/>
          <p:cNvSpPr>
            <a:spLocks noChangeShapeType="1"/>
          </p:cNvSpPr>
          <p:nvPr/>
        </p:nvSpPr>
        <p:spPr bwMode="auto">
          <a:xfrm flipH="1">
            <a:off x="9810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3163" name="Line 42"/>
          <p:cNvSpPr>
            <a:spLocks noChangeShapeType="1"/>
          </p:cNvSpPr>
          <p:nvPr/>
        </p:nvSpPr>
        <p:spPr bwMode="auto">
          <a:xfrm>
            <a:off x="19907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3164" name="Line 43"/>
          <p:cNvSpPr>
            <a:spLocks noChangeShapeType="1"/>
          </p:cNvSpPr>
          <p:nvPr/>
        </p:nvSpPr>
        <p:spPr bwMode="auto">
          <a:xfrm flipH="1">
            <a:off x="30003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3165" name="Line 44"/>
          <p:cNvSpPr>
            <a:spLocks noChangeShapeType="1"/>
          </p:cNvSpPr>
          <p:nvPr/>
        </p:nvSpPr>
        <p:spPr bwMode="auto">
          <a:xfrm>
            <a:off x="40100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3166" name="Line 45"/>
          <p:cNvSpPr>
            <a:spLocks noChangeShapeType="1"/>
          </p:cNvSpPr>
          <p:nvPr/>
        </p:nvSpPr>
        <p:spPr bwMode="auto">
          <a:xfrm flipH="1">
            <a:off x="50196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3167" name="Line 46"/>
          <p:cNvSpPr>
            <a:spLocks noChangeShapeType="1"/>
          </p:cNvSpPr>
          <p:nvPr/>
        </p:nvSpPr>
        <p:spPr bwMode="auto">
          <a:xfrm>
            <a:off x="60293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3168" name="Line 47"/>
          <p:cNvSpPr>
            <a:spLocks noChangeShapeType="1"/>
          </p:cNvSpPr>
          <p:nvPr/>
        </p:nvSpPr>
        <p:spPr bwMode="auto">
          <a:xfrm flipH="1">
            <a:off x="70389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3169" name="Line 48"/>
          <p:cNvSpPr>
            <a:spLocks noChangeShapeType="1"/>
          </p:cNvSpPr>
          <p:nvPr/>
        </p:nvSpPr>
        <p:spPr bwMode="auto">
          <a:xfrm>
            <a:off x="80486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3170" name="Text Box 49"/>
          <p:cNvSpPr txBox="1">
            <a:spLocks noChangeArrowheads="1"/>
          </p:cNvSpPr>
          <p:nvPr/>
        </p:nvSpPr>
        <p:spPr bwMode="auto">
          <a:xfrm>
            <a:off x="4514850" y="1976438"/>
            <a:ext cx="6731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133171" name="Text Box 50"/>
          <p:cNvSpPr txBox="1">
            <a:spLocks noChangeArrowheads="1"/>
          </p:cNvSpPr>
          <p:nvPr/>
        </p:nvSpPr>
        <p:spPr bwMode="auto">
          <a:xfrm>
            <a:off x="24955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133172" name="Text Box 51"/>
          <p:cNvSpPr txBox="1">
            <a:spLocks noChangeArrowheads="1"/>
          </p:cNvSpPr>
          <p:nvPr/>
        </p:nvSpPr>
        <p:spPr bwMode="auto">
          <a:xfrm>
            <a:off x="65341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133173" name="Text Box 52"/>
          <p:cNvSpPr txBox="1">
            <a:spLocks noChangeArrowheads="1"/>
          </p:cNvSpPr>
          <p:nvPr/>
        </p:nvSpPr>
        <p:spPr bwMode="auto">
          <a:xfrm>
            <a:off x="14859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133174" name="Text Box 53"/>
          <p:cNvSpPr txBox="1">
            <a:spLocks noChangeArrowheads="1"/>
          </p:cNvSpPr>
          <p:nvPr/>
        </p:nvSpPr>
        <p:spPr bwMode="auto">
          <a:xfrm>
            <a:off x="35052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133175" name="Text Box 54"/>
          <p:cNvSpPr txBox="1">
            <a:spLocks noChangeArrowheads="1"/>
          </p:cNvSpPr>
          <p:nvPr/>
        </p:nvSpPr>
        <p:spPr bwMode="auto">
          <a:xfrm>
            <a:off x="55245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133176" name="Text Box 55"/>
          <p:cNvSpPr txBox="1">
            <a:spLocks noChangeArrowheads="1"/>
          </p:cNvSpPr>
          <p:nvPr/>
        </p:nvSpPr>
        <p:spPr bwMode="auto">
          <a:xfrm>
            <a:off x="75438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133177" name="Text Box 56"/>
          <p:cNvSpPr txBox="1">
            <a:spLocks noChangeArrowheads="1"/>
          </p:cNvSpPr>
          <p:nvPr/>
        </p:nvSpPr>
        <p:spPr bwMode="auto">
          <a:xfrm>
            <a:off x="8128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133178" name="Text Box 57"/>
          <p:cNvSpPr txBox="1">
            <a:spLocks noChangeArrowheads="1"/>
          </p:cNvSpPr>
          <p:nvPr/>
        </p:nvSpPr>
        <p:spPr bwMode="auto">
          <a:xfrm>
            <a:off x="182245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133179" name="Text Box 58"/>
          <p:cNvSpPr txBox="1">
            <a:spLocks noChangeArrowheads="1"/>
          </p:cNvSpPr>
          <p:nvPr/>
        </p:nvSpPr>
        <p:spPr bwMode="auto">
          <a:xfrm>
            <a:off x="28321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133180" name="Text Box 59"/>
          <p:cNvSpPr txBox="1">
            <a:spLocks noChangeArrowheads="1"/>
          </p:cNvSpPr>
          <p:nvPr/>
        </p:nvSpPr>
        <p:spPr bwMode="auto">
          <a:xfrm>
            <a:off x="36734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133181" name="Text Box 60"/>
          <p:cNvSpPr txBox="1">
            <a:spLocks noChangeArrowheads="1"/>
          </p:cNvSpPr>
          <p:nvPr/>
        </p:nvSpPr>
        <p:spPr bwMode="auto">
          <a:xfrm>
            <a:off x="46831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133182" name="Text Box 61"/>
          <p:cNvSpPr txBox="1">
            <a:spLocks noChangeArrowheads="1"/>
          </p:cNvSpPr>
          <p:nvPr/>
        </p:nvSpPr>
        <p:spPr bwMode="auto">
          <a:xfrm>
            <a:off x="56927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133183" name="Text Box 62"/>
          <p:cNvSpPr txBox="1">
            <a:spLocks noChangeArrowheads="1"/>
          </p:cNvSpPr>
          <p:nvPr/>
        </p:nvSpPr>
        <p:spPr bwMode="auto">
          <a:xfrm>
            <a:off x="67024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133184" name="Text Box 63"/>
          <p:cNvSpPr txBox="1">
            <a:spLocks noChangeArrowheads="1"/>
          </p:cNvSpPr>
          <p:nvPr/>
        </p:nvSpPr>
        <p:spPr bwMode="auto">
          <a:xfrm>
            <a:off x="77120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133185" name="Oval 64"/>
          <p:cNvSpPr>
            <a:spLocks noChangeArrowheads="1"/>
          </p:cNvSpPr>
          <p:nvPr/>
        </p:nvSpPr>
        <p:spPr bwMode="auto">
          <a:xfrm>
            <a:off x="476250" y="514032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186" name="Text Box 65"/>
          <p:cNvSpPr txBox="1">
            <a:spLocks noChangeArrowheads="1"/>
          </p:cNvSpPr>
          <p:nvPr/>
        </p:nvSpPr>
        <p:spPr bwMode="auto">
          <a:xfrm>
            <a:off x="457200" y="52387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33187" name="Oval 66"/>
          <p:cNvSpPr>
            <a:spLocks noChangeArrowheads="1"/>
          </p:cNvSpPr>
          <p:nvPr/>
        </p:nvSpPr>
        <p:spPr bwMode="auto">
          <a:xfrm>
            <a:off x="1485900" y="513873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3188" name="Text Box 67"/>
          <p:cNvSpPr txBox="1">
            <a:spLocks noChangeArrowheads="1"/>
          </p:cNvSpPr>
          <p:nvPr/>
        </p:nvSpPr>
        <p:spPr bwMode="auto">
          <a:xfrm>
            <a:off x="1466850" y="5238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33189" name="Text Box 68"/>
          <p:cNvSpPr txBox="1">
            <a:spLocks noChangeArrowheads="1"/>
          </p:cNvSpPr>
          <p:nvPr/>
        </p:nvSpPr>
        <p:spPr bwMode="auto">
          <a:xfrm>
            <a:off x="148590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133190" name="Line 69"/>
          <p:cNvSpPr>
            <a:spLocks noChangeShapeType="1"/>
          </p:cNvSpPr>
          <p:nvPr/>
        </p:nvSpPr>
        <p:spPr bwMode="auto">
          <a:xfrm flipH="1">
            <a:off x="644525" y="467677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3191" name="Line 70"/>
          <p:cNvSpPr>
            <a:spLocks noChangeShapeType="1"/>
          </p:cNvSpPr>
          <p:nvPr/>
        </p:nvSpPr>
        <p:spPr bwMode="auto">
          <a:xfrm>
            <a:off x="1149350" y="467677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3192" name="Text Box 71"/>
          <p:cNvSpPr txBox="1">
            <a:spLocks noChangeArrowheads="1"/>
          </p:cNvSpPr>
          <p:nvPr/>
        </p:nvSpPr>
        <p:spPr bwMode="auto">
          <a:xfrm>
            <a:off x="47625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133193" name="Text Box 72"/>
          <p:cNvSpPr txBox="1">
            <a:spLocks noChangeArrowheads="1"/>
          </p:cNvSpPr>
          <p:nvPr/>
        </p:nvSpPr>
        <p:spPr bwMode="auto">
          <a:xfrm>
            <a:off x="3276600" y="3049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133194" name="Rectangle 73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Forming an Initial Heap (cont.)</a:t>
            </a: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58871392-5FA0-4E85-830B-8F3E01DDFB39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132</a:t>
            </a:fld>
            <a:endParaRPr lang="en-US" altLang="en-US" sz="1400"/>
          </a:p>
        </p:txBody>
      </p:sp>
      <p:sp>
        <p:nvSpPr>
          <p:cNvPr id="134147" name="Oval 2"/>
          <p:cNvSpPr>
            <a:spLocks noChangeArrowheads="1"/>
          </p:cNvSpPr>
          <p:nvPr/>
        </p:nvSpPr>
        <p:spPr bwMode="auto">
          <a:xfrm>
            <a:off x="23272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FF33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4148" name="Text Box 3"/>
          <p:cNvSpPr txBox="1">
            <a:spLocks noChangeArrowheads="1"/>
          </p:cNvSpPr>
          <p:nvPr/>
        </p:nvSpPr>
        <p:spPr bwMode="auto">
          <a:xfrm>
            <a:off x="23082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31</a:t>
            </a:r>
            <a:endParaRPr lang="en-US" altLang="en-US" sz="2400"/>
          </a:p>
        </p:txBody>
      </p:sp>
      <p:sp>
        <p:nvSpPr>
          <p:cNvPr id="134149" name="Oval 4"/>
          <p:cNvSpPr>
            <a:spLocks noChangeArrowheads="1"/>
          </p:cNvSpPr>
          <p:nvPr/>
        </p:nvSpPr>
        <p:spPr bwMode="auto">
          <a:xfrm>
            <a:off x="13176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4150" name="Text Box 5"/>
          <p:cNvSpPr txBox="1">
            <a:spLocks noChangeArrowheads="1"/>
          </p:cNvSpPr>
          <p:nvPr/>
        </p:nvSpPr>
        <p:spPr bwMode="auto">
          <a:xfrm>
            <a:off x="1298575" y="307975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34151" name="Oval 6"/>
          <p:cNvSpPr>
            <a:spLocks noChangeArrowheads="1"/>
          </p:cNvSpPr>
          <p:nvPr/>
        </p:nvSpPr>
        <p:spPr bwMode="auto">
          <a:xfrm>
            <a:off x="6445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4152" name="Text Box 7"/>
          <p:cNvSpPr txBox="1">
            <a:spLocks noChangeArrowheads="1"/>
          </p:cNvSpPr>
          <p:nvPr/>
        </p:nvSpPr>
        <p:spPr bwMode="auto">
          <a:xfrm>
            <a:off x="625475" y="4159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27</a:t>
            </a:r>
            <a:endParaRPr lang="en-US" altLang="en-US" sz="2400"/>
          </a:p>
        </p:txBody>
      </p:sp>
      <p:sp>
        <p:nvSpPr>
          <p:cNvPr id="134153" name="Text Box 8"/>
          <p:cNvSpPr txBox="1">
            <a:spLocks noChangeArrowheads="1"/>
          </p:cNvSpPr>
          <p:nvPr/>
        </p:nvSpPr>
        <p:spPr bwMode="auto">
          <a:xfrm>
            <a:off x="2057400" y="121285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134154" name="Oval 9"/>
          <p:cNvSpPr>
            <a:spLocks noChangeArrowheads="1"/>
          </p:cNvSpPr>
          <p:nvPr/>
        </p:nvSpPr>
        <p:spPr bwMode="auto">
          <a:xfrm>
            <a:off x="16541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4155" name="Text Box 10"/>
          <p:cNvSpPr txBox="1">
            <a:spLocks noChangeArrowheads="1"/>
          </p:cNvSpPr>
          <p:nvPr/>
        </p:nvSpPr>
        <p:spPr bwMode="auto">
          <a:xfrm>
            <a:off x="16351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12</a:t>
            </a:r>
            <a:endParaRPr lang="en-US" altLang="en-US" sz="2400"/>
          </a:p>
        </p:txBody>
      </p:sp>
      <p:sp>
        <p:nvSpPr>
          <p:cNvPr id="134156" name="Oval 11"/>
          <p:cNvSpPr>
            <a:spLocks noChangeArrowheads="1"/>
          </p:cNvSpPr>
          <p:nvPr/>
        </p:nvSpPr>
        <p:spPr bwMode="auto">
          <a:xfrm>
            <a:off x="4346575" y="14255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4157" name="Text Box 12"/>
          <p:cNvSpPr txBox="1">
            <a:spLocks noChangeArrowheads="1"/>
          </p:cNvSpPr>
          <p:nvPr/>
        </p:nvSpPr>
        <p:spPr bwMode="auto">
          <a:xfrm>
            <a:off x="4327525" y="1525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6</a:t>
            </a:r>
            <a:endParaRPr lang="en-US" altLang="en-US" sz="2400"/>
          </a:p>
        </p:txBody>
      </p:sp>
      <p:sp>
        <p:nvSpPr>
          <p:cNvPr id="134158" name="Line 13"/>
          <p:cNvSpPr>
            <a:spLocks noChangeShapeType="1"/>
          </p:cNvSpPr>
          <p:nvPr/>
        </p:nvSpPr>
        <p:spPr bwMode="auto">
          <a:xfrm>
            <a:off x="2832100" y="152082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4159" name="Oval 14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4160" name="Line 15"/>
          <p:cNvSpPr>
            <a:spLocks noChangeShapeType="1"/>
          </p:cNvSpPr>
          <p:nvPr/>
        </p:nvSpPr>
        <p:spPr bwMode="auto">
          <a:xfrm flipH="1">
            <a:off x="182245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4161" name="Line 16"/>
          <p:cNvSpPr>
            <a:spLocks noChangeShapeType="1"/>
          </p:cNvSpPr>
          <p:nvPr/>
        </p:nvSpPr>
        <p:spPr bwMode="auto">
          <a:xfrm>
            <a:off x="283210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4162" name="Oval 17"/>
          <p:cNvSpPr>
            <a:spLocks noChangeArrowheads="1"/>
          </p:cNvSpPr>
          <p:nvPr/>
        </p:nvSpPr>
        <p:spPr bwMode="auto">
          <a:xfrm>
            <a:off x="63658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4163" name="Text Box 18"/>
          <p:cNvSpPr txBox="1">
            <a:spLocks noChangeArrowheads="1"/>
          </p:cNvSpPr>
          <p:nvPr/>
        </p:nvSpPr>
        <p:spPr bwMode="auto">
          <a:xfrm>
            <a:off x="63468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34164" name="Oval 19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4165" name="Oval 20"/>
          <p:cNvSpPr>
            <a:spLocks noChangeArrowheads="1"/>
          </p:cNvSpPr>
          <p:nvPr/>
        </p:nvSpPr>
        <p:spPr bwMode="auto">
          <a:xfrm>
            <a:off x="73755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4166" name="Text Box 21"/>
          <p:cNvSpPr txBox="1">
            <a:spLocks noChangeArrowheads="1"/>
          </p:cNvSpPr>
          <p:nvPr/>
        </p:nvSpPr>
        <p:spPr bwMode="auto">
          <a:xfrm>
            <a:off x="7356475" y="3079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34167" name="Line 22"/>
          <p:cNvSpPr>
            <a:spLocks noChangeShapeType="1"/>
          </p:cNvSpPr>
          <p:nvPr/>
        </p:nvSpPr>
        <p:spPr bwMode="auto">
          <a:xfrm flipH="1">
            <a:off x="586105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4168" name="Line 23"/>
          <p:cNvSpPr>
            <a:spLocks noChangeShapeType="1"/>
          </p:cNvSpPr>
          <p:nvPr/>
        </p:nvSpPr>
        <p:spPr bwMode="auto">
          <a:xfrm>
            <a:off x="687070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4169" name="Line 24"/>
          <p:cNvSpPr>
            <a:spLocks noChangeShapeType="1"/>
          </p:cNvSpPr>
          <p:nvPr/>
        </p:nvSpPr>
        <p:spPr bwMode="auto">
          <a:xfrm flipH="1">
            <a:off x="3000375" y="1828800"/>
            <a:ext cx="1343025" cy="2270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4170" name="Line 25"/>
          <p:cNvSpPr>
            <a:spLocks noChangeShapeType="1"/>
          </p:cNvSpPr>
          <p:nvPr/>
        </p:nvSpPr>
        <p:spPr bwMode="auto">
          <a:xfrm>
            <a:off x="5029200" y="1752600"/>
            <a:ext cx="1371600" cy="3048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4171" name="Oval 26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4172" name="Oval 27"/>
          <p:cNvSpPr>
            <a:spLocks noChangeArrowheads="1"/>
          </p:cNvSpPr>
          <p:nvPr/>
        </p:nvSpPr>
        <p:spPr bwMode="auto">
          <a:xfrm>
            <a:off x="266382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4173" name="Text Box 28"/>
          <p:cNvSpPr txBox="1">
            <a:spLocks noChangeArrowheads="1"/>
          </p:cNvSpPr>
          <p:nvPr/>
        </p:nvSpPr>
        <p:spPr bwMode="auto">
          <a:xfrm>
            <a:off x="2644775" y="415448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34174" name="Oval 29"/>
          <p:cNvSpPr>
            <a:spLocks noChangeArrowheads="1"/>
          </p:cNvSpPr>
          <p:nvPr/>
        </p:nvSpPr>
        <p:spPr bwMode="auto">
          <a:xfrm>
            <a:off x="3673475" y="40544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4175" name="Text Box 30"/>
          <p:cNvSpPr txBox="1">
            <a:spLocks noChangeArrowheads="1"/>
          </p:cNvSpPr>
          <p:nvPr/>
        </p:nvSpPr>
        <p:spPr bwMode="auto">
          <a:xfrm>
            <a:off x="3654425" y="41544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38</a:t>
            </a:r>
            <a:endParaRPr lang="en-US" altLang="en-US" sz="2400"/>
          </a:p>
        </p:txBody>
      </p:sp>
      <p:sp>
        <p:nvSpPr>
          <p:cNvPr id="134176" name="Oval 31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4177" name="Text Box 32"/>
          <p:cNvSpPr txBox="1">
            <a:spLocks noChangeArrowheads="1"/>
          </p:cNvSpPr>
          <p:nvPr/>
        </p:nvSpPr>
        <p:spPr bwMode="auto">
          <a:xfrm>
            <a:off x="5334000" y="304958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134178" name="Oval 33"/>
          <p:cNvSpPr>
            <a:spLocks noChangeArrowheads="1"/>
          </p:cNvSpPr>
          <p:nvPr/>
        </p:nvSpPr>
        <p:spPr bwMode="auto">
          <a:xfrm>
            <a:off x="4683125" y="406082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4179" name="Text Box 34"/>
          <p:cNvSpPr txBox="1">
            <a:spLocks noChangeArrowheads="1"/>
          </p:cNvSpPr>
          <p:nvPr/>
        </p:nvSpPr>
        <p:spPr bwMode="auto">
          <a:xfrm>
            <a:off x="4664075" y="415766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34180" name="Oval 35"/>
          <p:cNvSpPr>
            <a:spLocks noChangeArrowheads="1"/>
          </p:cNvSpPr>
          <p:nvPr/>
        </p:nvSpPr>
        <p:spPr bwMode="auto">
          <a:xfrm>
            <a:off x="5692775" y="40608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4181" name="Text Box 36"/>
          <p:cNvSpPr txBox="1">
            <a:spLocks noChangeArrowheads="1"/>
          </p:cNvSpPr>
          <p:nvPr/>
        </p:nvSpPr>
        <p:spPr bwMode="auto">
          <a:xfrm>
            <a:off x="5673725" y="41608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134182" name="Oval 37"/>
          <p:cNvSpPr>
            <a:spLocks noChangeArrowheads="1"/>
          </p:cNvSpPr>
          <p:nvPr/>
        </p:nvSpPr>
        <p:spPr bwMode="auto">
          <a:xfrm>
            <a:off x="67024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4183" name="Text Box 38"/>
          <p:cNvSpPr txBox="1">
            <a:spLocks noChangeArrowheads="1"/>
          </p:cNvSpPr>
          <p:nvPr/>
        </p:nvSpPr>
        <p:spPr bwMode="auto">
          <a:xfrm>
            <a:off x="6683375" y="415925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</a:t>
            </a:r>
            <a:endParaRPr lang="en-US" altLang="en-US" sz="2400"/>
          </a:p>
        </p:txBody>
      </p:sp>
      <p:sp>
        <p:nvSpPr>
          <p:cNvPr id="134184" name="Oval 39"/>
          <p:cNvSpPr>
            <a:spLocks noChangeArrowheads="1"/>
          </p:cNvSpPr>
          <p:nvPr/>
        </p:nvSpPr>
        <p:spPr bwMode="auto">
          <a:xfrm>
            <a:off x="77120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4185" name="Text Box 40"/>
          <p:cNvSpPr txBox="1">
            <a:spLocks noChangeArrowheads="1"/>
          </p:cNvSpPr>
          <p:nvPr/>
        </p:nvSpPr>
        <p:spPr bwMode="auto">
          <a:xfrm>
            <a:off x="76930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34186" name="Line 41"/>
          <p:cNvSpPr>
            <a:spLocks noChangeShapeType="1"/>
          </p:cNvSpPr>
          <p:nvPr/>
        </p:nvSpPr>
        <p:spPr bwMode="auto">
          <a:xfrm flipH="1">
            <a:off x="9810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4187" name="Line 42"/>
          <p:cNvSpPr>
            <a:spLocks noChangeShapeType="1"/>
          </p:cNvSpPr>
          <p:nvPr/>
        </p:nvSpPr>
        <p:spPr bwMode="auto">
          <a:xfrm>
            <a:off x="19907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4188" name="Line 43"/>
          <p:cNvSpPr>
            <a:spLocks noChangeShapeType="1"/>
          </p:cNvSpPr>
          <p:nvPr/>
        </p:nvSpPr>
        <p:spPr bwMode="auto">
          <a:xfrm flipH="1">
            <a:off x="30003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4189" name="Line 44"/>
          <p:cNvSpPr>
            <a:spLocks noChangeShapeType="1"/>
          </p:cNvSpPr>
          <p:nvPr/>
        </p:nvSpPr>
        <p:spPr bwMode="auto">
          <a:xfrm>
            <a:off x="40100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4190" name="Line 45"/>
          <p:cNvSpPr>
            <a:spLocks noChangeShapeType="1"/>
          </p:cNvSpPr>
          <p:nvPr/>
        </p:nvSpPr>
        <p:spPr bwMode="auto">
          <a:xfrm flipH="1">
            <a:off x="50196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4191" name="Line 46"/>
          <p:cNvSpPr>
            <a:spLocks noChangeShapeType="1"/>
          </p:cNvSpPr>
          <p:nvPr/>
        </p:nvSpPr>
        <p:spPr bwMode="auto">
          <a:xfrm>
            <a:off x="60293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4192" name="Line 47"/>
          <p:cNvSpPr>
            <a:spLocks noChangeShapeType="1"/>
          </p:cNvSpPr>
          <p:nvPr/>
        </p:nvSpPr>
        <p:spPr bwMode="auto">
          <a:xfrm flipH="1">
            <a:off x="70389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4193" name="Line 48"/>
          <p:cNvSpPr>
            <a:spLocks noChangeShapeType="1"/>
          </p:cNvSpPr>
          <p:nvPr/>
        </p:nvSpPr>
        <p:spPr bwMode="auto">
          <a:xfrm>
            <a:off x="80486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4194" name="Text Box 49"/>
          <p:cNvSpPr txBox="1">
            <a:spLocks noChangeArrowheads="1"/>
          </p:cNvSpPr>
          <p:nvPr/>
        </p:nvSpPr>
        <p:spPr bwMode="auto">
          <a:xfrm>
            <a:off x="4514850" y="1976438"/>
            <a:ext cx="6731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134195" name="Text Box 50"/>
          <p:cNvSpPr txBox="1">
            <a:spLocks noChangeArrowheads="1"/>
          </p:cNvSpPr>
          <p:nvPr/>
        </p:nvSpPr>
        <p:spPr bwMode="auto">
          <a:xfrm>
            <a:off x="24955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134196" name="Text Box 51"/>
          <p:cNvSpPr txBox="1">
            <a:spLocks noChangeArrowheads="1"/>
          </p:cNvSpPr>
          <p:nvPr/>
        </p:nvSpPr>
        <p:spPr bwMode="auto">
          <a:xfrm>
            <a:off x="65341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134197" name="Text Box 52"/>
          <p:cNvSpPr txBox="1">
            <a:spLocks noChangeArrowheads="1"/>
          </p:cNvSpPr>
          <p:nvPr/>
        </p:nvSpPr>
        <p:spPr bwMode="auto">
          <a:xfrm>
            <a:off x="14859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134198" name="Text Box 53"/>
          <p:cNvSpPr txBox="1">
            <a:spLocks noChangeArrowheads="1"/>
          </p:cNvSpPr>
          <p:nvPr/>
        </p:nvSpPr>
        <p:spPr bwMode="auto">
          <a:xfrm>
            <a:off x="35052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134199" name="Text Box 54"/>
          <p:cNvSpPr txBox="1">
            <a:spLocks noChangeArrowheads="1"/>
          </p:cNvSpPr>
          <p:nvPr/>
        </p:nvSpPr>
        <p:spPr bwMode="auto">
          <a:xfrm>
            <a:off x="55245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134200" name="Text Box 55"/>
          <p:cNvSpPr txBox="1">
            <a:spLocks noChangeArrowheads="1"/>
          </p:cNvSpPr>
          <p:nvPr/>
        </p:nvSpPr>
        <p:spPr bwMode="auto">
          <a:xfrm>
            <a:off x="75438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134201" name="Text Box 56"/>
          <p:cNvSpPr txBox="1">
            <a:spLocks noChangeArrowheads="1"/>
          </p:cNvSpPr>
          <p:nvPr/>
        </p:nvSpPr>
        <p:spPr bwMode="auto">
          <a:xfrm>
            <a:off x="8128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134202" name="Text Box 57"/>
          <p:cNvSpPr txBox="1">
            <a:spLocks noChangeArrowheads="1"/>
          </p:cNvSpPr>
          <p:nvPr/>
        </p:nvSpPr>
        <p:spPr bwMode="auto">
          <a:xfrm>
            <a:off x="182245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134203" name="Text Box 58"/>
          <p:cNvSpPr txBox="1">
            <a:spLocks noChangeArrowheads="1"/>
          </p:cNvSpPr>
          <p:nvPr/>
        </p:nvSpPr>
        <p:spPr bwMode="auto">
          <a:xfrm>
            <a:off x="28321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134204" name="Text Box 59"/>
          <p:cNvSpPr txBox="1">
            <a:spLocks noChangeArrowheads="1"/>
          </p:cNvSpPr>
          <p:nvPr/>
        </p:nvSpPr>
        <p:spPr bwMode="auto">
          <a:xfrm>
            <a:off x="36734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134205" name="Text Box 60"/>
          <p:cNvSpPr txBox="1">
            <a:spLocks noChangeArrowheads="1"/>
          </p:cNvSpPr>
          <p:nvPr/>
        </p:nvSpPr>
        <p:spPr bwMode="auto">
          <a:xfrm>
            <a:off x="46831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134206" name="Text Box 61"/>
          <p:cNvSpPr txBox="1">
            <a:spLocks noChangeArrowheads="1"/>
          </p:cNvSpPr>
          <p:nvPr/>
        </p:nvSpPr>
        <p:spPr bwMode="auto">
          <a:xfrm>
            <a:off x="56927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134207" name="Text Box 62"/>
          <p:cNvSpPr txBox="1">
            <a:spLocks noChangeArrowheads="1"/>
          </p:cNvSpPr>
          <p:nvPr/>
        </p:nvSpPr>
        <p:spPr bwMode="auto">
          <a:xfrm>
            <a:off x="67024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134208" name="Text Box 63"/>
          <p:cNvSpPr txBox="1">
            <a:spLocks noChangeArrowheads="1"/>
          </p:cNvSpPr>
          <p:nvPr/>
        </p:nvSpPr>
        <p:spPr bwMode="auto">
          <a:xfrm>
            <a:off x="77120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134209" name="Oval 64"/>
          <p:cNvSpPr>
            <a:spLocks noChangeArrowheads="1"/>
          </p:cNvSpPr>
          <p:nvPr/>
        </p:nvSpPr>
        <p:spPr bwMode="auto">
          <a:xfrm>
            <a:off x="476250" y="514032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4210" name="Text Box 65"/>
          <p:cNvSpPr txBox="1">
            <a:spLocks noChangeArrowheads="1"/>
          </p:cNvSpPr>
          <p:nvPr/>
        </p:nvSpPr>
        <p:spPr bwMode="auto">
          <a:xfrm>
            <a:off x="457200" y="52387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34211" name="Oval 66"/>
          <p:cNvSpPr>
            <a:spLocks noChangeArrowheads="1"/>
          </p:cNvSpPr>
          <p:nvPr/>
        </p:nvSpPr>
        <p:spPr bwMode="auto">
          <a:xfrm>
            <a:off x="1485900" y="513873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4212" name="Text Box 67"/>
          <p:cNvSpPr txBox="1">
            <a:spLocks noChangeArrowheads="1"/>
          </p:cNvSpPr>
          <p:nvPr/>
        </p:nvSpPr>
        <p:spPr bwMode="auto">
          <a:xfrm>
            <a:off x="1466850" y="5238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34213" name="Text Box 68"/>
          <p:cNvSpPr txBox="1">
            <a:spLocks noChangeArrowheads="1"/>
          </p:cNvSpPr>
          <p:nvPr/>
        </p:nvSpPr>
        <p:spPr bwMode="auto">
          <a:xfrm>
            <a:off x="148590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134214" name="Line 69"/>
          <p:cNvSpPr>
            <a:spLocks noChangeShapeType="1"/>
          </p:cNvSpPr>
          <p:nvPr/>
        </p:nvSpPr>
        <p:spPr bwMode="auto">
          <a:xfrm flipH="1">
            <a:off x="644525" y="467677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4215" name="Line 70"/>
          <p:cNvSpPr>
            <a:spLocks noChangeShapeType="1"/>
          </p:cNvSpPr>
          <p:nvPr/>
        </p:nvSpPr>
        <p:spPr bwMode="auto">
          <a:xfrm>
            <a:off x="1149350" y="467677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4216" name="Text Box 71"/>
          <p:cNvSpPr txBox="1">
            <a:spLocks noChangeArrowheads="1"/>
          </p:cNvSpPr>
          <p:nvPr/>
        </p:nvSpPr>
        <p:spPr bwMode="auto">
          <a:xfrm>
            <a:off x="47625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134217" name="Text Box 72"/>
          <p:cNvSpPr txBox="1">
            <a:spLocks noChangeArrowheads="1"/>
          </p:cNvSpPr>
          <p:nvPr/>
        </p:nvSpPr>
        <p:spPr bwMode="auto">
          <a:xfrm>
            <a:off x="3276600" y="3049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134218" name="Rectangle 73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Forming an Initial Heap (cont.)</a:t>
            </a:r>
          </a:p>
        </p:txBody>
      </p:sp>
      <p:sp>
        <p:nvSpPr>
          <p:cNvPr id="134219" name="Freeform 74"/>
          <p:cNvSpPr>
            <a:spLocks/>
          </p:cNvSpPr>
          <p:nvPr/>
        </p:nvSpPr>
        <p:spPr bwMode="auto">
          <a:xfrm>
            <a:off x="3048000" y="2286000"/>
            <a:ext cx="762000" cy="609600"/>
          </a:xfrm>
          <a:custGeom>
            <a:avLst/>
            <a:gdLst>
              <a:gd name="T0" fmla="*/ 0 w 480"/>
              <a:gd name="T1" fmla="*/ 0 h 384"/>
              <a:gd name="T2" fmla="*/ 2147483646 w 480"/>
              <a:gd name="T3" fmla="*/ 2147483646 h 384"/>
              <a:gd name="T4" fmla="*/ 2147483646 w 480"/>
              <a:gd name="T5" fmla="*/ 2147483646 h 38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80" h="384">
                <a:moveTo>
                  <a:pt x="0" y="0"/>
                </a:moveTo>
                <a:cubicBezTo>
                  <a:pt x="152" y="16"/>
                  <a:pt x="304" y="32"/>
                  <a:pt x="384" y="96"/>
                </a:cubicBezTo>
                <a:cubicBezTo>
                  <a:pt x="464" y="160"/>
                  <a:pt x="464" y="336"/>
                  <a:pt x="480" y="384"/>
                </a:cubicBezTo>
              </a:path>
            </a:pathLst>
          </a:custGeom>
          <a:noFill/>
          <a:ln w="57150" cap="rnd" cmpd="sng">
            <a:solidFill>
              <a:schemeClr val="hlink"/>
            </a:solidFill>
            <a:prstDash val="sysDot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4220" name="Freeform 75"/>
          <p:cNvSpPr>
            <a:spLocks/>
          </p:cNvSpPr>
          <p:nvPr/>
        </p:nvSpPr>
        <p:spPr bwMode="auto">
          <a:xfrm>
            <a:off x="4114800" y="3276600"/>
            <a:ext cx="571500" cy="838200"/>
          </a:xfrm>
          <a:custGeom>
            <a:avLst/>
            <a:gdLst>
              <a:gd name="T0" fmla="*/ 0 w 360"/>
              <a:gd name="T1" fmla="*/ 0 h 528"/>
              <a:gd name="T2" fmla="*/ 2147483646 w 360"/>
              <a:gd name="T3" fmla="*/ 2147483646 h 528"/>
              <a:gd name="T4" fmla="*/ 2147483646 w 360"/>
              <a:gd name="T5" fmla="*/ 2147483646 h 52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60" h="528">
                <a:moveTo>
                  <a:pt x="0" y="0"/>
                </a:moveTo>
                <a:cubicBezTo>
                  <a:pt x="156" y="76"/>
                  <a:pt x="312" y="152"/>
                  <a:pt x="336" y="240"/>
                </a:cubicBezTo>
                <a:cubicBezTo>
                  <a:pt x="360" y="328"/>
                  <a:pt x="176" y="480"/>
                  <a:pt x="144" y="528"/>
                </a:cubicBezTo>
              </a:path>
            </a:pathLst>
          </a:custGeom>
          <a:noFill/>
          <a:ln w="57150" cap="rnd" cmpd="sng">
            <a:solidFill>
              <a:schemeClr val="hlink"/>
            </a:solidFill>
            <a:prstDash val="sysDot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4221" name="Text Box 76"/>
          <p:cNvSpPr txBox="1">
            <a:spLocks noChangeArrowheads="1"/>
          </p:cNvSpPr>
          <p:nvPr/>
        </p:nvSpPr>
        <p:spPr bwMode="auto">
          <a:xfrm>
            <a:off x="2667000" y="5486400"/>
            <a:ext cx="1447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temp</a:t>
            </a:r>
          </a:p>
        </p:txBody>
      </p:sp>
      <p:sp>
        <p:nvSpPr>
          <p:cNvPr id="134222" name="Freeform 77"/>
          <p:cNvSpPr>
            <a:spLocks/>
          </p:cNvSpPr>
          <p:nvPr/>
        </p:nvSpPr>
        <p:spPr bwMode="auto">
          <a:xfrm>
            <a:off x="2425700" y="2590800"/>
            <a:ext cx="279400" cy="3136900"/>
          </a:xfrm>
          <a:custGeom>
            <a:avLst/>
            <a:gdLst>
              <a:gd name="T0" fmla="*/ 2147483646 w 176"/>
              <a:gd name="T1" fmla="*/ 0 h 1976"/>
              <a:gd name="T2" fmla="*/ 2147483646 w 176"/>
              <a:gd name="T3" fmla="*/ 2147483646 h 1976"/>
              <a:gd name="T4" fmla="*/ 2147483646 w 176"/>
              <a:gd name="T5" fmla="*/ 2147483646 h 1976"/>
              <a:gd name="T6" fmla="*/ 2147483646 w 176"/>
              <a:gd name="T7" fmla="*/ 2147483646 h 1976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76" h="1976">
                <a:moveTo>
                  <a:pt x="104" y="0"/>
                </a:moveTo>
                <a:cubicBezTo>
                  <a:pt x="52" y="608"/>
                  <a:pt x="0" y="1216"/>
                  <a:pt x="8" y="1536"/>
                </a:cubicBezTo>
                <a:cubicBezTo>
                  <a:pt x="16" y="1856"/>
                  <a:pt x="128" y="1864"/>
                  <a:pt x="152" y="1920"/>
                </a:cubicBezTo>
                <a:cubicBezTo>
                  <a:pt x="176" y="1976"/>
                  <a:pt x="152" y="1880"/>
                  <a:pt x="152" y="1872"/>
                </a:cubicBezTo>
              </a:path>
            </a:pathLst>
          </a:custGeom>
          <a:noFill/>
          <a:ln w="57150" cap="rnd" cmpd="sng">
            <a:solidFill>
              <a:schemeClr val="hlink"/>
            </a:solidFill>
            <a:prstDash val="sysDot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4223" name="Line 78"/>
          <p:cNvSpPr>
            <a:spLocks noChangeShapeType="1"/>
          </p:cNvSpPr>
          <p:nvPr/>
        </p:nvSpPr>
        <p:spPr bwMode="auto">
          <a:xfrm flipV="1">
            <a:off x="3124200" y="4724400"/>
            <a:ext cx="609600" cy="762000"/>
          </a:xfrm>
          <a:prstGeom prst="line">
            <a:avLst/>
          </a:prstGeom>
          <a:noFill/>
          <a:ln w="57150" cap="rnd">
            <a:solidFill>
              <a:schemeClr val="hlink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8E12B031-A98F-490C-96E2-50A58C99CF3A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133</a:t>
            </a:fld>
            <a:endParaRPr lang="en-US" altLang="en-US" sz="1400"/>
          </a:p>
        </p:txBody>
      </p:sp>
      <p:sp>
        <p:nvSpPr>
          <p:cNvPr id="135171" name="Oval 2"/>
          <p:cNvSpPr>
            <a:spLocks noChangeArrowheads="1"/>
          </p:cNvSpPr>
          <p:nvPr/>
        </p:nvSpPr>
        <p:spPr bwMode="auto">
          <a:xfrm>
            <a:off x="23272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FF33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5172" name="Text Box 3"/>
          <p:cNvSpPr txBox="1">
            <a:spLocks noChangeArrowheads="1"/>
          </p:cNvSpPr>
          <p:nvPr/>
        </p:nvSpPr>
        <p:spPr bwMode="auto">
          <a:xfrm>
            <a:off x="23082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135173" name="Oval 4"/>
          <p:cNvSpPr>
            <a:spLocks noChangeArrowheads="1"/>
          </p:cNvSpPr>
          <p:nvPr/>
        </p:nvSpPr>
        <p:spPr bwMode="auto">
          <a:xfrm>
            <a:off x="13176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5174" name="Text Box 5"/>
          <p:cNvSpPr txBox="1">
            <a:spLocks noChangeArrowheads="1"/>
          </p:cNvSpPr>
          <p:nvPr/>
        </p:nvSpPr>
        <p:spPr bwMode="auto">
          <a:xfrm>
            <a:off x="1298575" y="307975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35175" name="Oval 6"/>
          <p:cNvSpPr>
            <a:spLocks noChangeArrowheads="1"/>
          </p:cNvSpPr>
          <p:nvPr/>
        </p:nvSpPr>
        <p:spPr bwMode="auto">
          <a:xfrm>
            <a:off x="6445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5176" name="Text Box 7"/>
          <p:cNvSpPr txBox="1">
            <a:spLocks noChangeArrowheads="1"/>
          </p:cNvSpPr>
          <p:nvPr/>
        </p:nvSpPr>
        <p:spPr bwMode="auto">
          <a:xfrm>
            <a:off x="625475" y="4159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27</a:t>
            </a:r>
            <a:endParaRPr lang="en-US" altLang="en-US" sz="2400"/>
          </a:p>
        </p:txBody>
      </p:sp>
      <p:sp>
        <p:nvSpPr>
          <p:cNvPr id="135177" name="Text Box 8"/>
          <p:cNvSpPr txBox="1">
            <a:spLocks noChangeArrowheads="1"/>
          </p:cNvSpPr>
          <p:nvPr/>
        </p:nvSpPr>
        <p:spPr bwMode="auto">
          <a:xfrm>
            <a:off x="2057400" y="121285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135178" name="Oval 9"/>
          <p:cNvSpPr>
            <a:spLocks noChangeArrowheads="1"/>
          </p:cNvSpPr>
          <p:nvPr/>
        </p:nvSpPr>
        <p:spPr bwMode="auto">
          <a:xfrm>
            <a:off x="16541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5179" name="Text Box 10"/>
          <p:cNvSpPr txBox="1">
            <a:spLocks noChangeArrowheads="1"/>
          </p:cNvSpPr>
          <p:nvPr/>
        </p:nvSpPr>
        <p:spPr bwMode="auto">
          <a:xfrm>
            <a:off x="16351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12</a:t>
            </a:r>
            <a:endParaRPr lang="en-US" altLang="en-US" sz="2400"/>
          </a:p>
        </p:txBody>
      </p:sp>
      <p:sp>
        <p:nvSpPr>
          <p:cNvPr id="135180" name="Oval 11"/>
          <p:cNvSpPr>
            <a:spLocks noChangeArrowheads="1"/>
          </p:cNvSpPr>
          <p:nvPr/>
        </p:nvSpPr>
        <p:spPr bwMode="auto">
          <a:xfrm>
            <a:off x="4346575" y="14255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5181" name="Text Box 12"/>
          <p:cNvSpPr txBox="1">
            <a:spLocks noChangeArrowheads="1"/>
          </p:cNvSpPr>
          <p:nvPr/>
        </p:nvSpPr>
        <p:spPr bwMode="auto">
          <a:xfrm>
            <a:off x="4327525" y="1525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6</a:t>
            </a:r>
            <a:endParaRPr lang="en-US" altLang="en-US" sz="2400"/>
          </a:p>
        </p:txBody>
      </p:sp>
      <p:sp>
        <p:nvSpPr>
          <p:cNvPr id="135182" name="Line 13"/>
          <p:cNvSpPr>
            <a:spLocks noChangeShapeType="1"/>
          </p:cNvSpPr>
          <p:nvPr/>
        </p:nvSpPr>
        <p:spPr bwMode="auto">
          <a:xfrm>
            <a:off x="2832100" y="152082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5183" name="Oval 14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5184" name="Line 15"/>
          <p:cNvSpPr>
            <a:spLocks noChangeShapeType="1"/>
          </p:cNvSpPr>
          <p:nvPr/>
        </p:nvSpPr>
        <p:spPr bwMode="auto">
          <a:xfrm flipH="1">
            <a:off x="182245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5185" name="Line 16"/>
          <p:cNvSpPr>
            <a:spLocks noChangeShapeType="1"/>
          </p:cNvSpPr>
          <p:nvPr/>
        </p:nvSpPr>
        <p:spPr bwMode="auto">
          <a:xfrm>
            <a:off x="283210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5186" name="Oval 17"/>
          <p:cNvSpPr>
            <a:spLocks noChangeArrowheads="1"/>
          </p:cNvSpPr>
          <p:nvPr/>
        </p:nvSpPr>
        <p:spPr bwMode="auto">
          <a:xfrm>
            <a:off x="63658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5187" name="Text Box 18"/>
          <p:cNvSpPr txBox="1">
            <a:spLocks noChangeArrowheads="1"/>
          </p:cNvSpPr>
          <p:nvPr/>
        </p:nvSpPr>
        <p:spPr bwMode="auto">
          <a:xfrm>
            <a:off x="63468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35188" name="Oval 19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5189" name="Oval 20"/>
          <p:cNvSpPr>
            <a:spLocks noChangeArrowheads="1"/>
          </p:cNvSpPr>
          <p:nvPr/>
        </p:nvSpPr>
        <p:spPr bwMode="auto">
          <a:xfrm>
            <a:off x="73755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5190" name="Text Box 21"/>
          <p:cNvSpPr txBox="1">
            <a:spLocks noChangeArrowheads="1"/>
          </p:cNvSpPr>
          <p:nvPr/>
        </p:nvSpPr>
        <p:spPr bwMode="auto">
          <a:xfrm>
            <a:off x="7356475" y="3079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35191" name="Line 22"/>
          <p:cNvSpPr>
            <a:spLocks noChangeShapeType="1"/>
          </p:cNvSpPr>
          <p:nvPr/>
        </p:nvSpPr>
        <p:spPr bwMode="auto">
          <a:xfrm flipH="1">
            <a:off x="586105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5192" name="Line 23"/>
          <p:cNvSpPr>
            <a:spLocks noChangeShapeType="1"/>
          </p:cNvSpPr>
          <p:nvPr/>
        </p:nvSpPr>
        <p:spPr bwMode="auto">
          <a:xfrm>
            <a:off x="687070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5193" name="Line 24"/>
          <p:cNvSpPr>
            <a:spLocks noChangeShapeType="1"/>
          </p:cNvSpPr>
          <p:nvPr/>
        </p:nvSpPr>
        <p:spPr bwMode="auto">
          <a:xfrm flipH="1">
            <a:off x="3000375" y="1828800"/>
            <a:ext cx="1343025" cy="2270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5194" name="Line 25"/>
          <p:cNvSpPr>
            <a:spLocks noChangeShapeType="1"/>
          </p:cNvSpPr>
          <p:nvPr/>
        </p:nvSpPr>
        <p:spPr bwMode="auto">
          <a:xfrm>
            <a:off x="5029200" y="1752600"/>
            <a:ext cx="1371600" cy="3048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5195" name="Oval 26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5196" name="Oval 27"/>
          <p:cNvSpPr>
            <a:spLocks noChangeArrowheads="1"/>
          </p:cNvSpPr>
          <p:nvPr/>
        </p:nvSpPr>
        <p:spPr bwMode="auto">
          <a:xfrm>
            <a:off x="266382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5197" name="Text Box 28"/>
          <p:cNvSpPr txBox="1">
            <a:spLocks noChangeArrowheads="1"/>
          </p:cNvSpPr>
          <p:nvPr/>
        </p:nvSpPr>
        <p:spPr bwMode="auto">
          <a:xfrm>
            <a:off x="2644775" y="415448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35198" name="Oval 29"/>
          <p:cNvSpPr>
            <a:spLocks noChangeArrowheads="1"/>
          </p:cNvSpPr>
          <p:nvPr/>
        </p:nvSpPr>
        <p:spPr bwMode="auto">
          <a:xfrm>
            <a:off x="3673475" y="40544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5199" name="Text Box 30"/>
          <p:cNvSpPr txBox="1">
            <a:spLocks noChangeArrowheads="1"/>
          </p:cNvSpPr>
          <p:nvPr/>
        </p:nvSpPr>
        <p:spPr bwMode="auto">
          <a:xfrm>
            <a:off x="3654425" y="41544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31</a:t>
            </a:r>
            <a:endParaRPr lang="en-US" altLang="en-US" sz="2400"/>
          </a:p>
        </p:txBody>
      </p:sp>
      <p:sp>
        <p:nvSpPr>
          <p:cNvPr id="135200" name="Oval 31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5201" name="Text Box 32"/>
          <p:cNvSpPr txBox="1">
            <a:spLocks noChangeArrowheads="1"/>
          </p:cNvSpPr>
          <p:nvPr/>
        </p:nvSpPr>
        <p:spPr bwMode="auto">
          <a:xfrm>
            <a:off x="5334000" y="304958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135202" name="Oval 33"/>
          <p:cNvSpPr>
            <a:spLocks noChangeArrowheads="1"/>
          </p:cNvSpPr>
          <p:nvPr/>
        </p:nvSpPr>
        <p:spPr bwMode="auto">
          <a:xfrm>
            <a:off x="4683125" y="406082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5203" name="Text Box 34"/>
          <p:cNvSpPr txBox="1">
            <a:spLocks noChangeArrowheads="1"/>
          </p:cNvSpPr>
          <p:nvPr/>
        </p:nvSpPr>
        <p:spPr bwMode="auto">
          <a:xfrm>
            <a:off x="4664075" y="415766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35204" name="Oval 35"/>
          <p:cNvSpPr>
            <a:spLocks noChangeArrowheads="1"/>
          </p:cNvSpPr>
          <p:nvPr/>
        </p:nvSpPr>
        <p:spPr bwMode="auto">
          <a:xfrm>
            <a:off x="5692775" y="40608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5205" name="Text Box 36"/>
          <p:cNvSpPr txBox="1">
            <a:spLocks noChangeArrowheads="1"/>
          </p:cNvSpPr>
          <p:nvPr/>
        </p:nvSpPr>
        <p:spPr bwMode="auto">
          <a:xfrm>
            <a:off x="5673725" y="41608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135206" name="Oval 37"/>
          <p:cNvSpPr>
            <a:spLocks noChangeArrowheads="1"/>
          </p:cNvSpPr>
          <p:nvPr/>
        </p:nvSpPr>
        <p:spPr bwMode="auto">
          <a:xfrm>
            <a:off x="67024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5207" name="Text Box 38"/>
          <p:cNvSpPr txBox="1">
            <a:spLocks noChangeArrowheads="1"/>
          </p:cNvSpPr>
          <p:nvPr/>
        </p:nvSpPr>
        <p:spPr bwMode="auto">
          <a:xfrm>
            <a:off x="6683375" y="415925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</a:t>
            </a:r>
            <a:endParaRPr lang="en-US" altLang="en-US" sz="2400"/>
          </a:p>
        </p:txBody>
      </p:sp>
      <p:sp>
        <p:nvSpPr>
          <p:cNvPr id="135208" name="Oval 39"/>
          <p:cNvSpPr>
            <a:spLocks noChangeArrowheads="1"/>
          </p:cNvSpPr>
          <p:nvPr/>
        </p:nvSpPr>
        <p:spPr bwMode="auto">
          <a:xfrm>
            <a:off x="77120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5209" name="Text Box 40"/>
          <p:cNvSpPr txBox="1">
            <a:spLocks noChangeArrowheads="1"/>
          </p:cNvSpPr>
          <p:nvPr/>
        </p:nvSpPr>
        <p:spPr bwMode="auto">
          <a:xfrm>
            <a:off x="76930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35210" name="Line 41"/>
          <p:cNvSpPr>
            <a:spLocks noChangeShapeType="1"/>
          </p:cNvSpPr>
          <p:nvPr/>
        </p:nvSpPr>
        <p:spPr bwMode="auto">
          <a:xfrm flipH="1">
            <a:off x="9810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5211" name="Line 42"/>
          <p:cNvSpPr>
            <a:spLocks noChangeShapeType="1"/>
          </p:cNvSpPr>
          <p:nvPr/>
        </p:nvSpPr>
        <p:spPr bwMode="auto">
          <a:xfrm>
            <a:off x="19907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5212" name="Line 43"/>
          <p:cNvSpPr>
            <a:spLocks noChangeShapeType="1"/>
          </p:cNvSpPr>
          <p:nvPr/>
        </p:nvSpPr>
        <p:spPr bwMode="auto">
          <a:xfrm flipH="1">
            <a:off x="30003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5213" name="Line 44"/>
          <p:cNvSpPr>
            <a:spLocks noChangeShapeType="1"/>
          </p:cNvSpPr>
          <p:nvPr/>
        </p:nvSpPr>
        <p:spPr bwMode="auto">
          <a:xfrm>
            <a:off x="40100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5214" name="Line 45"/>
          <p:cNvSpPr>
            <a:spLocks noChangeShapeType="1"/>
          </p:cNvSpPr>
          <p:nvPr/>
        </p:nvSpPr>
        <p:spPr bwMode="auto">
          <a:xfrm flipH="1">
            <a:off x="50196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5215" name="Line 46"/>
          <p:cNvSpPr>
            <a:spLocks noChangeShapeType="1"/>
          </p:cNvSpPr>
          <p:nvPr/>
        </p:nvSpPr>
        <p:spPr bwMode="auto">
          <a:xfrm>
            <a:off x="60293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5216" name="Line 47"/>
          <p:cNvSpPr>
            <a:spLocks noChangeShapeType="1"/>
          </p:cNvSpPr>
          <p:nvPr/>
        </p:nvSpPr>
        <p:spPr bwMode="auto">
          <a:xfrm flipH="1">
            <a:off x="70389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5217" name="Line 48"/>
          <p:cNvSpPr>
            <a:spLocks noChangeShapeType="1"/>
          </p:cNvSpPr>
          <p:nvPr/>
        </p:nvSpPr>
        <p:spPr bwMode="auto">
          <a:xfrm>
            <a:off x="80486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5218" name="Text Box 49"/>
          <p:cNvSpPr txBox="1">
            <a:spLocks noChangeArrowheads="1"/>
          </p:cNvSpPr>
          <p:nvPr/>
        </p:nvSpPr>
        <p:spPr bwMode="auto">
          <a:xfrm>
            <a:off x="4514850" y="1976438"/>
            <a:ext cx="6731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135219" name="Text Box 50"/>
          <p:cNvSpPr txBox="1">
            <a:spLocks noChangeArrowheads="1"/>
          </p:cNvSpPr>
          <p:nvPr/>
        </p:nvSpPr>
        <p:spPr bwMode="auto">
          <a:xfrm>
            <a:off x="24955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135220" name="Text Box 51"/>
          <p:cNvSpPr txBox="1">
            <a:spLocks noChangeArrowheads="1"/>
          </p:cNvSpPr>
          <p:nvPr/>
        </p:nvSpPr>
        <p:spPr bwMode="auto">
          <a:xfrm>
            <a:off x="65341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135221" name="Text Box 52"/>
          <p:cNvSpPr txBox="1">
            <a:spLocks noChangeArrowheads="1"/>
          </p:cNvSpPr>
          <p:nvPr/>
        </p:nvSpPr>
        <p:spPr bwMode="auto">
          <a:xfrm>
            <a:off x="14859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135222" name="Text Box 53"/>
          <p:cNvSpPr txBox="1">
            <a:spLocks noChangeArrowheads="1"/>
          </p:cNvSpPr>
          <p:nvPr/>
        </p:nvSpPr>
        <p:spPr bwMode="auto">
          <a:xfrm>
            <a:off x="35052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135223" name="Text Box 54"/>
          <p:cNvSpPr txBox="1">
            <a:spLocks noChangeArrowheads="1"/>
          </p:cNvSpPr>
          <p:nvPr/>
        </p:nvSpPr>
        <p:spPr bwMode="auto">
          <a:xfrm>
            <a:off x="55245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135224" name="Text Box 55"/>
          <p:cNvSpPr txBox="1">
            <a:spLocks noChangeArrowheads="1"/>
          </p:cNvSpPr>
          <p:nvPr/>
        </p:nvSpPr>
        <p:spPr bwMode="auto">
          <a:xfrm>
            <a:off x="75438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135225" name="Text Box 56"/>
          <p:cNvSpPr txBox="1">
            <a:spLocks noChangeArrowheads="1"/>
          </p:cNvSpPr>
          <p:nvPr/>
        </p:nvSpPr>
        <p:spPr bwMode="auto">
          <a:xfrm>
            <a:off x="8128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135226" name="Text Box 57"/>
          <p:cNvSpPr txBox="1">
            <a:spLocks noChangeArrowheads="1"/>
          </p:cNvSpPr>
          <p:nvPr/>
        </p:nvSpPr>
        <p:spPr bwMode="auto">
          <a:xfrm>
            <a:off x="182245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135227" name="Text Box 58"/>
          <p:cNvSpPr txBox="1">
            <a:spLocks noChangeArrowheads="1"/>
          </p:cNvSpPr>
          <p:nvPr/>
        </p:nvSpPr>
        <p:spPr bwMode="auto">
          <a:xfrm>
            <a:off x="28321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135228" name="Text Box 59"/>
          <p:cNvSpPr txBox="1">
            <a:spLocks noChangeArrowheads="1"/>
          </p:cNvSpPr>
          <p:nvPr/>
        </p:nvSpPr>
        <p:spPr bwMode="auto">
          <a:xfrm>
            <a:off x="36734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135229" name="Text Box 60"/>
          <p:cNvSpPr txBox="1">
            <a:spLocks noChangeArrowheads="1"/>
          </p:cNvSpPr>
          <p:nvPr/>
        </p:nvSpPr>
        <p:spPr bwMode="auto">
          <a:xfrm>
            <a:off x="46831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135230" name="Text Box 61"/>
          <p:cNvSpPr txBox="1">
            <a:spLocks noChangeArrowheads="1"/>
          </p:cNvSpPr>
          <p:nvPr/>
        </p:nvSpPr>
        <p:spPr bwMode="auto">
          <a:xfrm>
            <a:off x="56927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135231" name="Text Box 62"/>
          <p:cNvSpPr txBox="1">
            <a:spLocks noChangeArrowheads="1"/>
          </p:cNvSpPr>
          <p:nvPr/>
        </p:nvSpPr>
        <p:spPr bwMode="auto">
          <a:xfrm>
            <a:off x="67024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135232" name="Text Box 63"/>
          <p:cNvSpPr txBox="1">
            <a:spLocks noChangeArrowheads="1"/>
          </p:cNvSpPr>
          <p:nvPr/>
        </p:nvSpPr>
        <p:spPr bwMode="auto">
          <a:xfrm>
            <a:off x="77120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135233" name="Oval 64"/>
          <p:cNvSpPr>
            <a:spLocks noChangeArrowheads="1"/>
          </p:cNvSpPr>
          <p:nvPr/>
        </p:nvSpPr>
        <p:spPr bwMode="auto">
          <a:xfrm>
            <a:off x="476250" y="514032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5234" name="Text Box 65"/>
          <p:cNvSpPr txBox="1">
            <a:spLocks noChangeArrowheads="1"/>
          </p:cNvSpPr>
          <p:nvPr/>
        </p:nvSpPr>
        <p:spPr bwMode="auto">
          <a:xfrm>
            <a:off x="457200" y="52387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35235" name="Oval 66"/>
          <p:cNvSpPr>
            <a:spLocks noChangeArrowheads="1"/>
          </p:cNvSpPr>
          <p:nvPr/>
        </p:nvSpPr>
        <p:spPr bwMode="auto">
          <a:xfrm>
            <a:off x="1485900" y="513873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5236" name="Text Box 67"/>
          <p:cNvSpPr txBox="1">
            <a:spLocks noChangeArrowheads="1"/>
          </p:cNvSpPr>
          <p:nvPr/>
        </p:nvSpPr>
        <p:spPr bwMode="auto">
          <a:xfrm>
            <a:off x="1466850" y="5238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35237" name="Text Box 68"/>
          <p:cNvSpPr txBox="1">
            <a:spLocks noChangeArrowheads="1"/>
          </p:cNvSpPr>
          <p:nvPr/>
        </p:nvSpPr>
        <p:spPr bwMode="auto">
          <a:xfrm>
            <a:off x="148590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135238" name="Line 69"/>
          <p:cNvSpPr>
            <a:spLocks noChangeShapeType="1"/>
          </p:cNvSpPr>
          <p:nvPr/>
        </p:nvSpPr>
        <p:spPr bwMode="auto">
          <a:xfrm flipH="1">
            <a:off x="644525" y="467677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5239" name="Line 70"/>
          <p:cNvSpPr>
            <a:spLocks noChangeShapeType="1"/>
          </p:cNvSpPr>
          <p:nvPr/>
        </p:nvSpPr>
        <p:spPr bwMode="auto">
          <a:xfrm>
            <a:off x="1149350" y="467677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5240" name="Text Box 71"/>
          <p:cNvSpPr txBox="1">
            <a:spLocks noChangeArrowheads="1"/>
          </p:cNvSpPr>
          <p:nvPr/>
        </p:nvSpPr>
        <p:spPr bwMode="auto">
          <a:xfrm>
            <a:off x="47625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135241" name="Text Box 72"/>
          <p:cNvSpPr txBox="1">
            <a:spLocks noChangeArrowheads="1"/>
          </p:cNvSpPr>
          <p:nvPr/>
        </p:nvSpPr>
        <p:spPr bwMode="auto">
          <a:xfrm>
            <a:off x="3276600" y="3049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38</a:t>
            </a:r>
            <a:endParaRPr lang="en-US" altLang="en-US" sz="2400"/>
          </a:p>
        </p:txBody>
      </p:sp>
      <p:sp>
        <p:nvSpPr>
          <p:cNvPr id="135242" name="Rectangle 73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Forming an Initial Heap (cont.)</a:t>
            </a: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4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28C4A294-4B4B-424D-812E-A92B765B3B4F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134</a:t>
            </a:fld>
            <a:endParaRPr lang="en-US" altLang="en-US" sz="1400"/>
          </a:p>
        </p:txBody>
      </p:sp>
      <p:sp>
        <p:nvSpPr>
          <p:cNvPr id="136195" name="Oval 2"/>
          <p:cNvSpPr>
            <a:spLocks noChangeArrowheads="1"/>
          </p:cNvSpPr>
          <p:nvPr/>
        </p:nvSpPr>
        <p:spPr bwMode="auto">
          <a:xfrm>
            <a:off x="23272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6196" name="Text Box 3"/>
          <p:cNvSpPr txBox="1">
            <a:spLocks noChangeArrowheads="1"/>
          </p:cNvSpPr>
          <p:nvPr/>
        </p:nvSpPr>
        <p:spPr bwMode="auto">
          <a:xfrm>
            <a:off x="23082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136197" name="Oval 4"/>
          <p:cNvSpPr>
            <a:spLocks noChangeArrowheads="1"/>
          </p:cNvSpPr>
          <p:nvPr/>
        </p:nvSpPr>
        <p:spPr bwMode="auto">
          <a:xfrm>
            <a:off x="13176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6198" name="Text Box 5"/>
          <p:cNvSpPr txBox="1">
            <a:spLocks noChangeArrowheads="1"/>
          </p:cNvSpPr>
          <p:nvPr/>
        </p:nvSpPr>
        <p:spPr bwMode="auto">
          <a:xfrm>
            <a:off x="1298575" y="307975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36199" name="Oval 6"/>
          <p:cNvSpPr>
            <a:spLocks noChangeArrowheads="1"/>
          </p:cNvSpPr>
          <p:nvPr/>
        </p:nvSpPr>
        <p:spPr bwMode="auto">
          <a:xfrm>
            <a:off x="6445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6200" name="Text Box 7"/>
          <p:cNvSpPr txBox="1">
            <a:spLocks noChangeArrowheads="1"/>
          </p:cNvSpPr>
          <p:nvPr/>
        </p:nvSpPr>
        <p:spPr bwMode="auto">
          <a:xfrm>
            <a:off x="625475" y="4159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27</a:t>
            </a:r>
            <a:endParaRPr lang="en-US" altLang="en-US" sz="2400"/>
          </a:p>
        </p:txBody>
      </p:sp>
      <p:sp>
        <p:nvSpPr>
          <p:cNvPr id="136201" name="Text Box 8"/>
          <p:cNvSpPr txBox="1">
            <a:spLocks noChangeArrowheads="1"/>
          </p:cNvSpPr>
          <p:nvPr/>
        </p:nvSpPr>
        <p:spPr bwMode="auto">
          <a:xfrm>
            <a:off x="2057400" y="121285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136202" name="Oval 9"/>
          <p:cNvSpPr>
            <a:spLocks noChangeArrowheads="1"/>
          </p:cNvSpPr>
          <p:nvPr/>
        </p:nvSpPr>
        <p:spPr bwMode="auto">
          <a:xfrm>
            <a:off x="16541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6203" name="Text Box 10"/>
          <p:cNvSpPr txBox="1">
            <a:spLocks noChangeArrowheads="1"/>
          </p:cNvSpPr>
          <p:nvPr/>
        </p:nvSpPr>
        <p:spPr bwMode="auto">
          <a:xfrm>
            <a:off x="16351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12</a:t>
            </a:r>
            <a:endParaRPr lang="en-US" altLang="en-US" sz="2400"/>
          </a:p>
        </p:txBody>
      </p:sp>
      <p:sp>
        <p:nvSpPr>
          <p:cNvPr id="136204" name="Oval 11"/>
          <p:cNvSpPr>
            <a:spLocks noChangeArrowheads="1"/>
          </p:cNvSpPr>
          <p:nvPr/>
        </p:nvSpPr>
        <p:spPr bwMode="auto">
          <a:xfrm>
            <a:off x="4346575" y="14255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FF33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6205" name="Text Box 12"/>
          <p:cNvSpPr txBox="1">
            <a:spLocks noChangeArrowheads="1"/>
          </p:cNvSpPr>
          <p:nvPr/>
        </p:nvSpPr>
        <p:spPr bwMode="auto">
          <a:xfrm>
            <a:off x="4327525" y="1525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6</a:t>
            </a:r>
            <a:endParaRPr lang="en-US" altLang="en-US" sz="2400"/>
          </a:p>
        </p:txBody>
      </p:sp>
      <p:sp>
        <p:nvSpPr>
          <p:cNvPr id="136206" name="Line 13"/>
          <p:cNvSpPr>
            <a:spLocks noChangeShapeType="1"/>
          </p:cNvSpPr>
          <p:nvPr/>
        </p:nvSpPr>
        <p:spPr bwMode="auto">
          <a:xfrm>
            <a:off x="2832100" y="152082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6207" name="Oval 14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6208" name="Line 15"/>
          <p:cNvSpPr>
            <a:spLocks noChangeShapeType="1"/>
          </p:cNvSpPr>
          <p:nvPr/>
        </p:nvSpPr>
        <p:spPr bwMode="auto">
          <a:xfrm flipH="1">
            <a:off x="182245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6209" name="Line 16"/>
          <p:cNvSpPr>
            <a:spLocks noChangeShapeType="1"/>
          </p:cNvSpPr>
          <p:nvPr/>
        </p:nvSpPr>
        <p:spPr bwMode="auto">
          <a:xfrm>
            <a:off x="283210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6210" name="Oval 17"/>
          <p:cNvSpPr>
            <a:spLocks noChangeArrowheads="1"/>
          </p:cNvSpPr>
          <p:nvPr/>
        </p:nvSpPr>
        <p:spPr bwMode="auto">
          <a:xfrm>
            <a:off x="63658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6211" name="Text Box 18"/>
          <p:cNvSpPr txBox="1">
            <a:spLocks noChangeArrowheads="1"/>
          </p:cNvSpPr>
          <p:nvPr/>
        </p:nvSpPr>
        <p:spPr bwMode="auto">
          <a:xfrm>
            <a:off x="63468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36212" name="Oval 19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6213" name="Oval 20"/>
          <p:cNvSpPr>
            <a:spLocks noChangeArrowheads="1"/>
          </p:cNvSpPr>
          <p:nvPr/>
        </p:nvSpPr>
        <p:spPr bwMode="auto">
          <a:xfrm>
            <a:off x="73755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6214" name="Text Box 21"/>
          <p:cNvSpPr txBox="1">
            <a:spLocks noChangeArrowheads="1"/>
          </p:cNvSpPr>
          <p:nvPr/>
        </p:nvSpPr>
        <p:spPr bwMode="auto">
          <a:xfrm>
            <a:off x="7356475" y="3079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36215" name="Line 22"/>
          <p:cNvSpPr>
            <a:spLocks noChangeShapeType="1"/>
          </p:cNvSpPr>
          <p:nvPr/>
        </p:nvSpPr>
        <p:spPr bwMode="auto">
          <a:xfrm flipH="1">
            <a:off x="586105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6216" name="Line 23"/>
          <p:cNvSpPr>
            <a:spLocks noChangeShapeType="1"/>
          </p:cNvSpPr>
          <p:nvPr/>
        </p:nvSpPr>
        <p:spPr bwMode="auto">
          <a:xfrm>
            <a:off x="687070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6217" name="Line 24"/>
          <p:cNvSpPr>
            <a:spLocks noChangeShapeType="1"/>
          </p:cNvSpPr>
          <p:nvPr/>
        </p:nvSpPr>
        <p:spPr bwMode="auto">
          <a:xfrm flipH="1">
            <a:off x="3000375" y="1828800"/>
            <a:ext cx="1343025" cy="2270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6218" name="Line 25"/>
          <p:cNvSpPr>
            <a:spLocks noChangeShapeType="1"/>
          </p:cNvSpPr>
          <p:nvPr/>
        </p:nvSpPr>
        <p:spPr bwMode="auto">
          <a:xfrm>
            <a:off x="5029200" y="1752600"/>
            <a:ext cx="1371600" cy="3048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6219" name="Oval 26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6220" name="Oval 27"/>
          <p:cNvSpPr>
            <a:spLocks noChangeArrowheads="1"/>
          </p:cNvSpPr>
          <p:nvPr/>
        </p:nvSpPr>
        <p:spPr bwMode="auto">
          <a:xfrm>
            <a:off x="266382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6221" name="Text Box 28"/>
          <p:cNvSpPr txBox="1">
            <a:spLocks noChangeArrowheads="1"/>
          </p:cNvSpPr>
          <p:nvPr/>
        </p:nvSpPr>
        <p:spPr bwMode="auto">
          <a:xfrm>
            <a:off x="2644775" y="415448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36222" name="Oval 29"/>
          <p:cNvSpPr>
            <a:spLocks noChangeArrowheads="1"/>
          </p:cNvSpPr>
          <p:nvPr/>
        </p:nvSpPr>
        <p:spPr bwMode="auto">
          <a:xfrm>
            <a:off x="3673475" y="40544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6223" name="Text Box 30"/>
          <p:cNvSpPr txBox="1">
            <a:spLocks noChangeArrowheads="1"/>
          </p:cNvSpPr>
          <p:nvPr/>
        </p:nvSpPr>
        <p:spPr bwMode="auto">
          <a:xfrm>
            <a:off x="3654425" y="41544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31</a:t>
            </a:r>
            <a:endParaRPr lang="en-US" altLang="en-US" sz="2400"/>
          </a:p>
        </p:txBody>
      </p:sp>
      <p:sp>
        <p:nvSpPr>
          <p:cNvPr id="136224" name="Oval 31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6225" name="Text Box 32"/>
          <p:cNvSpPr txBox="1">
            <a:spLocks noChangeArrowheads="1"/>
          </p:cNvSpPr>
          <p:nvPr/>
        </p:nvSpPr>
        <p:spPr bwMode="auto">
          <a:xfrm>
            <a:off x="5334000" y="304958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136226" name="Oval 33"/>
          <p:cNvSpPr>
            <a:spLocks noChangeArrowheads="1"/>
          </p:cNvSpPr>
          <p:nvPr/>
        </p:nvSpPr>
        <p:spPr bwMode="auto">
          <a:xfrm>
            <a:off x="4683125" y="406082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6227" name="Text Box 34"/>
          <p:cNvSpPr txBox="1">
            <a:spLocks noChangeArrowheads="1"/>
          </p:cNvSpPr>
          <p:nvPr/>
        </p:nvSpPr>
        <p:spPr bwMode="auto">
          <a:xfrm>
            <a:off x="4664075" y="415766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36228" name="Oval 35"/>
          <p:cNvSpPr>
            <a:spLocks noChangeArrowheads="1"/>
          </p:cNvSpPr>
          <p:nvPr/>
        </p:nvSpPr>
        <p:spPr bwMode="auto">
          <a:xfrm>
            <a:off x="5692775" y="40608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6229" name="Text Box 36"/>
          <p:cNvSpPr txBox="1">
            <a:spLocks noChangeArrowheads="1"/>
          </p:cNvSpPr>
          <p:nvPr/>
        </p:nvSpPr>
        <p:spPr bwMode="auto">
          <a:xfrm>
            <a:off x="5673725" y="41608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136230" name="Oval 37"/>
          <p:cNvSpPr>
            <a:spLocks noChangeArrowheads="1"/>
          </p:cNvSpPr>
          <p:nvPr/>
        </p:nvSpPr>
        <p:spPr bwMode="auto">
          <a:xfrm>
            <a:off x="67024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6231" name="Text Box 38"/>
          <p:cNvSpPr txBox="1">
            <a:spLocks noChangeArrowheads="1"/>
          </p:cNvSpPr>
          <p:nvPr/>
        </p:nvSpPr>
        <p:spPr bwMode="auto">
          <a:xfrm>
            <a:off x="6683375" y="415925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</a:t>
            </a:r>
            <a:endParaRPr lang="en-US" altLang="en-US" sz="2400"/>
          </a:p>
        </p:txBody>
      </p:sp>
      <p:sp>
        <p:nvSpPr>
          <p:cNvPr id="136232" name="Oval 39"/>
          <p:cNvSpPr>
            <a:spLocks noChangeArrowheads="1"/>
          </p:cNvSpPr>
          <p:nvPr/>
        </p:nvSpPr>
        <p:spPr bwMode="auto">
          <a:xfrm>
            <a:off x="77120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6233" name="Text Box 40"/>
          <p:cNvSpPr txBox="1">
            <a:spLocks noChangeArrowheads="1"/>
          </p:cNvSpPr>
          <p:nvPr/>
        </p:nvSpPr>
        <p:spPr bwMode="auto">
          <a:xfrm>
            <a:off x="76930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36234" name="Line 41"/>
          <p:cNvSpPr>
            <a:spLocks noChangeShapeType="1"/>
          </p:cNvSpPr>
          <p:nvPr/>
        </p:nvSpPr>
        <p:spPr bwMode="auto">
          <a:xfrm flipH="1">
            <a:off x="9810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6235" name="Line 42"/>
          <p:cNvSpPr>
            <a:spLocks noChangeShapeType="1"/>
          </p:cNvSpPr>
          <p:nvPr/>
        </p:nvSpPr>
        <p:spPr bwMode="auto">
          <a:xfrm>
            <a:off x="19907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6236" name="Line 43"/>
          <p:cNvSpPr>
            <a:spLocks noChangeShapeType="1"/>
          </p:cNvSpPr>
          <p:nvPr/>
        </p:nvSpPr>
        <p:spPr bwMode="auto">
          <a:xfrm flipH="1">
            <a:off x="30003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6237" name="Line 44"/>
          <p:cNvSpPr>
            <a:spLocks noChangeShapeType="1"/>
          </p:cNvSpPr>
          <p:nvPr/>
        </p:nvSpPr>
        <p:spPr bwMode="auto">
          <a:xfrm>
            <a:off x="40100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6238" name="Line 45"/>
          <p:cNvSpPr>
            <a:spLocks noChangeShapeType="1"/>
          </p:cNvSpPr>
          <p:nvPr/>
        </p:nvSpPr>
        <p:spPr bwMode="auto">
          <a:xfrm flipH="1">
            <a:off x="50196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6239" name="Line 46"/>
          <p:cNvSpPr>
            <a:spLocks noChangeShapeType="1"/>
          </p:cNvSpPr>
          <p:nvPr/>
        </p:nvSpPr>
        <p:spPr bwMode="auto">
          <a:xfrm>
            <a:off x="60293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6240" name="Line 47"/>
          <p:cNvSpPr>
            <a:spLocks noChangeShapeType="1"/>
          </p:cNvSpPr>
          <p:nvPr/>
        </p:nvSpPr>
        <p:spPr bwMode="auto">
          <a:xfrm flipH="1">
            <a:off x="70389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6241" name="Line 48"/>
          <p:cNvSpPr>
            <a:spLocks noChangeShapeType="1"/>
          </p:cNvSpPr>
          <p:nvPr/>
        </p:nvSpPr>
        <p:spPr bwMode="auto">
          <a:xfrm>
            <a:off x="80486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6242" name="Text Box 49"/>
          <p:cNvSpPr txBox="1">
            <a:spLocks noChangeArrowheads="1"/>
          </p:cNvSpPr>
          <p:nvPr/>
        </p:nvSpPr>
        <p:spPr bwMode="auto">
          <a:xfrm>
            <a:off x="4514850" y="1976438"/>
            <a:ext cx="6731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136243" name="Text Box 50"/>
          <p:cNvSpPr txBox="1">
            <a:spLocks noChangeArrowheads="1"/>
          </p:cNvSpPr>
          <p:nvPr/>
        </p:nvSpPr>
        <p:spPr bwMode="auto">
          <a:xfrm>
            <a:off x="24955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136244" name="Text Box 51"/>
          <p:cNvSpPr txBox="1">
            <a:spLocks noChangeArrowheads="1"/>
          </p:cNvSpPr>
          <p:nvPr/>
        </p:nvSpPr>
        <p:spPr bwMode="auto">
          <a:xfrm>
            <a:off x="65341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136245" name="Text Box 52"/>
          <p:cNvSpPr txBox="1">
            <a:spLocks noChangeArrowheads="1"/>
          </p:cNvSpPr>
          <p:nvPr/>
        </p:nvSpPr>
        <p:spPr bwMode="auto">
          <a:xfrm>
            <a:off x="14859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136246" name="Text Box 53"/>
          <p:cNvSpPr txBox="1">
            <a:spLocks noChangeArrowheads="1"/>
          </p:cNvSpPr>
          <p:nvPr/>
        </p:nvSpPr>
        <p:spPr bwMode="auto">
          <a:xfrm>
            <a:off x="35052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136247" name="Text Box 54"/>
          <p:cNvSpPr txBox="1">
            <a:spLocks noChangeArrowheads="1"/>
          </p:cNvSpPr>
          <p:nvPr/>
        </p:nvSpPr>
        <p:spPr bwMode="auto">
          <a:xfrm>
            <a:off x="55245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136248" name="Text Box 55"/>
          <p:cNvSpPr txBox="1">
            <a:spLocks noChangeArrowheads="1"/>
          </p:cNvSpPr>
          <p:nvPr/>
        </p:nvSpPr>
        <p:spPr bwMode="auto">
          <a:xfrm>
            <a:off x="75438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136249" name="Text Box 56"/>
          <p:cNvSpPr txBox="1">
            <a:spLocks noChangeArrowheads="1"/>
          </p:cNvSpPr>
          <p:nvPr/>
        </p:nvSpPr>
        <p:spPr bwMode="auto">
          <a:xfrm>
            <a:off x="8128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136250" name="Text Box 57"/>
          <p:cNvSpPr txBox="1">
            <a:spLocks noChangeArrowheads="1"/>
          </p:cNvSpPr>
          <p:nvPr/>
        </p:nvSpPr>
        <p:spPr bwMode="auto">
          <a:xfrm>
            <a:off x="182245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136251" name="Text Box 58"/>
          <p:cNvSpPr txBox="1">
            <a:spLocks noChangeArrowheads="1"/>
          </p:cNvSpPr>
          <p:nvPr/>
        </p:nvSpPr>
        <p:spPr bwMode="auto">
          <a:xfrm>
            <a:off x="28321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136252" name="Text Box 59"/>
          <p:cNvSpPr txBox="1">
            <a:spLocks noChangeArrowheads="1"/>
          </p:cNvSpPr>
          <p:nvPr/>
        </p:nvSpPr>
        <p:spPr bwMode="auto">
          <a:xfrm>
            <a:off x="36734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136253" name="Text Box 60"/>
          <p:cNvSpPr txBox="1">
            <a:spLocks noChangeArrowheads="1"/>
          </p:cNvSpPr>
          <p:nvPr/>
        </p:nvSpPr>
        <p:spPr bwMode="auto">
          <a:xfrm>
            <a:off x="46831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136254" name="Text Box 61"/>
          <p:cNvSpPr txBox="1">
            <a:spLocks noChangeArrowheads="1"/>
          </p:cNvSpPr>
          <p:nvPr/>
        </p:nvSpPr>
        <p:spPr bwMode="auto">
          <a:xfrm>
            <a:off x="56927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136255" name="Text Box 62"/>
          <p:cNvSpPr txBox="1">
            <a:spLocks noChangeArrowheads="1"/>
          </p:cNvSpPr>
          <p:nvPr/>
        </p:nvSpPr>
        <p:spPr bwMode="auto">
          <a:xfrm>
            <a:off x="67024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136256" name="Text Box 63"/>
          <p:cNvSpPr txBox="1">
            <a:spLocks noChangeArrowheads="1"/>
          </p:cNvSpPr>
          <p:nvPr/>
        </p:nvSpPr>
        <p:spPr bwMode="auto">
          <a:xfrm>
            <a:off x="77120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136257" name="Oval 64"/>
          <p:cNvSpPr>
            <a:spLocks noChangeArrowheads="1"/>
          </p:cNvSpPr>
          <p:nvPr/>
        </p:nvSpPr>
        <p:spPr bwMode="auto">
          <a:xfrm>
            <a:off x="476250" y="514032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6258" name="Text Box 65"/>
          <p:cNvSpPr txBox="1">
            <a:spLocks noChangeArrowheads="1"/>
          </p:cNvSpPr>
          <p:nvPr/>
        </p:nvSpPr>
        <p:spPr bwMode="auto">
          <a:xfrm>
            <a:off x="457200" y="52387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36259" name="Oval 66"/>
          <p:cNvSpPr>
            <a:spLocks noChangeArrowheads="1"/>
          </p:cNvSpPr>
          <p:nvPr/>
        </p:nvSpPr>
        <p:spPr bwMode="auto">
          <a:xfrm>
            <a:off x="1485900" y="513873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6260" name="Text Box 67"/>
          <p:cNvSpPr txBox="1">
            <a:spLocks noChangeArrowheads="1"/>
          </p:cNvSpPr>
          <p:nvPr/>
        </p:nvSpPr>
        <p:spPr bwMode="auto">
          <a:xfrm>
            <a:off x="1466850" y="5238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36261" name="Text Box 68"/>
          <p:cNvSpPr txBox="1">
            <a:spLocks noChangeArrowheads="1"/>
          </p:cNvSpPr>
          <p:nvPr/>
        </p:nvSpPr>
        <p:spPr bwMode="auto">
          <a:xfrm>
            <a:off x="148590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136262" name="Line 69"/>
          <p:cNvSpPr>
            <a:spLocks noChangeShapeType="1"/>
          </p:cNvSpPr>
          <p:nvPr/>
        </p:nvSpPr>
        <p:spPr bwMode="auto">
          <a:xfrm flipH="1">
            <a:off x="644525" y="467677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6263" name="Line 70"/>
          <p:cNvSpPr>
            <a:spLocks noChangeShapeType="1"/>
          </p:cNvSpPr>
          <p:nvPr/>
        </p:nvSpPr>
        <p:spPr bwMode="auto">
          <a:xfrm>
            <a:off x="1149350" y="467677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6264" name="Text Box 71"/>
          <p:cNvSpPr txBox="1">
            <a:spLocks noChangeArrowheads="1"/>
          </p:cNvSpPr>
          <p:nvPr/>
        </p:nvSpPr>
        <p:spPr bwMode="auto">
          <a:xfrm>
            <a:off x="47625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136265" name="Text Box 72"/>
          <p:cNvSpPr txBox="1">
            <a:spLocks noChangeArrowheads="1"/>
          </p:cNvSpPr>
          <p:nvPr/>
        </p:nvSpPr>
        <p:spPr bwMode="auto">
          <a:xfrm>
            <a:off x="3276600" y="3049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38</a:t>
            </a:r>
            <a:endParaRPr lang="en-US" altLang="en-US" sz="2400"/>
          </a:p>
        </p:txBody>
      </p:sp>
      <p:sp>
        <p:nvSpPr>
          <p:cNvPr id="136266" name="Rectangle 73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Forming an Initial Heap (cont.)</a:t>
            </a:r>
          </a:p>
        </p:txBody>
      </p:sp>
      <p:sp>
        <p:nvSpPr>
          <p:cNvPr id="136267" name="Freeform 74"/>
          <p:cNvSpPr>
            <a:spLocks/>
          </p:cNvSpPr>
          <p:nvPr/>
        </p:nvSpPr>
        <p:spPr bwMode="auto">
          <a:xfrm>
            <a:off x="3124200" y="2057400"/>
            <a:ext cx="1295400" cy="342900"/>
          </a:xfrm>
          <a:custGeom>
            <a:avLst/>
            <a:gdLst>
              <a:gd name="T0" fmla="*/ 2147483646 w 816"/>
              <a:gd name="T1" fmla="*/ 0 h 216"/>
              <a:gd name="T2" fmla="*/ 2147483646 w 816"/>
              <a:gd name="T3" fmla="*/ 2147483646 h 216"/>
              <a:gd name="T4" fmla="*/ 0 w 816"/>
              <a:gd name="T5" fmla="*/ 2147483646 h 21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816" h="216">
                <a:moveTo>
                  <a:pt x="816" y="0"/>
                </a:moveTo>
                <a:cubicBezTo>
                  <a:pt x="716" y="84"/>
                  <a:pt x="616" y="168"/>
                  <a:pt x="480" y="192"/>
                </a:cubicBezTo>
                <a:cubicBezTo>
                  <a:pt x="344" y="216"/>
                  <a:pt x="80" y="152"/>
                  <a:pt x="0" y="144"/>
                </a:cubicBezTo>
              </a:path>
            </a:pathLst>
          </a:custGeom>
          <a:noFill/>
          <a:ln w="57150" cap="rnd" cmpd="sng">
            <a:solidFill>
              <a:schemeClr val="hlink"/>
            </a:solidFill>
            <a:prstDash val="sysDot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6268" name="Freeform 75"/>
          <p:cNvSpPr>
            <a:spLocks/>
          </p:cNvSpPr>
          <p:nvPr/>
        </p:nvSpPr>
        <p:spPr bwMode="auto">
          <a:xfrm>
            <a:off x="3048000" y="2438400"/>
            <a:ext cx="800100" cy="457200"/>
          </a:xfrm>
          <a:custGeom>
            <a:avLst/>
            <a:gdLst>
              <a:gd name="T0" fmla="*/ 0 w 504"/>
              <a:gd name="T1" fmla="*/ 0 h 288"/>
              <a:gd name="T2" fmla="*/ 2147483646 w 504"/>
              <a:gd name="T3" fmla="*/ 2147483646 h 288"/>
              <a:gd name="T4" fmla="*/ 2147483646 w 504"/>
              <a:gd name="T5" fmla="*/ 2147483646 h 28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504" h="288">
                <a:moveTo>
                  <a:pt x="0" y="0"/>
                </a:moveTo>
                <a:cubicBezTo>
                  <a:pt x="180" y="24"/>
                  <a:pt x="360" y="48"/>
                  <a:pt x="432" y="96"/>
                </a:cubicBezTo>
                <a:cubicBezTo>
                  <a:pt x="504" y="144"/>
                  <a:pt x="432" y="256"/>
                  <a:pt x="432" y="288"/>
                </a:cubicBezTo>
              </a:path>
            </a:pathLst>
          </a:custGeom>
          <a:noFill/>
          <a:ln w="57150" cap="rnd" cmpd="sng">
            <a:solidFill>
              <a:schemeClr val="hlink"/>
            </a:solidFill>
            <a:prstDash val="sysDot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6269" name="Freeform 76"/>
          <p:cNvSpPr>
            <a:spLocks/>
          </p:cNvSpPr>
          <p:nvPr/>
        </p:nvSpPr>
        <p:spPr bwMode="auto">
          <a:xfrm>
            <a:off x="2667000" y="3276600"/>
            <a:ext cx="609600" cy="685800"/>
          </a:xfrm>
          <a:custGeom>
            <a:avLst/>
            <a:gdLst>
              <a:gd name="T0" fmla="*/ 2147483646 w 384"/>
              <a:gd name="T1" fmla="*/ 0 h 432"/>
              <a:gd name="T2" fmla="*/ 2147483646 w 384"/>
              <a:gd name="T3" fmla="*/ 2147483646 h 432"/>
              <a:gd name="T4" fmla="*/ 2147483646 w 384"/>
              <a:gd name="T5" fmla="*/ 2147483646 h 43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84" h="432">
                <a:moveTo>
                  <a:pt x="384" y="0"/>
                </a:moveTo>
                <a:cubicBezTo>
                  <a:pt x="240" y="12"/>
                  <a:pt x="96" y="24"/>
                  <a:pt x="48" y="96"/>
                </a:cubicBezTo>
                <a:cubicBezTo>
                  <a:pt x="0" y="168"/>
                  <a:pt x="88" y="376"/>
                  <a:pt x="96" y="432"/>
                </a:cubicBezTo>
              </a:path>
            </a:pathLst>
          </a:custGeom>
          <a:noFill/>
          <a:ln w="57150" cap="rnd" cmpd="sng">
            <a:solidFill>
              <a:schemeClr val="hlink"/>
            </a:solidFill>
            <a:prstDash val="sysDot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6270" name="Freeform 77"/>
          <p:cNvSpPr>
            <a:spLocks/>
          </p:cNvSpPr>
          <p:nvPr/>
        </p:nvSpPr>
        <p:spPr bwMode="auto">
          <a:xfrm>
            <a:off x="4343400" y="2133600"/>
            <a:ext cx="317500" cy="3657600"/>
          </a:xfrm>
          <a:custGeom>
            <a:avLst/>
            <a:gdLst>
              <a:gd name="T0" fmla="*/ 2147483646 w 200"/>
              <a:gd name="T1" fmla="*/ 0 h 2304"/>
              <a:gd name="T2" fmla="*/ 2147483646 w 200"/>
              <a:gd name="T3" fmla="*/ 2147483646 h 2304"/>
              <a:gd name="T4" fmla="*/ 2147483646 w 200"/>
              <a:gd name="T5" fmla="*/ 2147483646 h 2304"/>
              <a:gd name="T6" fmla="*/ 2147483646 w 200"/>
              <a:gd name="T7" fmla="*/ 2147483646 h 2304"/>
              <a:gd name="T8" fmla="*/ 0 w 200"/>
              <a:gd name="T9" fmla="*/ 2147483646 h 230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00" h="2304">
                <a:moveTo>
                  <a:pt x="144" y="0"/>
                </a:moveTo>
                <a:cubicBezTo>
                  <a:pt x="104" y="64"/>
                  <a:pt x="64" y="128"/>
                  <a:pt x="48" y="240"/>
                </a:cubicBezTo>
                <a:cubicBezTo>
                  <a:pt x="32" y="352"/>
                  <a:pt x="24" y="376"/>
                  <a:pt x="48" y="672"/>
                </a:cubicBezTo>
                <a:cubicBezTo>
                  <a:pt x="72" y="968"/>
                  <a:pt x="200" y="1744"/>
                  <a:pt x="192" y="2016"/>
                </a:cubicBezTo>
                <a:cubicBezTo>
                  <a:pt x="184" y="2288"/>
                  <a:pt x="32" y="2256"/>
                  <a:pt x="0" y="2304"/>
                </a:cubicBezTo>
              </a:path>
            </a:pathLst>
          </a:custGeom>
          <a:noFill/>
          <a:ln w="57150" cap="rnd" cmpd="sng">
            <a:solidFill>
              <a:schemeClr val="hlink"/>
            </a:solidFill>
            <a:prstDash val="sysDot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6271" name="Text Box 78"/>
          <p:cNvSpPr txBox="1">
            <a:spLocks noChangeArrowheads="1"/>
          </p:cNvSpPr>
          <p:nvPr/>
        </p:nvSpPr>
        <p:spPr bwMode="auto">
          <a:xfrm>
            <a:off x="3429000" y="5562600"/>
            <a:ext cx="990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/>
              <a:t>temp</a:t>
            </a:r>
          </a:p>
        </p:txBody>
      </p:sp>
      <p:sp>
        <p:nvSpPr>
          <p:cNvPr id="136272" name="Line 79"/>
          <p:cNvSpPr>
            <a:spLocks noChangeShapeType="1"/>
          </p:cNvSpPr>
          <p:nvPr/>
        </p:nvSpPr>
        <p:spPr bwMode="auto">
          <a:xfrm flipH="1" flipV="1">
            <a:off x="3200400" y="4724400"/>
            <a:ext cx="457200" cy="914400"/>
          </a:xfrm>
          <a:prstGeom prst="line">
            <a:avLst/>
          </a:prstGeom>
          <a:noFill/>
          <a:ln w="57150" cap="rnd">
            <a:solidFill>
              <a:schemeClr val="hlink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MY"/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8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FF928CC7-C52F-453E-8EAD-426E6D933509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135</a:t>
            </a:fld>
            <a:endParaRPr lang="en-US" altLang="en-US" sz="1400"/>
          </a:p>
        </p:txBody>
      </p:sp>
      <p:sp>
        <p:nvSpPr>
          <p:cNvPr id="137219" name="Oval 2"/>
          <p:cNvSpPr>
            <a:spLocks noChangeArrowheads="1"/>
          </p:cNvSpPr>
          <p:nvPr/>
        </p:nvSpPr>
        <p:spPr bwMode="auto">
          <a:xfrm>
            <a:off x="23272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7220" name="Text Box 3"/>
          <p:cNvSpPr txBox="1">
            <a:spLocks noChangeArrowheads="1"/>
          </p:cNvSpPr>
          <p:nvPr/>
        </p:nvSpPr>
        <p:spPr bwMode="auto">
          <a:xfrm>
            <a:off x="23082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38</a:t>
            </a:r>
            <a:endParaRPr lang="en-US" altLang="en-US" sz="2400"/>
          </a:p>
        </p:txBody>
      </p:sp>
      <p:sp>
        <p:nvSpPr>
          <p:cNvPr id="137221" name="Oval 4"/>
          <p:cNvSpPr>
            <a:spLocks noChangeArrowheads="1"/>
          </p:cNvSpPr>
          <p:nvPr/>
        </p:nvSpPr>
        <p:spPr bwMode="auto">
          <a:xfrm>
            <a:off x="13176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7222" name="Text Box 5"/>
          <p:cNvSpPr txBox="1">
            <a:spLocks noChangeArrowheads="1"/>
          </p:cNvSpPr>
          <p:nvPr/>
        </p:nvSpPr>
        <p:spPr bwMode="auto">
          <a:xfrm>
            <a:off x="1298575" y="3079750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37223" name="Oval 6"/>
          <p:cNvSpPr>
            <a:spLocks noChangeArrowheads="1"/>
          </p:cNvSpPr>
          <p:nvPr/>
        </p:nvSpPr>
        <p:spPr bwMode="auto">
          <a:xfrm>
            <a:off x="6445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7224" name="Text Box 7"/>
          <p:cNvSpPr txBox="1">
            <a:spLocks noChangeArrowheads="1"/>
          </p:cNvSpPr>
          <p:nvPr/>
        </p:nvSpPr>
        <p:spPr bwMode="auto">
          <a:xfrm>
            <a:off x="625475" y="4159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27</a:t>
            </a:r>
            <a:endParaRPr lang="en-US" altLang="en-US" sz="2400"/>
          </a:p>
        </p:txBody>
      </p:sp>
      <p:sp>
        <p:nvSpPr>
          <p:cNvPr id="137225" name="Text Box 8"/>
          <p:cNvSpPr txBox="1">
            <a:spLocks noChangeArrowheads="1"/>
          </p:cNvSpPr>
          <p:nvPr/>
        </p:nvSpPr>
        <p:spPr bwMode="auto">
          <a:xfrm>
            <a:off x="2057400" y="1212850"/>
            <a:ext cx="10096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root</a:t>
            </a:r>
            <a:endParaRPr lang="en-US" altLang="en-US" sz="2400"/>
          </a:p>
        </p:txBody>
      </p:sp>
      <p:sp>
        <p:nvSpPr>
          <p:cNvPr id="137226" name="Oval 9"/>
          <p:cNvSpPr>
            <a:spLocks noChangeArrowheads="1"/>
          </p:cNvSpPr>
          <p:nvPr/>
        </p:nvSpPr>
        <p:spPr bwMode="auto">
          <a:xfrm>
            <a:off x="16541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7227" name="Text Box 10"/>
          <p:cNvSpPr txBox="1">
            <a:spLocks noChangeArrowheads="1"/>
          </p:cNvSpPr>
          <p:nvPr/>
        </p:nvSpPr>
        <p:spPr bwMode="auto">
          <a:xfrm>
            <a:off x="16351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12</a:t>
            </a:r>
            <a:endParaRPr lang="en-US" altLang="en-US" sz="2400"/>
          </a:p>
        </p:txBody>
      </p:sp>
      <p:sp>
        <p:nvSpPr>
          <p:cNvPr id="137228" name="Oval 11"/>
          <p:cNvSpPr>
            <a:spLocks noChangeArrowheads="1"/>
          </p:cNvSpPr>
          <p:nvPr/>
        </p:nvSpPr>
        <p:spPr bwMode="auto">
          <a:xfrm>
            <a:off x="4346575" y="14255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7229" name="Text Box 12"/>
          <p:cNvSpPr txBox="1">
            <a:spLocks noChangeArrowheads="1"/>
          </p:cNvSpPr>
          <p:nvPr/>
        </p:nvSpPr>
        <p:spPr bwMode="auto">
          <a:xfrm>
            <a:off x="4327525" y="1525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39</a:t>
            </a:r>
            <a:endParaRPr lang="en-US" altLang="en-US" sz="2400"/>
          </a:p>
        </p:txBody>
      </p:sp>
      <p:sp>
        <p:nvSpPr>
          <p:cNvPr id="137230" name="Line 13"/>
          <p:cNvSpPr>
            <a:spLocks noChangeShapeType="1"/>
          </p:cNvSpPr>
          <p:nvPr/>
        </p:nvSpPr>
        <p:spPr bwMode="auto">
          <a:xfrm>
            <a:off x="2832100" y="1520825"/>
            <a:ext cx="1514475" cy="155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7231" name="Oval 14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7232" name="Line 15"/>
          <p:cNvSpPr>
            <a:spLocks noChangeShapeType="1"/>
          </p:cNvSpPr>
          <p:nvPr/>
        </p:nvSpPr>
        <p:spPr bwMode="auto">
          <a:xfrm flipH="1">
            <a:off x="182245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7233" name="Line 16"/>
          <p:cNvSpPr>
            <a:spLocks noChangeShapeType="1"/>
          </p:cNvSpPr>
          <p:nvPr/>
        </p:nvSpPr>
        <p:spPr bwMode="auto">
          <a:xfrm>
            <a:off x="2832100" y="2517775"/>
            <a:ext cx="673100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7234" name="Oval 17"/>
          <p:cNvSpPr>
            <a:spLocks noChangeArrowheads="1"/>
          </p:cNvSpPr>
          <p:nvPr/>
        </p:nvSpPr>
        <p:spPr bwMode="auto">
          <a:xfrm>
            <a:off x="6365875" y="18986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7235" name="Text Box 18"/>
          <p:cNvSpPr txBox="1">
            <a:spLocks noChangeArrowheads="1"/>
          </p:cNvSpPr>
          <p:nvPr/>
        </p:nvSpPr>
        <p:spPr bwMode="auto">
          <a:xfrm>
            <a:off x="6346825" y="20002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37236" name="Oval 19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7237" name="Oval 20"/>
          <p:cNvSpPr>
            <a:spLocks noChangeArrowheads="1"/>
          </p:cNvSpPr>
          <p:nvPr/>
        </p:nvSpPr>
        <p:spPr bwMode="auto">
          <a:xfrm>
            <a:off x="73755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7238" name="Text Box 21"/>
          <p:cNvSpPr txBox="1">
            <a:spLocks noChangeArrowheads="1"/>
          </p:cNvSpPr>
          <p:nvPr/>
        </p:nvSpPr>
        <p:spPr bwMode="auto">
          <a:xfrm>
            <a:off x="7356475" y="3079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37239" name="Line 22"/>
          <p:cNvSpPr>
            <a:spLocks noChangeShapeType="1"/>
          </p:cNvSpPr>
          <p:nvPr/>
        </p:nvSpPr>
        <p:spPr bwMode="auto">
          <a:xfrm flipH="1">
            <a:off x="586105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7240" name="Line 23"/>
          <p:cNvSpPr>
            <a:spLocks noChangeShapeType="1"/>
          </p:cNvSpPr>
          <p:nvPr/>
        </p:nvSpPr>
        <p:spPr bwMode="auto">
          <a:xfrm>
            <a:off x="6870700" y="2517775"/>
            <a:ext cx="673100" cy="4603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7241" name="Line 24"/>
          <p:cNvSpPr>
            <a:spLocks noChangeShapeType="1"/>
          </p:cNvSpPr>
          <p:nvPr/>
        </p:nvSpPr>
        <p:spPr bwMode="auto">
          <a:xfrm flipH="1">
            <a:off x="3000375" y="1828800"/>
            <a:ext cx="1343025" cy="2270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7242" name="Line 25"/>
          <p:cNvSpPr>
            <a:spLocks noChangeShapeType="1"/>
          </p:cNvSpPr>
          <p:nvPr/>
        </p:nvSpPr>
        <p:spPr bwMode="auto">
          <a:xfrm>
            <a:off x="5029200" y="1752600"/>
            <a:ext cx="1371600" cy="3048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7243" name="Oval 26"/>
          <p:cNvSpPr>
            <a:spLocks noChangeArrowheads="1"/>
          </p:cNvSpPr>
          <p:nvPr/>
        </p:nvSpPr>
        <p:spPr bwMode="auto">
          <a:xfrm>
            <a:off x="3336925" y="2978150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7244" name="Oval 27"/>
          <p:cNvSpPr>
            <a:spLocks noChangeArrowheads="1"/>
          </p:cNvSpPr>
          <p:nvPr/>
        </p:nvSpPr>
        <p:spPr bwMode="auto">
          <a:xfrm>
            <a:off x="266382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7245" name="Text Box 28"/>
          <p:cNvSpPr txBox="1">
            <a:spLocks noChangeArrowheads="1"/>
          </p:cNvSpPr>
          <p:nvPr/>
        </p:nvSpPr>
        <p:spPr bwMode="auto">
          <a:xfrm>
            <a:off x="2644775" y="4154488"/>
            <a:ext cx="841375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6</a:t>
            </a:r>
            <a:endParaRPr lang="en-US" altLang="en-US" sz="2400"/>
          </a:p>
        </p:txBody>
      </p:sp>
      <p:sp>
        <p:nvSpPr>
          <p:cNvPr id="137246" name="Oval 29"/>
          <p:cNvSpPr>
            <a:spLocks noChangeArrowheads="1"/>
          </p:cNvSpPr>
          <p:nvPr/>
        </p:nvSpPr>
        <p:spPr bwMode="auto">
          <a:xfrm>
            <a:off x="3673475" y="405447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7247" name="Text Box 30"/>
          <p:cNvSpPr txBox="1">
            <a:spLocks noChangeArrowheads="1"/>
          </p:cNvSpPr>
          <p:nvPr/>
        </p:nvSpPr>
        <p:spPr bwMode="auto">
          <a:xfrm>
            <a:off x="3654425" y="415448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31</a:t>
            </a:r>
            <a:endParaRPr lang="en-US" altLang="en-US" sz="2400"/>
          </a:p>
        </p:txBody>
      </p:sp>
      <p:sp>
        <p:nvSpPr>
          <p:cNvPr id="137248" name="Oval 31"/>
          <p:cNvSpPr>
            <a:spLocks noChangeArrowheads="1"/>
          </p:cNvSpPr>
          <p:nvPr/>
        </p:nvSpPr>
        <p:spPr bwMode="auto">
          <a:xfrm>
            <a:off x="5356225" y="2978150"/>
            <a:ext cx="673100" cy="62230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7249" name="Text Box 32"/>
          <p:cNvSpPr txBox="1">
            <a:spLocks noChangeArrowheads="1"/>
          </p:cNvSpPr>
          <p:nvPr/>
        </p:nvSpPr>
        <p:spPr bwMode="auto">
          <a:xfrm>
            <a:off x="5334000" y="3049588"/>
            <a:ext cx="84137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32</a:t>
            </a:r>
            <a:endParaRPr lang="en-US" altLang="en-US" sz="2400"/>
          </a:p>
        </p:txBody>
      </p:sp>
      <p:sp>
        <p:nvSpPr>
          <p:cNvPr id="137250" name="Oval 33"/>
          <p:cNvSpPr>
            <a:spLocks noChangeArrowheads="1"/>
          </p:cNvSpPr>
          <p:nvPr/>
        </p:nvSpPr>
        <p:spPr bwMode="auto">
          <a:xfrm>
            <a:off x="4683125" y="4060825"/>
            <a:ext cx="673100" cy="614363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7251" name="Text Box 34"/>
          <p:cNvSpPr txBox="1">
            <a:spLocks noChangeArrowheads="1"/>
          </p:cNvSpPr>
          <p:nvPr/>
        </p:nvSpPr>
        <p:spPr bwMode="auto">
          <a:xfrm>
            <a:off x="4664075" y="4157663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37252" name="Oval 35"/>
          <p:cNvSpPr>
            <a:spLocks noChangeArrowheads="1"/>
          </p:cNvSpPr>
          <p:nvPr/>
        </p:nvSpPr>
        <p:spPr bwMode="auto">
          <a:xfrm>
            <a:off x="5692775" y="4060825"/>
            <a:ext cx="673100" cy="619125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7253" name="Text Box 36"/>
          <p:cNvSpPr txBox="1">
            <a:spLocks noChangeArrowheads="1"/>
          </p:cNvSpPr>
          <p:nvPr/>
        </p:nvSpPr>
        <p:spPr bwMode="auto">
          <a:xfrm>
            <a:off x="5673725" y="4160838"/>
            <a:ext cx="84137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11</a:t>
            </a:r>
            <a:endParaRPr lang="en-US" altLang="en-US" sz="2400"/>
          </a:p>
        </p:txBody>
      </p:sp>
      <p:sp>
        <p:nvSpPr>
          <p:cNvPr id="137254" name="Oval 37"/>
          <p:cNvSpPr>
            <a:spLocks noChangeArrowheads="1"/>
          </p:cNvSpPr>
          <p:nvPr/>
        </p:nvSpPr>
        <p:spPr bwMode="auto">
          <a:xfrm>
            <a:off x="6702425" y="4060825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7255" name="Text Box 38"/>
          <p:cNvSpPr txBox="1">
            <a:spLocks noChangeArrowheads="1"/>
          </p:cNvSpPr>
          <p:nvPr/>
        </p:nvSpPr>
        <p:spPr bwMode="auto">
          <a:xfrm>
            <a:off x="6683375" y="4159250"/>
            <a:ext cx="841375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1</a:t>
            </a:r>
            <a:endParaRPr lang="en-US" altLang="en-US" sz="2400"/>
          </a:p>
        </p:txBody>
      </p:sp>
      <p:sp>
        <p:nvSpPr>
          <p:cNvPr id="137256" name="Oval 39"/>
          <p:cNvSpPr>
            <a:spLocks noChangeArrowheads="1"/>
          </p:cNvSpPr>
          <p:nvPr/>
        </p:nvSpPr>
        <p:spPr bwMode="auto">
          <a:xfrm>
            <a:off x="7712075" y="4057650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7257" name="Text Box 40"/>
          <p:cNvSpPr txBox="1">
            <a:spLocks noChangeArrowheads="1"/>
          </p:cNvSpPr>
          <p:nvPr/>
        </p:nvSpPr>
        <p:spPr bwMode="auto">
          <a:xfrm>
            <a:off x="7693025" y="41592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5</a:t>
            </a:r>
            <a:endParaRPr lang="en-US" altLang="en-US" sz="2400"/>
          </a:p>
        </p:txBody>
      </p:sp>
      <p:sp>
        <p:nvSpPr>
          <p:cNvPr id="137258" name="Line 41"/>
          <p:cNvSpPr>
            <a:spLocks noChangeShapeType="1"/>
          </p:cNvSpPr>
          <p:nvPr/>
        </p:nvSpPr>
        <p:spPr bwMode="auto">
          <a:xfrm flipH="1">
            <a:off x="9810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7259" name="Line 42"/>
          <p:cNvSpPr>
            <a:spLocks noChangeShapeType="1"/>
          </p:cNvSpPr>
          <p:nvPr/>
        </p:nvSpPr>
        <p:spPr bwMode="auto">
          <a:xfrm>
            <a:off x="19907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7260" name="Line 43"/>
          <p:cNvSpPr>
            <a:spLocks noChangeShapeType="1"/>
          </p:cNvSpPr>
          <p:nvPr/>
        </p:nvSpPr>
        <p:spPr bwMode="auto">
          <a:xfrm flipH="1">
            <a:off x="30003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7261" name="Line 44"/>
          <p:cNvSpPr>
            <a:spLocks noChangeShapeType="1"/>
          </p:cNvSpPr>
          <p:nvPr/>
        </p:nvSpPr>
        <p:spPr bwMode="auto">
          <a:xfrm>
            <a:off x="40100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7262" name="Line 45"/>
          <p:cNvSpPr>
            <a:spLocks noChangeShapeType="1"/>
          </p:cNvSpPr>
          <p:nvPr/>
        </p:nvSpPr>
        <p:spPr bwMode="auto">
          <a:xfrm flipH="1">
            <a:off x="50196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7263" name="Line 46"/>
          <p:cNvSpPr>
            <a:spLocks noChangeShapeType="1"/>
          </p:cNvSpPr>
          <p:nvPr/>
        </p:nvSpPr>
        <p:spPr bwMode="auto">
          <a:xfrm>
            <a:off x="60293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7264" name="Line 47"/>
          <p:cNvSpPr>
            <a:spLocks noChangeShapeType="1"/>
          </p:cNvSpPr>
          <p:nvPr/>
        </p:nvSpPr>
        <p:spPr bwMode="auto">
          <a:xfrm flipH="1">
            <a:off x="7038975" y="3443288"/>
            <a:ext cx="336550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7265" name="Line 48"/>
          <p:cNvSpPr>
            <a:spLocks noChangeShapeType="1"/>
          </p:cNvSpPr>
          <p:nvPr/>
        </p:nvSpPr>
        <p:spPr bwMode="auto">
          <a:xfrm>
            <a:off x="8048625" y="3443288"/>
            <a:ext cx="168275" cy="6175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7266" name="Text Box 49"/>
          <p:cNvSpPr txBox="1">
            <a:spLocks noChangeArrowheads="1"/>
          </p:cNvSpPr>
          <p:nvPr/>
        </p:nvSpPr>
        <p:spPr bwMode="auto">
          <a:xfrm>
            <a:off x="4514850" y="1976438"/>
            <a:ext cx="6731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0</a:t>
            </a:r>
            <a:endParaRPr lang="en-US" altLang="en-US" sz="2400"/>
          </a:p>
        </p:txBody>
      </p:sp>
      <p:sp>
        <p:nvSpPr>
          <p:cNvPr id="137267" name="Text Box 50"/>
          <p:cNvSpPr txBox="1">
            <a:spLocks noChangeArrowheads="1"/>
          </p:cNvSpPr>
          <p:nvPr/>
        </p:nvSpPr>
        <p:spPr bwMode="auto">
          <a:xfrm>
            <a:off x="24955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1</a:t>
            </a:r>
            <a:endParaRPr lang="en-US" altLang="en-US" sz="2400"/>
          </a:p>
        </p:txBody>
      </p:sp>
      <p:sp>
        <p:nvSpPr>
          <p:cNvPr id="137268" name="Text Box 51"/>
          <p:cNvSpPr txBox="1">
            <a:spLocks noChangeArrowheads="1"/>
          </p:cNvSpPr>
          <p:nvPr/>
        </p:nvSpPr>
        <p:spPr bwMode="auto">
          <a:xfrm>
            <a:off x="6534150" y="2517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2</a:t>
            </a:r>
            <a:endParaRPr lang="en-US" altLang="en-US" sz="2400"/>
          </a:p>
        </p:txBody>
      </p:sp>
      <p:sp>
        <p:nvSpPr>
          <p:cNvPr id="137269" name="Text Box 52"/>
          <p:cNvSpPr txBox="1">
            <a:spLocks noChangeArrowheads="1"/>
          </p:cNvSpPr>
          <p:nvPr/>
        </p:nvSpPr>
        <p:spPr bwMode="auto">
          <a:xfrm>
            <a:off x="14859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3</a:t>
            </a:r>
            <a:endParaRPr lang="en-US" altLang="en-US" sz="2400"/>
          </a:p>
        </p:txBody>
      </p:sp>
      <p:sp>
        <p:nvSpPr>
          <p:cNvPr id="137270" name="Text Box 53"/>
          <p:cNvSpPr txBox="1">
            <a:spLocks noChangeArrowheads="1"/>
          </p:cNvSpPr>
          <p:nvPr/>
        </p:nvSpPr>
        <p:spPr bwMode="auto">
          <a:xfrm>
            <a:off x="35052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4</a:t>
            </a:r>
            <a:endParaRPr lang="en-US" altLang="en-US" sz="2400"/>
          </a:p>
        </p:txBody>
      </p:sp>
      <p:sp>
        <p:nvSpPr>
          <p:cNvPr id="137271" name="Text Box 54"/>
          <p:cNvSpPr txBox="1">
            <a:spLocks noChangeArrowheads="1"/>
          </p:cNvSpPr>
          <p:nvPr/>
        </p:nvSpPr>
        <p:spPr bwMode="auto">
          <a:xfrm>
            <a:off x="55245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5</a:t>
            </a:r>
            <a:endParaRPr lang="en-US" altLang="en-US" sz="2400"/>
          </a:p>
        </p:txBody>
      </p:sp>
      <p:sp>
        <p:nvSpPr>
          <p:cNvPr id="137272" name="Text Box 55"/>
          <p:cNvSpPr txBox="1">
            <a:spLocks noChangeArrowheads="1"/>
          </p:cNvSpPr>
          <p:nvPr/>
        </p:nvSpPr>
        <p:spPr bwMode="auto">
          <a:xfrm>
            <a:off x="7543800" y="35972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6</a:t>
            </a:r>
            <a:endParaRPr lang="en-US" altLang="en-US" sz="2400"/>
          </a:p>
        </p:txBody>
      </p:sp>
      <p:sp>
        <p:nvSpPr>
          <p:cNvPr id="137273" name="Text Box 56"/>
          <p:cNvSpPr txBox="1">
            <a:spLocks noChangeArrowheads="1"/>
          </p:cNvSpPr>
          <p:nvPr/>
        </p:nvSpPr>
        <p:spPr bwMode="auto">
          <a:xfrm>
            <a:off x="8128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7</a:t>
            </a:r>
            <a:endParaRPr lang="en-US" altLang="en-US" sz="2400"/>
          </a:p>
        </p:txBody>
      </p:sp>
      <p:sp>
        <p:nvSpPr>
          <p:cNvPr id="137274" name="Text Box 57"/>
          <p:cNvSpPr txBox="1">
            <a:spLocks noChangeArrowheads="1"/>
          </p:cNvSpPr>
          <p:nvPr/>
        </p:nvSpPr>
        <p:spPr bwMode="auto">
          <a:xfrm>
            <a:off x="182245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8</a:t>
            </a:r>
            <a:endParaRPr lang="en-US" altLang="en-US" sz="2400"/>
          </a:p>
        </p:txBody>
      </p:sp>
      <p:sp>
        <p:nvSpPr>
          <p:cNvPr id="137275" name="Text Box 58"/>
          <p:cNvSpPr txBox="1">
            <a:spLocks noChangeArrowheads="1"/>
          </p:cNvSpPr>
          <p:nvPr/>
        </p:nvSpPr>
        <p:spPr bwMode="auto">
          <a:xfrm>
            <a:off x="2832100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9</a:t>
            </a:r>
            <a:endParaRPr lang="en-US" altLang="en-US" sz="2400"/>
          </a:p>
        </p:txBody>
      </p:sp>
      <p:sp>
        <p:nvSpPr>
          <p:cNvPr id="137276" name="Text Box 59"/>
          <p:cNvSpPr txBox="1">
            <a:spLocks noChangeArrowheads="1"/>
          </p:cNvSpPr>
          <p:nvPr/>
        </p:nvSpPr>
        <p:spPr bwMode="auto">
          <a:xfrm>
            <a:off x="36734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10</a:t>
            </a:r>
            <a:endParaRPr lang="en-US" altLang="en-US" sz="2400"/>
          </a:p>
        </p:txBody>
      </p:sp>
      <p:sp>
        <p:nvSpPr>
          <p:cNvPr id="137277" name="Text Box 60"/>
          <p:cNvSpPr txBox="1">
            <a:spLocks noChangeArrowheads="1"/>
          </p:cNvSpPr>
          <p:nvPr/>
        </p:nvSpPr>
        <p:spPr bwMode="auto">
          <a:xfrm>
            <a:off x="46831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11</a:t>
            </a:r>
            <a:endParaRPr lang="en-US" altLang="en-US" sz="2400"/>
          </a:p>
        </p:txBody>
      </p:sp>
      <p:sp>
        <p:nvSpPr>
          <p:cNvPr id="137278" name="Text Box 61"/>
          <p:cNvSpPr txBox="1">
            <a:spLocks noChangeArrowheads="1"/>
          </p:cNvSpPr>
          <p:nvPr/>
        </p:nvSpPr>
        <p:spPr bwMode="auto">
          <a:xfrm>
            <a:off x="56927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12</a:t>
            </a:r>
            <a:endParaRPr lang="en-US" altLang="en-US" sz="2400"/>
          </a:p>
        </p:txBody>
      </p:sp>
      <p:sp>
        <p:nvSpPr>
          <p:cNvPr id="137279" name="Text Box 62"/>
          <p:cNvSpPr txBox="1">
            <a:spLocks noChangeArrowheads="1"/>
          </p:cNvSpPr>
          <p:nvPr/>
        </p:nvSpPr>
        <p:spPr bwMode="auto">
          <a:xfrm>
            <a:off x="670242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13</a:t>
            </a:r>
            <a:endParaRPr lang="en-US" altLang="en-US" sz="2400"/>
          </a:p>
        </p:txBody>
      </p:sp>
      <p:sp>
        <p:nvSpPr>
          <p:cNvPr id="137280" name="Text Box 63"/>
          <p:cNvSpPr txBox="1">
            <a:spLocks noChangeArrowheads="1"/>
          </p:cNvSpPr>
          <p:nvPr/>
        </p:nvSpPr>
        <p:spPr bwMode="auto">
          <a:xfrm>
            <a:off x="7712075" y="46767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14</a:t>
            </a:r>
            <a:endParaRPr lang="en-US" altLang="en-US" sz="2400"/>
          </a:p>
        </p:txBody>
      </p:sp>
      <p:sp>
        <p:nvSpPr>
          <p:cNvPr id="137281" name="Oval 64"/>
          <p:cNvSpPr>
            <a:spLocks noChangeArrowheads="1"/>
          </p:cNvSpPr>
          <p:nvPr/>
        </p:nvSpPr>
        <p:spPr bwMode="auto">
          <a:xfrm>
            <a:off x="476250" y="5140325"/>
            <a:ext cx="673100" cy="617538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7282" name="Text Box 65"/>
          <p:cNvSpPr txBox="1">
            <a:spLocks noChangeArrowheads="1"/>
          </p:cNvSpPr>
          <p:nvPr/>
        </p:nvSpPr>
        <p:spPr bwMode="auto">
          <a:xfrm>
            <a:off x="457200" y="5238750"/>
            <a:ext cx="841375" cy="61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 7</a:t>
            </a:r>
            <a:endParaRPr lang="en-US" altLang="en-US" sz="2400"/>
          </a:p>
        </p:txBody>
      </p:sp>
      <p:sp>
        <p:nvSpPr>
          <p:cNvPr id="137283" name="Oval 66"/>
          <p:cNvSpPr>
            <a:spLocks noChangeArrowheads="1"/>
          </p:cNvSpPr>
          <p:nvPr/>
        </p:nvSpPr>
        <p:spPr bwMode="auto">
          <a:xfrm>
            <a:off x="1485900" y="5138738"/>
            <a:ext cx="673100" cy="615950"/>
          </a:xfrm>
          <a:prstGeom prst="ellipse">
            <a:avLst/>
          </a:prstGeom>
          <a:solidFill>
            <a:srgbClr val="FFFFFF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GB" altLang="en-US" sz="1800"/>
          </a:p>
        </p:txBody>
      </p:sp>
      <p:sp>
        <p:nvSpPr>
          <p:cNvPr id="137284" name="Text Box 67"/>
          <p:cNvSpPr txBox="1">
            <a:spLocks noChangeArrowheads="1"/>
          </p:cNvSpPr>
          <p:nvPr/>
        </p:nvSpPr>
        <p:spPr bwMode="auto">
          <a:xfrm>
            <a:off x="1466850" y="5238750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16</a:t>
            </a:r>
            <a:endParaRPr lang="en-US" altLang="en-US" sz="2400"/>
          </a:p>
        </p:txBody>
      </p:sp>
      <p:sp>
        <p:nvSpPr>
          <p:cNvPr id="137285" name="Text Box 68"/>
          <p:cNvSpPr txBox="1">
            <a:spLocks noChangeArrowheads="1"/>
          </p:cNvSpPr>
          <p:nvPr/>
        </p:nvSpPr>
        <p:spPr bwMode="auto">
          <a:xfrm>
            <a:off x="148590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16</a:t>
            </a:r>
            <a:endParaRPr lang="en-US" altLang="en-US" sz="2400"/>
          </a:p>
        </p:txBody>
      </p:sp>
      <p:sp>
        <p:nvSpPr>
          <p:cNvPr id="137286" name="Line 69"/>
          <p:cNvSpPr>
            <a:spLocks noChangeShapeType="1"/>
          </p:cNvSpPr>
          <p:nvPr/>
        </p:nvSpPr>
        <p:spPr bwMode="auto">
          <a:xfrm flipH="1">
            <a:off x="644525" y="4676775"/>
            <a:ext cx="16827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7287" name="Line 70"/>
          <p:cNvSpPr>
            <a:spLocks noChangeShapeType="1"/>
          </p:cNvSpPr>
          <p:nvPr/>
        </p:nvSpPr>
        <p:spPr bwMode="auto">
          <a:xfrm>
            <a:off x="1149350" y="4676775"/>
            <a:ext cx="504825" cy="4635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MY"/>
          </a:p>
        </p:txBody>
      </p:sp>
      <p:sp>
        <p:nvSpPr>
          <p:cNvPr id="137288" name="Text Box 71"/>
          <p:cNvSpPr txBox="1">
            <a:spLocks noChangeArrowheads="1"/>
          </p:cNvSpPr>
          <p:nvPr/>
        </p:nvSpPr>
        <p:spPr bwMode="auto">
          <a:xfrm>
            <a:off x="476250" y="5705475"/>
            <a:ext cx="6731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</a:rPr>
              <a:t> 15</a:t>
            </a:r>
            <a:endParaRPr lang="en-US" altLang="en-US" sz="2400"/>
          </a:p>
        </p:txBody>
      </p:sp>
      <p:sp>
        <p:nvSpPr>
          <p:cNvPr id="137289" name="Text Box 72"/>
          <p:cNvSpPr txBox="1">
            <a:spLocks noChangeArrowheads="1"/>
          </p:cNvSpPr>
          <p:nvPr/>
        </p:nvSpPr>
        <p:spPr bwMode="auto">
          <a:xfrm>
            <a:off x="3276600" y="3049588"/>
            <a:ext cx="841375" cy="612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/>
              <a:t> 34</a:t>
            </a:r>
            <a:endParaRPr lang="en-US" altLang="en-US" sz="2400"/>
          </a:p>
        </p:txBody>
      </p:sp>
      <p:sp>
        <p:nvSpPr>
          <p:cNvPr id="137290" name="Rectangle 73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en-US" sz="4000" dirty="0"/>
              <a:t>Forming an Initial Heap (cont.)</a:t>
            </a:r>
          </a:p>
        </p:txBody>
      </p:sp>
      <p:sp>
        <p:nvSpPr>
          <p:cNvPr id="137291" name="Text Box 74"/>
          <p:cNvSpPr txBox="1">
            <a:spLocks noChangeArrowheads="1"/>
          </p:cNvSpPr>
          <p:nvPr/>
        </p:nvSpPr>
        <p:spPr bwMode="auto">
          <a:xfrm>
            <a:off x="3200400" y="5334000"/>
            <a:ext cx="3200400" cy="466725"/>
          </a:xfrm>
          <a:prstGeom prst="rect">
            <a:avLst/>
          </a:prstGeom>
          <a:noFill/>
          <a:ln w="9525" algn="ctr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>
                <a:solidFill>
                  <a:srgbClr val="FF3300"/>
                </a:solidFill>
              </a:rPr>
              <a:t>The result is a heap</a:t>
            </a: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2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9CD6093E-2F75-497C-9472-AB1148B8CA36}" type="slidenum">
              <a:rPr lang="en-US" altLang="en-US" sz="1400" smtClean="0"/>
              <a:pPr>
                <a:spcBef>
                  <a:spcPct val="0"/>
                </a:spcBef>
                <a:buFontTx/>
                <a:buNone/>
              </a:pPr>
              <a:t>136</a:t>
            </a:fld>
            <a:endParaRPr lang="en-US" altLang="en-US" sz="1400"/>
          </a:p>
        </p:txBody>
      </p:sp>
      <p:sp>
        <p:nvSpPr>
          <p:cNvPr id="138243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Linked Heap</a:t>
            </a:r>
          </a:p>
        </p:txBody>
      </p:sp>
      <p:sp>
        <p:nvSpPr>
          <p:cNvPr id="138244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en-US" altLang="en-US" dirty="0"/>
              <a:t>If we have a large element size and we </a:t>
            </a:r>
            <a:r>
              <a:rPr lang="en-US" altLang="en-US" u="sng" dirty="0"/>
              <a:t>don’t know the max size</a:t>
            </a:r>
            <a:r>
              <a:rPr lang="en-US" altLang="en-US" dirty="0"/>
              <a:t>, we might want to consider conserving memory and avoiding resizing array with a </a:t>
            </a:r>
            <a:r>
              <a:rPr lang="en-US" altLang="en-US"/>
              <a:t>linked heap.</a:t>
            </a:r>
            <a:endParaRPr lang="en-US" altLang="en-US" dirty="0"/>
          </a:p>
          <a:p>
            <a:pPr eaLnBrk="1" hangingPunct="1"/>
            <a:r>
              <a:rPr lang="en-US" altLang="en-US" dirty="0"/>
              <a:t>Should have the </a:t>
            </a:r>
            <a:r>
              <a:rPr lang="en-US" altLang="en-US" u="sng" dirty="0"/>
              <a:t>same time complexities</a:t>
            </a:r>
            <a:r>
              <a:rPr lang="en-US" altLang="en-US" dirty="0"/>
              <a:t> as the array-based heap.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rgbClr val="808080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rgbClr val="808080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2567</TotalTime>
  <Words>8570</Words>
  <Application>Microsoft Office PowerPoint</Application>
  <PresentationFormat>On-screen Show (4:3)</PresentationFormat>
  <Paragraphs>2959</Paragraphs>
  <Slides>136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136</vt:i4>
      </vt:variant>
    </vt:vector>
  </HeadingPairs>
  <TitlesOfParts>
    <vt:vector size="141" baseType="lpstr">
      <vt:lpstr>Arial</vt:lpstr>
      <vt:lpstr>Symbol</vt:lpstr>
      <vt:lpstr>Times New Roman</vt:lpstr>
      <vt:lpstr>Wingdings</vt:lpstr>
      <vt:lpstr>Default Design</vt:lpstr>
      <vt:lpstr>PowerPoint Presentation</vt:lpstr>
      <vt:lpstr>Priority Queue ADT</vt:lpstr>
      <vt:lpstr>Priority Queue ADT Operations</vt:lpstr>
      <vt:lpstr>Priority Queue  Implementation</vt:lpstr>
      <vt:lpstr>Enqueuing an Element</vt:lpstr>
      <vt:lpstr>Enqueuing an Element (cont.)</vt:lpstr>
      <vt:lpstr>Enqueuing an Element (cont.)</vt:lpstr>
      <vt:lpstr>Enqueuing an Element (cont.)</vt:lpstr>
      <vt:lpstr>Enqueuing an Element (cont.)</vt:lpstr>
      <vt:lpstr>Enqueuing an Element (cont.)</vt:lpstr>
      <vt:lpstr>Enqueuing an Element (cont.)</vt:lpstr>
      <vt:lpstr>Enqueuing an Element (cont.)</vt:lpstr>
      <vt:lpstr>Enqueuing an Element (cont.)</vt:lpstr>
      <vt:lpstr>Enqueuing an Element (cont.)</vt:lpstr>
      <vt:lpstr>Enqueuing an Element (cont.)</vt:lpstr>
      <vt:lpstr>Enqueuing an Element (cont.)</vt:lpstr>
      <vt:lpstr>Enqueuing an Element (cont.)</vt:lpstr>
      <vt:lpstr>Using a Heap to Implement a Priority Queue</vt:lpstr>
      <vt:lpstr>Height of a Heap</vt:lpstr>
      <vt:lpstr>Comparing Operations</vt:lpstr>
      <vt:lpstr>Comparing Operations (cont.)</vt:lpstr>
      <vt:lpstr>Heaps</vt:lpstr>
      <vt:lpstr>Example of a Heap</vt:lpstr>
      <vt:lpstr>Example of a Heap (cont.)</vt:lpstr>
      <vt:lpstr>Dequeue</vt:lpstr>
      <vt:lpstr>Dequeue (cont.)</vt:lpstr>
      <vt:lpstr>Dequeue (cont.)</vt:lpstr>
      <vt:lpstr>Dequeue (cont.)</vt:lpstr>
      <vt:lpstr>Dequeue (cont.)</vt:lpstr>
      <vt:lpstr>Dequeue (cont.)</vt:lpstr>
      <vt:lpstr>Dequeue (cont.)</vt:lpstr>
      <vt:lpstr>Dequeue (cont.)</vt:lpstr>
      <vt:lpstr>Dequeue (cont.)</vt:lpstr>
      <vt:lpstr>Dequeue (cont.)</vt:lpstr>
      <vt:lpstr>Dequeue (cont.)</vt:lpstr>
      <vt:lpstr>Dequeue (cont.)</vt:lpstr>
      <vt:lpstr>Dequeue (cont.)</vt:lpstr>
      <vt:lpstr>Dequeue (cont.)</vt:lpstr>
      <vt:lpstr>Dequeue (cont.)</vt:lpstr>
      <vt:lpstr>Dequeue (cont.)</vt:lpstr>
      <vt:lpstr>Dequeue (cont.)</vt:lpstr>
      <vt:lpstr>Dequeue (cont.)</vt:lpstr>
      <vt:lpstr>Dequeue (cont.)</vt:lpstr>
      <vt:lpstr>Dequeue (cont.)</vt:lpstr>
      <vt:lpstr>Dequeue In Short</vt:lpstr>
      <vt:lpstr>Dequeue In Short (cont.)</vt:lpstr>
      <vt:lpstr>Heapify</vt:lpstr>
      <vt:lpstr>Enqueue </vt:lpstr>
      <vt:lpstr>Enqueue (cont.)</vt:lpstr>
      <vt:lpstr>Enqueue (cont.)</vt:lpstr>
      <vt:lpstr>Enqueue (cont.)</vt:lpstr>
      <vt:lpstr>Enqueue (cont.)</vt:lpstr>
      <vt:lpstr>Enqueue (cont.)</vt:lpstr>
      <vt:lpstr>Enqueue (cont.)</vt:lpstr>
      <vt:lpstr>Enqueue (cont.)</vt:lpstr>
      <vt:lpstr>Enqueue (cont.)</vt:lpstr>
      <vt:lpstr>Enqueue (cont.)</vt:lpstr>
      <vt:lpstr>Enqueue (cont.)</vt:lpstr>
      <vt:lpstr>Enqueue (cont.)</vt:lpstr>
      <vt:lpstr>Enqueue (cont.)</vt:lpstr>
      <vt:lpstr>Enqueue (cont.)</vt:lpstr>
      <vt:lpstr>Enqueue (cont.)</vt:lpstr>
      <vt:lpstr>Enqueue In Short</vt:lpstr>
      <vt:lpstr>Enqueue In Short (cont.)</vt:lpstr>
      <vt:lpstr>Implementing a Heap</vt:lpstr>
      <vt:lpstr>Implementing a Heap with Array</vt:lpstr>
      <vt:lpstr>Heap Properties</vt:lpstr>
      <vt:lpstr>Heap Properties (cont.)</vt:lpstr>
      <vt:lpstr>Heap Properties (cont.)</vt:lpstr>
      <vt:lpstr>Heap Properties (cont.)</vt:lpstr>
      <vt:lpstr>Heap Properties (cont.)</vt:lpstr>
      <vt:lpstr>Heap Properties (cont.)</vt:lpstr>
      <vt:lpstr>Heap Properties (cont.)</vt:lpstr>
      <vt:lpstr>Heap Properties (cont.)</vt:lpstr>
      <vt:lpstr>Heap Properties (cont.)</vt:lpstr>
      <vt:lpstr>Heap Properties (cont.)</vt:lpstr>
      <vt:lpstr>Array Implementation of Heap</vt:lpstr>
      <vt:lpstr>Array Implementation of Heap (cont.)</vt:lpstr>
      <vt:lpstr>Array Implementation of Heap (cont.)</vt:lpstr>
      <vt:lpstr>Array Implementation of Heap (cont.)</vt:lpstr>
      <vt:lpstr>Array Implementation of Heap (cont.)</vt:lpstr>
      <vt:lpstr>Array Implementation of Heap (cont.)</vt:lpstr>
      <vt:lpstr>Array Implementation of Heap (cont.)</vt:lpstr>
      <vt:lpstr>Array Implementation of Heap (cont.)</vt:lpstr>
      <vt:lpstr>Array Implementation of Heap (cont.)</vt:lpstr>
      <vt:lpstr>Array Implementation of Heap (cont.)</vt:lpstr>
      <vt:lpstr>Array Implementation of Heap (cont.)</vt:lpstr>
      <vt:lpstr>Array Implementation of Heap (cont.)</vt:lpstr>
      <vt:lpstr>Array Implementation of Heap (cont.)</vt:lpstr>
      <vt:lpstr>Array Implementation of Heap (cont.)</vt:lpstr>
      <vt:lpstr>Array Implementation of Heap (cont.)</vt:lpstr>
      <vt:lpstr>Array Implementation of Heap (cont.)</vt:lpstr>
      <vt:lpstr>Array Implementation of Heap (cont.)</vt:lpstr>
      <vt:lpstr>Array Implementation of Heap (cont.)</vt:lpstr>
      <vt:lpstr>Array Implementation of Heap (cont.)</vt:lpstr>
      <vt:lpstr>Array Implementation of Heap (cont.)</vt:lpstr>
      <vt:lpstr>Array Implementation of Heap (cont.)</vt:lpstr>
      <vt:lpstr>Reducing the Work  in a Swap</vt:lpstr>
      <vt:lpstr>Reducing the Work  in a Swap (cont.)</vt:lpstr>
      <vt:lpstr>Enqueue </vt:lpstr>
      <vt:lpstr>Enqueue (cont.)</vt:lpstr>
      <vt:lpstr>Enqueue (cont.)</vt:lpstr>
      <vt:lpstr>Enqueue (cont.)</vt:lpstr>
      <vt:lpstr>Enqueue (cont.)</vt:lpstr>
      <vt:lpstr>Enqueue (cont.)</vt:lpstr>
      <vt:lpstr>Enqueue (cont.)</vt:lpstr>
      <vt:lpstr>Enqueue (cont.)</vt:lpstr>
      <vt:lpstr>Enqueue (cont.)</vt:lpstr>
      <vt:lpstr>Enqueue (cont.)</vt:lpstr>
      <vt:lpstr>Enqueue (cont.)</vt:lpstr>
      <vt:lpstr>Enqueue (cont.)</vt:lpstr>
      <vt:lpstr>Dequeue</vt:lpstr>
      <vt:lpstr>Parent-Child Formulas</vt:lpstr>
      <vt:lpstr>Forming an Initial Heap</vt:lpstr>
      <vt:lpstr>Forming an Initial Heap (cont.)</vt:lpstr>
      <vt:lpstr>Forming an Initial Heap (cont.)</vt:lpstr>
      <vt:lpstr>Forming an Initial Heap (cont.)</vt:lpstr>
      <vt:lpstr>Forming an Initial Heap (cont.)</vt:lpstr>
      <vt:lpstr>Forming an Initial Heap (cont.)</vt:lpstr>
      <vt:lpstr>Forming an Initial Heap (cont.)</vt:lpstr>
      <vt:lpstr>Forming an Initial Heap (cont.)</vt:lpstr>
      <vt:lpstr>Forming an Initial Heap (cont.)</vt:lpstr>
      <vt:lpstr>Forming an Initial Heap (cont.)</vt:lpstr>
      <vt:lpstr>Forming an Initial Heap (cont.)</vt:lpstr>
      <vt:lpstr>Forming an Initial Heap (cont.)</vt:lpstr>
      <vt:lpstr>Forming an Initial Heap (cont.)</vt:lpstr>
      <vt:lpstr>Forming an Initial Heap (cont.)</vt:lpstr>
      <vt:lpstr>Forming an Initial Heap (cont.)</vt:lpstr>
      <vt:lpstr>Forming an Initial Heap (cont.)</vt:lpstr>
      <vt:lpstr>Forming an Initial Heap (cont.)</vt:lpstr>
      <vt:lpstr>Forming an Initial Heap (cont.)</vt:lpstr>
      <vt:lpstr>Forming an Initial Heap (cont.)</vt:lpstr>
      <vt:lpstr>Forming an Initial Heap (cont.)</vt:lpstr>
      <vt:lpstr>Forming an Initial Heap (cont.)</vt:lpstr>
      <vt:lpstr>Forming an Initial Heap (cont.)</vt:lpstr>
      <vt:lpstr>Linked Heap</vt:lpstr>
    </vt:vector>
  </TitlesOfParts>
  <Company>Clarion University of PA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subject>Priority Queues, Trees, and Heaps</dc:subject>
  <dc:creator>Jeffrey S. Childs</dc:creator>
  <cp:lastModifiedBy>Neoh Kee Lin</cp:lastModifiedBy>
  <cp:revision>93</cp:revision>
  <dcterms:created xsi:type="dcterms:W3CDTF">2006-01-21T18:11:55Z</dcterms:created>
  <dcterms:modified xsi:type="dcterms:W3CDTF">2025-01-05T11:16:41Z</dcterms:modified>
</cp:coreProperties>
</file>