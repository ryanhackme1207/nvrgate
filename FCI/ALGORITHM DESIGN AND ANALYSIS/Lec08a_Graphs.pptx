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447" r:id="rId2"/>
    <p:sldId id="423" r:id="rId3"/>
    <p:sldId id="426" r:id="rId4"/>
    <p:sldId id="425" r:id="rId5"/>
    <p:sldId id="427" r:id="rId6"/>
    <p:sldId id="429" r:id="rId7"/>
    <p:sldId id="430" r:id="rId8"/>
    <p:sldId id="470" r:id="rId9"/>
    <p:sldId id="463" r:id="rId10"/>
    <p:sldId id="464" r:id="rId11"/>
    <p:sldId id="471" r:id="rId12"/>
    <p:sldId id="472" r:id="rId13"/>
    <p:sldId id="473" r:id="rId14"/>
    <p:sldId id="474" r:id="rId15"/>
    <p:sldId id="436" r:id="rId16"/>
    <p:sldId id="435" r:id="rId17"/>
    <p:sldId id="476" r:id="rId18"/>
    <p:sldId id="440" r:id="rId19"/>
    <p:sldId id="442" r:id="rId20"/>
    <p:sldId id="443" r:id="rId21"/>
    <p:sldId id="467" r:id="rId22"/>
    <p:sldId id="444" r:id="rId23"/>
    <p:sldId id="445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FA5D5E48-7F64-4E68-8BB9-0815526D955D}"/>
    <pc:docChg chg="modSld">
      <pc:chgData name="Neoh Kee Lin" userId="9e68bd29-1eeb-4ae3-beb9-48fd59e465e5" providerId="ADAL" clId="{FA5D5E48-7F64-4E68-8BB9-0815526D955D}" dt="2024-11-28T07:19:56.702" v="1" actId="20577"/>
      <pc:docMkLst>
        <pc:docMk/>
      </pc:docMkLst>
      <pc:sldChg chg="modSp mod">
        <pc:chgData name="Neoh Kee Lin" userId="9e68bd29-1eeb-4ae3-beb9-48fd59e465e5" providerId="ADAL" clId="{FA5D5E48-7F64-4E68-8BB9-0815526D955D}" dt="2024-11-28T07:19:56.702" v="1" actId="20577"/>
        <pc:sldMkLst>
          <pc:docMk/>
          <pc:sldMk cId="0" sldId="447"/>
        </pc:sldMkLst>
        <pc:spChg chg="mod">
          <ac:chgData name="Neoh Kee Lin" userId="9e68bd29-1eeb-4ae3-beb9-48fd59e465e5" providerId="ADAL" clId="{FA5D5E48-7F64-4E68-8BB9-0815526D955D}" dt="2024-11-28T07:19:56.702" v="1" actId="20577"/>
          <ac:spMkLst>
            <pc:docMk/>
            <pc:sldMk cId="0" sldId="447"/>
            <ac:spMk id="3075" creationId="{00000000-0000-0000-0000-000000000000}"/>
          </ac:spMkLst>
        </pc:spChg>
      </pc:sldChg>
    </pc:docChg>
  </pc:docChgLst>
  <pc:docChgLst>
    <pc:chgData name="Neoh Kee Lin" userId="9e68bd29-1eeb-4ae3-beb9-48fd59e465e5" providerId="ADAL" clId="{DB12FEBC-8137-4F77-8C0A-40F4CB1B8E38}"/>
    <pc:docChg chg="undo custSel modSld">
      <pc:chgData name="Neoh Kee Lin" userId="9e68bd29-1eeb-4ae3-beb9-48fd59e465e5" providerId="ADAL" clId="{DB12FEBC-8137-4F77-8C0A-40F4CB1B8E38}" dt="2022-12-08T15:55:33.370" v="100" actId="115"/>
      <pc:docMkLst>
        <pc:docMk/>
      </pc:docMkLst>
      <pc:sldChg chg="modSp mod">
        <pc:chgData name="Neoh Kee Lin" userId="9e68bd29-1eeb-4ae3-beb9-48fd59e465e5" providerId="ADAL" clId="{DB12FEBC-8137-4F77-8C0A-40F4CB1B8E38}" dt="2022-12-08T15:43:50.647" v="41" actId="115"/>
        <pc:sldMkLst>
          <pc:docMk/>
          <pc:sldMk cId="0" sldId="423"/>
        </pc:sldMkLst>
      </pc:sldChg>
      <pc:sldChg chg="modSp">
        <pc:chgData name="Neoh Kee Lin" userId="9e68bd29-1eeb-4ae3-beb9-48fd59e465e5" providerId="ADAL" clId="{DB12FEBC-8137-4F77-8C0A-40F4CB1B8E38}" dt="2022-12-08T15:14:02.454" v="1" actId="1036"/>
        <pc:sldMkLst>
          <pc:docMk/>
          <pc:sldMk cId="0" sldId="427"/>
        </pc:sldMkLst>
      </pc:sldChg>
      <pc:sldChg chg="modSp mod">
        <pc:chgData name="Neoh Kee Lin" userId="9e68bd29-1eeb-4ae3-beb9-48fd59e465e5" providerId="ADAL" clId="{DB12FEBC-8137-4F77-8C0A-40F4CB1B8E38}" dt="2022-12-08T15:44:33.920" v="43" actId="115"/>
        <pc:sldMkLst>
          <pc:docMk/>
          <pc:sldMk cId="0" sldId="429"/>
        </pc:sldMkLst>
      </pc:sldChg>
      <pc:sldChg chg="modSp mod">
        <pc:chgData name="Neoh Kee Lin" userId="9e68bd29-1eeb-4ae3-beb9-48fd59e465e5" providerId="ADAL" clId="{DB12FEBC-8137-4F77-8C0A-40F4CB1B8E38}" dt="2022-12-08T15:48:06.953" v="80" actId="115"/>
        <pc:sldMkLst>
          <pc:docMk/>
          <pc:sldMk cId="0" sldId="430"/>
        </pc:sldMkLst>
      </pc:sldChg>
      <pc:sldChg chg="modSp">
        <pc:chgData name="Neoh Kee Lin" userId="9e68bd29-1eeb-4ae3-beb9-48fd59e465e5" providerId="ADAL" clId="{DB12FEBC-8137-4F77-8C0A-40F4CB1B8E38}" dt="2022-12-08T15:19:41.023" v="40" actId="1037"/>
        <pc:sldMkLst>
          <pc:docMk/>
          <pc:sldMk cId="0" sldId="440"/>
        </pc:sldMkLst>
      </pc:sldChg>
      <pc:sldChg chg="modSp mod">
        <pc:chgData name="Neoh Kee Lin" userId="9e68bd29-1eeb-4ae3-beb9-48fd59e465e5" providerId="ADAL" clId="{DB12FEBC-8137-4F77-8C0A-40F4CB1B8E38}" dt="2022-12-08T15:48:50.441" v="81" actId="115"/>
        <pc:sldMkLst>
          <pc:docMk/>
          <pc:sldMk cId="0" sldId="442"/>
        </pc:sldMkLst>
      </pc:sldChg>
      <pc:sldChg chg="modSp mod">
        <pc:chgData name="Neoh Kee Lin" userId="9e68bd29-1eeb-4ae3-beb9-48fd59e465e5" providerId="ADAL" clId="{DB12FEBC-8137-4F77-8C0A-40F4CB1B8E38}" dt="2022-12-08T15:55:33.370" v="100" actId="115"/>
        <pc:sldMkLst>
          <pc:docMk/>
          <pc:sldMk cId="0" sldId="445"/>
        </pc:sldMkLst>
      </pc:sldChg>
      <pc:sldChg chg="modSp">
        <pc:chgData name="Neoh Kee Lin" userId="9e68bd29-1eeb-4ae3-beb9-48fd59e465e5" providerId="ADAL" clId="{DB12FEBC-8137-4F77-8C0A-40F4CB1B8E38}" dt="2022-12-08T15:17:11.561" v="15" actId="1036"/>
        <pc:sldMkLst>
          <pc:docMk/>
          <pc:sldMk cId="0" sldId="463"/>
        </pc:sldMkLst>
      </pc:sldChg>
      <pc:sldChg chg="modSp">
        <pc:chgData name="Neoh Kee Lin" userId="9e68bd29-1eeb-4ae3-beb9-48fd59e465e5" providerId="ADAL" clId="{DB12FEBC-8137-4F77-8C0A-40F4CB1B8E38}" dt="2022-12-08T15:45:16.815" v="54" actId="1037"/>
        <pc:sldMkLst>
          <pc:docMk/>
          <pc:sldMk cId="0" sldId="464"/>
        </pc:sldMkLst>
      </pc:sldChg>
      <pc:sldChg chg="modSp mod">
        <pc:chgData name="Neoh Kee Lin" userId="9e68bd29-1eeb-4ae3-beb9-48fd59e465e5" providerId="ADAL" clId="{DB12FEBC-8137-4F77-8C0A-40F4CB1B8E38}" dt="2022-12-08T15:53:59.306" v="95" actId="115"/>
        <pc:sldMkLst>
          <pc:docMk/>
          <pc:sldMk cId="0" sldId="467"/>
        </pc:sldMkLst>
      </pc:sldChg>
      <pc:sldChg chg="modSp mod">
        <pc:chgData name="Neoh Kee Lin" userId="9e68bd29-1eeb-4ae3-beb9-48fd59e465e5" providerId="ADAL" clId="{DB12FEBC-8137-4F77-8C0A-40F4CB1B8E38}" dt="2022-12-08T15:54:44.665" v="97" actId="14100"/>
        <pc:sldMkLst>
          <pc:docMk/>
          <pc:sldMk cId="0" sldId="468"/>
        </pc:sldMkLst>
      </pc:sldChg>
      <pc:sldChg chg="modSp">
        <pc:chgData name="Neoh Kee Lin" userId="9e68bd29-1eeb-4ae3-beb9-48fd59e465e5" providerId="ADAL" clId="{DB12FEBC-8137-4F77-8C0A-40F4CB1B8E38}" dt="2022-12-08T15:14:25.687" v="5" actId="1036"/>
        <pc:sldMkLst>
          <pc:docMk/>
          <pc:sldMk cId="0" sldId="470"/>
        </pc:sldMkLst>
      </pc:sldChg>
      <pc:sldChg chg="modSp mod">
        <pc:chgData name="Neoh Kee Lin" userId="9e68bd29-1eeb-4ae3-beb9-48fd59e465e5" providerId="ADAL" clId="{DB12FEBC-8137-4F77-8C0A-40F4CB1B8E38}" dt="2022-12-08T15:45:51.737" v="57" actId="113"/>
        <pc:sldMkLst>
          <pc:docMk/>
          <pc:sldMk cId="0" sldId="471"/>
        </pc:sldMkLst>
      </pc:sldChg>
      <pc:sldChg chg="modSp">
        <pc:chgData name="Neoh Kee Lin" userId="9e68bd29-1eeb-4ae3-beb9-48fd59e465e5" providerId="ADAL" clId="{DB12FEBC-8137-4F77-8C0A-40F4CB1B8E38}" dt="2022-12-08T15:16:45.433" v="14" actId="1036"/>
        <pc:sldMkLst>
          <pc:docMk/>
          <pc:sldMk cId="0" sldId="472"/>
        </pc:sldMkLst>
      </pc:sldChg>
      <pc:sldChg chg="modSp">
        <pc:chgData name="Neoh Kee Lin" userId="9e68bd29-1eeb-4ae3-beb9-48fd59e465e5" providerId="ADAL" clId="{DB12FEBC-8137-4F77-8C0A-40F4CB1B8E38}" dt="2022-12-08T15:17:46.953" v="20" actId="1036"/>
        <pc:sldMkLst>
          <pc:docMk/>
          <pc:sldMk cId="0" sldId="473"/>
        </pc:sldMkLst>
      </pc:sldChg>
      <pc:sldChg chg="modSp">
        <pc:chgData name="Neoh Kee Lin" userId="9e68bd29-1eeb-4ae3-beb9-48fd59e465e5" providerId="ADAL" clId="{DB12FEBC-8137-4F77-8C0A-40F4CB1B8E38}" dt="2022-12-08T15:17:55.432" v="23" actId="1036"/>
        <pc:sldMkLst>
          <pc:docMk/>
          <pc:sldMk cId="0" sldId="474"/>
        </pc:sldMkLst>
      </pc:sldChg>
    </pc:docChg>
  </pc:docChgLst>
  <pc:docChgLst>
    <pc:chgData name="Neoh Kee Lin" userId="9e68bd29-1eeb-4ae3-beb9-48fd59e465e5" providerId="ADAL" clId="{319FDAF5-E285-44C8-907F-4212492B3EFC}"/>
    <pc:docChg chg="undo custSel delSld modSld">
      <pc:chgData name="Neoh Kee Lin" userId="9e68bd29-1eeb-4ae3-beb9-48fd59e465e5" providerId="ADAL" clId="{319FDAF5-E285-44C8-907F-4212492B3EFC}" dt="2025-01-12T13:21:37.876" v="150" actId="6549"/>
      <pc:docMkLst>
        <pc:docMk/>
      </pc:docMkLst>
      <pc:sldChg chg="modSp mod">
        <pc:chgData name="Neoh Kee Lin" userId="9e68bd29-1eeb-4ae3-beb9-48fd59e465e5" providerId="ADAL" clId="{319FDAF5-E285-44C8-907F-4212492B3EFC}" dt="2025-01-12T13:20:45.568" v="145" actId="6549"/>
        <pc:sldMkLst>
          <pc:docMk/>
          <pc:sldMk cId="0" sldId="444"/>
        </pc:sldMkLst>
        <pc:spChg chg="mod">
          <ac:chgData name="Neoh Kee Lin" userId="9e68bd29-1eeb-4ae3-beb9-48fd59e465e5" providerId="ADAL" clId="{319FDAF5-E285-44C8-907F-4212492B3EFC}" dt="2025-01-12T13:20:45.568" v="145" actId="6549"/>
          <ac:spMkLst>
            <pc:docMk/>
            <pc:sldMk cId="0" sldId="444"/>
            <ac:spMk id="28675" creationId="{00000000-0000-0000-0000-000000000000}"/>
          </ac:spMkLst>
        </pc:spChg>
      </pc:sldChg>
      <pc:sldChg chg="modSp mod">
        <pc:chgData name="Neoh Kee Lin" userId="9e68bd29-1eeb-4ae3-beb9-48fd59e465e5" providerId="ADAL" clId="{319FDAF5-E285-44C8-907F-4212492B3EFC}" dt="2025-01-12T13:21:37.876" v="150" actId="6549"/>
        <pc:sldMkLst>
          <pc:docMk/>
          <pc:sldMk cId="0" sldId="445"/>
        </pc:sldMkLst>
        <pc:spChg chg="mod">
          <ac:chgData name="Neoh Kee Lin" userId="9e68bd29-1eeb-4ae3-beb9-48fd59e465e5" providerId="ADAL" clId="{319FDAF5-E285-44C8-907F-4212492B3EFC}" dt="2025-01-12T13:21:37.876" v="150" actId="6549"/>
          <ac:spMkLst>
            <pc:docMk/>
            <pc:sldMk cId="0" sldId="445"/>
            <ac:spMk id="30723" creationId="{00000000-0000-0000-0000-000000000000}"/>
          </ac:spMkLst>
        </pc:spChg>
      </pc:sldChg>
      <pc:sldChg chg="modSp mod">
        <pc:chgData name="Neoh Kee Lin" userId="9e68bd29-1eeb-4ae3-beb9-48fd59e465e5" providerId="ADAL" clId="{319FDAF5-E285-44C8-907F-4212492B3EFC}" dt="2025-01-12T13:20:05.951" v="102" actId="20577"/>
        <pc:sldMkLst>
          <pc:docMk/>
          <pc:sldMk cId="0" sldId="467"/>
        </pc:sldMkLst>
        <pc:spChg chg="mod">
          <ac:chgData name="Neoh Kee Lin" userId="9e68bd29-1eeb-4ae3-beb9-48fd59e465e5" providerId="ADAL" clId="{319FDAF5-E285-44C8-907F-4212492B3EFC}" dt="2025-01-12T13:20:05.951" v="102" actId="20577"/>
          <ac:spMkLst>
            <pc:docMk/>
            <pc:sldMk cId="0" sldId="467"/>
            <ac:spMk id="27651" creationId="{00000000-0000-0000-0000-000000000000}"/>
          </ac:spMkLst>
        </pc:spChg>
      </pc:sldChg>
      <pc:sldChg chg="del">
        <pc:chgData name="Neoh Kee Lin" userId="9e68bd29-1eeb-4ae3-beb9-48fd59e465e5" providerId="ADAL" clId="{319FDAF5-E285-44C8-907F-4212492B3EFC}" dt="2025-01-12T13:16:58.629" v="43" actId="47"/>
        <pc:sldMkLst>
          <pc:docMk/>
          <pc:sldMk cId="0" sldId="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8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98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8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F409E88-11E5-4321-9DA8-D51182B4E7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02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FD7731-EB5A-4C0C-9C6D-AC29FCF86C1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446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BE87-5137-41DD-8C19-BFAF33526C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532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5C9029-4422-4E54-9C12-C93AD71BC3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70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9DC20-6F77-444D-BC89-F1FBD7A8D7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15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05680-499B-4A70-A201-D46644A85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67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8EB4F-4130-4E3A-8D00-04CA80899F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40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645D-CCFB-4176-A5A0-F7234A89FD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77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B61E6-CDEF-4C56-8203-9E93F77686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9702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BEC87-64C7-4903-8CD0-AA379E86B6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04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E7054-305F-4070-A0C8-32E08C0DE5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275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52308-BAA7-46E4-8511-27CFED5D31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01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C16FD1-8AD0-4708-871E-553836B8C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969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EEEDD3D-2F91-47AB-BDC0-9F797F6EE8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6E36A0-C555-457D-A122-D9405DCBBD3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124200"/>
          </a:xfrm>
          <a:noFill/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3600" dirty="0"/>
          </a:p>
          <a:p>
            <a:pPr algn="ctr" eaLnBrk="1" hangingPunct="1">
              <a:buFontTx/>
              <a:buNone/>
            </a:pPr>
            <a:endParaRPr lang="en-US" altLang="en-US" sz="3600" dirty="0"/>
          </a:p>
          <a:p>
            <a:pPr algn="ctr" eaLnBrk="1" hangingPunct="1">
              <a:buFontTx/>
              <a:buNone/>
            </a:pPr>
            <a:r>
              <a:rPr lang="en-US" altLang="en-US" sz="4400" dirty="0"/>
              <a:t>Lecture 08a</a:t>
            </a:r>
          </a:p>
          <a:p>
            <a:pPr algn="ctr" eaLnBrk="1" hangingPunct="1">
              <a:buFontTx/>
              <a:buNone/>
            </a:pPr>
            <a:r>
              <a:rPr lang="en-US" altLang="en-US" sz="4400" dirty="0"/>
              <a:t>Graphs</a:t>
            </a:r>
          </a:p>
          <a:p>
            <a:pPr eaLnBrk="1" hangingPunct="1">
              <a:buFontTx/>
              <a:buNone/>
            </a:pPr>
            <a:endParaRPr lang="en-US" altLang="en-US" sz="40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42DF97-F65B-4E85-9938-742060AD078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 eaLnBrk="1" hangingPunct="1"/>
            <a:r>
              <a:rPr lang="en-US" altLang="en-US"/>
              <a:t>Graphs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648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Graphs are a very general data structure</a:t>
            </a:r>
          </a:p>
          <a:p>
            <a:pPr eaLnBrk="1" hangingPunct="1"/>
            <a:r>
              <a:rPr lang="en-US" altLang="en-US" sz="2800" dirty="0"/>
              <a:t>A graph consists of a set of nodes called </a:t>
            </a:r>
            <a:r>
              <a:rPr lang="en-US" altLang="en-US" sz="2800" b="1" i="1" dirty="0">
                <a:solidFill>
                  <a:srgbClr val="0066FF"/>
                </a:solidFill>
              </a:rPr>
              <a:t>vertices</a:t>
            </a:r>
          </a:p>
          <a:p>
            <a:pPr eaLnBrk="1" hangingPunct="1"/>
            <a:r>
              <a:rPr lang="en-US" altLang="en-US" sz="2800" dirty="0"/>
              <a:t>Any vertex can point to </a:t>
            </a:r>
            <a:r>
              <a:rPr lang="en-US" altLang="en-US" sz="2800" u="sng" dirty="0"/>
              <a:t>any number</a:t>
            </a:r>
            <a:r>
              <a:rPr lang="en-US" altLang="en-US" sz="2800" dirty="0"/>
              <a:t> of other vertices</a:t>
            </a:r>
          </a:p>
          <a:p>
            <a:pPr eaLnBrk="1" hangingPunct="1"/>
            <a:r>
              <a:rPr lang="en-US" altLang="en-US" sz="2800" dirty="0"/>
              <a:t>It is possible that no vertex in the graph points to any other vertex</a:t>
            </a:r>
          </a:p>
          <a:p>
            <a:pPr eaLnBrk="1" hangingPunct="1"/>
            <a:r>
              <a:rPr lang="en-US" altLang="en-US" sz="2800" dirty="0"/>
              <a:t>Each vertex may point to every other vertex, even if there are thousands of vertices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7BB039-69AE-4183-ADCA-B7242C5FE8C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 Directed Graph (Digraph)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3578225" y="1108075"/>
            <a:ext cx="727075" cy="736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3451225" y="1235075"/>
            <a:ext cx="968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A</a:t>
            </a:r>
            <a:endParaRPr lang="en-US" altLang="en-US" sz="2400"/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>
            <a:off x="3336925" y="3071813"/>
            <a:ext cx="725488" cy="73818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208338" y="3198813"/>
            <a:ext cx="9683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D</a:t>
            </a:r>
            <a:endParaRPr lang="en-US" altLang="en-US" sz="2400"/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1157288" y="2090738"/>
            <a:ext cx="725487" cy="736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1028700" y="2217738"/>
            <a:ext cx="968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B</a:t>
            </a:r>
            <a:endParaRPr lang="en-US" altLang="en-US" sz="2400"/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1882775" y="4546600"/>
            <a:ext cx="727075" cy="736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1755775" y="4673600"/>
            <a:ext cx="968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C</a:t>
            </a:r>
            <a:endParaRPr lang="en-US" altLang="en-US" sz="2400"/>
          </a:p>
        </p:txBody>
      </p:sp>
      <p:sp>
        <p:nvSpPr>
          <p:cNvPr id="8204" name="Oval 12"/>
          <p:cNvSpPr>
            <a:spLocks noChangeArrowheads="1"/>
          </p:cNvSpPr>
          <p:nvPr/>
        </p:nvSpPr>
        <p:spPr bwMode="auto">
          <a:xfrm>
            <a:off x="4548188" y="5283200"/>
            <a:ext cx="725487" cy="736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4419600" y="5410200"/>
            <a:ext cx="968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E</a:t>
            </a:r>
            <a:endParaRPr lang="en-US" altLang="en-US" sz="2400"/>
          </a:p>
        </p:txBody>
      </p:sp>
      <p:sp>
        <p:nvSpPr>
          <p:cNvPr id="8206" name="Oval 14"/>
          <p:cNvSpPr>
            <a:spLocks noChangeArrowheads="1"/>
          </p:cNvSpPr>
          <p:nvPr/>
        </p:nvSpPr>
        <p:spPr bwMode="auto">
          <a:xfrm>
            <a:off x="6969125" y="1598613"/>
            <a:ext cx="727075" cy="7366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6842125" y="1725613"/>
            <a:ext cx="9683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F</a:t>
            </a:r>
            <a:endParaRPr lang="en-US" altLang="en-US" sz="2400"/>
          </a:p>
        </p:txBody>
      </p:sp>
      <p:sp>
        <p:nvSpPr>
          <p:cNvPr id="8208" name="Line 16"/>
          <p:cNvSpPr>
            <a:spLocks noChangeShapeType="1"/>
          </p:cNvSpPr>
          <p:nvPr/>
        </p:nvSpPr>
        <p:spPr bwMode="auto">
          <a:xfrm flipH="1">
            <a:off x="1882775" y="1598613"/>
            <a:ext cx="1695450" cy="736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09" name="Line 17"/>
          <p:cNvSpPr>
            <a:spLocks noChangeShapeType="1"/>
          </p:cNvSpPr>
          <p:nvPr/>
        </p:nvSpPr>
        <p:spPr bwMode="auto">
          <a:xfrm>
            <a:off x="1882775" y="2581275"/>
            <a:ext cx="1454150" cy="736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0" name="Line 18"/>
          <p:cNvSpPr>
            <a:spLocks noChangeShapeType="1"/>
          </p:cNvSpPr>
          <p:nvPr/>
        </p:nvSpPr>
        <p:spPr bwMode="auto">
          <a:xfrm flipH="1">
            <a:off x="2366963" y="3810000"/>
            <a:ext cx="1211262" cy="736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1" name="Line 19"/>
          <p:cNvSpPr>
            <a:spLocks noChangeShapeType="1"/>
          </p:cNvSpPr>
          <p:nvPr/>
        </p:nvSpPr>
        <p:spPr bwMode="auto">
          <a:xfrm>
            <a:off x="2609850" y="5037138"/>
            <a:ext cx="1938338" cy="4921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2" name="Line 20"/>
          <p:cNvSpPr>
            <a:spLocks noChangeShapeType="1"/>
          </p:cNvSpPr>
          <p:nvPr/>
        </p:nvSpPr>
        <p:spPr bwMode="auto">
          <a:xfrm flipH="1" flipV="1">
            <a:off x="4062413" y="3563938"/>
            <a:ext cx="727075" cy="17192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3" name="Freeform 21"/>
          <p:cNvSpPr>
            <a:spLocks/>
          </p:cNvSpPr>
          <p:nvPr/>
        </p:nvSpPr>
        <p:spPr bwMode="auto">
          <a:xfrm>
            <a:off x="4305300" y="1066800"/>
            <a:ext cx="2906713" cy="531813"/>
          </a:xfrm>
          <a:custGeom>
            <a:avLst/>
            <a:gdLst>
              <a:gd name="T0" fmla="*/ 0 w 2160"/>
              <a:gd name="T1" fmla="*/ 2147483646 h 390"/>
              <a:gd name="T2" fmla="*/ 2147483646 w 2160"/>
              <a:gd name="T3" fmla="*/ 2147483646 h 390"/>
              <a:gd name="T4" fmla="*/ 2147483646 w 2160"/>
              <a:gd name="T5" fmla="*/ 2147483646 h 3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" h="390">
                <a:moveTo>
                  <a:pt x="0" y="210"/>
                </a:moveTo>
                <a:cubicBezTo>
                  <a:pt x="450" y="105"/>
                  <a:pt x="900" y="0"/>
                  <a:pt x="1260" y="30"/>
                </a:cubicBezTo>
                <a:cubicBezTo>
                  <a:pt x="1620" y="60"/>
                  <a:pt x="2010" y="330"/>
                  <a:pt x="2160" y="390"/>
                </a:cubicBezTo>
              </a:path>
            </a:pathLst>
          </a:custGeom>
          <a:noFill/>
          <a:ln w="3810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4" name="Freeform 22"/>
          <p:cNvSpPr>
            <a:spLocks/>
          </p:cNvSpPr>
          <p:nvPr/>
        </p:nvSpPr>
        <p:spPr bwMode="auto">
          <a:xfrm>
            <a:off x="4305300" y="1598613"/>
            <a:ext cx="2663825" cy="531812"/>
          </a:xfrm>
          <a:custGeom>
            <a:avLst/>
            <a:gdLst>
              <a:gd name="T0" fmla="*/ 2147483646 w 1980"/>
              <a:gd name="T1" fmla="*/ 2147483646 h 210"/>
              <a:gd name="T2" fmla="*/ 2147483646 w 1980"/>
              <a:gd name="T3" fmla="*/ 2147483646 h 210"/>
              <a:gd name="T4" fmla="*/ 0 w 1980"/>
              <a:gd name="T5" fmla="*/ 0 h 21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80" h="210">
                <a:moveTo>
                  <a:pt x="1980" y="180"/>
                </a:moveTo>
                <a:cubicBezTo>
                  <a:pt x="1605" y="195"/>
                  <a:pt x="1230" y="210"/>
                  <a:pt x="900" y="180"/>
                </a:cubicBezTo>
                <a:cubicBezTo>
                  <a:pt x="570" y="150"/>
                  <a:pt x="150" y="30"/>
                  <a:pt x="0" y="0"/>
                </a:cubicBezTo>
              </a:path>
            </a:pathLst>
          </a:custGeom>
          <a:noFill/>
          <a:ln w="3810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215" name="Text Box 24"/>
          <p:cNvSpPr txBox="1">
            <a:spLocks noChangeArrowheads="1"/>
          </p:cNvSpPr>
          <p:nvPr/>
        </p:nvSpPr>
        <p:spPr bwMode="auto">
          <a:xfrm>
            <a:off x="5629276" y="3527425"/>
            <a:ext cx="3124200" cy="22923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Nodes A and F point to each other – it is considered improper to draw a single undirected edge between them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5140325" y="2581275"/>
            <a:ext cx="36576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Each pointer is called an </a:t>
            </a:r>
            <a:r>
              <a:rPr lang="en-US" altLang="en-US" sz="2400" b="1" i="1">
                <a:solidFill>
                  <a:srgbClr val="0066FF"/>
                </a:solidFill>
              </a:rPr>
              <a:t>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151E7D-B757-4323-8388-31B2D389BDA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An Undirected Graph</a:t>
            </a:r>
          </a:p>
        </p:txBody>
      </p:sp>
      <p:sp>
        <p:nvSpPr>
          <p:cNvPr id="7172" name="Oval 3"/>
          <p:cNvSpPr>
            <a:spLocks noChangeArrowheads="1"/>
          </p:cNvSpPr>
          <p:nvPr/>
        </p:nvSpPr>
        <p:spPr bwMode="auto">
          <a:xfrm>
            <a:off x="935038" y="1066800"/>
            <a:ext cx="747712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838200" y="1168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A</a:t>
            </a:r>
            <a:endParaRPr lang="en-US" altLang="en-US" sz="2400"/>
          </a:p>
        </p:txBody>
      </p:sp>
      <p:sp>
        <p:nvSpPr>
          <p:cNvPr id="7174" name="Oval 5"/>
          <p:cNvSpPr>
            <a:spLocks noChangeArrowheads="1"/>
          </p:cNvSpPr>
          <p:nvPr/>
        </p:nvSpPr>
        <p:spPr bwMode="auto">
          <a:xfrm>
            <a:off x="2432050" y="3860800"/>
            <a:ext cx="747713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75" name="Text Box 6"/>
          <p:cNvSpPr txBox="1">
            <a:spLocks noChangeArrowheads="1"/>
          </p:cNvSpPr>
          <p:nvPr/>
        </p:nvSpPr>
        <p:spPr bwMode="auto">
          <a:xfrm>
            <a:off x="2335213" y="3962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D</a:t>
            </a:r>
            <a:endParaRPr lang="en-US" altLang="en-US" sz="2400"/>
          </a:p>
        </p:txBody>
      </p:sp>
      <p:sp>
        <p:nvSpPr>
          <p:cNvPr id="7176" name="Oval 7"/>
          <p:cNvSpPr>
            <a:spLocks noChangeArrowheads="1"/>
          </p:cNvSpPr>
          <p:nvPr/>
        </p:nvSpPr>
        <p:spPr bwMode="auto">
          <a:xfrm>
            <a:off x="3678238" y="1574800"/>
            <a:ext cx="747712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77" name="Text Box 8"/>
          <p:cNvSpPr txBox="1">
            <a:spLocks noChangeArrowheads="1"/>
          </p:cNvSpPr>
          <p:nvPr/>
        </p:nvSpPr>
        <p:spPr bwMode="auto">
          <a:xfrm>
            <a:off x="3581400" y="1676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B</a:t>
            </a:r>
            <a:endParaRPr lang="en-US" altLang="en-US" sz="2400"/>
          </a:p>
        </p:txBody>
      </p:sp>
      <p:sp>
        <p:nvSpPr>
          <p:cNvPr id="7178" name="Oval 9"/>
          <p:cNvSpPr>
            <a:spLocks noChangeArrowheads="1"/>
          </p:cNvSpPr>
          <p:nvPr/>
        </p:nvSpPr>
        <p:spPr bwMode="auto">
          <a:xfrm>
            <a:off x="6421438" y="1320800"/>
            <a:ext cx="747712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79" name="Text Box 10"/>
          <p:cNvSpPr txBox="1">
            <a:spLocks noChangeArrowheads="1"/>
          </p:cNvSpPr>
          <p:nvPr/>
        </p:nvSpPr>
        <p:spPr bwMode="auto">
          <a:xfrm>
            <a:off x="6324600" y="1422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C</a:t>
            </a:r>
            <a:endParaRPr lang="en-US" altLang="en-US" sz="2400"/>
          </a:p>
        </p:txBody>
      </p:sp>
      <p:sp>
        <p:nvSpPr>
          <p:cNvPr id="7180" name="Oval 11"/>
          <p:cNvSpPr>
            <a:spLocks noChangeArrowheads="1"/>
          </p:cNvSpPr>
          <p:nvPr/>
        </p:nvSpPr>
        <p:spPr bwMode="auto">
          <a:xfrm>
            <a:off x="5673725" y="4876800"/>
            <a:ext cx="747713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81" name="Text Box 12"/>
          <p:cNvSpPr txBox="1">
            <a:spLocks noChangeArrowheads="1"/>
          </p:cNvSpPr>
          <p:nvPr/>
        </p:nvSpPr>
        <p:spPr bwMode="auto">
          <a:xfrm>
            <a:off x="5576888" y="4978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E</a:t>
            </a:r>
            <a:endParaRPr lang="en-US" altLang="en-US" sz="2400"/>
          </a:p>
        </p:txBody>
      </p:sp>
      <p:sp>
        <p:nvSpPr>
          <p:cNvPr id="7182" name="Oval 13"/>
          <p:cNvSpPr>
            <a:spLocks noChangeArrowheads="1"/>
          </p:cNvSpPr>
          <p:nvPr/>
        </p:nvSpPr>
        <p:spPr bwMode="auto">
          <a:xfrm>
            <a:off x="8167688" y="3352800"/>
            <a:ext cx="747712" cy="762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7183" name="Text Box 14"/>
          <p:cNvSpPr txBox="1">
            <a:spLocks noChangeArrowheads="1"/>
          </p:cNvSpPr>
          <p:nvPr/>
        </p:nvSpPr>
        <p:spPr bwMode="auto">
          <a:xfrm>
            <a:off x="8070850" y="3454400"/>
            <a:ext cx="99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F</a:t>
            </a:r>
            <a:endParaRPr lang="en-US" altLang="en-US" sz="2400"/>
          </a:p>
        </p:txBody>
      </p:sp>
      <p:sp>
        <p:nvSpPr>
          <p:cNvPr id="7184" name="Line 15"/>
          <p:cNvSpPr>
            <a:spLocks noChangeShapeType="1"/>
          </p:cNvSpPr>
          <p:nvPr/>
        </p:nvSpPr>
        <p:spPr bwMode="auto">
          <a:xfrm>
            <a:off x="1433513" y="1828800"/>
            <a:ext cx="1247775" cy="2032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85" name="Line 16"/>
          <p:cNvSpPr>
            <a:spLocks noChangeShapeType="1"/>
          </p:cNvSpPr>
          <p:nvPr/>
        </p:nvSpPr>
        <p:spPr bwMode="auto">
          <a:xfrm flipV="1">
            <a:off x="2930525" y="2336800"/>
            <a:ext cx="996950" cy="152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86" name="Line 17"/>
          <p:cNvSpPr>
            <a:spLocks noChangeShapeType="1"/>
          </p:cNvSpPr>
          <p:nvPr/>
        </p:nvSpPr>
        <p:spPr bwMode="auto">
          <a:xfrm>
            <a:off x="4176713" y="2336800"/>
            <a:ext cx="1746250" cy="2540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87" name="Line 18"/>
          <p:cNvSpPr>
            <a:spLocks noChangeShapeType="1"/>
          </p:cNvSpPr>
          <p:nvPr/>
        </p:nvSpPr>
        <p:spPr bwMode="auto">
          <a:xfrm flipH="1" flipV="1">
            <a:off x="3179763" y="4368800"/>
            <a:ext cx="2493962" cy="762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88" name="Line 19"/>
          <p:cNvSpPr>
            <a:spLocks noChangeShapeType="1"/>
          </p:cNvSpPr>
          <p:nvPr/>
        </p:nvSpPr>
        <p:spPr bwMode="auto">
          <a:xfrm flipV="1">
            <a:off x="6172200" y="2082800"/>
            <a:ext cx="498475" cy="279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89" name="Line 20"/>
          <p:cNvSpPr>
            <a:spLocks noChangeShapeType="1"/>
          </p:cNvSpPr>
          <p:nvPr/>
        </p:nvSpPr>
        <p:spPr bwMode="auto">
          <a:xfrm flipV="1">
            <a:off x="4425950" y="1828800"/>
            <a:ext cx="1995488" cy="25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90" name="Line 21"/>
          <p:cNvSpPr>
            <a:spLocks noChangeShapeType="1"/>
          </p:cNvSpPr>
          <p:nvPr/>
        </p:nvSpPr>
        <p:spPr bwMode="auto">
          <a:xfrm flipV="1">
            <a:off x="3179763" y="3860800"/>
            <a:ext cx="4987925" cy="25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91" name="Line 22"/>
          <p:cNvSpPr>
            <a:spLocks noChangeShapeType="1"/>
          </p:cNvSpPr>
          <p:nvPr/>
        </p:nvSpPr>
        <p:spPr bwMode="auto">
          <a:xfrm flipV="1">
            <a:off x="6421438" y="4114800"/>
            <a:ext cx="1995487" cy="1016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7192" name="Text Box 23"/>
          <p:cNvSpPr txBox="1">
            <a:spLocks noChangeArrowheads="1"/>
          </p:cNvSpPr>
          <p:nvPr/>
        </p:nvSpPr>
        <p:spPr bwMode="auto">
          <a:xfrm>
            <a:off x="152400" y="2895600"/>
            <a:ext cx="1828800" cy="30226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Each edge</a:t>
            </a:r>
            <a:r>
              <a:rPr lang="en-US" altLang="en-US" sz="2400" b="1" i="1">
                <a:solidFill>
                  <a:srgbClr val="FF3300"/>
                </a:solidFill>
              </a:rPr>
              <a:t> </a:t>
            </a:r>
            <a:r>
              <a:rPr lang="en-US" altLang="en-US" sz="2400" b="1">
                <a:solidFill>
                  <a:srgbClr val="FF3300"/>
                </a:solidFill>
              </a:rPr>
              <a:t>points in both directions – ex:  A points to D and D points to A</a:t>
            </a:r>
            <a:endParaRPr lang="en-US" altLang="en-US" sz="2400" b="1" i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618FA9-80D3-4D88-B518-0EEEA10CD46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Undirected Weighted Graph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2667000" y="102870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2819400" y="11430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Graphville</a:t>
            </a:r>
            <a:endParaRPr lang="en-US" altLang="en-US" sz="2400"/>
          </a:p>
        </p:txBody>
      </p:sp>
      <p:sp>
        <p:nvSpPr>
          <p:cNvPr id="9222" name="Oval 6"/>
          <p:cNvSpPr>
            <a:spLocks noChangeArrowheads="1"/>
          </p:cNvSpPr>
          <p:nvPr/>
        </p:nvSpPr>
        <p:spPr bwMode="auto">
          <a:xfrm>
            <a:off x="5410200" y="1885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5486400" y="2028825"/>
            <a:ext cx="1905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Town</a:t>
            </a:r>
            <a:endParaRPr lang="en-US" altLang="en-US" sz="2400"/>
          </a:p>
        </p:txBody>
      </p:sp>
      <p:sp>
        <p:nvSpPr>
          <p:cNvPr id="9224" name="Oval 8"/>
          <p:cNvSpPr>
            <a:spLocks noChangeArrowheads="1"/>
          </p:cNvSpPr>
          <p:nvPr/>
        </p:nvSpPr>
        <p:spPr bwMode="auto">
          <a:xfrm>
            <a:off x="1600200" y="3028950"/>
            <a:ext cx="1981200" cy="7127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676400" y="3171825"/>
            <a:ext cx="19050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Vertex City</a:t>
            </a:r>
            <a:endParaRPr lang="en-US" altLang="en-US" sz="2400"/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410200" y="4171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5334000" y="4314825"/>
            <a:ext cx="2133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Pointerburgh</a:t>
            </a:r>
            <a:endParaRPr lang="en-US" altLang="en-US" sz="2400"/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2057400" y="517207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2286000" y="51054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Builder’s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Paradise</a:t>
            </a:r>
            <a:endParaRPr lang="en-US" altLang="en-US" sz="2400"/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5715000" y="545782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5867400" y="5410200"/>
            <a:ext cx="2057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   Binary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Tree Valley</a:t>
            </a:r>
            <a:endParaRPr lang="en-US" altLang="en-US" sz="2400"/>
          </a:p>
        </p:txBody>
      </p:sp>
      <p:sp>
        <p:nvSpPr>
          <p:cNvPr id="9232" name="Line 16"/>
          <p:cNvSpPr>
            <a:spLocks noChangeShapeType="1"/>
          </p:cNvSpPr>
          <p:nvPr/>
        </p:nvSpPr>
        <p:spPr bwMode="auto">
          <a:xfrm>
            <a:off x="4495800" y="1600200"/>
            <a:ext cx="1066800" cy="428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3" name="Line 17"/>
          <p:cNvSpPr>
            <a:spLocks noChangeShapeType="1"/>
          </p:cNvSpPr>
          <p:nvPr/>
        </p:nvSpPr>
        <p:spPr bwMode="auto">
          <a:xfrm flipH="1">
            <a:off x="2667000" y="1743075"/>
            <a:ext cx="762000" cy="1285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4" name="Line 18"/>
          <p:cNvSpPr>
            <a:spLocks noChangeShapeType="1"/>
          </p:cNvSpPr>
          <p:nvPr/>
        </p:nvSpPr>
        <p:spPr bwMode="auto">
          <a:xfrm>
            <a:off x="3886200" y="1743075"/>
            <a:ext cx="2133600" cy="2428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5" name="Line 19"/>
          <p:cNvSpPr>
            <a:spLocks noChangeShapeType="1"/>
          </p:cNvSpPr>
          <p:nvPr/>
        </p:nvSpPr>
        <p:spPr bwMode="auto">
          <a:xfrm>
            <a:off x="6477000" y="2600325"/>
            <a:ext cx="152400" cy="1571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6" name="Line 20"/>
          <p:cNvSpPr>
            <a:spLocks noChangeShapeType="1"/>
          </p:cNvSpPr>
          <p:nvPr/>
        </p:nvSpPr>
        <p:spPr bwMode="auto">
          <a:xfrm>
            <a:off x="6477000" y="4886325"/>
            <a:ext cx="0" cy="571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7" name="Line 21"/>
          <p:cNvSpPr>
            <a:spLocks noChangeShapeType="1"/>
          </p:cNvSpPr>
          <p:nvPr/>
        </p:nvSpPr>
        <p:spPr bwMode="auto">
          <a:xfrm>
            <a:off x="2819400" y="3743325"/>
            <a:ext cx="304800" cy="142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8" name="Line 22"/>
          <p:cNvSpPr>
            <a:spLocks noChangeShapeType="1"/>
          </p:cNvSpPr>
          <p:nvPr/>
        </p:nvSpPr>
        <p:spPr bwMode="auto">
          <a:xfrm>
            <a:off x="3276600" y="3600450"/>
            <a:ext cx="2590800" cy="2000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9239" name="Text Box 23"/>
          <p:cNvSpPr txBox="1">
            <a:spLocks noChangeArrowheads="1"/>
          </p:cNvSpPr>
          <p:nvPr/>
        </p:nvSpPr>
        <p:spPr bwMode="auto">
          <a:xfrm>
            <a:off x="4953000" y="1457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  <a:endParaRPr lang="en-US" altLang="en-US" sz="2400"/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343400" y="274320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9241" name="Text Box 25"/>
          <p:cNvSpPr txBox="1">
            <a:spLocks noChangeArrowheads="1"/>
          </p:cNvSpPr>
          <p:nvPr/>
        </p:nvSpPr>
        <p:spPr bwMode="auto">
          <a:xfrm>
            <a:off x="2667000" y="2028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2514600" y="4314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4343400" y="4171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6629400" y="3028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9245" name="Text Box 29"/>
          <p:cNvSpPr txBox="1">
            <a:spLocks noChangeArrowheads="1"/>
          </p:cNvSpPr>
          <p:nvPr/>
        </p:nvSpPr>
        <p:spPr bwMode="auto">
          <a:xfrm>
            <a:off x="6477000" y="4886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  <a:endParaRPr lang="en-US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C9A32-C7C1-4033-8A2A-80C6EE0F3AB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Graph Implementation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vertex A is said to be </a:t>
            </a:r>
            <a:r>
              <a:rPr lang="en-US" altLang="en-US" b="1" i="1" dirty="0">
                <a:solidFill>
                  <a:srgbClr val="0066FF"/>
                </a:solidFill>
              </a:rPr>
              <a:t>adjacent </a:t>
            </a:r>
            <a:r>
              <a:rPr lang="en-US" altLang="en-US" dirty="0"/>
              <a:t>to a vertex B if there is an edge pointing from A to B</a:t>
            </a:r>
          </a:p>
          <a:p>
            <a:pPr eaLnBrk="1" hangingPunct="1"/>
            <a:r>
              <a:rPr lang="en-US" altLang="en-US" dirty="0"/>
              <a:t>Graphs can be implemented in a couple of popular ways:</a:t>
            </a:r>
          </a:p>
          <a:p>
            <a:pPr lvl="1" eaLnBrk="1" hangingPunct="1"/>
            <a:r>
              <a:rPr lang="en-US" altLang="en-US" u="sng" dirty="0"/>
              <a:t>adjacency matrix</a:t>
            </a:r>
          </a:p>
          <a:p>
            <a:pPr lvl="1" eaLnBrk="1" hangingPunct="1"/>
            <a:r>
              <a:rPr lang="en-US" altLang="en-US" u="sng" dirty="0"/>
              <a:t>adjacency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99E54A-2F3B-4408-B9E8-40E884D9E3C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Adjacency Matrix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dirty="0"/>
              <a:t>An adjacency matrix is a </a:t>
            </a:r>
            <a:r>
              <a:rPr lang="en-US" altLang="en-US" u="sng" dirty="0"/>
              <a:t>2-dimensional array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Nodes are given a key from 0 to n – 1</a:t>
            </a:r>
          </a:p>
          <a:p>
            <a:pPr eaLnBrk="1" hangingPunct="1"/>
            <a:r>
              <a:rPr lang="en-US" altLang="en-US" dirty="0"/>
              <a:t>If </a:t>
            </a:r>
            <a:r>
              <a:rPr lang="en-US" altLang="en-US" u="sng" dirty="0"/>
              <a:t>weight is not important</a:t>
            </a:r>
            <a:r>
              <a:rPr lang="en-US" altLang="en-US" dirty="0"/>
              <a:t>, the adjacency matrix is a 2-dimensional array of </a:t>
            </a:r>
            <a:r>
              <a:rPr lang="en-US" altLang="en-US" u="sng" dirty="0"/>
              <a:t>Boolean</a:t>
            </a:r>
            <a:r>
              <a:rPr lang="en-US" altLang="en-US" dirty="0"/>
              <a:t> (true or false) type variables</a:t>
            </a:r>
          </a:p>
          <a:p>
            <a:pPr eaLnBrk="1" hangingPunct="1"/>
            <a:r>
              <a:rPr lang="en-US" altLang="en-US" dirty="0"/>
              <a:t>If </a:t>
            </a:r>
            <a:r>
              <a:rPr lang="en-US" altLang="en-US" u="sng" dirty="0"/>
              <a:t>weight is important</a:t>
            </a:r>
            <a:r>
              <a:rPr lang="en-US" altLang="en-US" dirty="0"/>
              <a:t>, the adjacency matrix is a 2-dimensional array of </a:t>
            </a:r>
            <a:r>
              <a:rPr lang="en-US" altLang="en-US" u="sng" dirty="0"/>
              <a:t>integer</a:t>
            </a:r>
            <a:r>
              <a:rPr lang="en-US" altLang="en-US" dirty="0"/>
              <a:t> type variables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3C5E73-7B8D-4E01-A6BF-73C3ACE4C08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en-US"/>
              <a:t>Undirected Weighted Graph</a:t>
            </a:r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2667000" y="102870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819400" y="11430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0</a:t>
            </a:r>
            <a:endParaRPr lang="en-US" altLang="en-US" sz="2400"/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5410200" y="1885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5486400" y="2028825"/>
            <a:ext cx="1905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2</a:t>
            </a:r>
            <a:endParaRPr lang="en-US" altLang="en-US" sz="2400"/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1600200" y="3028950"/>
            <a:ext cx="1981200" cy="7127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1676400" y="3171825"/>
            <a:ext cx="19050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1</a:t>
            </a:r>
            <a:endParaRPr lang="en-US" altLang="en-US" sz="2400"/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5410200" y="4171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334000" y="4314825"/>
            <a:ext cx="2133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4</a:t>
            </a:r>
            <a:endParaRPr lang="en-US" altLang="en-US" sz="2400"/>
          </a:p>
        </p:txBody>
      </p:sp>
      <p:sp>
        <p:nvSpPr>
          <p:cNvPr id="12300" name="Oval 12"/>
          <p:cNvSpPr>
            <a:spLocks noChangeArrowheads="1"/>
          </p:cNvSpPr>
          <p:nvPr/>
        </p:nvSpPr>
        <p:spPr bwMode="auto">
          <a:xfrm>
            <a:off x="2057400" y="517207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2286000" y="52959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3</a:t>
            </a:r>
            <a:endParaRPr lang="en-US" altLang="en-US" sz="2400"/>
          </a:p>
        </p:txBody>
      </p:sp>
      <p:sp>
        <p:nvSpPr>
          <p:cNvPr id="12302" name="Oval 14"/>
          <p:cNvSpPr>
            <a:spLocks noChangeArrowheads="1"/>
          </p:cNvSpPr>
          <p:nvPr/>
        </p:nvSpPr>
        <p:spPr bwMode="auto">
          <a:xfrm>
            <a:off x="5715000" y="545782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5715000" y="5524500"/>
            <a:ext cx="2057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5</a:t>
            </a:r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4495800" y="1600200"/>
            <a:ext cx="1066800" cy="428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05" name="Line 17"/>
          <p:cNvSpPr>
            <a:spLocks noChangeShapeType="1"/>
          </p:cNvSpPr>
          <p:nvPr/>
        </p:nvSpPr>
        <p:spPr bwMode="auto">
          <a:xfrm flipH="1">
            <a:off x="2667000" y="1743075"/>
            <a:ext cx="762000" cy="1285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06" name="Line 18"/>
          <p:cNvSpPr>
            <a:spLocks noChangeShapeType="1"/>
          </p:cNvSpPr>
          <p:nvPr/>
        </p:nvSpPr>
        <p:spPr bwMode="auto">
          <a:xfrm>
            <a:off x="3886200" y="1743075"/>
            <a:ext cx="2133600" cy="2428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07" name="Line 19"/>
          <p:cNvSpPr>
            <a:spLocks noChangeShapeType="1"/>
          </p:cNvSpPr>
          <p:nvPr/>
        </p:nvSpPr>
        <p:spPr bwMode="auto">
          <a:xfrm>
            <a:off x="6477000" y="2600325"/>
            <a:ext cx="152400" cy="1571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6477000" y="4886325"/>
            <a:ext cx="0" cy="571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2819400" y="3743325"/>
            <a:ext cx="304800" cy="142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3276600" y="3600450"/>
            <a:ext cx="2590800" cy="2000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4953000" y="1457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  <a:endParaRPr lang="en-US" altLang="en-US" sz="2400"/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4343400" y="274320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2667000" y="2028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2514600" y="4314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4343400" y="4171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6629400" y="3028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6477000" y="4886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6E8123-62D6-4AD7-83B7-67A4A1C66D5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1123950" y="1546225"/>
            <a:ext cx="735013" cy="7381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1858963" y="154622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2593975" y="154622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3327400" y="154622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4062413" y="154622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4797425" y="154622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1123950" y="2284413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757238" y="2100263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1858963" y="2284413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1492250" y="2100263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>
            <a:off x="2593975" y="2284413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6" name="Text Box 13"/>
          <p:cNvSpPr txBox="1">
            <a:spLocks noChangeArrowheads="1"/>
          </p:cNvSpPr>
          <p:nvPr/>
        </p:nvSpPr>
        <p:spPr bwMode="auto">
          <a:xfrm>
            <a:off x="2225675" y="21002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3327" name="Rectangle 14"/>
          <p:cNvSpPr>
            <a:spLocks noChangeArrowheads="1"/>
          </p:cNvSpPr>
          <p:nvPr/>
        </p:nvSpPr>
        <p:spPr bwMode="auto">
          <a:xfrm>
            <a:off x="3327400" y="2284413"/>
            <a:ext cx="735013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28" name="Text Box 15"/>
          <p:cNvSpPr txBox="1">
            <a:spLocks noChangeArrowheads="1"/>
          </p:cNvSpPr>
          <p:nvPr/>
        </p:nvSpPr>
        <p:spPr bwMode="auto">
          <a:xfrm>
            <a:off x="2960688" y="21002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29" name="Rectangle 16"/>
          <p:cNvSpPr>
            <a:spLocks noChangeArrowheads="1"/>
          </p:cNvSpPr>
          <p:nvPr/>
        </p:nvSpPr>
        <p:spPr bwMode="auto">
          <a:xfrm>
            <a:off x="4062413" y="2284413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30" name="Text Box 17"/>
          <p:cNvSpPr txBox="1">
            <a:spLocks noChangeArrowheads="1"/>
          </p:cNvSpPr>
          <p:nvPr/>
        </p:nvSpPr>
        <p:spPr bwMode="auto">
          <a:xfrm>
            <a:off x="3695700" y="2100263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31" name="Rectangle 18"/>
          <p:cNvSpPr>
            <a:spLocks noChangeArrowheads="1"/>
          </p:cNvSpPr>
          <p:nvPr/>
        </p:nvSpPr>
        <p:spPr bwMode="auto">
          <a:xfrm>
            <a:off x="4797425" y="2284413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32" name="Text Box 19"/>
          <p:cNvSpPr txBox="1">
            <a:spLocks noChangeArrowheads="1"/>
          </p:cNvSpPr>
          <p:nvPr/>
        </p:nvSpPr>
        <p:spPr bwMode="auto">
          <a:xfrm>
            <a:off x="4429125" y="21002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33" name="Rectangle 20"/>
          <p:cNvSpPr>
            <a:spLocks noChangeArrowheads="1"/>
          </p:cNvSpPr>
          <p:nvPr/>
        </p:nvSpPr>
        <p:spPr bwMode="auto">
          <a:xfrm>
            <a:off x="1123950" y="3021013"/>
            <a:ext cx="735013" cy="7381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34" name="Text Box 21"/>
          <p:cNvSpPr txBox="1">
            <a:spLocks noChangeArrowheads="1"/>
          </p:cNvSpPr>
          <p:nvPr/>
        </p:nvSpPr>
        <p:spPr bwMode="auto">
          <a:xfrm>
            <a:off x="757238" y="2836863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35" name="Rectangle 22"/>
          <p:cNvSpPr>
            <a:spLocks noChangeArrowheads="1"/>
          </p:cNvSpPr>
          <p:nvPr/>
        </p:nvSpPr>
        <p:spPr bwMode="auto">
          <a:xfrm>
            <a:off x="1858963" y="3021013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1492250" y="2836863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37" name="Rectangle 24"/>
          <p:cNvSpPr>
            <a:spLocks noChangeArrowheads="1"/>
          </p:cNvSpPr>
          <p:nvPr/>
        </p:nvSpPr>
        <p:spPr bwMode="auto">
          <a:xfrm>
            <a:off x="2593975" y="3021013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2225675" y="2836863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39" name="Rectangle 26"/>
          <p:cNvSpPr>
            <a:spLocks noChangeArrowheads="1"/>
          </p:cNvSpPr>
          <p:nvPr/>
        </p:nvSpPr>
        <p:spPr bwMode="auto">
          <a:xfrm>
            <a:off x="3327400" y="3021013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40" name="Text Box 27"/>
          <p:cNvSpPr txBox="1">
            <a:spLocks noChangeArrowheads="1"/>
          </p:cNvSpPr>
          <p:nvPr/>
        </p:nvSpPr>
        <p:spPr bwMode="auto">
          <a:xfrm>
            <a:off x="2960688" y="2836863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41" name="Rectangle 28"/>
          <p:cNvSpPr>
            <a:spLocks noChangeArrowheads="1"/>
          </p:cNvSpPr>
          <p:nvPr/>
        </p:nvSpPr>
        <p:spPr bwMode="auto">
          <a:xfrm>
            <a:off x="4062413" y="3021013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42" name="Text Box 29"/>
          <p:cNvSpPr txBox="1">
            <a:spLocks noChangeArrowheads="1"/>
          </p:cNvSpPr>
          <p:nvPr/>
        </p:nvSpPr>
        <p:spPr bwMode="auto">
          <a:xfrm>
            <a:off x="3695700" y="2836863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43" name="Rectangle 30"/>
          <p:cNvSpPr>
            <a:spLocks noChangeArrowheads="1"/>
          </p:cNvSpPr>
          <p:nvPr/>
        </p:nvSpPr>
        <p:spPr bwMode="auto">
          <a:xfrm>
            <a:off x="4797425" y="3021013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44" name="Text Box 31"/>
          <p:cNvSpPr txBox="1">
            <a:spLocks noChangeArrowheads="1"/>
          </p:cNvSpPr>
          <p:nvPr/>
        </p:nvSpPr>
        <p:spPr bwMode="auto">
          <a:xfrm>
            <a:off x="4429125" y="2836863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45" name="Rectangle 32"/>
          <p:cNvSpPr>
            <a:spLocks noChangeArrowheads="1"/>
          </p:cNvSpPr>
          <p:nvPr/>
        </p:nvSpPr>
        <p:spPr bwMode="auto">
          <a:xfrm>
            <a:off x="1123950" y="3759200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46" name="Text Box 33"/>
          <p:cNvSpPr txBox="1">
            <a:spLocks noChangeArrowheads="1"/>
          </p:cNvSpPr>
          <p:nvPr/>
        </p:nvSpPr>
        <p:spPr bwMode="auto">
          <a:xfrm>
            <a:off x="757238" y="3575050"/>
            <a:ext cx="12858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47" name="Rectangle 34"/>
          <p:cNvSpPr>
            <a:spLocks noChangeArrowheads="1"/>
          </p:cNvSpPr>
          <p:nvPr/>
        </p:nvSpPr>
        <p:spPr bwMode="auto">
          <a:xfrm>
            <a:off x="1858963" y="3759200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48" name="Text Box 35"/>
          <p:cNvSpPr txBox="1">
            <a:spLocks noChangeArrowheads="1"/>
          </p:cNvSpPr>
          <p:nvPr/>
        </p:nvSpPr>
        <p:spPr bwMode="auto">
          <a:xfrm>
            <a:off x="1492250" y="3575050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49" name="Rectangle 36"/>
          <p:cNvSpPr>
            <a:spLocks noChangeArrowheads="1"/>
          </p:cNvSpPr>
          <p:nvPr/>
        </p:nvSpPr>
        <p:spPr bwMode="auto">
          <a:xfrm>
            <a:off x="2593975" y="3759200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50" name="Text Box 37"/>
          <p:cNvSpPr txBox="1">
            <a:spLocks noChangeArrowheads="1"/>
          </p:cNvSpPr>
          <p:nvPr/>
        </p:nvSpPr>
        <p:spPr bwMode="auto">
          <a:xfrm>
            <a:off x="2225675" y="35750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51" name="Rectangle 38"/>
          <p:cNvSpPr>
            <a:spLocks noChangeArrowheads="1"/>
          </p:cNvSpPr>
          <p:nvPr/>
        </p:nvSpPr>
        <p:spPr bwMode="auto">
          <a:xfrm>
            <a:off x="3327400" y="3759200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52" name="Text Box 39"/>
          <p:cNvSpPr txBox="1">
            <a:spLocks noChangeArrowheads="1"/>
          </p:cNvSpPr>
          <p:nvPr/>
        </p:nvSpPr>
        <p:spPr bwMode="auto">
          <a:xfrm>
            <a:off x="2960688" y="35750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53" name="Rectangle 40"/>
          <p:cNvSpPr>
            <a:spLocks noChangeArrowheads="1"/>
          </p:cNvSpPr>
          <p:nvPr/>
        </p:nvSpPr>
        <p:spPr bwMode="auto">
          <a:xfrm>
            <a:off x="4062413" y="3759200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54" name="Text Box 41"/>
          <p:cNvSpPr txBox="1">
            <a:spLocks noChangeArrowheads="1"/>
          </p:cNvSpPr>
          <p:nvPr/>
        </p:nvSpPr>
        <p:spPr bwMode="auto">
          <a:xfrm>
            <a:off x="3695700" y="3575050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55" name="Rectangle 42"/>
          <p:cNvSpPr>
            <a:spLocks noChangeArrowheads="1"/>
          </p:cNvSpPr>
          <p:nvPr/>
        </p:nvSpPr>
        <p:spPr bwMode="auto">
          <a:xfrm>
            <a:off x="4797425" y="3759200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56" name="Text Box 43"/>
          <p:cNvSpPr txBox="1">
            <a:spLocks noChangeArrowheads="1"/>
          </p:cNvSpPr>
          <p:nvPr/>
        </p:nvSpPr>
        <p:spPr bwMode="auto">
          <a:xfrm>
            <a:off x="4429125" y="35750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57" name="Rectangle 44"/>
          <p:cNvSpPr>
            <a:spLocks noChangeArrowheads="1"/>
          </p:cNvSpPr>
          <p:nvPr/>
        </p:nvSpPr>
        <p:spPr bwMode="auto">
          <a:xfrm>
            <a:off x="1123950" y="449897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58" name="Text Box 45"/>
          <p:cNvSpPr txBox="1">
            <a:spLocks noChangeArrowheads="1"/>
          </p:cNvSpPr>
          <p:nvPr/>
        </p:nvSpPr>
        <p:spPr bwMode="auto">
          <a:xfrm>
            <a:off x="757238" y="4313238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</a:t>
            </a:r>
            <a:r>
              <a:rPr lang="en-US" altLang="en-US" sz="2400" b="1" dirty="0"/>
              <a:t>T</a:t>
            </a:r>
            <a:endParaRPr lang="en-US" altLang="en-US" sz="2400" dirty="0"/>
          </a:p>
        </p:txBody>
      </p:sp>
      <p:sp>
        <p:nvSpPr>
          <p:cNvPr id="13359" name="Rectangle 46"/>
          <p:cNvSpPr>
            <a:spLocks noChangeArrowheads="1"/>
          </p:cNvSpPr>
          <p:nvPr/>
        </p:nvSpPr>
        <p:spPr bwMode="auto">
          <a:xfrm>
            <a:off x="1858963" y="4498975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60" name="Text Box 47"/>
          <p:cNvSpPr txBox="1">
            <a:spLocks noChangeArrowheads="1"/>
          </p:cNvSpPr>
          <p:nvPr/>
        </p:nvSpPr>
        <p:spPr bwMode="auto">
          <a:xfrm>
            <a:off x="1492250" y="4313238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61" name="Rectangle 48"/>
          <p:cNvSpPr>
            <a:spLocks noChangeArrowheads="1"/>
          </p:cNvSpPr>
          <p:nvPr/>
        </p:nvSpPr>
        <p:spPr bwMode="auto">
          <a:xfrm>
            <a:off x="2593975" y="4498975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62" name="Text Box 49"/>
          <p:cNvSpPr txBox="1">
            <a:spLocks noChangeArrowheads="1"/>
          </p:cNvSpPr>
          <p:nvPr/>
        </p:nvSpPr>
        <p:spPr bwMode="auto">
          <a:xfrm>
            <a:off x="2225675" y="4313238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63" name="Rectangle 50"/>
          <p:cNvSpPr>
            <a:spLocks noChangeArrowheads="1"/>
          </p:cNvSpPr>
          <p:nvPr/>
        </p:nvSpPr>
        <p:spPr bwMode="auto">
          <a:xfrm>
            <a:off x="3327400" y="449897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64" name="Text Box 51"/>
          <p:cNvSpPr txBox="1">
            <a:spLocks noChangeArrowheads="1"/>
          </p:cNvSpPr>
          <p:nvPr/>
        </p:nvSpPr>
        <p:spPr bwMode="auto">
          <a:xfrm>
            <a:off x="2960688" y="4313238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65" name="Rectangle 52"/>
          <p:cNvSpPr>
            <a:spLocks noChangeArrowheads="1"/>
          </p:cNvSpPr>
          <p:nvPr/>
        </p:nvSpPr>
        <p:spPr bwMode="auto">
          <a:xfrm>
            <a:off x="4062413" y="4498975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66" name="Text Box 53"/>
          <p:cNvSpPr txBox="1">
            <a:spLocks noChangeArrowheads="1"/>
          </p:cNvSpPr>
          <p:nvPr/>
        </p:nvSpPr>
        <p:spPr bwMode="auto">
          <a:xfrm>
            <a:off x="3695700" y="4313238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67" name="Rectangle 54"/>
          <p:cNvSpPr>
            <a:spLocks noChangeArrowheads="1"/>
          </p:cNvSpPr>
          <p:nvPr/>
        </p:nvSpPr>
        <p:spPr bwMode="auto">
          <a:xfrm>
            <a:off x="4797425" y="4498975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68" name="Text Box 55"/>
          <p:cNvSpPr txBox="1">
            <a:spLocks noChangeArrowheads="1"/>
          </p:cNvSpPr>
          <p:nvPr/>
        </p:nvSpPr>
        <p:spPr bwMode="auto">
          <a:xfrm>
            <a:off x="4429125" y="4313238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69" name="Rectangle 56"/>
          <p:cNvSpPr>
            <a:spLocks noChangeArrowheads="1"/>
          </p:cNvSpPr>
          <p:nvPr/>
        </p:nvSpPr>
        <p:spPr bwMode="auto">
          <a:xfrm>
            <a:off x="1123950" y="523557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70" name="Text Box 57"/>
          <p:cNvSpPr txBox="1">
            <a:spLocks noChangeArrowheads="1"/>
          </p:cNvSpPr>
          <p:nvPr/>
        </p:nvSpPr>
        <p:spPr bwMode="auto">
          <a:xfrm>
            <a:off x="757238" y="5049838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71" name="Rectangle 58"/>
          <p:cNvSpPr>
            <a:spLocks noChangeArrowheads="1"/>
          </p:cNvSpPr>
          <p:nvPr/>
        </p:nvSpPr>
        <p:spPr bwMode="auto">
          <a:xfrm>
            <a:off x="1858963" y="523557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72" name="Text Box 59"/>
          <p:cNvSpPr txBox="1">
            <a:spLocks noChangeArrowheads="1"/>
          </p:cNvSpPr>
          <p:nvPr/>
        </p:nvSpPr>
        <p:spPr bwMode="auto">
          <a:xfrm>
            <a:off x="1492250" y="5049838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73" name="Rectangle 60"/>
          <p:cNvSpPr>
            <a:spLocks noChangeArrowheads="1"/>
          </p:cNvSpPr>
          <p:nvPr/>
        </p:nvSpPr>
        <p:spPr bwMode="auto">
          <a:xfrm>
            <a:off x="2593975" y="523557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74" name="Text Box 61"/>
          <p:cNvSpPr txBox="1">
            <a:spLocks noChangeArrowheads="1"/>
          </p:cNvSpPr>
          <p:nvPr/>
        </p:nvSpPr>
        <p:spPr bwMode="auto">
          <a:xfrm>
            <a:off x="2225675" y="50498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75" name="Rectangle 62"/>
          <p:cNvSpPr>
            <a:spLocks noChangeArrowheads="1"/>
          </p:cNvSpPr>
          <p:nvPr/>
        </p:nvSpPr>
        <p:spPr bwMode="auto">
          <a:xfrm>
            <a:off x="3327400" y="523557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76" name="Text Box 63"/>
          <p:cNvSpPr txBox="1">
            <a:spLocks noChangeArrowheads="1"/>
          </p:cNvSpPr>
          <p:nvPr/>
        </p:nvSpPr>
        <p:spPr bwMode="auto">
          <a:xfrm>
            <a:off x="2960688" y="50498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77" name="Rectangle 64"/>
          <p:cNvSpPr>
            <a:spLocks noChangeArrowheads="1"/>
          </p:cNvSpPr>
          <p:nvPr/>
        </p:nvSpPr>
        <p:spPr bwMode="auto">
          <a:xfrm>
            <a:off x="4062413" y="523557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78" name="Text Box 65"/>
          <p:cNvSpPr txBox="1">
            <a:spLocks noChangeArrowheads="1"/>
          </p:cNvSpPr>
          <p:nvPr/>
        </p:nvSpPr>
        <p:spPr bwMode="auto">
          <a:xfrm>
            <a:off x="3695700" y="5049838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79" name="Rectangle 66"/>
          <p:cNvSpPr>
            <a:spLocks noChangeArrowheads="1"/>
          </p:cNvSpPr>
          <p:nvPr/>
        </p:nvSpPr>
        <p:spPr bwMode="auto">
          <a:xfrm>
            <a:off x="4797425" y="523557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80" name="Text Box 67"/>
          <p:cNvSpPr txBox="1">
            <a:spLocks noChangeArrowheads="1"/>
          </p:cNvSpPr>
          <p:nvPr/>
        </p:nvSpPr>
        <p:spPr bwMode="auto">
          <a:xfrm>
            <a:off x="4429125" y="50498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81" name="Text Box 68"/>
          <p:cNvSpPr txBox="1">
            <a:spLocks noChangeArrowheads="1"/>
          </p:cNvSpPr>
          <p:nvPr/>
        </p:nvSpPr>
        <p:spPr bwMode="auto">
          <a:xfrm>
            <a:off x="685800" y="1693863"/>
            <a:ext cx="6461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3382" name="Rectangle 69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(cont.)</a:t>
            </a:r>
          </a:p>
        </p:txBody>
      </p:sp>
      <p:sp>
        <p:nvSpPr>
          <p:cNvPr id="13383" name="Text Box 70"/>
          <p:cNvSpPr txBox="1">
            <a:spLocks noChangeArrowheads="1"/>
          </p:cNvSpPr>
          <p:nvPr/>
        </p:nvSpPr>
        <p:spPr bwMode="auto">
          <a:xfrm>
            <a:off x="804863" y="1092200"/>
            <a:ext cx="50625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>
                <a:solidFill>
                  <a:srgbClr val="FF0000"/>
                </a:solidFill>
              </a:rPr>
              <a:t>0      1       2       3      4       5 </a:t>
            </a:r>
            <a:endParaRPr lang="en-US" altLang="en-US" sz="2400"/>
          </a:p>
        </p:txBody>
      </p:sp>
      <p:sp>
        <p:nvSpPr>
          <p:cNvPr id="13384" name="Rectangle 71"/>
          <p:cNvSpPr>
            <a:spLocks noChangeArrowheads="1"/>
          </p:cNvSpPr>
          <p:nvPr/>
        </p:nvSpPr>
        <p:spPr bwMode="auto">
          <a:xfrm>
            <a:off x="1123950" y="1555750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85" name="Text Box 72"/>
          <p:cNvSpPr txBox="1">
            <a:spLocks noChangeArrowheads="1"/>
          </p:cNvSpPr>
          <p:nvPr/>
        </p:nvSpPr>
        <p:spPr bwMode="auto">
          <a:xfrm>
            <a:off x="757238" y="1371600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3386" name="Rectangle 73"/>
          <p:cNvSpPr>
            <a:spLocks noChangeArrowheads="1"/>
          </p:cNvSpPr>
          <p:nvPr/>
        </p:nvSpPr>
        <p:spPr bwMode="auto">
          <a:xfrm>
            <a:off x="1858963" y="1555750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87" name="Text Box 74"/>
          <p:cNvSpPr txBox="1">
            <a:spLocks noChangeArrowheads="1"/>
          </p:cNvSpPr>
          <p:nvPr/>
        </p:nvSpPr>
        <p:spPr bwMode="auto">
          <a:xfrm>
            <a:off x="1492250" y="1371600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3388" name="Rectangle 75"/>
          <p:cNvSpPr>
            <a:spLocks noChangeArrowheads="1"/>
          </p:cNvSpPr>
          <p:nvPr/>
        </p:nvSpPr>
        <p:spPr bwMode="auto">
          <a:xfrm>
            <a:off x="2593975" y="1555750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89" name="Text Box 76"/>
          <p:cNvSpPr txBox="1">
            <a:spLocks noChangeArrowheads="1"/>
          </p:cNvSpPr>
          <p:nvPr/>
        </p:nvSpPr>
        <p:spPr bwMode="auto">
          <a:xfrm>
            <a:off x="2225675" y="13716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</a:p>
        </p:txBody>
      </p:sp>
      <p:sp>
        <p:nvSpPr>
          <p:cNvPr id="13390" name="Rectangle 77"/>
          <p:cNvSpPr>
            <a:spLocks noChangeArrowheads="1"/>
          </p:cNvSpPr>
          <p:nvPr/>
        </p:nvSpPr>
        <p:spPr bwMode="auto">
          <a:xfrm>
            <a:off x="3327400" y="1555750"/>
            <a:ext cx="735013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91" name="Text Box 78"/>
          <p:cNvSpPr txBox="1">
            <a:spLocks noChangeArrowheads="1"/>
          </p:cNvSpPr>
          <p:nvPr/>
        </p:nvSpPr>
        <p:spPr bwMode="auto">
          <a:xfrm>
            <a:off x="2960688" y="13716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3392" name="Rectangle 79"/>
          <p:cNvSpPr>
            <a:spLocks noChangeArrowheads="1"/>
          </p:cNvSpPr>
          <p:nvPr/>
        </p:nvSpPr>
        <p:spPr bwMode="auto">
          <a:xfrm>
            <a:off x="4062413" y="1555750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93" name="Text Box 80"/>
          <p:cNvSpPr txBox="1">
            <a:spLocks noChangeArrowheads="1"/>
          </p:cNvSpPr>
          <p:nvPr/>
        </p:nvSpPr>
        <p:spPr bwMode="auto">
          <a:xfrm>
            <a:off x="3695700" y="1371600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</a:t>
            </a:r>
            <a:r>
              <a:rPr lang="en-US" altLang="en-US" sz="2400" b="1" dirty="0"/>
              <a:t>T</a:t>
            </a:r>
            <a:endParaRPr lang="en-US" altLang="en-US" sz="2400" dirty="0"/>
          </a:p>
        </p:txBody>
      </p:sp>
      <p:sp>
        <p:nvSpPr>
          <p:cNvPr id="13394" name="Rectangle 81"/>
          <p:cNvSpPr>
            <a:spLocks noChangeArrowheads="1"/>
          </p:cNvSpPr>
          <p:nvPr/>
        </p:nvSpPr>
        <p:spPr bwMode="auto">
          <a:xfrm>
            <a:off x="4797425" y="1555750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95" name="Text Box 82"/>
          <p:cNvSpPr txBox="1">
            <a:spLocks noChangeArrowheads="1"/>
          </p:cNvSpPr>
          <p:nvPr/>
        </p:nvSpPr>
        <p:spPr bwMode="auto">
          <a:xfrm>
            <a:off x="4429125" y="13716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</a:t>
            </a:r>
            <a:r>
              <a:rPr lang="en-US" altLang="en-US" sz="2400" b="1" dirty="0"/>
              <a:t>F</a:t>
            </a:r>
            <a:endParaRPr lang="en-US" altLang="en-US" sz="2400" dirty="0"/>
          </a:p>
        </p:txBody>
      </p:sp>
      <p:sp>
        <p:nvSpPr>
          <p:cNvPr id="13396" name="Oval 83"/>
          <p:cNvSpPr>
            <a:spLocks noChangeArrowheads="1"/>
          </p:cNvSpPr>
          <p:nvPr/>
        </p:nvSpPr>
        <p:spPr bwMode="auto">
          <a:xfrm>
            <a:off x="457200" y="1524000"/>
            <a:ext cx="762000" cy="4572000"/>
          </a:xfrm>
          <a:prstGeom prst="ellipse">
            <a:avLst/>
          </a:prstGeom>
          <a:noFill/>
          <a:ln w="57150" cap="rnd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3397" name="Text Box 84"/>
          <p:cNvSpPr txBox="1">
            <a:spLocks noChangeArrowheads="1"/>
          </p:cNvSpPr>
          <p:nvPr/>
        </p:nvSpPr>
        <p:spPr bwMode="auto">
          <a:xfrm>
            <a:off x="5943600" y="2209800"/>
            <a:ext cx="2590800" cy="36004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u="sng" dirty="0">
                <a:solidFill>
                  <a:srgbClr val="FF3300"/>
                </a:solidFill>
              </a:rPr>
              <a:t>Undirected</a:t>
            </a:r>
            <a:r>
              <a:rPr lang="en-US" altLang="en-US" sz="2400" b="1" dirty="0">
                <a:solidFill>
                  <a:srgbClr val="FF3300"/>
                </a:solidFill>
              </a:rPr>
              <a:t> graph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The row numbers give the vertex number of the vertex that an edge is pointing from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F990EC-38BB-4A7F-AF39-D9639746532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/>
          </a:p>
        </p:txBody>
      </p:sp>
      <p:sp>
        <p:nvSpPr>
          <p:cNvPr id="14339" name="Rectangle 69"/>
          <p:cNvSpPr>
            <a:spLocks noGrp="1" noChangeArrowheads="1"/>
          </p:cNvSpPr>
          <p:nvPr>
            <p:ph type="title"/>
          </p:nvPr>
        </p:nvSpPr>
        <p:spPr>
          <a:xfrm>
            <a:off x="381000" y="1651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(cont.)</a:t>
            </a:r>
          </a:p>
        </p:txBody>
      </p:sp>
      <p:sp>
        <p:nvSpPr>
          <p:cNvPr id="14340" name="Text Box 83"/>
          <p:cNvSpPr txBox="1">
            <a:spLocks noChangeArrowheads="1"/>
          </p:cNvSpPr>
          <p:nvPr/>
        </p:nvSpPr>
        <p:spPr bwMode="auto">
          <a:xfrm>
            <a:off x="5943600" y="2438400"/>
            <a:ext cx="2514600" cy="34163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Example: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Node 1 points to Node 2 (set to T)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Node 2 also points to Node 1 for undirected graph</a:t>
            </a:r>
          </a:p>
        </p:txBody>
      </p:sp>
      <p:sp>
        <p:nvSpPr>
          <p:cNvPr id="14341" name="Rectangle 2"/>
          <p:cNvSpPr>
            <a:spLocks noChangeArrowheads="1"/>
          </p:cNvSpPr>
          <p:nvPr/>
        </p:nvSpPr>
        <p:spPr bwMode="auto">
          <a:xfrm>
            <a:off x="1123950" y="1558925"/>
            <a:ext cx="735013" cy="7381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2" name="Rectangle 3"/>
          <p:cNvSpPr>
            <a:spLocks noChangeArrowheads="1"/>
          </p:cNvSpPr>
          <p:nvPr/>
        </p:nvSpPr>
        <p:spPr bwMode="auto">
          <a:xfrm>
            <a:off x="1858963" y="155892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2593975" y="155892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4" name="Rectangle 5"/>
          <p:cNvSpPr>
            <a:spLocks noChangeArrowheads="1"/>
          </p:cNvSpPr>
          <p:nvPr/>
        </p:nvSpPr>
        <p:spPr bwMode="auto">
          <a:xfrm>
            <a:off x="3327400" y="155892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5" name="Rectangle 6"/>
          <p:cNvSpPr>
            <a:spLocks noChangeArrowheads="1"/>
          </p:cNvSpPr>
          <p:nvPr/>
        </p:nvSpPr>
        <p:spPr bwMode="auto">
          <a:xfrm>
            <a:off x="4062413" y="155892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6" name="Rectangle 7"/>
          <p:cNvSpPr>
            <a:spLocks noChangeArrowheads="1"/>
          </p:cNvSpPr>
          <p:nvPr/>
        </p:nvSpPr>
        <p:spPr bwMode="auto">
          <a:xfrm>
            <a:off x="4797425" y="155892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7" name="Rectangle 8"/>
          <p:cNvSpPr>
            <a:spLocks noChangeArrowheads="1"/>
          </p:cNvSpPr>
          <p:nvPr/>
        </p:nvSpPr>
        <p:spPr bwMode="auto">
          <a:xfrm>
            <a:off x="1123950" y="2297113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48" name="Text Box 9"/>
          <p:cNvSpPr txBox="1">
            <a:spLocks noChangeArrowheads="1"/>
          </p:cNvSpPr>
          <p:nvPr/>
        </p:nvSpPr>
        <p:spPr bwMode="auto">
          <a:xfrm>
            <a:off x="757238" y="2112963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49" name="Rectangle 10"/>
          <p:cNvSpPr>
            <a:spLocks noChangeArrowheads="1"/>
          </p:cNvSpPr>
          <p:nvPr/>
        </p:nvSpPr>
        <p:spPr bwMode="auto">
          <a:xfrm>
            <a:off x="1858963" y="2297113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50" name="Text Box 11"/>
          <p:cNvSpPr txBox="1">
            <a:spLocks noChangeArrowheads="1"/>
          </p:cNvSpPr>
          <p:nvPr/>
        </p:nvSpPr>
        <p:spPr bwMode="auto">
          <a:xfrm>
            <a:off x="1492250" y="2112963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51" name="Rectangle 12"/>
          <p:cNvSpPr>
            <a:spLocks noChangeArrowheads="1"/>
          </p:cNvSpPr>
          <p:nvPr/>
        </p:nvSpPr>
        <p:spPr bwMode="auto">
          <a:xfrm>
            <a:off x="2593975" y="2297113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52" name="Text Box 13"/>
          <p:cNvSpPr txBox="1">
            <a:spLocks noChangeArrowheads="1"/>
          </p:cNvSpPr>
          <p:nvPr/>
        </p:nvSpPr>
        <p:spPr bwMode="auto">
          <a:xfrm>
            <a:off x="2225675" y="21129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4353" name="Rectangle 14"/>
          <p:cNvSpPr>
            <a:spLocks noChangeArrowheads="1"/>
          </p:cNvSpPr>
          <p:nvPr/>
        </p:nvSpPr>
        <p:spPr bwMode="auto">
          <a:xfrm>
            <a:off x="3327400" y="2297113"/>
            <a:ext cx="735013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54" name="Text Box 15"/>
          <p:cNvSpPr txBox="1">
            <a:spLocks noChangeArrowheads="1"/>
          </p:cNvSpPr>
          <p:nvPr/>
        </p:nvSpPr>
        <p:spPr bwMode="auto">
          <a:xfrm>
            <a:off x="2960688" y="21129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55" name="Rectangle 16"/>
          <p:cNvSpPr>
            <a:spLocks noChangeArrowheads="1"/>
          </p:cNvSpPr>
          <p:nvPr/>
        </p:nvSpPr>
        <p:spPr bwMode="auto">
          <a:xfrm>
            <a:off x="4062413" y="2297113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56" name="Text Box 17"/>
          <p:cNvSpPr txBox="1">
            <a:spLocks noChangeArrowheads="1"/>
          </p:cNvSpPr>
          <p:nvPr/>
        </p:nvSpPr>
        <p:spPr bwMode="auto">
          <a:xfrm>
            <a:off x="3695700" y="2112963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57" name="Rectangle 18"/>
          <p:cNvSpPr>
            <a:spLocks noChangeArrowheads="1"/>
          </p:cNvSpPr>
          <p:nvPr/>
        </p:nvSpPr>
        <p:spPr bwMode="auto">
          <a:xfrm>
            <a:off x="4797425" y="2297113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58" name="Text Box 19"/>
          <p:cNvSpPr txBox="1">
            <a:spLocks noChangeArrowheads="1"/>
          </p:cNvSpPr>
          <p:nvPr/>
        </p:nvSpPr>
        <p:spPr bwMode="auto">
          <a:xfrm>
            <a:off x="4429125" y="2112963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59" name="Rectangle 20"/>
          <p:cNvSpPr>
            <a:spLocks noChangeArrowheads="1"/>
          </p:cNvSpPr>
          <p:nvPr/>
        </p:nvSpPr>
        <p:spPr bwMode="auto">
          <a:xfrm>
            <a:off x="1123950" y="3033713"/>
            <a:ext cx="735013" cy="7381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60" name="Text Box 21"/>
          <p:cNvSpPr txBox="1">
            <a:spLocks noChangeArrowheads="1"/>
          </p:cNvSpPr>
          <p:nvPr/>
        </p:nvSpPr>
        <p:spPr bwMode="auto">
          <a:xfrm>
            <a:off x="757238" y="2849563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61" name="Rectangle 22"/>
          <p:cNvSpPr>
            <a:spLocks noChangeArrowheads="1"/>
          </p:cNvSpPr>
          <p:nvPr/>
        </p:nvSpPr>
        <p:spPr bwMode="auto">
          <a:xfrm>
            <a:off x="1858963" y="3033713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62" name="Text Box 23"/>
          <p:cNvSpPr txBox="1">
            <a:spLocks noChangeArrowheads="1"/>
          </p:cNvSpPr>
          <p:nvPr/>
        </p:nvSpPr>
        <p:spPr bwMode="auto">
          <a:xfrm>
            <a:off x="1492250" y="2849563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63" name="Rectangle 24"/>
          <p:cNvSpPr>
            <a:spLocks noChangeArrowheads="1"/>
          </p:cNvSpPr>
          <p:nvPr/>
        </p:nvSpPr>
        <p:spPr bwMode="auto">
          <a:xfrm>
            <a:off x="2593975" y="3033713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64" name="Text Box 25"/>
          <p:cNvSpPr txBox="1">
            <a:spLocks noChangeArrowheads="1"/>
          </p:cNvSpPr>
          <p:nvPr/>
        </p:nvSpPr>
        <p:spPr bwMode="auto">
          <a:xfrm>
            <a:off x="2225675" y="2849563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65" name="Rectangle 26"/>
          <p:cNvSpPr>
            <a:spLocks noChangeArrowheads="1"/>
          </p:cNvSpPr>
          <p:nvPr/>
        </p:nvSpPr>
        <p:spPr bwMode="auto">
          <a:xfrm>
            <a:off x="3327400" y="3033713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66" name="Text Box 27"/>
          <p:cNvSpPr txBox="1">
            <a:spLocks noChangeArrowheads="1"/>
          </p:cNvSpPr>
          <p:nvPr/>
        </p:nvSpPr>
        <p:spPr bwMode="auto">
          <a:xfrm>
            <a:off x="2960688" y="2849563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67" name="Rectangle 28"/>
          <p:cNvSpPr>
            <a:spLocks noChangeArrowheads="1"/>
          </p:cNvSpPr>
          <p:nvPr/>
        </p:nvSpPr>
        <p:spPr bwMode="auto">
          <a:xfrm>
            <a:off x="4062413" y="3033713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68" name="Text Box 29"/>
          <p:cNvSpPr txBox="1">
            <a:spLocks noChangeArrowheads="1"/>
          </p:cNvSpPr>
          <p:nvPr/>
        </p:nvSpPr>
        <p:spPr bwMode="auto">
          <a:xfrm>
            <a:off x="3695700" y="2849563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69" name="Rectangle 30"/>
          <p:cNvSpPr>
            <a:spLocks noChangeArrowheads="1"/>
          </p:cNvSpPr>
          <p:nvPr/>
        </p:nvSpPr>
        <p:spPr bwMode="auto">
          <a:xfrm>
            <a:off x="4797425" y="3033713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70" name="Text Box 31"/>
          <p:cNvSpPr txBox="1">
            <a:spLocks noChangeArrowheads="1"/>
          </p:cNvSpPr>
          <p:nvPr/>
        </p:nvSpPr>
        <p:spPr bwMode="auto">
          <a:xfrm>
            <a:off x="4429125" y="2849563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71" name="Rectangle 32"/>
          <p:cNvSpPr>
            <a:spLocks noChangeArrowheads="1"/>
          </p:cNvSpPr>
          <p:nvPr/>
        </p:nvSpPr>
        <p:spPr bwMode="auto">
          <a:xfrm>
            <a:off x="1123950" y="3771900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72" name="Text Box 33"/>
          <p:cNvSpPr txBox="1">
            <a:spLocks noChangeArrowheads="1"/>
          </p:cNvSpPr>
          <p:nvPr/>
        </p:nvSpPr>
        <p:spPr bwMode="auto">
          <a:xfrm>
            <a:off x="757238" y="3587750"/>
            <a:ext cx="12858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73" name="Rectangle 34"/>
          <p:cNvSpPr>
            <a:spLocks noChangeArrowheads="1"/>
          </p:cNvSpPr>
          <p:nvPr/>
        </p:nvSpPr>
        <p:spPr bwMode="auto">
          <a:xfrm>
            <a:off x="1858963" y="3771900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74" name="Text Box 35"/>
          <p:cNvSpPr txBox="1">
            <a:spLocks noChangeArrowheads="1"/>
          </p:cNvSpPr>
          <p:nvPr/>
        </p:nvSpPr>
        <p:spPr bwMode="auto">
          <a:xfrm>
            <a:off x="1492250" y="3587750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75" name="Rectangle 36"/>
          <p:cNvSpPr>
            <a:spLocks noChangeArrowheads="1"/>
          </p:cNvSpPr>
          <p:nvPr/>
        </p:nvSpPr>
        <p:spPr bwMode="auto">
          <a:xfrm>
            <a:off x="2593975" y="3771900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76" name="Text Box 37"/>
          <p:cNvSpPr txBox="1">
            <a:spLocks noChangeArrowheads="1"/>
          </p:cNvSpPr>
          <p:nvPr/>
        </p:nvSpPr>
        <p:spPr bwMode="auto">
          <a:xfrm>
            <a:off x="2225675" y="35877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77" name="Rectangle 38"/>
          <p:cNvSpPr>
            <a:spLocks noChangeArrowheads="1"/>
          </p:cNvSpPr>
          <p:nvPr/>
        </p:nvSpPr>
        <p:spPr bwMode="auto">
          <a:xfrm>
            <a:off x="3327400" y="3771900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78" name="Text Box 39"/>
          <p:cNvSpPr txBox="1">
            <a:spLocks noChangeArrowheads="1"/>
          </p:cNvSpPr>
          <p:nvPr/>
        </p:nvSpPr>
        <p:spPr bwMode="auto">
          <a:xfrm>
            <a:off x="2960688" y="35877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79" name="Rectangle 40"/>
          <p:cNvSpPr>
            <a:spLocks noChangeArrowheads="1"/>
          </p:cNvSpPr>
          <p:nvPr/>
        </p:nvSpPr>
        <p:spPr bwMode="auto">
          <a:xfrm>
            <a:off x="4062413" y="3771900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80" name="Text Box 41"/>
          <p:cNvSpPr txBox="1">
            <a:spLocks noChangeArrowheads="1"/>
          </p:cNvSpPr>
          <p:nvPr/>
        </p:nvSpPr>
        <p:spPr bwMode="auto">
          <a:xfrm>
            <a:off x="3695700" y="3587750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81" name="Rectangle 42"/>
          <p:cNvSpPr>
            <a:spLocks noChangeArrowheads="1"/>
          </p:cNvSpPr>
          <p:nvPr/>
        </p:nvSpPr>
        <p:spPr bwMode="auto">
          <a:xfrm>
            <a:off x="4797425" y="3771900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82" name="Text Box 43"/>
          <p:cNvSpPr txBox="1">
            <a:spLocks noChangeArrowheads="1"/>
          </p:cNvSpPr>
          <p:nvPr/>
        </p:nvSpPr>
        <p:spPr bwMode="auto">
          <a:xfrm>
            <a:off x="4429125" y="3587750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83" name="Rectangle 44"/>
          <p:cNvSpPr>
            <a:spLocks noChangeArrowheads="1"/>
          </p:cNvSpPr>
          <p:nvPr/>
        </p:nvSpPr>
        <p:spPr bwMode="auto">
          <a:xfrm>
            <a:off x="1123950" y="451167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84" name="Text Box 45"/>
          <p:cNvSpPr txBox="1">
            <a:spLocks noChangeArrowheads="1"/>
          </p:cNvSpPr>
          <p:nvPr/>
        </p:nvSpPr>
        <p:spPr bwMode="auto">
          <a:xfrm>
            <a:off x="757238" y="4325938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</a:t>
            </a:r>
            <a:r>
              <a:rPr lang="en-US" altLang="en-US" sz="2400" b="1" dirty="0"/>
              <a:t>T</a:t>
            </a:r>
            <a:endParaRPr lang="en-US" altLang="en-US" sz="2400" dirty="0"/>
          </a:p>
        </p:txBody>
      </p:sp>
      <p:sp>
        <p:nvSpPr>
          <p:cNvPr id="14385" name="Rectangle 46"/>
          <p:cNvSpPr>
            <a:spLocks noChangeArrowheads="1"/>
          </p:cNvSpPr>
          <p:nvPr/>
        </p:nvSpPr>
        <p:spPr bwMode="auto">
          <a:xfrm>
            <a:off x="1858963" y="4511675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86" name="Text Box 47"/>
          <p:cNvSpPr txBox="1">
            <a:spLocks noChangeArrowheads="1"/>
          </p:cNvSpPr>
          <p:nvPr/>
        </p:nvSpPr>
        <p:spPr bwMode="auto">
          <a:xfrm>
            <a:off x="1492250" y="4325938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87" name="Rectangle 48"/>
          <p:cNvSpPr>
            <a:spLocks noChangeArrowheads="1"/>
          </p:cNvSpPr>
          <p:nvPr/>
        </p:nvSpPr>
        <p:spPr bwMode="auto">
          <a:xfrm>
            <a:off x="2593975" y="4511675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88" name="Text Box 49"/>
          <p:cNvSpPr txBox="1">
            <a:spLocks noChangeArrowheads="1"/>
          </p:cNvSpPr>
          <p:nvPr/>
        </p:nvSpPr>
        <p:spPr bwMode="auto">
          <a:xfrm>
            <a:off x="2225675" y="4325938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89" name="Rectangle 50"/>
          <p:cNvSpPr>
            <a:spLocks noChangeArrowheads="1"/>
          </p:cNvSpPr>
          <p:nvPr/>
        </p:nvSpPr>
        <p:spPr bwMode="auto">
          <a:xfrm>
            <a:off x="3327400" y="451167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90" name="Text Box 51"/>
          <p:cNvSpPr txBox="1">
            <a:spLocks noChangeArrowheads="1"/>
          </p:cNvSpPr>
          <p:nvPr/>
        </p:nvSpPr>
        <p:spPr bwMode="auto">
          <a:xfrm>
            <a:off x="2960688" y="4325938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91" name="Rectangle 52"/>
          <p:cNvSpPr>
            <a:spLocks noChangeArrowheads="1"/>
          </p:cNvSpPr>
          <p:nvPr/>
        </p:nvSpPr>
        <p:spPr bwMode="auto">
          <a:xfrm>
            <a:off x="4062413" y="4511675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92" name="Text Box 53"/>
          <p:cNvSpPr txBox="1">
            <a:spLocks noChangeArrowheads="1"/>
          </p:cNvSpPr>
          <p:nvPr/>
        </p:nvSpPr>
        <p:spPr bwMode="auto">
          <a:xfrm>
            <a:off x="3695700" y="4325938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93" name="Rectangle 54"/>
          <p:cNvSpPr>
            <a:spLocks noChangeArrowheads="1"/>
          </p:cNvSpPr>
          <p:nvPr/>
        </p:nvSpPr>
        <p:spPr bwMode="auto">
          <a:xfrm>
            <a:off x="4797425" y="4511675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94" name="Text Box 55"/>
          <p:cNvSpPr txBox="1">
            <a:spLocks noChangeArrowheads="1"/>
          </p:cNvSpPr>
          <p:nvPr/>
        </p:nvSpPr>
        <p:spPr bwMode="auto">
          <a:xfrm>
            <a:off x="4429125" y="4325938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95" name="Rectangle 56"/>
          <p:cNvSpPr>
            <a:spLocks noChangeArrowheads="1"/>
          </p:cNvSpPr>
          <p:nvPr/>
        </p:nvSpPr>
        <p:spPr bwMode="auto">
          <a:xfrm>
            <a:off x="1123950" y="524827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96" name="Text Box 57"/>
          <p:cNvSpPr txBox="1">
            <a:spLocks noChangeArrowheads="1"/>
          </p:cNvSpPr>
          <p:nvPr/>
        </p:nvSpPr>
        <p:spPr bwMode="auto">
          <a:xfrm>
            <a:off x="757238" y="5062538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397" name="Rectangle 58"/>
          <p:cNvSpPr>
            <a:spLocks noChangeArrowheads="1"/>
          </p:cNvSpPr>
          <p:nvPr/>
        </p:nvSpPr>
        <p:spPr bwMode="auto">
          <a:xfrm>
            <a:off x="1858963" y="524827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398" name="Text Box 59"/>
          <p:cNvSpPr txBox="1">
            <a:spLocks noChangeArrowheads="1"/>
          </p:cNvSpPr>
          <p:nvPr/>
        </p:nvSpPr>
        <p:spPr bwMode="auto">
          <a:xfrm>
            <a:off x="1492250" y="5062538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399" name="Rectangle 60"/>
          <p:cNvSpPr>
            <a:spLocks noChangeArrowheads="1"/>
          </p:cNvSpPr>
          <p:nvPr/>
        </p:nvSpPr>
        <p:spPr bwMode="auto">
          <a:xfrm>
            <a:off x="2593975" y="524827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00" name="Text Box 61"/>
          <p:cNvSpPr txBox="1">
            <a:spLocks noChangeArrowheads="1"/>
          </p:cNvSpPr>
          <p:nvPr/>
        </p:nvSpPr>
        <p:spPr bwMode="auto">
          <a:xfrm>
            <a:off x="2225675" y="50625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401" name="Rectangle 62"/>
          <p:cNvSpPr>
            <a:spLocks noChangeArrowheads="1"/>
          </p:cNvSpPr>
          <p:nvPr/>
        </p:nvSpPr>
        <p:spPr bwMode="auto">
          <a:xfrm>
            <a:off x="3327400" y="5248275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02" name="Text Box 63"/>
          <p:cNvSpPr txBox="1">
            <a:spLocks noChangeArrowheads="1"/>
          </p:cNvSpPr>
          <p:nvPr/>
        </p:nvSpPr>
        <p:spPr bwMode="auto">
          <a:xfrm>
            <a:off x="2960688" y="50625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403" name="Rectangle 64"/>
          <p:cNvSpPr>
            <a:spLocks noChangeArrowheads="1"/>
          </p:cNvSpPr>
          <p:nvPr/>
        </p:nvSpPr>
        <p:spPr bwMode="auto">
          <a:xfrm>
            <a:off x="4062413" y="5248275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04" name="Text Box 65"/>
          <p:cNvSpPr txBox="1">
            <a:spLocks noChangeArrowheads="1"/>
          </p:cNvSpPr>
          <p:nvPr/>
        </p:nvSpPr>
        <p:spPr bwMode="auto">
          <a:xfrm>
            <a:off x="3695700" y="5062538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405" name="Rectangle 66"/>
          <p:cNvSpPr>
            <a:spLocks noChangeArrowheads="1"/>
          </p:cNvSpPr>
          <p:nvPr/>
        </p:nvSpPr>
        <p:spPr bwMode="auto">
          <a:xfrm>
            <a:off x="4797425" y="5248275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06" name="Text Box 67"/>
          <p:cNvSpPr txBox="1">
            <a:spLocks noChangeArrowheads="1"/>
          </p:cNvSpPr>
          <p:nvPr/>
        </p:nvSpPr>
        <p:spPr bwMode="auto">
          <a:xfrm>
            <a:off x="4429125" y="5062538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407" name="Text Box 68"/>
          <p:cNvSpPr txBox="1">
            <a:spLocks noChangeArrowheads="1"/>
          </p:cNvSpPr>
          <p:nvPr/>
        </p:nvSpPr>
        <p:spPr bwMode="auto">
          <a:xfrm>
            <a:off x="685800" y="1706563"/>
            <a:ext cx="6461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4408" name="Text Box 70"/>
          <p:cNvSpPr txBox="1">
            <a:spLocks noChangeArrowheads="1"/>
          </p:cNvSpPr>
          <p:nvPr/>
        </p:nvSpPr>
        <p:spPr bwMode="auto">
          <a:xfrm>
            <a:off x="804863" y="1104900"/>
            <a:ext cx="50625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>
                <a:solidFill>
                  <a:srgbClr val="FF0000"/>
                </a:solidFill>
              </a:rPr>
              <a:t>0      1       2       3      4       5 </a:t>
            </a:r>
            <a:endParaRPr lang="en-US" altLang="en-US" sz="2400"/>
          </a:p>
        </p:txBody>
      </p:sp>
      <p:sp>
        <p:nvSpPr>
          <p:cNvPr id="14409" name="Rectangle 71"/>
          <p:cNvSpPr>
            <a:spLocks noChangeArrowheads="1"/>
          </p:cNvSpPr>
          <p:nvPr/>
        </p:nvSpPr>
        <p:spPr bwMode="auto">
          <a:xfrm>
            <a:off x="1123950" y="1568450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10" name="Text Box 72"/>
          <p:cNvSpPr txBox="1">
            <a:spLocks noChangeArrowheads="1"/>
          </p:cNvSpPr>
          <p:nvPr/>
        </p:nvSpPr>
        <p:spPr bwMode="auto">
          <a:xfrm>
            <a:off x="757238" y="1384300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4411" name="Rectangle 73"/>
          <p:cNvSpPr>
            <a:spLocks noChangeArrowheads="1"/>
          </p:cNvSpPr>
          <p:nvPr/>
        </p:nvSpPr>
        <p:spPr bwMode="auto">
          <a:xfrm>
            <a:off x="1858963" y="1568450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12" name="Text Box 74"/>
          <p:cNvSpPr txBox="1">
            <a:spLocks noChangeArrowheads="1"/>
          </p:cNvSpPr>
          <p:nvPr/>
        </p:nvSpPr>
        <p:spPr bwMode="auto">
          <a:xfrm>
            <a:off x="1492250" y="1384300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4413" name="Rectangle 75"/>
          <p:cNvSpPr>
            <a:spLocks noChangeArrowheads="1"/>
          </p:cNvSpPr>
          <p:nvPr/>
        </p:nvSpPr>
        <p:spPr bwMode="auto">
          <a:xfrm>
            <a:off x="2593975" y="1568450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14" name="Text Box 76"/>
          <p:cNvSpPr txBox="1">
            <a:spLocks noChangeArrowheads="1"/>
          </p:cNvSpPr>
          <p:nvPr/>
        </p:nvSpPr>
        <p:spPr bwMode="auto">
          <a:xfrm>
            <a:off x="2225675" y="13843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</a:p>
        </p:txBody>
      </p:sp>
      <p:sp>
        <p:nvSpPr>
          <p:cNvPr id="14415" name="Rectangle 77"/>
          <p:cNvSpPr>
            <a:spLocks noChangeArrowheads="1"/>
          </p:cNvSpPr>
          <p:nvPr/>
        </p:nvSpPr>
        <p:spPr bwMode="auto">
          <a:xfrm>
            <a:off x="3327400" y="1568450"/>
            <a:ext cx="735013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16" name="Text Box 78"/>
          <p:cNvSpPr txBox="1">
            <a:spLocks noChangeArrowheads="1"/>
          </p:cNvSpPr>
          <p:nvPr/>
        </p:nvSpPr>
        <p:spPr bwMode="auto">
          <a:xfrm>
            <a:off x="2960688" y="13843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4417" name="Rectangle 79"/>
          <p:cNvSpPr>
            <a:spLocks noChangeArrowheads="1"/>
          </p:cNvSpPr>
          <p:nvPr/>
        </p:nvSpPr>
        <p:spPr bwMode="auto">
          <a:xfrm>
            <a:off x="4062413" y="1568450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18" name="Text Box 80"/>
          <p:cNvSpPr txBox="1">
            <a:spLocks noChangeArrowheads="1"/>
          </p:cNvSpPr>
          <p:nvPr/>
        </p:nvSpPr>
        <p:spPr bwMode="auto">
          <a:xfrm>
            <a:off x="3695700" y="1384300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</a:t>
            </a:r>
            <a:r>
              <a:rPr lang="en-US" altLang="en-US" sz="2400" b="1" dirty="0"/>
              <a:t>T</a:t>
            </a:r>
            <a:endParaRPr lang="en-US" altLang="en-US" sz="2400" dirty="0"/>
          </a:p>
        </p:txBody>
      </p:sp>
      <p:sp>
        <p:nvSpPr>
          <p:cNvPr id="14419" name="Rectangle 81"/>
          <p:cNvSpPr>
            <a:spLocks noChangeArrowheads="1"/>
          </p:cNvSpPr>
          <p:nvPr/>
        </p:nvSpPr>
        <p:spPr bwMode="auto">
          <a:xfrm>
            <a:off x="4797425" y="1568450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4420" name="Text Box 82"/>
          <p:cNvSpPr txBox="1">
            <a:spLocks noChangeArrowheads="1"/>
          </p:cNvSpPr>
          <p:nvPr/>
        </p:nvSpPr>
        <p:spPr bwMode="auto">
          <a:xfrm>
            <a:off x="4429125" y="1384300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030AB3-FB58-4ED0-93AA-DBAC5A09AED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5363" name="Rectangle 69"/>
          <p:cNvSpPr>
            <a:spLocks noGrp="1" noChangeArrowheads="1"/>
          </p:cNvSpPr>
          <p:nvPr>
            <p:ph type="title"/>
          </p:nvPr>
        </p:nvSpPr>
        <p:spPr>
          <a:xfrm>
            <a:off x="381000" y="201612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(cont.)</a:t>
            </a:r>
          </a:p>
        </p:txBody>
      </p:sp>
      <p:sp>
        <p:nvSpPr>
          <p:cNvPr id="15364" name="Text Box 83"/>
          <p:cNvSpPr txBox="1">
            <a:spLocks noChangeArrowheads="1"/>
          </p:cNvSpPr>
          <p:nvPr/>
        </p:nvSpPr>
        <p:spPr bwMode="auto">
          <a:xfrm>
            <a:off x="5867400" y="2792412"/>
            <a:ext cx="2743200" cy="2677656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u="sng" dirty="0">
                <a:solidFill>
                  <a:srgbClr val="FF3300"/>
                </a:solidFill>
              </a:rPr>
              <a:t>Undirected weighted</a:t>
            </a:r>
            <a:r>
              <a:rPr lang="en-US" altLang="en-US" sz="2400" b="1" dirty="0">
                <a:solidFill>
                  <a:srgbClr val="FF3300"/>
                </a:solidFill>
              </a:rPr>
              <a:t> graph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/>
              <a:t>∞</a:t>
            </a:r>
            <a:r>
              <a:rPr lang="en-US" altLang="en-US" sz="2400" dirty="0"/>
              <a:t> - </a:t>
            </a:r>
            <a:r>
              <a:rPr lang="en-US" altLang="en-US" sz="2400" u="sng" dirty="0"/>
              <a:t>Unconnected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/>
              <a:t>Do NOT use 0 or symbol to denote  unconnected.</a:t>
            </a: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1123950" y="1595437"/>
            <a:ext cx="735013" cy="7381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1858963" y="15954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2593975" y="15954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3327400" y="159543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4062413" y="15954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4797425" y="15954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1" name="Rectangle 8"/>
          <p:cNvSpPr>
            <a:spLocks noChangeArrowheads="1"/>
          </p:cNvSpPr>
          <p:nvPr/>
        </p:nvSpPr>
        <p:spPr bwMode="auto">
          <a:xfrm>
            <a:off x="1123950" y="233362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2" name="Text Box 9"/>
          <p:cNvSpPr txBox="1">
            <a:spLocks noChangeArrowheads="1"/>
          </p:cNvSpPr>
          <p:nvPr/>
        </p:nvSpPr>
        <p:spPr bwMode="auto">
          <a:xfrm>
            <a:off x="757238" y="2149475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373" name="Rectangle 10"/>
          <p:cNvSpPr>
            <a:spLocks noChangeArrowheads="1"/>
          </p:cNvSpPr>
          <p:nvPr/>
        </p:nvSpPr>
        <p:spPr bwMode="auto">
          <a:xfrm>
            <a:off x="1858963" y="233362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4" name="Text Box 11"/>
          <p:cNvSpPr txBox="1">
            <a:spLocks noChangeArrowheads="1"/>
          </p:cNvSpPr>
          <p:nvPr/>
        </p:nvSpPr>
        <p:spPr bwMode="auto">
          <a:xfrm>
            <a:off x="1492250" y="214947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75" name="Rectangle 12"/>
          <p:cNvSpPr>
            <a:spLocks noChangeArrowheads="1"/>
          </p:cNvSpPr>
          <p:nvPr/>
        </p:nvSpPr>
        <p:spPr bwMode="auto">
          <a:xfrm>
            <a:off x="2593975" y="233362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6" name="Text Box 13"/>
          <p:cNvSpPr txBox="1">
            <a:spLocks noChangeArrowheads="1"/>
          </p:cNvSpPr>
          <p:nvPr/>
        </p:nvSpPr>
        <p:spPr bwMode="auto">
          <a:xfrm>
            <a:off x="2225675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</a:p>
        </p:txBody>
      </p:sp>
      <p:sp>
        <p:nvSpPr>
          <p:cNvPr id="15377" name="Rectangle 14"/>
          <p:cNvSpPr>
            <a:spLocks noChangeArrowheads="1"/>
          </p:cNvSpPr>
          <p:nvPr/>
        </p:nvSpPr>
        <p:spPr bwMode="auto">
          <a:xfrm>
            <a:off x="3327400" y="2333625"/>
            <a:ext cx="735013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78" name="Text Box 15"/>
          <p:cNvSpPr txBox="1">
            <a:spLocks noChangeArrowheads="1"/>
          </p:cNvSpPr>
          <p:nvPr/>
        </p:nvSpPr>
        <p:spPr bwMode="auto">
          <a:xfrm>
            <a:off x="2960688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379" name="Rectangle 16"/>
          <p:cNvSpPr>
            <a:spLocks noChangeArrowheads="1"/>
          </p:cNvSpPr>
          <p:nvPr/>
        </p:nvSpPr>
        <p:spPr bwMode="auto">
          <a:xfrm>
            <a:off x="4062413" y="233362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80" name="Text Box 17"/>
          <p:cNvSpPr txBox="1">
            <a:spLocks noChangeArrowheads="1"/>
          </p:cNvSpPr>
          <p:nvPr/>
        </p:nvSpPr>
        <p:spPr bwMode="auto">
          <a:xfrm>
            <a:off x="3695700" y="214947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81" name="Rectangle 18"/>
          <p:cNvSpPr>
            <a:spLocks noChangeArrowheads="1"/>
          </p:cNvSpPr>
          <p:nvPr/>
        </p:nvSpPr>
        <p:spPr bwMode="auto">
          <a:xfrm>
            <a:off x="4797425" y="233362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82" name="Text Box 19"/>
          <p:cNvSpPr txBox="1">
            <a:spLocks noChangeArrowheads="1"/>
          </p:cNvSpPr>
          <p:nvPr/>
        </p:nvSpPr>
        <p:spPr bwMode="auto">
          <a:xfrm>
            <a:off x="4429125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15383" name="Rectangle 20"/>
          <p:cNvSpPr>
            <a:spLocks noChangeArrowheads="1"/>
          </p:cNvSpPr>
          <p:nvPr/>
        </p:nvSpPr>
        <p:spPr bwMode="auto">
          <a:xfrm>
            <a:off x="1123950" y="3070225"/>
            <a:ext cx="735013" cy="7381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84" name="Text Box 21"/>
          <p:cNvSpPr txBox="1">
            <a:spLocks noChangeArrowheads="1"/>
          </p:cNvSpPr>
          <p:nvPr/>
        </p:nvSpPr>
        <p:spPr bwMode="auto">
          <a:xfrm>
            <a:off x="757238" y="288607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3</a:t>
            </a:r>
            <a:endParaRPr lang="en-US" altLang="en-US" sz="2400"/>
          </a:p>
        </p:txBody>
      </p:sp>
      <p:sp>
        <p:nvSpPr>
          <p:cNvPr id="15385" name="Rectangle 22"/>
          <p:cNvSpPr>
            <a:spLocks noChangeArrowheads="1"/>
          </p:cNvSpPr>
          <p:nvPr/>
        </p:nvSpPr>
        <p:spPr bwMode="auto">
          <a:xfrm>
            <a:off x="1858963" y="307022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86" name="Text Box 23"/>
          <p:cNvSpPr txBox="1">
            <a:spLocks noChangeArrowheads="1"/>
          </p:cNvSpPr>
          <p:nvPr/>
        </p:nvSpPr>
        <p:spPr bwMode="auto">
          <a:xfrm>
            <a:off x="1492250" y="288607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87" name="Rectangle 24"/>
          <p:cNvSpPr>
            <a:spLocks noChangeArrowheads="1"/>
          </p:cNvSpPr>
          <p:nvPr/>
        </p:nvSpPr>
        <p:spPr bwMode="auto">
          <a:xfrm>
            <a:off x="2593975" y="307022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88" name="Text Box 25"/>
          <p:cNvSpPr txBox="1">
            <a:spLocks noChangeArrowheads="1"/>
          </p:cNvSpPr>
          <p:nvPr/>
        </p:nvSpPr>
        <p:spPr bwMode="auto">
          <a:xfrm>
            <a:off x="2225675" y="288607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89" name="Rectangle 26"/>
          <p:cNvSpPr>
            <a:spLocks noChangeArrowheads="1"/>
          </p:cNvSpPr>
          <p:nvPr/>
        </p:nvSpPr>
        <p:spPr bwMode="auto">
          <a:xfrm>
            <a:off x="3327400" y="3070225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90" name="Text Box 27"/>
          <p:cNvSpPr txBox="1">
            <a:spLocks noChangeArrowheads="1"/>
          </p:cNvSpPr>
          <p:nvPr/>
        </p:nvSpPr>
        <p:spPr bwMode="auto">
          <a:xfrm>
            <a:off x="2960688" y="288607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91" name="Rectangle 28"/>
          <p:cNvSpPr>
            <a:spLocks noChangeArrowheads="1"/>
          </p:cNvSpPr>
          <p:nvPr/>
        </p:nvSpPr>
        <p:spPr bwMode="auto">
          <a:xfrm>
            <a:off x="4062413" y="307022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92" name="Text Box 29"/>
          <p:cNvSpPr txBox="1">
            <a:spLocks noChangeArrowheads="1"/>
          </p:cNvSpPr>
          <p:nvPr/>
        </p:nvSpPr>
        <p:spPr bwMode="auto">
          <a:xfrm>
            <a:off x="3695700" y="288607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393" name="Rectangle 30"/>
          <p:cNvSpPr>
            <a:spLocks noChangeArrowheads="1"/>
          </p:cNvSpPr>
          <p:nvPr/>
        </p:nvSpPr>
        <p:spPr bwMode="auto">
          <a:xfrm>
            <a:off x="4797425" y="307022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94" name="Text Box 31"/>
          <p:cNvSpPr txBox="1">
            <a:spLocks noChangeArrowheads="1"/>
          </p:cNvSpPr>
          <p:nvPr/>
        </p:nvSpPr>
        <p:spPr bwMode="auto">
          <a:xfrm>
            <a:off x="4429125" y="288607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95" name="Rectangle 32"/>
          <p:cNvSpPr>
            <a:spLocks noChangeArrowheads="1"/>
          </p:cNvSpPr>
          <p:nvPr/>
        </p:nvSpPr>
        <p:spPr bwMode="auto">
          <a:xfrm>
            <a:off x="1123950" y="3808412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96" name="Text Box 33"/>
          <p:cNvSpPr txBox="1">
            <a:spLocks noChangeArrowheads="1"/>
          </p:cNvSpPr>
          <p:nvPr/>
        </p:nvSpPr>
        <p:spPr bwMode="auto">
          <a:xfrm>
            <a:off x="757238" y="3624262"/>
            <a:ext cx="12858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397" name="Rectangle 34"/>
          <p:cNvSpPr>
            <a:spLocks noChangeArrowheads="1"/>
          </p:cNvSpPr>
          <p:nvPr/>
        </p:nvSpPr>
        <p:spPr bwMode="auto">
          <a:xfrm>
            <a:off x="1858963" y="380841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398" name="Text Box 35"/>
          <p:cNvSpPr txBox="1">
            <a:spLocks noChangeArrowheads="1"/>
          </p:cNvSpPr>
          <p:nvPr/>
        </p:nvSpPr>
        <p:spPr bwMode="auto">
          <a:xfrm>
            <a:off x="1492250" y="362426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399" name="Rectangle 36"/>
          <p:cNvSpPr>
            <a:spLocks noChangeArrowheads="1"/>
          </p:cNvSpPr>
          <p:nvPr/>
        </p:nvSpPr>
        <p:spPr bwMode="auto">
          <a:xfrm>
            <a:off x="2593975" y="380841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00" name="Text Box 37"/>
          <p:cNvSpPr txBox="1">
            <a:spLocks noChangeArrowheads="1"/>
          </p:cNvSpPr>
          <p:nvPr/>
        </p:nvSpPr>
        <p:spPr bwMode="auto">
          <a:xfrm>
            <a:off x="2225675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01" name="Rectangle 38"/>
          <p:cNvSpPr>
            <a:spLocks noChangeArrowheads="1"/>
          </p:cNvSpPr>
          <p:nvPr/>
        </p:nvSpPr>
        <p:spPr bwMode="auto">
          <a:xfrm>
            <a:off x="3327400" y="380841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02" name="Text Box 39"/>
          <p:cNvSpPr txBox="1">
            <a:spLocks noChangeArrowheads="1"/>
          </p:cNvSpPr>
          <p:nvPr/>
        </p:nvSpPr>
        <p:spPr bwMode="auto">
          <a:xfrm>
            <a:off x="2960688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03" name="Rectangle 40"/>
          <p:cNvSpPr>
            <a:spLocks noChangeArrowheads="1"/>
          </p:cNvSpPr>
          <p:nvPr/>
        </p:nvSpPr>
        <p:spPr bwMode="auto">
          <a:xfrm>
            <a:off x="4062413" y="380841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04" name="Text Box 41"/>
          <p:cNvSpPr txBox="1">
            <a:spLocks noChangeArrowheads="1"/>
          </p:cNvSpPr>
          <p:nvPr/>
        </p:nvSpPr>
        <p:spPr bwMode="auto">
          <a:xfrm>
            <a:off x="3695700" y="362426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05" name="Rectangle 42"/>
          <p:cNvSpPr>
            <a:spLocks noChangeArrowheads="1"/>
          </p:cNvSpPr>
          <p:nvPr/>
        </p:nvSpPr>
        <p:spPr bwMode="auto">
          <a:xfrm>
            <a:off x="4797425" y="380841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06" name="Text Box 43"/>
          <p:cNvSpPr txBox="1">
            <a:spLocks noChangeArrowheads="1"/>
          </p:cNvSpPr>
          <p:nvPr/>
        </p:nvSpPr>
        <p:spPr bwMode="auto">
          <a:xfrm>
            <a:off x="4429125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07" name="Rectangle 44"/>
          <p:cNvSpPr>
            <a:spLocks noChangeArrowheads="1"/>
          </p:cNvSpPr>
          <p:nvPr/>
        </p:nvSpPr>
        <p:spPr bwMode="auto">
          <a:xfrm>
            <a:off x="1123950" y="454818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08" name="Text Box 45"/>
          <p:cNvSpPr txBox="1">
            <a:spLocks noChangeArrowheads="1"/>
          </p:cNvSpPr>
          <p:nvPr/>
        </p:nvSpPr>
        <p:spPr bwMode="auto">
          <a:xfrm>
            <a:off x="757238" y="4362450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15409" name="Rectangle 46"/>
          <p:cNvSpPr>
            <a:spLocks noChangeArrowheads="1"/>
          </p:cNvSpPr>
          <p:nvPr/>
        </p:nvSpPr>
        <p:spPr bwMode="auto">
          <a:xfrm>
            <a:off x="1858963" y="454818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10" name="Text Box 47"/>
          <p:cNvSpPr txBox="1">
            <a:spLocks noChangeArrowheads="1"/>
          </p:cNvSpPr>
          <p:nvPr/>
        </p:nvSpPr>
        <p:spPr bwMode="auto">
          <a:xfrm>
            <a:off x="1492250" y="436245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11" name="Rectangle 48"/>
          <p:cNvSpPr>
            <a:spLocks noChangeArrowheads="1"/>
          </p:cNvSpPr>
          <p:nvPr/>
        </p:nvSpPr>
        <p:spPr bwMode="auto">
          <a:xfrm>
            <a:off x="2593975" y="454818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12" name="Text Box 49"/>
          <p:cNvSpPr txBox="1">
            <a:spLocks noChangeArrowheads="1"/>
          </p:cNvSpPr>
          <p:nvPr/>
        </p:nvSpPr>
        <p:spPr bwMode="auto">
          <a:xfrm>
            <a:off x="2225675" y="4362450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413" name="Rectangle 50"/>
          <p:cNvSpPr>
            <a:spLocks noChangeArrowheads="1"/>
          </p:cNvSpPr>
          <p:nvPr/>
        </p:nvSpPr>
        <p:spPr bwMode="auto">
          <a:xfrm>
            <a:off x="3327400" y="454818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14" name="Text Box 51"/>
          <p:cNvSpPr txBox="1">
            <a:spLocks noChangeArrowheads="1"/>
          </p:cNvSpPr>
          <p:nvPr/>
        </p:nvSpPr>
        <p:spPr bwMode="auto">
          <a:xfrm>
            <a:off x="2960688" y="436245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15" name="Rectangle 52"/>
          <p:cNvSpPr>
            <a:spLocks noChangeArrowheads="1"/>
          </p:cNvSpPr>
          <p:nvPr/>
        </p:nvSpPr>
        <p:spPr bwMode="auto">
          <a:xfrm>
            <a:off x="4062413" y="454818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16" name="Text Box 53"/>
          <p:cNvSpPr txBox="1">
            <a:spLocks noChangeArrowheads="1"/>
          </p:cNvSpPr>
          <p:nvPr/>
        </p:nvSpPr>
        <p:spPr bwMode="auto">
          <a:xfrm>
            <a:off x="3695700" y="436245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17" name="Rectangle 54"/>
          <p:cNvSpPr>
            <a:spLocks noChangeArrowheads="1"/>
          </p:cNvSpPr>
          <p:nvPr/>
        </p:nvSpPr>
        <p:spPr bwMode="auto">
          <a:xfrm>
            <a:off x="4797425" y="454818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18" name="Text Box 55"/>
          <p:cNvSpPr txBox="1">
            <a:spLocks noChangeArrowheads="1"/>
          </p:cNvSpPr>
          <p:nvPr/>
        </p:nvSpPr>
        <p:spPr bwMode="auto">
          <a:xfrm>
            <a:off x="4429125" y="436245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2</a:t>
            </a:r>
            <a:endParaRPr lang="en-US" altLang="en-US" sz="2400"/>
          </a:p>
        </p:txBody>
      </p:sp>
      <p:sp>
        <p:nvSpPr>
          <p:cNvPr id="15419" name="Rectangle 56"/>
          <p:cNvSpPr>
            <a:spLocks noChangeArrowheads="1"/>
          </p:cNvSpPr>
          <p:nvPr/>
        </p:nvSpPr>
        <p:spPr bwMode="auto">
          <a:xfrm>
            <a:off x="1123950" y="528478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20" name="Text Box 57"/>
          <p:cNvSpPr txBox="1">
            <a:spLocks noChangeArrowheads="1"/>
          </p:cNvSpPr>
          <p:nvPr/>
        </p:nvSpPr>
        <p:spPr bwMode="auto">
          <a:xfrm>
            <a:off x="757238" y="5099050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21" name="Rectangle 58"/>
          <p:cNvSpPr>
            <a:spLocks noChangeArrowheads="1"/>
          </p:cNvSpPr>
          <p:nvPr/>
        </p:nvSpPr>
        <p:spPr bwMode="auto">
          <a:xfrm>
            <a:off x="1858963" y="52847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22" name="Text Box 59"/>
          <p:cNvSpPr txBox="1">
            <a:spLocks noChangeArrowheads="1"/>
          </p:cNvSpPr>
          <p:nvPr/>
        </p:nvSpPr>
        <p:spPr bwMode="auto">
          <a:xfrm>
            <a:off x="1492250" y="509905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15423" name="Rectangle 60"/>
          <p:cNvSpPr>
            <a:spLocks noChangeArrowheads="1"/>
          </p:cNvSpPr>
          <p:nvPr/>
        </p:nvSpPr>
        <p:spPr bwMode="auto">
          <a:xfrm>
            <a:off x="2593975" y="52847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24" name="Text Box 61"/>
          <p:cNvSpPr txBox="1">
            <a:spLocks noChangeArrowheads="1"/>
          </p:cNvSpPr>
          <p:nvPr/>
        </p:nvSpPr>
        <p:spPr bwMode="auto">
          <a:xfrm>
            <a:off x="2225675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25" name="Rectangle 62"/>
          <p:cNvSpPr>
            <a:spLocks noChangeArrowheads="1"/>
          </p:cNvSpPr>
          <p:nvPr/>
        </p:nvSpPr>
        <p:spPr bwMode="auto">
          <a:xfrm>
            <a:off x="3327400" y="528478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26" name="Text Box 63"/>
          <p:cNvSpPr txBox="1">
            <a:spLocks noChangeArrowheads="1"/>
          </p:cNvSpPr>
          <p:nvPr/>
        </p:nvSpPr>
        <p:spPr bwMode="auto">
          <a:xfrm>
            <a:off x="2960688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27" name="Rectangle 64"/>
          <p:cNvSpPr>
            <a:spLocks noChangeArrowheads="1"/>
          </p:cNvSpPr>
          <p:nvPr/>
        </p:nvSpPr>
        <p:spPr bwMode="auto">
          <a:xfrm>
            <a:off x="4062413" y="52847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28" name="Text Box 65"/>
          <p:cNvSpPr txBox="1">
            <a:spLocks noChangeArrowheads="1"/>
          </p:cNvSpPr>
          <p:nvPr/>
        </p:nvSpPr>
        <p:spPr bwMode="auto">
          <a:xfrm>
            <a:off x="3695700" y="509905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2</a:t>
            </a:r>
            <a:endParaRPr lang="en-US" altLang="en-US" sz="2400"/>
          </a:p>
        </p:txBody>
      </p:sp>
      <p:sp>
        <p:nvSpPr>
          <p:cNvPr id="15429" name="Rectangle 66"/>
          <p:cNvSpPr>
            <a:spLocks noChangeArrowheads="1"/>
          </p:cNvSpPr>
          <p:nvPr/>
        </p:nvSpPr>
        <p:spPr bwMode="auto">
          <a:xfrm>
            <a:off x="4797425" y="52847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30" name="Text Box 67"/>
          <p:cNvSpPr txBox="1">
            <a:spLocks noChangeArrowheads="1"/>
          </p:cNvSpPr>
          <p:nvPr/>
        </p:nvSpPr>
        <p:spPr bwMode="auto">
          <a:xfrm>
            <a:off x="4429125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31" name="Text Box 68"/>
          <p:cNvSpPr txBox="1">
            <a:spLocks noChangeArrowheads="1"/>
          </p:cNvSpPr>
          <p:nvPr/>
        </p:nvSpPr>
        <p:spPr bwMode="auto">
          <a:xfrm>
            <a:off x="685800" y="1743075"/>
            <a:ext cx="6461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5432" name="Text Box 70"/>
          <p:cNvSpPr txBox="1">
            <a:spLocks noChangeArrowheads="1"/>
          </p:cNvSpPr>
          <p:nvPr/>
        </p:nvSpPr>
        <p:spPr bwMode="auto">
          <a:xfrm>
            <a:off x="804863" y="1141412"/>
            <a:ext cx="50625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>
                <a:solidFill>
                  <a:srgbClr val="FF0000"/>
                </a:solidFill>
              </a:rPr>
              <a:t>0      1       2       3      4       5 </a:t>
            </a:r>
            <a:endParaRPr lang="en-US" altLang="en-US" sz="2400"/>
          </a:p>
        </p:txBody>
      </p:sp>
      <p:sp>
        <p:nvSpPr>
          <p:cNvPr id="15433" name="Rectangle 71"/>
          <p:cNvSpPr>
            <a:spLocks noChangeArrowheads="1"/>
          </p:cNvSpPr>
          <p:nvPr/>
        </p:nvSpPr>
        <p:spPr bwMode="auto">
          <a:xfrm>
            <a:off x="1123950" y="160496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34" name="Text Box 72"/>
          <p:cNvSpPr txBox="1">
            <a:spLocks noChangeArrowheads="1"/>
          </p:cNvSpPr>
          <p:nvPr/>
        </p:nvSpPr>
        <p:spPr bwMode="auto">
          <a:xfrm>
            <a:off x="757238" y="1420812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</a:p>
        </p:txBody>
      </p:sp>
      <p:sp>
        <p:nvSpPr>
          <p:cNvPr id="15435" name="Rectangle 73"/>
          <p:cNvSpPr>
            <a:spLocks noChangeArrowheads="1"/>
          </p:cNvSpPr>
          <p:nvPr/>
        </p:nvSpPr>
        <p:spPr bwMode="auto">
          <a:xfrm>
            <a:off x="1858963" y="160496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36" name="Text Box 74"/>
          <p:cNvSpPr txBox="1">
            <a:spLocks noChangeArrowheads="1"/>
          </p:cNvSpPr>
          <p:nvPr/>
        </p:nvSpPr>
        <p:spPr bwMode="auto">
          <a:xfrm>
            <a:off x="1492250" y="142081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5437" name="Rectangle 75"/>
          <p:cNvSpPr>
            <a:spLocks noChangeArrowheads="1"/>
          </p:cNvSpPr>
          <p:nvPr/>
        </p:nvSpPr>
        <p:spPr bwMode="auto">
          <a:xfrm>
            <a:off x="2593975" y="160496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38" name="Text Box 76"/>
          <p:cNvSpPr txBox="1">
            <a:spLocks noChangeArrowheads="1"/>
          </p:cNvSpPr>
          <p:nvPr/>
        </p:nvSpPr>
        <p:spPr bwMode="auto">
          <a:xfrm>
            <a:off x="2225675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3</a:t>
            </a:r>
          </a:p>
        </p:txBody>
      </p:sp>
      <p:sp>
        <p:nvSpPr>
          <p:cNvPr id="15439" name="Rectangle 77"/>
          <p:cNvSpPr>
            <a:spLocks noChangeArrowheads="1"/>
          </p:cNvSpPr>
          <p:nvPr/>
        </p:nvSpPr>
        <p:spPr bwMode="auto">
          <a:xfrm>
            <a:off x="3327400" y="1604962"/>
            <a:ext cx="735013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40" name="Text Box 78"/>
          <p:cNvSpPr txBox="1">
            <a:spLocks noChangeArrowheads="1"/>
          </p:cNvSpPr>
          <p:nvPr/>
        </p:nvSpPr>
        <p:spPr bwMode="auto">
          <a:xfrm>
            <a:off x="2960688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5441" name="Rectangle 79"/>
          <p:cNvSpPr>
            <a:spLocks noChangeArrowheads="1"/>
          </p:cNvSpPr>
          <p:nvPr/>
        </p:nvSpPr>
        <p:spPr bwMode="auto">
          <a:xfrm>
            <a:off x="4062413" y="160496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42" name="Text Box 80"/>
          <p:cNvSpPr txBox="1">
            <a:spLocks noChangeArrowheads="1"/>
          </p:cNvSpPr>
          <p:nvPr/>
        </p:nvSpPr>
        <p:spPr bwMode="auto">
          <a:xfrm>
            <a:off x="3695700" y="142081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15443" name="Rectangle 81"/>
          <p:cNvSpPr>
            <a:spLocks noChangeArrowheads="1"/>
          </p:cNvSpPr>
          <p:nvPr/>
        </p:nvSpPr>
        <p:spPr bwMode="auto">
          <a:xfrm>
            <a:off x="4797425" y="160496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5444" name="Text Box 82"/>
          <p:cNvSpPr txBox="1">
            <a:spLocks noChangeArrowheads="1"/>
          </p:cNvSpPr>
          <p:nvPr/>
        </p:nvSpPr>
        <p:spPr bwMode="auto">
          <a:xfrm>
            <a:off x="4429125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DF4B00-194E-4F66-B23D-64EF7B35645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92163"/>
          </a:xfrm>
        </p:spPr>
        <p:txBody>
          <a:bodyPr/>
          <a:lstStyle/>
          <a:p>
            <a:pPr eaLnBrk="1" hangingPunct="1"/>
            <a:r>
              <a:rPr lang="en-US" altLang="en-US"/>
              <a:t>Directed Weighted Graph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2667000" y="102870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2819400" y="11430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0</a:t>
            </a:r>
            <a:endParaRPr lang="en-US" altLang="en-US" sz="2400"/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5410200" y="1885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5486400" y="2028825"/>
            <a:ext cx="1905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2</a:t>
            </a:r>
            <a:endParaRPr lang="en-US" altLang="en-US" sz="2400"/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1600200" y="3028950"/>
            <a:ext cx="1981200" cy="71278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1676400" y="3171825"/>
            <a:ext cx="19050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1</a:t>
            </a:r>
            <a:endParaRPr lang="en-US" altLang="en-US" sz="2400"/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5410200" y="4171950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5334000" y="4314825"/>
            <a:ext cx="2133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4</a:t>
            </a:r>
            <a:endParaRPr lang="en-US" altLang="en-US" sz="2400"/>
          </a:p>
        </p:txBody>
      </p:sp>
      <p:sp>
        <p:nvSpPr>
          <p:cNvPr id="16396" name="Oval 12"/>
          <p:cNvSpPr>
            <a:spLocks noChangeArrowheads="1"/>
          </p:cNvSpPr>
          <p:nvPr/>
        </p:nvSpPr>
        <p:spPr bwMode="auto">
          <a:xfrm>
            <a:off x="2057400" y="517207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2286000" y="5295900"/>
            <a:ext cx="1676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3</a:t>
            </a:r>
            <a:endParaRPr lang="en-US" altLang="en-US" sz="2400"/>
          </a:p>
        </p:txBody>
      </p:sp>
      <p:sp>
        <p:nvSpPr>
          <p:cNvPr id="16398" name="Oval 14"/>
          <p:cNvSpPr>
            <a:spLocks noChangeArrowheads="1"/>
          </p:cNvSpPr>
          <p:nvPr/>
        </p:nvSpPr>
        <p:spPr bwMode="auto">
          <a:xfrm>
            <a:off x="5715000" y="5457825"/>
            <a:ext cx="1981200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5715000" y="5524500"/>
            <a:ext cx="2057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Node 5</a:t>
            </a:r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4495800" y="1600200"/>
            <a:ext cx="1066800" cy="428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1" name="Line 17"/>
          <p:cNvSpPr>
            <a:spLocks noChangeShapeType="1"/>
          </p:cNvSpPr>
          <p:nvPr/>
        </p:nvSpPr>
        <p:spPr bwMode="auto">
          <a:xfrm flipH="1">
            <a:off x="2667000" y="1743075"/>
            <a:ext cx="762000" cy="1285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2" name="Line 18"/>
          <p:cNvSpPr>
            <a:spLocks noChangeShapeType="1"/>
          </p:cNvSpPr>
          <p:nvPr/>
        </p:nvSpPr>
        <p:spPr bwMode="auto">
          <a:xfrm>
            <a:off x="3886200" y="1743075"/>
            <a:ext cx="2133600" cy="2428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3" name="Line 19"/>
          <p:cNvSpPr>
            <a:spLocks noChangeShapeType="1"/>
          </p:cNvSpPr>
          <p:nvPr/>
        </p:nvSpPr>
        <p:spPr bwMode="auto">
          <a:xfrm>
            <a:off x="6477000" y="2600325"/>
            <a:ext cx="152400" cy="1571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6477000" y="4886325"/>
            <a:ext cx="0" cy="571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5" name="Line 21"/>
          <p:cNvSpPr>
            <a:spLocks noChangeShapeType="1"/>
          </p:cNvSpPr>
          <p:nvPr/>
        </p:nvSpPr>
        <p:spPr bwMode="auto">
          <a:xfrm>
            <a:off x="2819400" y="3743325"/>
            <a:ext cx="304800" cy="142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6" name="Line 22"/>
          <p:cNvSpPr>
            <a:spLocks noChangeShapeType="1"/>
          </p:cNvSpPr>
          <p:nvPr/>
        </p:nvSpPr>
        <p:spPr bwMode="auto">
          <a:xfrm>
            <a:off x="3276600" y="3600450"/>
            <a:ext cx="2590800" cy="20002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4953000" y="1457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3</a:t>
            </a:r>
            <a:endParaRPr lang="en-US" altLang="en-US" sz="2400"/>
          </a:p>
        </p:txBody>
      </p:sp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4343400" y="274320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2667000" y="2028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2514600" y="43148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4343400" y="4171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6629400" y="3028950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6477000" y="4886325"/>
            <a:ext cx="6096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2</a:t>
            </a:r>
            <a:endParaRPr lang="en-US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755CD3-41EF-4016-8C49-CC5E14968E2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7411" name="Rectangle 69"/>
          <p:cNvSpPr>
            <a:spLocks noGrp="1" noChangeArrowheads="1"/>
          </p:cNvSpPr>
          <p:nvPr>
            <p:ph type="title"/>
          </p:nvPr>
        </p:nvSpPr>
        <p:spPr>
          <a:xfrm>
            <a:off x="381000" y="220662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(cont.)</a:t>
            </a:r>
          </a:p>
        </p:txBody>
      </p:sp>
      <p:sp>
        <p:nvSpPr>
          <p:cNvPr id="17412" name="Text Box 83"/>
          <p:cNvSpPr txBox="1">
            <a:spLocks noChangeArrowheads="1"/>
          </p:cNvSpPr>
          <p:nvPr/>
        </p:nvSpPr>
        <p:spPr bwMode="auto">
          <a:xfrm>
            <a:off x="6096000" y="2201862"/>
            <a:ext cx="2514600" cy="397033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Directed graph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Example: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Node 0 points to Node 1 (set to T)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But Node 1 doesn’t point to Node 0 (set to F)</a:t>
            </a:r>
          </a:p>
        </p:txBody>
      </p:sp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1123950" y="1614487"/>
            <a:ext cx="735013" cy="7381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1858963" y="16144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5" name="Rectangle 4"/>
          <p:cNvSpPr>
            <a:spLocks noChangeArrowheads="1"/>
          </p:cNvSpPr>
          <p:nvPr/>
        </p:nvSpPr>
        <p:spPr bwMode="auto">
          <a:xfrm>
            <a:off x="2593975" y="16144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6" name="Rectangle 5"/>
          <p:cNvSpPr>
            <a:spLocks noChangeArrowheads="1"/>
          </p:cNvSpPr>
          <p:nvPr/>
        </p:nvSpPr>
        <p:spPr bwMode="auto">
          <a:xfrm>
            <a:off x="3327400" y="161448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7" name="Rectangle 6"/>
          <p:cNvSpPr>
            <a:spLocks noChangeArrowheads="1"/>
          </p:cNvSpPr>
          <p:nvPr/>
        </p:nvSpPr>
        <p:spPr bwMode="auto">
          <a:xfrm>
            <a:off x="4062413" y="16144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8" name="Rectangle 7"/>
          <p:cNvSpPr>
            <a:spLocks noChangeArrowheads="1"/>
          </p:cNvSpPr>
          <p:nvPr/>
        </p:nvSpPr>
        <p:spPr bwMode="auto">
          <a:xfrm>
            <a:off x="4797425" y="16144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19" name="Rectangle 8"/>
          <p:cNvSpPr>
            <a:spLocks noChangeArrowheads="1"/>
          </p:cNvSpPr>
          <p:nvPr/>
        </p:nvSpPr>
        <p:spPr bwMode="auto">
          <a:xfrm>
            <a:off x="1123950" y="235267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20" name="Text Box 9"/>
          <p:cNvSpPr txBox="1">
            <a:spLocks noChangeArrowheads="1"/>
          </p:cNvSpPr>
          <p:nvPr/>
        </p:nvSpPr>
        <p:spPr bwMode="auto">
          <a:xfrm>
            <a:off x="757238" y="2168525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21" name="Rectangle 10"/>
          <p:cNvSpPr>
            <a:spLocks noChangeArrowheads="1"/>
          </p:cNvSpPr>
          <p:nvPr/>
        </p:nvSpPr>
        <p:spPr bwMode="auto">
          <a:xfrm>
            <a:off x="1858963" y="235267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22" name="Text Box 11"/>
          <p:cNvSpPr txBox="1">
            <a:spLocks noChangeArrowheads="1"/>
          </p:cNvSpPr>
          <p:nvPr/>
        </p:nvSpPr>
        <p:spPr bwMode="auto">
          <a:xfrm>
            <a:off x="1492250" y="216852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23" name="Rectangle 12"/>
          <p:cNvSpPr>
            <a:spLocks noChangeArrowheads="1"/>
          </p:cNvSpPr>
          <p:nvPr/>
        </p:nvSpPr>
        <p:spPr bwMode="auto">
          <a:xfrm>
            <a:off x="2593975" y="235267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24" name="Text Box 13"/>
          <p:cNvSpPr txBox="1">
            <a:spLocks noChangeArrowheads="1"/>
          </p:cNvSpPr>
          <p:nvPr/>
        </p:nvSpPr>
        <p:spPr bwMode="auto">
          <a:xfrm>
            <a:off x="2225675" y="216852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7425" name="Rectangle 14"/>
          <p:cNvSpPr>
            <a:spLocks noChangeArrowheads="1"/>
          </p:cNvSpPr>
          <p:nvPr/>
        </p:nvSpPr>
        <p:spPr bwMode="auto">
          <a:xfrm>
            <a:off x="3327400" y="2352675"/>
            <a:ext cx="735013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26" name="Text Box 15"/>
          <p:cNvSpPr txBox="1">
            <a:spLocks noChangeArrowheads="1"/>
          </p:cNvSpPr>
          <p:nvPr/>
        </p:nvSpPr>
        <p:spPr bwMode="auto">
          <a:xfrm>
            <a:off x="2960688" y="216852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27" name="Rectangle 16"/>
          <p:cNvSpPr>
            <a:spLocks noChangeArrowheads="1"/>
          </p:cNvSpPr>
          <p:nvPr/>
        </p:nvSpPr>
        <p:spPr bwMode="auto">
          <a:xfrm>
            <a:off x="4062413" y="235267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28" name="Text Box 17"/>
          <p:cNvSpPr txBox="1">
            <a:spLocks noChangeArrowheads="1"/>
          </p:cNvSpPr>
          <p:nvPr/>
        </p:nvSpPr>
        <p:spPr bwMode="auto">
          <a:xfrm>
            <a:off x="3695700" y="216852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29" name="Rectangle 18"/>
          <p:cNvSpPr>
            <a:spLocks noChangeArrowheads="1"/>
          </p:cNvSpPr>
          <p:nvPr/>
        </p:nvSpPr>
        <p:spPr bwMode="auto">
          <a:xfrm>
            <a:off x="4797425" y="235267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30" name="Text Box 19"/>
          <p:cNvSpPr txBox="1">
            <a:spLocks noChangeArrowheads="1"/>
          </p:cNvSpPr>
          <p:nvPr/>
        </p:nvSpPr>
        <p:spPr bwMode="auto">
          <a:xfrm>
            <a:off x="4429125" y="216852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31" name="Rectangle 20"/>
          <p:cNvSpPr>
            <a:spLocks noChangeArrowheads="1"/>
          </p:cNvSpPr>
          <p:nvPr/>
        </p:nvSpPr>
        <p:spPr bwMode="auto">
          <a:xfrm>
            <a:off x="1123950" y="3089275"/>
            <a:ext cx="735013" cy="7381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32" name="Text Box 21"/>
          <p:cNvSpPr txBox="1">
            <a:spLocks noChangeArrowheads="1"/>
          </p:cNvSpPr>
          <p:nvPr/>
        </p:nvSpPr>
        <p:spPr bwMode="auto">
          <a:xfrm>
            <a:off x="757238" y="290512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33" name="Rectangle 22"/>
          <p:cNvSpPr>
            <a:spLocks noChangeArrowheads="1"/>
          </p:cNvSpPr>
          <p:nvPr/>
        </p:nvSpPr>
        <p:spPr bwMode="auto">
          <a:xfrm>
            <a:off x="1858963" y="308927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34" name="Text Box 23"/>
          <p:cNvSpPr txBox="1">
            <a:spLocks noChangeArrowheads="1"/>
          </p:cNvSpPr>
          <p:nvPr/>
        </p:nvSpPr>
        <p:spPr bwMode="auto">
          <a:xfrm>
            <a:off x="1492250" y="290512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35" name="Rectangle 24"/>
          <p:cNvSpPr>
            <a:spLocks noChangeArrowheads="1"/>
          </p:cNvSpPr>
          <p:nvPr/>
        </p:nvSpPr>
        <p:spPr bwMode="auto">
          <a:xfrm>
            <a:off x="2593975" y="308927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36" name="Text Box 25"/>
          <p:cNvSpPr txBox="1">
            <a:spLocks noChangeArrowheads="1"/>
          </p:cNvSpPr>
          <p:nvPr/>
        </p:nvSpPr>
        <p:spPr bwMode="auto">
          <a:xfrm>
            <a:off x="2225675" y="290512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37" name="Rectangle 26"/>
          <p:cNvSpPr>
            <a:spLocks noChangeArrowheads="1"/>
          </p:cNvSpPr>
          <p:nvPr/>
        </p:nvSpPr>
        <p:spPr bwMode="auto">
          <a:xfrm>
            <a:off x="3327400" y="3089275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38" name="Text Box 27"/>
          <p:cNvSpPr txBox="1">
            <a:spLocks noChangeArrowheads="1"/>
          </p:cNvSpPr>
          <p:nvPr/>
        </p:nvSpPr>
        <p:spPr bwMode="auto">
          <a:xfrm>
            <a:off x="2960688" y="290512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39" name="Rectangle 28"/>
          <p:cNvSpPr>
            <a:spLocks noChangeArrowheads="1"/>
          </p:cNvSpPr>
          <p:nvPr/>
        </p:nvSpPr>
        <p:spPr bwMode="auto">
          <a:xfrm>
            <a:off x="4062413" y="308927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40" name="Text Box 29"/>
          <p:cNvSpPr txBox="1">
            <a:spLocks noChangeArrowheads="1"/>
          </p:cNvSpPr>
          <p:nvPr/>
        </p:nvSpPr>
        <p:spPr bwMode="auto">
          <a:xfrm>
            <a:off x="3695700" y="290512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41" name="Rectangle 30"/>
          <p:cNvSpPr>
            <a:spLocks noChangeArrowheads="1"/>
          </p:cNvSpPr>
          <p:nvPr/>
        </p:nvSpPr>
        <p:spPr bwMode="auto">
          <a:xfrm>
            <a:off x="4797425" y="308927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42" name="Text Box 31"/>
          <p:cNvSpPr txBox="1">
            <a:spLocks noChangeArrowheads="1"/>
          </p:cNvSpPr>
          <p:nvPr/>
        </p:nvSpPr>
        <p:spPr bwMode="auto">
          <a:xfrm>
            <a:off x="4429125" y="290512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43" name="Rectangle 32"/>
          <p:cNvSpPr>
            <a:spLocks noChangeArrowheads="1"/>
          </p:cNvSpPr>
          <p:nvPr/>
        </p:nvSpPr>
        <p:spPr bwMode="auto">
          <a:xfrm>
            <a:off x="1123950" y="3827462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44" name="Text Box 33"/>
          <p:cNvSpPr txBox="1">
            <a:spLocks noChangeArrowheads="1"/>
          </p:cNvSpPr>
          <p:nvPr/>
        </p:nvSpPr>
        <p:spPr bwMode="auto">
          <a:xfrm>
            <a:off x="757238" y="3643312"/>
            <a:ext cx="12858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45" name="Rectangle 34"/>
          <p:cNvSpPr>
            <a:spLocks noChangeArrowheads="1"/>
          </p:cNvSpPr>
          <p:nvPr/>
        </p:nvSpPr>
        <p:spPr bwMode="auto">
          <a:xfrm>
            <a:off x="1858963" y="382746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46" name="Text Box 35"/>
          <p:cNvSpPr txBox="1">
            <a:spLocks noChangeArrowheads="1"/>
          </p:cNvSpPr>
          <p:nvPr/>
        </p:nvSpPr>
        <p:spPr bwMode="auto">
          <a:xfrm>
            <a:off x="1492250" y="364331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47" name="Rectangle 36"/>
          <p:cNvSpPr>
            <a:spLocks noChangeArrowheads="1"/>
          </p:cNvSpPr>
          <p:nvPr/>
        </p:nvSpPr>
        <p:spPr bwMode="auto">
          <a:xfrm>
            <a:off x="2593975" y="382746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48" name="Text Box 37"/>
          <p:cNvSpPr txBox="1">
            <a:spLocks noChangeArrowheads="1"/>
          </p:cNvSpPr>
          <p:nvPr/>
        </p:nvSpPr>
        <p:spPr bwMode="auto">
          <a:xfrm>
            <a:off x="2225675" y="364331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49" name="Rectangle 38"/>
          <p:cNvSpPr>
            <a:spLocks noChangeArrowheads="1"/>
          </p:cNvSpPr>
          <p:nvPr/>
        </p:nvSpPr>
        <p:spPr bwMode="auto">
          <a:xfrm>
            <a:off x="3327400" y="382746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50" name="Text Box 39"/>
          <p:cNvSpPr txBox="1">
            <a:spLocks noChangeArrowheads="1"/>
          </p:cNvSpPr>
          <p:nvPr/>
        </p:nvSpPr>
        <p:spPr bwMode="auto">
          <a:xfrm>
            <a:off x="2960688" y="364331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51" name="Rectangle 40"/>
          <p:cNvSpPr>
            <a:spLocks noChangeArrowheads="1"/>
          </p:cNvSpPr>
          <p:nvPr/>
        </p:nvSpPr>
        <p:spPr bwMode="auto">
          <a:xfrm>
            <a:off x="4062413" y="382746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52" name="Text Box 41"/>
          <p:cNvSpPr txBox="1">
            <a:spLocks noChangeArrowheads="1"/>
          </p:cNvSpPr>
          <p:nvPr/>
        </p:nvSpPr>
        <p:spPr bwMode="auto">
          <a:xfrm>
            <a:off x="3695700" y="364331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53" name="Rectangle 42"/>
          <p:cNvSpPr>
            <a:spLocks noChangeArrowheads="1"/>
          </p:cNvSpPr>
          <p:nvPr/>
        </p:nvSpPr>
        <p:spPr bwMode="auto">
          <a:xfrm>
            <a:off x="4797425" y="382746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54" name="Text Box 43"/>
          <p:cNvSpPr txBox="1">
            <a:spLocks noChangeArrowheads="1"/>
          </p:cNvSpPr>
          <p:nvPr/>
        </p:nvSpPr>
        <p:spPr bwMode="auto">
          <a:xfrm>
            <a:off x="4429125" y="364331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55" name="Rectangle 44"/>
          <p:cNvSpPr>
            <a:spLocks noChangeArrowheads="1"/>
          </p:cNvSpPr>
          <p:nvPr/>
        </p:nvSpPr>
        <p:spPr bwMode="auto">
          <a:xfrm>
            <a:off x="1123950" y="456723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56" name="Text Box 45"/>
          <p:cNvSpPr txBox="1">
            <a:spLocks noChangeArrowheads="1"/>
          </p:cNvSpPr>
          <p:nvPr/>
        </p:nvSpPr>
        <p:spPr bwMode="auto">
          <a:xfrm>
            <a:off x="757238" y="4381500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57" name="Rectangle 46"/>
          <p:cNvSpPr>
            <a:spLocks noChangeArrowheads="1"/>
          </p:cNvSpPr>
          <p:nvPr/>
        </p:nvSpPr>
        <p:spPr bwMode="auto">
          <a:xfrm>
            <a:off x="1858963" y="456723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58" name="Text Box 47"/>
          <p:cNvSpPr txBox="1">
            <a:spLocks noChangeArrowheads="1"/>
          </p:cNvSpPr>
          <p:nvPr/>
        </p:nvSpPr>
        <p:spPr bwMode="auto">
          <a:xfrm>
            <a:off x="1492250" y="438150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59" name="Rectangle 48"/>
          <p:cNvSpPr>
            <a:spLocks noChangeArrowheads="1"/>
          </p:cNvSpPr>
          <p:nvPr/>
        </p:nvSpPr>
        <p:spPr bwMode="auto">
          <a:xfrm>
            <a:off x="2593975" y="456723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60" name="Text Box 49"/>
          <p:cNvSpPr txBox="1">
            <a:spLocks noChangeArrowheads="1"/>
          </p:cNvSpPr>
          <p:nvPr/>
        </p:nvSpPr>
        <p:spPr bwMode="auto">
          <a:xfrm>
            <a:off x="2225675" y="4381500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61" name="Rectangle 50"/>
          <p:cNvSpPr>
            <a:spLocks noChangeArrowheads="1"/>
          </p:cNvSpPr>
          <p:nvPr/>
        </p:nvSpPr>
        <p:spPr bwMode="auto">
          <a:xfrm>
            <a:off x="3327400" y="456723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62" name="Text Box 51"/>
          <p:cNvSpPr txBox="1">
            <a:spLocks noChangeArrowheads="1"/>
          </p:cNvSpPr>
          <p:nvPr/>
        </p:nvSpPr>
        <p:spPr bwMode="auto">
          <a:xfrm>
            <a:off x="2960688" y="438150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63" name="Rectangle 52"/>
          <p:cNvSpPr>
            <a:spLocks noChangeArrowheads="1"/>
          </p:cNvSpPr>
          <p:nvPr/>
        </p:nvSpPr>
        <p:spPr bwMode="auto">
          <a:xfrm>
            <a:off x="4062413" y="456723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64" name="Text Box 53"/>
          <p:cNvSpPr txBox="1">
            <a:spLocks noChangeArrowheads="1"/>
          </p:cNvSpPr>
          <p:nvPr/>
        </p:nvSpPr>
        <p:spPr bwMode="auto">
          <a:xfrm>
            <a:off x="3695700" y="438150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65" name="Rectangle 54"/>
          <p:cNvSpPr>
            <a:spLocks noChangeArrowheads="1"/>
          </p:cNvSpPr>
          <p:nvPr/>
        </p:nvSpPr>
        <p:spPr bwMode="auto">
          <a:xfrm>
            <a:off x="4797425" y="456723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66" name="Text Box 55"/>
          <p:cNvSpPr txBox="1">
            <a:spLocks noChangeArrowheads="1"/>
          </p:cNvSpPr>
          <p:nvPr/>
        </p:nvSpPr>
        <p:spPr bwMode="auto">
          <a:xfrm>
            <a:off x="4429125" y="438150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67" name="Rectangle 56"/>
          <p:cNvSpPr>
            <a:spLocks noChangeArrowheads="1"/>
          </p:cNvSpPr>
          <p:nvPr/>
        </p:nvSpPr>
        <p:spPr bwMode="auto">
          <a:xfrm>
            <a:off x="1123950" y="530383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68" name="Text Box 57"/>
          <p:cNvSpPr txBox="1">
            <a:spLocks noChangeArrowheads="1"/>
          </p:cNvSpPr>
          <p:nvPr/>
        </p:nvSpPr>
        <p:spPr bwMode="auto">
          <a:xfrm>
            <a:off x="757238" y="5118100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69" name="Rectangle 58"/>
          <p:cNvSpPr>
            <a:spLocks noChangeArrowheads="1"/>
          </p:cNvSpPr>
          <p:nvPr/>
        </p:nvSpPr>
        <p:spPr bwMode="auto">
          <a:xfrm>
            <a:off x="1858963" y="53038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70" name="Text Box 59"/>
          <p:cNvSpPr txBox="1">
            <a:spLocks noChangeArrowheads="1"/>
          </p:cNvSpPr>
          <p:nvPr/>
        </p:nvSpPr>
        <p:spPr bwMode="auto">
          <a:xfrm>
            <a:off x="1492250" y="511810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71" name="Rectangle 60"/>
          <p:cNvSpPr>
            <a:spLocks noChangeArrowheads="1"/>
          </p:cNvSpPr>
          <p:nvPr/>
        </p:nvSpPr>
        <p:spPr bwMode="auto">
          <a:xfrm>
            <a:off x="2593975" y="53038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72" name="Text Box 61"/>
          <p:cNvSpPr txBox="1">
            <a:spLocks noChangeArrowheads="1"/>
          </p:cNvSpPr>
          <p:nvPr/>
        </p:nvSpPr>
        <p:spPr bwMode="auto">
          <a:xfrm>
            <a:off x="2225675" y="511810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73" name="Rectangle 62"/>
          <p:cNvSpPr>
            <a:spLocks noChangeArrowheads="1"/>
          </p:cNvSpPr>
          <p:nvPr/>
        </p:nvSpPr>
        <p:spPr bwMode="auto">
          <a:xfrm>
            <a:off x="3327400" y="530383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74" name="Text Box 63"/>
          <p:cNvSpPr txBox="1">
            <a:spLocks noChangeArrowheads="1"/>
          </p:cNvSpPr>
          <p:nvPr/>
        </p:nvSpPr>
        <p:spPr bwMode="auto">
          <a:xfrm>
            <a:off x="2960688" y="511810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75" name="Rectangle 64"/>
          <p:cNvSpPr>
            <a:spLocks noChangeArrowheads="1"/>
          </p:cNvSpPr>
          <p:nvPr/>
        </p:nvSpPr>
        <p:spPr bwMode="auto">
          <a:xfrm>
            <a:off x="4062413" y="53038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76" name="Text Box 65"/>
          <p:cNvSpPr txBox="1">
            <a:spLocks noChangeArrowheads="1"/>
          </p:cNvSpPr>
          <p:nvPr/>
        </p:nvSpPr>
        <p:spPr bwMode="auto">
          <a:xfrm>
            <a:off x="3695700" y="511810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77" name="Rectangle 66"/>
          <p:cNvSpPr>
            <a:spLocks noChangeArrowheads="1"/>
          </p:cNvSpPr>
          <p:nvPr/>
        </p:nvSpPr>
        <p:spPr bwMode="auto">
          <a:xfrm>
            <a:off x="4797425" y="53038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78" name="Text Box 67"/>
          <p:cNvSpPr txBox="1">
            <a:spLocks noChangeArrowheads="1"/>
          </p:cNvSpPr>
          <p:nvPr/>
        </p:nvSpPr>
        <p:spPr bwMode="auto">
          <a:xfrm>
            <a:off x="4429125" y="511810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79" name="Text Box 68"/>
          <p:cNvSpPr txBox="1">
            <a:spLocks noChangeArrowheads="1"/>
          </p:cNvSpPr>
          <p:nvPr/>
        </p:nvSpPr>
        <p:spPr bwMode="auto">
          <a:xfrm>
            <a:off x="685800" y="1762125"/>
            <a:ext cx="6461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7480" name="Text Box 70"/>
          <p:cNvSpPr txBox="1">
            <a:spLocks noChangeArrowheads="1"/>
          </p:cNvSpPr>
          <p:nvPr/>
        </p:nvSpPr>
        <p:spPr bwMode="auto">
          <a:xfrm>
            <a:off x="804863" y="1160462"/>
            <a:ext cx="50625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>
                <a:solidFill>
                  <a:srgbClr val="FF0000"/>
                </a:solidFill>
              </a:rPr>
              <a:t>0      1       2       3      4       5 </a:t>
            </a:r>
            <a:endParaRPr lang="en-US" altLang="en-US" sz="2400"/>
          </a:p>
        </p:txBody>
      </p:sp>
      <p:sp>
        <p:nvSpPr>
          <p:cNvPr id="17481" name="Rectangle 71"/>
          <p:cNvSpPr>
            <a:spLocks noChangeArrowheads="1"/>
          </p:cNvSpPr>
          <p:nvPr/>
        </p:nvSpPr>
        <p:spPr bwMode="auto">
          <a:xfrm>
            <a:off x="1123950" y="162401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82" name="Text Box 72"/>
          <p:cNvSpPr txBox="1">
            <a:spLocks noChangeArrowheads="1"/>
          </p:cNvSpPr>
          <p:nvPr/>
        </p:nvSpPr>
        <p:spPr bwMode="auto">
          <a:xfrm>
            <a:off x="757238" y="1439862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</a:p>
        </p:txBody>
      </p:sp>
      <p:sp>
        <p:nvSpPr>
          <p:cNvPr id="17483" name="Rectangle 73"/>
          <p:cNvSpPr>
            <a:spLocks noChangeArrowheads="1"/>
          </p:cNvSpPr>
          <p:nvPr/>
        </p:nvSpPr>
        <p:spPr bwMode="auto">
          <a:xfrm>
            <a:off x="1858963" y="162401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84" name="Text Box 74"/>
          <p:cNvSpPr txBox="1">
            <a:spLocks noChangeArrowheads="1"/>
          </p:cNvSpPr>
          <p:nvPr/>
        </p:nvSpPr>
        <p:spPr bwMode="auto">
          <a:xfrm>
            <a:off x="1492250" y="143986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85" name="Rectangle 75"/>
          <p:cNvSpPr>
            <a:spLocks noChangeArrowheads="1"/>
          </p:cNvSpPr>
          <p:nvPr/>
        </p:nvSpPr>
        <p:spPr bwMode="auto">
          <a:xfrm>
            <a:off x="2593975" y="162401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86" name="Text Box 76"/>
          <p:cNvSpPr txBox="1">
            <a:spLocks noChangeArrowheads="1"/>
          </p:cNvSpPr>
          <p:nvPr/>
        </p:nvSpPr>
        <p:spPr bwMode="auto">
          <a:xfrm>
            <a:off x="2225675" y="143986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</a:p>
        </p:txBody>
      </p:sp>
      <p:sp>
        <p:nvSpPr>
          <p:cNvPr id="17487" name="Rectangle 77"/>
          <p:cNvSpPr>
            <a:spLocks noChangeArrowheads="1"/>
          </p:cNvSpPr>
          <p:nvPr/>
        </p:nvSpPr>
        <p:spPr bwMode="auto">
          <a:xfrm>
            <a:off x="3327400" y="1624012"/>
            <a:ext cx="735013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88" name="Text Box 78"/>
          <p:cNvSpPr txBox="1">
            <a:spLocks noChangeArrowheads="1"/>
          </p:cNvSpPr>
          <p:nvPr/>
        </p:nvSpPr>
        <p:spPr bwMode="auto">
          <a:xfrm>
            <a:off x="2960688" y="143986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  <p:sp>
        <p:nvSpPr>
          <p:cNvPr id="17489" name="Rectangle 79"/>
          <p:cNvSpPr>
            <a:spLocks noChangeArrowheads="1"/>
          </p:cNvSpPr>
          <p:nvPr/>
        </p:nvSpPr>
        <p:spPr bwMode="auto">
          <a:xfrm>
            <a:off x="4062413" y="162401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90" name="Text Box 80"/>
          <p:cNvSpPr txBox="1">
            <a:spLocks noChangeArrowheads="1"/>
          </p:cNvSpPr>
          <p:nvPr/>
        </p:nvSpPr>
        <p:spPr bwMode="auto">
          <a:xfrm>
            <a:off x="3695700" y="143986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T</a:t>
            </a:r>
            <a:endParaRPr lang="en-US" altLang="en-US" sz="2400"/>
          </a:p>
        </p:txBody>
      </p:sp>
      <p:sp>
        <p:nvSpPr>
          <p:cNvPr id="17491" name="Rectangle 81"/>
          <p:cNvSpPr>
            <a:spLocks noChangeArrowheads="1"/>
          </p:cNvSpPr>
          <p:nvPr/>
        </p:nvSpPr>
        <p:spPr bwMode="auto">
          <a:xfrm>
            <a:off x="4797425" y="162401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7492" name="Text Box 82"/>
          <p:cNvSpPr txBox="1">
            <a:spLocks noChangeArrowheads="1"/>
          </p:cNvSpPr>
          <p:nvPr/>
        </p:nvSpPr>
        <p:spPr bwMode="auto">
          <a:xfrm>
            <a:off x="4429125" y="143986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F</a:t>
            </a:r>
            <a:endParaRPr lang="en-US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C03285-40CE-443C-B561-904130E7098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8435" name="Rectangle 69"/>
          <p:cNvSpPr>
            <a:spLocks noGrp="1" noChangeArrowheads="1"/>
          </p:cNvSpPr>
          <p:nvPr>
            <p:ph type="title"/>
          </p:nvPr>
        </p:nvSpPr>
        <p:spPr>
          <a:xfrm>
            <a:off x="381000" y="201612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Adjacency Matrix (cont.)</a:t>
            </a:r>
          </a:p>
        </p:txBody>
      </p:sp>
      <p:sp>
        <p:nvSpPr>
          <p:cNvPr id="18436" name="Text Box 83"/>
          <p:cNvSpPr txBox="1">
            <a:spLocks noChangeArrowheads="1"/>
          </p:cNvSpPr>
          <p:nvPr/>
        </p:nvSpPr>
        <p:spPr bwMode="auto">
          <a:xfrm>
            <a:off x="5867400" y="2792412"/>
            <a:ext cx="2743200" cy="13843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Directed weighted graph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/>
              <a:t>∞ - Unconnected</a:t>
            </a: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1123950" y="1595437"/>
            <a:ext cx="735013" cy="7381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38" name="Rectangle 3"/>
          <p:cNvSpPr>
            <a:spLocks noChangeArrowheads="1"/>
          </p:cNvSpPr>
          <p:nvPr/>
        </p:nvSpPr>
        <p:spPr bwMode="auto">
          <a:xfrm>
            <a:off x="1858963" y="15954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39" name="Rectangle 4"/>
          <p:cNvSpPr>
            <a:spLocks noChangeArrowheads="1"/>
          </p:cNvSpPr>
          <p:nvPr/>
        </p:nvSpPr>
        <p:spPr bwMode="auto">
          <a:xfrm>
            <a:off x="2593975" y="15954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0" name="Rectangle 5"/>
          <p:cNvSpPr>
            <a:spLocks noChangeArrowheads="1"/>
          </p:cNvSpPr>
          <p:nvPr/>
        </p:nvSpPr>
        <p:spPr bwMode="auto">
          <a:xfrm>
            <a:off x="3327400" y="159543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1" name="Rectangle 6"/>
          <p:cNvSpPr>
            <a:spLocks noChangeArrowheads="1"/>
          </p:cNvSpPr>
          <p:nvPr/>
        </p:nvSpPr>
        <p:spPr bwMode="auto">
          <a:xfrm>
            <a:off x="4062413" y="159543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2" name="Rectangle 7"/>
          <p:cNvSpPr>
            <a:spLocks noChangeArrowheads="1"/>
          </p:cNvSpPr>
          <p:nvPr/>
        </p:nvSpPr>
        <p:spPr bwMode="auto">
          <a:xfrm>
            <a:off x="4797425" y="159543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3" name="Rectangle 8"/>
          <p:cNvSpPr>
            <a:spLocks noChangeArrowheads="1"/>
          </p:cNvSpPr>
          <p:nvPr/>
        </p:nvSpPr>
        <p:spPr bwMode="auto">
          <a:xfrm>
            <a:off x="1123950" y="2333625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4" name="Text Box 9"/>
          <p:cNvSpPr txBox="1">
            <a:spLocks noChangeArrowheads="1"/>
          </p:cNvSpPr>
          <p:nvPr/>
        </p:nvSpPr>
        <p:spPr bwMode="auto">
          <a:xfrm>
            <a:off x="757238" y="2149475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45" name="Rectangle 10"/>
          <p:cNvSpPr>
            <a:spLocks noChangeArrowheads="1"/>
          </p:cNvSpPr>
          <p:nvPr/>
        </p:nvSpPr>
        <p:spPr bwMode="auto">
          <a:xfrm>
            <a:off x="1858963" y="233362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6" name="Text Box 11"/>
          <p:cNvSpPr txBox="1">
            <a:spLocks noChangeArrowheads="1"/>
          </p:cNvSpPr>
          <p:nvPr/>
        </p:nvSpPr>
        <p:spPr bwMode="auto">
          <a:xfrm>
            <a:off x="1492250" y="214947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47" name="Rectangle 12"/>
          <p:cNvSpPr>
            <a:spLocks noChangeArrowheads="1"/>
          </p:cNvSpPr>
          <p:nvPr/>
        </p:nvSpPr>
        <p:spPr bwMode="auto">
          <a:xfrm>
            <a:off x="2593975" y="233362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48" name="Text Box 13"/>
          <p:cNvSpPr txBox="1">
            <a:spLocks noChangeArrowheads="1"/>
          </p:cNvSpPr>
          <p:nvPr/>
        </p:nvSpPr>
        <p:spPr bwMode="auto">
          <a:xfrm>
            <a:off x="2225675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</a:p>
        </p:txBody>
      </p:sp>
      <p:sp>
        <p:nvSpPr>
          <p:cNvPr id="18449" name="Rectangle 14"/>
          <p:cNvSpPr>
            <a:spLocks noChangeArrowheads="1"/>
          </p:cNvSpPr>
          <p:nvPr/>
        </p:nvSpPr>
        <p:spPr bwMode="auto">
          <a:xfrm>
            <a:off x="3327400" y="2333625"/>
            <a:ext cx="735013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50" name="Text Box 15"/>
          <p:cNvSpPr txBox="1">
            <a:spLocks noChangeArrowheads="1"/>
          </p:cNvSpPr>
          <p:nvPr/>
        </p:nvSpPr>
        <p:spPr bwMode="auto">
          <a:xfrm>
            <a:off x="2960688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8451" name="Rectangle 16"/>
          <p:cNvSpPr>
            <a:spLocks noChangeArrowheads="1"/>
          </p:cNvSpPr>
          <p:nvPr/>
        </p:nvSpPr>
        <p:spPr bwMode="auto">
          <a:xfrm>
            <a:off x="4062413" y="2333625"/>
            <a:ext cx="735012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52" name="Text Box 17"/>
          <p:cNvSpPr txBox="1">
            <a:spLocks noChangeArrowheads="1"/>
          </p:cNvSpPr>
          <p:nvPr/>
        </p:nvSpPr>
        <p:spPr bwMode="auto">
          <a:xfrm>
            <a:off x="3695700" y="2149475"/>
            <a:ext cx="12842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53" name="Rectangle 18"/>
          <p:cNvSpPr>
            <a:spLocks noChangeArrowheads="1"/>
          </p:cNvSpPr>
          <p:nvPr/>
        </p:nvSpPr>
        <p:spPr bwMode="auto">
          <a:xfrm>
            <a:off x="4797425" y="2333625"/>
            <a:ext cx="733425" cy="731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54" name="Text Box 19"/>
          <p:cNvSpPr txBox="1">
            <a:spLocks noChangeArrowheads="1"/>
          </p:cNvSpPr>
          <p:nvPr/>
        </p:nvSpPr>
        <p:spPr bwMode="auto">
          <a:xfrm>
            <a:off x="4429125" y="2149475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10</a:t>
            </a:r>
            <a:endParaRPr lang="en-US" altLang="en-US" sz="2400"/>
          </a:p>
        </p:txBody>
      </p:sp>
      <p:sp>
        <p:nvSpPr>
          <p:cNvPr id="18455" name="Rectangle 20"/>
          <p:cNvSpPr>
            <a:spLocks noChangeArrowheads="1"/>
          </p:cNvSpPr>
          <p:nvPr/>
        </p:nvSpPr>
        <p:spPr bwMode="auto">
          <a:xfrm>
            <a:off x="1123950" y="3070225"/>
            <a:ext cx="735013" cy="7381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56" name="Text Box 21"/>
          <p:cNvSpPr txBox="1">
            <a:spLocks noChangeArrowheads="1"/>
          </p:cNvSpPr>
          <p:nvPr/>
        </p:nvSpPr>
        <p:spPr bwMode="auto">
          <a:xfrm>
            <a:off x="757238" y="288607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57" name="Rectangle 22"/>
          <p:cNvSpPr>
            <a:spLocks noChangeArrowheads="1"/>
          </p:cNvSpPr>
          <p:nvPr/>
        </p:nvSpPr>
        <p:spPr bwMode="auto">
          <a:xfrm>
            <a:off x="1858963" y="307022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58" name="Text Box 23"/>
          <p:cNvSpPr txBox="1">
            <a:spLocks noChangeArrowheads="1"/>
          </p:cNvSpPr>
          <p:nvPr/>
        </p:nvSpPr>
        <p:spPr bwMode="auto">
          <a:xfrm>
            <a:off x="1492250" y="288607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59" name="Rectangle 24"/>
          <p:cNvSpPr>
            <a:spLocks noChangeArrowheads="1"/>
          </p:cNvSpPr>
          <p:nvPr/>
        </p:nvSpPr>
        <p:spPr bwMode="auto">
          <a:xfrm>
            <a:off x="2593975" y="307022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60" name="Text Box 25"/>
          <p:cNvSpPr txBox="1">
            <a:spLocks noChangeArrowheads="1"/>
          </p:cNvSpPr>
          <p:nvPr/>
        </p:nvSpPr>
        <p:spPr bwMode="auto">
          <a:xfrm>
            <a:off x="2225675" y="2886075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61" name="Rectangle 26"/>
          <p:cNvSpPr>
            <a:spLocks noChangeArrowheads="1"/>
          </p:cNvSpPr>
          <p:nvPr/>
        </p:nvSpPr>
        <p:spPr bwMode="auto">
          <a:xfrm>
            <a:off x="3327400" y="3070225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62" name="Text Box 27"/>
          <p:cNvSpPr txBox="1">
            <a:spLocks noChangeArrowheads="1"/>
          </p:cNvSpPr>
          <p:nvPr/>
        </p:nvSpPr>
        <p:spPr bwMode="auto">
          <a:xfrm>
            <a:off x="2960688" y="288607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63" name="Rectangle 28"/>
          <p:cNvSpPr>
            <a:spLocks noChangeArrowheads="1"/>
          </p:cNvSpPr>
          <p:nvPr/>
        </p:nvSpPr>
        <p:spPr bwMode="auto">
          <a:xfrm>
            <a:off x="4062413" y="3070225"/>
            <a:ext cx="735012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64" name="Text Box 29"/>
          <p:cNvSpPr txBox="1">
            <a:spLocks noChangeArrowheads="1"/>
          </p:cNvSpPr>
          <p:nvPr/>
        </p:nvSpPr>
        <p:spPr bwMode="auto">
          <a:xfrm>
            <a:off x="3695700" y="2886075"/>
            <a:ext cx="12842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8465" name="Rectangle 30"/>
          <p:cNvSpPr>
            <a:spLocks noChangeArrowheads="1"/>
          </p:cNvSpPr>
          <p:nvPr/>
        </p:nvSpPr>
        <p:spPr bwMode="auto">
          <a:xfrm>
            <a:off x="4797425" y="3070225"/>
            <a:ext cx="733425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66" name="Text Box 31"/>
          <p:cNvSpPr txBox="1">
            <a:spLocks noChangeArrowheads="1"/>
          </p:cNvSpPr>
          <p:nvPr/>
        </p:nvSpPr>
        <p:spPr bwMode="auto">
          <a:xfrm>
            <a:off x="4429125" y="2886075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67" name="Rectangle 32"/>
          <p:cNvSpPr>
            <a:spLocks noChangeArrowheads="1"/>
          </p:cNvSpPr>
          <p:nvPr/>
        </p:nvSpPr>
        <p:spPr bwMode="auto">
          <a:xfrm>
            <a:off x="1123950" y="3808412"/>
            <a:ext cx="735013" cy="736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68" name="Text Box 33"/>
          <p:cNvSpPr txBox="1">
            <a:spLocks noChangeArrowheads="1"/>
          </p:cNvSpPr>
          <p:nvPr/>
        </p:nvSpPr>
        <p:spPr bwMode="auto">
          <a:xfrm>
            <a:off x="757238" y="3624262"/>
            <a:ext cx="12858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69" name="Rectangle 34"/>
          <p:cNvSpPr>
            <a:spLocks noChangeArrowheads="1"/>
          </p:cNvSpPr>
          <p:nvPr/>
        </p:nvSpPr>
        <p:spPr bwMode="auto">
          <a:xfrm>
            <a:off x="1858963" y="380841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70" name="Text Box 35"/>
          <p:cNvSpPr txBox="1">
            <a:spLocks noChangeArrowheads="1"/>
          </p:cNvSpPr>
          <p:nvPr/>
        </p:nvSpPr>
        <p:spPr bwMode="auto">
          <a:xfrm>
            <a:off x="1492250" y="362426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71" name="Rectangle 36"/>
          <p:cNvSpPr>
            <a:spLocks noChangeArrowheads="1"/>
          </p:cNvSpPr>
          <p:nvPr/>
        </p:nvSpPr>
        <p:spPr bwMode="auto">
          <a:xfrm>
            <a:off x="2593975" y="380841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72" name="Text Box 37"/>
          <p:cNvSpPr txBox="1">
            <a:spLocks noChangeArrowheads="1"/>
          </p:cNvSpPr>
          <p:nvPr/>
        </p:nvSpPr>
        <p:spPr bwMode="auto">
          <a:xfrm>
            <a:off x="2225675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73" name="Rectangle 38"/>
          <p:cNvSpPr>
            <a:spLocks noChangeArrowheads="1"/>
          </p:cNvSpPr>
          <p:nvPr/>
        </p:nvSpPr>
        <p:spPr bwMode="auto">
          <a:xfrm>
            <a:off x="3327400" y="380841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74" name="Text Box 39"/>
          <p:cNvSpPr txBox="1">
            <a:spLocks noChangeArrowheads="1"/>
          </p:cNvSpPr>
          <p:nvPr/>
        </p:nvSpPr>
        <p:spPr bwMode="auto">
          <a:xfrm>
            <a:off x="2960688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75" name="Rectangle 40"/>
          <p:cNvSpPr>
            <a:spLocks noChangeArrowheads="1"/>
          </p:cNvSpPr>
          <p:nvPr/>
        </p:nvSpPr>
        <p:spPr bwMode="auto">
          <a:xfrm>
            <a:off x="4062413" y="3808412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76" name="Text Box 41"/>
          <p:cNvSpPr txBox="1">
            <a:spLocks noChangeArrowheads="1"/>
          </p:cNvSpPr>
          <p:nvPr/>
        </p:nvSpPr>
        <p:spPr bwMode="auto">
          <a:xfrm>
            <a:off x="3695700" y="3624262"/>
            <a:ext cx="1284288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77" name="Rectangle 42"/>
          <p:cNvSpPr>
            <a:spLocks noChangeArrowheads="1"/>
          </p:cNvSpPr>
          <p:nvPr/>
        </p:nvSpPr>
        <p:spPr bwMode="auto">
          <a:xfrm>
            <a:off x="4797425" y="3808412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78" name="Text Box 43"/>
          <p:cNvSpPr txBox="1">
            <a:spLocks noChangeArrowheads="1"/>
          </p:cNvSpPr>
          <p:nvPr/>
        </p:nvSpPr>
        <p:spPr bwMode="auto">
          <a:xfrm>
            <a:off x="4429125" y="3624262"/>
            <a:ext cx="128587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79" name="Rectangle 44"/>
          <p:cNvSpPr>
            <a:spLocks noChangeArrowheads="1"/>
          </p:cNvSpPr>
          <p:nvPr/>
        </p:nvSpPr>
        <p:spPr bwMode="auto">
          <a:xfrm>
            <a:off x="1123950" y="454818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80" name="Text Box 45"/>
          <p:cNvSpPr txBox="1">
            <a:spLocks noChangeArrowheads="1"/>
          </p:cNvSpPr>
          <p:nvPr/>
        </p:nvSpPr>
        <p:spPr bwMode="auto">
          <a:xfrm>
            <a:off x="757238" y="4362450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81" name="Rectangle 46"/>
          <p:cNvSpPr>
            <a:spLocks noChangeArrowheads="1"/>
          </p:cNvSpPr>
          <p:nvPr/>
        </p:nvSpPr>
        <p:spPr bwMode="auto">
          <a:xfrm>
            <a:off x="1858963" y="454818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82" name="Text Box 47"/>
          <p:cNvSpPr txBox="1">
            <a:spLocks noChangeArrowheads="1"/>
          </p:cNvSpPr>
          <p:nvPr/>
        </p:nvSpPr>
        <p:spPr bwMode="auto">
          <a:xfrm>
            <a:off x="1492250" y="436245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83" name="Rectangle 48"/>
          <p:cNvSpPr>
            <a:spLocks noChangeArrowheads="1"/>
          </p:cNvSpPr>
          <p:nvPr/>
        </p:nvSpPr>
        <p:spPr bwMode="auto">
          <a:xfrm>
            <a:off x="2593975" y="454818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84" name="Text Box 49"/>
          <p:cNvSpPr txBox="1">
            <a:spLocks noChangeArrowheads="1"/>
          </p:cNvSpPr>
          <p:nvPr/>
        </p:nvSpPr>
        <p:spPr bwMode="auto">
          <a:xfrm>
            <a:off x="2225675" y="4362450"/>
            <a:ext cx="1285875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85" name="Rectangle 50"/>
          <p:cNvSpPr>
            <a:spLocks noChangeArrowheads="1"/>
          </p:cNvSpPr>
          <p:nvPr/>
        </p:nvSpPr>
        <p:spPr bwMode="auto">
          <a:xfrm>
            <a:off x="3327400" y="4548187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86" name="Text Box 51"/>
          <p:cNvSpPr txBox="1">
            <a:spLocks noChangeArrowheads="1"/>
          </p:cNvSpPr>
          <p:nvPr/>
        </p:nvSpPr>
        <p:spPr bwMode="auto">
          <a:xfrm>
            <a:off x="2960688" y="436245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87" name="Rectangle 52"/>
          <p:cNvSpPr>
            <a:spLocks noChangeArrowheads="1"/>
          </p:cNvSpPr>
          <p:nvPr/>
        </p:nvSpPr>
        <p:spPr bwMode="auto">
          <a:xfrm>
            <a:off x="4062413" y="4548187"/>
            <a:ext cx="735012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88" name="Text Box 53"/>
          <p:cNvSpPr txBox="1">
            <a:spLocks noChangeArrowheads="1"/>
          </p:cNvSpPr>
          <p:nvPr/>
        </p:nvSpPr>
        <p:spPr bwMode="auto">
          <a:xfrm>
            <a:off x="3695700" y="4362450"/>
            <a:ext cx="128428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89" name="Rectangle 54"/>
          <p:cNvSpPr>
            <a:spLocks noChangeArrowheads="1"/>
          </p:cNvSpPr>
          <p:nvPr/>
        </p:nvSpPr>
        <p:spPr bwMode="auto">
          <a:xfrm>
            <a:off x="4797425" y="4548187"/>
            <a:ext cx="733425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90" name="Text Box 55"/>
          <p:cNvSpPr txBox="1">
            <a:spLocks noChangeArrowheads="1"/>
          </p:cNvSpPr>
          <p:nvPr/>
        </p:nvSpPr>
        <p:spPr bwMode="auto">
          <a:xfrm>
            <a:off x="4429125" y="4362450"/>
            <a:ext cx="1285875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2</a:t>
            </a:r>
            <a:endParaRPr lang="en-US" altLang="en-US" sz="2400"/>
          </a:p>
        </p:txBody>
      </p:sp>
      <p:sp>
        <p:nvSpPr>
          <p:cNvPr id="18491" name="Rectangle 56"/>
          <p:cNvSpPr>
            <a:spLocks noChangeArrowheads="1"/>
          </p:cNvSpPr>
          <p:nvPr/>
        </p:nvSpPr>
        <p:spPr bwMode="auto">
          <a:xfrm>
            <a:off x="1123950" y="528478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92" name="Text Box 57"/>
          <p:cNvSpPr txBox="1">
            <a:spLocks noChangeArrowheads="1"/>
          </p:cNvSpPr>
          <p:nvPr/>
        </p:nvSpPr>
        <p:spPr bwMode="auto">
          <a:xfrm>
            <a:off x="757238" y="5099050"/>
            <a:ext cx="12858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93" name="Rectangle 58"/>
          <p:cNvSpPr>
            <a:spLocks noChangeArrowheads="1"/>
          </p:cNvSpPr>
          <p:nvPr/>
        </p:nvSpPr>
        <p:spPr bwMode="auto">
          <a:xfrm>
            <a:off x="1858963" y="52847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94" name="Text Box 59"/>
          <p:cNvSpPr txBox="1">
            <a:spLocks noChangeArrowheads="1"/>
          </p:cNvSpPr>
          <p:nvPr/>
        </p:nvSpPr>
        <p:spPr bwMode="auto">
          <a:xfrm>
            <a:off x="1492250" y="509905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95" name="Rectangle 60"/>
          <p:cNvSpPr>
            <a:spLocks noChangeArrowheads="1"/>
          </p:cNvSpPr>
          <p:nvPr/>
        </p:nvSpPr>
        <p:spPr bwMode="auto">
          <a:xfrm>
            <a:off x="2593975" y="52847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96" name="Text Box 61"/>
          <p:cNvSpPr txBox="1">
            <a:spLocks noChangeArrowheads="1"/>
          </p:cNvSpPr>
          <p:nvPr/>
        </p:nvSpPr>
        <p:spPr bwMode="auto">
          <a:xfrm>
            <a:off x="2225675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97" name="Rectangle 62"/>
          <p:cNvSpPr>
            <a:spLocks noChangeArrowheads="1"/>
          </p:cNvSpPr>
          <p:nvPr/>
        </p:nvSpPr>
        <p:spPr bwMode="auto">
          <a:xfrm>
            <a:off x="3327400" y="5284787"/>
            <a:ext cx="735013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498" name="Text Box 63"/>
          <p:cNvSpPr txBox="1">
            <a:spLocks noChangeArrowheads="1"/>
          </p:cNvSpPr>
          <p:nvPr/>
        </p:nvSpPr>
        <p:spPr bwMode="auto">
          <a:xfrm>
            <a:off x="2960688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499" name="Rectangle 64"/>
          <p:cNvSpPr>
            <a:spLocks noChangeArrowheads="1"/>
          </p:cNvSpPr>
          <p:nvPr/>
        </p:nvSpPr>
        <p:spPr bwMode="auto">
          <a:xfrm>
            <a:off x="4062413" y="5284787"/>
            <a:ext cx="735012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00" name="Text Box 65"/>
          <p:cNvSpPr txBox="1">
            <a:spLocks noChangeArrowheads="1"/>
          </p:cNvSpPr>
          <p:nvPr/>
        </p:nvSpPr>
        <p:spPr bwMode="auto">
          <a:xfrm>
            <a:off x="3695700" y="5099050"/>
            <a:ext cx="128428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501" name="Rectangle 66"/>
          <p:cNvSpPr>
            <a:spLocks noChangeArrowheads="1"/>
          </p:cNvSpPr>
          <p:nvPr/>
        </p:nvSpPr>
        <p:spPr bwMode="auto">
          <a:xfrm>
            <a:off x="4797425" y="5284787"/>
            <a:ext cx="733425" cy="7350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02" name="Text Box 67"/>
          <p:cNvSpPr txBox="1">
            <a:spLocks noChangeArrowheads="1"/>
          </p:cNvSpPr>
          <p:nvPr/>
        </p:nvSpPr>
        <p:spPr bwMode="auto">
          <a:xfrm>
            <a:off x="4429125" y="5099050"/>
            <a:ext cx="128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503" name="Text Box 68"/>
          <p:cNvSpPr txBox="1">
            <a:spLocks noChangeArrowheads="1"/>
          </p:cNvSpPr>
          <p:nvPr/>
        </p:nvSpPr>
        <p:spPr bwMode="auto">
          <a:xfrm>
            <a:off x="685800" y="1743075"/>
            <a:ext cx="6461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ct val="100000"/>
              </a:spcAft>
              <a:buFontTx/>
              <a:buNone/>
            </a:pPr>
            <a:r>
              <a:rPr lang="en-US" altLang="en-US" sz="2400" b="1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18504" name="Text Box 70"/>
          <p:cNvSpPr txBox="1">
            <a:spLocks noChangeArrowheads="1"/>
          </p:cNvSpPr>
          <p:nvPr/>
        </p:nvSpPr>
        <p:spPr bwMode="auto">
          <a:xfrm>
            <a:off x="804863" y="1141412"/>
            <a:ext cx="5062537" cy="60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>
                <a:solidFill>
                  <a:srgbClr val="FF0000"/>
                </a:solidFill>
              </a:rPr>
              <a:t>0      1       2       3      4       5 </a:t>
            </a:r>
            <a:endParaRPr lang="en-US" altLang="en-US" sz="2400"/>
          </a:p>
        </p:txBody>
      </p:sp>
      <p:sp>
        <p:nvSpPr>
          <p:cNvPr id="18505" name="Rectangle 71"/>
          <p:cNvSpPr>
            <a:spLocks noChangeArrowheads="1"/>
          </p:cNvSpPr>
          <p:nvPr/>
        </p:nvSpPr>
        <p:spPr bwMode="auto">
          <a:xfrm>
            <a:off x="1123950" y="1604962"/>
            <a:ext cx="735013" cy="733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06" name="Text Box 72"/>
          <p:cNvSpPr txBox="1">
            <a:spLocks noChangeArrowheads="1"/>
          </p:cNvSpPr>
          <p:nvPr/>
        </p:nvSpPr>
        <p:spPr bwMode="auto">
          <a:xfrm>
            <a:off x="757238" y="1420812"/>
            <a:ext cx="12858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</a:p>
        </p:txBody>
      </p:sp>
      <p:sp>
        <p:nvSpPr>
          <p:cNvPr id="18507" name="Rectangle 73"/>
          <p:cNvSpPr>
            <a:spLocks noChangeArrowheads="1"/>
          </p:cNvSpPr>
          <p:nvPr/>
        </p:nvSpPr>
        <p:spPr bwMode="auto">
          <a:xfrm>
            <a:off x="1858963" y="160496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08" name="Text Box 74"/>
          <p:cNvSpPr txBox="1">
            <a:spLocks noChangeArrowheads="1"/>
          </p:cNvSpPr>
          <p:nvPr/>
        </p:nvSpPr>
        <p:spPr bwMode="auto">
          <a:xfrm>
            <a:off x="1492250" y="142081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4</a:t>
            </a:r>
            <a:endParaRPr lang="en-US" altLang="en-US" sz="2400"/>
          </a:p>
        </p:txBody>
      </p:sp>
      <p:sp>
        <p:nvSpPr>
          <p:cNvPr id="18509" name="Rectangle 75"/>
          <p:cNvSpPr>
            <a:spLocks noChangeArrowheads="1"/>
          </p:cNvSpPr>
          <p:nvPr/>
        </p:nvSpPr>
        <p:spPr bwMode="auto">
          <a:xfrm>
            <a:off x="2593975" y="160496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10" name="Text Box 76"/>
          <p:cNvSpPr txBox="1">
            <a:spLocks noChangeArrowheads="1"/>
          </p:cNvSpPr>
          <p:nvPr/>
        </p:nvSpPr>
        <p:spPr bwMode="auto">
          <a:xfrm>
            <a:off x="2225675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3</a:t>
            </a:r>
          </a:p>
        </p:txBody>
      </p:sp>
      <p:sp>
        <p:nvSpPr>
          <p:cNvPr id="18511" name="Rectangle 77"/>
          <p:cNvSpPr>
            <a:spLocks noChangeArrowheads="1"/>
          </p:cNvSpPr>
          <p:nvPr/>
        </p:nvSpPr>
        <p:spPr bwMode="auto">
          <a:xfrm>
            <a:off x="3327400" y="1604962"/>
            <a:ext cx="735013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12" name="Text Box 78"/>
          <p:cNvSpPr txBox="1">
            <a:spLocks noChangeArrowheads="1"/>
          </p:cNvSpPr>
          <p:nvPr/>
        </p:nvSpPr>
        <p:spPr bwMode="auto">
          <a:xfrm>
            <a:off x="2960688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  <p:sp>
        <p:nvSpPr>
          <p:cNvPr id="18513" name="Rectangle 79"/>
          <p:cNvSpPr>
            <a:spLocks noChangeArrowheads="1"/>
          </p:cNvSpPr>
          <p:nvPr/>
        </p:nvSpPr>
        <p:spPr bwMode="auto">
          <a:xfrm>
            <a:off x="4062413" y="1604962"/>
            <a:ext cx="735012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14" name="Text Box 80"/>
          <p:cNvSpPr txBox="1">
            <a:spLocks noChangeArrowheads="1"/>
          </p:cNvSpPr>
          <p:nvPr/>
        </p:nvSpPr>
        <p:spPr bwMode="auto">
          <a:xfrm>
            <a:off x="3695700" y="1420812"/>
            <a:ext cx="128428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8</a:t>
            </a:r>
            <a:endParaRPr lang="en-US" altLang="en-US" sz="2400"/>
          </a:p>
        </p:txBody>
      </p:sp>
      <p:sp>
        <p:nvSpPr>
          <p:cNvPr id="18515" name="Rectangle 81"/>
          <p:cNvSpPr>
            <a:spLocks noChangeArrowheads="1"/>
          </p:cNvSpPr>
          <p:nvPr/>
        </p:nvSpPr>
        <p:spPr bwMode="auto">
          <a:xfrm>
            <a:off x="4797425" y="1604962"/>
            <a:ext cx="733425" cy="731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18516" name="Text Box 82"/>
          <p:cNvSpPr txBox="1">
            <a:spLocks noChangeArrowheads="1"/>
          </p:cNvSpPr>
          <p:nvPr/>
        </p:nvSpPr>
        <p:spPr bwMode="auto">
          <a:xfrm>
            <a:off x="4429125" y="1420812"/>
            <a:ext cx="12858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      </a:t>
            </a:r>
            <a:r>
              <a:rPr lang="en-US" altLang="en-US" sz="2400" b="1"/>
              <a:t>∞</a:t>
            </a:r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9EB124-4474-49BB-87D4-64B974EB913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Adjacency List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adjacency list is an </a:t>
            </a:r>
            <a:r>
              <a:rPr lang="en-US" altLang="en-US" u="sng" dirty="0"/>
              <a:t>array of linked lists</a:t>
            </a:r>
          </a:p>
          <a:p>
            <a:pPr eaLnBrk="1" hangingPunct="1"/>
            <a:r>
              <a:rPr lang="en-US" altLang="en-US" dirty="0"/>
              <a:t>The </a:t>
            </a:r>
            <a:r>
              <a:rPr lang="en-US" altLang="en-US" u="sng" dirty="0"/>
              <a:t>vertices</a:t>
            </a:r>
            <a:r>
              <a:rPr lang="en-US" altLang="en-US" dirty="0"/>
              <a:t> are </a:t>
            </a:r>
            <a:r>
              <a:rPr lang="en-US" altLang="en-US" u="sng" dirty="0"/>
              <a:t>numbered 0 through        n – 1</a:t>
            </a:r>
          </a:p>
          <a:p>
            <a:pPr eaLnBrk="1" hangingPunct="1"/>
            <a:r>
              <a:rPr lang="en-US" altLang="en-US" dirty="0"/>
              <a:t>Each index in the array corresponds to the number of a vertex</a:t>
            </a:r>
          </a:p>
          <a:p>
            <a:pPr eaLnBrk="1" hangingPunct="1"/>
            <a:r>
              <a:rPr lang="en-US" altLang="en-US" dirty="0"/>
              <a:t>The vertex (with an index number) is adjacent to every node in the linked list at that index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9E6F06-A207-44AD-82B4-8154F18950F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Adjacency List (cont.)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914400" y="1066800"/>
            <a:ext cx="931863" cy="7985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914400" y="1865313"/>
            <a:ext cx="931863" cy="7969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914400" y="2662238"/>
            <a:ext cx="931863" cy="798512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914400" y="3460750"/>
            <a:ext cx="931863" cy="7953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914400" y="4256088"/>
            <a:ext cx="931863" cy="8001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914400" y="5056188"/>
            <a:ext cx="931863" cy="7969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4" name="Line 10"/>
          <p:cNvSpPr>
            <a:spLocks noChangeShapeType="1"/>
          </p:cNvSpPr>
          <p:nvPr/>
        </p:nvSpPr>
        <p:spPr bwMode="auto">
          <a:xfrm>
            <a:off x="1658938" y="1385888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2590800" y="1227138"/>
            <a:ext cx="1041400" cy="477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16" name="Line 12"/>
          <p:cNvSpPr>
            <a:spLocks noChangeShapeType="1"/>
          </p:cNvSpPr>
          <p:nvPr/>
        </p:nvSpPr>
        <p:spPr bwMode="auto">
          <a:xfrm>
            <a:off x="3149600" y="1227138"/>
            <a:ext cx="0" cy="4778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2590800" y="1227138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1</a:t>
            </a:r>
            <a:endParaRPr lang="en-US" altLang="en-US" sz="2400"/>
          </a:p>
        </p:txBody>
      </p:sp>
      <p:sp>
        <p:nvSpPr>
          <p:cNvPr id="21518" name="Line 14"/>
          <p:cNvSpPr>
            <a:spLocks noChangeShapeType="1"/>
          </p:cNvSpPr>
          <p:nvPr/>
        </p:nvSpPr>
        <p:spPr bwMode="auto">
          <a:xfrm>
            <a:off x="1658938" y="2184400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2590800" y="2024063"/>
            <a:ext cx="1041400" cy="479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3149600" y="2024063"/>
            <a:ext cx="0" cy="479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2590800" y="2024063"/>
            <a:ext cx="1117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3</a:t>
            </a:r>
            <a:endParaRPr lang="en-US" altLang="en-US" sz="2400"/>
          </a:p>
        </p:txBody>
      </p:sp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3335338" y="2184400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23" name="Rectangle 19"/>
          <p:cNvSpPr>
            <a:spLocks noChangeArrowheads="1"/>
          </p:cNvSpPr>
          <p:nvPr/>
        </p:nvSpPr>
        <p:spPr bwMode="auto">
          <a:xfrm>
            <a:off x="4267200" y="2024063"/>
            <a:ext cx="1041400" cy="479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4826000" y="2024063"/>
            <a:ext cx="0" cy="479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25" name="Text Box 21"/>
          <p:cNvSpPr txBox="1">
            <a:spLocks noChangeArrowheads="1"/>
          </p:cNvSpPr>
          <p:nvPr/>
        </p:nvSpPr>
        <p:spPr bwMode="auto">
          <a:xfrm>
            <a:off x="4267200" y="2024063"/>
            <a:ext cx="1117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</a:t>
            </a:r>
            <a:endParaRPr lang="en-US" altLang="en-US" sz="2400"/>
          </a:p>
        </p:txBody>
      </p:sp>
      <p:sp>
        <p:nvSpPr>
          <p:cNvPr id="21526" name="Line 22"/>
          <p:cNvSpPr>
            <a:spLocks noChangeShapeType="1"/>
          </p:cNvSpPr>
          <p:nvPr/>
        </p:nvSpPr>
        <p:spPr bwMode="auto">
          <a:xfrm>
            <a:off x="1658938" y="2981325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27" name="Rectangle 23"/>
          <p:cNvSpPr>
            <a:spLocks noChangeArrowheads="1"/>
          </p:cNvSpPr>
          <p:nvPr/>
        </p:nvSpPr>
        <p:spPr bwMode="auto">
          <a:xfrm>
            <a:off x="2590800" y="2822575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3149600" y="2822575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2590800" y="2822575"/>
            <a:ext cx="1117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</a:t>
            </a:r>
            <a:endParaRPr lang="en-US" altLang="en-US" sz="2400"/>
          </a:p>
        </p:txBody>
      </p:sp>
      <p:sp>
        <p:nvSpPr>
          <p:cNvPr id="21530" name="Line 30"/>
          <p:cNvSpPr>
            <a:spLocks noChangeShapeType="1"/>
          </p:cNvSpPr>
          <p:nvPr/>
        </p:nvSpPr>
        <p:spPr bwMode="auto">
          <a:xfrm>
            <a:off x="1658938" y="4576763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1" name="Rectangle 31"/>
          <p:cNvSpPr>
            <a:spLocks noChangeArrowheads="1"/>
          </p:cNvSpPr>
          <p:nvPr/>
        </p:nvSpPr>
        <p:spPr bwMode="auto">
          <a:xfrm>
            <a:off x="2590800" y="4418013"/>
            <a:ext cx="1041400" cy="477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32" name="Line 32"/>
          <p:cNvSpPr>
            <a:spLocks noChangeShapeType="1"/>
          </p:cNvSpPr>
          <p:nvPr/>
        </p:nvSpPr>
        <p:spPr bwMode="auto">
          <a:xfrm>
            <a:off x="3149600" y="4418013"/>
            <a:ext cx="0" cy="4778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3" name="Text Box 33"/>
          <p:cNvSpPr txBox="1">
            <a:spLocks noChangeArrowheads="1"/>
          </p:cNvSpPr>
          <p:nvPr/>
        </p:nvSpPr>
        <p:spPr bwMode="auto">
          <a:xfrm>
            <a:off x="2590800" y="4418013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</a:t>
            </a:r>
            <a:endParaRPr lang="en-US" altLang="en-US" sz="2400"/>
          </a:p>
        </p:txBody>
      </p:sp>
      <p:sp>
        <p:nvSpPr>
          <p:cNvPr id="21534" name="Line 47"/>
          <p:cNvSpPr>
            <a:spLocks noChangeShapeType="1"/>
          </p:cNvSpPr>
          <p:nvPr/>
        </p:nvSpPr>
        <p:spPr bwMode="auto">
          <a:xfrm>
            <a:off x="4826000" y="2024063"/>
            <a:ext cx="482600" cy="4905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5" name="Line 49"/>
          <p:cNvSpPr>
            <a:spLocks noChangeShapeType="1"/>
          </p:cNvSpPr>
          <p:nvPr/>
        </p:nvSpPr>
        <p:spPr bwMode="auto">
          <a:xfrm>
            <a:off x="3124200" y="4418013"/>
            <a:ext cx="482600" cy="4587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6" name="Line 50"/>
          <p:cNvSpPr>
            <a:spLocks noChangeShapeType="1"/>
          </p:cNvSpPr>
          <p:nvPr/>
        </p:nvSpPr>
        <p:spPr bwMode="auto">
          <a:xfrm>
            <a:off x="914400" y="3460750"/>
            <a:ext cx="931863" cy="7953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7" name="Line 51"/>
          <p:cNvSpPr>
            <a:spLocks noChangeShapeType="1"/>
          </p:cNvSpPr>
          <p:nvPr/>
        </p:nvSpPr>
        <p:spPr bwMode="auto">
          <a:xfrm>
            <a:off x="914400" y="5056188"/>
            <a:ext cx="931863" cy="796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38" name="Text Box 52"/>
          <p:cNvSpPr txBox="1">
            <a:spLocks noChangeArrowheads="1"/>
          </p:cNvSpPr>
          <p:nvPr/>
        </p:nvSpPr>
        <p:spPr bwMode="auto">
          <a:xfrm>
            <a:off x="381000" y="1298575"/>
            <a:ext cx="558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5</a:t>
            </a:r>
            <a:endParaRPr lang="en-US" altLang="en-US" sz="2400"/>
          </a:p>
        </p:txBody>
      </p:sp>
      <p:sp>
        <p:nvSpPr>
          <p:cNvPr id="21539" name="Line 32"/>
          <p:cNvSpPr>
            <a:spLocks noChangeShapeType="1"/>
          </p:cNvSpPr>
          <p:nvPr/>
        </p:nvSpPr>
        <p:spPr bwMode="auto">
          <a:xfrm>
            <a:off x="31242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0" name="Line 34"/>
          <p:cNvSpPr>
            <a:spLocks noChangeShapeType="1"/>
          </p:cNvSpPr>
          <p:nvPr/>
        </p:nvSpPr>
        <p:spPr bwMode="auto">
          <a:xfrm>
            <a:off x="33099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1" name="Rectangle 35"/>
          <p:cNvSpPr>
            <a:spLocks noChangeArrowheads="1"/>
          </p:cNvSpPr>
          <p:nvPr/>
        </p:nvSpPr>
        <p:spPr bwMode="auto">
          <a:xfrm>
            <a:off x="4241800" y="1219200"/>
            <a:ext cx="931863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42" name="Line 36"/>
          <p:cNvSpPr>
            <a:spLocks noChangeShapeType="1"/>
          </p:cNvSpPr>
          <p:nvPr/>
        </p:nvSpPr>
        <p:spPr bwMode="auto">
          <a:xfrm>
            <a:off x="48006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3" name="Line 38"/>
          <p:cNvSpPr>
            <a:spLocks noChangeShapeType="1"/>
          </p:cNvSpPr>
          <p:nvPr/>
        </p:nvSpPr>
        <p:spPr bwMode="auto">
          <a:xfrm>
            <a:off x="33099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4" name="Rectangle 39"/>
          <p:cNvSpPr>
            <a:spLocks noChangeArrowheads="1"/>
          </p:cNvSpPr>
          <p:nvPr/>
        </p:nvSpPr>
        <p:spPr bwMode="auto">
          <a:xfrm>
            <a:off x="4241800" y="1219200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45" name="Line 40"/>
          <p:cNvSpPr>
            <a:spLocks noChangeShapeType="1"/>
          </p:cNvSpPr>
          <p:nvPr/>
        </p:nvSpPr>
        <p:spPr bwMode="auto">
          <a:xfrm>
            <a:off x="48006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6" name="Text Box 41"/>
          <p:cNvSpPr txBox="1">
            <a:spLocks noChangeArrowheads="1"/>
          </p:cNvSpPr>
          <p:nvPr/>
        </p:nvSpPr>
        <p:spPr bwMode="auto">
          <a:xfrm>
            <a:off x="4216400" y="1220788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2</a:t>
            </a:r>
            <a:endParaRPr lang="en-US" altLang="en-US" sz="2400"/>
          </a:p>
        </p:txBody>
      </p:sp>
      <p:sp>
        <p:nvSpPr>
          <p:cNvPr id="21547" name="Line 42"/>
          <p:cNvSpPr>
            <a:spLocks noChangeShapeType="1"/>
          </p:cNvSpPr>
          <p:nvPr/>
        </p:nvSpPr>
        <p:spPr bwMode="auto">
          <a:xfrm>
            <a:off x="49863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48" name="Rectangle 43"/>
          <p:cNvSpPr>
            <a:spLocks noChangeArrowheads="1"/>
          </p:cNvSpPr>
          <p:nvPr/>
        </p:nvSpPr>
        <p:spPr bwMode="auto">
          <a:xfrm>
            <a:off x="5918200" y="1219200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1549" name="Line 44"/>
          <p:cNvSpPr>
            <a:spLocks noChangeShapeType="1"/>
          </p:cNvSpPr>
          <p:nvPr/>
        </p:nvSpPr>
        <p:spPr bwMode="auto">
          <a:xfrm>
            <a:off x="64770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50" name="Text Box 45"/>
          <p:cNvSpPr txBox="1">
            <a:spLocks noChangeArrowheads="1"/>
          </p:cNvSpPr>
          <p:nvPr/>
        </p:nvSpPr>
        <p:spPr bwMode="auto">
          <a:xfrm>
            <a:off x="5918200" y="1219200"/>
            <a:ext cx="1117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</a:t>
            </a:r>
            <a:endParaRPr lang="en-US" altLang="en-US" sz="2400"/>
          </a:p>
        </p:txBody>
      </p:sp>
      <p:sp>
        <p:nvSpPr>
          <p:cNvPr id="21551" name="Line 49"/>
          <p:cNvSpPr>
            <a:spLocks noChangeShapeType="1"/>
          </p:cNvSpPr>
          <p:nvPr/>
        </p:nvSpPr>
        <p:spPr bwMode="auto">
          <a:xfrm>
            <a:off x="6477000" y="1219200"/>
            <a:ext cx="482600" cy="4587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52" name="Line 49"/>
          <p:cNvSpPr>
            <a:spLocks noChangeShapeType="1"/>
          </p:cNvSpPr>
          <p:nvPr/>
        </p:nvSpPr>
        <p:spPr bwMode="auto">
          <a:xfrm>
            <a:off x="3124200" y="2819400"/>
            <a:ext cx="482600" cy="4587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1553" name="Text Box 51"/>
          <p:cNvSpPr txBox="1">
            <a:spLocks noChangeArrowheads="1"/>
          </p:cNvSpPr>
          <p:nvPr/>
        </p:nvSpPr>
        <p:spPr bwMode="auto">
          <a:xfrm>
            <a:off x="5791200" y="2517775"/>
            <a:ext cx="3124200" cy="4616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u="sng" dirty="0">
                <a:solidFill>
                  <a:srgbClr val="FF3300"/>
                </a:solidFill>
              </a:rPr>
              <a:t>Directed</a:t>
            </a:r>
            <a:r>
              <a:rPr lang="en-US" altLang="en-US" sz="2400" b="1" dirty="0">
                <a:solidFill>
                  <a:srgbClr val="FF3300"/>
                </a:solidFill>
              </a:rPr>
              <a:t> graph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9F8AF3-3AA2-479F-8254-E94973F819C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Adjacency List (cont.)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914400" y="1066800"/>
            <a:ext cx="931863" cy="7985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914400" y="1865313"/>
            <a:ext cx="931863" cy="7969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914400" y="2662238"/>
            <a:ext cx="931863" cy="798512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914400" y="3460750"/>
            <a:ext cx="931863" cy="7953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914400" y="4256088"/>
            <a:ext cx="931863" cy="8001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914400" y="5056188"/>
            <a:ext cx="931863" cy="7969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1658938" y="1385888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2590800" y="1227138"/>
            <a:ext cx="1041400" cy="477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3149600" y="1227138"/>
            <a:ext cx="0" cy="4778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2590800" y="1227138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1</a:t>
            </a:r>
            <a:endParaRPr lang="en-US" altLang="en-US" sz="2400"/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1658938" y="2184400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2590800" y="2024063"/>
            <a:ext cx="1041400" cy="479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3149600" y="2024063"/>
            <a:ext cx="0" cy="479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2590800" y="2024063"/>
            <a:ext cx="1117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3</a:t>
            </a:r>
            <a:endParaRPr lang="en-US" altLang="en-US" sz="2400"/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3335338" y="2184400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47" name="Rectangle 19"/>
          <p:cNvSpPr>
            <a:spLocks noChangeArrowheads="1"/>
          </p:cNvSpPr>
          <p:nvPr/>
        </p:nvSpPr>
        <p:spPr bwMode="auto">
          <a:xfrm>
            <a:off x="4267200" y="2024063"/>
            <a:ext cx="1041400" cy="4794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>
            <a:off x="4826000" y="2024063"/>
            <a:ext cx="0" cy="4794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49" name="Text Box 21"/>
          <p:cNvSpPr txBox="1">
            <a:spLocks noChangeArrowheads="1"/>
          </p:cNvSpPr>
          <p:nvPr/>
        </p:nvSpPr>
        <p:spPr bwMode="auto">
          <a:xfrm>
            <a:off x="4267200" y="2024063"/>
            <a:ext cx="11176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</a:t>
            </a:r>
            <a:endParaRPr lang="en-US" altLang="en-US" sz="2400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1658938" y="2981325"/>
            <a:ext cx="9318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51" name="Rectangle 23"/>
          <p:cNvSpPr>
            <a:spLocks noChangeArrowheads="1"/>
          </p:cNvSpPr>
          <p:nvPr/>
        </p:nvSpPr>
        <p:spPr bwMode="auto">
          <a:xfrm>
            <a:off x="2590800" y="2822575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52" name="Line 24"/>
          <p:cNvSpPr>
            <a:spLocks noChangeShapeType="1"/>
          </p:cNvSpPr>
          <p:nvPr/>
        </p:nvSpPr>
        <p:spPr bwMode="auto">
          <a:xfrm>
            <a:off x="3149600" y="2822575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2590800" y="2822575"/>
            <a:ext cx="1117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</a:t>
            </a:r>
            <a:endParaRPr lang="en-US" altLang="en-US" sz="2400"/>
          </a:p>
        </p:txBody>
      </p:sp>
      <p:sp>
        <p:nvSpPr>
          <p:cNvPr id="22554" name="Line 30"/>
          <p:cNvSpPr>
            <a:spLocks noChangeShapeType="1"/>
          </p:cNvSpPr>
          <p:nvPr/>
        </p:nvSpPr>
        <p:spPr bwMode="auto">
          <a:xfrm>
            <a:off x="1658938" y="4576763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55" name="Rectangle 31"/>
          <p:cNvSpPr>
            <a:spLocks noChangeArrowheads="1"/>
          </p:cNvSpPr>
          <p:nvPr/>
        </p:nvSpPr>
        <p:spPr bwMode="auto">
          <a:xfrm>
            <a:off x="2590800" y="4418013"/>
            <a:ext cx="1041400" cy="47783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56" name="Line 32"/>
          <p:cNvSpPr>
            <a:spLocks noChangeShapeType="1"/>
          </p:cNvSpPr>
          <p:nvPr/>
        </p:nvSpPr>
        <p:spPr bwMode="auto">
          <a:xfrm>
            <a:off x="3149600" y="4418013"/>
            <a:ext cx="0" cy="4778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57" name="Text Box 33"/>
          <p:cNvSpPr txBox="1">
            <a:spLocks noChangeArrowheads="1"/>
          </p:cNvSpPr>
          <p:nvPr/>
        </p:nvSpPr>
        <p:spPr bwMode="auto">
          <a:xfrm>
            <a:off x="2590800" y="4418013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</a:t>
            </a:r>
            <a:endParaRPr lang="en-US" altLang="en-US" sz="2400"/>
          </a:p>
        </p:txBody>
      </p:sp>
      <p:sp>
        <p:nvSpPr>
          <p:cNvPr id="22558" name="Line 47"/>
          <p:cNvSpPr>
            <a:spLocks noChangeShapeType="1"/>
          </p:cNvSpPr>
          <p:nvPr/>
        </p:nvSpPr>
        <p:spPr bwMode="auto">
          <a:xfrm>
            <a:off x="4826000" y="2024063"/>
            <a:ext cx="482600" cy="4905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59" name="Line 49"/>
          <p:cNvSpPr>
            <a:spLocks noChangeShapeType="1"/>
          </p:cNvSpPr>
          <p:nvPr/>
        </p:nvSpPr>
        <p:spPr bwMode="auto">
          <a:xfrm>
            <a:off x="3124200" y="4418013"/>
            <a:ext cx="482600" cy="4587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0" name="Line 50"/>
          <p:cNvSpPr>
            <a:spLocks noChangeShapeType="1"/>
          </p:cNvSpPr>
          <p:nvPr/>
        </p:nvSpPr>
        <p:spPr bwMode="auto">
          <a:xfrm>
            <a:off x="914400" y="3460750"/>
            <a:ext cx="931863" cy="7953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1" name="Line 51"/>
          <p:cNvSpPr>
            <a:spLocks noChangeShapeType="1"/>
          </p:cNvSpPr>
          <p:nvPr/>
        </p:nvSpPr>
        <p:spPr bwMode="auto">
          <a:xfrm>
            <a:off x="914400" y="5056188"/>
            <a:ext cx="931863" cy="7969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2" name="Text Box 52"/>
          <p:cNvSpPr txBox="1">
            <a:spLocks noChangeArrowheads="1"/>
          </p:cNvSpPr>
          <p:nvPr/>
        </p:nvSpPr>
        <p:spPr bwMode="auto">
          <a:xfrm>
            <a:off x="381000" y="1298575"/>
            <a:ext cx="558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ts val="33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5</a:t>
            </a:r>
            <a:endParaRPr lang="en-US" altLang="en-US" sz="2400"/>
          </a:p>
        </p:txBody>
      </p:sp>
      <p:sp>
        <p:nvSpPr>
          <p:cNvPr id="22563" name="Line 32"/>
          <p:cNvSpPr>
            <a:spLocks noChangeShapeType="1"/>
          </p:cNvSpPr>
          <p:nvPr/>
        </p:nvSpPr>
        <p:spPr bwMode="auto">
          <a:xfrm>
            <a:off x="31242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4" name="Line 34"/>
          <p:cNvSpPr>
            <a:spLocks noChangeShapeType="1"/>
          </p:cNvSpPr>
          <p:nvPr/>
        </p:nvSpPr>
        <p:spPr bwMode="auto">
          <a:xfrm>
            <a:off x="33099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5" name="Rectangle 35"/>
          <p:cNvSpPr>
            <a:spLocks noChangeArrowheads="1"/>
          </p:cNvSpPr>
          <p:nvPr/>
        </p:nvSpPr>
        <p:spPr bwMode="auto">
          <a:xfrm>
            <a:off x="4241800" y="1219200"/>
            <a:ext cx="931863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66" name="Line 36"/>
          <p:cNvSpPr>
            <a:spLocks noChangeShapeType="1"/>
          </p:cNvSpPr>
          <p:nvPr/>
        </p:nvSpPr>
        <p:spPr bwMode="auto">
          <a:xfrm>
            <a:off x="48006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3099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68" name="Rectangle 39"/>
          <p:cNvSpPr>
            <a:spLocks noChangeArrowheads="1"/>
          </p:cNvSpPr>
          <p:nvPr/>
        </p:nvSpPr>
        <p:spPr bwMode="auto">
          <a:xfrm>
            <a:off x="4241800" y="1219200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48006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70" name="Text Box 41"/>
          <p:cNvSpPr txBox="1">
            <a:spLocks noChangeArrowheads="1"/>
          </p:cNvSpPr>
          <p:nvPr/>
        </p:nvSpPr>
        <p:spPr bwMode="auto">
          <a:xfrm>
            <a:off x="4216400" y="1220788"/>
            <a:ext cx="1117600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2</a:t>
            </a:r>
            <a:endParaRPr lang="en-US" altLang="en-US" sz="2400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4986338" y="1377950"/>
            <a:ext cx="9318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72" name="Rectangle 43"/>
          <p:cNvSpPr>
            <a:spLocks noChangeArrowheads="1"/>
          </p:cNvSpPr>
          <p:nvPr/>
        </p:nvSpPr>
        <p:spPr bwMode="auto">
          <a:xfrm>
            <a:off x="5918200" y="1219200"/>
            <a:ext cx="1041400" cy="47783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6477000" y="1219200"/>
            <a:ext cx="0" cy="4778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74" name="Text Box 45"/>
          <p:cNvSpPr txBox="1">
            <a:spLocks noChangeArrowheads="1"/>
          </p:cNvSpPr>
          <p:nvPr/>
        </p:nvSpPr>
        <p:spPr bwMode="auto">
          <a:xfrm>
            <a:off x="5918200" y="1219200"/>
            <a:ext cx="1117600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</a:t>
            </a:r>
            <a:endParaRPr lang="en-US" altLang="en-US" sz="2400"/>
          </a:p>
        </p:txBody>
      </p:sp>
      <p:sp>
        <p:nvSpPr>
          <p:cNvPr id="22575" name="Line 49"/>
          <p:cNvSpPr>
            <a:spLocks noChangeShapeType="1"/>
          </p:cNvSpPr>
          <p:nvPr/>
        </p:nvSpPr>
        <p:spPr bwMode="auto">
          <a:xfrm>
            <a:off x="6477000" y="1219200"/>
            <a:ext cx="482600" cy="4587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76" name="Line 49"/>
          <p:cNvSpPr>
            <a:spLocks noChangeShapeType="1"/>
          </p:cNvSpPr>
          <p:nvPr/>
        </p:nvSpPr>
        <p:spPr bwMode="auto">
          <a:xfrm>
            <a:off x="3124200" y="2819400"/>
            <a:ext cx="482600" cy="4587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2577" name="Oval 52"/>
          <p:cNvSpPr>
            <a:spLocks noChangeArrowheads="1"/>
          </p:cNvSpPr>
          <p:nvPr/>
        </p:nvSpPr>
        <p:spPr bwMode="auto">
          <a:xfrm>
            <a:off x="228600" y="1755775"/>
            <a:ext cx="5562600" cy="990600"/>
          </a:xfrm>
          <a:prstGeom prst="ellips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2578" name="Text Box 51"/>
          <p:cNvSpPr txBox="1">
            <a:spLocks noChangeArrowheads="1"/>
          </p:cNvSpPr>
          <p:nvPr/>
        </p:nvSpPr>
        <p:spPr bwMode="auto">
          <a:xfrm>
            <a:off x="5791200" y="2517775"/>
            <a:ext cx="3124200" cy="157003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Vertex 1 has a link to vertex 3, and vertex 1 also has a link to vertex 5</a:t>
            </a:r>
          </a:p>
        </p:txBody>
      </p:sp>
      <p:sp>
        <p:nvSpPr>
          <p:cNvPr id="53" name="Oval 60"/>
          <p:cNvSpPr>
            <a:spLocks noChangeArrowheads="1"/>
          </p:cNvSpPr>
          <p:nvPr/>
        </p:nvSpPr>
        <p:spPr bwMode="auto">
          <a:xfrm>
            <a:off x="228600" y="3355975"/>
            <a:ext cx="2209800" cy="1066800"/>
          </a:xfrm>
          <a:prstGeom prst="ellipse">
            <a:avLst/>
          </a:prstGeom>
          <a:noFill/>
          <a:ln w="57150" cap="rnd">
            <a:solidFill>
              <a:schemeClr val="hlink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54" name="Text Box 51"/>
          <p:cNvSpPr txBox="1">
            <a:spLocks noChangeArrowheads="1"/>
          </p:cNvSpPr>
          <p:nvPr/>
        </p:nvSpPr>
        <p:spPr bwMode="auto">
          <a:xfrm>
            <a:off x="5638800" y="4343400"/>
            <a:ext cx="3276600" cy="157003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Vertex 3 has an empty linked list – it has no link to any other vertices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098704-9F84-47B2-97F1-D287F7A4C2C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Adjacency List for </a:t>
            </a:r>
            <a:br>
              <a:rPr lang="en-US" altLang="en-US" sz="4000"/>
            </a:br>
            <a:r>
              <a:rPr lang="en-US" altLang="en-US" sz="4000"/>
              <a:t>Directed Weighted Graph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808038" y="1447800"/>
            <a:ext cx="777875" cy="7842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808038" y="2232025"/>
            <a:ext cx="777875" cy="785813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808038" y="3017838"/>
            <a:ext cx="777875" cy="785812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808038" y="3803650"/>
            <a:ext cx="777875" cy="7842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auto">
          <a:xfrm>
            <a:off x="808038" y="4587875"/>
            <a:ext cx="777875" cy="7889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808038" y="5376863"/>
            <a:ext cx="777875" cy="7842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1430338" y="1760538"/>
            <a:ext cx="779462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2209800" y="1603375"/>
            <a:ext cx="1247775" cy="4714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209800" y="1603375"/>
            <a:ext cx="155098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1   </a:t>
            </a:r>
            <a:r>
              <a:rPr lang="en-US" altLang="en-US" sz="2400" b="1">
                <a:solidFill>
                  <a:srgbClr val="000000"/>
                </a:solidFill>
              </a:rPr>
              <a:t>4</a:t>
            </a:r>
            <a:endParaRPr lang="en-US" altLang="en-US" sz="2400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>
            <a:off x="1430338" y="2546350"/>
            <a:ext cx="7794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1430338" y="3332163"/>
            <a:ext cx="779462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1" name="Line 15"/>
          <p:cNvSpPr>
            <a:spLocks noChangeShapeType="1"/>
          </p:cNvSpPr>
          <p:nvPr/>
        </p:nvSpPr>
        <p:spPr bwMode="auto">
          <a:xfrm>
            <a:off x="1430338" y="4905375"/>
            <a:ext cx="7794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2" name="Text Box 16"/>
          <p:cNvSpPr txBox="1">
            <a:spLocks noChangeArrowheads="1"/>
          </p:cNvSpPr>
          <p:nvPr/>
        </p:nvSpPr>
        <p:spPr bwMode="auto">
          <a:xfrm>
            <a:off x="339725" y="1600200"/>
            <a:ext cx="4683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50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1</a:t>
            </a:r>
          </a:p>
          <a:p>
            <a:pPr eaLnBrk="1" hangingPunct="1">
              <a:spcBef>
                <a:spcPct val="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2</a:t>
            </a:r>
          </a:p>
          <a:p>
            <a:pPr eaLnBrk="1" hangingPunct="1">
              <a:spcBef>
                <a:spcPct val="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3</a:t>
            </a:r>
          </a:p>
          <a:p>
            <a:pPr eaLnBrk="1" hangingPunct="1">
              <a:spcBef>
                <a:spcPct val="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4</a:t>
            </a:r>
          </a:p>
          <a:p>
            <a:pPr eaLnBrk="1" hangingPunct="1">
              <a:spcBef>
                <a:spcPct val="0"/>
              </a:spcBef>
              <a:spcAft>
                <a:spcPts val="3200"/>
              </a:spcAft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5</a:t>
            </a:r>
            <a:endParaRPr lang="en-US" altLang="en-US" sz="2400"/>
          </a:p>
        </p:txBody>
      </p:sp>
      <p:sp>
        <p:nvSpPr>
          <p:cNvPr id="24593" name="Line 19"/>
          <p:cNvSpPr>
            <a:spLocks noChangeShapeType="1"/>
          </p:cNvSpPr>
          <p:nvPr/>
        </p:nvSpPr>
        <p:spPr bwMode="auto">
          <a:xfrm>
            <a:off x="2678113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4" name="Line 20"/>
          <p:cNvSpPr>
            <a:spLocks noChangeShapeType="1"/>
          </p:cNvSpPr>
          <p:nvPr/>
        </p:nvSpPr>
        <p:spPr bwMode="auto">
          <a:xfrm>
            <a:off x="3144838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5" name="Line 21"/>
          <p:cNvSpPr>
            <a:spLocks noChangeShapeType="1"/>
          </p:cNvSpPr>
          <p:nvPr/>
        </p:nvSpPr>
        <p:spPr bwMode="auto">
          <a:xfrm>
            <a:off x="3300413" y="1757363"/>
            <a:ext cx="779462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6" name="Rectangle 22"/>
          <p:cNvSpPr>
            <a:spLocks noChangeArrowheads="1"/>
          </p:cNvSpPr>
          <p:nvPr/>
        </p:nvSpPr>
        <p:spPr bwMode="auto">
          <a:xfrm>
            <a:off x="4079875" y="1600200"/>
            <a:ext cx="1247775" cy="4714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597" name="Text Box 23"/>
          <p:cNvSpPr txBox="1">
            <a:spLocks noChangeArrowheads="1"/>
          </p:cNvSpPr>
          <p:nvPr/>
        </p:nvSpPr>
        <p:spPr bwMode="auto">
          <a:xfrm>
            <a:off x="4079875" y="1603375"/>
            <a:ext cx="155098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2   </a:t>
            </a:r>
            <a:r>
              <a:rPr lang="en-US" altLang="en-US" sz="2400" b="1">
                <a:solidFill>
                  <a:srgbClr val="000000"/>
                </a:solidFill>
              </a:rPr>
              <a:t>3</a:t>
            </a:r>
            <a:endParaRPr lang="en-US" altLang="en-US" sz="2400"/>
          </a:p>
        </p:txBody>
      </p:sp>
      <p:sp>
        <p:nvSpPr>
          <p:cNvPr id="24598" name="Line 24"/>
          <p:cNvSpPr>
            <a:spLocks noChangeShapeType="1"/>
          </p:cNvSpPr>
          <p:nvPr/>
        </p:nvSpPr>
        <p:spPr bwMode="auto">
          <a:xfrm>
            <a:off x="4548188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599" name="Line 25"/>
          <p:cNvSpPr>
            <a:spLocks noChangeShapeType="1"/>
          </p:cNvSpPr>
          <p:nvPr/>
        </p:nvSpPr>
        <p:spPr bwMode="auto">
          <a:xfrm>
            <a:off x="5014913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0" name="Line 26"/>
          <p:cNvSpPr>
            <a:spLocks noChangeShapeType="1"/>
          </p:cNvSpPr>
          <p:nvPr/>
        </p:nvSpPr>
        <p:spPr bwMode="auto">
          <a:xfrm>
            <a:off x="5172075" y="1757363"/>
            <a:ext cx="779463" cy="3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1" name="Rectangle 27"/>
          <p:cNvSpPr>
            <a:spLocks noChangeArrowheads="1"/>
          </p:cNvSpPr>
          <p:nvPr/>
        </p:nvSpPr>
        <p:spPr bwMode="auto">
          <a:xfrm>
            <a:off x="5951538" y="1600200"/>
            <a:ext cx="1246187" cy="4714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602" name="Text Box 28"/>
          <p:cNvSpPr txBox="1">
            <a:spLocks noChangeArrowheads="1"/>
          </p:cNvSpPr>
          <p:nvPr/>
        </p:nvSpPr>
        <p:spPr bwMode="auto">
          <a:xfrm>
            <a:off x="5951538" y="1603375"/>
            <a:ext cx="1550987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   </a:t>
            </a:r>
            <a:r>
              <a:rPr lang="en-US" altLang="en-US" sz="2400" b="1">
                <a:solidFill>
                  <a:srgbClr val="000000"/>
                </a:solidFill>
              </a:rPr>
              <a:t>8</a:t>
            </a:r>
            <a:endParaRPr lang="en-US" altLang="en-US" sz="2400"/>
          </a:p>
        </p:txBody>
      </p:sp>
      <p:sp>
        <p:nvSpPr>
          <p:cNvPr id="24603" name="Line 29"/>
          <p:cNvSpPr>
            <a:spLocks noChangeShapeType="1"/>
          </p:cNvSpPr>
          <p:nvPr/>
        </p:nvSpPr>
        <p:spPr bwMode="auto">
          <a:xfrm>
            <a:off x="6418263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4" name="Line 30"/>
          <p:cNvSpPr>
            <a:spLocks noChangeShapeType="1"/>
          </p:cNvSpPr>
          <p:nvPr/>
        </p:nvSpPr>
        <p:spPr bwMode="auto">
          <a:xfrm>
            <a:off x="6886575" y="1603375"/>
            <a:ext cx="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5" name="Line 31"/>
          <p:cNvSpPr>
            <a:spLocks noChangeShapeType="1"/>
          </p:cNvSpPr>
          <p:nvPr/>
        </p:nvSpPr>
        <p:spPr bwMode="auto">
          <a:xfrm>
            <a:off x="6886575" y="1603375"/>
            <a:ext cx="311150" cy="4714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6" name="Line 32"/>
          <p:cNvSpPr>
            <a:spLocks noChangeShapeType="1"/>
          </p:cNvSpPr>
          <p:nvPr/>
        </p:nvSpPr>
        <p:spPr bwMode="auto">
          <a:xfrm>
            <a:off x="1430338" y="2544763"/>
            <a:ext cx="779462" cy="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07" name="Rectangle 33"/>
          <p:cNvSpPr>
            <a:spLocks noChangeArrowheads="1"/>
          </p:cNvSpPr>
          <p:nvPr/>
        </p:nvSpPr>
        <p:spPr bwMode="auto">
          <a:xfrm>
            <a:off x="2209800" y="2387600"/>
            <a:ext cx="1247775" cy="4714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608" name="Text Box 34"/>
          <p:cNvSpPr txBox="1">
            <a:spLocks noChangeArrowheads="1"/>
          </p:cNvSpPr>
          <p:nvPr/>
        </p:nvSpPr>
        <p:spPr bwMode="auto">
          <a:xfrm>
            <a:off x="2209800" y="2390775"/>
            <a:ext cx="15509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3   </a:t>
            </a:r>
            <a:r>
              <a:rPr lang="en-US" altLang="en-US" sz="2400" b="1">
                <a:solidFill>
                  <a:srgbClr val="000000"/>
                </a:solidFill>
              </a:rPr>
              <a:t>4</a:t>
            </a:r>
            <a:endParaRPr lang="en-US" altLang="en-US" sz="2400"/>
          </a:p>
        </p:txBody>
      </p:sp>
      <p:sp>
        <p:nvSpPr>
          <p:cNvPr id="24609" name="Line 35"/>
          <p:cNvSpPr>
            <a:spLocks noChangeShapeType="1"/>
          </p:cNvSpPr>
          <p:nvPr/>
        </p:nvSpPr>
        <p:spPr bwMode="auto">
          <a:xfrm>
            <a:off x="2678113" y="2390775"/>
            <a:ext cx="0" cy="468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0" name="Line 36"/>
          <p:cNvSpPr>
            <a:spLocks noChangeShapeType="1"/>
          </p:cNvSpPr>
          <p:nvPr/>
        </p:nvSpPr>
        <p:spPr bwMode="auto">
          <a:xfrm>
            <a:off x="3144838" y="2390775"/>
            <a:ext cx="0" cy="468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1" name="Line 37"/>
          <p:cNvSpPr>
            <a:spLocks noChangeShapeType="1"/>
          </p:cNvSpPr>
          <p:nvPr/>
        </p:nvSpPr>
        <p:spPr bwMode="auto">
          <a:xfrm>
            <a:off x="3300413" y="2544763"/>
            <a:ext cx="7794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2" name="Rectangle 38"/>
          <p:cNvSpPr>
            <a:spLocks noChangeArrowheads="1"/>
          </p:cNvSpPr>
          <p:nvPr/>
        </p:nvSpPr>
        <p:spPr bwMode="auto">
          <a:xfrm>
            <a:off x="4079875" y="2387600"/>
            <a:ext cx="1247775" cy="47148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613" name="Text Box 39"/>
          <p:cNvSpPr txBox="1">
            <a:spLocks noChangeArrowheads="1"/>
          </p:cNvSpPr>
          <p:nvPr/>
        </p:nvSpPr>
        <p:spPr bwMode="auto">
          <a:xfrm>
            <a:off x="4079875" y="2390775"/>
            <a:ext cx="15509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  </a:t>
            </a:r>
            <a:r>
              <a:rPr lang="en-US" altLang="en-US" sz="2400" b="1">
                <a:solidFill>
                  <a:srgbClr val="000000"/>
                </a:solidFill>
              </a:rPr>
              <a:t>10</a:t>
            </a:r>
            <a:endParaRPr lang="en-US" altLang="en-US" sz="2400"/>
          </a:p>
        </p:txBody>
      </p:sp>
      <p:sp>
        <p:nvSpPr>
          <p:cNvPr id="24614" name="Line 40"/>
          <p:cNvSpPr>
            <a:spLocks noChangeShapeType="1"/>
          </p:cNvSpPr>
          <p:nvPr/>
        </p:nvSpPr>
        <p:spPr bwMode="auto">
          <a:xfrm>
            <a:off x="4548188" y="2390775"/>
            <a:ext cx="0" cy="468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5" name="Line 41"/>
          <p:cNvSpPr>
            <a:spLocks noChangeShapeType="1"/>
          </p:cNvSpPr>
          <p:nvPr/>
        </p:nvSpPr>
        <p:spPr bwMode="auto">
          <a:xfrm>
            <a:off x="5014913" y="2390775"/>
            <a:ext cx="0" cy="468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6" name="Line 42"/>
          <p:cNvSpPr>
            <a:spLocks noChangeShapeType="1"/>
          </p:cNvSpPr>
          <p:nvPr/>
        </p:nvSpPr>
        <p:spPr bwMode="auto">
          <a:xfrm>
            <a:off x="1430338" y="3330575"/>
            <a:ext cx="779462" cy="15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17" name="Rectangle 43"/>
          <p:cNvSpPr>
            <a:spLocks noChangeArrowheads="1"/>
          </p:cNvSpPr>
          <p:nvPr/>
        </p:nvSpPr>
        <p:spPr bwMode="auto">
          <a:xfrm>
            <a:off x="2209800" y="3173413"/>
            <a:ext cx="1247775" cy="4714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618" name="Text Box 44"/>
          <p:cNvSpPr txBox="1">
            <a:spLocks noChangeArrowheads="1"/>
          </p:cNvSpPr>
          <p:nvPr/>
        </p:nvSpPr>
        <p:spPr bwMode="auto">
          <a:xfrm>
            <a:off x="2209800" y="3176588"/>
            <a:ext cx="15509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4   </a:t>
            </a:r>
            <a:r>
              <a:rPr lang="en-US" altLang="en-US" sz="2400" b="1">
                <a:solidFill>
                  <a:srgbClr val="000000"/>
                </a:solidFill>
              </a:rPr>
              <a:t>4</a:t>
            </a:r>
            <a:endParaRPr lang="en-US" altLang="en-US" sz="2400"/>
          </a:p>
        </p:txBody>
      </p:sp>
      <p:sp>
        <p:nvSpPr>
          <p:cNvPr id="24619" name="Line 45"/>
          <p:cNvSpPr>
            <a:spLocks noChangeShapeType="1"/>
          </p:cNvSpPr>
          <p:nvPr/>
        </p:nvSpPr>
        <p:spPr bwMode="auto">
          <a:xfrm>
            <a:off x="2678113" y="3176588"/>
            <a:ext cx="0" cy="4683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0" name="Line 58"/>
          <p:cNvSpPr>
            <a:spLocks noChangeShapeType="1"/>
          </p:cNvSpPr>
          <p:nvPr/>
        </p:nvSpPr>
        <p:spPr bwMode="auto">
          <a:xfrm>
            <a:off x="5014913" y="2390775"/>
            <a:ext cx="312737" cy="4683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1" name="Line 75"/>
          <p:cNvSpPr>
            <a:spLocks noChangeShapeType="1"/>
          </p:cNvSpPr>
          <p:nvPr/>
        </p:nvSpPr>
        <p:spPr bwMode="auto">
          <a:xfrm>
            <a:off x="1430338" y="4902200"/>
            <a:ext cx="779462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2" name="Rectangle 76"/>
          <p:cNvSpPr>
            <a:spLocks noChangeArrowheads="1"/>
          </p:cNvSpPr>
          <p:nvPr/>
        </p:nvSpPr>
        <p:spPr bwMode="auto">
          <a:xfrm>
            <a:off x="2209800" y="4745038"/>
            <a:ext cx="1247775" cy="47148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/>
          </a:p>
        </p:txBody>
      </p:sp>
      <p:sp>
        <p:nvSpPr>
          <p:cNvPr id="24623" name="Text Box 77"/>
          <p:cNvSpPr txBox="1">
            <a:spLocks noChangeArrowheads="1"/>
          </p:cNvSpPr>
          <p:nvPr/>
        </p:nvSpPr>
        <p:spPr bwMode="auto">
          <a:xfrm>
            <a:off x="2209800" y="4749800"/>
            <a:ext cx="1550988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 5   </a:t>
            </a:r>
            <a:r>
              <a:rPr lang="en-US" altLang="en-US" sz="2400" b="1">
                <a:solidFill>
                  <a:srgbClr val="000000"/>
                </a:solidFill>
              </a:rPr>
              <a:t>2</a:t>
            </a:r>
            <a:endParaRPr lang="en-US" altLang="en-US" sz="2400"/>
          </a:p>
        </p:txBody>
      </p:sp>
      <p:sp>
        <p:nvSpPr>
          <p:cNvPr id="24624" name="Line 78"/>
          <p:cNvSpPr>
            <a:spLocks noChangeShapeType="1"/>
          </p:cNvSpPr>
          <p:nvPr/>
        </p:nvSpPr>
        <p:spPr bwMode="auto">
          <a:xfrm>
            <a:off x="2678113" y="4749800"/>
            <a:ext cx="0" cy="466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5" name="Line 79"/>
          <p:cNvSpPr>
            <a:spLocks noChangeShapeType="1"/>
          </p:cNvSpPr>
          <p:nvPr/>
        </p:nvSpPr>
        <p:spPr bwMode="auto">
          <a:xfrm>
            <a:off x="3144838" y="4749800"/>
            <a:ext cx="0" cy="466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6" name="Line 80"/>
          <p:cNvSpPr>
            <a:spLocks noChangeShapeType="1"/>
          </p:cNvSpPr>
          <p:nvPr/>
        </p:nvSpPr>
        <p:spPr bwMode="auto">
          <a:xfrm>
            <a:off x="3144838" y="4749800"/>
            <a:ext cx="312737" cy="469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7" name="Text Box 92"/>
          <p:cNvSpPr txBox="1">
            <a:spLocks noChangeArrowheads="1"/>
          </p:cNvSpPr>
          <p:nvPr/>
        </p:nvSpPr>
        <p:spPr bwMode="auto">
          <a:xfrm>
            <a:off x="5334000" y="4648200"/>
            <a:ext cx="33528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3300"/>
                </a:solidFill>
              </a:rPr>
              <a:t>Red font is for vertex numbers, black font is for </a:t>
            </a:r>
            <a:r>
              <a:rPr lang="en-US" altLang="en-US" sz="2400" b="1" u="sng" dirty="0">
                <a:solidFill>
                  <a:srgbClr val="FF3300"/>
                </a:solidFill>
              </a:rPr>
              <a:t>weights</a:t>
            </a:r>
            <a:r>
              <a:rPr lang="en-US" altLang="en-US" sz="2400" b="1" dirty="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24628" name="Line 51"/>
          <p:cNvSpPr>
            <a:spLocks noChangeShapeType="1"/>
          </p:cNvSpPr>
          <p:nvPr/>
        </p:nvSpPr>
        <p:spPr bwMode="auto">
          <a:xfrm>
            <a:off x="820738" y="5421313"/>
            <a:ext cx="765175" cy="739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29" name="Line 79"/>
          <p:cNvSpPr>
            <a:spLocks noChangeShapeType="1"/>
          </p:cNvSpPr>
          <p:nvPr/>
        </p:nvSpPr>
        <p:spPr bwMode="auto">
          <a:xfrm>
            <a:off x="3124200" y="3187700"/>
            <a:ext cx="0" cy="466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30" name="Line 80"/>
          <p:cNvSpPr>
            <a:spLocks noChangeShapeType="1"/>
          </p:cNvSpPr>
          <p:nvPr/>
        </p:nvSpPr>
        <p:spPr bwMode="auto">
          <a:xfrm>
            <a:off x="3124200" y="3187700"/>
            <a:ext cx="312738" cy="4699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24631" name="Line 51"/>
          <p:cNvSpPr>
            <a:spLocks noChangeShapeType="1"/>
          </p:cNvSpPr>
          <p:nvPr/>
        </p:nvSpPr>
        <p:spPr bwMode="auto">
          <a:xfrm>
            <a:off x="838200" y="3832225"/>
            <a:ext cx="765175" cy="739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2E1DF-9CF2-42F5-9A8A-3AB3A30C27E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03237"/>
            <a:ext cx="8458200" cy="7921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Adjacency Matrix vs. </a:t>
            </a:r>
            <a:br>
              <a:rPr lang="en-US" altLang="en-US" sz="4000" dirty="0"/>
            </a:br>
            <a:r>
              <a:rPr lang="en-US" altLang="en-US" sz="4000" dirty="0"/>
              <a:t>Adjacency List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u="sng" dirty="0"/>
              <a:t>speed</a:t>
            </a:r>
            <a:r>
              <a:rPr lang="en-US" altLang="en-US" dirty="0"/>
              <a:t> of the adjacency matrix or the adjacency list depends on the algorithm</a:t>
            </a:r>
          </a:p>
          <a:p>
            <a:pPr lvl="1" eaLnBrk="1" hangingPunct="1"/>
            <a:r>
              <a:rPr lang="en-US" altLang="en-US" dirty="0"/>
              <a:t>some algorithms need to know if there is a </a:t>
            </a:r>
            <a:r>
              <a:rPr lang="en-US" altLang="en-US" u="sng" dirty="0"/>
              <a:t>direct connection between two specific vertices</a:t>
            </a:r>
            <a:r>
              <a:rPr lang="en-US" altLang="en-US" dirty="0"/>
              <a:t> – the </a:t>
            </a:r>
            <a:r>
              <a:rPr lang="en-US" altLang="en-US" u="sng" dirty="0"/>
              <a:t>adjacency matrix</a:t>
            </a:r>
            <a:r>
              <a:rPr lang="en-US" altLang="en-US" dirty="0"/>
              <a:t> would be </a:t>
            </a:r>
            <a:r>
              <a:rPr lang="en-US" altLang="en-US" u="sng" dirty="0"/>
              <a:t>faster</a:t>
            </a:r>
          </a:p>
          <a:p>
            <a:pPr lvl="1" eaLnBrk="1" hangingPunct="1"/>
            <a:r>
              <a:rPr lang="en-US" altLang="en-US" dirty="0"/>
              <a:t>some algorithms are written to </a:t>
            </a:r>
            <a:r>
              <a:rPr lang="en-US" altLang="en-US" u="sng" dirty="0"/>
              <a:t>process</a:t>
            </a:r>
            <a:r>
              <a:rPr lang="en-US" altLang="en-US" dirty="0"/>
              <a:t> the linked list of an adjacency list, </a:t>
            </a:r>
            <a:r>
              <a:rPr lang="en-US" altLang="en-US" u="sng" dirty="0"/>
              <a:t>node by node</a:t>
            </a:r>
            <a:r>
              <a:rPr lang="en-US" altLang="en-US" dirty="0"/>
              <a:t> – the </a:t>
            </a:r>
            <a:r>
              <a:rPr lang="en-US" altLang="en-US" u="sng" dirty="0"/>
              <a:t>adjacency list</a:t>
            </a:r>
            <a:r>
              <a:rPr lang="en-US" altLang="en-US" dirty="0"/>
              <a:t> would be </a:t>
            </a:r>
            <a:r>
              <a:rPr lang="en-US" altLang="en-US" u="sng" dirty="0"/>
              <a:t>faster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5B8B30-16FE-45D3-A0AA-1520223E01D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Adjacency Matrix vs. </a:t>
            </a:r>
            <a:br>
              <a:rPr lang="en-US" altLang="en-US" sz="4000" dirty="0"/>
            </a:br>
            <a:r>
              <a:rPr lang="en-US" altLang="en-US" sz="4000" dirty="0"/>
              <a:t>Adjacency List (cont.)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When both seem equally fast for a certain algorithm, then we consider memory usage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 will consider the </a:t>
            </a:r>
            <a:r>
              <a:rPr lang="en-US" altLang="en-US" b="1" i="1" dirty="0">
                <a:solidFill>
                  <a:srgbClr val="0066FF"/>
                </a:solidFill>
              </a:rPr>
              <a:t>space complexity</a:t>
            </a:r>
            <a:r>
              <a:rPr lang="en-US" altLang="en-US" dirty="0"/>
              <a:t> of each implementation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Space complexities are like time complexities, but they tell us the effects on </a:t>
            </a:r>
            <a:r>
              <a:rPr lang="en-US" altLang="en-US" u="sng" dirty="0"/>
              <a:t>memory space usage</a:t>
            </a:r>
            <a:r>
              <a:rPr lang="en-US" altLang="en-US" dirty="0"/>
              <a:t> as the problem size is varied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2A62A-55D1-49EF-83DB-24E2B941195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038600"/>
          </a:xfrm>
        </p:spPr>
        <p:txBody>
          <a:bodyPr/>
          <a:lstStyle/>
          <a:p>
            <a:pPr eaLnBrk="1" hangingPunct="1"/>
            <a:r>
              <a:rPr lang="en-US" altLang="en-US" dirty="0"/>
              <a:t>An array of vertex is used for both implementations, which is </a:t>
            </a:r>
            <a:r>
              <a:rPr lang="en-US" altLang="en-US" dirty="0">
                <a:sym typeface="Symbol" panose="05050102010706020507" pitchFamily="18" charset="2"/>
              </a:rPr>
              <a:t>( n )</a:t>
            </a:r>
          </a:p>
          <a:p>
            <a:pPr eaLnBrk="1" hangingPunct="1"/>
            <a:r>
              <a:rPr lang="en-US" altLang="en-US" dirty="0"/>
              <a:t>In the </a:t>
            </a:r>
            <a:r>
              <a:rPr lang="en-US" altLang="en-US" u="sng" dirty="0"/>
              <a:t>adjacency matrix</a:t>
            </a:r>
            <a:r>
              <a:rPr lang="en-US" altLang="en-US" dirty="0"/>
              <a:t>, </a:t>
            </a:r>
            <a:r>
              <a:rPr lang="en-US" altLang="en-US" u="sng" dirty="0"/>
              <a:t>each dimension is n</a:t>
            </a:r>
            <a:r>
              <a:rPr lang="en-US" altLang="en-US" dirty="0"/>
              <a:t>, so the </a:t>
            </a:r>
            <a:r>
              <a:rPr lang="en-US" altLang="en-US" u="sng" dirty="0"/>
              <a:t>spatial complexity</a:t>
            </a:r>
            <a:r>
              <a:rPr lang="en-US" altLang="en-US" dirty="0"/>
              <a:t> is </a:t>
            </a:r>
            <a:r>
              <a:rPr lang="en-US" altLang="en-US" u="sng" dirty="0">
                <a:sym typeface="Symbol" panose="05050102010706020507" pitchFamily="18" charset="2"/>
              </a:rPr>
              <a:t>( n</a:t>
            </a:r>
            <a:r>
              <a:rPr lang="en-US" altLang="en-US" u="sng" baseline="30000" dirty="0">
                <a:sym typeface="Symbol" panose="05050102010706020507" pitchFamily="18" charset="2"/>
              </a:rPr>
              <a:t>2</a:t>
            </a:r>
            <a:r>
              <a:rPr lang="en-US" altLang="en-US" u="sng" dirty="0">
                <a:sym typeface="Symbol" panose="05050102010706020507" pitchFamily="18" charset="2"/>
              </a:rPr>
              <a:t> 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sz="4000" dirty="0"/>
              <a:t>Adjacency Matrix vs. </a:t>
            </a:r>
            <a:br>
              <a:rPr lang="en-US" altLang="en-US" sz="4000" dirty="0"/>
            </a:br>
            <a:r>
              <a:rPr lang="en-US" altLang="en-US" sz="4000" dirty="0"/>
              <a:t>Adjacency List (cont.)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C311AA-00B9-43DA-A0C7-9577FA86004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229600" cy="4740275"/>
          </a:xfrm>
        </p:spPr>
        <p:txBody>
          <a:bodyPr/>
          <a:lstStyle/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In the adjacency list, there are n elements (vertices) in the array, giving a spatial complexity of ( n ) for the array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Each edge corresponds to a linked list node in the adjacency list</a:t>
            </a:r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Hence, the spatial complexity is O(n + m) where m is the total edges.</a:t>
            </a:r>
          </a:p>
          <a:p>
            <a:pPr eaLnBrk="1" hangingPunct="1"/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28676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sz="4000" dirty="0"/>
              <a:t>Adjacency Matrix vs. </a:t>
            </a:r>
            <a:br>
              <a:rPr lang="en-US" altLang="en-US" sz="4000" dirty="0"/>
            </a:br>
            <a:r>
              <a:rPr lang="en-US" altLang="en-US" sz="4000" dirty="0"/>
              <a:t>Adjacency List (cont.)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B9ACD7-5D5B-4572-BBB1-7237AA84158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The spatial complexity of the </a:t>
            </a:r>
            <a:r>
              <a:rPr lang="en-US" altLang="en-US" sz="2800" u="sng" dirty="0">
                <a:sym typeface="Symbol" panose="05050102010706020507" pitchFamily="18" charset="2"/>
              </a:rPr>
              <a:t>adjacency list</a:t>
            </a:r>
            <a:r>
              <a:rPr lang="en-US" altLang="en-US" sz="2800" dirty="0">
                <a:sym typeface="Symbol" panose="05050102010706020507" pitchFamily="18" charset="2"/>
              </a:rPr>
              <a:t> really depends on whether the graph is </a:t>
            </a:r>
            <a:r>
              <a:rPr lang="en-US" altLang="en-US" sz="2800" b="1" i="1" dirty="0">
                <a:solidFill>
                  <a:srgbClr val="0066FF"/>
                </a:solidFill>
                <a:sym typeface="Symbol" panose="05050102010706020507" pitchFamily="18" charset="2"/>
              </a:rPr>
              <a:t>sparse</a:t>
            </a:r>
            <a:r>
              <a:rPr lang="en-US" altLang="en-US" sz="2800" b="1" i="1" dirty="0"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or </a:t>
            </a:r>
            <a:r>
              <a:rPr lang="en-US" altLang="en-US" sz="2800" b="1" i="1" dirty="0">
                <a:solidFill>
                  <a:srgbClr val="0066FF"/>
                </a:solidFill>
                <a:sym typeface="Symbol" panose="05050102010706020507" pitchFamily="18" charset="2"/>
              </a:rPr>
              <a:t>dense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A </a:t>
            </a:r>
            <a:r>
              <a:rPr lang="en-US" altLang="en-US" sz="2800" u="sng" dirty="0">
                <a:sym typeface="Symbol" panose="05050102010706020507" pitchFamily="18" charset="2"/>
              </a:rPr>
              <a:t>sparse</a:t>
            </a:r>
            <a:r>
              <a:rPr lang="en-US" altLang="en-US" sz="2800" dirty="0">
                <a:sym typeface="Symbol" panose="05050102010706020507" pitchFamily="18" charset="2"/>
              </a:rPr>
              <a:t> graph does </a:t>
            </a:r>
            <a:r>
              <a:rPr lang="en-US" altLang="en-US" sz="2800" u="sng" dirty="0">
                <a:sym typeface="Symbol" panose="05050102010706020507" pitchFamily="18" charset="2"/>
              </a:rPr>
              <a:t>not</a:t>
            </a:r>
            <a:r>
              <a:rPr lang="en-US" altLang="en-US" sz="2800" dirty="0">
                <a:sym typeface="Symbol" panose="05050102010706020507" pitchFamily="18" charset="2"/>
              </a:rPr>
              <a:t> have that </a:t>
            </a:r>
            <a:r>
              <a:rPr lang="en-US" altLang="en-US" sz="2800" u="sng" dirty="0">
                <a:sym typeface="Symbol" panose="05050102010706020507" pitchFamily="18" charset="2"/>
              </a:rPr>
              <a:t>many edges</a:t>
            </a:r>
            <a:r>
              <a:rPr lang="en-US" altLang="en-US" sz="2800" dirty="0">
                <a:sym typeface="Symbol" panose="05050102010706020507" pitchFamily="18" charset="2"/>
              </a:rPr>
              <a:t> relative to the number of vertices – if m is less than or equal to n, then the </a:t>
            </a:r>
            <a:r>
              <a:rPr lang="en-US" altLang="en-US" sz="2800" u="sng" dirty="0">
                <a:sym typeface="Symbol" panose="05050102010706020507" pitchFamily="18" charset="2"/>
              </a:rPr>
              <a:t>spatial</a:t>
            </a:r>
            <a:r>
              <a:rPr lang="en-US" altLang="en-US" sz="2800" dirty="0">
                <a:sym typeface="Symbol" panose="05050102010706020507" pitchFamily="18" charset="2"/>
              </a:rPr>
              <a:t> complexity of the </a:t>
            </a:r>
            <a:r>
              <a:rPr lang="en-US" altLang="en-US" sz="2800" u="sng" dirty="0">
                <a:sym typeface="Symbol" panose="05050102010706020507" pitchFamily="18" charset="2"/>
              </a:rPr>
              <a:t>adjacency list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u="sng" dirty="0">
                <a:sym typeface="Symbol" panose="05050102010706020507" pitchFamily="18" charset="2"/>
              </a:rPr>
              <a:t>( n 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ym typeface="Symbol" panose="05050102010706020507" pitchFamily="18" charset="2"/>
              </a:rPr>
              <a:t>In a </a:t>
            </a:r>
            <a:r>
              <a:rPr lang="en-US" altLang="en-US" sz="2800" u="sng" dirty="0">
                <a:sym typeface="Symbol" panose="05050102010706020507" pitchFamily="18" charset="2"/>
              </a:rPr>
              <a:t>dense</a:t>
            </a:r>
            <a:r>
              <a:rPr lang="en-US" altLang="en-US" sz="2800" dirty="0">
                <a:sym typeface="Symbol" panose="05050102010706020507" pitchFamily="18" charset="2"/>
              </a:rPr>
              <a:t> graph</a:t>
            </a:r>
            <a:r>
              <a:rPr lang="en-US" altLang="en-US" sz="2800">
                <a:sym typeface="Symbol" panose="05050102010706020507" pitchFamily="18" charset="2"/>
              </a:rPr>
              <a:t>, m may </a:t>
            </a:r>
            <a:r>
              <a:rPr lang="en-US" altLang="en-US" sz="2800" dirty="0">
                <a:sym typeface="Symbol" panose="05050102010706020507" pitchFamily="18" charset="2"/>
              </a:rPr>
              <a:t>be </a:t>
            </a:r>
            <a:r>
              <a:rPr lang="en-US" altLang="en-US" sz="2800" u="sng" dirty="0">
                <a:sym typeface="Symbol" panose="05050102010706020507" pitchFamily="18" charset="2"/>
              </a:rPr>
              <a:t>close to n</a:t>
            </a:r>
            <a:r>
              <a:rPr lang="en-US" altLang="en-US" sz="2800" u="sng" baseline="30000" dirty="0">
                <a:sym typeface="Symbol" panose="05050102010706020507" pitchFamily="18" charset="2"/>
              </a:rPr>
              <a:t>2</a:t>
            </a:r>
            <a:r>
              <a:rPr lang="en-US" altLang="en-US" sz="2800" u="sng" dirty="0">
                <a:sym typeface="Symbol" panose="05050102010706020507" pitchFamily="18" charset="2"/>
              </a:rPr>
              <a:t> edges</a:t>
            </a:r>
            <a:r>
              <a:rPr lang="en-US" altLang="en-US" sz="2800" dirty="0">
                <a:sym typeface="Symbol" panose="05050102010706020507" pitchFamily="18" charset="2"/>
              </a:rPr>
              <a:t>, and then the spatial complexity of the </a:t>
            </a:r>
            <a:r>
              <a:rPr lang="en-US" altLang="en-US" sz="2800" u="sng" dirty="0">
                <a:sym typeface="Symbol" panose="05050102010706020507" pitchFamily="18" charset="2"/>
              </a:rPr>
              <a:t>adjacency list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u="sng" dirty="0">
                <a:sym typeface="Symbol" panose="05050102010706020507" pitchFamily="18" charset="2"/>
              </a:rPr>
              <a:t>( n</a:t>
            </a:r>
            <a:r>
              <a:rPr lang="en-US" altLang="en-US" sz="2800" u="sng" baseline="30000" dirty="0">
                <a:sym typeface="Symbol" panose="05050102010706020507" pitchFamily="18" charset="2"/>
              </a:rPr>
              <a:t>2</a:t>
            </a:r>
            <a:r>
              <a:rPr lang="en-US" altLang="en-US" sz="2800" u="sng" dirty="0">
                <a:sym typeface="Symbol" panose="05050102010706020507" pitchFamily="18" charset="2"/>
              </a:rPr>
              <a:t> )</a:t>
            </a:r>
            <a:r>
              <a:rPr lang="en-US" altLang="en-US" sz="2800" dirty="0">
                <a:sym typeface="Symbol" panose="05050102010706020507" pitchFamily="18" charset="2"/>
              </a:rPr>
              <a:t>, the same as that for the </a:t>
            </a:r>
            <a:r>
              <a:rPr lang="en-US" altLang="en-US" sz="2800">
                <a:sym typeface="Symbol" panose="05050102010706020507" pitchFamily="18" charset="2"/>
              </a:rPr>
              <a:t>adjacency matrix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sz="4000"/>
              <a:t>Adjacency Matrix vs. </a:t>
            </a:r>
            <a:br>
              <a:rPr lang="en-US" altLang="en-US" sz="4000"/>
            </a:br>
            <a:r>
              <a:rPr lang="en-US" altLang="en-US" sz="4000"/>
              <a:t>Adjacency List (cont.)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1574</Words>
  <Application>Microsoft Office PowerPoint</Application>
  <PresentationFormat>On-screen Show (4:3)</PresentationFormat>
  <Paragraphs>589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Symbol</vt:lpstr>
      <vt:lpstr>Default Design</vt:lpstr>
      <vt:lpstr>PowerPoint Presentation</vt:lpstr>
      <vt:lpstr>Graphs</vt:lpstr>
      <vt:lpstr>A Directed Graph (Digraph)</vt:lpstr>
      <vt:lpstr>An Undirected Graph</vt:lpstr>
      <vt:lpstr>Undirected Weighted Graph</vt:lpstr>
      <vt:lpstr>Graph Implementation</vt:lpstr>
      <vt:lpstr>Adjacency Matrix</vt:lpstr>
      <vt:lpstr>Undirected Weighted Graph</vt:lpstr>
      <vt:lpstr>Adjacency Matrix (cont.)</vt:lpstr>
      <vt:lpstr>Adjacency Matrix (cont.)</vt:lpstr>
      <vt:lpstr>Adjacency Matrix (cont.)</vt:lpstr>
      <vt:lpstr>Directed Weighted Graph</vt:lpstr>
      <vt:lpstr>Adjacency Matrix (cont.)</vt:lpstr>
      <vt:lpstr>Adjacency Matrix (cont.)</vt:lpstr>
      <vt:lpstr>Adjacency List</vt:lpstr>
      <vt:lpstr>Adjacency List (cont.)</vt:lpstr>
      <vt:lpstr>Adjacency List (cont.)</vt:lpstr>
      <vt:lpstr>Adjacency List for  Directed Weighted Graph</vt:lpstr>
      <vt:lpstr>Adjacency Matrix vs.  Adjacency List</vt:lpstr>
      <vt:lpstr>Adjacency Matrix vs.  Adjacency List (cont.)</vt:lpstr>
      <vt:lpstr>Adjacency Matrix vs.  Adjacency List (cont.)</vt:lpstr>
      <vt:lpstr>Adjacency Matrix vs.  Adjacency List (cont.)</vt:lpstr>
      <vt:lpstr>Adjacency Matrix vs.  Adjacency List (cont.)</vt:lpstr>
    </vt:vector>
  </TitlesOfParts>
  <Company>Clarion University of 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Other Data Structures</dc:subject>
  <dc:creator>Jeffrey S. Childs</dc:creator>
  <cp:lastModifiedBy>Neoh Kee Lin</cp:lastModifiedBy>
  <cp:revision>81</cp:revision>
  <dcterms:created xsi:type="dcterms:W3CDTF">2006-01-29T18:17:27Z</dcterms:created>
  <dcterms:modified xsi:type="dcterms:W3CDTF">2025-01-12T13:21:39Z</dcterms:modified>
</cp:coreProperties>
</file>