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371" r:id="rId4"/>
    <p:sldId id="390" r:id="rId5"/>
    <p:sldId id="401" r:id="rId6"/>
    <p:sldId id="402" r:id="rId7"/>
    <p:sldId id="391" r:id="rId8"/>
    <p:sldId id="392" r:id="rId9"/>
    <p:sldId id="393" r:id="rId10"/>
    <p:sldId id="394" r:id="rId11"/>
    <p:sldId id="403" r:id="rId12"/>
    <p:sldId id="404" r:id="rId13"/>
    <p:sldId id="405" r:id="rId14"/>
    <p:sldId id="395" r:id="rId15"/>
    <p:sldId id="396" r:id="rId16"/>
    <p:sldId id="399" r:id="rId17"/>
    <p:sldId id="397" r:id="rId18"/>
    <p:sldId id="400" r:id="rId19"/>
    <p:sldId id="398" r:id="rId20"/>
    <p:sldId id="408" r:id="rId21"/>
    <p:sldId id="420" r:id="rId22"/>
    <p:sldId id="416" r:id="rId23"/>
    <p:sldId id="421" r:id="rId24"/>
    <p:sldId id="423" r:id="rId25"/>
    <p:sldId id="418" r:id="rId26"/>
    <p:sldId id="419" r:id="rId27"/>
    <p:sldId id="422" r:id="rId2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74F6"/>
    <a:srgbClr val="6289F8"/>
    <a:srgbClr val="8097F8"/>
    <a:srgbClr val="2C61F6"/>
    <a:srgbClr val="F8F0D0"/>
    <a:srgbClr val="F2E4AA"/>
    <a:srgbClr val="00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2" autoAdjust="0"/>
    <p:restoredTop sz="94676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6.xml"/><Relationship Id="rId13" Type="http://schemas.openxmlformats.org/officeDocument/2006/relationships/slide" Target="slides/slide22.xml"/><Relationship Id="rId3" Type="http://schemas.openxmlformats.org/officeDocument/2006/relationships/slide" Target="slides/slide4.xml"/><Relationship Id="rId7" Type="http://schemas.openxmlformats.org/officeDocument/2006/relationships/slide" Target="slides/slide15.xml"/><Relationship Id="rId12" Type="http://schemas.openxmlformats.org/officeDocument/2006/relationships/slide" Target="slides/slide21.xml"/><Relationship Id="rId2" Type="http://schemas.openxmlformats.org/officeDocument/2006/relationships/slide" Target="slides/slide3.xml"/><Relationship Id="rId16" Type="http://schemas.openxmlformats.org/officeDocument/2006/relationships/slide" Target="slides/slide25.xml"/><Relationship Id="rId1" Type="http://schemas.openxmlformats.org/officeDocument/2006/relationships/slide" Target="slides/slide2.xml"/><Relationship Id="rId6" Type="http://schemas.openxmlformats.org/officeDocument/2006/relationships/slide" Target="slides/slide14.xml"/><Relationship Id="rId11" Type="http://schemas.openxmlformats.org/officeDocument/2006/relationships/slide" Target="slides/slide20.xml"/><Relationship Id="rId5" Type="http://schemas.openxmlformats.org/officeDocument/2006/relationships/slide" Target="slides/slide8.xml"/><Relationship Id="rId15" Type="http://schemas.openxmlformats.org/officeDocument/2006/relationships/slide" Target="slides/slide24.xml"/><Relationship Id="rId10" Type="http://schemas.openxmlformats.org/officeDocument/2006/relationships/slide" Target="slides/slide18.xml"/><Relationship Id="rId4" Type="http://schemas.openxmlformats.org/officeDocument/2006/relationships/slide" Target="slides/slide7.xml"/><Relationship Id="rId9" Type="http://schemas.openxmlformats.org/officeDocument/2006/relationships/slide" Target="slides/slide17.xml"/><Relationship Id="rId14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572BFB9D-B89F-40E3-B99B-4D650AFD7F83}"/>
    <pc:docChg chg="modSld">
      <pc:chgData name="Neoh Kee Lin" userId="9e68bd29-1eeb-4ae3-beb9-48fd59e465e5" providerId="ADAL" clId="{572BFB9D-B89F-40E3-B99B-4D650AFD7F83}" dt="2025-01-05T05:46:00.085" v="3" actId="14100"/>
      <pc:docMkLst>
        <pc:docMk/>
      </pc:docMkLst>
      <pc:sldChg chg="modSp mod">
        <pc:chgData name="Neoh Kee Lin" userId="9e68bd29-1eeb-4ae3-beb9-48fd59e465e5" providerId="ADAL" clId="{572BFB9D-B89F-40E3-B99B-4D650AFD7F83}" dt="2025-01-05T05:46:00.085" v="3" actId="14100"/>
        <pc:sldMkLst>
          <pc:docMk/>
          <pc:sldMk cId="0" sldId="402"/>
        </pc:sldMkLst>
        <pc:spChg chg="mod">
          <ac:chgData name="Neoh Kee Lin" userId="9e68bd29-1eeb-4ae3-beb9-48fd59e465e5" providerId="ADAL" clId="{572BFB9D-B89F-40E3-B99B-4D650AFD7F83}" dt="2025-01-05T05:46:00.085" v="3" actId="14100"/>
          <ac:spMkLst>
            <pc:docMk/>
            <pc:sldMk cId="0" sldId="402"/>
            <ac:spMk id="18436" creationId="{00000000-0000-0000-0000-000000000000}"/>
          </ac:spMkLst>
        </pc:spChg>
      </pc:sldChg>
    </pc:docChg>
  </pc:docChgLst>
  <pc:docChgLst>
    <pc:chgData name="Neoh Kee Lin" userId="9e68bd29-1eeb-4ae3-beb9-48fd59e465e5" providerId="ADAL" clId="{6CB70FF8-2144-4561-AFD4-05D90EC7553C}"/>
    <pc:docChg chg="undo custSel modSld">
      <pc:chgData name="Neoh Kee Lin" userId="9e68bd29-1eeb-4ae3-beb9-48fd59e465e5" providerId="ADAL" clId="{6CB70FF8-2144-4561-AFD4-05D90EC7553C}" dt="2025-01-20T08:39:47.034" v="136" actId="115"/>
      <pc:docMkLst>
        <pc:docMk/>
      </pc:docMkLst>
      <pc:sldChg chg="modSp mod">
        <pc:chgData name="Neoh Kee Lin" userId="9e68bd29-1eeb-4ae3-beb9-48fd59e465e5" providerId="ADAL" clId="{6CB70FF8-2144-4561-AFD4-05D90EC7553C}" dt="2025-01-20T08:23:05.878" v="2" actId="6549"/>
        <pc:sldMkLst>
          <pc:docMk/>
          <pc:sldMk cId="0" sldId="257"/>
        </pc:sldMkLst>
        <pc:spChg chg="mod">
          <ac:chgData name="Neoh Kee Lin" userId="9e68bd29-1eeb-4ae3-beb9-48fd59e465e5" providerId="ADAL" clId="{6CB70FF8-2144-4561-AFD4-05D90EC7553C}" dt="2025-01-20T08:23:05.878" v="2" actId="6549"/>
          <ac:spMkLst>
            <pc:docMk/>
            <pc:sldMk cId="0" sldId="257"/>
            <ac:spMk id="14340" creationId="{00000000-0000-0000-0000-000000000000}"/>
          </ac:spMkLst>
        </pc:spChg>
      </pc:sldChg>
      <pc:sldChg chg="modSp mod">
        <pc:chgData name="Neoh Kee Lin" userId="9e68bd29-1eeb-4ae3-beb9-48fd59e465e5" providerId="ADAL" clId="{6CB70FF8-2144-4561-AFD4-05D90EC7553C}" dt="2025-01-20T08:31:18.496" v="128" actId="115"/>
        <pc:sldMkLst>
          <pc:docMk/>
          <pc:sldMk cId="0" sldId="399"/>
        </pc:sldMkLst>
        <pc:spChg chg="mod">
          <ac:chgData name="Neoh Kee Lin" userId="9e68bd29-1eeb-4ae3-beb9-48fd59e465e5" providerId="ADAL" clId="{6CB70FF8-2144-4561-AFD4-05D90EC7553C}" dt="2025-01-20T08:31:18.496" v="128" actId="115"/>
          <ac:spMkLst>
            <pc:docMk/>
            <pc:sldMk cId="0" sldId="399"/>
            <ac:spMk id="28676" creationId="{00000000-0000-0000-0000-000000000000}"/>
          </ac:spMkLst>
        </pc:spChg>
      </pc:sldChg>
      <pc:sldChg chg="modSp mod">
        <pc:chgData name="Neoh Kee Lin" userId="9e68bd29-1eeb-4ae3-beb9-48fd59e465e5" providerId="ADAL" clId="{6CB70FF8-2144-4561-AFD4-05D90EC7553C}" dt="2025-01-20T08:30:13.025" v="122" actId="6549"/>
        <pc:sldMkLst>
          <pc:docMk/>
          <pc:sldMk cId="0" sldId="403"/>
        </pc:sldMkLst>
        <pc:spChg chg="mod">
          <ac:chgData name="Neoh Kee Lin" userId="9e68bd29-1eeb-4ae3-beb9-48fd59e465e5" providerId="ADAL" clId="{6CB70FF8-2144-4561-AFD4-05D90EC7553C}" dt="2025-01-20T08:30:13.025" v="122" actId="6549"/>
          <ac:spMkLst>
            <pc:docMk/>
            <pc:sldMk cId="0" sldId="403"/>
            <ac:spMk id="23556" creationId="{00000000-0000-0000-0000-000000000000}"/>
          </ac:spMkLst>
        </pc:spChg>
      </pc:sldChg>
      <pc:sldChg chg="modSp mod">
        <pc:chgData name="Neoh Kee Lin" userId="9e68bd29-1eeb-4ae3-beb9-48fd59e465e5" providerId="ADAL" clId="{6CB70FF8-2144-4561-AFD4-05D90EC7553C}" dt="2025-01-20T08:30:38.384" v="126" actId="114"/>
        <pc:sldMkLst>
          <pc:docMk/>
          <pc:sldMk cId="0" sldId="404"/>
        </pc:sldMkLst>
        <pc:spChg chg="mod">
          <ac:chgData name="Neoh Kee Lin" userId="9e68bd29-1eeb-4ae3-beb9-48fd59e465e5" providerId="ADAL" clId="{6CB70FF8-2144-4561-AFD4-05D90EC7553C}" dt="2025-01-20T08:30:38.384" v="126" actId="114"/>
          <ac:spMkLst>
            <pc:docMk/>
            <pc:sldMk cId="0" sldId="404"/>
            <ac:spMk id="24580" creationId="{00000000-0000-0000-0000-000000000000}"/>
          </ac:spMkLst>
        </pc:spChg>
      </pc:sldChg>
      <pc:sldChg chg="modSp mod">
        <pc:chgData name="Neoh Kee Lin" userId="9e68bd29-1eeb-4ae3-beb9-48fd59e465e5" providerId="ADAL" clId="{6CB70FF8-2144-4561-AFD4-05D90EC7553C}" dt="2025-01-20T08:38:28.174" v="130" actId="20577"/>
        <pc:sldMkLst>
          <pc:docMk/>
          <pc:sldMk cId="0" sldId="418"/>
        </pc:sldMkLst>
        <pc:spChg chg="mod">
          <ac:chgData name="Neoh Kee Lin" userId="9e68bd29-1eeb-4ae3-beb9-48fd59e465e5" providerId="ADAL" clId="{6CB70FF8-2144-4561-AFD4-05D90EC7553C}" dt="2025-01-20T08:38:28.174" v="130" actId="20577"/>
          <ac:spMkLst>
            <pc:docMk/>
            <pc:sldMk cId="0" sldId="418"/>
            <ac:spMk id="37893" creationId="{00000000-0000-0000-0000-000000000000}"/>
          </ac:spMkLst>
        </pc:spChg>
      </pc:sldChg>
      <pc:sldChg chg="modSp mod">
        <pc:chgData name="Neoh Kee Lin" userId="9e68bd29-1eeb-4ae3-beb9-48fd59e465e5" providerId="ADAL" clId="{6CB70FF8-2144-4561-AFD4-05D90EC7553C}" dt="2025-01-20T08:38:05.668" v="129" actId="113"/>
        <pc:sldMkLst>
          <pc:docMk/>
          <pc:sldMk cId="0" sldId="421"/>
        </pc:sldMkLst>
        <pc:spChg chg="mod">
          <ac:chgData name="Neoh Kee Lin" userId="9e68bd29-1eeb-4ae3-beb9-48fd59e465e5" providerId="ADAL" clId="{6CB70FF8-2144-4561-AFD4-05D90EC7553C}" dt="2025-01-20T08:38:05.668" v="129" actId="113"/>
          <ac:spMkLst>
            <pc:docMk/>
            <pc:sldMk cId="0" sldId="421"/>
            <ac:spMk id="35844" creationId="{00000000-0000-0000-0000-000000000000}"/>
          </ac:spMkLst>
        </pc:spChg>
      </pc:sldChg>
      <pc:sldChg chg="modSp mod">
        <pc:chgData name="Neoh Kee Lin" userId="9e68bd29-1eeb-4ae3-beb9-48fd59e465e5" providerId="ADAL" clId="{6CB70FF8-2144-4561-AFD4-05D90EC7553C}" dt="2025-01-20T08:39:47.034" v="136" actId="115"/>
        <pc:sldMkLst>
          <pc:docMk/>
          <pc:sldMk cId="0" sldId="422"/>
        </pc:sldMkLst>
        <pc:spChg chg="mod">
          <ac:chgData name="Neoh Kee Lin" userId="9e68bd29-1eeb-4ae3-beb9-48fd59e465e5" providerId="ADAL" clId="{6CB70FF8-2144-4561-AFD4-05D90EC7553C}" dt="2025-01-20T08:39:47.034" v="136" actId="115"/>
          <ac:spMkLst>
            <pc:docMk/>
            <pc:sldMk cId="0" sldId="422"/>
            <ac:spMk id="39979" creationId="{00000000-0000-0000-0000-000000000000}"/>
          </ac:spMkLst>
        </pc:spChg>
      </pc:sldChg>
    </pc:docChg>
  </pc:docChgLst>
  <pc:docChgLst>
    <pc:chgData name="Neoh Kee Lin" userId="9e68bd29-1eeb-4ae3-beb9-48fd59e465e5" providerId="ADAL" clId="{C4AEFD9F-D379-4F1B-98F6-EDCE1AAE30E3}"/>
    <pc:docChg chg="undo custSel addSld delSld modSld">
      <pc:chgData name="Neoh Kee Lin" userId="9e68bd29-1eeb-4ae3-beb9-48fd59e465e5" providerId="ADAL" clId="{C4AEFD9F-D379-4F1B-98F6-EDCE1AAE30E3}" dt="2022-12-22T17:20:01.786" v="642" actId="6549"/>
      <pc:docMkLst>
        <pc:docMk/>
      </pc:docMkLst>
      <pc:sldChg chg="modSp mod">
        <pc:chgData name="Neoh Kee Lin" userId="9e68bd29-1eeb-4ae3-beb9-48fd59e465e5" providerId="ADAL" clId="{C4AEFD9F-D379-4F1B-98F6-EDCE1AAE30E3}" dt="2022-12-22T16:31:06.550" v="1" actId="6549"/>
        <pc:sldMkLst>
          <pc:docMk/>
          <pc:sldMk cId="0" sldId="390"/>
        </pc:sldMkLst>
      </pc:sldChg>
      <pc:sldChg chg="addSp delSp modSp mod">
        <pc:chgData name="Neoh Kee Lin" userId="9e68bd29-1eeb-4ae3-beb9-48fd59e465e5" providerId="ADAL" clId="{C4AEFD9F-D379-4F1B-98F6-EDCE1AAE30E3}" dt="2022-12-22T17:12:46.442" v="451" actId="20577"/>
        <pc:sldMkLst>
          <pc:docMk/>
          <pc:sldMk cId="0" sldId="416"/>
        </pc:sldMkLst>
      </pc:sldChg>
      <pc:sldChg chg="addSp delSp modSp del mod">
        <pc:chgData name="Neoh Kee Lin" userId="9e68bd29-1eeb-4ae3-beb9-48fd59e465e5" providerId="ADAL" clId="{C4AEFD9F-D379-4F1B-98F6-EDCE1AAE30E3}" dt="2022-12-22T17:09:52.802" v="418" actId="47"/>
        <pc:sldMkLst>
          <pc:docMk/>
          <pc:sldMk cId="0" sldId="417"/>
        </pc:sldMkLst>
      </pc:sldChg>
      <pc:sldChg chg="modSp mod">
        <pc:chgData name="Neoh Kee Lin" userId="9e68bd29-1eeb-4ae3-beb9-48fd59e465e5" providerId="ADAL" clId="{C4AEFD9F-D379-4F1B-98F6-EDCE1AAE30E3}" dt="2022-12-22T16:39:27.699" v="39" actId="1035"/>
        <pc:sldMkLst>
          <pc:docMk/>
          <pc:sldMk cId="0" sldId="418"/>
        </pc:sldMkLst>
      </pc:sldChg>
      <pc:sldChg chg="modSp">
        <pc:chgData name="Neoh Kee Lin" userId="9e68bd29-1eeb-4ae3-beb9-48fd59e465e5" providerId="ADAL" clId="{C4AEFD9F-D379-4F1B-98F6-EDCE1AAE30E3}" dt="2022-12-22T16:38:24.281" v="19" actId="1035"/>
        <pc:sldMkLst>
          <pc:docMk/>
          <pc:sldMk cId="0" sldId="419"/>
        </pc:sldMkLst>
      </pc:sldChg>
      <pc:sldChg chg="modSp mod">
        <pc:chgData name="Neoh Kee Lin" userId="9e68bd29-1eeb-4ae3-beb9-48fd59e465e5" providerId="ADAL" clId="{C4AEFD9F-D379-4F1B-98F6-EDCE1AAE30E3}" dt="2022-12-22T17:11:28.633" v="428" actId="20577"/>
        <pc:sldMkLst>
          <pc:docMk/>
          <pc:sldMk cId="0" sldId="420"/>
        </pc:sldMkLst>
      </pc:sldChg>
      <pc:sldChg chg="addSp delSp modSp mod">
        <pc:chgData name="Neoh Kee Lin" userId="9e68bd29-1eeb-4ae3-beb9-48fd59e465e5" providerId="ADAL" clId="{C4AEFD9F-D379-4F1B-98F6-EDCE1AAE30E3}" dt="2022-12-22T17:20:01.786" v="642" actId="6549"/>
        <pc:sldMkLst>
          <pc:docMk/>
          <pc:sldMk cId="0" sldId="421"/>
        </pc:sldMkLst>
      </pc:sldChg>
      <pc:sldChg chg="addSp delSp modSp mod">
        <pc:chgData name="Neoh Kee Lin" userId="9e68bd29-1eeb-4ae3-beb9-48fd59e465e5" providerId="ADAL" clId="{C4AEFD9F-D379-4F1B-98F6-EDCE1AAE30E3}" dt="2022-12-22T17:16:52.298" v="480" actId="115"/>
        <pc:sldMkLst>
          <pc:docMk/>
          <pc:sldMk cId="0" sldId="422"/>
        </pc:sldMkLst>
      </pc:sldChg>
      <pc:sldChg chg="modSp add mod">
        <pc:chgData name="Neoh Kee Lin" userId="9e68bd29-1eeb-4ae3-beb9-48fd59e465e5" providerId="ADAL" clId="{C4AEFD9F-D379-4F1B-98F6-EDCE1AAE30E3}" dt="2022-12-22T17:16:14.826" v="479" actId="6549"/>
        <pc:sldMkLst>
          <pc:docMk/>
          <pc:sldMk cId="998539203" sldId="423"/>
        </pc:sldMkLst>
      </pc:sldChg>
    </pc:docChg>
  </pc:docChgLst>
  <pc:docChgLst>
    <pc:chgData name="Neoh Kee Lin" userId="9e68bd29-1eeb-4ae3-beb9-48fd59e465e5" providerId="ADAL" clId="{B89B8F77-CD3D-49CC-8A4B-541C88B40007}"/>
    <pc:docChg chg="undo custSel modSld">
      <pc:chgData name="Neoh Kee Lin" userId="9e68bd29-1eeb-4ae3-beb9-48fd59e465e5" providerId="ADAL" clId="{B89B8F77-CD3D-49CC-8A4B-541C88B40007}" dt="2023-01-18T17:20:43.249" v="24" actId="1036"/>
      <pc:docMkLst>
        <pc:docMk/>
      </pc:docMkLst>
      <pc:sldChg chg="modSp mod">
        <pc:chgData name="Neoh Kee Lin" userId="9e68bd29-1eeb-4ae3-beb9-48fd59e465e5" providerId="ADAL" clId="{B89B8F77-CD3D-49CC-8A4B-541C88B40007}" dt="2023-01-18T17:02:08.574" v="20" actId="20577"/>
        <pc:sldMkLst>
          <pc:docMk/>
          <pc:sldMk cId="0" sldId="391"/>
        </pc:sldMkLst>
      </pc:sldChg>
      <pc:sldChg chg="modSp">
        <pc:chgData name="Neoh Kee Lin" userId="9e68bd29-1eeb-4ae3-beb9-48fd59e465e5" providerId="ADAL" clId="{B89B8F77-CD3D-49CC-8A4B-541C88B40007}" dt="2023-01-18T17:17:00.640" v="22" actId="1036"/>
        <pc:sldMkLst>
          <pc:docMk/>
          <pc:sldMk cId="0" sldId="394"/>
        </pc:sldMkLst>
      </pc:sldChg>
      <pc:sldChg chg="modSp">
        <pc:chgData name="Neoh Kee Lin" userId="9e68bd29-1eeb-4ae3-beb9-48fd59e465e5" providerId="ADAL" clId="{B89B8F77-CD3D-49CC-8A4B-541C88B40007}" dt="2023-01-18T17:20:43.249" v="24" actId="1036"/>
        <pc:sldMkLst>
          <pc:docMk/>
          <pc:sldMk cId="0" sldId="400"/>
        </pc:sldMkLst>
      </pc:sldChg>
      <pc:sldChg chg="modSp mod">
        <pc:chgData name="Neoh Kee Lin" userId="9e68bd29-1eeb-4ae3-beb9-48fd59e465e5" providerId="ADAL" clId="{B89B8F77-CD3D-49CC-8A4B-541C88B40007}" dt="2023-01-18T16:51:22.838" v="11" actId="790"/>
        <pc:sldMkLst>
          <pc:docMk/>
          <pc:sldMk cId="0" sldId="40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400"/>
            </a:lvl1pPr>
          </a:lstStyle>
          <a:p>
            <a:pPr>
              <a:defRPr/>
            </a:pPr>
            <a:r>
              <a:rPr lang="en-US"/>
              <a:t>Pattern Matching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 smtClean="0"/>
            </a:lvl1pPr>
          </a:lstStyle>
          <a:p>
            <a:pPr>
              <a:defRPr/>
            </a:pPr>
            <a:fld id="{7047C9CC-53CB-4EFB-9C56-A662E57659EF}" type="datetime8">
              <a:rPr lang="en-US" altLang="en-US"/>
              <a:pPr>
                <a:defRPr/>
              </a:pPr>
              <a:t>1/20/2025 4:23 PM</a:t>
            </a:fld>
            <a:endParaRPr lang="en-US" alt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fld id="{C2AC396E-4C9D-4FD8-AE8F-E9826333F7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05600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 eaLnBrk="1" hangingPunct="1">
              <a:defRPr sz="1400"/>
            </a:lvl1pPr>
          </a:lstStyle>
          <a:p>
            <a:pPr>
              <a:defRPr/>
            </a:pPr>
            <a:r>
              <a:rPr lang="en-US"/>
              <a:t>Pattern Matching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 smtClean="0"/>
            </a:lvl1pPr>
          </a:lstStyle>
          <a:p>
            <a:pPr>
              <a:defRPr/>
            </a:pPr>
            <a:fld id="{6182673D-54B9-4B29-B9B5-FE7B023D397A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2313"/>
            <a:ext cx="4799012" cy="3598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fld id="{5FDAA007-68A9-4216-A889-5D88AB6F88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9472619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latin typeface="Tahoma" panose="020B0604030504040204" pitchFamily="34" charset="0"/>
              </a:rPr>
              <a:t>Pattern Matching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5B94F14-777B-4E08-87BA-B7888B2E2C7A}" type="datetime8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1/20/2025 4:21 PM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419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C5E60DE-7101-4431-9E16-D419AB7D3548}" type="slidenum">
              <a:rPr lang="en-US" altLang="en-US" sz="140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419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726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Pattern Matching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6182673D-54B9-4B29-B9B5-FE7B023D397A}" type="datetime8">
              <a:rPr lang="en-US" altLang="en-US" smtClean="0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A007-68A9-4216-A889-5D88AB6F88B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96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14BF1A-3697-4051-9255-27B8CF62A3C9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2823B0-93BD-4460-8F0E-586C41B586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704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AD4D9F-57DC-4BBD-8976-33198B318068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CC9EB-02DA-48D9-9E43-DA5D37CFA9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09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914724C-225A-427D-8FAC-236A2A41BF4E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6B0A08-A00F-4CC2-BE9B-9B983AC3EE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794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0D75714-37EC-4ABC-A18E-BFB81652EF3B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25523D-91C1-4487-8144-C5160386BC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6F39D3-E0E0-4749-97D1-962E1A9A6641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444128-A7E5-4A45-9177-B4863542E7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169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4484834-1AEC-4CF7-905F-FCF19B2C0E19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5E0316-D522-4A95-8CA0-7740EF2C65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950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F90C0ED-08BB-4C1F-8E27-B63CD6373C54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CA60DA-7909-493D-934B-F0535830E0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6730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C77F919-5890-45C2-BC13-A8C6F37CC800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C46E8D-1819-4EA3-AF81-A99512FD44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5918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9DFBFE3-D1B7-41C8-AC2B-5FC7EB53965A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59C69-2386-467B-872D-071535B990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4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C7FA5F4-AC0B-4947-BCAD-8BD5DE9658E6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DC8AF9-3FF6-4B71-9BBF-ABCE2CCF41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645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7D7F5C9-7113-4F1F-8C99-D20A3DFAE885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BA8E45-B7C3-4958-A983-06385A16C3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363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fld id="{E9656059-4F62-4774-99F6-2FBE80F8DE07}" type="datetime8">
              <a:rPr lang="en-US" altLang="en-US"/>
              <a:pPr>
                <a:defRPr/>
              </a:pPr>
              <a:t>1/20/2025 4:21 PM</a:t>
            </a:fld>
            <a:endParaRPr lang="en-US" alt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[Lec11] Pattern Matching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BD00399-7961-44EC-85EE-FC6B00168F8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1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3B5835-669F-4D41-9CBE-4F1193FFCFC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Lecture 11</a:t>
            </a:r>
            <a:br>
              <a:rPr lang="en-US" altLang="en-US" sz="4000"/>
            </a:br>
            <a:r>
              <a:rPr lang="en-US" altLang="en-US" sz="4000"/>
              <a:t>Text Processing</a:t>
            </a:r>
          </a:p>
        </p:txBody>
      </p:sp>
      <p:graphicFrame>
        <p:nvGraphicFramePr>
          <p:cNvPr id="13316" name="Object 397"/>
          <p:cNvGraphicFramePr>
            <a:graphicFrameLocks noChangeAspect="1"/>
          </p:cNvGraphicFramePr>
          <p:nvPr/>
        </p:nvGraphicFramePr>
        <p:xfrm>
          <a:off x="4664075" y="3200400"/>
          <a:ext cx="3794125" cy="233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949760" imgH="1377720" progId="Visio.Drawing.6">
                  <p:embed/>
                </p:oleObj>
              </mc:Choice>
              <mc:Fallback>
                <p:oleObj name="VISIO" r:id="rId4" imgW="1949760" imgH="1377720" progId="Visio.Drawing.6">
                  <p:embed/>
                  <p:pic>
                    <p:nvPicPr>
                      <p:cNvPr id="13316" name="Object 3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3200400"/>
                        <a:ext cx="3794125" cy="233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93E62B-C0D9-48E1-9F3B-F6148AB1515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Learning Outcome</a:t>
            </a:r>
          </a:p>
        </p:txBody>
      </p:sp>
      <p:sp>
        <p:nvSpPr>
          <p:cNvPr id="1434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4267200"/>
          </a:xfrm>
        </p:spPr>
        <p:txBody>
          <a:bodyPr/>
          <a:lstStyle/>
          <a:p>
            <a:pPr eaLnBrk="1" hangingPunct="1"/>
            <a:r>
              <a:rPr lang="en-US" altLang="en-US" dirty="0"/>
              <a:t>Pattern matching algorithms</a:t>
            </a:r>
          </a:p>
          <a:p>
            <a:pPr lvl="1" eaLnBrk="1" hangingPunct="1"/>
            <a:r>
              <a:rPr lang="en-US" altLang="en-US" dirty="0"/>
              <a:t>Brute-force algorithm</a:t>
            </a:r>
          </a:p>
          <a:p>
            <a:pPr lvl="1" eaLnBrk="1" hangingPunct="1"/>
            <a:r>
              <a:rPr lang="en-US" altLang="en-US" dirty="0"/>
              <a:t>Boyer-Moore algorithm</a:t>
            </a:r>
          </a:p>
          <a:p>
            <a:pPr lvl="1" eaLnBrk="1" hangingPunct="1"/>
            <a:r>
              <a:rPr lang="en-US" altLang="en-US" dirty="0"/>
              <a:t>Knuth-Morris-Pratt algorithm</a:t>
            </a:r>
          </a:p>
          <a:p>
            <a:pPr eaLnBrk="1" hangingPunct="1"/>
            <a:r>
              <a:rPr lang="en-US" altLang="en-US" dirty="0"/>
              <a:t>Trie</a:t>
            </a:r>
          </a:p>
          <a:p>
            <a:pPr lvl="1" eaLnBrk="1" hangingPunct="1"/>
            <a:r>
              <a:rPr lang="en-US" altLang="en-US" dirty="0"/>
              <a:t>Huffman encoding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025F30-6D2F-493B-9FEB-C30946C2E3F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Strings</a:t>
            </a:r>
          </a:p>
        </p:txBody>
      </p:sp>
      <p:sp>
        <p:nvSpPr>
          <p:cNvPr id="1536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90675"/>
            <a:ext cx="38862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string is a sequence of characters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Examples of strings: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Java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HTML document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DNA sequence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Digitized image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An alphabet </a:t>
            </a:r>
            <a:r>
              <a:rPr lang="en-US" altLang="en-US" sz="2400" b="1" i="1">
                <a:latin typeface="Symbol" panose="05050102010706020507" pitchFamily="18" charset="2"/>
              </a:rPr>
              <a:t>S</a:t>
            </a:r>
            <a:r>
              <a:rPr lang="en-US" altLang="en-US" sz="2000"/>
              <a:t> is the set of </a:t>
            </a:r>
            <a:r>
              <a:rPr lang="en-US" altLang="en-US" sz="2000" u="sng"/>
              <a:t>possible characters</a:t>
            </a:r>
            <a:r>
              <a:rPr lang="en-US" altLang="en-US" sz="2000"/>
              <a:t> for a family of strings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 of alphabets: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ASCII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Unicode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{0, 1}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{A, C, G, T}</a:t>
            </a:r>
          </a:p>
        </p:txBody>
      </p:sp>
      <p:sp>
        <p:nvSpPr>
          <p:cNvPr id="15365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590675"/>
            <a:ext cx="41910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Let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  <a:r>
              <a:rPr lang="en-US" altLang="en-US" sz="2000"/>
              <a:t> be a string of size 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  <a:r>
              <a:rPr lang="en-US" altLang="en-US" sz="20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substring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latin typeface="Times New Roman" panose="02020603050405020304" pitchFamily="18" charset="0"/>
              </a:rPr>
              <a:t>i .. j</a:t>
            </a:r>
            <a:r>
              <a:rPr lang="en-US" altLang="en-US" sz="1800">
                <a:latin typeface="Times New Roman" panose="02020603050405020304" pitchFamily="18" charset="0"/>
              </a:rPr>
              <a:t>]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/>
              <a:t> is the subsequence of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/>
              <a:t> consisting of the characters with ranks between </a:t>
            </a:r>
            <a:r>
              <a:rPr lang="en-US" altLang="en-US" sz="1800" b="1" i="1">
                <a:latin typeface="Times New Roman" panose="02020603050405020304" pitchFamily="18" charset="0"/>
              </a:rPr>
              <a:t>i </a:t>
            </a:r>
            <a:r>
              <a:rPr lang="en-US" altLang="en-US" sz="1800"/>
              <a:t>and </a:t>
            </a:r>
            <a:r>
              <a:rPr lang="en-US" altLang="en-US" sz="1800" b="1" i="1">
                <a:latin typeface="Times New Roman" panose="02020603050405020304" pitchFamily="18" charset="0"/>
              </a:rPr>
              <a:t>j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</a:t>
            </a:r>
            <a:r>
              <a:rPr lang="en-US" altLang="en-US" sz="1800" u="sng"/>
              <a:t>prefix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/>
              <a:t> is a substring of the type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[0 </a:t>
            </a:r>
            <a:r>
              <a:rPr lang="en-US" altLang="en-US" sz="1800" b="1" i="1">
                <a:latin typeface="Times New Roman" panose="02020603050405020304" pitchFamily="18" charset="0"/>
              </a:rPr>
              <a:t>.. i</a:t>
            </a:r>
            <a:r>
              <a:rPr lang="en-US" altLang="en-US" sz="1800"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</a:t>
            </a:r>
            <a:r>
              <a:rPr lang="en-US" altLang="en-US" sz="1800" u="sng"/>
              <a:t>suffix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/>
              <a:t> is a substring of the type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latin typeface="Times New Roman" panose="02020603050405020304" pitchFamily="18" charset="0"/>
              </a:rPr>
              <a:t>i ..m </a:t>
            </a:r>
            <a:r>
              <a:rPr lang="en-US" altLang="en-US" sz="1800"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1]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Given strings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(text) and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  <a:r>
              <a:rPr lang="en-US" altLang="en-US" sz="2000"/>
              <a:t> (pattern), the pattern matching problem consists of finding a substring of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equal to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Applications: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Text editors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Search engines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Biological research</a:t>
            </a:r>
          </a:p>
        </p:txBody>
      </p:sp>
      <p:pic>
        <p:nvPicPr>
          <p:cNvPr id="15366" name="Picture 5" descr="j03096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28600"/>
            <a:ext cx="1905000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C673B7-488D-4AD7-A909-207E27B49CF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638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Brute-Force Algorithm</a:t>
            </a:r>
          </a:p>
        </p:txBody>
      </p:sp>
      <p:sp>
        <p:nvSpPr>
          <p:cNvPr id="16388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38862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brute-force pattern matching algorithm compares the pattern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  <a:r>
              <a:rPr lang="en-US" altLang="en-US" sz="2000"/>
              <a:t> with the text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 for each possible shift of </a:t>
            </a:r>
            <a:r>
              <a:rPr lang="en-US" altLang="en-US" sz="2000" b="1" i="1">
                <a:latin typeface="Times New Roman" panose="02020603050405020304" pitchFamily="18" charset="0"/>
              </a:rPr>
              <a:t>P</a:t>
            </a:r>
            <a:r>
              <a:rPr lang="en-US" altLang="en-US" sz="2000"/>
              <a:t> relative to </a:t>
            </a:r>
            <a:r>
              <a:rPr lang="en-US" altLang="en-US" sz="2000" b="1" i="1">
                <a:latin typeface="Times New Roman" panose="02020603050405020304" pitchFamily="18" charset="0"/>
              </a:rPr>
              <a:t>T</a:t>
            </a:r>
            <a:r>
              <a:rPr lang="en-US" altLang="en-US" sz="2000"/>
              <a:t>, until either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match is found, 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all placements of the pattern have been tried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Brute-force pattern matching runs in time </a:t>
            </a:r>
            <a:r>
              <a:rPr lang="en-US" altLang="en-US" sz="2000" b="1" i="1" u="sng">
                <a:latin typeface="Times New Roman" panose="02020603050405020304" pitchFamily="18" charset="0"/>
              </a:rPr>
              <a:t>O</a:t>
            </a:r>
            <a:r>
              <a:rPr lang="en-US" altLang="en-US" sz="2000" u="sng">
                <a:latin typeface="Times New Roman" panose="02020603050405020304" pitchFamily="18" charset="0"/>
              </a:rPr>
              <a:t>(</a:t>
            </a:r>
            <a:r>
              <a:rPr lang="en-US" altLang="en-US" sz="2000" b="1" i="1" u="sng">
                <a:latin typeface="Times New Roman" panose="02020603050405020304" pitchFamily="18" charset="0"/>
              </a:rPr>
              <a:t>nm</a:t>
            </a:r>
            <a:r>
              <a:rPr lang="en-US" altLang="en-US" sz="2000" u="sng">
                <a:latin typeface="Times New Roman" panose="02020603050405020304" pitchFamily="18" charset="0"/>
              </a:rPr>
              <a:t>)</a:t>
            </a:r>
            <a:endParaRPr lang="en-US" altLang="en-US" sz="2000" u="sng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Example of </a:t>
            </a:r>
            <a:r>
              <a:rPr lang="en-US" altLang="en-US" sz="2000" u="sng"/>
              <a:t>worst</a:t>
            </a:r>
            <a:r>
              <a:rPr lang="en-US" altLang="en-US" sz="2000"/>
              <a:t> case: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T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latin typeface="Times New Roman" panose="02020603050405020304" pitchFamily="18" charset="0"/>
              </a:rPr>
              <a:t> aaa … ah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latin typeface="Times New Roman" panose="02020603050405020304" pitchFamily="18" charset="0"/>
              </a:rPr>
              <a:t>P </a:t>
            </a:r>
            <a:r>
              <a:rPr lang="en-US" altLang="en-US" sz="1800"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latin typeface="Times New Roman" panose="02020603050405020304" pitchFamily="18" charset="0"/>
              </a:rPr>
              <a:t> aaah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may occur in </a:t>
            </a:r>
            <a:r>
              <a:rPr lang="en-US" altLang="en-US" sz="1800" u="sng"/>
              <a:t>images and DNA</a:t>
            </a:r>
            <a:r>
              <a:rPr lang="en-US" altLang="en-US" sz="1800"/>
              <a:t> sequences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unlikely in English text</a:t>
            </a:r>
          </a:p>
        </p:txBody>
      </p:sp>
      <p:sp>
        <p:nvSpPr>
          <p:cNvPr id="16389" name="Text Box 1028"/>
          <p:cNvSpPr txBox="1">
            <a:spLocks noChangeArrowheads="1"/>
          </p:cNvSpPr>
          <p:nvPr/>
        </p:nvSpPr>
        <p:spPr bwMode="auto">
          <a:xfrm>
            <a:off x="4495800" y="1460500"/>
            <a:ext cx="4419600" cy="437042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BruteForceMatch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T, P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text 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of size 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 and pattern </a:t>
            </a:r>
            <a:b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of size 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m</a:t>
            </a:r>
            <a:endParaRPr lang="en-US" altLang="en-US" sz="20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starting index of a </a:t>
            </a:r>
            <a:b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substring of 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 equal to 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P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or </a:t>
            </a:r>
            <a:r>
              <a:rPr lang="en-US" altLang="en-US" sz="2000" dirty="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		if no such substring exists </a:t>
            </a:r>
            <a:endParaRPr lang="en-US" altLang="en-US" sz="20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 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to 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m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 i="1" dirty="0">
                <a:latin typeface="Times New Roman" panose="02020603050405020304" pitchFamily="18" charset="0"/>
              </a:rPr>
              <a:t>	</a:t>
            </a:r>
            <a:r>
              <a:rPr lang="en-US" altLang="en-US" sz="2000" dirty="0">
                <a:latin typeface="Times New Roman" panose="02020603050405020304" pitchFamily="18" charset="0"/>
              </a:rPr>
              <a:t>{ test shift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of the pattern }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m </a:t>
            </a:r>
            <a:r>
              <a:rPr lang="en-US" altLang="en-US" sz="2000" b="1" dirty="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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T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j</a:t>
            </a:r>
            <a:r>
              <a:rPr lang="en-US" altLang="en-US" sz="2000" u="sng" dirty="0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endParaRPr lang="en-US" altLang="en-US" sz="2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if  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m</a:t>
            </a: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20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{match at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}</a:t>
            </a:r>
            <a:endParaRPr lang="en-US" altLang="en-US" sz="2000" b="1" i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5000"/>
              </a:lnSpc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-1</a:t>
            </a:r>
            <a:r>
              <a:rPr lang="en-US" altLang="en-US" sz="20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{no match anywhere}</a:t>
            </a:r>
          </a:p>
        </p:txBody>
      </p:sp>
      <p:pic>
        <p:nvPicPr>
          <p:cNvPr id="16390" name="Picture 1029" descr="j028074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12725"/>
            <a:ext cx="12319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22AC4C-C17C-40DF-AC96-489BDFE61BC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 dirty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Brute-Force Algorithm</a:t>
            </a:r>
          </a:p>
        </p:txBody>
      </p:sp>
      <p:sp>
        <p:nvSpPr>
          <p:cNvPr id="17412" name="Text Box 17"/>
          <p:cNvSpPr txBox="1">
            <a:spLocks noChangeArrowheads="1"/>
          </p:cNvSpPr>
          <p:nvPr/>
        </p:nvSpPr>
        <p:spPr bwMode="auto">
          <a:xfrm>
            <a:off x="914400" y="1676399"/>
            <a:ext cx="7543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Matching: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Brute-Force Matching: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Comparing from </a:t>
            </a:r>
            <a:r>
              <a:rPr lang="en-US" altLang="en-US" sz="1800" u="sng" dirty="0">
                <a:latin typeface="Times New Roman" panose="02020603050405020304" pitchFamily="18" charset="0"/>
              </a:rPr>
              <a:t>left to right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</a:rPr>
              <a:t>    P = ABABC                  ABABC           ABABC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</a:rPr>
              <a:t>        ||||x                  x               |||||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noProof="1">
                <a:latin typeface="Consolas" panose="020B0609020204030204" pitchFamily="49" charset="0"/>
              </a:rPr>
              <a:t>    T = ABABABCCA		 ABABABCCA	 ABABABCCA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						   					</a:t>
            </a:r>
          </a:p>
        </p:txBody>
      </p:sp>
      <p:sp>
        <p:nvSpPr>
          <p:cNvPr id="17413" name="Text Box 18"/>
          <p:cNvSpPr txBox="1">
            <a:spLocks noChangeArrowheads="1"/>
          </p:cNvSpPr>
          <p:nvPr/>
        </p:nvSpPr>
        <p:spPr bwMode="auto">
          <a:xfrm>
            <a:off x="263228" y="3166804"/>
            <a:ext cx="1505540" cy="369332"/>
          </a:xfrm>
          <a:prstGeom prst="rect">
            <a:avLst/>
          </a:prstGeom>
          <a:solidFill>
            <a:srgbClr val="CCFFFF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Pattern to find</a:t>
            </a:r>
          </a:p>
        </p:txBody>
      </p:sp>
      <p:sp>
        <p:nvSpPr>
          <p:cNvPr id="17414" name="Text Box 19"/>
          <p:cNvSpPr txBox="1">
            <a:spLocks noChangeArrowheads="1"/>
          </p:cNvSpPr>
          <p:nvPr/>
        </p:nvSpPr>
        <p:spPr bwMode="auto">
          <a:xfrm>
            <a:off x="206375" y="5160961"/>
            <a:ext cx="1317625" cy="388938"/>
          </a:xfrm>
          <a:prstGeom prst="rect">
            <a:avLst/>
          </a:prstGeom>
          <a:solidFill>
            <a:srgbClr val="CCFFFF"/>
          </a:solidFill>
          <a:ln w="222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Source Text</a:t>
            </a:r>
          </a:p>
        </p:txBody>
      </p:sp>
      <p:sp>
        <p:nvSpPr>
          <p:cNvPr id="17424" name="Text Box 29"/>
          <p:cNvSpPr txBox="1">
            <a:spLocks noChangeArrowheads="1"/>
          </p:cNvSpPr>
          <p:nvPr/>
        </p:nvSpPr>
        <p:spPr bwMode="auto">
          <a:xfrm>
            <a:off x="1658936" y="4953000"/>
            <a:ext cx="1998665" cy="646331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Times New Roman" panose="02020603050405020304" pitchFamily="18" charset="0"/>
              </a:rPr>
              <a:t>Error. Shift P to right by 1 position </a:t>
            </a:r>
          </a:p>
        </p:txBody>
      </p:sp>
      <p:sp>
        <p:nvSpPr>
          <p:cNvPr id="17425" name="Text Box 30"/>
          <p:cNvSpPr txBox="1">
            <a:spLocks noChangeArrowheads="1"/>
          </p:cNvSpPr>
          <p:nvPr/>
        </p:nvSpPr>
        <p:spPr bwMode="auto">
          <a:xfrm>
            <a:off x="4124325" y="4916269"/>
            <a:ext cx="1997075" cy="646331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1800" b="1" dirty="0">
                <a:latin typeface="Times New Roman" panose="02020603050405020304" pitchFamily="18" charset="0"/>
              </a:rPr>
              <a:t>Error. Shift P to right by 1 position</a:t>
            </a:r>
          </a:p>
        </p:txBody>
      </p:sp>
      <p:sp>
        <p:nvSpPr>
          <p:cNvPr id="17426" name="Line 31"/>
          <p:cNvSpPr>
            <a:spLocks noChangeShapeType="1"/>
          </p:cNvSpPr>
          <p:nvPr/>
        </p:nvSpPr>
        <p:spPr bwMode="auto">
          <a:xfrm flipV="1">
            <a:off x="2600325" y="4632324"/>
            <a:ext cx="0" cy="304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7427" name="Line 32"/>
          <p:cNvSpPr>
            <a:spLocks noChangeShapeType="1"/>
          </p:cNvSpPr>
          <p:nvPr/>
        </p:nvSpPr>
        <p:spPr bwMode="auto">
          <a:xfrm flipV="1">
            <a:off x="4965700" y="4602162"/>
            <a:ext cx="0" cy="304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7428" name="Line 33"/>
          <p:cNvSpPr>
            <a:spLocks noChangeShapeType="1"/>
          </p:cNvSpPr>
          <p:nvPr/>
        </p:nvSpPr>
        <p:spPr bwMode="auto">
          <a:xfrm flipV="1">
            <a:off x="1015999" y="4589461"/>
            <a:ext cx="492125" cy="5715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sp>
        <p:nvSpPr>
          <p:cNvPr id="17429" name="Line 34"/>
          <p:cNvSpPr>
            <a:spLocks noChangeShapeType="1"/>
          </p:cNvSpPr>
          <p:nvPr/>
        </p:nvSpPr>
        <p:spPr bwMode="auto">
          <a:xfrm>
            <a:off x="1246185" y="3563153"/>
            <a:ext cx="246062" cy="211386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GB"/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962400" y="3399105"/>
            <a:ext cx="0" cy="2620695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6324600" y="3429000"/>
            <a:ext cx="0" cy="2620695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 Box 30"/>
          <p:cNvSpPr txBox="1">
            <a:spLocks noChangeArrowheads="1"/>
          </p:cNvSpPr>
          <p:nvPr/>
        </p:nvSpPr>
        <p:spPr bwMode="auto">
          <a:xfrm>
            <a:off x="6708775" y="4954865"/>
            <a:ext cx="1978026" cy="369332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Successful match!</a:t>
            </a:r>
            <a:endParaRPr lang="en-US" altLang="en-US" sz="1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4" grpId="0" animBg="1"/>
      <p:bldP spid="17425" grpId="0" animBg="1"/>
      <p:bldP spid="17426" grpId="0" animBg="1"/>
      <p:bldP spid="17427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B44FEE-6882-44DE-85E7-05CA1F9BA9B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Brute Force Algorithm</a:t>
            </a:r>
          </a:p>
        </p:txBody>
      </p:sp>
      <p:sp>
        <p:nvSpPr>
          <p:cNvPr id="184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Brute-Force Matching II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u="sng" dirty="0"/>
              <a:t>Worst</a:t>
            </a:r>
            <a:r>
              <a:rPr lang="en-US" altLang="en-US" sz="1800" dirty="0"/>
              <a:t> case looks like: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Text:		aaaaaaaaaaaaaaaaaaaaaaaaaaaaaaaaaaaaaaab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Pattern:	aaaab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u="sng" dirty="0"/>
              <a:t>Best</a:t>
            </a:r>
            <a:r>
              <a:rPr lang="en-US" altLang="en-US" sz="1800" dirty="0"/>
              <a:t> case looks like: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Text:		aaaabjhgasjhgasjhagsjhagsjhgahgaaaaaaaaab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Pattern:	aaaab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Typical average case: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Text:		This is an algorithm difficult to beat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Pattern:	algorithm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Analysis:	Worst Case:	O(mn)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		Best Case:	O(m)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			Average Case:	O(m + n)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AE11BD-A4EE-4DE4-99BE-F58ABBBA949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Boyer-Moore Heuristics</a:t>
            </a:r>
          </a:p>
        </p:txBody>
      </p:sp>
      <p:sp>
        <p:nvSpPr>
          <p:cNvPr id="1946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153400" cy="2590800"/>
          </a:xfrm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Boyer-Moore’s pattern matching algorithm is based on 2 heuristics:</a:t>
            </a:r>
          </a:p>
          <a:p>
            <a:pPr marL="45720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u="sng" dirty="0">
                <a:solidFill>
                  <a:schemeClr val="tx2"/>
                </a:solidFill>
              </a:rPr>
              <a:t>Looking-glass heuristic</a:t>
            </a:r>
            <a:r>
              <a:rPr lang="en-US" altLang="en-US" sz="2000" dirty="0">
                <a:solidFill>
                  <a:schemeClr val="tx2"/>
                </a:solidFill>
              </a:rPr>
              <a:t>:</a:t>
            </a:r>
            <a:r>
              <a:rPr lang="en-US" altLang="en-US" sz="2000" dirty="0"/>
              <a:t> Compare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2000" dirty="0"/>
              <a:t> with a subsequence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/>
              <a:t> moving </a:t>
            </a:r>
            <a:r>
              <a:rPr lang="en-US" altLang="en-US" sz="2000" u="sng" dirty="0"/>
              <a:t>backwards</a:t>
            </a:r>
          </a:p>
          <a:p>
            <a:pPr marL="45720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u="sng" dirty="0">
                <a:solidFill>
                  <a:schemeClr val="tx2"/>
                </a:solidFill>
              </a:rPr>
              <a:t>Character-jump heuristic</a:t>
            </a:r>
            <a:r>
              <a:rPr lang="en-US" altLang="en-US" sz="2000" dirty="0">
                <a:solidFill>
                  <a:schemeClr val="tx2"/>
                </a:solidFill>
              </a:rPr>
              <a:t>:</a:t>
            </a:r>
            <a:r>
              <a:rPr lang="en-US" altLang="en-US" sz="2000" dirty="0"/>
              <a:t> When a mismatch occurs at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] </a:t>
            </a:r>
            <a:r>
              <a:rPr lang="en-US" altLang="en-US" sz="2000" dirty="0">
                <a:latin typeface="Symbol" panose="05050102010706020507" pitchFamily="18" charset="2"/>
              </a:rPr>
              <a:t>=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c</a:t>
            </a:r>
            <a:r>
              <a:rPr lang="en-US" altLang="en-US" sz="2000" dirty="0"/>
              <a:t> </a:t>
            </a:r>
            <a:endParaRPr lang="en-US" altLang="en-US" sz="2000" b="1" i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If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P </a:t>
            </a:r>
            <a:r>
              <a:rPr lang="en-US" altLang="en-US" sz="1800" dirty="0"/>
              <a:t>contains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c</a:t>
            </a:r>
            <a:r>
              <a:rPr lang="en-US" altLang="en-US" sz="1800" dirty="0"/>
              <a:t>, shift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1800" dirty="0"/>
              <a:t> to align the last occurrence of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c </a:t>
            </a:r>
            <a:r>
              <a:rPr lang="en-US" altLang="en-US" sz="1800" dirty="0"/>
              <a:t>in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P </a:t>
            </a:r>
            <a:r>
              <a:rPr lang="en-US" altLang="en-US" sz="1800" dirty="0"/>
              <a:t>with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T</a:t>
            </a:r>
            <a:r>
              <a:rPr lang="en-US" altLang="en-US" sz="1800" dirty="0"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</a:rPr>
              <a:t>] </a:t>
            </a:r>
            <a:endParaRPr lang="en-US" altLang="en-US" sz="1800" b="1" i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Else, shift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1800" dirty="0"/>
              <a:t> to align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1800" dirty="0">
                <a:latin typeface="Times New Roman" panose="02020603050405020304" pitchFamily="18" charset="0"/>
              </a:rPr>
              <a:t>[0]</a:t>
            </a:r>
            <a:r>
              <a:rPr lang="en-US" altLang="en-US" sz="1800" dirty="0"/>
              <a:t> with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T</a:t>
            </a:r>
            <a:r>
              <a:rPr lang="en-US" altLang="en-US" sz="1800" dirty="0"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anose="05050102010706020507" pitchFamily="18" charset="2"/>
              </a:rPr>
              <a:t>+</a:t>
            </a:r>
            <a:r>
              <a:rPr lang="en-US" altLang="en-US" sz="1800" dirty="0">
                <a:latin typeface="Times New Roman" panose="02020603050405020304" pitchFamily="18" charset="0"/>
              </a:rPr>
              <a:t> 1]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Example </a:t>
            </a:r>
          </a:p>
        </p:txBody>
      </p:sp>
      <p:graphicFrame>
        <p:nvGraphicFramePr>
          <p:cNvPr id="19461" name="Object 4"/>
          <p:cNvGraphicFramePr>
            <a:graphicFrameLocks noChangeAspect="1"/>
          </p:cNvGraphicFramePr>
          <p:nvPr/>
        </p:nvGraphicFramePr>
        <p:xfrm>
          <a:off x="838200" y="4191000"/>
          <a:ext cx="802957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447960" imgH="1835280" progId="Visio.Drawing.6">
                  <p:embed/>
                </p:oleObj>
              </mc:Choice>
              <mc:Fallback>
                <p:oleObj name="VISIO" r:id="rId3" imgW="6447960" imgH="1835280" progId="Visio.Drawing.6">
                  <p:embed/>
                  <p:pic>
                    <p:nvPicPr>
                      <p:cNvPr id="1946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191000"/>
                        <a:ext cx="8029575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CE08E0-4D5F-4201-AA17-2BAFECA3111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Last-Occurrence Function</a:t>
            </a:r>
          </a:p>
        </p:txBody>
      </p:sp>
      <p:sp>
        <p:nvSpPr>
          <p:cNvPr id="2048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8486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Boyer-Moore’s algorithm preprocesses the pattern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2000" dirty="0"/>
              <a:t> and the alphabet </a:t>
            </a:r>
            <a:r>
              <a:rPr lang="en-US" altLang="en-US" sz="2000" b="1" i="1" dirty="0">
                <a:latin typeface="Symbol" panose="05050102010706020507" pitchFamily="18" charset="2"/>
              </a:rPr>
              <a:t>S</a:t>
            </a:r>
            <a:r>
              <a:rPr lang="en-US" altLang="en-US" sz="2000" dirty="0"/>
              <a:t> to build the last-occurrence function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2000" dirty="0"/>
              <a:t> mapping </a:t>
            </a:r>
            <a:r>
              <a:rPr lang="en-US" altLang="en-US" sz="2000" b="1" i="1" dirty="0">
                <a:latin typeface="Symbol" panose="05050102010706020507" pitchFamily="18" charset="2"/>
              </a:rPr>
              <a:t>S</a:t>
            </a:r>
            <a:r>
              <a:rPr lang="en-US" altLang="en-US" sz="2000" dirty="0"/>
              <a:t> to integers, where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c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is defined 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the largest index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dirty="0"/>
              <a:t> such that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1800" dirty="0"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</a:rPr>
              <a:t>]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Symbol" panose="05050102010706020507" pitchFamily="18" charset="2"/>
              </a:rPr>
              <a:t>=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c </a:t>
            </a:r>
            <a:r>
              <a:rPr lang="en-US" altLang="en-US" sz="1800" dirty="0"/>
              <a:t>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>
                <a:latin typeface="Symbol" panose="05050102010706020507" pitchFamily="18" charset="2"/>
              </a:rPr>
              <a:t>-</a:t>
            </a:r>
            <a:r>
              <a:rPr lang="en-US" altLang="en-US" sz="1800" dirty="0">
                <a:latin typeface="Times New Roman" panose="02020603050405020304" pitchFamily="18" charset="0"/>
              </a:rPr>
              <a:t>1</a:t>
            </a:r>
            <a:r>
              <a:rPr lang="en-US" altLang="en-US" sz="1800" dirty="0"/>
              <a:t> if no such index exists </a:t>
            </a:r>
            <a:endParaRPr lang="en-US" altLang="en-US" sz="18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 dirty="0">
                <a:latin typeface="Symbol" panose="05050102010706020507" pitchFamily="18" charset="2"/>
              </a:rPr>
              <a:t>S </a:t>
            </a:r>
            <a:r>
              <a:rPr lang="en-US" altLang="en-US" sz="1800" dirty="0">
                <a:latin typeface="Symbol" panose="05050102010706020507" pitchFamily="18" charset="2"/>
              </a:rPr>
              <a:t>=</a:t>
            </a:r>
            <a:r>
              <a:rPr lang="en-US" altLang="en-US" sz="1800" dirty="0">
                <a:latin typeface="Times New Roman" panose="02020603050405020304" pitchFamily="18" charset="0"/>
              </a:rPr>
              <a:t> {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a, b, c, d</a:t>
            </a:r>
            <a:r>
              <a:rPr lang="en-US" altLang="en-US" sz="1800" dirty="0">
                <a:latin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1800" b="1" i="1" dirty="0">
                <a:latin typeface="Symbol" panose="05050102010706020507" pitchFamily="18" charset="2"/>
              </a:rPr>
              <a:t> </a:t>
            </a:r>
            <a:r>
              <a:rPr lang="en-US" altLang="en-US" sz="1800" dirty="0">
                <a:latin typeface="Symbol" panose="05050102010706020507" pitchFamily="18" charset="2"/>
              </a:rPr>
              <a:t>=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abacab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last-occurrence function can be represented by an array indexed by the numeric codes of the characters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last-occurrence function can be computed in time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m </a:t>
            </a:r>
            <a:r>
              <a:rPr lang="en-US" altLang="en-US" sz="2000" dirty="0">
                <a:latin typeface="Symbol" panose="05050102010706020507" pitchFamily="18" charset="2"/>
              </a:rPr>
              <a:t>+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s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, where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m</a:t>
            </a:r>
            <a:r>
              <a:rPr lang="en-US" altLang="en-US" sz="2000" dirty="0"/>
              <a:t> is the size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2000" dirty="0"/>
              <a:t> 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is the size of </a:t>
            </a:r>
            <a:r>
              <a:rPr lang="en-US" altLang="en-US" sz="2000" b="1" i="1" dirty="0">
                <a:latin typeface="Symbol" panose="05050102010706020507" pitchFamily="18" charset="2"/>
              </a:rPr>
              <a:t>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b="1" i="1" dirty="0">
              <a:latin typeface="Symbol" panose="05050102010706020507" pitchFamily="18" charset="2"/>
            </a:endParaRPr>
          </a:p>
        </p:txBody>
      </p:sp>
      <p:graphicFrame>
        <p:nvGraphicFramePr>
          <p:cNvPr id="169032" name="Group 72"/>
          <p:cNvGraphicFramePr>
            <a:graphicFrameLocks noGrp="1"/>
          </p:cNvGraphicFramePr>
          <p:nvPr/>
        </p:nvGraphicFramePr>
        <p:xfrm>
          <a:off x="3581400" y="3429000"/>
          <a:ext cx="4648200" cy="76200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660" marB="456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660" marB="456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T="45660" marB="456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660" marB="456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-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B737FF-95BF-4854-A9FF-4198DBA8C7E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grpSp>
        <p:nvGrpSpPr>
          <p:cNvPr id="21507" name="Group 11"/>
          <p:cNvGrpSpPr>
            <a:grpSpLocks/>
          </p:cNvGrpSpPr>
          <p:nvPr/>
        </p:nvGrpSpPr>
        <p:grpSpPr bwMode="auto">
          <a:xfrm>
            <a:off x="4724400" y="1447800"/>
            <a:ext cx="4114800" cy="2557463"/>
            <a:chOff x="2976" y="2517"/>
            <a:chExt cx="2592" cy="1611"/>
          </a:xfrm>
        </p:grpSpPr>
        <p:graphicFrame>
          <p:nvGraphicFramePr>
            <p:cNvPr id="21513" name="Object 7"/>
            <p:cNvGraphicFramePr>
              <a:graphicFrameLocks noChangeAspect="1"/>
            </p:cNvGraphicFramePr>
            <p:nvPr/>
          </p:nvGraphicFramePr>
          <p:xfrm>
            <a:off x="3480" y="2757"/>
            <a:ext cx="2088" cy="1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3106080" imgH="2043720" progId="Visio.Drawing.6">
                    <p:embed/>
                  </p:oleObj>
                </mc:Choice>
                <mc:Fallback>
                  <p:oleObj name="VISIO" r:id="rId3" imgW="3106080" imgH="2043720" progId="Visio.Drawing.6">
                    <p:embed/>
                    <p:pic>
                      <p:nvPicPr>
                        <p:cNvPr id="2151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0" y="2757"/>
                          <a:ext cx="2088" cy="1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4" name="Text Box 9"/>
            <p:cNvSpPr txBox="1">
              <a:spLocks noChangeArrowheads="1"/>
            </p:cNvSpPr>
            <p:nvPr/>
          </p:nvSpPr>
          <p:spPr bwMode="auto">
            <a:xfrm>
              <a:off x="2976" y="2517"/>
              <a:ext cx="13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Case 1: </a:t>
              </a: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j 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</a:t>
              </a:r>
              <a:r>
                <a:rPr lang="en-US" altLang="en-US" sz="2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1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 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</a:rPr>
                <a:t>+</a:t>
              </a:r>
              <a:r>
                <a:rPr lang="en-US" altLang="en-US" sz="200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 </a:t>
              </a:r>
              <a:r>
                <a:rPr lang="en-US" altLang="en-US" sz="20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</a:p>
          </p:txBody>
        </p:sp>
      </p:grp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Boyer-Moore Algorithm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685800" y="1600200"/>
            <a:ext cx="3886200" cy="4614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BoyerMooreMatch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T, P, </a:t>
            </a:r>
            <a:r>
              <a:rPr lang="en-US" altLang="en-US" sz="1800" b="1" i="1">
                <a:solidFill>
                  <a:schemeClr val="tx2"/>
                </a:solidFill>
                <a:latin typeface="Symbol" panose="05050102010706020507" pitchFamily="18" charset="2"/>
              </a:rPr>
              <a:t>S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lastOccurenceFunction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P, </a:t>
            </a:r>
            <a:r>
              <a:rPr lang="en-US" altLang="en-US" sz="1800" b="1" i="1">
                <a:solidFill>
                  <a:schemeClr val="accent2"/>
                </a:solidFill>
                <a:latin typeface="Symbol" panose="05050102010706020507" pitchFamily="18" charset="2"/>
              </a:rPr>
              <a:t>S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repeat 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if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u="sng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 </a:t>
            </a:r>
            <a:r>
              <a:rPr lang="en-US" altLang="en-US" sz="1800">
                <a:latin typeface="Times New Roman" panose="02020603050405020304" pitchFamily="18" charset="0"/>
              </a:rPr>
              <a:t>{ match at </a:t>
            </a:r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>
                <a:latin typeface="Times New Roman" panose="02020603050405020304" pitchFamily="18" charset="0"/>
              </a:rPr>
              <a:t>{ character-jump }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u="sng">
                <a:solidFill>
                  <a:schemeClr val="accent2"/>
                </a:solidFill>
                <a:latin typeface="Times New Roman" panose="02020603050405020304" pitchFamily="18" charset="0"/>
              </a:rPr>
              <a:t>]]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chemeClr val="tx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 m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min(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, 1</a:t>
            </a:r>
            <a:r>
              <a:rPr lang="en-US" altLang="en-US" sz="1800">
                <a:solidFill>
                  <a:schemeClr val="tx2"/>
                </a:solidFill>
                <a:latin typeface="Symbol" panose="05050102010706020507" pitchFamily="18" charset="2"/>
              </a:rPr>
              <a:t> +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until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&gt;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en-US" sz="1800">
                <a:latin typeface="Times New Roman" panose="02020603050405020304" pitchFamily="18" charset="0"/>
              </a:rPr>
              <a:t>{ no match }</a:t>
            </a:r>
          </a:p>
        </p:txBody>
      </p:sp>
      <p:grpSp>
        <p:nvGrpSpPr>
          <p:cNvPr id="21510" name="Group 10"/>
          <p:cNvGrpSpPr>
            <a:grpSpLocks/>
          </p:cNvGrpSpPr>
          <p:nvPr/>
        </p:nvGrpSpPr>
        <p:grpSpPr bwMode="auto">
          <a:xfrm>
            <a:off x="4724400" y="3979863"/>
            <a:ext cx="4114800" cy="2573337"/>
            <a:chOff x="2976" y="1019"/>
            <a:chExt cx="2592" cy="1621"/>
          </a:xfrm>
        </p:grpSpPr>
        <p:graphicFrame>
          <p:nvGraphicFramePr>
            <p:cNvPr id="21511" name="Object 6"/>
            <p:cNvGraphicFramePr>
              <a:graphicFrameLocks noChangeAspect="1"/>
            </p:cNvGraphicFramePr>
            <p:nvPr/>
          </p:nvGraphicFramePr>
          <p:xfrm>
            <a:off x="3480" y="1269"/>
            <a:ext cx="2088" cy="1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3106080" imgH="2043720" progId="Visio.Drawing.6">
                    <p:embed/>
                  </p:oleObj>
                </mc:Choice>
                <mc:Fallback>
                  <p:oleObj name="VISIO" r:id="rId5" imgW="3106080" imgH="2043720" progId="Visio.Drawing.6">
                    <p:embed/>
                    <p:pic>
                      <p:nvPicPr>
                        <p:cNvPr id="2151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0" y="1269"/>
                          <a:ext cx="2088" cy="1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2" name="Text Box 8"/>
            <p:cNvSpPr txBox="1">
              <a:spLocks noChangeArrowheads="1"/>
            </p:cNvSpPr>
            <p:nvPr/>
          </p:nvSpPr>
          <p:spPr bwMode="auto">
            <a:xfrm>
              <a:off x="2976" y="1019"/>
              <a:ext cx="13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/>
                <a:t>Case 2: </a:t>
              </a:r>
              <a:r>
                <a:rPr lang="en-US" altLang="en-US" sz="2000" dirty="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en-US" sz="2000" dirty="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 </a:t>
              </a:r>
              <a:r>
                <a:rPr lang="en-US" altLang="en-US" sz="2000" dirty="0">
                  <a:solidFill>
                    <a:schemeClr val="tx2"/>
                  </a:solidFill>
                  <a:latin typeface="Symbol" panose="05050102010706020507" pitchFamily="18" charset="2"/>
                </a:rPr>
                <a:t>+</a:t>
              </a:r>
              <a:r>
                <a:rPr lang="en-US" altLang="en-US" sz="2000" dirty="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 </a:t>
              </a:r>
              <a:r>
                <a:rPr lang="en-US" altLang="en-US" sz="2000" b="1" i="1" dirty="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lang="en-US" altLang="en-US" sz="2000" b="1" dirty="0">
                  <a:solidFill>
                    <a:schemeClr val="tx2"/>
                  </a:solidFill>
                  <a:latin typeface="Symbol" panose="05050102010706020507" pitchFamily="18" charset="2"/>
                </a:rPr>
                <a:t> </a:t>
              </a:r>
              <a:r>
                <a:rPr lang="en-US" altLang="en-US" sz="2000" dirty="0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 </a:t>
              </a:r>
              <a:r>
                <a:rPr lang="en-US" altLang="en-US" sz="2000" b="1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j</a:t>
              </a:r>
              <a:endParaRPr lang="en-US" altLang="en-US" sz="2000" b="1" i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F58515-23F5-4FCC-9953-00D1DB9B27A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en-US" dirty="0"/>
              <a:t>Boyer-Moore Example (right to left)</a:t>
            </a:r>
          </a:p>
        </p:txBody>
      </p:sp>
      <p:graphicFrame>
        <p:nvGraphicFramePr>
          <p:cNvPr id="22532" name="Object 3"/>
          <p:cNvGraphicFramePr>
            <a:graphicFrameLocks noChangeAspect="1"/>
          </p:cNvGraphicFramePr>
          <p:nvPr/>
        </p:nvGraphicFramePr>
        <p:xfrm>
          <a:off x="1066800" y="2092325"/>
          <a:ext cx="7848600" cy="369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800240" imgH="2266560" progId="Visio.Drawing.6">
                  <p:embed/>
                </p:oleObj>
              </mc:Choice>
              <mc:Fallback>
                <p:oleObj name="VISIO" r:id="rId3" imgW="4800240" imgH="2266560" progId="Visio.Drawing.6">
                  <p:embed/>
                  <p:pic>
                    <p:nvPicPr>
                      <p:cNvPr id="2253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092325"/>
                        <a:ext cx="7848600" cy="369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0A30B2-0EB2-422C-BF3A-B257E53AF55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Another Boyer-Moore Example</a:t>
            </a:r>
          </a:p>
        </p:txBody>
      </p:sp>
      <p:sp>
        <p:nvSpPr>
          <p:cNvPr id="2355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must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If you wish to understand others you must intensify 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match and 'y' is not in must, so move the whole word.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must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If you wish to understand others you must intensify 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match and 'w' is not in must, so move the whole word.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must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If you wish to understand others you must intensify 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match and ' ' is not in must, so move the whole word.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1775AB-67B2-4220-AEF9-8878F25E63D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Another Boyer-Moore Example</a:t>
            </a:r>
          </a:p>
        </p:txBody>
      </p:sp>
      <p:sp>
        <p:nvSpPr>
          <p:cNvPr id="24580" name="Text Box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001000" cy="4495800"/>
          </a:xfrm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must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       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If you wish to understand others you must intensify 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match, but 'u' is in must, so move the whole word only to right until u fits.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must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   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If you wish to understand others you must intensify 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match and 'd' is not in must, so move the whole word.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    must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     x||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If you wish to understand others you must intensify 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match and 'r' is not in must, so move the whole word.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Consolas" panose="020B0609020204030204" pitchFamily="49" charset="0"/>
              </a:rPr>
              <a:t>                    </a:t>
            </a:r>
            <a:r>
              <a:rPr lang="en-US" altLang="en-US" sz="1800" b="1" dirty="0">
                <a:latin typeface="Consolas" panose="020B0609020204030204" pitchFamily="49" charset="0"/>
              </a:rPr>
              <a:t>must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         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If you wish to understand others you must intensify 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match and 'n' is not in must, so move the whole word.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48F949-6710-43C5-A043-6876634F520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Another Boyer-Moore Example</a:t>
            </a:r>
          </a:p>
        </p:txBody>
      </p:sp>
      <p:sp>
        <p:nvSpPr>
          <p:cNvPr id="2560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The rest goes this way:     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                       must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                       ||||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                     must |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                 must   x |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             must   x   </a:t>
            </a:r>
            <a:r>
              <a:rPr lang="en-US" altLang="en-US" sz="1800" b="1" dirty="0" err="1">
                <a:latin typeface="Consolas" panose="020B0609020204030204" pitchFamily="49" charset="0"/>
              </a:rPr>
              <a:t>x</a:t>
            </a:r>
            <a:r>
              <a:rPr lang="en-US" altLang="en-US" sz="1800" b="1" dirty="0">
                <a:latin typeface="Consolas" panose="020B0609020204030204" pitchFamily="49" charset="0"/>
              </a:rPr>
              <a:t> |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          must  x   </a:t>
            </a:r>
            <a:r>
              <a:rPr lang="en-US" altLang="en-US" sz="1800" b="1" dirty="0" err="1">
                <a:latin typeface="Consolas" panose="020B0609020204030204" pitchFamily="49" charset="0"/>
              </a:rPr>
              <a:t>x</a:t>
            </a:r>
            <a:r>
              <a:rPr lang="en-US" altLang="en-US" sz="1800" b="1" dirty="0">
                <a:latin typeface="Consolas" panose="020B0609020204030204" pitchFamily="49" charset="0"/>
              </a:rPr>
              <a:t>   </a:t>
            </a:r>
            <a:r>
              <a:rPr lang="en-US" altLang="en-US" sz="1800" b="1" dirty="0" err="1">
                <a:latin typeface="Consolas" panose="020B0609020204030204" pitchFamily="49" charset="0"/>
              </a:rPr>
              <a:t>x</a:t>
            </a:r>
            <a:r>
              <a:rPr lang="en-US" altLang="en-US" sz="1800" b="1" dirty="0">
                <a:latin typeface="Consolas" panose="020B0609020204030204" pitchFamily="49" charset="0"/>
              </a:rPr>
              <a:t> |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                          x|  x   </a:t>
            </a:r>
            <a:r>
              <a:rPr lang="en-US" altLang="en-US" sz="1800" b="1" dirty="0" err="1">
                <a:latin typeface="Consolas" panose="020B0609020204030204" pitchFamily="49" charset="0"/>
              </a:rPr>
              <a:t>x</a:t>
            </a:r>
            <a:r>
              <a:rPr lang="en-US" altLang="en-US" sz="1800" b="1" dirty="0">
                <a:latin typeface="Consolas" panose="020B0609020204030204" pitchFamily="49" charset="0"/>
              </a:rPr>
              <a:t>   </a:t>
            </a:r>
            <a:r>
              <a:rPr lang="en-US" altLang="en-US" sz="1800" b="1" dirty="0" err="1">
                <a:latin typeface="Consolas" panose="020B0609020204030204" pitchFamily="49" charset="0"/>
              </a:rPr>
              <a:t>x</a:t>
            </a:r>
            <a:r>
              <a:rPr lang="en-US" altLang="en-US" sz="1800" b="1" dirty="0">
                <a:latin typeface="Consolas" panose="020B0609020204030204" pitchFamily="49" charset="0"/>
              </a:rPr>
              <a:t> |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If you wish to understand others you must intensify 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dirty="0"/>
              <a:t>                                                                 Success!!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 dirty="0"/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3276600" y="4867870"/>
            <a:ext cx="4870244" cy="923330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Times New Roman" panose="02020603050405020304" pitchFamily="18" charset="0"/>
              </a:rPr>
              <a:t>Try the Boyer-Moore algorithm with: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text: THIS IS A STRING SEARCH EXAMPLE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Consolas" panose="020B0609020204030204" pitchFamily="49" charset="0"/>
              </a:rPr>
              <a:t>pattern</a:t>
            </a:r>
            <a:r>
              <a:rPr lang="en-US" altLang="en-US" sz="1800" b="1">
                <a:latin typeface="Consolas" panose="020B0609020204030204" pitchFamily="49" charset="0"/>
              </a:rPr>
              <a:t>: AMPLE</a:t>
            </a:r>
            <a:endParaRPr lang="en-US" altLang="en-US" sz="1800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719B62-8031-426C-9347-1F91EE8C7AA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Analysis</a:t>
            </a:r>
          </a:p>
        </p:txBody>
      </p:sp>
      <p:sp>
        <p:nvSpPr>
          <p:cNvPr id="2662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3810000" cy="4114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Boyer-Moore’s algorithm runs in time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nm </a:t>
            </a:r>
            <a:r>
              <a:rPr lang="en-US" altLang="en-US" sz="2000" dirty="0">
                <a:latin typeface="Symbol" panose="05050102010706020507" pitchFamily="18" charset="2"/>
              </a:rPr>
              <a:t>+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s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for </a:t>
            </a:r>
            <a:r>
              <a:rPr lang="en-US" altLang="en-US" sz="2000" u="sng" dirty="0"/>
              <a:t>worst</a:t>
            </a:r>
            <a:r>
              <a:rPr lang="en-US" altLang="en-US" sz="2000" dirty="0"/>
              <a:t> case</a:t>
            </a:r>
          </a:p>
          <a:p>
            <a:pPr eaLnBrk="1" hangingPunct="1"/>
            <a:r>
              <a:rPr lang="en-US" altLang="en-US" sz="2000" dirty="0"/>
              <a:t>Example of </a:t>
            </a:r>
            <a:r>
              <a:rPr lang="en-US" altLang="en-US" sz="2000" u="sng" dirty="0"/>
              <a:t>worst</a:t>
            </a:r>
            <a:r>
              <a:rPr lang="en-US" altLang="en-US" sz="2000" dirty="0"/>
              <a:t> case:</a:t>
            </a: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T </a:t>
            </a:r>
            <a:r>
              <a:rPr lang="en-US" altLang="en-US" sz="1800" dirty="0">
                <a:latin typeface="Symbol" panose="05050102010706020507" pitchFamily="18" charset="2"/>
              </a:rPr>
              <a:t>=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aaa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… a</a:t>
            </a: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</a:rPr>
              <a:t>P </a:t>
            </a:r>
            <a:r>
              <a:rPr lang="en-US" altLang="en-US" sz="1800" dirty="0">
                <a:latin typeface="Symbol" panose="05050102010706020507" pitchFamily="18" charset="2"/>
              </a:rPr>
              <a:t>=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baaa</a:t>
            </a:r>
            <a:endParaRPr lang="en-US" altLang="en-US" sz="1800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/>
              <a:t>The </a:t>
            </a:r>
            <a:r>
              <a:rPr lang="en-US" altLang="en-US" sz="2000" u="sng" dirty="0"/>
              <a:t>worst</a:t>
            </a:r>
            <a:r>
              <a:rPr lang="en-US" altLang="en-US" sz="2000" dirty="0"/>
              <a:t> case may occur in </a:t>
            </a:r>
            <a:r>
              <a:rPr lang="en-US" altLang="en-US" sz="2000" u="sng" dirty="0"/>
              <a:t>images and DNA</a:t>
            </a:r>
            <a:r>
              <a:rPr lang="en-US" altLang="en-US" sz="2000" dirty="0"/>
              <a:t> sequences but is unlikely in English text</a:t>
            </a:r>
          </a:p>
          <a:p>
            <a:pPr eaLnBrk="1" hangingPunct="1"/>
            <a:r>
              <a:rPr lang="en-US" altLang="en-US" sz="2000" dirty="0"/>
              <a:t>Boyer-Moore’s algorithm is significantly </a:t>
            </a:r>
            <a:r>
              <a:rPr lang="en-US" altLang="en-US" sz="2000" u="sng" dirty="0"/>
              <a:t>faster</a:t>
            </a:r>
            <a:r>
              <a:rPr lang="en-US" altLang="en-US" sz="2000" dirty="0"/>
              <a:t> than the brute-force algorithm on </a:t>
            </a:r>
            <a:r>
              <a:rPr lang="en-US" altLang="en-US" sz="2000" u="sng" dirty="0"/>
              <a:t>English text</a:t>
            </a:r>
          </a:p>
        </p:txBody>
      </p:sp>
      <p:graphicFrame>
        <p:nvGraphicFramePr>
          <p:cNvPr id="26629" name="Object 7"/>
          <p:cNvGraphicFramePr>
            <a:graphicFrameLocks noChangeAspect="1"/>
          </p:cNvGraphicFramePr>
          <p:nvPr/>
        </p:nvGraphicFramePr>
        <p:xfrm>
          <a:off x="4572000" y="1828800"/>
          <a:ext cx="4103688" cy="394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42880" imgH="2266560" progId="Visio.Drawing.6">
                  <p:embed/>
                </p:oleObj>
              </mc:Choice>
              <mc:Fallback>
                <p:oleObj name="VISIO" r:id="rId3" imgW="2342880" imgH="2266560" progId="Visio.Drawing.6">
                  <p:embed/>
                  <p:pic>
                    <p:nvPicPr>
                      <p:cNvPr id="2662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828800"/>
                        <a:ext cx="4103688" cy="394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D0D963-B1F3-4394-99AC-D7F11E0D025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KMP Algorithm - Motivation</a:t>
            </a:r>
          </a:p>
        </p:txBody>
      </p:sp>
      <p:sp>
        <p:nvSpPr>
          <p:cNvPr id="2765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4038600" cy="46482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Knuth-Morris-Pratt’s algorithm compares the pattern to the text in </a:t>
            </a:r>
            <a:r>
              <a:rPr lang="en-US" altLang="en-US" sz="2000" b="1" dirty="0">
                <a:solidFill>
                  <a:schemeClr val="tx2"/>
                </a:solidFill>
              </a:rPr>
              <a:t>left-to-right</a:t>
            </a:r>
            <a:r>
              <a:rPr lang="en-US" altLang="en-US" sz="2000" dirty="0"/>
              <a:t>, but shifts the pattern more intelligently than the brute-force algorithm. </a:t>
            </a:r>
          </a:p>
          <a:p>
            <a:pPr eaLnBrk="1" hangingPunct="1"/>
            <a:r>
              <a:rPr lang="en-US" altLang="en-US" sz="2000" dirty="0"/>
              <a:t>When a mismatch occurs, what is the </a:t>
            </a:r>
            <a:r>
              <a:rPr lang="en-US" altLang="en-US" sz="2000" b="1" dirty="0">
                <a:solidFill>
                  <a:schemeClr val="tx2"/>
                </a:solidFill>
              </a:rPr>
              <a:t>most</a:t>
            </a:r>
            <a:r>
              <a:rPr lang="en-US" altLang="en-US" sz="2000" dirty="0"/>
              <a:t> we can shift the pattern so as to </a:t>
            </a:r>
            <a:r>
              <a:rPr lang="en-US" altLang="en-US" sz="2000" u="sng" dirty="0"/>
              <a:t>avoid redundant comparisons</a:t>
            </a:r>
            <a:r>
              <a:rPr lang="en-US" altLang="en-US" sz="2000" dirty="0"/>
              <a:t>?</a:t>
            </a:r>
          </a:p>
          <a:p>
            <a:pPr eaLnBrk="1" hangingPunct="1"/>
            <a:r>
              <a:rPr lang="en-US" altLang="en-US" sz="2000" dirty="0"/>
              <a:t>Answer: the largest prefix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2000" dirty="0">
                <a:latin typeface="Times New Roman" panose="02020603050405020304" pitchFamily="18" charset="0"/>
              </a:rPr>
              <a:t>[0..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]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that is a suffix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2000" dirty="0">
                <a:latin typeface="Times New Roman" panose="02020603050405020304" pitchFamily="18" charset="0"/>
              </a:rPr>
              <a:t>[1..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27653" name="Rectangle 62"/>
          <p:cNvSpPr>
            <a:spLocks noChangeArrowheads="1"/>
          </p:cNvSpPr>
          <p:nvPr/>
        </p:nvSpPr>
        <p:spPr bwMode="auto">
          <a:xfrm>
            <a:off x="6864350" y="2438400"/>
            <a:ext cx="341313" cy="341313"/>
          </a:xfrm>
          <a:prstGeom prst="rect">
            <a:avLst/>
          </a:prstGeom>
          <a:solidFill>
            <a:srgbClr val="CFD1FD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54" name="Rectangle 63"/>
          <p:cNvSpPr>
            <a:spLocks noChangeArrowheads="1"/>
          </p:cNvSpPr>
          <p:nvPr/>
        </p:nvSpPr>
        <p:spPr bwMode="auto">
          <a:xfrm>
            <a:off x="7024037" y="2451100"/>
            <a:ext cx="13465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 dirty="0">
                <a:solidFill>
                  <a:srgbClr val="40458C"/>
                </a:solidFill>
                <a:latin typeface="Times New Roman" panose="02020603050405020304" pitchFamily="18" charset="0"/>
              </a:rPr>
              <a:t>b</a:t>
            </a:r>
            <a:endParaRPr lang="en-US" altLang="en-US" sz="2400" dirty="0"/>
          </a:p>
        </p:txBody>
      </p:sp>
      <p:sp>
        <p:nvSpPr>
          <p:cNvPr id="27655" name="Rectangle 64"/>
          <p:cNvSpPr>
            <a:spLocks noChangeArrowheads="1"/>
          </p:cNvSpPr>
          <p:nvPr/>
        </p:nvSpPr>
        <p:spPr bwMode="auto">
          <a:xfrm>
            <a:off x="7023100" y="3854450"/>
            <a:ext cx="746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j</a:t>
            </a:r>
            <a:endParaRPr lang="en-US" altLang="en-US" sz="2400"/>
          </a:p>
        </p:txBody>
      </p:sp>
      <p:sp>
        <p:nvSpPr>
          <p:cNvPr id="27656" name="Line 65"/>
          <p:cNvSpPr>
            <a:spLocks noChangeShapeType="1"/>
          </p:cNvSpPr>
          <p:nvPr/>
        </p:nvSpPr>
        <p:spPr bwMode="auto">
          <a:xfrm>
            <a:off x="6864350" y="2779713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57" name="Line 66"/>
          <p:cNvSpPr>
            <a:spLocks noChangeShapeType="1"/>
          </p:cNvSpPr>
          <p:nvPr/>
        </p:nvSpPr>
        <p:spPr bwMode="auto">
          <a:xfrm>
            <a:off x="6864350" y="3073400"/>
            <a:ext cx="1588" cy="182563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58" name="Line 67"/>
          <p:cNvSpPr>
            <a:spLocks noChangeShapeType="1"/>
          </p:cNvSpPr>
          <p:nvPr/>
        </p:nvSpPr>
        <p:spPr bwMode="auto">
          <a:xfrm>
            <a:off x="6864350" y="3368675"/>
            <a:ext cx="1588" cy="182563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59" name="Line 68"/>
          <p:cNvSpPr>
            <a:spLocks noChangeShapeType="1"/>
          </p:cNvSpPr>
          <p:nvPr/>
        </p:nvSpPr>
        <p:spPr bwMode="auto">
          <a:xfrm>
            <a:off x="6864350" y="3663950"/>
            <a:ext cx="1588" cy="182563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0" name="Line 69"/>
          <p:cNvSpPr>
            <a:spLocks noChangeShapeType="1"/>
          </p:cNvSpPr>
          <p:nvPr/>
        </p:nvSpPr>
        <p:spPr bwMode="auto">
          <a:xfrm>
            <a:off x="6864350" y="3959225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1" name="Line 70"/>
          <p:cNvSpPr>
            <a:spLocks noChangeShapeType="1"/>
          </p:cNvSpPr>
          <p:nvPr/>
        </p:nvSpPr>
        <p:spPr bwMode="auto">
          <a:xfrm>
            <a:off x="6864350" y="4254500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2" name="Line 71"/>
          <p:cNvSpPr>
            <a:spLocks noChangeShapeType="1"/>
          </p:cNvSpPr>
          <p:nvPr/>
        </p:nvSpPr>
        <p:spPr bwMode="auto">
          <a:xfrm>
            <a:off x="6864350" y="4549775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3" name="Line 72"/>
          <p:cNvSpPr>
            <a:spLocks noChangeShapeType="1"/>
          </p:cNvSpPr>
          <p:nvPr/>
        </p:nvSpPr>
        <p:spPr bwMode="auto">
          <a:xfrm>
            <a:off x="6864350" y="4845050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4" name="Line 73"/>
          <p:cNvSpPr>
            <a:spLocks noChangeShapeType="1"/>
          </p:cNvSpPr>
          <p:nvPr/>
        </p:nvSpPr>
        <p:spPr bwMode="auto">
          <a:xfrm>
            <a:off x="6864350" y="5140325"/>
            <a:ext cx="1588" cy="180975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5" name="Line 74"/>
          <p:cNvSpPr>
            <a:spLocks noChangeShapeType="1"/>
          </p:cNvSpPr>
          <p:nvPr/>
        </p:nvSpPr>
        <p:spPr bwMode="auto">
          <a:xfrm>
            <a:off x="6864350" y="5434013"/>
            <a:ext cx="1588" cy="68262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6" name="Rectangle 75"/>
          <p:cNvSpPr>
            <a:spLocks noChangeArrowheads="1"/>
          </p:cNvSpPr>
          <p:nvPr/>
        </p:nvSpPr>
        <p:spPr bwMode="auto">
          <a:xfrm>
            <a:off x="4471988" y="2438400"/>
            <a:ext cx="341312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67" name="Rectangle 76"/>
          <p:cNvSpPr>
            <a:spLocks noChangeArrowheads="1"/>
          </p:cNvSpPr>
          <p:nvPr/>
        </p:nvSpPr>
        <p:spPr bwMode="auto">
          <a:xfrm>
            <a:off x="4659313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en-US" sz="2400"/>
          </a:p>
        </p:txBody>
      </p:sp>
      <p:sp>
        <p:nvSpPr>
          <p:cNvPr id="27668" name="Rectangle 77"/>
          <p:cNvSpPr>
            <a:spLocks noChangeArrowheads="1"/>
          </p:cNvSpPr>
          <p:nvPr/>
        </p:nvSpPr>
        <p:spPr bwMode="auto">
          <a:xfrm>
            <a:off x="4813300" y="2438400"/>
            <a:ext cx="341313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69" name="Rectangle 78"/>
          <p:cNvSpPr>
            <a:spLocks noChangeArrowheads="1"/>
          </p:cNvSpPr>
          <p:nvPr/>
        </p:nvSpPr>
        <p:spPr bwMode="auto">
          <a:xfrm>
            <a:off x="5000625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en-US" sz="2400"/>
          </a:p>
        </p:txBody>
      </p:sp>
      <p:sp>
        <p:nvSpPr>
          <p:cNvPr id="27670" name="Rectangle 79"/>
          <p:cNvSpPr>
            <a:spLocks noChangeArrowheads="1"/>
          </p:cNvSpPr>
          <p:nvPr/>
        </p:nvSpPr>
        <p:spPr bwMode="auto">
          <a:xfrm>
            <a:off x="5154613" y="2438400"/>
            <a:ext cx="342900" cy="341313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71" name="Rectangle 80"/>
          <p:cNvSpPr>
            <a:spLocks noChangeArrowheads="1"/>
          </p:cNvSpPr>
          <p:nvPr/>
        </p:nvSpPr>
        <p:spPr bwMode="auto">
          <a:xfrm>
            <a:off x="5314950" y="24511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a</a:t>
            </a:r>
            <a:endParaRPr lang="en-US" altLang="en-US" sz="2400"/>
          </a:p>
        </p:txBody>
      </p:sp>
      <p:sp>
        <p:nvSpPr>
          <p:cNvPr id="27672" name="Rectangle 81"/>
          <p:cNvSpPr>
            <a:spLocks noChangeArrowheads="1"/>
          </p:cNvSpPr>
          <p:nvPr/>
        </p:nvSpPr>
        <p:spPr bwMode="auto">
          <a:xfrm>
            <a:off x="5497513" y="2438400"/>
            <a:ext cx="341312" cy="341313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73" name="Rectangle 82"/>
          <p:cNvSpPr>
            <a:spLocks noChangeArrowheads="1"/>
          </p:cNvSpPr>
          <p:nvPr/>
        </p:nvSpPr>
        <p:spPr bwMode="auto">
          <a:xfrm>
            <a:off x="5657850" y="24511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b</a:t>
            </a:r>
            <a:endParaRPr lang="en-US" altLang="en-US" sz="2400"/>
          </a:p>
        </p:txBody>
      </p:sp>
      <p:sp>
        <p:nvSpPr>
          <p:cNvPr id="27674" name="Rectangle 83"/>
          <p:cNvSpPr>
            <a:spLocks noChangeArrowheads="1"/>
          </p:cNvSpPr>
          <p:nvPr/>
        </p:nvSpPr>
        <p:spPr bwMode="auto">
          <a:xfrm>
            <a:off x="5838825" y="2438400"/>
            <a:ext cx="341313" cy="341313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75" name="Rectangle 84"/>
          <p:cNvSpPr>
            <a:spLocks noChangeArrowheads="1"/>
          </p:cNvSpPr>
          <p:nvPr/>
        </p:nvSpPr>
        <p:spPr bwMode="auto">
          <a:xfrm>
            <a:off x="5999163" y="24511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a</a:t>
            </a:r>
            <a:endParaRPr lang="en-US" altLang="en-US" sz="2400"/>
          </a:p>
        </p:txBody>
      </p:sp>
      <p:sp>
        <p:nvSpPr>
          <p:cNvPr id="27676" name="Rectangle 85"/>
          <p:cNvSpPr>
            <a:spLocks noChangeArrowheads="1"/>
          </p:cNvSpPr>
          <p:nvPr/>
        </p:nvSpPr>
        <p:spPr bwMode="auto">
          <a:xfrm>
            <a:off x="6180138" y="2438400"/>
            <a:ext cx="341312" cy="341313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77" name="Rectangle 86"/>
          <p:cNvSpPr>
            <a:spLocks noChangeArrowheads="1"/>
          </p:cNvSpPr>
          <p:nvPr/>
        </p:nvSpPr>
        <p:spPr bwMode="auto">
          <a:xfrm>
            <a:off x="6340475" y="24511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a</a:t>
            </a:r>
            <a:endParaRPr lang="en-US" altLang="en-US" sz="2400"/>
          </a:p>
        </p:txBody>
      </p:sp>
      <p:sp>
        <p:nvSpPr>
          <p:cNvPr id="27678" name="Rectangle 87"/>
          <p:cNvSpPr>
            <a:spLocks noChangeArrowheads="1"/>
          </p:cNvSpPr>
          <p:nvPr/>
        </p:nvSpPr>
        <p:spPr bwMode="auto">
          <a:xfrm>
            <a:off x="6521450" y="2438400"/>
            <a:ext cx="342900" cy="341313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79" name="Rectangle 88"/>
          <p:cNvSpPr>
            <a:spLocks noChangeArrowheads="1"/>
          </p:cNvSpPr>
          <p:nvPr/>
        </p:nvSpPr>
        <p:spPr bwMode="auto">
          <a:xfrm>
            <a:off x="6681788" y="245110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b</a:t>
            </a:r>
            <a:endParaRPr lang="en-US" altLang="en-US" sz="2400"/>
          </a:p>
        </p:txBody>
      </p:sp>
      <p:sp>
        <p:nvSpPr>
          <p:cNvPr id="27680" name="Rectangle 89"/>
          <p:cNvSpPr>
            <a:spLocks noChangeArrowheads="1"/>
          </p:cNvSpPr>
          <p:nvPr/>
        </p:nvSpPr>
        <p:spPr bwMode="auto">
          <a:xfrm>
            <a:off x="7205663" y="2438400"/>
            <a:ext cx="341312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81" name="Rectangle 90"/>
          <p:cNvSpPr>
            <a:spLocks noChangeArrowheads="1"/>
          </p:cNvSpPr>
          <p:nvPr/>
        </p:nvSpPr>
        <p:spPr bwMode="auto">
          <a:xfrm>
            <a:off x="7392988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en-US" sz="2400"/>
          </a:p>
        </p:txBody>
      </p:sp>
      <p:sp>
        <p:nvSpPr>
          <p:cNvPr id="27682" name="Rectangle 91"/>
          <p:cNvSpPr>
            <a:spLocks noChangeArrowheads="1"/>
          </p:cNvSpPr>
          <p:nvPr/>
        </p:nvSpPr>
        <p:spPr bwMode="auto">
          <a:xfrm>
            <a:off x="7546975" y="2438400"/>
            <a:ext cx="342900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83" name="Rectangle 92"/>
          <p:cNvSpPr>
            <a:spLocks noChangeArrowheads="1"/>
          </p:cNvSpPr>
          <p:nvPr/>
        </p:nvSpPr>
        <p:spPr bwMode="auto">
          <a:xfrm>
            <a:off x="7734300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en-US" sz="2400"/>
          </a:p>
        </p:txBody>
      </p:sp>
      <p:sp>
        <p:nvSpPr>
          <p:cNvPr id="27684" name="Rectangle 93"/>
          <p:cNvSpPr>
            <a:spLocks noChangeArrowheads="1"/>
          </p:cNvSpPr>
          <p:nvPr/>
        </p:nvSpPr>
        <p:spPr bwMode="auto">
          <a:xfrm>
            <a:off x="7889875" y="2438400"/>
            <a:ext cx="341313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85" name="Rectangle 94"/>
          <p:cNvSpPr>
            <a:spLocks noChangeArrowheads="1"/>
          </p:cNvSpPr>
          <p:nvPr/>
        </p:nvSpPr>
        <p:spPr bwMode="auto">
          <a:xfrm>
            <a:off x="8077200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en-US" sz="2400"/>
          </a:p>
        </p:txBody>
      </p:sp>
      <p:sp>
        <p:nvSpPr>
          <p:cNvPr id="27686" name="Rectangle 95"/>
          <p:cNvSpPr>
            <a:spLocks noChangeArrowheads="1"/>
          </p:cNvSpPr>
          <p:nvPr/>
        </p:nvSpPr>
        <p:spPr bwMode="auto">
          <a:xfrm>
            <a:off x="8231188" y="2438400"/>
            <a:ext cx="341312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87" name="Rectangle 96"/>
          <p:cNvSpPr>
            <a:spLocks noChangeArrowheads="1"/>
          </p:cNvSpPr>
          <p:nvPr/>
        </p:nvSpPr>
        <p:spPr bwMode="auto">
          <a:xfrm>
            <a:off x="8418513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en-US" sz="2400"/>
          </a:p>
        </p:txBody>
      </p:sp>
      <p:sp>
        <p:nvSpPr>
          <p:cNvPr id="27688" name="Rectangle 97"/>
          <p:cNvSpPr>
            <a:spLocks noChangeArrowheads="1"/>
          </p:cNvSpPr>
          <p:nvPr/>
        </p:nvSpPr>
        <p:spPr bwMode="auto">
          <a:xfrm>
            <a:off x="8572500" y="2438400"/>
            <a:ext cx="342900" cy="341313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89" name="Rectangle 98"/>
          <p:cNvSpPr>
            <a:spLocks noChangeArrowheads="1"/>
          </p:cNvSpPr>
          <p:nvPr/>
        </p:nvSpPr>
        <p:spPr bwMode="auto">
          <a:xfrm>
            <a:off x="8759825" y="2470150"/>
            <a:ext cx="57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en-US" sz="2400"/>
          </a:p>
        </p:txBody>
      </p:sp>
      <p:sp>
        <p:nvSpPr>
          <p:cNvPr id="27690" name="Rectangle 99"/>
          <p:cNvSpPr>
            <a:spLocks noChangeArrowheads="1"/>
          </p:cNvSpPr>
          <p:nvPr/>
        </p:nvSpPr>
        <p:spPr bwMode="auto">
          <a:xfrm>
            <a:off x="5154613" y="3459163"/>
            <a:ext cx="342900" cy="341312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91" name="Rectangle 100"/>
          <p:cNvSpPr>
            <a:spLocks noChangeArrowheads="1"/>
          </p:cNvSpPr>
          <p:nvPr/>
        </p:nvSpPr>
        <p:spPr bwMode="auto">
          <a:xfrm>
            <a:off x="5314950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a</a:t>
            </a:r>
            <a:endParaRPr lang="en-US" altLang="en-US" sz="2400"/>
          </a:p>
        </p:txBody>
      </p:sp>
      <p:sp>
        <p:nvSpPr>
          <p:cNvPr id="27692" name="Rectangle 101"/>
          <p:cNvSpPr>
            <a:spLocks noChangeArrowheads="1"/>
          </p:cNvSpPr>
          <p:nvPr/>
        </p:nvSpPr>
        <p:spPr bwMode="auto">
          <a:xfrm>
            <a:off x="5497513" y="3459163"/>
            <a:ext cx="341312" cy="341312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93" name="Rectangle 102"/>
          <p:cNvSpPr>
            <a:spLocks noChangeArrowheads="1"/>
          </p:cNvSpPr>
          <p:nvPr/>
        </p:nvSpPr>
        <p:spPr bwMode="auto">
          <a:xfrm>
            <a:off x="5657850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b</a:t>
            </a:r>
            <a:endParaRPr lang="en-US" altLang="en-US" sz="2400"/>
          </a:p>
        </p:txBody>
      </p:sp>
      <p:sp>
        <p:nvSpPr>
          <p:cNvPr id="27694" name="Rectangle 103"/>
          <p:cNvSpPr>
            <a:spLocks noChangeArrowheads="1"/>
          </p:cNvSpPr>
          <p:nvPr/>
        </p:nvSpPr>
        <p:spPr bwMode="auto">
          <a:xfrm>
            <a:off x="5838825" y="3459163"/>
            <a:ext cx="341313" cy="341312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95" name="Rectangle 104"/>
          <p:cNvSpPr>
            <a:spLocks noChangeArrowheads="1"/>
          </p:cNvSpPr>
          <p:nvPr/>
        </p:nvSpPr>
        <p:spPr bwMode="auto">
          <a:xfrm>
            <a:off x="5999163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a</a:t>
            </a:r>
            <a:endParaRPr lang="en-US" altLang="en-US" sz="2400"/>
          </a:p>
        </p:txBody>
      </p:sp>
      <p:sp>
        <p:nvSpPr>
          <p:cNvPr id="27696" name="Rectangle 105"/>
          <p:cNvSpPr>
            <a:spLocks noChangeArrowheads="1"/>
          </p:cNvSpPr>
          <p:nvPr/>
        </p:nvSpPr>
        <p:spPr bwMode="auto">
          <a:xfrm>
            <a:off x="6180138" y="3459163"/>
            <a:ext cx="341312" cy="341312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97" name="Rectangle 106"/>
          <p:cNvSpPr>
            <a:spLocks noChangeArrowheads="1"/>
          </p:cNvSpPr>
          <p:nvPr/>
        </p:nvSpPr>
        <p:spPr bwMode="auto">
          <a:xfrm>
            <a:off x="6340475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a</a:t>
            </a:r>
            <a:endParaRPr lang="en-US" altLang="en-US" sz="2400"/>
          </a:p>
        </p:txBody>
      </p:sp>
      <p:sp>
        <p:nvSpPr>
          <p:cNvPr id="27698" name="Rectangle 107"/>
          <p:cNvSpPr>
            <a:spLocks noChangeArrowheads="1"/>
          </p:cNvSpPr>
          <p:nvPr/>
        </p:nvSpPr>
        <p:spPr bwMode="auto">
          <a:xfrm>
            <a:off x="6521450" y="3459163"/>
            <a:ext cx="342900" cy="341312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99" name="Rectangle 108"/>
          <p:cNvSpPr>
            <a:spLocks noChangeArrowheads="1"/>
          </p:cNvSpPr>
          <p:nvPr/>
        </p:nvSpPr>
        <p:spPr bwMode="auto">
          <a:xfrm>
            <a:off x="6681788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b</a:t>
            </a:r>
            <a:endParaRPr lang="en-US" altLang="en-US" sz="2400"/>
          </a:p>
        </p:txBody>
      </p:sp>
      <p:sp>
        <p:nvSpPr>
          <p:cNvPr id="27700" name="Rectangle 109"/>
          <p:cNvSpPr>
            <a:spLocks noChangeArrowheads="1"/>
          </p:cNvSpPr>
          <p:nvPr/>
        </p:nvSpPr>
        <p:spPr bwMode="auto">
          <a:xfrm>
            <a:off x="6864350" y="3459163"/>
            <a:ext cx="341313" cy="341312"/>
          </a:xfrm>
          <a:prstGeom prst="rect">
            <a:avLst/>
          </a:prstGeom>
          <a:solidFill>
            <a:srgbClr val="CFD1FD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701" name="Rectangle 110"/>
          <p:cNvSpPr>
            <a:spLocks noChangeArrowheads="1"/>
          </p:cNvSpPr>
          <p:nvPr/>
        </p:nvSpPr>
        <p:spPr bwMode="auto">
          <a:xfrm>
            <a:off x="7024688" y="3473450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40458C"/>
                </a:solidFill>
                <a:latin typeface="Times New Roman" panose="02020603050405020304" pitchFamily="18" charset="0"/>
              </a:rPr>
              <a:t>a</a:t>
            </a:r>
            <a:endParaRPr lang="en-US" altLang="en-US" sz="2400"/>
          </a:p>
        </p:txBody>
      </p:sp>
      <p:sp>
        <p:nvSpPr>
          <p:cNvPr id="27702" name="Line 111"/>
          <p:cNvSpPr>
            <a:spLocks noChangeShapeType="1"/>
          </p:cNvSpPr>
          <p:nvPr/>
        </p:nvSpPr>
        <p:spPr bwMode="auto">
          <a:xfrm>
            <a:off x="6257925" y="4989513"/>
            <a:ext cx="496888" cy="1587"/>
          </a:xfrm>
          <a:prstGeom prst="line">
            <a:avLst/>
          </a:prstGeom>
          <a:noFill/>
          <a:ln w="22225">
            <a:solidFill>
              <a:srgbClr val="BE2D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703" name="Freeform 112"/>
          <p:cNvSpPr>
            <a:spLocks/>
          </p:cNvSpPr>
          <p:nvPr/>
        </p:nvSpPr>
        <p:spPr bwMode="auto">
          <a:xfrm>
            <a:off x="6148388" y="4921250"/>
            <a:ext cx="141287" cy="141288"/>
          </a:xfrm>
          <a:custGeom>
            <a:avLst/>
            <a:gdLst>
              <a:gd name="T0" fmla="*/ 0 w 89"/>
              <a:gd name="T1" fmla="*/ 2147483647 h 89"/>
              <a:gd name="T2" fmla="*/ 2147483647 w 89"/>
              <a:gd name="T3" fmla="*/ 0 h 89"/>
              <a:gd name="T4" fmla="*/ 2147483647 w 89"/>
              <a:gd name="T5" fmla="*/ 2147483647 h 89"/>
              <a:gd name="T6" fmla="*/ 2147483647 w 89"/>
              <a:gd name="T7" fmla="*/ 2147483647 h 89"/>
              <a:gd name="T8" fmla="*/ 2147483647 w 89"/>
              <a:gd name="T9" fmla="*/ 2147483647 h 89"/>
              <a:gd name="T10" fmla="*/ 2147483647 w 89"/>
              <a:gd name="T11" fmla="*/ 2147483647 h 89"/>
              <a:gd name="T12" fmla="*/ 2147483647 w 89"/>
              <a:gd name="T13" fmla="*/ 2147483647 h 89"/>
              <a:gd name="T14" fmla="*/ 2147483647 w 89"/>
              <a:gd name="T15" fmla="*/ 2147483647 h 89"/>
              <a:gd name="T16" fmla="*/ 2147483647 w 89"/>
              <a:gd name="T17" fmla="*/ 2147483647 h 89"/>
              <a:gd name="T18" fmla="*/ 2147483647 w 89"/>
              <a:gd name="T19" fmla="*/ 2147483647 h 89"/>
              <a:gd name="T20" fmla="*/ 2147483647 w 89"/>
              <a:gd name="T21" fmla="*/ 2147483647 h 89"/>
              <a:gd name="T22" fmla="*/ 2147483647 w 89"/>
              <a:gd name="T23" fmla="*/ 2147483647 h 89"/>
              <a:gd name="T24" fmla="*/ 2147483647 w 89"/>
              <a:gd name="T25" fmla="*/ 2147483647 h 89"/>
              <a:gd name="T26" fmla="*/ 2147483647 w 89"/>
              <a:gd name="T27" fmla="*/ 2147483647 h 89"/>
              <a:gd name="T28" fmla="*/ 2147483647 w 89"/>
              <a:gd name="T29" fmla="*/ 2147483647 h 89"/>
              <a:gd name="T30" fmla="*/ 0 w 89"/>
              <a:gd name="T31" fmla="*/ 2147483647 h 8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9" h="89">
                <a:moveTo>
                  <a:pt x="0" y="43"/>
                </a:moveTo>
                <a:lnTo>
                  <a:pt x="89" y="0"/>
                </a:lnTo>
                <a:lnTo>
                  <a:pt x="86" y="6"/>
                </a:lnTo>
                <a:lnTo>
                  <a:pt x="83" y="12"/>
                </a:lnTo>
                <a:lnTo>
                  <a:pt x="80" y="20"/>
                </a:lnTo>
                <a:lnTo>
                  <a:pt x="80" y="26"/>
                </a:lnTo>
                <a:lnTo>
                  <a:pt x="80" y="32"/>
                </a:lnTo>
                <a:lnTo>
                  <a:pt x="78" y="40"/>
                </a:lnTo>
                <a:lnTo>
                  <a:pt x="78" y="46"/>
                </a:lnTo>
                <a:lnTo>
                  <a:pt x="80" y="55"/>
                </a:lnTo>
                <a:lnTo>
                  <a:pt x="80" y="60"/>
                </a:lnTo>
                <a:lnTo>
                  <a:pt x="80" y="69"/>
                </a:lnTo>
                <a:lnTo>
                  <a:pt x="83" y="75"/>
                </a:lnTo>
                <a:lnTo>
                  <a:pt x="86" y="80"/>
                </a:lnTo>
                <a:lnTo>
                  <a:pt x="89" y="89"/>
                </a:lnTo>
                <a:lnTo>
                  <a:pt x="0" y="43"/>
                </a:lnTo>
                <a:close/>
              </a:path>
            </a:pathLst>
          </a:custGeom>
          <a:solidFill>
            <a:srgbClr val="BE2D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704" name="Freeform 113"/>
          <p:cNvSpPr>
            <a:spLocks/>
          </p:cNvSpPr>
          <p:nvPr/>
        </p:nvSpPr>
        <p:spPr bwMode="auto">
          <a:xfrm>
            <a:off x="6723063" y="4921250"/>
            <a:ext cx="141287" cy="141288"/>
          </a:xfrm>
          <a:custGeom>
            <a:avLst/>
            <a:gdLst>
              <a:gd name="T0" fmla="*/ 2147483647 w 89"/>
              <a:gd name="T1" fmla="*/ 2147483647 h 89"/>
              <a:gd name="T2" fmla="*/ 0 w 89"/>
              <a:gd name="T3" fmla="*/ 2147483647 h 89"/>
              <a:gd name="T4" fmla="*/ 2147483647 w 89"/>
              <a:gd name="T5" fmla="*/ 2147483647 h 89"/>
              <a:gd name="T6" fmla="*/ 2147483647 w 89"/>
              <a:gd name="T7" fmla="*/ 2147483647 h 89"/>
              <a:gd name="T8" fmla="*/ 2147483647 w 89"/>
              <a:gd name="T9" fmla="*/ 2147483647 h 89"/>
              <a:gd name="T10" fmla="*/ 2147483647 w 89"/>
              <a:gd name="T11" fmla="*/ 2147483647 h 89"/>
              <a:gd name="T12" fmla="*/ 2147483647 w 89"/>
              <a:gd name="T13" fmla="*/ 2147483647 h 89"/>
              <a:gd name="T14" fmla="*/ 2147483647 w 89"/>
              <a:gd name="T15" fmla="*/ 2147483647 h 89"/>
              <a:gd name="T16" fmla="*/ 2147483647 w 89"/>
              <a:gd name="T17" fmla="*/ 2147483647 h 89"/>
              <a:gd name="T18" fmla="*/ 2147483647 w 89"/>
              <a:gd name="T19" fmla="*/ 2147483647 h 89"/>
              <a:gd name="T20" fmla="*/ 2147483647 w 89"/>
              <a:gd name="T21" fmla="*/ 2147483647 h 89"/>
              <a:gd name="T22" fmla="*/ 2147483647 w 89"/>
              <a:gd name="T23" fmla="*/ 2147483647 h 89"/>
              <a:gd name="T24" fmla="*/ 2147483647 w 89"/>
              <a:gd name="T25" fmla="*/ 2147483647 h 89"/>
              <a:gd name="T26" fmla="*/ 2147483647 w 89"/>
              <a:gd name="T27" fmla="*/ 2147483647 h 89"/>
              <a:gd name="T28" fmla="*/ 0 w 89"/>
              <a:gd name="T29" fmla="*/ 0 h 89"/>
              <a:gd name="T30" fmla="*/ 2147483647 w 89"/>
              <a:gd name="T31" fmla="*/ 2147483647 h 8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9" h="89">
                <a:moveTo>
                  <a:pt x="89" y="43"/>
                </a:moveTo>
                <a:lnTo>
                  <a:pt x="0" y="89"/>
                </a:lnTo>
                <a:lnTo>
                  <a:pt x="3" y="80"/>
                </a:lnTo>
                <a:lnTo>
                  <a:pt x="5" y="75"/>
                </a:lnTo>
                <a:lnTo>
                  <a:pt x="5" y="69"/>
                </a:lnTo>
                <a:lnTo>
                  <a:pt x="8" y="60"/>
                </a:lnTo>
                <a:lnTo>
                  <a:pt x="8" y="55"/>
                </a:lnTo>
                <a:lnTo>
                  <a:pt x="8" y="46"/>
                </a:lnTo>
                <a:lnTo>
                  <a:pt x="8" y="40"/>
                </a:lnTo>
                <a:lnTo>
                  <a:pt x="8" y="32"/>
                </a:lnTo>
                <a:lnTo>
                  <a:pt x="8" y="26"/>
                </a:lnTo>
                <a:lnTo>
                  <a:pt x="5" y="20"/>
                </a:lnTo>
                <a:lnTo>
                  <a:pt x="5" y="12"/>
                </a:lnTo>
                <a:lnTo>
                  <a:pt x="3" y="6"/>
                </a:lnTo>
                <a:lnTo>
                  <a:pt x="0" y="0"/>
                </a:lnTo>
                <a:lnTo>
                  <a:pt x="89" y="43"/>
                </a:lnTo>
                <a:close/>
              </a:path>
            </a:pathLst>
          </a:custGeom>
          <a:solidFill>
            <a:srgbClr val="BE2D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705" name="Rectangle 120"/>
          <p:cNvSpPr>
            <a:spLocks noChangeArrowheads="1"/>
          </p:cNvSpPr>
          <p:nvPr/>
        </p:nvSpPr>
        <p:spPr bwMode="auto">
          <a:xfrm>
            <a:off x="6180138" y="4481513"/>
            <a:ext cx="341312" cy="339725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706" name="Rectangle 121"/>
          <p:cNvSpPr>
            <a:spLocks noChangeArrowheads="1"/>
          </p:cNvSpPr>
          <p:nvPr/>
        </p:nvSpPr>
        <p:spPr bwMode="auto">
          <a:xfrm>
            <a:off x="6340475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a</a:t>
            </a:r>
            <a:endParaRPr lang="en-US" altLang="en-US" sz="2400"/>
          </a:p>
        </p:txBody>
      </p:sp>
      <p:sp>
        <p:nvSpPr>
          <p:cNvPr id="27707" name="Rectangle 122"/>
          <p:cNvSpPr>
            <a:spLocks noChangeArrowheads="1"/>
          </p:cNvSpPr>
          <p:nvPr/>
        </p:nvSpPr>
        <p:spPr bwMode="auto">
          <a:xfrm>
            <a:off x="6521450" y="4481513"/>
            <a:ext cx="342900" cy="339725"/>
          </a:xfrm>
          <a:prstGeom prst="rect">
            <a:avLst/>
          </a:prstGeom>
          <a:solidFill>
            <a:srgbClr val="ECD882"/>
          </a:solidFill>
          <a:ln w="14288">
            <a:solidFill>
              <a:srgbClr val="40458C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708" name="Rectangle 123"/>
          <p:cNvSpPr>
            <a:spLocks noChangeArrowheads="1"/>
          </p:cNvSpPr>
          <p:nvPr/>
        </p:nvSpPr>
        <p:spPr bwMode="auto">
          <a:xfrm>
            <a:off x="6681788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BE2D00"/>
                </a:solidFill>
                <a:latin typeface="Times New Roman" panose="02020603050405020304" pitchFamily="18" charset="0"/>
              </a:rPr>
              <a:t>b</a:t>
            </a:r>
            <a:endParaRPr lang="en-US" altLang="en-US" sz="2400"/>
          </a:p>
        </p:txBody>
      </p:sp>
      <p:sp>
        <p:nvSpPr>
          <p:cNvPr id="27709" name="Rectangle 124"/>
          <p:cNvSpPr>
            <a:spLocks noChangeArrowheads="1"/>
          </p:cNvSpPr>
          <p:nvPr/>
        </p:nvSpPr>
        <p:spPr bwMode="auto">
          <a:xfrm>
            <a:off x="6864350" y="4481513"/>
            <a:ext cx="341313" cy="339725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710" name="Rectangle 125"/>
          <p:cNvSpPr>
            <a:spLocks noChangeArrowheads="1"/>
          </p:cNvSpPr>
          <p:nvPr/>
        </p:nvSpPr>
        <p:spPr bwMode="auto">
          <a:xfrm>
            <a:off x="7024688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40458C"/>
                </a:solidFill>
                <a:latin typeface="Times New Roman" panose="02020603050405020304" pitchFamily="18" charset="0"/>
              </a:rPr>
              <a:t>a</a:t>
            </a:r>
            <a:endParaRPr lang="en-US" altLang="en-US" sz="2400"/>
          </a:p>
        </p:txBody>
      </p:sp>
      <p:sp>
        <p:nvSpPr>
          <p:cNvPr id="27711" name="Rectangle 126"/>
          <p:cNvSpPr>
            <a:spLocks noChangeArrowheads="1"/>
          </p:cNvSpPr>
          <p:nvPr/>
        </p:nvSpPr>
        <p:spPr bwMode="auto">
          <a:xfrm>
            <a:off x="7205663" y="4481513"/>
            <a:ext cx="341312" cy="339725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712" name="Rectangle 127"/>
          <p:cNvSpPr>
            <a:spLocks noChangeArrowheads="1"/>
          </p:cNvSpPr>
          <p:nvPr/>
        </p:nvSpPr>
        <p:spPr bwMode="auto">
          <a:xfrm>
            <a:off x="7366000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40458C"/>
                </a:solidFill>
                <a:latin typeface="Times New Roman" panose="02020603050405020304" pitchFamily="18" charset="0"/>
              </a:rPr>
              <a:t>a</a:t>
            </a:r>
            <a:endParaRPr lang="en-US" altLang="en-US" sz="2400"/>
          </a:p>
        </p:txBody>
      </p:sp>
      <p:sp>
        <p:nvSpPr>
          <p:cNvPr id="27713" name="Rectangle 128"/>
          <p:cNvSpPr>
            <a:spLocks noChangeArrowheads="1"/>
          </p:cNvSpPr>
          <p:nvPr/>
        </p:nvSpPr>
        <p:spPr bwMode="auto">
          <a:xfrm>
            <a:off x="7546975" y="4481513"/>
            <a:ext cx="342900" cy="339725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714" name="Rectangle 129"/>
          <p:cNvSpPr>
            <a:spLocks noChangeArrowheads="1"/>
          </p:cNvSpPr>
          <p:nvPr/>
        </p:nvSpPr>
        <p:spPr bwMode="auto">
          <a:xfrm>
            <a:off x="7707313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40458C"/>
                </a:solidFill>
                <a:latin typeface="Times New Roman" panose="02020603050405020304" pitchFamily="18" charset="0"/>
              </a:rPr>
              <a:t>b</a:t>
            </a:r>
            <a:endParaRPr lang="en-US" altLang="en-US" sz="2400"/>
          </a:p>
        </p:txBody>
      </p:sp>
      <p:sp>
        <p:nvSpPr>
          <p:cNvPr id="27715" name="Rectangle 130"/>
          <p:cNvSpPr>
            <a:spLocks noChangeArrowheads="1"/>
          </p:cNvSpPr>
          <p:nvPr/>
        </p:nvSpPr>
        <p:spPr bwMode="auto">
          <a:xfrm>
            <a:off x="7889875" y="4481513"/>
            <a:ext cx="341313" cy="339725"/>
          </a:xfrm>
          <a:prstGeom prst="rect">
            <a:avLst/>
          </a:prstGeom>
          <a:noFill/>
          <a:ln w="14288">
            <a:solidFill>
              <a:srgbClr val="40458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716" name="Rectangle 131"/>
          <p:cNvSpPr>
            <a:spLocks noChangeArrowheads="1"/>
          </p:cNvSpPr>
          <p:nvPr/>
        </p:nvSpPr>
        <p:spPr bwMode="auto">
          <a:xfrm>
            <a:off x="8050213" y="44942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 i="1">
                <a:solidFill>
                  <a:srgbClr val="40458C"/>
                </a:solidFill>
                <a:latin typeface="Times New Roman" panose="02020603050405020304" pitchFamily="18" charset="0"/>
              </a:rPr>
              <a:t>a</a:t>
            </a:r>
            <a:endParaRPr lang="en-US" altLang="en-US" sz="2400"/>
          </a:p>
        </p:txBody>
      </p:sp>
      <p:sp>
        <p:nvSpPr>
          <p:cNvPr id="27717" name="Text Box 132"/>
          <p:cNvSpPr txBox="1">
            <a:spLocks noChangeArrowheads="1"/>
          </p:cNvSpPr>
          <p:nvPr/>
        </p:nvSpPr>
        <p:spPr bwMode="auto">
          <a:xfrm>
            <a:off x="4800600" y="5181600"/>
            <a:ext cx="18684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No need 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repeat these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comparisons</a:t>
            </a:r>
          </a:p>
        </p:txBody>
      </p:sp>
      <p:sp>
        <p:nvSpPr>
          <p:cNvPr id="27718" name="Line 133"/>
          <p:cNvSpPr>
            <a:spLocks noChangeShapeType="1"/>
          </p:cNvSpPr>
          <p:nvPr/>
        </p:nvSpPr>
        <p:spPr bwMode="auto">
          <a:xfrm flipV="1">
            <a:off x="6553200" y="5029200"/>
            <a:ext cx="76200" cy="533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719" name="Text Box 134"/>
          <p:cNvSpPr txBox="1">
            <a:spLocks noChangeArrowheads="1"/>
          </p:cNvSpPr>
          <p:nvPr/>
        </p:nvSpPr>
        <p:spPr bwMode="auto">
          <a:xfrm>
            <a:off x="7315200" y="5257800"/>
            <a:ext cx="15922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Resume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comparing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here</a:t>
            </a:r>
          </a:p>
        </p:txBody>
      </p:sp>
      <p:sp>
        <p:nvSpPr>
          <p:cNvPr id="27720" name="Line 135"/>
          <p:cNvSpPr>
            <a:spLocks noChangeShapeType="1"/>
          </p:cNvSpPr>
          <p:nvPr/>
        </p:nvSpPr>
        <p:spPr bwMode="auto">
          <a:xfrm flipH="1" flipV="1">
            <a:off x="7086600" y="4953000"/>
            <a:ext cx="3048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ECD45C-1596-459F-80B3-546830A3F70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867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KMP Failure Function</a:t>
            </a:r>
          </a:p>
        </p:txBody>
      </p:sp>
      <p:sp>
        <p:nvSpPr>
          <p:cNvPr id="28676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3886200" cy="46482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Knuth-Morris-Pratt’s algorithm preprocesses the pattern to find matches of prefixes of the pattern with the pattern itself</a:t>
            </a:r>
          </a:p>
          <a:p>
            <a:pPr eaLnBrk="1" hangingPunct="1"/>
            <a:r>
              <a:rPr lang="en-US" altLang="en-US" sz="2000" dirty="0"/>
              <a:t>The </a:t>
            </a:r>
            <a:r>
              <a:rPr lang="en-US" altLang="en-US" sz="2000" b="1" dirty="0">
                <a:solidFill>
                  <a:schemeClr val="tx2"/>
                </a:solidFill>
              </a:rPr>
              <a:t>failure function</a:t>
            </a:r>
            <a:r>
              <a:rPr lang="en-US" altLang="en-US" sz="2000" dirty="0"/>
              <a:t>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F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is defined as the size of the </a:t>
            </a:r>
            <a:r>
              <a:rPr lang="en-US" altLang="en-US" sz="2000" u="sng" dirty="0"/>
              <a:t>largest prefix</a:t>
            </a:r>
            <a:r>
              <a:rPr lang="en-US" altLang="en-US" sz="2000" dirty="0"/>
              <a:t>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2000" dirty="0">
                <a:latin typeface="Times New Roman" panose="02020603050405020304" pitchFamily="18" charset="0"/>
              </a:rPr>
              <a:t>[0..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]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that is also a </a:t>
            </a:r>
            <a:r>
              <a:rPr lang="en-US" altLang="en-US" sz="2000" u="sng" dirty="0"/>
              <a:t>suffix</a:t>
            </a:r>
            <a:r>
              <a:rPr lang="en-US" altLang="en-US" sz="2000" dirty="0"/>
              <a:t>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2000" dirty="0">
                <a:latin typeface="Times New Roman" panose="02020603050405020304" pitchFamily="18" charset="0"/>
              </a:rPr>
              <a:t>[1..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]</a:t>
            </a:r>
          </a:p>
          <a:p>
            <a:pPr eaLnBrk="1" hangingPunct="1"/>
            <a:r>
              <a:rPr lang="en-US" altLang="en-US" sz="2000" dirty="0"/>
              <a:t>Knuth-Morris-Pratt’s algorithm modifies the brute-force algorithm so that if a mismatch occurs at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P</a:t>
            </a:r>
            <a:r>
              <a:rPr lang="en-US" altLang="en-US" sz="2000" dirty="0"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j</a:t>
            </a:r>
            <a:r>
              <a:rPr lang="en-US" altLang="en-US" sz="2000" dirty="0">
                <a:latin typeface="Times New Roman" panose="02020603050405020304" pitchFamily="18" charset="0"/>
              </a:rPr>
              <a:t>]</a:t>
            </a:r>
            <a:r>
              <a:rPr lang="en-US" altLang="en-US" sz="2000" dirty="0">
                <a:latin typeface="Symbol" panose="05050102010706020507" pitchFamily="18" charset="2"/>
              </a:rPr>
              <a:t> </a:t>
            </a:r>
            <a:r>
              <a:rPr lang="en-US" alt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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] </a:t>
            </a:r>
            <a:r>
              <a:rPr lang="en-US" altLang="en-US" sz="2000" dirty="0"/>
              <a:t>we set 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j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F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78180" name="Group 1028"/>
          <p:cNvGraphicFramePr>
            <a:graphicFrameLocks noGrp="1"/>
          </p:cNvGraphicFramePr>
          <p:nvPr/>
        </p:nvGraphicFramePr>
        <p:xfrm>
          <a:off x="5029200" y="1752600"/>
          <a:ext cx="3505200" cy="1128713"/>
        </p:xfrm>
        <a:graphic>
          <a:graphicData uri="http://schemas.openxmlformats.org/drawingml/2006/table">
            <a:tbl>
              <a:tblPr/>
              <a:tblGrid>
                <a:gridCol w="6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8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]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9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711" name="Object 1062"/>
          <p:cNvGraphicFramePr>
            <a:graphicFrameLocks noChangeAspect="1"/>
          </p:cNvGraphicFramePr>
          <p:nvPr/>
        </p:nvGraphicFramePr>
        <p:xfrm>
          <a:off x="4191000" y="2971800"/>
          <a:ext cx="4648200" cy="351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06080" imgH="2358000" progId="Visio.Drawing.6">
                  <p:embed/>
                </p:oleObj>
              </mc:Choice>
              <mc:Fallback>
                <p:oleObj name="VISIO" r:id="rId3" imgW="3106080" imgH="2358000" progId="Visio.Drawing.6">
                  <p:embed/>
                  <p:pic>
                    <p:nvPicPr>
                      <p:cNvPr id="28711" name="Object 1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971800"/>
                        <a:ext cx="4648200" cy="351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30D962-DF23-4AE6-A764-48A33EFC3AA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KMP Algorithm</a:t>
            </a:r>
          </a:p>
        </p:txBody>
      </p:sp>
      <p:sp>
        <p:nvSpPr>
          <p:cNvPr id="2970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3962400" cy="4724400"/>
          </a:xfrm>
        </p:spPr>
        <p:txBody>
          <a:bodyPr/>
          <a:lstStyle/>
          <a:p>
            <a:pPr eaLnBrk="1" hangingPunct="1"/>
            <a:r>
              <a:rPr lang="en-US" altLang="en-US" sz="2000"/>
              <a:t>The failure function can be represented by an array and can be computed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m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  <a:p>
            <a:pPr eaLnBrk="1" hangingPunct="1"/>
            <a:r>
              <a:rPr lang="en-US" altLang="en-US" sz="2000"/>
              <a:t>At each iteration of the while-loop, either</a:t>
            </a:r>
          </a:p>
          <a:p>
            <a:pPr lvl="1" eaLnBrk="1" hangingPunct="1"/>
            <a:r>
              <a:rPr lang="en-US" altLang="en-US" sz="1800" b="1" i="1">
                <a:latin typeface="Times New Roman" panose="02020603050405020304" pitchFamily="18" charset="0"/>
              </a:rPr>
              <a:t>i</a:t>
            </a:r>
            <a:r>
              <a:rPr lang="en-US" altLang="en-US" sz="1800"/>
              <a:t> increases by one, or</a:t>
            </a:r>
          </a:p>
          <a:p>
            <a:pPr lvl="1" eaLnBrk="1" hangingPunct="1"/>
            <a:r>
              <a:rPr lang="en-US" altLang="en-US" sz="1800"/>
              <a:t>the shift amount </a:t>
            </a:r>
            <a:r>
              <a:rPr lang="en-US" altLang="en-US" sz="1800" b="1" i="1"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latin typeface="Symbol" panose="05050102010706020507" pitchFamily="18" charset="2"/>
              </a:rPr>
              <a:t>-</a:t>
            </a:r>
            <a:r>
              <a:rPr lang="en-US" altLang="en-US" sz="1800" b="1" i="1">
                <a:latin typeface="Times New Roman" panose="02020603050405020304" pitchFamily="18" charset="0"/>
              </a:rPr>
              <a:t> j</a:t>
            </a:r>
            <a:r>
              <a:rPr lang="en-US" altLang="en-US" sz="1800"/>
              <a:t> increases by at least one (observe that </a:t>
            </a: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en-US" sz="1800" b="1" i="1">
                <a:latin typeface="Times New Roman" panose="02020603050405020304" pitchFamily="18" charset="0"/>
              </a:rPr>
              <a:t>j</a:t>
            </a:r>
            <a:r>
              <a:rPr lang="en-US" altLang="en-US" sz="1800"/>
              <a:t>)</a:t>
            </a:r>
          </a:p>
          <a:p>
            <a:pPr eaLnBrk="1" hangingPunct="1"/>
            <a:r>
              <a:rPr lang="en-US" altLang="en-US" sz="2000"/>
              <a:t>Hence, there are no more than 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/>
              <a:t>iterations of the while-loop</a:t>
            </a:r>
          </a:p>
          <a:p>
            <a:pPr eaLnBrk="1" hangingPunct="1"/>
            <a:r>
              <a:rPr lang="en-US" altLang="en-US" sz="2000"/>
              <a:t>Thus, KMP’s algorithm runs in optimal time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m </a:t>
            </a:r>
            <a:r>
              <a:rPr lang="en-US" altLang="en-US" sz="2000">
                <a:latin typeface="Symbol" panose="05050102010706020507" pitchFamily="18" charset="2"/>
              </a:rPr>
              <a:t>+</a:t>
            </a:r>
            <a:r>
              <a:rPr lang="en-US" altLang="en-US" sz="2000" b="1" i="1">
                <a:latin typeface="Times New Roman" panose="02020603050405020304" pitchFamily="18" charset="0"/>
              </a:rPr>
              <a:t> 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4876800" y="1600200"/>
            <a:ext cx="3886200" cy="43862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KMPMatch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T, P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failureFunction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if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u="sng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if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</a:rPr>
              <a:t>{ match 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if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&gt;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800" u="sng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return 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en-US" sz="1800">
                <a:latin typeface="Times New Roman" panose="02020603050405020304" pitchFamily="18" charset="0"/>
              </a:rPr>
              <a:t>{ no match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074F0F-2495-43B9-B739-26ED133F999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Computing the Failure Function</a:t>
            </a:r>
          </a:p>
        </p:txBody>
      </p:sp>
      <p:sp>
        <p:nvSpPr>
          <p:cNvPr id="307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3962400" cy="47244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The failure function can be represented by an array and can be computed 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m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</a:t>
            </a:r>
          </a:p>
          <a:p>
            <a:pPr eaLnBrk="1" hangingPunct="1"/>
            <a:r>
              <a:rPr lang="en-US" altLang="en-US" sz="2000" dirty="0"/>
              <a:t>The construction is similar to the </a:t>
            </a:r>
            <a:r>
              <a:rPr lang="en-US" altLang="en-US" sz="2000" dirty="0" err="1"/>
              <a:t>KMP</a:t>
            </a:r>
            <a:r>
              <a:rPr lang="en-US" altLang="en-US" sz="2000" dirty="0"/>
              <a:t> algorithm itself</a:t>
            </a:r>
          </a:p>
          <a:p>
            <a:pPr eaLnBrk="1" hangingPunct="1"/>
            <a:r>
              <a:rPr lang="en-US" altLang="en-US" sz="2000" dirty="0"/>
              <a:t>At each iteration of the while-loop, either</a:t>
            </a:r>
          </a:p>
          <a:p>
            <a:pPr lvl="1" eaLnBrk="1" hangingPunct="1"/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dirty="0"/>
              <a:t> increases by one, or</a:t>
            </a:r>
          </a:p>
          <a:p>
            <a:pPr lvl="1" eaLnBrk="1" hangingPunct="1"/>
            <a:r>
              <a:rPr lang="en-US" altLang="en-US" sz="1800" dirty="0"/>
              <a:t>the shift amount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anose="05050102010706020507" pitchFamily="18" charset="2"/>
              </a:rPr>
              <a:t>-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j</a:t>
            </a:r>
            <a:r>
              <a:rPr lang="en-US" altLang="en-US" sz="1800" dirty="0"/>
              <a:t> increases by at least one (observe that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F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j</a:t>
            </a:r>
            <a:r>
              <a:rPr lang="en-US" altLang="en-US" sz="1800" dirty="0"/>
              <a:t>)</a:t>
            </a:r>
          </a:p>
          <a:p>
            <a:pPr eaLnBrk="1" hangingPunct="1"/>
            <a:r>
              <a:rPr lang="en-US" altLang="en-US" sz="2000" dirty="0"/>
              <a:t>Hence, there are no more than </a:t>
            </a:r>
            <a:r>
              <a:rPr lang="en-US" altLang="en-US" sz="2000" dirty="0">
                <a:latin typeface="Times New Roman" panose="02020603050405020304" pitchFamily="18" charset="0"/>
              </a:rPr>
              <a:t>2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m </a:t>
            </a:r>
            <a:r>
              <a:rPr lang="en-US" altLang="en-US" sz="2000" dirty="0"/>
              <a:t>iterations of the while-loop</a:t>
            </a:r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4648200" y="2128838"/>
            <a:ext cx="4114800" cy="41195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342900" defTabSz="3429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3429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3429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3429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failureFunction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 sz="18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&lt;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if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u="sng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Symbol" panose="05050102010706020507" pitchFamily="18" charset="2"/>
              </a:rPr>
              <a:t>=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P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>
                <a:latin typeface="Times New Roman" panose="02020603050405020304" pitchFamily="18" charset="0"/>
              </a:rPr>
              <a:t>{we have matched </a:t>
            </a:r>
            <a:r>
              <a:rPr lang="en-US" altLang="en-US" sz="1800" b="1" i="1"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latin typeface="Times New Roman" panose="02020603050405020304" pitchFamily="18" charset="0"/>
              </a:rPr>
              <a:t>+ 1 chars}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 if 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&gt;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then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		{use failure function to shift </a:t>
            </a:r>
            <a:r>
              <a:rPr lang="en-US" altLang="en-US" sz="1800" b="1" i="1">
                <a:latin typeface="Times New Roman" panose="02020603050405020304" pitchFamily="18" charset="0"/>
              </a:rPr>
              <a:t>P</a:t>
            </a:r>
            <a:r>
              <a:rPr lang="en-US" altLang="en-US" sz="1800">
                <a:latin typeface="Times New Roman" panose="02020603050405020304" pitchFamily="18" charset="0"/>
              </a:rPr>
              <a:t>}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j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800" u="sng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endParaRPr lang="en-US" altLang="en-US" sz="1800" b="1" i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0 </a:t>
            </a:r>
            <a:r>
              <a:rPr lang="en-US" altLang="en-US" sz="1800">
                <a:latin typeface="Times New Roman" panose="02020603050405020304" pitchFamily="18" charset="0"/>
              </a:rPr>
              <a:t>{ no match }</a:t>
            </a:r>
            <a:endParaRPr lang="en-US" altLang="en-US" sz="1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pic>
        <p:nvPicPr>
          <p:cNvPr id="30726" name="Picture 5" descr="j017443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763" y="228600"/>
            <a:ext cx="12477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05EE73-6CC0-49E9-9DB7-DC4936EC8EC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graphicFrame>
        <p:nvGraphicFramePr>
          <p:cNvPr id="31748" name="Object 3"/>
          <p:cNvGraphicFramePr>
            <a:graphicFrameLocks noChangeAspect="1"/>
          </p:cNvGraphicFramePr>
          <p:nvPr/>
        </p:nvGraphicFramePr>
        <p:xfrm>
          <a:off x="1066800" y="1752600"/>
          <a:ext cx="7772400" cy="415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788720" imgH="2561760" progId="Visio.Drawing.6">
                  <p:embed/>
                </p:oleObj>
              </mc:Choice>
              <mc:Fallback>
                <p:oleObj name="VISIO" r:id="rId3" imgW="4788720" imgH="2561760" progId="Visio.Drawing.6">
                  <p:embed/>
                  <p:pic>
                    <p:nvPicPr>
                      <p:cNvPr id="3174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52600"/>
                        <a:ext cx="7772400" cy="415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08" name="Group 4"/>
          <p:cNvGraphicFramePr>
            <a:graphicFrameLocks noGrp="1"/>
          </p:cNvGraphicFramePr>
          <p:nvPr/>
        </p:nvGraphicFramePr>
        <p:xfrm>
          <a:off x="685800" y="4953000"/>
          <a:ext cx="3505200" cy="1128713"/>
        </p:xfrm>
        <a:graphic>
          <a:graphicData uri="http://schemas.openxmlformats.org/drawingml/2006/table">
            <a:tbl>
              <a:tblPr/>
              <a:tblGrid>
                <a:gridCol w="6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8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[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]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9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53" marB="4575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53" marB="4575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C9EDBC-F342-4ECB-848C-8CF687E0280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Trie</a:t>
            </a:r>
          </a:p>
        </p:txBody>
      </p:sp>
      <p:sp>
        <p:nvSpPr>
          <p:cNvPr id="327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90675"/>
            <a:ext cx="7848600" cy="45053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Preprocessing the pattern speeds up pattern matching queries</a:t>
            </a:r>
          </a:p>
          <a:p>
            <a:pPr lvl="1" eaLnBrk="1" hangingPunct="1"/>
            <a:r>
              <a:rPr lang="en-US" altLang="en-US" sz="2000" dirty="0"/>
              <a:t>After preprocessing the pattern, KMP’s algorithm performs pattern matching in time proportional to the text size</a:t>
            </a:r>
          </a:p>
          <a:p>
            <a:pPr eaLnBrk="1" hangingPunct="1"/>
            <a:r>
              <a:rPr lang="en-US" altLang="en-US" sz="2400" dirty="0"/>
              <a:t>If the </a:t>
            </a:r>
            <a:r>
              <a:rPr lang="en-US" altLang="en-US" sz="2400" u="sng" dirty="0"/>
              <a:t>text is large</a:t>
            </a:r>
            <a:r>
              <a:rPr lang="en-US" altLang="en-US" sz="2400" dirty="0"/>
              <a:t>, </a:t>
            </a:r>
            <a:r>
              <a:rPr lang="en-US" altLang="en-US" sz="2400" u="sng" dirty="0"/>
              <a:t>immutable</a:t>
            </a:r>
            <a:r>
              <a:rPr lang="en-US" altLang="en-US" sz="2400" dirty="0"/>
              <a:t> and </a:t>
            </a:r>
            <a:r>
              <a:rPr lang="en-US" altLang="en-US" sz="2400" u="sng" dirty="0"/>
              <a:t>searched for often</a:t>
            </a:r>
            <a:r>
              <a:rPr lang="en-US" altLang="en-US" sz="2400" dirty="0"/>
              <a:t> (e.g., works by Shakespeare), we may want to </a:t>
            </a:r>
            <a:r>
              <a:rPr lang="en-US" altLang="en-US" sz="2400" u="sng" dirty="0"/>
              <a:t>preprocess the text</a:t>
            </a:r>
            <a:r>
              <a:rPr lang="en-US" altLang="en-US" sz="2400" dirty="0"/>
              <a:t> instead of the pattern</a:t>
            </a:r>
          </a:p>
          <a:p>
            <a:pPr eaLnBrk="1" hangingPunct="1"/>
            <a:r>
              <a:rPr lang="en-US" altLang="en-US" sz="2400" dirty="0"/>
              <a:t>A trie is a </a:t>
            </a:r>
            <a:r>
              <a:rPr lang="en-US" altLang="en-US" sz="2400" u="sng" dirty="0"/>
              <a:t>compact data structure for representing a set of strings</a:t>
            </a:r>
            <a:r>
              <a:rPr lang="en-US" altLang="en-US" sz="2400" dirty="0"/>
              <a:t>, such as all the words in a text</a:t>
            </a:r>
          </a:p>
          <a:p>
            <a:pPr lvl="1" eaLnBrk="1" hangingPunct="1"/>
            <a:r>
              <a:rPr lang="en-US" altLang="en-US" sz="2000" dirty="0"/>
              <a:t>A tries supports pattern matching queries in time proportional to the pattern size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42EA0F-8DCF-4197-AE25-618ED7D595C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Trie cont.</a:t>
            </a:r>
          </a:p>
        </p:txBody>
      </p:sp>
      <p:sp>
        <p:nvSpPr>
          <p:cNvPr id="3379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90675"/>
            <a:ext cx="7848600" cy="45053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400" dirty="0"/>
              <a:t>Given a string X, efficiently </a:t>
            </a:r>
            <a:r>
              <a:rPr lang="en-US" altLang="en-US" sz="2400" u="sng" dirty="0"/>
              <a:t>encode X into a smaller string Y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Each </a:t>
            </a:r>
            <a:r>
              <a:rPr lang="en-US" altLang="en-US" sz="2000" u="sng" dirty="0"/>
              <a:t>uncompressed</a:t>
            </a:r>
            <a:r>
              <a:rPr lang="en-US" altLang="en-US" sz="2000" dirty="0"/>
              <a:t> character in X is </a:t>
            </a:r>
            <a:r>
              <a:rPr lang="en-US" altLang="en-US" sz="2000" u="sng" dirty="0"/>
              <a:t>8-bit</a:t>
            </a:r>
            <a:r>
              <a:rPr lang="en-US" altLang="en-US" sz="2000" dirty="0"/>
              <a:t> for EASCII (Extended ASCII) and </a:t>
            </a:r>
            <a:r>
              <a:rPr lang="en-US" altLang="en-US" sz="2000" u="sng" dirty="0"/>
              <a:t>16-bit</a:t>
            </a:r>
            <a:r>
              <a:rPr lang="en-US" altLang="en-US" sz="2000" dirty="0"/>
              <a:t> for UNICODE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A </a:t>
            </a:r>
            <a:r>
              <a:rPr lang="en-US" altLang="en-US" sz="2000" u="sng" dirty="0"/>
              <a:t>compressed</a:t>
            </a:r>
            <a:r>
              <a:rPr lang="en-US" altLang="en-US" sz="2000" dirty="0"/>
              <a:t> character in Y has </a:t>
            </a:r>
            <a:r>
              <a:rPr lang="en-US" altLang="en-US" sz="2000" u="sng" dirty="0"/>
              <a:t>less bit</a:t>
            </a:r>
          </a:p>
          <a:p>
            <a:pPr lvl="1">
              <a:spcBef>
                <a:spcPts val="600"/>
              </a:spcBef>
            </a:pPr>
            <a:r>
              <a:rPr lang="en-US" altLang="en-US" sz="2000" u="sng" dirty="0"/>
              <a:t>Saves memory and/or bandwidth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CD63E6-A26E-41A4-85AB-9035124FEA9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Encoding Trie</a:t>
            </a:r>
          </a:p>
        </p:txBody>
      </p:sp>
      <p:sp>
        <p:nvSpPr>
          <p:cNvPr id="3482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01000" cy="2971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A code is a mapping of each character of an alphabet to a binary code-word</a:t>
            </a:r>
          </a:p>
          <a:p>
            <a:pPr eaLnBrk="1" hangingPunct="1"/>
            <a:r>
              <a:rPr lang="en-US" altLang="en-US" sz="2000" dirty="0"/>
              <a:t>A prefix code is a binary code such that no code-word is the prefix of another code-word</a:t>
            </a:r>
          </a:p>
          <a:p>
            <a:pPr eaLnBrk="1" hangingPunct="1"/>
            <a:r>
              <a:rPr lang="en-US" altLang="en-US" sz="2000" dirty="0"/>
              <a:t>An encoding trie represents a prefix code</a:t>
            </a:r>
          </a:p>
          <a:p>
            <a:pPr lvl="1" eaLnBrk="1" hangingPunct="1"/>
            <a:r>
              <a:rPr lang="en-US" altLang="en-US" sz="1800" dirty="0"/>
              <a:t>Each leaf stores a character</a:t>
            </a:r>
          </a:p>
          <a:p>
            <a:pPr lvl="1" eaLnBrk="1" hangingPunct="1"/>
            <a:r>
              <a:rPr lang="en-US" altLang="en-US" sz="1800" dirty="0"/>
              <a:t>The </a:t>
            </a:r>
            <a:r>
              <a:rPr lang="en-US" altLang="en-US" sz="1800" u="sng" dirty="0"/>
              <a:t>code word of a character</a:t>
            </a:r>
            <a:r>
              <a:rPr lang="en-US" altLang="en-US" sz="1800" dirty="0"/>
              <a:t> is given by the path from the root to the leaf storing the character (</a:t>
            </a:r>
            <a:r>
              <a:rPr lang="en-US" altLang="en-US" sz="1800" u="sng" dirty="0"/>
              <a:t>0 for a left child</a:t>
            </a:r>
            <a:r>
              <a:rPr lang="en-US" altLang="en-US" sz="1800" dirty="0"/>
              <a:t> and </a:t>
            </a:r>
            <a:r>
              <a:rPr lang="en-US" altLang="en-US" sz="1800" u="sng" dirty="0"/>
              <a:t>1 for a right child</a:t>
            </a:r>
            <a:r>
              <a:rPr lang="en-US" altLang="en-US" sz="1800" dirty="0"/>
              <a:t>)</a:t>
            </a:r>
            <a:endParaRPr lang="en-US" altLang="en-US" sz="1800" u="sng" dirty="0"/>
          </a:p>
        </p:txBody>
      </p:sp>
      <p:graphicFrame>
        <p:nvGraphicFramePr>
          <p:cNvPr id="196630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624922"/>
              </p:ext>
            </p:extLst>
          </p:nvPr>
        </p:nvGraphicFramePr>
        <p:xfrm>
          <a:off x="228600" y="4800600"/>
          <a:ext cx="4419601" cy="889000"/>
        </p:xfrm>
        <a:graphic>
          <a:graphicData uri="http://schemas.openxmlformats.org/drawingml/2006/table">
            <a:tbl>
              <a:tblPr/>
              <a:tblGrid>
                <a:gridCol w="1395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Code word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Character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Box 40"/>
          <p:cNvSpPr txBox="1">
            <a:spLocks noChangeArrowheads="1"/>
          </p:cNvSpPr>
          <p:nvPr/>
        </p:nvSpPr>
        <p:spPr bwMode="auto">
          <a:xfrm>
            <a:off x="6114772" y="4321146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endParaRPr lang="en-US" altLang="en-US" sz="2000" baseline="-250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 Box 40"/>
          <p:cNvSpPr txBox="1">
            <a:spLocks noChangeArrowheads="1"/>
          </p:cNvSpPr>
          <p:nvPr/>
        </p:nvSpPr>
        <p:spPr bwMode="auto">
          <a:xfrm>
            <a:off x="7620000" y="4324290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altLang="en-US" sz="2000" baseline="-250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 Box 40"/>
          <p:cNvSpPr txBox="1">
            <a:spLocks noChangeArrowheads="1"/>
          </p:cNvSpPr>
          <p:nvPr/>
        </p:nvSpPr>
        <p:spPr bwMode="auto">
          <a:xfrm>
            <a:off x="5105400" y="4953000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endParaRPr lang="en-US" altLang="en-US" sz="2000" baseline="-250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 Box 40"/>
          <p:cNvSpPr txBox="1">
            <a:spLocks noChangeArrowheads="1"/>
          </p:cNvSpPr>
          <p:nvPr/>
        </p:nvSpPr>
        <p:spPr bwMode="auto">
          <a:xfrm>
            <a:off x="5848072" y="5619690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endParaRPr lang="en-US" altLang="en-US" sz="2000" baseline="-250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Box 40"/>
          <p:cNvSpPr txBox="1">
            <a:spLocks noChangeArrowheads="1"/>
          </p:cNvSpPr>
          <p:nvPr/>
        </p:nvSpPr>
        <p:spPr bwMode="auto">
          <a:xfrm>
            <a:off x="7391400" y="4953000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endParaRPr lang="en-US" altLang="en-US" sz="2000" baseline="-250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Box 40"/>
          <p:cNvSpPr txBox="1">
            <a:spLocks noChangeArrowheads="1"/>
          </p:cNvSpPr>
          <p:nvPr/>
        </p:nvSpPr>
        <p:spPr bwMode="auto">
          <a:xfrm>
            <a:off x="8210272" y="4933890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altLang="en-US" sz="2000" baseline="-250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 Box 40"/>
          <p:cNvSpPr txBox="1">
            <a:spLocks noChangeArrowheads="1"/>
          </p:cNvSpPr>
          <p:nvPr/>
        </p:nvSpPr>
        <p:spPr bwMode="auto">
          <a:xfrm>
            <a:off x="6019800" y="4953000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altLang="en-US" sz="2000" baseline="-250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" name="Text Box 40"/>
          <p:cNvSpPr txBox="1">
            <a:spLocks noChangeArrowheads="1"/>
          </p:cNvSpPr>
          <p:nvPr/>
        </p:nvSpPr>
        <p:spPr bwMode="auto">
          <a:xfrm>
            <a:off x="6686272" y="5619690"/>
            <a:ext cx="3241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endParaRPr lang="en-US" altLang="en-US" sz="2000" baseline="-25000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637632EE-9E8E-E6DE-9303-C92D4F508433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267200"/>
            <a:ext cx="3429000" cy="2286000"/>
            <a:chOff x="2928" y="2256"/>
            <a:chExt cx="2160" cy="1440"/>
          </a:xfrm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DED5FED6-009D-83D8-D0D9-7BD19FBF9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22" name="Oval 6">
              <a:extLst>
                <a:ext uri="{FF2B5EF4-FFF2-40B4-BE49-F238E27FC236}">
                  <a16:creationId xmlns:a16="http://schemas.microsoft.com/office/drawing/2014/main" id="{DB854EBB-043D-05BD-4A68-5E90BBC8D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23" name="Oval 7">
              <a:extLst>
                <a:ext uri="{FF2B5EF4-FFF2-40B4-BE49-F238E27FC236}">
                  <a16:creationId xmlns:a16="http://schemas.microsoft.com/office/drawing/2014/main" id="{FAF59944-0C3B-912F-0584-85921F6E2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32" name="Oval 8">
              <a:extLst>
                <a:ext uri="{FF2B5EF4-FFF2-40B4-BE49-F238E27FC236}">
                  <a16:creationId xmlns:a16="http://schemas.microsoft.com/office/drawing/2014/main" id="{22965055-860A-B2B4-771D-90DB29C9C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33" name="Rectangle 9">
              <a:extLst>
                <a:ext uri="{FF2B5EF4-FFF2-40B4-BE49-F238E27FC236}">
                  <a16:creationId xmlns:a16="http://schemas.microsoft.com/office/drawing/2014/main" id="{DDBE6840-B084-302A-3E63-F0A9619E0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/>
                <a:t>c</a:t>
              </a:r>
            </a:p>
          </p:txBody>
        </p:sp>
        <p:sp>
          <p:nvSpPr>
            <p:cNvPr id="34" name="Rectangle 10">
              <a:extLst>
                <a:ext uri="{FF2B5EF4-FFF2-40B4-BE49-F238E27FC236}">
                  <a16:creationId xmlns:a16="http://schemas.microsoft.com/office/drawing/2014/main" id="{9FAD5F3A-B867-87E4-E1A4-D3548A370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a</a:t>
              </a:r>
            </a:p>
          </p:txBody>
        </p:sp>
        <p:sp>
          <p:nvSpPr>
            <p:cNvPr id="35" name="Rectangle 11">
              <a:extLst>
                <a:ext uri="{FF2B5EF4-FFF2-40B4-BE49-F238E27FC236}">
                  <a16:creationId xmlns:a16="http://schemas.microsoft.com/office/drawing/2014/main" id="{D40C5BA3-F38C-7FDA-7F76-6C1F9EE64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r</a:t>
              </a:r>
            </a:p>
          </p:txBody>
        </p:sp>
        <p:sp>
          <p:nvSpPr>
            <p:cNvPr id="36" name="Rectangle 12">
              <a:extLst>
                <a:ext uri="{FF2B5EF4-FFF2-40B4-BE49-F238E27FC236}">
                  <a16:creationId xmlns:a16="http://schemas.microsoft.com/office/drawing/2014/main" id="{ECB59EC1-DB8B-5944-A1B5-EBA6AAA9F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d</a:t>
              </a:r>
            </a:p>
          </p:txBody>
        </p:sp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4B198857-449F-D392-8A6E-6B0B35209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b</a:t>
              </a:r>
            </a:p>
          </p:txBody>
        </p:sp>
        <p:cxnSp>
          <p:nvCxnSpPr>
            <p:cNvPr id="38" name="AutoShape 14">
              <a:extLst>
                <a:ext uri="{FF2B5EF4-FFF2-40B4-BE49-F238E27FC236}">
                  <a16:creationId xmlns:a16="http://schemas.microsoft.com/office/drawing/2014/main" id="{058F9245-EAAE-445A-DBFF-70DE5563C817}"/>
                </a:ext>
              </a:extLst>
            </p:cNvPr>
            <p:cNvCxnSpPr>
              <a:cxnSpLocks noChangeShapeType="1"/>
              <a:stCxn id="21" idx="3"/>
              <a:endCxn id="23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15">
              <a:extLst>
                <a:ext uri="{FF2B5EF4-FFF2-40B4-BE49-F238E27FC236}">
                  <a16:creationId xmlns:a16="http://schemas.microsoft.com/office/drawing/2014/main" id="{8D0E5677-EBDB-E03B-1FB4-17549D12BC5C}"/>
                </a:ext>
              </a:extLst>
            </p:cNvPr>
            <p:cNvCxnSpPr>
              <a:cxnSpLocks noChangeShapeType="1"/>
              <a:stCxn id="22" idx="1"/>
              <a:endCxn id="21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16">
              <a:extLst>
                <a:ext uri="{FF2B5EF4-FFF2-40B4-BE49-F238E27FC236}">
                  <a16:creationId xmlns:a16="http://schemas.microsoft.com/office/drawing/2014/main" id="{18B1F7B7-DE39-F30B-7A01-9A27640497F4}"/>
                </a:ext>
              </a:extLst>
            </p:cNvPr>
            <p:cNvCxnSpPr>
              <a:cxnSpLocks noChangeShapeType="1"/>
              <a:stCxn id="37" idx="0"/>
              <a:endCxn id="22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17">
              <a:extLst>
                <a:ext uri="{FF2B5EF4-FFF2-40B4-BE49-F238E27FC236}">
                  <a16:creationId xmlns:a16="http://schemas.microsoft.com/office/drawing/2014/main" id="{E84F8DA2-3176-6250-4748-AACCDFE15093}"/>
                </a:ext>
              </a:extLst>
            </p:cNvPr>
            <p:cNvCxnSpPr>
              <a:cxnSpLocks noChangeShapeType="1"/>
              <a:stCxn id="36" idx="0"/>
              <a:endCxn id="22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18">
              <a:extLst>
                <a:ext uri="{FF2B5EF4-FFF2-40B4-BE49-F238E27FC236}">
                  <a16:creationId xmlns:a16="http://schemas.microsoft.com/office/drawing/2014/main" id="{652DFC48-12DE-1EC1-A4C0-F2FE944AAEBD}"/>
                </a:ext>
              </a:extLst>
            </p:cNvPr>
            <p:cNvCxnSpPr>
              <a:cxnSpLocks noChangeShapeType="1"/>
              <a:stCxn id="35" idx="0"/>
              <a:endCxn id="32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19">
              <a:extLst>
                <a:ext uri="{FF2B5EF4-FFF2-40B4-BE49-F238E27FC236}">
                  <a16:creationId xmlns:a16="http://schemas.microsoft.com/office/drawing/2014/main" id="{7E498C62-8672-FD76-91C1-DA533F62A30A}"/>
                </a:ext>
              </a:extLst>
            </p:cNvPr>
            <p:cNvCxnSpPr>
              <a:cxnSpLocks noChangeShapeType="1"/>
              <a:stCxn id="34" idx="0"/>
              <a:endCxn id="32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20">
              <a:extLst>
                <a:ext uri="{FF2B5EF4-FFF2-40B4-BE49-F238E27FC236}">
                  <a16:creationId xmlns:a16="http://schemas.microsoft.com/office/drawing/2014/main" id="{E8F6639C-DEAF-64D0-1EF3-56246CD4D947}"/>
                </a:ext>
              </a:extLst>
            </p:cNvPr>
            <p:cNvCxnSpPr>
              <a:cxnSpLocks noChangeShapeType="1"/>
              <a:stCxn id="33" idx="0"/>
              <a:endCxn id="23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21">
              <a:extLst>
                <a:ext uri="{FF2B5EF4-FFF2-40B4-BE49-F238E27FC236}">
                  <a16:creationId xmlns:a16="http://schemas.microsoft.com/office/drawing/2014/main" id="{3BD1EC85-77AF-05E0-2618-9B98386FF91D}"/>
                </a:ext>
              </a:extLst>
            </p:cNvPr>
            <p:cNvCxnSpPr>
              <a:cxnSpLocks noChangeShapeType="1"/>
              <a:stCxn id="32" idx="1"/>
              <a:endCxn id="23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4E9331-44DF-4641-BC0F-0ADCBC9926C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Encoding Trie cont.</a:t>
            </a:r>
          </a:p>
        </p:txBody>
      </p:sp>
      <p:sp>
        <p:nvSpPr>
          <p:cNvPr id="3584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25908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Given a text string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000" dirty="0"/>
              <a:t>, we want to find a </a:t>
            </a:r>
            <a:r>
              <a:rPr lang="en-US" altLang="en-US" sz="2000" u="sng" dirty="0"/>
              <a:t>prefix code</a:t>
            </a:r>
            <a:r>
              <a:rPr lang="en-US" altLang="en-US" sz="2000" dirty="0"/>
              <a:t> for the characters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000" dirty="0"/>
              <a:t> that yields a </a:t>
            </a:r>
            <a:r>
              <a:rPr lang="en-US" altLang="en-US" sz="2000" u="sng" dirty="0"/>
              <a:t>small encoding</a:t>
            </a:r>
            <a:r>
              <a:rPr lang="en-US" altLang="en-US" sz="2000" dirty="0"/>
              <a:t> for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1800" u="sng" dirty="0"/>
              <a:t>Frequent characters</a:t>
            </a:r>
            <a:r>
              <a:rPr lang="en-US" altLang="en-US" sz="1800" dirty="0"/>
              <a:t> should have </a:t>
            </a:r>
            <a:r>
              <a:rPr lang="en-US" altLang="en-US" sz="1800" u="sng" dirty="0"/>
              <a:t>short code-words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1800" u="sng" dirty="0"/>
              <a:t>Rare characters</a:t>
            </a:r>
            <a:r>
              <a:rPr lang="en-US" altLang="en-US" sz="1800" dirty="0"/>
              <a:t> should have </a:t>
            </a:r>
            <a:r>
              <a:rPr lang="en-US" altLang="en-US" sz="1800" u="sng" dirty="0"/>
              <a:t>long code-words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2000" dirty="0">
                <a:latin typeface="Times New Roman" panose="02020603050405020304" pitchFamily="18" charset="0"/>
              </a:rPr>
              <a:t>=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/>
              <a:t>abracadabra</a:t>
            </a:r>
            <a:r>
              <a:rPr lang="en-US" altLang="en-US" sz="2000" dirty="0"/>
              <a:t> (11 x 8 = </a:t>
            </a:r>
            <a:r>
              <a:rPr lang="en-US" altLang="en-US" sz="2000" u="sng" dirty="0"/>
              <a:t>88 bits</a:t>
            </a:r>
            <a:r>
              <a:rPr lang="en-US" altLang="en-US" sz="2000" dirty="0"/>
              <a:t> in EASCII)?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b="1" i="1" dirty="0">
                <a:latin typeface="Times New Roman" panose="02020603050405020304" pitchFamily="18" charset="0"/>
              </a:rPr>
              <a:t>T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/>
              <a:t> encodes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000" dirty="0"/>
              <a:t> into </a:t>
            </a:r>
            <a:r>
              <a:rPr lang="en-US" altLang="en-US" sz="2000" u="sng" dirty="0"/>
              <a:t>29 bits</a:t>
            </a:r>
            <a:endParaRPr lang="en-US" altLang="en-US" sz="1600" u="sng" dirty="0"/>
          </a:p>
          <a:p>
            <a:pPr eaLnBrk="1" hangingPunct="1">
              <a:spcBef>
                <a:spcPts val="600"/>
              </a:spcBef>
            </a:pPr>
            <a:r>
              <a:rPr lang="en-MY" altLang="en-US" sz="2000" dirty="0"/>
              <a:t>Can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  <a:r>
              <a:rPr lang="en-MY" altLang="en-US" sz="2000" dirty="0"/>
              <a:t> </a:t>
            </a:r>
            <a:r>
              <a:rPr lang="en-US" altLang="en-US" sz="2000" dirty="0"/>
              <a:t>be encoded in less than 29 bits?</a:t>
            </a:r>
          </a:p>
          <a:p>
            <a:pPr eaLnBrk="1" hangingPunct="1">
              <a:spcBef>
                <a:spcPts val="600"/>
              </a:spcBef>
            </a:pPr>
            <a:endParaRPr lang="en-US" altLang="en-US" sz="2000" dirty="0"/>
          </a:p>
        </p:txBody>
      </p:sp>
      <p:graphicFrame>
        <p:nvGraphicFramePr>
          <p:cNvPr id="2" name="Group 22">
            <a:extLst>
              <a:ext uri="{FF2B5EF4-FFF2-40B4-BE49-F238E27FC236}">
                <a16:creationId xmlns:a16="http://schemas.microsoft.com/office/drawing/2014/main" id="{C23C91DA-55BA-180C-0005-2FE5C37F3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900411"/>
              </p:ext>
            </p:extLst>
          </p:nvPr>
        </p:nvGraphicFramePr>
        <p:xfrm>
          <a:off x="304801" y="4462462"/>
          <a:ext cx="4724399" cy="163353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3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5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Code word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011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Character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Frequency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 bit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4">
            <a:extLst>
              <a:ext uri="{FF2B5EF4-FFF2-40B4-BE49-F238E27FC236}">
                <a16:creationId xmlns:a16="http://schemas.microsoft.com/office/drawing/2014/main" id="{AAAB5DEE-DA06-3DC6-B888-810DE9486877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038600"/>
            <a:ext cx="3429000" cy="2286000"/>
            <a:chOff x="2928" y="2256"/>
            <a:chExt cx="2160" cy="1440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6608F788-296D-EA2D-7A7B-AB1691606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5749EF32-FA3C-6F61-E6A1-EB63C1A18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Symbol" panose="05050102010706020507" pitchFamily="18" charset="2"/>
                <a:sym typeface="Symbol" panose="05050102010706020507" pitchFamily="18" charset="2"/>
              </a:endParaRPr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45B60F66-64A8-83C1-57A7-D821C4997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04F81B3D-3A50-5876-CC66-3CD73EC29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C178007-3FC0-F08D-BBAF-73CA6FBBD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c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DB8F52FB-7B86-8A89-92F1-DD9E58666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a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73916360-E758-D505-1846-05DCF60D1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r</a:t>
              </a: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7AA1949A-FD2E-1A9E-6277-551EDA294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d</a:t>
              </a: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352C3B43-59F9-CC06-0296-985CAC22A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b</a:t>
              </a:r>
            </a:p>
          </p:txBody>
        </p:sp>
        <p:cxnSp>
          <p:nvCxnSpPr>
            <p:cNvPr id="13" name="AutoShape 14">
              <a:extLst>
                <a:ext uri="{FF2B5EF4-FFF2-40B4-BE49-F238E27FC236}">
                  <a16:creationId xmlns:a16="http://schemas.microsoft.com/office/drawing/2014/main" id="{45DF4F95-8182-6506-152B-781D3E3BD0D1}"/>
                </a:ext>
              </a:extLst>
            </p:cNvPr>
            <p:cNvCxnSpPr>
              <a:cxnSpLocks noChangeShapeType="1"/>
              <a:stCxn id="4" idx="3"/>
              <a:endCxn id="6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5">
              <a:extLst>
                <a:ext uri="{FF2B5EF4-FFF2-40B4-BE49-F238E27FC236}">
                  <a16:creationId xmlns:a16="http://schemas.microsoft.com/office/drawing/2014/main" id="{B28C98EF-78FD-1D71-B8A9-1F1249DFEB0E}"/>
                </a:ext>
              </a:extLst>
            </p:cNvPr>
            <p:cNvCxnSpPr>
              <a:cxnSpLocks noChangeShapeType="1"/>
              <a:stCxn id="5" idx="1"/>
              <a:endCxn id="4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6">
              <a:extLst>
                <a:ext uri="{FF2B5EF4-FFF2-40B4-BE49-F238E27FC236}">
                  <a16:creationId xmlns:a16="http://schemas.microsoft.com/office/drawing/2014/main" id="{42B8BC22-BB51-E60E-F260-27A840915771}"/>
                </a:ext>
              </a:extLst>
            </p:cNvPr>
            <p:cNvCxnSpPr>
              <a:cxnSpLocks noChangeShapeType="1"/>
              <a:stCxn id="12" idx="0"/>
              <a:endCxn id="5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17">
              <a:extLst>
                <a:ext uri="{FF2B5EF4-FFF2-40B4-BE49-F238E27FC236}">
                  <a16:creationId xmlns:a16="http://schemas.microsoft.com/office/drawing/2014/main" id="{093CE2BE-B003-EA2B-EC03-9D9D481426DE}"/>
                </a:ext>
              </a:extLst>
            </p:cNvPr>
            <p:cNvCxnSpPr>
              <a:cxnSpLocks noChangeShapeType="1"/>
              <a:stCxn id="11" idx="0"/>
              <a:endCxn id="5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18">
              <a:extLst>
                <a:ext uri="{FF2B5EF4-FFF2-40B4-BE49-F238E27FC236}">
                  <a16:creationId xmlns:a16="http://schemas.microsoft.com/office/drawing/2014/main" id="{F9650EFC-9899-9B92-247B-A9DE0EE9B6C9}"/>
                </a:ext>
              </a:extLst>
            </p:cNvPr>
            <p:cNvCxnSpPr>
              <a:cxnSpLocks noChangeShapeType="1"/>
              <a:stCxn id="10" idx="0"/>
              <a:endCxn id="7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19">
              <a:extLst>
                <a:ext uri="{FF2B5EF4-FFF2-40B4-BE49-F238E27FC236}">
                  <a16:creationId xmlns:a16="http://schemas.microsoft.com/office/drawing/2014/main" id="{A959FADD-60D7-0DCC-59EC-AE483CAEF5B2}"/>
                </a:ext>
              </a:extLst>
            </p:cNvPr>
            <p:cNvCxnSpPr>
              <a:cxnSpLocks noChangeShapeType="1"/>
              <a:stCxn id="9" idx="0"/>
              <a:endCxn id="7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20">
              <a:extLst>
                <a:ext uri="{FF2B5EF4-FFF2-40B4-BE49-F238E27FC236}">
                  <a16:creationId xmlns:a16="http://schemas.microsoft.com/office/drawing/2014/main" id="{DECF7A29-CF15-7E88-0C12-A1A8A2BE0A39}"/>
                </a:ext>
              </a:extLst>
            </p:cNvPr>
            <p:cNvCxnSpPr>
              <a:cxnSpLocks noChangeShapeType="1"/>
              <a:stCxn id="8" idx="0"/>
              <a:endCxn id="6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AutoShape 21">
              <a:extLst>
                <a:ext uri="{FF2B5EF4-FFF2-40B4-BE49-F238E27FC236}">
                  <a16:creationId xmlns:a16="http://schemas.microsoft.com/office/drawing/2014/main" id="{8ADD8525-E41A-7BDE-AD49-78DD819523DE}"/>
                </a:ext>
              </a:extLst>
            </p:cNvPr>
            <p:cNvCxnSpPr>
              <a:cxnSpLocks noChangeShapeType="1"/>
              <a:stCxn id="7" idx="1"/>
              <a:endCxn id="6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1" name="Text Box 40">
            <a:extLst>
              <a:ext uri="{FF2B5EF4-FFF2-40B4-BE49-F238E27FC236}">
                <a16:creationId xmlns:a16="http://schemas.microsoft.com/office/drawing/2014/main" id="{D22E9EC9-DB19-AD1F-181A-04A994003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4112" y="3962400"/>
            <a:ext cx="471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T</a:t>
            </a:r>
            <a:r>
              <a:rPr lang="en-US" altLang="en-US" sz="2400" baseline="-25000"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42EA0F-8DCF-4197-AE25-618ED7D595C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Huffman Encoding</a:t>
            </a:r>
          </a:p>
        </p:txBody>
      </p:sp>
      <p:sp>
        <p:nvSpPr>
          <p:cNvPr id="3379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90675"/>
            <a:ext cx="7848600" cy="45053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400" dirty="0"/>
              <a:t>Compute frequency f(c) for each character c</a:t>
            </a:r>
          </a:p>
          <a:p>
            <a:pPr>
              <a:spcBef>
                <a:spcPts val="600"/>
              </a:spcBef>
            </a:pPr>
            <a:r>
              <a:rPr lang="en-US" altLang="en-US" sz="2400" dirty="0"/>
              <a:t>Encode </a:t>
            </a:r>
            <a:r>
              <a:rPr lang="en-US" altLang="en-US" sz="2400" u="sng" dirty="0"/>
              <a:t>high-frequency characters</a:t>
            </a:r>
            <a:r>
              <a:rPr lang="en-US" altLang="en-US" sz="2400" dirty="0"/>
              <a:t> with short code words (</a:t>
            </a:r>
            <a:r>
              <a:rPr lang="en-US" altLang="en-US" sz="2400" u="sng" dirty="0"/>
              <a:t>Greedy</a:t>
            </a:r>
            <a:r>
              <a:rPr lang="en-US" altLang="en-US" sz="2400" dirty="0"/>
              <a:t> method)</a:t>
            </a:r>
          </a:p>
          <a:p>
            <a:pPr>
              <a:spcBef>
                <a:spcPts val="600"/>
              </a:spcBef>
            </a:pPr>
            <a:r>
              <a:rPr lang="en-US" altLang="en-US" sz="2400" dirty="0"/>
              <a:t>Use an optimal encoding tree to determine the code words</a:t>
            </a:r>
          </a:p>
        </p:txBody>
      </p:sp>
    </p:spTree>
    <p:extLst>
      <p:ext uri="{BB962C8B-B14F-4D97-AF65-F5344CB8AC3E}">
        <p14:creationId xmlns:p14="http://schemas.microsoft.com/office/powerpoint/2010/main" val="998539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366538-2F2D-4DCA-8D71-9000A96246B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/>
              <a:t>Huffman’s Algorithm</a:t>
            </a:r>
          </a:p>
        </p:txBody>
      </p:sp>
      <p:sp>
        <p:nvSpPr>
          <p:cNvPr id="3789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28956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Given a string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000" dirty="0"/>
              <a:t>, Huffman’s algorithm construct a prefix code the minimizes the size of the encoding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It runs in time</a:t>
            </a:r>
            <a:br>
              <a:rPr lang="en-US" altLang="en-US" sz="2000" dirty="0"/>
            </a:b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Symbol" panose="05050102010706020507" pitchFamily="18" charset="2"/>
              </a:rPr>
              <a:t> +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d </a:t>
            </a:r>
            <a:r>
              <a:rPr lang="en-US" altLang="en-US" sz="2000" dirty="0">
                <a:latin typeface="Times New Roman" panose="02020603050405020304" pitchFamily="18" charset="0"/>
              </a:rPr>
              <a:t>log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d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, where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 is the size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000" dirty="0"/>
              <a:t> 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d</a:t>
            </a:r>
            <a:r>
              <a:rPr lang="en-US" altLang="en-US" sz="2000" dirty="0"/>
              <a:t> is the number of distinct characters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X</a:t>
            </a: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heap-based </a:t>
            </a:r>
            <a:r>
              <a:rPr lang="en-US" altLang="en-US" sz="2000" u="sng" dirty="0"/>
              <a:t>priority queue</a:t>
            </a:r>
            <a:r>
              <a:rPr lang="en-US" altLang="en-US" sz="2000" dirty="0"/>
              <a:t> is used as an auxiliary structure</a:t>
            </a:r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4114800" y="1295400"/>
            <a:ext cx="4572000" cy="52722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noProof="1">
                <a:latin typeface="Times New Roman" panose="02020603050405020304" pitchFamily="18" charset="0"/>
              </a:rPr>
              <a:t> </a:t>
            </a:r>
            <a:r>
              <a:rPr lang="en-US" altLang="en-US" sz="18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HuffmanEncoding</a:t>
            </a:r>
            <a:r>
              <a:rPr lang="en-US" altLang="en-US" sz="1800" noProof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noProof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1800" noProof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	Input</a:t>
            </a:r>
            <a:r>
              <a:rPr lang="en-US" altLang="en-US" sz="1800" noProof="1"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string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of size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endParaRPr lang="en-US" altLang="en-US" sz="1800" noProof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	Output</a:t>
            </a:r>
            <a:r>
              <a:rPr lang="en-US" altLang="en-US" sz="1800" noProof="1"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optimal encoding trie for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en-US" altLang="en-US" sz="1800" b="1" i="1" noProof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	C </a:t>
            </a:r>
            <a:r>
              <a:rPr lang="en-US" altLang="en-US" sz="18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distinctCharacters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 noProof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	computeFrequencies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C, X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Q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new empty heap </a:t>
            </a:r>
            <a:endParaRPr lang="en-US" altLang="en-US" sz="1800" noProof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	for all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sz="1800" noProof="1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 C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		T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new single-node tree storing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Q.insert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getFrequency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),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 baseline="-25000" noProof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while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Q.size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 sz="1800" b="1" noProof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b="1" i="1" baseline="-25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Q.minKey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b="1" i="1" baseline="-25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Q.removeMin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b="1" i="1" baseline="-25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Q.minKey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b="1" i="1" baseline="-25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Q.removeMin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join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b="1" i="1" baseline="-25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b="1" i="1" baseline="-25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Q.insert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b="1" i="1" baseline="-25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noProof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sz="1800" b="1" i="1" baseline="-250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endParaRPr lang="en-US" altLang="en-US" sz="1800" b="1" i="1" baseline="-25000" noProof="1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1800" b="1" noProof="1">
                <a:solidFill>
                  <a:srgbClr val="000000"/>
                </a:solidFill>
                <a:latin typeface="Times New Roman" panose="02020603050405020304" pitchFamily="18" charset="0"/>
              </a:rPr>
              <a:t>	return </a:t>
            </a:r>
            <a:r>
              <a:rPr lang="en-US" altLang="en-US" sz="1800" b="1" i="1" noProof="1">
                <a:solidFill>
                  <a:schemeClr val="accent2"/>
                </a:solidFill>
                <a:latin typeface="Times New Roman" panose="02020603050405020304" pitchFamily="18" charset="0"/>
              </a:rPr>
              <a:t>Q.removeMin</a:t>
            </a:r>
            <a:r>
              <a:rPr lang="en-US" altLang="en-US" sz="1800" noProof="1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ECEBAB-2249-4EAD-8EAE-6EB2CD27867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737671"/>
          </a:xfrm>
        </p:spPr>
        <p:txBody>
          <a:bodyPr/>
          <a:lstStyle/>
          <a:p>
            <a:pPr eaLnBrk="1" hangingPunct="1"/>
            <a:r>
              <a:rPr lang="en-US" altLang="en-US" dirty="0"/>
              <a:t>Huffman’s Example</a:t>
            </a:r>
          </a:p>
        </p:txBody>
      </p:sp>
      <p:graphicFrame>
        <p:nvGraphicFramePr>
          <p:cNvPr id="19968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487841"/>
              </p:ext>
            </p:extLst>
          </p:nvPr>
        </p:nvGraphicFramePr>
        <p:xfrm>
          <a:off x="762000" y="2413000"/>
          <a:ext cx="2667000" cy="79216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642" marB="456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642" marB="456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42" marB="456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936" name="Text Box 23"/>
          <p:cNvSpPr txBox="1">
            <a:spLocks noChangeArrowheads="1"/>
          </p:cNvSpPr>
          <p:nvPr/>
        </p:nvSpPr>
        <p:spPr bwMode="auto">
          <a:xfrm>
            <a:off x="685800" y="1524000"/>
            <a:ext cx="2416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X</a:t>
            </a:r>
            <a:r>
              <a:rPr lang="en-US" altLang="en-US" sz="2400"/>
              <a:t> </a:t>
            </a:r>
            <a:r>
              <a:rPr lang="en-US" altLang="en-US" sz="2400">
                <a:latin typeface="Times New Roman" panose="02020603050405020304" pitchFamily="18" charset="0"/>
              </a:rPr>
              <a:t>=</a:t>
            </a:r>
            <a:r>
              <a:rPr lang="en-US" altLang="en-US" sz="2400"/>
              <a:t> abracadabra</a:t>
            </a:r>
          </a:p>
        </p:txBody>
      </p:sp>
      <p:sp>
        <p:nvSpPr>
          <p:cNvPr id="38937" name="Text Box 24"/>
          <p:cNvSpPr txBox="1">
            <a:spLocks noChangeArrowheads="1"/>
          </p:cNvSpPr>
          <p:nvPr/>
        </p:nvSpPr>
        <p:spPr bwMode="auto">
          <a:xfrm>
            <a:off x="685800" y="1905000"/>
            <a:ext cx="1789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Frequencies</a:t>
            </a:r>
          </a:p>
        </p:txBody>
      </p:sp>
      <p:grpSp>
        <p:nvGrpSpPr>
          <p:cNvPr id="38938" name="Group 25"/>
          <p:cNvGrpSpPr>
            <a:grpSpLocks/>
          </p:cNvGrpSpPr>
          <p:nvPr/>
        </p:nvGrpSpPr>
        <p:grpSpPr bwMode="auto">
          <a:xfrm>
            <a:off x="685800" y="3698875"/>
            <a:ext cx="2722563" cy="681038"/>
            <a:chOff x="568" y="2400"/>
            <a:chExt cx="1929" cy="482"/>
          </a:xfrm>
        </p:grpSpPr>
        <p:sp>
          <p:nvSpPr>
            <p:cNvPr id="39002" name="Rectangle 26"/>
            <p:cNvSpPr>
              <a:spLocks noChangeArrowheads="1"/>
            </p:cNvSpPr>
            <p:nvPr/>
          </p:nvSpPr>
          <p:spPr bwMode="auto">
            <a:xfrm>
              <a:off x="1416" y="240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39003" name="Rectangle 27"/>
            <p:cNvSpPr>
              <a:spLocks noChangeArrowheads="1"/>
            </p:cNvSpPr>
            <p:nvPr/>
          </p:nvSpPr>
          <p:spPr bwMode="auto">
            <a:xfrm>
              <a:off x="576" y="240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a</a:t>
              </a:r>
            </a:p>
          </p:txBody>
        </p:sp>
        <p:sp>
          <p:nvSpPr>
            <p:cNvPr id="39004" name="Rectangle 28"/>
            <p:cNvSpPr>
              <a:spLocks noChangeArrowheads="1"/>
            </p:cNvSpPr>
            <p:nvPr/>
          </p:nvSpPr>
          <p:spPr bwMode="auto">
            <a:xfrm>
              <a:off x="2256" y="240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r</a:t>
              </a:r>
            </a:p>
          </p:txBody>
        </p:sp>
        <p:sp>
          <p:nvSpPr>
            <p:cNvPr id="39005" name="Rectangle 29"/>
            <p:cNvSpPr>
              <a:spLocks noChangeArrowheads="1"/>
            </p:cNvSpPr>
            <p:nvPr/>
          </p:nvSpPr>
          <p:spPr bwMode="auto">
            <a:xfrm>
              <a:off x="1836" y="240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39006" name="Rectangle 30"/>
            <p:cNvSpPr>
              <a:spLocks noChangeArrowheads="1"/>
            </p:cNvSpPr>
            <p:nvPr/>
          </p:nvSpPr>
          <p:spPr bwMode="auto">
            <a:xfrm>
              <a:off x="996" y="240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39007" name="Text Box 31"/>
            <p:cNvSpPr txBox="1">
              <a:spLocks noChangeArrowheads="1"/>
            </p:cNvSpPr>
            <p:nvPr/>
          </p:nvSpPr>
          <p:spPr bwMode="auto">
            <a:xfrm>
              <a:off x="568" y="2622"/>
              <a:ext cx="220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  <p:sp>
          <p:nvSpPr>
            <p:cNvPr id="39008" name="Text Box 32"/>
            <p:cNvSpPr txBox="1">
              <a:spLocks noChangeArrowheads="1"/>
            </p:cNvSpPr>
            <p:nvPr/>
          </p:nvSpPr>
          <p:spPr bwMode="auto">
            <a:xfrm>
              <a:off x="1000" y="2622"/>
              <a:ext cx="219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39009" name="Text Box 33"/>
            <p:cNvSpPr txBox="1">
              <a:spLocks noChangeArrowheads="1"/>
            </p:cNvSpPr>
            <p:nvPr/>
          </p:nvSpPr>
          <p:spPr bwMode="auto">
            <a:xfrm>
              <a:off x="1426" y="2622"/>
              <a:ext cx="220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39010" name="Text Box 34"/>
            <p:cNvSpPr txBox="1">
              <a:spLocks noChangeArrowheads="1"/>
            </p:cNvSpPr>
            <p:nvPr/>
          </p:nvSpPr>
          <p:spPr bwMode="auto">
            <a:xfrm>
              <a:off x="1852" y="2622"/>
              <a:ext cx="219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39011" name="Text Box 35"/>
            <p:cNvSpPr txBox="1">
              <a:spLocks noChangeArrowheads="1"/>
            </p:cNvSpPr>
            <p:nvPr/>
          </p:nvSpPr>
          <p:spPr bwMode="auto">
            <a:xfrm>
              <a:off x="2278" y="2622"/>
              <a:ext cx="219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</p:grpSp>
      <p:grpSp>
        <p:nvGrpSpPr>
          <p:cNvPr id="38939" name="Group 36"/>
          <p:cNvGrpSpPr>
            <a:grpSpLocks/>
          </p:cNvGrpSpPr>
          <p:nvPr/>
        </p:nvGrpSpPr>
        <p:grpSpPr bwMode="auto">
          <a:xfrm>
            <a:off x="685800" y="5148263"/>
            <a:ext cx="2722563" cy="1292225"/>
            <a:chOff x="568" y="3168"/>
            <a:chExt cx="1929" cy="917"/>
          </a:xfrm>
        </p:grpSpPr>
        <p:cxnSp>
          <p:nvCxnSpPr>
            <p:cNvPr id="38991" name="AutoShape 37"/>
            <p:cNvCxnSpPr>
              <a:cxnSpLocks noChangeShapeType="1"/>
              <a:stCxn id="38992" idx="0"/>
              <a:endCxn id="38997" idx="3"/>
            </p:cNvCxnSpPr>
            <p:nvPr/>
          </p:nvCxnSpPr>
          <p:spPr bwMode="auto">
            <a:xfrm flipV="1">
              <a:off x="1536" y="3379"/>
              <a:ext cx="131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92" name="Rectangle 38"/>
            <p:cNvSpPr>
              <a:spLocks noChangeArrowheads="1"/>
            </p:cNvSpPr>
            <p:nvPr/>
          </p:nvSpPr>
          <p:spPr bwMode="auto">
            <a:xfrm>
              <a:off x="1416" y="360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38993" name="Rectangle 39"/>
            <p:cNvSpPr>
              <a:spLocks noChangeArrowheads="1"/>
            </p:cNvSpPr>
            <p:nvPr/>
          </p:nvSpPr>
          <p:spPr bwMode="auto">
            <a:xfrm>
              <a:off x="576" y="360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a</a:t>
              </a:r>
            </a:p>
          </p:txBody>
        </p:sp>
        <p:sp>
          <p:nvSpPr>
            <p:cNvPr id="38994" name="Rectangle 40"/>
            <p:cNvSpPr>
              <a:spLocks noChangeArrowheads="1"/>
            </p:cNvSpPr>
            <p:nvPr/>
          </p:nvSpPr>
          <p:spPr bwMode="auto">
            <a:xfrm>
              <a:off x="2256" y="360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r</a:t>
              </a:r>
            </a:p>
          </p:txBody>
        </p:sp>
        <p:sp>
          <p:nvSpPr>
            <p:cNvPr id="38995" name="Rectangle 41"/>
            <p:cNvSpPr>
              <a:spLocks noChangeArrowheads="1"/>
            </p:cNvSpPr>
            <p:nvPr/>
          </p:nvSpPr>
          <p:spPr bwMode="auto">
            <a:xfrm>
              <a:off x="1836" y="360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38996" name="Rectangle 42"/>
            <p:cNvSpPr>
              <a:spLocks noChangeArrowheads="1"/>
            </p:cNvSpPr>
            <p:nvPr/>
          </p:nvSpPr>
          <p:spPr bwMode="auto">
            <a:xfrm>
              <a:off x="996" y="360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38997" name="Oval 43"/>
            <p:cNvSpPr>
              <a:spLocks noChangeArrowheads="1"/>
            </p:cNvSpPr>
            <p:nvPr/>
          </p:nvSpPr>
          <p:spPr bwMode="auto">
            <a:xfrm>
              <a:off x="1632" y="3168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cxnSp>
          <p:nvCxnSpPr>
            <p:cNvPr id="38998" name="AutoShape 44"/>
            <p:cNvCxnSpPr>
              <a:cxnSpLocks noChangeShapeType="1"/>
              <a:stCxn id="38995" idx="0"/>
              <a:endCxn id="38997" idx="5"/>
            </p:cNvCxnSpPr>
            <p:nvPr/>
          </p:nvCxnSpPr>
          <p:spPr bwMode="auto">
            <a:xfrm flipH="1" flipV="1">
              <a:off x="1837" y="3379"/>
              <a:ext cx="119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99" name="Text Box 45"/>
            <p:cNvSpPr txBox="1">
              <a:spLocks noChangeArrowheads="1"/>
            </p:cNvSpPr>
            <p:nvPr/>
          </p:nvSpPr>
          <p:spPr bwMode="auto">
            <a:xfrm>
              <a:off x="568" y="3824"/>
              <a:ext cx="220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  <p:sp>
          <p:nvSpPr>
            <p:cNvPr id="39000" name="Text Box 46"/>
            <p:cNvSpPr txBox="1">
              <a:spLocks noChangeArrowheads="1"/>
            </p:cNvSpPr>
            <p:nvPr/>
          </p:nvSpPr>
          <p:spPr bwMode="auto">
            <a:xfrm>
              <a:off x="1000" y="3824"/>
              <a:ext cx="21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39001" name="Text Box 47"/>
            <p:cNvSpPr txBox="1">
              <a:spLocks noChangeArrowheads="1"/>
            </p:cNvSpPr>
            <p:nvPr/>
          </p:nvSpPr>
          <p:spPr bwMode="auto">
            <a:xfrm>
              <a:off x="2278" y="3824"/>
              <a:ext cx="21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</p:grpSp>
      <p:sp>
        <p:nvSpPr>
          <p:cNvPr id="38940" name="AutoShape 48"/>
          <p:cNvSpPr>
            <a:spLocks noChangeArrowheads="1"/>
          </p:cNvSpPr>
          <p:nvPr/>
        </p:nvSpPr>
        <p:spPr bwMode="auto">
          <a:xfrm>
            <a:off x="1855788" y="4475163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41" name="AutoShape 49"/>
          <p:cNvSpPr>
            <a:spLocks noChangeArrowheads="1"/>
          </p:cNvSpPr>
          <p:nvPr/>
        </p:nvSpPr>
        <p:spPr bwMode="auto">
          <a:xfrm rot="-8100000">
            <a:off x="5946308" y="48006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38942" name="Group 50"/>
          <p:cNvGrpSpPr>
            <a:grpSpLocks/>
          </p:cNvGrpSpPr>
          <p:nvPr/>
        </p:nvGrpSpPr>
        <p:grpSpPr bwMode="auto">
          <a:xfrm>
            <a:off x="4191000" y="5138738"/>
            <a:ext cx="3048000" cy="1301750"/>
            <a:chOff x="3312" y="1008"/>
            <a:chExt cx="2160" cy="922"/>
          </a:xfrm>
        </p:grpSpPr>
        <p:cxnSp>
          <p:nvCxnSpPr>
            <p:cNvPr id="38979" name="AutoShape 51"/>
            <p:cNvCxnSpPr>
              <a:cxnSpLocks noChangeShapeType="1"/>
              <a:stCxn id="38980" idx="0"/>
              <a:endCxn id="38985" idx="3"/>
            </p:cNvCxnSpPr>
            <p:nvPr/>
          </p:nvCxnSpPr>
          <p:spPr bwMode="auto">
            <a:xfrm flipV="1">
              <a:off x="3960" y="1219"/>
              <a:ext cx="131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80" name="Rectangle 52"/>
            <p:cNvSpPr>
              <a:spLocks noChangeArrowheads="1"/>
            </p:cNvSpPr>
            <p:nvPr/>
          </p:nvSpPr>
          <p:spPr bwMode="auto">
            <a:xfrm>
              <a:off x="3840" y="144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38981" name="Rectangle 53"/>
            <p:cNvSpPr>
              <a:spLocks noChangeArrowheads="1"/>
            </p:cNvSpPr>
            <p:nvPr/>
          </p:nvSpPr>
          <p:spPr bwMode="auto">
            <a:xfrm>
              <a:off x="3312" y="144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a</a:t>
              </a:r>
            </a:p>
          </p:txBody>
        </p:sp>
        <p:sp>
          <p:nvSpPr>
            <p:cNvPr id="38982" name="Rectangle 54"/>
            <p:cNvSpPr>
              <a:spLocks noChangeArrowheads="1"/>
            </p:cNvSpPr>
            <p:nvPr/>
          </p:nvSpPr>
          <p:spPr bwMode="auto">
            <a:xfrm>
              <a:off x="4752" y="144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38983" name="Rectangle 55"/>
            <p:cNvSpPr>
              <a:spLocks noChangeArrowheads="1"/>
            </p:cNvSpPr>
            <p:nvPr/>
          </p:nvSpPr>
          <p:spPr bwMode="auto">
            <a:xfrm>
              <a:off x="4260" y="144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38984" name="Rectangle 56"/>
            <p:cNvSpPr>
              <a:spLocks noChangeArrowheads="1"/>
            </p:cNvSpPr>
            <p:nvPr/>
          </p:nvSpPr>
          <p:spPr bwMode="auto">
            <a:xfrm>
              <a:off x="5232" y="144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r</a:t>
              </a:r>
            </a:p>
          </p:txBody>
        </p:sp>
        <p:sp>
          <p:nvSpPr>
            <p:cNvPr id="38985" name="Oval 57"/>
            <p:cNvSpPr>
              <a:spLocks noChangeArrowheads="1"/>
            </p:cNvSpPr>
            <p:nvPr/>
          </p:nvSpPr>
          <p:spPr bwMode="auto">
            <a:xfrm>
              <a:off x="4056" y="1008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2</a:t>
              </a:r>
            </a:p>
          </p:txBody>
        </p:sp>
        <p:cxnSp>
          <p:nvCxnSpPr>
            <p:cNvPr id="38986" name="AutoShape 58"/>
            <p:cNvCxnSpPr>
              <a:cxnSpLocks noChangeShapeType="1"/>
              <a:stCxn id="38983" idx="0"/>
              <a:endCxn id="38985" idx="5"/>
            </p:cNvCxnSpPr>
            <p:nvPr/>
          </p:nvCxnSpPr>
          <p:spPr bwMode="auto">
            <a:xfrm flipH="1" flipV="1">
              <a:off x="4261" y="1219"/>
              <a:ext cx="119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87" name="Text Box 59"/>
            <p:cNvSpPr txBox="1">
              <a:spLocks noChangeArrowheads="1"/>
            </p:cNvSpPr>
            <p:nvPr/>
          </p:nvSpPr>
          <p:spPr bwMode="auto">
            <a:xfrm>
              <a:off x="3317" y="1670"/>
              <a:ext cx="219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  <p:sp>
          <p:nvSpPr>
            <p:cNvPr id="38988" name="Oval 60"/>
            <p:cNvSpPr>
              <a:spLocks noChangeArrowheads="1"/>
            </p:cNvSpPr>
            <p:nvPr/>
          </p:nvSpPr>
          <p:spPr bwMode="auto">
            <a:xfrm>
              <a:off x="4992" y="1008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cxnSp>
          <p:nvCxnSpPr>
            <p:cNvPr id="38989" name="AutoShape 61"/>
            <p:cNvCxnSpPr>
              <a:cxnSpLocks noChangeShapeType="1"/>
              <a:stCxn id="38982" idx="0"/>
              <a:endCxn id="38988" idx="3"/>
            </p:cNvCxnSpPr>
            <p:nvPr/>
          </p:nvCxnSpPr>
          <p:spPr bwMode="auto">
            <a:xfrm flipV="1">
              <a:off x="4872" y="1219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90" name="AutoShape 62"/>
            <p:cNvCxnSpPr>
              <a:cxnSpLocks noChangeShapeType="1"/>
              <a:stCxn id="38984" idx="0"/>
              <a:endCxn id="38988" idx="5"/>
            </p:cNvCxnSpPr>
            <p:nvPr/>
          </p:nvCxnSpPr>
          <p:spPr bwMode="auto">
            <a:xfrm flipH="1" flipV="1">
              <a:off x="5197" y="1219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8943" name="Group 63"/>
          <p:cNvGrpSpPr>
            <a:grpSpLocks/>
          </p:cNvGrpSpPr>
          <p:nvPr/>
        </p:nvGrpSpPr>
        <p:grpSpPr bwMode="auto">
          <a:xfrm>
            <a:off x="5791200" y="3048000"/>
            <a:ext cx="3048000" cy="1766888"/>
            <a:chOff x="3312" y="2112"/>
            <a:chExt cx="2160" cy="1253"/>
          </a:xfrm>
        </p:grpSpPr>
        <p:cxnSp>
          <p:nvCxnSpPr>
            <p:cNvPr id="38964" name="AutoShape 64"/>
            <p:cNvCxnSpPr>
              <a:cxnSpLocks noChangeShapeType="1"/>
              <a:stCxn id="38965" idx="0"/>
              <a:endCxn id="38970" idx="3"/>
            </p:cNvCxnSpPr>
            <p:nvPr/>
          </p:nvCxnSpPr>
          <p:spPr bwMode="auto">
            <a:xfrm flipV="1">
              <a:off x="3960" y="2659"/>
              <a:ext cx="131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65" name="Rectangle 65"/>
            <p:cNvSpPr>
              <a:spLocks noChangeArrowheads="1"/>
            </p:cNvSpPr>
            <p:nvPr/>
          </p:nvSpPr>
          <p:spPr bwMode="auto">
            <a:xfrm>
              <a:off x="3840" y="288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38966" name="Rectangle 66"/>
            <p:cNvSpPr>
              <a:spLocks noChangeArrowheads="1"/>
            </p:cNvSpPr>
            <p:nvPr/>
          </p:nvSpPr>
          <p:spPr bwMode="auto">
            <a:xfrm>
              <a:off x="3312" y="288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a</a:t>
              </a:r>
            </a:p>
          </p:txBody>
        </p:sp>
        <p:sp>
          <p:nvSpPr>
            <p:cNvPr id="38967" name="Rectangle 67"/>
            <p:cNvSpPr>
              <a:spLocks noChangeArrowheads="1"/>
            </p:cNvSpPr>
            <p:nvPr/>
          </p:nvSpPr>
          <p:spPr bwMode="auto">
            <a:xfrm>
              <a:off x="4752" y="288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38968" name="Rectangle 68"/>
            <p:cNvSpPr>
              <a:spLocks noChangeArrowheads="1"/>
            </p:cNvSpPr>
            <p:nvPr/>
          </p:nvSpPr>
          <p:spPr bwMode="auto">
            <a:xfrm>
              <a:off x="4260" y="288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38969" name="Rectangle 69"/>
            <p:cNvSpPr>
              <a:spLocks noChangeArrowheads="1"/>
            </p:cNvSpPr>
            <p:nvPr/>
          </p:nvSpPr>
          <p:spPr bwMode="auto">
            <a:xfrm>
              <a:off x="5232" y="2880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r</a:t>
              </a:r>
            </a:p>
          </p:txBody>
        </p:sp>
        <p:sp>
          <p:nvSpPr>
            <p:cNvPr id="38970" name="Oval 70"/>
            <p:cNvSpPr>
              <a:spLocks noChangeArrowheads="1"/>
            </p:cNvSpPr>
            <p:nvPr/>
          </p:nvSpPr>
          <p:spPr bwMode="auto">
            <a:xfrm>
              <a:off x="4056" y="2448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cxnSp>
          <p:nvCxnSpPr>
            <p:cNvPr id="38971" name="AutoShape 71"/>
            <p:cNvCxnSpPr>
              <a:cxnSpLocks noChangeShapeType="1"/>
              <a:stCxn id="38968" idx="0"/>
              <a:endCxn id="38970" idx="5"/>
            </p:cNvCxnSpPr>
            <p:nvPr/>
          </p:nvCxnSpPr>
          <p:spPr bwMode="auto">
            <a:xfrm flipH="1" flipV="1">
              <a:off x="4261" y="2659"/>
              <a:ext cx="119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72" name="Text Box 72"/>
            <p:cNvSpPr txBox="1">
              <a:spLocks noChangeArrowheads="1"/>
            </p:cNvSpPr>
            <p:nvPr/>
          </p:nvSpPr>
          <p:spPr bwMode="auto">
            <a:xfrm>
              <a:off x="3322" y="3105"/>
              <a:ext cx="220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  <p:sp>
          <p:nvSpPr>
            <p:cNvPr id="38973" name="Oval 73"/>
            <p:cNvSpPr>
              <a:spLocks noChangeArrowheads="1"/>
            </p:cNvSpPr>
            <p:nvPr/>
          </p:nvSpPr>
          <p:spPr bwMode="auto">
            <a:xfrm>
              <a:off x="4992" y="2448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cxnSp>
          <p:nvCxnSpPr>
            <p:cNvPr id="38974" name="AutoShape 74"/>
            <p:cNvCxnSpPr>
              <a:cxnSpLocks noChangeShapeType="1"/>
              <a:stCxn id="38967" idx="0"/>
              <a:endCxn id="38973" idx="3"/>
            </p:cNvCxnSpPr>
            <p:nvPr/>
          </p:nvCxnSpPr>
          <p:spPr bwMode="auto">
            <a:xfrm flipV="1">
              <a:off x="4872" y="2659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75" name="AutoShape 75"/>
            <p:cNvCxnSpPr>
              <a:cxnSpLocks noChangeShapeType="1"/>
              <a:stCxn id="38969" idx="0"/>
              <a:endCxn id="38973" idx="5"/>
            </p:cNvCxnSpPr>
            <p:nvPr/>
          </p:nvCxnSpPr>
          <p:spPr bwMode="auto">
            <a:xfrm flipH="1" flipV="1">
              <a:off x="5197" y="2659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76" name="Oval 76"/>
            <p:cNvSpPr>
              <a:spLocks noChangeArrowheads="1"/>
            </p:cNvSpPr>
            <p:nvPr/>
          </p:nvSpPr>
          <p:spPr bwMode="auto">
            <a:xfrm>
              <a:off x="4512" y="2112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6</a:t>
              </a:r>
            </a:p>
          </p:txBody>
        </p:sp>
        <p:cxnSp>
          <p:nvCxnSpPr>
            <p:cNvPr id="38977" name="AutoShape 77"/>
            <p:cNvCxnSpPr>
              <a:cxnSpLocks noChangeShapeType="1"/>
              <a:stCxn id="38973" idx="1"/>
              <a:endCxn id="38976" idx="5"/>
            </p:cNvCxnSpPr>
            <p:nvPr/>
          </p:nvCxnSpPr>
          <p:spPr bwMode="auto">
            <a:xfrm flipH="1" flipV="1">
              <a:off x="4717" y="2323"/>
              <a:ext cx="310" cy="1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78" name="AutoShape 78"/>
            <p:cNvCxnSpPr>
              <a:cxnSpLocks noChangeShapeType="1"/>
              <a:stCxn id="38970" idx="7"/>
              <a:endCxn id="38976" idx="3"/>
            </p:cNvCxnSpPr>
            <p:nvPr/>
          </p:nvCxnSpPr>
          <p:spPr bwMode="auto">
            <a:xfrm flipV="1">
              <a:off x="4261" y="2323"/>
              <a:ext cx="286" cy="1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8944" name="Group 79"/>
          <p:cNvGrpSpPr>
            <a:grpSpLocks/>
          </p:cNvGrpSpPr>
          <p:nvPr/>
        </p:nvGrpSpPr>
        <p:grpSpPr bwMode="auto">
          <a:xfrm>
            <a:off x="4191000" y="998538"/>
            <a:ext cx="3048000" cy="1897062"/>
            <a:chOff x="3312" y="2688"/>
            <a:chExt cx="2160" cy="1344"/>
          </a:xfrm>
        </p:grpSpPr>
        <p:cxnSp>
          <p:nvCxnSpPr>
            <p:cNvPr id="38947" name="AutoShape 80"/>
            <p:cNvCxnSpPr>
              <a:cxnSpLocks noChangeShapeType="1"/>
              <a:stCxn id="38948" idx="0"/>
              <a:endCxn id="38953" idx="3"/>
            </p:cNvCxnSpPr>
            <p:nvPr/>
          </p:nvCxnSpPr>
          <p:spPr bwMode="auto">
            <a:xfrm flipV="1">
              <a:off x="3960" y="3571"/>
              <a:ext cx="131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48" name="Rectangle 81"/>
            <p:cNvSpPr>
              <a:spLocks noChangeArrowheads="1"/>
            </p:cNvSpPr>
            <p:nvPr/>
          </p:nvSpPr>
          <p:spPr bwMode="auto">
            <a:xfrm>
              <a:off x="3840" y="3792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</a:t>
              </a:r>
            </a:p>
          </p:txBody>
        </p:sp>
        <p:sp>
          <p:nvSpPr>
            <p:cNvPr id="38949" name="Rectangle 82"/>
            <p:cNvSpPr>
              <a:spLocks noChangeArrowheads="1"/>
            </p:cNvSpPr>
            <p:nvPr/>
          </p:nvSpPr>
          <p:spPr bwMode="auto">
            <a:xfrm>
              <a:off x="3312" y="3042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38950" name="Rectangle 83"/>
            <p:cNvSpPr>
              <a:spLocks noChangeArrowheads="1"/>
            </p:cNvSpPr>
            <p:nvPr/>
          </p:nvSpPr>
          <p:spPr bwMode="auto">
            <a:xfrm>
              <a:off x="4752" y="3792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38951" name="Rectangle 84"/>
            <p:cNvSpPr>
              <a:spLocks noChangeArrowheads="1"/>
            </p:cNvSpPr>
            <p:nvPr/>
          </p:nvSpPr>
          <p:spPr bwMode="auto">
            <a:xfrm>
              <a:off x="4260" y="3792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38952" name="Rectangle 85"/>
            <p:cNvSpPr>
              <a:spLocks noChangeArrowheads="1"/>
            </p:cNvSpPr>
            <p:nvPr/>
          </p:nvSpPr>
          <p:spPr bwMode="auto">
            <a:xfrm>
              <a:off x="5232" y="3792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r</a:t>
              </a:r>
            </a:p>
          </p:txBody>
        </p:sp>
        <p:sp>
          <p:nvSpPr>
            <p:cNvPr id="38953" name="Oval 86"/>
            <p:cNvSpPr>
              <a:spLocks noChangeArrowheads="1"/>
            </p:cNvSpPr>
            <p:nvPr/>
          </p:nvSpPr>
          <p:spPr bwMode="auto">
            <a:xfrm>
              <a:off x="4056" y="3360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cxnSp>
          <p:nvCxnSpPr>
            <p:cNvPr id="38954" name="AutoShape 87"/>
            <p:cNvCxnSpPr>
              <a:cxnSpLocks noChangeShapeType="1"/>
              <a:stCxn id="38951" idx="0"/>
              <a:endCxn id="38953" idx="5"/>
            </p:cNvCxnSpPr>
            <p:nvPr/>
          </p:nvCxnSpPr>
          <p:spPr bwMode="auto">
            <a:xfrm flipH="1" flipV="1">
              <a:off x="4261" y="3571"/>
              <a:ext cx="119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55" name="Oval 88"/>
            <p:cNvSpPr>
              <a:spLocks noChangeArrowheads="1"/>
            </p:cNvSpPr>
            <p:nvPr/>
          </p:nvSpPr>
          <p:spPr bwMode="auto">
            <a:xfrm>
              <a:off x="4992" y="3360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cxnSp>
          <p:nvCxnSpPr>
            <p:cNvPr id="38956" name="AutoShape 89"/>
            <p:cNvCxnSpPr>
              <a:cxnSpLocks noChangeShapeType="1"/>
              <a:stCxn id="38950" idx="0"/>
              <a:endCxn id="38955" idx="3"/>
            </p:cNvCxnSpPr>
            <p:nvPr/>
          </p:nvCxnSpPr>
          <p:spPr bwMode="auto">
            <a:xfrm flipV="1">
              <a:off x="4872" y="3571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57" name="AutoShape 90"/>
            <p:cNvCxnSpPr>
              <a:cxnSpLocks noChangeShapeType="1"/>
              <a:stCxn id="38952" idx="0"/>
              <a:endCxn id="38955" idx="5"/>
            </p:cNvCxnSpPr>
            <p:nvPr/>
          </p:nvCxnSpPr>
          <p:spPr bwMode="auto">
            <a:xfrm flipH="1" flipV="1">
              <a:off x="5197" y="3571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58" name="Oval 91"/>
            <p:cNvSpPr>
              <a:spLocks noChangeArrowheads="1"/>
            </p:cNvSpPr>
            <p:nvPr/>
          </p:nvSpPr>
          <p:spPr bwMode="auto">
            <a:xfrm>
              <a:off x="4512" y="3024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6</a:t>
              </a:r>
            </a:p>
          </p:txBody>
        </p:sp>
        <p:cxnSp>
          <p:nvCxnSpPr>
            <p:cNvPr id="38959" name="AutoShape 92"/>
            <p:cNvCxnSpPr>
              <a:cxnSpLocks noChangeShapeType="1"/>
              <a:stCxn id="38955" idx="1"/>
              <a:endCxn id="38958" idx="5"/>
            </p:cNvCxnSpPr>
            <p:nvPr/>
          </p:nvCxnSpPr>
          <p:spPr bwMode="auto">
            <a:xfrm flipH="1" flipV="1">
              <a:off x="4717" y="3235"/>
              <a:ext cx="310" cy="1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60" name="AutoShape 93"/>
            <p:cNvCxnSpPr>
              <a:cxnSpLocks noChangeShapeType="1"/>
              <a:stCxn id="38953" idx="7"/>
              <a:endCxn id="38958" idx="3"/>
            </p:cNvCxnSpPr>
            <p:nvPr/>
          </p:nvCxnSpPr>
          <p:spPr bwMode="auto">
            <a:xfrm flipV="1">
              <a:off x="4261" y="3235"/>
              <a:ext cx="286" cy="1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61" name="Oval 94"/>
            <p:cNvSpPr>
              <a:spLocks noChangeArrowheads="1"/>
            </p:cNvSpPr>
            <p:nvPr/>
          </p:nvSpPr>
          <p:spPr bwMode="auto">
            <a:xfrm>
              <a:off x="3840" y="2688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11</a:t>
              </a:r>
            </a:p>
          </p:txBody>
        </p:sp>
        <p:cxnSp>
          <p:nvCxnSpPr>
            <p:cNvPr id="38962" name="AutoShape 95"/>
            <p:cNvCxnSpPr>
              <a:cxnSpLocks noChangeShapeType="1"/>
              <a:stCxn id="38949" idx="0"/>
              <a:endCxn id="38961" idx="3"/>
            </p:cNvCxnSpPr>
            <p:nvPr/>
          </p:nvCxnSpPr>
          <p:spPr bwMode="auto">
            <a:xfrm flipV="1">
              <a:off x="3432" y="2899"/>
              <a:ext cx="443" cy="1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63" name="AutoShape 96"/>
            <p:cNvCxnSpPr>
              <a:cxnSpLocks noChangeShapeType="1"/>
              <a:stCxn id="38958" idx="1"/>
              <a:endCxn id="38961" idx="5"/>
            </p:cNvCxnSpPr>
            <p:nvPr/>
          </p:nvCxnSpPr>
          <p:spPr bwMode="auto">
            <a:xfrm flipH="1" flipV="1">
              <a:off x="4045" y="2899"/>
              <a:ext cx="502" cy="1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945" name="AutoShape 97"/>
          <p:cNvSpPr>
            <a:spLocks noChangeArrowheads="1"/>
          </p:cNvSpPr>
          <p:nvPr/>
        </p:nvSpPr>
        <p:spPr bwMode="auto">
          <a:xfrm rot="-5400000">
            <a:off x="3657600" y="52578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8946" name="AutoShape 98"/>
          <p:cNvSpPr>
            <a:spLocks noChangeArrowheads="1"/>
          </p:cNvSpPr>
          <p:nvPr/>
        </p:nvSpPr>
        <p:spPr bwMode="auto">
          <a:xfrm rot="8100000">
            <a:off x="5943600" y="3352800"/>
            <a:ext cx="381000" cy="381000"/>
          </a:xfrm>
          <a:prstGeom prst="downArrow">
            <a:avLst>
              <a:gd name="adj1" fmla="val 50000"/>
              <a:gd name="adj2" fmla="val 25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7" grpId="0"/>
      <p:bldP spid="38940" grpId="0" animBg="1"/>
      <p:bldP spid="38941" grpId="0" animBg="1"/>
      <p:bldP spid="38945" grpId="0" animBg="1"/>
      <p:bldP spid="3894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121FB2-552C-49FD-9785-F6AF07F80CF4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graphicFrame>
        <p:nvGraphicFramePr>
          <p:cNvPr id="19968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887451"/>
              </p:ext>
            </p:extLst>
          </p:nvPr>
        </p:nvGraphicFramePr>
        <p:xfrm>
          <a:off x="685800" y="3429000"/>
          <a:ext cx="5427664" cy="1657351"/>
        </p:xfrm>
        <a:graphic>
          <a:graphicData uri="http://schemas.openxmlformats.org/drawingml/2006/table">
            <a:tbl>
              <a:tblPr/>
              <a:tblGrid>
                <a:gridCol w="1447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8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8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Character</a:t>
                      </a:r>
                    </a:p>
                  </a:txBody>
                  <a:tcPr marL="91449" marR="91449" marT="45649" marB="456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Frequency</a:t>
                      </a:r>
                    </a:p>
                  </a:txBody>
                  <a:tcPr marL="91449" marR="91449" marT="45649" marB="456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Code word</a:t>
                      </a:r>
                    </a:p>
                  </a:txBody>
                  <a:tcPr marL="91449" marR="91449" marT="45649" marB="456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111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 bit</a:t>
                      </a:r>
                    </a:p>
                  </a:txBody>
                  <a:tcPr marL="91449" marR="91449" marT="45649" marB="456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marL="91449" marR="91449"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977" name="Text Box 23"/>
          <p:cNvSpPr txBox="1">
            <a:spLocks noChangeArrowheads="1"/>
          </p:cNvSpPr>
          <p:nvPr/>
        </p:nvSpPr>
        <p:spPr bwMode="auto">
          <a:xfrm>
            <a:off x="685800" y="1524000"/>
            <a:ext cx="2416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X</a:t>
            </a:r>
            <a:r>
              <a:rPr lang="en-US" altLang="en-US" sz="2400"/>
              <a:t> </a:t>
            </a:r>
            <a:r>
              <a:rPr lang="en-US" altLang="en-US" sz="2400">
                <a:latin typeface="Times New Roman" panose="02020603050405020304" pitchFamily="18" charset="0"/>
              </a:rPr>
              <a:t>=</a:t>
            </a:r>
            <a:r>
              <a:rPr lang="en-US" altLang="en-US" sz="2400"/>
              <a:t> abracadabra</a:t>
            </a:r>
          </a:p>
        </p:txBody>
      </p:sp>
      <p:grpSp>
        <p:nvGrpSpPr>
          <p:cNvPr id="39978" name="Group 79"/>
          <p:cNvGrpSpPr>
            <a:grpSpLocks/>
          </p:cNvGrpSpPr>
          <p:nvPr/>
        </p:nvGrpSpPr>
        <p:grpSpPr bwMode="auto">
          <a:xfrm>
            <a:off x="4191000" y="998538"/>
            <a:ext cx="3048000" cy="1897062"/>
            <a:chOff x="3312" y="2688"/>
            <a:chExt cx="2160" cy="1344"/>
          </a:xfrm>
        </p:grpSpPr>
        <p:cxnSp>
          <p:nvCxnSpPr>
            <p:cNvPr id="39980" name="AutoShape 80"/>
            <p:cNvCxnSpPr>
              <a:cxnSpLocks noChangeShapeType="1"/>
              <a:stCxn id="39981" idx="0"/>
              <a:endCxn id="39986" idx="3"/>
            </p:cNvCxnSpPr>
            <p:nvPr/>
          </p:nvCxnSpPr>
          <p:spPr bwMode="auto">
            <a:xfrm flipV="1">
              <a:off x="3960" y="3571"/>
              <a:ext cx="131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981" name="Rectangle 81"/>
            <p:cNvSpPr>
              <a:spLocks noChangeArrowheads="1"/>
            </p:cNvSpPr>
            <p:nvPr/>
          </p:nvSpPr>
          <p:spPr bwMode="auto">
            <a:xfrm>
              <a:off x="3840" y="3792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c</a:t>
              </a:r>
            </a:p>
          </p:txBody>
        </p:sp>
        <p:sp>
          <p:nvSpPr>
            <p:cNvPr id="39982" name="Rectangle 82"/>
            <p:cNvSpPr>
              <a:spLocks noChangeArrowheads="1"/>
            </p:cNvSpPr>
            <p:nvPr/>
          </p:nvSpPr>
          <p:spPr bwMode="auto">
            <a:xfrm>
              <a:off x="3312" y="3042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</a:t>
              </a:r>
            </a:p>
          </p:txBody>
        </p:sp>
        <p:sp>
          <p:nvSpPr>
            <p:cNvPr id="39983" name="Rectangle 83"/>
            <p:cNvSpPr>
              <a:spLocks noChangeArrowheads="1"/>
            </p:cNvSpPr>
            <p:nvPr/>
          </p:nvSpPr>
          <p:spPr bwMode="auto">
            <a:xfrm>
              <a:off x="4752" y="3792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b</a:t>
              </a:r>
            </a:p>
          </p:txBody>
        </p:sp>
        <p:sp>
          <p:nvSpPr>
            <p:cNvPr id="39984" name="Rectangle 84"/>
            <p:cNvSpPr>
              <a:spLocks noChangeArrowheads="1"/>
            </p:cNvSpPr>
            <p:nvPr/>
          </p:nvSpPr>
          <p:spPr bwMode="auto">
            <a:xfrm>
              <a:off x="4260" y="3792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</a:t>
              </a:r>
            </a:p>
          </p:txBody>
        </p:sp>
        <p:sp>
          <p:nvSpPr>
            <p:cNvPr id="39985" name="Rectangle 85"/>
            <p:cNvSpPr>
              <a:spLocks noChangeArrowheads="1"/>
            </p:cNvSpPr>
            <p:nvPr/>
          </p:nvSpPr>
          <p:spPr bwMode="auto">
            <a:xfrm>
              <a:off x="5232" y="3792"/>
              <a:ext cx="240" cy="24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r</a:t>
              </a:r>
            </a:p>
          </p:txBody>
        </p:sp>
        <p:sp>
          <p:nvSpPr>
            <p:cNvPr id="39986" name="Oval 86"/>
            <p:cNvSpPr>
              <a:spLocks noChangeArrowheads="1"/>
            </p:cNvSpPr>
            <p:nvPr/>
          </p:nvSpPr>
          <p:spPr bwMode="auto">
            <a:xfrm>
              <a:off x="4056" y="3360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cxnSp>
          <p:nvCxnSpPr>
            <p:cNvPr id="39987" name="AutoShape 87"/>
            <p:cNvCxnSpPr>
              <a:cxnSpLocks noChangeShapeType="1"/>
              <a:stCxn id="39984" idx="0"/>
              <a:endCxn id="39986" idx="5"/>
            </p:cNvCxnSpPr>
            <p:nvPr/>
          </p:nvCxnSpPr>
          <p:spPr bwMode="auto">
            <a:xfrm flipH="1" flipV="1">
              <a:off x="4261" y="3571"/>
              <a:ext cx="119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988" name="Oval 88"/>
            <p:cNvSpPr>
              <a:spLocks noChangeArrowheads="1"/>
            </p:cNvSpPr>
            <p:nvPr/>
          </p:nvSpPr>
          <p:spPr bwMode="auto">
            <a:xfrm>
              <a:off x="4992" y="3360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cxnSp>
          <p:nvCxnSpPr>
            <p:cNvPr id="39989" name="AutoShape 89"/>
            <p:cNvCxnSpPr>
              <a:cxnSpLocks noChangeShapeType="1"/>
              <a:stCxn id="39983" idx="0"/>
              <a:endCxn id="39988" idx="3"/>
            </p:cNvCxnSpPr>
            <p:nvPr/>
          </p:nvCxnSpPr>
          <p:spPr bwMode="auto">
            <a:xfrm flipV="1">
              <a:off x="4872" y="3571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90" name="AutoShape 90"/>
            <p:cNvCxnSpPr>
              <a:cxnSpLocks noChangeShapeType="1"/>
              <a:stCxn id="39985" idx="0"/>
              <a:endCxn id="39988" idx="5"/>
            </p:cNvCxnSpPr>
            <p:nvPr/>
          </p:nvCxnSpPr>
          <p:spPr bwMode="auto">
            <a:xfrm flipH="1" flipV="1">
              <a:off x="5197" y="3571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991" name="Oval 91"/>
            <p:cNvSpPr>
              <a:spLocks noChangeArrowheads="1"/>
            </p:cNvSpPr>
            <p:nvPr/>
          </p:nvSpPr>
          <p:spPr bwMode="auto">
            <a:xfrm>
              <a:off x="4512" y="3024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6</a:t>
              </a:r>
            </a:p>
          </p:txBody>
        </p:sp>
        <p:cxnSp>
          <p:nvCxnSpPr>
            <p:cNvPr id="39992" name="AutoShape 92"/>
            <p:cNvCxnSpPr>
              <a:cxnSpLocks noChangeShapeType="1"/>
              <a:stCxn id="39988" idx="1"/>
              <a:endCxn id="39991" idx="5"/>
            </p:cNvCxnSpPr>
            <p:nvPr/>
          </p:nvCxnSpPr>
          <p:spPr bwMode="auto">
            <a:xfrm flipH="1" flipV="1">
              <a:off x="4717" y="3235"/>
              <a:ext cx="310" cy="1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93" name="AutoShape 93"/>
            <p:cNvCxnSpPr>
              <a:cxnSpLocks noChangeShapeType="1"/>
              <a:stCxn id="39986" idx="7"/>
              <a:endCxn id="39991" idx="3"/>
            </p:cNvCxnSpPr>
            <p:nvPr/>
          </p:nvCxnSpPr>
          <p:spPr bwMode="auto">
            <a:xfrm flipV="1">
              <a:off x="4261" y="3235"/>
              <a:ext cx="286" cy="1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9994" name="Oval 94"/>
            <p:cNvSpPr>
              <a:spLocks noChangeArrowheads="1"/>
            </p:cNvSpPr>
            <p:nvPr/>
          </p:nvSpPr>
          <p:spPr bwMode="auto">
            <a:xfrm>
              <a:off x="3840" y="2688"/>
              <a:ext cx="240" cy="240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11</a:t>
              </a:r>
            </a:p>
          </p:txBody>
        </p:sp>
        <p:cxnSp>
          <p:nvCxnSpPr>
            <p:cNvPr id="39995" name="AutoShape 95"/>
            <p:cNvCxnSpPr>
              <a:cxnSpLocks noChangeShapeType="1"/>
              <a:stCxn id="39982" idx="0"/>
              <a:endCxn id="39994" idx="3"/>
            </p:cNvCxnSpPr>
            <p:nvPr/>
          </p:nvCxnSpPr>
          <p:spPr bwMode="auto">
            <a:xfrm flipV="1">
              <a:off x="3432" y="2899"/>
              <a:ext cx="443" cy="13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996" name="AutoShape 96"/>
            <p:cNvCxnSpPr>
              <a:cxnSpLocks noChangeShapeType="1"/>
              <a:stCxn id="39991" idx="1"/>
              <a:endCxn id="39994" idx="5"/>
            </p:cNvCxnSpPr>
            <p:nvPr/>
          </p:nvCxnSpPr>
          <p:spPr bwMode="auto">
            <a:xfrm flipH="1" flipV="1">
              <a:off x="4045" y="2899"/>
              <a:ext cx="502" cy="15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9979" name="Text Box 23"/>
          <p:cNvSpPr txBox="1">
            <a:spLocks noChangeArrowheads="1"/>
          </p:cNvSpPr>
          <p:nvPr/>
        </p:nvSpPr>
        <p:spPr bwMode="auto">
          <a:xfrm>
            <a:off x="1223026" y="5334000"/>
            <a:ext cx="62343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Huffman’s algorithm encodes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400" dirty="0"/>
              <a:t> into </a:t>
            </a:r>
            <a:r>
              <a:rPr lang="en-US" altLang="en-US" sz="2400" u="sng" dirty="0"/>
              <a:t>23</a:t>
            </a:r>
            <a:r>
              <a:rPr lang="en-US" altLang="en-US" sz="2400" dirty="0"/>
              <a:t> bits.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u="sng" dirty="0"/>
              <a:t>Encoded</a:t>
            </a:r>
            <a:r>
              <a:rPr lang="en-US" altLang="en-US" sz="2400" dirty="0"/>
              <a:t>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X</a:t>
            </a:r>
            <a:r>
              <a:rPr lang="en-US" altLang="en-US" sz="2400" dirty="0"/>
              <a:t> = </a:t>
            </a:r>
            <a:r>
              <a:rPr lang="en-US" altLang="en-US" sz="2400" u="sng" dirty="0"/>
              <a:t>0</a:t>
            </a:r>
            <a:r>
              <a:rPr lang="en-US" altLang="en-US" sz="2400" dirty="0"/>
              <a:t>110</a:t>
            </a:r>
            <a:r>
              <a:rPr lang="en-US" altLang="en-US" sz="2400" u="sng" dirty="0"/>
              <a:t>111</a:t>
            </a:r>
            <a:r>
              <a:rPr lang="en-US" altLang="en-US" sz="2400" dirty="0"/>
              <a:t>0</a:t>
            </a:r>
            <a:r>
              <a:rPr lang="en-US" altLang="en-US" sz="2400" u="sng" dirty="0"/>
              <a:t>100</a:t>
            </a:r>
            <a:r>
              <a:rPr lang="en-US" altLang="en-US" sz="2400" dirty="0"/>
              <a:t>0</a:t>
            </a:r>
            <a:r>
              <a:rPr lang="en-US" altLang="en-US" sz="2400" u="sng" dirty="0"/>
              <a:t>101</a:t>
            </a:r>
            <a:r>
              <a:rPr lang="en-US" altLang="en-US" sz="2400" dirty="0"/>
              <a:t>0</a:t>
            </a:r>
            <a:r>
              <a:rPr lang="en-US" altLang="en-US" sz="2400" u="sng" dirty="0"/>
              <a:t>110</a:t>
            </a:r>
            <a:r>
              <a:rPr lang="en-US" altLang="en-US" sz="2400" dirty="0"/>
              <a:t>111</a:t>
            </a:r>
            <a:r>
              <a:rPr lang="en-US" altLang="en-US" sz="2400" u="sng" dirty="0"/>
              <a:t>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92B9A6-82A6-F1F8-1260-44E336090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737671"/>
          </a:xfrm>
        </p:spPr>
        <p:txBody>
          <a:bodyPr/>
          <a:lstStyle/>
          <a:p>
            <a:pPr eaLnBrk="1" hangingPunct="1"/>
            <a:r>
              <a:rPr lang="en-US" altLang="en-US" dirty="0"/>
              <a:t>Huffman’s Example cont.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Aspect">
      <a:dk1>
        <a:sysClr val="windowText" lastClr="FFFFFF"/>
      </a:dk1>
      <a:lt1>
        <a:sysClr val="window" lastClr="000000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7046</TotalTime>
  <Words>2611</Words>
  <Application>Microsoft Office PowerPoint</Application>
  <PresentationFormat>On-screen Show (4:3)</PresentationFormat>
  <Paragraphs>556</Paragraphs>
  <Slides>27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Calibri</vt:lpstr>
      <vt:lpstr>Consolas</vt:lpstr>
      <vt:lpstr>Courier New</vt:lpstr>
      <vt:lpstr>Symbol</vt:lpstr>
      <vt:lpstr>Tahoma</vt:lpstr>
      <vt:lpstr>Times New Roman</vt:lpstr>
      <vt:lpstr>Wingdings</vt:lpstr>
      <vt:lpstr>Blueprint</vt:lpstr>
      <vt:lpstr>VISIO</vt:lpstr>
      <vt:lpstr>Lecture 11 Text Processing</vt:lpstr>
      <vt:lpstr>Learning Outcome</vt:lpstr>
      <vt:lpstr>Strings</vt:lpstr>
      <vt:lpstr>Brute-Force Algorithm</vt:lpstr>
      <vt:lpstr>Brute-Force Algorithm</vt:lpstr>
      <vt:lpstr>Brute Force Algorithm</vt:lpstr>
      <vt:lpstr>Boyer-Moore Heuristics</vt:lpstr>
      <vt:lpstr>Last-Occurrence Function</vt:lpstr>
      <vt:lpstr>The Boyer-Moore Algorithm</vt:lpstr>
      <vt:lpstr>Boyer-Moore Example (right to left)</vt:lpstr>
      <vt:lpstr>Another Boyer-Moore Example</vt:lpstr>
      <vt:lpstr>Another Boyer-Moore Example</vt:lpstr>
      <vt:lpstr>Another Boyer-Moore Example</vt:lpstr>
      <vt:lpstr>Analysis</vt:lpstr>
      <vt:lpstr>The KMP Algorithm - Motivation</vt:lpstr>
      <vt:lpstr>KMP Failure Function</vt:lpstr>
      <vt:lpstr>The KMP Algorithm</vt:lpstr>
      <vt:lpstr>Computing the Failure Function</vt:lpstr>
      <vt:lpstr>Example</vt:lpstr>
      <vt:lpstr>Trie</vt:lpstr>
      <vt:lpstr>Trie cont.</vt:lpstr>
      <vt:lpstr>Encoding Trie</vt:lpstr>
      <vt:lpstr>Encoding Trie cont.</vt:lpstr>
      <vt:lpstr>Huffman Encoding</vt:lpstr>
      <vt:lpstr>Huffman’s Algorithm</vt:lpstr>
      <vt:lpstr>Huffman’s Example</vt:lpstr>
      <vt:lpstr>Huffman’s Example cont.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 Text Processing</dc:title>
  <dc:creator>Roberto Tamassia</dc:creator>
  <cp:lastModifiedBy>Neoh Kee Lin</cp:lastModifiedBy>
  <cp:revision>1183</cp:revision>
  <dcterms:created xsi:type="dcterms:W3CDTF">2002-01-21T02:22:10Z</dcterms:created>
  <dcterms:modified xsi:type="dcterms:W3CDTF">2025-01-20T08:39:48Z</dcterms:modified>
</cp:coreProperties>
</file>