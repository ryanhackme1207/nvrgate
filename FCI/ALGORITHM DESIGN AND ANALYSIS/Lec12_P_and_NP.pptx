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418" r:id="rId4"/>
    <p:sldId id="455" r:id="rId5"/>
    <p:sldId id="456" r:id="rId6"/>
    <p:sldId id="457" r:id="rId7"/>
    <p:sldId id="458" r:id="rId8"/>
    <p:sldId id="459" r:id="rId9"/>
    <p:sldId id="460" r:id="rId10"/>
    <p:sldId id="461" r:id="rId11"/>
    <p:sldId id="463" r:id="rId12"/>
    <p:sldId id="462" r:id="rId13"/>
    <p:sldId id="464" r:id="rId14"/>
    <p:sldId id="465" r:id="rId15"/>
    <p:sldId id="445" r:id="rId16"/>
    <p:sldId id="466" r:id="rId17"/>
    <p:sldId id="467" r:id="rId18"/>
    <p:sldId id="468" r:id="rId19"/>
    <p:sldId id="473" r:id="rId20"/>
    <p:sldId id="474" r:id="rId21"/>
    <p:sldId id="475" r:id="rId22"/>
    <p:sldId id="476" r:id="rId23"/>
    <p:sldId id="487" r:id="rId24"/>
    <p:sldId id="469" r:id="rId25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74F6"/>
    <a:srgbClr val="6289F8"/>
    <a:srgbClr val="8097F8"/>
    <a:srgbClr val="2C61F6"/>
    <a:srgbClr val="000000"/>
    <a:srgbClr val="3333FF"/>
    <a:srgbClr val="FF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/>
  </p:normalViewPr>
  <p:slideViewPr>
    <p:cSldViewPr snapToObjects="1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2.xml"/><Relationship Id="rId3" Type="http://schemas.openxmlformats.org/officeDocument/2006/relationships/slide" Target="slides/slide3.xml"/><Relationship Id="rId7" Type="http://schemas.openxmlformats.org/officeDocument/2006/relationships/slide" Target="slides/slide20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14.xml"/><Relationship Id="rId5" Type="http://schemas.openxmlformats.org/officeDocument/2006/relationships/slide" Target="slides/slide8.xml"/><Relationship Id="rId4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3D1D115B-6DB1-4B61-945E-1DD34C9E01BE}"/>
    <pc:docChg chg="undo custSel modSld">
      <pc:chgData name="Neoh Kee Lin" userId="9e68bd29-1eeb-4ae3-beb9-48fd59e465e5" providerId="ADAL" clId="{3D1D115B-6DB1-4B61-945E-1DD34C9E01BE}" dt="2025-02-02T15:09:38.065" v="9"/>
      <pc:docMkLst>
        <pc:docMk/>
      </pc:docMkLst>
      <pc:sldChg chg="modSp mod">
        <pc:chgData name="Neoh Kee Lin" userId="9e68bd29-1eeb-4ae3-beb9-48fd59e465e5" providerId="ADAL" clId="{3D1D115B-6DB1-4B61-945E-1DD34C9E01BE}" dt="2025-02-02T15:01:07.372" v="0"/>
        <pc:sldMkLst>
          <pc:docMk/>
          <pc:sldMk cId="0" sldId="445"/>
        </pc:sldMkLst>
        <pc:spChg chg="mod">
          <ac:chgData name="Neoh Kee Lin" userId="9e68bd29-1eeb-4ae3-beb9-48fd59e465e5" providerId="ADAL" clId="{3D1D115B-6DB1-4B61-945E-1DD34C9E01BE}" dt="2025-02-02T15:01:07.372" v="0"/>
          <ac:spMkLst>
            <pc:docMk/>
            <pc:sldMk cId="0" sldId="445"/>
            <ac:spMk id="30723" creationId="{5EACFCF6-FE06-AA18-2DEB-3150EF5106A7}"/>
          </ac:spMkLst>
        </pc:spChg>
      </pc:sldChg>
      <pc:sldChg chg="modSp mod">
        <pc:chgData name="Neoh Kee Lin" userId="9e68bd29-1eeb-4ae3-beb9-48fd59e465e5" providerId="ADAL" clId="{3D1D115B-6DB1-4B61-945E-1DD34C9E01BE}" dt="2025-02-02T15:01:13.988" v="1" actId="20577"/>
        <pc:sldMkLst>
          <pc:docMk/>
          <pc:sldMk cId="0" sldId="467"/>
        </pc:sldMkLst>
        <pc:spChg chg="mod">
          <ac:chgData name="Neoh Kee Lin" userId="9e68bd29-1eeb-4ae3-beb9-48fd59e465e5" providerId="ADAL" clId="{3D1D115B-6DB1-4B61-945E-1DD34C9E01BE}" dt="2025-02-02T15:01:13.988" v="1" actId="20577"/>
          <ac:spMkLst>
            <pc:docMk/>
            <pc:sldMk cId="0" sldId="467"/>
            <ac:spMk id="32772" creationId="{7271A803-7214-9A4C-C6C8-3873FFF70B86}"/>
          </ac:spMkLst>
        </pc:spChg>
      </pc:sldChg>
      <pc:sldChg chg="modSp mod">
        <pc:chgData name="Neoh Kee Lin" userId="9e68bd29-1eeb-4ae3-beb9-48fd59e465e5" providerId="ADAL" clId="{3D1D115B-6DB1-4B61-945E-1DD34C9E01BE}" dt="2025-02-02T15:09:38.065" v="9"/>
        <pc:sldMkLst>
          <pc:docMk/>
          <pc:sldMk cId="0" sldId="468"/>
        </pc:sldMkLst>
        <pc:spChg chg="mod">
          <ac:chgData name="Neoh Kee Lin" userId="9e68bd29-1eeb-4ae3-beb9-48fd59e465e5" providerId="ADAL" clId="{3D1D115B-6DB1-4B61-945E-1DD34C9E01BE}" dt="2025-02-02T15:09:38.065" v="9"/>
          <ac:spMkLst>
            <pc:docMk/>
            <pc:sldMk cId="0" sldId="468"/>
            <ac:spMk id="33797" creationId="{55A047B0-B15A-6F1F-4377-F5864FBB8F3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A47BCA6-AED6-7367-3B8E-6FC310C1DD5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20" tIns="46509" rIns="93020" bIns="46509" numCol="1" anchor="t" anchorCtr="0" compatLnSpc="1">
            <a:prstTxWarp prst="textNoShape">
              <a:avLst/>
            </a:prstTxWarp>
          </a:bodyPr>
          <a:lstStyle>
            <a:lvl1pPr algn="l" defTabSz="930275" eaLnBrk="1" hangingPunct="1">
              <a:defRPr sz="1300"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C507016-7262-AAC2-C36F-9B3EC9139BF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20" tIns="46509" rIns="93020" bIns="46509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/>
            </a:lvl1pPr>
          </a:lstStyle>
          <a:p>
            <a:pPr>
              <a:defRPr/>
            </a:pPr>
            <a:fld id="{6E134DAF-F29B-4CAA-AB4D-C8E24729B541}" type="datetime8">
              <a:rPr lang="en-US" altLang="en-US"/>
              <a:pPr>
                <a:defRPr/>
              </a:pPr>
              <a:t>2/2/2025 11:01 PM</a:t>
            </a:fld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8B9DCDC-BD88-EC04-50EB-6BF12A74CB1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20" tIns="46509" rIns="93020" bIns="46509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B2E826BF-62B2-EB4F-B299-074D73B7495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20" tIns="46509" rIns="93020" bIns="46509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/>
            </a:lvl1pPr>
          </a:lstStyle>
          <a:p>
            <a:pPr>
              <a:defRPr/>
            </a:pPr>
            <a:fld id="{8CAE861A-8AF4-4487-8E57-F2730A125B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FE20877-6D2A-C58B-F6B4-096D81219BB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20" tIns="46509" rIns="93020" bIns="46509" numCol="1" anchor="t" anchorCtr="0" compatLnSpc="1">
            <a:prstTxWarp prst="textNoShape">
              <a:avLst/>
            </a:prstTxWarp>
          </a:bodyPr>
          <a:lstStyle>
            <a:lvl1pPr algn="l" defTabSz="930275" eaLnBrk="1" hangingPunct="1">
              <a:defRPr sz="1300"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C35592-1509-7168-5D73-522BA2F5F57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20" tIns="46509" rIns="93020" bIns="46509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/>
            </a:lvl1pPr>
          </a:lstStyle>
          <a:p>
            <a:pPr>
              <a:defRPr/>
            </a:pPr>
            <a:fld id="{2523F2C9-7A9C-4AF8-A02C-5BAECFC5C6EE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95370512-6BDA-74FD-7896-96033598CB4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9513" y="698500"/>
            <a:ext cx="4640262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0087B00-F80A-1E4A-9BFD-BA8F6E36F04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20" tIns="46509" rIns="93020" bIns="465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3EA1E74-8DCE-3429-009A-CDDD04F202D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20" tIns="46509" rIns="93020" bIns="46509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1709676-A319-D84B-25C6-3741B307CC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20" tIns="46509" rIns="93020" bIns="46509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/>
            </a:lvl1pPr>
          </a:lstStyle>
          <a:p>
            <a:pPr>
              <a:defRPr/>
            </a:pPr>
            <a:fld id="{281706ED-7F17-48EF-A261-91D80D86E3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C780058-B572-5366-B14C-B39D425DEB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300">
                <a:latin typeface="Tahoma" panose="020B0604030504040204" pitchFamily="34" charset="0"/>
              </a:rPr>
              <a:t>Graphs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BDFECAD-29C6-C1BE-9E6D-C4B67C4351E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392079-A74D-4555-A8E5-2C9E0498A1E6}" type="datetime8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2/2/2025 11:00 PM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16388" name="Rectangle 7">
            <a:extLst>
              <a:ext uri="{FF2B5EF4-FFF2-40B4-BE49-F238E27FC236}">
                <a16:creationId xmlns:a16="http://schemas.microsoft.com/office/drawing/2014/main" id="{5BDFF42B-5A35-8AC1-E0F7-73BD7CA7C0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1BBFB47-D42C-49EC-A44C-93B6DEFF81DC}" type="slidenum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F73DF126-A254-9731-E6CA-C57B1EBAA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EF6C9A8A-058C-BE91-246A-1E72F27DD2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ABB2745-A29B-97A9-DA68-1AD55B1D013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9688696D-8B0A-D212-EBD9-0B85890BF5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8CADCD15-A0D5-5B53-DD78-955ACC35B7A9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C78AB62A-C26A-00AF-0853-FFCEA67088C6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C4A867B1-F781-AEB1-2424-54F66571BF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34C6312D-881A-ADEB-DC0D-0A03FEF0E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E4F0C4EB-8290-EBE6-CFC4-564E3780A3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1EE1516E-133A-B31B-7BD6-E97689370A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B58F4EA0-15BA-602A-5865-66A7732C39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EB0A14B1-CC94-BA1F-C7C5-F4B562B8EC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6ED0E3DB-4C17-2242-8903-076907808B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B6DF01C6-C14B-0622-698E-DB4C5DDC83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37A49A45-EF8F-1196-78DD-637ECB2B41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B6494401-8C12-B5F8-D79B-A7FC33210B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85ED433C-8021-D4F3-D576-19DCCB5E30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352EDEDB-EFDE-FADC-2250-5FBB759078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1A9A1C07-1C94-CBFE-5672-4CD12901BD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3F391712-B5B1-DF93-0DF9-E42DAB794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346B8D39-C3C0-7833-D05D-B0C516B0C0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28D4934F-A84D-3DA1-458D-9A14647D17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34CED66A-51FA-73AA-4340-715782CFC9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FC7C54BA-0A7F-4B70-33B0-B8FE60F9F9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8987F747-DB40-4ECD-D9F2-5277B4291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BD497942-8D2F-B450-639C-06A93F3511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D1E22989-90EE-70A5-320D-997E48EE66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34956BA1-9022-7B1E-2BB0-A7A254287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50A69506-D42A-FE1F-9536-9A9A6ACEFF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82B30C93-1F36-5CFC-EDA5-4722036796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07C57800-919B-F6FC-458B-B3BA95AE8F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CFEEC67F-2641-EBF6-092A-C56DD7C79B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10F54C7F-1C56-5DB0-2146-D13866B362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2F94DC68-8E66-86CF-A2E2-36892A117E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5965C970-45E8-7CAC-9A8D-52766B21F5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6FE666AD-97AE-2A5E-1D87-2D54463F45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BD1B014C-7D4C-1077-239C-E1E90BFD5E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F1B03597-56A5-C951-17CB-0D2AD4462B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BFA34EAC-3676-04A0-F3B6-C461C322B0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51DE4654-5C00-A05A-3078-F7EFAC9FE2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EC8B6E03-D350-AB85-AE6E-A3B97F9BF2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08835894-3550-64B5-8E8A-27B8DD8A50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CFA9E0B1-CDB4-CAFF-0424-19DCA4E528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70902F80-2820-2E54-1E45-73D0D03770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297C8F36-5A83-2CE0-DF32-7DDE64199B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88D14FD4-747E-94C1-D510-C277CCC12B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3AEE7DAF-BD8E-12AC-84CD-F2564D8882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484D8FA2-80DB-ECF2-B8D2-FFFF70EE12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61C5A7B6-479E-C3BD-5A48-1B0AEA3069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C4F34A6A-1343-4303-2D62-27886884F8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7760F624-DFC1-66CB-9CDC-9A62FA9489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DCDEE521-F031-2CC3-8DAA-ECF5989778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F614C1C4-5301-058C-548D-79A59D0B36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06976678-727D-90C0-E156-8C7BDF3787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7F0FC56E-B70B-F882-14E6-FF7B57F472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522B09B4-A7D5-8902-10A6-BDD752CB0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3E7693AB-6387-B371-16A3-AE97224E19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6BFACE26-1AA9-721F-70A0-D71B90F2114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4E1ADC37-3266-7306-A16A-CAACB848B08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33C169A3-C3DA-76BB-972C-1EA66E6B36E2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D88F2F96-AA90-293A-F8BB-249B64718C7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CA52455F-BD05-8B24-0CC0-3D5F99E0136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4803C07D-88D1-4E1E-6C93-9EDE8562C95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0A5AD279-ECF2-9F93-6710-33A132898DA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9E4E2C63-A513-656E-4332-F40EC00E0C5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D2F29FCC-2C48-076F-1ECE-D133022B0F1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5B606BE2-FB59-42D7-4818-D5D2F0AFD766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5189" name="Rectangle 69">
            <a:extLst>
              <a:ext uri="{FF2B5EF4-FFF2-40B4-BE49-F238E27FC236}">
                <a16:creationId xmlns:a16="http://schemas.microsoft.com/office/drawing/2014/main" id="{1EE49CC6-BC7B-E4F3-B77A-5F316D6FBBE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2C4153-5C23-4DA8-844B-558C7A98768E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5190" name="Rectangle 70">
            <a:extLst>
              <a:ext uri="{FF2B5EF4-FFF2-40B4-BE49-F238E27FC236}">
                <a16:creationId xmlns:a16="http://schemas.microsoft.com/office/drawing/2014/main" id="{55421450-0AA0-D897-986B-491540AF8E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[Lec12] NP-Completeness</a:t>
            </a:r>
          </a:p>
        </p:txBody>
      </p:sp>
      <p:sp>
        <p:nvSpPr>
          <p:cNvPr id="5191" name="Rectangle 71">
            <a:extLst>
              <a:ext uri="{FF2B5EF4-FFF2-40B4-BE49-F238E27FC236}">
                <a16:creationId xmlns:a16="http://schemas.microsoft.com/office/drawing/2014/main" id="{C6726255-93FF-4605-D821-EC77E36ABF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A7F01-5860-4F3B-824B-C21A923B0E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139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DFAEBA16-10E8-2296-A476-D1A91A6E47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C0401-E037-4A57-B324-2ED9F819E936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768885DC-5FE7-0F0E-9973-16B9AAE9B2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[Lec12] NP-Completeness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32CBA932-505C-D48E-6270-329EABFAD8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854EE-66B6-48A3-84F4-07D230A8E7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463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A9BB0115-88A8-4D0B-C38D-9BA0CBAADB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383A6-14A4-433A-A40C-DB21CC12170C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D417DB9C-73FE-75BD-E053-80E895110E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[Lec12] NP-Completeness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F0D8EAAB-17B5-09C8-A8C3-CC4B033B95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2DA37-4482-47A0-B6DE-C3A4E3C654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023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E0E7FF56-56EB-9DFD-1843-BF8173F576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924D8-3289-42FB-9B34-71E25F0884B7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D93A0498-1D87-19BB-913D-BCC4303E80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[Lec12] NP-Completeness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7A583D5F-4447-9AB5-3D9E-6A79F7A2C0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142A34-2E9D-45BA-931A-C8E099434F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752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5">
            <a:extLst>
              <a:ext uri="{FF2B5EF4-FFF2-40B4-BE49-F238E27FC236}">
                <a16:creationId xmlns:a16="http://schemas.microsoft.com/office/drawing/2014/main" id="{942E8041-4E9C-9081-71AE-C95138A7E2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D4E35-A618-445D-810D-E2A0421583FA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ADBFC38E-7399-A4C7-96D6-FAF73A3D97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[Lec12] NP-Completeness</a:t>
            </a:r>
          </a:p>
        </p:txBody>
      </p:sp>
      <p:sp>
        <p:nvSpPr>
          <p:cNvPr id="9" name="Rectangle 67">
            <a:extLst>
              <a:ext uri="{FF2B5EF4-FFF2-40B4-BE49-F238E27FC236}">
                <a16:creationId xmlns:a16="http://schemas.microsoft.com/office/drawing/2014/main" id="{FAB82EB9-0E52-A682-B219-D4A5B3ADD2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767BD-F6FF-4A62-AD5C-7DF12ABEB8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591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5">
            <a:extLst>
              <a:ext uri="{FF2B5EF4-FFF2-40B4-BE49-F238E27FC236}">
                <a16:creationId xmlns:a16="http://schemas.microsoft.com/office/drawing/2014/main" id="{FFB1265F-9C41-A76F-6CC0-8E32C25E02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AC32D0-9C00-4AAD-93F1-BD94509B1965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4" name="Rectangle 66">
            <a:extLst>
              <a:ext uri="{FF2B5EF4-FFF2-40B4-BE49-F238E27FC236}">
                <a16:creationId xmlns:a16="http://schemas.microsoft.com/office/drawing/2014/main" id="{777078EA-C6A4-F4F5-6941-B79F3720C1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[Lec12] NP-Completeness</a:t>
            </a:r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id="{73DB0C83-CE10-8B69-AD85-60DEA596C8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998A2-C34E-467D-AF75-491D738BD4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691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47645EA3-5E0D-C1CC-8C53-20A7C02D7E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1C1C57-18F4-40C4-9569-D2711386A3A1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D474853D-BB60-5FA1-B79F-74E72F2B49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[Lec12] NP-Completeness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838D5C6F-08B2-39D1-5D5E-47BE17BFD0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4E5CC5-B8E0-4AB7-97D3-BF715F4588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10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37062BD3-4F11-E918-05FF-84AE78CFB8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50ECB-0262-4B9E-8ECC-1B5E8EAF2CC9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29B06309-E0D4-2A15-5A19-056D8C84E1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[Lec12] NP-Completeness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96619C15-E920-3718-F52E-A6B4BEF298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3DAF0-57C2-45CD-8DA8-2FE33E960A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3573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180F3BF9-11AB-EFF0-E370-DEBA297E03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3082B-001D-4451-B01C-4BA75A72AA17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63D152A7-86C8-8B9F-A824-472C7FE691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[Lec12] NP-Completeness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F0629D7D-2F3A-B4DB-D006-45BFE8D40C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0DBCB-B7C2-4090-A8C4-C711B4C9F5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624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52FD92CF-2887-B22B-5DF8-9A55C4E4F1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723FC-B29F-46F8-89FC-6BDFBBCCF83C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EB5AA8D7-6BDA-7CE2-A71B-74BE6EAB7B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[Lec12] NP-Completeness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22D2E479-FABB-5C83-3B56-5CA11835A9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787659-BB0A-4A5A-A1B4-0FCAB0DFE5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32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4EC1AA59-D168-200B-5348-4A975F1F63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7C62C3-68D8-495A-BC08-0DA0FE3A2FCB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AFF0F1DD-205B-F9D9-D3EA-56962DB9B2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[Lec12] NP-Completeness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BE0E3EC1-9DE0-ED40-5E15-83AD134834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3409EE-E923-4F43-86BF-0A32E57071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108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3F94A511-74B1-0EFA-F08D-D4B49C109F3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1DBD74A1-53FF-26AC-4484-EBA44FCFBF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7B3669D2-16FE-770C-386A-1E6569D0D3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215C8AF9-746B-90F9-595F-3C0D71023D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1EB263C8-AD69-C532-89CA-D1D6B8D5D2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04C7FA0D-F1F8-6DDD-A6C6-14EEFF9F07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43C72414-BB1E-EF3D-DB11-C0DB4D984B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D6A1D64E-588D-A610-7D9D-E8AB5A1E9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6338B7DD-53CD-4973-197B-20066D0BD4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41B919B2-2D5F-EC21-3DB3-38930630CE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DD42C503-4C2C-A717-A7D1-8BC4E373FE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3ADB65AD-F4CD-88F3-39A4-6A3A37D8B4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3E75EBCF-253A-10D0-4EC2-22B6E1CF0A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083F8799-4F98-DA97-F431-810B9D1EC3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06E32169-BA98-A7A0-7D70-FB18A2B863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4F36C422-1FC0-F54B-F8FB-0DDAA19DAD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88C724BF-AAFD-1035-C792-E04AE5B51D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CDDA9D17-2283-CDB9-A2CA-9002EF994B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CA9A4526-C59D-8382-C46D-D98460839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D73AFBDD-2C52-8E6F-223E-56CC659F36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D5D95549-C09E-4C2A-36F9-B86F7060A3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8DB76156-EFBB-852F-4816-6E8D3EF884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1A34530C-C2A7-7CFA-A21B-8BF6838547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15749055-B8AC-E804-44F0-A84BC2C1EB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1FB52476-E138-288D-094F-A644DC81A2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6156D8B0-75CE-248C-4E44-E22E306068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486A5DED-DCCF-F26F-4E57-D251CD6571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D01EB6BC-BDB2-3BAB-FA0B-F9DE8A00C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C1CA340D-8D09-0F7E-3C94-A43CCA6A6E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335DD34E-5FFB-9F5B-357C-F8C7DA19D0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5258F6F3-9A95-BEE5-E788-362E927DF9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4F6575FD-4EF1-10AB-5840-C6C79661F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67089037-3D53-66FC-53D9-941EA8DADE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A37ACE59-6262-638D-42A1-6B816110AC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6FFC440B-7717-A36B-539D-0756077924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1947A277-3A9F-35ED-3A87-37C2A71493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271E792E-3BFA-ED39-45D5-CA0D0D2856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D80719B2-43EF-5C6D-F8FF-A4E3EC01D4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BE5ACF1B-4D23-8F69-C37A-135F721F50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72BBB7D2-D496-6620-EBE3-58B9FC2B30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54F878C8-BEEE-3279-1D6F-A36B20C34E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91CB5F98-0DC4-E473-C15E-8844C5E73C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29AA958C-EF96-786A-A80D-E8EC126A8E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1BCC818F-2931-E608-A789-F984572B88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3F0EA84F-A656-6D07-0FB1-0FFF8AD8B5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20B3F348-8021-E9D4-CF5E-9C898868EC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F3244F1B-EE93-2012-FFED-6F0FED31C4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3D68C94B-1B99-360E-0E29-67608913FC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477635E6-9604-BA75-E099-92980AB234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6CA2F792-3CB9-BA18-6655-B77DC19F9B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DC736C09-C545-6858-73D6-C29689C627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14D38AB5-FABB-BE47-5D76-F9E998B28C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B880F0FD-B305-65A6-733E-028070C757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291710FF-ACC6-93FD-0464-6AA5F9022F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F00A1C6A-AD30-644B-63B6-20E8DB0DA6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097F1CD5-8646-C032-0DE0-E845F39EC171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22CB16B9-4E11-759F-D828-CC401E0080C8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A3F68E44-E57A-D880-FDCE-6C0933E81A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EF9C87A1-FF30-9573-8A54-2E83DF372662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29F173F3-6147-6D61-D65C-A6D73A945BA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98BBF787-B0EB-8DD4-B4C7-6EA3A64C1E50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C2956AC7-B68E-C1EC-B95E-1E7CDD5D0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39E4832-E681-004A-33B1-190D6A75B6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BEB93FFD-09B2-1911-816A-704EFEF549D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2298F459-E369-492D-B292-DA7682248153}" type="datetime8">
              <a:rPr lang="en-US" altLang="en-US"/>
              <a:pPr>
                <a:defRPr/>
              </a:pPr>
              <a:t>2/2/2025 11:00 PM</a:t>
            </a:fld>
            <a:endParaRPr lang="en-US" altLang="en-US"/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C0DDDE83-8740-6200-D608-26CD35408A2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[Lec12] NP-Completeness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E8F33BBB-CE49-FD67-7088-8C7E7564E03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5598554-342F-492E-88B8-EE62BCE605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8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4.wmf"/><Relationship Id="rId7" Type="http://schemas.openxmlformats.org/officeDocument/2006/relationships/image" Target="../media/image7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1">
            <a:extLst>
              <a:ext uri="{FF2B5EF4-FFF2-40B4-BE49-F238E27FC236}">
                <a16:creationId xmlns:a16="http://schemas.microsoft.com/office/drawing/2014/main" id="{775B7EF1-936E-3446-A5DD-7B5EC2B097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B017D4-9681-4981-B4B0-8CF30338BB3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3E3C4ED5-AE3E-26AB-7212-042C8A5CC6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Lecture 12: P &amp; NP</a:t>
            </a:r>
          </a:p>
        </p:txBody>
      </p:sp>
      <p:sp>
        <p:nvSpPr>
          <p:cNvPr id="15364" name="Freeform 582">
            <a:extLst>
              <a:ext uri="{FF2B5EF4-FFF2-40B4-BE49-F238E27FC236}">
                <a16:creationId xmlns:a16="http://schemas.microsoft.com/office/drawing/2014/main" id="{B84B901D-7723-F73A-18F2-EE5CA9F6D71E}"/>
              </a:ext>
            </a:extLst>
          </p:cNvPr>
          <p:cNvSpPr>
            <a:spLocks/>
          </p:cNvSpPr>
          <p:nvPr/>
        </p:nvSpPr>
        <p:spPr bwMode="auto">
          <a:xfrm>
            <a:off x="3952875" y="4157663"/>
            <a:ext cx="1014413" cy="874712"/>
          </a:xfrm>
          <a:custGeom>
            <a:avLst/>
            <a:gdLst>
              <a:gd name="T0" fmla="*/ 2147483646 w 1277"/>
              <a:gd name="T1" fmla="*/ 2147483646 h 1102"/>
              <a:gd name="T2" fmla="*/ 2147483646 w 1277"/>
              <a:gd name="T3" fmla="*/ 0 h 1102"/>
              <a:gd name="T4" fmla="*/ 0 w 1277"/>
              <a:gd name="T5" fmla="*/ 2147483646 h 1102"/>
              <a:gd name="T6" fmla="*/ 2147483646 w 1277"/>
              <a:gd name="T7" fmla="*/ 2147483646 h 110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7" h="1102">
                <a:moveTo>
                  <a:pt x="1277" y="1102"/>
                </a:moveTo>
                <a:lnTo>
                  <a:pt x="639" y="0"/>
                </a:lnTo>
                <a:lnTo>
                  <a:pt x="0" y="1102"/>
                </a:lnTo>
                <a:lnTo>
                  <a:pt x="1277" y="1102"/>
                </a:lnTo>
                <a:close/>
              </a:path>
            </a:pathLst>
          </a:custGeom>
          <a:solidFill>
            <a:srgbClr val="3333FF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5" name="Freeform 583">
            <a:extLst>
              <a:ext uri="{FF2B5EF4-FFF2-40B4-BE49-F238E27FC236}">
                <a16:creationId xmlns:a16="http://schemas.microsoft.com/office/drawing/2014/main" id="{94DEE126-0F6F-36C3-7607-419D630D27C0}"/>
              </a:ext>
            </a:extLst>
          </p:cNvPr>
          <p:cNvSpPr>
            <a:spLocks/>
          </p:cNvSpPr>
          <p:nvPr/>
        </p:nvSpPr>
        <p:spPr bwMode="auto">
          <a:xfrm>
            <a:off x="6451600" y="4157663"/>
            <a:ext cx="1012825" cy="874712"/>
          </a:xfrm>
          <a:custGeom>
            <a:avLst/>
            <a:gdLst>
              <a:gd name="T0" fmla="*/ 2147483646 w 1276"/>
              <a:gd name="T1" fmla="*/ 2147483646 h 1102"/>
              <a:gd name="T2" fmla="*/ 2147483646 w 1276"/>
              <a:gd name="T3" fmla="*/ 0 h 1102"/>
              <a:gd name="T4" fmla="*/ 0 w 1276"/>
              <a:gd name="T5" fmla="*/ 2147483646 h 1102"/>
              <a:gd name="T6" fmla="*/ 2147483646 w 1276"/>
              <a:gd name="T7" fmla="*/ 2147483646 h 110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6" h="1102">
                <a:moveTo>
                  <a:pt x="1276" y="1102"/>
                </a:moveTo>
                <a:lnTo>
                  <a:pt x="638" y="0"/>
                </a:lnTo>
                <a:lnTo>
                  <a:pt x="0" y="1102"/>
                </a:lnTo>
                <a:lnTo>
                  <a:pt x="1276" y="1102"/>
                </a:lnTo>
                <a:close/>
              </a:path>
            </a:pathLst>
          </a:custGeom>
          <a:solidFill>
            <a:schemeClr val="tx2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6" name="Freeform 584">
            <a:extLst>
              <a:ext uri="{FF2B5EF4-FFF2-40B4-BE49-F238E27FC236}">
                <a16:creationId xmlns:a16="http://schemas.microsoft.com/office/drawing/2014/main" id="{D308F917-B08D-61CB-84F4-31CE0EC23BEB}"/>
              </a:ext>
            </a:extLst>
          </p:cNvPr>
          <p:cNvSpPr>
            <a:spLocks/>
          </p:cNvSpPr>
          <p:nvPr/>
        </p:nvSpPr>
        <p:spPr bwMode="auto">
          <a:xfrm>
            <a:off x="5202238" y="4157663"/>
            <a:ext cx="1014412" cy="874712"/>
          </a:xfrm>
          <a:custGeom>
            <a:avLst/>
            <a:gdLst>
              <a:gd name="T0" fmla="*/ 2147483646 w 1277"/>
              <a:gd name="T1" fmla="*/ 2147483646 h 1102"/>
              <a:gd name="T2" fmla="*/ 2147483646 w 1277"/>
              <a:gd name="T3" fmla="*/ 0 h 1102"/>
              <a:gd name="T4" fmla="*/ 0 w 1277"/>
              <a:gd name="T5" fmla="*/ 2147483646 h 1102"/>
              <a:gd name="T6" fmla="*/ 2147483646 w 1277"/>
              <a:gd name="T7" fmla="*/ 2147483646 h 110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7" h="1102">
                <a:moveTo>
                  <a:pt x="1277" y="1102"/>
                </a:moveTo>
                <a:lnTo>
                  <a:pt x="638" y="0"/>
                </a:lnTo>
                <a:lnTo>
                  <a:pt x="0" y="1102"/>
                </a:lnTo>
                <a:lnTo>
                  <a:pt x="1277" y="1102"/>
                </a:lnTo>
                <a:close/>
              </a:path>
            </a:pathLst>
          </a:custGeom>
          <a:solidFill>
            <a:srgbClr val="FFFF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7" name="Line 585">
            <a:extLst>
              <a:ext uri="{FF2B5EF4-FFF2-40B4-BE49-F238E27FC236}">
                <a16:creationId xmlns:a16="http://schemas.microsoft.com/office/drawing/2014/main" id="{FA1AA7E8-2B33-229C-1B91-D904B2464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9225" y="3530600"/>
            <a:ext cx="500063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8" name="Line 586">
            <a:extLst>
              <a:ext uri="{FF2B5EF4-FFF2-40B4-BE49-F238E27FC236}">
                <a16:creationId xmlns:a16="http://schemas.microsoft.com/office/drawing/2014/main" id="{55D5B4D3-063E-C643-99B1-01C65EC58C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0938" y="3530600"/>
            <a:ext cx="500062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9" name="Line 587">
            <a:extLst>
              <a:ext uri="{FF2B5EF4-FFF2-40B4-BE49-F238E27FC236}">
                <a16:creationId xmlns:a16="http://schemas.microsoft.com/office/drawing/2014/main" id="{77602067-3BB4-53E6-0822-EA6064B062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2650" y="3530600"/>
            <a:ext cx="503238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Line 588">
            <a:extLst>
              <a:ext uri="{FF2B5EF4-FFF2-40B4-BE49-F238E27FC236}">
                <a16:creationId xmlns:a16="http://schemas.microsoft.com/office/drawing/2014/main" id="{B9C86F30-F4BB-645A-1CD0-982D36D634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5950" y="3530600"/>
            <a:ext cx="501650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1" name="Freeform 589">
            <a:extLst>
              <a:ext uri="{FF2B5EF4-FFF2-40B4-BE49-F238E27FC236}">
                <a16:creationId xmlns:a16="http://schemas.microsoft.com/office/drawing/2014/main" id="{6C6E0E9B-40A5-E6D6-8B04-D3E21C11C343}"/>
              </a:ext>
            </a:extLst>
          </p:cNvPr>
          <p:cNvSpPr>
            <a:spLocks/>
          </p:cNvSpPr>
          <p:nvPr/>
        </p:nvSpPr>
        <p:spPr bwMode="auto">
          <a:xfrm>
            <a:off x="4429125" y="4125913"/>
            <a:ext cx="61913" cy="61912"/>
          </a:xfrm>
          <a:custGeom>
            <a:avLst/>
            <a:gdLst>
              <a:gd name="T0" fmla="*/ 0 w 79"/>
              <a:gd name="T1" fmla="*/ 2147483646 h 79"/>
              <a:gd name="T2" fmla="*/ 2147483646 w 79"/>
              <a:gd name="T3" fmla="*/ 2147483646 h 79"/>
              <a:gd name="T4" fmla="*/ 2147483646 w 79"/>
              <a:gd name="T5" fmla="*/ 2147483646 h 79"/>
              <a:gd name="T6" fmla="*/ 2147483646 w 79"/>
              <a:gd name="T7" fmla="*/ 2147483646 h 79"/>
              <a:gd name="T8" fmla="*/ 2147483646 w 79"/>
              <a:gd name="T9" fmla="*/ 2147483646 h 79"/>
              <a:gd name="T10" fmla="*/ 2147483646 w 79"/>
              <a:gd name="T11" fmla="*/ 0 h 79"/>
              <a:gd name="T12" fmla="*/ 2147483646 w 79"/>
              <a:gd name="T13" fmla="*/ 2147483646 h 79"/>
              <a:gd name="T14" fmla="*/ 2147483646 w 79"/>
              <a:gd name="T15" fmla="*/ 2147483646 h 79"/>
              <a:gd name="T16" fmla="*/ 2147483646 w 79"/>
              <a:gd name="T17" fmla="*/ 2147483646 h 79"/>
              <a:gd name="T18" fmla="*/ 2147483646 w 79"/>
              <a:gd name="T19" fmla="*/ 2147483646 h 79"/>
              <a:gd name="T20" fmla="*/ 2147483646 w 79"/>
              <a:gd name="T21" fmla="*/ 2147483646 h 79"/>
              <a:gd name="T22" fmla="*/ 2147483646 w 79"/>
              <a:gd name="T23" fmla="*/ 2147483646 h 79"/>
              <a:gd name="T24" fmla="*/ 2147483646 w 79"/>
              <a:gd name="T25" fmla="*/ 2147483646 h 79"/>
              <a:gd name="T26" fmla="*/ 2147483646 w 79"/>
              <a:gd name="T27" fmla="*/ 2147483646 h 79"/>
              <a:gd name="T28" fmla="*/ 2147483646 w 79"/>
              <a:gd name="T29" fmla="*/ 2147483646 h 79"/>
              <a:gd name="T30" fmla="*/ 2147483646 w 79"/>
              <a:gd name="T31" fmla="*/ 2147483646 h 79"/>
              <a:gd name="T32" fmla="*/ 2147483646 w 79"/>
              <a:gd name="T33" fmla="*/ 2147483646 h 79"/>
              <a:gd name="T34" fmla="*/ 2147483646 w 79"/>
              <a:gd name="T35" fmla="*/ 2147483646 h 79"/>
              <a:gd name="T36" fmla="*/ 2147483646 w 79"/>
              <a:gd name="T37" fmla="*/ 2147483646 h 79"/>
              <a:gd name="T38" fmla="*/ 2147483646 w 79"/>
              <a:gd name="T39" fmla="*/ 2147483646 h 79"/>
              <a:gd name="T40" fmla="*/ 0 w 79"/>
              <a:gd name="T41" fmla="*/ 2147483646 h 7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9">
                <a:moveTo>
                  <a:pt x="0" y="40"/>
                </a:moveTo>
                <a:lnTo>
                  <a:pt x="2" y="27"/>
                </a:lnTo>
                <a:lnTo>
                  <a:pt x="7" y="17"/>
                </a:lnTo>
                <a:lnTo>
                  <a:pt x="17" y="8"/>
                </a:lnTo>
                <a:lnTo>
                  <a:pt x="27" y="2"/>
                </a:lnTo>
                <a:lnTo>
                  <a:pt x="40" y="0"/>
                </a:lnTo>
                <a:lnTo>
                  <a:pt x="51" y="2"/>
                </a:lnTo>
                <a:lnTo>
                  <a:pt x="63" y="8"/>
                </a:lnTo>
                <a:lnTo>
                  <a:pt x="71" y="17"/>
                </a:lnTo>
                <a:lnTo>
                  <a:pt x="77" y="27"/>
                </a:lnTo>
                <a:lnTo>
                  <a:pt x="79" y="40"/>
                </a:lnTo>
                <a:lnTo>
                  <a:pt x="77" y="52"/>
                </a:lnTo>
                <a:lnTo>
                  <a:pt x="71" y="63"/>
                </a:lnTo>
                <a:lnTo>
                  <a:pt x="63" y="71"/>
                </a:lnTo>
                <a:lnTo>
                  <a:pt x="51" y="78"/>
                </a:lnTo>
                <a:lnTo>
                  <a:pt x="40" y="79"/>
                </a:lnTo>
                <a:lnTo>
                  <a:pt x="27" y="78"/>
                </a:lnTo>
                <a:lnTo>
                  <a:pt x="17" y="71"/>
                </a:lnTo>
                <a:lnTo>
                  <a:pt x="7" y="63"/>
                </a:lnTo>
                <a:lnTo>
                  <a:pt x="2" y="52"/>
                </a:lnTo>
                <a:lnTo>
                  <a:pt x="0" y="40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2" name="Freeform 590">
            <a:extLst>
              <a:ext uri="{FF2B5EF4-FFF2-40B4-BE49-F238E27FC236}">
                <a16:creationId xmlns:a16="http://schemas.microsoft.com/office/drawing/2014/main" id="{3313605C-23E4-85B1-FADC-66A8083D89CC}"/>
              </a:ext>
            </a:extLst>
          </p:cNvPr>
          <p:cNvSpPr>
            <a:spLocks/>
          </p:cNvSpPr>
          <p:nvPr/>
        </p:nvSpPr>
        <p:spPr bwMode="auto">
          <a:xfrm>
            <a:off x="7435850" y="5002213"/>
            <a:ext cx="63500" cy="61912"/>
          </a:xfrm>
          <a:custGeom>
            <a:avLst/>
            <a:gdLst>
              <a:gd name="T0" fmla="*/ 0 w 79"/>
              <a:gd name="T1" fmla="*/ 2147483646 h 79"/>
              <a:gd name="T2" fmla="*/ 2147483646 w 79"/>
              <a:gd name="T3" fmla="*/ 2147483646 h 79"/>
              <a:gd name="T4" fmla="*/ 2147483646 w 79"/>
              <a:gd name="T5" fmla="*/ 2147483646 h 79"/>
              <a:gd name="T6" fmla="*/ 2147483646 w 79"/>
              <a:gd name="T7" fmla="*/ 2147483646 h 79"/>
              <a:gd name="T8" fmla="*/ 2147483646 w 79"/>
              <a:gd name="T9" fmla="*/ 2147483646 h 79"/>
              <a:gd name="T10" fmla="*/ 2147483646 w 79"/>
              <a:gd name="T11" fmla="*/ 0 h 79"/>
              <a:gd name="T12" fmla="*/ 2147483646 w 79"/>
              <a:gd name="T13" fmla="*/ 2147483646 h 79"/>
              <a:gd name="T14" fmla="*/ 2147483646 w 79"/>
              <a:gd name="T15" fmla="*/ 2147483646 h 79"/>
              <a:gd name="T16" fmla="*/ 2147483646 w 79"/>
              <a:gd name="T17" fmla="*/ 2147483646 h 79"/>
              <a:gd name="T18" fmla="*/ 2147483646 w 79"/>
              <a:gd name="T19" fmla="*/ 2147483646 h 79"/>
              <a:gd name="T20" fmla="*/ 2147483646 w 79"/>
              <a:gd name="T21" fmla="*/ 2147483646 h 79"/>
              <a:gd name="T22" fmla="*/ 2147483646 w 79"/>
              <a:gd name="T23" fmla="*/ 2147483646 h 79"/>
              <a:gd name="T24" fmla="*/ 2147483646 w 79"/>
              <a:gd name="T25" fmla="*/ 2147483646 h 79"/>
              <a:gd name="T26" fmla="*/ 2147483646 w 79"/>
              <a:gd name="T27" fmla="*/ 2147483646 h 79"/>
              <a:gd name="T28" fmla="*/ 2147483646 w 79"/>
              <a:gd name="T29" fmla="*/ 2147483646 h 79"/>
              <a:gd name="T30" fmla="*/ 2147483646 w 79"/>
              <a:gd name="T31" fmla="*/ 2147483646 h 79"/>
              <a:gd name="T32" fmla="*/ 2147483646 w 79"/>
              <a:gd name="T33" fmla="*/ 2147483646 h 79"/>
              <a:gd name="T34" fmla="*/ 2147483646 w 79"/>
              <a:gd name="T35" fmla="*/ 2147483646 h 79"/>
              <a:gd name="T36" fmla="*/ 2147483646 w 79"/>
              <a:gd name="T37" fmla="*/ 2147483646 h 79"/>
              <a:gd name="T38" fmla="*/ 2147483646 w 79"/>
              <a:gd name="T39" fmla="*/ 2147483646 h 79"/>
              <a:gd name="T40" fmla="*/ 0 w 79"/>
              <a:gd name="T41" fmla="*/ 2147483646 h 7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9">
                <a:moveTo>
                  <a:pt x="0" y="39"/>
                </a:moveTo>
                <a:lnTo>
                  <a:pt x="3" y="26"/>
                </a:lnTo>
                <a:lnTo>
                  <a:pt x="8" y="16"/>
                </a:lnTo>
                <a:lnTo>
                  <a:pt x="16" y="7"/>
                </a:lnTo>
                <a:lnTo>
                  <a:pt x="28" y="1"/>
                </a:lnTo>
                <a:lnTo>
                  <a:pt x="39" y="0"/>
                </a:lnTo>
                <a:lnTo>
                  <a:pt x="52" y="1"/>
                </a:lnTo>
                <a:lnTo>
                  <a:pt x="63" y="7"/>
                </a:lnTo>
                <a:lnTo>
                  <a:pt x="72" y="16"/>
                </a:lnTo>
                <a:lnTo>
                  <a:pt x="77" y="26"/>
                </a:lnTo>
                <a:lnTo>
                  <a:pt x="79" y="39"/>
                </a:lnTo>
                <a:lnTo>
                  <a:pt x="77" y="52"/>
                </a:lnTo>
                <a:lnTo>
                  <a:pt x="72" y="62"/>
                </a:lnTo>
                <a:lnTo>
                  <a:pt x="63" y="70"/>
                </a:lnTo>
                <a:lnTo>
                  <a:pt x="52" y="77"/>
                </a:lnTo>
                <a:lnTo>
                  <a:pt x="39" y="79"/>
                </a:lnTo>
                <a:lnTo>
                  <a:pt x="28" y="77"/>
                </a:lnTo>
                <a:lnTo>
                  <a:pt x="16" y="70"/>
                </a:lnTo>
                <a:lnTo>
                  <a:pt x="8" y="62"/>
                </a:lnTo>
                <a:lnTo>
                  <a:pt x="3" y="52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3" name="Freeform 591">
            <a:extLst>
              <a:ext uri="{FF2B5EF4-FFF2-40B4-BE49-F238E27FC236}">
                <a16:creationId xmlns:a16="http://schemas.microsoft.com/office/drawing/2014/main" id="{0947E62B-B39C-4A0B-05B6-F6605DAB538F}"/>
              </a:ext>
            </a:extLst>
          </p:cNvPr>
          <p:cNvSpPr>
            <a:spLocks/>
          </p:cNvSpPr>
          <p:nvPr/>
        </p:nvSpPr>
        <p:spPr bwMode="auto">
          <a:xfrm>
            <a:off x="6927850" y="4125913"/>
            <a:ext cx="61913" cy="61912"/>
          </a:xfrm>
          <a:custGeom>
            <a:avLst/>
            <a:gdLst>
              <a:gd name="T0" fmla="*/ 0 w 79"/>
              <a:gd name="T1" fmla="*/ 2147483646 h 79"/>
              <a:gd name="T2" fmla="*/ 2147483646 w 79"/>
              <a:gd name="T3" fmla="*/ 2147483646 h 79"/>
              <a:gd name="T4" fmla="*/ 2147483646 w 79"/>
              <a:gd name="T5" fmla="*/ 2147483646 h 79"/>
              <a:gd name="T6" fmla="*/ 2147483646 w 79"/>
              <a:gd name="T7" fmla="*/ 2147483646 h 79"/>
              <a:gd name="T8" fmla="*/ 2147483646 w 79"/>
              <a:gd name="T9" fmla="*/ 2147483646 h 79"/>
              <a:gd name="T10" fmla="*/ 2147483646 w 79"/>
              <a:gd name="T11" fmla="*/ 0 h 79"/>
              <a:gd name="T12" fmla="*/ 2147483646 w 79"/>
              <a:gd name="T13" fmla="*/ 2147483646 h 79"/>
              <a:gd name="T14" fmla="*/ 2147483646 w 79"/>
              <a:gd name="T15" fmla="*/ 2147483646 h 79"/>
              <a:gd name="T16" fmla="*/ 2147483646 w 79"/>
              <a:gd name="T17" fmla="*/ 2147483646 h 79"/>
              <a:gd name="T18" fmla="*/ 2147483646 w 79"/>
              <a:gd name="T19" fmla="*/ 2147483646 h 79"/>
              <a:gd name="T20" fmla="*/ 2147483646 w 79"/>
              <a:gd name="T21" fmla="*/ 2147483646 h 79"/>
              <a:gd name="T22" fmla="*/ 2147483646 w 79"/>
              <a:gd name="T23" fmla="*/ 2147483646 h 79"/>
              <a:gd name="T24" fmla="*/ 2147483646 w 79"/>
              <a:gd name="T25" fmla="*/ 2147483646 h 79"/>
              <a:gd name="T26" fmla="*/ 2147483646 w 79"/>
              <a:gd name="T27" fmla="*/ 2147483646 h 79"/>
              <a:gd name="T28" fmla="*/ 2147483646 w 79"/>
              <a:gd name="T29" fmla="*/ 2147483646 h 79"/>
              <a:gd name="T30" fmla="*/ 2147483646 w 79"/>
              <a:gd name="T31" fmla="*/ 2147483646 h 79"/>
              <a:gd name="T32" fmla="*/ 2147483646 w 79"/>
              <a:gd name="T33" fmla="*/ 2147483646 h 79"/>
              <a:gd name="T34" fmla="*/ 2147483646 w 79"/>
              <a:gd name="T35" fmla="*/ 2147483646 h 79"/>
              <a:gd name="T36" fmla="*/ 2147483646 w 79"/>
              <a:gd name="T37" fmla="*/ 2147483646 h 79"/>
              <a:gd name="T38" fmla="*/ 2147483646 w 79"/>
              <a:gd name="T39" fmla="*/ 2147483646 h 79"/>
              <a:gd name="T40" fmla="*/ 0 w 79"/>
              <a:gd name="T41" fmla="*/ 2147483646 h 7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9">
                <a:moveTo>
                  <a:pt x="0" y="40"/>
                </a:moveTo>
                <a:lnTo>
                  <a:pt x="3" y="27"/>
                </a:lnTo>
                <a:lnTo>
                  <a:pt x="8" y="17"/>
                </a:lnTo>
                <a:lnTo>
                  <a:pt x="16" y="8"/>
                </a:lnTo>
                <a:lnTo>
                  <a:pt x="28" y="2"/>
                </a:lnTo>
                <a:lnTo>
                  <a:pt x="39" y="0"/>
                </a:lnTo>
                <a:lnTo>
                  <a:pt x="52" y="2"/>
                </a:lnTo>
                <a:lnTo>
                  <a:pt x="63" y="8"/>
                </a:lnTo>
                <a:lnTo>
                  <a:pt x="72" y="17"/>
                </a:lnTo>
                <a:lnTo>
                  <a:pt x="77" y="27"/>
                </a:lnTo>
                <a:lnTo>
                  <a:pt x="79" y="40"/>
                </a:lnTo>
                <a:lnTo>
                  <a:pt x="77" y="52"/>
                </a:lnTo>
                <a:lnTo>
                  <a:pt x="72" y="63"/>
                </a:lnTo>
                <a:lnTo>
                  <a:pt x="63" y="71"/>
                </a:lnTo>
                <a:lnTo>
                  <a:pt x="52" y="78"/>
                </a:lnTo>
                <a:lnTo>
                  <a:pt x="39" y="79"/>
                </a:lnTo>
                <a:lnTo>
                  <a:pt x="28" y="78"/>
                </a:lnTo>
                <a:lnTo>
                  <a:pt x="16" y="71"/>
                </a:lnTo>
                <a:lnTo>
                  <a:pt x="8" y="63"/>
                </a:lnTo>
                <a:lnTo>
                  <a:pt x="3" y="52"/>
                </a:lnTo>
                <a:lnTo>
                  <a:pt x="0" y="40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4" name="Freeform 592">
            <a:extLst>
              <a:ext uri="{FF2B5EF4-FFF2-40B4-BE49-F238E27FC236}">
                <a16:creationId xmlns:a16="http://schemas.microsoft.com/office/drawing/2014/main" id="{31FD12E2-F887-C697-9BC9-5268E8D8A978}"/>
              </a:ext>
            </a:extLst>
          </p:cNvPr>
          <p:cNvSpPr>
            <a:spLocks/>
          </p:cNvSpPr>
          <p:nvPr/>
        </p:nvSpPr>
        <p:spPr bwMode="auto">
          <a:xfrm>
            <a:off x="6434138" y="5002213"/>
            <a:ext cx="61912" cy="61912"/>
          </a:xfrm>
          <a:custGeom>
            <a:avLst/>
            <a:gdLst>
              <a:gd name="T0" fmla="*/ 0 w 79"/>
              <a:gd name="T1" fmla="*/ 2147483646 h 79"/>
              <a:gd name="T2" fmla="*/ 2147483646 w 79"/>
              <a:gd name="T3" fmla="*/ 2147483646 h 79"/>
              <a:gd name="T4" fmla="*/ 2147483646 w 79"/>
              <a:gd name="T5" fmla="*/ 2147483646 h 79"/>
              <a:gd name="T6" fmla="*/ 2147483646 w 79"/>
              <a:gd name="T7" fmla="*/ 2147483646 h 79"/>
              <a:gd name="T8" fmla="*/ 2147483646 w 79"/>
              <a:gd name="T9" fmla="*/ 2147483646 h 79"/>
              <a:gd name="T10" fmla="*/ 2147483646 w 79"/>
              <a:gd name="T11" fmla="*/ 0 h 79"/>
              <a:gd name="T12" fmla="*/ 2147483646 w 79"/>
              <a:gd name="T13" fmla="*/ 2147483646 h 79"/>
              <a:gd name="T14" fmla="*/ 2147483646 w 79"/>
              <a:gd name="T15" fmla="*/ 2147483646 h 79"/>
              <a:gd name="T16" fmla="*/ 2147483646 w 79"/>
              <a:gd name="T17" fmla="*/ 2147483646 h 79"/>
              <a:gd name="T18" fmla="*/ 2147483646 w 79"/>
              <a:gd name="T19" fmla="*/ 2147483646 h 79"/>
              <a:gd name="T20" fmla="*/ 2147483646 w 79"/>
              <a:gd name="T21" fmla="*/ 2147483646 h 79"/>
              <a:gd name="T22" fmla="*/ 2147483646 w 79"/>
              <a:gd name="T23" fmla="*/ 2147483646 h 79"/>
              <a:gd name="T24" fmla="*/ 2147483646 w 79"/>
              <a:gd name="T25" fmla="*/ 2147483646 h 79"/>
              <a:gd name="T26" fmla="*/ 2147483646 w 79"/>
              <a:gd name="T27" fmla="*/ 2147483646 h 79"/>
              <a:gd name="T28" fmla="*/ 2147483646 w 79"/>
              <a:gd name="T29" fmla="*/ 2147483646 h 79"/>
              <a:gd name="T30" fmla="*/ 2147483646 w 79"/>
              <a:gd name="T31" fmla="*/ 2147483646 h 79"/>
              <a:gd name="T32" fmla="*/ 2147483646 w 79"/>
              <a:gd name="T33" fmla="*/ 2147483646 h 79"/>
              <a:gd name="T34" fmla="*/ 2147483646 w 79"/>
              <a:gd name="T35" fmla="*/ 2147483646 h 79"/>
              <a:gd name="T36" fmla="*/ 2147483646 w 79"/>
              <a:gd name="T37" fmla="*/ 2147483646 h 79"/>
              <a:gd name="T38" fmla="*/ 2147483646 w 79"/>
              <a:gd name="T39" fmla="*/ 2147483646 h 79"/>
              <a:gd name="T40" fmla="*/ 0 w 79"/>
              <a:gd name="T41" fmla="*/ 2147483646 h 7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9">
                <a:moveTo>
                  <a:pt x="0" y="39"/>
                </a:moveTo>
                <a:lnTo>
                  <a:pt x="2" y="26"/>
                </a:lnTo>
                <a:lnTo>
                  <a:pt x="8" y="16"/>
                </a:lnTo>
                <a:lnTo>
                  <a:pt x="16" y="7"/>
                </a:lnTo>
                <a:lnTo>
                  <a:pt x="28" y="1"/>
                </a:lnTo>
                <a:lnTo>
                  <a:pt x="39" y="0"/>
                </a:lnTo>
                <a:lnTo>
                  <a:pt x="52" y="1"/>
                </a:lnTo>
                <a:lnTo>
                  <a:pt x="62" y="7"/>
                </a:lnTo>
                <a:lnTo>
                  <a:pt x="72" y="16"/>
                </a:lnTo>
                <a:lnTo>
                  <a:pt x="77" y="26"/>
                </a:lnTo>
                <a:lnTo>
                  <a:pt x="79" y="39"/>
                </a:lnTo>
                <a:lnTo>
                  <a:pt x="77" y="52"/>
                </a:lnTo>
                <a:lnTo>
                  <a:pt x="72" y="62"/>
                </a:lnTo>
                <a:lnTo>
                  <a:pt x="62" y="70"/>
                </a:lnTo>
                <a:lnTo>
                  <a:pt x="52" y="77"/>
                </a:lnTo>
                <a:lnTo>
                  <a:pt x="39" y="79"/>
                </a:lnTo>
                <a:lnTo>
                  <a:pt x="28" y="77"/>
                </a:lnTo>
                <a:lnTo>
                  <a:pt x="16" y="70"/>
                </a:lnTo>
                <a:lnTo>
                  <a:pt x="8" y="62"/>
                </a:lnTo>
                <a:lnTo>
                  <a:pt x="2" y="52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5" name="Freeform 593">
            <a:extLst>
              <a:ext uri="{FF2B5EF4-FFF2-40B4-BE49-F238E27FC236}">
                <a16:creationId xmlns:a16="http://schemas.microsoft.com/office/drawing/2014/main" id="{3025D7BC-FDEA-E5B3-9DE0-8DD50DF13B03}"/>
              </a:ext>
            </a:extLst>
          </p:cNvPr>
          <p:cNvSpPr>
            <a:spLocks/>
          </p:cNvSpPr>
          <p:nvPr/>
        </p:nvSpPr>
        <p:spPr bwMode="auto">
          <a:xfrm>
            <a:off x="6183313" y="5002213"/>
            <a:ext cx="63500" cy="61912"/>
          </a:xfrm>
          <a:custGeom>
            <a:avLst/>
            <a:gdLst>
              <a:gd name="T0" fmla="*/ 0 w 78"/>
              <a:gd name="T1" fmla="*/ 2147483646 h 79"/>
              <a:gd name="T2" fmla="*/ 2147483646 w 78"/>
              <a:gd name="T3" fmla="*/ 2147483646 h 79"/>
              <a:gd name="T4" fmla="*/ 2147483646 w 78"/>
              <a:gd name="T5" fmla="*/ 2147483646 h 79"/>
              <a:gd name="T6" fmla="*/ 2147483646 w 78"/>
              <a:gd name="T7" fmla="*/ 2147483646 h 79"/>
              <a:gd name="T8" fmla="*/ 2147483646 w 78"/>
              <a:gd name="T9" fmla="*/ 2147483646 h 79"/>
              <a:gd name="T10" fmla="*/ 2147483646 w 78"/>
              <a:gd name="T11" fmla="*/ 0 h 79"/>
              <a:gd name="T12" fmla="*/ 2147483646 w 78"/>
              <a:gd name="T13" fmla="*/ 2147483646 h 79"/>
              <a:gd name="T14" fmla="*/ 2147483646 w 78"/>
              <a:gd name="T15" fmla="*/ 2147483646 h 79"/>
              <a:gd name="T16" fmla="*/ 2147483646 w 78"/>
              <a:gd name="T17" fmla="*/ 2147483646 h 79"/>
              <a:gd name="T18" fmla="*/ 2147483646 w 78"/>
              <a:gd name="T19" fmla="*/ 2147483646 h 79"/>
              <a:gd name="T20" fmla="*/ 2147483646 w 78"/>
              <a:gd name="T21" fmla="*/ 2147483646 h 79"/>
              <a:gd name="T22" fmla="*/ 2147483646 w 78"/>
              <a:gd name="T23" fmla="*/ 2147483646 h 79"/>
              <a:gd name="T24" fmla="*/ 2147483646 w 78"/>
              <a:gd name="T25" fmla="*/ 2147483646 h 79"/>
              <a:gd name="T26" fmla="*/ 2147483646 w 78"/>
              <a:gd name="T27" fmla="*/ 2147483646 h 79"/>
              <a:gd name="T28" fmla="*/ 2147483646 w 78"/>
              <a:gd name="T29" fmla="*/ 2147483646 h 79"/>
              <a:gd name="T30" fmla="*/ 2147483646 w 78"/>
              <a:gd name="T31" fmla="*/ 2147483646 h 79"/>
              <a:gd name="T32" fmla="*/ 2147483646 w 78"/>
              <a:gd name="T33" fmla="*/ 2147483646 h 79"/>
              <a:gd name="T34" fmla="*/ 2147483646 w 78"/>
              <a:gd name="T35" fmla="*/ 2147483646 h 79"/>
              <a:gd name="T36" fmla="*/ 2147483646 w 78"/>
              <a:gd name="T37" fmla="*/ 2147483646 h 79"/>
              <a:gd name="T38" fmla="*/ 2147483646 w 78"/>
              <a:gd name="T39" fmla="*/ 2147483646 h 79"/>
              <a:gd name="T40" fmla="*/ 0 w 78"/>
              <a:gd name="T41" fmla="*/ 2147483646 h 7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8" h="79">
                <a:moveTo>
                  <a:pt x="0" y="39"/>
                </a:moveTo>
                <a:lnTo>
                  <a:pt x="2" y="26"/>
                </a:lnTo>
                <a:lnTo>
                  <a:pt x="7" y="16"/>
                </a:lnTo>
                <a:lnTo>
                  <a:pt x="16" y="7"/>
                </a:lnTo>
                <a:lnTo>
                  <a:pt x="27" y="1"/>
                </a:lnTo>
                <a:lnTo>
                  <a:pt x="40" y="0"/>
                </a:lnTo>
                <a:lnTo>
                  <a:pt x="51" y="1"/>
                </a:lnTo>
                <a:lnTo>
                  <a:pt x="63" y="7"/>
                </a:lnTo>
                <a:lnTo>
                  <a:pt x="71" y="16"/>
                </a:lnTo>
                <a:lnTo>
                  <a:pt x="76" y="26"/>
                </a:lnTo>
                <a:lnTo>
                  <a:pt x="78" y="39"/>
                </a:lnTo>
                <a:lnTo>
                  <a:pt x="76" y="52"/>
                </a:lnTo>
                <a:lnTo>
                  <a:pt x="71" y="62"/>
                </a:lnTo>
                <a:lnTo>
                  <a:pt x="63" y="70"/>
                </a:lnTo>
                <a:lnTo>
                  <a:pt x="51" y="77"/>
                </a:lnTo>
                <a:lnTo>
                  <a:pt x="40" y="79"/>
                </a:lnTo>
                <a:lnTo>
                  <a:pt x="27" y="77"/>
                </a:lnTo>
                <a:lnTo>
                  <a:pt x="16" y="70"/>
                </a:lnTo>
                <a:lnTo>
                  <a:pt x="7" y="62"/>
                </a:lnTo>
                <a:lnTo>
                  <a:pt x="2" y="52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6" name="Freeform 594">
            <a:extLst>
              <a:ext uri="{FF2B5EF4-FFF2-40B4-BE49-F238E27FC236}">
                <a16:creationId xmlns:a16="http://schemas.microsoft.com/office/drawing/2014/main" id="{F4589DD8-F5F3-0B3F-95E3-B6FE82A60A5F}"/>
              </a:ext>
            </a:extLst>
          </p:cNvPr>
          <p:cNvSpPr>
            <a:spLocks/>
          </p:cNvSpPr>
          <p:nvPr/>
        </p:nvSpPr>
        <p:spPr bwMode="auto">
          <a:xfrm>
            <a:off x="5181600" y="5002213"/>
            <a:ext cx="61913" cy="61912"/>
          </a:xfrm>
          <a:custGeom>
            <a:avLst/>
            <a:gdLst>
              <a:gd name="T0" fmla="*/ 0 w 79"/>
              <a:gd name="T1" fmla="*/ 2147483646 h 79"/>
              <a:gd name="T2" fmla="*/ 2147483646 w 79"/>
              <a:gd name="T3" fmla="*/ 2147483646 h 79"/>
              <a:gd name="T4" fmla="*/ 2147483646 w 79"/>
              <a:gd name="T5" fmla="*/ 2147483646 h 79"/>
              <a:gd name="T6" fmla="*/ 2147483646 w 79"/>
              <a:gd name="T7" fmla="*/ 2147483646 h 79"/>
              <a:gd name="T8" fmla="*/ 2147483646 w 79"/>
              <a:gd name="T9" fmla="*/ 2147483646 h 79"/>
              <a:gd name="T10" fmla="*/ 2147483646 w 79"/>
              <a:gd name="T11" fmla="*/ 0 h 79"/>
              <a:gd name="T12" fmla="*/ 2147483646 w 79"/>
              <a:gd name="T13" fmla="*/ 2147483646 h 79"/>
              <a:gd name="T14" fmla="*/ 2147483646 w 79"/>
              <a:gd name="T15" fmla="*/ 2147483646 h 79"/>
              <a:gd name="T16" fmla="*/ 2147483646 w 79"/>
              <a:gd name="T17" fmla="*/ 2147483646 h 79"/>
              <a:gd name="T18" fmla="*/ 2147483646 w 79"/>
              <a:gd name="T19" fmla="*/ 2147483646 h 79"/>
              <a:gd name="T20" fmla="*/ 2147483646 w 79"/>
              <a:gd name="T21" fmla="*/ 2147483646 h 79"/>
              <a:gd name="T22" fmla="*/ 2147483646 w 79"/>
              <a:gd name="T23" fmla="*/ 2147483646 h 79"/>
              <a:gd name="T24" fmla="*/ 2147483646 w 79"/>
              <a:gd name="T25" fmla="*/ 2147483646 h 79"/>
              <a:gd name="T26" fmla="*/ 2147483646 w 79"/>
              <a:gd name="T27" fmla="*/ 2147483646 h 79"/>
              <a:gd name="T28" fmla="*/ 2147483646 w 79"/>
              <a:gd name="T29" fmla="*/ 2147483646 h 79"/>
              <a:gd name="T30" fmla="*/ 2147483646 w 79"/>
              <a:gd name="T31" fmla="*/ 2147483646 h 79"/>
              <a:gd name="T32" fmla="*/ 2147483646 w 79"/>
              <a:gd name="T33" fmla="*/ 2147483646 h 79"/>
              <a:gd name="T34" fmla="*/ 2147483646 w 79"/>
              <a:gd name="T35" fmla="*/ 2147483646 h 79"/>
              <a:gd name="T36" fmla="*/ 2147483646 w 79"/>
              <a:gd name="T37" fmla="*/ 2147483646 h 79"/>
              <a:gd name="T38" fmla="*/ 2147483646 w 79"/>
              <a:gd name="T39" fmla="*/ 2147483646 h 79"/>
              <a:gd name="T40" fmla="*/ 0 w 79"/>
              <a:gd name="T41" fmla="*/ 2147483646 h 7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9">
                <a:moveTo>
                  <a:pt x="0" y="39"/>
                </a:moveTo>
                <a:lnTo>
                  <a:pt x="2" y="26"/>
                </a:lnTo>
                <a:lnTo>
                  <a:pt x="8" y="16"/>
                </a:lnTo>
                <a:lnTo>
                  <a:pt x="17" y="7"/>
                </a:lnTo>
                <a:lnTo>
                  <a:pt x="28" y="1"/>
                </a:lnTo>
                <a:lnTo>
                  <a:pt x="40" y="0"/>
                </a:lnTo>
                <a:lnTo>
                  <a:pt x="52" y="1"/>
                </a:lnTo>
                <a:lnTo>
                  <a:pt x="63" y="7"/>
                </a:lnTo>
                <a:lnTo>
                  <a:pt x="72" y="16"/>
                </a:lnTo>
                <a:lnTo>
                  <a:pt x="77" y="26"/>
                </a:lnTo>
                <a:lnTo>
                  <a:pt x="79" y="39"/>
                </a:lnTo>
                <a:lnTo>
                  <a:pt x="77" y="52"/>
                </a:lnTo>
                <a:lnTo>
                  <a:pt x="72" y="62"/>
                </a:lnTo>
                <a:lnTo>
                  <a:pt x="63" y="70"/>
                </a:lnTo>
                <a:lnTo>
                  <a:pt x="52" y="77"/>
                </a:lnTo>
                <a:lnTo>
                  <a:pt x="40" y="79"/>
                </a:lnTo>
                <a:lnTo>
                  <a:pt x="28" y="77"/>
                </a:lnTo>
                <a:lnTo>
                  <a:pt x="17" y="70"/>
                </a:lnTo>
                <a:lnTo>
                  <a:pt x="8" y="62"/>
                </a:lnTo>
                <a:lnTo>
                  <a:pt x="2" y="52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7" name="Freeform 595">
            <a:extLst>
              <a:ext uri="{FF2B5EF4-FFF2-40B4-BE49-F238E27FC236}">
                <a16:creationId xmlns:a16="http://schemas.microsoft.com/office/drawing/2014/main" id="{B6830728-05B3-6A4B-ED84-0F9328E3F4A2}"/>
              </a:ext>
            </a:extLst>
          </p:cNvPr>
          <p:cNvSpPr>
            <a:spLocks/>
          </p:cNvSpPr>
          <p:nvPr/>
        </p:nvSpPr>
        <p:spPr bwMode="auto">
          <a:xfrm>
            <a:off x="4929188" y="5002213"/>
            <a:ext cx="63500" cy="61912"/>
          </a:xfrm>
          <a:custGeom>
            <a:avLst/>
            <a:gdLst>
              <a:gd name="T0" fmla="*/ 0 w 79"/>
              <a:gd name="T1" fmla="*/ 2147483646 h 79"/>
              <a:gd name="T2" fmla="*/ 2147483646 w 79"/>
              <a:gd name="T3" fmla="*/ 2147483646 h 79"/>
              <a:gd name="T4" fmla="*/ 2147483646 w 79"/>
              <a:gd name="T5" fmla="*/ 2147483646 h 79"/>
              <a:gd name="T6" fmla="*/ 2147483646 w 79"/>
              <a:gd name="T7" fmla="*/ 2147483646 h 79"/>
              <a:gd name="T8" fmla="*/ 2147483646 w 79"/>
              <a:gd name="T9" fmla="*/ 2147483646 h 79"/>
              <a:gd name="T10" fmla="*/ 2147483646 w 79"/>
              <a:gd name="T11" fmla="*/ 0 h 79"/>
              <a:gd name="T12" fmla="*/ 2147483646 w 79"/>
              <a:gd name="T13" fmla="*/ 2147483646 h 79"/>
              <a:gd name="T14" fmla="*/ 2147483646 w 79"/>
              <a:gd name="T15" fmla="*/ 2147483646 h 79"/>
              <a:gd name="T16" fmla="*/ 2147483646 w 79"/>
              <a:gd name="T17" fmla="*/ 2147483646 h 79"/>
              <a:gd name="T18" fmla="*/ 2147483646 w 79"/>
              <a:gd name="T19" fmla="*/ 2147483646 h 79"/>
              <a:gd name="T20" fmla="*/ 2147483646 w 79"/>
              <a:gd name="T21" fmla="*/ 2147483646 h 79"/>
              <a:gd name="T22" fmla="*/ 2147483646 w 79"/>
              <a:gd name="T23" fmla="*/ 2147483646 h 79"/>
              <a:gd name="T24" fmla="*/ 2147483646 w 79"/>
              <a:gd name="T25" fmla="*/ 2147483646 h 79"/>
              <a:gd name="T26" fmla="*/ 2147483646 w 79"/>
              <a:gd name="T27" fmla="*/ 2147483646 h 79"/>
              <a:gd name="T28" fmla="*/ 2147483646 w 79"/>
              <a:gd name="T29" fmla="*/ 2147483646 h 79"/>
              <a:gd name="T30" fmla="*/ 2147483646 w 79"/>
              <a:gd name="T31" fmla="*/ 2147483646 h 79"/>
              <a:gd name="T32" fmla="*/ 2147483646 w 79"/>
              <a:gd name="T33" fmla="*/ 2147483646 h 79"/>
              <a:gd name="T34" fmla="*/ 2147483646 w 79"/>
              <a:gd name="T35" fmla="*/ 2147483646 h 79"/>
              <a:gd name="T36" fmla="*/ 2147483646 w 79"/>
              <a:gd name="T37" fmla="*/ 2147483646 h 79"/>
              <a:gd name="T38" fmla="*/ 2147483646 w 79"/>
              <a:gd name="T39" fmla="*/ 2147483646 h 79"/>
              <a:gd name="T40" fmla="*/ 0 w 79"/>
              <a:gd name="T41" fmla="*/ 2147483646 h 7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9">
                <a:moveTo>
                  <a:pt x="0" y="39"/>
                </a:moveTo>
                <a:lnTo>
                  <a:pt x="1" y="26"/>
                </a:lnTo>
                <a:lnTo>
                  <a:pt x="8" y="16"/>
                </a:lnTo>
                <a:lnTo>
                  <a:pt x="16" y="7"/>
                </a:lnTo>
                <a:lnTo>
                  <a:pt x="28" y="1"/>
                </a:lnTo>
                <a:lnTo>
                  <a:pt x="39" y="0"/>
                </a:lnTo>
                <a:lnTo>
                  <a:pt x="52" y="1"/>
                </a:lnTo>
                <a:lnTo>
                  <a:pt x="63" y="7"/>
                </a:lnTo>
                <a:lnTo>
                  <a:pt x="71" y="16"/>
                </a:lnTo>
                <a:lnTo>
                  <a:pt x="77" y="26"/>
                </a:lnTo>
                <a:lnTo>
                  <a:pt x="79" y="39"/>
                </a:lnTo>
                <a:lnTo>
                  <a:pt x="77" y="52"/>
                </a:lnTo>
                <a:lnTo>
                  <a:pt x="71" y="62"/>
                </a:lnTo>
                <a:lnTo>
                  <a:pt x="63" y="70"/>
                </a:lnTo>
                <a:lnTo>
                  <a:pt x="52" y="77"/>
                </a:lnTo>
                <a:lnTo>
                  <a:pt x="39" y="79"/>
                </a:lnTo>
                <a:lnTo>
                  <a:pt x="28" y="77"/>
                </a:lnTo>
                <a:lnTo>
                  <a:pt x="16" y="70"/>
                </a:lnTo>
                <a:lnTo>
                  <a:pt x="8" y="62"/>
                </a:lnTo>
                <a:lnTo>
                  <a:pt x="1" y="52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8" name="Freeform 596">
            <a:extLst>
              <a:ext uri="{FF2B5EF4-FFF2-40B4-BE49-F238E27FC236}">
                <a16:creationId xmlns:a16="http://schemas.microsoft.com/office/drawing/2014/main" id="{0BF2ABDB-615B-1D99-ED87-C3B9B39AF2D9}"/>
              </a:ext>
            </a:extLst>
          </p:cNvPr>
          <p:cNvSpPr>
            <a:spLocks/>
          </p:cNvSpPr>
          <p:nvPr/>
        </p:nvSpPr>
        <p:spPr bwMode="auto">
          <a:xfrm>
            <a:off x="5678488" y="4125913"/>
            <a:ext cx="61912" cy="61912"/>
          </a:xfrm>
          <a:custGeom>
            <a:avLst/>
            <a:gdLst>
              <a:gd name="T0" fmla="*/ 0 w 79"/>
              <a:gd name="T1" fmla="*/ 2147483646 h 79"/>
              <a:gd name="T2" fmla="*/ 2147483646 w 79"/>
              <a:gd name="T3" fmla="*/ 2147483646 h 79"/>
              <a:gd name="T4" fmla="*/ 2147483646 w 79"/>
              <a:gd name="T5" fmla="*/ 2147483646 h 79"/>
              <a:gd name="T6" fmla="*/ 2147483646 w 79"/>
              <a:gd name="T7" fmla="*/ 2147483646 h 79"/>
              <a:gd name="T8" fmla="*/ 2147483646 w 79"/>
              <a:gd name="T9" fmla="*/ 2147483646 h 79"/>
              <a:gd name="T10" fmla="*/ 2147483646 w 79"/>
              <a:gd name="T11" fmla="*/ 0 h 79"/>
              <a:gd name="T12" fmla="*/ 2147483646 w 79"/>
              <a:gd name="T13" fmla="*/ 2147483646 h 79"/>
              <a:gd name="T14" fmla="*/ 2147483646 w 79"/>
              <a:gd name="T15" fmla="*/ 2147483646 h 79"/>
              <a:gd name="T16" fmla="*/ 2147483646 w 79"/>
              <a:gd name="T17" fmla="*/ 2147483646 h 79"/>
              <a:gd name="T18" fmla="*/ 2147483646 w 79"/>
              <a:gd name="T19" fmla="*/ 2147483646 h 79"/>
              <a:gd name="T20" fmla="*/ 2147483646 w 79"/>
              <a:gd name="T21" fmla="*/ 2147483646 h 79"/>
              <a:gd name="T22" fmla="*/ 2147483646 w 79"/>
              <a:gd name="T23" fmla="*/ 2147483646 h 79"/>
              <a:gd name="T24" fmla="*/ 2147483646 w 79"/>
              <a:gd name="T25" fmla="*/ 2147483646 h 79"/>
              <a:gd name="T26" fmla="*/ 2147483646 w 79"/>
              <a:gd name="T27" fmla="*/ 2147483646 h 79"/>
              <a:gd name="T28" fmla="*/ 2147483646 w 79"/>
              <a:gd name="T29" fmla="*/ 2147483646 h 79"/>
              <a:gd name="T30" fmla="*/ 2147483646 w 79"/>
              <a:gd name="T31" fmla="*/ 2147483646 h 79"/>
              <a:gd name="T32" fmla="*/ 2147483646 w 79"/>
              <a:gd name="T33" fmla="*/ 2147483646 h 79"/>
              <a:gd name="T34" fmla="*/ 2147483646 w 79"/>
              <a:gd name="T35" fmla="*/ 2147483646 h 79"/>
              <a:gd name="T36" fmla="*/ 2147483646 w 79"/>
              <a:gd name="T37" fmla="*/ 2147483646 h 79"/>
              <a:gd name="T38" fmla="*/ 2147483646 w 79"/>
              <a:gd name="T39" fmla="*/ 2147483646 h 79"/>
              <a:gd name="T40" fmla="*/ 0 w 79"/>
              <a:gd name="T41" fmla="*/ 2147483646 h 7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9">
                <a:moveTo>
                  <a:pt x="0" y="40"/>
                </a:moveTo>
                <a:lnTo>
                  <a:pt x="2" y="27"/>
                </a:lnTo>
                <a:lnTo>
                  <a:pt x="7" y="17"/>
                </a:lnTo>
                <a:lnTo>
                  <a:pt x="15" y="8"/>
                </a:lnTo>
                <a:lnTo>
                  <a:pt x="27" y="2"/>
                </a:lnTo>
                <a:lnTo>
                  <a:pt x="39" y="0"/>
                </a:lnTo>
                <a:lnTo>
                  <a:pt x="51" y="2"/>
                </a:lnTo>
                <a:lnTo>
                  <a:pt x="62" y="8"/>
                </a:lnTo>
                <a:lnTo>
                  <a:pt x="71" y="17"/>
                </a:lnTo>
                <a:lnTo>
                  <a:pt x="76" y="27"/>
                </a:lnTo>
                <a:lnTo>
                  <a:pt x="79" y="40"/>
                </a:lnTo>
                <a:lnTo>
                  <a:pt x="76" y="52"/>
                </a:lnTo>
                <a:lnTo>
                  <a:pt x="71" y="63"/>
                </a:lnTo>
                <a:lnTo>
                  <a:pt x="62" y="71"/>
                </a:lnTo>
                <a:lnTo>
                  <a:pt x="51" y="78"/>
                </a:lnTo>
                <a:lnTo>
                  <a:pt x="39" y="79"/>
                </a:lnTo>
                <a:lnTo>
                  <a:pt x="27" y="78"/>
                </a:lnTo>
                <a:lnTo>
                  <a:pt x="15" y="71"/>
                </a:lnTo>
                <a:lnTo>
                  <a:pt x="7" y="63"/>
                </a:lnTo>
                <a:lnTo>
                  <a:pt x="2" y="52"/>
                </a:lnTo>
                <a:lnTo>
                  <a:pt x="0" y="40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9" name="Freeform 597">
            <a:extLst>
              <a:ext uri="{FF2B5EF4-FFF2-40B4-BE49-F238E27FC236}">
                <a16:creationId xmlns:a16="http://schemas.microsoft.com/office/drawing/2014/main" id="{FDC5E938-2873-DAE4-EEE1-0BDC38268461}"/>
              </a:ext>
            </a:extLst>
          </p:cNvPr>
          <p:cNvSpPr>
            <a:spLocks/>
          </p:cNvSpPr>
          <p:nvPr/>
        </p:nvSpPr>
        <p:spPr bwMode="auto">
          <a:xfrm>
            <a:off x="7467600" y="3500438"/>
            <a:ext cx="61913" cy="61912"/>
          </a:xfrm>
          <a:custGeom>
            <a:avLst/>
            <a:gdLst>
              <a:gd name="T0" fmla="*/ 0 w 79"/>
              <a:gd name="T1" fmla="*/ 2147483646 h 78"/>
              <a:gd name="T2" fmla="*/ 2147483646 w 79"/>
              <a:gd name="T3" fmla="*/ 2147483646 h 78"/>
              <a:gd name="T4" fmla="*/ 2147483646 w 79"/>
              <a:gd name="T5" fmla="*/ 2147483646 h 78"/>
              <a:gd name="T6" fmla="*/ 2147483646 w 79"/>
              <a:gd name="T7" fmla="*/ 2147483646 h 78"/>
              <a:gd name="T8" fmla="*/ 2147483646 w 79"/>
              <a:gd name="T9" fmla="*/ 2147483646 h 78"/>
              <a:gd name="T10" fmla="*/ 2147483646 w 79"/>
              <a:gd name="T11" fmla="*/ 0 h 78"/>
              <a:gd name="T12" fmla="*/ 2147483646 w 79"/>
              <a:gd name="T13" fmla="*/ 2147483646 h 78"/>
              <a:gd name="T14" fmla="*/ 2147483646 w 79"/>
              <a:gd name="T15" fmla="*/ 2147483646 h 78"/>
              <a:gd name="T16" fmla="*/ 2147483646 w 79"/>
              <a:gd name="T17" fmla="*/ 2147483646 h 78"/>
              <a:gd name="T18" fmla="*/ 2147483646 w 79"/>
              <a:gd name="T19" fmla="*/ 2147483646 h 78"/>
              <a:gd name="T20" fmla="*/ 2147483646 w 79"/>
              <a:gd name="T21" fmla="*/ 2147483646 h 78"/>
              <a:gd name="T22" fmla="*/ 2147483646 w 79"/>
              <a:gd name="T23" fmla="*/ 2147483646 h 78"/>
              <a:gd name="T24" fmla="*/ 2147483646 w 79"/>
              <a:gd name="T25" fmla="*/ 2147483646 h 78"/>
              <a:gd name="T26" fmla="*/ 2147483646 w 79"/>
              <a:gd name="T27" fmla="*/ 2147483646 h 78"/>
              <a:gd name="T28" fmla="*/ 2147483646 w 79"/>
              <a:gd name="T29" fmla="*/ 2147483646 h 78"/>
              <a:gd name="T30" fmla="*/ 2147483646 w 79"/>
              <a:gd name="T31" fmla="*/ 2147483646 h 78"/>
              <a:gd name="T32" fmla="*/ 2147483646 w 79"/>
              <a:gd name="T33" fmla="*/ 2147483646 h 78"/>
              <a:gd name="T34" fmla="*/ 2147483646 w 79"/>
              <a:gd name="T35" fmla="*/ 2147483646 h 78"/>
              <a:gd name="T36" fmla="*/ 2147483646 w 79"/>
              <a:gd name="T37" fmla="*/ 2147483646 h 78"/>
              <a:gd name="T38" fmla="*/ 2147483646 w 79"/>
              <a:gd name="T39" fmla="*/ 2147483646 h 78"/>
              <a:gd name="T40" fmla="*/ 0 w 79"/>
              <a:gd name="T41" fmla="*/ 2147483646 h 7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8">
                <a:moveTo>
                  <a:pt x="0" y="39"/>
                </a:moveTo>
                <a:lnTo>
                  <a:pt x="3" y="27"/>
                </a:lnTo>
                <a:lnTo>
                  <a:pt x="9" y="16"/>
                </a:lnTo>
                <a:lnTo>
                  <a:pt x="17" y="7"/>
                </a:lnTo>
                <a:lnTo>
                  <a:pt x="28" y="2"/>
                </a:lnTo>
                <a:lnTo>
                  <a:pt x="40" y="0"/>
                </a:lnTo>
                <a:lnTo>
                  <a:pt x="52" y="2"/>
                </a:lnTo>
                <a:lnTo>
                  <a:pt x="64" y="7"/>
                </a:lnTo>
                <a:lnTo>
                  <a:pt x="72" y="16"/>
                </a:lnTo>
                <a:lnTo>
                  <a:pt x="78" y="27"/>
                </a:lnTo>
                <a:lnTo>
                  <a:pt x="79" y="39"/>
                </a:lnTo>
                <a:lnTo>
                  <a:pt x="78" y="51"/>
                </a:lnTo>
                <a:lnTo>
                  <a:pt x="72" y="62"/>
                </a:lnTo>
                <a:lnTo>
                  <a:pt x="64" y="71"/>
                </a:lnTo>
                <a:lnTo>
                  <a:pt x="52" y="76"/>
                </a:lnTo>
                <a:lnTo>
                  <a:pt x="40" y="78"/>
                </a:lnTo>
                <a:lnTo>
                  <a:pt x="28" y="76"/>
                </a:lnTo>
                <a:lnTo>
                  <a:pt x="17" y="71"/>
                </a:lnTo>
                <a:lnTo>
                  <a:pt x="9" y="62"/>
                </a:lnTo>
                <a:lnTo>
                  <a:pt x="3" y="51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0" name="Freeform 598">
            <a:extLst>
              <a:ext uri="{FF2B5EF4-FFF2-40B4-BE49-F238E27FC236}">
                <a16:creationId xmlns:a16="http://schemas.microsoft.com/office/drawing/2014/main" id="{656D41E1-D622-AD2C-FCF8-BC0CADDE65D6}"/>
              </a:ext>
            </a:extLst>
          </p:cNvPr>
          <p:cNvSpPr>
            <a:spLocks/>
          </p:cNvSpPr>
          <p:nvPr/>
        </p:nvSpPr>
        <p:spPr bwMode="auto">
          <a:xfrm>
            <a:off x="6934200" y="3500438"/>
            <a:ext cx="63500" cy="61912"/>
          </a:xfrm>
          <a:custGeom>
            <a:avLst/>
            <a:gdLst>
              <a:gd name="T0" fmla="*/ 0 w 79"/>
              <a:gd name="T1" fmla="*/ 2147483646 h 78"/>
              <a:gd name="T2" fmla="*/ 2147483646 w 79"/>
              <a:gd name="T3" fmla="*/ 2147483646 h 78"/>
              <a:gd name="T4" fmla="*/ 2147483646 w 79"/>
              <a:gd name="T5" fmla="*/ 2147483646 h 78"/>
              <a:gd name="T6" fmla="*/ 2147483646 w 79"/>
              <a:gd name="T7" fmla="*/ 2147483646 h 78"/>
              <a:gd name="T8" fmla="*/ 2147483646 w 79"/>
              <a:gd name="T9" fmla="*/ 2147483646 h 78"/>
              <a:gd name="T10" fmla="*/ 2147483646 w 79"/>
              <a:gd name="T11" fmla="*/ 0 h 78"/>
              <a:gd name="T12" fmla="*/ 2147483646 w 79"/>
              <a:gd name="T13" fmla="*/ 2147483646 h 78"/>
              <a:gd name="T14" fmla="*/ 2147483646 w 79"/>
              <a:gd name="T15" fmla="*/ 2147483646 h 78"/>
              <a:gd name="T16" fmla="*/ 2147483646 w 79"/>
              <a:gd name="T17" fmla="*/ 2147483646 h 78"/>
              <a:gd name="T18" fmla="*/ 2147483646 w 79"/>
              <a:gd name="T19" fmla="*/ 2147483646 h 78"/>
              <a:gd name="T20" fmla="*/ 2147483646 w 79"/>
              <a:gd name="T21" fmla="*/ 2147483646 h 78"/>
              <a:gd name="T22" fmla="*/ 2147483646 w 79"/>
              <a:gd name="T23" fmla="*/ 2147483646 h 78"/>
              <a:gd name="T24" fmla="*/ 2147483646 w 79"/>
              <a:gd name="T25" fmla="*/ 2147483646 h 78"/>
              <a:gd name="T26" fmla="*/ 2147483646 w 79"/>
              <a:gd name="T27" fmla="*/ 2147483646 h 78"/>
              <a:gd name="T28" fmla="*/ 2147483646 w 79"/>
              <a:gd name="T29" fmla="*/ 2147483646 h 78"/>
              <a:gd name="T30" fmla="*/ 2147483646 w 79"/>
              <a:gd name="T31" fmla="*/ 2147483646 h 78"/>
              <a:gd name="T32" fmla="*/ 2147483646 w 79"/>
              <a:gd name="T33" fmla="*/ 2147483646 h 78"/>
              <a:gd name="T34" fmla="*/ 2147483646 w 79"/>
              <a:gd name="T35" fmla="*/ 2147483646 h 78"/>
              <a:gd name="T36" fmla="*/ 2147483646 w 79"/>
              <a:gd name="T37" fmla="*/ 2147483646 h 78"/>
              <a:gd name="T38" fmla="*/ 2147483646 w 79"/>
              <a:gd name="T39" fmla="*/ 2147483646 h 78"/>
              <a:gd name="T40" fmla="*/ 0 w 79"/>
              <a:gd name="T41" fmla="*/ 2147483646 h 7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8">
                <a:moveTo>
                  <a:pt x="0" y="39"/>
                </a:moveTo>
                <a:lnTo>
                  <a:pt x="2" y="27"/>
                </a:lnTo>
                <a:lnTo>
                  <a:pt x="7" y="16"/>
                </a:lnTo>
                <a:lnTo>
                  <a:pt x="16" y="7"/>
                </a:lnTo>
                <a:lnTo>
                  <a:pt x="27" y="2"/>
                </a:lnTo>
                <a:lnTo>
                  <a:pt x="39" y="0"/>
                </a:lnTo>
                <a:lnTo>
                  <a:pt x="51" y="2"/>
                </a:lnTo>
                <a:lnTo>
                  <a:pt x="62" y="7"/>
                </a:lnTo>
                <a:lnTo>
                  <a:pt x="71" y="16"/>
                </a:lnTo>
                <a:lnTo>
                  <a:pt x="77" y="27"/>
                </a:lnTo>
                <a:lnTo>
                  <a:pt x="79" y="39"/>
                </a:lnTo>
                <a:lnTo>
                  <a:pt x="77" y="51"/>
                </a:lnTo>
                <a:lnTo>
                  <a:pt x="71" y="62"/>
                </a:lnTo>
                <a:lnTo>
                  <a:pt x="62" y="71"/>
                </a:lnTo>
                <a:lnTo>
                  <a:pt x="51" y="76"/>
                </a:lnTo>
                <a:lnTo>
                  <a:pt x="39" y="78"/>
                </a:lnTo>
                <a:lnTo>
                  <a:pt x="27" y="76"/>
                </a:lnTo>
                <a:lnTo>
                  <a:pt x="16" y="71"/>
                </a:lnTo>
                <a:lnTo>
                  <a:pt x="7" y="62"/>
                </a:lnTo>
                <a:lnTo>
                  <a:pt x="2" y="51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1" name="Freeform 599">
            <a:extLst>
              <a:ext uri="{FF2B5EF4-FFF2-40B4-BE49-F238E27FC236}">
                <a16:creationId xmlns:a16="http://schemas.microsoft.com/office/drawing/2014/main" id="{4452A710-8D17-FC3F-47AA-30A373D9EDB1}"/>
              </a:ext>
            </a:extLst>
          </p:cNvPr>
          <p:cNvSpPr>
            <a:spLocks/>
          </p:cNvSpPr>
          <p:nvPr/>
        </p:nvSpPr>
        <p:spPr bwMode="auto">
          <a:xfrm>
            <a:off x="6434138" y="3500438"/>
            <a:ext cx="63500" cy="61912"/>
          </a:xfrm>
          <a:custGeom>
            <a:avLst/>
            <a:gdLst>
              <a:gd name="T0" fmla="*/ 0 w 79"/>
              <a:gd name="T1" fmla="*/ 2147483646 h 78"/>
              <a:gd name="T2" fmla="*/ 2147483646 w 79"/>
              <a:gd name="T3" fmla="*/ 2147483646 h 78"/>
              <a:gd name="T4" fmla="*/ 2147483646 w 79"/>
              <a:gd name="T5" fmla="*/ 2147483646 h 78"/>
              <a:gd name="T6" fmla="*/ 2147483646 w 79"/>
              <a:gd name="T7" fmla="*/ 2147483646 h 78"/>
              <a:gd name="T8" fmla="*/ 2147483646 w 79"/>
              <a:gd name="T9" fmla="*/ 2147483646 h 78"/>
              <a:gd name="T10" fmla="*/ 2147483646 w 79"/>
              <a:gd name="T11" fmla="*/ 0 h 78"/>
              <a:gd name="T12" fmla="*/ 2147483646 w 79"/>
              <a:gd name="T13" fmla="*/ 2147483646 h 78"/>
              <a:gd name="T14" fmla="*/ 2147483646 w 79"/>
              <a:gd name="T15" fmla="*/ 2147483646 h 78"/>
              <a:gd name="T16" fmla="*/ 2147483646 w 79"/>
              <a:gd name="T17" fmla="*/ 2147483646 h 78"/>
              <a:gd name="T18" fmla="*/ 2147483646 w 79"/>
              <a:gd name="T19" fmla="*/ 2147483646 h 78"/>
              <a:gd name="T20" fmla="*/ 2147483646 w 79"/>
              <a:gd name="T21" fmla="*/ 2147483646 h 78"/>
              <a:gd name="T22" fmla="*/ 2147483646 w 79"/>
              <a:gd name="T23" fmla="*/ 2147483646 h 78"/>
              <a:gd name="T24" fmla="*/ 2147483646 w 79"/>
              <a:gd name="T25" fmla="*/ 2147483646 h 78"/>
              <a:gd name="T26" fmla="*/ 2147483646 w 79"/>
              <a:gd name="T27" fmla="*/ 2147483646 h 78"/>
              <a:gd name="T28" fmla="*/ 2147483646 w 79"/>
              <a:gd name="T29" fmla="*/ 2147483646 h 78"/>
              <a:gd name="T30" fmla="*/ 2147483646 w 79"/>
              <a:gd name="T31" fmla="*/ 2147483646 h 78"/>
              <a:gd name="T32" fmla="*/ 2147483646 w 79"/>
              <a:gd name="T33" fmla="*/ 2147483646 h 78"/>
              <a:gd name="T34" fmla="*/ 2147483646 w 79"/>
              <a:gd name="T35" fmla="*/ 2147483646 h 78"/>
              <a:gd name="T36" fmla="*/ 2147483646 w 79"/>
              <a:gd name="T37" fmla="*/ 2147483646 h 78"/>
              <a:gd name="T38" fmla="*/ 2147483646 w 79"/>
              <a:gd name="T39" fmla="*/ 2147483646 h 78"/>
              <a:gd name="T40" fmla="*/ 0 w 79"/>
              <a:gd name="T41" fmla="*/ 2147483646 h 7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8">
                <a:moveTo>
                  <a:pt x="0" y="39"/>
                </a:moveTo>
                <a:lnTo>
                  <a:pt x="2" y="27"/>
                </a:lnTo>
                <a:lnTo>
                  <a:pt x="9" y="16"/>
                </a:lnTo>
                <a:lnTo>
                  <a:pt x="17" y="7"/>
                </a:lnTo>
                <a:lnTo>
                  <a:pt x="28" y="2"/>
                </a:lnTo>
                <a:lnTo>
                  <a:pt x="40" y="0"/>
                </a:lnTo>
                <a:lnTo>
                  <a:pt x="52" y="2"/>
                </a:lnTo>
                <a:lnTo>
                  <a:pt x="63" y="7"/>
                </a:lnTo>
                <a:lnTo>
                  <a:pt x="72" y="16"/>
                </a:lnTo>
                <a:lnTo>
                  <a:pt x="78" y="27"/>
                </a:lnTo>
                <a:lnTo>
                  <a:pt x="79" y="39"/>
                </a:lnTo>
                <a:lnTo>
                  <a:pt x="78" y="51"/>
                </a:lnTo>
                <a:lnTo>
                  <a:pt x="72" y="62"/>
                </a:lnTo>
                <a:lnTo>
                  <a:pt x="63" y="71"/>
                </a:lnTo>
                <a:lnTo>
                  <a:pt x="52" y="76"/>
                </a:lnTo>
                <a:lnTo>
                  <a:pt x="40" y="78"/>
                </a:lnTo>
                <a:lnTo>
                  <a:pt x="28" y="76"/>
                </a:lnTo>
                <a:lnTo>
                  <a:pt x="17" y="71"/>
                </a:lnTo>
                <a:lnTo>
                  <a:pt x="9" y="62"/>
                </a:lnTo>
                <a:lnTo>
                  <a:pt x="2" y="51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2" name="Freeform 600">
            <a:extLst>
              <a:ext uri="{FF2B5EF4-FFF2-40B4-BE49-F238E27FC236}">
                <a16:creationId xmlns:a16="http://schemas.microsoft.com/office/drawing/2014/main" id="{AE90991D-757E-D1D8-AD28-3BE54F57BC01}"/>
              </a:ext>
            </a:extLst>
          </p:cNvPr>
          <p:cNvSpPr>
            <a:spLocks/>
          </p:cNvSpPr>
          <p:nvPr/>
        </p:nvSpPr>
        <p:spPr bwMode="auto">
          <a:xfrm>
            <a:off x="5962650" y="3500438"/>
            <a:ext cx="63500" cy="61912"/>
          </a:xfrm>
          <a:custGeom>
            <a:avLst/>
            <a:gdLst>
              <a:gd name="T0" fmla="*/ 0 w 79"/>
              <a:gd name="T1" fmla="*/ 2147483646 h 78"/>
              <a:gd name="T2" fmla="*/ 2147483646 w 79"/>
              <a:gd name="T3" fmla="*/ 2147483646 h 78"/>
              <a:gd name="T4" fmla="*/ 2147483646 w 79"/>
              <a:gd name="T5" fmla="*/ 2147483646 h 78"/>
              <a:gd name="T6" fmla="*/ 2147483646 w 79"/>
              <a:gd name="T7" fmla="*/ 2147483646 h 78"/>
              <a:gd name="T8" fmla="*/ 2147483646 w 79"/>
              <a:gd name="T9" fmla="*/ 2147483646 h 78"/>
              <a:gd name="T10" fmla="*/ 2147483646 w 79"/>
              <a:gd name="T11" fmla="*/ 0 h 78"/>
              <a:gd name="T12" fmla="*/ 2147483646 w 79"/>
              <a:gd name="T13" fmla="*/ 2147483646 h 78"/>
              <a:gd name="T14" fmla="*/ 2147483646 w 79"/>
              <a:gd name="T15" fmla="*/ 2147483646 h 78"/>
              <a:gd name="T16" fmla="*/ 2147483646 w 79"/>
              <a:gd name="T17" fmla="*/ 2147483646 h 78"/>
              <a:gd name="T18" fmla="*/ 2147483646 w 79"/>
              <a:gd name="T19" fmla="*/ 2147483646 h 78"/>
              <a:gd name="T20" fmla="*/ 2147483646 w 79"/>
              <a:gd name="T21" fmla="*/ 2147483646 h 78"/>
              <a:gd name="T22" fmla="*/ 2147483646 w 79"/>
              <a:gd name="T23" fmla="*/ 2147483646 h 78"/>
              <a:gd name="T24" fmla="*/ 2147483646 w 79"/>
              <a:gd name="T25" fmla="*/ 2147483646 h 78"/>
              <a:gd name="T26" fmla="*/ 2147483646 w 79"/>
              <a:gd name="T27" fmla="*/ 2147483646 h 78"/>
              <a:gd name="T28" fmla="*/ 2147483646 w 79"/>
              <a:gd name="T29" fmla="*/ 2147483646 h 78"/>
              <a:gd name="T30" fmla="*/ 2147483646 w 79"/>
              <a:gd name="T31" fmla="*/ 2147483646 h 78"/>
              <a:gd name="T32" fmla="*/ 2147483646 w 79"/>
              <a:gd name="T33" fmla="*/ 2147483646 h 78"/>
              <a:gd name="T34" fmla="*/ 2147483646 w 79"/>
              <a:gd name="T35" fmla="*/ 2147483646 h 78"/>
              <a:gd name="T36" fmla="*/ 2147483646 w 79"/>
              <a:gd name="T37" fmla="*/ 2147483646 h 78"/>
              <a:gd name="T38" fmla="*/ 2147483646 w 79"/>
              <a:gd name="T39" fmla="*/ 2147483646 h 78"/>
              <a:gd name="T40" fmla="*/ 0 w 79"/>
              <a:gd name="T41" fmla="*/ 2147483646 h 7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8">
                <a:moveTo>
                  <a:pt x="0" y="39"/>
                </a:moveTo>
                <a:lnTo>
                  <a:pt x="2" y="27"/>
                </a:lnTo>
                <a:lnTo>
                  <a:pt x="7" y="16"/>
                </a:lnTo>
                <a:lnTo>
                  <a:pt x="16" y="7"/>
                </a:lnTo>
                <a:lnTo>
                  <a:pt x="27" y="2"/>
                </a:lnTo>
                <a:lnTo>
                  <a:pt x="40" y="0"/>
                </a:lnTo>
                <a:lnTo>
                  <a:pt x="51" y="2"/>
                </a:lnTo>
                <a:lnTo>
                  <a:pt x="63" y="7"/>
                </a:lnTo>
                <a:lnTo>
                  <a:pt x="71" y="16"/>
                </a:lnTo>
                <a:lnTo>
                  <a:pt x="76" y="27"/>
                </a:lnTo>
                <a:lnTo>
                  <a:pt x="79" y="39"/>
                </a:lnTo>
                <a:lnTo>
                  <a:pt x="76" y="51"/>
                </a:lnTo>
                <a:lnTo>
                  <a:pt x="71" y="62"/>
                </a:lnTo>
                <a:lnTo>
                  <a:pt x="63" y="71"/>
                </a:lnTo>
                <a:lnTo>
                  <a:pt x="51" y="76"/>
                </a:lnTo>
                <a:lnTo>
                  <a:pt x="40" y="78"/>
                </a:lnTo>
                <a:lnTo>
                  <a:pt x="27" y="76"/>
                </a:lnTo>
                <a:lnTo>
                  <a:pt x="16" y="71"/>
                </a:lnTo>
                <a:lnTo>
                  <a:pt x="7" y="62"/>
                </a:lnTo>
                <a:lnTo>
                  <a:pt x="2" y="51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3" name="Freeform 601">
            <a:extLst>
              <a:ext uri="{FF2B5EF4-FFF2-40B4-BE49-F238E27FC236}">
                <a16:creationId xmlns:a16="http://schemas.microsoft.com/office/drawing/2014/main" id="{F0C77881-B136-7DBF-5697-E16BA6B1102B}"/>
              </a:ext>
            </a:extLst>
          </p:cNvPr>
          <p:cNvSpPr>
            <a:spLocks/>
          </p:cNvSpPr>
          <p:nvPr/>
        </p:nvSpPr>
        <p:spPr bwMode="auto">
          <a:xfrm>
            <a:off x="5399088" y="3500438"/>
            <a:ext cx="61912" cy="61912"/>
          </a:xfrm>
          <a:custGeom>
            <a:avLst/>
            <a:gdLst>
              <a:gd name="T0" fmla="*/ 0 w 79"/>
              <a:gd name="T1" fmla="*/ 2147483646 h 78"/>
              <a:gd name="T2" fmla="*/ 2147483646 w 79"/>
              <a:gd name="T3" fmla="*/ 2147483646 h 78"/>
              <a:gd name="T4" fmla="*/ 2147483646 w 79"/>
              <a:gd name="T5" fmla="*/ 2147483646 h 78"/>
              <a:gd name="T6" fmla="*/ 2147483646 w 79"/>
              <a:gd name="T7" fmla="*/ 2147483646 h 78"/>
              <a:gd name="T8" fmla="*/ 2147483646 w 79"/>
              <a:gd name="T9" fmla="*/ 2147483646 h 78"/>
              <a:gd name="T10" fmla="*/ 2147483646 w 79"/>
              <a:gd name="T11" fmla="*/ 0 h 78"/>
              <a:gd name="T12" fmla="*/ 2147483646 w 79"/>
              <a:gd name="T13" fmla="*/ 2147483646 h 78"/>
              <a:gd name="T14" fmla="*/ 2147483646 w 79"/>
              <a:gd name="T15" fmla="*/ 2147483646 h 78"/>
              <a:gd name="T16" fmla="*/ 2147483646 w 79"/>
              <a:gd name="T17" fmla="*/ 2147483646 h 78"/>
              <a:gd name="T18" fmla="*/ 2147483646 w 79"/>
              <a:gd name="T19" fmla="*/ 2147483646 h 78"/>
              <a:gd name="T20" fmla="*/ 2147483646 w 79"/>
              <a:gd name="T21" fmla="*/ 2147483646 h 78"/>
              <a:gd name="T22" fmla="*/ 2147483646 w 79"/>
              <a:gd name="T23" fmla="*/ 2147483646 h 78"/>
              <a:gd name="T24" fmla="*/ 2147483646 w 79"/>
              <a:gd name="T25" fmla="*/ 2147483646 h 78"/>
              <a:gd name="T26" fmla="*/ 2147483646 w 79"/>
              <a:gd name="T27" fmla="*/ 2147483646 h 78"/>
              <a:gd name="T28" fmla="*/ 2147483646 w 79"/>
              <a:gd name="T29" fmla="*/ 2147483646 h 78"/>
              <a:gd name="T30" fmla="*/ 2147483646 w 79"/>
              <a:gd name="T31" fmla="*/ 2147483646 h 78"/>
              <a:gd name="T32" fmla="*/ 2147483646 w 79"/>
              <a:gd name="T33" fmla="*/ 2147483646 h 78"/>
              <a:gd name="T34" fmla="*/ 2147483646 w 79"/>
              <a:gd name="T35" fmla="*/ 2147483646 h 78"/>
              <a:gd name="T36" fmla="*/ 2147483646 w 79"/>
              <a:gd name="T37" fmla="*/ 2147483646 h 78"/>
              <a:gd name="T38" fmla="*/ 2147483646 w 79"/>
              <a:gd name="T39" fmla="*/ 2147483646 h 78"/>
              <a:gd name="T40" fmla="*/ 0 w 79"/>
              <a:gd name="T41" fmla="*/ 2147483646 h 7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8">
                <a:moveTo>
                  <a:pt x="0" y="39"/>
                </a:moveTo>
                <a:lnTo>
                  <a:pt x="2" y="27"/>
                </a:lnTo>
                <a:lnTo>
                  <a:pt x="7" y="16"/>
                </a:lnTo>
                <a:lnTo>
                  <a:pt x="17" y="7"/>
                </a:lnTo>
                <a:lnTo>
                  <a:pt x="27" y="2"/>
                </a:lnTo>
                <a:lnTo>
                  <a:pt x="40" y="0"/>
                </a:lnTo>
                <a:lnTo>
                  <a:pt x="52" y="2"/>
                </a:lnTo>
                <a:lnTo>
                  <a:pt x="63" y="7"/>
                </a:lnTo>
                <a:lnTo>
                  <a:pt x="72" y="16"/>
                </a:lnTo>
                <a:lnTo>
                  <a:pt x="77" y="27"/>
                </a:lnTo>
                <a:lnTo>
                  <a:pt x="79" y="39"/>
                </a:lnTo>
                <a:lnTo>
                  <a:pt x="77" y="51"/>
                </a:lnTo>
                <a:lnTo>
                  <a:pt x="72" y="62"/>
                </a:lnTo>
                <a:lnTo>
                  <a:pt x="63" y="71"/>
                </a:lnTo>
                <a:lnTo>
                  <a:pt x="52" y="76"/>
                </a:lnTo>
                <a:lnTo>
                  <a:pt x="40" y="78"/>
                </a:lnTo>
                <a:lnTo>
                  <a:pt x="27" y="76"/>
                </a:lnTo>
                <a:lnTo>
                  <a:pt x="17" y="71"/>
                </a:lnTo>
                <a:lnTo>
                  <a:pt x="7" y="62"/>
                </a:lnTo>
                <a:lnTo>
                  <a:pt x="2" y="51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4" name="Freeform 602">
            <a:extLst>
              <a:ext uri="{FF2B5EF4-FFF2-40B4-BE49-F238E27FC236}">
                <a16:creationId xmlns:a16="http://schemas.microsoft.com/office/drawing/2014/main" id="{2FAA5C5D-6D43-F920-AD28-81732DC60FCB}"/>
              </a:ext>
            </a:extLst>
          </p:cNvPr>
          <p:cNvSpPr>
            <a:spLocks/>
          </p:cNvSpPr>
          <p:nvPr/>
        </p:nvSpPr>
        <p:spPr bwMode="auto">
          <a:xfrm>
            <a:off x="4929188" y="3500438"/>
            <a:ext cx="63500" cy="61912"/>
          </a:xfrm>
          <a:custGeom>
            <a:avLst/>
            <a:gdLst>
              <a:gd name="T0" fmla="*/ 0 w 79"/>
              <a:gd name="T1" fmla="*/ 2147483646 h 78"/>
              <a:gd name="T2" fmla="*/ 2147483646 w 79"/>
              <a:gd name="T3" fmla="*/ 2147483646 h 78"/>
              <a:gd name="T4" fmla="*/ 2147483646 w 79"/>
              <a:gd name="T5" fmla="*/ 2147483646 h 78"/>
              <a:gd name="T6" fmla="*/ 2147483646 w 79"/>
              <a:gd name="T7" fmla="*/ 2147483646 h 78"/>
              <a:gd name="T8" fmla="*/ 2147483646 w 79"/>
              <a:gd name="T9" fmla="*/ 2147483646 h 78"/>
              <a:gd name="T10" fmla="*/ 2147483646 w 79"/>
              <a:gd name="T11" fmla="*/ 0 h 78"/>
              <a:gd name="T12" fmla="*/ 2147483646 w 79"/>
              <a:gd name="T13" fmla="*/ 2147483646 h 78"/>
              <a:gd name="T14" fmla="*/ 2147483646 w 79"/>
              <a:gd name="T15" fmla="*/ 2147483646 h 78"/>
              <a:gd name="T16" fmla="*/ 2147483646 w 79"/>
              <a:gd name="T17" fmla="*/ 2147483646 h 78"/>
              <a:gd name="T18" fmla="*/ 2147483646 w 79"/>
              <a:gd name="T19" fmla="*/ 2147483646 h 78"/>
              <a:gd name="T20" fmla="*/ 2147483646 w 79"/>
              <a:gd name="T21" fmla="*/ 2147483646 h 78"/>
              <a:gd name="T22" fmla="*/ 2147483646 w 79"/>
              <a:gd name="T23" fmla="*/ 2147483646 h 78"/>
              <a:gd name="T24" fmla="*/ 2147483646 w 79"/>
              <a:gd name="T25" fmla="*/ 2147483646 h 78"/>
              <a:gd name="T26" fmla="*/ 2147483646 w 79"/>
              <a:gd name="T27" fmla="*/ 2147483646 h 78"/>
              <a:gd name="T28" fmla="*/ 2147483646 w 79"/>
              <a:gd name="T29" fmla="*/ 2147483646 h 78"/>
              <a:gd name="T30" fmla="*/ 2147483646 w 79"/>
              <a:gd name="T31" fmla="*/ 2147483646 h 78"/>
              <a:gd name="T32" fmla="*/ 2147483646 w 79"/>
              <a:gd name="T33" fmla="*/ 2147483646 h 78"/>
              <a:gd name="T34" fmla="*/ 2147483646 w 79"/>
              <a:gd name="T35" fmla="*/ 2147483646 h 78"/>
              <a:gd name="T36" fmla="*/ 2147483646 w 79"/>
              <a:gd name="T37" fmla="*/ 2147483646 h 78"/>
              <a:gd name="T38" fmla="*/ 2147483646 w 79"/>
              <a:gd name="T39" fmla="*/ 2147483646 h 78"/>
              <a:gd name="T40" fmla="*/ 0 w 79"/>
              <a:gd name="T41" fmla="*/ 2147483646 h 7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8">
                <a:moveTo>
                  <a:pt x="0" y="39"/>
                </a:moveTo>
                <a:lnTo>
                  <a:pt x="1" y="27"/>
                </a:lnTo>
                <a:lnTo>
                  <a:pt x="8" y="16"/>
                </a:lnTo>
                <a:lnTo>
                  <a:pt x="16" y="7"/>
                </a:lnTo>
                <a:lnTo>
                  <a:pt x="28" y="2"/>
                </a:lnTo>
                <a:lnTo>
                  <a:pt x="39" y="0"/>
                </a:lnTo>
                <a:lnTo>
                  <a:pt x="52" y="2"/>
                </a:lnTo>
                <a:lnTo>
                  <a:pt x="63" y="7"/>
                </a:lnTo>
                <a:lnTo>
                  <a:pt x="71" y="16"/>
                </a:lnTo>
                <a:lnTo>
                  <a:pt x="77" y="27"/>
                </a:lnTo>
                <a:lnTo>
                  <a:pt x="79" y="39"/>
                </a:lnTo>
                <a:lnTo>
                  <a:pt x="77" y="51"/>
                </a:lnTo>
                <a:lnTo>
                  <a:pt x="71" y="62"/>
                </a:lnTo>
                <a:lnTo>
                  <a:pt x="63" y="71"/>
                </a:lnTo>
                <a:lnTo>
                  <a:pt x="52" y="76"/>
                </a:lnTo>
                <a:lnTo>
                  <a:pt x="39" y="78"/>
                </a:lnTo>
                <a:lnTo>
                  <a:pt x="28" y="76"/>
                </a:lnTo>
                <a:lnTo>
                  <a:pt x="16" y="71"/>
                </a:lnTo>
                <a:lnTo>
                  <a:pt x="8" y="62"/>
                </a:lnTo>
                <a:lnTo>
                  <a:pt x="1" y="51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5" name="Freeform 603">
            <a:extLst>
              <a:ext uri="{FF2B5EF4-FFF2-40B4-BE49-F238E27FC236}">
                <a16:creationId xmlns:a16="http://schemas.microsoft.com/office/drawing/2014/main" id="{6CC256C0-EAC6-49A3-0BDC-E67B85C6B91B}"/>
              </a:ext>
            </a:extLst>
          </p:cNvPr>
          <p:cNvSpPr>
            <a:spLocks/>
          </p:cNvSpPr>
          <p:nvPr/>
        </p:nvSpPr>
        <p:spPr bwMode="auto">
          <a:xfrm>
            <a:off x="4459288" y="3500438"/>
            <a:ext cx="61912" cy="61912"/>
          </a:xfrm>
          <a:custGeom>
            <a:avLst/>
            <a:gdLst>
              <a:gd name="T0" fmla="*/ 0 w 79"/>
              <a:gd name="T1" fmla="*/ 2147483646 h 78"/>
              <a:gd name="T2" fmla="*/ 2147483646 w 79"/>
              <a:gd name="T3" fmla="*/ 2147483646 h 78"/>
              <a:gd name="T4" fmla="*/ 2147483646 w 79"/>
              <a:gd name="T5" fmla="*/ 2147483646 h 78"/>
              <a:gd name="T6" fmla="*/ 2147483646 w 79"/>
              <a:gd name="T7" fmla="*/ 2147483646 h 78"/>
              <a:gd name="T8" fmla="*/ 2147483646 w 79"/>
              <a:gd name="T9" fmla="*/ 2147483646 h 78"/>
              <a:gd name="T10" fmla="*/ 2147483646 w 79"/>
              <a:gd name="T11" fmla="*/ 0 h 78"/>
              <a:gd name="T12" fmla="*/ 2147483646 w 79"/>
              <a:gd name="T13" fmla="*/ 2147483646 h 78"/>
              <a:gd name="T14" fmla="*/ 2147483646 w 79"/>
              <a:gd name="T15" fmla="*/ 2147483646 h 78"/>
              <a:gd name="T16" fmla="*/ 2147483646 w 79"/>
              <a:gd name="T17" fmla="*/ 2147483646 h 78"/>
              <a:gd name="T18" fmla="*/ 2147483646 w 79"/>
              <a:gd name="T19" fmla="*/ 2147483646 h 78"/>
              <a:gd name="T20" fmla="*/ 2147483646 w 79"/>
              <a:gd name="T21" fmla="*/ 2147483646 h 78"/>
              <a:gd name="T22" fmla="*/ 2147483646 w 79"/>
              <a:gd name="T23" fmla="*/ 2147483646 h 78"/>
              <a:gd name="T24" fmla="*/ 2147483646 w 79"/>
              <a:gd name="T25" fmla="*/ 2147483646 h 78"/>
              <a:gd name="T26" fmla="*/ 2147483646 w 79"/>
              <a:gd name="T27" fmla="*/ 2147483646 h 78"/>
              <a:gd name="T28" fmla="*/ 2147483646 w 79"/>
              <a:gd name="T29" fmla="*/ 2147483646 h 78"/>
              <a:gd name="T30" fmla="*/ 2147483646 w 79"/>
              <a:gd name="T31" fmla="*/ 2147483646 h 78"/>
              <a:gd name="T32" fmla="*/ 2147483646 w 79"/>
              <a:gd name="T33" fmla="*/ 2147483646 h 78"/>
              <a:gd name="T34" fmla="*/ 2147483646 w 79"/>
              <a:gd name="T35" fmla="*/ 2147483646 h 78"/>
              <a:gd name="T36" fmla="*/ 2147483646 w 79"/>
              <a:gd name="T37" fmla="*/ 2147483646 h 78"/>
              <a:gd name="T38" fmla="*/ 2147483646 w 79"/>
              <a:gd name="T39" fmla="*/ 2147483646 h 78"/>
              <a:gd name="T40" fmla="*/ 0 w 79"/>
              <a:gd name="T41" fmla="*/ 2147483646 h 7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8">
                <a:moveTo>
                  <a:pt x="0" y="39"/>
                </a:moveTo>
                <a:lnTo>
                  <a:pt x="2" y="27"/>
                </a:lnTo>
                <a:lnTo>
                  <a:pt x="7" y="16"/>
                </a:lnTo>
                <a:lnTo>
                  <a:pt x="17" y="7"/>
                </a:lnTo>
                <a:lnTo>
                  <a:pt x="27" y="2"/>
                </a:lnTo>
                <a:lnTo>
                  <a:pt x="40" y="0"/>
                </a:lnTo>
                <a:lnTo>
                  <a:pt x="51" y="2"/>
                </a:lnTo>
                <a:lnTo>
                  <a:pt x="63" y="7"/>
                </a:lnTo>
                <a:lnTo>
                  <a:pt x="71" y="16"/>
                </a:lnTo>
                <a:lnTo>
                  <a:pt x="77" y="27"/>
                </a:lnTo>
                <a:lnTo>
                  <a:pt x="79" y="39"/>
                </a:lnTo>
                <a:lnTo>
                  <a:pt x="77" y="51"/>
                </a:lnTo>
                <a:lnTo>
                  <a:pt x="71" y="62"/>
                </a:lnTo>
                <a:lnTo>
                  <a:pt x="63" y="71"/>
                </a:lnTo>
                <a:lnTo>
                  <a:pt x="51" y="76"/>
                </a:lnTo>
                <a:lnTo>
                  <a:pt x="40" y="78"/>
                </a:lnTo>
                <a:lnTo>
                  <a:pt x="27" y="76"/>
                </a:lnTo>
                <a:lnTo>
                  <a:pt x="17" y="71"/>
                </a:lnTo>
                <a:lnTo>
                  <a:pt x="7" y="62"/>
                </a:lnTo>
                <a:lnTo>
                  <a:pt x="2" y="51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6" name="Freeform 604">
            <a:extLst>
              <a:ext uri="{FF2B5EF4-FFF2-40B4-BE49-F238E27FC236}">
                <a16:creationId xmlns:a16="http://schemas.microsoft.com/office/drawing/2014/main" id="{879E7F95-0867-62AA-CD4D-5DBCEF274DFB}"/>
              </a:ext>
            </a:extLst>
          </p:cNvPr>
          <p:cNvSpPr>
            <a:spLocks/>
          </p:cNvSpPr>
          <p:nvPr/>
        </p:nvSpPr>
        <p:spPr bwMode="auto">
          <a:xfrm>
            <a:off x="3927475" y="3500438"/>
            <a:ext cx="63500" cy="61912"/>
          </a:xfrm>
          <a:custGeom>
            <a:avLst/>
            <a:gdLst>
              <a:gd name="T0" fmla="*/ 0 w 79"/>
              <a:gd name="T1" fmla="*/ 2147483646 h 78"/>
              <a:gd name="T2" fmla="*/ 2147483646 w 79"/>
              <a:gd name="T3" fmla="*/ 2147483646 h 78"/>
              <a:gd name="T4" fmla="*/ 2147483646 w 79"/>
              <a:gd name="T5" fmla="*/ 2147483646 h 78"/>
              <a:gd name="T6" fmla="*/ 2147483646 w 79"/>
              <a:gd name="T7" fmla="*/ 2147483646 h 78"/>
              <a:gd name="T8" fmla="*/ 2147483646 w 79"/>
              <a:gd name="T9" fmla="*/ 2147483646 h 78"/>
              <a:gd name="T10" fmla="*/ 2147483646 w 79"/>
              <a:gd name="T11" fmla="*/ 0 h 78"/>
              <a:gd name="T12" fmla="*/ 2147483646 w 79"/>
              <a:gd name="T13" fmla="*/ 2147483646 h 78"/>
              <a:gd name="T14" fmla="*/ 2147483646 w 79"/>
              <a:gd name="T15" fmla="*/ 2147483646 h 78"/>
              <a:gd name="T16" fmla="*/ 2147483646 w 79"/>
              <a:gd name="T17" fmla="*/ 2147483646 h 78"/>
              <a:gd name="T18" fmla="*/ 2147483646 w 79"/>
              <a:gd name="T19" fmla="*/ 2147483646 h 78"/>
              <a:gd name="T20" fmla="*/ 2147483646 w 79"/>
              <a:gd name="T21" fmla="*/ 2147483646 h 78"/>
              <a:gd name="T22" fmla="*/ 2147483646 w 79"/>
              <a:gd name="T23" fmla="*/ 2147483646 h 78"/>
              <a:gd name="T24" fmla="*/ 2147483646 w 79"/>
              <a:gd name="T25" fmla="*/ 2147483646 h 78"/>
              <a:gd name="T26" fmla="*/ 2147483646 w 79"/>
              <a:gd name="T27" fmla="*/ 2147483646 h 78"/>
              <a:gd name="T28" fmla="*/ 2147483646 w 79"/>
              <a:gd name="T29" fmla="*/ 2147483646 h 78"/>
              <a:gd name="T30" fmla="*/ 2147483646 w 79"/>
              <a:gd name="T31" fmla="*/ 2147483646 h 78"/>
              <a:gd name="T32" fmla="*/ 2147483646 w 79"/>
              <a:gd name="T33" fmla="*/ 2147483646 h 78"/>
              <a:gd name="T34" fmla="*/ 2147483646 w 79"/>
              <a:gd name="T35" fmla="*/ 2147483646 h 78"/>
              <a:gd name="T36" fmla="*/ 2147483646 w 79"/>
              <a:gd name="T37" fmla="*/ 2147483646 h 78"/>
              <a:gd name="T38" fmla="*/ 2147483646 w 79"/>
              <a:gd name="T39" fmla="*/ 2147483646 h 78"/>
              <a:gd name="T40" fmla="*/ 0 w 79"/>
              <a:gd name="T41" fmla="*/ 2147483646 h 7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8">
                <a:moveTo>
                  <a:pt x="0" y="39"/>
                </a:moveTo>
                <a:lnTo>
                  <a:pt x="2" y="27"/>
                </a:lnTo>
                <a:lnTo>
                  <a:pt x="8" y="16"/>
                </a:lnTo>
                <a:lnTo>
                  <a:pt x="17" y="7"/>
                </a:lnTo>
                <a:lnTo>
                  <a:pt x="28" y="2"/>
                </a:lnTo>
                <a:lnTo>
                  <a:pt x="40" y="0"/>
                </a:lnTo>
                <a:lnTo>
                  <a:pt x="52" y="2"/>
                </a:lnTo>
                <a:lnTo>
                  <a:pt x="63" y="7"/>
                </a:lnTo>
                <a:lnTo>
                  <a:pt x="72" y="16"/>
                </a:lnTo>
                <a:lnTo>
                  <a:pt x="77" y="27"/>
                </a:lnTo>
                <a:lnTo>
                  <a:pt x="79" y="39"/>
                </a:lnTo>
                <a:lnTo>
                  <a:pt x="77" y="51"/>
                </a:lnTo>
                <a:lnTo>
                  <a:pt x="72" y="62"/>
                </a:lnTo>
                <a:lnTo>
                  <a:pt x="63" y="71"/>
                </a:lnTo>
                <a:lnTo>
                  <a:pt x="52" y="76"/>
                </a:lnTo>
                <a:lnTo>
                  <a:pt x="40" y="78"/>
                </a:lnTo>
                <a:lnTo>
                  <a:pt x="28" y="76"/>
                </a:lnTo>
                <a:lnTo>
                  <a:pt x="17" y="71"/>
                </a:lnTo>
                <a:lnTo>
                  <a:pt x="8" y="62"/>
                </a:lnTo>
                <a:lnTo>
                  <a:pt x="2" y="51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7" name="Freeform 605">
            <a:extLst>
              <a:ext uri="{FF2B5EF4-FFF2-40B4-BE49-F238E27FC236}">
                <a16:creationId xmlns:a16="http://schemas.microsoft.com/office/drawing/2014/main" id="{E6498C53-08B0-8CB2-708C-3A25A97FD499}"/>
              </a:ext>
            </a:extLst>
          </p:cNvPr>
          <p:cNvSpPr>
            <a:spLocks/>
          </p:cNvSpPr>
          <p:nvPr/>
        </p:nvSpPr>
        <p:spPr bwMode="auto">
          <a:xfrm>
            <a:off x="3927475" y="5002213"/>
            <a:ext cx="63500" cy="61912"/>
          </a:xfrm>
          <a:custGeom>
            <a:avLst/>
            <a:gdLst>
              <a:gd name="T0" fmla="*/ 0 w 79"/>
              <a:gd name="T1" fmla="*/ 2147483646 h 79"/>
              <a:gd name="T2" fmla="*/ 2147483646 w 79"/>
              <a:gd name="T3" fmla="*/ 2147483646 h 79"/>
              <a:gd name="T4" fmla="*/ 2147483646 w 79"/>
              <a:gd name="T5" fmla="*/ 2147483646 h 79"/>
              <a:gd name="T6" fmla="*/ 2147483646 w 79"/>
              <a:gd name="T7" fmla="*/ 2147483646 h 79"/>
              <a:gd name="T8" fmla="*/ 2147483646 w 79"/>
              <a:gd name="T9" fmla="*/ 2147483646 h 79"/>
              <a:gd name="T10" fmla="*/ 2147483646 w 79"/>
              <a:gd name="T11" fmla="*/ 0 h 79"/>
              <a:gd name="T12" fmla="*/ 2147483646 w 79"/>
              <a:gd name="T13" fmla="*/ 2147483646 h 79"/>
              <a:gd name="T14" fmla="*/ 2147483646 w 79"/>
              <a:gd name="T15" fmla="*/ 2147483646 h 79"/>
              <a:gd name="T16" fmla="*/ 2147483646 w 79"/>
              <a:gd name="T17" fmla="*/ 2147483646 h 79"/>
              <a:gd name="T18" fmla="*/ 2147483646 w 79"/>
              <a:gd name="T19" fmla="*/ 2147483646 h 79"/>
              <a:gd name="T20" fmla="*/ 2147483646 w 79"/>
              <a:gd name="T21" fmla="*/ 2147483646 h 79"/>
              <a:gd name="T22" fmla="*/ 2147483646 w 79"/>
              <a:gd name="T23" fmla="*/ 2147483646 h 79"/>
              <a:gd name="T24" fmla="*/ 2147483646 w 79"/>
              <a:gd name="T25" fmla="*/ 2147483646 h 79"/>
              <a:gd name="T26" fmla="*/ 2147483646 w 79"/>
              <a:gd name="T27" fmla="*/ 2147483646 h 79"/>
              <a:gd name="T28" fmla="*/ 2147483646 w 79"/>
              <a:gd name="T29" fmla="*/ 2147483646 h 79"/>
              <a:gd name="T30" fmla="*/ 2147483646 w 79"/>
              <a:gd name="T31" fmla="*/ 2147483646 h 79"/>
              <a:gd name="T32" fmla="*/ 2147483646 w 79"/>
              <a:gd name="T33" fmla="*/ 2147483646 h 79"/>
              <a:gd name="T34" fmla="*/ 2147483646 w 79"/>
              <a:gd name="T35" fmla="*/ 2147483646 h 79"/>
              <a:gd name="T36" fmla="*/ 2147483646 w 79"/>
              <a:gd name="T37" fmla="*/ 2147483646 h 79"/>
              <a:gd name="T38" fmla="*/ 2147483646 w 79"/>
              <a:gd name="T39" fmla="*/ 2147483646 h 79"/>
              <a:gd name="T40" fmla="*/ 0 w 79"/>
              <a:gd name="T41" fmla="*/ 2147483646 h 7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79" h="79">
                <a:moveTo>
                  <a:pt x="0" y="39"/>
                </a:moveTo>
                <a:lnTo>
                  <a:pt x="2" y="26"/>
                </a:lnTo>
                <a:lnTo>
                  <a:pt x="8" y="16"/>
                </a:lnTo>
                <a:lnTo>
                  <a:pt x="17" y="7"/>
                </a:lnTo>
                <a:lnTo>
                  <a:pt x="28" y="1"/>
                </a:lnTo>
                <a:lnTo>
                  <a:pt x="40" y="0"/>
                </a:lnTo>
                <a:lnTo>
                  <a:pt x="52" y="1"/>
                </a:lnTo>
                <a:lnTo>
                  <a:pt x="63" y="7"/>
                </a:lnTo>
                <a:lnTo>
                  <a:pt x="72" y="16"/>
                </a:lnTo>
                <a:lnTo>
                  <a:pt x="77" y="26"/>
                </a:lnTo>
                <a:lnTo>
                  <a:pt x="79" y="39"/>
                </a:lnTo>
                <a:lnTo>
                  <a:pt x="77" y="52"/>
                </a:lnTo>
                <a:lnTo>
                  <a:pt x="72" y="62"/>
                </a:lnTo>
                <a:lnTo>
                  <a:pt x="63" y="70"/>
                </a:lnTo>
                <a:lnTo>
                  <a:pt x="52" y="77"/>
                </a:lnTo>
                <a:lnTo>
                  <a:pt x="40" y="79"/>
                </a:lnTo>
                <a:lnTo>
                  <a:pt x="28" y="77"/>
                </a:lnTo>
                <a:lnTo>
                  <a:pt x="17" y="70"/>
                </a:lnTo>
                <a:lnTo>
                  <a:pt x="8" y="62"/>
                </a:lnTo>
                <a:lnTo>
                  <a:pt x="2" y="52"/>
                </a:lnTo>
                <a:lnTo>
                  <a:pt x="0" y="39"/>
                </a:lnTo>
                <a:close/>
              </a:path>
            </a:pathLst>
          </a:custGeom>
          <a:solidFill>
            <a:srgbClr val="000000"/>
          </a:solidFill>
          <a:ln w="381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8" name="Rectangle 606">
            <a:extLst>
              <a:ext uri="{FF2B5EF4-FFF2-40B4-BE49-F238E27FC236}">
                <a16:creationId xmlns:a16="http://schemas.microsoft.com/office/drawing/2014/main" id="{0690C694-0777-286B-BD66-2090610D0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25" y="3365500"/>
            <a:ext cx="857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en-US" altLang="en-US" sz="2400"/>
          </a:p>
        </p:txBody>
      </p:sp>
      <p:sp>
        <p:nvSpPr>
          <p:cNvPr id="15389" name="Rectangle 607">
            <a:extLst>
              <a:ext uri="{FF2B5EF4-FFF2-40B4-BE49-F238E27FC236}">
                <a16:creationId xmlns:a16="http://schemas.microsoft.com/office/drawing/2014/main" id="{1D083C2A-C3CC-CEF7-6000-C656F4401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988" y="3425825"/>
            <a:ext cx="68262" cy="10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2400"/>
          </a:p>
        </p:txBody>
      </p:sp>
      <p:sp>
        <p:nvSpPr>
          <p:cNvPr id="15390" name="Rectangle 608">
            <a:extLst>
              <a:ext uri="{FF2B5EF4-FFF2-40B4-BE49-F238E27FC236}">
                <a16:creationId xmlns:a16="http://schemas.microsoft.com/office/drawing/2014/main" id="{BF70BE46-B608-E4EB-28DD-4CF26ACB5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350" y="3365500"/>
            <a:ext cx="857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en-US" altLang="en-US" sz="2400"/>
          </a:p>
        </p:txBody>
      </p:sp>
      <p:sp>
        <p:nvSpPr>
          <p:cNvPr id="15391" name="Rectangle 609">
            <a:extLst>
              <a:ext uri="{FF2B5EF4-FFF2-40B4-BE49-F238E27FC236}">
                <a16:creationId xmlns:a16="http://schemas.microsoft.com/office/drawing/2014/main" id="{F9644908-2CF7-A8FB-D67E-FBAC79E1E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25825"/>
            <a:ext cx="68263" cy="10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2400"/>
          </a:p>
        </p:txBody>
      </p:sp>
      <p:sp>
        <p:nvSpPr>
          <p:cNvPr id="15392" name="Rectangle 610">
            <a:extLst>
              <a:ext uri="{FF2B5EF4-FFF2-40B4-BE49-F238E27FC236}">
                <a16:creationId xmlns:a16="http://schemas.microsoft.com/office/drawing/2014/main" id="{0E137726-0D05-B9CA-45D1-59A9C6E4F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3365500"/>
            <a:ext cx="857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en-US" altLang="en-US" sz="2400"/>
          </a:p>
        </p:txBody>
      </p:sp>
      <p:sp>
        <p:nvSpPr>
          <p:cNvPr id="15393" name="Rectangle 611">
            <a:extLst>
              <a:ext uri="{FF2B5EF4-FFF2-40B4-BE49-F238E27FC236}">
                <a16:creationId xmlns:a16="http://schemas.microsoft.com/office/drawing/2014/main" id="{91796F58-4F2F-DE52-22C1-318F3E12D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0" y="3425825"/>
            <a:ext cx="68263" cy="10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2400"/>
          </a:p>
        </p:txBody>
      </p:sp>
      <p:sp>
        <p:nvSpPr>
          <p:cNvPr id="15394" name="Rectangle 612">
            <a:extLst>
              <a:ext uri="{FF2B5EF4-FFF2-40B4-BE49-F238E27FC236}">
                <a16:creationId xmlns:a16="http://schemas.microsoft.com/office/drawing/2014/main" id="{BC26F784-7234-B8BD-BAA7-F3C6127C7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3365500"/>
            <a:ext cx="857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en-US" altLang="en-US" sz="2400"/>
          </a:p>
        </p:txBody>
      </p:sp>
      <p:sp>
        <p:nvSpPr>
          <p:cNvPr id="15395" name="Rectangle 613">
            <a:extLst>
              <a:ext uri="{FF2B5EF4-FFF2-40B4-BE49-F238E27FC236}">
                <a16:creationId xmlns:a16="http://schemas.microsoft.com/office/drawing/2014/main" id="{A28775E6-2A4F-5FA5-B638-3BF6D69E0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3425825"/>
            <a:ext cx="68262" cy="10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2400"/>
          </a:p>
        </p:txBody>
      </p:sp>
      <p:sp>
        <p:nvSpPr>
          <p:cNvPr id="15396" name="Line 614">
            <a:extLst>
              <a:ext uri="{FF2B5EF4-FFF2-40B4-BE49-F238E27FC236}">
                <a16:creationId xmlns:a16="http://schemas.microsoft.com/office/drawing/2014/main" id="{4336A220-6B3F-ED1A-5504-60C62FE12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875" y="3400425"/>
            <a:ext cx="46038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7" name="Rectangle 615">
            <a:extLst>
              <a:ext uri="{FF2B5EF4-FFF2-40B4-BE49-F238E27FC236}">
                <a16:creationId xmlns:a16="http://schemas.microsoft.com/office/drawing/2014/main" id="{E4264897-DCB3-66C2-F2EA-3A8F01DDB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0" y="3365500"/>
            <a:ext cx="857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en-US" altLang="en-US" sz="2400"/>
          </a:p>
        </p:txBody>
      </p:sp>
      <p:sp>
        <p:nvSpPr>
          <p:cNvPr id="15398" name="Rectangle 616">
            <a:extLst>
              <a:ext uri="{FF2B5EF4-FFF2-40B4-BE49-F238E27FC236}">
                <a16:creationId xmlns:a16="http://schemas.microsoft.com/office/drawing/2014/main" id="{749F542B-E854-3014-23E9-F0DD229B8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3425825"/>
            <a:ext cx="68262" cy="10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2400"/>
          </a:p>
        </p:txBody>
      </p:sp>
      <p:sp>
        <p:nvSpPr>
          <p:cNvPr id="15399" name="Line 617">
            <a:extLst>
              <a:ext uri="{FF2B5EF4-FFF2-40B4-BE49-F238E27FC236}">
                <a16:creationId xmlns:a16="http://schemas.microsoft.com/office/drawing/2014/main" id="{65F6685E-F24B-FB1A-E7B0-B03BF3AEE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6488" y="3400425"/>
            <a:ext cx="47625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0" name="Rectangle 618">
            <a:extLst>
              <a:ext uri="{FF2B5EF4-FFF2-40B4-BE49-F238E27FC236}">
                <a16:creationId xmlns:a16="http://schemas.microsoft.com/office/drawing/2014/main" id="{744B3C9F-FA1C-D1CE-B82E-53DD98F52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3365500"/>
            <a:ext cx="857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en-US" altLang="en-US" sz="2400"/>
          </a:p>
        </p:txBody>
      </p:sp>
      <p:sp>
        <p:nvSpPr>
          <p:cNvPr id="15401" name="Rectangle 619">
            <a:extLst>
              <a:ext uri="{FF2B5EF4-FFF2-40B4-BE49-F238E27FC236}">
                <a16:creationId xmlns:a16="http://schemas.microsoft.com/office/drawing/2014/main" id="{83695142-B671-5CF8-D9A6-4C530FF9E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3425825"/>
            <a:ext cx="68262" cy="10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2400"/>
          </a:p>
        </p:txBody>
      </p:sp>
      <p:sp>
        <p:nvSpPr>
          <p:cNvPr id="15402" name="Line 620">
            <a:extLst>
              <a:ext uri="{FF2B5EF4-FFF2-40B4-BE49-F238E27FC236}">
                <a16:creationId xmlns:a16="http://schemas.microsoft.com/office/drawing/2014/main" id="{B4ECBE2C-A290-AB51-F836-EB6C069E8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3188" y="3400425"/>
            <a:ext cx="47625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3" name="Rectangle 621">
            <a:extLst>
              <a:ext uri="{FF2B5EF4-FFF2-40B4-BE49-F238E27FC236}">
                <a16:creationId xmlns:a16="http://schemas.microsoft.com/office/drawing/2014/main" id="{2D057688-5921-A485-86EA-9D2B52990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900" y="3365500"/>
            <a:ext cx="857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en-US" altLang="en-US" sz="2400"/>
          </a:p>
        </p:txBody>
      </p:sp>
      <p:sp>
        <p:nvSpPr>
          <p:cNvPr id="15404" name="Rectangle 622">
            <a:extLst>
              <a:ext uri="{FF2B5EF4-FFF2-40B4-BE49-F238E27FC236}">
                <a16:creationId xmlns:a16="http://schemas.microsoft.com/office/drawing/2014/main" id="{4554A7D0-F05D-EB53-D3C9-80B07904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350" y="3425825"/>
            <a:ext cx="68263" cy="10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2400"/>
          </a:p>
        </p:txBody>
      </p:sp>
      <p:sp>
        <p:nvSpPr>
          <p:cNvPr id="15405" name="Line 623">
            <a:extLst>
              <a:ext uri="{FF2B5EF4-FFF2-40B4-BE49-F238E27FC236}">
                <a16:creationId xmlns:a16="http://schemas.microsoft.com/office/drawing/2014/main" id="{9257107F-9CC2-1D50-952E-832AE478E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9725" y="3400425"/>
            <a:ext cx="47625" cy="1588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6" name="Rectangle 624">
            <a:extLst>
              <a:ext uri="{FF2B5EF4-FFF2-40B4-BE49-F238E27FC236}">
                <a16:creationId xmlns:a16="http://schemas.microsoft.com/office/drawing/2014/main" id="{01D56768-C8F2-76D0-E5AC-899AC1607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7850" y="3365500"/>
            <a:ext cx="857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en-US" altLang="en-US" sz="2400"/>
          </a:p>
        </p:txBody>
      </p:sp>
      <p:sp>
        <p:nvSpPr>
          <p:cNvPr id="15407" name="Rectangle 625">
            <a:extLst>
              <a:ext uri="{FF2B5EF4-FFF2-40B4-BE49-F238E27FC236}">
                <a16:creationId xmlns:a16="http://schemas.microsoft.com/office/drawing/2014/main" id="{3086AACF-F9CA-51B7-96A1-DBEA19F73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3425825"/>
            <a:ext cx="68263" cy="10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2400"/>
          </a:p>
        </p:txBody>
      </p:sp>
      <p:sp>
        <p:nvSpPr>
          <p:cNvPr id="15408" name="Rectangle 626">
            <a:extLst>
              <a:ext uri="{FF2B5EF4-FFF2-40B4-BE49-F238E27FC236}">
                <a16:creationId xmlns:a16="http://schemas.microsoft.com/office/drawing/2014/main" id="{7238525D-7289-BA5B-41FD-BB82CF457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5083175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 New Roman" panose="02020603050405020304" pitchFamily="18" charset="0"/>
              </a:rPr>
              <a:t>11</a:t>
            </a:r>
            <a:endParaRPr lang="en-US" altLang="en-US" sz="2400"/>
          </a:p>
        </p:txBody>
      </p:sp>
      <p:sp>
        <p:nvSpPr>
          <p:cNvPr id="15409" name="Rectangle 627">
            <a:extLst>
              <a:ext uri="{FF2B5EF4-FFF2-40B4-BE49-F238E27FC236}">
                <a16:creationId xmlns:a16="http://schemas.microsoft.com/office/drawing/2014/main" id="{5F81222B-8115-5026-8B48-F652F7B72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0" y="4005263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endParaRPr lang="en-US" altLang="en-US" sz="2400"/>
          </a:p>
        </p:txBody>
      </p:sp>
      <p:sp>
        <p:nvSpPr>
          <p:cNvPr id="15410" name="Rectangle 628">
            <a:extLst>
              <a:ext uri="{FF2B5EF4-FFF2-40B4-BE49-F238E27FC236}">
                <a16:creationId xmlns:a16="http://schemas.microsoft.com/office/drawing/2014/main" id="{093383DA-2CBE-B095-0825-4E7047B62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138" y="5083175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 New Roman" panose="02020603050405020304" pitchFamily="18" charset="0"/>
              </a:rPr>
              <a:t>13</a:t>
            </a:r>
            <a:endParaRPr lang="en-US" altLang="en-US" sz="2400"/>
          </a:p>
        </p:txBody>
      </p:sp>
      <p:sp>
        <p:nvSpPr>
          <p:cNvPr id="15411" name="Rectangle 629">
            <a:extLst>
              <a:ext uri="{FF2B5EF4-FFF2-40B4-BE49-F238E27FC236}">
                <a16:creationId xmlns:a16="http://schemas.microsoft.com/office/drawing/2014/main" id="{93C23C29-3845-30AC-83FF-CDD647BFE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4138" y="5083175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 New Roman" panose="02020603050405020304" pitchFamily="18" charset="0"/>
              </a:rPr>
              <a:t>21</a:t>
            </a:r>
            <a:endParaRPr lang="en-US" altLang="en-US" sz="2400"/>
          </a:p>
        </p:txBody>
      </p:sp>
      <p:sp>
        <p:nvSpPr>
          <p:cNvPr id="15412" name="Rectangle 630">
            <a:extLst>
              <a:ext uri="{FF2B5EF4-FFF2-40B4-BE49-F238E27FC236}">
                <a16:creationId xmlns:a16="http://schemas.microsoft.com/office/drawing/2014/main" id="{F67B6BD5-C6EB-9443-4CEF-FC10616CF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75" y="4005263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 New Roman" panose="02020603050405020304" pitchFamily="18" charset="0"/>
              </a:rPr>
              <a:t>22</a:t>
            </a:r>
            <a:endParaRPr lang="en-US" altLang="en-US" sz="2400"/>
          </a:p>
        </p:txBody>
      </p:sp>
      <p:sp>
        <p:nvSpPr>
          <p:cNvPr id="15413" name="Rectangle 631">
            <a:extLst>
              <a:ext uri="{FF2B5EF4-FFF2-40B4-BE49-F238E27FC236}">
                <a16:creationId xmlns:a16="http://schemas.microsoft.com/office/drawing/2014/main" id="{9CC55CB2-3E97-D617-4E63-D95FB2258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5850" y="5083175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 New Roman" panose="02020603050405020304" pitchFamily="18" charset="0"/>
              </a:rPr>
              <a:t>23</a:t>
            </a:r>
            <a:endParaRPr lang="en-US" altLang="en-US" sz="2400"/>
          </a:p>
        </p:txBody>
      </p:sp>
      <p:sp>
        <p:nvSpPr>
          <p:cNvPr id="15414" name="Rectangle 632">
            <a:extLst>
              <a:ext uri="{FF2B5EF4-FFF2-40B4-BE49-F238E27FC236}">
                <a16:creationId xmlns:a16="http://schemas.microsoft.com/office/drawing/2014/main" id="{E5E05655-04A9-2C1D-BC5B-A059E1CAF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5083175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 New Roman" panose="02020603050405020304" pitchFamily="18" charset="0"/>
              </a:rPr>
              <a:t>31</a:t>
            </a:r>
            <a:endParaRPr lang="en-US" altLang="en-US" sz="2400"/>
          </a:p>
        </p:txBody>
      </p:sp>
      <p:sp>
        <p:nvSpPr>
          <p:cNvPr id="15415" name="Rectangle 633">
            <a:extLst>
              <a:ext uri="{FF2B5EF4-FFF2-40B4-BE49-F238E27FC236}">
                <a16:creationId xmlns:a16="http://schemas.microsoft.com/office/drawing/2014/main" id="{36B3EA14-ED4D-3BFE-E9DC-7A3A9ADF7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6738" y="4005263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 New Roman" panose="02020603050405020304" pitchFamily="18" charset="0"/>
              </a:rPr>
              <a:t>32</a:t>
            </a:r>
            <a:endParaRPr lang="en-US" altLang="en-US" sz="2400"/>
          </a:p>
        </p:txBody>
      </p:sp>
      <p:sp>
        <p:nvSpPr>
          <p:cNvPr id="15416" name="Rectangle 634">
            <a:extLst>
              <a:ext uri="{FF2B5EF4-FFF2-40B4-BE49-F238E27FC236}">
                <a16:creationId xmlns:a16="http://schemas.microsoft.com/office/drawing/2014/main" id="{F086605C-5F3E-A445-5706-53736A063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388" y="5083175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 New Roman" panose="02020603050405020304" pitchFamily="18" charset="0"/>
              </a:rPr>
              <a:t>33</a:t>
            </a:r>
            <a:endParaRPr lang="en-US" altLang="en-US" sz="2400"/>
          </a:p>
        </p:txBody>
      </p:sp>
      <p:sp>
        <p:nvSpPr>
          <p:cNvPr id="15417" name="Line 635">
            <a:extLst>
              <a:ext uri="{FF2B5EF4-FFF2-40B4-BE49-F238E27FC236}">
                <a16:creationId xmlns:a16="http://schemas.microsoft.com/office/drawing/2014/main" id="{8D907BE4-A820-7A70-AAAA-E86FABCCB7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59225" y="3530600"/>
            <a:ext cx="1588" cy="1501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8" name="Line 636">
            <a:extLst>
              <a:ext uri="{FF2B5EF4-FFF2-40B4-BE49-F238E27FC236}">
                <a16:creationId xmlns:a16="http://schemas.microsoft.com/office/drawing/2014/main" id="{D7994BEF-FADA-4F87-2045-1655FC9CC6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60875" y="3530600"/>
            <a:ext cx="500063" cy="6270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9" name="Line 637">
            <a:extLst>
              <a:ext uri="{FF2B5EF4-FFF2-40B4-BE49-F238E27FC236}">
                <a16:creationId xmlns:a16="http://schemas.microsoft.com/office/drawing/2014/main" id="{4FB57025-CD6A-35DC-0D2F-CA737F6176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0938" y="3530600"/>
            <a:ext cx="1033462" cy="1501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0" name="Line 638">
            <a:extLst>
              <a:ext uri="{FF2B5EF4-FFF2-40B4-BE49-F238E27FC236}">
                <a16:creationId xmlns:a16="http://schemas.microsoft.com/office/drawing/2014/main" id="{37D766CB-F276-C937-2BC7-65F5016797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91038" y="3530600"/>
            <a:ext cx="722312" cy="1501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1" name="Line 639">
            <a:extLst>
              <a:ext uri="{FF2B5EF4-FFF2-40B4-BE49-F238E27FC236}">
                <a16:creationId xmlns:a16="http://schemas.microsoft.com/office/drawing/2014/main" id="{BD90B964-95E5-5464-FAEF-85F15F0E701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60938" y="3530600"/>
            <a:ext cx="747712" cy="6270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2" name="Line 640">
            <a:extLst>
              <a:ext uri="{FF2B5EF4-FFF2-40B4-BE49-F238E27FC236}">
                <a16:creationId xmlns:a16="http://schemas.microsoft.com/office/drawing/2014/main" id="{2C16C3C0-ED9C-8A4D-A2BF-4F95FD838A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15063" y="3530600"/>
            <a:ext cx="250825" cy="1501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3" name="Line 641">
            <a:extLst>
              <a:ext uri="{FF2B5EF4-FFF2-40B4-BE49-F238E27FC236}">
                <a16:creationId xmlns:a16="http://schemas.microsoft.com/office/drawing/2014/main" id="{6154103F-D371-23C4-A869-58726FA7F7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30838" y="3530600"/>
            <a:ext cx="1033462" cy="1501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4" name="Line 642">
            <a:extLst>
              <a:ext uri="{FF2B5EF4-FFF2-40B4-BE49-F238E27FC236}">
                <a16:creationId xmlns:a16="http://schemas.microsoft.com/office/drawing/2014/main" id="{74759DB8-B5FB-BA8D-3377-019C210D74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65888" y="3530600"/>
            <a:ext cx="492125" cy="6270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5" name="Line 643">
            <a:extLst>
              <a:ext uri="{FF2B5EF4-FFF2-40B4-BE49-F238E27FC236}">
                <a16:creationId xmlns:a16="http://schemas.microsoft.com/office/drawing/2014/main" id="{745B9763-56F9-D25E-83D4-A65CE18FED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70775" y="3530600"/>
            <a:ext cx="28575" cy="1501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1F40C2A0-33A6-E30B-8A6E-DC77F0A9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844F34-C5B2-43C2-AF01-1D94BC9372B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2A943C5-CD7F-F0A7-4CE1-2479E6473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Outcome</a:t>
            </a:r>
          </a:p>
        </p:txBody>
      </p:sp>
      <p:sp>
        <p:nvSpPr>
          <p:cNvPr id="1741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8F0FF9F-1240-DA75-AA5A-921634A1B3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P and NP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Definition of 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Definition of NP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Alternate definition of NP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NP-completeness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Definition of NP-hard and NP-complete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The Cook-Levin Theorem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6">
            <a:extLst>
              <a:ext uri="{FF2B5EF4-FFF2-40B4-BE49-F238E27FC236}">
                <a16:creationId xmlns:a16="http://schemas.microsoft.com/office/drawing/2014/main" id="{B17851FF-FAF5-067A-2EC2-A49C73600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0A0085-EC84-4DFB-81AF-5223EDD8908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3194449C-ACC6-5323-BF18-D6C514C64C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4000"/>
              <a:t>Running Time Revisited</a:t>
            </a:r>
          </a:p>
        </p:txBody>
      </p:sp>
      <p:sp>
        <p:nvSpPr>
          <p:cNvPr id="1843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D816DAF-F3BC-A50E-5DF9-1A4A63B96E8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04850" y="1371600"/>
            <a:ext cx="8145463" cy="2819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000"/>
              <a:t>Input size, </a:t>
            </a:r>
            <a:r>
              <a:rPr lang="en-US" altLang="en-US" sz="2000" b="1" i="1"/>
              <a:t>n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000"/>
              <a:t>To be exact, let </a:t>
            </a:r>
            <a:r>
              <a:rPr lang="en-US" altLang="en-US" sz="2000" b="1" i="1"/>
              <a:t>n</a:t>
            </a:r>
            <a:r>
              <a:rPr lang="en-US" altLang="en-US" sz="2000"/>
              <a:t> denote the number of </a:t>
            </a:r>
            <a:r>
              <a:rPr lang="en-US" altLang="en-US" sz="2000" b="1">
                <a:solidFill>
                  <a:schemeClr val="tx2"/>
                </a:solidFill>
              </a:rPr>
              <a:t>bits</a:t>
            </a:r>
            <a:r>
              <a:rPr lang="en-US" altLang="en-US" sz="2000"/>
              <a:t> in a nonunary (binary) encoding of the input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A time bound of the form O(</a:t>
            </a:r>
            <a:r>
              <a:rPr lang="en-US" altLang="en-US" sz="2000" b="1"/>
              <a:t>n</a:t>
            </a:r>
            <a:r>
              <a:rPr lang="en-US" altLang="en-US" sz="2000" b="1" baseline="30000"/>
              <a:t>k</a:t>
            </a:r>
            <a:r>
              <a:rPr lang="en-US" altLang="en-US" sz="2000"/>
              <a:t>), for some fixed k, is called </a:t>
            </a:r>
            <a:r>
              <a:rPr lang="en-US" altLang="en-US" sz="2000" u="sng"/>
              <a:t>polynomial time</a:t>
            </a:r>
            <a:r>
              <a:rPr lang="en-US" altLang="en-US" sz="2000"/>
              <a:t>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All the polynomial-time algorithms studied so far in this course run in polynomial time using this definition of input size.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000"/>
              <a:t>Exception: any pseudo-polynomial time algorithm</a:t>
            </a:r>
          </a:p>
        </p:txBody>
      </p:sp>
      <p:grpSp>
        <p:nvGrpSpPr>
          <p:cNvPr id="18437" name="Group 129">
            <a:extLst>
              <a:ext uri="{FF2B5EF4-FFF2-40B4-BE49-F238E27FC236}">
                <a16:creationId xmlns:a16="http://schemas.microsoft.com/office/drawing/2014/main" id="{1C05194A-1DF2-A5F3-843E-9E1C4E61B8E6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419600"/>
            <a:ext cx="6324600" cy="2209800"/>
            <a:chOff x="480" y="2494"/>
            <a:chExt cx="4718" cy="1490"/>
          </a:xfrm>
        </p:grpSpPr>
        <p:sp>
          <p:nvSpPr>
            <p:cNvPr id="18438" name="Oval 12">
              <a:extLst>
                <a:ext uri="{FF2B5EF4-FFF2-40B4-BE49-F238E27FC236}">
                  <a16:creationId xmlns:a16="http://schemas.microsoft.com/office/drawing/2014/main" id="{5DDBF1A5-B400-3F4F-E520-0E846CDAA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592"/>
              <a:ext cx="590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ORD</a:t>
              </a:r>
            </a:p>
          </p:txBody>
        </p:sp>
        <p:sp>
          <p:nvSpPr>
            <p:cNvPr id="18439" name="Oval 99">
              <a:extLst>
                <a:ext uri="{FF2B5EF4-FFF2-40B4-BE49-F238E27FC236}">
                  <a16:creationId xmlns:a16="http://schemas.microsoft.com/office/drawing/2014/main" id="{B35C041F-4985-FCA0-9CB1-A84CF607A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494"/>
              <a:ext cx="590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PVD</a:t>
              </a:r>
            </a:p>
          </p:txBody>
        </p:sp>
        <p:sp>
          <p:nvSpPr>
            <p:cNvPr id="18440" name="Oval 100">
              <a:extLst>
                <a:ext uri="{FF2B5EF4-FFF2-40B4-BE49-F238E27FC236}">
                  <a16:creationId xmlns:a16="http://schemas.microsoft.com/office/drawing/2014/main" id="{83F3EDD9-E427-F5BB-76E6-D20B03A29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" y="3696"/>
              <a:ext cx="590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MIA</a:t>
              </a:r>
            </a:p>
          </p:txBody>
        </p:sp>
        <p:sp>
          <p:nvSpPr>
            <p:cNvPr id="18441" name="Oval 101">
              <a:extLst>
                <a:ext uri="{FF2B5EF4-FFF2-40B4-BE49-F238E27FC236}">
                  <a16:creationId xmlns:a16="http://schemas.microsoft.com/office/drawing/2014/main" id="{D87DE5F7-89DD-3691-9FAD-816B8A9D2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3546"/>
              <a:ext cx="590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DFW</a:t>
              </a:r>
            </a:p>
          </p:txBody>
        </p:sp>
        <p:sp>
          <p:nvSpPr>
            <p:cNvPr id="18442" name="Oval 102">
              <a:extLst>
                <a:ext uri="{FF2B5EF4-FFF2-40B4-BE49-F238E27FC236}">
                  <a16:creationId xmlns:a16="http://schemas.microsoft.com/office/drawing/2014/main" id="{92807840-E0EC-8D92-27E2-C03EB5905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736"/>
              <a:ext cx="590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SFO</a:t>
              </a:r>
            </a:p>
          </p:txBody>
        </p:sp>
        <p:sp>
          <p:nvSpPr>
            <p:cNvPr id="18443" name="Oval 103">
              <a:extLst>
                <a:ext uri="{FF2B5EF4-FFF2-40B4-BE49-F238E27FC236}">
                  <a16:creationId xmlns:a16="http://schemas.microsoft.com/office/drawing/2014/main" id="{A95BE7EC-8D62-AE3F-4139-33D57DD5B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456"/>
              <a:ext cx="590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LAX</a:t>
              </a:r>
            </a:p>
          </p:txBody>
        </p:sp>
        <p:sp>
          <p:nvSpPr>
            <p:cNvPr id="18444" name="Oval 104">
              <a:extLst>
                <a:ext uri="{FF2B5EF4-FFF2-40B4-BE49-F238E27FC236}">
                  <a16:creationId xmlns:a16="http://schemas.microsoft.com/office/drawing/2014/main" id="{E52EEC59-5B55-7E85-A46A-6343A79AE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" y="2976"/>
              <a:ext cx="590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LGA</a:t>
              </a:r>
            </a:p>
          </p:txBody>
        </p:sp>
        <p:sp>
          <p:nvSpPr>
            <p:cNvPr id="18445" name="Oval 105">
              <a:extLst>
                <a:ext uri="{FF2B5EF4-FFF2-40B4-BE49-F238E27FC236}">
                  <a16:creationId xmlns:a16="http://schemas.microsoft.com/office/drawing/2014/main" id="{0463C7D9-FDB0-C97F-AEF2-1842EF3F5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312"/>
              <a:ext cx="590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HNL</a:t>
              </a:r>
            </a:p>
          </p:txBody>
        </p:sp>
        <p:cxnSp>
          <p:nvCxnSpPr>
            <p:cNvPr id="18446" name="AutoShape 106">
              <a:extLst>
                <a:ext uri="{FF2B5EF4-FFF2-40B4-BE49-F238E27FC236}">
                  <a16:creationId xmlns:a16="http://schemas.microsoft.com/office/drawing/2014/main" id="{FA7CFF15-887F-22BC-E281-3902EE5DE963}"/>
                </a:ext>
              </a:extLst>
            </p:cNvPr>
            <p:cNvCxnSpPr>
              <a:cxnSpLocks noChangeShapeType="1"/>
              <a:stCxn id="18442" idx="6"/>
              <a:endCxn id="18438" idx="2"/>
            </p:cNvCxnSpPr>
            <p:nvPr/>
          </p:nvCxnSpPr>
          <p:spPr bwMode="auto">
            <a:xfrm flipV="1">
              <a:off x="2228" y="2736"/>
              <a:ext cx="790" cy="14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47" name="AutoShape 107">
              <a:extLst>
                <a:ext uri="{FF2B5EF4-FFF2-40B4-BE49-F238E27FC236}">
                  <a16:creationId xmlns:a16="http://schemas.microsoft.com/office/drawing/2014/main" id="{3E970621-E84C-5D5E-99F5-713DE642B82E}"/>
                </a:ext>
              </a:extLst>
            </p:cNvPr>
            <p:cNvCxnSpPr>
              <a:cxnSpLocks noChangeShapeType="1"/>
              <a:stCxn id="18441" idx="0"/>
              <a:endCxn id="18438" idx="4"/>
            </p:cNvCxnSpPr>
            <p:nvPr/>
          </p:nvCxnSpPr>
          <p:spPr bwMode="auto">
            <a:xfrm flipV="1">
              <a:off x="3137" y="2886"/>
              <a:ext cx="182" cy="6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48" name="AutoShape 108">
              <a:extLst>
                <a:ext uri="{FF2B5EF4-FFF2-40B4-BE49-F238E27FC236}">
                  <a16:creationId xmlns:a16="http://schemas.microsoft.com/office/drawing/2014/main" id="{BF013F3F-0CAC-A6BB-B099-553820498016}"/>
                </a:ext>
              </a:extLst>
            </p:cNvPr>
            <p:cNvCxnSpPr>
              <a:cxnSpLocks noChangeShapeType="1"/>
              <a:stCxn id="18441" idx="7"/>
              <a:endCxn id="18444" idx="3"/>
            </p:cNvCxnSpPr>
            <p:nvPr/>
          </p:nvCxnSpPr>
          <p:spPr bwMode="auto">
            <a:xfrm flipV="1">
              <a:off x="3346" y="3228"/>
              <a:ext cx="758" cy="3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49" name="AutoShape 109">
              <a:extLst>
                <a:ext uri="{FF2B5EF4-FFF2-40B4-BE49-F238E27FC236}">
                  <a16:creationId xmlns:a16="http://schemas.microsoft.com/office/drawing/2014/main" id="{B58A98FB-9B79-A272-65DB-D2492C724C54}"/>
                </a:ext>
              </a:extLst>
            </p:cNvPr>
            <p:cNvCxnSpPr>
              <a:cxnSpLocks noChangeShapeType="1"/>
              <a:stCxn id="18444" idx="0"/>
              <a:endCxn id="18439" idx="3"/>
            </p:cNvCxnSpPr>
            <p:nvPr/>
          </p:nvCxnSpPr>
          <p:spPr bwMode="auto">
            <a:xfrm flipV="1">
              <a:off x="4313" y="2746"/>
              <a:ext cx="381" cy="22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50" name="AutoShape 110">
              <a:extLst>
                <a:ext uri="{FF2B5EF4-FFF2-40B4-BE49-F238E27FC236}">
                  <a16:creationId xmlns:a16="http://schemas.microsoft.com/office/drawing/2014/main" id="{7A843AAF-F670-6E14-A0CE-88B5E65AA979}"/>
                </a:ext>
              </a:extLst>
            </p:cNvPr>
            <p:cNvCxnSpPr>
              <a:cxnSpLocks noChangeShapeType="1"/>
              <a:stCxn id="18438" idx="6"/>
              <a:endCxn id="18439" idx="2"/>
            </p:cNvCxnSpPr>
            <p:nvPr/>
          </p:nvCxnSpPr>
          <p:spPr bwMode="auto">
            <a:xfrm flipV="1">
              <a:off x="3620" y="2638"/>
              <a:ext cx="982" cy="9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51" name="AutoShape 111">
              <a:extLst>
                <a:ext uri="{FF2B5EF4-FFF2-40B4-BE49-F238E27FC236}">
                  <a16:creationId xmlns:a16="http://schemas.microsoft.com/office/drawing/2014/main" id="{47280A40-5485-8340-0DE0-6723F19505AE}"/>
                </a:ext>
              </a:extLst>
            </p:cNvPr>
            <p:cNvCxnSpPr>
              <a:cxnSpLocks noChangeShapeType="1"/>
              <a:stCxn id="18445" idx="6"/>
              <a:endCxn id="18443" idx="2"/>
            </p:cNvCxnSpPr>
            <p:nvPr/>
          </p:nvCxnSpPr>
          <p:spPr bwMode="auto">
            <a:xfrm>
              <a:off x="1076" y="3456"/>
              <a:ext cx="646" cy="14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52" name="AutoShape 112">
              <a:extLst>
                <a:ext uri="{FF2B5EF4-FFF2-40B4-BE49-F238E27FC236}">
                  <a16:creationId xmlns:a16="http://schemas.microsoft.com/office/drawing/2014/main" id="{58700BA0-2511-E60A-D108-518AE9B88B1B}"/>
                </a:ext>
              </a:extLst>
            </p:cNvPr>
            <p:cNvCxnSpPr>
              <a:cxnSpLocks noChangeShapeType="1"/>
              <a:stCxn id="18442" idx="4"/>
              <a:endCxn id="18443" idx="0"/>
            </p:cNvCxnSpPr>
            <p:nvPr/>
          </p:nvCxnSpPr>
          <p:spPr bwMode="auto">
            <a:xfrm>
              <a:off x="1927" y="3030"/>
              <a:ext cx="96" cy="42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53" name="AutoShape 113">
              <a:extLst>
                <a:ext uri="{FF2B5EF4-FFF2-40B4-BE49-F238E27FC236}">
                  <a16:creationId xmlns:a16="http://schemas.microsoft.com/office/drawing/2014/main" id="{5F000CA2-7907-C928-D3A9-633D8D506289}"/>
                </a:ext>
              </a:extLst>
            </p:cNvPr>
            <p:cNvCxnSpPr>
              <a:cxnSpLocks noChangeShapeType="1"/>
              <a:stCxn id="18444" idx="4"/>
              <a:endCxn id="18440" idx="0"/>
            </p:cNvCxnSpPr>
            <p:nvPr/>
          </p:nvCxnSpPr>
          <p:spPr bwMode="auto">
            <a:xfrm>
              <a:off x="4313" y="3270"/>
              <a:ext cx="432" cy="42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54" name="AutoShape 114">
              <a:extLst>
                <a:ext uri="{FF2B5EF4-FFF2-40B4-BE49-F238E27FC236}">
                  <a16:creationId xmlns:a16="http://schemas.microsoft.com/office/drawing/2014/main" id="{F378878D-191A-9A83-B8ED-F3AA8D258832}"/>
                </a:ext>
              </a:extLst>
            </p:cNvPr>
            <p:cNvCxnSpPr>
              <a:cxnSpLocks noChangeShapeType="1"/>
              <a:endCxn id="18441" idx="6"/>
            </p:cNvCxnSpPr>
            <p:nvPr/>
          </p:nvCxnSpPr>
          <p:spPr bwMode="auto">
            <a:xfrm flipH="1" flipV="1">
              <a:off x="3438" y="3690"/>
              <a:ext cx="1006" cy="1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55" name="AutoShape 115">
              <a:extLst>
                <a:ext uri="{FF2B5EF4-FFF2-40B4-BE49-F238E27FC236}">
                  <a16:creationId xmlns:a16="http://schemas.microsoft.com/office/drawing/2014/main" id="{4309EF5C-045C-98DA-68AF-DA2473C61147}"/>
                </a:ext>
              </a:extLst>
            </p:cNvPr>
            <p:cNvCxnSpPr>
              <a:cxnSpLocks noChangeShapeType="1"/>
              <a:stCxn id="18443" idx="6"/>
              <a:endCxn id="18441" idx="2"/>
            </p:cNvCxnSpPr>
            <p:nvPr/>
          </p:nvCxnSpPr>
          <p:spPr bwMode="auto">
            <a:xfrm>
              <a:off x="2324" y="3600"/>
              <a:ext cx="512" cy="9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56" name="AutoShape 116">
              <a:extLst>
                <a:ext uri="{FF2B5EF4-FFF2-40B4-BE49-F238E27FC236}">
                  <a16:creationId xmlns:a16="http://schemas.microsoft.com/office/drawing/2014/main" id="{49D30251-5179-BE8C-2069-62DD3332E262}"/>
                </a:ext>
              </a:extLst>
            </p:cNvPr>
            <p:cNvCxnSpPr>
              <a:cxnSpLocks noChangeShapeType="1"/>
              <a:stCxn id="18443" idx="7"/>
              <a:endCxn id="18438" idx="3"/>
            </p:cNvCxnSpPr>
            <p:nvPr/>
          </p:nvCxnSpPr>
          <p:spPr bwMode="auto">
            <a:xfrm flipV="1">
              <a:off x="2232" y="2844"/>
              <a:ext cx="878" cy="64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457" name="Text Box 118">
              <a:extLst>
                <a:ext uri="{FF2B5EF4-FFF2-40B4-BE49-F238E27FC236}">
                  <a16:creationId xmlns:a16="http://schemas.microsoft.com/office/drawing/2014/main" id="{B331C725-95C2-7F4F-862C-692AA4E2D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47285">
              <a:off x="3812" y="2501"/>
              <a:ext cx="418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849</a:t>
              </a:r>
            </a:p>
          </p:txBody>
        </p:sp>
        <p:sp>
          <p:nvSpPr>
            <p:cNvPr id="18458" name="Text Box 119">
              <a:extLst>
                <a:ext uri="{FF2B5EF4-FFF2-40B4-BE49-F238E27FC236}">
                  <a16:creationId xmlns:a16="http://schemas.microsoft.com/office/drawing/2014/main" id="{6CBFE8BE-8E76-554A-3AA8-8EAAA2D8B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662247">
              <a:off x="3027" y="2937"/>
              <a:ext cx="378" cy="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802</a:t>
              </a:r>
            </a:p>
          </p:txBody>
        </p:sp>
        <p:sp>
          <p:nvSpPr>
            <p:cNvPr id="18459" name="Text Box 120">
              <a:extLst>
                <a:ext uri="{FF2B5EF4-FFF2-40B4-BE49-F238E27FC236}">
                  <a16:creationId xmlns:a16="http://schemas.microsoft.com/office/drawing/2014/main" id="{4E9D6ABA-CBB4-AF75-ED96-DBD4F330BE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544869">
              <a:off x="3406" y="3224"/>
              <a:ext cx="512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1387</a:t>
              </a:r>
            </a:p>
          </p:txBody>
        </p:sp>
        <p:sp>
          <p:nvSpPr>
            <p:cNvPr id="18460" name="Text Box 121">
              <a:extLst>
                <a:ext uri="{FF2B5EF4-FFF2-40B4-BE49-F238E27FC236}">
                  <a16:creationId xmlns:a16="http://schemas.microsoft.com/office/drawing/2014/main" id="{953929D3-5961-2D43-B8FB-2FBC21827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136302">
              <a:off x="2267" y="3071"/>
              <a:ext cx="512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1743</a:t>
              </a:r>
            </a:p>
          </p:txBody>
        </p:sp>
        <p:sp>
          <p:nvSpPr>
            <p:cNvPr id="18461" name="Text Box 122">
              <a:extLst>
                <a:ext uri="{FF2B5EF4-FFF2-40B4-BE49-F238E27FC236}">
                  <a16:creationId xmlns:a16="http://schemas.microsoft.com/office/drawing/2014/main" id="{AED11568-FF90-292B-663B-896707000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689345">
              <a:off x="2332" y="2610"/>
              <a:ext cx="512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1843</a:t>
              </a:r>
            </a:p>
          </p:txBody>
        </p:sp>
        <p:sp>
          <p:nvSpPr>
            <p:cNvPr id="18462" name="Text Box 123">
              <a:extLst>
                <a:ext uri="{FF2B5EF4-FFF2-40B4-BE49-F238E27FC236}">
                  <a16:creationId xmlns:a16="http://schemas.microsoft.com/office/drawing/2014/main" id="{49A02ED8-17F6-8B82-5E7F-007C39E0BF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626382">
              <a:off x="4396" y="3364"/>
              <a:ext cx="512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1099</a:t>
              </a:r>
            </a:p>
          </p:txBody>
        </p:sp>
        <p:sp>
          <p:nvSpPr>
            <p:cNvPr id="18463" name="Text Box 124">
              <a:extLst>
                <a:ext uri="{FF2B5EF4-FFF2-40B4-BE49-F238E27FC236}">
                  <a16:creationId xmlns:a16="http://schemas.microsoft.com/office/drawing/2014/main" id="{7AD944A0-5CAC-6E46-C25D-B41D41CBD9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65849">
              <a:off x="3737" y="3562"/>
              <a:ext cx="511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1120</a:t>
              </a:r>
            </a:p>
          </p:txBody>
        </p:sp>
        <p:sp>
          <p:nvSpPr>
            <p:cNvPr id="18464" name="Text Box 125">
              <a:extLst>
                <a:ext uri="{FF2B5EF4-FFF2-40B4-BE49-F238E27FC236}">
                  <a16:creationId xmlns:a16="http://schemas.microsoft.com/office/drawing/2014/main" id="{7150ABB9-D36E-4FE8-D9B0-E8298DD9C7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695916">
              <a:off x="2351" y="3446"/>
              <a:ext cx="512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1233</a:t>
              </a:r>
            </a:p>
          </p:txBody>
        </p:sp>
        <p:sp>
          <p:nvSpPr>
            <p:cNvPr id="18465" name="Text Box 126">
              <a:extLst>
                <a:ext uri="{FF2B5EF4-FFF2-40B4-BE49-F238E27FC236}">
                  <a16:creationId xmlns:a16="http://schemas.microsoft.com/office/drawing/2014/main" id="{23A61D94-16A7-36C1-8C30-1C0307FC8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4665015">
              <a:off x="1854" y="3130"/>
              <a:ext cx="378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337</a:t>
              </a:r>
            </a:p>
          </p:txBody>
        </p:sp>
        <p:sp>
          <p:nvSpPr>
            <p:cNvPr id="18466" name="Text Box 127">
              <a:extLst>
                <a:ext uri="{FF2B5EF4-FFF2-40B4-BE49-F238E27FC236}">
                  <a16:creationId xmlns:a16="http://schemas.microsoft.com/office/drawing/2014/main" id="{678EA68F-BFEC-6EF9-EA52-D3D5A55BF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832501">
              <a:off x="1187" y="3330"/>
              <a:ext cx="512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2555</a:t>
              </a:r>
            </a:p>
          </p:txBody>
        </p:sp>
        <p:sp>
          <p:nvSpPr>
            <p:cNvPr id="18467" name="Text Box 128">
              <a:extLst>
                <a:ext uri="{FF2B5EF4-FFF2-40B4-BE49-F238E27FC236}">
                  <a16:creationId xmlns:a16="http://schemas.microsoft.com/office/drawing/2014/main" id="{363EE936-D3C3-5A0F-13A0-FE1C7B0093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891667">
              <a:off x="4261" y="2695"/>
              <a:ext cx="418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142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096B279-DF03-EDB4-130C-73173769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73829A-274D-4084-B1AE-7C1A867C3C7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0E1118D-B2C1-8060-4131-967CEADB5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206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Dealing with </a:t>
            </a:r>
            <a:r>
              <a:rPr lang="en-US" altLang="en-US" u="sng"/>
              <a:t>Hard</a:t>
            </a:r>
            <a:r>
              <a:rPr lang="en-US" altLang="en-US"/>
              <a:t> Problems</a:t>
            </a:r>
          </a:p>
        </p:txBody>
      </p:sp>
      <p:sp>
        <p:nvSpPr>
          <p:cNvPr id="1946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8EBE568-60DB-B125-C09D-15B891140A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What to do when we find a problem that looks hard…</a:t>
            </a:r>
          </a:p>
        </p:txBody>
      </p:sp>
      <p:pic>
        <p:nvPicPr>
          <p:cNvPr id="19461" name="Picture 4" descr="j0140701">
            <a:extLst>
              <a:ext uri="{FF2B5EF4-FFF2-40B4-BE49-F238E27FC236}">
                <a16:creationId xmlns:a16="http://schemas.microsoft.com/office/drawing/2014/main" id="{45FE338B-A3A3-82BF-CE5F-DD6C3524B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54313"/>
            <a:ext cx="2632075" cy="291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62" name="Group 34">
            <a:extLst>
              <a:ext uri="{FF2B5EF4-FFF2-40B4-BE49-F238E27FC236}">
                <a16:creationId xmlns:a16="http://schemas.microsoft.com/office/drawing/2014/main" id="{202AF8EA-D0BB-670D-B132-E0406AE0C850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352800"/>
            <a:ext cx="1158875" cy="2276475"/>
            <a:chOff x="4256" y="2018"/>
            <a:chExt cx="882" cy="1624"/>
          </a:xfrm>
        </p:grpSpPr>
        <p:sp>
          <p:nvSpPr>
            <p:cNvPr id="19465" name="Freeform 6">
              <a:extLst>
                <a:ext uri="{FF2B5EF4-FFF2-40B4-BE49-F238E27FC236}">
                  <a16:creationId xmlns:a16="http://schemas.microsoft.com/office/drawing/2014/main" id="{5E0BA98B-C4C6-5CD3-C560-EEC2BE9B5F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56" y="2018"/>
              <a:ext cx="882" cy="1624"/>
            </a:xfrm>
            <a:custGeom>
              <a:avLst/>
              <a:gdLst>
                <a:gd name="T0" fmla="*/ 641 w 882"/>
                <a:gd name="T1" fmla="*/ 1586 h 1624"/>
                <a:gd name="T2" fmla="*/ 836 w 882"/>
                <a:gd name="T3" fmla="*/ 1551 h 1624"/>
                <a:gd name="T4" fmla="*/ 783 w 882"/>
                <a:gd name="T5" fmla="*/ 1505 h 1624"/>
                <a:gd name="T6" fmla="*/ 577 w 882"/>
                <a:gd name="T7" fmla="*/ 1475 h 1624"/>
                <a:gd name="T8" fmla="*/ 485 w 882"/>
                <a:gd name="T9" fmla="*/ 1467 h 1624"/>
                <a:gd name="T10" fmla="*/ 514 w 882"/>
                <a:gd name="T11" fmla="*/ 1337 h 1624"/>
                <a:gd name="T12" fmla="*/ 504 w 882"/>
                <a:gd name="T13" fmla="*/ 1212 h 1624"/>
                <a:gd name="T14" fmla="*/ 610 w 882"/>
                <a:gd name="T15" fmla="*/ 1218 h 1624"/>
                <a:gd name="T16" fmla="*/ 648 w 882"/>
                <a:gd name="T17" fmla="*/ 1172 h 1624"/>
                <a:gd name="T18" fmla="*/ 667 w 882"/>
                <a:gd name="T19" fmla="*/ 1129 h 1624"/>
                <a:gd name="T20" fmla="*/ 681 w 882"/>
                <a:gd name="T21" fmla="*/ 1112 h 1624"/>
                <a:gd name="T22" fmla="*/ 704 w 882"/>
                <a:gd name="T23" fmla="*/ 1093 h 1624"/>
                <a:gd name="T24" fmla="*/ 710 w 882"/>
                <a:gd name="T25" fmla="*/ 1085 h 1624"/>
                <a:gd name="T26" fmla="*/ 723 w 882"/>
                <a:gd name="T27" fmla="*/ 1068 h 1624"/>
                <a:gd name="T28" fmla="*/ 733 w 882"/>
                <a:gd name="T29" fmla="*/ 1043 h 1624"/>
                <a:gd name="T30" fmla="*/ 744 w 882"/>
                <a:gd name="T31" fmla="*/ 1003 h 1624"/>
                <a:gd name="T32" fmla="*/ 809 w 882"/>
                <a:gd name="T33" fmla="*/ 880 h 1624"/>
                <a:gd name="T34" fmla="*/ 869 w 882"/>
                <a:gd name="T35" fmla="*/ 824 h 1624"/>
                <a:gd name="T36" fmla="*/ 877 w 882"/>
                <a:gd name="T37" fmla="*/ 805 h 1624"/>
                <a:gd name="T38" fmla="*/ 750 w 882"/>
                <a:gd name="T39" fmla="*/ 803 h 1624"/>
                <a:gd name="T40" fmla="*/ 612 w 882"/>
                <a:gd name="T41" fmla="*/ 823 h 1624"/>
                <a:gd name="T42" fmla="*/ 562 w 882"/>
                <a:gd name="T43" fmla="*/ 878 h 1624"/>
                <a:gd name="T44" fmla="*/ 527 w 882"/>
                <a:gd name="T45" fmla="*/ 964 h 1624"/>
                <a:gd name="T46" fmla="*/ 483 w 882"/>
                <a:gd name="T47" fmla="*/ 963 h 1624"/>
                <a:gd name="T48" fmla="*/ 466 w 882"/>
                <a:gd name="T49" fmla="*/ 938 h 1624"/>
                <a:gd name="T50" fmla="*/ 393 w 882"/>
                <a:gd name="T51" fmla="*/ 790 h 1624"/>
                <a:gd name="T52" fmla="*/ 466 w 882"/>
                <a:gd name="T53" fmla="*/ 727 h 1624"/>
                <a:gd name="T54" fmla="*/ 504 w 882"/>
                <a:gd name="T55" fmla="*/ 688 h 1624"/>
                <a:gd name="T56" fmla="*/ 579 w 882"/>
                <a:gd name="T57" fmla="*/ 669 h 1624"/>
                <a:gd name="T58" fmla="*/ 522 w 882"/>
                <a:gd name="T59" fmla="*/ 587 h 1624"/>
                <a:gd name="T60" fmla="*/ 516 w 882"/>
                <a:gd name="T61" fmla="*/ 543 h 1624"/>
                <a:gd name="T62" fmla="*/ 524 w 882"/>
                <a:gd name="T63" fmla="*/ 481 h 1624"/>
                <a:gd name="T64" fmla="*/ 537 w 882"/>
                <a:gd name="T65" fmla="*/ 299 h 1624"/>
                <a:gd name="T66" fmla="*/ 550 w 882"/>
                <a:gd name="T67" fmla="*/ 268 h 1624"/>
                <a:gd name="T68" fmla="*/ 616 w 882"/>
                <a:gd name="T69" fmla="*/ 176 h 1624"/>
                <a:gd name="T70" fmla="*/ 470 w 882"/>
                <a:gd name="T71" fmla="*/ 84 h 1624"/>
                <a:gd name="T72" fmla="*/ 391 w 882"/>
                <a:gd name="T73" fmla="*/ 7 h 1624"/>
                <a:gd name="T74" fmla="*/ 265 w 882"/>
                <a:gd name="T75" fmla="*/ 15 h 1624"/>
                <a:gd name="T76" fmla="*/ 82 w 882"/>
                <a:gd name="T77" fmla="*/ 136 h 1624"/>
                <a:gd name="T78" fmla="*/ 17 w 882"/>
                <a:gd name="T79" fmla="*/ 180 h 1624"/>
                <a:gd name="T80" fmla="*/ 0 w 882"/>
                <a:gd name="T81" fmla="*/ 249 h 1624"/>
                <a:gd name="T82" fmla="*/ 31 w 882"/>
                <a:gd name="T83" fmla="*/ 345 h 1624"/>
                <a:gd name="T84" fmla="*/ 25 w 882"/>
                <a:gd name="T85" fmla="*/ 435 h 1624"/>
                <a:gd name="T86" fmla="*/ 36 w 882"/>
                <a:gd name="T87" fmla="*/ 527 h 1624"/>
                <a:gd name="T88" fmla="*/ 90 w 882"/>
                <a:gd name="T89" fmla="*/ 571 h 1624"/>
                <a:gd name="T90" fmla="*/ 121 w 882"/>
                <a:gd name="T91" fmla="*/ 671 h 1624"/>
                <a:gd name="T92" fmla="*/ 251 w 882"/>
                <a:gd name="T93" fmla="*/ 880 h 1624"/>
                <a:gd name="T94" fmla="*/ 219 w 882"/>
                <a:gd name="T95" fmla="*/ 920 h 1624"/>
                <a:gd name="T96" fmla="*/ 217 w 882"/>
                <a:gd name="T97" fmla="*/ 993 h 1624"/>
                <a:gd name="T98" fmla="*/ 201 w 882"/>
                <a:gd name="T99" fmla="*/ 1032 h 1624"/>
                <a:gd name="T100" fmla="*/ 226 w 882"/>
                <a:gd name="T101" fmla="*/ 1066 h 1624"/>
                <a:gd name="T102" fmla="*/ 238 w 882"/>
                <a:gd name="T103" fmla="*/ 1216 h 1624"/>
                <a:gd name="T104" fmla="*/ 228 w 882"/>
                <a:gd name="T105" fmla="*/ 1273 h 1624"/>
                <a:gd name="T106" fmla="*/ 249 w 882"/>
                <a:gd name="T107" fmla="*/ 1423 h 1624"/>
                <a:gd name="T108" fmla="*/ 286 w 882"/>
                <a:gd name="T109" fmla="*/ 1503 h 1624"/>
                <a:gd name="T110" fmla="*/ 238 w 882"/>
                <a:gd name="T111" fmla="*/ 1519 h 1624"/>
                <a:gd name="T112" fmla="*/ 196 w 882"/>
                <a:gd name="T113" fmla="*/ 1548 h 1624"/>
                <a:gd name="T114" fmla="*/ 209 w 882"/>
                <a:gd name="T115" fmla="*/ 1611 h 1624"/>
                <a:gd name="T116" fmla="*/ 263 w 882"/>
                <a:gd name="T117" fmla="*/ 1622 h 162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882" h="1624">
                  <a:moveTo>
                    <a:pt x="267" y="1624"/>
                  </a:moveTo>
                  <a:lnTo>
                    <a:pt x="299" y="1624"/>
                  </a:lnTo>
                  <a:lnTo>
                    <a:pt x="334" y="1624"/>
                  </a:lnTo>
                  <a:lnTo>
                    <a:pt x="366" y="1620"/>
                  </a:lnTo>
                  <a:lnTo>
                    <a:pt x="399" y="1617"/>
                  </a:lnTo>
                  <a:lnTo>
                    <a:pt x="432" y="1609"/>
                  </a:lnTo>
                  <a:lnTo>
                    <a:pt x="464" y="1601"/>
                  </a:lnTo>
                  <a:lnTo>
                    <a:pt x="495" y="1590"/>
                  </a:lnTo>
                  <a:lnTo>
                    <a:pt x="524" y="1578"/>
                  </a:lnTo>
                  <a:lnTo>
                    <a:pt x="562" y="1580"/>
                  </a:lnTo>
                  <a:lnTo>
                    <a:pt x="602" y="1582"/>
                  </a:lnTo>
                  <a:lnTo>
                    <a:pt x="641" y="1586"/>
                  </a:lnTo>
                  <a:lnTo>
                    <a:pt x="681" y="1588"/>
                  </a:lnTo>
                  <a:lnTo>
                    <a:pt x="719" y="1590"/>
                  </a:lnTo>
                  <a:lnTo>
                    <a:pt x="758" y="1588"/>
                  </a:lnTo>
                  <a:lnTo>
                    <a:pt x="777" y="1586"/>
                  </a:lnTo>
                  <a:lnTo>
                    <a:pt x="796" y="1584"/>
                  </a:lnTo>
                  <a:lnTo>
                    <a:pt x="815" y="1578"/>
                  </a:lnTo>
                  <a:lnTo>
                    <a:pt x="834" y="1572"/>
                  </a:lnTo>
                  <a:lnTo>
                    <a:pt x="836" y="1569"/>
                  </a:lnTo>
                  <a:lnTo>
                    <a:pt x="836" y="1565"/>
                  </a:lnTo>
                  <a:lnTo>
                    <a:pt x="836" y="1561"/>
                  </a:lnTo>
                  <a:lnTo>
                    <a:pt x="836" y="1555"/>
                  </a:lnTo>
                  <a:lnTo>
                    <a:pt x="836" y="1551"/>
                  </a:lnTo>
                  <a:lnTo>
                    <a:pt x="834" y="1548"/>
                  </a:lnTo>
                  <a:lnTo>
                    <a:pt x="832" y="1542"/>
                  </a:lnTo>
                  <a:lnTo>
                    <a:pt x="831" y="1540"/>
                  </a:lnTo>
                  <a:lnTo>
                    <a:pt x="827" y="1534"/>
                  </a:lnTo>
                  <a:lnTo>
                    <a:pt x="823" y="1528"/>
                  </a:lnTo>
                  <a:lnTo>
                    <a:pt x="817" y="1525"/>
                  </a:lnTo>
                  <a:lnTo>
                    <a:pt x="811" y="1523"/>
                  </a:lnTo>
                  <a:lnTo>
                    <a:pt x="808" y="1519"/>
                  </a:lnTo>
                  <a:lnTo>
                    <a:pt x="802" y="1515"/>
                  </a:lnTo>
                  <a:lnTo>
                    <a:pt x="796" y="1513"/>
                  </a:lnTo>
                  <a:lnTo>
                    <a:pt x="792" y="1509"/>
                  </a:lnTo>
                  <a:lnTo>
                    <a:pt x="783" y="1505"/>
                  </a:lnTo>
                  <a:lnTo>
                    <a:pt x="775" y="1501"/>
                  </a:lnTo>
                  <a:lnTo>
                    <a:pt x="767" y="1500"/>
                  </a:lnTo>
                  <a:lnTo>
                    <a:pt x="760" y="1496"/>
                  </a:lnTo>
                  <a:lnTo>
                    <a:pt x="750" y="1494"/>
                  </a:lnTo>
                  <a:lnTo>
                    <a:pt x="742" y="1492"/>
                  </a:lnTo>
                  <a:lnTo>
                    <a:pt x="735" y="1490"/>
                  </a:lnTo>
                  <a:lnTo>
                    <a:pt x="725" y="1488"/>
                  </a:lnTo>
                  <a:lnTo>
                    <a:pt x="696" y="1482"/>
                  </a:lnTo>
                  <a:lnTo>
                    <a:pt x="666" y="1478"/>
                  </a:lnTo>
                  <a:lnTo>
                    <a:pt x="637" y="1475"/>
                  </a:lnTo>
                  <a:lnTo>
                    <a:pt x="608" y="1475"/>
                  </a:lnTo>
                  <a:lnTo>
                    <a:pt x="577" y="1475"/>
                  </a:lnTo>
                  <a:lnTo>
                    <a:pt x="549" y="1475"/>
                  </a:lnTo>
                  <a:lnTo>
                    <a:pt x="520" y="1475"/>
                  </a:lnTo>
                  <a:lnTo>
                    <a:pt x="491" y="1477"/>
                  </a:lnTo>
                  <a:lnTo>
                    <a:pt x="489" y="1477"/>
                  </a:lnTo>
                  <a:lnTo>
                    <a:pt x="487" y="1478"/>
                  </a:lnTo>
                  <a:lnTo>
                    <a:pt x="485" y="1478"/>
                  </a:lnTo>
                  <a:lnTo>
                    <a:pt x="483" y="1480"/>
                  </a:lnTo>
                  <a:lnTo>
                    <a:pt x="481" y="1480"/>
                  </a:lnTo>
                  <a:lnTo>
                    <a:pt x="480" y="1478"/>
                  </a:lnTo>
                  <a:lnTo>
                    <a:pt x="478" y="1478"/>
                  </a:lnTo>
                  <a:lnTo>
                    <a:pt x="485" y="1467"/>
                  </a:lnTo>
                  <a:lnTo>
                    <a:pt x="491" y="1455"/>
                  </a:lnTo>
                  <a:lnTo>
                    <a:pt x="499" y="1444"/>
                  </a:lnTo>
                  <a:lnTo>
                    <a:pt x="504" y="1432"/>
                  </a:lnTo>
                  <a:lnTo>
                    <a:pt x="510" y="1421"/>
                  </a:lnTo>
                  <a:lnTo>
                    <a:pt x="514" y="1408"/>
                  </a:lnTo>
                  <a:lnTo>
                    <a:pt x="516" y="1396"/>
                  </a:lnTo>
                  <a:lnTo>
                    <a:pt x="516" y="1383"/>
                  </a:lnTo>
                  <a:lnTo>
                    <a:pt x="518" y="1373"/>
                  </a:lnTo>
                  <a:lnTo>
                    <a:pt x="518" y="1365"/>
                  </a:lnTo>
                  <a:lnTo>
                    <a:pt x="518" y="1356"/>
                  </a:lnTo>
                  <a:lnTo>
                    <a:pt x="516" y="1346"/>
                  </a:lnTo>
                  <a:lnTo>
                    <a:pt x="514" y="1337"/>
                  </a:lnTo>
                  <a:lnTo>
                    <a:pt x="512" y="1327"/>
                  </a:lnTo>
                  <a:lnTo>
                    <a:pt x="512" y="1317"/>
                  </a:lnTo>
                  <a:lnTo>
                    <a:pt x="512" y="1310"/>
                  </a:lnTo>
                  <a:lnTo>
                    <a:pt x="510" y="1296"/>
                  </a:lnTo>
                  <a:lnTo>
                    <a:pt x="508" y="1285"/>
                  </a:lnTo>
                  <a:lnTo>
                    <a:pt x="506" y="1273"/>
                  </a:lnTo>
                  <a:lnTo>
                    <a:pt x="504" y="1260"/>
                  </a:lnTo>
                  <a:lnTo>
                    <a:pt x="501" y="1248"/>
                  </a:lnTo>
                  <a:lnTo>
                    <a:pt x="499" y="1237"/>
                  </a:lnTo>
                  <a:lnTo>
                    <a:pt x="497" y="1225"/>
                  </a:lnTo>
                  <a:lnTo>
                    <a:pt x="497" y="1212"/>
                  </a:lnTo>
                  <a:lnTo>
                    <a:pt x="504" y="1212"/>
                  </a:lnTo>
                  <a:lnTo>
                    <a:pt x="512" y="1214"/>
                  </a:lnTo>
                  <a:lnTo>
                    <a:pt x="522" y="1214"/>
                  </a:lnTo>
                  <a:lnTo>
                    <a:pt x="531" y="1214"/>
                  </a:lnTo>
                  <a:lnTo>
                    <a:pt x="543" y="1214"/>
                  </a:lnTo>
                  <a:lnTo>
                    <a:pt x="550" y="1214"/>
                  </a:lnTo>
                  <a:lnTo>
                    <a:pt x="560" y="1216"/>
                  </a:lnTo>
                  <a:lnTo>
                    <a:pt x="568" y="1214"/>
                  </a:lnTo>
                  <a:lnTo>
                    <a:pt x="577" y="1216"/>
                  </a:lnTo>
                  <a:lnTo>
                    <a:pt x="585" y="1218"/>
                  </a:lnTo>
                  <a:lnTo>
                    <a:pt x="595" y="1218"/>
                  </a:lnTo>
                  <a:lnTo>
                    <a:pt x="602" y="1218"/>
                  </a:lnTo>
                  <a:lnTo>
                    <a:pt x="610" y="1218"/>
                  </a:lnTo>
                  <a:lnTo>
                    <a:pt x="618" y="1216"/>
                  </a:lnTo>
                  <a:lnTo>
                    <a:pt x="625" y="1214"/>
                  </a:lnTo>
                  <a:lnTo>
                    <a:pt x="633" y="1210"/>
                  </a:lnTo>
                  <a:lnTo>
                    <a:pt x="635" y="1206"/>
                  </a:lnTo>
                  <a:lnTo>
                    <a:pt x="637" y="1202"/>
                  </a:lnTo>
                  <a:lnTo>
                    <a:pt x="639" y="1198"/>
                  </a:lnTo>
                  <a:lnTo>
                    <a:pt x="641" y="1195"/>
                  </a:lnTo>
                  <a:lnTo>
                    <a:pt x="643" y="1191"/>
                  </a:lnTo>
                  <a:lnTo>
                    <a:pt x="644" y="1187"/>
                  </a:lnTo>
                  <a:lnTo>
                    <a:pt x="644" y="1183"/>
                  </a:lnTo>
                  <a:lnTo>
                    <a:pt x="646" y="1177"/>
                  </a:lnTo>
                  <a:lnTo>
                    <a:pt x="648" y="1172"/>
                  </a:lnTo>
                  <a:lnTo>
                    <a:pt x="650" y="1166"/>
                  </a:lnTo>
                  <a:lnTo>
                    <a:pt x="652" y="1160"/>
                  </a:lnTo>
                  <a:lnTo>
                    <a:pt x="654" y="1154"/>
                  </a:lnTo>
                  <a:lnTo>
                    <a:pt x="656" y="1151"/>
                  </a:lnTo>
                  <a:lnTo>
                    <a:pt x="658" y="1145"/>
                  </a:lnTo>
                  <a:lnTo>
                    <a:pt x="660" y="1139"/>
                  </a:lnTo>
                  <a:lnTo>
                    <a:pt x="664" y="1133"/>
                  </a:lnTo>
                  <a:lnTo>
                    <a:pt x="666" y="1133"/>
                  </a:lnTo>
                  <a:lnTo>
                    <a:pt x="666" y="1131"/>
                  </a:lnTo>
                  <a:lnTo>
                    <a:pt x="667" y="1131"/>
                  </a:lnTo>
                  <a:lnTo>
                    <a:pt x="667" y="1129"/>
                  </a:lnTo>
                  <a:lnTo>
                    <a:pt x="667" y="1127"/>
                  </a:lnTo>
                  <a:lnTo>
                    <a:pt x="667" y="1126"/>
                  </a:lnTo>
                  <a:lnTo>
                    <a:pt x="667" y="1124"/>
                  </a:lnTo>
                  <a:lnTo>
                    <a:pt x="667" y="1122"/>
                  </a:lnTo>
                  <a:lnTo>
                    <a:pt x="669" y="1120"/>
                  </a:lnTo>
                  <a:lnTo>
                    <a:pt x="669" y="1118"/>
                  </a:lnTo>
                  <a:lnTo>
                    <a:pt x="671" y="1116"/>
                  </a:lnTo>
                  <a:lnTo>
                    <a:pt x="671" y="1114"/>
                  </a:lnTo>
                  <a:lnTo>
                    <a:pt x="673" y="1112"/>
                  </a:lnTo>
                  <a:lnTo>
                    <a:pt x="675" y="1112"/>
                  </a:lnTo>
                  <a:lnTo>
                    <a:pt x="677" y="1112"/>
                  </a:lnTo>
                  <a:lnTo>
                    <a:pt x="681" y="1112"/>
                  </a:lnTo>
                  <a:lnTo>
                    <a:pt x="685" y="1112"/>
                  </a:lnTo>
                  <a:lnTo>
                    <a:pt x="689" y="1110"/>
                  </a:lnTo>
                  <a:lnTo>
                    <a:pt x="692" y="1110"/>
                  </a:lnTo>
                  <a:lnTo>
                    <a:pt x="696" y="1108"/>
                  </a:lnTo>
                  <a:lnTo>
                    <a:pt x="698" y="1104"/>
                  </a:lnTo>
                  <a:lnTo>
                    <a:pt x="702" y="1103"/>
                  </a:lnTo>
                  <a:lnTo>
                    <a:pt x="704" y="1099"/>
                  </a:lnTo>
                  <a:lnTo>
                    <a:pt x="702" y="1099"/>
                  </a:lnTo>
                  <a:lnTo>
                    <a:pt x="704" y="1097"/>
                  </a:lnTo>
                  <a:lnTo>
                    <a:pt x="704" y="1095"/>
                  </a:lnTo>
                  <a:lnTo>
                    <a:pt x="704" y="1093"/>
                  </a:lnTo>
                  <a:lnTo>
                    <a:pt x="704" y="1091"/>
                  </a:lnTo>
                  <a:lnTo>
                    <a:pt x="704" y="1089"/>
                  </a:lnTo>
                  <a:lnTo>
                    <a:pt x="706" y="1089"/>
                  </a:lnTo>
                  <a:lnTo>
                    <a:pt x="706" y="1087"/>
                  </a:lnTo>
                  <a:lnTo>
                    <a:pt x="708" y="1087"/>
                  </a:lnTo>
                  <a:lnTo>
                    <a:pt x="710" y="1085"/>
                  </a:lnTo>
                  <a:lnTo>
                    <a:pt x="708" y="1085"/>
                  </a:lnTo>
                  <a:lnTo>
                    <a:pt x="708" y="1083"/>
                  </a:lnTo>
                  <a:lnTo>
                    <a:pt x="708" y="1081"/>
                  </a:lnTo>
                  <a:lnTo>
                    <a:pt x="708" y="1080"/>
                  </a:lnTo>
                  <a:lnTo>
                    <a:pt x="710" y="1080"/>
                  </a:lnTo>
                  <a:lnTo>
                    <a:pt x="714" y="1078"/>
                  </a:lnTo>
                  <a:lnTo>
                    <a:pt x="717" y="1076"/>
                  </a:lnTo>
                  <a:lnTo>
                    <a:pt x="719" y="1074"/>
                  </a:lnTo>
                  <a:lnTo>
                    <a:pt x="721" y="1070"/>
                  </a:lnTo>
                  <a:lnTo>
                    <a:pt x="723" y="1068"/>
                  </a:lnTo>
                  <a:lnTo>
                    <a:pt x="725" y="1064"/>
                  </a:lnTo>
                  <a:lnTo>
                    <a:pt x="727" y="1060"/>
                  </a:lnTo>
                  <a:lnTo>
                    <a:pt x="729" y="1058"/>
                  </a:lnTo>
                  <a:lnTo>
                    <a:pt x="729" y="1057"/>
                  </a:lnTo>
                  <a:lnTo>
                    <a:pt x="729" y="1055"/>
                  </a:lnTo>
                  <a:lnTo>
                    <a:pt x="729" y="1053"/>
                  </a:lnTo>
                  <a:lnTo>
                    <a:pt x="729" y="1051"/>
                  </a:lnTo>
                  <a:lnTo>
                    <a:pt x="729" y="1049"/>
                  </a:lnTo>
                  <a:lnTo>
                    <a:pt x="729" y="1047"/>
                  </a:lnTo>
                  <a:lnTo>
                    <a:pt x="729" y="1043"/>
                  </a:lnTo>
                  <a:lnTo>
                    <a:pt x="733" y="1043"/>
                  </a:lnTo>
                  <a:lnTo>
                    <a:pt x="737" y="1041"/>
                  </a:lnTo>
                  <a:lnTo>
                    <a:pt x="740" y="1039"/>
                  </a:lnTo>
                  <a:lnTo>
                    <a:pt x="742" y="1035"/>
                  </a:lnTo>
                  <a:lnTo>
                    <a:pt x="746" y="1034"/>
                  </a:lnTo>
                  <a:lnTo>
                    <a:pt x="748" y="1030"/>
                  </a:lnTo>
                  <a:lnTo>
                    <a:pt x="750" y="1026"/>
                  </a:lnTo>
                  <a:lnTo>
                    <a:pt x="750" y="1020"/>
                  </a:lnTo>
                  <a:lnTo>
                    <a:pt x="750" y="1016"/>
                  </a:lnTo>
                  <a:lnTo>
                    <a:pt x="750" y="1012"/>
                  </a:lnTo>
                  <a:lnTo>
                    <a:pt x="748" y="1009"/>
                  </a:lnTo>
                  <a:lnTo>
                    <a:pt x="746" y="1007"/>
                  </a:lnTo>
                  <a:lnTo>
                    <a:pt x="744" y="1003"/>
                  </a:lnTo>
                  <a:lnTo>
                    <a:pt x="742" y="999"/>
                  </a:lnTo>
                  <a:lnTo>
                    <a:pt x="742" y="995"/>
                  </a:lnTo>
                  <a:lnTo>
                    <a:pt x="740" y="991"/>
                  </a:lnTo>
                  <a:lnTo>
                    <a:pt x="748" y="978"/>
                  </a:lnTo>
                  <a:lnTo>
                    <a:pt x="754" y="963"/>
                  </a:lnTo>
                  <a:lnTo>
                    <a:pt x="763" y="949"/>
                  </a:lnTo>
                  <a:lnTo>
                    <a:pt x="771" y="936"/>
                  </a:lnTo>
                  <a:lnTo>
                    <a:pt x="779" y="922"/>
                  </a:lnTo>
                  <a:lnTo>
                    <a:pt x="788" y="909"/>
                  </a:lnTo>
                  <a:lnTo>
                    <a:pt x="796" y="897"/>
                  </a:lnTo>
                  <a:lnTo>
                    <a:pt x="806" y="886"/>
                  </a:lnTo>
                  <a:lnTo>
                    <a:pt x="809" y="880"/>
                  </a:lnTo>
                  <a:lnTo>
                    <a:pt x="815" y="874"/>
                  </a:lnTo>
                  <a:lnTo>
                    <a:pt x="819" y="869"/>
                  </a:lnTo>
                  <a:lnTo>
                    <a:pt x="825" y="863"/>
                  </a:lnTo>
                  <a:lnTo>
                    <a:pt x="829" y="857"/>
                  </a:lnTo>
                  <a:lnTo>
                    <a:pt x="834" y="853"/>
                  </a:lnTo>
                  <a:lnTo>
                    <a:pt x="838" y="847"/>
                  </a:lnTo>
                  <a:lnTo>
                    <a:pt x="844" y="842"/>
                  </a:lnTo>
                  <a:lnTo>
                    <a:pt x="848" y="838"/>
                  </a:lnTo>
                  <a:lnTo>
                    <a:pt x="854" y="834"/>
                  </a:lnTo>
                  <a:lnTo>
                    <a:pt x="857" y="832"/>
                  </a:lnTo>
                  <a:lnTo>
                    <a:pt x="863" y="828"/>
                  </a:lnTo>
                  <a:lnTo>
                    <a:pt x="869" y="824"/>
                  </a:lnTo>
                  <a:lnTo>
                    <a:pt x="873" y="821"/>
                  </a:lnTo>
                  <a:lnTo>
                    <a:pt x="878" y="817"/>
                  </a:lnTo>
                  <a:lnTo>
                    <a:pt x="882" y="813"/>
                  </a:lnTo>
                  <a:lnTo>
                    <a:pt x="882" y="811"/>
                  </a:lnTo>
                  <a:lnTo>
                    <a:pt x="882" y="809"/>
                  </a:lnTo>
                  <a:lnTo>
                    <a:pt x="882" y="807"/>
                  </a:lnTo>
                  <a:lnTo>
                    <a:pt x="877" y="805"/>
                  </a:lnTo>
                  <a:lnTo>
                    <a:pt x="873" y="805"/>
                  </a:lnTo>
                  <a:lnTo>
                    <a:pt x="867" y="805"/>
                  </a:lnTo>
                  <a:lnTo>
                    <a:pt x="861" y="805"/>
                  </a:lnTo>
                  <a:lnTo>
                    <a:pt x="857" y="803"/>
                  </a:lnTo>
                  <a:lnTo>
                    <a:pt x="852" y="803"/>
                  </a:lnTo>
                  <a:lnTo>
                    <a:pt x="848" y="803"/>
                  </a:lnTo>
                  <a:lnTo>
                    <a:pt x="842" y="801"/>
                  </a:lnTo>
                  <a:lnTo>
                    <a:pt x="823" y="801"/>
                  </a:lnTo>
                  <a:lnTo>
                    <a:pt x="806" y="801"/>
                  </a:lnTo>
                  <a:lnTo>
                    <a:pt x="786" y="801"/>
                  </a:lnTo>
                  <a:lnTo>
                    <a:pt x="769" y="801"/>
                  </a:lnTo>
                  <a:lnTo>
                    <a:pt x="750" y="803"/>
                  </a:lnTo>
                  <a:lnTo>
                    <a:pt x="733" y="805"/>
                  </a:lnTo>
                  <a:lnTo>
                    <a:pt x="715" y="807"/>
                  </a:lnTo>
                  <a:lnTo>
                    <a:pt x="698" y="809"/>
                  </a:lnTo>
                  <a:lnTo>
                    <a:pt x="689" y="809"/>
                  </a:lnTo>
                  <a:lnTo>
                    <a:pt x="677" y="811"/>
                  </a:lnTo>
                  <a:lnTo>
                    <a:pt x="667" y="813"/>
                  </a:lnTo>
                  <a:lnTo>
                    <a:pt x="658" y="815"/>
                  </a:lnTo>
                  <a:lnTo>
                    <a:pt x="646" y="817"/>
                  </a:lnTo>
                  <a:lnTo>
                    <a:pt x="637" y="819"/>
                  </a:lnTo>
                  <a:lnTo>
                    <a:pt x="627" y="819"/>
                  </a:lnTo>
                  <a:lnTo>
                    <a:pt x="616" y="821"/>
                  </a:lnTo>
                  <a:lnTo>
                    <a:pt x="612" y="823"/>
                  </a:lnTo>
                  <a:lnTo>
                    <a:pt x="608" y="824"/>
                  </a:lnTo>
                  <a:lnTo>
                    <a:pt x="604" y="824"/>
                  </a:lnTo>
                  <a:lnTo>
                    <a:pt x="598" y="826"/>
                  </a:lnTo>
                  <a:lnTo>
                    <a:pt x="595" y="826"/>
                  </a:lnTo>
                  <a:lnTo>
                    <a:pt x="591" y="828"/>
                  </a:lnTo>
                  <a:lnTo>
                    <a:pt x="587" y="830"/>
                  </a:lnTo>
                  <a:lnTo>
                    <a:pt x="585" y="834"/>
                  </a:lnTo>
                  <a:lnTo>
                    <a:pt x="577" y="842"/>
                  </a:lnTo>
                  <a:lnTo>
                    <a:pt x="574" y="849"/>
                  </a:lnTo>
                  <a:lnTo>
                    <a:pt x="570" y="859"/>
                  </a:lnTo>
                  <a:lnTo>
                    <a:pt x="566" y="869"/>
                  </a:lnTo>
                  <a:lnTo>
                    <a:pt x="562" y="878"/>
                  </a:lnTo>
                  <a:lnTo>
                    <a:pt x="560" y="888"/>
                  </a:lnTo>
                  <a:lnTo>
                    <a:pt x="556" y="895"/>
                  </a:lnTo>
                  <a:lnTo>
                    <a:pt x="552" y="905"/>
                  </a:lnTo>
                  <a:lnTo>
                    <a:pt x="549" y="913"/>
                  </a:lnTo>
                  <a:lnTo>
                    <a:pt x="547" y="920"/>
                  </a:lnTo>
                  <a:lnTo>
                    <a:pt x="545" y="928"/>
                  </a:lnTo>
                  <a:lnTo>
                    <a:pt x="541" y="934"/>
                  </a:lnTo>
                  <a:lnTo>
                    <a:pt x="539" y="941"/>
                  </a:lnTo>
                  <a:lnTo>
                    <a:pt x="535" y="949"/>
                  </a:lnTo>
                  <a:lnTo>
                    <a:pt x="531" y="957"/>
                  </a:lnTo>
                  <a:lnTo>
                    <a:pt x="527" y="963"/>
                  </a:lnTo>
                  <a:lnTo>
                    <a:pt x="527" y="964"/>
                  </a:lnTo>
                  <a:lnTo>
                    <a:pt x="526" y="964"/>
                  </a:lnTo>
                  <a:lnTo>
                    <a:pt x="526" y="966"/>
                  </a:lnTo>
                  <a:lnTo>
                    <a:pt x="481" y="966"/>
                  </a:lnTo>
                  <a:lnTo>
                    <a:pt x="481" y="964"/>
                  </a:lnTo>
                  <a:lnTo>
                    <a:pt x="483" y="963"/>
                  </a:lnTo>
                  <a:lnTo>
                    <a:pt x="481" y="963"/>
                  </a:lnTo>
                  <a:lnTo>
                    <a:pt x="480" y="963"/>
                  </a:lnTo>
                  <a:lnTo>
                    <a:pt x="478" y="941"/>
                  </a:lnTo>
                  <a:lnTo>
                    <a:pt x="476" y="940"/>
                  </a:lnTo>
                  <a:lnTo>
                    <a:pt x="474" y="940"/>
                  </a:lnTo>
                  <a:lnTo>
                    <a:pt x="472" y="940"/>
                  </a:lnTo>
                  <a:lnTo>
                    <a:pt x="470" y="938"/>
                  </a:lnTo>
                  <a:lnTo>
                    <a:pt x="468" y="938"/>
                  </a:lnTo>
                  <a:lnTo>
                    <a:pt x="466" y="938"/>
                  </a:lnTo>
                  <a:lnTo>
                    <a:pt x="464" y="938"/>
                  </a:lnTo>
                  <a:lnTo>
                    <a:pt x="447" y="907"/>
                  </a:lnTo>
                  <a:lnTo>
                    <a:pt x="430" y="909"/>
                  </a:lnTo>
                  <a:lnTo>
                    <a:pt x="412" y="926"/>
                  </a:lnTo>
                  <a:lnTo>
                    <a:pt x="409" y="847"/>
                  </a:lnTo>
                  <a:lnTo>
                    <a:pt x="387" y="840"/>
                  </a:lnTo>
                  <a:lnTo>
                    <a:pt x="393" y="832"/>
                  </a:lnTo>
                  <a:lnTo>
                    <a:pt x="393" y="824"/>
                  </a:lnTo>
                  <a:lnTo>
                    <a:pt x="393" y="817"/>
                  </a:lnTo>
                  <a:lnTo>
                    <a:pt x="393" y="807"/>
                  </a:lnTo>
                  <a:lnTo>
                    <a:pt x="393" y="800"/>
                  </a:lnTo>
                  <a:lnTo>
                    <a:pt x="393" y="790"/>
                  </a:lnTo>
                  <a:lnTo>
                    <a:pt x="397" y="782"/>
                  </a:lnTo>
                  <a:lnTo>
                    <a:pt x="403" y="775"/>
                  </a:lnTo>
                  <a:lnTo>
                    <a:pt x="409" y="769"/>
                  </a:lnTo>
                  <a:lnTo>
                    <a:pt x="416" y="763"/>
                  </a:lnTo>
                  <a:lnTo>
                    <a:pt x="422" y="759"/>
                  </a:lnTo>
                  <a:lnTo>
                    <a:pt x="428" y="753"/>
                  </a:lnTo>
                  <a:lnTo>
                    <a:pt x="435" y="750"/>
                  </a:lnTo>
                  <a:lnTo>
                    <a:pt x="441" y="744"/>
                  </a:lnTo>
                  <a:lnTo>
                    <a:pt x="449" y="740"/>
                  </a:lnTo>
                  <a:lnTo>
                    <a:pt x="455" y="734"/>
                  </a:lnTo>
                  <a:lnTo>
                    <a:pt x="460" y="730"/>
                  </a:lnTo>
                  <a:lnTo>
                    <a:pt x="466" y="727"/>
                  </a:lnTo>
                  <a:lnTo>
                    <a:pt x="472" y="723"/>
                  </a:lnTo>
                  <a:lnTo>
                    <a:pt x="478" y="719"/>
                  </a:lnTo>
                  <a:lnTo>
                    <a:pt x="481" y="715"/>
                  </a:lnTo>
                  <a:lnTo>
                    <a:pt x="487" y="711"/>
                  </a:lnTo>
                  <a:lnTo>
                    <a:pt x="491" y="707"/>
                  </a:lnTo>
                  <a:lnTo>
                    <a:pt x="497" y="702"/>
                  </a:lnTo>
                  <a:lnTo>
                    <a:pt x="499" y="700"/>
                  </a:lnTo>
                  <a:lnTo>
                    <a:pt x="499" y="698"/>
                  </a:lnTo>
                  <a:lnTo>
                    <a:pt x="501" y="694"/>
                  </a:lnTo>
                  <a:lnTo>
                    <a:pt x="503" y="692"/>
                  </a:lnTo>
                  <a:lnTo>
                    <a:pt x="503" y="690"/>
                  </a:lnTo>
                  <a:lnTo>
                    <a:pt x="504" y="688"/>
                  </a:lnTo>
                  <a:lnTo>
                    <a:pt x="506" y="686"/>
                  </a:lnTo>
                  <a:lnTo>
                    <a:pt x="508" y="686"/>
                  </a:lnTo>
                  <a:lnTo>
                    <a:pt x="516" y="686"/>
                  </a:lnTo>
                  <a:lnTo>
                    <a:pt x="526" y="688"/>
                  </a:lnTo>
                  <a:lnTo>
                    <a:pt x="533" y="690"/>
                  </a:lnTo>
                  <a:lnTo>
                    <a:pt x="543" y="690"/>
                  </a:lnTo>
                  <a:lnTo>
                    <a:pt x="552" y="690"/>
                  </a:lnTo>
                  <a:lnTo>
                    <a:pt x="560" y="690"/>
                  </a:lnTo>
                  <a:lnTo>
                    <a:pt x="568" y="686"/>
                  </a:lnTo>
                  <a:lnTo>
                    <a:pt x="574" y="683"/>
                  </a:lnTo>
                  <a:lnTo>
                    <a:pt x="577" y="675"/>
                  </a:lnTo>
                  <a:lnTo>
                    <a:pt x="579" y="669"/>
                  </a:lnTo>
                  <a:lnTo>
                    <a:pt x="579" y="663"/>
                  </a:lnTo>
                  <a:lnTo>
                    <a:pt x="577" y="656"/>
                  </a:lnTo>
                  <a:lnTo>
                    <a:pt x="575" y="650"/>
                  </a:lnTo>
                  <a:lnTo>
                    <a:pt x="574" y="644"/>
                  </a:lnTo>
                  <a:lnTo>
                    <a:pt x="572" y="638"/>
                  </a:lnTo>
                  <a:lnTo>
                    <a:pt x="570" y="631"/>
                  </a:lnTo>
                  <a:lnTo>
                    <a:pt x="562" y="621"/>
                  </a:lnTo>
                  <a:lnTo>
                    <a:pt x="556" y="613"/>
                  </a:lnTo>
                  <a:lnTo>
                    <a:pt x="547" y="606"/>
                  </a:lnTo>
                  <a:lnTo>
                    <a:pt x="539" y="598"/>
                  </a:lnTo>
                  <a:lnTo>
                    <a:pt x="531" y="592"/>
                  </a:lnTo>
                  <a:lnTo>
                    <a:pt x="522" y="587"/>
                  </a:lnTo>
                  <a:lnTo>
                    <a:pt x="512" y="581"/>
                  </a:lnTo>
                  <a:lnTo>
                    <a:pt x="504" y="575"/>
                  </a:lnTo>
                  <a:lnTo>
                    <a:pt x="506" y="571"/>
                  </a:lnTo>
                  <a:lnTo>
                    <a:pt x="506" y="569"/>
                  </a:lnTo>
                  <a:lnTo>
                    <a:pt x="508" y="566"/>
                  </a:lnTo>
                  <a:lnTo>
                    <a:pt x="508" y="564"/>
                  </a:lnTo>
                  <a:lnTo>
                    <a:pt x="510" y="560"/>
                  </a:lnTo>
                  <a:lnTo>
                    <a:pt x="510" y="558"/>
                  </a:lnTo>
                  <a:lnTo>
                    <a:pt x="510" y="556"/>
                  </a:lnTo>
                  <a:lnTo>
                    <a:pt x="512" y="552"/>
                  </a:lnTo>
                  <a:lnTo>
                    <a:pt x="514" y="548"/>
                  </a:lnTo>
                  <a:lnTo>
                    <a:pt x="516" y="543"/>
                  </a:lnTo>
                  <a:lnTo>
                    <a:pt x="516" y="537"/>
                  </a:lnTo>
                  <a:lnTo>
                    <a:pt x="518" y="533"/>
                  </a:lnTo>
                  <a:lnTo>
                    <a:pt x="518" y="527"/>
                  </a:lnTo>
                  <a:lnTo>
                    <a:pt x="518" y="521"/>
                  </a:lnTo>
                  <a:lnTo>
                    <a:pt x="520" y="516"/>
                  </a:lnTo>
                  <a:lnTo>
                    <a:pt x="520" y="510"/>
                  </a:lnTo>
                  <a:lnTo>
                    <a:pt x="520" y="504"/>
                  </a:lnTo>
                  <a:lnTo>
                    <a:pt x="520" y="500"/>
                  </a:lnTo>
                  <a:lnTo>
                    <a:pt x="520" y="495"/>
                  </a:lnTo>
                  <a:lnTo>
                    <a:pt x="520" y="491"/>
                  </a:lnTo>
                  <a:lnTo>
                    <a:pt x="522" y="487"/>
                  </a:lnTo>
                  <a:lnTo>
                    <a:pt x="524" y="481"/>
                  </a:lnTo>
                  <a:lnTo>
                    <a:pt x="526" y="477"/>
                  </a:lnTo>
                  <a:lnTo>
                    <a:pt x="526" y="473"/>
                  </a:lnTo>
                  <a:lnTo>
                    <a:pt x="533" y="452"/>
                  </a:lnTo>
                  <a:lnTo>
                    <a:pt x="539" y="431"/>
                  </a:lnTo>
                  <a:lnTo>
                    <a:pt x="545" y="410"/>
                  </a:lnTo>
                  <a:lnTo>
                    <a:pt x="549" y="389"/>
                  </a:lnTo>
                  <a:lnTo>
                    <a:pt x="550" y="368"/>
                  </a:lnTo>
                  <a:lnTo>
                    <a:pt x="550" y="347"/>
                  </a:lnTo>
                  <a:lnTo>
                    <a:pt x="547" y="326"/>
                  </a:lnTo>
                  <a:lnTo>
                    <a:pt x="539" y="307"/>
                  </a:lnTo>
                  <a:lnTo>
                    <a:pt x="539" y="303"/>
                  </a:lnTo>
                  <a:lnTo>
                    <a:pt x="537" y="299"/>
                  </a:lnTo>
                  <a:lnTo>
                    <a:pt x="535" y="297"/>
                  </a:lnTo>
                  <a:lnTo>
                    <a:pt x="533" y="293"/>
                  </a:lnTo>
                  <a:lnTo>
                    <a:pt x="531" y="291"/>
                  </a:lnTo>
                  <a:lnTo>
                    <a:pt x="531" y="289"/>
                  </a:lnTo>
                  <a:lnTo>
                    <a:pt x="529" y="286"/>
                  </a:lnTo>
                  <a:lnTo>
                    <a:pt x="527" y="284"/>
                  </a:lnTo>
                  <a:lnTo>
                    <a:pt x="531" y="282"/>
                  </a:lnTo>
                  <a:lnTo>
                    <a:pt x="533" y="278"/>
                  </a:lnTo>
                  <a:lnTo>
                    <a:pt x="537" y="276"/>
                  </a:lnTo>
                  <a:lnTo>
                    <a:pt x="541" y="274"/>
                  </a:lnTo>
                  <a:lnTo>
                    <a:pt x="545" y="270"/>
                  </a:lnTo>
                  <a:lnTo>
                    <a:pt x="550" y="268"/>
                  </a:lnTo>
                  <a:lnTo>
                    <a:pt x="554" y="264"/>
                  </a:lnTo>
                  <a:lnTo>
                    <a:pt x="556" y="262"/>
                  </a:lnTo>
                  <a:lnTo>
                    <a:pt x="568" y="253"/>
                  </a:lnTo>
                  <a:lnTo>
                    <a:pt x="577" y="247"/>
                  </a:lnTo>
                  <a:lnTo>
                    <a:pt x="589" y="239"/>
                  </a:lnTo>
                  <a:lnTo>
                    <a:pt x="598" y="232"/>
                  </a:lnTo>
                  <a:lnTo>
                    <a:pt x="608" y="222"/>
                  </a:lnTo>
                  <a:lnTo>
                    <a:pt x="616" y="213"/>
                  </a:lnTo>
                  <a:lnTo>
                    <a:pt x="621" y="203"/>
                  </a:lnTo>
                  <a:lnTo>
                    <a:pt x="627" y="192"/>
                  </a:lnTo>
                  <a:lnTo>
                    <a:pt x="621" y="184"/>
                  </a:lnTo>
                  <a:lnTo>
                    <a:pt x="616" y="176"/>
                  </a:lnTo>
                  <a:lnTo>
                    <a:pt x="610" y="172"/>
                  </a:lnTo>
                  <a:lnTo>
                    <a:pt x="602" y="167"/>
                  </a:lnTo>
                  <a:lnTo>
                    <a:pt x="587" y="161"/>
                  </a:lnTo>
                  <a:lnTo>
                    <a:pt x="570" y="155"/>
                  </a:lnTo>
                  <a:lnTo>
                    <a:pt x="552" y="153"/>
                  </a:lnTo>
                  <a:lnTo>
                    <a:pt x="535" y="149"/>
                  </a:lnTo>
                  <a:lnTo>
                    <a:pt x="518" y="144"/>
                  </a:lnTo>
                  <a:lnTo>
                    <a:pt x="503" y="138"/>
                  </a:lnTo>
                  <a:lnTo>
                    <a:pt x="495" y="124"/>
                  </a:lnTo>
                  <a:lnTo>
                    <a:pt x="485" y="113"/>
                  </a:lnTo>
                  <a:lnTo>
                    <a:pt x="478" y="98"/>
                  </a:lnTo>
                  <a:lnTo>
                    <a:pt x="470" y="84"/>
                  </a:lnTo>
                  <a:lnTo>
                    <a:pt x="462" y="71"/>
                  </a:lnTo>
                  <a:lnTo>
                    <a:pt x="455" y="57"/>
                  </a:lnTo>
                  <a:lnTo>
                    <a:pt x="443" y="46"/>
                  </a:lnTo>
                  <a:lnTo>
                    <a:pt x="433" y="34"/>
                  </a:lnTo>
                  <a:lnTo>
                    <a:pt x="430" y="28"/>
                  </a:lnTo>
                  <a:lnTo>
                    <a:pt x="424" y="25"/>
                  </a:lnTo>
                  <a:lnTo>
                    <a:pt x="420" y="21"/>
                  </a:lnTo>
                  <a:lnTo>
                    <a:pt x="414" y="17"/>
                  </a:lnTo>
                  <a:lnTo>
                    <a:pt x="409" y="15"/>
                  </a:lnTo>
                  <a:lnTo>
                    <a:pt x="403" y="11"/>
                  </a:lnTo>
                  <a:lnTo>
                    <a:pt x="397" y="9"/>
                  </a:lnTo>
                  <a:lnTo>
                    <a:pt x="391" y="7"/>
                  </a:lnTo>
                  <a:lnTo>
                    <a:pt x="376" y="2"/>
                  </a:lnTo>
                  <a:lnTo>
                    <a:pt x="361" y="0"/>
                  </a:lnTo>
                  <a:lnTo>
                    <a:pt x="347" y="0"/>
                  </a:lnTo>
                  <a:lnTo>
                    <a:pt x="332" y="0"/>
                  </a:lnTo>
                  <a:lnTo>
                    <a:pt x="316" y="4"/>
                  </a:lnTo>
                  <a:lnTo>
                    <a:pt x="303" y="5"/>
                  </a:lnTo>
                  <a:lnTo>
                    <a:pt x="288" y="9"/>
                  </a:lnTo>
                  <a:lnTo>
                    <a:pt x="274" y="13"/>
                  </a:lnTo>
                  <a:lnTo>
                    <a:pt x="272" y="13"/>
                  </a:lnTo>
                  <a:lnTo>
                    <a:pt x="269" y="13"/>
                  </a:lnTo>
                  <a:lnTo>
                    <a:pt x="267" y="15"/>
                  </a:lnTo>
                  <a:lnTo>
                    <a:pt x="265" y="15"/>
                  </a:lnTo>
                  <a:lnTo>
                    <a:pt x="263" y="17"/>
                  </a:lnTo>
                  <a:lnTo>
                    <a:pt x="261" y="17"/>
                  </a:lnTo>
                  <a:lnTo>
                    <a:pt x="259" y="19"/>
                  </a:lnTo>
                  <a:lnTo>
                    <a:pt x="255" y="19"/>
                  </a:lnTo>
                  <a:lnTo>
                    <a:pt x="232" y="30"/>
                  </a:lnTo>
                  <a:lnTo>
                    <a:pt x="209" y="44"/>
                  </a:lnTo>
                  <a:lnTo>
                    <a:pt x="188" y="59"/>
                  </a:lnTo>
                  <a:lnTo>
                    <a:pt x="167" y="75"/>
                  </a:lnTo>
                  <a:lnTo>
                    <a:pt x="146" y="90"/>
                  </a:lnTo>
                  <a:lnTo>
                    <a:pt x="125" y="105"/>
                  </a:lnTo>
                  <a:lnTo>
                    <a:pt x="104" y="121"/>
                  </a:lnTo>
                  <a:lnTo>
                    <a:pt x="82" y="136"/>
                  </a:lnTo>
                  <a:lnTo>
                    <a:pt x="75" y="140"/>
                  </a:lnTo>
                  <a:lnTo>
                    <a:pt x="67" y="144"/>
                  </a:lnTo>
                  <a:lnTo>
                    <a:pt x="61" y="147"/>
                  </a:lnTo>
                  <a:lnTo>
                    <a:pt x="54" y="153"/>
                  </a:lnTo>
                  <a:lnTo>
                    <a:pt x="48" y="157"/>
                  </a:lnTo>
                  <a:lnTo>
                    <a:pt x="42" y="161"/>
                  </a:lnTo>
                  <a:lnTo>
                    <a:pt x="35" y="165"/>
                  </a:lnTo>
                  <a:lnTo>
                    <a:pt x="29" y="169"/>
                  </a:lnTo>
                  <a:lnTo>
                    <a:pt x="25" y="172"/>
                  </a:lnTo>
                  <a:lnTo>
                    <a:pt x="23" y="174"/>
                  </a:lnTo>
                  <a:lnTo>
                    <a:pt x="19" y="178"/>
                  </a:lnTo>
                  <a:lnTo>
                    <a:pt x="17" y="180"/>
                  </a:lnTo>
                  <a:lnTo>
                    <a:pt x="15" y="184"/>
                  </a:lnTo>
                  <a:lnTo>
                    <a:pt x="15" y="188"/>
                  </a:lnTo>
                  <a:lnTo>
                    <a:pt x="12" y="192"/>
                  </a:lnTo>
                  <a:lnTo>
                    <a:pt x="10" y="193"/>
                  </a:lnTo>
                  <a:lnTo>
                    <a:pt x="8" y="201"/>
                  </a:lnTo>
                  <a:lnTo>
                    <a:pt x="8" y="207"/>
                  </a:lnTo>
                  <a:lnTo>
                    <a:pt x="6" y="215"/>
                  </a:lnTo>
                  <a:lnTo>
                    <a:pt x="6" y="220"/>
                  </a:lnTo>
                  <a:lnTo>
                    <a:pt x="4" y="228"/>
                  </a:lnTo>
                  <a:lnTo>
                    <a:pt x="4" y="236"/>
                  </a:lnTo>
                  <a:lnTo>
                    <a:pt x="2" y="241"/>
                  </a:lnTo>
                  <a:lnTo>
                    <a:pt x="0" y="249"/>
                  </a:lnTo>
                  <a:lnTo>
                    <a:pt x="0" y="255"/>
                  </a:lnTo>
                  <a:lnTo>
                    <a:pt x="2" y="261"/>
                  </a:lnTo>
                  <a:lnTo>
                    <a:pt x="2" y="266"/>
                  </a:lnTo>
                  <a:lnTo>
                    <a:pt x="2" y="272"/>
                  </a:lnTo>
                  <a:lnTo>
                    <a:pt x="4" y="276"/>
                  </a:lnTo>
                  <a:lnTo>
                    <a:pt x="4" y="282"/>
                  </a:lnTo>
                  <a:lnTo>
                    <a:pt x="4" y="287"/>
                  </a:lnTo>
                  <a:lnTo>
                    <a:pt x="6" y="293"/>
                  </a:lnTo>
                  <a:lnTo>
                    <a:pt x="8" y="307"/>
                  </a:lnTo>
                  <a:lnTo>
                    <a:pt x="13" y="320"/>
                  </a:lnTo>
                  <a:lnTo>
                    <a:pt x="21" y="332"/>
                  </a:lnTo>
                  <a:lnTo>
                    <a:pt x="31" y="345"/>
                  </a:lnTo>
                  <a:lnTo>
                    <a:pt x="38" y="356"/>
                  </a:lnTo>
                  <a:lnTo>
                    <a:pt x="44" y="370"/>
                  </a:lnTo>
                  <a:lnTo>
                    <a:pt x="46" y="376"/>
                  </a:lnTo>
                  <a:lnTo>
                    <a:pt x="48" y="383"/>
                  </a:lnTo>
                  <a:lnTo>
                    <a:pt x="48" y="389"/>
                  </a:lnTo>
                  <a:lnTo>
                    <a:pt x="48" y="397"/>
                  </a:lnTo>
                  <a:lnTo>
                    <a:pt x="42" y="403"/>
                  </a:lnTo>
                  <a:lnTo>
                    <a:pt x="38" y="410"/>
                  </a:lnTo>
                  <a:lnTo>
                    <a:pt x="35" y="416"/>
                  </a:lnTo>
                  <a:lnTo>
                    <a:pt x="31" y="422"/>
                  </a:lnTo>
                  <a:lnTo>
                    <a:pt x="29" y="427"/>
                  </a:lnTo>
                  <a:lnTo>
                    <a:pt x="25" y="435"/>
                  </a:lnTo>
                  <a:lnTo>
                    <a:pt x="23" y="441"/>
                  </a:lnTo>
                  <a:lnTo>
                    <a:pt x="21" y="449"/>
                  </a:lnTo>
                  <a:lnTo>
                    <a:pt x="19" y="458"/>
                  </a:lnTo>
                  <a:lnTo>
                    <a:pt x="19" y="468"/>
                  </a:lnTo>
                  <a:lnTo>
                    <a:pt x="19" y="477"/>
                  </a:lnTo>
                  <a:lnTo>
                    <a:pt x="21" y="487"/>
                  </a:lnTo>
                  <a:lnTo>
                    <a:pt x="23" y="495"/>
                  </a:lnTo>
                  <a:lnTo>
                    <a:pt x="27" y="502"/>
                  </a:lnTo>
                  <a:lnTo>
                    <a:pt x="29" y="512"/>
                  </a:lnTo>
                  <a:lnTo>
                    <a:pt x="33" y="519"/>
                  </a:lnTo>
                  <a:lnTo>
                    <a:pt x="35" y="523"/>
                  </a:lnTo>
                  <a:lnTo>
                    <a:pt x="36" y="527"/>
                  </a:lnTo>
                  <a:lnTo>
                    <a:pt x="38" y="531"/>
                  </a:lnTo>
                  <a:lnTo>
                    <a:pt x="42" y="533"/>
                  </a:lnTo>
                  <a:lnTo>
                    <a:pt x="44" y="537"/>
                  </a:lnTo>
                  <a:lnTo>
                    <a:pt x="46" y="539"/>
                  </a:lnTo>
                  <a:lnTo>
                    <a:pt x="48" y="543"/>
                  </a:lnTo>
                  <a:lnTo>
                    <a:pt x="48" y="544"/>
                  </a:lnTo>
                  <a:lnTo>
                    <a:pt x="54" y="552"/>
                  </a:lnTo>
                  <a:lnTo>
                    <a:pt x="59" y="560"/>
                  </a:lnTo>
                  <a:lnTo>
                    <a:pt x="67" y="564"/>
                  </a:lnTo>
                  <a:lnTo>
                    <a:pt x="75" y="567"/>
                  </a:lnTo>
                  <a:lnTo>
                    <a:pt x="82" y="569"/>
                  </a:lnTo>
                  <a:lnTo>
                    <a:pt x="90" y="571"/>
                  </a:lnTo>
                  <a:lnTo>
                    <a:pt x="98" y="573"/>
                  </a:lnTo>
                  <a:lnTo>
                    <a:pt x="105" y="575"/>
                  </a:lnTo>
                  <a:lnTo>
                    <a:pt x="104" y="585"/>
                  </a:lnTo>
                  <a:lnTo>
                    <a:pt x="102" y="594"/>
                  </a:lnTo>
                  <a:lnTo>
                    <a:pt x="102" y="604"/>
                  </a:lnTo>
                  <a:lnTo>
                    <a:pt x="102" y="612"/>
                  </a:lnTo>
                  <a:lnTo>
                    <a:pt x="102" y="621"/>
                  </a:lnTo>
                  <a:lnTo>
                    <a:pt x="104" y="631"/>
                  </a:lnTo>
                  <a:lnTo>
                    <a:pt x="105" y="640"/>
                  </a:lnTo>
                  <a:lnTo>
                    <a:pt x="107" y="650"/>
                  </a:lnTo>
                  <a:lnTo>
                    <a:pt x="113" y="661"/>
                  </a:lnTo>
                  <a:lnTo>
                    <a:pt x="121" y="671"/>
                  </a:lnTo>
                  <a:lnTo>
                    <a:pt x="130" y="681"/>
                  </a:lnTo>
                  <a:lnTo>
                    <a:pt x="140" y="688"/>
                  </a:lnTo>
                  <a:lnTo>
                    <a:pt x="161" y="702"/>
                  </a:lnTo>
                  <a:lnTo>
                    <a:pt x="184" y="713"/>
                  </a:lnTo>
                  <a:lnTo>
                    <a:pt x="207" y="725"/>
                  </a:lnTo>
                  <a:lnTo>
                    <a:pt x="226" y="738"/>
                  </a:lnTo>
                  <a:lnTo>
                    <a:pt x="236" y="748"/>
                  </a:lnTo>
                  <a:lnTo>
                    <a:pt x="244" y="757"/>
                  </a:lnTo>
                  <a:lnTo>
                    <a:pt x="249" y="769"/>
                  </a:lnTo>
                  <a:lnTo>
                    <a:pt x="253" y="782"/>
                  </a:lnTo>
                  <a:lnTo>
                    <a:pt x="280" y="817"/>
                  </a:lnTo>
                  <a:lnTo>
                    <a:pt x="251" y="880"/>
                  </a:lnTo>
                  <a:lnTo>
                    <a:pt x="247" y="880"/>
                  </a:lnTo>
                  <a:lnTo>
                    <a:pt x="246" y="880"/>
                  </a:lnTo>
                  <a:lnTo>
                    <a:pt x="244" y="880"/>
                  </a:lnTo>
                  <a:lnTo>
                    <a:pt x="242" y="882"/>
                  </a:lnTo>
                  <a:lnTo>
                    <a:pt x="240" y="884"/>
                  </a:lnTo>
                  <a:lnTo>
                    <a:pt x="238" y="884"/>
                  </a:lnTo>
                  <a:lnTo>
                    <a:pt x="234" y="886"/>
                  </a:lnTo>
                  <a:lnTo>
                    <a:pt x="232" y="888"/>
                  </a:lnTo>
                  <a:lnTo>
                    <a:pt x="226" y="895"/>
                  </a:lnTo>
                  <a:lnTo>
                    <a:pt x="222" y="903"/>
                  </a:lnTo>
                  <a:lnTo>
                    <a:pt x="221" y="913"/>
                  </a:lnTo>
                  <a:lnTo>
                    <a:pt x="219" y="920"/>
                  </a:lnTo>
                  <a:lnTo>
                    <a:pt x="217" y="930"/>
                  </a:lnTo>
                  <a:lnTo>
                    <a:pt x="217" y="938"/>
                  </a:lnTo>
                  <a:lnTo>
                    <a:pt x="215" y="945"/>
                  </a:lnTo>
                  <a:lnTo>
                    <a:pt x="215" y="953"/>
                  </a:lnTo>
                  <a:lnTo>
                    <a:pt x="215" y="959"/>
                  </a:lnTo>
                  <a:lnTo>
                    <a:pt x="215" y="964"/>
                  </a:lnTo>
                  <a:lnTo>
                    <a:pt x="215" y="970"/>
                  </a:lnTo>
                  <a:lnTo>
                    <a:pt x="215" y="974"/>
                  </a:lnTo>
                  <a:lnTo>
                    <a:pt x="215" y="980"/>
                  </a:lnTo>
                  <a:lnTo>
                    <a:pt x="215" y="984"/>
                  </a:lnTo>
                  <a:lnTo>
                    <a:pt x="217" y="989"/>
                  </a:lnTo>
                  <a:lnTo>
                    <a:pt x="217" y="993"/>
                  </a:lnTo>
                  <a:lnTo>
                    <a:pt x="217" y="997"/>
                  </a:lnTo>
                  <a:lnTo>
                    <a:pt x="217" y="999"/>
                  </a:lnTo>
                  <a:lnTo>
                    <a:pt x="217" y="1001"/>
                  </a:lnTo>
                  <a:lnTo>
                    <a:pt x="219" y="1003"/>
                  </a:lnTo>
                  <a:lnTo>
                    <a:pt x="221" y="1005"/>
                  </a:lnTo>
                  <a:lnTo>
                    <a:pt x="221" y="1007"/>
                  </a:lnTo>
                  <a:lnTo>
                    <a:pt x="222" y="1009"/>
                  </a:lnTo>
                  <a:lnTo>
                    <a:pt x="219" y="1014"/>
                  </a:lnTo>
                  <a:lnTo>
                    <a:pt x="213" y="1018"/>
                  </a:lnTo>
                  <a:lnTo>
                    <a:pt x="207" y="1024"/>
                  </a:lnTo>
                  <a:lnTo>
                    <a:pt x="201" y="1032"/>
                  </a:lnTo>
                  <a:lnTo>
                    <a:pt x="198" y="1037"/>
                  </a:lnTo>
                  <a:lnTo>
                    <a:pt x="194" y="1045"/>
                  </a:lnTo>
                  <a:lnTo>
                    <a:pt x="194" y="1053"/>
                  </a:lnTo>
                  <a:lnTo>
                    <a:pt x="194" y="1060"/>
                  </a:lnTo>
                  <a:lnTo>
                    <a:pt x="198" y="1066"/>
                  </a:lnTo>
                  <a:lnTo>
                    <a:pt x="201" y="1068"/>
                  </a:lnTo>
                  <a:lnTo>
                    <a:pt x="205" y="1068"/>
                  </a:lnTo>
                  <a:lnTo>
                    <a:pt x="209" y="1068"/>
                  </a:lnTo>
                  <a:lnTo>
                    <a:pt x="213" y="1066"/>
                  </a:lnTo>
                  <a:lnTo>
                    <a:pt x="219" y="1064"/>
                  </a:lnTo>
                  <a:lnTo>
                    <a:pt x="222" y="1064"/>
                  </a:lnTo>
                  <a:lnTo>
                    <a:pt x="226" y="1066"/>
                  </a:lnTo>
                  <a:lnTo>
                    <a:pt x="228" y="1068"/>
                  </a:lnTo>
                  <a:lnTo>
                    <a:pt x="230" y="1068"/>
                  </a:lnTo>
                  <a:lnTo>
                    <a:pt x="230" y="1070"/>
                  </a:lnTo>
                  <a:lnTo>
                    <a:pt x="232" y="1072"/>
                  </a:lnTo>
                  <a:lnTo>
                    <a:pt x="234" y="1072"/>
                  </a:lnTo>
                  <a:lnTo>
                    <a:pt x="236" y="1074"/>
                  </a:lnTo>
                  <a:lnTo>
                    <a:pt x="238" y="1076"/>
                  </a:lnTo>
                  <a:lnTo>
                    <a:pt x="244" y="1206"/>
                  </a:lnTo>
                  <a:lnTo>
                    <a:pt x="240" y="1210"/>
                  </a:lnTo>
                  <a:lnTo>
                    <a:pt x="240" y="1212"/>
                  </a:lnTo>
                  <a:lnTo>
                    <a:pt x="238" y="1216"/>
                  </a:lnTo>
                  <a:lnTo>
                    <a:pt x="238" y="1220"/>
                  </a:lnTo>
                  <a:lnTo>
                    <a:pt x="238" y="1223"/>
                  </a:lnTo>
                  <a:lnTo>
                    <a:pt x="238" y="1227"/>
                  </a:lnTo>
                  <a:lnTo>
                    <a:pt x="236" y="1231"/>
                  </a:lnTo>
                  <a:lnTo>
                    <a:pt x="234" y="1233"/>
                  </a:lnTo>
                  <a:lnTo>
                    <a:pt x="232" y="1239"/>
                  </a:lnTo>
                  <a:lnTo>
                    <a:pt x="232" y="1244"/>
                  </a:lnTo>
                  <a:lnTo>
                    <a:pt x="232" y="1252"/>
                  </a:lnTo>
                  <a:lnTo>
                    <a:pt x="230" y="1258"/>
                  </a:lnTo>
                  <a:lnTo>
                    <a:pt x="230" y="1264"/>
                  </a:lnTo>
                  <a:lnTo>
                    <a:pt x="230" y="1269"/>
                  </a:lnTo>
                  <a:lnTo>
                    <a:pt x="228" y="1273"/>
                  </a:lnTo>
                  <a:lnTo>
                    <a:pt x="228" y="1279"/>
                  </a:lnTo>
                  <a:lnTo>
                    <a:pt x="228" y="1291"/>
                  </a:lnTo>
                  <a:lnTo>
                    <a:pt x="228" y="1302"/>
                  </a:lnTo>
                  <a:lnTo>
                    <a:pt x="228" y="1312"/>
                  </a:lnTo>
                  <a:lnTo>
                    <a:pt x="228" y="1323"/>
                  </a:lnTo>
                  <a:lnTo>
                    <a:pt x="230" y="1335"/>
                  </a:lnTo>
                  <a:lnTo>
                    <a:pt x="230" y="1344"/>
                  </a:lnTo>
                  <a:lnTo>
                    <a:pt x="232" y="1356"/>
                  </a:lnTo>
                  <a:lnTo>
                    <a:pt x="236" y="1365"/>
                  </a:lnTo>
                  <a:lnTo>
                    <a:pt x="238" y="1386"/>
                  </a:lnTo>
                  <a:lnTo>
                    <a:pt x="242" y="1406"/>
                  </a:lnTo>
                  <a:lnTo>
                    <a:pt x="249" y="1423"/>
                  </a:lnTo>
                  <a:lnTo>
                    <a:pt x="257" y="1440"/>
                  </a:lnTo>
                  <a:lnTo>
                    <a:pt x="267" y="1457"/>
                  </a:lnTo>
                  <a:lnTo>
                    <a:pt x="278" y="1473"/>
                  </a:lnTo>
                  <a:lnTo>
                    <a:pt x="292" y="1486"/>
                  </a:lnTo>
                  <a:lnTo>
                    <a:pt x="307" y="1498"/>
                  </a:lnTo>
                  <a:lnTo>
                    <a:pt x="305" y="1500"/>
                  </a:lnTo>
                  <a:lnTo>
                    <a:pt x="303" y="1500"/>
                  </a:lnTo>
                  <a:lnTo>
                    <a:pt x="299" y="1501"/>
                  </a:lnTo>
                  <a:lnTo>
                    <a:pt x="295" y="1501"/>
                  </a:lnTo>
                  <a:lnTo>
                    <a:pt x="293" y="1503"/>
                  </a:lnTo>
                  <a:lnTo>
                    <a:pt x="290" y="1503"/>
                  </a:lnTo>
                  <a:lnTo>
                    <a:pt x="286" y="1503"/>
                  </a:lnTo>
                  <a:lnTo>
                    <a:pt x="282" y="1505"/>
                  </a:lnTo>
                  <a:lnTo>
                    <a:pt x="276" y="1505"/>
                  </a:lnTo>
                  <a:lnTo>
                    <a:pt x="272" y="1507"/>
                  </a:lnTo>
                  <a:lnTo>
                    <a:pt x="270" y="1509"/>
                  </a:lnTo>
                  <a:lnTo>
                    <a:pt x="267" y="1509"/>
                  </a:lnTo>
                  <a:lnTo>
                    <a:pt x="263" y="1511"/>
                  </a:lnTo>
                  <a:lnTo>
                    <a:pt x="259" y="1513"/>
                  </a:lnTo>
                  <a:lnTo>
                    <a:pt x="255" y="1513"/>
                  </a:lnTo>
                  <a:lnTo>
                    <a:pt x="251" y="1515"/>
                  </a:lnTo>
                  <a:lnTo>
                    <a:pt x="246" y="1517"/>
                  </a:lnTo>
                  <a:lnTo>
                    <a:pt x="242" y="1517"/>
                  </a:lnTo>
                  <a:lnTo>
                    <a:pt x="238" y="1519"/>
                  </a:lnTo>
                  <a:lnTo>
                    <a:pt x="234" y="1519"/>
                  </a:lnTo>
                  <a:lnTo>
                    <a:pt x="230" y="1521"/>
                  </a:lnTo>
                  <a:lnTo>
                    <a:pt x="226" y="1523"/>
                  </a:lnTo>
                  <a:lnTo>
                    <a:pt x="222" y="1525"/>
                  </a:lnTo>
                  <a:lnTo>
                    <a:pt x="219" y="1528"/>
                  </a:lnTo>
                  <a:lnTo>
                    <a:pt x="215" y="1528"/>
                  </a:lnTo>
                  <a:lnTo>
                    <a:pt x="211" y="1530"/>
                  </a:lnTo>
                  <a:lnTo>
                    <a:pt x="207" y="1532"/>
                  </a:lnTo>
                  <a:lnTo>
                    <a:pt x="203" y="1536"/>
                  </a:lnTo>
                  <a:lnTo>
                    <a:pt x="201" y="1540"/>
                  </a:lnTo>
                  <a:lnTo>
                    <a:pt x="199" y="1544"/>
                  </a:lnTo>
                  <a:lnTo>
                    <a:pt x="196" y="1548"/>
                  </a:lnTo>
                  <a:lnTo>
                    <a:pt x="194" y="1549"/>
                  </a:lnTo>
                  <a:lnTo>
                    <a:pt x="192" y="1555"/>
                  </a:lnTo>
                  <a:lnTo>
                    <a:pt x="188" y="1563"/>
                  </a:lnTo>
                  <a:lnTo>
                    <a:pt x="186" y="1569"/>
                  </a:lnTo>
                  <a:lnTo>
                    <a:pt x="184" y="1576"/>
                  </a:lnTo>
                  <a:lnTo>
                    <a:pt x="184" y="1582"/>
                  </a:lnTo>
                  <a:lnTo>
                    <a:pt x="184" y="1590"/>
                  </a:lnTo>
                  <a:lnTo>
                    <a:pt x="186" y="1595"/>
                  </a:lnTo>
                  <a:lnTo>
                    <a:pt x="190" y="1601"/>
                  </a:lnTo>
                  <a:lnTo>
                    <a:pt x="196" y="1605"/>
                  </a:lnTo>
                  <a:lnTo>
                    <a:pt x="203" y="1609"/>
                  </a:lnTo>
                  <a:lnTo>
                    <a:pt x="209" y="1611"/>
                  </a:lnTo>
                  <a:lnTo>
                    <a:pt x="215" y="1613"/>
                  </a:lnTo>
                  <a:lnTo>
                    <a:pt x="222" y="1617"/>
                  </a:lnTo>
                  <a:lnTo>
                    <a:pt x="228" y="1617"/>
                  </a:lnTo>
                  <a:lnTo>
                    <a:pt x="234" y="1618"/>
                  </a:lnTo>
                  <a:lnTo>
                    <a:pt x="242" y="1620"/>
                  </a:lnTo>
                  <a:lnTo>
                    <a:pt x="246" y="1620"/>
                  </a:lnTo>
                  <a:lnTo>
                    <a:pt x="247" y="1620"/>
                  </a:lnTo>
                  <a:lnTo>
                    <a:pt x="251" y="1620"/>
                  </a:lnTo>
                  <a:lnTo>
                    <a:pt x="253" y="1620"/>
                  </a:lnTo>
                  <a:lnTo>
                    <a:pt x="257" y="1622"/>
                  </a:lnTo>
                  <a:lnTo>
                    <a:pt x="261" y="1622"/>
                  </a:lnTo>
                  <a:lnTo>
                    <a:pt x="263" y="1622"/>
                  </a:lnTo>
                  <a:lnTo>
                    <a:pt x="267" y="16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6" name="Freeform 7">
              <a:extLst>
                <a:ext uri="{FF2B5EF4-FFF2-40B4-BE49-F238E27FC236}">
                  <a16:creationId xmlns:a16="http://schemas.microsoft.com/office/drawing/2014/main" id="{613D5A21-4AD5-CF22-691F-24FD6B4DB20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62" y="3535"/>
              <a:ext cx="280" cy="98"/>
            </a:xfrm>
            <a:custGeom>
              <a:avLst/>
              <a:gdLst>
                <a:gd name="T0" fmla="*/ 107 w 280"/>
                <a:gd name="T1" fmla="*/ 96 h 98"/>
                <a:gd name="T2" fmla="*/ 159 w 280"/>
                <a:gd name="T3" fmla="*/ 94 h 98"/>
                <a:gd name="T4" fmla="*/ 209 w 280"/>
                <a:gd name="T5" fmla="*/ 90 h 98"/>
                <a:gd name="T6" fmla="*/ 245 w 280"/>
                <a:gd name="T7" fmla="*/ 80 h 98"/>
                <a:gd name="T8" fmla="*/ 266 w 280"/>
                <a:gd name="T9" fmla="*/ 69 h 98"/>
                <a:gd name="T10" fmla="*/ 278 w 280"/>
                <a:gd name="T11" fmla="*/ 57 h 98"/>
                <a:gd name="T12" fmla="*/ 280 w 280"/>
                <a:gd name="T13" fmla="*/ 48 h 98"/>
                <a:gd name="T14" fmla="*/ 280 w 280"/>
                <a:gd name="T15" fmla="*/ 40 h 98"/>
                <a:gd name="T16" fmla="*/ 276 w 280"/>
                <a:gd name="T17" fmla="*/ 34 h 98"/>
                <a:gd name="T18" fmla="*/ 264 w 280"/>
                <a:gd name="T19" fmla="*/ 25 h 98"/>
                <a:gd name="T20" fmla="*/ 245 w 280"/>
                <a:gd name="T21" fmla="*/ 17 h 98"/>
                <a:gd name="T22" fmla="*/ 228 w 280"/>
                <a:gd name="T23" fmla="*/ 9 h 98"/>
                <a:gd name="T24" fmla="*/ 209 w 280"/>
                <a:gd name="T25" fmla="*/ 4 h 98"/>
                <a:gd name="T26" fmla="*/ 188 w 280"/>
                <a:gd name="T27" fmla="*/ 0 h 98"/>
                <a:gd name="T28" fmla="*/ 163 w 280"/>
                <a:gd name="T29" fmla="*/ 0 h 98"/>
                <a:gd name="T30" fmla="*/ 138 w 280"/>
                <a:gd name="T31" fmla="*/ 0 h 98"/>
                <a:gd name="T32" fmla="*/ 115 w 280"/>
                <a:gd name="T33" fmla="*/ 2 h 98"/>
                <a:gd name="T34" fmla="*/ 94 w 280"/>
                <a:gd name="T35" fmla="*/ 4 h 98"/>
                <a:gd name="T36" fmla="*/ 74 w 280"/>
                <a:gd name="T37" fmla="*/ 6 h 98"/>
                <a:gd name="T38" fmla="*/ 55 w 280"/>
                <a:gd name="T39" fmla="*/ 11 h 98"/>
                <a:gd name="T40" fmla="*/ 38 w 280"/>
                <a:gd name="T41" fmla="*/ 17 h 98"/>
                <a:gd name="T42" fmla="*/ 23 w 280"/>
                <a:gd name="T43" fmla="*/ 27 h 98"/>
                <a:gd name="T44" fmla="*/ 13 w 280"/>
                <a:gd name="T45" fmla="*/ 34 h 98"/>
                <a:gd name="T46" fmla="*/ 5 w 280"/>
                <a:gd name="T47" fmla="*/ 46 h 98"/>
                <a:gd name="T48" fmla="*/ 2 w 280"/>
                <a:gd name="T49" fmla="*/ 59 h 98"/>
                <a:gd name="T50" fmla="*/ 2 w 280"/>
                <a:gd name="T51" fmla="*/ 71 h 98"/>
                <a:gd name="T52" fmla="*/ 5 w 280"/>
                <a:gd name="T53" fmla="*/ 80 h 98"/>
                <a:gd name="T54" fmla="*/ 15 w 280"/>
                <a:gd name="T55" fmla="*/ 84 h 98"/>
                <a:gd name="T56" fmla="*/ 23 w 280"/>
                <a:gd name="T57" fmla="*/ 88 h 98"/>
                <a:gd name="T58" fmla="*/ 34 w 280"/>
                <a:gd name="T59" fmla="*/ 92 h 98"/>
                <a:gd name="T60" fmla="*/ 48 w 280"/>
                <a:gd name="T61" fmla="*/ 94 h 98"/>
                <a:gd name="T62" fmla="*/ 61 w 280"/>
                <a:gd name="T63" fmla="*/ 94 h 98"/>
                <a:gd name="T64" fmla="*/ 74 w 280"/>
                <a:gd name="T65" fmla="*/ 96 h 9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80" h="98">
                  <a:moveTo>
                    <a:pt x="82" y="98"/>
                  </a:moveTo>
                  <a:lnTo>
                    <a:pt x="107" y="96"/>
                  </a:lnTo>
                  <a:lnTo>
                    <a:pt x="132" y="94"/>
                  </a:lnTo>
                  <a:lnTo>
                    <a:pt x="159" y="94"/>
                  </a:lnTo>
                  <a:lnTo>
                    <a:pt x="184" y="92"/>
                  </a:lnTo>
                  <a:lnTo>
                    <a:pt x="209" y="90"/>
                  </a:lnTo>
                  <a:lnTo>
                    <a:pt x="234" y="84"/>
                  </a:lnTo>
                  <a:lnTo>
                    <a:pt x="245" y="80"/>
                  </a:lnTo>
                  <a:lnTo>
                    <a:pt x="257" y="75"/>
                  </a:lnTo>
                  <a:lnTo>
                    <a:pt x="266" y="69"/>
                  </a:lnTo>
                  <a:lnTo>
                    <a:pt x="278" y="61"/>
                  </a:lnTo>
                  <a:lnTo>
                    <a:pt x="278" y="57"/>
                  </a:lnTo>
                  <a:lnTo>
                    <a:pt x="280" y="54"/>
                  </a:lnTo>
                  <a:lnTo>
                    <a:pt x="280" y="48"/>
                  </a:lnTo>
                  <a:lnTo>
                    <a:pt x="280" y="44"/>
                  </a:lnTo>
                  <a:lnTo>
                    <a:pt x="280" y="40"/>
                  </a:lnTo>
                  <a:lnTo>
                    <a:pt x="278" y="36"/>
                  </a:lnTo>
                  <a:lnTo>
                    <a:pt x="276" y="34"/>
                  </a:lnTo>
                  <a:lnTo>
                    <a:pt x="274" y="31"/>
                  </a:lnTo>
                  <a:lnTo>
                    <a:pt x="264" y="25"/>
                  </a:lnTo>
                  <a:lnTo>
                    <a:pt x="255" y="21"/>
                  </a:lnTo>
                  <a:lnTo>
                    <a:pt x="245" y="17"/>
                  </a:lnTo>
                  <a:lnTo>
                    <a:pt x="236" y="13"/>
                  </a:lnTo>
                  <a:lnTo>
                    <a:pt x="228" y="9"/>
                  </a:lnTo>
                  <a:lnTo>
                    <a:pt x="218" y="6"/>
                  </a:lnTo>
                  <a:lnTo>
                    <a:pt x="209" y="4"/>
                  </a:lnTo>
                  <a:lnTo>
                    <a:pt x="201" y="2"/>
                  </a:lnTo>
                  <a:lnTo>
                    <a:pt x="188" y="0"/>
                  </a:lnTo>
                  <a:lnTo>
                    <a:pt x="174" y="0"/>
                  </a:lnTo>
                  <a:lnTo>
                    <a:pt x="163" y="0"/>
                  </a:lnTo>
                  <a:lnTo>
                    <a:pt x="149" y="0"/>
                  </a:lnTo>
                  <a:lnTo>
                    <a:pt x="138" y="0"/>
                  </a:lnTo>
                  <a:lnTo>
                    <a:pt x="126" y="0"/>
                  </a:lnTo>
                  <a:lnTo>
                    <a:pt x="115" y="2"/>
                  </a:lnTo>
                  <a:lnTo>
                    <a:pt x="103" y="2"/>
                  </a:lnTo>
                  <a:lnTo>
                    <a:pt x="94" y="4"/>
                  </a:lnTo>
                  <a:lnTo>
                    <a:pt x="84" y="4"/>
                  </a:lnTo>
                  <a:lnTo>
                    <a:pt x="74" y="6"/>
                  </a:lnTo>
                  <a:lnTo>
                    <a:pt x="65" y="8"/>
                  </a:lnTo>
                  <a:lnTo>
                    <a:pt x="55" y="11"/>
                  </a:lnTo>
                  <a:lnTo>
                    <a:pt x="48" y="13"/>
                  </a:lnTo>
                  <a:lnTo>
                    <a:pt x="38" y="17"/>
                  </a:lnTo>
                  <a:lnTo>
                    <a:pt x="30" y="23"/>
                  </a:lnTo>
                  <a:lnTo>
                    <a:pt x="23" y="27"/>
                  </a:lnTo>
                  <a:lnTo>
                    <a:pt x="17" y="31"/>
                  </a:lnTo>
                  <a:lnTo>
                    <a:pt x="13" y="34"/>
                  </a:lnTo>
                  <a:lnTo>
                    <a:pt x="9" y="40"/>
                  </a:lnTo>
                  <a:lnTo>
                    <a:pt x="5" y="46"/>
                  </a:lnTo>
                  <a:lnTo>
                    <a:pt x="3" y="52"/>
                  </a:lnTo>
                  <a:lnTo>
                    <a:pt x="2" y="59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3" y="77"/>
                  </a:lnTo>
                  <a:lnTo>
                    <a:pt x="5" y="80"/>
                  </a:lnTo>
                  <a:lnTo>
                    <a:pt x="9" y="82"/>
                  </a:lnTo>
                  <a:lnTo>
                    <a:pt x="15" y="84"/>
                  </a:lnTo>
                  <a:lnTo>
                    <a:pt x="19" y="86"/>
                  </a:lnTo>
                  <a:lnTo>
                    <a:pt x="23" y="88"/>
                  </a:lnTo>
                  <a:lnTo>
                    <a:pt x="26" y="90"/>
                  </a:lnTo>
                  <a:lnTo>
                    <a:pt x="34" y="92"/>
                  </a:lnTo>
                  <a:lnTo>
                    <a:pt x="42" y="92"/>
                  </a:lnTo>
                  <a:lnTo>
                    <a:pt x="48" y="94"/>
                  </a:lnTo>
                  <a:lnTo>
                    <a:pt x="55" y="94"/>
                  </a:lnTo>
                  <a:lnTo>
                    <a:pt x="61" y="94"/>
                  </a:lnTo>
                  <a:lnTo>
                    <a:pt x="69" y="96"/>
                  </a:lnTo>
                  <a:lnTo>
                    <a:pt x="74" y="96"/>
                  </a:lnTo>
                  <a:lnTo>
                    <a:pt x="82" y="98"/>
                  </a:lnTo>
                  <a:close/>
                </a:path>
              </a:pathLst>
            </a:custGeom>
            <a:solidFill>
              <a:srgbClr val="875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Freeform 8">
              <a:extLst>
                <a:ext uri="{FF2B5EF4-FFF2-40B4-BE49-F238E27FC236}">
                  <a16:creationId xmlns:a16="http://schemas.microsoft.com/office/drawing/2014/main" id="{76B51C1E-5915-DC09-7977-ADFCA9584B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313" y="3502"/>
              <a:ext cx="393" cy="94"/>
            </a:xfrm>
            <a:custGeom>
              <a:avLst/>
              <a:gdLst>
                <a:gd name="T0" fmla="*/ 328 w 393"/>
                <a:gd name="T1" fmla="*/ 94 h 94"/>
                <a:gd name="T2" fmla="*/ 337 w 393"/>
                <a:gd name="T3" fmla="*/ 92 h 94"/>
                <a:gd name="T4" fmla="*/ 347 w 393"/>
                <a:gd name="T5" fmla="*/ 92 h 94"/>
                <a:gd name="T6" fmla="*/ 356 w 393"/>
                <a:gd name="T7" fmla="*/ 92 h 94"/>
                <a:gd name="T8" fmla="*/ 366 w 393"/>
                <a:gd name="T9" fmla="*/ 90 h 94"/>
                <a:gd name="T10" fmla="*/ 376 w 393"/>
                <a:gd name="T11" fmla="*/ 88 h 94"/>
                <a:gd name="T12" fmla="*/ 383 w 393"/>
                <a:gd name="T13" fmla="*/ 87 h 94"/>
                <a:gd name="T14" fmla="*/ 389 w 393"/>
                <a:gd name="T15" fmla="*/ 83 h 94"/>
                <a:gd name="T16" fmla="*/ 393 w 393"/>
                <a:gd name="T17" fmla="*/ 73 h 94"/>
                <a:gd name="T18" fmla="*/ 389 w 393"/>
                <a:gd name="T19" fmla="*/ 64 h 94"/>
                <a:gd name="T20" fmla="*/ 381 w 393"/>
                <a:gd name="T21" fmla="*/ 54 h 94"/>
                <a:gd name="T22" fmla="*/ 374 w 393"/>
                <a:gd name="T23" fmla="*/ 46 h 94"/>
                <a:gd name="T24" fmla="*/ 364 w 393"/>
                <a:gd name="T25" fmla="*/ 41 h 94"/>
                <a:gd name="T26" fmla="*/ 358 w 393"/>
                <a:gd name="T27" fmla="*/ 37 h 94"/>
                <a:gd name="T28" fmla="*/ 351 w 393"/>
                <a:gd name="T29" fmla="*/ 33 h 94"/>
                <a:gd name="T30" fmla="*/ 341 w 393"/>
                <a:gd name="T31" fmla="*/ 31 h 94"/>
                <a:gd name="T32" fmla="*/ 331 w 393"/>
                <a:gd name="T33" fmla="*/ 29 h 94"/>
                <a:gd name="T34" fmla="*/ 324 w 393"/>
                <a:gd name="T35" fmla="*/ 25 h 94"/>
                <a:gd name="T36" fmla="*/ 314 w 393"/>
                <a:gd name="T37" fmla="*/ 23 h 94"/>
                <a:gd name="T38" fmla="*/ 306 w 393"/>
                <a:gd name="T39" fmla="*/ 21 h 94"/>
                <a:gd name="T40" fmla="*/ 289 w 393"/>
                <a:gd name="T41" fmla="*/ 19 h 94"/>
                <a:gd name="T42" fmla="*/ 259 w 393"/>
                <a:gd name="T43" fmla="*/ 16 h 94"/>
                <a:gd name="T44" fmla="*/ 230 w 393"/>
                <a:gd name="T45" fmla="*/ 10 h 94"/>
                <a:gd name="T46" fmla="*/ 201 w 393"/>
                <a:gd name="T47" fmla="*/ 6 h 94"/>
                <a:gd name="T48" fmla="*/ 172 w 393"/>
                <a:gd name="T49" fmla="*/ 2 h 94"/>
                <a:gd name="T50" fmla="*/ 140 w 393"/>
                <a:gd name="T51" fmla="*/ 0 h 94"/>
                <a:gd name="T52" fmla="*/ 109 w 393"/>
                <a:gd name="T53" fmla="*/ 0 h 94"/>
                <a:gd name="T54" fmla="*/ 78 w 393"/>
                <a:gd name="T55" fmla="*/ 2 h 94"/>
                <a:gd name="T56" fmla="*/ 59 w 393"/>
                <a:gd name="T57" fmla="*/ 2 h 94"/>
                <a:gd name="T58" fmla="*/ 51 w 393"/>
                <a:gd name="T59" fmla="*/ 4 h 94"/>
                <a:gd name="T60" fmla="*/ 46 w 393"/>
                <a:gd name="T61" fmla="*/ 6 h 94"/>
                <a:gd name="T62" fmla="*/ 38 w 393"/>
                <a:gd name="T63" fmla="*/ 8 h 94"/>
                <a:gd name="T64" fmla="*/ 30 w 393"/>
                <a:gd name="T65" fmla="*/ 12 h 94"/>
                <a:gd name="T66" fmla="*/ 21 w 393"/>
                <a:gd name="T67" fmla="*/ 19 h 94"/>
                <a:gd name="T68" fmla="*/ 13 w 393"/>
                <a:gd name="T69" fmla="*/ 25 h 94"/>
                <a:gd name="T70" fmla="*/ 3 w 393"/>
                <a:gd name="T71" fmla="*/ 29 h 94"/>
                <a:gd name="T72" fmla="*/ 49 w 393"/>
                <a:gd name="T73" fmla="*/ 48 h 94"/>
                <a:gd name="T74" fmla="*/ 51 w 393"/>
                <a:gd name="T75" fmla="*/ 54 h 94"/>
                <a:gd name="T76" fmla="*/ 51 w 393"/>
                <a:gd name="T77" fmla="*/ 58 h 94"/>
                <a:gd name="T78" fmla="*/ 53 w 393"/>
                <a:gd name="T79" fmla="*/ 62 h 94"/>
                <a:gd name="T80" fmla="*/ 55 w 393"/>
                <a:gd name="T81" fmla="*/ 67 h 94"/>
                <a:gd name="T82" fmla="*/ 55 w 393"/>
                <a:gd name="T83" fmla="*/ 71 h 94"/>
                <a:gd name="T84" fmla="*/ 57 w 393"/>
                <a:gd name="T85" fmla="*/ 77 h 94"/>
                <a:gd name="T86" fmla="*/ 57 w 393"/>
                <a:gd name="T87" fmla="*/ 81 h 94"/>
                <a:gd name="T88" fmla="*/ 59 w 393"/>
                <a:gd name="T89" fmla="*/ 85 h 94"/>
                <a:gd name="T90" fmla="*/ 72 w 393"/>
                <a:gd name="T91" fmla="*/ 85 h 94"/>
                <a:gd name="T92" fmla="*/ 86 w 393"/>
                <a:gd name="T93" fmla="*/ 85 h 94"/>
                <a:gd name="T94" fmla="*/ 99 w 393"/>
                <a:gd name="T95" fmla="*/ 85 h 94"/>
                <a:gd name="T96" fmla="*/ 115 w 393"/>
                <a:gd name="T97" fmla="*/ 85 h 94"/>
                <a:gd name="T98" fmla="*/ 166 w 393"/>
                <a:gd name="T99" fmla="*/ 87 h 94"/>
                <a:gd name="T100" fmla="*/ 218 w 393"/>
                <a:gd name="T101" fmla="*/ 90 h 94"/>
                <a:gd name="T102" fmla="*/ 268 w 393"/>
                <a:gd name="T103" fmla="*/ 92 h 94"/>
                <a:gd name="T104" fmla="*/ 320 w 393"/>
                <a:gd name="T105" fmla="*/ 94 h 94"/>
                <a:gd name="T106" fmla="*/ 320 w 393"/>
                <a:gd name="T107" fmla="*/ 94 h 94"/>
                <a:gd name="T108" fmla="*/ 322 w 393"/>
                <a:gd name="T109" fmla="*/ 94 h 94"/>
                <a:gd name="T110" fmla="*/ 322 w 393"/>
                <a:gd name="T111" fmla="*/ 94 h 94"/>
                <a:gd name="T112" fmla="*/ 324 w 393"/>
                <a:gd name="T113" fmla="*/ 94 h 9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93" h="94">
                  <a:moveTo>
                    <a:pt x="324" y="94"/>
                  </a:moveTo>
                  <a:lnTo>
                    <a:pt x="328" y="94"/>
                  </a:lnTo>
                  <a:lnTo>
                    <a:pt x="333" y="94"/>
                  </a:lnTo>
                  <a:lnTo>
                    <a:pt x="337" y="92"/>
                  </a:lnTo>
                  <a:lnTo>
                    <a:pt x="343" y="92"/>
                  </a:lnTo>
                  <a:lnTo>
                    <a:pt x="347" y="92"/>
                  </a:lnTo>
                  <a:lnTo>
                    <a:pt x="352" y="92"/>
                  </a:lnTo>
                  <a:lnTo>
                    <a:pt x="356" y="92"/>
                  </a:lnTo>
                  <a:lnTo>
                    <a:pt x="362" y="90"/>
                  </a:lnTo>
                  <a:lnTo>
                    <a:pt x="366" y="90"/>
                  </a:lnTo>
                  <a:lnTo>
                    <a:pt x="372" y="90"/>
                  </a:lnTo>
                  <a:lnTo>
                    <a:pt x="376" y="88"/>
                  </a:lnTo>
                  <a:lnTo>
                    <a:pt x="379" y="88"/>
                  </a:lnTo>
                  <a:lnTo>
                    <a:pt x="383" y="87"/>
                  </a:lnTo>
                  <a:lnTo>
                    <a:pt x="387" y="85"/>
                  </a:lnTo>
                  <a:lnTo>
                    <a:pt x="389" y="83"/>
                  </a:lnTo>
                  <a:lnTo>
                    <a:pt x="393" y="79"/>
                  </a:lnTo>
                  <a:lnTo>
                    <a:pt x="393" y="73"/>
                  </a:lnTo>
                  <a:lnTo>
                    <a:pt x="391" y="67"/>
                  </a:lnTo>
                  <a:lnTo>
                    <a:pt x="389" y="64"/>
                  </a:lnTo>
                  <a:lnTo>
                    <a:pt x="385" y="58"/>
                  </a:lnTo>
                  <a:lnTo>
                    <a:pt x="381" y="54"/>
                  </a:lnTo>
                  <a:lnTo>
                    <a:pt x="377" y="50"/>
                  </a:lnTo>
                  <a:lnTo>
                    <a:pt x="374" y="46"/>
                  </a:lnTo>
                  <a:lnTo>
                    <a:pt x="368" y="44"/>
                  </a:lnTo>
                  <a:lnTo>
                    <a:pt x="364" y="41"/>
                  </a:lnTo>
                  <a:lnTo>
                    <a:pt x="360" y="39"/>
                  </a:lnTo>
                  <a:lnTo>
                    <a:pt x="358" y="37"/>
                  </a:lnTo>
                  <a:lnTo>
                    <a:pt x="354" y="35"/>
                  </a:lnTo>
                  <a:lnTo>
                    <a:pt x="351" y="33"/>
                  </a:lnTo>
                  <a:lnTo>
                    <a:pt x="345" y="33"/>
                  </a:lnTo>
                  <a:lnTo>
                    <a:pt x="341" y="31"/>
                  </a:lnTo>
                  <a:lnTo>
                    <a:pt x="337" y="31"/>
                  </a:lnTo>
                  <a:lnTo>
                    <a:pt x="331" y="29"/>
                  </a:lnTo>
                  <a:lnTo>
                    <a:pt x="328" y="27"/>
                  </a:lnTo>
                  <a:lnTo>
                    <a:pt x="324" y="25"/>
                  </a:lnTo>
                  <a:lnTo>
                    <a:pt x="320" y="25"/>
                  </a:lnTo>
                  <a:lnTo>
                    <a:pt x="314" y="23"/>
                  </a:lnTo>
                  <a:lnTo>
                    <a:pt x="310" y="23"/>
                  </a:lnTo>
                  <a:lnTo>
                    <a:pt x="306" y="21"/>
                  </a:lnTo>
                  <a:lnTo>
                    <a:pt x="303" y="21"/>
                  </a:lnTo>
                  <a:lnTo>
                    <a:pt x="289" y="19"/>
                  </a:lnTo>
                  <a:lnTo>
                    <a:pt x="274" y="17"/>
                  </a:lnTo>
                  <a:lnTo>
                    <a:pt x="259" y="16"/>
                  </a:lnTo>
                  <a:lnTo>
                    <a:pt x="245" y="12"/>
                  </a:lnTo>
                  <a:lnTo>
                    <a:pt x="230" y="10"/>
                  </a:lnTo>
                  <a:lnTo>
                    <a:pt x="216" y="8"/>
                  </a:lnTo>
                  <a:lnTo>
                    <a:pt x="201" y="6"/>
                  </a:lnTo>
                  <a:lnTo>
                    <a:pt x="188" y="4"/>
                  </a:lnTo>
                  <a:lnTo>
                    <a:pt x="172" y="2"/>
                  </a:lnTo>
                  <a:lnTo>
                    <a:pt x="155" y="2"/>
                  </a:lnTo>
                  <a:lnTo>
                    <a:pt x="140" y="0"/>
                  </a:lnTo>
                  <a:lnTo>
                    <a:pt x="124" y="0"/>
                  </a:lnTo>
                  <a:lnTo>
                    <a:pt x="109" y="0"/>
                  </a:lnTo>
                  <a:lnTo>
                    <a:pt x="94" y="2"/>
                  </a:lnTo>
                  <a:lnTo>
                    <a:pt x="78" y="2"/>
                  </a:lnTo>
                  <a:lnTo>
                    <a:pt x="63" y="2"/>
                  </a:lnTo>
                  <a:lnTo>
                    <a:pt x="59" y="2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6" y="6"/>
                  </a:lnTo>
                  <a:lnTo>
                    <a:pt x="42" y="8"/>
                  </a:lnTo>
                  <a:lnTo>
                    <a:pt x="38" y="8"/>
                  </a:lnTo>
                  <a:lnTo>
                    <a:pt x="34" y="8"/>
                  </a:lnTo>
                  <a:lnTo>
                    <a:pt x="30" y="12"/>
                  </a:lnTo>
                  <a:lnTo>
                    <a:pt x="25" y="16"/>
                  </a:lnTo>
                  <a:lnTo>
                    <a:pt x="21" y="19"/>
                  </a:lnTo>
                  <a:lnTo>
                    <a:pt x="17" y="21"/>
                  </a:lnTo>
                  <a:lnTo>
                    <a:pt x="13" y="25"/>
                  </a:lnTo>
                  <a:lnTo>
                    <a:pt x="7" y="27"/>
                  </a:lnTo>
                  <a:lnTo>
                    <a:pt x="3" y="29"/>
                  </a:lnTo>
                  <a:lnTo>
                    <a:pt x="0" y="31"/>
                  </a:lnTo>
                  <a:lnTo>
                    <a:pt x="49" y="48"/>
                  </a:lnTo>
                  <a:lnTo>
                    <a:pt x="49" y="50"/>
                  </a:lnTo>
                  <a:lnTo>
                    <a:pt x="51" y="54"/>
                  </a:lnTo>
                  <a:lnTo>
                    <a:pt x="51" y="56"/>
                  </a:lnTo>
                  <a:lnTo>
                    <a:pt x="51" y="58"/>
                  </a:lnTo>
                  <a:lnTo>
                    <a:pt x="53" y="60"/>
                  </a:lnTo>
                  <a:lnTo>
                    <a:pt x="53" y="62"/>
                  </a:lnTo>
                  <a:lnTo>
                    <a:pt x="53" y="64"/>
                  </a:lnTo>
                  <a:lnTo>
                    <a:pt x="55" y="67"/>
                  </a:lnTo>
                  <a:lnTo>
                    <a:pt x="55" y="69"/>
                  </a:lnTo>
                  <a:lnTo>
                    <a:pt x="55" y="71"/>
                  </a:lnTo>
                  <a:lnTo>
                    <a:pt x="57" y="73"/>
                  </a:lnTo>
                  <a:lnTo>
                    <a:pt x="57" y="77"/>
                  </a:lnTo>
                  <a:lnTo>
                    <a:pt x="57" y="79"/>
                  </a:lnTo>
                  <a:lnTo>
                    <a:pt x="57" y="81"/>
                  </a:lnTo>
                  <a:lnTo>
                    <a:pt x="57" y="83"/>
                  </a:lnTo>
                  <a:lnTo>
                    <a:pt x="59" y="85"/>
                  </a:lnTo>
                  <a:lnTo>
                    <a:pt x="67" y="85"/>
                  </a:lnTo>
                  <a:lnTo>
                    <a:pt x="72" y="85"/>
                  </a:lnTo>
                  <a:lnTo>
                    <a:pt x="80" y="85"/>
                  </a:lnTo>
                  <a:lnTo>
                    <a:pt x="86" y="85"/>
                  </a:lnTo>
                  <a:lnTo>
                    <a:pt x="94" y="85"/>
                  </a:lnTo>
                  <a:lnTo>
                    <a:pt x="99" y="85"/>
                  </a:lnTo>
                  <a:lnTo>
                    <a:pt x="107" y="85"/>
                  </a:lnTo>
                  <a:lnTo>
                    <a:pt x="115" y="85"/>
                  </a:lnTo>
                  <a:lnTo>
                    <a:pt x="142" y="87"/>
                  </a:lnTo>
                  <a:lnTo>
                    <a:pt x="166" y="87"/>
                  </a:lnTo>
                  <a:lnTo>
                    <a:pt x="193" y="88"/>
                  </a:lnTo>
                  <a:lnTo>
                    <a:pt x="218" y="90"/>
                  </a:lnTo>
                  <a:lnTo>
                    <a:pt x="243" y="90"/>
                  </a:lnTo>
                  <a:lnTo>
                    <a:pt x="268" y="92"/>
                  </a:lnTo>
                  <a:lnTo>
                    <a:pt x="295" y="94"/>
                  </a:lnTo>
                  <a:lnTo>
                    <a:pt x="320" y="94"/>
                  </a:lnTo>
                  <a:lnTo>
                    <a:pt x="322" y="94"/>
                  </a:lnTo>
                  <a:lnTo>
                    <a:pt x="324" y="94"/>
                  </a:lnTo>
                  <a:close/>
                </a:path>
              </a:pathLst>
            </a:custGeom>
            <a:solidFill>
              <a:srgbClr val="875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Freeform 9">
              <a:extLst>
                <a:ext uri="{FF2B5EF4-FFF2-40B4-BE49-F238E27FC236}">
                  <a16:creationId xmlns:a16="http://schemas.microsoft.com/office/drawing/2014/main" id="{39848756-4F50-92D2-8EA8-6C379B1A9F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34" y="3238"/>
              <a:ext cx="264" cy="289"/>
            </a:xfrm>
            <a:custGeom>
              <a:avLst/>
              <a:gdLst>
                <a:gd name="T0" fmla="*/ 172 w 264"/>
                <a:gd name="T1" fmla="*/ 289 h 289"/>
                <a:gd name="T2" fmla="*/ 176 w 264"/>
                <a:gd name="T3" fmla="*/ 289 h 289"/>
                <a:gd name="T4" fmla="*/ 176 w 264"/>
                <a:gd name="T5" fmla="*/ 285 h 289"/>
                <a:gd name="T6" fmla="*/ 211 w 264"/>
                <a:gd name="T7" fmla="*/ 268 h 289"/>
                <a:gd name="T8" fmla="*/ 238 w 264"/>
                <a:gd name="T9" fmla="*/ 237 h 289"/>
                <a:gd name="T10" fmla="*/ 255 w 264"/>
                <a:gd name="T11" fmla="*/ 207 h 289"/>
                <a:gd name="T12" fmla="*/ 263 w 264"/>
                <a:gd name="T13" fmla="*/ 184 h 289"/>
                <a:gd name="T14" fmla="*/ 264 w 264"/>
                <a:gd name="T15" fmla="*/ 163 h 289"/>
                <a:gd name="T16" fmla="*/ 264 w 264"/>
                <a:gd name="T17" fmla="*/ 138 h 289"/>
                <a:gd name="T18" fmla="*/ 261 w 264"/>
                <a:gd name="T19" fmla="*/ 115 h 289"/>
                <a:gd name="T20" fmla="*/ 257 w 264"/>
                <a:gd name="T21" fmla="*/ 92 h 289"/>
                <a:gd name="T22" fmla="*/ 249 w 264"/>
                <a:gd name="T23" fmla="*/ 55 h 289"/>
                <a:gd name="T24" fmla="*/ 241 w 264"/>
                <a:gd name="T25" fmla="*/ 21 h 289"/>
                <a:gd name="T26" fmla="*/ 234 w 264"/>
                <a:gd name="T27" fmla="*/ 1 h 289"/>
                <a:gd name="T28" fmla="*/ 220 w 264"/>
                <a:gd name="T29" fmla="*/ 9 h 289"/>
                <a:gd name="T30" fmla="*/ 207 w 264"/>
                <a:gd name="T31" fmla="*/ 15 h 289"/>
                <a:gd name="T32" fmla="*/ 193 w 264"/>
                <a:gd name="T33" fmla="*/ 19 h 289"/>
                <a:gd name="T34" fmla="*/ 182 w 264"/>
                <a:gd name="T35" fmla="*/ 21 h 289"/>
                <a:gd name="T36" fmla="*/ 172 w 264"/>
                <a:gd name="T37" fmla="*/ 23 h 289"/>
                <a:gd name="T38" fmla="*/ 128 w 264"/>
                <a:gd name="T39" fmla="*/ 28 h 289"/>
                <a:gd name="T40" fmla="*/ 84 w 264"/>
                <a:gd name="T41" fmla="*/ 30 h 289"/>
                <a:gd name="T42" fmla="*/ 13 w 264"/>
                <a:gd name="T43" fmla="*/ 1 h 289"/>
                <a:gd name="T44" fmla="*/ 11 w 264"/>
                <a:gd name="T45" fmla="*/ 5 h 289"/>
                <a:gd name="T46" fmla="*/ 9 w 264"/>
                <a:gd name="T47" fmla="*/ 11 h 289"/>
                <a:gd name="T48" fmla="*/ 4 w 264"/>
                <a:gd name="T49" fmla="*/ 21 h 289"/>
                <a:gd name="T50" fmla="*/ 4 w 264"/>
                <a:gd name="T51" fmla="*/ 34 h 289"/>
                <a:gd name="T52" fmla="*/ 2 w 264"/>
                <a:gd name="T53" fmla="*/ 48 h 289"/>
                <a:gd name="T54" fmla="*/ 4 w 264"/>
                <a:gd name="T55" fmla="*/ 97 h 289"/>
                <a:gd name="T56" fmla="*/ 17 w 264"/>
                <a:gd name="T57" fmla="*/ 163 h 289"/>
                <a:gd name="T58" fmla="*/ 36 w 264"/>
                <a:gd name="T59" fmla="*/ 224 h 289"/>
                <a:gd name="T60" fmla="*/ 55 w 264"/>
                <a:gd name="T61" fmla="*/ 249 h 289"/>
                <a:gd name="T62" fmla="*/ 78 w 264"/>
                <a:gd name="T63" fmla="*/ 268 h 289"/>
                <a:gd name="T64" fmla="*/ 142 w 264"/>
                <a:gd name="T65" fmla="*/ 281 h 289"/>
                <a:gd name="T66" fmla="*/ 155 w 264"/>
                <a:gd name="T67" fmla="*/ 260 h 289"/>
                <a:gd name="T68" fmla="*/ 165 w 264"/>
                <a:gd name="T69" fmla="*/ 235 h 289"/>
                <a:gd name="T70" fmla="*/ 172 w 264"/>
                <a:gd name="T71" fmla="*/ 214 h 289"/>
                <a:gd name="T72" fmla="*/ 174 w 264"/>
                <a:gd name="T73" fmla="*/ 201 h 289"/>
                <a:gd name="T74" fmla="*/ 178 w 264"/>
                <a:gd name="T75" fmla="*/ 189 h 289"/>
                <a:gd name="T76" fmla="*/ 182 w 264"/>
                <a:gd name="T77" fmla="*/ 180 h 289"/>
                <a:gd name="T78" fmla="*/ 184 w 264"/>
                <a:gd name="T79" fmla="*/ 172 h 289"/>
                <a:gd name="T80" fmla="*/ 186 w 264"/>
                <a:gd name="T81" fmla="*/ 165 h 289"/>
                <a:gd name="T82" fmla="*/ 190 w 264"/>
                <a:gd name="T83" fmla="*/ 153 h 289"/>
                <a:gd name="T84" fmla="*/ 192 w 264"/>
                <a:gd name="T85" fmla="*/ 141 h 289"/>
                <a:gd name="T86" fmla="*/ 195 w 264"/>
                <a:gd name="T87" fmla="*/ 128 h 289"/>
                <a:gd name="T88" fmla="*/ 197 w 264"/>
                <a:gd name="T89" fmla="*/ 111 h 289"/>
                <a:gd name="T90" fmla="*/ 199 w 264"/>
                <a:gd name="T91" fmla="*/ 94 h 289"/>
                <a:gd name="T92" fmla="*/ 203 w 264"/>
                <a:gd name="T93" fmla="*/ 88 h 289"/>
                <a:gd name="T94" fmla="*/ 211 w 264"/>
                <a:gd name="T95" fmla="*/ 90 h 289"/>
                <a:gd name="T96" fmla="*/ 215 w 264"/>
                <a:gd name="T97" fmla="*/ 94 h 289"/>
                <a:gd name="T98" fmla="*/ 199 w 264"/>
                <a:gd name="T99" fmla="*/ 166 h 289"/>
                <a:gd name="T100" fmla="*/ 176 w 264"/>
                <a:gd name="T101" fmla="*/ 239 h 289"/>
                <a:gd name="T102" fmla="*/ 170 w 264"/>
                <a:gd name="T103" fmla="*/ 289 h 289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64" h="289">
                  <a:moveTo>
                    <a:pt x="170" y="289"/>
                  </a:moveTo>
                  <a:lnTo>
                    <a:pt x="170" y="289"/>
                  </a:lnTo>
                  <a:lnTo>
                    <a:pt x="172" y="289"/>
                  </a:lnTo>
                  <a:lnTo>
                    <a:pt x="174" y="289"/>
                  </a:lnTo>
                  <a:lnTo>
                    <a:pt x="176" y="289"/>
                  </a:lnTo>
                  <a:lnTo>
                    <a:pt x="176" y="287"/>
                  </a:lnTo>
                  <a:lnTo>
                    <a:pt x="176" y="285"/>
                  </a:lnTo>
                  <a:lnTo>
                    <a:pt x="188" y="281"/>
                  </a:lnTo>
                  <a:lnTo>
                    <a:pt x="199" y="276"/>
                  </a:lnTo>
                  <a:lnTo>
                    <a:pt x="211" y="268"/>
                  </a:lnTo>
                  <a:lnTo>
                    <a:pt x="220" y="258"/>
                  </a:lnTo>
                  <a:lnTo>
                    <a:pt x="228" y="249"/>
                  </a:lnTo>
                  <a:lnTo>
                    <a:pt x="238" y="237"/>
                  </a:lnTo>
                  <a:lnTo>
                    <a:pt x="243" y="226"/>
                  </a:lnTo>
                  <a:lnTo>
                    <a:pt x="251" y="214"/>
                  </a:lnTo>
                  <a:lnTo>
                    <a:pt x="255" y="207"/>
                  </a:lnTo>
                  <a:lnTo>
                    <a:pt x="259" y="199"/>
                  </a:lnTo>
                  <a:lnTo>
                    <a:pt x="261" y="191"/>
                  </a:lnTo>
                  <a:lnTo>
                    <a:pt x="263" y="184"/>
                  </a:lnTo>
                  <a:lnTo>
                    <a:pt x="263" y="176"/>
                  </a:lnTo>
                  <a:lnTo>
                    <a:pt x="263" y="170"/>
                  </a:lnTo>
                  <a:lnTo>
                    <a:pt x="264" y="163"/>
                  </a:lnTo>
                  <a:lnTo>
                    <a:pt x="264" y="157"/>
                  </a:lnTo>
                  <a:lnTo>
                    <a:pt x="264" y="147"/>
                  </a:lnTo>
                  <a:lnTo>
                    <a:pt x="264" y="138"/>
                  </a:lnTo>
                  <a:lnTo>
                    <a:pt x="263" y="130"/>
                  </a:lnTo>
                  <a:lnTo>
                    <a:pt x="263" y="122"/>
                  </a:lnTo>
                  <a:lnTo>
                    <a:pt x="261" y="115"/>
                  </a:lnTo>
                  <a:lnTo>
                    <a:pt x="259" y="107"/>
                  </a:lnTo>
                  <a:lnTo>
                    <a:pt x="257" y="99"/>
                  </a:lnTo>
                  <a:lnTo>
                    <a:pt x="257" y="92"/>
                  </a:lnTo>
                  <a:lnTo>
                    <a:pt x="253" y="78"/>
                  </a:lnTo>
                  <a:lnTo>
                    <a:pt x="251" y="67"/>
                  </a:lnTo>
                  <a:lnTo>
                    <a:pt x="249" y="55"/>
                  </a:lnTo>
                  <a:lnTo>
                    <a:pt x="247" y="44"/>
                  </a:lnTo>
                  <a:lnTo>
                    <a:pt x="243" y="32"/>
                  </a:lnTo>
                  <a:lnTo>
                    <a:pt x="241" y="21"/>
                  </a:lnTo>
                  <a:lnTo>
                    <a:pt x="240" y="11"/>
                  </a:lnTo>
                  <a:lnTo>
                    <a:pt x="238" y="0"/>
                  </a:lnTo>
                  <a:lnTo>
                    <a:pt x="234" y="1"/>
                  </a:lnTo>
                  <a:lnTo>
                    <a:pt x="228" y="3"/>
                  </a:lnTo>
                  <a:lnTo>
                    <a:pt x="224" y="7"/>
                  </a:lnTo>
                  <a:lnTo>
                    <a:pt x="220" y="9"/>
                  </a:lnTo>
                  <a:lnTo>
                    <a:pt x="217" y="11"/>
                  </a:lnTo>
                  <a:lnTo>
                    <a:pt x="211" y="13"/>
                  </a:lnTo>
                  <a:lnTo>
                    <a:pt x="207" y="15"/>
                  </a:lnTo>
                  <a:lnTo>
                    <a:pt x="201" y="17"/>
                  </a:lnTo>
                  <a:lnTo>
                    <a:pt x="197" y="19"/>
                  </a:lnTo>
                  <a:lnTo>
                    <a:pt x="193" y="19"/>
                  </a:lnTo>
                  <a:lnTo>
                    <a:pt x="190" y="21"/>
                  </a:lnTo>
                  <a:lnTo>
                    <a:pt x="186" y="21"/>
                  </a:lnTo>
                  <a:lnTo>
                    <a:pt x="182" y="21"/>
                  </a:lnTo>
                  <a:lnTo>
                    <a:pt x="178" y="23"/>
                  </a:lnTo>
                  <a:lnTo>
                    <a:pt x="176" y="23"/>
                  </a:lnTo>
                  <a:lnTo>
                    <a:pt x="172" y="23"/>
                  </a:lnTo>
                  <a:lnTo>
                    <a:pt x="157" y="24"/>
                  </a:lnTo>
                  <a:lnTo>
                    <a:pt x="142" y="26"/>
                  </a:lnTo>
                  <a:lnTo>
                    <a:pt x="128" y="28"/>
                  </a:lnTo>
                  <a:lnTo>
                    <a:pt x="113" y="30"/>
                  </a:lnTo>
                  <a:lnTo>
                    <a:pt x="99" y="30"/>
                  </a:lnTo>
                  <a:lnTo>
                    <a:pt x="84" y="30"/>
                  </a:lnTo>
                  <a:lnTo>
                    <a:pt x="71" y="28"/>
                  </a:lnTo>
                  <a:lnTo>
                    <a:pt x="55" y="28"/>
                  </a:lnTo>
                  <a:lnTo>
                    <a:pt x="13" y="1"/>
                  </a:lnTo>
                  <a:lnTo>
                    <a:pt x="11" y="1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9" y="7"/>
                  </a:lnTo>
                  <a:lnTo>
                    <a:pt x="9" y="9"/>
                  </a:lnTo>
                  <a:lnTo>
                    <a:pt x="9" y="11"/>
                  </a:lnTo>
                  <a:lnTo>
                    <a:pt x="7" y="15"/>
                  </a:lnTo>
                  <a:lnTo>
                    <a:pt x="6" y="17"/>
                  </a:lnTo>
                  <a:lnTo>
                    <a:pt x="4" y="21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4" y="34"/>
                  </a:lnTo>
                  <a:lnTo>
                    <a:pt x="2" y="40"/>
                  </a:lnTo>
                  <a:lnTo>
                    <a:pt x="2" y="44"/>
                  </a:lnTo>
                  <a:lnTo>
                    <a:pt x="2" y="48"/>
                  </a:lnTo>
                  <a:lnTo>
                    <a:pt x="0" y="53"/>
                  </a:lnTo>
                  <a:lnTo>
                    <a:pt x="2" y="74"/>
                  </a:lnTo>
                  <a:lnTo>
                    <a:pt x="4" y="97"/>
                  </a:lnTo>
                  <a:lnTo>
                    <a:pt x="6" y="120"/>
                  </a:lnTo>
                  <a:lnTo>
                    <a:pt x="11" y="141"/>
                  </a:lnTo>
                  <a:lnTo>
                    <a:pt x="17" y="163"/>
                  </a:lnTo>
                  <a:lnTo>
                    <a:pt x="23" y="184"/>
                  </a:lnTo>
                  <a:lnTo>
                    <a:pt x="29" y="205"/>
                  </a:lnTo>
                  <a:lnTo>
                    <a:pt x="36" y="224"/>
                  </a:lnTo>
                  <a:lnTo>
                    <a:pt x="42" y="234"/>
                  </a:lnTo>
                  <a:lnTo>
                    <a:pt x="48" y="241"/>
                  </a:lnTo>
                  <a:lnTo>
                    <a:pt x="55" y="249"/>
                  </a:lnTo>
                  <a:lnTo>
                    <a:pt x="61" y="257"/>
                  </a:lnTo>
                  <a:lnTo>
                    <a:pt x="71" y="262"/>
                  </a:lnTo>
                  <a:lnTo>
                    <a:pt x="78" y="268"/>
                  </a:lnTo>
                  <a:lnTo>
                    <a:pt x="86" y="274"/>
                  </a:lnTo>
                  <a:lnTo>
                    <a:pt x="96" y="278"/>
                  </a:lnTo>
                  <a:lnTo>
                    <a:pt x="142" y="281"/>
                  </a:lnTo>
                  <a:lnTo>
                    <a:pt x="147" y="274"/>
                  </a:lnTo>
                  <a:lnTo>
                    <a:pt x="151" y="268"/>
                  </a:lnTo>
                  <a:lnTo>
                    <a:pt x="155" y="260"/>
                  </a:lnTo>
                  <a:lnTo>
                    <a:pt x="159" y="251"/>
                  </a:lnTo>
                  <a:lnTo>
                    <a:pt x="163" y="243"/>
                  </a:lnTo>
                  <a:lnTo>
                    <a:pt x="165" y="235"/>
                  </a:lnTo>
                  <a:lnTo>
                    <a:pt x="169" y="228"/>
                  </a:lnTo>
                  <a:lnTo>
                    <a:pt x="170" y="220"/>
                  </a:lnTo>
                  <a:lnTo>
                    <a:pt x="172" y="214"/>
                  </a:lnTo>
                  <a:lnTo>
                    <a:pt x="172" y="211"/>
                  </a:lnTo>
                  <a:lnTo>
                    <a:pt x="174" y="207"/>
                  </a:lnTo>
                  <a:lnTo>
                    <a:pt x="174" y="201"/>
                  </a:lnTo>
                  <a:lnTo>
                    <a:pt x="176" y="197"/>
                  </a:lnTo>
                  <a:lnTo>
                    <a:pt x="178" y="193"/>
                  </a:lnTo>
                  <a:lnTo>
                    <a:pt x="178" y="189"/>
                  </a:lnTo>
                  <a:lnTo>
                    <a:pt x="180" y="186"/>
                  </a:lnTo>
                  <a:lnTo>
                    <a:pt x="180" y="182"/>
                  </a:lnTo>
                  <a:lnTo>
                    <a:pt x="182" y="180"/>
                  </a:lnTo>
                  <a:lnTo>
                    <a:pt x="182" y="178"/>
                  </a:lnTo>
                  <a:lnTo>
                    <a:pt x="184" y="174"/>
                  </a:lnTo>
                  <a:lnTo>
                    <a:pt x="184" y="172"/>
                  </a:lnTo>
                  <a:lnTo>
                    <a:pt x="184" y="170"/>
                  </a:lnTo>
                  <a:lnTo>
                    <a:pt x="186" y="166"/>
                  </a:lnTo>
                  <a:lnTo>
                    <a:pt x="186" y="165"/>
                  </a:lnTo>
                  <a:lnTo>
                    <a:pt x="188" y="161"/>
                  </a:lnTo>
                  <a:lnTo>
                    <a:pt x="188" y="157"/>
                  </a:lnTo>
                  <a:lnTo>
                    <a:pt x="190" y="153"/>
                  </a:lnTo>
                  <a:lnTo>
                    <a:pt x="190" y="149"/>
                  </a:lnTo>
                  <a:lnTo>
                    <a:pt x="192" y="145"/>
                  </a:lnTo>
                  <a:lnTo>
                    <a:pt x="192" y="141"/>
                  </a:lnTo>
                  <a:lnTo>
                    <a:pt x="193" y="138"/>
                  </a:lnTo>
                  <a:lnTo>
                    <a:pt x="195" y="134"/>
                  </a:lnTo>
                  <a:lnTo>
                    <a:pt x="195" y="128"/>
                  </a:lnTo>
                  <a:lnTo>
                    <a:pt x="197" y="122"/>
                  </a:lnTo>
                  <a:lnTo>
                    <a:pt x="197" y="117"/>
                  </a:lnTo>
                  <a:lnTo>
                    <a:pt x="197" y="111"/>
                  </a:lnTo>
                  <a:lnTo>
                    <a:pt x="199" y="105"/>
                  </a:lnTo>
                  <a:lnTo>
                    <a:pt x="199" y="99"/>
                  </a:lnTo>
                  <a:lnTo>
                    <a:pt x="199" y="94"/>
                  </a:lnTo>
                  <a:lnTo>
                    <a:pt x="199" y="88"/>
                  </a:lnTo>
                  <a:lnTo>
                    <a:pt x="201" y="88"/>
                  </a:lnTo>
                  <a:lnTo>
                    <a:pt x="203" y="88"/>
                  </a:lnTo>
                  <a:lnTo>
                    <a:pt x="205" y="88"/>
                  </a:lnTo>
                  <a:lnTo>
                    <a:pt x="209" y="88"/>
                  </a:lnTo>
                  <a:lnTo>
                    <a:pt x="211" y="90"/>
                  </a:lnTo>
                  <a:lnTo>
                    <a:pt x="213" y="90"/>
                  </a:lnTo>
                  <a:lnTo>
                    <a:pt x="215" y="92"/>
                  </a:lnTo>
                  <a:lnTo>
                    <a:pt x="215" y="94"/>
                  </a:lnTo>
                  <a:lnTo>
                    <a:pt x="211" y="118"/>
                  </a:lnTo>
                  <a:lnTo>
                    <a:pt x="205" y="141"/>
                  </a:lnTo>
                  <a:lnTo>
                    <a:pt x="199" y="166"/>
                  </a:lnTo>
                  <a:lnTo>
                    <a:pt x="192" y="191"/>
                  </a:lnTo>
                  <a:lnTo>
                    <a:pt x="184" y="214"/>
                  </a:lnTo>
                  <a:lnTo>
                    <a:pt x="176" y="239"/>
                  </a:lnTo>
                  <a:lnTo>
                    <a:pt x="167" y="262"/>
                  </a:lnTo>
                  <a:lnTo>
                    <a:pt x="157" y="285"/>
                  </a:lnTo>
                  <a:lnTo>
                    <a:pt x="170" y="289"/>
                  </a:lnTo>
                  <a:close/>
                </a:path>
              </a:pathLst>
            </a:custGeom>
            <a:solidFill>
              <a:srgbClr val="CFB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9" name="Freeform 10">
              <a:extLst>
                <a:ext uri="{FF2B5EF4-FFF2-40B4-BE49-F238E27FC236}">
                  <a16:creationId xmlns:a16="http://schemas.microsoft.com/office/drawing/2014/main" id="{42F6F7A2-723A-8C0B-26E1-7F148F71647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80" y="3096"/>
              <a:ext cx="212" cy="161"/>
            </a:xfrm>
            <a:custGeom>
              <a:avLst/>
              <a:gdLst>
                <a:gd name="T0" fmla="*/ 80 w 212"/>
                <a:gd name="T1" fmla="*/ 161 h 161"/>
                <a:gd name="T2" fmla="*/ 97 w 212"/>
                <a:gd name="T3" fmla="*/ 161 h 161"/>
                <a:gd name="T4" fmla="*/ 117 w 212"/>
                <a:gd name="T5" fmla="*/ 159 h 161"/>
                <a:gd name="T6" fmla="*/ 134 w 212"/>
                <a:gd name="T7" fmla="*/ 157 h 161"/>
                <a:gd name="T8" fmla="*/ 151 w 212"/>
                <a:gd name="T9" fmla="*/ 153 h 161"/>
                <a:gd name="T10" fmla="*/ 168 w 212"/>
                <a:gd name="T11" fmla="*/ 149 h 161"/>
                <a:gd name="T12" fmla="*/ 186 w 212"/>
                <a:gd name="T13" fmla="*/ 143 h 161"/>
                <a:gd name="T14" fmla="*/ 203 w 212"/>
                <a:gd name="T15" fmla="*/ 138 h 161"/>
                <a:gd name="T16" fmla="*/ 178 w 212"/>
                <a:gd name="T17" fmla="*/ 130 h 161"/>
                <a:gd name="T18" fmla="*/ 176 w 212"/>
                <a:gd name="T19" fmla="*/ 115 h 161"/>
                <a:gd name="T20" fmla="*/ 180 w 212"/>
                <a:gd name="T21" fmla="*/ 97 h 161"/>
                <a:gd name="T22" fmla="*/ 193 w 212"/>
                <a:gd name="T23" fmla="*/ 65 h 161"/>
                <a:gd name="T24" fmla="*/ 203 w 212"/>
                <a:gd name="T25" fmla="*/ 32 h 161"/>
                <a:gd name="T26" fmla="*/ 199 w 212"/>
                <a:gd name="T27" fmla="*/ 15 h 161"/>
                <a:gd name="T28" fmla="*/ 189 w 212"/>
                <a:gd name="T29" fmla="*/ 0 h 161"/>
                <a:gd name="T30" fmla="*/ 186 w 212"/>
                <a:gd name="T31" fmla="*/ 2 h 161"/>
                <a:gd name="T32" fmla="*/ 184 w 212"/>
                <a:gd name="T33" fmla="*/ 2 h 161"/>
                <a:gd name="T34" fmla="*/ 178 w 212"/>
                <a:gd name="T35" fmla="*/ 3 h 161"/>
                <a:gd name="T36" fmla="*/ 174 w 212"/>
                <a:gd name="T37" fmla="*/ 5 h 161"/>
                <a:gd name="T38" fmla="*/ 164 w 212"/>
                <a:gd name="T39" fmla="*/ 7 h 161"/>
                <a:gd name="T40" fmla="*/ 155 w 212"/>
                <a:gd name="T41" fmla="*/ 9 h 161"/>
                <a:gd name="T42" fmla="*/ 147 w 212"/>
                <a:gd name="T43" fmla="*/ 11 h 161"/>
                <a:gd name="T44" fmla="*/ 140 w 212"/>
                <a:gd name="T45" fmla="*/ 13 h 161"/>
                <a:gd name="T46" fmla="*/ 115 w 212"/>
                <a:gd name="T47" fmla="*/ 15 h 161"/>
                <a:gd name="T48" fmla="*/ 88 w 212"/>
                <a:gd name="T49" fmla="*/ 15 h 161"/>
                <a:gd name="T50" fmla="*/ 63 w 212"/>
                <a:gd name="T51" fmla="*/ 13 h 161"/>
                <a:gd name="T52" fmla="*/ 40 w 212"/>
                <a:gd name="T53" fmla="*/ 3 h 161"/>
                <a:gd name="T54" fmla="*/ 3 w 212"/>
                <a:gd name="T55" fmla="*/ 36 h 161"/>
                <a:gd name="T56" fmla="*/ 1 w 212"/>
                <a:gd name="T57" fmla="*/ 65 h 161"/>
                <a:gd name="T58" fmla="*/ 1 w 212"/>
                <a:gd name="T59" fmla="*/ 94 h 161"/>
                <a:gd name="T60" fmla="*/ 7 w 212"/>
                <a:gd name="T61" fmla="*/ 122 h 161"/>
                <a:gd name="T62" fmla="*/ 21 w 212"/>
                <a:gd name="T63" fmla="*/ 140 h 161"/>
                <a:gd name="T64" fmla="*/ 34 w 212"/>
                <a:gd name="T65" fmla="*/ 147 h 161"/>
                <a:gd name="T66" fmla="*/ 49 w 212"/>
                <a:gd name="T67" fmla="*/ 155 h 161"/>
                <a:gd name="T68" fmla="*/ 65 w 212"/>
                <a:gd name="T69" fmla="*/ 159 h 16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12" h="161">
                  <a:moveTo>
                    <a:pt x="70" y="161"/>
                  </a:moveTo>
                  <a:lnTo>
                    <a:pt x="80" y="161"/>
                  </a:lnTo>
                  <a:lnTo>
                    <a:pt x="88" y="161"/>
                  </a:lnTo>
                  <a:lnTo>
                    <a:pt x="97" y="161"/>
                  </a:lnTo>
                  <a:lnTo>
                    <a:pt x="107" y="161"/>
                  </a:lnTo>
                  <a:lnTo>
                    <a:pt x="117" y="159"/>
                  </a:lnTo>
                  <a:lnTo>
                    <a:pt x="126" y="159"/>
                  </a:lnTo>
                  <a:lnTo>
                    <a:pt x="134" y="157"/>
                  </a:lnTo>
                  <a:lnTo>
                    <a:pt x="141" y="157"/>
                  </a:lnTo>
                  <a:lnTo>
                    <a:pt x="151" y="153"/>
                  </a:lnTo>
                  <a:lnTo>
                    <a:pt x="159" y="151"/>
                  </a:lnTo>
                  <a:lnTo>
                    <a:pt x="168" y="149"/>
                  </a:lnTo>
                  <a:lnTo>
                    <a:pt x="178" y="147"/>
                  </a:lnTo>
                  <a:lnTo>
                    <a:pt x="186" y="143"/>
                  </a:lnTo>
                  <a:lnTo>
                    <a:pt x="195" y="142"/>
                  </a:lnTo>
                  <a:lnTo>
                    <a:pt x="203" y="138"/>
                  </a:lnTo>
                  <a:lnTo>
                    <a:pt x="212" y="134"/>
                  </a:lnTo>
                  <a:lnTo>
                    <a:pt x="178" y="130"/>
                  </a:lnTo>
                  <a:lnTo>
                    <a:pt x="176" y="122"/>
                  </a:lnTo>
                  <a:lnTo>
                    <a:pt x="176" y="115"/>
                  </a:lnTo>
                  <a:lnTo>
                    <a:pt x="178" y="105"/>
                  </a:lnTo>
                  <a:lnTo>
                    <a:pt x="180" y="97"/>
                  </a:lnTo>
                  <a:lnTo>
                    <a:pt x="187" y="80"/>
                  </a:lnTo>
                  <a:lnTo>
                    <a:pt x="193" y="65"/>
                  </a:lnTo>
                  <a:lnTo>
                    <a:pt x="199" y="48"/>
                  </a:lnTo>
                  <a:lnTo>
                    <a:pt x="203" y="32"/>
                  </a:lnTo>
                  <a:lnTo>
                    <a:pt x="201" y="23"/>
                  </a:lnTo>
                  <a:lnTo>
                    <a:pt x="199" y="15"/>
                  </a:lnTo>
                  <a:lnTo>
                    <a:pt x="195" y="7"/>
                  </a:lnTo>
                  <a:lnTo>
                    <a:pt x="189" y="0"/>
                  </a:lnTo>
                  <a:lnTo>
                    <a:pt x="187" y="2"/>
                  </a:lnTo>
                  <a:lnTo>
                    <a:pt x="186" y="2"/>
                  </a:lnTo>
                  <a:lnTo>
                    <a:pt x="184" y="2"/>
                  </a:lnTo>
                  <a:lnTo>
                    <a:pt x="182" y="3"/>
                  </a:lnTo>
                  <a:lnTo>
                    <a:pt x="178" y="3"/>
                  </a:lnTo>
                  <a:lnTo>
                    <a:pt x="176" y="3"/>
                  </a:lnTo>
                  <a:lnTo>
                    <a:pt x="174" y="5"/>
                  </a:lnTo>
                  <a:lnTo>
                    <a:pt x="168" y="7"/>
                  </a:lnTo>
                  <a:lnTo>
                    <a:pt x="164" y="7"/>
                  </a:lnTo>
                  <a:lnTo>
                    <a:pt x="161" y="7"/>
                  </a:lnTo>
                  <a:lnTo>
                    <a:pt x="155" y="9"/>
                  </a:lnTo>
                  <a:lnTo>
                    <a:pt x="151" y="9"/>
                  </a:lnTo>
                  <a:lnTo>
                    <a:pt x="147" y="11"/>
                  </a:lnTo>
                  <a:lnTo>
                    <a:pt x="143" y="11"/>
                  </a:lnTo>
                  <a:lnTo>
                    <a:pt x="140" y="13"/>
                  </a:lnTo>
                  <a:lnTo>
                    <a:pt x="126" y="13"/>
                  </a:lnTo>
                  <a:lnTo>
                    <a:pt x="115" y="15"/>
                  </a:lnTo>
                  <a:lnTo>
                    <a:pt x="101" y="15"/>
                  </a:lnTo>
                  <a:lnTo>
                    <a:pt x="88" y="15"/>
                  </a:lnTo>
                  <a:lnTo>
                    <a:pt x="76" y="15"/>
                  </a:lnTo>
                  <a:lnTo>
                    <a:pt x="63" y="13"/>
                  </a:lnTo>
                  <a:lnTo>
                    <a:pt x="51" y="9"/>
                  </a:lnTo>
                  <a:lnTo>
                    <a:pt x="40" y="3"/>
                  </a:lnTo>
                  <a:lnTo>
                    <a:pt x="3" y="21"/>
                  </a:lnTo>
                  <a:lnTo>
                    <a:pt x="3" y="36"/>
                  </a:lnTo>
                  <a:lnTo>
                    <a:pt x="1" y="49"/>
                  </a:lnTo>
                  <a:lnTo>
                    <a:pt x="1" y="65"/>
                  </a:lnTo>
                  <a:lnTo>
                    <a:pt x="0" y="78"/>
                  </a:lnTo>
                  <a:lnTo>
                    <a:pt x="1" y="94"/>
                  </a:lnTo>
                  <a:lnTo>
                    <a:pt x="3" y="107"/>
                  </a:lnTo>
                  <a:lnTo>
                    <a:pt x="7" y="122"/>
                  </a:lnTo>
                  <a:lnTo>
                    <a:pt x="13" y="134"/>
                  </a:lnTo>
                  <a:lnTo>
                    <a:pt x="21" y="140"/>
                  </a:lnTo>
                  <a:lnTo>
                    <a:pt x="26" y="143"/>
                  </a:lnTo>
                  <a:lnTo>
                    <a:pt x="34" y="147"/>
                  </a:lnTo>
                  <a:lnTo>
                    <a:pt x="42" y="151"/>
                  </a:lnTo>
                  <a:lnTo>
                    <a:pt x="49" y="155"/>
                  </a:lnTo>
                  <a:lnTo>
                    <a:pt x="57" y="157"/>
                  </a:lnTo>
                  <a:lnTo>
                    <a:pt x="65" y="159"/>
                  </a:lnTo>
                  <a:lnTo>
                    <a:pt x="70" y="161"/>
                  </a:lnTo>
                  <a:close/>
                </a:path>
              </a:pathLst>
            </a:custGeom>
            <a:solidFill>
              <a:srgbClr val="70C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0" name="Freeform 11">
              <a:extLst>
                <a:ext uri="{FF2B5EF4-FFF2-40B4-BE49-F238E27FC236}">
                  <a16:creationId xmlns:a16="http://schemas.microsoft.com/office/drawing/2014/main" id="{6C4CC5FA-77AA-9448-BF7C-D9666BE7838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84" y="2835"/>
              <a:ext cx="421" cy="387"/>
            </a:xfrm>
            <a:custGeom>
              <a:avLst/>
              <a:gdLst>
                <a:gd name="T0" fmla="*/ 227 w 421"/>
                <a:gd name="T1" fmla="*/ 289 h 387"/>
                <a:gd name="T2" fmla="*/ 213 w 421"/>
                <a:gd name="T3" fmla="*/ 276 h 387"/>
                <a:gd name="T4" fmla="*/ 211 w 421"/>
                <a:gd name="T5" fmla="*/ 259 h 387"/>
                <a:gd name="T6" fmla="*/ 225 w 421"/>
                <a:gd name="T7" fmla="*/ 249 h 387"/>
                <a:gd name="T8" fmla="*/ 236 w 421"/>
                <a:gd name="T9" fmla="*/ 245 h 387"/>
                <a:gd name="T10" fmla="*/ 227 w 421"/>
                <a:gd name="T11" fmla="*/ 230 h 387"/>
                <a:gd name="T12" fmla="*/ 229 w 421"/>
                <a:gd name="T13" fmla="*/ 213 h 387"/>
                <a:gd name="T14" fmla="*/ 246 w 421"/>
                <a:gd name="T15" fmla="*/ 203 h 387"/>
                <a:gd name="T16" fmla="*/ 261 w 421"/>
                <a:gd name="T17" fmla="*/ 199 h 387"/>
                <a:gd name="T18" fmla="*/ 259 w 421"/>
                <a:gd name="T19" fmla="*/ 182 h 387"/>
                <a:gd name="T20" fmla="*/ 267 w 421"/>
                <a:gd name="T21" fmla="*/ 165 h 387"/>
                <a:gd name="T22" fmla="*/ 282 w 421"/>
                <a:gd name="T23" fmla="*/ 163 h 387"/>
                <a:gd name="T24" fmla="*/ 294 w 421"/>
                <a:gd name="T25" fmla="*/ 165 h 387"/>
                <a:gd name="T26" fmla="*/ 298 w 421"/>
                <a:gd name="T27" fmla="*/ 167 h 387"/>
                <a:gd name="T28" fmla="*/ 304 w 421"/>
                <a:gd name="T29" fmla="*/ 155 h 387"/>
                <a:gd name="T30" fmla="*/ 330 w 421"/>
                <a:gd name="T31" fmla="*/ 109 h 387"/>
                <a:gd name="T32" fmla="*/ 357 w 421"/>
                <a:gd name="T33" fmla="*/ 73 h 387"/>
                <a:gd name="T34" fmla="*/ 367 w 421"/>
                <a:gd name="T35" fmla="*/ 59 h 387"/>
                <a:gd name="T36" fmla="*/ 378 w 421"/>
                <a:gd name="T37" fmla="*/ 46 h 387"/>
                <a:gd name="T38" fmla="*/ 396 w 421"/>
                <a:gd name="T39" fmla="*/ 27 h 387"/>
                <a:gd name="T40" fmla="*/ 413 w 421"/>
                <a:gd name="T41" fmla="*/ 9 h 387"/>
                <a:gd name="T42" fmla="*/ 419 w 421"/>
                <a:gd name="T43" fmla="*/ 6 h 387"/>
                <a:gd name="T44" fmla="*/ 415 w 421"/>
                <a:gd name="T45" fmla="*/ 0 h 387"/>
                <a:gd name="T46" fmla="*/ 382 w 421"/>
                <a:gd name="T47" fmla="*/ 0 h 387"/>
                <a:gd name="T48" fmla="*/ 340 w 421"/>
                <a:gd name="T49" fmla="*/ 0 h 387"/>
                <a:gd name="T50" fmla="*/ 271 w 421"/>
                <a:gd name="T51" fmla="*/ 4 h 387"/>
                <a:gd name="T52" fmla="*/ 213 w 421"/>
                <a:gd name="T53" fmla="*/ 11 h 387"/>
                <a:gd name="T54" fmla="*/ 196 w 421"/>
                <a:gd name="T55" fmla="*/ 13 h 387"/>
                <a:gd name="T56" fmla="*/ 179 w 421"/>
                <a:gd name="T57" fmla="*/ 17 h 387"/>
                <a:gd name="T58" fmla="*/ 164 w 421"/>
                <a:gd name="T59" fmla="*/ 23 h 387"/>
                <a:gd name="T60" fmla="*/ 154 w 421"/>
                <a:gd name="T61" fmla="*/ 32 h 387"/>
                <a:gd name="T62" fmla="*/ 148 w 421"/>
                <a:gd name="T63" fmla="*/ 50 h 387"/>
                <a:gd name="T64" fmla="*/ 142 w 421"/>
                <a:gd name="T65" fmla="*/ 65 h 387"/>
                <a:gd name="T66" fmla="*/ 137 w 421"/>
                <a:gd name="T67" fmla="*/ 84 h 387"/>
                <a:gd name="T68" fmla="*/ 129 w 421"/>
                <a:gd name="T69" fmla="*/ 103 h 387"/>
                <a:gd name="T70" fmla="*/ 123 w 421"/>
                <a:gd name="T71" fmla="*/ 121 h 387"/>
                <a:gd name="T72" fmla="*/ 114 w 421"/>
                <a:gd name="T73" fmla="*/ 138 h 387"/>
                <a:gd name="T74" fmla="*/ 104 w 421"/>
                <a:gd name="T75" fmla="*/ 159 h 387"/>
                <a:gd name="T76" fmla="*/ 102 w 421"/>
                <a:gd name="T77" fmla="*/ 174 h 387"/>
                <a:gd name="T78" fmla="*/ 127 w 421"/>
                <a:gd name="T79" fmla="*/ 170 h 387"/>
                <a:gd name="T80" fmla="*/ 152 w 421"/>
                <a:gd name="T81" fmla="*/ 165 h 387"/>
                <a:gd name="T82" fmla="*/ 175 w 421"/>
                <a:gd name="T83" fmla="*/ 161 h 387"/>
                <a:gd name="T84" fmla="*/ 190 w 421"/>
                <a:gd name="T85" fmla="*/ 170 h 387"/>
                <a:gd name="T86" fmla="*/ 188 w 421"/>
                <a:gd name="T87" fmla="*/ 188 h 387"/>
                <a:gd name="T88" fmla="*/ 179 w 421"/>
                <a:gd name="T89" fmla="*/ 199 h 387"/>
                <a:gd name="T90" fmla="*/ 173 w 421"/>
                <a:gd name="T91" fmla="*/ 201 h 387"/>
                <a:gd name="T92" fmla="*/ 171 w 421"/>
                <a:gd name="T93" fmla="*/ 207 h 387"/>
                <a:gd name="T94" fmla="*/ 164 w 421"/>
                <a:gd name="T95" fmla="*/ 213 h 387"/>
                <a:gd name="T96" fmla="*/ 165 w 421"/>
                <a:gd name="T97" fmla="*/ 217 h 387"/>
                <a:gd name="T98" fmla="*/ 187 w 421"/>
                <a:gd name="T99" fmla="*/ 220 h 387"/>
                <a:gd name="T100" fmla="*/ 194 w 421"/>
                <a:gd name="T101" fmla="*/ 238 h 387"/>
                <a:gd name="T102" fmla="*/ 171 w 421"/>
                <a:gd name="T103" fmla="*/ 257 h 387"/>
                <a:gd name="T104" fmla="*/ 150 w 421"/>
                <a:gd name="T105" fmla="*/ 270 h 387"/>
                <a:gd name="T106" fmla="*/ 160 w 421"/>
                <a:gd name="T107" fmla="*/ 274 h 387"/>
                <a:gd name="T108" fmla="*/ 167 w 421"/>
                <a:gd name="T109" fmla="*/ 282 h 387"/>
                <a:gd name="T110" fmla="*/ 165 w 421"/>
                <a:gd name="T111" fmla="*/ 295 h 387"/>
                <a:gd name="T112" fmla="*/ 148 w 421"/>
                <a:gd name="T113" fmla="*/ 312 h 387"/>
                <a:gd name="T114" fmla="*/ 81 w 421"/>
                <a:gd name="T115" fmla="*/ 322 h 387"/>
                <a:gd name="T116" fmla="*/ 25 w 421"/>
                <a:gd name="T117" fmla="*/ 314 h 387"/>
                <a:gd name="T118" fmla="*/ 12 w 421"/>
                <a:gd name="T119" fmla="*/ 343 h 387"/>
                <a:gd name="T120" fmla="*/ 0 w 421"/>
                <a:gd name="T121" fmla="*/ 370 h 387"/>
                <a:gd name="T122" fmla="*/ 0 w 421"/>
                <a:gd name="T123" fmla="*/ 374 h 387"/>
                <a:gd name="T124" fmla="*/ 114 w 421"/>
                <a:gd name="T125" fmla="*/ 387 h 38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421" h="387">
                  <a:moveTo>
                    <a:pt x="114" y="387"/>
                  </a:moveTo>
                  <a:lnTo>
                    <a:pt x="194" y="383"/>
                  </a:lnTo>
                  <a:lnTo>
                    <a:pt x="229" y="291"/>
                  </a:lnTo>
                  <a:lnTo>
                    <a:pt x="227" y="289"/>
                  </a:lnTo>
                  <a:lnTo>
                    <a:pt x="223" y="286"/>
                  </a:lnTo>
                  <a:lnTo>
                    <a:pt x="219" y="284"/>
                  </a:lnTo>
                  <a:lnTo>
                    <a:pt x="217" y="280"/>
                  </a:lnTo>
                  <a:lnTo>
                    <a:pt x="213" y="276"/>
                  </a:lnTo>
                  <a:lnTo>
                    <a:pt x="211" y="272"/>
                  </a:lnTo>
                  <a:lnTo>
                    <a:pt x="210" y="268"/>
                  </a:lnTo>
                  <a:lnTo>
                    <a:pt x="210" y="264"/>
                  </a:lnTo>
                  <a:lnTo>
                    <a:pt x="211" y="259"/>
                  </a:lnTo>
                  <a:lnTo>
                    <a:pt x="213" y="255"/>
                  </a:lnTo>
                  <a:lnTo>
                    <a:pt x="217" y="253"/>
                  </a:lnTo>
                  <a:lnTo>
                    <a:pt x="221" y="251"/>
                  </a:lnTo>
                  <a:lnTo>
                    <a:pt x="225" y="249"/>
                  </a:lnTo>
                  <a:lnTo>
                    <a:pt x="229" y="247"/>
                  </a:lnTo>
                  <a:lnTo>
                    <a:pt x="233" y="247"/>
                  </a:lnTo>
                  <a:lnTo>
                    <a:pt x="238" y="249"/>
                  </a:lnTo>
                  <a:lnTo>
                    <a:pt x="236" y="245"/>
                  </a:lnTo>
                  <a:lnTo>
                    <a:pt x="233" y="243"/>
                  </a:lnTo>
                  <a:lnTo>
                    <a:pt x="231" y="240"/>
                  </a:lnTo>
                  <a:lnTo>
                    <a:pt x="229" y="236"/>
                  </a:lnTo>
                  <a:lnTo>
                    <a:pt x="227" y="230"/>
                  </a:lnTo>
                  <a:lnTo>
                    <a:pt x="225" y="226"/>
                  </a:lnTo>
                  <a:lnTo>
                    <a:pt x="225" y="222"/>
                  </a:lnTo>
                  <a:lnTo>
                    <a:pt x="225" y="217"/>
                  </a:lnTo>
                  <a:lnTo>
                    <a:pt x="229" y="213"/>
                  </a:lnTo>
                  <a:lnTo>
                    <a:pt x="233" y="209"/>
                  </a:lnTo>
                  <a:lnTo>
                    <a:pt x="236" y="207"/>
                  </a:lnTo>
                  <a:lnTo>
                    <a:pt x="242" y="205"/>
                  </a:lnTo>
                  <a:lnTo>
                    <a:pt x="246" y="203"/>
                  </a:lnTo>
                  <a:lnTo>
                    <a:pt x="252" y="203"/>
                  </a:lnTo>
                  <a:lnTo>
                    <a:pt x="258" y="203"/>
                  </a:lnTo>
                  <a:lnTo>
                    <a:pt x="263" y="203"/>
                  </a:lnTo>
                  <a:lnTo>
                    <a:pt x="261" y="199"/>
                  </a:lnTo>
                  <a:lnTo>
                    <a:pt x="261" y="195"/>
                  </a:lnTo>
                  <a:lnTo>
                    <a:pt x="259" y="190"/>
                  </a:lnTo>
                  <a:lnTo>
                    <a:pt x="259" y="186"/>
                  </a:lnTo>
                  <a:lnTo>
                    <a:pt x="259" y="182"/>
                  </a:lnTo>
                  <a:lnTo>
                    <a:pt x="259" y="176"/>
                  </a:lnTo>
                  <a:lnTo>
                    <a:pt x="261" y="172"/>
                  </a:lnTo>
                  <a:lnTo>
                    <a:pt x="263" y="167"/>
                  </a:lnTo>
                  <a:lnTo>
                    <a:pt x="267" y="165"/>
                  </a:lnTo>
                  <a:lnTo>
                    <a:pt x="271" y="163"/>
                  </a:lnTo>
                  <a:lnTo>
                    <a:pt x="275" y="163"/>
                  </a:lnTo>
                  <a:lnTo>
                    <a:pt x="279" y="163"/>
                  </a:lnTo>
                  <a:lnTo>
                    <a:pt x="282" y="163"/>
                  </a:lnTo>
                  <a:lnTo>
                    <a:pt x="286" y="165"/>
                  </a:lnTo>
                  <a:lnTo>
                    <a:pt x="290" y="165"/>
                  </a:lnTo>
                  <a:lnTo>
                    <a:pt x="294" y="165"/>
                  </a:lnTo>
                  <a:lnTo>
                    <a:pt x="296" y="165"/>
                  </a:lnTo>
                  <a:lnTo>
                    <a:pt x="296" y="167"/>
                  </a:lnTo>
                  <a:lnTo>
                    <a:pt x="298" y="167"/>
                  </a:lnTo>
                  <a:lnTo>
                    <a:pt x="304" y="155"/>
                  </a:lnTo>
                  <a:lnTo>
                    <a:pt x="309" y="144"/>
                  </a:lnTo>
                  <a:lnTo>
                    <a:pt x="317" y="132"/>
                  </a:lnTo>
                  <a:lnTo>
                    <a:pt x="323" y="121"/>
                  </a:lnTo>
                  <a:lnTo>
                    <a:pt x="330" y="109"/>
                  </a:lnTo>
                  <a:lnTo>
                    <a:pt x="338" y="98"/>
                  </a:lnTo>
                  <a:lnTo>
                    <a:pt x="346" y="86"/>
                  </a:lnTo>
                  <a:lnTo>
                    <a:pt x="353" y="77"/>
                  </a:lnTo>
                  <a:lnTo>
                    <a:pt x="357" y="73"/>
                  </a:lnTo>
                  <a:lnTo>
                    <a:pt x="359" y="69"/>
                  </a:lnTo>
                  <a:lnTo>
                    <a:pt x="361" y="65"/>
                  </a:lnTo>
                  <a:lnTo>
                    <a:pt x="363" y="63"/>
                  </a:lnTo>
                  <a:lnTo>
                    <a:pt x="367" y="59"/>
                  </a:lnTo>
                  <a:lnTo>
                    <a:pt x="369" y="57"/>
                  </a:lnTo>
                  <a:lnTo>
                    <a:pt x="371" y="53"/>
                  </a:lnTo>
                  <a:lnTo>
                    <a:pt x="375" y="52"/>
                  </a:lnTo>
                  <a:lnTo>
                    <a:pt x="378" y="46"/>
                  </a:lnTo>
                  <a:lnTo>
                    <a:pt x="382" y="40"/>
                  </a:lnTo>
                  <a:lnTo>
                    <a:pt x="386" y="36"/>
                  </a:lnTo>
                  <a:lnTo>
                    <a:pt x="392" y="30"/>
                  </a:lnTo>
                  <a:lnTo>
                    <a:pt x="396" y="27"/>
                  </a:lnTo>
                  <a:lnTo>
                    <a:pt x="401" y="21"/>
                  </a:lnTo>
                  <a:lnTo>
                    <a:pt x="405" y="15"/>
                  </a:lnTo>
                  <a:lnTo>
                    <a:pt x="411" y="9"/>
                  </a:lnTo>
                  <a:lnTo>
                    <a:pt x="413" y="9"/>
                  </a:lnTo>
                  <a:lnTo>
                    <a:pt x="415" y="7"/>
                  </a:lnTo>
                  <a:lnTo>
                    <a:pt x="417" y="6"/>
                  </a:lnTo>
                  <a:lnTo>
                    <a:pt x="419" y="6"/>
                  </a:lnTo>
                  <a:lnTo>
                    <a:pt x="419" y="4"/>
                  </a:lnTo>
                  <a:lnTo>
                    <a:pt x="421" y="2"/>
                  </a:lnTo>
                  <a:lnTo>
                    <a:pt x="421" y="0"/>
                  </a:lnTo>
                  <a:lnTo>
                    <a:pt x="415" y="0"/>
                  </a:lnTo>
                  <a:lnTo>
                    <a:pt x="407" y="0"/>
                  </a:lnTo>
                  <a:lnTo>
                    <a:pt x="398" y="0"/>
                  </a:lnTo>
                  <a:lnTo>
                    <a:pt x="390" y="0"/>
                  </a:lnTo>
                  <a:lnTo>
                    <a:pt x="382" y="0"/>
                  </a:lnTo>
                  <a:lnTo>
                    <a:pt x="373" y="0"/>
                  </a:lnTo>
                  <a:lnTo>
                    <a:pt x="365" y="0"/>
                  </a:lnTo>
                  <a:lnTo>
                    <a:pt x="359" y="0"/>
                  </a:lnTo>
                  <a:lnTo>
                    <a:pt x="340" y="0"/>
                  </a:lnTo>
                  <a:lnTo>
                    <a:pt x="323" y="0"/>
                  </a:lnTo>
                  <a:lnTo>
                    <a:pt x="305" y="2"/>
                  </a:lnTo>
                  <a:lnTo>
                    <a:pt x="288" y="2"/>
                  </a:lnTo>
                  <a:lnTo>
                    <a:pt x="271" y="4"/>
                  </a:lnTo>
                  <a:lnTo>
                    <a:pt x="252" y="6"/>
                  </a:lnTo>
                  <a:lnTo>
                    <a:pt x="234" y="7"/>
                  </a:lnTo>
                  <a:lnTo>
                    <a:pt x="217" y="9"/>
                  </a:lnTo>
                  <a:lnTo>
                    <a:pt x="213" y="11"/>
                  </a:lnTo>
                  <a:lnTo>
                    <a:pt x="208" y="11"/>
                  </a:lnTo>
                  <a:lnTo>
                    <a:pt x="204" y="11"/>
                  </a:lnTo>
                  <a:lnTo>
                    <a:pt x="200" y="11"/>
                  </a:lnTo>
                  <a:lnTo>
                    <a:pt x="196" y="13"/>
                  </a:lnTo>
                  <a:lnTo>
                    <a:pt x="192" y="13"/>
                  </a:lnTo>
                  <a:lnTo>
                    <a:pt x="187" y="15"/>
                  </a:lnTo>
                  <a:lnTo>
                    <a:pt x="183" y="17"/>
                  </a:lnTo>
                  <a:lnTo>
                    <a:pt x="179" y="17"/>
                  </a:lnTo>
                  <a:lnTo>
                    <a:pt x="175" y="19"/>
                  </a:lnTo>
                  <a:lnTo>
                    <a:pt x="171" y="19"/>
                  </a:lnTo>
                  <a:lnTo>
                    <a:pt x="167" y="21"/>
                  </a:lnTo>
                  <a:lnTo>
                    <a:pt x="164" y="23"/>
                  </a:lnTo>
                  <a:lnTo>
                    <a:pt x="160" y="25"/>
                  </a:lnTo>
                  <a:lnTo>
                    <a:pt x="158" y="27"/>
                  </a:lnTo>
                  <a:lnTo>
                    <a:pt x="154" y="29"/>
                  </a:lnTo>
                  <a:lnTo>
                    <a:pt x="154" y="32"/>
                  </a:lnTo>
                  <a:lnTo>
                    <a:pt x="152" y="38"/>
                  </a:lnTo>
                  <a:lnTo>
                    <a:pt x="150" y="42"/>
                  </a:lnTo>
                  <a:lnTo>
                    <a:pt x="150" y="46"/>
                  </a:lnTo>
                  <a:lnTo>
                    <a:pt x="148" y="50"/>
                  </a:lnTo>
                  <a:lnTo>
                    <a:pt x="146" y="52"/>
                  </a:lnTo>
                  <a:lnTo>
                    <a:pt x="146" y="55"/>
                  </a:lnTo>
                  <a:lnTo>
                    <a:pt x="144" y="59"/>
                  </a:lnTo>
                  <a:lnTo>
                    <a:pt x="142" y="65"/>
                  </a:lnTo>
                  <a:lnTo>
                    <a:pt x="142" y="71"/>
                  </a:lnTo>
                  <a:lnTo>
                    <a:pt x="141" y="75"/>
                  </a:lnTo>
                  <a:lnTo>
                    <a:pt x="139" y="80"/>
                  </a:lnTo>
                  <a:lnTo>
                    <a:pt x="137" y="84"/>
                  </a:lnTo>
                  <a:lnTo>
                    <a:pt x="135" y="90"/>
                  </a:lnTo>
                  <a:lnTo>
                    <a:pt x="133" y="94"/>
                  </a:lnTo>
                  <a:lnTo>
                    <a:pt x="131" y="98"/>
                  </a:lnTo>
                  <a:lnTo>
                    <a:pt x="129" y="103"/>
                  </a:lnTo>
                  <a:lnTo>
                    <a:pt x="127" y="107"/>
                  </a:lnTo>
                  <a:lnTo>
                    <a:pt x="125" y="111"/>
                  </a:lnTo>
                  <a:lnTo>
                    <a:pt x="123" y="117"/>
                  </a:lnTo>
                  <a:lnTo>
                    <a:pt x="123" y="121"/>
                  </a:lnTo>
                  <a:lnTo>
                    <a:pt x="121" y="124"/>
                  </a:lnTo>
                  <a:lnTo>
                    <a:pt x="119" y="128"/>
                  </a:lnTo>
                  <a:lnTo>
                    <a:pt x="117" y="132"/>
                  </a:lnTo>
                  <a:lnTo>
                    <a:pt x="114" y="138"/>
                  </a:lnTo>
                  <a:lnTo>
                    <a:pt x="112" y="142"/>
                  </a:lnTo>
                  <a:lnTo>
                    <a:pt x="110" y="147"/>
                  </a:lnTo>
                  <a:lnTo>
                    <a:pt x="106" y="153"/>
                  </a:lnTo>
                  <a:lnTo>
                    <a:pt x="104" y="159"/>
                  </a:lnTo>
                  <a:lnTo>
                    <a:pt x="102" y="163"/>
                  </a:lnTo>
                  <a:lnTo>
                    <a:pt x="98" y="169"/>
                  </a:lnTo>
                  <a:lnTo>
                    <a:pt x="96" y="174"/>
                  </a:lnTo>
                  <a:lnTo>
                    <a:pt x="102" y="174"/>
                  </a:lnTo>
                  <a:lnTo>
                    <a:pt x="108" y="174"/>
                  </a:lnTo>
                  <a:lnTo>
                    <a:pt x="114" y="174"/>
                  </a:lnTo>
                  <a:lnTo>
                    <a:pt x="119" y="172"/>
                  </a:lnTo>
                  <a:lnTo>
                    <a:pt x="127" y="170"/>
                  </a:lnTo>
                  <a:lnTo>
                    <a:pt x="133" y="169"/>
                  </a:lnTo>
                  <a:lnTo>
                    <a:pt x="141" y="167"/>
                  </a:lnTo>
                  <a:lnTo>
                    <a:pt x="146" y="165"/>
                  </a:lnTo>
                  <a:lnTo>
                    <a:pt x="152" y="165"/>
                  </a:lnTo>
                  <a:lnTo>
                    <a:pt x="158" y="163"/>
                  </a:lnTo>
                  <a:lnTo>
                    <a:pt x="164" y="161"/>
                  </a:lnTo>
                  <a:lnTo>
                    <a:pt x="169" y="161"/>
                  </a:lnTo>
                  <a:lnTo>
                    <a:pt x="175" y="161"/>
                  </a:lnTo>
                  <a:lnTo>
                    <a:pt x="181" y="161"/>
                  </a:lnTo>
                  <a:lnTo>
                    <a:pt x="185" y="163"/>
                  </a:lnTo>
                  <a:lnTo>
                    <a:pt x="188" y="167"/>
                  </a:lnTo>
                  <a:lnTo>
                    <a:pt x="190" y="170"/>
                  </a:lnTo>
                  <a:lnTo>
                    <a:pt x="190" y="176"/>
                  </a:lnTo>
                  <a:lnTo>
                    <a:pt x="190" y="180"/>
                  </a:lnTo>
                  <a:lnTo>
                    <a:pt x="190" y="184"/>
                  </a:lnTo>
                  <a:lnTo>
                    <a:pt x="188" y="188"/>
                  </a:lnTo>
                  <a:lnTo>
                    <a:pt x="187" y="190"/>
                  </a:lnTo>
                  <a:lnTo>
                    <a:pt x="183" y="193"/>
                  </a:lnTo>
                  <a:lnTo>
                    <a:pt x="181" y="197"/>
                  </a:lnTo>
                  <a:lnTo>
                    <a:pt x="179" y="199"/>
                  </a:lnTo>
                  <a:lnTo>
                    <a:pt x="177" y="199"/>
                  </a:lnTo>
                  <a:lnTo>
                    <a:pt x="175" y="201"/>
                  </a:lnTo>
                  <a:lnTo>
                    <a:pt x="173" y="201"/>
                  </a:lnTo>
                  <a:lnTo>
                    <a:pt x="173" y="203"/>
                  </a:lnTo>
                  <a:lnTo>
                    <a:pt x="171" y="205"/>
                  </a:lnTo>
                  <a:lnTo>
                    <a:pt x="171" y="207"/>
                  </a:lnTo>
                  <a:lnTo>
                    <a:pt x="169" y="209"/>
                  </a:lnTo>
                  <a:lnTo>
                    <a:pt x="167" y="211"/>
                  </a:lnTo>
                  <a:lnTo>
                    <a:pt x="165" y="213"/>
                  </a:lnTo>
                  <a:lnTo>
                    <a:pt x="164" y="213"/>
                  </a:lnTo>
                  <a:lnTo>
                    <a:pt x="164" y="215"/>
                  </a:lnTo>
                  <a:lnTo>
                    <a:pt x="162" y="215"/>
                  </a:lnTo>
                  <a:lnTo>
                    <a:pt x="160" y="217"/>
                  </a:lnTo>
                  <a:lnTo>
                    <a:pt x="165" y="217"/>
                  </a:lnTo>
                  <a:lnTo>
                    <a:pt x="171" y="217"/>
                  </a:lnTo>
                  <a:lnTo>
                    <a:pt x="177" y="217"/>
                  </a:lnTo>
                  <a:lnTo>
                    <a:pt x="181" y="218"/>
                  </a:lnTo>
                  <a:lnTo>
                    <a:pt x="187" y="220"/>
                  </a:lnTo>
                  <a:lnTo>
                    <a:pt x="190" y="222"/>
                  </a:lnTo>
                  <a:lnTo>
                    <a:pt x="194" y="226"/>
                  </a:lnTo>
                  <a:lnTo>
                    <a:pt x="198" y="232"/>
                  </a:lnTo>
                  <a:lnTo>
                    <a:pt x="194" y="238"/>
                  </a:lnTo>
                  <a:lnTo>
                    <a:pt x="190" y="243"/>
                  </a:lnTo>
                  <a:lnTo>
                    <a:pt x="185" y="249"/>
                  </a:lnTo>
                  <a:lnTo>
                    <a:pt x="177" y="253"/>
                  </a:lnTo>
                  <a:lnTo>
                    <a:pt x="171" y="257"/>
                  </a:lnTo>
                  <a:lnTo>
                    <a:pt x="164" y="261"/>
                  </a:lnTo>
                  <a:lnTo>
                    <a:pt x="156" y="264"/>
                  </a:lnTo>
                  <a:lnTo>
                    <a:pt x="148" y="268"/>
                  </a:lnTo>
                  <a:lnTo>
                    <a:pt x="150" y="270"/>
                  </a:lnTo>
                  <a:lnTo>
                    <a:pt x="154" y="270"/>
                  </a:lnTo>
                  <a:lnTo>
                    <a:pt x="156" y="270"/>
                  </a:lnTo>
                  <a:lnTo>
                    <a:pt x="158" y="272"/>
                  </a:lnTo>
                  <a:lnTo>
                    <a:pt x="160" y="274"/>
                  </a:lnTo>
                  <a:lnTo>
                    <a:pt x="162" y="274"/>
                  </a:lnTo>
                  <a:lnTo>
                    <a:pt x="164" y="276"/>
                  </a:lnTo>
                  <a:lnTo>
                    <a:pt x="165" y="278"/>
                  </a:lnTo>
                  <a:lnTo>
                    <a:pt x="167" y="282"/>
                  </a:lnTo>
                  <a:lnTo>
                    <a:pt x="167" y="286"/>
                  </a:lnTo>
                  <a:lnTo>
                    <a:pt x="167" y="289"/>
                  </a:lnTo>
                  <a:lnTo>
                    <a:pt x="167" y="291"/>
                  </a:lnTo>
                  <a:lnTo>
                    <a:pt x="165" y="295"/>
                  </a:lnTo>
                  <a:lnTo>
                    <a:pt x="165" y="297"/>
                  </a:lnTo>
                  <a:lnTo>
                    <a:pt x="164" y="301"/>
                  </a:lnTo>
                  <a:lnTo>
                    <a:pt x="164" y="303"/>
                  </a:lnTo>
                  <a:lnTo>
                    <a:pt x="148" y="312"/>
                  </a:lnTo>
                  <a:lnTo>
                    <a:pt x="131" y="318"/>
                  </a:lnTo>
                  <a:lnTo>
                    <a:pt x="116" y="322"/>
                  </a:lnTo>
                  <a:lnTo>
                    <a:pt x="98" y="322"/>
                  </a:lnTo>
                  <a:lnTo>
                    <a:pt x="81" y="322"/>
                  </a:lnTo>
                  <a:lnTo>
                    <a:pt x="64" y="318"/>
                  </a:lnTo>
                  <a:lnTo>
                    <a:pt x="47" y="314"/>
                  </a:lnTo>
                  <a:lnTo>
                    <a:pt x="31" y="307"/>
                  </a:lnTo>
                  <a:lnTo>
                    <a:pt x="25" y="314"/>
                  </a:lnTo>
                  <a:lnTo>
                    <a:pt x="20" y="320"/>
                  </a:lnTo>
                  <a:lnTo>
                    <a:pt x="16" y="328"/>
                  </a:lnTo>
                  <a:lnTo>
                    <a:pt x="14" y="335"/>
                  </a:lnTo>
                  <a:lnTo>
                    <a:pt x="12" y="343"/>
                  </a:lnTo>
                  <a:lnTo>
                    <a:pt x="8" y="353"/>
                  </a:lnTo>
                  <a:lnTo>
                    <a:pt x="4" y="360"/>
                  </a:lnTo>
                  <a:lnTo>
                    <a:pt x="0" y="370"/>
                  </a:lnTo>
                  <a:lnTo>
                    <a:pt x="0" y="372"/>
                  </a:lnTo>
                  <a:lnTo>
                    <a:pt x="0" y="374"/>
                  </a:lnTo>
                  <a:lnTo>
                    <a:pt x="0" y="376"/>
                  </a:lnTo>
                  <a:lnTo>
                    <a:pt x="114" y="3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1" name="Freeform 12">
              <a:extLst>
                <a:ext uri="{FF2B5EF4-FFF2-40B4-BE49-F238E27FC236}">
                  <a16:creationId xmlns:a16="http://schemas.microsoft.com/office/drawing/2014/main" id="{A35B886A-7D22-E00E-5EFA-419DD15E9E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22" y="2996"/>
              <a:ext cx="319" cy="149"/>
            </a:xfrm>
            <a:custGeom>
              <a:avLst/>
              <a:gdLst>
                <a:gd name="T0" fmla="*/ 253 w 319"/>
                <a:gd name="T1" fmla="*/ 148 h 149"/>
                <a:gd name="T2" fmla="*/ 282 w 319"/>
                <a:gd name="T3" fmla="*/ 138 h 149"/>
                <a:gd name="T4" fmla="*/ 288 w 319"/>
                <a:gd name="T5" fmla="*/ 126 h 149"/>
                <a:gd name="T6" fmla="*/ 280 w 319"/>
                <a:gd name="T7" fmla="*/ 121 h 149"/>
                <a:gd name="T8" fmla="*/ 259 w 319"/>
                <a:gd name="T9" fmla="*/ 119 h 149"/>
                <a:gd name="T10" fmla="*/ 240 w 319"/>
                <a:gd name="T11" fmla="*/ 115 h 149"/>
                <a:gd name="T12" fmla="*/ 234 w 319"/>
                <a:gd name="T13" fmla="*/ 113 h 149"/>
                <a:gd name="T14" fmla="*/ 232 w 319"/>
                <a:gd name="T15" fmla="*/ 109 h 149"/>
                <a:gd name="T16" fmla="*/ 232 w 319"/>
                <a:gd name="T17" fmla="*/ 107 h 149"/>
                <a:gd name="T18" fmla="*/ 232 w 319"/>
                <a:gd name="T19" fmla="*/ 105 h 149"/>
                <a:gd name="T20" fmla="*/ 267 w 319"/>
                <a:gd name="T21" fmla="*/ 100 h 149"/>
                <a:gd name="T22" fmla="*/ 309 w 319"/>
                <a:gd name="T23" fmla="*/ 80 h 149"/>
                <a:gd name="T24" fmla="*/ 223 w 319"/>
                <a:gd name="T25" fmla="*/ 80 h 149"/>
                <a:gd name="T26" fmla="*/ 221 w 319"/>
                <a:gd name="T27" fmla="*/ 75 h 149"/>
                <a:gd name="T28" fmla="*/ 227 w 319"/>
                <a:gd name="T29" fmla="*/ 69 h 149"/>
                <a:gd name="T30" fmla="*/ 238 w 319"/>
                <a:gd name="T31" fmla="*/ 67 h 149"/>
                <a:gd name="T32" fmla="*/ 257 w 319"/>
                <a:gd name="T33" fmla="*/ 59 h 149"/>
                <a:gd name="T34" fmla="*/ 282 w 319"/>
                <a:gd name="T35" fmla="*/ 48 h 149"/>
                <a:gd name="T36" fmla="*/ 298 w 319"/>
                <a:gd name="T37" fmla="*/ 32 h 149"/>
                <a:gd name="T38" fmla="*/ 307 w 319"/>
                <a:gd name="T39" fmla="*/ 19 h 149"/>
                <a:gd name="T40" fmla="*/ 301 w 319"/>
                <a:gd name="T41" fmla="*/ 13 h 149"/>
                <a:gd name="T42" fmla="*/ 282 w 319"/>
                <a:gd name="T43" fmla="*/ 19 h 149"/>
                <a:gd name="T44" fmla="*/ 253 w 319"/>
                <a:gd name="T45" fmla="*/ 25 h 149"/>
                <a:gd name="T46" fmla="*/ 219 w 319"/>
                <a:gd name="T47" fmla="*/ 32 h 149"/>
                <a:gd name="T48" fmla="*/ 202 w 319"/>
                <a:gd name="T49" fmla="*/ 29 h 149"/>
                <a:gd name="T50" fmla="*/ 200 w 319"/>
                <a:gd name="T51" fmla="*/ 23 h 149"/>
                <a:gd name="T52" fmla="*/ 204 w 319"/>
                <a:gd name="T53" fmla="*/ 21 h 149"/>
                <a:gd name="T54" fmla="*/ 209 w 319"/>
                <a:gd name="T55" fmla="*/ 17 h 149"/>
                <a:gd name="T56" fmla="*/ 215 w 319"/>
                <a:gd name="T57" fmla="*/ 13 h 149"/>
                <a:gd name="T58" fmla="*/ 217 w 319"/>
                <a:gd name="T59" fmla="*/ 6 h 149"/>
                <a:gd name="T60" fmla="*/ 207 w 319"/>
                <a:gd name="T61" fmla="*/ 0 h 149"/>
                <a:gd name="T62" fmla="*/ 188 w 319"/>
                <a:gd name="T63" fmla="*/ 2 h 149"/>
                <a:gd name="T64" fmla="*/ 167 w 319"/>
                <a:gd name="T65" fmla="*/ 19 h 149"/>
                <a:gd name="T66" fmla="*/ 142 w 319"/>
                <a:gd name="T67" fmla="*/ 50 h 149"/>
                <a:gd name="T68" fmla="*/ 117 w 319"/>
                <a:gd name="T69" fmla="*/ 56 h 149"/>
                <a:gd name="T70" fmla="*/ 102 w 319"/>
                <a:gd name="T71" fmla="*/ 54 h 149"/>
                <a:gd name="T72" fmla="*/ 81 w 319"/>
                <a:gd name="T73" fmla="*/ 56 h 149"/>
                <a:gd name="T74" fmla="*/ 56 w 319"/>
                <a:gd name="T75" fmla="*/ 54 h 149"/>
                <a:gd name="T76" fmla="*/ 31 w 319"/>
                <a:gd name="T77" fmla="*/ 65 h 149"/>
                <a:gd name="T78" fmla="*/ 10 w 319"/>
                <a:gd name="T79" fmla="*/ 84 h 149"/>
                <a:gd name="T80" fmla="*/ 23 w 319"/>
                <a:gd name="T81" fmla="*/ 102 h 149"/>
                <a:gd name="T82" fmla="*/ 69 w 319"/>
                <a:gd name="T83" fmla="*/ 100 h 149"/>
                <a:gd name="T84" fmla="*/ 108 w 319"/>
                <a:gd name="T85" fmla="*/ 96 h 149"/>
                <a:gd name="T86" fmla="*/ 136 w 319"/>
                <a:gd name="T87" fmla="*/ 88 h 149"/>
                <a:gd name="T88" fmla="*/ 156 w 319"/>
                <a:gd name="T89" fmla="*/ 111 h 149"/>
                <a:gd name="T90" fmla="*/ 188 w 319"/>
                <a:gd name="T91" fmla="*/ 136 h 149"/>
                <a:gd name="T92" fmla="*/ 213 w 319"/>
                <a:gd name="T93" fmla="*/ 146 h 149"/>
                <a:gd name="T94" fmla="*/ 225 w 319"/>
                <a:gd name="T95" fmla="*/ 148 h 149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319" h="149">
                  <a:moveTo>
                    <a:pt x="230" y="149"/>
                  </a:moveTo>
                  <a:lnTo>
                    <a:pt x="238" y="149"/>
                  </a:lnTo>
                  <a:lnTo>
                    <a:pt x="246" y="149"/>
                  </a:lnTo>
                  <a:lnTo>
                    <a:pt x="253" y="148"/>
                  </a:lnTo>
                  <a:lnTo>
                    <a:pt x="261" y="148"/>
                  </a:lnTo>
                  <a:lnTo>
                    <a:pt x="269" y="146"/>
                  </a:lnTo>
                  <a:lnTo>
                    <a:pt x="275" y="142"/>
                  </a:lnTo>
                  <a:lnTo>
                    <a:pt x="282" y="138"/>
                  </a:lnTo>
                  <a:lnTo>
                    <a:pt x="290" y="134"/>
                  </a:lnTo>
                  <a:lnTo>
                    <a:pt x="290" y="132"/>
                  </a:lnTo>
                  <a:lnTo>
                    <a:pt x="290" y="128"/>
                  </a:lnTo>
                  <a:lnTo>
                    <a:pt x="288" y="126"/>
                  </a:lnTo>
                  <a:lnTo>
                    <a:pt x="286" y="125"/>
                  </a:lnTo>
                  <a:lnTo>
                    <a:pt x="284" y="125"/>
                  </a:lnTo>
                  <a:lnTo>
                    <a:pt x="282" y="123"/>
                  </a:lnTo>
                  <a:lnTo>
                    <a:pt x="280" y="121"/>
                  </a:lnTo>
                  <a:lnTo>
                    <a:pt x="277" y="119"/>
                  </a:lnTo>
                  <a:lnTo>
                    <a:pt x="271" y="119"/>
                  </a:lnTo>
                  <a:lnTo>
                    <a:pt x="265" y="119"/>
                  </a:lnTo>
                  <a:lnTo>
                    <a:pt x="259" y="119"/>
                  </a:lnTo>
                  <a:lnTo>
                    <a:pt x="255" y="119"/>
                  </a:lnTo>
                  <a:lnTo>
                    <a:pt x="250" y="117"/>
                  </a:lnTo>
                  <a:lnTo>
                    <a:pt x="244" y="117"/>
                  </a:lnTo>
                  <a:lnTo>
                    <a:pt x="240" y="115"/>
                  </a:lnTo>
                  <a:lnTo>
                    <a:pt x="236" y="115"/>
                  </a:lnTo>
                  <a:lnTo>
                    <a:pt x="234" y="113"/>
                  </a:lnTo>
                  <a:lnTo>
                    <a:pt x="232" y="111"/>
                  </a:lnTo>
                  <a:lnTo>
                    <a:pt x="232" y="109"/>
                  </a:lnTo>
                  <a:lnTo>
                    <a:pt x="230" y="109"/>
                  </a:lnTo>
                  <a:lnTo>
                    <a:pt x="232" y="109"/>
                  </a:lnTo>
                  <a:lnTo>
                    <a:pt x="232" y="107"/>
                  </a:lnTo>
                  <a:lnTo>
                    <a:pt x="232" y="105"/>
                  </a:lnTo>
                  <a:lnTo>
                    <a:pt x="232" y="103"/>
                  </a:lnTo>
                  <a:lnTo>
                    <a:pt x="244" y="103"/>
                  </a:lnTo>
                  <a:lnTo>
                    <a:pt x="255" y="102"/>
                  </a:lnTo>
                  <a:lnTo>
                    <a:pt x="267" y="100"/>
                  </a:lnTo>
                  <a:lnTo>
                    <a:pt x="278" y="98"/>
                  </a:lnTo>
                  <a:lnTo>
                    <a:pt x="290" y="94"/>
                  </a:lnTo>
                  <a:lnTo>
                    <a:pt x="300" y="88"/>
                  </a:lnTo>
                  <a:lnTo>
                    <a:pt x="309" y="80"/>
                  </a:lnTo>
                  <a:lnTo>
                    <a:pt x="319" y="73"/>
                  </a:lnTo>
                  <a:lnTo>
                    <a:pt x="225" y="80"/>
                  </a:lnTo>
                  <a:lnTo>
                    <a:pt x="223" y="80"/>
                  </a:lnTo>
                  <a:lnTo>
                    <a:pt x="223" y="79"/>
                  </a:lnTo>
                  <a:lnTo>
                    <a:pt x="223" y="77"/>
                  </a:lnTo>
                  <a:lnTo>
                    <a:pt x="221" y="75"/>
                  </a:lnTo>
                  <a:lnTo>
                    <a:pt x="221" y="73"/>
                  </a:lnTo>
                  <a:lnTo>
                    <a:pt x="225" y="71"/>
                  </a:lnTo>
                  <a:lnTo>
                    <a:pt x="227" y="69"/>
                  </a:lnTo>
                  <a:lnTo>
                    <a:pt x="229" y="69"/>
                  </a:lnTo>
                  <a:lnTo>
                    <a:pt x="232" y="69"/>
                  </a:lnTo>
                  <a:lnTo>
                    <a:pt x="234" y="67"/>
                  </a:lnTo>
                  <a:lnTo>
                    <a:pt x="238" y="67"/>
                  </a:lnTo>
                  <a:lnTo>
                    <a:pt x="240" y="67"/>
                  </a:lnTo>
                  <a:lnTo>
                    <a:pt x="244" y="65"/>
                  </a:lnTo>
                  <a:lnTo>
                    <a:pt x="250" y="63"/>
                  </a:lnTo>
                  <a:lnTo>
                    <a:pt x="257" y="59"/>
                  </a:lnTo>
                  <a:lnTo>
                    <a:pt x="263" y="57"/>
                  </a:lnTo>
                  <a:lnTo>
                    <a:pt x="269" y="56"/>
                  </a:lnTo>
                  <a:lnTo>
                    <a:pt x="275" y="52"/>
                  </a:lnTo>
                  <a:lnTo>
                    <a:pt x="282" y="48"/>
                  </a:lnTo>
                  <a:lnTo>
                    <a:pt x="288" y="44"/>
                  </a:lnTo>
                  <a:lnTo>
                    <a:pt x="294" y="40"/>
                  </a:lnTo>
                  <a:lnTo>
                    <a:pt x="296" y="36"/>
                  </a:lnTo>
                  <a:lnTo>
                    <a:pt x="298" y="32"/>
                  </a:lnTo>
                  <a:lnTo>
                    <a:pt x="300" y="31"/>
                  </a:lnTo>
                  <a:lnTo>
                    <a:pt x="303" y="27"/>
                  </a:lnTo>
                  <a:lnTo>
                    <a:pt x="305" y="23"/>
                  </a:lnTo>
                  <a:lnTo>
                    <a:pt x="307" y="19"/>
                  </a:lnTo>
                  <a:lnTo>
                    <a:pt x="309" y="15"/>
                  </a:lnTo>
                  <a:lnTo>
                    <a:pt x="311" y="13"/>
                  </a:lnTo>
                  <a:lnTo>
                    <a:pt x="307" y="11"/>
                  </a:lnTo>
                  <a:lnTo>
                    <a:pt x="301" y="13"/>
                  </a:lnTo>
                  <a:lnTo>
                    <a:pt x="296" y="13"/>
                  </a:lnTo>
                  <a:lnTo>
                    <a:pt x="292" y="15"/>
                  </a:lnTo>
                  <a:lnTo>
                    <a:pt x="286" y="17"/>
                  </a:lnTo>
                  <a:lnTo>
                    <a:pt x="282" y="19"/>
                  </a:lnTo>
                  <a:lnTo>
                    <a:pt x="277" y="19"/>
                  </a:lnTo>
                  <a:lnTo>
                    <a:pt x="271" y="19"/>
                  </a:lnTo>
                  <a:lnTo>
                    <a:pt x="263" y="23"/>
                  </a:lnTo>
                  <a:lnTo>
                    <a:pt x="253" y="25"/>
                  </a:lnTo>
                  <a:lnTo>
                    <a:pt x="246" y="29"/>
                  </a:lnTo>
                  <a:lnTo>
                    <a:pt x="236" y="31"/>
                  </a:lnTo>
                  <a:lnTo>
                    <a:pt x="229" y="32"/>
                  </a:lnTo>
                  <a:lnTo>
                    <a:pt x="219" y="32"/>
                  </a:lnTo>
                  <a:lnTo>
                    <a:pt x="211" y="32"/>
                  </a:lnTo>
                  <a:lnTo>
                    <a:pt x="202" y="31"/>
                  </a:lnTo>
                  <a:lnTo>
                    <a:pt x="202" y="29"/>
                  </a:lnTo>
                  <a:lnTo>
                    <a:pt x="200" y="27"/>
                  </a:lnTo>
                  <a:lnTo>
                    <a:pt x="200" y="25"/>
                  </a:lnTo>
                  <a:lnTo>
                    <a:pt x="200" y="23"/>
                  </a:lnTo>
                  <a:lnTo>
                    <a:pt x="200" y="21"/>
                  </a:lnTo>
                  <a:lnTo>
                    <a:pt x="202" y="21"/>
                  </a:lnTo>
                  <a:lnTo>
                    <a:pt x="204" y="21"/>
                  </a:lnTo>
                  <a:lnTo>
                    <a:pt x="204" y="19"/>
                  </a:lnTo>
                  <a:lnTo>
                    <a:pt x="206" y="19"/>
                  </a:lnTo>
                  <a:lnTo>
                    <a:pt x="207" y="19"/>
                  </a:lnTo>
                  <a:lnTo>
                    <a:pt x="209" y="17"/>
                  </a:lnTo>
                  <a:lnTo>
                    <a:pt x="211" y="17"/>
                  </a:lnTo>
                  <a:lnTo>
                    <a:pt x="213" y="15"/>
                  </a:lnTo>
                  <a:lnTo>
                    <a:pt x="215" y="13"/>
                  </a:lnTo>
                  <a:lnTo>
                    <a:pt x="215" y="11"/>
                  </a:lnTo>
                  <a:lnTo>
                    <a:pt x="217" y="9"/>
                  </a:lnTo>
                  <a:lnTo>
                    <a:pt x="217" y="8"/>
                  </a:lnTo>
                  <a:lnTo>
                    <a:pt x="217" y="6"/>
                  </a:lnTo>
                  <a:lnTo>
                    <a:pt x="217" y="4"/>
                  </a:lnTo>
                  <a:lnTo>
                    <a:pt x="211" y="2"/>
                  </a:lnTo>
                  <a:lnTo>
                    <a:pt x="207" y="0"/>
                  </a:lnTo>
                  <a:lnTo>
                    <a:pt x="204" y="0"/>
                  </a:lnTo>
                  <a:lnTo>
                    <a:pt x="198" y="0"/>
                  </a:lnTo>
                  <a:lnTo>
                    <a:pt x="194" y="2"/>
                  </a:lnTo>
                  <a:lnTo>
                    <a:pt x="188" y="2"/>
                  </a:lnTo>
                  <a:lnTo>
                    <a:pt x="184" y="4"/>
                  </a:lnTo>
                  <a:lnTo>
                    <a:pt x="181" y="4"/>
                  </a:lnTo>
                  <a:lnTo>
                    <a:pt x="173" y="11"/>
                  </a:lnTo>
                  <a:lnTo>
                    <a:pt x="167" y="19"/>
                  </a:lnTo>
                  <a:lnTo>
                    <a:pt x="161" y="27"/>
                  </a:lnTo>
                  <a:lnTo>
                    <a:pt x="156" y="34"/>
                  </a:lnTo>
                  <a:lnTo>
                    <a:pt x="150" y="44"/>
                  </a:lnTo>
                  <a:lnTo>
                    <a:pt x="142" y="50"/>
                  </a:lnTo>
                  <a:lnTo>
                    <a:pt x="136" y="54"/>
                  </a:lnTo>
                  <a:lnTo>
                    <a:pt x="127" y="56"/>
                  </a:lnTo>
                  <a:lnTo>
                    <a:pt x="123" y="56"/>
                  </a:lnTo>
                  <a:lnTo>
                    <a:pt x="117" y="56"/>
                  </a:lnTo>
                  <a:lnTo>
                    <a:pt x="113" y="56"/>
                  </a:lnTo>
                  <a:lnTo>
                    <a:pt x="110" y="56"/>
                  </a:lnTo>
                  <a:lnTo>
                    <a:pt x="106" y="54"/>
                  </a:lnTo>
                  <a:lnTo>
                    <a:pt x="102" y="54"/>
                  </a:lnTo>
                  <a:lnTo>
                    <a:pt x="98" y="56"/>
                  </a:lnTo>
                  <a:lnTo>
                    <a:pt x="94" y="56"/>
                  </a:lnTo>
                  <a:lnTo>
                    <a:pt x="87" y="56"/>
                  </a:lnTo>
                  <a:lnTo>
                    <a:pt x="81" y="56"/>
                  </a:lnTo>
                  <a:lnTo>
                    <a:pt x="75" y="56"/>
                  </a:lnTo>
                  <a:lnTo>
                    <a:pt x="67" y="56"/>
                  </a:lnTo>
                  <a:lnTo>
                    <a:pt x="62" y="54"/>
                  </a:lnTo>
                  <a:lnTo>
                    <a:pt x="56" y="54"/>
                  </a:lnTo>
                  <a:lnTo>
                    <a:pt x="48" y="54"/>
                  </a:lnTo>
                  <a:lnTo>
                    <a:pt x="42" y="54"/>
                  </a:lnTo>
                  <a:lnTo>
                    <a:pt x="37" y="59"/>
                  </a:lnTo>
                  <a:lnTo>
                    <a:pt x="31" y="65"/>
                  </a:lnTo>
                  <a:lnTo>
                    <a:pt x="25" y="69"/>
                  </a:lnTo>
                  <a:lnTo>
                    <a:pt x="19" y="75"/>
                  </a:lnTo>
                  <a:lnTo>
                    <a:pt x="16" y="79"/>
                  </a:lnTo>
                  <a:lnTo>
                    <a:pt x="10" y="84"/>
                  </a:lnTo>
                  <a:lnTo>
                    <a:pt x="6" y="88"/>
                  </a:lnTo>
                  <a:lnTo>
                    <a:pt x="0" y="94"/>
                  </a:lnTo>
                  <a:lnTo>
                    <a:pt x="12" y="100"/>
                  </a:lnTo>
                  <a:lnTo>
                    <a:pt x="23" y="102"/>
                  </a:lnTo>
                  <a:lnTo>
                    <a:pt x="35" y="102"/>
                  </a:lnTo>
                  <a:lnTo>
                    <a:pt x="46" y="102"/>
                  </a:lnTo>
                  <a:lnTo>
                    <a:pt x="58" y="102"/>
                  </a:lnTo>
                  <a:lnTo>
                    <a:pt x="69" y="100"/>
                  </a:lnTo>
                  <a:lnTo>
                    <a:pt x="81" y="100"/>
                  </a:lnTo>
                  <a:lnTo>
                    <a:pt x="94" y="100"/>
                  </a:lnTo>
                  <a:lnTo>
                    <a:pt x="100" y="98"/>
                  </a:lnTo>
                  <a:lnTo>
                    <a:pt x="108" y="96"/>
                  </a:lnTo>
                  <a:lnTo>
                    <a:pt x="115" y="94"/>
                  </a:lnTo>
                  <a:lnTo>
                    <a:pt x="123" y="92"/>
                  </a:lnTo>
                  <a:lnTo>
                    <a:pt x="129" y="90"/>
                  </a:lnTo>
                  <a:lnTo>
                    <a:pt x="136" y="88"/>
                  </a:lnTo>
                  <a:lnTo>
                    <a:pt x="142" y="88"/>
                  </a:lnTo>
                  <a:lnTo>
                    <a:pt x="148" y="88"/>
                  </a:lnTo>
                  <a:lnTo>
                    <a:pt x="152" y="100"/>
                  </a:lnTo>
                  <a:lnTo>
                    <a:pt x="156" y="111"/>
                  </a:lnTo>
                  <a:lnTo>
                    <a:pt x="163" y="119"/>
                  </a:lnTo>
                  <a:lnTo>
                    <a:pt x="171" y="125"/>
                  </a:lnTo>
                  <a:lnTo>
                    <a:pt x="179" y="130"/>
                  </a:lnTo>
                  <a:lnTo>
                    <a:pt x="188" y="136"/>
                  </a:lnTo>
                  <a:lnTo>
                    <a:pt x="200" y="140"/>
                  </a:lnTo>
                  <a:lnTo>
                    <a:pt x="209" y="144"/>
                  </a:lnTo>
                  <a:lnTo>
                    <a:pt x="211" y="146"/>
                  </a:lnTo>
                  <a:lnTo>
                    <a:pt x="213" y="146"/>
                  </a:lnTo>
                  <a:lnTo>
                    <a:pt x="217" y="146"/>
                  </a:lnTo>
                  <a:lnTo>
                    <a:pt x="219" y="146"/>
                  </a:lnTo>
                  <a:lnTo>
                    <a:pt x="221" y="146"/>
                  </a:lnTo>
                  <a:lnTo>
                    <a:pt x="225" y="148"/>
                  </a:lnTo>
                  <a:lnTo>
                    <a:pt x="227" y="148"/>
                  </a:lnTo>
                  <a:lnTo>
                    <a:pt x="230" y="149"/>
                  </a:lnTo>
                  <a:close/>
                </a:path>
              </a:pathLst>
            </a:custGeom>
            <a:solidFill>
              <a:srgbClr val="FFCF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Freeform 13">
              <a:extLst>
                <a:ext uri="{FF2B5EF4-FFF2-40B4-BE49-F238E27FC236}">
                  <a16:creationId xmlns:a16="http://schemas.microsoft.com/office/drawing/2014/main" id="{08BB5CFE-047A-BEA1-1EA9-BC13D07601F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44" y="3096"/>
              <a:ext cx="36" cy="25"/>
            </a:xfrm>
            <a:custGeom>
              <a:avLst/>
              <a:gdLst>
                <a:gd name="T0" fmla="*/ 19 w 36"/>
                <a:gd name="T1" fmla="*/ 25 h 25"/>
                <a:gd name="T2" fmla="*/ 23 w 36"/>
                <a:gd name="T3" fmla="*/ 25 h 25"/>
                <a:gd name="T4" fmla="*/ 25 w 36"/>
                <a:gd name="T5" fmla="*/ 23 h 25"/>
                <a:gd name="T6" fmla="*/ 27 w 36"/>
                <a:gd name="T7" fmla="*/ 23 h 25"/>
                <a:gd name="T8" fmla="*/ 29 w 36"/>
                <a:gd name="T9" fmla="*/ 21 h 25"/>
                <a:gd name="T10" fmla="*/ 31 w 36"/>
                <a:gd name="T11" fmla="*/ 19 h 25"/>
                <a:gd name="T12" fmla="*/ 33 w 36"/>
                <a:gd name="T13" fmla="*/ 17 h 25"/>
                <a:gd name="T14" fmla="*/ 34 w 36"/>
                <a:gd name="T15" fmla="*/ 15 h 25"/>
                <a:gd name="T16" fmla="*/ 36 w 36"/>
                <a:gd name="T17" fmla="*/ 13 h 25"/>
                <a:gd name="T18" fmla="*/ 36 w 36"/>
                <a:gd name="T19" fmla="*/ 11 h 25"/>
                <a:gd name="T20" fmla="*/ 36 w 36"/>
                <a:gd name="T21" fmla="*/ 11 h 25"/>
                <a:gd name="T22" fmla="*/ 36 w 36"/>
                <a:gd name="T23" fmla="*/ 9 h 25"/>
                <a:gd name="T24" fmla="*/ 36 w 36"/>
                <a:gd name="T25" fmla="*/ 9 h 25"/>
                <a:gd name="T26" fmla="*/ 36 w 36"/>
                <a:gd name="T27" fmla="*/ 9 h 25"/>
                <a:gd name="T28" fmla="*/ 36 w 36"/>
                <a:gd name="T29" fmla="*/ 9 h 25"/>
                <a:gd name="T30" fmla="*/ 36 w 36"/>
                <a:gd name="T31" fmla="*/ 7 h 25"/>
                <a:gd name="T32" fmla="*/ 36 w 36"/>
                <a:gd name="T33" fmla="*/ 7 h 25"/>
                <a:gd name="T34" fmla="*/ 33 w 36"/>
                <a:gd name="T35" fmla="*/ 5 h 25"/>
                <a:gd name="T36" fmla="*/ 29 w 36"/>
                <a:gd name="T37" fmla="*/ 3 h 25"/>
                <a:gd name="T38" fmla="*/ 23 w 36"/>
                <a:gd name="T39" fmla="*/ 2 h 25"/>
                <a:gd name="T40" fmla="*/ 19 w 36"/>
                <a:gd name="T41" fmla="*/ 2 h 25"/>
                <a:gd name="T42" fmla="*/ 13 w 36"/>
                <a:gd name="T43" fmla="*/ 0 h 25"/>
                <a:gd name="T44" fmla="*/ 9 w 36"/>
                <a:gd name="T45" fmla="*/ 0 h 25"/>
                <a:gd name="T46" fmla="*/ 4 w 36"/>
                <a:gd name="T47" fmla="*/ 2 h 25"/>
                <a:gd name="T48" fmla="*/ 0 w 36"/>
                <a:gd name="T49" fmla="*/ 3 h 25"/>
                <a:gd name="T50" fmla="*/ 0 w 36"/>
                <a:gd name="T51" fmla="*/ 7 h 25"/>
                <a:gd name="T52" fmla="*/ 2 w 36"/>
                <a:gd name="T53" fmla="*/ 11 h 25"/>
                <a:gd name="T54" fmla="*/ 4 w 36"/>
                <a:gd name="T55" fmla="*/ 15 h 25"/>
                <a:gd name="T56" fmla="*/ 6 w 36"/>
                <a:gd name="T57" fmla="*/ 17 h 25"/>
                <a:gd name="T58" fmla="*/ 9 w 36"/>
                <a:gd name="T59" fmla="*/ 19 h 25"/>
                <a:gd name="T60" fmla="*/ 11 w 36"/>
                <a:gd name="T61" fmla="*/ 21 h 25"/>
                <a:gd name="T62" fmla="*/ 15 w 36"/>
                <a:gd name="T63" fmla="*/ 23 h 25"/>
                <a:gd name="T64" fmla="*/ 19 w 36"/>
                <a:gd name="T65" fmla="*/ 25 h 2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6" h="25">
                  <a:moveTo>
                    <a:pt x="19" y="25"/>
                  </a:moveTo>
                  <a:lnTo>
                    <a:pt x="23" y="25"/>
                  </a:lnTo>
                  <a:lnTo>
                    <a:pt x="25" y="23"/>
                  </a:lnTo>
                  <a:lnTo>
                    <a:pt x="27" y="23"/>
                  </a:lnTo>
                  <a:lnTo>
                    <a:pt x="29" y="21"/>
                  </a:lnTo>
                  <a:lnTo>
                    <a:pt x="31" y="19"/>
                  </a:lnTo>
                  <a:lnTo>
                    <a:pt x="33" y="17"/>
                  </a:lnTo>
                  <a:lnTo>
                    <a:pt x="34" y="15"/>
                  </a:lnTo>
                  <a:lnTo>
                    <a:pt x="36" y="13"/>
                  </a:lnTo>
                  <a:lnTo>
                    <a:pt x="36" y="11"/>
                  </a:lnTo>
                  <a:lnTo>
                    <a:pt x="36" y="9"/>
                  </a:lnTo>
                  <a:lnTo>
                    <a:pt x="36" y="7"/>
                  </a:lnTo>
                  <a:lnTo>
                    <a:pt x="33" y="5"/>
                  </a:lnTo>
                  <a:lnTo>
                    <a:pt x="29" y="3"/>
                  </a:lnTo>
                  <a:lnTo>
                    <a:pt x="23" y="2"/>
                  </a:lnTo>
                  <a:lnTo>
                    <a:pt x="19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2"/>
                  </a:lnTo>
                  <a:lnTo>
                    <a:pt x="0" y="3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5"/>
                  </a:lnTo>
                  <a:lnTo>
                    <a:pt x="6" y="17"/>
                  </a:lnTo>
                  <a:lnTo>
                    <a:pt x="9" y="19"/>
                  </a:lnTo>
                  <a:lnTo>
                    <a:pt x="11" y="21"/>
                  </a:lnTo>
                  <a:lnTo>
                    <a:pt x="15" y="23"/>
                  </a:lnTo>
                  <a:lnTo>
                    <a:pt x="19" y="25"/>
                  </a:lnTo>
                  <a:close/>
                </a:path>
              </a:pathLst>
            </a:custGeom>
            <a:solidFill>
              <a:srgbClr val="FFCF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Freeform 14">
              <a:extLst>
                <a:ext uri="{FF2B5EF4-FFF2-40B4-BE49-F238E27FC236}">
                  <a16:creationId xmlns:a16="http://schemas.microsoft.com/office/drawing/2014/main" id="{6A7C65C1-825E-0F2C-A047-B3FAF96A170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85" y="2848"/>
              <a:ext cx="146" cy="253"/>
            </a:xfrm>
            <a:custGeom>
              <a:avLst/>
              <a:gdLst>
                <a:gd name="T0" fmla="*/ 60 w 146"/>
                <a:gd name="T1" fmla="*/ 248 h 253"/>
                <a:gd name="T2" fmla="*/ 75 w 146"/>
                <a:gd name="T3" fmla="*/ 238 h 253"/>
                <a:gd name="T4" fmla="*/ 106 w 146"/>
                <a:gd name="T5" fmla="*/ 207 h 253"/>
                <a:gd name="T6" fmla="*/ 140 w 146"/>
                <a:gd name="T7" fmla="*/ 171 h 253"/>
                <a:gd name="T8" fmla="*/ 117 w 146"/>
                <a:gd name="T9" fmla="*/ 148 h 253"/>
                <a:gd name="T10" fmla="*/ 109 w 146"/>
                <a:gd name="T11" fmla="*/ 154 h 253"/>
                <a:gd name="T12" fmla="*/ 100 w 146"/>
                <a:gd name="T13" fmla="*/ 150 h 253"/>
                <a:gd name="T14" fmla="*/ 108 w 146"/>
                <a:gd name="T15" fmla="*/ 131 h 253"/>
                <a:gd name="T16" fmla="*/ 106 w 146"/>
                <a:gd name="T17" fmla="*/ 117 h 253"/>
                <a:gd name="T18" fmla="*/ 90 w 146"/>
                <a:gd name="T19" fmla="*/ 131 h 253"/>
                <a:gd name="T20" fmla="*/ 75 w 146"/>
                <a:gd name="T21" fmla="*/ 138 h 253"/>
                <a:gd name="T22" fmla="*/ 73 w 146"/>
                <a:gd name="T23" fmla="*/ 136 h 253"/>
                <a:gd name="T24" fmla="*/ 75 w 146"/>
                <a:gd name="T25" fmla="*/ 133 h 253"/>
                <a:gd name="T26" fmla="*/ 75 w 146"/>
                <a:gd name="T27" fmla="*/ 127 h 253"/>
                <a:gd name="T28" fmla="*/ 81 w 146"/>
                <a:gd name="T29" fmla="*/ 117 h 253"/>
                <a:gd name="T30" fmla="*/ 104 w 146"/>
                <a:gd name="T31" fmla="*/ 104 h 253"/>
                <a:gd name="T32" fmla="*/ 136 w 146"/>
                <a:gd name="T33" fmla="*/ 85 h 253"/>
                <a:gd name="T34" fmla="*/ 127 w 146"/>
                <a:gd name="T35" fmla="*/ 75 h 253"/>
                <a:gd name="T36" fmla="*/ 113 w 146"/>
                <a:gd name="T37" fmla="*/ 64 h 253"/>
                <a:gd name="T38" fmla="*/ 96 w 146"/>
                <a:gd name="T39" fmla="*/ 50 h 253"/>
                <a:gd name="T40" fmla="*/ 83 w 146"/>
                <a:gd name="T41" fmla="*/ 35 h 253"/>
                <a:gd name="T42" fmla="*/ 79 w 146"/>
                <a:gd name="T43" fmla="*/ 27 h 253"/>
                <a:gd name="T44" fmla="*/ 79 w 146"/>
                <a:gd name="T45" fmla="*/ 19 h 253"/>
                <a:gd name="T46" fmla="*/ 92 w 146"/>
                <a:gd name="T47" fmla="*/ 27 h 253"/>
                <a:gd name="T48" fmla="*/ 104 w 146"/>
                <a:gd name="T49" fmla="*/ 40 h 253"/>
                <a:gd name="T50" fmla="*/ 106 w 146"/>
                <a:gd name="T51" fmla="*/ 23 h 253"/>
                <a:gd name="T52" fmla="*/ 102 w 146"/>
                <a:gd name="T53" fmla="*/ 6 h 253"/>
                <a:gd name="T54" fmla="*/ 88 w 146"/>
                <a:gd name="T55" fmla="*/ 0 h 253"/>
                <a:gd name="T56" fmla="*/ 75 w 146"/>
                <a:gd name="T57" fmla="*/ 6 h 253"/>
                <a:gd name="T58" fmla="*/ 65 w 146"/>
                <a:gd name="T59" fmla="*/ 21 h 253"/>
                <a:gd name="T60" fmla="*/ 60 w 146"/>
                <a:gd name="T61" fmla="*/ 37 h 253"/>
                <a:gd name="T62" fmla="*/ 58 w 146"/>
                <a:gd name="T63" fmla="*/ 48 h 253"/>
                <a:gd name="T64" fmla="*/ 60 w 146"/>
                <a:gd name="T65" fmla="*/ 60 h 253"/>
                <a:gd name="T66" fmla="*/ 56 w 146"/>
                <a:gd name="T67" fmla="*/ 65 h 253"/>
                <a:gd name="T68" fmla="*/ 56 w 146"/>
                <a:gd name="T69" fmla="*/ 73 h 253"/>
                <a:gd name="T70" fmla="*/ 46 w 146"/>
                <a:gd name="T71" fmla="*/ 67 h 253"/>
                <a:gd name="T72" fmla="*/ 37 w 146"/>
                <a:gd name="T73" fmla="*/ 65 h 253"/>
                <a:gd name="T74" fmla="*/ 29 w 146"/>
                <a:gd name="T75" fmla="*/ 77 h 253"/>
                <a:gd name="T76" fmla="*/ 23 w 146"/>
                <a:gd name="T77" fmla="*/ 90 h 253"/>
                <a:gd name="T78" fmla="*/ 19 w 146"/>
                <a:gd name="T79" fmla="*/ 131 h 253"/>
                <a:gd name="T80" fmla="*/ 25 w 146"/>
                <a:gd name="T81" fmla="*/ 169 h 253"/>
                <a:gd name="T82" fmla="*/ 39 w 146"/>
                <a:gd name="T83" fmla="*/ 169 h 253"/>
                <a:gd name="T84" fmla="*/ 39 w 146"/>
                <a:gd name="T85" fmla="*/ 175 h 253"/>
                <a:gd name="T86" fmla="*/ 19 w 146"/>
                <a:gd name="T87" fmla="*/ 192 h 253"/>
                <a:gd name="T88" fmla="*/ 2 w 146"/>
                <a:gd name="T89" fmla="*/ 219 h 253"/>
                <a:gd name="T90" fmla="*/ 39 w 146"/>
                <a:gd name="T91" fmla="*/ 209 h 253"/>
                <a:gd name="T92" fmla="*/ 35 w 146"/>
                <a:gd name="T93" fmla="*/ 219 h 253"/>
                <a:gd name="T94" fmla="*/ 35 w 146"/>
                <a:gd name="T95" fmla="*/ 223 h 253"/>
                <a:gd name="T96" fmla="*/ 42 w 146"/>
                <a:gd name="T97" fmla="*/ 221 h 253"/>
                <a:gd name="T98" fmla="*/ 48 w 146"/>
                <a:gd name="T99" fmla="*/ 215 h 253"/>
                <a:gd name="T100" fmla="*/ 54 w 146"/>
                <a:gd name="T101" fmla="*/ 217 h 25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46" h="253">
                  <a:moveTo>
                    <a:pt x="46" y="253"/>
                  </a:moveTo>
                  <a:lnTo>
                    <a:pt x="50" y="251"/>
                  </a:lnTo>
                  <a:lnTo>
                    <a:pt x="54" y="251"/>
                  </a:lnTo>
                  <a:lnTo>
                    <a:pt x="60" y="248"/>
                  </a:lnTo>
                  <a:lnTo>
                    <a:pt x="63" y="246"/>
                  </a:lnTo>
                  <a:lnTo>
                    <a:pt x="67" y="244"/>
                  </a:lnTo>
                  <a:lnTo>
                    <a:pt x="71" y="240"/>
                  </a:lnTo>
                  <a:lnTo>
                    <a:pt x="75" y="238"/>
                  </a:lnTo>
                  <a:lnTo>
                    <a:pt x="79" y="236"/>
                  </a:lnTo>
                  <a:lnTo>
                    <a:pt x="86" y="227"/>
                  </a:lnTo>
                  <a:lnTo>
                    <a:pt x="96" y="217"/>
                  </a:lnTo>
                  <a:lnTo>
                    <a:pt x="106" y="207"/>
                  </a:lnTo>
                  <a:lnTo>
                    <a:pt x="115" y="198"/>
                  </a:lnTo>
                  <a:lnTo>
                    <a:pt x="123" y="190"/>
                  </a:lnTo>
                  <a:lnTo>
                    <a:pt x="132" y="180"/>
                  </a:lnTo>
                  <a:lnTo>
                    <a:pt x="140" y="171"/>
                  </a:lnTo>
                  <a:lnTo>
                    <a:pt x="146" y="161"/>
                  </a:lnTo>
                  <a:lnTo>
                    <a:pt x="115" y="171"/>
                  </a:lnTo>
                  <a:lnTo>
                    <a:pt x="121" y="146"/>
                  </a:lnTo>
                  <a:lnTo>
                    <a:pt x="117" y="148"/>
                  </a:lnTo>
                  <a:lnTo>
                    <a:pt x="115" y="150"/>
                  </a:lnTo>
                  <a:lnTo>
                    <a:pt x="113" y="152"/>
                  </a:lnTo>
                  <a:lnTo>
                    <a:pt x="111" y="152"/>
                  </a:lnTo>
                  <a:lnTo>
                    <a:pt x="109" y="154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0" y="156"/>
                  </a:lnTo>
                  <a:lnTo>
                    <a:pt x="100" y="150"/>
                  </a:lnTo>
                  <a:lnTo>
                    <a:pt x="100" y="146"/>
                  </a:lnTo>
                  <a:lnTo>
                    <a:pt x="104" y="140"/>
                  </a:lnTo>
                  <a:lnTo>
                    <a:pt x="106" y="136"/>
                  </a:lnTo>
                  <a:lnTo>
                    <a:pt x="108" y="131"/>
                  </a:lnTo>
                  <a:lnTo>
                    <a:pt x="111" y="127"/>
                  </a:lnTo>
                  <a:lnTo>
                    <a:pt x="111" y="121"/>
                  </a:lnTo>
                  <a:lnTo>
                    <a:pt x="111" y="115"/>
                  </a:lnTo>
                  <a:lnTo>
                    <a:pt x="106" y="117"/>
                  </a:lnTo>
                  <a:lnTo>
                    <a:pt x="102" y="119"/>
                  </a:lnTo>
                  <a:lnTo>
                    <a:pt x="98" y="123"/>
                  </a:lnTo>
                  <a:lnTo>
                    <a:pt x="94" y="127"/>
                  </a:lnTo>
                  <a:lnTo>
                    <a:pt x="90" y="131"/>
                  </a:lnTo>
                  <a:lnTo>
                    <a:pt x="86" y="134"/>
                  </a:lnTo>
                  <a:lnTo>
                    <a:pt x="81" y="138"/>
                  </a:lnTo>
                  <a:lnTo>
                    <a:pt x="77" y="140"/>
                  </a:lnTo>
                  <a:lnTo>
                    <a:pt x="75" y="138"/>
                  </a:lnTo>
                  <a:lnTo>
                    <a:pt x="73" y="136"/>
                  </a:lnTo>
                  <a:lnTo>
                    <a:pt x="73" y="134"/>
                  </a:lnTo>
                  <a:lnTo>
                    <a:pt x="73" y="133"/>
                  </a:lnTo>
                  <a:lnTo>
                    <a:pt x="75" y="133"/>
                  </a:lnTo>
                  <a:lnTo>
                    <a:pt x="75" y="131"/>
                  </a:lnTo>
                  <a:lnTo>
                    <a:pt x="75" y="129"/>
                  </a:lnTo>
                  <a:lnTo>
                    <a:pt x="75" y="127"/>
                  </a:lnTo>
                  <a:lnTo>
                    <a:pt x="75" y="125"/>
                  </a:lnTo>
                  <a:lnTo>
                    <a:pt x="75" y="123"/>
                  </a:lnTo>
                  <a:lnTo>
                    <a:pt x="75" y="121"/>
                  </a:lnTo>
                  <a:lnTo>
                    <a:pt x="81" y="117"/>
                  </a:lnTo>
                  <a:lnTo>
                    <a:pt x="86" y="113"/>
                  </a:lnTo>
                  <a:lnTo>
                    <a:pt x="92" y="110"/>
                  </a:lnTo>
                  <a:lnTo>
                    <a:pt x="98" y="108"/>
                  </a:lnTo>
                  <a:lnTo>
                    <a:pt x="104" y="104"/>
                  </a:lnTo>
                  <a:lnTo>
                    <a:pt x="109" y="102"/>
                  </a:lnTo>
                  <a:lnTo>
                    <a:pt x="115" y="102"/>
                  </a:lnTo>
                  <a:lnTo>
                    <a:pt x="123" y="104"/>
                  </a:lnTo>
                  <a:lnTo>
                    <a:pt x="136" y="85"/>
                  </a:lnTo>
                  <a:lnTo>
                    <a:pt x="134" y="83"/>
                  </a:lnTo>
                  <a:lnTo>
                    <a:pt x="132" y="79"/>
                  </a:lnTo>
                  <a:lnTo>
                    <a:pt x="129" y="77"/>
                  </a:lnTo>
                  <a:lnTo>
                    <a:pt x="127" y="75"/>
                  </a:lnTo>
                  <a:lnTo>
                    <a:pt x="123" y="71"/>
                  </a:lnTo>
                  <a:lnTo>
                    <a:pt x="119" y="69"/>
                  </a:lnTo>
                  <a:lnTo>
                    <a:pt x="115" y="65"/>
                  </a:lnTo>
                  <a:lnTo>
                    <a:pt x="113" y="64"/>
                  </a:lnTo>
                  <a:lnTo>
                    <a:pt x="108" y="62"/>
                  </a:lnTo>
                  <a:lnTo>
                    <a:pt x="104" y="58"/>
                  </a:lnTo>
                  <a:lnTo>
                    <a:pt x="100" y="54"/>
                  </a:lnTo>
                  <a:lnTo>
                    <a:pt x="96" y="50"/>
                  </a:lnTo>
                  <a:lnTo>
                    <a:pt x="94" y="46"/>
                  </a:lnTo>
                  <a:lnTo>
                    <a:pt x="90" y="42"/>
                  </a:lnTo>
                  <a:lnTo>
                    <a:pt x="86" y="39"/>
                  </a:lnTo>
                  <a:lnTo>
                    <a:pt x="83" y="35"/>
                  </a:lnTo>
                  <a:lnTo>
                    <a:pt x="81" y="33"/>
                  </a:lnTo>
                  <a:lnTo>
                    <a:pt x="81" y="31"/>
                  </a:lnTo>
                  <a:lnTo>
                    <a:pt x="79" y="29"/>
                  </a:lnTo>
                  <a:lnTo>
                    <a:pt x="79" y="27"/>
                  </a:lnTo>
                  <a:lnTo>
                    <a:pt x="79" y="25"/>
                  </a:lnTo>
                  <a:lnTo>
                    <a:pt x="79" y="23"/>
                  </a:lnTo>
                  <a:lnTo>
                    <a:pt x="79" y="21"/>
                  </a:lnTo>
                  <a:lnTo>
                    <a:pt x="79" y="19"/>
                  </a:lnTo>
                  <a:lnTo>
                    <a:pt x="83" y="19"/>
                  </a:lnTo>
                  <a:lnTo>
                    <a:pt x="86" y="21"/>
                  </a:lnTo>
                  <a:lnTo>
                    <a:pt x="90" y="23"/>
                  </a:lnTo>
                  <a:lnTo>
                    <a:pt x="92" y="27"/>
                  </a:lnTo>
                  <a:lnTo>
                    <a:pt x="96" y="31"/>
                  </a:lnTo>
                  <a:lnTo>
                    <a:pt x="98" y="35"/>
                  </a:lnTo>
                  <a:lnTo>
                    <a:pt x="102" y="37"/>
                  </a:lnTo>
                  <a:lnTo>
                    <a:pt x="104" y="40"/>
                  </a:lnTo>
                  <a:lnTo>
                    <a:pt x="106" y="37"/>
                  </a:lnTo>
                  <a:lnTo>
                    <a:pt x="106" y="33"/>
                  </a:lnTo>
                  <a:lnTo>
                    <a:pt x="106" y="29"/>
                  </a:lnTo>
                  <a:lnTo>
                    <a:pt x="106" y="23"/>
                  </a:lnTo>
                  <a:lnTo>
                    <a:pt x="106" y="19"/>
                  </a:lnTo>
                  <a:lnTo>
                    <a:pt x="104" y="14"/>
                  </a:lnTo>
                  <a:lnTo>
                    <a:pt x="104" y="10"/>
                  </a:lnTo>
                  <a:lnTo>
                    <a:pt x="102" y="6"/>
                  </a:lnTo>
                  <a:lnTo>
                    <a:pt x="98" y="4"/>
                  </a:lnTo>
                  <a:lnTo>
                    <a:pt x="94" y="2"/>
                  </a:lnTo>
                  <a:lnTo>
                    <a:pt x="92" y="0"/>
                  </a:lnTo>
                  <a:lnTo>
                    <a:pt x="88" y="0"/>
                  </a:lnTo>
                  <a:lnTo>
                    <a:pt x="85" y="0"/>
                  </a:lnTo>
                  <a:lnTo>
                    <a:pt x="81" y="2"/>
                  </a:lnTo>
                  <a:lnTo>
                    <a:pt x="77" y="4"/>
                  </a:lnTo>
                  <a:lnTo>
                    <a:pt x="75" y="6"/>
                  </a:lnTo>
                  <a:lnTo>
                    <a:pt x="73" y="10"/>
                  </a:lnTo>
                  <a:lnTo>
                    <a:pt x="69" y="14"/>
                  </a:lnTo>
                  <a:lnTo>
                    <a:pt x="67" y="17"/>
                  </a:lnTo>
                  <a:lnTo>
                    <a:pt x="65" y="21"/>
                  </a:lnTo>
                  <a:lnTo>
                    <a:pt x="63" y="25"/>
                  </a:lnTo>
                  <a:lnTo>
                    <a:pt x="62" y="29"/>
                  </a:lnTo>
                  <a:lnTo>
                    <a:pt x="62" y="33"/>
                  </a:lnTo>
                  <a:lnTo>
                    <a:pt x="60" y="37"/>
                  </a:lnTo>
                  <a:lnTo>
                    <a:pt x="58" y="39"/>
                  </a:lnTo>
                  <a:lnTo>
                    <a:pt x="58" y="42"/>
                  </a:lnTo>
                  <a:lnTo>
                    <a:pt x="58" y="44"/>
                  </a:lnTo>
                  <a:lnTo>
                    <a:pt x="58" y="48"/>
                  </a:lnTo>
                  <a:lnTo>
                    <a:pt x="58" y="52"/>
                  </a:lnTo>
                  <a:lnTo>
                    <a:pt x="58" y="54"/>
                  </a:lnTo>
                  <a:lnTo>
                    <a:pt x="60" y="58"/>
                  </a:lnTo>
                  <a:lnTo>
                    <a:pt x="60" y="60"/>
                  </a:lnTo>
                  <a:lnTo>
                    <a:pt x="58" y="62"/>
                  </a:lnTo>
                  <a:lnTo>
                    <a:pt x="58" y="64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6" y="67"/>
                  </a:lnTo>
                  <a:lnTo>
                    <a:pt x="56" y="69"/>
                  </a:lnTo>
                  <a:lnTo>
                    <a:pt x="56" y="71"/>
                  </a:lnTo>
                  <a:lnTo>
                    <a:pt x="56" y="73"/>
                  </a:lnTo>
                  <a:lnTo>
                    <a:pt x="54" y="73"/>
                  </a:lnTo>
                  <a:lnTo>
                    <a:pt x="52" y="71"/>
                  </a:lnTo>
                  <a:lnTo>
                    <a:pt x="48" y="69"/>
                  </a:lnTo>
                  <a:lnTo>
                    <a:pt x="46" y="67"/>
                  </a:lnTo>
                  <a:lnTo>
                    <a:pt x="44" y="65"/>
                  </a:lnTo>
                  <a:lnTo>
                    <a:pt x="42" y="65"/>
                  </a:lnTo>
                  <a:lnTo>
                    <a:pt x="39" y="64"/>
                  </a:lnTo>
                  <a:lnTo>
                    <a:pt x="37" y="65"/>
                  </a:lnTo>
                  <a:lnTo>
                    <a:pt x="33" y="67"/>
                  </a:lnTo>
                  <a:lnTo>
                    <a:pt x="31" y="71"/>
                  </a:lnTo>
                  <a:lnTo>
                    <a:pt x="29" y="75"/>
                  </a:lnTo>
                  <a:lnTo>
                    <a:pt x="29" y="77"/>
                  </a:lnTo>
                  <a:lnTo>
                    <a:pt x="27" y="81"/>
                  </a:lnTo>
                  <a:lnTo>
                    <a:pt x="27" y="85"/>
                  </a:lnTo>
                  <a:lnTo>
                    <a:pt x="25" y="88"/>
                  </a:lnTo>
                  <a:lnTo>
                    <a:pt x="23" y="90"/>
                  </a:lnTo>
                  <a:lnTo>
                    <a:pt x="21" y="100"/>
                  </a:lnTo>
                  <a:lnTo>
                    <a:pt x="21" y="111"/>
                  </a:lnTo>
                  <a:lnTo>
                    <a:pt x="19" y="121"/>
                  </a:lnTo>
                  <a:lnTo>
                    <a:pt x="19" y="131"/>
                  </a:lnTo>
                  <a:lnTo>
                    <a:pt x="19" y="142"/>
                  </a:lnTo>
                  <a:lnTo>
                    <a:pt x="21" y="152"/>
                  </a:lnTo>
                  <a:lnTo>
                    <a:pt x="23" y="159"/>
                  </a:lnTo>
                  <a:lnTo>
                    <a:pt x="25" y="169"/>
                  </a:lnTo>
                  <a:lnTo>
                    <a:pt x="35" y="165"/>
                  </a:lnTo>
                  <a:lnTo>
                    <a:pt x="37" y="167"/>
                  </a:lnTo>
                  <a:lnTo>
                    <a:pt x="37" y="169"/>
                  </a:lnTo>
                  <a:lnTo>
                    <a:pt x="39" y="169"/>
                  </a:lnTo>
                  <a:lnTo>
                    <a:pt x="39" y="171"/>
                  </a:lnTo>
                  <a:lnTo>
                    <a:pt x="39" y="173"/>
                  </a:lnTo>
                  <a:lnTo>
                    <a:pt x="39" y="175"/>
                  </a:lnTo>
                  <a:lnTo>
                    <a:pt x="37" y="177"/>
                  </a:lnTo>
                  <a:lnTo>
                    <a:pt x="31" y="180"/>
                  </a:lnTo>
                  <a:lnTo>
                    <a:pt x="25" y="186"/>
                  </a:lnTo>
                  <a:lnTo>
                    <a:pt x="19" y="192"/>
                  </a:lnTo>
                  <a:lnTo>
                    <a:pt x="14" y="198"/>
                  </a:lnTo>
                  <a:lnTo>
                    <a:pt x="8" y="204"/>
                  </a:lnTo>
                  <a:lnTo>
                    <a:pt x="4" y="211"/>
                  </a:lnTo>
                  <a:lnTo>
                    <a:pt x="2" y="219"/>
                  </a:lnTo>
                  <a:lnTo>
                    <a:pt x="0" y="225"/>
                  </a:lnTo>
                  <a:lnTo>
                    <a:pt x="37" y="207"/>
                  </a:lnTo>
                  <a:lnTo>
                    <a:pt x="39" y="207"/>
                  </a:lnTo>
                  <a:lnTo>
                    <a:pt x="39" y="209"/>
                  </a:lnTo>
                  <a:lnTo>
                    <a:pt x="39" y="213"/>
                  </a:lnTo>
                  <a:lnTo>
                    <a:pt x="39" y="215"/>
                  </a:lnTo>
                  <a:lnTo>
                    <a:pt x="37" y="217"/>
                  </a:lnTo>
                  <a:lnTo>
                    <a:pt x="35" y="219"/>
                  </a:lnTo>
                  <a:lnTo>
                    <a:pt x="35" y="221"/>
                  </a:lnTo>
                  <a:lnTo>
                    <a:pt x="33" y="223"/>
                  </a:lnTo>
                  <a:lnTo>
                    <a:pt x="35" y="223"/>
                  </a:lnTo>
                  <a:lnTo>
                    <a:pt x="37" y="223"/>
                  </a:lnTo>
                  <a:lnTo>
                    <a:pt x="39" y="223"/>
                  </a:lnTo>
                  <a:lnTo>
                    <a:pt x="40" y="221"/>
                  </a:lnTo>
                  <a:lnTo>
                    <a:pt x="42" y="221"/>
                  </a:lnTo>
                  <a:lnTo>
                    <a:pt x="42" y="219"/>
                  </a:lnTo>
                  <a:lnTo>
                    <a:pt x="44" y="217"/>
                  </a:lnTo>
                  <a:lnTo>
                    <a:pt x="46" y="215"/>
                  </a:lnTo>
                  <a:lnTo>
                    <a:pt x="48" y="215"/>
                  </a:lnTo>
                  <a:lnTo>
                    <a:pt x="50" y="215"/>
                  </a:lnTo>
                  <a:lnTo>
                    <a:pt x="52" y="217"/>
                  </a:lnTo>
                  <a:lnTo>
                    <a:pt x="54" y="217"/>
                  </a:lnTo>
                  <a:lnTo>
                    <a:pt x="56" y="217"/>
                  </a:lnTo>
                  <a:lnTo>
                    <a:pt x="58" y="219"/>
                  </a:lnTo>
                  <a:lnTo>
                    <a:pt x="46" y="253"/>
                  </a:lnTo>
                  <a:close/>
                </a:path>
              </a:pathLst>
            </a:custGeom>
            <a:solidFill>
              <a:srgbClr val="70C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Freeform 15">
              <a:extLst>
                <a:ext uri="{FF2B5EF4-FFF2-40B4-BE49-F238E27FC236}">
                  <a16:creationId xmlns:a16="http://schemas.microsoft.com/office/drawing/2014/main" id="{4F82892C-EE83-2566-579D-55BB3271F0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24" y="3052"/>
              <a:ext cx="45" cy="36"/>
            </a:xfrm>
            <a:custGeom>
              <a:avLst/>
              <a:gdLst>
                <a:gd name="T0" fmla="*/ 29 w 45"/>
                <a:gd name="T1" fmla="*/ 36 h 36"/>
                <a:gd name="T2" fmla="*/ 31 w 45"/>
                <a:gd name="T3" fmla="*/ 36 h 36"/>
                <a:gd name="T4" fmla="*/ 33 w 45"/>
                <a:gd name="T5" fmla="*/ 36 h 36"/>
                <a:gd name="T6" fmla="*/ 35 w 45"/>
                <a:gd name="T7" fmla="*/ 36 h 36"/>
                <a:gd name="T8" fmla="*/ 39 w 45"/>
                <a:gd name="T9" fmla="*/ 36 h 36"/>
                <a:gd name="T10" fmla="*/ 41 w 45"/>
                <a:gd name="T11" fmla="*/ 34 h 36"/>
                <a:gd name="T12" fmla="*/ 43 w 45"/>
                <a:gd name="T13" fmla="*/ 34 h 36"/>
                <a:gd name="T14" fmla="*/ 43 w 45"/>
                <a:gd name="T15" fmla="*/ 32 h 36"/>
                <a:gd name="T16" fmla="*/ 45 w 45"/>
                <a:gd name="T17" fmla="*/ 30 h 36"/>
                <a:gd name="T18" fmla="*/ 45 w 45"/>
                <a:gd name="T19" fmla="*/ 28 h 36"/>
                <a:gd name="T20" fmla="*/ 45 w 45"/>
                <a:gd name="T21" fmla="*/ 26 h 36"/>
                <a:gd name="T22" fmla="*/ 45 w 45"/>
                <a:gd name="T23" fmla="*/ 24 h 36"/>
                <a:gd name="T24" fmla="*/ 45 w 45"/>
                <a:gd name="T25" fmla="*/ 21 h 36"/>
                <a:gd name="T26" fmla="*/ 45 w 45"/>
                <a:gd name="T27" fmla="*/ 19 h 36"/>
                <a:gd name="T28" fmla="*/ 43 w 45"/>
                <a:gd name="T29" fmla="*/ 19 h 36"/>
                <a:gd name="T30" fmla="*/ 43 w 45"/>
                <a:gd name="T31" fmla="*/ 17 h 36"/>
                <a:gd name="T32" fmla="*/ 41 w 45"/>
                <a:gd name="T33" fmla="*/ 17 h 36"/>
                <a:gd name="T34" fmla="*/ 41 w 45"/>
                <a:gd name="T35" fmla="*/ 13 h 36"/>
                <a:gd name="T36" fmla="*/ 39 w 45"/>
                <a:gd name="T37" fmla="*/ 11 h 36"/>
                <a:gd name="T38" fmla="*/ 39 w 45"/>
                <a:gd name="T39" fmla="*/ 7 h 36"/>
                <a:gd name="T40" fmla="*/ 37 w 45"/>
                <a:gd name="T41" fmla="*/ 5 h 36"/>
                <a:gd name="T42" fmla="*/ 35 w 45"/>
                <a:gd name="T43" fmla="*/ 3 h 36"/>
                <a:gd name="T44" fmla="*/ 33 w 45"/>
                <a:gd name="T45" fmla="*/ 3 h 36"/>
                <a:gd name="T46" fmla="*/ 29 w 45"/>
                <a:gd name="T47" fmla="*/ 1 h 36"/>
                <a:gd name="T48" fmla="*/ 27 w 45"/>
                <a:gd name="T49" fmla="*/ 0 h 36"/>
                <a:gd name="T50" fmla="*/ 23 w 45"/>
                <a:gd name="T51" fmla="*/ 0 h 36"/>
                <a:gd name="T52" fmla="*/ 20 w 45"/>
                <a:gd name="T53" fmla="*/ 0 h 36"/>
                <a:gd name="T54" fmla="*/ 16 w 45"/>
                <a:gd name="T55" fmla="*/ 0 h 36"/>
                <a:gd name="T56" fmla="*/ 12 w 45"/>
                <a:gd name="T57" fmla="*/ 0 h 36"/>
                <a:gd name="T58" fmla="*/ 8 w 45"/>
                <a:gd name="T59" fmla="*/ 0 h 36"/>
                <a:gd name="T60" fmla="*/ 4 w 45"/>
                <a:gd name="T61" fmla="*/ 1 h 36"/>
                <a:gd name="T62" fmla="*/ 2 w 45"/>
                <a:gd name="T63" fmla="*/ 1 h 36"/>
                <a:gd name="T64" fmla="*/ 0 w 45"/>
                <a:gd name="T65" fmla="*/ 5 h 36"/>
                <a:gd name="T66" fmla="*/ 2 w 45"/>
                <a:gd name="T67" fmla="*/ 11 h 36"/>
                <a:gd name="T68" fmla="*/ 4 w 45"/>
                <a:gd name="T69" fmla="*/ 17 h 36"/>
                <a:gd name="T70" fmla="*/ 8 w 45"/>
                <a:gd name="T71" fmla="*/ 21 h 36"/>
                <a:gd name="T72" fmla="*/ 12 w 45"/>
                <a:gd name="T73" fmla="*/ 24 h 36"/>
                <a:gd name="T74" fmla="*/ 16 w 45"/>
                <a:gd name="T75" fmla="*/ 28 h 36"/>
                <a:gd name="T76" fmla="*/ 20 w 45"/>
                <a:gd name="T77" fmla="*/ 30 h 36"/>
                <a:gd name="T78" fmla="*/ 25 w 45"/>
                <a:gd name="T79" fmla="*/ 34 h 36"/>
                <a:gd name="T80" fmla="*/ 29 w 45"/>
                <a:gd name="T81" fmla="*/ 36 h 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5" h="36">
                  <a:moveTo>
                    <a:pt x="29" y="36"/>
                  </a:moveTo>
                  <a:lnTo>
                    <a:pt x="31" y="36"/>
                  </a:lnTo>
                  <a:lnTo>
                    <a:pt x="33" y="36"/>
                  </a:lnTo>
                  <a:lnTo>
                    <a:pt x="35" y="36"/>
                  </a:lnTo>
                  <a:lnTo>
                    <a:pt x="39" y="36"/>
                  </a:lnTo>
                  <a:lnTo>
                    <a:pt x="41" y="34"/>
                  </a:lnTo>
                  <a:lnTo>
                    <a:pt x="43" y="34"/>
                  </a:lnTo>
                  <a:lnTo>
                    <a:pt x="43" y="32"/>
                  </a:lnTo>
                  <a:lnTo>
                    <a:pt x="45" y="30"/>
                  </a:lnTo>
                  <a:lnTo>
                    <a:pt x="45" y="28"/>
                  </a:lnTo>
                  <a:lnTo>
                    <a:pt x="45" y="26"/>
                  </a:lnTo>
                  <a:lnTo>
                    <a:pt x="45" y="24"/>
                  </a:lnTo>
                  <a:lnTo>
                    <a:pt x="45" y="21"/>
                  </a:lnTo>
                  <a:lnTo>
                    <a:pt x="45" y="19"/>
                  </a:lnTo>
                  <a:lnTo>
                    <a:pt x="43" y="19"/>
                  </a:lnTo>
                  <a:lnTo>
                    <a:pt x="43" y="17"/>
                  </a:lnTo>
                  <a:lnTo>
                    <a:pt x="41" y="17"/>
                  </a:lnTo>
                  <a:lnTo>
                    <a:pt x="41" y="13"/>
                  </a:lnTo>
                  <a:lnTo>
                    <a:pt x="39" y="11"/>
                  </a:lnTo>
                  <a:lnTo>
                    <a:pt x="39" y="7"/>
                  </a:lnTo>
                  <a:lnTo>
                    <a:pt x="37" y="5"/>
                  </a:lnTo>
                  <a:lnTo>
                    <a:pt x="35" y="3"/>
                  </a:lnTo>
                  <a:lnTo>
                    <a:pt x="33" y="3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11"/>
                  </a:lnTo>
                  <a:lnTo>
                    <a:pt x="4" y="17"/>
                  </a:lnTo>
                  <a:lnTo>
                    <a:pt x="8" y="21"/>
                  </a:lnTo>
                  <a:lnTo>
                    <a:pt x="12" y="24"/>
                  </a:lnTo>
                  <a:lnTo>
                    <a:pt x="16" y="28"/>
                  </a:lnTo>
                  <a:lnTo>
                    <a:pt x="20" y="30"/>
                  </a:lnTo>
                  <a:lnTo>
                    <a:pt x="25" y="34"/>
                  </a:lnTo>
                  <a:lnTo>
                    <a:pt x="29" y="36"/>
                  </a:lnTo>
                  <a:close/>
                </a:path>
              </a:pathLst>
            </a:custGeom>
            <a:solidFill>
              <a:srgbClr val="FFCF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5" name="Freeform 16">
              <a:extLst>
                <a:ext uri="{FF2B5EF4-FFF2-40B4-BE49-F238E27FC236}">
                  <a16:creationId xmlns:a16="http://schemas.microsoft.com/office/drawing/2014/main" id="{21412F82-561A-031A-6765-B0C0A95760B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400" y="3009"/>
              <a:ext cx="32" cy="41"/>
            </a:xfrm>
            <a:custGeom>
              <a:avLst/>
              <a:gdLst>
                <a:gd name="T0" fmla="*/ 19 w 32"/>
                <a:gd name="T1" fmla="*/ 41 h 41"/>
                <a:gd name="T2" fmla="*/ 23 w 32"/>
                <a:gd name="T3" fmla="*/ 41 h 41"/>
                <a:gd name="T4" fmla="*/ 25 w 32"/>
                <a:gd name="T5" fmla="*/ 41 h 41"/>
                <a:gd name="T6" fmla="*/ 25 w 32"/>
                <a:gd name="T7" fmla="*/ 39 h 41"/>
                <a:gd name="T8" fmla="*/ 27 w 32"/>
                <a:gd name="T9" fmla="*/ 37 h 41"/>
                <a:gd name="T10" fmla="*/ 27 w 32"/>
                <a:gd name="T11" fmla="*/ 35 h 41"/>
                <a:gd name="T12" fmla="*/ 29 w 32"/>
                <a:gd name="T13" fmla="*/ 33 h 41"/>
                <a:gd name="T14" fmla="*/ 31 w 32"/>
                <a:gd name="T15" fmla="*/ 31 h 41"/>
                <a:gd name="T16" fmla="*/ 32 w 32"/>
                <a:gd name="T17" fmla="*/ 29 h 41"/>
                <a:gd name="T18" fmla="*/ 32 w 32"/>
                <a:gd name="T19" fmla="*/ 25 h 41"/>
                <a:gd name="T20" fmla="*/ 31 w 32"/>
                <a:gd name="T21" fmla="*/ 21 h 41"/>
                <a:gd name="T22" fmla="*/ 29 w 32"/>
                <a:gd name="T23" fmla="*/ 18 h 41"/>
                <a:gd name="T24" fmla="*/ 27 w 32"/>
                <a:gd name="T25" fmla="*/ 14 h 41"/>
                <a:gd name="T26" fmla="*/ 25 w 32"/>
                <a:gd name="T27" fmla="*/ 10 h 41"/>
                <a:gd name="T28" fmla="*/ 21 w 32"/>
                <a:gd name="T29" fmla="*/ 6 h 41"/>
                <a:gd name="T30" fmla="*/ 17 w 32"/>
                <a:gd name="T31" fmla="*/ 4 h 41"/>
                <a:gd name="T32" fmla="*/ 13 w 32"/>
                <a:gd name="T33" fmla="*/ 2 h 41"/>
                <a:gd name="T34" fmla="*/ 11 w 32"/>
                <a:gd name="T35" fmla="*/ 0 h 41"/>
                <a:gd name="T36" fmla="*/ 9 w 32"/>
                <a:gd name="T37" fmla="*/ 0 h 41"/>
                <a:gd name="T38" fmla="*/ 8 w 32"/>
                <a:gd name="T39" fmla="*/ 0 h 41"/>
                <a:gd name="T40" fmla="*/ 6 w 32"/>
                <a:gd name="T41" fmla="*/ 0 h 41"/>
                <a:gd name="T42" fmla="*/ 6 w 32"/>
                <a:gd name="T43" fmla="*/ 2 h 41"/>
                <a:gd name="T44" fmla="*/ 4 w 32"/>
                <a:gd name="T45" fmla="*/ 2 h 41"/>
                <a:gd name="T46" fmla="*/ 2 w 32"/>
                <a:gd name="T47" fmla="*/ 4 h 41"/>
                <a:gd name="T48" fmla="*/ 0 w 32"/>
                <a:gd name="T49" fmla="*/ 4 h 41"/>
                <a:gd name="T50" fmla="*/ 0 w 32"/>
                <a:gd name="T51" fmla="*/ 10 h 41"/>
                <a:gd name="T52" fmla="*/ 2 w 32"/>
                <a:gd name="T53" fmla="*/ 16 h 41"/>
                <a:gd name="T54" fmla="*/ 4 w 32"/>
                <a:gd name="T55" fmla="*/ 21 h 41"/>
                <a:gd name="T56" fmla="*/ 6 w 32"/>
                <a:gd name="T57" fmla="*/ 25 h 41"/>
                <a:gd name="T58" fmla="*/ 8 w 32"/>
                <a:gd name="T59" fmla="*/ 31 h 41"/>
                <a:gd name="T60" fmla="*/ 11 w 32"/>
                <a:gd name="T61" fmla="*/ 35 h 41"/>
                <a:gd name="T62" fmla="*/ 15 w 32"/>
                <a:gd name="T63" fmla="*/ 39 h 41"/>
                <a:gd name="T64" fmla="*/ 19 w 32"/>
                <a:gd name="T65" fmla="*/ 41 h 4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" h="41">
                  <a:moveTo>
                    <a:pt x="19" y="41"/>
                  </a:moveTo>
                  <a:lnTo>
                    <a:pt x="23" y="41"/>
                  </a:lnTo>
                  <a:lnTo>
                    <a:pt x="25" y="41"/>
                  </a:lnTo>
                  <a:lnTo>
                    <a:pt x="25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9" y="33"/>
                  </a:lnTo>
                  <a:lnTo>
                    <a:pt x="31" y="31"/>
                  </a:lnTo>
                  <a:lnTo>
                    <a:pt x="32" y="29"/>
                  </a:lnTo>
                  <a:lnTo>
                    <a:pt x="32" y="25"/>
                  </a:lnTo>
                  <a:lnTo>
                    <a:pt x="31" y="21"/>
                  </a:lnTo>
                  <a:lnTo>
                    <a:pt x="29" y="18"/>
                  </a:lnTo>
                  <a:lnTo>
                    <a:pt x="27" y="14"/>
                  </a:lnTo>
                  <a:lnTo>
                    <a:pt x="25" y="10"/>
                  </a:lnTo>
                  <a:lnTo>
                    <a:pt x="21" y="6"/>
                  </a:lnTo>
                  <a:lnTo>
                    <a:pt x="17" y="4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10"/>
                  </a:lnTo>
                  <a:lnTo>
                    <a:pt x="2" y="16"/>
                  </a:lnTo>
                  <a:lnTo>
                    <a:pt x="4" y="21"/>
                  </a:lnTo>
                  <a:lnTo>
                    <a:pt x="6" y="25"/>
                  </a:lnTo>
                  <a:lnTo>
                    <a:pt x="8" y="31"/>
                  </a:lnTo>
                  <a:lnTo>
                    <a:pt x="11" y="35"/>
                  </a:lnTo>
                  <a:lnTo>
                    <a:pt x="15" y="39"/>
                  </a:lnTo>
                  <a:lnTo>
                    <a:pt x="19" y="41"/>
                  </a:lnTo>
                  <a:close/>
                </a:path>
              </a:pathLst>
            </a:custGeom>
            <a:solidFill>
              <a:srgbClr val="FFCF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Freeform 17">
              <a:extLst>
                <a:ext uri="{FF2B5EF4-FFF2-40B4-BE49-F238E27FC236}">
                  <a16:creationId xmlns:a16="http://schemas.microsoft.com/office/drawing/2014/main" id="{14C8D7F2-334B-5501-4D5B-26C2F8C6F8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91" y="2952"/>
              <a:ext cx="115" cy="86"/>
            </a:xfrm>
            <a:custGeom>
              <a:avLst/>
              <a:gdLst>
                <a:gd name="T0" fmla="*/ 36 w 115"/>
                <a:gd name="T1" fmla="*/ 86 h 86"/>
                <a:gd name="T2" fmla="*/ 57 w 115"/>
                <a:gd name="T3" fmla="*/ 86 h 86"/>
                <a:gd name="T4" fmla="*/ 78 w 115"/>
                <a:gd name="T5" fmla="*/ 86 h 86"/>
                <a:gd name="T6" fmla="*/ 96 w 115"/>
                <a:gd name="T7" fmla="*/ 82 h 86"/>
                <a:gd name="T8" fmla="*/ 105 w 115"/>
                <a:gd name="T9" fmla="*/ 73 h 86"/>
                <a:gd name="T10" fmla="*/ 107 w 115"/>
                <a:gd name="T11" fmla="*/ 67 h 86"/>
                <a:gd name="T12" fmla="*/ 111 w 115"/>
                <a:gd name="T13" fmla="*/ 63 h 86"/>
                <a:gd name="T14" fmla="*/ 113 w 115"/>
                <a:gd name="T15" fmla="*/ 59 h 86"/>
                <a:gd name="T16" fmla="*/ 78 w 115"/>
                <a:gd name="T17" fmla="*/ 17 h 86"/>
                <a:gd name="T18" fmla="*/ 78 w 115"/>
                <a:gd name="T19" fmla="*/ 19 h 86"/>
                <a:gd name="T20" fmla="*/ 77 w 115"/>
                <a:gd name="T21" fmla="*/ 19 h 86"/>
                <a:gd name="T22" fmla="*/ 73 w 115"/>
                <a:gd name="T23" fmla="*/ 19 h 86"/>
                <a:gd name="T24" fmla="*/ 71 w 115"/>
                <a:gd name="T25" fmla="*/ 19 h 86"/>
                <a:gd name="T26" fmla="*/ 67 w 115"/>
                <a:gd name="T27" fmla="*/ 13 h 86"/>
                <a:gd name="T28" fmla="*/ 63 w 115"/>
                <a:gd name="T29" fmla="*/ 9 h 86"/>
                <a:gd name="T30" fmla="*/ 59 w 115"/>
                <a:gd name="T31" fmla="*/ 6 h 86"/>
                <a:gd name="T32" fmla="*/ 55 w 115"/>
                <a:gd name="T33" fmla="*/ 2 h 86"/>
                <a:gd name="T34" fmla="*/ 40 w 115"/>
                <a:gd name="T35" fmla="*/ 19 h 86"/>
                <a:gd name="T36" fmla="*/ 31 w 115"/>
                <a:gd name="T37" fmla="*/ 17 h 86"/>
                <a:gd name="T38" fmla="*/ 25 w 115"/>
                <a:gd name="T39" fmla="*/ 11 h 86"/>
                <a:gd name="T40" fmla="*/ 17 w 115"/>
                <a:gd name="T41" fmla="*/ 4 h 86"/>
                <a:gd name="T42" fmla="*/ 0 w 115"/>
                <a:gd name="T43" fmla="*/ 25 h 86"/>
                <a:gd name="T44" fmla="*/ 7 w 115"/>
                <a:gd name="T45" fmla="*/ 27 h 86"/>
                <a:gd name="T46" fmla="*/ 13 w 115"/>
                <a:gd name="T47" fmla="*/ 34 h 86"/>
                <a:gd name="T48" fmla="*/ 17 w 115"/>
                <a:gd name="T49" fmla="*/ 40 h 86"/>
                <a:gd name="T50" fmla="*/ 25 w 115"/>
                <a:gd name="T51" fmla="*/ 46 h 86"/>
                <a:gd name="T52" fmla="*/ 31 w 115"/>
                <a:gd name="T53" fmla="*/ 50 h 86"/>
                <a:gd name="T54" fmla="*/ 34 w 115"/>
                <a:gd name="T55" fmla="*/ 53 h 86"/>
                <a:gd name="T56" fmla="*/ 36 w 115"/>
                <a:gd name="T57" fmla="*/ 57 h 86"/>
                <a:gd name="T58" fmla="*/ 34 w 115"/>
                <a:gd name="T59" fmla="*/ 63 h 86"/>
                <a:gd name="T60" fmla="*/ 31 w 115"/>
                <a:gd name="T61" fmla="*/ 69 h 86"/>
                <a:gd name="T62" fmla="*/ 27 w 115"/>
                <a:gd name="T63" fmla="*/ 75 h 86"/>
                <a:gd name="T64" fmla="*/ 25 w 115"/>
                <a:gd name="T65" fmla="*/ 78 h 86"/>
                <a:gd name="T66" fmla="*/ 23 w 115"/>
                <a:gd name="T67" fmla="*/ 84 h 86"/>
                <a:gd name="T68" fmla="*/ 23 w 115"/>
                <a:gd name="T69" fmla="*/ 86 h 86"/>
                <a:gd name="T70" fmla="*/ 25 w 115"/>
                <a:gd name="T71" fmla="*/ 86 h 86"/>
                <a:gd name="T72" fmla="*/ 25 w 115"/>
                <a:gd name="T73" fmla="*/ 86 h 86"/>
                <a:gd name="T74" fmla="*/ 27 w 115"/>
                <a:gd name="T75" fmla="*/ 86 h 8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5" h="86">
                  <a:moveTo>
                    <a:pt x="27" y="86"/>
                  </a:moveTo>
                  <a:lnTo>
                    <a:pt x="36" y="86"/>
                  </a:lnTo>
                  <a:lnTo>
                    <a:pt x="48" y="86"/>
                  </a:lnTo>
                  <a:lnTo>
                    <a:pt x="57" y="86"/>
                  </a:lnTo>
                  <a:lnTo>
                    <a:pt x="67" y="86"/>
                  </a:lnTo>
                  <a:lnTo>
                    <a:pt x="78" y="86"/>
                  </a:lnTo>
                  <a:lnTo>
                    <a:pt x="88" y="84"/>
                  </a:lnTo>
                  <a:lnTo>
                    <a:pt x="96" y="82"/>
                  </a:lnTo>
                  <a:lnTo>
                    <a:pt x="103" y="75"/>
                  </a:lnTo>
                  <a:lnTo>
                    <a:pt x="105" y="73"/>
                  </a:lnTo>
                  <a:lnTo>
                    <a:pt x="105" y="69"/>
                  </a:lnTo>
                  <a:lnTo>
                    <a:pt x="107" y="67"/>
                  </a:lnTo>
                  <a:lnTo>
                    <a:pt x="109" y="65"/>
                  </a:lnTo>
                  <a:lnTo>
                    <a:pt x="111" y="63"/>
                  </a:lnTo>
                  <a:lnTo>
                    <a:pt x="111" y="61"/>
                  </a:lnTo>
                  <a:lnTo>
                    <a:pt x="113" y="59"/>
                  </a:lnTo>
                  <a:lnTo>
                    <a:pt x="115" y="57"/>
                  </a:lnTo>
                  <a:lnTo>
                    <a:pt x="78" y="17"/>
                  </a:lnTo>
                  <a:lnTo>
                    <a:pt x="78" y="19"/>
                  </a:lnTo>
                  <a:lnTo>
                    <a:pt x="77" y="19"/>
                  </a:lnTo>
                  <a:lnTo>
                    <a:pt x="75" y="19"/>
                  </a:lnTo>
                  <a:lnTo>
                    <a:pt x="73" y="19"/>
                  </a:lnTo>
                  <a:lnTo>
                    <a:pt x="71" y="19"/>
                  </a:lnTo>
                  <a:lnTo>
                    <a:pt x="69" y="17"/>
                  </a:lnTo>
                  <a:lnTo>
                    <a:pt x="67" y="13"/>
                  </a:lnTo>
                  <a:lnTo>
                    <a:pt x="65" y="11"/>
                  </a:lnTo>
                  <a:lnTo>
                    <a:pt x="63" y="9"/>
                  </a:lnTo>
                  <a:lnTo>
                    <a:pt x="61" y="7"/>
                  </a:lnTo>
                  <a:lnTo>
                    <a:pt x="59" y="6"/>
                  </a:lnTo>
                  <a:lnTo>
                    <a:pt x="57" y="4"/>
                  </a:lnTo>
                  <a:lnTo>
                    <a:pt x="55" y="2"/>
                  </a:lnTo>
                  <a:lnTo>
                    <a:pt x="44" y="19"/>
                  </a:lnTo>
                  <a:lnTo>
                    <a:pt x="40" y="19"/>
                  </a:lnTo>
                  <a:lnTo>
                    <a:pt x="34" y="19"/>
                  </a:lnTo>
                  <a:lnTo>
                    <a:pt x="31" y="17"/>
                  </a:lnTo>
                  <a:lnTo>
                    <a:pt x="27" y="15"/>
                  </a:lnTo>
                  <a:lnTo>
                    <a:pt x="25" y="11"/>
                  </a:lnTo>
                  <a:lnTo>
                    <a:pt x="21" y="7"/>
                  </a:lnTo>
                  <a:lnTo>
                    <a:pt x="17" y="4"/>
                  </a:lnTo>
                  <a:lnTo>
                    <a:pt x="15" y="0"/>
                  </a:lnTo>
                  <a:lnTo>
                    <a:pt x="0" y="25"/>
                  </a:lnTo>
                  <a:lnTo>
                    <a:pt x="4" y="25"/>
                  </a:lnTo>
                  <a:lnTo>
                    <a:pt x="7" y="27"/>
                  </a:lnTo>
                  <a:lnTo>
                    <a:pt x="9" y="30"/>
                  </a:lnTo>
                  <a:lnTo>
                    <a:pt x="13" y="34"/>
                  </a:lnTo>
                  <a:lnTo>
                    <a:pt x="15" y="38"/>
                  </a:lnTo>
                  <a:lnTo>
                    <a:pt x="17" y="40"/>
                  </a:lnTo>
                  <a:lnTo>
                    <a:pt x="21" y="44"/>
                  </a:lnTo>
                  <a:lnTo>
                    <a:pt x="25" y="46"/>
                  </a:lnTo>
                  <a:lnTo>
                    <a:pt x="29" y="48"/>
                  </a:lnTo>
                  <a:lnTo>
                    <a:pt x="31" y="50"/>
                  </a:lnTo>
                  <a:lnTo>
                    <a:pt x="32" y="52"/>
                  </a:lnTo>
                  <a:lnTo>
                    <a:pt x="34" y="53"/>
                  </a:lnTo>
                  <a:lnTo>
                    <a:pt x="36" y="55"/>
                  </a:lnTo>
                  <a:lnTo>
                    <a:pt x="36" y="57"/>
                  </a:lnTo>
                  <a:lnTo>
                    <a:pt x="36" y="61"/>
                  </a:lnTo>
                  <a:lnTo>
                    <a:pt x="34" y="63"/>
                  </a:lnTo>
                  <a:lnTo>
                    <a:pt x="32" y="65"/>
                  </a:lnTo>
                  <a:lnTo>
                    <a:pt x="31" y="69"/>
                  </a:lnTo>
                  <a:lnTo>
                    <a:pt x="29" y="71"/>
                  </a:lnTo>
                  <a:lnTo>
                    <a:pt x="27" y="75"/>
                  </a:lnTo>
                  <a:lnTo>
                    <a:pt x="27" y="76"/>
                  </a:lnTo>
                  <a:lnTo>
                    <a:pt x="25" y="78"/>
                  </a:lnTo>
                  <a:lnTo>
                    <a:pt x="23" y="82"/>
                  </a:lnTo>
                  <a:lnTo>
                    <a:pt x="23" y="84"/>
                  </a:lnTo>
                  <a:lnTo>
                    <a:pt x="23" y="86"/>
                  </a:lnTo>
                  <a:lnTo>
                    <a:pt x="25" y="86"/>
                  </a:lnTo>
                  <a:lnTo>
                    <a:pt x="27" y="86"/>
                  </a:lnTo>
                  <a:close/>
                </a:path>
              </a:pathLst>
            </a:custGeom>
            <a:solidFill>
              <a:srgbClr val="70C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Freeform 18">
              <a:extLst>
                <a:ext uri="{FF2B5EF4-FFF2-40B4-BE49-F238E27FC236}">
                  <a16:creationId xmlns:a16="http://schemas.microsoft.com/office/drawing/2014/main" id="{21D16BEB-A86E-7E10-B55F-35963C1C18E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72" y="2940"/>
              <a:ext cx="46" cy="58"/>
            </a:xfrm>
            <a:custGeom>
              <a:avLst/>
              <a:gdLst>
                <a:gd name="T0" fmla="*/ 35 w 46"/>
                <a:gd name="T1" fmla="*/ 58 h 58"/>
                <a:gd name="T2" fmla="*/ 46 w 46"/>
                <a:gd name="T3" fmla="*/ 27 h 58"/>
                <a:gd name="T4" fmla="*/ 44 w 46"/>
                <a:gd name="T5" fmla="*/ 29 h 58"/>
                <a:gd name="T6" fmla="*/ 40 w 46"/>
                <a:gd name="T7" fmla="*/ 29 h 58"/>
                <a:gd name="T8" fmla="*/ 38 w 46"/>
                <a:gd name="T9" fmla="*/ 31 h 58"/>
                <a:gd name="T10" fmla="*/ 35 w 46"/>
                <a:gd name="T11" fmla="*/ 33 h 58"/>
                <a:gd name="T12" fmla="*/ 33 w 46"/>
                <a:gd name="T13" fmla="*/ 33 h 58"/>
                <a:gd name="T14" fmla="*/ 29 w 46"/>
                <a:gd name="T15" fmla="*/ 35 h 58"/>
                <a:gd name="T16" fmla="*/ 25 w 46"/>
                <a:gd name="T17" fmla="*/ 35 h 58"/>
                <a:gd name="T18" fmla="*/ 23 w 46"/>
                <a:gd name="T19" fmla="*/ 35 h 58"/>
                <a:gd name="T20" fmla="*/ 27 w 46"/>
                <a:gd name="T21" fmla="*/ 16 h 58"/>
                <a:gd name="T22" fmla="*/ 25 w 46"/>
                <a:gd name="T23" fmla="*/ 18 h 58"/>
                <a:gd name="T24" fmla="*/ 25 w 46"/>
                <a:gd name="T25" fmla="*/ 18 h 58"/>
                <a:gd name="T26" fmla="*/ 23 w 46"/>
                <a:gd name="T27" fmla="*/ 19 h 58"/>
                <a:gd name="T28" fmla="*/ 21 w 46"/>
                <a:gd name="T29" fmla="*/ 19 h 58"/>
                <a:gd name="T30" fmla="*/ 19 w 46"/>
                <a:gd name="T31" fmla="*/ 21 h 58"/>
                <a:gd name="T32" fmla="*/ 17 w 46"/>
                <a:gd name="T33" fmla="*/ 21 h 58"/>
                <a:gd name="T34" fmla="*/ 15 w 46"/>
                <a:gd name="T35" fmla="*/ 21 h 58"/>
                <a:gd name="T36" fmla="*/ 13 w 46"/>
                <a:gd name="T37" fmla="*/ 21 h 58"/>
                <a:gd name="T38" fmla="*/ 12 w 46"/>
                <a:gd name="T39" fmla="*/ 19 h 58"/>
                <a:gd name="T40" fmla="*/ 12 w 46"/>
                <a:gd name="T41" fmla="*/ 18 h 58"/>
                <a:gd name="T42" fmla="*/ 10 w 46"/>
                <a:gd name="T43" fmla="*/ 18 h 58"/>
                <a:gd name="T44" fmla="*/ 10 w 46"/>
                <a:gd name="T45" fmla="*/ 16 h 58"/>
                <a:gd name="T46" fmla="*/ 10 w 46"/>
                <a:gd name="T47" fmla="*/ 14 h 58"/>
                <a:gd name="T48" fmla="*/ 10 w 46"/>
                <a:gd name="T49" fmla="*/ 12 h 58"/>
                <a:gd name="T50" fmla="*/ 10 w 46"/>
                <a:gd name="T51" fmla="*/ 10 h 58"/>
                <a:gd name="T52" fmla="*/ 12 w 46"/>
                <a:gd name="T53" fmla="*/ 8 h 58"/>
                <a:gd name="T54" fmla="*/ 12 w 46"/>
                <a:gd name="T55" fmla="*/ 8 h 58"/>
                <a:gd name="T56" fmla="*/ 13 w 46"/>
                <a:gd name="T57" fmla="*/ 8 h 58"/>
                <a:gd name="T58" fmla="*/ 13 w 46"/>
                <a:gd name="T59" fmla="*/ 8 h 58"/>
                <a:gd name="T60" fmla="*/ 13 w 46"/>
                <a:gd name="T61" fmla="*/ 6 h 58"/>
                <a:gd name="T62" fmla="*/ 15 w 46"/>
                <a:gd name="T63" fmla="*/ 4 h 58"/>
                <a:gd name="T64" fmla="*/ 15 w 46"/>
                <a:gd name="T65" fmla="*/ 2 h 58"/>
                <a:gd name="T66" fmla="*/ 15 w 46"/>
                <a:gd name="T67" fmla="*/ 0 h 58"/>
                <a:gd name="T68" fmla="*/ 17 w 46"/>
                <a:gd name="T69" fmla="*/ 0 h 58"/>
                <a:gd name="T70" fmla="*/ 13 w 46"/>
                <a:gd name="T71" fmla="*/ 0 h 58"/>
                <a:gd name="T72" fmla="*/ 12 w 46"/>
                <a:gd name="T73" fmla="*/ 2 h 58"/>
                <a:gd name="T74" fmla="*/ 10 w 46"/>
                <a:gd name="T75" fmla="*/ 4 h 58"/>
                <a:gd name="T76" fmla="*/ 6 w 46"/>
                <a:gd name="T77" fmla="*/ 6 h 58"/>
                <a:gd name="T78" fmla="*/ 6 w 46"/>
                <a:gd name="T79" fmla="*/ 8 h 58"/>
                <a:gd name="T80" fmla="*/ 4 w 46"/>
                <a:gd name="T81" fmla="*/ 12 h 58"/>
                <a:gd name="T82" fmla="*/ 2 w 46"/>
                <a:gd name="T83" fmla="*/ 14 h 58"/>
                <a:gd name="T84" fmla="*/ 0 w 46"/>
                <a:gd name="T85" fmla="*/ 18 h 58"/>
                <a:gd name="T86" fmla="*/ 4 w 46"/>
                <a:gd name="T87" fmla="*/ 21 h 58"/>
                <a:gd name="T88" fmla="*/ 8 w 46"/>
                <a:gd name="T89" fmla="*/ 27 h 58"/>
                <a:gd name="T90" fmla="*/ 13 w 46"/>
                <a:gd name="T91" fmla="*/ 33 h 58"/>
                <a:gd name="T92" fmla="*/ 17 w 46"/>
                <a:gd name="T93" fmla="*/ 39 h 58"/>
                <a:gd name="T94" fmla="*/ 21 w 46"/>
                <a:gd name="T95" fmla="*/ 42 h 58"/>
                <a:gd name="T96" fmla="*/ 25 w 46"/>
                <a:gd name="T97" fmla="*/ 48 h 58"/>
                <a:gd name="T98" fmla="*/ 31 w 46"/>
                <a:gd name="T99" fmla="*/ 54 h 58"/>
                <a:gd name="T100" fmla="*/ 35 w 46"/>
                <a:gd name="T101" fmla="*/ 58 h 5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6" h="58">
                  <a:moveTo>
                    <a:pt x="35" y="58"/>
                  </a:moveTo>
                  <a:lnTo>
                    <a:pt x="46" y="27"/>
                  </a:lnTo>
                  <a:lnTo>
                    <a:pt x="44" y="29"/>
                  </a:lnTo>
                  <a:lnTo>
                    <a:pt x="40" y="29"/>
                  </a:lnTo>
                  <a:lnTo>
                    <a:pt x="38" y="31"/>
                  </a:lnTo>
                  <a:lnTo>
                    <a:pt x="35" y="33"/>
                  </a:lnTo>
                  <a:lnTo>
                    <a:pt x="33" y="33"/>
                  </a:lnTo>
                  <a:lnTo>
                    <a:pt x="29" y="35"/>
                  </a:lnTo>
                  <a:lnTo>
                    <a:pt x="25" y="35"/>
                  </a:lnTo>
                  <a:lnTo>
                    <a:pt x="23" y="35"/>
                  </a:lnTo>
                  <a:lnTo>
                    <a:pt x="27" y="16"/>
                  </a:lnTo>
                  <a:lnTo>
                    <a:pt x="25" y="18"/>
                  </a:lnTo>
                  <a:lnTo>
                    <a:pt x="23" y="19"/>
                  </a:lnTo>
                  <a:lnTo>
                    <a:pt x="21" y="19"/>
                  </a:lnTo>
                  <a:lnTo>
                    <a:pt x="19" y="21"/>
                  </a:lnTo>
                  <a:lnTo>
                    <a:pt x="17" y="21"/>
                  </a:lnTo>
                  <a:lnTo>
                    <a:pt x="15" y="21"/>
                  </a:lnTo>
                  <a:lnTo>
                    <a:pt x="13" y="21"/>
                  </a:lnTo>
                  <a:lnTo>
                    <a:pt x="12" y="19"/>
                  </a:lnTo>
                  <a:lnTo>
                    <a:pt x="12" y="18"/>
                  </a:lnTo>
                  <a:lnTo>
                    <a:pt x="10" y="18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0" y="12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3" y="8"/>
                  </a:lnTo>
                  <a:lnTo>
                    <a:pt x="13" y="6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6" y="6"/>
                  </a:lnTo>
                  <a:lnTo>
                    <a:pt x="6" y="8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4" y="21"/>
                  </a:lnTo>
                  <a:lnTo>
                    <a:pt x="8" y="27"/>
                  </a:lnTo>
                  <a:lnTo>
                    <a:pt x="13" y="33"/>
                  </a:lnTo>
                  <a:lnTo>
                    <a:pt x="17" y="39"/>
                  </a:lnTo>
                  <a:lnTo>
                    <a:pt x="21" y="42"/>
                  </a:lnTo>
                  <a:lnTo>
                    <a:pt x="25" y="48"/>
                  </a:lnTo>
                  <a:lnTo>
                    <a:pt x="31" y="54"/>
                  </a:lnTo>
                  <a:lnTo>
                    <a:pt x="35" y="58"/>
                  </a:lnTo>
                  <a:close/>
                </a:path>
              </a:pathLst>
            </a:custGeom>
            <a:solidFill>
              <a:srgbClr val="70C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Freeform 21">
              <a:extLst>
                <a:ext uri="{FF2B5EF4-FFF2-40B4-BE49-F238E27FC236}">
                  <a16:creationId xmlns:a16="http://schemas.microsoft.com/office/drawing/2014/main" id="{0539CBF0-E175-5072-19C2-DC4BEBFD28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51" y="2979"/>
              <a:ext cx="2" cy="2"/>
            </a:xfrm>
            <a:custGeom>
              <a:avLst/>
              <a:gdLst>
                <a:gd name="T0" fmla="*/ 2 w 2"/>
                <a:gd name="T1" fmla="*/ 2 h 2"/>
                <a:gd name="T2" fmla="*/ 2 w 2"/>
                <a:gd name="T3" fmla="*/ 2 h 2"/>
                <a:gd name="T4" fmla="*/ 2 w 2"/>
                <a:gd name="T5" fmla="*/ 2 h 2"/>
                <a:gd name="T6" fmla="*/ 2 w 2"/>
                <a:gd name="T7" fmla="*/ 2 h 2"/>
                <a:gd name="T8" fmla="*/ 0 w 2"/>
                <a:gd name="T9" fmla="*/ 2 h 2"/>
                <a:gd name="T10" fmla="*/ 0 w 2"/>
                <a:gd name="T11" fmla="*/ 0 h 2"/>
                <a:gd name="T12" fmla="*/ 0 w 2"/>
                <a:gd name="T13" fmla="*/ 0 h 2"/>
                <a:gd name="T14" fmla="*/ 0 w 2"/>
                <a:gd name="T15" fmla="*/ 0 h 2"/>
                <a:gd name="T16" fmla="*/ 0 w 2"/>
                <a:gd name="T17" fmla="*/ 0 h 2"/>
                <a:gd name="T18" fmla="*/ 0 w 2"/>
                <a:gd name="T19" fmla="*/ 0 h 2"/>
                <a:gd name="T20" fmla="*/ 0 w 2"/>
                <a:gd name="T21" fmla="*/ 0 h 2"/>
                <a:gd name="T22" fmla="*/ 0 w 2"/>
                <a:gd name="T23" fmla="*/ 0 h 2"/>
                <a:gd name="T24" fmla="*/ 0 w 2"/>
                <a:gd name="T25" fmla="*/ 2 h 2"/>
                <a:gd name="T26" fmla="*/ 2 w 2"/>
                <a:gd name="T27" fmla="*/ 2 h 2"/>
                <a:gd name="T28" fmla="*/ 2 w 2"/>
                <a:gd name="T29" fmla="*/ 2 h 2"/>
                <a:gd name="T30" fmla="*/ 2 w 2"/>
                <a:gd name="T31" fmla="*/ 2 h 2"/>
                <a:gd name="T32" fmla="*/ 2 w 2"/>
                <a:gd name="T33" fmla="*/ 2 h 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70C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Freeform 22">
              <a:extLst>
                <a:ext uri="{FF2B5EF4-FFF2-40B4-BE49-F238E27FC236}">
                  <a16:creationId xmlns:a16="http://schemas.microsoft.com/office/drawing/2014/main" id="{08A8302B-4512-2A9E-EF26-CE909D6EFD3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66" y="2864"/>
              <a:ext cx="46" cy="94"/>
            </a:xfrm>
            <a:custGeom>
              <a:avLst/>
              <a:gdLst>
                <a:gd name="T0" fmla="*/ 40 w 46"/>
                <a:gd name="T1" fmla="*/ 94 h 94"/>
                <a:gd name="T2" fmla="*/ 42 w 46"/>
                <a:gd name="T3" fmla="*/ 94 h 94"/>
                <a:gd name="T4" fmla="*/ 44 w 46"/>
                <a:gd name="T5" fmla="*/ 92 h 94"/>
                <a:gd name="T6" fmla="*/ 46 w 46"/>
                <a:gd name="T7" fmla="*/ 90 h 94"/>
                <a:gd name="T8" fmla="*/ 46 w 46"/>
                <a:gd name="T9" fmla="*/ 88 h 94"/>
                <a:gd name="T10" fmla="*/ 46 w 46"/>
                <a:gd name="T11" fmla="*/ 84 h 94"/>
                <a:gd name="T12" fmla="*/ 46 w 46"/>
                <a:gd name="T13" fmla="*/ 82 h 94"/>
                <a:gd name="T14" fmla="*/ 46 w 46"/>
                <a:gd name="T15" fmla="*/ 78 h 94"/>
                <a:gd name="T16" fmla="*/ 46 w 46"/>
                <a:gd name="T17" fmla="*/ 76 h 94"/>
                <a:gd name="T18" fmla="*/ 44 w 46"/>
                <a:gd name="T19" fmla="*/ 72 h 94"/>
                <a:gd name="T20" fmla="*/ 42 w 46"/>
                <a:gd name="T21" fmla="*/ 71 h 94"/>
                <a:gd name="T22" fmla="*/ 42 w 46"/>
                <a:gd name="T23" fmla="*/ 69 h 94"/>
                <a:gd name="T24" fmla="*/ 40 w 46"/>
                <a:gd name="T25" fmla="*/ 65 h 94"/>
                <a:gd name="T26" fmla="*/ 40 w 46"/>
                <a:gd name="T27" fmla="*/ 63 h 94"/>
                <a:gd name="T28" fmla="*/ 38 w 46"/>
                <a:gd name="T29" fmla="*/ 61 h 94"/>
                <a:gd name="T30" fmla="*/ 37 w 46"/>
                <a:gd name="T31" fmla="*/ 59 h 94"/>
                <a:gd name="T32" fmla="*/ 33 w 46"/>
                <a:gd name="T33" fmla="*/ 57 h 94"/>
                <a:gd name="T34" fmla="*/ 31 w 46"/>
                <a:gd name="T35" fmla="*/ 57 h 94"/>
                <a:gd name="T36" fmla="*/ 31 w 46"/>
                <a:gd name="T37" fmla="*/ 57 h 94"/>
                <a:gd name="T38" fmla="*/ 29 w 46"/>
                <a:gd name="T39" fmla="*/ 57 h 94"/>
                <a:gd name="T40" fmla="*/ 27 w 46"/>
                <a:gd name="T41" fmla="*/ 55 h 94"/>
                <a:gd name="T42" fmla="*/ 25 w 46"/>
                <a:gd name="T43" fmla="*/ 55 h 94"/>
                <a:gd name="T44" fmla="*/ 23 w 46"/>
                <a:gd name="T45" fmla="*/ 53 h 94"/>
                <a:gd name="T46" fmla="*/ 23 w 46"/>
                <a:gd name="T47" fmla="*/ 51 h 94"/>
                <a:gd name="T48" fmla="*/ 21 w 46"/>
                <a:gd name="T49" fmla="*/ 49 h 94"/>
                <a:gd name="T50" fmla="*/ 19 w 46"/>
                <a:gd name="T51" fmla="*/ 44 h 94"/>
                <a:gd name="T52" fmla="*/ 17 w 46"/>
                <a:gd name="T53" fmla="*/ 38 h 94"/>
                <a:gd name="T54" fmla="*/ 15 w 46"/>
                <a:gd name="T55" fmla="*/ 32 h 94"/>
                <a:gd name="T56" fmla="*/ 13 w 46"/>
                <a:gd name="T57" fmla="*/ 26 h 94"/>
                <a:gd name="T58" fmla="*/ 13 w 46"/>
                <a:gd name="T59" fmla="*/ 21 h 94"/>
                <a:gd name="T60" fmla="*/ 12 w 46"/>
                <a:gd name="T61" fmla="*/ 15 h 94"/>
                <a:gd name="T62" fmla="*/ 12 w 46"/>
                <a:gd name="T63" fmla="*/ 7 h 94"/>
                <a:gd name="T64" fmla="*/ 12 w 46"/>
                <a:gd name="T65" fmla="*/ 1 h 94"/>
                <a:gd name="T66" fmla="*/ 10 w 46"/>
                <a:gd name="T67" fmla="*/ 1 h 94"/>
                <a:gd name="T68" fmla="*/ 10 w 46"/>
                <a:gd name="T69" fmla="*/ 1 h 94"/>
                <a:gd name="T70" fmla="*/ 8 w 46"/>
                <a:gd name="T71" fmla="*/ 1 h 94"/>
                <a:gd name="T72" fmla="*/ 6 w 46"/>
                <a:gd name="T73" fmla="*/ 1 h 94"/>
                <a:gd name="T74" fmla="*/ 6 w 46"/>
                <a:gd name="T75" fmla="*/ 1 h 94"/>
                <a:gd name="T76" fmla="*/ 4 w 46"/>
                <a:gd name="T77" fmla="*/ 1 h 94"/>
                <a:gd name="T78" fmla="*/ 4 w 46"/>
                <a:gd name="T79" fmla="*/ 0 h 94"/>
                <a:gd name="T80" fmla="*/ 2 w 46"/>
                <a:gd name="T81" fmla="*/ 0 h 94"/>
                <a:gd name="T82" fmla="*/ 0 w 46"/>
                <a:gd name="T83" fmla="*/ 38 h 94"/>
                <a:gd name="T84" fmla="*/ 33 w 46"/>
                <a:gd name="T85" fmla="*/ 69 h 94"/>
                <a:gd name="T86" fmla="*/ 40 w 46"/>
                <a:gd name="T87" fmla="*/ 94 h 9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6" h="94">
                  <a:moveTo>
                    <a:pt x="40" y="94"/>
                  </a:moveTo>
                  <a:lnTo>
                    <a:pt x="42" y="94"/>
                  </a:lnTo>
                  <a:lnTo>
                    <a:pt x="44" y="92"/>
                  </a:lnTo>
                  <a:lnTo>
                    <a:pt x="46" y="90"/>
                  </a:lnTo>
                  <a:lnTo>
                    <a:pt x="46" y="88"/>
                  </a:lnTo>
                  <a:lnTo>
                    <a:pt x="46" y="84"/>
                  </a:lnTo>
                  <a:lnTo>
                    <a:pt x="46" y="82"/>
                  </a:lnTo>
                  <a:lnTo>
                    <a:pt x="46" y="78"/>
                  </a:lnTo>
                  <a:lnTo>
                    <a:pt x="46" y="76"/>
                  </a:lnTo>
                  <a:lnTo>
                    <a:pt x="44" y="72"/>
                  </a:lnTo>
                  <a:lnTo>
                    <a:pt x="42" y="71"/>
                  </a:lnTo>
                  <a:lnTo>
                    <a:pt x="42" y="69"/>
                  </a:lnTo>
                  <a:lnTo>
                    <a:pt x="40" y="65"/>
                  </a:lnTo>
                  <a:lnTo>
                    <a:pt x="40" y="63"/>
                  </a:lnTo>
                  <a:lnTo>
                    <a:pt x="38" y="61"/>
                  </a:lnTo>
                  <a:lnTo>
                    <a:pt x="37" y="59"/>
                  </a:lnTo>
                  <a:lnTo>
                    <a:pt x="33" y="57"/>
                  </a:lnTo>
                  <a:lnTo>
                    <a:pt x="31" y="57"/>
                  </a:lnTo>
                  <a:lnTo>
                    <a:pt x="29" y="57"/>
                  </a:lnTo>
                  <a:lnTo>
                    <a:pt x="27" y="55"/>
                  </a:lnTo>
                  <a:lnTo>
                    <a:pt x="25" y="55"/>
                  </a:lnTo>
                  <a:lnTo>
                    <a:pt x="23" y="53"/>
                  </a:lnTo>
                  <a:lnTo>
                    <a:pt x="23" y="51"/>
                  </a:lnTo>
                  <a:lnTo>
                    <a:pt x="21" y="49"/>
                  </a:lnTo>
                  <a:lnTo>
                    <a:pt x="19" y="44"/>
                  </a:lnTo>
                  <a:lnTo>
                    <a:pt x="17" y="38"/>
                  </a:lnTo>
                  <a:lnTo>
                    <a:pt x="15" y="32"/>
                  </a:lnTo>
                  <a:lnTo>
                    <a:pt x="13" y="26"/>
                  </a:lnTo>
                  <a:lnTo>
                    <a:pt x="13" y="21"/>
                  </a:lnTo>
                  <a:lnTo>
                    <a:pt x="12" y="15"/>
                  </a:lnTo>
                  <a:lnTo>
                    <a:pt x="12" y="7"/>
                  </a:lnTo>
                  <a:lnTo>
                    <a:pt x="12" y="1"/>
                  </a:lnTo>
                  <a:lnTo>
                    <a:pt x="10" y="1"/>
                  </a:lnTo>
                  <a:lnTo>
                    <a:pt x="8" y="1"/>
                  </a:lnTo>
                  <a:lnTo>
                    <a:pt x="6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38"/>
                  </a:lnTo>
                  <a:lnTo>
                    <a:pt x="33" y="69"/>
                  </a:lnTo>
                  <a:lnTo>
                    <a:pt x="40" y="94"/>
                  </a:lnTo>
                  <a:close/>
                </a:path>
              </a:pathLst>
            </a:custGeom>
            <a:solidFill>
              <a:srgbClr val="FFCF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0" name="Freeform 23">
              <a:extLst>
                <a:ext uri="{FF2B5EF4-FFF2-40B4-BE49-F238E27FC236}">
                  <a16:creationId xmlns:a16="http://schemas.microsoft.com/office/drawing/2014/main" id="{D2F890E4-BB95-038C-ECA7-16F7B01AB26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41" y="2867"/>
              <a:ext cx="48" cy="69"/>
            </a:xfrm>
            <a:custGeom>
              <a:avLst/>
              <a:gdLst>
                <a:gd name="T0" fmla="*/ 44 w 48"/>
                <a:gd name="T1" fmla="*/ 69 h 69"/>
                <a:gd name="T2" fmla="*/ 46 w 48"/>
                <a:gd name="T3" fmla="*/ 64 h 69"/>
                <a:gd name="T4" fmla="*/ 46 w 48"/>
                <a:gd name="T5" fmla="*/ 56 h 69"/>
                <a:gd name="T6" fmla="*/ 46 w 48"/>
                <a:gd name="T7" fmla="*/ 48 h 69"/>
                <a:gd name="T8" fmla="*/ 46 w 48"/>
                <a:gd name="T9" fmla="*/ 41 h 69"/>
                <a:gd name="T10" fmla="*/ 46 w 48"/>
                <a:gd name="T11" fmla="*/ 33 h 69"/>
                <a:gd name="T12" fmla="*/ 46 w 48"/>
                <a:gd name="T13" fmla="*/ 23 h 69"/>
                <a:gd name="T14" fmla="*/ 46 w 48"/>
                <a:gd name="T15" fmla="*/ 16 h 69"/>
                <a:gd name="T16" fmla="*/ 48 w 48"/>
                <a:gd name="T17" fmla="*/ 10 h 69"/>
                <a:gd name="T18" fmla="*/ 42 w 48"/>
                <a:gd name="T19" fmla="*/ 6 h 69"/>
                <a:gd name="T20" fmla="*/ 37 w 48"/>
                <a:gd name="T21" fmla="*/ 4 h 69"/>
                <a:gd name="T22" fmla="*/ 31 w 48"/>
                <a:gd name="T23" fmla="*/ 2 h 69"/>
                <a:gd name="T24" fmla="*/ 23 w 48"/>
                <a:gd name="T25" fmla="*/ 2 h 69"/>
                <a:gd name="T26" fmla="*/ 17 w 48"/>
                <a:gd name="T27" fmla="*/ 0 h 69"/>
                <a:gd name="T28" fmla="*/ 12 w 48"/>
                <a:gd name="T29" fmla="*/ 0 h 69"/>
                <a:gd name="T30" fmla="*/ 6 w 48"/>
                <a:gd name="T31" fmla="*/ 0 h 69"/>
                <a:gd name="T32" fmla="*/ 0 w 48"/>
                <a:gd name="T33" fmla="*/ 0 h 69"/>
                <a:gd name="T34" fmla="*/ 2 w 48"/>
                <a:gd name="T35" fmla="*/ 6 h 69"/>
                <a:gd name="T36" fmla="*/ 2 w 48"/>
                <a:gd name="T37" fmla="*/ 10 h 69"/>
                <a:gd name="T38" fmla="*/ 4 w 48"/>
                <a:gd name="T39" fmla="*/ 16 h 69"/>
                <a:gd name="T40" fmla="*/ 4 w 48"/>
                <a:gd name="T41" fmla="*/ 21 h 69"/>
                <a:gd name="T42" fmla="*/ 6 w 48"/>
                <a:gd name="T43" fmla="*/ 25 h 69"/>
                <a:gd name="T44" fmla="*/ 6 w 48"/>
                <a:gd name="T45" fmla="*/ 31 h 69"/>
                <a:gd name="T46" fmla="*/ 10 w 48"/>
                <a:gd name="T47" fmla="*/ 37 h 69"/>
                <a:gd name="T48" fmla="*/ 12 w 48"/>
                <a:gd name="T49" fmla="*/ 41 h 69"/>
                <a:gd name="T50" fmla="*/ 15 w 48"/>
                <a:gd name="T51" fmla="*/ 43 h 69"/>
                <a:gd name="T52" fmla="*/ 19 w 48"/>
                <a:gd name="T53" fmla="*/ 45 h 69"/>
                <a:gd name="T54" fmla="*/ 21 w 48"/>
                <a:gd name="T55" fmla="*/ 46 h 69"/>
                <a:gd name="T56" fmla="*/ 23 w 48"/>
                <a:gd name="T57" fmla="*/ 48 h 69"/>
                <a:gd name="T58" fmla="*/ 25 w 48"/>
                <a:gd name="T59" fmla="*/ 52 h 69"/>
                <a:gd name="T60" fmla="*/ 27 w 48"/>
                <a:gd name="T61" fmla="*/ 54 h 69"/>
                <a:gd name="T62" fmla="*/ 29 w 48"/>
                <a:gd name="T63" fmla="*/ 56 h 69"/>
                <a:gd name="T64" fmla="*/ 31 w 48"/>
                <a:gd name="T65" fmla="*/ 58 h 69"/>
                <a:gd name="T66" fmla="*/ 33 w 48"/>
                <a:gd name="T67" fmla="*/ 60 h 69"/>
                <a:gd name="T68" fmla="*/ 33 w 48"/>
                <a:gd name="T69" fmla="*/ 62 h 69"/>
                <a:gd name="T70" fmla="*/ 35 w 48"/>
                <a:gd name="T71" fmla="*/ 64 h 69"/>
                <a:gd name="T72" fmla="*/ 37 w 48"/>
                <a:gd name="T73" fmla="*/ 66 h 69"/>
                <a:gd name="T74" fmla="*/ 38 w 48"/>
                <a:gd name="T75" fmla="*/ 68 h 69"/>
                <a:gd name="T76" fmla="*/ 40 w 48"/>
                <a:gd name="T77" fmla="*/ 68 h 69"/>
                <a:gd name="T78" fmla="*/ 42 w 48"/>
                <a:gd name="T79" fmla="*/ 69 h 69"/>
                <a:gd name="T80" fmla="*/ 44 w 48"/>
                <a:gd name="T81" fmla="*/ 69 h 6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8" h="69">
                  <a:moveTo>
                    <a:pt x="44" y="69"/>
                  </a:moveTo>
                  <a:lnTo>
                    <a:pt x="46" y="64"/>
                  </a:lnTo>
                  <a:lnTo>
                    <a:pt x="46" y="56"/>
                  </a:lnTo>
                  <a:lnTo>
                    <a:pt x="46" y="48"/>
                  </a:lnTo>
                  <a:lnTo>
                    <a:pt x="46" y="41"/>
                  </a:lnTo>
                  <a:lnTo>
                    <a:pt x="46" y="33"/>
                  </a:lnTo>
                  <a:lnTo>
                    <a:pt x="46" y="23"/>
                  </a:lnTo>
                  <a:lnTo>
                    <a:pt x="46" y="16"/>
                  </a:lnTo>
                  <a:lnTo>
                    <a:pt x="48" y="10"/>
                  </a:lnTo>
                  <a:lnTo>
                    <a:pt x="42" y="6"/>
                  </a:lnTo>
                  <a:lnTo>
                    <a:pt x="37" y="4"/>
                  </a:lnTo>
                  <a:lnTo>
                    <a:pt x="31" y="2"/>
                  </a:lnTo>
                  <a:lnTo>
                    <a:pt x="23" y="2"/>
                  </a:lnTo>
                  <a:lnTo>
                    <a:pt x="17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2" y="6"/>
                  </a:lnTo>
                  <a:lnTo>
                    <a:pt x="2" y="10"/>
                  </a:lnTo>
                  <a:lnTo>
                    <a:pt x="4" y="16"/>
                  </a:lnTo>
                  <a:lnTo>
                    <a:pt x="4" y="21"/>
                  </a:lnTo>
                  <a:lnTo>
                    <a:pt x="6" y="25"/>
                  </a:lnTo>
                  <a:lnTo>
                    <a:pt x="6" y="31"/>
                  </a:lnTo>
                  <a:lnTo>
                    <a:pt x="10" y="37"/>
                  </a:lnTo>
                  <a:lnTo>
                    <a:pt x="12" y="41"/>
                  </a:lnTo>
                  <a:lnTo>
                    <a:pt x="15" y="43"/>
                  </a:lnTo>
                  <a:lnTo>
                    <a:pt x="19" y="45"/>
                  </a:lnTo>
                  <a:lnTo>
                    <a:pt x="21" y="46"/>
                  </a:lnTo>
                  <a:lnTo>
                    <a:pt x="23" y="48"/>
                  </a:lnTo>
                  <a:lnTo>
                    <a:pt x="25" y="52"/>
                  </a:lnTo>
                  <a:lnTo>
                    <a:pt x="27" y="54"/>
                  </a:lnTo>
                  <a:lnTo>
                    <a:pt x="29" y="56"/>
                  </a:lnTo>
                  <a:lnTo>
                    <a:pt x="31" y="58"/>
                  </a:lnTo>
                  <a:lnTo>
                    <a:pt x="33" y="60"/>
                  </a:lnTo>
                  <a:lnTo>
                    <a:pt x="33" y="62"/>
                  </a:lnTo>
                  <a:lnTo>
                    <a:pt x="35" y="64"/>
                  </a:lnTo>
                  <a:lnTo>
                    <a:pt x="37" y="66"/>
                  </a:lnTo>
                  <a:lnTo>
                    <a:pt x="38" y="68"/>
                  </a:lnTo>
                  <a:lnTo>
                    <a:pt x="40" y="68"/>
                  </a:lnTo>
                  <a:lnTo>
                    <a:pt x="42" y="69"/>
                  </a:lnTo>
                  <a:lnTo>
                    <a:pt x="44" y="69"/>
                  </a:lnTo>
                  <a:close/>
                </a:path>
              </a:pathLst>
            </a:custGeom>
            <a:solidFill>
              <a:srgbClr val="70C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Freeform 24">
              <a:extLst>
                <a:ext uri="{FF2B5EF4-FFF2-40B4-BE49-F238E27FC236}">
                  <a16:creationId xmlns:a16="http://schemas.microsoft.com/office/drawing/2014/main" id="{FCDC081A-5F7A-41F9-7E8E-DC6D8B2C1CE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68" y="2208"/>
              <a:ext cx="532" cy="644"/>
            </a:xfrm>
            <a:custGeom>
              <a:avLst/>
              <a:gdLst>
                <a:gd name="T0" fmla="*/ 344 w 532"/>
                <a:gd name="T1" fmla="*/ 615 h 644"/>
                <a:gd name="T2" fmla="*/ 349 w 532"/>
                <a:gd name="T3" fmla="*/ 573 h 644"/>
                <a:gd name="T4" fmla="*/ 372 w 532"/>
                <a:gd name="T5" fmla="*/ 556 h 644"/>
                <a:gd name="T6" fmla="*/ 403 w 532"/>
                <a:gd name="T7" fmla="*/ 540 h 644"/>
                <a:gd name="T8" fmla="*/ 436 w 532"/>
                <a:gd name="T9" fmla="*/ 517 h 644"/>
                <a:gd name="T10" fmla="*/ 447 w 532"/>
                <a:gd name="T11" fmla="*/ 502 h 644"/>
                <a:gd name="T12" fmla="*/ 443 w 532"/>
                <a:gd name="T13" fmla="*/ 487 h 644"/>
                <a:gd name="T14" fmla="*/ 409 w 532"/>
                <a:gd name="T15" fmla="*/ 470 h 644"/>
                <a:gd name="T16" fmla="*/ 397 w 532"/>
                <a:gd name="T17" fmla="*/ 454 h 644"/>
                <a:gd name="T18" fmla="*/ 399 w 532"/>
                <a:gd name="T19" fmla="*/ 448 h 644"/>
                <a:gd name="T20" fmla="*/ 466 w 532"/>
                <a:gd name="T21" fmla="*/ 481 h 644"/>
                <a:gd name="T22" fmla="*/ 516 w 532"/>
                <a:gd name="T23" fmla="*/ 483 h 644"/>
                <a:gd name="T24" fmla="*/ 526 w 532"/>
                <a:gd name="T25" fmla="*/ 483 h 644"/>
                <a:gd name="T26" fmla="*/ 530 w 532"/>
                <a:gd name="T27" fmla="*/ 468 h 644"/>
                <a:gd name="T28" fmla="*/ 518 w 532"/>
                <a:gd name="T29" fmla="*/ 448 h 644"/>
                <a:gd name="T30" fmla="*/ 509 w 532"/>
                <a:gd name="T31" fmla="*/ 435 h 644"/>
                <a:gd name="T32" fmla="*/ 470 w 532"/>
                <a:gd name="T33" fmla="*/ 402 h 644"/>
                <a:gd name="T34" fmla="*/ 399 w 532"/>
                <a:gd name="T35" fmla="*/ 391 h 644"/>
                <a:gd name="T36" fmla="*/ 394 w 532"/>
                <a:gd name="T37" fmla="*/ 393 h 644"/>
                <a:gd name="T38" fmla="*/ 388 w 532"/>
                <a:gd name="T39" fmla="*/ 389 h 644"/>
                <a:gd name="T40" fmla="*/ 386 w 532"/>
                <a:gd name="T41" fmla="*/ 379 h 644"/>
                <a:gd name="T42" fmla="*/ 415 w 532"/>
                <a:gd name="T43" fmla="*/ 335 h 644"/>
                <a:gd name="T44" fmla="*/ 447 w 532"/>
                <a:gd name="T45" fmla="*/ 278 h 644"/>
                <a:gd name="T46" fmla="*/ 468 w 532"/>
                <a:gd name="T47" fmla="*/ 276 h 644"/>
                <a:gd name="T48" fmla="*/ 480 w 532"/>
                <a:gd name="T49" fmla="*/ 278 h 644"/>
                <a:gd name="T50" fmla="*/ 482 w 532"/>
                <a:gd name="T51" fmla="*/ 268 h 644"/>
                <a:gd name="T52" fmla="*/ 497 w 532"/>
                <a:gd name="T53" fmla="*/ 220 h 644"/>
                <a:gd name="T54" fmla="*/ 505 w 532"/>
                <a:gd name="T55" fmla="*/ 168 h 644"/>
                <a:gd name="T56" fmla="*/ 499 w 532"/>
                <a:gd name="T57" fmla="*/ 142 h 644"/>
                <a:gd name="T58" fmla="*/ 470 w 532"/>
                <a:gd name="T59" fmla="*/ 88 h 644"/>
                <a:gd name="T60" fmla="*/ 422 w 532"/>
                <a:gd name="T61" fmla="*/ 21 h 644"/>
                <a:gd name="T62" fmla="*/ 399 w 532"/>
                <a:gd name="T63" fmla="*/ 3 h 644"/>
                <a:gd name="T64" fmla="*/ 346 w 532"/>
                <a:gd name="T65" fmla="*/ 0 h 644"/>
                <a:gd name="T66" fmla="*/ 355 w 532"/>
                <a:gd name="T67" fmla="*/ 34 h 644"/>
                <a:gd name="T68" fmla="*/ 334 w 532"/>
                <a:gd name="T69" fmla="*/ 69 h 644"/>
                <a:gd name="T70" fmla="*/ 284 w 532"/>
                <a:gd name="T71" fmla="*/ 96 h 644"/>
                <a:gd name="T72" fmla="*/ 227 w 532"/>
                <a:gd name="T73" fmla="*/ 113 h 644"/>
                <a:gd name="T74" fmla="*/ 192 w 532"/>
                <a:gd name="T75" fmla="*/ 143 h 644"/>
                <a:gd name="T76" fmla="*/ 177 w 532"/>
                <a:gd name="T77" fmla="*/ 174 h 644"/>
                <a:gd name="T78" fmla="*/ 165 w 532"/>
                <a:gd name="T79" fmla="*/ 207 h 644"/>
                <a:gd name="T80" fmla="*/ 163 w 532"/>
                <a:gd name="T81" fmla="*/ 245 h 644"/>
                <a:gd name="T82" fmla="*/ 135 w 532"/>
                <a:gd name="T83" fmla="*/ 251 h 644"/>
                <a:gd name="T84" fmla="*/ 117 w 532"/>
                <a:gd name="T85" fmla="*/ 236 h 644"/>
                <a:gd name="T86" fmla="*/ 100 w 532"/>
                <a:gd name="T87" fmla="*/ 209 h 644"/>
                <a:gd name="T88" fmla="*/ 62 w 532"/>
                <a:gd name="T89" fmla="*/ 197 h 644"/>
                <a:gd name="T90" fmla="*/ 25 w 532"/>
                <a:gd name="T91" fmla="*/ 214 h 644"/>
                <a:gd name="T92" fmla="*/ 0 w 532"/>
                <a:gd name="T93" fmla="*/ 276 h 644"/>
                <a:gd name="T94" fmla="*/ 14 w 532"/>
                <a:gd name="T95" fmla="*/ 333 h 644"/>
                <a:gd name="T96" fmla="*/ 52 w 532"/>
                <a:gd name="T97" fmla="*/ 370 h 644"/>
                <a:gd name="T98" fmla="*/ 96 w 532"/>
                <a:gd name="T99" fmla="*/ 366 h 644"/>
                <a:gd name="T100" fmla="*/ 125 w 532"/>
                <a:gd name="T101" fmla="*/ 351 h 644"/>
                <a:gd name="T102" fmla="*/ 127 w 532"/>
                <a:gd name="T103" fmla="*/ 358 h 644"/>
                <a:gd name="T104" fmla="*/ 108 w 532"/>
                <a:gd name="T105" fmla="*/ 374 h 644"/>
                <a:gd name="T106" fmla="*/ 77 w 532"/>
                <a:gd name="T107" fmla="*/ 389 h 644"/>
                <a:gd name="T108" fmla="*/ 79 w 532"/>
                <a:gd name="T109" fmla="*/ 443 h 644"/>
                <a:gd name="T110" fmla="*/ 100 w 532"/>
                <a:gd name="T111" fmla="*/ 475 h 644"/>
                <a:gd name="T112" fmla="*/ 112 w 532"/>
                <a:gd name="T113" fmla="*/ 489 h 644"/>
                <a:gd name="T114" fmla="*/ 171 w 532"/>
                <a:gd name="T115" fmla="*/ 523 h 644"/>
                <a:gd name="T116" fmla="*/ 215 w 532"/>
                <a:gd name="T117" fmla="*/ 560 h 644"/>
                <a:gd name="T118" fmla="*/ 242 w 532"/>
                <a:gd name="T119" fmla="*/ 611 h 644"/>
                <a:gd name="T120" fmla="*/ 292 w 532"/>
                <a:gd name="T121" fmla="*/ 640 h 644"/>
                <a:gd name="T122" fmla="*/ 311 w 532"/>
                <a:gd name="T123" fmla="*/ 642 h 64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32" h="644">
                  <a:moveTo>
                    <a:pt x="321" y="644"/>
                  </a:moveTo>
                  <a:lnTo>
                    <a:pt x="344" y="642"/>
                  </a:lnTo>
                  <a:lnTo>
                    <a:pt x="344" y="633"/>
                  </a:lnTo>
                  <a:lnTo>
                    <a:pt x="344" y="625"/>
                  </a:lnTo>
                  <a:lnTo>
                    <a:pt x="344" y="615"/>
                  </a:lnTo>
                  <a:lnTo>
                    <a:pt x="344" y="608"/>
                  </a:lnTo>
                  <a:lnTo>
                    <a:pt x="346" y="598"/>
                  </a:lnTo>
                  <a:lnTo>
                    <a:pt x="346" y="590"/>
                  </a:lnTo>
                  <a:lnTo>
                    <a:pt x="348" y="581"/>
                  </a:lnTo>
                  <a:lnTo>
                    <a:pt x="349" y="573"/>
                  </a:lnTo>
                  <a:lnTo>
                    <a:pt x="353" y="569"/>
                  </a:lnTo>
                  <a:lnTo>
                    <a:pt x="359" y="563"/>
                  </a:lnTo>
                  <a:lnTo>
                    <a:pt x="363" y="562"/>
                  </a:lnTo>
                  <a:lnTo>
                    <a:pt x="369" y="558"/>
                  </a:lnTo>
                  <a:lnTo>
                    <a:pt x="372" y="556"/>
                  </a:lnTo>
                  <a:lnTo>
                    <a:pt x="378" y="554"/>
                  </a:lnTo>
                  <a:lnTo>
                    <a:pt x="384" y="550"/>
                  </a:lnTo>
                  <a:lnTo>
                    <a:pt x="390" y="548"/>
                  </a:lnTo>
                  <a:lnTo>
                    <a:pt x="397" y="544"/>
                  </a:lnTo>
                  <a:lnTo>
                    <a:pt x="403" y="540"/>
                  </a:lnTo>
                  <a:lnTo>
                    <a:pt x="411" y="537"/>
                  </a:lnTo>
                  <a:lnTo>
                    <a:pt x="419" y="533"/>
                  </a:lnTo>
                  <a:lnTo>
                    <a:pt x="424" y="527"/>
                  </a:lnTo>
                  <a:lnTo>
                    <a:pt x="430" y="523"/>
                  </a:lnTo>
                  <a:lnTo>
                    <a:pt x="436" y="517"/>
                  </a:lnTo>
                  <a:lnTo>
                    <a:pt x="442" y="512"/>
                  </a:lnTo>
                  <a:lnTo>
                    <a:pt x="443" y="510"/>
                  </a:lnTo>
                  <a:lnTo>
                    <a:pt x="445" y="506"/>
                  </a:lnTo>
                  <a:lnTo>
                    <a:pt x="445" y="504"/>
                  </a:lnTo>
                  <a:lnTo>
                    <a:pt x="447" y="502"/>
                  </a:lnTo>
                  <a:lnTo>
                    <a:pt x="449" y="498"/>
                  </a:lnTo>
                  <a:lnTo>
                    <a:pt x="449" y="496"/>
                  </a:lnTo>
                  <a:lnTo>
                    <a:pt x="451" y="493"/>
                  </a:lnTo>
                  <a:lnTo>
                    <a:pt x="451" y="491"/>
                  </a:lnTo>
                  <a:lnTo>
                    <a:pt x="443" y="487"/>
                  </a:lnTo>
                  <a:lnTo>
                    <a:pt x="436" y="485"/>
                  </a:lnTo>
                  <a:lnTo>
                    <a:pt x="430" y="481"/>
                  </a:lnTo>
                  <a:lnTo>
                    <a:pt x="422" y="477"/>
                  </a:lnTo>
                  <a:lnTo>
                    <a:pt x="417" y="473"/>
                  </a:lnTo>
                  <a:lnTo>
                    <a:pt x="409" y="470"/>
                  </a:lnTo>
                  <a:lnTo>
                    <a:pt x="403" y="464"/>
                  </a:lnTo>
                  <a:lnTo>
                    <a:pt x="397" y="458"/>
                  </a:lnTo>
                  <a:lnTo>
                    <a:pt x="397" y="456"/>
                  </a:lnTo>
                  <a:lnTo>
                    <a:pt x="397" y="454"/>
                  </a:lnTo>
                  <a:lnTo>
                    <a:pt x="397" y="452"/>
                  </a:lnTo>
                  <a:lnTo>
                    <a:pt x="399" y="450"/>
                  </a:lnTo>
                  <a:lnTo>
                    <a:pt x="399" y="448"/>
                  </a:lnTo>
                  <a:lnTo>
                    <a:pt x="411" y="456"/>
                  </a:lnTo>
                  <a:lnTo>
                    <a:pt x="424" y="464"/>
                  </a:lnTo>
                  <a:lnTo>
                    <a:pt x="438" y="471"/>
                  </a:lnTo>
                  <a:lnTo>
                    <a:pt x="451" y="477"/>
                  </a:lnTo>
                  <a:lnTo>
                    <a:pt x="466" y="481"/>
                  </a:lnTo>
                  <a:lnTo>
                    <a:pt x="482" y="485"/>
                  </a:lnTo>
                  <a:lnTo>
                    <a:pt x="497" y="487"/>
                  </a:lnTo>
                  <a:lnTo>
                    <a:pt x="512" y="485"/>
                  </a:lnTo>
                  <a:lnTo>
                    <a:pt x="514" y="485"/>
                  </a:lnTo>
                  <a:lnTo>
                    <a:pt x="516" y="483"/>
                  </a:lnTo>
                  <a:lnTo>
                    <a:pt x="518" y="483"/>
                  </a:lnTo>
                  <a:lnTo>
                    <a:pt x="520" y="483"/>
                  </a:lnTo>
                  <a:lnTo>
                    <a:pt x="522" y="483"/>
                  </a:lnTo>
                  <a:lnTo>
                    <a:pt x="524" y="483"/>
                  </a:lnTo>
                  <a:lnTo>
                    <a:pt x="526" y="483"/>
                  </a:lnTo>
                  <a:lnTo>
                    <a:pt x="528" y="481"/>
                  </a:lnTo>
                  <a:lnTo>
                    <a:pt x="530" y="479"/>
                  </a:lnTo>
                  <a:lnTo>
                    <a:pt x="532" y="475"/>
                  </a:lnTo>
                  <a:lnTo>
                    <a:pt x="530" y="471"/>
                  </a:lnTo>
                  <a:lnTo>
                    <a:pt x="530" y="468"/>
                  </a:lnTo>
                  <a:lnTo>
                    <a:pt x="528" y="462"/>
                  </a:lnTo>
                  <a:lnTo>
                    <a:pt x="526" y="458"/>
                  </a:lnTo>
                  <a:lnTo>
                    <a:pt x="524" y="454"/>
                  </a:lnTo>
                  <a:lnTo>
                    <a:pt x="522" y="450"/>
                  </a:lnTo>
                  <a:lnTo>
                    <a:pt x="518" y="448"/>
                  </a:lnTo>
                  <a:lnTo>
                    <a:pt x="516" y="445"/>
                  </a:lnTo>
                  <a:lnTo>
                    <a:pt x="514" y="443"/>
                  </a:lnTo>
                  <a:lnTo>
                    <a:pt x="512" y="441"/>
                  </a:lnTo>
                  <a:lnTo>
                    <a:pt x="511" y="437"/>
                  </a:lnTo>
                  <a:lnTo>
                    <a:pt x="509" y="435"/>
                  </a:lnTo>
                  <a:lnTo>
                    <a:pt x="507" y="431"/>
                  </a:lnTo>
                  <a:lnTo>
                    <a:pt x="505" y="429"/>
                  </a:lnTo>
                  <a:lnTo>
                    <a:pt x="495" y="418"/>
                  </a:lnTo>
                  <a:lnTo>
                    <a:pt x="484" y="410"/>
                  </a:lnTo>
                  <a:lnTo>
                    <a:pt x="470" y="402"/>
                  </a:lnTo>
                  <a:lnTo>
                    <a:pt x="457" y="395"/>
                  </a:lnTo>
                  <a:lnTo>
                    <a:pt x="443" y="391"/>
                  </a:lnTo>
                  <a:lnTo>
                    <a:pt x="428" y="389"/>
                  </a:lnTo>
                  <a:lnTo>
                    <a:pt x="415" y="389"/>
                  </a:lnTo>
                  <a:lnTo>
                    <a:pt x="399" y="391"/>
                  </a:lnTo>
                  <a:lnTo>
                    <a:pt x="397" y="391"/>
                  </a:lnTo>
                  <a:lnTo>
                    <a:pt x="395" y="393"/>
                  </a:lnTo>
                  <a:lnTo>
                    <a:pt x="394" y="393"/>
                  </a:lnTo>
                  <a:lnTo>
                    <a:pt x="392" y="393"/>
                  </a:lnTo>
                  <a:lnTo>
                    <a:pt x="390" y="393"/>
                  </a:lnTo>
                  <a:lnTo>
                    <a:pt x="390" y="391"/>
                  </a:lnTo>
                  <a:lnTo>
                    <a:pt x="388" y="389"/>
                  </a:lnTo>
                  <a:lnTo>
                    <a:pt x="388" y="387"/>
                  </a:lnTo>
                  <a:lnTo>
                    <a:pt x="386" y="385"/>
                  </a:lnTo>
                  <a:lnTo>
                    <a:pt x="386" y="383"/>
                  </a:lnTo>
                  <a:lnTo>
                    <a:pt x="386" y="381"/>
                  </a:lnTo>
                  <a:lnTo>
                    <a:pt x="386" y="379"/>
                  </a:lnTo>
                  <a:lnTo>
                    <a:pt x="388" y="377"/>
                  </a:lnTo>
                  <a:lnTo>
                    <a:pt x="407" y="374"/>
                  </a:lnTo>
                  <a:lnTo>
                    <a:pt x="409" y="362"/>
                  </a:lnTo>
                  <a:lnTo>
                    <a:pt x="411" y="349"/>
                  </a:lnTo>
                  <a:lnTo>
                    <a:pt x="415" y="335"/>
                  </a:lnTo>
                  <a:lnTo>
                    <a:pt x="419" y="322"/>
                  </a:lnTo>
                  <a:lnTo>
                    <a:pt x="422" y="308"/>
                  </a:lnTo>
                  <a:lnTo>
                    <a:pt x="430" y="297"/>
                  </a:lnTo>
                  <a:lnTo>
                    <a:pt x="438" y="285"/>
                  </a:lnTo>
                  <a:lnTo>
                    <a:pt x="447" y="278"/>
                  </a:lnTo>
                  <a:lnTo>
                    <a:pt x="451" y="276"/>
                  </a:lnTo>
                  <a:lnTo>
                    <a:pt x="455" y="276"/>
                  </a:lnTo>
                  <a:lnTo>
                    <a:pt x="459" y="276"/>
                  </a:lnTo>
                  <a:lnTo>
                    <a:pt x="465" y="276"/>
                  </a:lnTo>
                  <a:lnTo>
                    <a:pt x="468" y="276"/>
                  </a:lnTo>
                  <a:lnTo>
                    <a:pt x="472" y="278"/>
                  </a:lnTo>
                  <a:lnTo>
                    <a:pt x="474" y="280"/>
                  </a:lnTo>
                  <a:lnTo>
                    <a:pt x="478" y="282"/>
                  </a:lnTo>
                  <a:lnTo>
                    <a:pt x="480" y="280"/>
                  </a:lnTo>
                  <a:lnTo>
                    <a:pt x="480" y="278"/>
                  </a:lnTo>
                  <a:lnTo>
                    <a:pt x="480" y="276"/>
                  </a:lnTo>
                  <a:lnTo>
                    <a:pt x="480" y="274"/>
                  </a:lnTo>
                  <a:lnTo>
                    <a:pt x="480" y="272"/>
                  </a:lnTo>
                  <a:lnTo>
                    <a:pt x="480" y="270"/>
                  </a:lnTo>
                  <a:lnTo>
                    <a:pt x="482" y="268"/>
                  </a:lnTo>
                  <a:lnTo>
                    <a:pt x="484" y="268"/>
                  </a:lnTo>
                  <a:lnTo>
                    <a:pt x="486" y="257"/>
                  </a:lnTo>
                  <a:lnTo>
                    <a:pt x="489" y="245"/>
                  </a:lnTo>
                  <a:lnTo>
                    <a:pt x="493" y="232"/>
                  </a:lnTo>
                  <a:lnTo>
                    <a:pt x="497" y="220"/>
                  </a:lnTo>
                  <a:lnTo>
                    <a:pt x="499" y="209"/>
                  </a:lnTo>
                  <a:lnTo>
                    <a:pt x="501" y="197"/>
                  </a:lnTo>
                  <a:lnTo>
                    <a:pt x="503" y="186"/>
                  </a:lnTo>
                  <a:lnTo>
                    <a:pt x="505" y="172"/>
                  </a:lnTo>
                  <a:lnTo>
                    <a:pt x="505" y="168"/>
                  </a:lnTo>
                  <a:lnTo>
                    <a:pt x="503" y="163"/>
                  </a:lnTo>
                  <a:lnTo>
                    <a:pt x="503" y="157"/>
                  </a:lnTo>
                  <a:lnTo>
                    <a:pt x="501" y="151"/>
                  </a:lnTo>
                  <a:lnTo>
                    <a:pt x="499" y="145"/>
                  </a:lnTo>
                  <a:lnTo>
                    <a:pt x="499" y="142"/>
                  </a:lnTo>
                  <a:lnTo>
                    <a:pt x="497" y="136"/>
                  </a:lnTo>
                  <a:lnTo>
                    <a:pt x="497" y="132"/>
                  </a:lnTo>
                  <a:lnTo>
                    <a:pt x="488" y="117"/>
                  </a:lnTo>
                  <a:lnTo>
                    <a:pt x="480" y="101"/>
                  </a:lnTo>
                  <a:lnTo>
                    <a:pt x="470" y="88"/>
                  </a:lnTo>
                  <a:lnTo>
                    <a:pt x="463" y="74"/>
                  </a:lnTo>
                  <a:lnTo>
                    <a:pt x="455" y="61"/>
                  </a:lnTo>
                  <a:lnTo>
                    <a:pt x="445" y="48"/>
                  </a:lnTo>
                  <a:lnTo>
                    <a:pt x="434" y="34"/>
                  </a:lnTo>
                  <a:lnTo>
                    <a:pt x="422" y="21"/>
                  </a:lnTo>
                  <a:lnTo>
                    <a:pt x="420" y="17"/>
                  </a:lnTo>
                  <a:lnTo>
                    <a:pt x="417" y="11"/>
                  </a:lnTo>
                  <a:lnTo>
                    <a:pt x="413" y="9"/>
                  </a:lnTo>
                  <a:lnTo>
                    <a:pt x="409" y="7"/>
                  </a:lnTo>
                  <a:lnTo>
                    <a:pt x="399" y="3"/>
                  </a:lnTo>
                  <a:lnTo>
                    <a:pt x="388" y="3"/>
                  </a:lnTo>
                  <a:lnTo>
                    <a:pt x="378" y="3"/>
                  </a:lnTo>
                  <a:lnTo>
                    <a:pt x="367" y="5"/>
                  </a:lnTo>
                  <a:lnTo>
                    <a:pt x="355" y="3"/>
                  </a:lnTo>
                  <a:lnTo>
                    <a:pt x="346" y="0"/>
                  </a:lnTo>
                  <a:lnTo>
                    <a:pt x="348" y="5"/>
                  </a:lnTo>
                  <a:lnTo>
                    <a:pt x="349" y="13"/>
                  </a:lnTo>
                  <a:lnTo>
                    <a:pt x="353" y="21"/>
                  </a:lnTo>
                  <a:lnTo>
                    <a:pt x="355" y="26"/>
                  </a:lnTo>
                  <a:lnTo>
                    <a:pt x="355" y="34"/>
                  </a:lnTo>
                  <a:lnTo>
                    <a:pt x="355" y="40"/>
                  </a:lnTo>
                  <a:lnTo>
                    <a:pt x="355" y="48"/>
                  </a:lnTo>
                  <a:lnTo>
                    <a:pt x="351" y="53"/>
                  </a:lnTo>
                  <a:lnTo>
                    <a:pt x="344" y="61"/>
                  </a:lnTo>
                  <a:lnTo>
                    <a:pt x="334" y="69"/>
                  </a:lnTo>
                  <a:lnTo>
                    <a:pt x="325" y="74"/>
                  </a:lnTo>
                  <a:lnTo>
                    <a:pt x="315" y="80"/>
                  </a:lnTo>
                  <a:lnTo>
                    <a:pt x="303" y="86"/>
                  </a:lnTo>
                  <a:lnTo>
                    <a:pt x="294" y="90"/>
                  </a:lnTo>
                  <a:lnTo>
                    <a:pt x="284" y="96"/>
                  </a:lnTo>
                  <a:lnTo>
                    <a:pt x="273" y="99"/>
                  </a:lnTo>
                  <a:lnTo>
                    <a:pt x="261" y="103"/>
                  </a:lnTo>
                  <a:lnTo>
                    <a:pt x="250" y="107"/>
                  </a:lnTo>
                  <a:lnTo>
                    <a:pt x="238" y="109"/>
                  </a:lnTo>
                  <a:lnTo>
                    <a:pt x="227" y="113"/>
                  </a:lnTo>
                  <a:lnTo>
                    <a:pt x="215" y="117"/>
                  </a:lnTo>
                  <a:lnTo>
                    <a:pt x="202" y="120"/>
                  </a:lnTo>
                  <a:lnTo>
                    <a:pt x="190" y="124"/>
                  </a:lnTo>
                  <a:lnTo>
                    <a:pt x="179" y="128"/>
                  </a:lnTo>
                  <a:lnTo>
                    <a:pt x="192" y="143"/>
                  </a:lnTo>
                  <a:lnTo>
                    <a:pt x="190" y="151"/>
                  </a:lnTo>
                  <a:lnTo>
                    <a:pt x="186" y="157"/>
                  </a:lnTo>
                  <a:lnTo>
                    <a:pt x="184" y="163"/>
                  </a:lnTo>
                  <a:lnTo>
                    <a:pt x="181" y="168"/>
                  </a:lnTo>
                  <a:lnTo>
                    <a:pt x="177" y="174"/>
                  </a:lnTo>
                  <a:lnTo>
                    <a:pt x="175" y="180"/>
                  </a:lnTo>
                  <a:lnTo>
                    <a:pt x="171" y="186"/>
                  </a:lnTo>
                  <a:lnTo>
                    <a:pt x="167" y="191"/>
                  </a:lnTo>
                  <a:lnTo>
                    <a:pt x="165" y="199"/>
                  </a:lnTo>
                  <a:lnTo>
                    <a:pt x="165" y="207"/>
                  </a:lnTo>
                  <a:lnTo>
                    <a:pt x="165" y="214"/>
                  </a:lnTo>
                  <a:lnTo>
                    <a:pt x="165" y="222"/>
                  </a:lnTo>
                  <a:lnTo>
                    <a:pt x="165" y="230"/>
                  </a:lnTo>
                  <a:lnTo>
                    <a:pt x="165" y="237"/>
                  </a:lnTo>
                  <a:lnTo>
                    <a:pt x="163" y="245"/>
                  </a:lnTo>
                  <a:lnTo>
                    <a:pt x="158" y="249"/>
                  </a:lnTo>
                  <a:lnTo>
                    <a:pt x="154" y="251"/>
                  </a:lnTo>
                  <a:lnTo>
                    <a:pt x="146" y="251"/>
                  </a:lnTo>
                  <a:lnTo>
                    <a:pt x="140" y="251"/>
                  </a:lnTo>
                  <a:lnTo>
                    <a:pt x="135" y="251"/>
                  </a:lnTo>
                  <a:lnTo>
                    <a:pt x="131" y="251"/>
                  </a:lnTo>
                  <a:lnTo>
                    <a:pt x="125" y="249"/>
                  </a:lnTo>
                  <a:lnTo>
                    <a:pt x="121" y="247"/>
                  </a:lnTo>
                  <a:lnTo>
                    <a:pt x="119" y="243"/>
                  </a:lnTo>
                  <a:lnTo>
                    <a:pt x="117" y="236"/>
                  </a:lnTo>
                  <a:lnTo>
                    <a:pt x="115" y="230"/>
                  </a:lnTo>
                  <a:lnTo>
                    <a:pt x="112" y="224"/>
                  </a:lnTo>
                  <a:lnTo>
                    <a:pt x="110" y="218"/>
                  </a:lnTo>
                  <a:lnTo>
                    <a:pt x="104" y="213"/>
                  </a:lnTo>
                  <a:lnTo>
                    <a:pt x="100" y="209"/>
                  </a:lnTo>
                  <a:lnTo>
                    <a:pt x="94" y="205"/>
                  </a:lnTo>
                  <a:lnTo>
                    <a:pt x="87" y="203"/>
                  </a:lnTo>
                  <a:lnTo>
                    <a:pt x="79" y="199"/>
                  </a:lnTo>
                  <a:lnTo>
                    <a:pt x="71" y="199"/>
                  </a:lnTo>
                  <a:lnTo>
                    <a:pt x="62" y="197"/>
                  </a:lnTo>
                  <a:lnTo>
                    <a:pt x="54" y="199"/>
                  </a:lnTo>
                  <a:lnTo>
                    <a:pt x="46" y="201"/>
                  </a:lnTo>
                  <a:lnTo>
                    <a:pt x="39" y="205"/>
                  </a:lnTo>
                  <a:lnTo>
                    <a:pt x="31" y="209"/>
                  </a:lnTo>
                  <a:lnTo>
                    <a:pt x="25" y="214"/>
                  </a:lnTo>
                  <a:lnTo>
                    <a:pt x="18" y="226"/>
                  </a:lnTo>
                  <a:lnTo>
                    <a:pt x="10" y="237"/>
                  </a:lnTo>
                  <a:lnTo>
                    <a:pt x="6" y="249"/>
                  </a:lnTo>
                  <a:lnTo>
                    <a:pt x="2" y="262"/>
                  </a:lnTo>
                  <a:lnTo>
                    <a:pt x="0" y="276"/>
                  </a:lnTo>
                  <a:lnTo>
                    <a:pt x="0" y="289"/>
                  </a:lnTo>
                  <a:lnTo>
                    <a:pt x="2" y="301"/>
                  </a:lnTo>
                  <a:lnTo>
                    <a:pt x="4" y="314"/>
                  </a:lnTo>
                  <a:lnTo>
                    <a:pt x="8" y="324"/>
                  </a:lnTo>
                  <a:lnTo>
                    <a:pt x="14" y="333"/>
                  </a:lnTo>
                  <a:lnTo>
                    <a:pt x="20" y="343"/>
                  </a:lnTo>
                  <a:lnTo>
                    <a:pt x="25" y="353"/>
                  </a:lnTo>
                  <a:lnTo>
                    <a:pt x="33" y="360"/>
                  </a:lnTo>
                  <a:lnTo>
                    <a:pt x="43" y="366"/>
                  </a:lnTo>
                  <a:lnTo>
                    <a:pt x="52" y="370"/>
                  </a:lnTo>
                  <a:lnTo>
                    <a:pt x="62" y="374"/>
                  </a:lnTo>
                  <a:lnTo>
                    <a:pt x="71" y="374"/>
                  </a:lnTo>
                  <a:lnTo>
                    <a:pt x="81" y="372"/>
                  </a:lnTo>
                  <a:lnTo>
                    <a:pt x="89" y="370"/>
                  </a:lnTo>
                  <a:lnTo>
                    <a:pt x="96" y="366"/>
                  </a:lnTo>
                  <a:lnTo>
                    <a:pt x="102" y="362"/>
                  </a:lnTo>
                  <a:lnTo>
                    <a:pt x="110" y="358"/>
                  </a:lnTo>
                  <a:lnTo>
                    <a:pt x="117" y="354"/>
                  </a:lnTo>
                  <a:lnTo>
                    <a:pt x="125" y="351"/>
                  </a:lnTo>
                  <a:lnTo>
                    <a:pt x="127" y="353"/>
                  </a:lnTo>
                  <a:lnTo>
                    <a:pt x="127" y="354"/>
                  </a:lnTo>
                  <a:lnTo>
                    <a:pt x="127" y="356"/>
                  </a:lnTo>
                  <a:lnTo>
                    <a:pt x="127" y="358"/>
                  </a:lnTo>
                  <a:lnTo>
                    <a:pt x="127" y="360"/>
                  </a:lnTo>
                  <a:lnTo>
                    <a:pt x="125" y="360"/>
                  </a:lnTo>
                  <a:lnTo>
                    <a:pt x="121" y="366"/>
                  </a:lnTo>
                  <a:lnTo>
                    <a:pt x="115" y="370"/>
                  </a:lnTo>
                  <a:lnTo>
                    <a:pt x="108" y="374"/>
                  </a:lnTo>
                  <a:lnTo>
                    <a:pt x="100" y="377"/>
                  </a:lnTo>
                  <a:lnTo>
                    <a:pt x="94" y="379"/>
                  </a:lnTo>
                  <a:lnTo>
                    <a:pt x="87" y="381"/>
                  </a:lnTo>
                  <a:lnTo>
                    <a:pt x="83" y="385"/>
                  </a:lnTo>
                  <a:lnTo>
                    <a:pt x="77" y="389"/>
                  </a:lnTo>
                  <a:lnTo>
                    <a:pt x="75" y="400"/>
                  </a:lnTo>
                  <a:lnTo>
                    <a:pt x="73" y="412"/>
                  </a:lnTo>
                  <a:lnTo>
                    <a:pt x="75" y="422"/>
                  </a:lnTo>
                  <a:lnTo>
                    <a:pt x="77" y="433"/>
                  </a:lnTo>
                  <a:lnTo>
                    <a:pt x="79" y="443"/>
                  </a:lnTo>
                  <a:lnTo>
                    <a:pt x="85" y="452"/>
                  </a:lnTo>
                  <a:lnTo>
                    <a:pt x="89" y="462"/>
                  </a:lnTo>
                  <a:lnTo>
                    <a:pt x="94" y="470"/>
                  </a:lnTo>
                  <a:lnTo>
                    <a:pt x="98" y="473"/>
                  </a:lnTo>
                  <a:lnTo>
                    <a:pt x="100" y="475"/>
                  </a:lnTo>
                  <a:lnTo>
                    <a:pt x="102" y="479"/>
                  </a:lnTo>
                  <a:lnTo>
                    <a:pt x="106" y="481"/>
                  </a:lnTo>
                  <a:lnTo>
                    <a:pt x="108" y="483"/>
                  </a:lnTo>
                  <a:lnTo>
                    <a:pt x="110" y="485"/>
                  </a:lnTo>
                  <a:lnTo>
                    <a:pt x="112" y="489"/>
                  </a:lnTo>
                  <a:lnTo>
                    <a:pt x="114" y="491"/>
                  </a:lnTo>
                  <a:lnTo>
                    <a:pt x="125" y="500"/>
                  </a:lnTo>
                  <a:lnTo>
                    <a:pt x="140" y="510"/>
                  </a:lnTo>
                  <a:lnTo>
                    <a:pt x="156" y="516"/>
                  </a:lnTo>
                  <a:lnTo>
                    <a:pt x="171" y="523"/>
                  </a:lnTo>
                  <a:lnTo>
                    <a:pt x="186" y="531"/>
                  </a:lnTo>
                  <a:lnTo>
                    <a:pt x="200" y="540"/>
                  </a:lnTo>
                  <a:lnTo>
                    <a:pt x="206" y="544"/>
                  </a:lnTo>
                  <a:lnTo>
                    <a:pt x="211" y="552"/>
                  </a:lnTo>
                  <a:lnTo>
                    <a:pt x="215" y="560"/>
                  </a:lnTo>
                  <a:lnTo>
                    <a:pt x="219" y="567"/>
                  </a:lnTo>
                  <a:lnTo>
                    <a:pt x="223" y="579"/>
                  </a:lnTo>
                  <a:lnTo>
                    <a:pt x="227" y="590"/>
                  </a:lnTo>
                  <a:lnTo>
                    <a:pt x="234" y="602"/>
                  </a:lnTo>
                  <a:lnTo>
                    <a:pt x="242" y="611"/>
                  </a:lnTo>
                  <a:lnTo>
                    <a:pt x="250" y="621"/>
                  </a:lnTo>
                  <a:lnTo>
                    <a:pt x="261" y="629"/>
                  </a:lnTo>
                  <a:lnTo>
                    <a:pt x="273" y="634"/>
                  </a:lnTo>
                  <a:lnTo>
                    <a:pt x="288" y="638"/>
                  </a:lnTo>
                  <a:lnTo>
                    <a:pt x="292" y="640"/>
                  </a:lnTo>
                  <a:lnTo>
                    <a:pt x="296" y="640"/>
                  </a:lnTo>
                  <a:lnTo>
                    <a:pt x="300" y="642"/>
                  </a:lnTo>
                  <a:lnTo>
                    <a:pt x="303" y="642"/>
                  </a:lnTo>
                  <a:lnTo>
                    <a:pt x="307" y="642"/>
                  </a:lnTo>
                  <a:lnTo>
                    <a:pt x="311" y="642"/>
                  </a:lnTo>
                  <a:lnTo>
                    <a:pt x="317" y="644"/>
                  </a:lnTo>
                  <a:lnTo>
                    <a:pt x="321" y="644"/>
                  </a:lnTo>
                  <a:close/>
                </a:path>
              </a:pathLst>
            </a:custGeom>
            <a:solidFill>
              <a:srgbClr val="FFCF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Freeform 25">
              <a:extLst>
                <a:ext uri="{FF2B5EF4-FFF2-40B4-BE49-F238E27FC236}">
                  <a16:creationId xmlns:a16="http://schemas.microsoft.com/office/drawing/2014/main" id="{054FE5CE-7C3A-1E08-36E1-253DE306BF05}"/>
                </a:ext>
              </a:extLst>
            </p:cNvPr>
            <p:cNvSpPr>
              <a:spLocks/>
            </p:cNvSpPr>
            <p:nvPr/>
          </p:nvSpPr>
          <p:spPr bwMode="auto">
            <a:xfrm rot="2811466" flipH="1">
              <a:off x="4735" y="2720"/>
              <a:ext cx="71" cy="27"/>
            </a:xfrm>
            <a:custGeom>
              <a:avLst/>
              <a:gdLst>
                <a:gd name="T0" fmla="*/ 52 w 71"/>
                <a:gd name="T1" fmla="*/ 27 h 27"/>
                <a:gd name="T2" fmla="*/ 54 w 71"/>
                <a:gd name="T3" fmla="*/ 27 h 27"/>
                <a:gd name="T4" fmla="*/ 55 w 71"/>
                <a:gd name="T5" fmla="*/ 27 h 27"/>
                <a:gd name="T6" fmla="*/ 59 w 71"/>
                <a:gd name="T7" fmla="*/ 27 h 27"/>
                <a:gd name="T8" fmla="*/ 61 w 71"/>
                <a:gd name="T9" fmla="*/ 25 h 27"/>
                <a:gd name="T10" fmla="*/ 65 w 71"/>
                <a:gd name="T11" fmla="*/ 25 h 27"/>
                <a:gd name="T12" fmla="*/ 67 w 71"/>
                <a:gd name="T13" fmla="*/ 23 h 27"/>
                <a:gd name="T14" fmla="*/ 71 w 71"/>
                <a:gd name="T15" fmla="*/ 21 h 27"/>
                <a:gd name="T16" fmla="*/ 71 w 71"/>
                <a:gd name="T17" fmla="*/ 19 h 27"/>
                <a:gd name="T18" fmla="*/ 4 w 71"/>
                <a:gd name="T19" fmla="*/ 0 h 27"/>
                <a:gd name="T20" fmla="*/ 2 w 71"/>
                <a:gd name="T21" fmla="*/ 2 h 27"/>
                <a:gd name="T22" fmla="*/ 2 w 71"/>
                <a:gd name="T23" fmla="*/ 2 h 27"/>
                <a:gd name="T24" fmla="*/ 2 w 71"/>
                <a:gd name="T25" fmla="*/ 2 h 27"/>
                <a:gd name="T26" fmla="*/ 0 w 71"/>
                <a:gd name="T27" fmla="*/ 4 h 27"/>
                <a:gd name="T28" fmla="*/ 0 w 71"/>
                <a:gd name="T29" fmla="*/ 4 h 27"/>
                <a:gd name="T30" fmla="*/ 0 w 71"/>
                <a:gd name="T31" fmla="*/ 5 h 27"/>
                <a:gd name="T32" fmla="*/ 0 w 71"/>
                <a:gd name="T33" fmla="*/ 7 h 27"/>
                <a:gd name="T34" fmla="*/ 0 w 71"/>
                <a:gd name="T35" fmla="*/ 9 h 27"/>
                <a:gd name="T36" fmla="*/ 6 w 71"/>
                <a:gd name="T37" fmla="*/ 13 h 27"/>
                <a:gd name="T38" fmla="*/ 13 w 71"/>
                <a:gd name="T39" fmla="*/ 15 h 27"/>
                <a:gd name="T40" fmla="*/ 19 w 71"/>
                <a:gd name="T41" fmla="*/ 17 h 27"/>
                <a:gd name="T42" fmla="*/ 25 w 71"/>
                <a:gd name="T43" fmla="*/ 19 h 27"/>
                <a:gd name="T44" fmla="*/ 32 w 71"/>
                <a:gd name="T45" fmla="*/ 21 h 27"/>
                <a:gd name="T46" fmla="*/ 38 w 71"/>
                <a:gd name="T47" fmla="*/ 23 h 27"/>
                <a:gd name="T48" fmla="*/ 44 w 71"/>
                <a:gd name="T49" fmla="*/ 25 h 27"/>
                <a:gd name="T50" fmla="*/ 52 w 71"/>
                <a:gd name="T51" fmla="*/ 27 h 2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71" h="27">
                  <a:moveTo>
                    <a:pt x="52" y="27"/>
                  </a:moveTo>
                  <a:lnTo>
                    <a:pt x="54" y="27"/>
                  </a:lnTo>
                  <a:lnTo>
                    <a:pt x="55" y="27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5" y="25"/>
                  </a:lnTo>
                  <a:lnTo>
                    <a:pt x="67" y="23"/>
                  </a:lnTo>
                  <a:lnTo>
                    <a:pt x="71" y="21"/>
                  </a:lnTo>
                  <a:lnTo>
                    <a:pt x="71" y="19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6" y="13"/>
                  </a:lnTo>
                  <a:lnTo>
                    <a:pt x="13" y="15"/>
                  </a:lnTo>
                  <a:lnTo>
                    <a:pt x="19" y="17"/>
                  </a:lnTo>
                  <a:lnTo>
                    <a:pt x="25" y="19"/>
                  </a:lnTo>
                  <a:lnTo>
                    <a:pt x="32" y="21"/>
                  </a:lnTo>
                  <a:lnTo>
                    <a:pt x="38" y="23"/>
                  </a:lnTo>
                  <a:lnTo>
                    <a:pt x="44" y="25"/>
                  </a:lnTo>
                  <a:lnTo>
                    <a:pt x="52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3" name="Freeform 26">
              <a:extLst>
                <a:ext uri="{FF2B5EF4-FFF2-40B4-BE49-F238E27FC236}">
                  <a16:creationId xmlns:a16="http://schemas.microsoft.com/office/drawing/2014/main" id="{3B763E4E-6A01-E523-85C0-C2D1F0AC9E2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39" y="2440"/>
              <a:ext cx="92" cy="190"/>
            </a:xfrm>
            <a:custGeom>
              <a:avLst/>
              <a:gdLst>
                <a:gd name="T0" fmla="*/ 38 w 92"/>
                <a:gd name="T1" fmla="*/ 190 h 190"/>
                <a:gd name="T2" fmla="*/ 48 w 92"/>
                <a:gd name="T3" fmla="*/ 186 h 190"/>
                <a:gd name="T4" fmla="*/ 57 w 92"/>
                <a:gd name="T5" fmla="*/ 180 h 190"/>
                <a:gd name="T6" fmla="*/ 65 w 92"/>
                <a:gd name="T7" fmla="*/ 170 h 190"/>
                <a:gd name="T8" fmla="*/ 71 w 92"/>
                <a:gd name="T9" fmla="*/ 163 h 190"/>
                <a:gd name="T10" fmla="*/ 75 w 92"/>
                <a:gd name="T11" fmla="*/ 155 h 190"/>
                <a:gd name="T12" fmla="*/ 77 w 92"/>
                <a:gd name="T13" fmla="*/ 147 h 190"/>
                <a:gd name="T14" fmla="*/ 80 w 92"/>
                <a:gd name="T15" fmla="*/ 140 h 190"/>
                <a:gd name="T16" fmla="*/ 84 w 92"/>
                <a:gd name="T17" fmla="*/ 128 h 190"/>
                <a:gd name="T18" fmla="*/ 86 w 92"/>
                <a:gd name="T19" fmla="*/ 117 h 190"/>
                <a:gd name="T20" fmla="*/ 88 w 92"/>
                <a:gd name="T21" fmla="*/ 103 h 190"/>
                <a:gd name="T22" fmla="*/ 90 w 92"/>
                <a:gd name="T23" fmla="*/ 92 h 190"/>
                <a:gd name="T24" fmla="*/ 92 w 92"/>
                <a:gd name="T25" fmla="*/ 80 h 190"/>
                <a:gd name="T26" fmla="*/ 92 w 92"/>
                <a:gd name="T27" fmla="*/ 67 h 190"/>
                <a:gd name="T28" fmla="*/ 92 w 92"/>
                <a:gd name="T29" fmla="*/ 55 h 190"/>
                <a:gd name="T30" fmla="*/ 92 w 92"/>
                <a:gd name="T31" fmla="*/ 46 h 190"/>
                <a:gd name="T32" fmla="*/ 88 w 92"/>
                <a:gd name="T33" fmla="*/ 34 h 190"/>
                <a:gd name="T34" fmla="*/ 84 w 92"/>
                <a:gd name="T35" fmla="*/ 23 h 190"/>
                <a:gd name="T36" fmla="*/ 79 w 92"/>
                <a:gd name="T37" fmla="*/ 13 h 190"/>
                <a:gd name="T38" fmla="*/ 71 w 92"/>
                <a:gd name="T39" fmla="*/ 4 h 190"/>
                <a:gd name="T40" fmla="*/ 57 w 92"/>
                <a:gd name="T41" fmla="*/ 0 h 190"/>
                <a:gd name="T42" fmla="*/ 44 w 92"/>
                <a:gd name="T43" fmla="*/ 5 h 190"/>
                <a:gd name="T44" fmla="*/ 32 w 92"/>
                <a:gd name="T45" fmla="*/ 13 h 190"/>
                <a:gd name="T46" fmla="*/ 25 w 92"/>
                <a:gd name="T47" fmla="*/ 25 h 190"/>
                <a:gd name="T48" fmla="*/ 15 w 92"/>
                <a:gd name="T49" fmla="*/ 48 h 190"/>
                <a:gd name="T50" fmla="*/ 4 w 92"/>
                <a:gd name="T51" fmla="*/ 82 h 190"/>
                <a:gd name="T52" fmla="*/ 0 w 92"/>
                <a:gd name="T53" fmla="*/ 119 h 190"/>
                <a:gd name="T54" fmla="*/ 4 w 92"/>
                <a:gd name="T55" fmla="*/ 153 h 190"/>
                <a:gd name="T56" fmla="*/ 13 w 92"/>
                <a:gd name="T57" fmla="*/ 172 h 190"/>
                <a:gd name="T58" fmla="*/ 19 w 92"/>
                <a:gd name="T59" fmla="*/ 178 h 190"/>
                <a:gd name="T60" fmla="*/ 23 w 92"/>
                <a:gd name="T61" fmla="*/ 184 h 190"/>
                <a:gd name="T62" fmla="*/ 29 w 92"/>
                <a:gd name="T63" fmla="*/ 188 h 19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92" h="190">
                  <a:moveTo>
                    <a:pt x="31" y="190"/>
                  </a:moveTo>
                  <a:lnTo>
                    <a:pt x="38" y="190"/>
                  </a:lnTo>
                  <a:lnTo>
                    <a:pt x="42" y="188"/>
                  </a:lnTo>
                  <a:lnTo>
                    <a:pt x="48" y="186"/>
                  </a:lnTo>
                  <a:lnTo>
                    <a:pt x="54" y="184"/>
                  </a:lnTo>
                  <a:lnTo>
                    <a:pt x="57" y="180"/>
                  </a:lnTo>
                  <a:lnTo>
                    <a:pt x="61" y="176"/>
                  </a:lnTo>
                  <a:lnTo>
                    <a:pt x="65" y="170"/>
                  </a:lnTo>
                  <a:lnTo>
                    <a:pt x="67" y="167"/>
                  </a:lnTo>
                  <a:lnTo>
                    <a:pt x="71" y="163"/>
                  </a:lnTo>
                  <a:lnTo>
                    <a:pt x="73" y="159"/>
                  </a:lnTo>
                  <a:lnTo>
                    <a:pt x="75" y="155"/>
                  </a:lnTo>
                  <a:lnTo>
                    <a:pt x="77" y="151"/>
                  </a:lnTo>
                  <a:lnTo>
                    <a:pt x="77" y="147"/>
                  </a:lnTo>
                  <a:lnTo>
                    <a:pt x="79" y="144"/>
                  </a:lnTo>
                  <a:lnTo>
                    <a:pt x="80" y="140"/>
                  </a:lnTo>
                  <a:lnTo>
                    <a:pt x="84" y="136"/>
                  </a:lnTo>
                  <a:lnTo>
                    <a:pt x="84" y="128"/>
                  </a:lnTo>
                  <a:lnTo>
                    <a:pt x="86" y="122"/>
                  </a:lnTo>
                  <a:lnTo>
                    <a:pt x="86" y="117"/>
                  </a:lnTo>
                  <a:lnTo>
                    <a:pt x="88" y="109"/>
                  </a:lnTo>
                  <a:lnTo>
                    <a:pt x="88" y="103"/>
                  </a:lnTo>
                  <a:lnTo>
                    <a:pt x="90" y="97"/>
                  </a:lnTo>
                  <a:lnTo>
                    <a:pt x="90" y="92"/>
                  </a:lnTo>
                  <a:lnTo>
                    <a:pt x="92" y="86"/>
                  </a:lnTo>
                  <a:lnTo>
                    <a:pt x="92" y="80"/>
                  </a:lnTo>
                  <a:lnTo>
                    <a:pt x="92" y="74"/>
                  </a:lnTo>
                  <a:lnTo>
                    <a:pt x="92" y="67"/>
                  </a:lnTo>
                  <a:lnTo>
                    <a:pt x="92" y="61"/>
                  </a:lnTo>
                  <a:lnTo>
                    <a:pt x="92" y="55"/>
                  </a:lnTo>
                  <a:lnTo>
                    <a:pt x="92" y="51"/>
                  </a:lnTo>
                  <a:lnTo>
                    <a:pt x="92" y="46"/>
                  </a:lnTo>
                  <a:lnTo>
                    <a:pt x="90" y="40"/>
                  </a:lnTo>
                  <a:lnTo>
                    <a:pt x="88" y="34"/>
                  </a:lnTo>
                  <a:lnTo>
                    <a:pt x="86" y="28"/>
                  </a:lnTo>
                  <a:lnTo>
                    <a:pt x="84" y="23"/>
                  </a:lnTo>
                  <a:lnTo>
                    <a:pt x="82" y="17"/>
                  </a:lnTo>
                  <a:lnTo>
                    <a:pt x="79" y="13"/>
                  </a:lnTo>
                  <a:lnTo>
                    <a:pt x="75" y="7"/>
                  </a:lnTo>
                  <a:lnTo>
                    <a:pt x="71" y="4"/>
                  </a:lnTo>
                  <a:lnTo>
                    <a:pt x="65" y="2"/>
                  </a:lnTo>
                  <a:lnTo>
                    <a:pt x="57" y="0"/>
                  </a:lnTo>
                  <a:lnTo>
                    <a:pt x="50" y="2"/>
                  </a:lnTo>
                  <a:lnTo>
                    <a:pt x="44" y="5"/>
                  </a:lnTo>
                  <a:lnTo>
                    <a:pt x="38" y="9"/>
                  </a:lnTo>
                  <a:lnTo>
                    <a:pt x="32" y="13"/>
                  </a:lnTo>
                  <a:lnTo>
                    <a:pt x="29" y="19"/>
                  </a:lnTo>
                  <a:lnTo>
                    <a:pt x="25" y="25"/>
                  </a:lnTo>
                  <a:lnTo>
                    <a:pt x="21" y="30"/>
                  </a:lnTo>
                  <a:lnTo>
                    <a:pt x="15" y="48"/>
                  </a:lnTo>
                  <a:lnTo>
                    <a:pt x="9" y="65"/>
                  </a:lnTo>
                  <a:lnTo>
                    <a:pt x="4" y="82"/>
                  </a:lnTo>
                  <a:lnTo>
                    <a:pt x="2" y="101"/>
                  </a:lnTo>
                  <a:lnTo>
                    <a:pt x="0" y="119"/>
                  </a:lnTo>
                  <a:lnTo>
                    <a:pt x="0" y="136"/>
                  </a:lnTo>
                  <a:lnTo>
                    <a:pt x="4" y="153"/>
                  </a:lnTo>
                  <a:lnTo>
                    <a:pt x="11" y="170"/>
                  </a:lnTo>
                  <a:lnTo>
                    <a:pt x="13" y="172"/>
                  </a:lnTo>
                  <a:lnTo>
                    <a:pt x="15" y="174"/>
                  </a:lnTo>
                  <a:lnTo>
                    <a:pt x="19" y="178"/>
                  </a:lnTo>
                  <a:lnTo>
                    <a:pt x="21" y="180"/>
                  </a:lnTo>
                  <a:lnTo>
                    <a:pt x="23" y="184"/>
                  </a:lnTo>
                  <a:lnTo>
                    <a:pt x="25" y="186"/>
                  </a:lnTo>
                  <a:lnTo>
                    <a:pt x="29" y="188"/>
                  </a:lnTo>
                  <a:lnTo>
                    <a:pt x="31" y="1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4" name="Freeform 27">
              <a:extLst>
                <a:ext uri="{FF2B5EF4-FFF2-40B4-BE49-F238E27FC236}">
                  <a16:creationId xmlns:a16="http://schemas.microsoft.com/office/drawing/2014/main" id="{8329A1B3-AEC7-74D2-D8D3-CA97E9F594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54" y="2451"/>
              <a:ext cx="60" cy="148"/>
            </a:xfrm>
            <a:custGeom>
              <a:avLst/>
              <a:gdLst>
                <a:gd name="T0" fmla="*/ 8 w 60"/>
                <a:gd name="T1" fmla="*/ 148 h 148"/>
                <a:gd name="T2" fmla="*/ 8 w 60"/>
                <a:gd name="T3" fmla="*/ 140 h 148"/>
                <a:gd name="T4" fmla="*/ 10 w 60"/>
                <a:gd name="T5" fmla="*/ 131 h 148"/>
                <a:gd name="T6" fmla="*/ 12 w 60"/>
                <a:gd name="T7" fmla="*/ 123 h 148"/>
                <a:gd name="T8" fmla="*/ 15 w 60"/>
                <a:gd name="T9" fmla="*/ 113 h 148"/>
                <a:gd name="T10" fmla="*/ 19 w 60"/>
                <a:gd name="T11" fmla="*/ 106 h 148"/>
                <a:gd name="T12" fmla="*/ 25 w 60"/>
                <a:gd name="T13" fmla="*/ 98 h 148"/>
                <a:gd name="T14" fmla="*/ 33 w 60"/>
                <a:gd name="T15" fmla="*/ 92 h 148"/>
                <a:gd name="T16" fmla="*/ 40 w 60"/>
                <a:gd name="T17" fmla="*/ 86 h 148"/>
                <a:gd name="T18" fmla="*/ 42 w 60"/>
                <a:gd name="T19" fmla="*/ 86 h 148"/>
                <a:gd name="T20" fmla="*/ 46 w 60"/>
                <a:gd name="T21" fmla="*/ 86 h 148"/>
                <a:gd name="T22" fmla="*/ 48 w 60"/>
                <a:gd name="T23" fmla="*/ 86 h 148"/>
                <a:gd name="T24" fmla="*/ 50 w 60"/>
                <a:gd name="T25" fmla="*/ 86 h 148"/>
                <a:gd name="T26" fmla="*/ 54 w 60"/>
                <a:gd name="T27" fmla="*/ 86 h 148"/>
                <a:gd name="T28" fmla="*/ 56 w 60"/>
                <a:gd name="T29" fmla="*/ 86 h 148"/>
                <a:gd name="T30" fmla="*/ 58 w 60"/>
                <a:gd name="T31" fmla="*/ 88 h 148"/>
                <a:gd name="T32" fmla="*/ 60 w 60"/>
                <a:gd name="T33" fmla="*/ 90 h 148"/>
                <a:gd name="T34" fmla="*/ 58 w 60"/>
                <a:gd name="T35" fmla="*/ 17 h 148"/>
                <a:gd name="T36" fmla="*/ 56 w 60"/>
                <a:gd name="T37" fmla="*/ 16 h 148"/>
                <a:gd name="T38" fmla="*/ 56 w 60"/>
                <a:gd name="T39" fmla="*/ 14 h 148"/>
                <a:gd name="T40" fmla="*/ 54 w 60"/>
                <a:gd name="T41" fmla="*/ 12 h 148"/>
                <a:gd name="T42" fmla="*/ 52 w 60"/>
                <a:gd name="T43" fmla="*/ 8 h 148"/>
                <a:gd name="T44" fmla="*/ 50 w 60"/>
                <a:gd name="T45" fmla="*/ 6 h 148"/>
                <a:gd name="T46" fmla="*/ 48 w 60"/>
                <a:gd name="T47" fmla="*/ 4 h 148"/>
                <a:gd name="T48" fmla="*/ 46 w 60"/>
                <a:gd name="T49" fmla="*/ 2 h 148"/>
                <a:gd name="T50" fmla="*/ 42 w 60"/>
                <a:gd name="T51" fmla="*/ 0 h 148"/>
                <a:gd name="T52" fmla="*/ 31 w 60"/>
                <a:gd name="T53" fmla="*/ 6 h 148"/>
                <a:gd name="T54" fmla="*/ 23 w 60"/>
                <a:gd name="T55" fmla="*/ 14 h 148"/>
                <a:gd name="T56" fmla="*/ 15 w 60"/>
                <a:gd name="T57" fmla="*/ 23 h 148"/>
                <a:gd name="T58" fmla="*/ 12 w 60"/>
                <a:gd name="T59" fmla="*/ 35 h 148"/>
                <a:gd name="T60" fmla="*/ 8 w 60"/>
                <a:gd name="T61" fmla="*/ 46 h 148"/>
                <a:gd name="T62" fmla="*/ 4 w 60"/>
                <a:gd name="T63" fmla="*/ 58 h 148"/>
                <a:gd name="T64" fmla="*/ 2 w 60"/>
                <a:gd name="T65" fmla="*/ 69 h 148"/>
                <a:gd name="T66" fmla="*/ 0 w 60"/>
                <a:gd name="T67" fmla="*/ 81 h 148"/>
                <a:gd name="T68" fmla="*/ 0 w 60"/>
                <a:gd name="T69" fmla="*/ 90 h 148"/>
                <a:gd name="T70" fmla="*/ 0 w 60"/>
                <a:gd name="T71" fmla="*/ 98 h 148"/>
                <a:gd name="T72" fmla="*/ 0 w 60"/>
                <a:gd name="T73" fmla="*/ 108 h 148"/>
                <a:gd name="T74" fmla="*/ 0 w 60"/>
                <a:gd name="T75" fmla="*/ 115 h 148"/>
                <a:gd name="T76" fmla="*/ 0 w 60"/>
                <a:gd name="T77" fmla="*/ 125 h 148"/>
                <a:gd name="T78" fmla="*/ 2 w 60"/>
                <a:gd name="T79" fmla="*/ 133 h 148"/>
                <a:gd name="T80" fmla="*/ 4 w 60"/>
                <a:gd name="T81" fmla="*/ 140 h 148"/>
                <a:gd name="T82" fmla="*/ 8 w 60"/>
                <a:gd name="T83" fmla="*/ 148 h 14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60" h="148">
                  <a:moveTo>
                    <a:pt x="8" y="148"/>
                  </a:moveTo>
                  <a:lnTo>
                    <a:pt x="8" y="140"/>
                  </a:lnTo>
                  <a:lnTo>
                    <a:pt x="10" y="131"/>
                  </a:lnTo>
                  <a:lnTo>
                    <a:pt x="12" y="123"/>
                  </a:lnTo>
                  <a:lnTo>
                    <a:pt x="15" y="113"/>
                  </a:lnTo>
                  <a:lnTo>
                    <a:pt x="19" y="106"/>
                  </a:lnTo>
                  <a:lnTo>
                    <a:pt x="25" y="98"/>
                  </a:lnTo>
                  <a:lnTo>
                    <a:pt x="33" y="92"/>
                  </a:lnTo>
                  <a:lnTo>
                    <a:pt x="40" y="86"/>
                  </a:lnTo>
                  <a:lnTo>
                    <a:pt x="42" y="86"/>
                  </a:lnTo>
                  <a:lnTo>
                    <a:pt x="46" y="86"/>
                  </a:lnTo>
                  <a:lnTo>
                    <a:pt x="48" y="86"/>
                  </a:lnTo>
                  <a:lnTo>
                    <a:pt x="50" y="86"/>
                  </a:lnTo>
                  <a:lnTo>
                    <a:pt x="54" y="86"/>
                  </a:lnTo>
                  <a:lnTo>
                    <a:pt x="56" y="86"/>
                  </a:lnTo>
                  <a:lnTo>
                    <a:pt x="58" y="88"/>
                  </a:lnTo>
                  <a:lnTo>
                    <a:pt x="60" y="90"/>
                  </a:lnTo>
                  <a:lnTo>
                    <a:pt x="58" y="17"/>
                  </a:lnTo>
                  <a:lnTo>
                    <a:pt x="56" y="16"/>
                  </a:lnTo>
                  <a:lnTo>
                    <a:pt x="56" y="14"/>
                  </a:lnTo>
                  <a:lnTo>
                    <a:pt x="54" y="12"/>
                  </a:lnTo>
                  <a:lnTo>
                    <a:pt x="52" y="8"/>
                  </a:lnTo>
                  <a:lnTo>
                    <a:pt x="50" y="6"/>
                  </a:lnTo>
                  <a:lnTo>
                    <a:pt x="48" y="4"/>
                  </a:lnTo>
                  <a:lnTo>
                    <a:pt x="46" y="2"/>
                  </a:lnTo>
                  <a:lnTo>
                    <a:pt x="42" y="0"/>
                  </a:lnTo>
                  <a:lnTo>
                    <a:pt x="31" y="6"/>
                  </a:lnTo>
                  <a:lnTo>
                    <a:pt x="23" y="14"/>
                  </a:lnTo>
                  <a:lnTo>
                    <a:pt x="15" y="23"/>
                  </a:lnTo>
                  <a:lnTo>
                    <a:pt x="12" y="35"/>
                  </a:lnTo>
                  <a:lnTo>
                    <a:pt x="8" y="46"/>
                  </a:lnTo>
                  <a:lnTo>
                    <a:pt x="4" y="58"/>
                  </a:lnTo>
                  <a:lnTo>
                    <a:pt x="2" y="69"/>
                  </a:lnTo>
                  <a:lnTo>
                    <a:pt x="0" y="81"/>
                  </a:lnTo>
                  <a:lnTo>
                    <a:pt x="0" y="90"/>
                  </a:lnTo>
                  <a:lnTo>
                    <a:pt x="0" y="98"/>
                  </a:lnTo>
                  <a:lnTo>
                    <a:pt x="0" y="108"/>
                  </a:lnTo>
                  <a:lnTo>
                    <a:pt x="0" y="115"/>
                  </a:lnTo>
                  <a:lnTo>
                    <a:pt x="0" y="125"/>
                  </a:lnTo>
                  <a:lnTo>
                    <a:pt x="2" y="133"/>
                  </a:lnTo>
                  <a:lnTo>
                    <a:pt x="4" y="140"/>
                  </a:lnTo>
                  <a:lnTo>
                    <a:pt x="8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5" name="Freeform 28">
              <a:extLst>
                <a:ext uri="{FF2B5EF4-FFF2-40B4-BE49-F238E27FC236}">
                  <a16:creationId xmlns:a16="http://schemas.microsoft.com/office/drawing/2014/main" id="{449187BC-ADD0-51F1-D627-208FA96B3C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30" y="2493"/>
              <a:ext cx="51" cy="89"/>
            </a:xfrm>
            <a:custGeom>
              <a:avLst/>
              <a:gdLst>
                <a:gd name="T0" fmla="*/ 3 w 51"/>
                <a:gd name="T1" fmla="*/ 89 h 89"/>
                <a:gd name="T2" fmla="*/ 7 w 51"/>
                <a:gd name="T3" fmla="*/ 89 h 89"/>
                <a:gd name="T4" fmla="*/ 9 w 51"/>
                <a:gd name="T5" fmla="*/ 89 h 89"/>
                <a:gd name="T6" fmla="*/ 11 w 51"/>
                <a:gd name="T7" fmla="*/ 85 h 89"/>
                <a:gd name="T8" fmla="*/ 17 w 51"/>
                <a:gd name="T9" fmla="*/ 79 h 89"/>
                <a:gd name="T10" fmla="*/ 21 w 51"/>
                <a:gd name="T11" fmla="*/ 71 h 89"/>
                <a:gd name="T12" fmla="*/ 26 w 51"/>
                <a:gd name="T13" fmla="*/ 66 h 89"/>
                <a:gd name="T14" fmla="*/ 34 w 51"/>
                <a:gd name="T15" fmla="*/ 62 h 89"/>
                <a:gd name="T16" fmla="*/ 38 w 51"/>
                <a:gd name="T17" fmla="*/ 64 h 89"/>
                <a:gd name="T18" fmla="*/ 40 w 51"/>
                <a:gd name="T19" fmla="*/ 64 h 89"/>
                <a:gd name="T20" fmla="*/ 42 w 51"/>
                <a:gd name="T21" fmla="*/ 66 h 89"/>
                <a:gd name="T22" fmla="*/ 44 w 51"/>
                <a:gd name="T23" fmla="*/ 66 h 89"/>
                <a:gd name="T24" fmla="*/ 47 w 51"/>
                <a:gd name="T25" fmla="*/ 64 h 89"/>
                <a:gd name="T26" fmla="*/ 49 w 51"/>
                <a:gd name="T27" fmla="*/ 58 h 89"/>
                <a:gd name="T28" fmla="*/ 49 w 51"/>
                <a:gd name="T29" fmla="*/ 52 h 89"/>
                <a:gd name="T30" fmla="*/ 49 w 51"/>
                <a:gd name="T31" fmla="*/ 44 h 89"/>
                <a:gd name="T32" fmla="*/ 51 w 51"/>
                <a:gd name="T33" fmla="*/ 37 h 89"/>
                <a:gd name="T34" fmla="*/ 51 w 51"/>
                <a:gd name="T35" fmla="*/ 25 h 89"/>
                <a:gd name="T36" fmla="*/ 51 w 51"/>
                <a:gd name="T37" fmla="*/ 16 h 89"/>
                <a:gd name="T38" fmla="*/ 47 w 51"/>
                <a:gd name="T39" fmla="*/ 6 h 89"/>
                <a:gd name="T40" fmla="*/ 42 w 51"/>
                <a:gd name="T41" fmla="*/ 2 h 89"/>
                <a:gd name="T42" fmla="*/ 38 w 51"/>
                <a:gd name="T43" fmla="*/ 2 h 89"/>
                <a:gd name="T44" fmla="*/ 34 w 51"/>
                <a:gd name="T45" fmla="*/ 2 h 89"/>
                <a:gd name="T46" fmla="*/ 28 w 51"/>
                <a:gd name="T47" fmla="*/ 4 h 89"/>
                <a:gd name="T48" fmla="*/ 24 w 51"/>
                <a:gd name="T49" fmla="*/ 14 h 89"/>
                <a:gd name="T50" fmla="*/ 17 w 51"/>
                <a:gd name="T51" fmla="*/ 25 h 89"/>
                <a:gd name="T52" fmla="*/ 13 w 51"/>
                <a:gd name="T53" fmla="*/ 39 h 89"/>
                <a:gd name="T54" fmla="*/ 7 w 51"/>
                <a:gd name="T55" fmla="*/ 50 h 89"/>
                <a:gd name="T56" fmla="*/ 3 w 51"/>
                <a:gd name="T57" fmla="*/ 62 h 89"/>
                <a:gd name="T58" fmla="*/ 1 w 51"/>
                <a:gd name="T59" fmla="*/ 69 h 89"/>
                <a:gd name="T60" fmla="*/ 1 w 51"/>
                <a:gd name="T61" fmla="*/ 77 h 89"/>
                <a:gd name="T62" fmla="*/ 0 w 51"/>
                <a:gd name="T63" fmla="*/ 85 h 8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1" h="89">
                  <a:moveTo>
                    <a:pt x="1" y="89"/>
                  </a:moveTo>
                  <a:lnTo>
                    <a:pt x="3" y="89"/>
                  </a:lnTo>
                  <a:lnTo>
                    <a:pt x="5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1" y="87"/>
                  </a:lnTo>
                  <a:lnTo>
                    <a:pt x="11" y="85"/>
                  </a:lnTo>
                  <a:lnTo>
                    <a:pt x="13" y="83"/>
                  </a:lnTo>
                  <a:lnTo>
                    <a:pt x="17" y="79"/>
                  </a:lnTo>
                  <a:lnTo>
                    <a:pt x="19" y="75"/>
                  </a:lnTo>
                  <a:lnTo>
                    <a:pt x="21" y="71"/>
                  </a:lnTo>
                  <a:lnTo>
                    <a:pt x="23" y="68"/>
                  </a:lnTo>
                  <a:lnTo>
                    <a:pt x="26" y="66"/>
                  </a:lnTo>
                  <a:lnTo>
                    <a:pt x="30" y="64"/>
                  </a:lnTo>
                  <a:lnTo>
                    <a:pt x="34" y="62"/>
                  </a:lnTo>
                  <a:lnTo>
                    <a:pt x="38" y="64"/>
                  </a:lnTo>
                  <a:lnTo>
                    <a:pt x="40" y="64"/>
                  </a:lnTo>
                  <a:lnTo>
                    <a:pt x="42" y="66"/>
                  </a:lnTo>
                  <a:lnTo>
                    <a:pt x="44" y="66"/>
                  </a:lnTo>
                  <a:lnTo>
                    <a:pt x="47" y="64"/>
                  </a:lnTo>
                  <a:lnTo>
                    <a:pt x="47" y="62"/>
                  </a:lnTo>
                  <a:lnTo>
                    <a:pt x="49" y="58"/>
                  </a:lnTo>
                  <a:lnTo>
                    <a:pt x="49" y="54"/>
                  </a:lnTo>
                  <a:lnTo>
                    <a:pt x="49" y="52"/>
                  </a:lnTo>
                  <a:lnTo>
                    <a:pt x="49" y="48"/>
                  </a:lnTo>
                  <a:lnTo>
                    <a:pt x="49" y="44"/>
                  </a:lnTo>
                  <a:lnTo>
                    <a:pt x="51" y="41"/>
                  </a:lnTo>
                  <a:lnTo>
                    <a:pt x="51" y="37"/>
                  </a:lnTo>
                  <a:lnTo>
                    <a:pt x="51" y="31"/>
                  </a:lnTo>
                  <a:lnTo>
                    <a:pt x="51" y="25"/>
                  </a:lnTo>
                  <a:lnTo>
                    <a:pt x="51" y="20"/>
                  </a:lnTo>
                  <a:lnTo>
                    <a:pt x="51" y="16"/>
                  </a:lnTo>
                  <a:lnTo>
                    <a:pt x="51" y="10"/>
                  </a:lnTo>
                  <a:lnTo>
                    <a:pt x="47" y="6"/>
                  </a:lnTo>
                  <a:lnTo>
                    <a:pt x="46" y="2"/>
                  </a:lnTo>
                  <a:lnTo>
                    <a:pt x="42" y="2"/>
                  </a:lnTo>
                  <a:lnTo>
                    <a:pt x="40" y="0"/>
                  </a:lnTo>
                  <a:lnTo>
                    <a:pt x="38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0" y="4"/>
                  </a:lnTo>
                  <a:lnTo>
                    <a:pt x="28" y="4"/>
                  </a:lnTo>
                  <a:lnTo>
                    <a:pt x="28" y="6"/>
                  </a:lnTo>
                  <a:lnTo>
                    <a:pt x="24" y="14"/>
                  </a:lnTo>
                  <a:lnTo>
                    <a:pt x="21" y="20"/>
                  </a:lnTo>
                  <a:lnTo>
                    <a:pt x="17" y="25"/>
                  </a:lnTo>
                  <a:lnTo>
                    <a:pt x="15" y="31"/>
                  </a:lnTo>
                  <a:lnTo>
                    <a:pt x="13" y="39"/>
                  </a:lnTo>
                  <a:lnTo>
                    <a:pt x="9" y="44"/>
                  </a:lnTo>
                  <a:lnTo>
                    <a:pt x="7" y="50"/>
                  </a:lnTo>
                  <a:lnTo>
                    <a:pt x="5" y="58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1" y="69"/>
                  </a:lnTo>
                  <a:lnTo>
                    <a:pt x="1" y="73"/>
                  </a:lnTo>
                  <a:lnTo>
                    <a:pt x="1" y="77"/>
                  </a:lnTo>
                  <a:lnTo>
                    <a:pt x="1" y="81"/>
                  </a:lnTo>
                  <a:lnTo>
                    <a:pt x="0" y="85"/>
                  </a:lnTo>
                  <a:lnTo>
                    <a:pt x="1" y="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6" name="Freeform 29">
              <a:extLst>
                <a:ext uri="{FF2B5EF4-FFF2-40B4-BE49-F238E27FC236}">
                  <a16:creationId xmlns:a16="http://schemas.microsoft.com/office/drawing/2014/main" id="{F8ADE74A-A47F-7EF2-1686-6FA4E057CD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986" y="2486"/>
              <a:ext cx="48" cy="44"/>
            </a:xfrm>
            <a:custGeom>
              <a:avLst/>
              <a:gdLst>
                <a:gd name="T0" fmla="*/ 1 w 48"/>
                <a:gd name="T1" fmla="*/ 44 h 44"/>
                <a:gd name="T2" fmla="*/ 48 w 48"/>
                <a:gd name="T3" fmla="*/ 21 h 44"/>
                <a:gd name="T4" fmla="*/ 44 w 48"/>
                <a:gd name="T5" fmla="*/ 15 h 44"/>
                <a:gd name="T6" fmla="*/ 40 w 48"/>
                <a:gd name="T7" fmla="*/ 11 h 44"/>
                <a:gd name="T8" fmla="*/ 34 w 48"/>
                <a:gd name="T9" fmla="*/ 7 h 44"/>
                <a:gd name="T10" fmla="*/ 26 w 48"/>
                <a:gd name="T11" fmla="*/ 5 h 44"/>
                <a:gd name="T12" fmla="*/ 21 w 48"/>
                <a:gd name="T13" fmla="*/ 4 h 44"/>
                <a:gd name="T14" fmla="*/ 15 w 48"/>
                <a:gd name="T15" fmla="*/ 2 h 44"/>
                <a:gd name="T16" fmla="*/ 7 w 48"/>
                <a:gd name="T17" fmla="*/ 0 h 44"/>
                <a:gd name="T18" fmla="*/ 1 w 48"/>
                <a:gd name="T19" fmla="*/ 0 h 44"/>
                <a:gd name="T20" fmla="*/ 0 w 48"/>
                <a:gd name="T21" fmla="*/ 7 h 44"/>
                <a:gd name="T22" fmla="*/ 25 w 48"/>
                <a:gd name="T23" fmla="*/ 17 h 44"/>
                <a:gd name="T24" fmla="*/ 21 w 48"/>
                <a:gd name="T25" fmla="*/ 19 h 44"/>
                <a:gd name="T26" fmla="*/ 17 w 48"/>
                <a:gd name="T27" fmla="*/ 21 h 44"/>
                <a:gd name="T28" fmla="*/ 13 w 48"/>
                <a:gd name="T29" fmla="*/ 21 h 44"/>
                <a:gd name="T30" fmla="*/ 9 w 48"/>
                <a:gd name="T31" fmla="*/ 23 h 44"/>
                <a:gd name="T32" fmla="*/ 7 w 48"/>
                <a:gd name="T33" fmla="*/ 25 h 44"/>
                <a:gd name="T34" fmla="*/ 3 w 48"/>
                <a:gd name="T35" fmla="*/ 28 h 44"/>
                <a:gd name="T36" fmla="*/ 1 w 48"/>
                <a:gd name="T37" fmla="*/ 32 h 44"/>
                <a:gd name="T38" fmla="*/ 1 w 48"/>
                <a:gd name="T39" fmla="*/ 36 h 44"/>
                <a:gd name="T40" fmla="*/ 1 w 48"/>
                <a:gd name="T41" fmla="*/ 38 h 44"/>
                <a:gd name="T42" fmla="*/ 1 w 48"/>
                <a:gd name="T43" fmla="*/ 40 h 44"/>
                <a:gd name="T44" fmla="*/ 1 w 48"/>
                <a:gd name="T45" fmla="*/ 40 h 44"/>
                <a:gd name="T46" fmla="*/ 0 w 48"/>
                <a:gd name="T47" fmla="*/ 42 h 44"/>
                <a:gd name="T48" fmla="*/ 0 w 48"/>
                <a:gd name="T49" fmla="*/ 42 h 44"/>
                <a:gd name="T50" fmla="*/ 1 w 48"/>
                <a:gd name="T51" fmla="*/ 44 h 44"/>
                <a:gd name="T52" fmla="*/ 1 w 48"/>
                <a:gd name="T53" fmla="*/ 44 h 44"/>
                <a:gd name="T54" fmla="*/ 1 w 48"/>
                <a:gd name="T55" fmla="*/ 44 h 4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48" h="44">
                  <a:moveTo>
                    <a:pt x="1" y="44"/>
                  </a:moveTo>
                  <a:lnTo>
                    <a:pt x="48" y="21"/>
                  </a:lnTo>
                  <a:lnTo>
                    <a:pt x="44" y="15"/>
                  </a:lnTo>
                  <a:lnTo>
                    <a:pt x="40" y="11"/>
                  </a:lnTo>
                  <a:lnTo>
                    <a:pt x="34" y="7"/>
                  </a:lnTo>
                  <a:lnTo>
                    <a:pt x="26" y="5"/>
                  </a:lnTo>
                  <a:lnTo>
                    <a:pt x="21" y="4"/>
                  </a:lnTo>
                  <a:lnTo>
                    <a:pt x="15" y="2"/>
                  </a:lnTo>
                  <a:lnTo>
                    <a:pt x="7" y="0"/>
                  </a:lnTo>
                  <a:lnTo>
                    <a:pt x="1" y="0"/>
                  </a:lnTo>
                  <a:lnTo>
                    <a:pt x="0" y="7"/>
                  </a:lnTo>
                  <a:lnTo>
                    <a:pt x="25" y="17"/>
                  </a:lnTo>
                  <a:lnTo>
                    <a:pt x="21" y="19"/>
                  </a:lnTo>
                  <a:lnTo>
                    <a:pt x="17" y="21"/>
                  </a:lnTo>
                  <a:lnTo>
                    <a:pt x="13" y="21"/>
                  </a:lnTo>
                  <a:lnTo>
                    <a:pt x="9" y="23"/>
                  </a:lnTo>
                  <a:lnTo>
                    <a:pt x="7" y="25"/>
                  </a:lnTo>
                  <a:lnTo>
                    <a:pt x="3" y="28"/>
                  </a:lnTo>
                  <a:lnTo>
                    <a:pt x="1" y="32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1" y="40"/>
                  </a:lnTo>
                  <a:lnTo>
                    <a:pt x="0" y="42"/>
                  </a:lnTo>
                  <a:lnTo>
                    <a:pt x="1" y="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7" name="Freeform 30">
              <a:extLst>
                <a:ext uri="{FF2B5EF4-FFF2-40B4-BE49-F238E27FC236}">
                  <a16:creationId xmlns:a16="http://schemas.microsoft.com/office/drawing/2014/main" id="{B38654B0-29B1-FE7A-108B-180D8C98878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22" y="2029"/>
              <a:ext cx="599" cy="413"/>
            </a:xfrm>
            <a:custGeom>
              <a:avLst/>
              <a:gdLst>
                <a:gd name="T0" fmla="*/ 163 w 599"/>
                <a:gd name="T1" fmla="*/ 413 h 413"/>
                <a:gd name="T2" fmla="*/ 171 w 599"/>
                <a:gd name="T3" fmla="*/ 403 h 413"/>
                <a:gd name="T4" fmla="*/ 177 w 599"/>
                <a:gd name="T5" fmla="*/ 374 h 413"/>
                <a:gd name="T6" fmla="*/ 188 w 599"/>
                <a:gd name="T7" fmla="*/ 347 h 413"/>
                <a:gd name="T8" fmla="*/ 198 w 599"/>
                <a:gd name="T9" fmla="*/ 321 h 413"/>
                <a:gd name="T10" fmla="*/ 161 w 599"/>
                <a:gd name="T11" fmla="*/ 324 h 413"/>
                <a:gd name="T12" fmla="*/ 138 w 599"/>
                <a:gd name="T13" fmla="*/ 321 h 413"/>
                <a:gd name="T14" fmla="*/ 142 w 599"/>
                <a:gd name="T15" fmla="*/ 313 h 413"/>
                <a:gd name="T16" fmla="*/ 232 w 599"/>
                <a:gd name="T17" fmla="*/ 286 h 413"/>
                <a:gd name="T18" fmla="*/ 324 w 599"/>
                <a:gd name="T19" fmla="*/ 250 h 413"/>
                <a:gd name="T20" fmla="*/ 353 w 599"/>
                <a:gd name="T21" fmla="*/ 227 h 413"/>
                <a:gd name="T22" fmla="*/ 359 w 599"/>
                <a:gd name="T23" fmla="*/ 200 h 413"/>
                <a:gd name="T24" fmla="*/ 351 w 599"/>
                <a:gd name="T25" fmla="*/ 179 h 413"/>
                <a:gd name="T26" fmla="*/ 342 w 599"/>
                <a:gd name="T27" fmla="*/ 159 h 413"/>
                <a:gd name="T28" fmla="*/ 353 w 599"/>
                <a:gd name="T29" fmla="*/ 156 h 413"/>
                <a:gd name="T30" fmla="*/ 393 w 599"/>
                <a:gd name="T31" fmla="*/ 169 h 413"/>
                <a:gd name="T32" fmla="*/ 468 w 599"/>
                <a:gd name="T33" fmla="*/ 169 h 413"/>
                <a:gd name="T34" fmla="*/ 518 w 599"/>
                <a:gd name="T35" fmla="*/ 184 h 413"/>
                <a:gd name="T36" fmla="*/ 528 w 599"/>
                <a:gd name="T37" fmla="*/ 202 h 413"/>
                <a:gd name="T38" fmla="*/ 520 w 599"/>
                <a:gd name="T39" fmla="*/ 213 h 413"/>
                <a:gd name="T40" fmla="*/ 509 w 599"/>
                <a:gd name="T41" fmla="*/ 227 h 413"/>
                <a:gd name="T42" fmla="*/ 501 w 599"/>
                <a:gd name="T43" fmla="*/ 236 h 413"/>
                <a:gd name="T44" fmla="*/ 495 w 599"/>
                <a:gd name="T45" fmla="*/ 240 h 413"/>
                <a:gd name="T46" fmla="*/ 555 w 599"/>
                <a:gd name="T47" fmla="*/ 223 h 413"/>
                <a:gd name="T48" fmla="*/ 599 w 599"/>
                <a:gd name="T49" fmla="*/ 179 h 413"/>
                <a:gd name="T50" fmla="*/ 591 w 599"/>
                <a:gd name="T51" fmla="*/ 169 h 413"/>
                <a:gd name="T52" fmla="*/ 557 w 599"/>
                <a:gd name="T53" fmla="*/ 158 h 413"/>
                <a:gd name="T54" fmla="*/ 507 w 599"/>
                <a:gd name="T55" fmla="*/ 144 h 413"/>
                <a:gd name="T56" fmla="*/ 486 w 599"/>
                <a:gd name="T57" fmla="*/ 142 h 413"/>
                <a:gd name="T58" fmla="*/ 466 w 599"/>
                <a:gd name="T59" fmla="*/ 140 h 413"/>
                <a:gd name="T60" fmla="*/ 461 w 599"/>
                <a:gd name="T61" fmla="*/ 134 h 413"/>
                <a:gd name="T62" fmla="*/ 461 w 599"/>
                <a:gd name="T63" fmla="*/ 125 h 413"/>
                <a:gd name="T64" fmla="*/ 463 w 599"/>
                <a:gd name="T65" fmla="*/ 115 h 413"/>
                <a:gd name="T66" fmla="*/ 441 w 599"/>
                <a:gd name="T67" fmla="*/ 75 h 413"/>
                <a:gd name="T68" fmla="*/ 424 w 599"/>
                <a:gd name="T69" fmla="*/ 48 h 413"/>
                <a:gd name="T70" fmla="*/ 411 w 599"/>
                <a:gd name="T71" fmla="*/ 31 h 413"/>
                <a:gd name="T72" fmla="*/ 361 w 599"/>
                <a:gd name="T73" fmla="*/ 4 h 413"/>
                <a:gd name="T74" fmla="*/ 322 w 599"/>
                <a:gd name="T75" fmla="*/ 0 h 413"/>
                <a:gd name="T76" fmla="*/ 303 w 599"/>
                <a:gd name="T77" fmla="*/ 2 h 413"/>
                <a:gd name="T78" fmla="*/ 276 w 599"/>
                <a:gd name="T79" fmla="*/ 10 h 413"/>
                <a:gd name="T80" fmla="*/ 223 w 599"/>
                <a:gd name="T81" fmla="*/ 33 h 413"/>
                <a:gd name="T82" fmla="*/ 85 w 599"/>
                <a:gd name="T83" fmla="*/ 127 h 413"/>
                <a:gd name="T84" fmla="*/ 25 w 599"/>
                <a:gd name="T85" fmla="*/ 175 h 413"/>
                <a:gd name="T86" fmla="*/ 16 w 599"/>
                <a:gd name="T87" fmla="*/ 192 h 413"/>
                <a:gd name="T88" fmla="*/ 8 w 599"/>
                <a:gd name="T89" fmla="*/ 219 h 413"/>
                <a:gd name="T90" fmla="*/ 2 w 599"/>
                <a:gd name="T91" fmla="*/ 271 h 413"/>
                <a:gd name="T92" fmla="*/ 37 w 599"/>
                <a:gd name="T93" fmla="*/ 355 h 413"/>
                <a:gd name="T94" fmla="*/ 85 w 599"/>
                <a:gd name="T95" fmla="*/ 361 h 413"/>
                <a:gd name="T96" fmla="*/ 129 w 599"/>
                <a:gd name="T97" fmla="*/ 378 h 413"/>
                <a:gd name="T98" fmla="*/ 133 w 599"/>
                <a:gd name="T99" fmla="*/ 380 h 413"/>
                <a:gd name="T100" fmla="*/ 135 w 599"/>
                <a:gd name="T101" fmla="*/ 378 h 413"/>
                <a:gd name="T102" fmla="*/ 140 w 599"/>
                <a:gd name="T103" fmla="*/ 374 h 413"/>
                <a:gd name="T104" fmla="*/ 144 w 599"/>
                <a:gd name="T105" fmla="*/ 374 h 41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99" h="413">
                  <a:moveTo>
                    <a:pt x="156" y="413"/>
                  </a:moveTo>
                  <a:lnTo>
                    <a:pt x="156" y="413"/>
                  </a:lnTo>
                  <a:lnTo>
                    <a:pt x="159" y="413"/>
                  </a:lnTo>
                  <a:lnTo>
                    <a:pt x="161" y="413"/>
                  </a:lnTo>
                  <a:lnTo>
                    <a:pt x="163" y="413"/>
                  </a:lnTo>
                  <a:lnTo>
                    <a:pt x="165" y="413"/>
                  </a:lnTo>
                  <a:lnTo>
                    <a:pt x="167" y="413"/>
                  </a:lnTo>
                  <a:lnTo>
                    <a:pt x="169" y="411"/>
                  </a:lnTo>
                  <a:lnTo>
                    <a:pt x="171" y="411"/>
                  </a:lnTo>
                  <a:lnTo>
                    <a:pt x="171" y="403"/>
                  </a:lnTo>
                  <a:lnTo>
                    <a:pt x="173" y="397"/>
                  </a:lnTo>
                  <a:lnTo>
                    <a:pt x="173" y="392"/>
                  </a:lnTo>
                  <a:lnTo>
                    <a:pt x="175" y="386"/>
                  </a:lnTo>
                  <a:lnTo>
                    <a:pt x="175" y="380"/>
                  </a:lnTo>
                  <a:lnTo>
                    <a:pt x="177" y="374"/>
                  </a:lnTo>
                  <a:lnTo>
                    <a:pt x="179" y="368"/>
                  </a:lnTo>
                  <a:lnTo>
                    <a:pt x="179" y="363"/>
                  </a:lnTo>
                  <a:lnTo>
                    <a:pt x="182" y="357"/>
                  </a:lnTo>
                  <a:lnTo>
                    <a:pt x="186" y="351"/>
                  </a:lnTo>
                  <a:lnTo>
                    <a:pt x="188" y="347"/>
                  </a:lnTo>
                  <a:lnTo>
                    <a:pt x="192" y="342"/>
                  </a:lnTo>
                  <a:lnTo>
                    <a:pt x="194" y="336"/>
                  </a:lnTo>
                  <a:lnTo>
                    <a:pt x="196" y="332"/>
                  </a:lnTo>
                  <a:lnTo>
                    <a:pt x="198" y="326"/>
                  </a:lnTo>
                  <a:lnTo>
                    <a:pt x="198" y="321"/>
                  </a:lnTo>
                  <a:lnTo>
                    <a:pt x="190" y="319"/>
                  </a:lnTo>
                  <a:lnTo>
                    <a:pt x="182" y="319"/>
                  </a:lnTo>
                  <a:lnTo>
                    <a:pt x="177" y="321"/>
                  </a:lnTo>
                  <a:lnTo>
                    <a:pt x="169" y="322"/>
                  </a:lnTo>
                  <a:lnTo>
                    <a:pt x="161" y="324"/>
                  </a:lnTo>
                  <a:lnTo>
                    <a:pt x="154" y="326"/>
                  </a:lnTo>
                  <a:lnTo>
                    <a:pt x="148" y="326"/>
                  </a:lnTo>
                  <a:lnTo>
                    <a:pt x="140" y="324"/>
                  </a:lnTo>
                  <a:lnTo>
                    <a:pt x="140" y="322"/>
                  </a:lnTo>
                  <a:lnTo>
                    <a:pt x="138" y="321"/>
                  </a:lnTo>
                  <a:lnTo>
                    <a:pt x="138" y="319"/>
                  </a:lnTo>
                  <a:lnTo>
                    <a:pt x="140" y="317"/>
                  </a:lnTo>
                  <a:lnTo>
                    <a:pt x="140" y="315"/>
                  </a:lnTo>
                  <a:lnTo>
                    <a:pt x="142" y="313"/>
                  </a:lnTo>
                  <a:lnTo>
                    <a:pt x="144" y="315"/>
                  </a:lnTo>
                  <a:lnTo>
                    <a:pt x="167" y="307"/>
                  </a:lnTo>
                  <a:lnTo>
                    <a:pt x="188" y="299"/>
                  </a:lnTo>
                  <a:lnTo>
                    <a:pt x="211" y="292"/>
                  </a:lnTo>
                  <a:lnTo>
                    <a:pt x="232" y="286"/>
                  </a:lnTo>
                  <a:lnTo>
                    <a:pt x="253" y="278"/>
                  </a:lnTo>
                  <a:lnTo>
                    <a:pt x="275" y="271"/>
                  </a:lnTo>
                  <a:lnTo>
                    <a:pt x="296" y="263"/>
                  </a:lnTo>
                  <a:lnTo>
                    <a:pt x="319" y="255"/>
                  </a:lnTo>
                  <a:lnTo>
                    <a:pt x="324" y="250"/>
                  </a:lnTo>
                  <a:lnTo>
                    <a:pt x="330" y="246"/>
                  </a:lnTo>
                  <a:lnTo>
                    <a:pt x="338" y="242"/>
                  </a:lnTo>
                  <a:lnTo>
                    <a:pt x="344" y="236"/>
                  </a:lnTo>
                  <a:lnTo>
                    <a:pt x="349" y="232"/>
                  </a:lnTo>
                  <a:lnTo>
                    <a:pt x="353" y="227"/>
                  </a:lnTo>
                  <a:lnTo>
                    <a:pt x="359" y="221"/>
                  </a:lnTo>
                  <a:lnTo>
                    <a:pt x="361" y="215"/>
                  </a:lnTo>
                  <a:lnTo>
                    <a:pt x="361" y="209"/>
                  </a:lnTo>
                  <a:lnTo>
                    <a:pt x="361" y="205"/>
                  </a:lnTo>
                  <a:lnTo>
                    <a:pt x="359" y="200"/>
                  </a:lnTo>
                  <a:lnTo>
                    <a:pt x="357" y="196"/>
                  </a:lnTo>
                  <a:lnTo>
                    <a:pt x="355" y="192"/>
                  </a:lnTo>
                  <a:lnTo>
                    <a:pt x="353" y="186"/>
                  </a:lnTo>
                  <a:lnTo>
                    <a:pt x="353" y="182"/>
                  </a:lnTo>
                  <a:lnTo>
                    <a:pt x="351" y="179"/>
                  </a:lnTo>
                  <a:lnTo>
                    <a:pt x="349" y="173"/>
                  </a:lnTo>
                  <a:lnTo>
                    <a:pt x="347" y="169"/>
                  </a:lnTo>
                  <a:lnTo>
                    <a:pt x="346" y="165"/>
                  </a:lnTo>
                  <a:lnTo>
                    <a:pt x="344" y="163"/>
                  </a:lnTo>
                  <a:lnTo>
                    <a:pt x="342" y="159"/>
                  </a:lnTo>
                  <a:lnTo>
                    <a:pt x="342" y="156"/>
                  </a:lnTo>
                  <a:lnTo>
                    <a:pt x="340" y="152"/>
                  </a:lnTo>
                  <a:lnTo>
                    <a:pt x="340" y="146"/>
                  </a:lnTo>
                  <a:lnTo>
                    <a:pt x="346" y="152"/>
                  </a:lnTo>
                  <a:lnTo>
                    <a:pt x="353" y="156"/>
                  </a:lnTo>
                  <a:lnTo>
                    <a:pt x="359" y="159"/>
                  </a:lnTo>
                  <a:lnTo>
                    <a:pt x="367" y="163"/>
                  </a:lnTo>
                  <a:lnTo>
                    <a:pt x="376" y="165"/>
                  </a:lnTo>
                  <a:lnTo>
                    <a:pt x="384" y="167"/>
                  </a:lnTo>
                  <a:lnTo>
                    <a:pt x="393" y="169"/>
                  </a:lnTo>
                  <a:lnTo>
                    <a:pt x="403" y="169"/>
                  </a:lnTo>
                  <a:lnTo>
                    <a:pt x="418" y="169"/>
                  </a:lnTo>
                  <a:lnTo>
                    <a:pt x="436" y="169"/>
                  </a:lnTo>
                  <a:lnTo>
                    <a:pt x="453" y="169"/>
                  </a:lnTo>
                  <a:lnTo>
                    <a:pt x="468" y="169"/>
                  </a:lnTo>
                  <a:lnTo>
                    <a:pt x="484" y="171"/>
                  </a:lnTo>
                  <a:lnTo>
                    <a:pt x="499" y="173"/>
                  </a:lnTo>
                  <a:lnTo>
                    <a:pt x="507" y="177"/>
                  </a:lnTo>
                  <a:lnTo>
                    <a:pt x="512" y="181"/>
                  </a:lnTo>
                  <a:lnTo>
                    <a:pt x="518" y="184"/>
                  </a:lnTo>
                  <a:lnTo>
                    <a:pt x="524" y="190"/>
                  </a:lnTo>
                  <a:lnTo>
                    <a:pt x="526" y="192"/>
                  </a:lnTo>
                  <a:lnTo>
                    <a:pt x="526" y="196"/>
                  </a:lnTo>
                  <a:lnTo>
                    <a:pt x="528" y="198"/>
                  </a:lnTo>
                  <a:lnTo>
                    <a:pt x="528" y="202"/>
                  </a:lnTo>
                  <a:lnTo>
                    <a:pt x="526" y="204"/>
                  </a:lnTo>
                  <a:lnTo>
                    <a:pt x="526" y="205"/>
                  </a:lnTo>
                  <a:lnTo>
                    <a:pt x="524" y="209"/>
                  </a:lnTo>
                  <a:lnTo>
                    <a:pt x="522" y="211"/>
                  </a:lnTo>
                  <a:lnTo>
                    <a:pt x="520" y="213"/>
                  </a:lnTo>
                  <a:lnTo>
                    <a:pt x="516" y="217"/>
                  </a:lnTo>
                  <a:lnTo>
                    <a:pt x="514" y="219"/>
                  </a:lnTo>
                  <a:lnTo>
                    <a:pt x="512" y="221"/>
                  </a:lnTo>
                  <a:lnTo>
                    <a:pt x="510" y="225"/>
                  </a:lnTo>
                  <a:lnTo>
                    <a:pt x="509" y="227"/>
                  </a:lnTo>
                  <a:lnTo>
                    <a:pt x="509" y="230"/>
                  </a:lnTo>
                  <a:lnTo>
                    <a:pt x="507" y="232"/>
                  </a:lnTo>
                  <a:lnTo>
                    <a:pt x="505" y="234"/>
                  </a:lnTo>
                  <a:lnTo>
                    <a:pt x="503" y="234"/>
                  </a:lnTo>
                  <a:lnTo>
                    <a:pt x="501" y="236"/>
                  </a:lnTo>
                  <a:lnTo>
                    <a:pt x="499" y="238"/>
                  </a:lnTo>
                  <a:lnTo>
                    <a:pt x="497" y="240"/>
                  </a:lnTo>
                  <a:lnTo>
                    <a:pt x="495" y="240"/>
                  </a:lnTo>
                  <a:lnTo>
                    <a:pt x="509" y="261"/>
                  </a:lnTo>
                  <a:lnTo>
                    <a:pt x="518" y="251"/>
                  </a:lnTo>
                  <a:lnTo>
                    <a:pt x="530" y="242"/>
                  </a:lnTo>
                  <a:lnTo>
                    <a:pt x="541" y="232"/>
                  </a:lnTo>
                  <a:lnTo>
                    <a:pt x="555" y="223"/>
                  </a:lnTo>
                  <a:lnTo>
                    <a:pt x="566" y="215"/>
                  </a:lnTo>
                  <a:lnTo>
                    <a:pt x="578" y="204"/>
                  </a:lnTo>
                  <a:lnTo>
                    <a:pt x="589" y="194"/>
                  </a:lnTo>
                  <a:lnTo>
                    <a:pt x="599" y="181"/>
                  </a:lnTo>
                  <a:lnTo>
                    <a:pt x="599" y="179"/>
                  </a:lnTo>
                  <a:lnTo>
                    <a:pt x="597" y="177"/>
                  </a:lnTo>
                  <a:lnTo>
                    <a:pt x="597" y="175"/>
                  </a:lnTo>
                  <a:lnTo>
                    <a:pt x="595" y="173"/>
                  </a:lnTo>
                  <a:lnTo>
                    <a:pt x="593" y="171"/>
                  </a:lnTo>
                  <a:lnTo>
                    <a:pt x="591" y="169"/>
                  </a:lnTo>
                  <a:lnTo>
                    <a:pt x="587" y="167"/>
                  </a:lnTo>
                  <a:lnTo>
                    <a:pt x="585" y="167"/>
                  </a:lnTo>
                  <a:lnTo>
                    <a:pt x="576" y="163"/>
                  </a:lnTo>
                  <a:lnTo>
                    <a:pt x="566" y="159"/>
                  </a:lnTo>
                  <a:lnTo>
                    <a:pt x="557" y="158"/>
                  </a:lnTo>
                  <a:lnTo>
                    <a:pt x="547" y="154"/>
                  </a:lnTo>
                  <a:lnTo>
                    <a:pt x="537" y="152"/>
                  </a:lnTo>
                  <a:lnTo>
                    <a:pt x="528" y="150"/>
                  </a:lnTo>
                  <a:lnTo>
                    <a:pt x="518" y="146"/>
                  </a:lnTo>
                  <a:lnTo>
                    <a:pt x="507" y="144"/>
                  </a:lnTo>
                  <a:lnTo>
                    <a:pt x="503" y="144"/>
                  </a:lnTo>
                  <a:lnTo>
                    <a:pt x="497" y="144"/>
                  </a:lnTo>
                  <a:lnTo>
                    <a:pt x="493" y="144"/>
                  </a:lnTo>
                  <a:lnTo>
                    <a:pt x="489" y="144"/>
                  </a:lnTo>
                  <a:lnTo>
                    <a:pt x="486" y="142"/>
                  </a:lnTo>
                  <a:lnTo>
                    <a:pt x="482" y="142"/>
                  </a:lnTo>
                  <a:lnTo>
                    <a:pt x="476" y="140"/>
                  </a:lnTo>
                  <a:lnTo>
                    <a:pt x="472" y="140"/>
                  </a:lnTo>
                  <a:lnTo>
                    <a:pt x="470" y="140"/>
                  </a:lnTo>
                  <a:lnTo>
                    <a:pt x="466" y="140"/>
                  </a:lnTo>
                  <a:lnTo>
                    <a:pt x="466" y="138"/>
                  </a:lnTo>
                  <a:lnTo>
                    <a:pt x="464" y="138"/>
                  </a:lnTo>
                  <a:lnTo>
                    <a:pt x="463" y="136"/>
                  </a:lnTo>
                  <a:lnTo>
                    <a:pt x="461" y="134"/>
                  </a:lnTo>
                  <a:lnTo>
                    <a:pt x="459" y="133"/>
                  </a:lnTo>
                  <a:lnTo>
                    <a:pt x="459" y="131"/>
                  </a:lnTo>
                  <a:lnTo>
                    <a:pt x="459" y="129"/>
                  </a:lnTo>
                  <a:lnTo>
                    <a:pt x="459" y="127"/>
                  </a:lnTo>
                  <a:lnTo>
                    <a:pt x="461" y="125"/>
                  </a:lnTo>
                  <a:lnTo>
                    <a:pt x="461" y="123"/>
                  </a:lnTo>
                  <a:lnTo>
                    <a:pt x="463" y="123"/>
                  </a:lnTo>
                  <a:lnTo>
                    <a:pt x="464" y="121"/>
                  </a:lnTo>
                  <a:lnTo>
                    <a:pt x="466" y="121"/>
                  </a:lnTo>
                  <a:lnTo>
                    <a:pt x="463" y="115"/>
                  </a:lnTo>
                  <a:lnTo>
                    <a:pt x="459" y="108"/>
                  </a:lnTo>
                  <a:lnTo>
                    <a:pt x="455" y="98"/>
                  </a:lnTo>
                  <a:lnTo>
                    <a:pt x="451" y="90"/>
                  </a:lnTo>
                  <a:lnTo>
                    <a:pt x="447" y="83"/>
                  </a:lnTo>
                  <a:lnTo>
                    <a:pt x="441" y="75"/>
                  </a:lnTo>
                  <a:lnTo>
                    <a:pt x="438" y="67"/>
                  </a:lnTo>
                  <a:lnTo>
                    <a:pt x="432" y="60"/>
                  </a:lnTo>
                  <a:lnTo>
                    <a:pt x="430" y="56"/>
                  </a:lnTo>
                  <a:lnTo>
                    <a:pt x="428" y="52"/>
                  </a:lnTo>
                  <a:lnTo>
                    <a:pt x="424" y="48"/>
                  </a:lnTo>
                  <a:lnTo>
                    <a:pt x="422" y="44"/>
                  </a:lnTo>
                  <a:lnTo>
                    <a:pt x="418" y="41"/>
                  </a:lnTo>
                  <a:lnTo>
                    <a:pt x="416" y="39"/>
                  </a:lnTo>
                  <a:lnTo>
                    <a:pt x="413" y="35"/>
                  </a:lnTo>
                  <a:lnTo>
                    <a:pt x="411" y="31"/>
                  </a:lnTo>
                  <a:lnTo>
                    <a:pt x="401" y="25"/>
                  </a:lnTo>
                  <a:lnTo>
                    <a:pt x="392" y="17"/>
                  </a:lnTo>
                  <a:lnTo>
                    <a:pt x="382" y="12"/>
                  </a:lnTo>
                  <a:lnTo>
                    <a:pt x="372" y="8"/>
                  </a:lnTo>
                  <a:lnTo>
                    <a:pt x="361" y="4"/>
                  </a:lnTo>
                  <a:lnTo>
                    <a:pt x="351" y="2"/>
                  </a:lnTo>
                  <a:lnTo>
                    <a:pt x="340" y="0"/>
                  </a:lnTo>
                  <a:lnTo>
                    <a:pt x="330" y="0"/>
                  </a:lnTo>
                  <a:lnTo>
                    <a:pt x="326" y="0"/>
                  </a:lnTo>
                  <a:lnTo>
                    <a:pt x="322" y="0"/>
                  </a:lnTo>
                  <a:lnTo>
                    <a:pt x="317" y="0"/>
                  </a:lnTo>
                  <a:lnTo>
                    <a:pt x="313" y="0"/>
                  </a:lnTo>
                  <a:lnTo>
                    <a:pt x="311" y="0"/>
                  </a:lnTo>
                  <a:lnTo>
                    <a:pt x="307" y="2"/>
                  </a:lnTo>
                  <a:lnTo>
                    <a:pt x="303" y="2"/>
                  </a:lnTo>
                  <a:lnTo>
                    <a:pt x="299" y="2"/>
                  </a:lnTo>
                  <a:lnTo>
                    <a:pt x="294" y="4"/>
                  </a:lnTo>
                  <a:lnTo>
                    <a:pt x="288" y="6"/>
                  </a:lnTo>
                  <a:lnTo>
                    <a:pt x="282" y="8"/>
                  </a:lnTo>
                  <a:lnTo>
                    <a:pt x="276" y="10"/>
                  </a:lnTo>
                  <a:lnTo>
                    <a:pt x="271" y="12"/>
                  </a:lnTo>
                  <a:lnTo>
                    <a:pt x="265" y="14"/>
                  </a:lnTo>
                  <a:lnTo>
                    <a:pt x="259" y="16"/>
                  </a:lnTo>
                  <a:lnTo>
                    <a:pt x="253" y="19"/>
                  </a:lnTo>
                  <a:lnTo>
                    <a:pt x="223" y="33"/>
                  </a:lnTo>
                  <a:lnTo>
                    <a:pt x="192" y="50"/>
                  </a:lnTo>
                  <a:lnTo>
                    <a:pt x="165" y="69"/>
                  </a:lnTo>
                  <a:lnTo>
                    <a:pt x="138" y="88"/>
                  </a:lnTo>
                  <a:lnTo>
                    <a:pt x="112" y="108"/>
                  </a:lnTo>
                  <a:lnTo>
                    <a:pt x="85" y="127"/>
                  </a:lnTo>
                  <a:lnTo>
                    <a:pt x="58" y="146"/>
                  </a:lnTo>
                  <a:lnTo>
                    <a:pt x="31" y="165"/>
                  </a:lnTo>
                  <a:lnTo>
                    <a:pt x="27" y="167"/>
                  </a:lnTo>
                  <a:lnTo>
                    <a:pt x="25" y="171"/>
                  </a:lnTo>
                  <a:lnTo>
                    <a:pt x="25" y="175"/>
                  </a:lnTo>
                  <a:lnTo>
                    <a:pt x="23" y="179"/>
                  </a:lnTo>
                  <a:lnTo>
                    <a:pt x="21" y="181"/>
                  </a:lnTo>
                  <a:lnTo>
                    <a:pt x="21" y="184"/>
                  </a:lnTo>
                  <a:lnTo>
                    <a:pt x="19" y="188"/>
                  </a:lnTo>
                  <a:lnTo>
                    <a:pt x="16" y="192"/>
                  </a:lnTo>
                  <a:lnTo>
                    <a:pt x="14" y="196"/>
                  </a:lnTo>
                  <a:lnTo>
                    <a:pt x="12" y="202"/>
                  </a:lnTo>
                  <a:lnTo>
                    <a:pt x="10" y="207"/>
                  </a:lnTo>
                  <a:lnTo>
                    <a:pt x="10" y="213"/>
                  </a:lnTo>
                  <a:lnTo>
                    <a:pt x="8" y="219"/>
                  </a:lnTo>
                  <a:lnTo>
                    <a:pt x="6" y="225"/>
                  </a:lnTo>
                  <a:lnTo>
                    <a:pt x="4" y="230"/>
                  </a:lnTo>
                  <a:lnTo>
                    <a:pt x="2" y="234"/>
                  </a:lnTo>
                  <a:lnTo>
                    <a:pt x="0" y="253"/>
                  </a:lnTo>
                  <a:lnTo>
                    <a:pt x="2" y="271"/>
                  </a:lnTo>
                  <a:lnTo>
                    <a:pt x="6" y="288"/>
                  </a:lnTo>
                  <a:lnTo>
                    <a:pt x="14" y="305"/>
                  </a:lnTo>
                  <a:lnTo>
                    <a:pt x="19" y="322"/>
                  </a:lnTo>
                  <a:lnTo>
                    <a:pt x="29" y="338"/>
                  </a:lnTo>
                  <a:lnTo>
                    <a:pt x="37" y="355"/>
                  </a:lnTo>
                  <a:lnTo>
                    <a:pt x="44" y="372"/>
                  </a:lnTo>
                  <a:lnTo>
                    <a:pt x="54" y="365"/>
                  </a:lnTo>
                  <a:lnTo>
                    <a:pt x="64" y="361"/>
                  </a:lnTo>
                  <a:lnTo>
                    <a:pt x="75" y="361"/>
                  </a:lnTo>
                  <a:lnTo>
                    <a:pt x="85" y="361"/>
                  </a:lnTo>
                  <a:lnTo>
                    <a:pt x="96" y="363"/>
                  </a:lnTo>
                  <a:lnTo>
                    <a:pt x="108" y="367"/>
                  </a:lnTo>
                  <a:lnTo>
                    <a:pt x="117" y="370"/>
                  </a:lnTo>
                  <a:lnTo>
                    <a:pt x="129" y="376"/>
                  </a:lnTo>
                  <a:lnTo>
                    <a:pt x="129" y="378"/>
                  </a:lnTo>
                  <a:lnTo>
                    <a:pt x="131" y="378"/>
                  </a:lnTo>
                  <a:lnTo>
                    <a:pt x="133" y="380"/>
                  </a:lnTo>
                  <a:lnTo>
                    <a:pt x="135" y="382"/>
                  </a:lnTo>
                  <a:lnTo>
                    <a:pt x="135" y="380"/>
                  </a:lnTo>
                  <a:lnTo>
                    <a:pt x="135" y="378"/>
                  </a:lnTo>
                  <a:lnTo>
                    <a:pt x="135" y="376"/>
                  </a:lnTo>
                  <a:lnTo>
                    <a:pt x="136" y="374"/>
                  </a:lnTo>
                  <a:lnTo>
                    <a:pt x="138" y="374"/>
                  </a:lnTo>
                  <a:lnTo>
                    <a:pt x="140" y="374"/>
                  </a:lnTo>
                  <a:lnTo>
                    <a:pt x="142" y="374"/>
                  </a:lnTo>
                  <a:lnTo>
                    <a:pt x="144" y="374"/>
                  </a:lnTo>
                  <a:lnTo>
                    <a:pt x="156" y="413"/>
                  </a:lnTo>
                  <a:close/>
                </a:path>
              </a:pathLst>
            </a:custGeom>
            <a:solidFill>
              <a:srgbClr val="B8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8" name="Freeform 31">
              <a:extLst>
                <a:ext uri="{FF2B5EF4-FFF2-40B4-BE49-F238E27FC236}">
                  <a16:creationId xmlns:a16="http://schemas.microsoft.com/office/drawing/2014/main" id="{AB076D37-535C-7FF3-0A44-47B038DB0E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05" y="2211"/>
              <a:ext cx="69" cy="52"/>
            </a:xfrm>
            <a:custGeom>
              <a:avLst/>
              <a:gdLst>
                <a:gd name="T0" fmla="*/ 39 w 69"/>
                <a:gd name="T1" fmla="*/ 52 h 52"/>
                <a:gd name="T2" fmla="*/ 42 w 69"/>
                <a:gd name="T3" fmla="*/ 48 h 52"/>
                <a:gd name="T4" fmla="*/ 48 w 69"/>
                <a:gd name="T5" fmla="*/ 45 h 52"/>
                <a:gd name="T6" fmla="*/ 52 w 69"/>
                <a:gd name="T7" fmla="*/ 41 h 52"/>
                <a:gd name="T8" fmla="*/ 56 w 69"/>
                <a:gd name="T9" fmla="*/ 37 h 52"/>
                <a:gd name="T10" fmla="*/ 60 w 69"/>
                <a:gd name="T11" fmla="*/ 31 h 52"/>
                <a:gd name="T12" fmla="*/ 63 w 69"/>
                <a:gd name="T13" fmla="*/ 27 h 52"/>
                <a:gd name="T14" fmla="*/ 65 w 69"/>
                <a:gd name="T15" fmla="*/ 22 h 52"/>
                <a:gd name="T16" fmla="*/ 69 w 69"/>
                <a:gd name="T17" fmla="*/ 16 h 52"/>
                <a:gd name="T18" fmla="*/ 67 w 69"/>
                <a:gd name="T19" fmla="*/ 14 h 52"/>
                <a:gd name="T20" fmla="*/ 67 w 69"/>
                <a:gd name="T21" fmla="*/ 12 h 52"/>
                <a:gd name="T22" fmla="*/ 67 w 69"/>
                <a:gd name="T23" fmla="*/ 12 h 52"/>
                <a:gd name="T24" fmla="*/ 65 w 69"/>
                <a:gd name="T25" fmla="*/ 10 h 52"/>
                <a:gd name="T26" fmla="*/ 65 w 69"/>
                <a:gd name="T27" fmla="*/ 10 h 52"/>
                <a:gd name="T28" fmla="*/ 63 w 69"/>
                <a:gd name="T29" fmla="*/ 8 h 52"/>
                <a:gd name="T30" fmla="*/ 63 w 69"/>
                <a:gd name="T31" fmla="*/ 8 h 52"/>
                <a:gd name="T32" fmla="*/ 62 w 69"/>
                <a:gd name="T33" fmla="*/ 8 h 52"/>
                <a:gd name="T34" fmla="*/ 0 w 69"/>
                <a:gd name="T35" fmla="*/ 0 h 52"/>
                <a:gd name="T36" fmla="*/ 39 w 69"/>
                <a:gd name="T37" fmla="*/ 52 h 5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9" h="52">
                  <a:moveTo>
                    <a:pt x="39" y="52"/>
                  </a:moveTo>
                  <a:lnTo>
                    <a:pt x="42" y="48"/>
                  </a:lnTo>
                  <a:lnTo>
                    <a:pt x="48" y="45"/>
                  </a:lnTo>
                  <a:lnTo>
                    <a:pt x="52" y="41"/>
                  </a:lnTo>
                  <a:lnTo>
                    <a:pt x="56" y="37"/>
                  </a:lnTo>
                  <a:lnTo>
                    <a:pt x="60" y="31"/>
                  </a:lnTo>
                  <a:lnTo>
                    <a:pt x="63" y="27"/>
                  </a:lnTo>
                  <a:lnTo>
                    <a:pt x="65" y="22"/>
                  </a:lnTo>
                  <a:lnTo>
                    <a:pt x="69" y="16"/>
                  </a:lnTo>
                  <a:lnTo>
                    <a:pt x="67" y="14"/>
                  </a:lnTo>
                  <a:lnTo>
                    <a:pt x="67" y="12"/>
                  </a:lnTo>
                  <a:lnTo>
                    <a:pt x="65" y="10"/>
                  </a:lnTo>
                  <a:lnTo>
                    <a:pt x="63" y="8"/>
                  </a:lnTo>
                  <a:lnTo>
                    <a:pt x="62" y="8"/>
                  </a:lnTo>
                  <a:lnTo>
                    <a:pt x="0" y="0"/>
                  </a:lnTo>
                  <a:lnTo>
                    <a:pt x="39" y="52"/>
                  </a:lnTo>
                  <a:close/>
                </a:path>
              </a:pathLst>
            </a:custGeom>
            <a:solidFill>
              <a:srgbClr val="B8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463" name="Text Box 33">
            <a:extLst>
              <a:ext uri="{FF2B5EF4-FFF2-40B4-BE49-F238E27FC236}">
                <a16:creationId xmlns:a16="http://schemas.microsoft.com/office/drawing/2014/main" id="{62AD37E2-2D1A-650D-2D49-43D1B0CFF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5638800"/>
            <a:ext cx="5180012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I couldn’t find a </a:t>
            </a:r>
            <a:r>
              <a:rPr lang="en-US" altLang="en-US" sz="2000" u="sng"/>
              <a:t>polynomial-time</a:t>
            </a:r>
            <a:r>
              <a:rPr lang="en-US" altLang="en-US" sz="2000"/>
              <a:t> algorithm;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I guess I’m too dumb.</a:t>
            </a:r>
          </a:p>
        </p:txBody>
      </p:sp>
      <p:sp>
        <p:nvSpPr>
          <p:cNvPr id="19464" name="Text Box 35">
            <a:extLst>
              <a:ext uri="{FF2B5EF4-FFF2-40B4-BE49-F238E27FC236}">
                <a16:creationId xmlns:a16="http://schemas.microsoft.com/office/drawing/2014/main" id="{2B9AF766-DAF9-CFBF-A38F-2097C084E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988" y="6400800"/>
            <a:ext cx="25447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(cartoon inspired by [Garey-Johnson, 79])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C5FF6DD0-6D9B-E6EA-DC30-D694A7173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245CC7-D5FA-4BBB-BD1D-B3513DD8D5A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55898D3F-BB65-CFAC-13DE-A170679D8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Dealing with Hard Problems</a:t>
            </a:r>
          </a:p>
        </p:txBody>
      </p:sp>
      <p:sp>
        <p:nvSpPr>
          <p:cNvPr id="2048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804E26B-DA49-10F6-1AED-A38189F26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Sometimes we can prove a strong lower bound…  (but not usually)</a:t>
            </a:r>
          </a:p>
        </p:txBody>
      </p:sp>
      <p:pic>
        <p:nvPicPr>
          <p:cNvPr id="20485" name="Picture 4" descr="j0140701">
            <a:extLst>
              <a:ext uri="{FF2B5EF4-FFF2-40B4-BE49-F238E27FC236}">
                <a16:creationId xmlns:a16="http://schemas.microsoft.com/office/drawing/2014/main" id="{EFFA2D74-1859-17D2-64D5-94EE91893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54313"/>
            <a:ext cx="2632075" cy="291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 Box 30">
            <a:extLst>
              <a:ext uri="{FF2B5EF4-FFF2-40B4-BE49-F238E27FC236}">
                <a16:creationId xmlns:a16="http://schemas.microsoft.com/office/drawing/2014/main" id="{41311B81-CFD6-C499-15A1-6CD09A167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663" y="5622925"/>
            <a:ext cx="51117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I couldn’t find a polynomial-time algorithm,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because no such algorithm exists!</a:t>
            </a:r>
          </a:p>
        </p:txBody>
      </p:sp>
      <p:pic>
        <p:nvPicPr>
          <p:cNvPr id="20487" name="Picture 31" descr="j0140675">
            <a:extLst>
              <a:ext uri="{FF2B5EF4-FFF2-40B4-BE49-F238E27FC236}">
                <a16:creationId xmlns:a16="http://schemas.microsoft.com/office/drawing/2014/main" id="{7C37B67D-0B61-176D-24E1-A6F6DF26D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200400"/>
            <a:ext cx="1350963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8" name="Text Box 32">
            <a:extLst>
              <a:ext uri="{FF2B5EF4-FFF2-40B4-BE49-F238E27FC236}">
                <a16:creationId xmlns:a16="http://schemas.microsoft.com/office/drawing/2014/main" id="{82973958-468C-9602-7536-D11023A93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988" y="6400800"/>
            <a:ext cx="25447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(cartoon inspired by [Garey-Johnson, 79])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600CBD95-0510-B1D6-A4FD-8F9967D7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51B58D-1C59-47E8-AF9E-78518CB6FBD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pic>
        <p:nvPicPr>
          <p:cNvPr id="21507" name="Picture 9" descr="j0140665">
            <a:extLst>
              <a:ext uri="{FF2B5EF4-FFF2-40B4-BE49-F238E27FC236}">
                <a16:creationId xmlns:a16="http://schemas.microsoft.com/office/drawing/2014/main" id="{C54A3103-C7B7-DCAD-21C6-14A403947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0300" y="2209800"/>
            <a:ext cx="12065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11" descr="j0141329">
            <a:extLst>
              <a:ext uri="{FF2B5EF4-FFF2-40B4-BE49-F238E27FC236}">
                <a16:creationId xmlns:a16="http://schemas.microsoft.com/office/drawing/2014/main" id="{48AA94E3-9DAB-0403-3401-86A2FCC77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632075"/>
            <a:ext cx="1362075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2">
            <a:extLst>
              <a:ext uri="{FF2B5EF4-FFF2-40B4-BE49-F238E27FC236}">
                <a16:creationId xmlns:a16="http://schemas.microsoft.com/office/drawing/2014/main" id="{D2CEB801-6285-8144-AE39-52C4C12ED9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Dealing with Hard Problems</a:t>
            </a:r>
          </a:p>
        </p:txBody>
      </p:sp>
      <p:sp>
        <p:nvSpPr>
          <p:cNvPr id="2151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40A6D5F-3B37-5042-6226-28078339B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NP-completeness let’s us show collectively that a problem is hard.</a:t>
            </a:r>
          </a:p>
        </p:txBody>
      </p:sp>
      <p:pic>
        <p:nvPicPr>
          <p:cNvPr id="21511" name="Picture 4" descr="j0140701">
            <a:extLst>
              <a:ext uri="{FF2B5EF4-FFF2-40B4-BE49-F238E27FC236}">
                <a16:creationId xmlns:a16="http://schemas.microsoft.com/office/drawing/2014/main" id="{17F2457F-5376-B976-284B-2724BAE6E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54313"/>
            <a:ext cx="2632075" cy="291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Text Box 5">
            <a:extLst>
              <a:ext uri="{FF2B5EF4-FFF2-40B4-BE49-F238E27FC236}">
                <a16:creationId xmlns:a16="http://schemas.microsoft.com/office/drawing/2014/main" id="{67837C4A-3B57-A86E-E270-D259EFEB3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5715000"/>
            <a:ext cx="539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I couldn’t find a polynomial-time algorithm,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but neither could all these other smart people.</a:t>
            </a:r>
          </a:p>
        </p:txBody>
      </p:sp>
      <p:pic>
        <p:nvPicPr>
          <p:cNvPr id="21513" name="Picture 7" descr="j0141257">
            <a:extLst>
              <a:ext uri="{FF2B5EF4-FFF2-40B4-BE49-F238E27FC236}">
                <a16:creationId xmlns:a16="http://schemas.microsoft.com/office/drawing/2014/main" id="{8F71E9DB-9DA2-C0A7-CE31-2A7847C03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675" y="3352800"/>
            <a:ext cx="1671638" cy="231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4" name="Picture 10" descr="j0140673">
            <a:extLst>
              <a:ext uri="{FF2B5EF4-FFF2-40B4-BE49-F238E27FC236}">
                <a16:creationId xmlns:a16="http://schemas.microsoft.com/office/drawing/2014/main" id="{241034F2-C9A3-6390-2068-99D222257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505200"/>
            <a:ext cx="1111250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5" name="Picture 12" descr="j0141361">
            <a:extLst>
              <a:ext uri="{FF2B5EF4-FFF2-40B4-BE49-F238E27FC236}">
                <a16:creationId xmlns:a16="http://schemas.microsoft.com/office/drawing/2014/main" id="{D290116C-6C68-401A-559C-06E8FB586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575" y="3048000"/>
            <a:ext cx="12922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16" name="Group 16">
            <a:extLst>
              <a:ext uri="{FF2B5EF4-FFF2-40B4-BE49-F238E27FC236}">
                <a16:creationId xmlns:a16="http://schemas.microsoft.com/office/drawing/2014/main" id="{91522E1B-8D66-7A92-1154-D4DDF9C7D3B1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8458200" y="3276600"/>
            <a:ext cx="457200" cy="457200"/>
            <a:chOff x="4896" y="3744"/>
            <a:chExt cx="288" cy="288"/>
          </a:xfrm>
        </p:grpSpPr>
        <p:sp>
          <p:nvSpPr>
            <p:cNvPr id="21518" name="Oval 13">
              <a:extLst>
                <a:ext uri="{FF2B5EF4-FFF2-40B4-BE49-F238E27FC236}">
                  <a16:creationId xmlns:a16="http://schemas.microsoft.com/office/drawing/2014/main" id="{1AC2497A-30F8-6E47-317E-AADA7FD9C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3744"/>
              <a:ext cx="96" cy="96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1519" name="Oval 14">
              <a:extLst>
                <a:ext uri="{FF2B5EF4-FFF2-40B4-BE49-F238E27FC236}">
                  <a16:creationId xmlns:a16="http://schemas.microsoft.com/office/drawing/2014/main" id="{9DB1A9F7-ABE3-9323-7E05-10C8D68B7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840"/>
              <a:ext cx="96" cy="96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1520" name="Oval 15">
              <a:extLst>
                <a:ext uri="{FF2B5EF4-FFF2-40B4-BE49-F238E27FC236}">
                  <a16:creationId xmlns:a16="http://schemas.microsoft.com/office/drawing/2014/main" id="{FDC5117B-498D-8CAF-F137-FA11C42C3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3936"/>
              <a:ext cx="96" cy="96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</p:grpSp>
      <p:sp>
        <p:nvSpPr>
          <p:cNvPr id="21517" name="Text Box 17">
            <a:extLst>
              <a:ext uri="{FF2B5EF4-FFF2-40B4-BE49-F238E27FC236}">
                <a16:creationId xmlns:a16="http://schemas.microsoft.com/office/drawing/2014/main" id="{655BDDED-5E69-8DC8-F27D-33F52C4AE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988" y="6400800"/>
            <a:ext cx="25447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(cartoon inspired by [Garey-Johnson, 79])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38594034-8DF2-A42A-4D42-57D44AA5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E61316-D480-4FCB-86F3-950D2F555F2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427F2D2-4718-B101-A340-20F8A523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Polynomial-Time </a:t>
            </a:r>
            <a:br>
              <a:rPr lang="en-US" altLang="en-US"/>
            </a:br>
            <a:r>
              <a:rPr lang="en-US" altLang="en-US"/>
              <a:t>Decision Problems</a:t>
            </a:r>
          </a:p>
        </p:txBody>
      </p:sp>
      <p:sp>
        <p:nvSpPr>
          <p:cNvPr id="2253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70F8D7A-40B2-1179-BA02-950491F00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To simplify the notion of “hardness,” we will focus on the following:</a:t>
            </a:r>
          </a:p>
          <a:p>
            <a:pPr lvl="1" eaLnBrk="1" hangingPunct="1"/>
            <a:r>
              <a:rPr lang="en-US" altLang="en-US" sz="2400" u="sng"/>
              <a:t>Polynomial-time n</a:t>
            </a:r>
            <a:r>
              <a:rPr lang="en-US" altLang="en-US" sz="2400" u="sng" baseline="30000"/>
              <a:t>k</a:t>
            </a:r>
            <a:r>
              <a:rPr lang="en-US" altLang="en-US" sz="2400" u="sng"/>
              <a:t> as the cut-off for efficiency</a:t>
            </a:r>
          </a:p>
          <a:p>
            <a:pPr lvl="1" eaLnBrk="1" hangingPunct="1"/>
            <a:r>
              <a:rPr lang="en-US" altLang="en-US" sz="2400"/>
              <a:t>Decision problems: output is 1 or 0 (“yes” or “no”)</a:t>
            </a:r>
          </a:p>
          <a:p>
            <a:pPr lvl="2" eaLnBrk="1" hangingPunct="1"/>
            <a:r>
              <a:rPr lang="en-US" altLang="en-US" sz="2000"/>
              <a:t>Examples:</a:t>
            </a:r>
          </a:p>
          <a:p>
            <a:pPr lvl="2" eaLnBrk="1" hangingPunct="1"/>
            <a:r>
              <a:rPr lang="en-US" altLang="en-US" sz="2000"/>
              <a:t>Does a given graph G have an Euler tour?</a:t>
            </a:r>
          </a:p>
          <a:p>
            <a:pPr lvl="2" eaLnBrk="1" hangingPunct="1"/>
            <a:r>
              <a:rPr lang="en-US" altLang="en-US" sz="2000"/>
              <a:t>Does a text T contain a pattern P?</a:t>
            </a:r>
          </a:p>
          <a:p>
            <a:pPr lvl="2" eaLnBrk="1" hangingPunct="1"/>
            <a:r>
              <a:rPr lang="en-US" altLang="en-US" sz="2000"/>
              <a:t>Does an instance of 0/1 Knapsack have a solution with benefit at least K?</a:t>
            </a:r>
          </a:p>
          <a:p>
            <a:pPr lvl="2" eaLnBrk="1" hangingPunct="1"/>
            <a:r>
              <a:rPr lang="en-US" altLang="en-US" sz="2000"/>
              <a:t>Does a graph G have an MST with weight at most K?</a:t>
            </a:r>
          </a:p>
        </p:txBody>
      </p:sp>
      <p:pic>
        <p:nvPicPr>
          <p:cNvPr id="22533" name="Picture 4" descr="BD10015_">
            <a:extLst>
              <a:ext uri="{FF2B5EF4-FFF2-40B4-BE49-F238E27FC236}">
                <a16:creationId xmlns:a16="http://schemas.microsoft.com/office/drawing/2014/main" id="{42B7023D-46D5-CC57-921D-3B3DAD13A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325" y="152400"/>
            <a:ext cx="1725613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337822AC-2860-DB13-F7E6-C2081FE49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DAC3A3-D041-47AF-8A22-F1F66492ED3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A660554-5C10-F8F1-DC99-442B9A343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Problems and Languages</a:t>
            </a:r>
          </a:p>
        </p:txBody>
      </p:sp>
      <p:sp>
        <p:nvSpPr>
          <p:cNvPr id="2355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FA9D69C-AC1E-5064-D5B6-C44C5EEA8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 </a:t>
            </a:r>
            <a:r>
              <a:rPr lang="en-US" altLang="en-US" sz="2400" b="1">
                <a:solidFill>
                  <a:schemeClr val="tx2"/>
                </a:solidFill>
              </a:rPr>
              <a:t>language</a:t>
            </a:r>
            <a:r>
              <a:rPr lang="en-US" altLang="en-US" sz="2400"/>
              <a:t> L is a set of strings defined over some alphabet Σ</a:t>
            </a:r>
          </a:p>
          <a:p>
            <a:pPr eaLnBrk="1" hangingPunct="1"/>
            <a:r>
              <a:rPr lang="en-US" altLang="en-US" sz="2400"/>
              <a:t>Every decision algorithm A defines a language L</a:t>
            </a:r>
          </a:p>
          <a:p>
            <a:pPr lvl="1" eaLnBrk="1" hangingPunct="1"/>
            <a:r>
              <a:rPr lang="en-US" altLang="en-US" sz="2000"/>
              <a:t>L is the set consisting of every string x such that A outputs “yes” on input x.</a:t>
            </a:r>
          </a:p>
          <a:p>
            <a:pPr lvl="1" eaLnBrk="1" hangingPunct="1"/>
            <a:r>
              <a:rPr lang="en-US" altLang="en-US" sz="2000"/>
              <a:t>We say “A </a:t>
            </a:r>
            <a:r>
              <a:rPr lang="en-US" altLang="en-US" sz="2000" b="1">
                <a:solidFill>
                  <a:schemeClr val="tx2"/>
                </a:solidFill>
              </a:rPr>
              <a:t>accepts</a:t>
            </a:r>
            <a:r>
              <a:rPr lang="en-US" altLang="en-US" sz="2000"/>
              <a:t> x’’ in this case</a:t>
            </a:r>
          </a:p>
          <a:p>
            <a:pPr lvl="2" eaLnBrk="1" hangingPunct="1"/>
            <a:r>
              <a:rPr lang="en-US" altLang="en-US" sz="2000"/>
              <a:t>Example:</a:t>
            </a:r>
          </a:p>
          <a:p>
            <a:pPr lvl="2" eaLnBrk="1" hangingPunct="1"/>
            <a:r>
              <a:rPr lang="en-US" altLang="en-US" sz="2000"/>
              <a:t>If A determines whether or not a given graph G has an Euler tour, then the language L for A is all graphs with Euler tours.</a:t>
            </a:r>
          </a:p>
        </p:txBody>
      </p:sp>
      <p:pic>
        <p:nvPicPr>
          <p:cNvPr id="23557" name="Picture 5" descr="BD07228_">
            <a:extLst>
              <a:ext uri="{FF2B5EF4-FFF2-40B4-BE49-F238E27FC236}">
                <a16:creationId xmlns:a16="http://schemas.microsoft.com/office/drawing/2014/main" id="{0915F547-77BB-5837-4635-8E1DAEAAE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34950"/>
            <a:ext cx="1820863" cy="167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46F562E3-148F-3E98-3645-2E54B93F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E698E1-D2E5-4884-A876-42C6B27E43A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4579" name="Rectangle 1026">
            <a:extLst>
              <a:ext uri="{FF2B5EF4-FFF2-40B4-BE49-F238E27FC236}">
                <a16:creationId xmlns:a16="http://schemas.microsoft.com/office/drawing/2014/main" id="{4B6547B7-48F4-8B1F-DCD9-114E9CED84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Complexity Class P</a:t>
            </a:r>
          </a:p>
        </p:txBody>
      </p:sp>
      <p:sp>
        <p:nvSpPr>
          <p:cNvPr id="24580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53FBDF8-7655-2020-AD5D-BD5BAFDDC7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7772400" cy="3657600"/>
          </a:xfrm>
        </p:spPr>
        <p:txBody>
          <a:bodyPr/>
          <a:lstStyle/>
          <a:p>
            <a:pPr eaLnBrk="1" hangingPunct="1"/>
            <a:r>
              <a:rPr lang="en-US" altLang="en-US" sz="2400"/>
              <a:t>A </a:t>
            </a:r>
            <a:r>
              <a:rPr lang="en-US" altLang="en-US" sz="2400" b="1">
                <a:solidFill>
                  <a:schemeClr val="tx2"/>
                </a:solidFill>
              </a:rPr>
              <a:t>complexity class</a:t>
            </a:r>
            <a:r>
              <a:rPr lang="en-US" altLang="en-US" sz="2400"/>
              <a:t> is a collection of languages (problems)</a:t>
            </a:r>
          </a:p>
          <a:p>
            <a:pPr eaLnBrk="1" hangingPunct="1"/>
            <a:r>
              <a:rPr lang="en-US" altLang="en-US" sz="2400"/>
              <a:t>P is the complexity class consisting of all languages that are accepted by </a:t>
            </a:r>
            <a:r>
              <a:rPr lang="en-US" altLang="en-US" sz="2400" b="1">
                <a:solidFill>
                  <a:schemeClr val="tx2"/>
                </a:solidFill>
              </a:rPr>
              <a:t>polynomial-time deterministic </a:t>
            </a:r>
            <a:r>
              <a:rPr lang="en-US" altLang="en-US" sz="2400"/>
              <a:t>algorithms</a:t>
            </a:r>
          </a:p>
          <a:p>
            <a:pPr eaLnBrk="1" hangingPunct="1"/>
            <a:r>
              <a:rPr lang="en-US" altLang="en-US" sz="2400"/>
              <a:t>P contains all decision problems that can be solved by a deterministic Turing machine in polynomial time.</a:t>
            </a:r>
          </a:p>
        </p:txBody>
      </p:sp>
      <p:pic>
        <p:nvPicPr>
          <p:cNvPr id="24581" name="Picture 1029" descr="SY01134_">
            <a:extLst>
              <a:ext uri="{FF2B5EF4-FFF2-40B4-BE49-F238E27FC236}">
                <a16:creationId xmlns:a16="http://schemas.microsoft.com/office/drawing/2014/main" id="{6F27A886-1CE7-1309-DE13-A208ACC10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71450"/>
            <a:ext cx="1655763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2F9475BA-7257-CCBB-86FD-0FB68FBD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16D261-A924-4C8F-9D3A-8BE45FC8998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467F40D2-49EE-CBAA-E1DB-E03C7BCAEC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Complexity Class NP</a:t>
            </a:r>
          </a:p>
        </p:txBody>
      </p:sp>
      <p:sp>
        <p:nvSpPr>
          <p:cNvPr id="2560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D86C73E-40FC-8445-8350-CC8A9713A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4419600"/>
          </a:xfrm>
        </p:spPr>
        <p:txBody>
          <a:bodyPr/>
          <a:lstStyle/>
          <a:p>
            <a:pPr eaLnBrk="1" hangingPunct="1"/>
            <a:r>
              <a:rPr lang="en-US" altLang="en-US" sz="2400"/>
              <a:t>We say that an algorithm is </a:t>
            </a:r>
            <a:r>
              <a:rPr lang="en-US" altLang="en-US" sz="2400" u="sng"/>
              <a:t>non-deterministic</a:t>
            </a:r>
            <a:r>
              <a:rPr lang="en-US" altLang="en-US" sz="2400"/>
              <a:t> if it uses the following operation:</a:t>
            </a:r>
          </a:p>
          <a:p>
            <a:pPr lvl="1" eaLnBrk="1" hangingPunct="1"/>
            <a:r>
              <a:rPr lang="en-US" altLang="en-US" sz="2000" b="1"/>
              <a:t>Choose(</a:t>
            </a:r>
            <a:r>
              <a:rPr lang="en-US" altLang="en-US" sz="2000" b="1" i="1"/>
              <a:t>b</a:t>
            </a:r>
            <a:r>
              <a:rPr lang="en-US" altLang="en-US" sz="2000" b="1"/>
              <a:t>)</a:t>
            </a:r>
            <a:r>
              <a:rPr lang="en-US" altLang="en-US" sz="2000"/>
              <a:t>: chooses a bit </a:t>
            </a:r>
            <a:r>
              <a:rPr lang="en-US" altLang="en-US" sz="2000" i="1"/>
              <a:t>b</a:t>
            </a:r>
          </a:p>
          <a:p>
            <a:pPr lvl="1" eaLnBrk="1" hangingPunct="1"/>
            <a:r>
              <a:rPr lang="en-US" altLang="en-US" sz="2000"/>
              <a:t>Can be used to choose an entire string y (with |y| choices)</a:t>
            </a:r>
          </a:p>
          <a:p>
            <a:pPr eaLnBrk="1" hangingPunct="1"/>
            <a:r>
              <a:rPr lang="en-US" altLang="en-US" sz="2400"/>
              <a:t>We say that a non-deterministic algorithm A </a:t>
            </a:r>
            <a:r>
              <a:rPr lang="en-US" altLang="en-US" sz="2400" b="1">
                <a:solidFill>
                  <a:schemeClr val="tx2"/>
                </a:solidFill>
              </a:rPr>
              <a:t>accepts</a:t>
            </a:r>
            <a:r>
              <a:rPr lang="en-US" altLang="en-US" sz="2400"/>
              <a:t> a string x if there exists some sequence of </a:t>
            </a:r>
            <a:r>
              <a:rPr lang="en-US" altLang="en-US" sz="2400" b="1"/>
              <a:t>choose </a:t>
            </a:r>
            <a:r>
              <a:rPr lang="en-US" altLang="en-US" sz="2400"/>
              <a:t>operations that causes A to output “yes” on input x.</a:t>
            </a:r>
          </a:p>
          <a:p>
            <a:pPr eaLnBrk="1" hangingPunct="1"/>
            <a:r>
              <a:rPr lang="en-US" altLang="en-US" sz="2400"/>
              <a:t>NP is the complexity class consisting of all languages accepted by </a:t>
            </a:r>
            <a:r>
              <a:rPr lang="en-US" altLang="en-US" sz="2400" b="1">
                <a:solidFill>
                  <a:schemeClr val="tx2"/>
                </a:solidFill>
              </a:rPr>
              <a:t>polynomial-time non-deterministic</a:t>
            </a:r>
            <a:r>
              <a:rPr lang="en-US" altLang="en-US" sz="2400" b="1"/>
              <a:t> </a:t>
            </a:r>
            <a:r>
              <a:rPr lang="en-US" altLang="en-US" sz="2400"/>
              <a:t>algorithms.</a:t>
            </a:r>
          </a:p>
        </p:txBody>
      </p:sp>
      <p:pic>
        <p:nvPicPr>
          <p:cNvPr id="25605" name="Picture 4" descr="SY01134_">
            <a:extLst>
              <a:ext uri="{FF2B5EF4-FFF2-40B4-BE49-F238E27FC236}">
                <a16:creationId xmlns:a16="http://schemas.microsoft.com/office/drawing/2014/main" id="{27BD139D-C242-CE48-4BE6-8B3042208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400" y="304800"/>
            <a:ext cx="1092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5" descr="SY01132_">
            <a:extLst>
              <a:ext uri="{FF2B5EF4-FFF2-40B4-BE49-F238E27FC236}">
                <a16:creationId xmlns:a16="http://schemas.microsoft.com/office/drawing/2014/main" id="{5FB01828-FBC1-87AD-298B-7C23D85B3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81000"/>
            <a:ext cx="1168400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B158BD77-AE7D-A83E-8901-4AF11825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CE3497-57DC-42BD-98CD-1D6AE79888D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A17E86F5-A1D0-1383-67AB-1CE0F8598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NP example</a:t>
            </a:r>
          </a:p>
        </p:txBody>
      </p:sp>
      <p:sp>
        <p:nvSpPr>
          <p:cNvPr id="2662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194AB4A-E4B0-0A6A-987F-A77A4D607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4419600"/>
          </a:xfrm>
        </p:spPr>
        <p:txBody>
          <a:bodyPr/>
          <a:lstStyle/>
          <a:p>
            <a:pPr marL="609600" indent="-609600" eaLnBrk="1" hangingPunct="1"/>
            <a:r>
              <a:rPr lang="en-US" altLang="en-US" sz="2400"/>
              <a:t>Problem: Decide if a graph has an MST of weight K</a:t>
            </a:r>
          </a:p>
          <a:p>
            <a:pPr marL="609600" indent="-609600" eaLnBrk="1" hangingPunct="1"/>
            <a:endParaRPr lang="en-US" altLang="en-US" sz="2400"/>
          </a:p>
          <a:p>
            <a:pPr marL="609600" indent="-609600" eaLnBrk="1" hangingPunct="1"/>
            <a:r>
              <a:rPr lang="en-US" altLang="en-US" sz="2400"/>
              <a:t>Algorithm (Not Prim's or Kruskal's):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000" u="sng"/>
              <a:t>Non-deterministically choose</a:t>
            </a:r>
            <a:r>
              <a:rPr lang="en-US" altLang="en-US" sz="2000"/>
              <a:t> a set T of n-1 edges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000" u="sng"/>
              <a:t>Test</a:t>
            </a:r>
            <a:r>
              <a:rPr lang="en-US" altLang="en-US" sz="2000"/>
              <a:t> that T forms a spanning tree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000" u="sng"/>
              <a:t>Test</a:t>
            </a:r>
            <a:r>
              <a:rPr lang="en-US" altLang="en-US" sz="2000"/>
              <a:t> that T has weight at most K</a:t>
            </a:r>
          </a:p>
          <a:p>
            <a:pPr marL="609600" indent="-609600" eaLnBrk="1" hangingPunct="1"/>
            <a:endParaRPr lang="en-US" altLang="en-US" sz="2400"/>
          </a:p>
          <a:p>
            <a:pPr marL="609600" indent="-609600" eaLnBrk="1" hangingPunct="1"/>
            <a:r>
              <a:rPr lang="en-US" altLang="en-US" sz="2400"/>
              <a:t>Analysis: </a:t>
            </a:r>
            <a:r>
              <a:rPr lang="en-US" altLang="en-US" sz="2400" u="sng"/>
              <a:t>Testing</a:t>
            </a:r>
            <a:r>
              <a:rPr lang="en-US" altLang="en-US" sz="2400"/>
              <a:t> takes O(n+m) time, so this algorithm runs in polynomial time.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400"/>
          </a:p>
        </p:txBody>
      </p:sp>
      <p:pic>
        <p:nvPicPr>
          <p:cNvPr id="26629" name="Picture 4" descr="SY01134_">
            <a:extLst>
              <a:ext uri="{FF2B5EF4-FFF2-40B4-BE49-F238E27FC236}">
                <a16:creationId xmlns:a16="http://schemas.microsoft.com/office/drawing/2014/main" id="{603BD574-7FF1-7832-A6E4-6751AE460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400" y="304800"/>
            <a:ext cx="1092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5" descr="SY01132_">
            <a:extLst>
              <a:ext uri="{FF2B5EF4-FFF2-40B4-BE49-F238E27FC236}">
                <a16:creationId xmlns:a16="http://schemas.microsoft.com/office/drawing/2014/main" id="{83C03323-E7DC-468B-3EEC-B6AE4B4D2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81000"/>
            <a:ext cx="1168400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F8DBE6C4-B35B-25EE-9559-2BFBD79A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F1B55A-8FC1-4637-B089-9417B416160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76B8617-BD26-ED23-DCA2-86EDBBA46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Complexity Class NP Alternate Definition</a:t>
            </a:r>
          </a:p>
        </p:txBody>
      </p:sp>
      <p:sp>
        <p:nvSpPr>
          <p:cNvPr id="2765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BBE5DA3-3A0E-5668-C14B-C75DFE6A74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772400" cy="4343400"/>
          </a:xfrm>
        </p:spPr>
        <p:txBody>
          <a:bodyPr/>
          <a:lstStyle/>
          <a:p>
            <a:pPr eaLnBrk="1" hangingPunct="1"/>
            <a:r>
              <a:rPr lang="en-US" altLang="en-US" sz="2400"/>
              <a:t>We say that an algorithm B </a:t>
            </a:r>
            <a:r>
              <a:rPr lang="en-US" altLang="en-US" sz="2400" b="1">
                <a:solidFill>
                  <a:schemeClr val="tx2"/>
                </a:solidFill>
              </a:rPr>
              <a:t>verifies</a:t>
            </a:r>
            <a:r>
              <a:rPr lang="en-US" altLang="en-US" sz="2400"/>
              <a:t> the acceptance of a language L if and only if, for any x in L, there exists a certificate y such that B outputs “yes” on input (x,y).</a:t>
            </a:r>
          </a:p>
          <a:p>
            <a:pPr eaLnBrk="1" hangingPunct="1"/>
            <a:r>
              <a:rPr lang="en-US" altLang="en-US" sz="2400"/>
              <a:t>NP is the complexity class consisting of all languages </a:t>
            </a:r>
            <a:r>
              <a:rPr lang="en-US" altLang="en-US" sz="2400" u="sng"/>
              <a:t>verified</a:t>
            </a:r>
            <a:r>
              <a:rPr lang="en-US" altLang="en-US" sz="2400"/>
              <a:t> by </a:t>
            </a:r>
            <a:r>
              <a:rPr lang="en-US" altLang="en-US" sz="2400" b="1">
                <a:solidFill>
                  <a:schemeClr val="tx2"/>
                </a:solidFill>
              </a:rPr>
              <a:t>polynomial-time </a:t>
            </a:r>
            <a:r>
              <a:rPr lang="en-US" altLang="en-US" sz="2400"/>
              <a:t>algorithms.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We know: P is a subset of NP.</a:t>
            </a:r>
          </a:p>
          <a:p>
            <a:pPr eaLnBrk="1" hangingPunct="1"/>
            <a:r>
              <a:rPr lang="en-US" altLang="en-US" sz="2400"/>
              <a:t>Major open question: P=NP? $1 million prize.</a:t>
            </a:r>
          </a:p>
          <a:p>
            <a:pPr eaLnBrk="1" hangingPunct="1"/>
            <a:r>
              <a:rPr lang="en-US" altLang="en-US" sz="2400"/>
              <a:t>Most researchers believe that P and NP are different.</a:t>
            </a:r>
          </a:p>
        </p:txBody>
      </p:sp>
      <p:pic>
        <p:nvPicPr>
          <p:cNvPr id="27653" name="Picture 4" descr="SY01134_">
            <a:extLst>
              <a:ext uri="{FF2B5EF4-FFF2-40B4-BE49-F238E27FC236}">
                <a16:creationId xmlns:a16="http://schemas.microsoft.com/office/drawing/2014/main" id="{62F0BDB5-5195-D101-0449-E45013ADB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400" y="304800"/>
            <a:ext cx="1092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5" descr="SY01132_">
            <a:extLst>
              <a:ext uri="{FF2B5EF4-FFF2-40B4-BE49-F238E27FC236}">
                <a16:creationId xmlns:a16="http://schemas.microsoft.com/office/drawing/2014/main" id="{996EA233-9929-0E63-A317-01D236B4A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81000"/>
            <a:ext cx="1168400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291E3158-C03A-110F-E92E-F84F513F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D897DA-EB70-4722-BB71-284A50D46B9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87993143-0FFE-CA56-082D-8819111A4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NP example</a:t>
            </a:r>
          </a:p>
        </p:txBody>
      </p:sp>
      <p:sp>
        <p:nvSpPr>
          <p:cNvPr id="2867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EE24D14-E050-7CC6-7D8B-10F92DA14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4419600"/>
          </a:xfrm>
        </p:spPr>
        <p:txBody>
          <a:bodyPr/>
          <a:lstStyle/>
          <a:p>
            <a:pPr marL="609600" indent="-609600" eaLnBrk="1" hangingPunct="1"/>
            <a:r>
              <a:rPr lang="en-US" altLang="en-US" sz="2400"/>
              <a:t>Problem: Decide if a graph has an MST of weight K</a:t>
            </a:r>
          </a:p>
          <a:p>
            <a:pPr marL="609600" indent="-609600" eaLnBrk="1" hangingPunct="1"/>
            <a:endParaRPr lang="en-US" altLang="en-US" sz="2400"/>
          </a:p>
          <a:p>
            <a:pPr marL="609600" indent="-609600" eaLnBrk="1" hangingPunct="1"/>
            <a:r>
              <a:rPr lang="en-US" altLang="en-US" sz="2400"/>
              <a:t>Verification Algorithm: 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000"/>
              <a:t>Use as a certificate, y, a set T of n-1 edges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000"/>
              <a:t>Test that T forms a spanning tree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000"/>
              <a:t>Test that T has weight at most K</a:t>
            </a:r>
          </a:p>
          <a:p>
            <a:pPr marL="609600" indent="-609600" eaLnBrk="1" hangingPunct="1"/>
            <a:endParaRPr lang="en-US" altLang="en-US" sz="2400"/>
          </a:p>
          <a:p>
            <a:pPr marL="609600" indent="-609600" eaLnBrk="1" hangingPunct="1"/>
            <a:r>
              <a:rPr lang="en-US" altLang="en-US" sz="2400"/>
              <a:t>Analysis: </a:t>
            </a:r>
            <a:r>
              <a:rPr lang="en-US" altLang="en-US" sz="2400" u="sng"/>
              <a:t>Verification</a:t>
            </a:r>
            <a:r>
              <a:rPr lang="en-US" altLang="en-US" sz="2400"/>
              <a:t> takes O(n+m) time, so this verification algorithm runs in polynomial time.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400"/>
          </a:p>
        </p:txBody>
      </p:sp>
      <p:pic>
        <p:nvPicPr>
          <p:cNvPr id="28677" name="Picture 4" descr="SY01134_">
            <a:extLst>
              <a:ext uri="{FF2B5EF4-FFF2-40B4-BE49-F238E27FC236}">
                <a16:creationId xmlns:a16="http://schemas.microsoft.com/office/drawing/2014/main" id="{136432B9-8BCB-3220-BECA-F3D29B509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400" y="304800"/>
            <a:ext cx="1092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5" descr="SY01132_">
            <a:extLst>
              <a:ext uri="{FF2B5EF4-FFF2-40B4-BE49-F238E27FC236}">
                <a16:creationId xmlns:a16="http://schemas.microsoft.com/office/drawing/2014/main" id="{EE971285-4577-2DDE-F84A-DF411BB94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81000"/>
            <a:ext cx="1168400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3164BEDD-B3A3-5E61-01D6-7654F2BB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1EC0EA-2A3D-45FA-98EF-20F2F1986B3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B8469087-B901-7F52-D0F0-349664211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Equivalence of the </a:t>
            </a:r>
            <a:br>
              <a:rPr lang="en-US" altLang="en-US"/>
            </a:br>
            <a:r>
              <a:rPr lang="en-US" altLang="en-US"/>
              <a:t>Two Definitions</a:t>
            </a:r>
          </a:p>
        </p:txBody>
      </p:sp>
      <p:pic>
        <p:nvPicPr>
          <p:cNvPr id="29700" name="Picture 4" descr="SY01134_">
            <a:extLst>
              <a:ext uri="{FF2B5EF4-FFF2-40B4-BE49-F238E27FC236}">
                <a16:creationId xmlns:a16="http://schemas.microsoft.com/office/drawing/2014/main" id="{102083EB-308F-D7D0-C1FE-A60CFA10D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400" y="304800"/>
            <a:ext cx="1092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 descr="SY01132_">
            <a:extLst>
              <a:ext uri="{FF2B5EF4-FFF2-40B4-BE49-F238E27FC236}">
                <a16:creationId xmlns:a16="http://schemas.microsoft.com/office/drawing/2014/main" id="{7B1CD270-6160-D48D-171D-6617BABCB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81000"/>
            <a:ext cx="1168400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Rectangle 6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A9AD6AE-884D-F142-EBAA-364B24BF1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24000"/>
            <a:ext cx="7924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400"/>
              <a:t>Suppose A is a non-deterministic algorithm</a:t>
            </a:r>
          </a:p>
          <a:p>
            <a:pPr lvl="1"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Char char="•"/>
            </a:pPr>
            <a:r>
              <a:rPr lang="en-US" altLang="en-US" sz="2000"/>
              <a:t>Let y be a certificate consisting of all the outcomes of the choose steps that A uses</a:t>
            </a:r>
          </a:p>
          <a:p>
            <a:pPr lvl="1"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Char char="•"/>
            </a:pPr>
            <a:r>
              <a:rPr lang="en-US" altLang="en-US" sz="2000"/>
              <a:t>We can create a verification algorithm that uses y instead of A’s choose steps</a:t>
            </a:r>
          </a:p>
          <a:p>
            <a:pPr lvl="1"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Char char="•"/>
            </a:pPr>
            <a:r>
              <a:rPr lang="en-US" altLang="en-US" sz="2000"/>
              <a:t>If A accepts on x, then there is a certificate y that allows us to verify this (namely, the choose steps A made)</a:t>
            </a:r>
          </a:p>
          <a:p>
            <a:pPr lvl="1"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Char char="•"/>
            </a:pPr>
            <a:r>
              <a:rPr lang="en-US" altLang="en-US" sz="2000"/>
              <a:t>If A runs in polynomial-time, so does this verification algorithm</a:t>
            </a:r>
            <a:endParaRPr lang="en-US" altLang="en-US" sz="2400"/>
          </a:p>
          <a:p>
            <a:pPr eaLnBrk="1" hangingPunct="1"/>
            <a:r>
              <a:rPr lang="en-US" altLang="en-US" sz="2400"/>
              <a:t>Suppose B is a verification algorithm</a:t>
            </a:r>
          </a:p>
          <a:p>
            <a:pPr lvl="1"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000"/>
              <a:t>Non-deterministically choose a certificate y</a:t>
            </a:r>
          </a:p>
          <a:p>
            <a:pPr lvl="1"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000"/>
              <a:t>Run B on y</a:t>
            </a:r>
          </a:p>
          <a:p>
            <a:pPr lvl="1"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000"/>
              <a:t>If B runs in polynomial-time, so does this non-deterministic algorithm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684AB001-D423-CFC8-9ED1-515D9DE8C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51A3F2-3AEB-4BBF-9A75-E2E56468CEE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5EACFCF6-FE06-AA18-2DEB-3150EF510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CIRCUIT-SAT</a:t>
            </a:r>
          </a:p>
        </p:txBody>
      </p:sp>
      <p:graphicFrame>
        <p:nvGraphicFramePr>
          <p:cNvPr id="30724" name="Object 3">
            <a:extLst>
              <a:ext uri="{FF2B5EF4-FFF2-40B4-BE49-F238E27FC236}">
                <a16:creationId xmlns:a16="http://schemas.microsoft.com/office/drawing/2014/main" id="{5119E77C-67F0-6D90-128C-4572639263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2225" y="3352800"/>
          <a:ext cx="7013575" cy="276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007864" imgH="2767543" progId="Visio.Drawing.6">
                  <p:embed/>
                </p:oleObj>
              </mc:Choice>
              <mc:Fallback>
                <p:oleObj name="VISIO" r:id="rId3" imgW="7007864" imgH="2767543" progId="Visio.Drawing.6">
                  <p:embed/>
                  <p:pic>
                    <p:nvPicPr>
                      <p:cNvPr id="30724" name="Object 3">
                        <a:extLst>
                          <a:ext uri="{FF2B5EF4-FFF2-40B4-BE49-F238E27FC236}">
                            <a16:creationId xmlns:a16="http://schemas.microsoft.com/office/drawing/2014/main" id="{5119E77C-67F0-6D90-128C-4572639263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3352800"/>
                        <a:ext cx="7013575" cy="276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A475A3B-6E12-A989-760F-248D2B55D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00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400"/>
              <a:t>A Boolean circuit is a circuit of AND, OR, and NOT gates; the CIRCUIT-SAT problem is to determine if there is an assignment of 0’s and 1’s to a circuit’s inputs so that the circuit outputs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>
            <a:extLst>
              <a:ext uri="{FF2B5EF4-FFF2-40B4-BE49-F238E27FC236}">
                <a16:creationId xmlns:a16="http://schemas.microsoft.com/office/drawing/2014/main" id="{3AF6FA8B-55C4-3859-EAF6-1C67FC4A9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F78DA4-DE93-4FAB-9BF1-20C37B9EC45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2D6752D-5944-09F7-3C2E-299D72318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CIRCUIT-SAT is in NP</a:t>
            </a:r>
          </a:p>
        </p:txBody>
      </p:sp>
      <p:graphicFrame>
        <p:nvGraphicFramePr>
          <p:cNvPr id="31748" name="Object 3">
            <a:extLst>
              <a:ext uri="{FF2B5EF4-FFF2-40B4-BE49-F238E27FC236}">
                <a16:creationId xmlns:a16="http://schemas.microsoft.com/office/drawing/2014/main" id="{B254478B-F078-754A-1597-7ECCEA343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2225" y="3352800"/>
          <a:ext cx="7013575" cy="276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007864" imgH="2767543" progId="Visio.Drawing.6">
                  <p:embed/>
                </p:oleObj>
              </mc:Choice>
              <mc:Fallback>
                <p:oleObj name="VISIO" r:id="rId3" imgW="7007864" imgH="2767543" progId="Visio.Drawing.6">
                  <p:embed/>
                  <p:pic>
                    <p:nvPicPr>
                      <p:cNvPr id="31748" name="Object 3">
                        <a:extLst>
                          <a:ext uri="{FF2B5EF4-FFF2-40B4-BE49-F238E27FC236}">
                            <a16:creationId xmlns:a16="http://schemas.microsoft.com/office/drawing/2014/main" id="{B254478B-F078-754A-1597-7ECCEA343B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3352800"/>
                        <a:ext cx="7013575" cy="276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33A497E-C434-67A3-27B5-F20657F7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00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400" u="sng"/>
              <a:t>Non-deterministically choose</a:t>
            </a:r>
            <a:r>
              <a:rPr lang="en-US" altLang="en-US" sz="2400"/>
              <a:t> a set of inputs and the outcome of every gate, then test each gate’s I/O.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654E9059-1E33-D06E-4011-E06F803A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23D6E0-6621-43E0-A779-41BB98E7151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2771" name="Oval 9">
            <a:extLst>
              <a:ext uri="{FF2B5EF4-FFF2-40B4-BE49-F238E27FC236}">
                <a16:creationId xmlns:a16="http://schemas.microsoft.com/office/drawing/2014/main" id="{322EE453-B72D-004A-A875-B7E288EE7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5" y="5562600"/>
            <a:ext cx="336550" cy="4572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7271A803-7214-9A4C-C6C8-3873FFF70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NP-Hard &amp; NP-Complete</a:t>
            </a:r>
          </a:p>
        </p:txBody>
      </p:sp>
      <p:sp>
        <p:nvSpPr>
          <p:cNvPr id="3277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419915A-6CC7-2A90-3BAB-AF2957A4BD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47800"/>
            <a:ext cx="7924800" cy="4114800"/>
          </a:xfrm>
        </p:spPr>
        <p:txBody>
          <a:bodyPr/>
          <a:lstStyle/>
          <a:p>
            <a:pPr eaLnBrk="1" hangingPunct="1"/>
            <a:r>
              <a:rPr lang="en-US" altLang="en-US" sz="2800"/>
              <a:t>A problem (language) L is </a:t>
            </a:r>
            <a:r>
              <a:rPr lang="en-US" altLang="en-US" sz="2800" b="1">
                <a:solidFill>
                  <a:schemeClr val="tx2"/>
                </a:solidFill>
              </a:rPr>
              <a:t>NP-hard</a:t>
            </a:r>
            <a:r>
              <a:rPr lang="en-US" altLang="en-US" sz="2800"/>
              <a:t> if </a:t>
            </a:r>
            <a:r>
              <a:rPr lang="en-US" altLang="en-US" sz="2800" u="sng"/>
              <a:t>every</a:t>
            </a:r>
            <a:r>
              <a:rPr lang="en-US" altLang="en-US" sz="2800"/>
              <a:t> </a:t>
            </a:r>
            <a:r>
              <a:rPr lang="en-US" altLang="en-US" sz="2800" u="sng"/>
              <a:t>problem in NP can be reduced to L in polynomial time</a:t>
            </a:r>
            <a:r>
              <a:rPr lang="en-US" altLang="en-US" sz="2800"/>
              <a:t>.</a:t>
            </a:r>
          </a:p>
          <a:p>
            <a:pPr eaLnBrk="1" hangingPunct="1"/>
            <a:r>
              <a:rPr lang="en-US" altLang="en-US" sz="2800"/>
              <a:t>That is, for each language M in NP, we can take an input x for M, </a:t>
            </a:r>
            <a:r>
              <a:rPr lang="en-US" altLang="en-US" sz="2800" b="1">
                <a:solidFill>
                  <a:schemeClr val="tx2"/>
                </a:solidFill>
              </a:rPr>
              <a:t>transform</a:t>
            </a:r>
            <a:r>
              <a:rPr lang="en-US" altLang="en-US" sz="2800"/>
              <a:t> it in polynomial time to an input x’ for L such that  x is in M if and only if x’ is in L.</a:t>
            </a:r>
          </a:p>
          <a:p>
            <a:pPr eaLnBrk="1" hangingPunct="1"/>
            <a:r>
              <a:rPr lang="en-US" altLang="en-US" sz="2800"/>
              <a:t>L is </a:t>
            </a:r>
            <a:r>
              <a:rPr lang="en-US" altLang="en-US" sz="2800" b="1">
                <a:solidFill>
                  <a:schemeClr val="tx2"/>
                </a:solidFill>
              </a:rPr>
              <a:t>NP-complete</a:t>
            </a:r>
            <a:r>
              <a:rPr lang="en-US" altLang="en-US" sz="2800"/>
              <a:t> if it’s </a:t>
            </a:r>
            <a:r>
              <a:rPr lang="en-US" altLang="en-US" sz="2800" u="sng"/>
              <a:t>in NP and is NP-hard</a:t>
            </a:r>
            <a:r>
              <a:rPr lang="en-US" altLang="en-US" sz="2800"/>
              <a:t>.</a:t>
            </a:r>
          </a:p>
        </p:txBody>
      </p:sp>
      <p:sp>
        <p:nvSpPr>
          <p:cNvPr id="32774" name="Oval 4">
            <a:extLst>
              <a:ext uri="{FF2B5EF4-FFF2-40B4-BE49-F238E27FC236}">
                <a16:creationId xmlns:a16="http://schemas.microsoft.com/office/drawing/2014/main" id="{A42E1E08-BAC1-9E52-BFF4-DAD04566C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181600"/>
            <a:ext cx="3352800" cy="11430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NP</a:t>
            </a:r>
          </a:p>
        </p:txBody>
      </p:sp>
      <p:sp>
        <p:nvSpPr>
          <p:cNvPr id="32775" name="AutoShape 6">
            <a:extLst>
              <a:ext uri="{FF2B5EF4-FFF2-40B4-BE49-F238E27FC236}">
                <a16:creationId xmlns:a16="http://schemas.microsoft.com/office/drawing/2014/main" id="{DCC8B8CF-F29F-A4A8-C672-B353A2DD7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410200"/>
            <a:ext cx="1524000" cy="9144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poly-time</a:t>
            </a:r>
          </a:p>
        </p:txBody>
      </p:sp>
      <p:sp>
        <p:nvSpPr>
          <p:cNvPr id="32776" name="Text Box 8">
            <a:extLst>
              <a:ext uri="{FF2B5EF4-FFF2-40B4-BE49-F238E27FC236}">
                <a16:creationId xmlns:a16="http://schemas.microsoft.com/office/drawing/2014/main" id="{CB060497-17DE-133F-C235-80105D7A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5" y="5562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D4F6F796-49C0-4F83-622B-9D9EE306A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EE7DAF-1AC1-4969-A1B7-CD844038439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3795" name="Oval 2">
            <a:extLst>
              <a:ext uri="{FF2B5EF4-FFF2-40B4-BE49-F238E27FC236}">
                <a16:creationId xmlns:a16="http://schemas.microsoft.com/office/drawing/2014/main" id="{9B4B1FDE-66C2-9092-A486-40AFCAF8C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5" y="5562600"/>
            <a:ext cx="1920875" cy="7620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FEBCB868-8074-BAAD-3753-49969C9EC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Cook-Levin Theorem</a:t>
            </a:r>
          </a:p>
        </p:txBody>
      </p:sp>
      <p:sp>
        <p:nvSpPr>
          <p:cNvPr id="33797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5A047B0-B15A-6F1F-4377-F5864FBB8F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153400" cy="4114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Proves CIRCUIT-SAT is NP-complete</a:t>
            </a:r>
          </a:p>
          <a:p>
            <a:pPr eaLnBrk="1" hangingPunct="1"/>
            <a:r>
              <a:rPr lang="en-US" altLang="en-US" sz="2400" dirty="0"/>
              <a:t>Shows that a polynomial-time reduction exists to SAT for any problem in NP</a:t>
            </a:r>
          </a:p>
        </p:txBody>
      </p:sp>
      <p:sp>
        <p:nvSpPr>
          <p:cNvPr id="33798" name="Oval 5">
            <a:extLst>
              <a:ext uri="{FF2B5EF4-FFF2-40B4-BE49-F238E27FC236}">
                <a16:creationId xmlns:a16="http://schemas.microsoft.com/office/drawing/2014/main" id="{5A6C0C5F-B8C1-6DFB-CEC5-C393C3249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953000"/>
            <a:ext cx="3581400" cy="16002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NP</a:t>
            </a:r>
          </a:p>
        </p:txBody>
      </p:sp>
      <p:sp>
        <p:nvSpPr>
          <p:cNvPr id="33799" name="AutoShape 6">
            <a:extLst>
              <a:ext uri="{FF2B5EF4-FFF2-40B4-BE49-F238E27FC236}">
                <a16:creationId xmlns:a16="http://schemas.microsoft.com/office/drawing/2014/main" id="{EBDB0666-B7EB-130B-3648-8975DF206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410200"/>
            <a:ext cx="1524000" cy="9144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poly-time</a:t>
            </a:r>
          </a:p>
        </p:txBody>
      </p:sp>
      <p:sp>
        <p:nvSpPr>
          <p:cNvPr id="33800" name="Text Box 7">
            <a:extLst>
              <a:ext uri="{FF2B5EF4-FFF2-40B4-BE49-F238E27FC236}">
                <a16:creationId xmlns:a16="http://schemas.microsoft.com/office/drawing/2014/main" id="{7FCBA82C-D908-A4E2-216C-ABC22BC5A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450" y="5715000"/>
            <a:ext cx="1684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CIRCUIT-SAT</a:t>
            </a:r>
          </a:p>
        </p:txBody>
      </p:sp>
      <p:sp>
        <p:nvSpPr>
          <p:cNvPr id="33801" name="Oval 8">
            <a:extLst>
              <a:ext uri="{FF2B5EF4-FFF2-40B4-BE49-F238E27FC236}">
                <a16:creationId xmlns:a16="http://schemas.microsoft.com/office/drawing/2014/main" id="{AFDE32B6-5A1C-087C-9742-596121C9F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5626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3802" name="Text Box 9">
            <a:extLst>
              <a:ext uri="{FF2B5EF4-FFF2-40B4-BE49-F238E27FC236}">
                <a16:creationId xmlns:a16="http://schemas.microsoft.com/office/drawing/2014/main" id="{6DB440E2-03B5-AF69-C338-566E6ABC7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46725"/>
            <a:ext cx="379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M</a:t>
            </a:r>
          </a:p>
        </p:txBody>
      </p:sp>
      <p:grpSp>
        <p:nvGrpSpPr>
          <p:cNvPr id="33803" name="Group 4">
            <a:extLst>
              <a:ext uri="{FF2B5EF4-FFF2-40B4-BE49-F238E27FC236}">
                <a16:creationId xmlns:a16="http://schemas.microsoft.com/office/drawing/2014/main" id="{ACAB6D4D-F402-B8BB-F9D4-CC07EFDCE621}"/>
              </a:ext>
            </a:extLst>
          </p:cNvPr>
          <p:cNvGrpSpPr>
            <a:grpSpLocks/>
          </p:cNvGrpSpPr>
          <p:nvPr/>
        </p:nvGrpSpPr>
        <p:grpSpPr bwMode="auto">
          <a:xfrm>
            <a:off x="5899150" y="3505200"/>
            <a:ext cx="3092450" cy="1865313"/>
            <a:chOff x="1959" y="2127"/>
            <a:chExt cx="3118" cy="1381"/>
          </a:xfrm>
        </p:grpSpPr>
        <p:sp>
          <p:nvSpPr>
            <p:cNvPr id="33804" name="Freeform 5">
              <a:extLst>
                <a:ext uri="{FF2B5EF4-FFF2-40B4-BE49-F238E27FC236}">
                  <a16:creationId xmlns:a16="http://schemas.microsoft.com/office/drawing/2014/main" id="{9A34F3C8-487A-54B5-B01A-DC0728A28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683"/>
              <a:ext cx="359" cy="287"/>
            </a:xfrm>
            <a:custGeom>
              <a:avLst/>
              <a:gdLst>
                <a:gd name="T0" fmla="*/ 0 w 720"/>
                <a:gd name="T1" fmla="*/ 0 h 574"/>
                <a:gd name="T2" fmla="*/ 0 w 720"/>
                <a:gd name="T3" fmla="*/ 1 h 574"/>
                <a:gd name="T4" fmla="*/ 0 w 720"/>
                <a:gd name="T5" fmla="*/ 1 h 574"/>
                <a:gd name="T6" fmla="*/ 0 w 720"/>
                <a:gd name="T7" fmla="*/ 1 h 574"/>
                <a:gd name="T8" fmla="*/ 0 w 720"/>
                <a:gd name="T9" fmla="*/ 1 h 574"/>
                <a:gd name="T10" fmla="*/ 0 w 720"/>
                <a:gd name="T11" fmla="*/ 1 h 574"/>
                <a:gd name="T12" fmla="*/ 0 w 720"/>
                <a:gd name="T13" fmla="*/ 1 h 574"/>
                <a:gd name="T14" fmla="*/ 0 w 720"/>
                <a:gd name="T15" fmla="*/ 1 h 574"/>
                <a:gd name="T16" fmla="*/ 0 w 720"/>
                <a:gd name="T17" fmla="*/ 1 h 574"/>
                <a:gd name="T18" fmla="*/ 0 w 720"/>
                <a:gd name="T19" fmla="*/ 1 h 574"/>
                <a:gd name="T20" fmla="*/ 0 w 720"/>
                <a:gd name="T21" fmla="*/ 1 h 574"/>
                <a:gd name="T22" fmla="*/ 0 w 720"/>
                <a:gd name="T23" fmla="*/ 1 h 574"/>
                <a:gd name="T24" fmla="*/ 0 w 720"/>
                <a:gd name="T25" fmla="*/ 1 h 574"/>
                <a:gd name="T26" fmla="*/ 0 w 720"/>
                <a:gd name="T27" fmla="*/ 1 h 574"/>
                <a:gd name="T28" fmla="*/ 0 w 720"/>
                <a:gd name="T29" fmla="*/ 1 h 574"/>
                <a:gd name="T30" fmla="*/ 0 w 720"/>
                <a:gd name="T31" fmla="*/ 1 h 574"/>
                <a:gd name="T32" fmla="*/ 0 w 720"/>
                <a:gd name="T33" fmla="*/ 1 h 574"/>
                <a:gd name="T34" fmla="*/ 0 w 720"/>
                <a:gd name="T35" fmla="*/ 1 h 574"/>
                <a:gd name="T36" fmla="*/ 0 w 720"/>
                <a:gd name="T37" fmla="*/ 1 h 574"/>
                <a:gd name="T38" fmla="*/ 0 w 720"/>
                <a:gd name="T39" fmla="*/ 1 h 574"/>
                <a:gd name="T40" fmla="*/ 0 w 720"/>
                <a:gd name="T41" fmla="*/ 1 h 574"/>
                <a:gd name="T42" fmla="*/ 0 w 720"/>
                <a:gd name="T43" fmla="*/ 1 h 574"/>
                <a:gd name="T44" fmla="*/ 0 w 720"/>
                <a:gd name="T45" fmla="*/ 0 h 574"/>
                <a:gd name="T46" fmla="*/ 0 w 720"/>
                <a:gd name="T47" fmla="*/ 0 h 57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20" h="574">
                  <a:moveTo>
                    <a:pt x="0" y="0"/>
                  </a:moveTo>
                  <a:lnTo>
                    <a:pt x="0" y="574"/>
                  </a:lnTo>
                  <a:lnTo>
                    <a:pt x="432" y="574"/>
                  </a:lnTo>
                  <a:lnTo>
                    <a:pt x="478" y="570"/>
                  </a:lnTo>
                  <a:lnTo>
                    <a:pt x="522" y="559"/>
                  </a:lnTo>
                  <a:lnTo>
                    <a:pt x="562" y="542"/>
                  </a:lnTo>
                  <a:lnTo>
                    <a:pt x="601" y="519"/>
                  </a:lnTo>
                  <a:lnTo>
                    <a:pt x="635" y="490"/>
                  </a:lnTo>
                  <a:lnTo>
                    <a:pt x="666" y="455"/>
                  </a:lnTo>
                  <a:lnTo>
                    <a:pt x="689" y="417"/>
                  </a:lnTo>
                  <a:lnTo>
                    <a:pt x="706" y="375"/>
                  </a:lnTo>
                  <a:lnTo>
                    <a:pt x="716" y="331"/>
                  </a:lnTo>
                  <a:lnTo>
                    <a:pt x="720" y="287"/>
                  </a:lnTo>
                  <a:lnTo>
                    <a:pt x="716" y="241"/>
                  </a:lnTo>
                  <a:lnTo>
                    <a:pt x="706" y="197"/>
                  </a:lnTo>
                  <a:lnTo>
                    <a:pt x="689" y="157"/>
                  </a:lnTo>
                  <a:lnTo>
                    <a:pt x="666" y="119"/>
                  </a:lnTo>
                  <a:lnTo>
                    <a:pt x="635" y="84"/>
                  </a:lnTo>
                  <a:lnTo>
                    <a:pt x="601" y="54"/>
                  </a:lnTo>
                  <a:lnTo>
                    <a:pt x="562" y="31"/>
                  </a:lnTo>
                  <a:lnTo>
                    <a:pt x="522" y="14"/>
                  </a:lnTo>
                  <a:lnTo>
                    <a:pt x="478" y="4"/>
                  </a:lnTo>
                  <a:lnTo>
                    <a:pt x="4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5" name="Freeform 6">
              <a:extLst>
                <a:ext uri="{FF2B5EF4-FFF2-40B4-BE49-F238E27FC236}">
                  <a16:creationId xmlns:a16="http://schemas.microsoft.com/office/drawing/2014/main" id="{9C2B6164-FF28-D60D-ED9F-9E6639A8D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2755"/>
              <a:ext cx="318" cy="287"/>
            </a:xfrm>
            <a:custGeom>
              <a:avLst/>
              <a:gdLst>
                <a:gd name="T0" fmla="*/ 1 w 635"/>
                <a:gd name="T1" fmla="*/ 1 h 574"/>
                <a:gd name="T2" fmla="*/ 1 w 635"/>
                <a:gd name="T3" fmla="*/ 1 h 574"/>
                <a:gd name="T4" fmla="*/ 1 w 635"/>
                <a:gd name="T5" fmla="*/ 1 h 574"/>
                <a:gd name="T6" fmla="*/ 1 w 635"/>
                <a:gd name="T7" fmla="*/ 1 h 574"/>
                <a:gd name="T8" fmla="*/ 1 w 635"/>
                <a:gd name="T9" fmla="*/ 1 h 574"/>
                <a:gd name="T10" fmla="*/ 1 w 635"/>
                <a:gd name="T11" fmla="*/ 1 h 574"/>
                <a:gd name="T12" fmla="*/ 1 w 635"/>
                <a:gd name="T13" fmla="*/ 1 h 574"/>
                <a:gd name="T14" fmla="*/ 1 w 635"/>
                <a:gd name="T15" fmla="*/ 1 h 574"/>
                <a:gd name="T16" fmla="*/ 1 w 635"/>
                <a:gd name="T17" fmla="*/ 1 h 574"/>
                <a:gd name="T18" fmla="*/ 1 w 635"/>
                <a:gd name="T19" fmla="*/ 1 h 574"/>
                <a:gd name="T20" fmla="*/ 1 w 635"/>
                <a:gd name="T21" fmla="*/ 1 h 574"/>
                <a:gd name="T22" fmla="*/ 1 w 635"/>
                <a:gd name="T23" fmla="*/ 1 h 574"/>
                <a:gd name="T24" fmla="*/ 1 w 635"/>
                <a:gd name="T25" fmla="*/ 1 h 574"/>
                <a:gd name="T26" fmla="*/ 1 w 635"/>
                <a:gd name="T27" fmla="*/ 1 h 574"/>
                <a:gd name="T28" fmla="*/ 1 w 635"/>
                <a:gd name="T29" fmla="*/ 1 h 574"/>
                <a:gd name="T30" fmla="*/ 1 w 635"/>
                <a:gd name="T31" fmla="*/ 1 h 574"/>
                <a:gd name="T32" fmla="*/ 1 w 635"/>
                <a:gd name="T33" fmla="*/ 1 h 574"/>
                <a:gd name="T34" fmla="*/ 1 w 635"/>
                <a:gd name="T35" fmla="*/ 1 h 574"/>
                <a:gd name="T36" fmla="*/ 1 w 635"/>
                <a:gd name="T37" fmla="*/ 1 h 574"/>
                <a:gd name="T38" fmla="*/ 1 w 635"/>
                <a:gd name="T39" fmla="*/ 1 h 574"/>
                <a:gd name="T40" fmla="*/ 1 w 635"/>
                <a:gd name="T41" fmla="*/ 1 h 574"/>
                <a:gd name="T42" fmla="*/ 0 w 635"/>
                <a:gd name="T43" fmla="*/ 0 h 574"/>
                <a:gd name="T44" fmla="*/ 0 w 635"/>
                <a:gd name="T45" fmla="*/ 1 h 574"/>
                <a:gd name="T46" fmla="*/ 1 w 635"/>
                <a:gd name="T47" fmla="*/ 1 h 57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35" h="574">
                  <a:moveTo>
                    <a:pt x="491" y="290"/>
                  </a:moveTo>
                  <a:lnTo>
                    <a:pt x="497" y="311"/>
                  </a:lnTo>
                  <a:lnTo>
                    <a:pt x="506" y="331"/>
                  </a:lnTo>
                  <a:lnTo>
                    <a:pt x="524" y="346"/>
                  </a:lnTo>
                  <a:lnTo>
                    <a:pt x="543" y="355"/>
                  </a:lnTo>
                  <a:lnTo>
                    <a:pt x="566" y="357"/>
                  </a:lnTo>
                  <a:lnTo>
                    <a:pt x="587" y="354"/>
                  </a:lnTo>
                  <a:lnTo>
                    <a:pt x="606" y="344"/>
                  </a:lnTo>
                  <a:lnTo>
                    <a:pt x="621" y="327"/>
                  </a:lnTo>
                  <a:lnTo>
                    <a:pt x="631" y="308"/>
                  </a:lnTo>
                  <a:lnTo>
                    <a:pt x="635" y="287"/>
                  </a:lnTo>
                  <a:lnTo>
                    <a:pt x="631" y="264"/>
                  </a:lnTo>
                  <a:lnTo>
                    <a:pt x="621" y="245"/>
                  </a:lnTo>
                  <a:lnTo>
                    <a:pt x="606" y="229"/>
                  </a:lnTo>
                  <a:lnTo>
                    <a:pt x="587" y="218"/>
                  </a:lnTo>
                  <a:lnTo>
                    <a:pt x="566" y="214"/>
                  </a:lnTo>
                  <a:lnTo>
                    <a:pt x="543" y="218"/>
                  </a:lnTo>
                  <a:lnTo>
                    <a:pt x="524" y="227"/>
                  </a:lnTo>
                  <a:lnTo>
                    <a:pt x="506" y="241"/>
                  </a:lnTo>
                  <a:lnTo>
                    <a:pt x="497" y="260"/>
                  </a:lnTo>
                  <a:lnTo>
                    <a:pt x="491" y="283"/>
                  </a:lnTo>
                  <a:lnTo>
                    <a:pt x="0" y="0"/>
                  </a:lnTo>
                  <a:lnTo>
                    <a:pt x="0" y="574"/>
                  </a:lnTo>
                  <a:lnTo>
                    <a:pt x="491" y="29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6" name="Freeform 7">
              <a:extLst>
                <a:ext uri="{FF2B5EF4-FFF2-40B4-BE49-F238E27FC236}">
                  <a16:creationId xmlns:a16="http://schemas.microsoft.com/office/drawing/2014/main" id="{FCB7DE6A-870E-F12F-9898-49064C7F7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2324"/>
              <a:ext cx="360" cy="287"/>
            </a:xfrm>
            <a:custGeom>
              <a:avLst/>
              <a:gdLst>
                <a:gd name="T0" fmla="*/ 1 w 719"/>
                <a:gd name="T1" fmla="*/ 0 h 574"/>
                <a:gd name="T2" fmla="*/ 1 w 719"/>
                <a:gd name="T3" fmla="*/ 1 h 574"/>
                <a:gd name="T4" fmla="*/ 1 w 719"/>
                <a:gd name="T5" fmla="*/ 1 h 574"/>
                <a:gd name="T6" fmla="*/ 1 w 719"/>
                <a:gd name="T7" fmla="*/ 1 h 574"/>
                <a:gd name="T8" fmla="*/ 1 w 719"/>
                <a:gd name="T9" fmla="*/ 1 h 574"/>
                <a:gd name="T10" fmla="*/ 1 w 719"/>
                <a:gd name="T11" fmla="*/ 1 h 574"/>
                <a:gd name="T12" fmla="*/ 1 w 719"/>
                <a:gd name="T13" fmla="*/ 1 h 574"/>
                <a:gd name="T14" fmla="*/ 1 w 719"/>
                <a:gd name="T15" fmla="*/ 1 h 574"/>
                <a:gd name="T16" fmla="*/ 1 w 719"/>
                <a:gd name="T17" fmla="*/ 1 h 574"/>
                <a:gd name="T18" fmla="*/ 1 w 719"/>
                <a:gd name="T19" fmla="*/ 1 h 574"/>
                <a:gd name="T20" fmla="*/ 1 w 719"/>
                <a:gd name="T21" fmla="*/ 1 h 574"/>
                <a:gd name="T22" fmla="*/ 1 w 719"/>
                <a:gd name="T23" fmla="*/ 1 h 574"/>
                <a:gd name="T24" fmla="*/ 1 w 719"/>
                <a:gd name="T25" fmla="*/ 1 h 574"/>
                <a:gd name="T26" fmla="*/ 1 w 719"/>
                <a:gd name="T27" fmla="*/ 1 h 574"/>
                <a:gd name="T28" fmla="*/ 1 w 719"/>
                <a:gd name="T29" fmla="*/ 1 h 574"/>
                <a:gd name="T30" fmla="*/ 1 w 719"/>
                <a:gd name="T31" fmla="*/ 1 h 574"/>
                <a:gd name="T32" fmla="*/ 1 w 719"/>
                <a:gd name="T33" fmla="*/ 1 h 574"/>
                <a:gd name="T34" fmla="*/ 0 w 719"/>
                <a:gd name="T35" fmla="*/ 1 h 574"/>
                <a:gd name="T36" fmla="*/ 1 w 719"/>
                <a:gd name="T37" fmla="*/ 1 h 574"/>
                <a:gd name="T38" fmla="*/ 1 w 719"/>
                <a:gd name="T39" fmla="*/ 1 h 574"/>
                <a:gd name="T40" fmla="*/ 1 w 719"/>
                <a:gd name="T41" fmla="*/ 1 h 574"/>
                <a:gd name="T42" fmla="*/ 1 w 719"/>
                <a:gd name="T43" fmla="*/ 1 h 574"/>
                <a:gd name="T44" fmla="*/ 1 w 719"/>
                <a:gd name="T45" fmla="*/ 1 h 574"/>
                <a:gd name="T46" fmla="*/ 1 w 719"/>
                <a:gd name="T47" fmla="*/ 1 h 574"/>
                <a:gd name="T48" fmla="*/ 1 w 719"/>
                <a:gd name="T49" fmla="*/ 1 h 574"/>
                <a:gd name="T50" fmla="*/ 0 w 719"/>
                <a:gd name="T51" fmla="*/ 0 h 574"/>
                <a:gd name="T52" fmla="*/ 1 w 719"/>
                <a:gd name="T53" fmla="*/ 0 h 57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19" h="574">
                  <a:moveTo>
                    <a:pt x="312" y="0"/>
                  </a:moveTo>
                  <a:lnTo>
                    <a:pt x="374" y="13"/>
                  </a:lnTo>
                  <a:lnTo>
                    <a:pt x="435" y="36"/>
                  </a:lnTo>
                  <a:lnTo>
                    <a:pt x="493" y="63"/>
                  </a:lnTo>
                  <a:lnTo>
                    <a:pt x="546" y="97"/>
                  </a:lnTo>
                  <a:lnTo>
                    <a:pt x="598" y="137"/>
                  </a:lnTo>
                  <a:lnTo>
                    <a:pt x="644" y="183"/>
                  </a:lnTo>
                  <a:lnTo>
                    <a:pt x="685" y="233"/>
                  </a:lnTo>
                  <a:lnTo>
                    <a:pt x="719" y="287"/>
                  </a:lnTo>
                  <a:lnTo>
                    <a:pt x="686" y="342"/>
                  </a:lnTo>
                  <a:lnTo>
                    <a:pt x="646" y="392"/>
                  </a:lnTo>
                  <a:lnTo>
                    <a:pt x="600" y="438"/>
                  </a:lnTo>
                  <a:lnTo>
                    <a:pt x="550" y="478"/>
                  </a:lnTo>
                  <a:lnTo>
                    <a:pt x="495" y="512"/>
                  </a:lnTo>
                  <a:lnTo>
                    <a:pt x="437" y="539"/>
                  </a:lnTo>
                  <a:lnTo>
                    <a:pt x="376" y="560"/>
                  </a:lnTo>
                  <a:lnTo>
                    <a:pt x="312" y="574"/>
                  </a:lnTo>
                  <a:lnTo>
                    <a:pt x="0" y="574"/>
                  </a:lnTo>
                  <a:lnTo>
                    <a:pt x="27" y="505"/>
                  </a:lnTo>
                  <a:lnTo>
                    <a:pt x="44" y="432"/>
                  </a:lnTo>
                  <a:lnTo>
                    <a:pt x="55" y="359"/>
                  </a:lnTo>
                  <a:lnTo>
                    <a:pt x="59" y="287"/>
                  </a:lnTo>
                  <a:lnTo>
                    <a:pt x="55" y="212"/>
                  </a:lnTo>
                  <a:lnTo>
                    <a:pt x="44" y="139"/>
                  </a:lnTo>
                  <a:lnTo>
                    <a:pt x="27" y="69"/>
                  </a:lnTo>
                  <a:lnTo>
                    <a:pt x="0" y="0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7" name="Freeform 8">
              <a:extLst>
                <a:ext uri="{FF2B5EF4-FFF2-40B4-BE49-F238E27FC236}">
                  <a16:creationId xmlns:a16="http://schemas.microsoft.com/office/drawing/2014/main" id="{9D122D49-F743-DE72-0224-CB5AC668B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3042"/>
              <a:ext cx="360" cy="287"/>
            </a:xfrm>
            <a:custGeom>
              <a:avLst/>
              <a:gdLst>
                <a:gd name="T0" fmla="*/ 0 w 720"/>
                <a:gd name="T1" fmla="*/ 0 h 574"/>
                <a:gd name="T2" fmla="*/ 0 w 720"/>
                <a:gd name="T3" fmla="*/ 1 h 574"/>
                <a:gd name="T4" fmla="*/ 1 w 720"/>
                <a:gd name="T5" fmla="*/ 1 h 574"/>
                <a:gd name="T6" fmla="*/ 1 w 720"/>
                <a:gd name="T7" fmla="*/ 1 h 574"/>
                <a:gd name="T8" fmla="*/ 1 w 720"/>
                <a:gd name="T9" fmla="*/ 1 h 574"/>
                <a:gd name="T10" fmla="*/ 1 w 720"/>
                <a:gd name="T11" fmla="*/ 1 h 574"/>
                <a:gd name="T12" fmla="*/ 1 w 720"/>
                <a:gd name="T13" fmla="*/ 1 h 574"/>
                <a:gd name="T14" fmla="*/ 1 w 720"/>
                <a:gd name="T15" fmla="*/ 1 h 574"/>
                <a:gd name="T16" fmla="*/ 1 w 720"/>
                <a:gd name="T17" fmla="*/ 1 h 574"/>
                <a:gd name="T18" fmla="*/ 1 w 720"/>
                <a:gd name="T19" fmla="*/ 1 h 574"/>
                <a:gd name="T20" fmla="*/ 1 w 720"/>
                <a:gd name="T21" fmla="*/ 1 h 574"/>
                <a:gd name="T22" fmla="*/ 1 w 720"/>
                <a:gd name="T23" fmla="*/ 1 h 574"/>
                <a:gd name="T24" fmla="*/ 1 w 720"/>
                <a:gd name="T25" fmla="*/ 1 h 574"/>
                <a:gd name="T26" fmla="*/ 1 w 720"/>
                <a:gd name="T27" fmla="*/ 1 h 574"/>
                <a:gd name="T28" fmla="*/ 1 w 720"/>
                <a:gd name="T29" fmla="*/ 1 h 574"/>
                <a:gd name="T30" fmla="*/ 1 w 720"/>
                <a:gd name="T31" fmla="*/ 1 h 574"/>
                <a:gd name="T32" fmla="*/ 1 w 720"/>
                <a:gd name="T33" fmla="*/ 1 h 574"/>
                <a:gd name="T34" fmla="*/ 1 w 720"/>
                <a:gd name="T35" fmla="*/ 1 h 574"/>
                <a:gd name="T36" fmla="*/ 1 w 720"/>
                <a:gd name="T37" fmla="*/ 1 h 574"/>
                <a:gd name="T38" fmla="*/ 1 w 720"/>
                <a:gd name="T39" fmla="*/ 1 h 574"/>
                <a:gd name="T40" fmla="*/ 1 w 720"/>
                <a:gd name="T41" fmla="*/ 1 h 574"/>
                <a:gd name="T42" fmla="*/ 1 w 720"/>
                <a:gd name="T43" fmla="*/ 1 h 574"/>
                <a:gd name="T44" fmla="*/ 1 w 720"/>
                <a:gd name="T45" fmla="*/ 0 h 574"/>
                <a:gd name="T46" fmla="*/ 0 w 720"/>
                <a:gd name="T47" fmla="*/ 0 h 57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20" h="574">
                  <a:moveTo>
                    <a:pt x="0" y="0"/>
                  </a:moveTo>
                  <a:lnTo>
                    <a:pt x="0" y="574"/>
                  </a:lnTo>
                  <a:lnTo>
                    <a:pt x="432" y="574"/>
                  </a:lnTo>
                  <a:lnTo>
                    <a:pt x="476" y="570"/>
                  </a:lnTo>
                  <a:lnTo>
                    <a:pt x="520" y="558"/>
                  </a:lnTo>
                  <a:lnTo>
                    <a:pt x="562" y="541"/>
                  </a:lnTo>
                  <a:lnTo>
                    <a:pt x="601" y="518"/>
                  </a:lnTo>
                  <a:lnTo>
                    <a:pt x="635" y="489"/>
                  </a:lnTo>
                  <a:lnTo>
                    <a:pt x="664" y="455"/>
                  </a:lnTo>
                  <a:lnTo>
                    <a:pt x="687" y="417"/>
                  </a:lnTo>
                  <a:lnTo>
                    <a:pt x="704" y="375"/>
                  </a:lnTo>
                  <a:lnTo>
                    <a:pt x="716" y="331"/>
                  </a:lnTo>
                  <a:lnTo>
                    <a:pt x="720" y="287"/>
                  </a:lnTo>
                  <a:lnTo>
                    <a:pt x="716" y="241"/>
                  </a:lnTo>
                  <a:lnTo>
                    <a:pt x="704" y="197"/>
                  </a:lnTo>
                  <a:lnTo>
                    <a:pt x="687" y="156"/>
                  </a:lnTo>
                  <a:lnTo>
                    <a:pt x="664" y="118"/>
                  </a:lnTo>
                  <a:lnTo>
                    <a:pt x="635" y="84"/>
                  </a:lnTo>
                  <a:lnTo>
                    <a:pt x="601" y="53"/>
                  </a:lnTo>
                  <a:lnTo>
                    <a:pt x="562" y="30"/>
                  </a:lnTo>
                  <a:lnTo>
                    <a:pt x="520" y="13"/>
                  </a:lnTo>
                  <a:lnTo>
                    <a:pt x="476" y="3"/>
                  </a:lnTo>
                  <a:lnTo>
                    <a:pt x="4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8" name="Line 9">
              <a:extLst>
                <a:ext uri="{FF2B5EF4-FFF2-40B4-BE49-F238E27FC236}">
                  <a16:creationId xmlns:a16="http://schemas.microsoft.com/office/drawing/2014/main" id="{09851E29-53A1-8E44-C0EB-FC611B6341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9" y="2396"/>
              <a:ext cx="28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9" name="Freeform 10">
              <a:extLst>
                <a:ext uri="{FF2B5EF4-FFF2-40B4-BE49-F238E27FC236}">
                  <a16:creationId xmlns:a16="http://schemas.microsoft.com/office/drawing/2014/main" id="{6DE775E4-5CC7-874F-EAD8-1E7AF683F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2370"/>
              <a:ext cx="52" cy="52"/>
            </a:xfrm>
            <a:custGeom>
              <a:avLst/>
              <a:gdLst>
                <a:gd name="T0" fmla="*/ 0 w 106"/>
                <a:gd name="T1" fmla="*/ 0 h 103"/>
                <a:gd name="T2" fmla="*/ 0 w 106"/>
                <a:gd name="T3" fmla="*/ 1 h 103"/>
                <a:gd name="T4" fmla="*/ 0 w 106"/>
                <a:gd name="T5" fmla="*/ 1 h 103"/>
                <a:gd name="T6" fmla="*/ 0 w 106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6" h="103">
                  <a:moveTo>
                    <a:pt x="0" y="0"/>
                  </a:moveTo>
                  <a:lnTo>
                    <a:pt x="106" y="51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0" name="Line 11">
              <a:extLst>
                <a:ext uri="{FF2B5EF4-FFF2-40B4-BE49-F238E27FC236}">
                  <a16:creationId xmlns:a16="http://schemas.microsoft.com/office/drawing/2014/main" id="{D2ACF355-6A78-C9C9-AFA8-4DCC1E238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9" y="2540"/>
              <a:ext cx="28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1" name="Freeform 12">
              <a:extLst>
                <a:ext uri="{FF2B5EF4-FFF2-40B4-BE49-F238E27FC236}">
                  <a16:creationId xmlns:a16="http://schemas.microsoft.com/office/drawing/2014/main" id="{9999FE82-C446-0ADF-66A5-8A76E24BE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2514"/>
              <a:ext cx="52" cy="51"/>
            </a:xfrm>
            <a:custGeom>
              <a:avLst/>
              <a:gdLst>
                <a:gd name="T0" fmla="*/ 0 w 106"/>
                <a:gd name="T1" fmla="*/ 0 h 103"/>
                <a:gd name="T2" fmla="*/ 0 w 106"/>
                <a:gd name="T3" fmla="*/ 0 h 103"/>
                <a:gd name="T4" fmla="*/ 0 w 106"/>
                <a:gd name="T5" fmla="*/ 0 h 103"/>
                <a:gd name="T6" fmla="*/ 0 w 106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6" h="103">
                  <a:moveTo>
                    <a:pt x="0" y="0"/>
                  </a:moveTo>
                  <a:lnTo>
                    <a:pt x="106" y="51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2" name="Line 13">
              <a:extLst>
                <a:ext uri="{FF2B5EF4-FFF2-40B4-BE49-F238E27FC236}">
                  <a16:creationId xmlns:a16="http://schemas.microsoft.com/office/drawing/2014/main" id="{2F2957FF-3265-B9D2-3C03-ABC35F510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9" y="2898"/>
              <a:ext cx="28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3" name="Freeform 14">
              <a:extLst>
                <a:ext uri="{FF2B5EF4-FFF2-40B4-BE49-F238E27FC236}">
                  <a16:creationId xmlns:a16="http://schemas.microsoft.com/office/drawing/2014/main" id="{F6917F14-72A4-EFE4-D2DA-488A0DA80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2872"/>
              <a:ext cx="51" cy="52"/>
            </a:xfrm>
            <a:custGeom>
              <a:avLst/>
              <a:gdLst>
                <a:gd name="T0" fmla="*/ 0 w 104"/>
                <a:gd name="T1" fmla="*/ 0 h 103"/>
                <a:gd name="T2" fmla="*/ 0 w 104"/>
                <a:gd name="T3" fmla="*/ 1 h 103"/>
                <a:gd name="T4" fmla="*/ 0 w 104"/>
                <a:gd name="T5" fmla="*/ 1 h 103"/>
                <a:gd name="T6" fmla="*/ 0 w 104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103">
                  <a:moveTo>
                    <a:pt x="0" y="0"/>
                  </a:moveTo>
                  <a:lnTo>
                    <a:pt x="104" y="52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4" name="Line 15">
              <a:extLst>
                <a:ext uri="{FF2B5EF4-FFF2-40B4-BE49-F238E27FC236}">
                  <a16:creationId xmlns:a16="http://schemas.microsoft.com/office/drawing/2014/main" id="{80C14E58-5896-5AC4-9879-E53D9289D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7" y="2898"/>
              <a:ext cx="24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5" name="Freeform 16">
              <a:extLst>
                <a:ext uri="{FF2B5EF4-FFF2-40B4-BE49-F238E27FC236}">
                  <a16:creationId xmlns:a16="http://schemas.microsoft.com/office/drawing/2014/main" id="{EBBCB725-3F66-BA23-5BA8-EA77EDCC7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3" y="2872"/>
              <a:ext cx="52" cy="52"/>
            </a:xfrm>
            <a:custGeom>
              <a:avLst/>
              <a:gdLst>
                <a:gd name="T0" fmla="*/ 0 w 103"/>
                <a:gd name="T1" fmla="*/ 0 h 103"/>
                <a:gd name="T2" fmla="*/ 1 w 103"/>
                <a:gd name="T3" fmla="*/ 1 h 103"/>
                <a:gd name="T4" fmla="*/ 0 w 103"/>
                <a:gd name="T5" fmla="*/ 1 h 103"/>
                <a:gd name="T6" fmla="*/ 0 w 103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103">
                  <a:moveTo>
                    <a:pt x="0" y="0"/>
                  </a:moveTo>
                  <a:lnTo>
                    <a:pt x="103" y="52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6" name="Freeform 17">
              <a:extLst>
                <a:ext uri="{FF2B5EF4-FFF2-40B4-BE49-F238E27FC236}">
                  <a16:creationId xmlns:a16="http://schemas.microsoft.com/office/drawing/2014/main" id="{30CD61C6-C543-4FAF-6C8F-CE0A004E5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468"/>
              <a:ext cx="222" cy="287"/>
            </a:xfrm>
            <a:custGeom>
              <a:avLst/>
              <a:gdLst>
                <a:gd name="T0" fmla="*/ 0 w 443"/>
                <a:gd name="T1" fmla="*/ 0 h 574"/>
                <a:gd name="T2" fmla="*/ 1 w 443"/>
                <a:gd name="T3" fmla="*/ 0 h 574"/>
                <a:gd name="T4" fmla="*/ 1 w 443"/>
                <a:gd name="T5" fmla="*/ 1 h 574"/>
                <a:gd name="T6" fmla="*/ 1 w 443"/>
                <a:gd name="T7" fmla="*/ 1 h 57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3" h="574">
                  <a:moveTo>
                    <a:pt x="0" y="0"/>
                  </a:moveTo>
                  <a:lnTo>
                    <a:pt x="288" y="0"/>
                  </a:lnTo>
                  <a:lnTo>
                    <a:pt x="288" y="574"/>
                  </a:lnTo>
                  <a:lnTo>
                    <a:pt x="443" y="57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7" name="Freeform 18">
              <a:extLst>
                <a:ext uri="{FF2B5EF4-FFF2-40B4-BE49-F238E27FC236}">
                  <a16:creationId xmlns:a16="http://schemas.microsoft.com/office/drawing/2014/main" id="{4C8893BF-DFE1-6D46-820E-23ED0C85E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3" y="2729"/>
              <a:ext cx="52" cy="52"/>
            </a:xfrm>
            <a:custGeom>
              <a:avLst/>
              <a:gdLst>
                <a:gd name="T0" fmla="*/ 0 w 103"/>
                <a:gd name="T1" fmla="*/ 0 h 103"/>
                <a:gd name="T2" fmla="*/ 1 w 103"/>
                <a:gd name="T3" fmla="*/ 1 h 103"/>
                <a:gd name="T4" fmla="*/ 0 w 103"/>
                <a:gd name="T5" fmla="*/ 1 h 103"/>
                <a:gd name="T6" fmla="*/ 0 w 103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103">
                  <a:moveTo>
                    <a:pt x="0" y="0"/>
                  </a:moveTo>
                  <a:lnTo>
                    <a:pt x="103" y="52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8" name="Line 19">
              <a:extLst>
                <a:ext uri="{FF2B5EF4-FFF2-40B4-BE49-F238E27FC236}">
                  <a16:creationId xmlns:a16="http://schemas.microsoft.com/office/drawing/2014/main" id="{76001BA6-A44A-DF6A-3426-E662F81722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4" y="2827"/>
              <a:ext cx="21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9" name="Freeform 20">
              <a:extLst>
                <a:ext uri="{FF2B5EF4-FFF2-40B4-BE49-F238E27FC236}">
                  <a16:creationId xmlns:a16="http://schemas.microsoft.com/office/drawing/2014/main" id="{1F11DD86-38C4-B356-B996-9997DE306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2801"/>
              <a:ext cx="51" cy="51"/>
            </a:xfrm>
            <a:custGeom>
              <a:avLst/>
              <a:gdLst>
                <a:gd name="T0" fmla="*/ 0 w 104"/>
                <a:gd name="T1" fmla="*/ 0 h 104"/>
                <a:gd name="T2" fmla="*/ 0 w 104"/>
                <a:gd name="T3" fmla="*/ 0 h 104"/>
                <a:gd name="T4" fmla="*/ 0 w 104"/>
                <a:gd name="T5" fmla="*/ 0 h 104"/>
                <a:gd name="T6" fmla="*/ 0 w 104"/>
                <a:gd name="T7" fmla="*/ 0 h 1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104">
                  <a:moveTo>
                    <a:pt x="0" y="0"/>
                  </a:moveTo>
                  <a:lnTo>
                    <a:pt x="104" y="52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0" name="Line 21">
              <a:extLst>
                <a:ext uri="{FF2B5EF4-FFF2-40B4-BE49-F238E27FC236}">
                  <a16:creationId xmlns:a16="http://schemas.microsoft.com/office/drawing/2014/main" id="{EBEB3958-E5E8-245E-6A57-ECC55670B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2" y="3185"/>
              <a:ext cx="20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1" name="Freeform 22">
              <a:extLst>
                <a:ext uri="{FF2B5EF4-FFF2-40B4-BE49-F238E27FC236}">
                  <a16:creationId xmlns:a16="http://schemas.microsoft.com/office/drawing/2014/main" id="{7BF0E162-7554-D9B8-FC28-08DB58D4E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1" y="3159"/>
              <a:ext cx="52" cy="52"/>
            </a:xfrm>
            <a:custGeom>
              <a:avLst/>
              <a:gdLst>
                <a:gd name="T0" fmla="*/ 0 w 103"/>
                <a:gd name="T1" fmla="*/ 0 h 103"/>
                <a:gd name="T2" fmla="*/ 1 w 103"/>
                <a:gd name="T3" fmla="*/ 1 h 103"/>
                <a:gd name="T4" fmla="*/ 0 w 103"/>
                <a:gd name="T5" fmla="*/ 1 h 103"/>
                <a:gd name="T6" fmla="*/ 0 w 103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103">
                  <a:moveTo>
                    <a:pt x="0" y="0"/>
                  </a:moveTo>
                  <a:lnTo>
                    <a:pt x="103" y="52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2" name="Freeform 23">
              <a:extLst>
                <a:ext uri="{FF2B5EF4-FFF2-40B4-BE49-F238E27FC236}">
                  <a16:creationId xmlns:a16="http://schemas.microsoft.com/office/drawing/2014/main" id="{CF475011-2784-5C7F-095B-B62D4CB99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2898"/>
              <a:ext cx="682" cy="610"/>
            </a:xfrm>
            <a:custGeom>
              <a:avLst/>
              <a:gdLst>
                <a:gd name="T0" fmla="*/ 0 w 1364"/>
                <a:gd name="T1" fmla="*/ 0 h 1218"/>
                <a:gd name="T2" fmla="*/ 0 w 1364"/>
                <a:gd name="T3" fmla="*/ 1 h 1218"/>
                <a:gd name="T4" fmla="*/ 1 w 1364"/>
                <a:gd name="T5" fmla="*/ 1 h 1218"/>
                <a:gd name="T6" fmla="*/ 1 w 1364"/>
                <a:gd name="T7" fmla="*/ 1 h 1218"/>
                <a:gd name="T8" fmla="*/ 1 w 1364"/>
                <a:gd name="T9" fmla="*/ 1 h 1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4" h="1218">
                  <a:moveTo>
                    <a:pt x="0" y="0"/>
                  </a:moveTo>
                  <a:lnTo>
                    <a:pt x="0" y="1218"/>
                  </a:lnTo>
                  <a:lnTo>
                    <a:pt x="1151" y="1218"/>
                  </a:lnTo>
                  <a:lnTo>
                    <a:pt x="1151" y="1075"/>
                  </a:lnTo>
                  <a:lnTo>
                    <a:pt x="1364" y="107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3" name="Freeform 24">
              <a:extLst>
                <a:ext uri="{FF2B5EF4-FFF2-40B4-BE49-F238E27FC236}">
                  <a16:creationId xmlns:a16="http://schemas.microsoft.com/office/drawing/2014/main" id="{C2AC2AE7-0D1A-86DC-B75E-56AD0470A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3410"/>
              <a:ext cx="51" cy="52"/>
            </a:xfrm>
            <a:custGeom>
              <a:avLst/>
              <a:gdLst>
                <a:gd name="T0" fmla="*/ 0 w 104"/>
                <a:gd name="T1" fmla="*/ 0 h 103"/>
                <a:gd name="T2" fmla="*/ 0 w 104"/>
                <a:gd name="T3" fmla="*/ 1 h 103"/>
                <a:gd name="T4" fmla="*/ 0 w 104"/>
                <a:gd name="T5" fmla="*/ 1 h 103"/>
                <a:gd name="T6" fmla="*/ 0 w 104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103">
                  <a:moveTo>
                    <a:pt x="0" y="0"/>
                  </a:moveTo>
                  <a:lnTo>
                    <a:pt x="104" y="52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4" name="Rectangle 25">
              <a:extLst>
                <a:ext uri="{FF2B5EF4-FFF2-40B4-BE49-F238E27FC236}">
                  <a16:creationId xmlns:a16="http://schemas.microsoft.com/office/drawing/2014/main" id="{6B061165-0884-4F32-9B3A-4E8CAFB4C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2127"/>
              <a:ext cx="42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Inputs:</a:t>
              </a:r>
              <a:endParaRPr lang="en-US" altLang="en-US" sz="1200"/>
            </a:p>
          </p:txBody>
        </p:sp>
        <p:sp>
          <p:nvSpPr>
            <p:cNvPr id="33825" name="Rectangle 26">
              <a:extLst>
                <a:ext uri="{FF2B5EF4-FFF2-40B4-BE49-F238E27FC236}">
                  <a16:creationId xmlns:a16="http://schemas.microsoft.com/office/drawing/2014/main" id="{C0D55B7C-9CFE-2F0B-1467-C43BF1E15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6" y="2332"/>
              <a:ext cx="7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200"/>
            </a:p>
          </p:txBody>
        </p:sp>
        <p:sp>
          <p:nvSpPr>
            <p:cNvPr id="33826" name="Rectangle 27">
              <a:extLst>
                <a:ext uri="{FF2B5EF4-FFF2-40B4-BE49-F238E27FC236}">
                  <a16:creationId xmlns:a16="http://schemas.microsoft.com/office/drawing/2014/main" id="{5F763698-1832-0176-45AE-4F2CD3F9B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6" y="2474"/>
              <a:ext cx="7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200"/>
            </a:p>
          </p:txBody>
        </p:sp>
        <p:sp>
          <p:nvSpPr>
            <p:cNvPr id="33827" name="Rectangle 28">
              <a:extLst>
                <a:ext uri="{FF2B5EF4-FFF2-40B4-BE49-F238E27FC236}">
                  <a16:creationId xmlns:a16="http://schemas.microsoft.com/office/drawing/2014/main" id="{793A8AD2-6473-9478-5C5B-55E600E62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6" y="2833"/>
              <a:ext cx="7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200"/>
            </a:p>
          </p:txBody>
        </p:sp>
        <p:sp>
          <p:nvSpPr>
            <p:cNvPr id="33828" name="Rectangle 29">
              <a:extLst>
                <a:ext uri="{FF2B5EF4-FFF2-40B4-BE49-F238E27FC236}">
                  <a16:creationId xmlns:a16="http://schemas.microsoft.com/office/drawing/2014/main" id="{EEB1DDCE-BB6B-1E9A-8290-0836A7047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2333"/>
              <a:ext cx="7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200"/>
            </a:p>
          </p:txBody>
        </p:sp>
        <p:sp>
          <p:nvSpPr>
            <p:cNvPr id="33829" name="Rectangle 30">
              <a:extLst>
                <a:ext uri="{FF2B5EF4-FFF2-40B4-BE49-F238E27FC236}">
                  <a16:creationId xmlns:a16="http://schemas.microsoft.com/office/drawing/2014/main" id="{6E8E80DB-9DE8-F918-8ECB-CACBC6F75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2785"/>
              <a:ext cx="7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200"/>
            </a:p>
          </p:txBody>
        </p:sp>
        <p:sp>
          <p:nvSpPr>
            <p:cNvPr id="33830" name="Rectangle 31">
              <a:extLst>
                <a:ext uri="{FF2B5EF4-FFF2-40B4-BE49-F238E27FC236}">
                  <a16:creationId xmlns:a16="http://schemas.microsoft.com/office/drawing/2014/main" id="{BF42D013-DEF1-ECDD-E388-3395F88E5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706"/>
              <a:ext cx="7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200"/>
            </a:p>
          </p:txBody>
        </p:sp>
        <p:sp>
          <p:nvSpPr>
            <p:cNvPr id="33831" name="Rectangle 32">
              <a:extLst>
                <a:ext uri="{FF2B5EF4-FFF2-40B4-BE49-F238E27FC236}">
                  <a16:creationId xmlns:a16="http://schemas.microsoft.com/office/drawing/2014/main" id="{CF5F345A-BF34-EDBA-B762-54A0CF0F1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8" y="3264"/>
              <a:ext cx="7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200"/>
            </a:p>
          </p:txBody>
        </p:sp>
        <p:sp>
          <p:nvSpPr>
            <p:cNvPr id="33832" name="Rectangle 33">
              <a:extLst>
                <a:ext uri="{FF2B5EF4-FFF2-40B4-BE49-F238E27FC236}">
                  <a16:creationId xmlns:a16="http://schemas.microsoft.com/office/drawing/2014/main" id="{F905180F-7328-7143-F340-0FDD932B9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" y="3072"/>
              <a:ext cx="7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200"/>
            </a:p>
          </p:txBody>
        </p:sp>
        <p:sp>
          <p:nvSpPr>
            <p:cNvPr id="33833" name="Rectangle 34">
              <a:extLst>
                <a:ext uri="{FF2B5EF4-FFF2-40B4-BE49-F238E27FC236}">
                  <a16:creationId xmlns:a16="http://schemas.microsoft.com/office/drawing/2014/main" id="{E349971D-AF0E-3291-1C17-EEFD4E0B3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6" y="2820"/>
              <a:ext cx="47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Output:</a:t>
              </a:r>
              <a:endParaRPr lang="en-US" altLang="en-US" sz="1200"/>
            </a:p>
          </p:txBody>
        </p:sp>
        <p:sp>
          <p:nvSpPr>
            <p:cNvPr id="33834" name="Freeform 35">
              <a:extLst>
                <a:ext uri="{FF2B5EF4-FFF2-40B4-BE49-F238E27FC236}">
                  <a16:creationId xmlns:a16="http://schemas.microsoft.com/office/drawing/2014/main" id="{BFDC1824-0EC7-7DDF-514D-EDCC2D834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" y="2611"/>
              <a:ext cx="360" cy="287"/>
            </a:xfrm>
            <a:custGeom>
              <a:avLst/>
              <a:gdLst>
                <a:gd name="T0" fmla="*/ 1 w 719"/>
                <a:gd name="T1" fmla="*/ 0 h 574"/>
                <a:gd name="T2" fmla="*/ 1 w 719"/>
                <a:gd name="T3" fmla="*/ 1 h 574"/>
                <a:gd name="T4" fmla="*/ 1 w 719"/>
                <a:gd name="T5" fmla="*/ 1 h 574"/>
                <a:gd name="T6" fmla="*/ 1 w 719"/>
                <a:gd name="T7" fmla="*/ 1 h 574"/>
                <a:gd name="T8" fmla="*/ 1 w 719"/>
                <a:gd name="T9" fmla="*/ 1 h 574"/>
                <a:gd name="T10" fmla="*/ 1 w 719"/>
                <a:gd name="T11" fmla="*/ 1 h 574"/>
                <a:gd name="T12" fmla="*/ 1 w 719"/>
                <a:gd name="T13" fmla="*/ 1 h 574"/>
                <a:gd name="T14" fmla="*/ 1 w 719"/>
                <a:gd name="T15" fmla="*/ 1 h 574"/>
                <a:gd name="T16" fmla="*/ 1 w 719"/>
                <a:gd name="T17" fmla="*/ 1 h 574"/>
                <a:gd name="T18" fmla="*/ 1 w 719"/>
                <a:gd name="T19" fmla="*/ 1 h 574"/>
                <a:gd name="T20" fmla="*/ 1 w 719"/>
                <a:gd name="T21" fmla="*/ 1 h 574"/>
                <a:gd name="T22" fmla="*/ 1 w 719"/>
                <a:gd name="T23" fmla="*/ 1 h 574"/>
                <a:gd name="T24" fmla="*/ 1 w 719"/>
                <a:gd name="T25" fmla="*/ 1 h 574"/>
                <a:gd name="T26" fmla="*/ 1 w 719"/>
                <a:gd name="T27" fmla="*/ 1 h 574"/>
                <a:gd name="T28" fmla="*/ 1 w 719"/>
                <a:gd name="T29" fmla="*/ 1 h 574"/>
                <a:gd name="T30" fmla="*/ 1 w 719"/>
                <a:gd name="T31" fmla="*/ 1 h 574"/>
                <a:gd name="T32" fmla="*/ 1 w 719"/>
                <a:gd name="T33" fmla="*/ 1 h 574"/>
                <a:gd name="T34" fmla="*/ 0 w 719"/>
                <a:gd name="T35" fmla="*/ 1 h 574"/>
                <a:gd name="T36" fmla="*/ 1 w 719"/>
                <a:gd name="T37" fmla="*/ 1 h 574"/>
                <a:gd name="T38" fmla="*/ 1 w 719"/>
                <a:gd name="T39" fmla="*/ 1 h 574"/>
                <a:gd name="T40" fmla="*/ 1 w 719"/>
                <a:gd name="T41" fmla="*/ 1 h 574"/>
                <a:gd name="T42" fmla="*/ 1 w 719"/>
                <a:gd name="T43" fmla="*/ 1 h 574"/>
                <a:gd name="T44" fmla="*/ 1 w 719"/>
                <a:gd name="T45" fmla="*/ 1 h 574"/>
                <a:gd name="T46" fmla="*/ 1 w 719"/>
                <a:gd name="T47" fmla="*/ 1 h 574"/>
                <a:gd name="T48" fmla="*/ 1 w 719"/>
                <a:gd name="T49" fmla="*/ 1 h 574"/>
                <a:gd name="T50" fmla="*/ 0 w 719"/>
                <a:gd name="T51" fmla="*/ 0 h 574"/>
                <a:gd name="T52" fmla="*/ 1 w 719"/>
                <a:gd name="T53" fmla="*/ 0 h 57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19" h="574">
                  <a:moveTo>
                    <a:pt x="312" y="0"/>
                  </a:moveTo>
                  <a:lnTo>
                    <a:pt x="374" y="15"/>
                  </a:lnTo>
                  <a:lnTo>
                    <a:pt x="435" y="36"/>
                  </a:lnTo>
                  <a:lnTo>
                    <a:pt x="493" y="63"/>
                  </a:lnTo>
                  <a:lnTo>
                    <a:pt x="546" y="97"/>
                  </a:lnTo>
                  <a:lnTo>
                    <a:pt x="598" y="137"/>
                  </a:lnTo>
                  <a:lnTo>
                    <a:pt x="644" y="183"/>
                  </a:lnTo>
                  <a:lnTo>
                    <a:pt x="684" y="233"/>
                  </a:lnTo>
                  <a:lnTo>
                    <a:pt x="719" y="287"/>
                  </a:lnTo>
                  <a:lnTo>
                    <a:pt x="686" y="342"/>
                  </a:lnTo>
                  <a:lnTo>
                    <a:pt x="646" y="392"/>
                  </a:lnTo>
                  <a:lnTo>
                    <a:pt x="600" y="438"/>
                  </a:lnTo>
                  <a:lnTo>
                    <a:pt x="550" y="478"/>
                  </a:lnTo>
                  <a:lnTo>
                    <a:pt x="495" y="512"/>
                  </a:lnTo>
                  <a:lnTo>
                    <a:pt x="437" y="539"/>
                  </a:lnTo>
                  <a:lnTo>
                    <a:pt x="376" y="560"/>
                  </a:lnTo>
                  <a:lnTo>
                    <a:pt x="312" y="574"/>
                  </a:lnTo>
                  <a:lnTo>
                    <a:pt x="0" y="574"/>
                  </a:lnTo>
                  <a:lnTo>
                    <a:pt x="26" y="505"/>
                  </a:lnTo>
                  <a:lnTo>
                    <a:pt x="44" y="432"/>
                  </a:lnTo>
                  <a:lnTo>
                    <a:pt x="55" y="359"/>
                  </a:lnTo>
                  <a:lnTo>
                    <a:pt x="59" y="287"/>
                  </a:lnTo>
                  <a:lnTo>
                    <a:pt x="55" y="212"/>
                  </a:lnTo>
                  <a:lnTo>
                    <a:pt x="44" y="139"/>
                  </a:lnTo>
                  <a:lnTo>
                    <a:pt x="26" y="69"/>
                  </a:lnTo>
                  <a:lnTo>
                    <a:pt x="0" y="0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35" name="Freeform 36">
              <a:extLst>
                <a:ext uri="{FF2B5EF4-FFF2-40B4-BE49-F238E27FC236}">
                  <a16:creationId xmlns:a16="http://schemas.microsoft.com/office/drawing/2014/main" id="{EEF3F586-2BA3-D6C1-0782-9967CEBE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" y="2324"/>
              <a:ext cx="317" cy="287"/>
            </a:xfrm>
            <a:custGeom>
              <a:avLst/>
              <a:gdLst>
                <a:gd name="T0" fmla="*/ 0 w 635"/>
                <a:gd name="T1" fmla="*/ 1 h 574"/>
                <a:gd name="T2" fmla="*/ 0 w 635"/>
                <a:gd name="T3" fmla="*/ 1 h 574"/>
                <a:gd name="T4" fmla="*/ 0 w 635"/>
                <a:gd name="T5" fmla="*/ 1 h 574"/>
                <a:gd name="T6" fmla="*/ 0 w 635"/>
                <a:gd name="T7" fmla="*/ 1 h 574"/>
                <a:gd name="T8" fmla="*/ 0 w 635"/>
                <a:gd name="T9" fmla="*/ 1 h 574"/>
                <a:gd name="T10" fmla="*/ 0 w 635"/>
                <a:gd name="T11" fmla="*/ 1 h 574"/>
                <a:gd name="T12" fmla="*/ 0 w 635"/>
                <a:gd name="T13" fmla="*/ 1 h 574"/>
                <a:gd name="T14" fmla="*/ 0 w 635"/>
                <a:gd name="T15" fmla="*/ 1 h 574"/>
                <a:gd name="T16" fmla="*/ 0 w 635"/>
                <a:gd name="T17" fmla="*/ 1 h 574"/>
                <a:gd name="T18" fmla="*/ 0 w 635"/>
                <a:gd name="T19" fmla="*/ 1 h 574"/>
                <a:gd name="T20" fmla="*/ 0 w 635"/>
                <a:gd name="T21" fmla="*/ 1 h 574"/>
                <a:gd name="T22" fmla="*/ 0 w 635"/>
                <a:gd name="T23" fmla="*/ 1 h 574"/>
                <a:gd name="T24" fmla="*/ 0 w 635"/>
                <a:gd name="T25" fmla="*/ 1 h 574"/>
                <a:gd name="T26" fmla="*/ 0 w 635"/>
                <a:gd name="T27" fmla="*/ 1 h 574"/>
                <a:gd name="T28" fmla="*/ 0 w 635"/>
                <a:gd name="T29" fmla="*/ 1 h 574"/>
                <a:gd name="T30" fmla="*/ 0 w 635"/>
                <a:gd name="T31" fmla="*/ 1 h 574"/>
                <a:gd name="T32" fmla="*/ 0 w 635"/>
                <a:gd name="T33" fmla="*/ 1 h 574"/>
                <a:gd name="T34" fmla="*/ 0 w 635"/>
                <a:gd name="T35" fmla="*/ 1 h 574"/>
                <a:gd name="T36" fmla="*/ 0 w 635"/>
                <a:gd name="T37" fmla="*/ 1 h 574"/>
                <a:gd name="T38" fmla="*/ 0 w 635"/>
                <a:gd name="T39" fmla="*/ 1 h 574"/>
                <a:gd name="T40" fmla="*/ 0 w 635"/>
                <a:gd name="T41" fmla="*/ 1 h 574"/>
                <a:gd name="T42" fmla="*/ 0 w 635"/>
                <a:gd name="T43" fmla="*/ 0 h 574"/>
                <a:gd name="T44" fmla="*/ 0 w 635"/>
                <a:gd name="T45" fmla="*/ 1 h 574"/>
                <a:gd name="T46" fmla="*/ 0 w 635"/>
                <a:gd name="T47" fmla="*/ 1 h 57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35" h="574">
                  <a:moveTo>
                    <a:pt x="491" y="291"/>
                  </a:moveTo>
                  <a:lnTo>
                    <a:pt x="496" y="312"/>
                  </a:lnTo>
                  <a:lnTo>
                    <a:pt x="506" y="331"/>
                  </a:lnTo>
                  <a:lnTo>
                    <a:pt x="523" y="346"/>
                  </a:lnTo>
                  <a:lnTo>
                    <a:pt x="542" y="356"/>
                  </a:lnTo>
                  <a:lnTo>
                    <a:pt x="565" y="357"/>
                  </a:lnTo>
                  <a:lnTo>
                    <a:pt x="587" y="354"/>
                  </a:lnTo>
                  <a:lnTo>
                    <a:pt x="606" y="344"/>
                  </a:lnTo>
                  <a:lnTo>
                    <a:pt x="621" y="327"/>
                  </a:lnTo>
                  <a:lnTo>
                    <a:pt x="633" y="308"/>
                  </a:lnTo>
                  <a:lnTo>
                    <a:pt x="635" y="287"/>
                  </a:lnTo>
                  <a:lnTo>
                    <a:pt x="633" y="264"/>
                  </a:lnTo>
                  <a:lnTo>
                    <a:pt x="621" y="245"/>
                  </a:lnTo>
                  <a:lnTo>
                    <a:pt x="606" y="229"/>
                  </a:lnTo>
                  <a:lnTo>
                    <a:pt x="587" y="218"/>
                  </a:lnTo>
                  <a:lnTo>
                    <a:pt x="565" y="214"/>
                  </a:lnTo>
                  <a:lnTo>
                    <a:pt x="542" y="218"/>
                  </a:lnTo>
                  <a:lnTo>
                    <a:pt x="523" y="227"/>
                  </a:lnTo>
                  <a:lnTo>
                    <a:pt x="506" y="241"/>
                  </a:lnTo>
                  <a:lnTo>
                    <a:pt x="496" y="260"/>
                  </a:lnTo>
                  <a:lnTo>
                    <a:pt x="491" y="283"/>
                  </a:lnTo>
                  <a:lnTo>
                    <a:pt x="0" y="0"/>
                  </a:lnTo>
                  <a:lnTo>
                    <a:pt x="0" y="574"/>
                  </a:lnTo>
                  <a:lnTo>
                    <a:pt x="491" y="291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36" name="Line 37">
              <a:extLst>
                <a:ext uri="{FF2B5EF4-FFF2-40B4-BE49-F238E27FC236}">
                  <a16:creationId xmlns:a16="http://schemas.microsoft.com/office/drawing/2014/main" id="{5F76D581-5C9D-5F2E-6F1D-40E37230C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468"/>
              <a:ext cx="9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7" name="Freeform 38">
              <a:extLst>
                <a:ext uri="{FF2B5EF4-FFF2-40B4-BE49-F238E27FC236}">
                  <a16:creationId xmlns:a16="http://schemas.microsoft.com/office/drawing/2014/main" id="{4385888B-30B5-2B1C-A5C1-799066144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2442"/>
              <a:ext cx="52" cy="52"/>
            </a:xfrm>
            <a:custGeom>
              <a:avLst/>
              <a:gdLst>
                <a:gd name="T0" fmla="*/ 0 w 104"/>
                <a:gd name="T1" fmla="*/ 0 h 103"/>
                <a:gd name="T2" fmla="*/ 1 w 104"/>
                <a:gd name="T3" fmla="*/ 1 h 103"/>
                <a:gd name="T4" fmla="*/ 0 w 104"/>
                <a:gd name="T5" fmla="*/ 1 h 103"/>
                <a:gd name="T6" fmla="*/ 0 w 104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103">
                  <a:moveTo>
                    <a:pt x="0" y="0"/>
                  </a:moveTo>
                  <a:lnTo>
                    <a:pt x="104" y="52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8" name="Freeform 39">
              <a:extLst>
                <a:ext uri="{FF2B5EF4-FFF2-40B4-BE49-F238E27FC236}">
                  <a16:creationId xmlns:a16="http://schemas.microsoft.com/office/drawing/2014/main" id="{F6396BA7-4B28-CFCD-8386-F81987226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2468"/>
              <a:ext cx="235" cy="215"/>
            </a:xfrm>
            <a:custGeom>
              <a:avLst/>
              <a:gdLst>
                <a:gd name="T0" fmla="*/ 0 w 470"/>
                <a:gd name="T1" fmla="*/ 0 h 430"/>
                <a:gd name="T2" fmla="*/ 1 w 470"/>
                <a:gd name="T3" fmla="*/ 0 h 430"/>
                <a:gd name="T4" fmla="*/ 1 w 470"/>
                <a:gd name="T5" fmla="*/ 1 h 430"/>
                <a:gd name="T6" fmla="*/ 1 w 470"/>
                <a:gd name="T7" fmla="*/ 1 h 4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0" h="430">
                  <a:moveTo>
                    <a:pt x="0" y="0"/>
                  </a:moveTo>
                  <a:lnTo>
                    <a:pt x="228" y="0"/>
                  </a:lnTo>
                  <a:lnTo>
                    <a:pt x="228" y="430"/>
                  </a:lnTo>
                  <a:lnTo>
                    <a:pt x="470" y="43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9" name="Freeform 40">
              <a:extLst>
                <a:ext uri="{FF2B5EF4-FFF2-40B4-BE49-F238E27FC236}">
                  <a16:creationId xmlns:a16="http://schemas.microsoft.com/office/drawing/2014/main" id="{AA49BEDF-DA27-18D0-AC40-D53193DCE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2657"/>
              <a:ext cx="51" cy="52"/>
            </a:xfrm>
            <a:custGeom>
              <a:avLst/>
              <a:gdLst>
                <a:gd name="T0" fmla="*/ 0 w 104"/>
                <a:gd name="T1" fmla="*/ 0 h 104"/>
                <a:gd name="T2" fmla="*/ 0 w 104"/>
                <a:gd name="T3" fmla="*/ 1 h 104"/>
                <a:gd name="T4" fmla="*/ 0 w 104"/>
                <a:gd name="T5" fmla="*/ 1 h 104"/>
                <a:gd name="T6" fmla="*/ 0 w 104"/>
                <a:gd name="T7" fmla="*/ 0 h 1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104">
                  <a:moveTo>
                    <a:pt x="0" y="0"/>
                  </a:moveTo>
                  <a:lnTo>
                    <a:pt x="104" y="52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0" name="Freeform 41">
              <a:extLst>
                <a:ext uri="{FF2B5EF4-FFF2-40B4-BE49-F238E27FC236}">
                  <a16:creationId xmlns:a16="http://schemas.microsoft.com/office/drawing/2014/main" id="{524AFE40-9F1C-7A9F-5A91-39DA68165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" y="2755"/>
              <a:ext cx="186" cy="359"/>
            </a:xfrm>
            <a:custGeom>
              <a:avLst/>
              <a:gdLst>
                <a:gd name="T0" fmla="*/ 0 w 372"/>
                <a:gd name="T1" fmla="*/ 0 h 717"/>
                <a:gd name="T2" fmla="*/ 1 w 372"/>
                <a:gd name="T3" fmla="*/ 0 h 717"/>
                <a:gd name="T4" fmla="*/ 1 w 372"/>
                <a:gd name="T5" fmla="*/ 1 h 717"/>
                <a:gd name="T6" fmla="*/ 1 w 372"/>
                <a:gd name="T7" fmla="*/ 1 h 7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2" h="717">
                  <a:moveTo>
                    <a:pt x="0" y="0"/>
                  </a:moveTo>
                  <a:lnTo>
                    <a:pt x="175" y="0"/>
                  </a:lnTo>
                  <a:lnTo>
                    <a:pt x="175" y="717"/>
                  </a:lnTo>
                  <a:lnTo>
                    <a:pt x="372" y="71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1" name="Freeform 42">
              <a:extLst>
                <a:ext uri="{FF2B5EF4-FFF2-40B4-BE49-F238E27FC236}">
                  <a16:creationId xmlns:a16="http://schemas.microsoft.com/office/drawing/2014/main" id="{DEA76DCF-D78C-A393-8067-F41C4D5A3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" y="3088"/>
              <a:ext cx="52" cy="51"/>
            </a:xfrm>
            <a:custGeom>
              <a:avLst/>
              <a:gdLst>
                <a:gd name="T0" fmla="*/ 0 w 103"/>
                <a:gd name="T1" fmla="*/ 0 h 104"/>
                <a:gd name="T2" fmla="*/ 1 w 103"/>
                <a:gd name="T3" fmla="*/ 0 h 104"/>
                <a:gd name="T4" fmla="*/ 0 w 103"/>
                <a:gd name="T5" fmla="*/ 0 h 104"/>
                <a:gd name="T6" fmla="*/ 0 w 103"/>
                <a:gd name="T7" fmla="*/ 0 h 1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104">
                  <a:moveTo>
                    <a:pt x="0" y="0"/>
                  </a:moveTo>
                  <a:lnTo>
                    <a:pt x="103" y="52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2" name="Rectangle 43">
              <a:extLst>
                <a:ext uri="{FF2B5EF4-FFF2-40B4-BE49-F238E27FC236}">
                  <a16:creationId xmlns:a16="http://schemas.microsoft.com/office/drawing/2014/main" id="{E244F657-FD20-6EEC-275E-0966F4AC2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54"/>
              <a:ext cx="7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200"/>
            </a:p>
          </p:txBody>
        </p:sp>
        <p:sp>
          <p:nvSpPr>
            <p:cNvPr id="33843" name="Rectangle 44">
              <a:extLst>
                <a:ext uri="{FF2B5EF4-FFF2-40B4-BE49-F238E27FC236}">
                  <a16:creationId xmlns:a16="http://schemas.microsoft.com/office/drawing/2014/main" id="{5734FE72-9A35-4E2B-6EF1-38A19ED73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7" y="2635"/>
              <a:ext cx="7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200"/>
            </a:p>
          </p:txBody>
        </p:sp>
        <p:sp>
          <p:nvSpPr>
            <p:cNvPr id="33844" name="Freeform 45">
              <a:extLst>
                <a:ext uri="{FF2B5EF4-FFF2-40B4-BE49-F238E27FC236}">
                  <a16:creationId xmlns:a16="http://schemas.microsoft.com/office/drawing/2014/main" id="{D7203A74-1C97-0ECE-70EF-9824C8AFA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3257"/>
              <a:ext cx="207" cy="107"/>
            </a:xfrm>
            <a:custGeom>
              <a:avLst/>
              <a:gdLst>
                <a:gd name="T0" fmla="*/ 0 w 414"/>
                <a:gd name="T1" fmla="*/ 1 h 214"/>
                <a:gd name="T2" fmla="*/ 1 w 414"/>
                <a:gd name="T3" fmla="*/ 1 h 214"/>
                <a:gd name="T4" fmla="*/ 1 w 414"/>
                <a:gd name="T5" fmla="*/ 0 h 214"/>
                <a:gd name="T6" fmla="*/ 1 w 414"/>
                <a:gd name="T7" fmla="*/ 0 h 2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4" h="214">
                  <a:moveTo>
                    <a:pt x="0" y="214"/>
                  </a:moveTo>
                  <a:lnTo>
                    <a:pt x="288" y="214"/>
                  </a:lnTo>
                  <a:lnTo>
                    <a:pt x="288" y="0"/>
                  </a:lnTo>
                  <a:lnTo>
                    <a:pt x="414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5" name="Freeform 46">
              <a:extLst>
                <a:ext uri="{FF2B5EF4-FFF2-40B4-BE49-F238E27FC236}">
                  <a16:creationId xmlns:a16="http://schemas.microsoft.com/office/drawing/2014/main" id="{9E371871-C541-5F13-C36A-4F41532E5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" y="3231"/>
              <a:ext cx="52" cy="52"/>
            </a:xfrm>
            <a:custGeom>
              <a:avLst/>
              <a:gdLst>
                <a:gd name="T0" fmla="*/ 0 w 103"/>
                <a:gd name="T1" fmla="*/ 0 h 104"/>
                <a:gd name="T2" fmla="*/ 1 w 103"/>
                <a:gd name="T3" fmla="*/ 1 h 104"/>
                <a:gd name="T4" fmla="*/ 0 w 103"/>
                <a:gd name="T5" fmla="*/ 1 h 104"/>
                <a:gd name="T6" fmla="*/ 0 w 103"/>
                <a:gd name="T7" fmla="*/ 0 h 1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104">
                  <a:moveTo>
                    <a:pt x="0" y="0"/>
                  </a:moveTo>
                  <a:lnTo>
                    <a:pt x="103" y="52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6" name="Freeform 47">
              <a:extLst>
                <a:ext uri="{FF2B5EF4-FFF2-40B4-BE49-F238E27FC236}">
                  <a16:creationId xmlns:a16="http://schemas.microsoft.com/office/drawing/2014/main" id="{24F78CD3-9E43-8A0A-E731-9252DF2E7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3221"/>
              <a:ext cx="318" cy="287"/>
            </a:xfrm>
            <a:custGeom>
              <a:avLst/>
              <a:gdLst>
                <a:gd name="T0" fmla="*/ 1 w 635"/>
                <a:gd name="T1" fmla="*/ 1 h 574"/>
                <a:gd name="T2" fmla="*/ 1 w 635"/>
                <a:gd name="T3" fmla="*/ 1 h 574"/>
                <a:gd name="T4" fmla="*/ 1 w 635"/>
                <a:gd name="T5" fmla="*/ 1 h 574"/>
                <a:gd name="T6" fmla="*/ 1 w 635"/>
                <a:gd name="T7" fmla="*/ 1 h 574"/>
                <a:gd name="T8" fmla="*/ 1 w 635"/>
                <a:gd name="T9" fmla="*/ 1 h 574"/>
                <a:gd name="T10" fmla="*/ 1 w 635"/>
                <a:gd name="T11" fmla="*/ 1 h 574"/>
                <a:gd name="T12" fmla="*/ 1 w 635"/>
                <a:gd name="T13" fmla="*/ 1 h 574"/>
                <a:gd name="T14" fmla="*/ 1 w 635"/>
                <a:gd name="T15" fmla="*/ 1 h 574"/>
                <a:gd name="T16" fmla="*/ 1 w 635"/>
                <a:gd name="T17" fmla="*/ 1 h 574"/>
                <a:gd name="T18" fmla="*/ 1 w 635"/>
                <a:gd name="T19" fmla="*/ 1 h 574"/>
                <a:gd name="T20" fmla="*/ 1 w 635"/>
                <a:gd name="T21" fmla="*/ 1 h 574"/>
                <a:gd name="T22" fmla="*/ 1 w 635"/>
                <a:gd name="T23" fmla="*/ 1 h 574"/>
                <a:gd name="T24" fmla="*/ 1 w 635"/>
                <a:gd name="T25" fmla="*/ 1 h 574"/>
                <a:gd name="T26" fmla="*/ 1 w 635"/>
                <a:gd name="T27" fmla="*/ 1 h 574"/>
                <a:gd name="T28" fmla="*/ 1 w 635"/>
                <a:gd name="T29" fmla="*/ 1 h 574"/>
                <a:gd name="T30" fmla="*/ 1 w 635"/>
                <a:gd name="T31" fmla="*/ 1 h 574"/>
                <a:gd name="T32" fmla="*/ 1 w 635"/>
                <a:gd name="T33" fmla="*/ 1 h 574"/>
                <a:gd name="T34" fmla="*/ 1 w 635"/>
                <a:gd name="T35" fmla="*/ 1 h 574"/>
                <a:gd name="T36" fmla="*/ 1 w 635"/>
                <a:gd name="T37" fmla="*/ 1 h 574"/>
                <a:gd name="T38" fmla="*/ 1 w 635"/>
                <a:gd name="T39" fmla="*/ 1 h 574"/>
                <a:gd name="T40" fmla="*/ 1 w 635"/>
                <a:gd name="T41" fmla="*/ 1 h 574"/>
                <a:gd name="T42" fmla="*/ 0 w 635"/>
                <a:gd name="T43" fmla="*/ 0 h 574"/>
                <a:gd name="T44" fmla="*/ 0 w 635"/>
                <a:gd name="T45" fmla="*/ 1 h 574"/>
                <a:gd name="T46" fmla="*/ 1 w 635"/>
                <a:gd name="T47" fmla="*/ 1 h 57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35" h="574">
                  <a:moveTo>
                    <a:pt x="491" y="291"/>
                  </a:moveTo>
                  <a:lnTo>
                    <a:pt x="497" y="314"/>
                  </a:lnTo>
                  <a:lnTo>
                    <a:pt x="506" y="333"/>
                  </a:lnTo>
                  <a:lnTo>
                    <a:pt x="523" y="347"/>
                  </a:lnTo>
                  <a:lnTo>
                    <a:pt x="543" y="356"/>
                  </a:lnTo>
                  <a:lnTo>
                    <a:pt x="566" y="360"/>
                  </a:lnTo>
                  <a:lnTo>
                    <a:pt x="587" y="356"/>
                  </a:lnTo>
                  <a:lnTo>
                    <a:pt x="606" y="345"/>
                  </a:lnTo>
                  <a:lnTo>
                    <a:pt x="621" y="329"/>
                  </a:lnTo>
                  <a:lnTo>
                    <a:pt x="631" y="310"/>
                  </a:lnTo>
                  <a:lnTo>
                    <a:pt x="635" y="287"/>
                  </a:lnTo>
                  <a:lnTo>
                    <a:pt x="631" y="266"/>
                  </a:lnTo>
                  <a:lnTo>
                    <a:pt x="621" y="247"/>
                  </a:lnTo>
                  <a:lnTo>
                    <a:pt x="606" y="230"/>
                  </a:lnTo>
                  <a:lnTo>
                    <a:pt x="587" y="220"/>
                  </a:lnTo>
                  <a:lnTo>
                    <a:pt x="566" y="217"/>
                  </a:lnTo>
                  <a:lnTo>
                    <a:pt x="543" y="218"/>
                  </a:lnTo>
                  <a:lnTo>
                    <a:pt x="523" y="228"/>
                  </a:lnTo>
                  <a:lnTo>
                    <a:pt x="506" y="243"/>
                  </a:lnTo>
                  <a:lnTo>
                    <a:pt x="497" y="262"/>
                  </a:lnTo>
                  <a:lnTo>
                    <a:pt x="491" y="283"/>
                  </a:lnTo>
                  <a:lnTo>
                    <a:pt x="0" y="0"/>
                  </a:lnTo>
                  <a:lnTo>
                    <a:pt x="0" y="574"/>
                  </a:lnTo>
                  <a:lnTo>
                    <a:pt x="491" y="291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47" name="Line 48">
              <a:extLst>
                <a:ext uri="{FF2B5EF4-FFF2-40B4-BE49-F238E27FC236}">
                  <a16:creationId xmlns:a16="http://schemas.microsoft.com/office/drawing/2014/main" id="{E685B6CD-B7EA-D81D-69E5-860EF7B46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8" y="3364"/>
              <a:ext cx="29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8" name="Freeform 49">
              <a:extLst>
                <a:ext uri="{FF2B5EF4-FFF2-40B4-BE49-F238E27FC236}">
                  <a16:creationId xmlns:a16="http://schemas.microsoft.com/office/drawing/2014/main" id="{8BE02D0E-4B87-5AC1-78D2-18B7464E9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3338"/>
              <a:ext cx="51" cy="52"/>
            </a:xfrm>
            <a:custGeom>
              <a:avLst/>
              <a:gdLst>
                <a:gd name="T0" fmla="*/ 0 w 104"/>
                <a:gd name="T1" fmla="*/ 0 h 103"/>
                <a:gd name="T2" fmla="*/ 0 w 104"/>
                <a:gd name="T3" fmla="*/ 1 h 103"/>
                <a:gd name="T4" fmla="*/ 0 w 104"/>
                <a:gd name="T5" fmla="*/ 1 h 103"/>
                <a:gd name="T6" fmla="*/ 0 w 104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103">
                  <a:moveTo>
                    <a:pt x="0" y="0"/>
                  </a:moveTo>
                  <a:lnTo>
                    <a:pt x="104" y="51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9" name="Freeform 50">
              <a:extLst>
                <a:ext uri="{FF2B5EF4-FFF2-40B4-BE49-F238E27FC236}">
                  <a16:creationId xmlns:a16="http://schemas.microsoft.com/office/drawing/2014/main" id="{F6D68762-21B5-64D4-A22B-BC5999BB6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8" y="3221"/>
              <a:ext cx="360" cy="287"/>
            </a:xfrm>
            <a:custGeom>
              <a:avLst/>
              <a:gdLst>
                <a:gd name="T0" fmla="*/ 1 w 719"/>
                <a:gd name="T1" fmla="*/ 0 h 574"/>
                <a:gd name="T2" fmla="*/ 1 w 719"/>
                <a:gd name="T3" fmla="*/ 1 h 574"/>
                <a:gd name="T4" fmla="*/ 1 w 719"/>
                <a:gd name="T5" fmla="*/ 1 h 574"/>
                <a:gd name="T6" fmla="*/ 1 w 719"/>
                <a:gd name="T7" fmla="*/ 1 h 574"/>
                <a:gd name="T8" fmla="*/ 1 w 719"/>
                <a:gd name="T9" fmla="*/ 1 h 574"/>
                <a:gd name="T10" fmla="*/ 1 w 719"/>
                <a:gd name="T11" fmla="*/ 1 h 574"/>
                <a:gd name="T12" fmla="*/ 1 w 719"/>
                <a:gd name="T13" fmla="*/ 1 h 574"/>
                <a:gd name="T14" fmla="*/ 1 w 719"/>
                <a:gd name="T15" fmla="*/ 1 h 574"/>
                <a:gd name="T16" fmla="*/ 1 w 719"/>
                <a:gd name="T17" fmla="*/ 1 h 574"/>
                <a:gd name="T18" fmla="*/ 1 w 719"/>
                <a:gd name="T19" fmla="*/ 1 h 574"/>
                <a:gd name="T20" fmla="*/ 1 w 719"/>
                <a:gd name="T21" fmla="*/ 1 h 574"/>
                <a:gd name="T22" fmla="*/ 1 w 719"/>
                <a:gd name="T23" fmla="*/ 1 h 574"/>
                <a:gd name="T24" fmla="*/ 1 w 719"/>
                <a:gd name="T25" fmla="*/ 1 h 574"/>
                <a:gd name="T26" fmla="*/ 1 w 719"/>
                <a:gd name="T27" fmla="*/ 1 h 574"/>
                <a:gd name="T28" fmla="*/ 1 w 719"/>
                <a:gd name="T29" fmla="*/ 1 h 574"/>
                <a:gd name="T30" fmla="*/ 1 w 719"/>
                <a:gd name="T31" fmla="*/ 1 h 574"/>
                <a:gd name="T32" fmla="*/ 1 w 719"/>
                <a:gd name="T33" fmla="*/ 1 h 574"/>
                <a:gd name="T34" fmla="*/ 0 w 719"/>
                <a:gd name="T35" fmla="*/ 1 h 574"/>
                <a:gd name="T36" fmla="*/ 1 w 719"/>
                <a:gd name="T37" fmla="*/ 1 h 574"/>
                <a:gd name="T38" fmla="*/ 1 w 719"/>
                <a:gd name="T39" fmla="*/ 1 h 574"/>
                <a:gd name="T40" fmla="*/ 1 w 719"/>
                <a:gd name="T41" fmla="*/ 1 h 574"/>
                <a:gd name="T42" fmla="*/ 1 w 719"/>
                <a:gd name="T43" fmla="*/ 1 h 574"/>
                <a:gd name="T44" fmla="*/ 1 w 719"/>
                <a:gd name="T45" fmla="*/ 1 h 574"/>
                <a:gd name="T46" fmla="*/ 1 w 719"/>
                <a:gd name="T47" fmla="*/ 1 h 574"/>
                <a:gd name="T48" fmla="*/ 1 w 719"/>
                <a:gd name="T49" fmla="*/ 1 h 574"/>
                <a:gd name="T50" fmla="*/ 0 w 719"/>
                <a:gd name="T51" fmla="*/ 0 h 574"/>
                <a:gd name="T52" fmla="*/ 1 w 719"/>
                <a:gd name="T53" fmla="*/ 0 h 57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19" h="574">
                  <a:moveTo>
                    <a:pt x="310" y="0"/>
                  </a:moveTo>
                  <a:lnTo>
                    <a:pt x="374" y="16"/>
                  </a:lnTo>
                  <a:lnTo>
                    <a:pt x="433" y="37"/>
                  </a:lnTo>
                  <a:lnTo>
                    <a:pt x="493" y="65"/>
                  </a:lnTo>
                  <a:lnTo>
                    <a:pt x="546" y="100"/>
                  </a:lnTo>
                  <a:lnTo>
                    <a:pt x="596" y="140"/>
                  </a:lnTo>
                  <a:lnTo>
                    <a:pt x="642" y="184"/>
                  </a:lnTo>
                  <a:lnTo>
                    <a:pt x="683" y="234"/>
                  </a:lnTo>
                  <a:lnTo>
                    <a:pt x="719" y="287"/>
                  </a:lnTo>
                  <a:lnTo>
                    <a:pt x="685" y="343"/>
                  </a:lnTo>
                  <a:lnTo>
                    <a:pt x="644" y="394"/>
                  </a:lnTo>
                  <a:lnTo>
                    <a:pt x="600" y="440"/>
                  </a:lnTo>
                  <a:lnTo>
                    <a:pt x="548" y="481"/>
                  </a:lnTo>
                  <a:lnTo>
                    <a:pt x="495" y="515"/>
                  </a:lnTo>
                  <a:lnTo>
                    <a:pt x="435" y="542"/>
                  </a:lnTo>
                  <a:lnTo>
                    <a:pt x="374" y="561"/>
                  </a:lnTo>
                  <a:lnTo>
                    <a:pt x="310" y="574"/>
                  </a:lnTo>
                  <a:lnTo>
                    <a:pt x="0" y="574"/>
                  </a:lnTo>
                  <a:lnTo>
                    <a:pt x="25" y="505"/>
                  </a:lnTo>
                  <a:lnTo>
                    <a:pt x="44" y="435"/>
                  </a:lnTo>
                  <a:lnTo>
                    <a:pt x="55" y="362"/>
                  </a:lnTo>
                  <a:lnTo>
                    <a:pt x="59" y="287"/>
                  </a:lnTo>
                  <a:lnTo>
                    <a:pt x="55" y="215"/>
                  </a:lnTo>
                  <a:lnTo>
                    <a:pt x="44" y="142"/>
                  </a:lnTo>
                  <a:lnTo>
                    <a:pt x="25" y="69"/>
                  </a:lnTo>
                  <a:lnTo>
                    <a:pt x="0" y="0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50" name="Freeform 51">
              <a:extLst>
                <a:ext uri="{FF2B5EF4-FFF2-40B4-BE49-F238E27FC236}">
                  <a16:creationId xmlns:a16="http://schemas.microsoft.com/office/drawing/2014/main" id="{76B90862-CDB6-7080-48E9-ADDC1FE3A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3149"/>
              <a:ext cx="319" cy="287"/>
            </a:xfrm>
            <a:custGeom>
              <a:avLst/>
              <a:gdLst>
                <a:gd name="T0" fmla="*/ 1 w 637"/>
                <a:gd name="T1" fmla="*/ 1 h 574"/>
                <a:gd name="T2" fmla="*/ 1 w 637"/>
                <a:gd name="T3" fmla="*/ 1 h 574"/>
                <a:gd name="T4" fmla="*/ 1 w 637"/>
                <a:gd name="T5" fmla="*/ 1 h 574"/>
                <a:gd name="T6" fmla="*/ 1 w 637"/>
                <a:gd name="T7" fmla="*/ 1 h 574"/>
                <a:gd name="T8" fmla="*/ 1 w 637"/>
                <a:gd name="T9" fmla="*/ 1 h 574"/>
                <a:gd name="T10" fmla="*/ 1 w 637"/>
                <a:gd name="T11" fmla="*/ 1 h 574"/>
                <a:gd name="T12" fmla="*/ 1 w 637"/>
                <a:gd name="T13" fmla="*/ 1 h 574"/>
                <a:gd name="T14" fmla="*/ 1 w 637"/>
                <a:gd name="T15" fmla="*/ 1 h 574"/>
                <a:gd name="T16" fmla="*/ 1 w 637"/>
                <a:gd name="T17" fmla="*/ 1 h 574"/>
                <a:gd name="T18" fmla="*/ 1 w 637"/>
                <a:gd name="T19" fmla="*/ 1 h 574"/>
                <a:gd name="T20" fmla="*/ 1 w 637"/>
                <a:gd name="T21" fmla="*/ 1 h 574"/>
                <a:gd name="T22" fmla="*/ 1 w 637"/>
                <a:gd name="T23" fmla="*/ 1 h 574"/>
                <a:gd name="T24" fmla="*/ 1 w 637"/>
                <a:gd name="T25" fmla="*/ 1 h 574"/>
                <a:gd name="T26" fmla="*/ 1 w 637"/>
                <a:gd name="T27" fmla="*/ 1 h 574"/>
                <a:gd name="T28" fmla="*/ 1 w 637"/>
                <a:gd name="T29" fmla="*/ 1 h 574"/>
                <a:gd name="T30" fmla="*/ 1 w 637"/>
                <a:gd name="T31" fmla="*/ 1 h 574"/>
                <a:gd name="T32" fmla="*/ 1 w 637"/>
                <a:gd name="T33" fmla="*/ 1 h 574"/>
                <a:gd name="T34" fmla="*/ 1 w 637"/>
                <a:gd name="T35" fmla="*/ 1 h 574"/>
                <a:gd name="T36" fmla="*/ 1 w 637"/>
                <a:gd name="T37" fmla="*/ 1 h 574"/>
                <a:gd name="T38" fmla="*/ 1 w 637"/>
                <a:gd name="T39" fmla="*/ 1 h 574"/>
                <a:gd name="T40" fmla="*/ 1 w 637"/>
                <a:gd name="T41" fmla="*/ 1 h 574"/>
                <a:gd name="T42" fmla="*/ 0 w 637"/>
                <a:gd name="T43" fmla="*/ 0 h 574"/>
                <a:gd name="T44" fmla="*/ 0 w 637"/>
                <a:gd name="T45" fmla="*/ 1 h 574"/>
                <a:gd name="T46" fmla="*/ 1 w 637"/>
                <a:gd name="T47" fmla="*/ 1 h 57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37" h="574">
                  <a:moveTo>
                    <a:pt x="493" y="291"/>
                  </a:moveTo>
                  <a:lnTo>
                    <a:pt x="497" y="314"/>
                  </a:lnTo>
                  <a:lnTo>
                    <a:pt x="509" y="333"/>
                  </a:lnTo>
                  <a:lnTo>
                    <a:pt x="524" y="346"/>
                  </a:lnTo>
                  <a:lnTo>
                    <a:pt x="545" y="356"/>
                  </a:lnTo>
                  <a:lnTo>
                    <a:pt x="566" y="360"/>
                  </a:lnTo>
                  <a:lnTo>
                    <a:pt x="587" y="356"/>
                  </a:lnTo>
                  <a:lnTo>
                    <a:pt x="608" y="344"/>
                  </a:lnTo>
                  <a:lnTo>
                    <a:pt x="624" y="329"/>
                  </a:lnTo>
                  <a:lnTo>
                    <a:pt x="633" y="310"/>
                  </a:lnTo>
                  <a:lnTo>
                    <a:pt x="637" y="287"/>
                  </a:lnTo>
                  <a:lnTo>
                    <a:pt x="633" y="266"/>
                  </a:lnTo>
                  <a:lnTo>
                    <a:pt x="624" y="247"/>
                  </a:lnTo>
                  <a:lnTo>
                    <a:pt x="608" y="229"/>
                  </a:lnTo>
                  <a:lnTo>
                    <a:pt x="587" y="220"/>
                  </a:lnTo>
                  <a:lnTo>
                    <a:pt x="566" y="216"/>
                  </a:lnTo>
                  <a:lnTo>
                    <a:pt x="545" y="218"/>
                  </a:lnTo>
                  <a:lnTo>
                    <a:pt x="524" y="228"/>
                  </a:lnTo>
                  <a:lnTo>
                    <a:pt x="509" y="243"/>
                  </a:lnTo>
                  <a:lnTo>
                    <a:pt x="497" y="262"/>
                  </a:lnTo>
                  <a:lnTo>
                    <a:pt x="493" y="283"/>
                  </a:lnTo>
                  <a:lnTo>
                    <a:pt x="0" y="0"/>
                  </a:lnTo>
                  <a:lnTo>
                    <a:pt x="0" y="574"/>
                  </a:lnTo>
                  <a:lnTo>
                    <a:pt x="493" y="291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51" name="Line 52">
              <a:extLst>
                <a:ext uri="{FF2B5EF4-FFF2-40B4-BE49-F238E27FC236}">
                  <a16:creationId xmlns:a16="http://schemas.microsoft.com/office/drawing/2014/main" id="{34E6EC83-61CA-9B4C-CF10-8C57C61EF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3" y="3292"/>
              <a:ext cx="19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2" name="Freeform 53">
              <a:extLst>
                <a:ext uri="{FF2B5EF4-FFF2-40B4-BE49-F238E27FC236}">
                  <a16:creationId xmlns:a16="http://schemas.microsoft.com/office/drawing/2014/main" id="{B9F95927-1D3D-AAAD-68C5-B0AEEE0F9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3267"/>
              <a:ext cx="51" cy="51"/>
            </a:xfrm>
            <a:custGeom>
              <a:avLst/>
              <a:gdLst>
                <a:gd name="T0" fmla="*/ 0 w 104"/>
                <a:gd name="T1" fmla="*/ 0 h 103"/>
                <a:gd name="T2" fmla="*/ 0 w 104"/>
                <a:gd name="T3" fmla="*/ 0 h 103"/>
                <a:gd name="T4" fmla="*/ 0 w 104"/>
                <a:gd name="T5" fmla="*/ 0 h 103"/>
                <a:gd name="T6" fmla="*/ 0 w 104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103">
                  <a:moveTo>
                    <a:pt x="0" y="0"/>
                  </a:moveTo>
                  <a:lnTo>
                    <a:pt x="104" y="52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3" name="Freeform 54">
              <a:extLst>
                <a:ext uri="{FF2B5EF4-FFF2-40B4-BE49-F238E27FC236}">
                  <a16:creationId xmlns:a16="http://schemas.microsoft.com/office/drawing/2014/main" id="{16951AA6-67CD-786C-B24E-D7EDA3E97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5" y="3268"/>
              <a:ext cx="284" cy="24"/>
            </a:xfrm>
            <a:custGeom>
              <a:avLst/>
              <a:gdLst>
                <a:gd name="T0" fmla="*/ 0 w 568"/>
                <a:gd name="T1" fmla="*/ 1 h 48"/>
                <a:gd name="T2" fmla="*/ 1 w 568"/>
                <a:gd name="T3" fmla="*/ 1 h 48"/>
                <a:gd name="T4" fmla="*/ 1 w 568"/>
                <a:gd name="T5" fmla="*/ 1 h 48"/>
                <a:gd name="T6" fmla="*/ 1 w 568"/>
                <a:gd name="T7" fmla="*/ 1 h 48"/>
                <a:gd name="T8" fmla="*/ 1 w 568"/>
                <a:gd name="T9" fmla="*/ 1 h 48"/>
                <a:gd name="T10" fmla="*/ 1 w 568"/>
                <a:gd name="T11" fmla="*/ 0 h 48"/>
                <a:gd name="T12" fmla="*/ 1 w 568"/>
                <a:gd name="T13" fmla="*/ 1 h 48"/>
                <a:gd name="T14" fmla="*/ 1 w 568"/>
                <a:gd name="T15" fmla="*/ 1 h 48"/>
                <a:gd name="T16" fmla="*/ 1 w 568"/>
                <a:gd name="T17" fmla="*/ 1 h 48"/>
                <a:gd name="T18" fmla="*/ 1 w 568"/>
                <a:gd name="T19" fmla="*/ 1 h 48"/>
                <a:gd name="T20" fmla="*/ 1 w 568"/>
                <a:gd name="T21" fmla="*/ 1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68" h="48">
                  <a:moveTo>
                    <a:pt x="0" y="48"/>
                  </a:moveTo>
                  <a:lnTo>
                    <a:pt x="269" y="48"/>
                  </a:lnTo>
                  <a:lnTo>
                    <a:pt x="273" y="31"/>
                  </a:lnTo>
                  <a:lnTo>
                    <a:pt x="284" y="15"/>
                  </a:lnTo>
                  <a:lnTo>
                    <a:pt x="299" y="4"/>
                  </a:lnTo>
                  <a:lnTo>
                    <a:pt x="317" y="0"/>
                  </a:lnTo>
                  <a:lnTo>
                    <a:pt x="336" y="4"/>
                  </a:lnTo>
                  <a:lnTo>
                    <a:pt x="351" y="15"/>
                  </a:lnTo>
                  <a:lnTo>
                    <a:pt x="361" y="31"/>
                  </a:lnTo>
                  <a:lnTo>
                    <a:pt x="365" y="48"/>
                  </a:lnTo>
                  <a:lnTo>
                    <a:pt x="568" y="4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4" name="Freeform 55">
              <a:extLst>
                <a:ext uri="{FF2B5EF4-FFF2-40B4-BE49-F238E27FC236}">
                  <a16:creationId xmlns:a16="http://schemas.microsoft.com/office/drawing/2014/main" id="{0AD7D423-7432-07CC-8A5D-BEA35219E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3267"/>
              <a:ext cx="52" cy="51"/>
            </a:xfrm>
            <a:custGeom>
              <a:avLst/>
              <a:gdLst>
                <a:gd name="T0" fmla="*/ 0 w 103"/>
                <a:gd name="T1" fmla="*/ 0 h 103"/>
                <a:gd name="T2" fmla="*/ 1 w 103"/>
                <a:gd name="T3" fmla="*/ 0 h 103"/>
                <a:gd name="T4" fmla="*/ 0 w 103"/>
                <a:gd name="T5" fmla="*/ 0 h 103"/>
                <a:gd name="T6" fmla="*/ 0 w 103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103">
                  <a:moveTo>
                    <a:pt x="0" y="0"/>
                  </a:moveTo>
                  <a:lnTo>
                    <a:pt x="103" y="52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5" name="Rectangle 56">
              <a:extLst>
                <a:ext uri="{FF2B5EF4-FFF2-40B4-BE49-F238E27FC236}">
                  <a16:creationId xmlns:a16="http://schemas.microsoft.com/office/drawing/2014/main" id="{B285FDC1-7E7B-C52E-EEF4-41C147CC5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3179"/>
              <a:ext cx="7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200"/>
            </a:p>
          </p:txBody>
        </p:sp>
        <p:sp>
          <p:nvSpPr>
            <p:cNvPr id="33856" name="Rectangle 57">
              <a:extLst>
                <a:ext uri="{FF2B5EF4-FFF2-40B4-BE49-F238E27FC236}">
                  <a16:creationId xmlns:a16="http://schemas.microsoft.com/office/drawing/2014/main" id="{F0A308E3-B407-8868-2E59-65C8B52B9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" y="3245"/>
              <a:ext cx="7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1200"/>
            </a:p>
          </p:txBody>
        </p:sp>
        <p:sp>
          <p:nvSpPr>
            <p:cNvPr id="33857" name="Rectangle 58">
              <a:extLst>
                <a:ext uri="{FF2B5EF4-FFF2-40B4-BE49-F238E27FC236}">
                  <a16:creationId xmlns:a16="http://schemas.microsoft.com/office/drawing/2014/main" id="{F2C46B1A-26A1-B237-27BF-25F219C1B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9" y="3237"/>
              <a:ext cx="7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20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A52CB552-542D-B93A-FB5F-E9E941C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C16568A-B652-438B-A04D-02D416C7876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6C6D55F5-D42A-10B3-04E0-CF4A2828BF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Transitivity of Reducibility</a:t>
            </a:r>
          </a:p>
        </p:txBody>
      </p:sp>
      <p:sp>
        <p:nvSpPr>
          <p:cNvPr id="3482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0F4458B-041C-DFC1-7C34-EC31E3E8F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077200" cy="4953000"/>
          </a:xfrm>
        </p:spPr>
        <p:txBody>
          <a:bodyPr/>
          <a:lstStyle/>
          <a:p>
            <a:pPr eaLnBrk="1" hangingPunct="1"/>
            <a:r>
              <a:rPr lang="en-US" altLang="en-US" sz="2400"/>
              <a:t>If A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B and B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C, then A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C.</a:t>
            </a:r>
          </a:p>
          <a:p>
            <a:pPr lvl="1" eaLnBrk="1" hangingPunct="1"/>
            <a:r>
              <a:rPr lang="en-US" altLang="en-US" sz="2000"/>
              <a:t>An input x for A can be converted to x’ for B, such that x is in A if and only if x’ is in B. Likewise, for B to C.</a:t>
            </a:r>
          </a:p>
          <a:p>
            <a:pPr lvl="1" eaLnBrk="1" hangingPunct="1"/>
            <a:r>
              <a:rPr lang="en-US" altLang="en-US" sz="2000"/>
              <a:t>Convert x’ into x’’ for C such that x’ is in B if x’’ is in C.</a:t>
            </a:r>
          </a:p>
          <a:p>
            <a:pPr lvl="1" eaLnBrk="1" hangingPunct="1"/>
            <a:r>
              <a:rPr lang="en-US" altLang="en-US" sz="2000"/>
              <a:t>Hence, if x is in A, x’ is in B, and x’’ is in C.</a:t>
            </a:r>
          </a:p>
          <a:p>
            <a:pPr lvl="1" eaLnBrk="1" hangingPunct="1"/>
            <a:r>
              <a:rPr lang="en-US" altLang="en-US" sz="2000"/>
              <a:t>Likewise, if x’’ is in C, x’ is in B, and x is in A.</a:t>
            </a:r>
          </a:p>
          <a:p>
            <a:pPr lvl="1" eaLnBrk="1" hangingPunct="1"/>
            <a:r>
              <a:rPr lang="en-US" altLang="en-US" sz="2000"/>
              <a:t>Thus, A </a:t>
            </a:r>
            <a:r>
              <a:rPr lang="en-US" altLang="en-US" sz="2000">
                <a:sym typeface="Symbol" panose="05050102010706020507" pitchFamily="18" charset="2"/>
              </a:rPr>
              <a:t></a:t>
            </a:r>
            <a:r>
              <a:rPr lang="en-US" altLang="en-US" sz="2000"/>
              <a:t> C, since polynomials are closed under composition.</a:t>
            </a:r>
          </a:p>
          <a:p>
            <a:pPr eaLnBrk="1" hangingPunct="1"/>
            <a:r>
              <a:rPr lang="en-US" altLang="en-US" sz="2400"/>
              <a:t>Types of reductions:</a:t>
            </a:r>
          </a:p>
          <a:p>
            <a:pPr lvl="1" eaLnBrk="1" hangingPunct="1"/>
            <a:r>
              <a:rPr lang="en-US" altLang="en-US" sz="2000" b="1">
                <a:solidFill>
                  <a:schemeClr val="tx2"/>
                </a:solidFill>
              </a:rPr>
              <a:t>Local replacement:</a:t>
            </a:r>
            <a:r>
              <a:rPr lang="en-US" altLang="en-US" sz="2000">
                <a:solidFill>
                  <a:schemeClr val="tx2"/>
                </a:solidFill>
              </a:rPr>
              <a:t> </a:t>
            </a:r>
            <a:r>
              <a:rPr lang="en-US" altLang="en-US" sz="2000"/>
              <a:t>Show A </a:t>
            </a:r>
            <a:r>
              <a:rPr lang="en-US" altLang="en-US" sz="2000">
                <a:sym typeface="Symbol" panose="05050102010706020507" pitchFamily="18" charset="2"/>
              </a:rPr>
              <a:t></a:t>
            </a:r>
            <a:r>
              <a:rPr lang="en-US" altLang="en-US" sz="2000"/>
              <a:t> B by dividing an input to A into components and show how each component can be converted to a component for B.</a:t>
            </a:r>
          </a:p>
          <a:p>
            <a:pPr lvl="1" eaLnBrk="1" hangingPunct="1"/>
            <a:r>
              <a:rPr lang="en-US" altLang="en-US" sz="2000" b="1">
                <a:solidFill>
                  <a:schemeClr val="tx2"/>
                </a:solidFill>
              </a:rPr>
              <a:t>Component design:</a:t>
            </a:r>
            <a:r>
              <a:rPr lang="en-US" altLang="en-US" sz="2000"/>
              <a:t> Show A </a:t>
            </a:r>
            <a:r>
              <a:rPr lang="en-US" altLang="en-US" sz="2000">
                <a:sym typeface="Symbol" panose="05050102010706020507" pitchFamily="18" charset="2"/>
              </a:rPr>
              <a:t></a:t>
            </a:r>
            <a:r>
              <a:rPr lang="en-US" altLang="en-US" sz="2000"/>
              <a:t> B by building special components for an input of B that enforce properties needed for A, such as “choice” or “evaluate.”</a:t>
            </a:r>
            <a:endParaRPr lang="en-US" altLang="en-US" sz="1800"/>
          </a:p>
        </p:txBody>
      </p:sp>
      <p:pic>
        <p:nvPicPr>
          <p:cNvPr id="34821" name="Picture 4" descr="BD05515_">
            <a:extLst>
              <a:ext uri="{FF2B5EF4-FFF2-40B4-BE49-F238E27FC236}">
                <a16:creationId xmlns:a16="http://schemas.microsoft.com/office/drawing/2014/main" id="{84059D28-098A-F236-E6C8-895BB920F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450" y="76200"/>
            <a:ext cx="1733550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AEEE11BB-BEBF-909F-E1A7-0E17D28C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0E8EBB-94DF-44EC-BA6E-40D921589EE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60FC561-588F-4C94-67C5-9874547E9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SAT</a:t>
            </a:r>
          </a:p>
        </p:txBody>
      </p:sp>
      <p:sp>
        <p:nvSpPr>
          <p:cNvPr id="3584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DC29FE9-00A4-A1BD-9AC2-479403C90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648200"/>
          </a:xfrm>
        </p:spPr>
        <p:txBody>
          <a:bodyPr/>
          <a:lstStyle/>
          <a:p>
            <a:pPr eaLnBrk="1" hangingPunct="1"/>
            <a:r>
              <a:rPr lang="en-US" altLang="en-US" sz="2800"/>
              <a:t>A Boolean formula is a formula where the variables and operations are Boolean (0/1):</a:t>
            </a:r>
          </a:p>
          <a:p>
            <a:pPr lvl="1" eaLnBrk="1" hangingPunct="1"/>
            <a:r>
              <a:rPr lang="en-US" altLang="en-US" sz="2400"/>
              <a:t>(a+b+¬d+e)(¬a+¬c)(¬b+c+d+e)(a+¬c+¬e)</a:t>
            </a:r>
          </a:p>
          <a:p>
            <a:pPr lvl="1" eaLnBrk="1" hangingPunct="1"/>
            <a:r>
              <a:rPr lang="en-US" altLang="en-US" sz="2400"/>
              <a:t>OR: +, AND: (times), NOT: ¬</a:t>
            </a:r>
          </a:p>
          <a:p>
            <a:pPr eaLnBrk="1" hangingPunct="1"/>
            <a:r>
              <a:rPr lang="en-US" altLang="en-US" sz="2800"/>
              <a:t>SAT: Given a Boolean formula S, is S satisfiable, that is, can we assign 0’s and 1’s to the variables so that S is 1 (“true”)?</a:t>
            </a:r>
          </a:p>
          <a:p>
            <a:pPr lvl="1" eaLnBrk="1" hangingPunct="1"/>
            <a:r>
              <a:rPr lang="en-US" altLang="en-US" sz="2400"/>
              <a:t>Easy to see that CNF-SAT is in NP:</a:t>
            </a:r>
          </a:p>
          <a:p>
            <a:pPr lvl="2" eaLnBrk="1" hangingPunct="1"/>
            <a:r>
              <a:rPr lang="en-US" altLang="en-US" sz="2000"/>
              <a:t>Non-deterministically choose an assignment of 0’s and 1’s to the variables and then evaluate each clause.  If they are all 1 (“true”), then the formula is satisfiable.</a:t>
            </a:r>
          </a:p>
        </p:txBody>
      </p:sp>
      <p:pic>
        <p:nvPicPr>
          <p:cNvPr id="35845" name="Picture 4" descr="BD10015_">
            <a:extLst>
              <a:ext uri="{FF2B5EF4-FFF2-40B4-BE49-F238E27FC236}">
                <a16:creationId xmlns:a16="http://schemas.microsoft.com/office/drawing/2014/main" id="{7FE7631F-9D99-B286-24F2-C7AA9583D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325" y="152400"/>
            <a:ext cx="1725613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775FC0C7-0E5E-E25A-E076-DC752AFE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9FEB35-CACA-4E4F-BADF-A3843757218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34CA77DB-3EE3-8804-2083-8594DE9631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SAT is NP-complete</a:t>
            </a:r>
          </a:p>
        </p:txBody>
      </p:sp>
      <p:sp>
        <p:nvSpPr>
          <p:cNvPr id="3686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E6BDB13-45CE-3E25-339B-43998D3A1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478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z="2200"/>
              <a:t>Reduce CIRCUIT-SAT to SAT. </a:t>
            </a:r>
          </a:p>
          <a:p>
            <a:pPr lvl="1" eaLnBrk="1" hangingPunct="1"/>
            <a:r>
              <a:rPr lang="en-US" altLang="en-US" sz="2200"/>
              <a:t>Given a Boolean circuit, make a variable for every input and gate.</a:t>
            </a:r>
          </a:p>
          <a:p>
            <a:pPr lvl="1" eaLnBrk="1" hangingPunct="1"/>
            <a:r>
              <a:rPr lang="en-US" altLang="en-US" sz="2200"/>
              <a:t>Create a sub-formula for each gate, characterizing its effect. Form the formula as the output variable AND-ed with all these sub-formulas:</a:t>
            </a:r>
          </a:p>
          <a:p>
            <a:pPr lvl="2" eaLnBrk="1" hangingPunct="1"/>
            <a:r>
              <a:rPr lang="en-US" altLang="en-US" sz="2200"/>
              <a:t>Example: m((a+b)↔e)(c↔¬f)(d↔¬g)(e↔¬h)(ef↔i)…</a:t>
            </a:r>
          </a:p>
        </p:txBody>
      </p:sp>
      <p:pic>
        <p:nvPicPr>
          <p:cNvPr id="36869" name="Picture 4" descr="BD10015_">
            <a:extLst>
              <a:ext uri="{FF2B5EF4-FFF2-40B4-BE49-F238E27FC236}">
                <a16:creationId xmlns:a16="http://schemas.microsoft.com/office/drawing/2014/main" id="{17A4A072-81A4-7ACB-AC94-9DE01A0B1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325" y="152400"/>
            <a:ext cx="1725613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Freeform 5">
            <a:extLst>
              <a:ext uri="{FF2B5EF4-FFF2-40B4-BE49-F238E27FC236}">
                <a16:creationId xmlns:a16="http://schemas.microsoft.com/office/drawing/2014/main" id="{2AE6B34E-C230-C0E8-349B-85217BBAAFF7}"/>
              </a:ext>
            </a:extLst>
          </p:cNvPr>
          <p:cNvSpPr>
            <a:spLocks/>
          </p:cNvSpPr>
          <p:nvPr/>
        </p:nvSpPr>
        <p:spPr bwMode="auto">
          <a:xfrm>
            <a:off x="2557463" y="5129213"/>
            <a:ext cx="509587" cy="495300"/>
          </a:xfrm>
          <a:custGeom>
            <a:avLst/>
            <a:gdLst>
              <a:gd name="T0" fmla="*/ 0 w 720"/>
              <a:gd name="T1" fmla="*/ 0 h 574"/>
              <a:gd name="T2" fmla="*/ 0 w 720"/>
              <a:gd name="T3" fmla="*/ 2147483646 h 574"/>
              <a:gd name="T4" fmla="*/ 2147483646 w 720"/>
              <a:gd name="T5" fmla="*/ 2147483646 h 574"/>
              <a:gd name="T6" fmla="*/ 2147483646 w 720"/>
              <a:gd name="T7" fmla="*/ 2147483646 h 574"/>
              <a:gd name="T8" fmla="*/ 2147483646 w 720"/>
              <a:gd name="T9" fmla="*/ 2147483646 h 574"/>
              <a:gd name="T10" fmla="*/ 2147483646 w 720"/>
              <a:gd name="T11" fmla="*/ 2147483646 h 574"/>
              <a:gd name="T12" fmla="*/ 2147483646 w 720"/>
              <a:gd name="T13" fmla="*/ 2147483646 h 574"/>
              <a:gd name="T14" fmla="*/ 2147483646 w 720"/>
              <a:gd name="T15" fmla="*/ 2147483646 h 574"/>
              <a:gd name="T16" fmla="*/ 2147483646 w 720"/>
              <a:gd name="T17" fmla="*/ 2147483646 h 574"/>
              <a:gd name="T18" fmla="*/ 2147483646 w 720"/>
              <a:gd name="T19" fmla="*/ 2147483646 h 574"/>
              <a:gd name="T20" fmla="*/ 2147483646 w 720"/>
              <a:gd name="T21" fmla="*/ 2147483646 h 574"/>
              <a:gd name="T22" fmla="*/ 2147483646 w 720"/>
              <a:gd name="T23" fmla="*/ 2147483646 h 574"/>
              <a:gd name="T24" fmla="*/ 2147483646 w 720"/>
              <a:gd name="T25" fmla="*/ 2147483646 h 574"/>
              <a:gd name="T26" fmla="*/ 2147483646 w 720"/>
              <a:gd name="T27" fmla="*/ 2147483646 h 574"/>
              <a:gd name="T28" fmla="*/ 2147483646 w 720"/>
              <a:gd name="T29" fmla="*/ 2147483646 h 574"/>
              <a:gd name="T30" fmla="*/ 2147483646 w 720"/>
              <a:gd name="T31" fmla="*/ 2147483646 h 574"/>
              <a:gd name="T32" fmla="*/ 2147483646 w 720"/>
              <a:gd name="T33" fmla="*/ 2147483646 h 574"/>
              <a:gd name="T34" fmla="*/ 2147483646 w 720"/>
              <a:gd name="T35" fmla="*/ 2147483646 h 574"/>
              <a:gd name="T36" fmla="*/ 2147483646 w 720"/>
              <a:gd name="T37" fmla="*/ 2147483646 h 574"/>
              <a:gd name="T38" fmla="*/ 2147483646 w 720"/>
              <a:gd name="T39" fmla="*/ 2147483646 h 574"/>
              <a:gd name="T40" fmla="*/ 2147483646 w 720"/>
              <a:gd name="T41" fmla="*/ 2147483646 h 574"/>
              <a:gd name="T42" fmla="*/ 2147483646 w 720"/>
              <a:gd name="T43" fmla="*/ 2147483646 h 574"/>
              <a:gd name="T44" fmla="*/ 2147483646 w 720"/>
              <a:gd name="T45" fmla="*/ 0 h 574"/>
              <a:gd name="T46" fmla="*/ 0 w 720"/>
              <a:gd name="T47" fmla="*/ 0 h 57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720" h="574">
                <a:moveTo>
                  <a:pt x="0" y="0"/>
                </a:moveTo>
                <a:lnTo>
                  <a:pt x="0" y="574"/>
                </a:lnTo>
                <a:lnTo>
                  <a:pt x="432" y="574"/>
                </a:lnTo>
                <a:lnTo>
                  <a:pt x="478" y="570"/>
                </a:lnTo>
                <a:lnTo>
                  <a:pt x="522" y="559"/>
                </a:lnTo>
                <a:lnTo>
                  <a:pt x="562" y="542"/>
                </a:lnTo>
                <a:lnTo>
                  <a:pt x="601" y="519"/>
                </a:lnTo>
                <a:lnTo>
                  <a:pt x="635" y="490"/>
                </a:lnTo>
                <a:lnTo>
                  <a:pt x="666" y="455"/>
                </a:lnTo>
                <a:lnTo>
                  <a:pt x="689" y="417"/>
                </a:lnTo>
                <a:lnTo>
                  <a:pt x="706" y="375"/>
                </a:lnTo>
                <a:lnTo>
                  <a:pt x="716" y="331"/>
                </a:lnTo>
                <a:lnTo>
                  <a:pt x="720" y="287"/>
                </a:lnTo>
                <a:lnTo>
                  <a:pt x="716" y="241"/>
                </a:lnTo>
                <a:lnTo>
                  <a:pt x="706" y="197"/>
                </a:lnTo>
                <a:lnTo>
                  <a:pt x="689" y="157"/>
                </a:lnTo>
                <a:lnTo>
                  <a:pt x="666" y="119"/>
                </a:lnTo>
                <a:lnTo>
                  <a:pt x="635" y="84"/>
                </a:lnTo>
                <a:lnTo>
                  <a:pt x="601" y="54"/>
                </a:lnTo>
                <a:lnTo>
                  <a:pt x="562" y="31"/>
                </a:lnTo>
                <a:lnTo>
                  <a:pt x="522" y="14"/>
                </a:lnTo>
                <a:lnTo>
                  <a:pt x="478" y="4"/>
                </a:lnTo>
                <a:lnTo>
                  <a:pt x="4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1" name="Freeform 6">
            <a:extLst>
              <a:ext uri="{FF2B5EF4-FFF2-40B4-BE49-F238E27FC236}">
                <a16:creationId xmlns:a16="http://schemas.microsoft.com/office/drawing/2014/main" id="{CB237409-7768-1584-937E-061E0D20D0F9}"/>
              </a:ext>
            </a:extLst>
          </p:cNvPr>
          <p:cNvSpPr>
            <a:spLocks/>
          </p:cNvSpPr>
          <p:nvPr/>
        </p:nvSpPr>
        <p:spPr bwMode="auto">
          <a:xfrm>
            <a:off x="1695450" y="5253038"/>
            <a:ext cx="450850" cy="495300"/>
          </a:xfrm>
          <a:custGeom>
            <a:avLst/>
            <a:gdLst>
              <a:gd name="T0" fmla="*/ 2147483646 w 635"/>
              <a:gd name="T1" fmla="*/ 2147483646 h 574"/>
              <a:gd name="T2" fmla="*/ 2147483646 w 635"/>
              <a:gd name="T3" fmla="*/ 2147483646 h 574"/>
              <a:gd name="T4" fmla="*/ 2147483646 w 635"/>
              <a:gd name="T5" fmla="*/ 2147483646 h 574"/>
              <a:gd name="T6" fmla="*/ 2147483646 w 635"/>
              <a:gd name="T7" fmla="*/ 2147483646 h 574"/>
              <a:gd name="T8" fmla="*/ 2147483646 w 635"/>
              <a:gd name="T9" fmla="*/ 2147483646 h 574"/>
              <a:gd name="T10" fmla="*/ 2147483646 w 635"/>
              <a:gd name="T11" fmla="*/ 2147483646 h 574"/>
              <a:gd name="T12" fmla="*/ 2147483646 w 635"/>
              <a:gd name="T13" fmla="*/ 2147483646 h 574"/>
              <a:gd name="T14" fmla="*/ 2147483646 w 635"/>
              <a:gd name="T15" fmla="*/ 2147483646 h 574"/>
              <a:gd name="T16" fmla="*/ 2147483646 w 635"/>
              <a:gd name="T17" fmla="*/ 2147483646 h 574"/>
              <a:gd name="T18" fmla="*/ 2147483646 w 635"/>
              <a:gd name="T19" fmla="*/ 2147483646 h 574"/>
              <a:gd name="T20" fmla="*/ 2147483646 w 635"/>
              <a:gd name="T21" fmla="*/ 2147483646 h 574"/>
              <a:gd name="T22" fmla="*/ 2147483646 w 635"/>
              <a:gd name="T23" fmla="*/ 2147483646 h 574"/>
              <a:gd name="T24" fmla="*/ 2147483646 w 635"/>
              <a:gd name="T25" fmla="*/ 2147483646 h 574"/>
              <a:gd name="T26" fmla="*/ 2147483646 w 635"/>
              <a:gd name="T27" fmla="*/ 2147483646 h 574"/>
              <a:gd name="T28" fmla="*/ 2147483646 w 635"/>
              <a:gd name="T29" fmla="*/ 2147483646 h 574"/>
              <a:gd name="T30" fmla="*/ 2147483646 w 635"/>
              <a:gd name="T31" fmla="*/ 2147483646 h 574"/>
              <a:gd name="T32" fmla="*/ 2147483646 w 635"/>
              <a:gd name="T33" fmla="*/ 2147483646 h 574"/>
              <a:gd name="T34" fmla="*/ 2147483646 w 635"/>
              <a:gd name="T35" fmla="*/ 2147483646 h 574"/>
              <a:gd name="T36" fmla="*/ 2147483646 w 635"/>
              <a:gd name="T37" fmla="*/ 2147483646 h 574"/>
              <a:gd name="T38" fmla="*/ 2147483646 w 635"/>
              <a:gd name="T39" fmla="*/ 2147483646 h 574"/>
              <a:gd name="T40" fmla="*/ 2147483646 w 635"/>
              <a:gd name="T41" fmla="*/ 2147483646 h 574"/>
              <a:gd name="T42" fmla="*/ 0 w 635"/>
              <a:gd name="T43" fmla="*/ 0 h 574"/>
              <a:gd name="T44" fmla="*/ 0 w 635"/>
              <a:gd name="T45" fmla="*/ 2147483646 h 574"/>
              <a:gd name="T46" fmla="*/ 2147483646 w 635"/>
              <a:gd name="T47" fmla="*/ 2147483646 h 57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635" h="574">
                <a:moveTo>
                  <a:pt x="491" y="290"/>
                </a:moveTo>
                <a:lnTo>
                  <a:pt x="497" y="311"/>
                </a:lnTo>
                <a:lnTo>
                  <a:pt x="506" y="331"/>
                </a:lnTo>
                <a:lnTo>
                  <a:pt x="524" y="346"/>
                </a:lnTo>
                <a:lnTo>
                  <a:pt x="543" y="355"/>
                </a:lnTo>
                <a:lnTo>
                  <a:pt x="566" y="357"/>
                </a:lnTo>
                <a:lnTo>
                  <a:pt x="587" y="354"/>
                </a:lnTo>
                <a:lnTo>
                  <a:pt x="606" y="344"/>
                </a:lnTo>
                <a:lnTo>
                  <a:pt x="621" y="327"/>
                </a:lnTo>
                <a:lnTo>
                  <a:pt x="631" y="308"/>
                </a:lnTo>
                <a:lnTo>
                  <a:pt x="635" y="287"/>
                </a:lnTo>
                <a:lnTo>
                  <a:pt x="631" y="264"/>
                </a:lnTo>
                <a:lnTo>
                  <a:pt x="621" y="245"/>
                </a:lnTo>
                <a:lnTo>
                  <a:pt x="606" y="229"/>
                </a:lnTo>
                <a:lnTo>
                  <a:pt x="587" y="218"/>
                </a:lnTo>
                <a:lnTo>
                  <a:pt x="566" y="214"/>
                </a:lnTo>
                <a:lnTo>
                  <a:pt x="543" y="218"/>
                </a:lnTo>
                <a:lnTo>
                  <a:pt x="524" y="227"/>
                </a:lnTo>
                <a:lnTo>
                  <a:pt x="506" y="241"/>
                </a:lnTo>
                <a:lnTo>
                  <a:pt x="497" y="260"/>
                </a:lnTo>
                <a:lnTo>
                  <a:pt x="491" y="283"/>
                </a:lnTo>
                <a:lnTo>
                  <a:pt x="0" y="0"/>
                </a:lnTo>
                <a:lnTo>
                  <a:pt x="0" y="574"/>
                </a:lnTo>
                <a:lnTo>
                  <a:pt x="491" y="29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2" name="Freeform 7">
            <a:extLst>
              <a:ext uri="{FF2B5EF4-FFF2-40B4-BE49-F238E27FC236}">
                <a16:creationId xmlns:a16="http://schemas.microsoft.com/office/drawing/2014/main" id="{1A02F7DA-ECD8-CC5D-19A4-D853EB883B05}"/>
              </a:ext>
            </a:extLst>
          </p:cNvPr>
          <p:cNvSpPr>
            <a:spLocks/>
          </p:cNvSpPr>
          <p:nvPr/>
        </p:nvSpPr>
        <p:spPr bwMode="auto">
          <a:xfrm>
            <a:off x="1665288" y="4508500"/>
            <a:ext cx="511175" cy="495300"/>
          </a:xfrm>
          <a:custGeom>
            <a:avLst/>
            <a:gdLst>
              <a:gd name="T0" fmla="*/ 2147483646 w 719"/>
              <a:gd name="T1" fmla="*/ 0 h 574"/>
              <a:gd name="T2" fmla="*/ 2147483646 w 719"/>
              <a:gd name="T3" fmla="*/ 2147483646 h 574"/>
              <a:gd name="T4" fmla="*/ 2147483646 w 719"/>
              <a:gd name="T5" fmla="*/ 2147483646 h 574"/>
              <a:gd name="T6" fmla="*/ 2147483646 w 719"/>
              <a:gd name="T7" fmla="*/ 2147483646 h 574"/>
              <a:gd name="T8" fmla="*/ 2147483646 w 719"/>
              <a:gd name="T9" fmla="*/ 2147483646 h 574"/>
              <a:gd name="T10" fmla="*/ 2147483646 w 719"/>
              <a:gd name="T11" fmla="*/ 2147483646 h 574"/>
              <a:gd name="T12" fmla="*/ 2147483646 w 719"/>
              <a:gd name="T13" fmla="*/ 2147483646 h 574"/>
              <a:gd name="T14" fmla="*/ 2147483646 w 719"/>
              <a:gd name="T15" fmla="*/ 2147483646 h 574"/>
              <a:gd name="T16" fmla="*/ 2147483646 w 719"/>
              <a:gd name="T17" fmla="*/ 2147483646 h 574"/>
              <a:gd name="T18" fmla="*/ 2147483646 w 719"/>
              <a:gd name="T19" fmla="*/ 2147483646 h 574"/>
              <a:gd name="T20" fmla="*/ 2147483646 w 719"/>
              <a:gd name="T21" fmla="*/ 2147483646 h 574"/>
              <a:gd name="T22" fmla="*/ 2147483646 w 719"/>
              <a:gd name="T23" fmla="*/ 2147483646 h 574"/>
              <a:gd name="T24" fmla="*/ 2147483646 w 719"/>
              <a:gd name="T25" fmla="*/ 2147483646 h 574"/>
              <a:gd name="T26" fmla="*/ 2147483646 w 719"/>
              <a:gd name="T27" fmla="*/ 2147483646 h 574"/>
              <a:gd name="T28" fmla="*/ 2147483646 w 719"/>
              <a:gd name="T29" fmla="*/ 2147483646 h 574"/>
              <a:gd name="T30" fmla="*/ 2147483646 w 719"/>
              <a:gd name="T31" fmla="*/ 2147483646 h 574"/>
              <a:gd name="T32" fmla="*/ 2147483646 w 719"/>
              <a:gd name="T33" fmla="*/ 2147483646 h 574"/>
              <a:gd name="T34" fmla="*/ 0 w 719"/>
              <a:gd name="T35" fmla="*/ 2147483646 h 574"/>
              <a:gd name="T36" fmla="*/ 2147483646 w 719"/>
              <a:gd name="T37" fmla="*/ 2147483646 h 574"/>
              <a:gd name="T38" fmla="*/ 2147483646 w 719"/>
              <a:gd name="T39" fmla="*/ 2147483646 h 574"/>
              <a:gd name="T40" fmla="*/ 2147483646 w 719"/>
              <a:gd name="T41" fmla="*/ 2147483646 h 574"/>
              <a:gd name="T42" fmla="*/ 2147483646 w 719"/>
              <a:gd name="T43" fmla="*/ 2147483646 h 574"/>
              <a:gd name="T44" fmla="*/ 2147483646 w 719"/>
              <a:gd name="T45" fmla="*/ 2147483646 h 574"/>
              <a:gd name="T46" fmla="*/ 2147483646 w 719"/>
              <a:gd name="T47" fmla="*/ 2147483646 h 574"/>
              <a:gd name="T48" fmla="*/ 2147483646 w 719"/>
              <a:gd name="T49" fmla="*/ 2147483646 h 574"/>
              <a:gd name="T50" fmla="*/ 0 w 719"/>
              <a:gd name="T51" fmla="*/ 0 h 574"/>
              <a:gd name="T52" fmla="*/ 2147483646 w 719"/>
              <a:gd name="T53" fmla="*/ 0 h 574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719" h="574">
                <a:moveTo>
                  <a:pt x="312" y="0"/>
                </a:moveTo>
                <a:lnTo>
                  <a:pt x="374" y="13"/>
                </a:lnTo>
                <a:lnTo>
                  <a:pt x="435" y="36"/>
                </a:lnTo>
                <a:lnTo>
                  <a:pt x="493" y="63"/>
                </a:lnTo>
                <a:lnTo>
                  <a:pt x="546" y="97"/>
                </a:lnTo>
                <a:lnTo>
                  <a:pt x="598" y="137"/>
                </a:lnTo>
                <a:lnTo>
                  <a:pt x="644" y="183"/>
                </a:lnTo>
                <a:lnTo>
                  <a:pt x="685" y="233"/>
                </a:lnTo>
                <a:lnTo>
                  <a:pt x="719" y="287"/>
                </a:lnTo>
                <a:lnTo>
                  <a:pt x="686" y="342"/>
                </a:lnTo>
                <a:lnTo>
                  <a:pt x="646" y="392"/>
                </a:lnTo>
                <a:lnTo>
                  <a:pt x="600" y="438"/>
                </a:lnTo>
                <a:lnTo>
                  <a:pt x="550" y="478"/>
                </a:lnTo>
                <a:lnTo>
                  <a:pt x="495" y="512"/>
                </a:lnTo>
                <a:lnTo>
                  <a:pt x="437" y="539"/>
                </a:lnTo>
                <a:lnTo>
                  <a:pt x="376" y="560"/>
                </a:lnTo>
                <a:lnTo>
                  <a:pt x="312" y="574"/>
                </a:lnTo>
                <a:lnTo>
                  <a:pt x="0" y="574"/>
                </a:lnTo>
                <a:lnTo>
                  <a:pt x="27" y="505"/>
                </a:lnTo>
                <a:lnTo>
                  <a:pt x="44" y="432"/>
                </a:lnTo>
                <a:lnTo>
                  <a:pt x="55" y="359"/>
                </a:lnTo>
                <a:lnTo>
                  <a:pt x="59" y="287"/>
                </a:lnTo>
                <a:lnTo>
                  <a:pt x="55" y="212"/>
                </a:lnTo>
                <a:lnTo>
                  <a:pt x="44" y="139"/>
                </a:lnTo>
                <a:lnTo>
                  <a:pt x="27" y="69"/>
                </a:lnTo>
                <a:lnTo>
                  <a:pt x="0" y="0"/>
                </a:lnTo>
                <a:lnTo>
                  <a:pt x="312" y="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3" name="Freeform 8">
            <a:extLst>
              <a:ext uri="{FF2B5EF4-FFF2-40B4-BE49-F238E27FC236}">
                <a16:creationId xmlns:a16="http://schemas.microsoft.com/office/drawing/2014/main" id="{3D40C053-04E3-0164-6C73-56856491728D}"/>
              </a:ext>
            </a:extLst>
          </p:cNvPr>
          <p:cNvSpPr>
            <a:spLocks/>
          </p:cNvSpPr>
          <p:nvPr/>
        </p:nvSpPr>
        <p:spPr bwMode="auto">
          <a:xfrm>
            <a:off x="4244975" y="5748338"/>
            <a:ext cx="512763" cy="495300"/>
          </a:xfrm>
          <a:custGeom>
            <a:avLst/>
            <a:gdLst>
              <a:gd name="T0" fmla="*/ 0 w 720"/>
              <a:gd name="T1" fmla="*/ 0 h 574"/>
              <a:gd name="T2" fmla="*/ 0 w 720"/>
              <a:gd name="T3" fmla="*/ 2147483646 h 574"/>
              <a:gd name="T4" fmla="*/ 2147483646 w 720"/>
              <a:gd name="T5" fmla="*/ 2147483646 h 574"/>
              <a:gd name="T6" fmla="*/ 2147483646 w 720"/>
              <a:gd name="T7" fmla="*/ 2147483646 h 574"/>
              <a:gd name="T8" fmla="*/ 2147483646 w 720"/>
              <a:gd name="T9" fmla="*/ 2147483646 h 574"/>
              <a:gd name="T10" fmla="*/ 2147483646 w 720"/>
              <a:gd name="T11" fmla="*/ 2147483646 h 574"/>
              <a:gd name="T12" fmla="*/ 2147483646 w 720"/>
              <a:gd name="T13" fmla="*/ 2147483646 h 574"/>
              <a:gd name="T14" fmla="*/ 2147483646 w 720"/>
              <a:gd name="T15" fmla="*/ 2147483646 h 574"/>
              <a:gd name="T16" fmla="*/ 2147483646 w 720"/>
              <a:gd name="T17" fmla="*/ 2147483646 h 574"/>
              <a:gd name="T18" fmla="*/ 2147483646 w 720"/>
              <a:gd name="T19" fmla="*/ 2147483646 h 574"/>
              <a:gd name="T20" fmla="*/ 2147483646 w 720"/>
              <a:gd name="T21" fmla="*/ 2147483646 h 574"/>
              <a:gd name="T22" fmla="*/ 2147483646 w 720"/>
              <a:gd name="T23" fmla="*/ 2147483646 h 574"/>
              <a:gd name="T24" fmla="*/ 2147483646 w 720"/>
              <a:gd name="T25" fmla="*/ 2147483646 h 574"/>
              <a:gd name="T26" fmla="*/ 2147483646 w 720"/>
              <a:gd name="T27" fmla="*/ 2147483646 h 574"/>
              <a:gd name="T28" fmla="*/ 2147483646 w 720"/>
              <a:gd name="T29" fmla="*/ 2147483646 h 574"/>
              <a:gd name="T30" fmla="*/ 2147483646 w 720"/>
              <a:gd name="T31" fmla="*/ 2147483646 h 574"/>
              <a:gd name="T32" fmla="*/ 2147483646 w 720"/>
              <a:gd name="T33" fmla="*/ 2147483646 h 574"/>
              <a:gd name="T34" fmla="*/ 2147483646 w 720"/>
              <a:gd name="T35" fmla="*/ 2147483646 h 574"/>
              <a:gd name="T36" fmla="*/ 2147483646 w 720"/>
              <a:gd name="T37" fmla="*/ 2147483646 h 574"/>
              <a:gd name="T38" fmla="*/ 2147483646 w 720"/>
              <a:gd name="T39" fmla="*/ 2147483646 h 574"/>
              <a:gd name="T40" fmla="*/ 2147483646 w 720"/>
              <a:gd name="T41" fmla="*/ 2147483646 h 574"/>
              <a:gd name="T42" fmla="*/ 2147483646 w 720"/>
              <a:gd name="T43" fmla="*/ 2147483646 h 574"/>
              <a:gd name="T44" fmla="*/ 2147483646 w 720"/>
              <a:gd name="T45" fmla="*/ 0 h 574"/>
              <a:gd name="T46" fmla="*/ 0 w 720"/>
              <a:gd name="T47" fmla="*/ 0 h 57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720" h="574">
                <a:moveTo>
                  <a:pt x="0" y="0"/>
                </a:moveTo>
                <a:lnTo>
                  <a:pt x="0" y="574"/>
                </a:lnTo>
                <a:lnTo>
                  <a:pt x="432" y="574"/>
                </a:lnTo>
                <a:lnTo>
                  <a:pt x="476" y="570"/>
                </a:lnTo>
                <a:lnTo>
                  <a:pt x="520" y="558"/>
                </a:lnTo>
                <a:lnTo>
                  <a:pt x="562" y="541"/>
                </a:lnTo>
                <a:lnTo>
                  <a:pt x="601" y="518"/>
                </a:lnTo>
                <a:lnTo>
                  <a:pt x="635" y="489"/>
                </a:lnTo>
                <a:lnTo>
                  <a:pt x="664" y="455"/>
                </a:lnTo>
                <a:lnTo>
                  <a:pt x="687" y="417"/>
                </a:lnTo>
                <a:lnTo>
                  <a:pt x="704" y="375"/>
                </a:lnTo>
                <a:lnTo>
                  <a:pt x="716" y="331"/>
                </a:lnTo>
                <a:lnTo>
                  <a:pt x="720" y="287"/>
                </a:lnTo>
                <a:lnTo>
                  <a:pt x="716" y="241"/>
                </a:lnTo>
                <a:lnTo>
                  <a:pt x="704" y="197"/>
                </a:lnTo>
                <a:lnTo>
                  <a:pt x="687" y="156"/>
                </a:lnTo>
                <a:lnTo>
                  <a:pt x="664" y="118"/>
                </a:lnTo>
                <a:lnTo>
                  <a:pt x="635" y="84"/>
                </a:lnTo>
                <a:lnTo>
                  <a:pt x="601" y="53"/>
                </a:lnTo>
                <a:lnTo>
                  <a:pt x="562" y="30"/>
                </a:lnTo>
                <a:lnTo>
                  <a:pt x="520" y="13"/>
                </a:lnTo>
                <a:lnTo>
                  <a:pt x="476" y="3"/>
                </a:lnTo>
                <a:lnTo>
                  <a:pt x="4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4" name="Line 9">
            <a:extLst>
              <a:ext uri="{FF2B5EF4-FFF2-40B4-BE49-F238E27FC236}">
                <a16:creationId xmlns:a16="http://schemas.microsoft.com/office/drawing/2014/main" id="{FB27FEC9-C4D6-B225-FF4A-01AAFAE6FC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5550" y="4633913"/>
            <a:ext cx="40640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Freeform 10">
            <a:extLst>
              <a:ext uri="{FF2B5EF4-FFF2-40B4-BE49-F238E27FC236}">
                <a16:creationId xmlns:a16="http://schemas.microsoft.com/office/drawing/2014/main" id="{BF3E59BB-CBC2-88D1-3FA5-977A348A965B}"/>
              </a:ext>
            </a:extLst>
          </p:cNvPr>
          <p:cNvSpPr>
            <a:spLocks/>
          </p:cNvSpPr>
          <p:nvPr/>
        </p:nvSpPr>
        <p:spPr bwMode="auto">
          <a:xfrm>
            <a:off x="1624013" y="4587875"/>
            <a:ext cx="73025" cy="90488"/>
          </a:xfrm>
          <a:custGeom>
            <a:avLst/>
            <a:gdLst>
              <a:gd name="T0" fmla="*/ 0 w 106"/>
              <a:gd name="T1" fmla="*/ 0 h 103"/>
              <a:gd name="T2" fmla="*/ 2147483646 w 106"/>
              <a:gd name="T3" fmla="*/ 2147483646 h 103"/>
              <a:gd name="T4" fmla="*/ 0 w 106"/>
              <a:gd name="T5" fmla="*/ 2147483646 h 103"/>
              <a:gd name="T6" fmla="*/ 0 w 106"/>
              <a:gd name="T7" fmla="*/ 0 h 1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6" h="103">
                <a:moveTo>
                  <a:pt x="0" y="0"/>
                </a:moveTo>
                <a:lnTo>
                  <a:pt x="106" y="51"/>
                </a:lnTo>
                <a:lnTo>
                  <a:pt x="0" y="1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Line 11">
            <a:extLst>
              <a:ext uri="{FF2B5EF4-FFF2-40B4-BE49-F238E27FC236}">
                <a16:creationId xmlns:a16="http://schemas.microsoft.com/office/drawing/2014/main" id="{21E09E72-082D-33F0-83F1-FFF90D769F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5550" y="4881563"/>
            <a:ext cx="40640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7" name="Freeform 12">
            <a:extLst>
              <a:ext uri="{FF2B5EF4-FFF2-40B4-BE49-F238E27FC236}">
                <a16:creationId xmlns:a16="http://schemas.microsoft.com/office/drawing/2014/main" id="{98E5FE4F-47B2-8029-EAB1-3ED12C941D2E}"/>
              </a:ext>
            </a:extLst>
          </p:cNvPr>
          <p:cNvSpPr>
            <a:spLocks/>
          </p:cNvSpPr>
          <p:nvPr/>
        </p:nvSpPr>
        <p:spPr bwMode="auto">
          <a:xfrm>
            <a:off x="1624013" y="4837113"/>
            <a:ext cx="73025" cy="87312"/>
          </a:xfrm>
          <a:custGeom>
            <a:avLst/>
            <a:gdLst>
              <a:gd name="T0" fmla="*/ 0 w 106"/>
              <a:gd name="T1" fmla="*/ 0 h 103"/>
              <a:gd name="T2" fmla="*/ 2147483646 w 106"/>
              <a:gd name="T3" fmla="*/ 2147483646 h 103"/>
              <a:gd name="T4" fmla="*/ 0 w 106"/>
              <a:gd name="T5" fmla="*/ 2147483646 h 103"/>
              <a:gd name="T6" fmla="*/ 0 w 106"/>
              <a:gd name="T7" fmla="*/ 0 h 1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6" h="103">
                <a:moveTo>
                  <a:pt x="0" y="0"/>
                </a:moveTo>
                <a:lnTo>
                  <a:pt x="106" y="51"/>
                </a:lnTo>
                <a:lnTo>
                  <a:pt x="0" y="1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8" name="Line 13">
            <a:extLst>
              <a:ext uri="{FF2B5EF4-FFF2-40B4-BE49-F238E27FC236}">
                <a16:creationId xmlns:a16="http://schemas.microsoft.com/office/drawing/2014/main" id="{672E5059-E437-8279-DE7D-F22D92C63F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5550" y="5500688"/>
            <a:ext cx="404813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9" name="Freeform 14">
            <a:extLst>
              <a:ext uri="{FF2B5EF4-FFF2-40B4-BE49-F238E27FC236}">
                <a16:creationId xmlns:a16="http://schemas.microsoft.com/office/drawing/2014/main" id="{5CA2286D-5751-7B95-7D43-8D6701FE32E2}"/>
              </a:ext>
            </a:extLst>
          </p:cNvPr>
          <p:cNvSpPr>
            <a:spLocks/>
          </p:cNvSpPr>
          <p:nvPr/>
        </p:nvSpPr>
        <p:spPr bwMode="auto">
          <a:xfrm>
            <a:off x="1622425" y="5454650"/>
            <a:ext cx="73025" cy="90488"/>
          </a:xfrm>
          <a:custGeom>
            <a:avLst/>
            <a:gdLst>
              <a:gd name="T0" fmla="*/ 0 w 104"/>
              <a:gd name="T1" fmla="*/ 0 h 103"/>
              <a:gd name="T2" fmla="*/ 2147483646 w 104"/>
              <a:gd name="T3" fmla="*/ 2147483646 h 103"/>
              <a:gd name="T4" fmla="*/ 0 w 104"/>
              <a:gd name="T5" fmla="*/ 2147483646 h 103"/>
              <a:gd name="T6" fmla="*/ 0 w 104"/>
              <a:gd name="T7" fmla="*/ 0 h 1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4" h="103">
                <a:moveTo>
                  <a:pt x="0" y="0"/>
                </a:moveTo>
                <a:lnTo>
                  <a:pt x="104" y="52"/>
                </a:lnTo>
                <a:lnTo>
                  <a:pt x="0" y="1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0" name="Line 15">
            <a:extLst>
              <a:ext uri="{FF2B5EF4-FFF2-40B4-BE49-F238E27FC236}">
                <a16:creationId xmlns:a16="http://schemas.microsoft.com/office/drawing/2014/main" id="{B50CAE2D-00B5-D270-3E5A-A926B342F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6300" y="5500688"/>
            <a:ext cx="3460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1" name="Freeform 16">
            <a:extLst>
              <a:ext uri="{FF2B5EF4-FFF2-40B4-BE49-F238E27FC236}">
                <a16:creationId xmlns:a16="http://schemas.microsoft.com/office/drawing/2014/main" id="{68E0FF54-6459-451A-AB6F-955518D9A680}"/>
              </a:ext>
            </a:extLst>
          </p:cNvPr>
          <p:cNvSpPr>
            <a:spLocks/>
          </p:cNvSpPr>
          <p:nvPr/>
        </p:nvSpPr>
        <p:spPr bwMode="auto">
          <a:xfrm>
            <a:off x="2482850" y="5454650"/>
            <a:ext cx="74613" cy="90488"/>
          </a:xfrm>
          <a:custGeom>
            <a:avLst/>
            <a:gdLst>
              <a:gd name="T0" fmla="*/ 0 w 103"/>
              <a:gd name="T1" fmla="*/ 0 h 103"/>
              <a:gd name="T2" fmla="*/ 2147483646 w 103"/>
              <a:gd name="T3" fmla="*/ 2147483646 h 103"/>
              <a:gd name="T4" fmla="*/ 0 w 103"/>
              <a:gd name="T5" fmla="*/ 2147483646 h 103"/>
              <a:gd name="T6" fmla="*/ 0 w 103"/>
              <a:gd name="T7" fmla="*/ 0 h 1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3" h="103">
                <a:moveTo>
                  <a:pt x="0" y="0"/>
                </a:moveTo>
                <a:lnTo>
                  <a:pt x="103" y="52"/>
                </a:lnTo>
                <a:lnTo>
                  <a:pt x="0" y="1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2" name="Freeform 17">
            <a:extLst>
              <a:ext uri="{FF2B5EF4-FFF2-40B4-BE49-F238E27FC236}">
                <a16:creationId xmlns:a16="http://schemas.microsoft.com/office/drawing/2014/main" id="{AD63EB14-9E74-2CEA-4AFF-538DF43FA07A}"/>
              </a:ext>
            </a:extLst>
          </p:cNvPr>
          <p:cNvSpPr>
            <a:spLocks/>
          </p:cNvSpPr>
          <p:nvPr/>
        </p:nvSpPr>
        <p:spPr bwMode="auto">
          <a:xfrm>
            <a:off x="2176463" y="4757738"/>
            <a:ext cx="315912" cy="495300"/>
          </a:xfrm>
          <a:custGeom>
            <a:avLst/>
            <a:gdLst>
              <a:gd name="T0" fmla="*/ 0 w 443"/>
              <a:gd name="T1" fmla="*/ 0 h 574"/>
              <a:gd name="T2" fmla="*/ 2147483646 w 443"/>
              <a:gd name="T3" fmla="*/ 0 h 574"/>
              <a:gd name="T4" fmla="*/ 2147483646 w 443"/>
              <a:gd name="T5" fmla="*/ 2147483646 h 574"/>
              <a:gd name="T6" fmla="*/ 2147483646 w 443"/>
              <a:gd name="T7" fmla="*/ 2147483646 h 57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43" h="574">
                <a:moveTo>
                  <a:pt x="0" y="0"/>
                </a:moveTo>
                <a:lnTo>
                  <a:pt x="288" y="0"/>
                </a:lnTo>
                <a:lnTo>
                  <a:pt x="288" y="574"/>
                </a:lnTo>
                <a:lnTo>
                  <a:pt x="443" y="574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3" name="Freeform 18">
            <a:extLst>
              <a:ext uri="{FF2B5EF4-FFF2-40B4-BE49-F238E27FC236}">
                <a16:creationId xmlns:a16="http://schemas.microsoft.com/office/drawing/2014/main" id="{55CBBF0A-7CFE-A9DD-50DB-A2B92B119B2F}"/>
              </a:ext>
            </a:extLst>
          </p:cNvPr>
          <p:cNvSpPr>
            <a:spLocks/>
          </p:cNvSpPr>
          <p:nvPr/>
        </p:nvSpPr>
        <p:spPr bwMode="auto">
          <a:xfrm>
            <a:off x="2482850" y="5208588"/>
            <a:ext cx="74613" cy="88900"/>
          </a:xfrm>
          <a:custGeom>
            <a:avLst/>
            <a:gdLst>
              <a:gd name="T0" fmla="*/ 0 w 103"/>
              <a:gd name="T1" fmla="*/ 0 h 103"/>
              <a:gd name="T2" fmla="*/ 2147483646 w 103"/>
              <a:gd name="T3" fmla="*/ 2147483646 h 103"/>
              <a:gd name="T4" fmla="*/ 0 w 103"/>
              <a:gd name="T5" fmla="*/ 2147483646 h 103"/>
              <a:gd name="T6" fmla="*/ 0 w 103"/>
              <a:gd name="T7" fmla="*/ 0 h 1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3" h="103">
                <a:moveTo>
                  <a:pt x="0" y="0"/>
                </a:moveTo>
                <a:lnTo>
                  <a:pt x="103" y="52"/>
                </a:lnTo>
                <a:lnTo>
                  <a:pt x="0" y="1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4" name="Line 19">
            <a:extLst>
              <a:ext uri="{FF2B5EF4-FFF2-40B4-BE49-F238E27FC236}">
                <a16:creationId xmlns:a16="http://schemas.microsoft.com/office/drawing/2014/main" id="{B30CA6E0-D1AE-F404-4D04-8C95DCE30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050" y="5376863"/>
            <a:ext cx="30480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5" name="Freeform 20">
            <a:extLst>
              <a:ext uri="{FF2B5EF4-FFF2-40B4-BE49-F238E27FC236}">
                <a16:creationId xmlns:a16="http://schemas.microsoft.com/office/drawing/2014/main" id="{DBECE9F8-AACD-B467-05B2-2D9C98A8D3CA}"/>
              </a:ext>
            </a:extLst>
          </p:cNvPr>
          <p:cNvSpPr>
            <a:spLocks/>
          </p:cNvSpPr>
          <p:nvPr/>
        </p:nvSpPr>
        <p:spPr bwMode="auto">
          <a:xfrm>
            <a:off x="3363913" y="5332413"/>
            <a:ext cx="73025" cy="88900"/>
          </a:xfrm>
          <a:custGeom>
            <a:avLst/>
            <a:gdLst>
              <a:gd name="T0" fmla="*/ 0 w 104"/>
              <a:gd name="T1" fmla="*/ 0 h 104"/>
              <a:gd name="T2" fmla="*/ 2147483646 w 104"/>
              <a:gd name="T3" fmla="*/ 2147483646 h 104"/>
              <a:gd name="T4" fmla="*/ 0 w 104"/>
              <a:gd name="T5" fmla="*/ 2147483646 h 104"/>
              <a:gd name="T6" fmla="*/ 0 w 104"/>
              <a:gd name="T7" fmla="*/ 0 h 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4" h="104">
                <a:moveTo>
                  <a:pt x="0" y="0"/>
                </a:moveTo>
                <a:lnTo>
                  <a:pt x="104" y="52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6" name="Line 21">
            <a:extLst>
              <a:ext uri="{FF2B5EF4-FFF2-40B4-BE49-F238E27FC236}">
                <a16:creationId xmlns:a16="http://schemas.microsoft.com/office/drawing/2014/main" id="{23066255-643D-9C3B-789B-F771FE5F3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7738" y="5995988"/>
            <a:ext cx="29210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7" name="Freeform 22">
            <a:extLst>
              <a:ext uri="{FF2B5EF4-FFF2-40B4-BE49-F238E27FC236}">
                <a16:creationId xmlns:a16="http://schemas.microsoft.com/office/drawing/2014/main" id="{2A53F952-6A2B-F0F4-19C7-7250881DC5A5}"/>
              </a:ext>
            </a:extLst>
          </p:cNvPr>
          <p:cNvSpPr>
            <a:spLocks/>
          </p:cNvSpPr>
          <p:nvPr/>
        </p:nvSpPr>
        <p:spPr bwMode="auto">
          <a:xfrm>
            <a:off x="5040313" y="5949950"/>
            <a:ext cx="74612" cy="90488"/>
          </a:xfrm>
          <a:custGeom>
            <a:avLst/>
            <a:gdLst>
              <a:gd name="T0" fmla="*/ 0 w 103"/>
              <a:gd name="T1" fmla="*/ 0 h 103"/>
              <a:gd name="T2" fmla="*/ 2147483646 w 103"/>
              <a:gd name="T3" fmla="*/ 2147483646 h 103"/>
              <a:gd name="T4" fmla="*/ 0 w 103"/>
              <a:gd name="T5" fmla="*/ 2147483646 h 103"/>
              <a:gd name="T6" fmla="*/ 0 w 103"/>
              <a:gd name="T7" fmla="*/ 0 h 1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3" h="103">
                <a:moveTo>
                  <a:pt x="0" y="0"/>
                </a:moveTo>
                <a:lnTo>
                  <a:pt x="103" y="52"/>
                </a:lnTo>
                <a:lnTo>
                  <a:pt x="0" y="1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8" name="Freeform 23">
            <a:extLst>
              <a:ext uri="{FF2B5EF4-FFF2-40B4-BE49-F238E27FC236}">
                <a16:creationId xmlns:a16="http://schemas.microsoft.com/office/drawing/2014/main" id="{A9B0B5EA-5C50-49FB-0EFC-4017233B2F76}"/>
              </a:ext>
            </a:extLst>
          </p:cNvPr>
          <p:cNvSpPr>
            <a:spLocks/>
          </p:cNvSpPr>
          <p:nvPr/>
        </p:nvSpPr>
        <p:spPr bwMode="auto">
          <a:xfrm>
            <a:off x="1430338" y="5500688"/>
            <a:ext cx="969962" cy="1052512"/>
          </a:xfrm>
          <a:custGeom>
            <a:avLst/>
            <a:gdLst>
              <a:gd name="T0" fmla="*/ 0 w 1364"/>
              <a:gd name="T1" fmla="*/ 0 h 1218"/>
              <a:gd name="T2" fmla="*/ 0 w 1364"/>
              <a:gd name="T3" fmla="*/ 2147483646 h 1218"/>
              <a:gd name="T4" fmla="*/ 2147483646 w 1364"/>
              <a:gd name="T5" fmla="*/ 2147483646 h 1218"/>
              <a:gd name="T6" fmla="*/ 2147483646 w 1364"/>
              <a:gd name="T7" fmla="*/ 2147483646 h 1218"/>
              <a:gd name="T8" fmla="*/ 2147483646 w 1364"/>
              <a:gd name="T9" fmla="*/ 2147483646 h 12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64" h="1218">
                <a:moveTo>
                  <a:pt x="0" y="0"/>
                </a:moveTo>
                <a:lnTo>
                  <a:pt x="0" y="1218"/>
                </a:lnTo>
                <a:lnTo>
                  <a:pt x="1151" y="1218"/>
                </a:lnTo>
                <a:lnTo>
                  <a:pt x="1151" y="1075"/>
                </a:lnTo>
                <a:lnTo>
                  <a:pt x="1364" y="1075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9" name="Freeform 24">
            <a:extLst>
              <a:ext uri="{FF2B5EF4-FFF2-40B4-BE49-F238E27FC236}">
                <a16:creationId xmlns:a16="http://schemas.microsoft.com/office/drawing/2014/main" id="{5E69885A-A1F0-CBBB-7218-6FA9ACAD7A9B}"/>
              </a:ext>
            </a:extLst>
          </p:cNvPr>
          <p:cNvSpPr>
            <a:spLocks/>
          </p:cNvSpPr>
          <p:nvPr/>
        </p:nvSpPr>
        <p:spPr bwMode="auto">
          <a:xfrm>
            <a:off x="2392363" y="6383338"/>
            <a:ext cx="71437" cy="90487"/>
          </a:xfrm>
          <a:custGeom>
            <a:avLst/>
            <a:gdLst>
              <a:gd name="T0" fmla="*/ 0 w 104"/>
              <a:gd name="T1" fmla="*/ 0 h 103"/>
              <a:gd name="T2" fmla="*/ 2147483646 w 104"/>
              <a:gd name="T3" fmla="*/ 2147483646 h 103"/>
              <a:gd name="T4" fmla="*/ 0 w 104"/>
              <a:gd name="T5" fmla="*/ 2147483646 h 103"/>
              <a:gd name="T6" fmla="*/ 0 w 104"/>
              <a:gd name="T7" fmla="*/ 0 h 1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4" h="103">
                <a:moveTo>
                  <a:pt x="0" y="0"/>
                </a:moveTo>
                <a:lnTo>
                  <a:pt x="104" y="52"/>
                </a:lnTo>
                <a:lnTo>
                  <a:pt x="0" y="1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0" name="Rectangle 25">
            <a:extLst>
              <a:ext uri="{FF2B5EF4-FFF2-40B4-BE49-F238E27FC236}">
                <a16:creationId xmlns:a16="http://schemas.microsoft.com/office/drawing/2014/main" id="{B726BFBB-F3DF-BE83-02A1-AA69A48D2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675" y="4168775"/>
            <a:ext cx="4937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Inputs:</a:t>
            </a:r>
            <a:endParaRPr lang="en-US" altLang="en-US" sz="1400"/>
          </a:p>
        </p:txBody>
      </p:sp>
      <p:sp>
        <p:nvSpPr>
          <p:cNvPr id="36891" name="Rectangle 26">
            <a:extLst>
              <a:ext uri="{FF2B5EF4-FFF2-40B4-BE49-F238E27FC236}">
                <a16:creationId xmlns:a16="http://schemas.microsoft.com/office/drawing/2014/main" id="{F67C616E-AF53-E906-40B5-3CBE18BED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775" y="4522788"/>
            <a:ext cx="7937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en-US" altLang="en-US" sz="1400"/>
          </a:p>
        </p:txBody>
      </p:sp>
      <p:sp>
        <p:nvSpPr>
          <p:cNvPr id="36892" name="Rectangle 27">
            <a:extLst>
              <a:ext uri="{FF2B5EF4-FFF2-40B4-BE49-F238E27FC236}">
                <a16:creationId xmlns:a16="http://schemas.microsoft.com/office/drawing/2014/main" id="{A574054A-9615-2BCF-8D86-2DA39FD86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767263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en-US" altLang="en-US" sz="1400"/>
          </a:p>
        </p:txBody>
      </p:sp>
      <p:sp>
        <p:nvSpPr>
          <p:cNvPr id="36893" name="Rectangle 28">
            <a:extLst>
              <a:ext uri="{FF2B5EF4-FFF2-40B4-BE49-F238E27FC236}">
                <a16:creationId xmlns:a16="http://schemas.microsoft.com/office/drawing/2014/main" id="{9CBFB4FC-672D-4136-E4BD-41D532444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775" y="5387975"/>
            <a:ext cx="7937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en-US" sz="1400"/>
          </a:p>
        </p:txBody>
      </p:sp>
      <p:sp>
        <p:nvSpPr>
          <p:cNvPr id="36894" name="Rectangle 29">
            <a:extLst>
              <a:ext uri="{FF2B5EF4-FFF2-40B4-BE49-F238E27FC236}">
                <a16:creationId xmlns:a16="http://schemas.microsoft.com/office/drawing/2014/main" id="{83F85973-E1D1-76BE-E299-385AEEE74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038" y="4524375"/>
            <a:ext cx="7937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endParaRPr lang="en-US" altLang="en-US" sz="1400"/>
          </a:p>
        </p:txBody>
      </p:sp>
      <p:sp>
        <p:nvSpPr>
          <p:cNvPr id="36895" name="Rectangle 30">
            <a:extLst>
              <a:ext uri="{FF2B5EF4-FFF2-40B4-BE49-F238E27FC236}">
                <a16:creationId xmlns:a16="http://schemas.microsoft.com/office/drawing/2014/main" id="{55E0A71D-BF7D-B9C7-C8D7-7FA367DFB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5305425"/>
            <a:ext cx="58737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endParaRPr lang="en-US" altLang="en-US" sz="1400"/>
          </a:p>
        </p:txBody>
      </p:sp>
      <p:sp>
        <p:nvSpPr>
          <p:cNvPr id="36896" name="Rectangle 31">
            <a:extLst>
              <a:ext uri="{FF2B5EF4-FFF2-40B4-BE49-F238E27FC236}">
                <a16:creationId xmlns:a16="http://schemas.microsoft.com/office/drawing/2014/main" id="{224C0CE0-6B4A-1128-7E3F-9555F219A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5168900"/>
            <a:ext cx="492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endParaRPr lang="en-US" altLang="en-US" sz="1400"/>
          </a:p>
        </p:txBody>
      </p:sp>
      <p:sp>
        <p:nvSpPr>
          <p:cNvPr id="36897" name="Rectangle 32">
            <a:extLst>
              <a:ext uri="{FF2B5EF4-FFF2-40B4-BE49-F238E27FC236}">
                <a16:creationId xmlns:a16="http://schemas.microsoft.com/office/drawing/2014/main" id="{B8F5A6D7-A1BC-AC8E-5BFB-76B4A351A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488" y="6132513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endParaRPr lang="en-US" altLang="en-US" sz="1400"/>
          </a:p>
        </p:txBody>
      </p:sp>
      <p:sp>
        <p:nvSpPr>
          <p:cNvPr id="36898" name="Rectangle 33">
            <a:extLst>
              <a:ext uri="{FF2B5EF4-FFF2-40B4-BE49-F238E27FC236}">
                <a16:creationId xmlns:a16="http://schemas.microsoft.com/office/drawing/2014/main" id="{1DB5311A-9ED6-F8BE-71B8-F009E3B69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075" y="5775325"/>
            <a:ext cx="1381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endParaRPr lang="en-US" altLang="en-US" sz="1400"/>
          </a:p>
        </p:txBody>
      </p:sp>
      <p:sp>
        <p:nvSpPr>
          <p:cNvPr id="36899" name="Rectangle 34">
            <a:extLst>
              <a:ext uri="{FF2B5EF4-FFF2-40B4-BE49-F238E27FC236}">
                <a16:creationId xmlns:a16="http://schemas.microsoft.com/office/drawing/2014/main" id="{2B5C7313-90D2-2889-BAAE-C4A3034DB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5365750"/>
            <a:ext cx="5429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Output:</a:t>
            </a:r>
            <a:endParaRPr lang="en-US" altLang="en-US" sz="1400"/>
          </a:p>
        </p:txBody>
      </p:sp>
      <p:sp>
        <p:nvSpPr>
          <p:cNvPr id="36900" name="Freeform 35">
            <a:extLst>
              <a:ext uri="{FF2B5EF4-FFF2-40B4-BE49-F238E27FC236}">
                <a16:creationId xmlns:a16="http://schemas.microsoft.com/office/drawing/2014/main" id="{DABBE468-8513-AF11-4E6A-9C666E386F9F}"/>
              </a:ext>
            </a:extLst>
          </p:cNvPr>
          <p:cNvSpPr>
            <a:spLocks/>
          </p:cNvSpPr>
          <p:nvPr/>
        </p:nvSpPr>
        <p:spPr bwMode="auto">
          <a:xfrm>
            <a:off x="3405188" y="5003800"/>
            <a:ext cx="511175" cy="496888"/>
          </a:xfrm>
          <a:custGeom>
            <a:avLst/>
            <a:gdLst>
              <a:gd name="T0" fmla="*/ 2147483646 w 719"/>
              <a:gd name="T1" fmla="*/ 0 h 574"/>
              <a:gd name="T2" fmla="*/ 2147483646 w 719"/>
              <a:gd name="T3" fmla="*/ 2147483646 h 574"/>
              <a:gd name="T4" fmla="*/ 2147483646 w 719"/>
              <a:gd name="T5" fmla="*/ 2147483646 h 574"/>
              <a:gd name="T6" fmla="*/ 2147483646 w 719"/>
              <a:gd name="T7" fmla="*/ 2147483646 h 574"/>
              <a:gd name="T8" fmla="*/ 2147483646 w 719"/>
              <a:gd name="T9" fmla="*/ 2147483646 h 574"/>
              <a:gd name="T10" fmla="*/ 2147483646 w 719"/>
              <a:gd name="T11" fmla="*/ 2147483646 h 574"/>
              <a:gd name="T12" fmla="*/ 2147483646 w 719"/>
              <a:gd name="T13" fmla="*/ 2147483646 h 574"/>
              <a:gd name="T14" fmla="*/ 2147483646 w 719"/>
              <a:gd name="T15" fmla="*/ 2147483646 h 574"/>
              <a:gd name="T16" fmla="*/ 2147483646 w 719"/>
              <a:gd name="T17" fmla="*/ 2147483646 h 574"/>
              <a:gd name="T18" fmla="*/ 2147483646 w 719"/>
              <a:gd name="T19" fmla="*/ 2147483646 h 574"/>
              <a:gd name="T20" fmla="*/ 2147483646 w 719"/>
              <a:gd name="T21" fmla="*/ 2147483646 h 574"/>
              <a:gd name="T22" fmla="*/ 2147483646 w 719"/>
              <a:gd name="T23" fmla="*/ 2147483646 h 574"/>
              <a:gd name="T24" fmla="*/ 2147483646 w 719"/>
              <a:gd name="T25" fmla="*/ 2147483646 h 574"/>
              <a:gd name="T26" fmla="*/ 2147483646 w 719"/>
              <a:gd name="T27" fmla="*/ 2147483646 h 574"/>
              <a:gd name="T28" fmla="*/ 2147483646 w 719"/>
              <a:gd name="T29" fmla="*/ 2147483646 h 574"/>
              <a:gd name="T30" fmla="*/ 2147483646 w 719"/>
              <a:gd name="T31" fmla="*/ 2147483646 h 574"/>
              <a:gd name="T32" fmla="*/ 2147483646 w 719"/>
              <a:gd name="T33" fmla="*/ 2147483646 h 574"/>
              <a:gd name="T34" fmla="*/ 0 w 719"/>
              <a:gd name="T35" fmla="*/ 2147483646 h 574"/>
              <a:gd name="T36" fmla="*/ 2147483646 w 719"/>
              <a:gd name="T37" fmla="*/ 2147483646 h 574"/>
              <a:gd name="T38" fmla="*/ 2147483646 w 719"/>
              <a:gd name="T39" fmla="*/ 2147483646 h 574"/>
              <a:gd name="T40" fmla="*/ 2147483646 w 719"/>
              <a:gd name="T41" fmla="*/ 2147483646 h 574"/>
              <a:gd name="T42" fmla="*/ 2147483646 w 719"/>
              <a:gd name="T43" fmla="*/ 2147483646 h 574"/>
              <a:gd name="T44" fmla="*/ 2147483646 w 719"/>
              <a:gd name="T45" fmla="*/ 2147483646 h 574"/>
              <a:gd name="T46" fmla="*/ 2147483646 w 719"/>
              <a:gd name="T47" fmla="*/ 2147483646 h 574"/>
              <a:gd name="T48" fmla="*/ 2147483646 w 719"/>
              <a:gd name="T49" fmla="*/ 2147483646 h 574"/>
              <a:gd name="T50" fmla="*/ 0 w 719"/>
              <a:gd name="T51" fmla="*/ 0 h 574"/>
              <a:gd name="T52" fmla="*/ 2147483646 w 719"/>
              <a:gd name="T53" fmla="*/ 0 h 574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719" h="574">
                <a:moveTo>
                  <a:pt x="312" y="0"/>
                </a:moveTo>
                <a:lnTo>
                  <a:pt x="374" y="15"/>
                </a:lnTo>
                <a:lnTo>
                  <a:pt x="435" y="36"/>
                </a:lnTo>
                <a:lnTo>
                  <a:pt x="493" y="63"/>
                </a:lnTo>
                <a:lnTo>
                  <a:pt x="546" y="97"/>
                </a:lnTo>
                <a:lnTo>
                  <a:pt x="598" y="137"/>
                </a:lnTo>
                <a:lnTo>
                  <a:pt x="644" y="183"/>
                </a:lnTo>
                <a:lnTo>
                  <a:pt x="684" y="233"/>
                </a:lnTo>
                <a:lnTo>
                  <a:pt x="719" y="287"/>
                </a:lnTo>
                <a:lnTo>
                  <a:pt x="686" y="342"/>
                </a:lnTo>
                <a:lnTo>
                  <a:pt x="646" y="392"/>
                </a:lnTo>
                <a:lnTo>
                  <a:pt x="600" y="438"/>
                </a:lnTo>
                <a:lnTo>
                  <a:pt x="550" y="478"/>
                </a:lnTo>
                <a:lnTo>
                  <a:pt x="495" y="512"/>
                </a:lnTo>
                <a:lnTo>
                  <a:pt x="437" y="539"/>
                </a:lnTo>
                <a:lnTo>
                  <a:pt x="376" y="560"/>
                </a:lnTo>
                <a:lnTo>
                  <a:pt x="312" y="574"/>
                </a:lnTo>
                <a:lnTo>
                  <a:pt x="0" y="574"/>
                </a:lnTo>
                <a:lnTo>
                  <a:pt x="26" y="505"/>
                </a:lnTo>
                <a:lnTo>
                  <a:pt x="44" y="432"/>
                </a:lnTo>
                <a:lnTo>
                  <a:pt x="55" y="359"/>
                </a:lnTo>
                <a:lnTo>
                  <a:pt x="59" y="287"/>
                </a:lnTo>
                <a:lnTo>
                  <a:pt x="55" y="212"/>
                </a:lnTo>
                <a:lnTo>
                  <a:pt x="44" y="139"/>
                </a:lnTo>
                <a:lnTo>
                  <a:pt x="26" y="69"/>
                </a:lnTo>
                <a:lnTo>
                  <a:pt x="0" y="0"/>
                </a:lnTo>
                <a:lnTo>
                  <a:pt x="312" y="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901" name="Freeform 36">
            <a:extLst>
              <a:ext uri="{FF2B5EF4-FFF2-40B4-BE49-F238E27FC236}">
                <a16:creationId xmlns:a16="http://schemas.microsoft.com/office/drawing/2014/main" id="{8576CE63-F9AE-8BC2-8248-A740F5CD6631}"/>
              </a:ext>
            </a:extLst>
          </p:cNvPr>
          <p:cNvSpPr>
            <a:spLocks/>
          </p:cNvSpPr>
          <p:nvPr/>
        </p:nvSpPr>
        <p:spPr bwMode="auto">
          <a:xfrm>
            <a:off x="2586038" y="4508500"/>
            <a:ext cx="450850" cy="495300"/>
          </a:xfrm>
          <a:custGeom>
            <a:avLst/>
            <a:gdLst>
              <a:gd name="T0" fmla="*/ 2147483646 w 635"/>
              <a:gd name="T1" fmla="*/ 2147483646 h 574"/>
              <a:gd name="T2" fmla="*/ 2147483646 w 635"/>
              <a:gd name="T3" fmla="*/ 2147483646 h 574"/>
              <a:gd name="T4" fmla="*/ 2147483646 w 635"/>
              <a:gd name="T5" fmla="*/ 2147483646 h 574"/>
              <a:gd name="T6" fmla="*/ 2147483646 w 635"/>
              <a:gd name="T7" fmla="*/ 2147483646 h 574"/>
              <a:gd name="T8" fmla="*/ 2147483646 w 635"/>
              <a:gd name="T9" fmla="*/ 2147483646 h 574"/>
              <a:gd name="T10" fmla="*/ 2147483646 w 635"/>
              <a:gd name="T11" fmla="*/ 2147483646 h 574"/>
              <a:gd name="T12" fmla="*/ 2147483646 w 635"/>
              <a:gd name="T13" fmla="*/ 2147483646 h 574"/>
              <a:gd name="T14" fmla="*/ 2147483646 w 635"/>
              <a:gd name="T15" fmla="*/ 2147483646 h 574"/>
              <a:gd name="T16" fmla="*/ 2147483646 w 635"/>
              <a:gd name="T17" fmla="*/ 2147483646 h 574"/>
              <a:gd name="T18" fmla="*/ 2147483646 w 635"/>
              <a:gd name="T19" fmla="*/ 2147483646 h 574"/>
              <a:gd name="T20" fmla="*/ 2147483646 w 635"/>
              <a:gd name="T21" fmla="*/ 2147483646 h 574"/>
              <a:gd name="T22" fmla="*/ 2147483646 w 635"/>
              <a:gd name="T23" fmla="*/ 2147483646 h 574"/>
              <a:gd name="T24" fmla="*/ 2147483646 w 635"/>
              <a:gd name="T25" fmla="*/ 2147483646 h 574"/>
              <a:gd name="T26" fmla="*/ 2147483646 w 635"/>
              <a:gd name="T27" fmla="*/ 2147483646 h 574"/>
              <a:gd name="T28" fmla="*/ 2147483646 w 635"/>
              <a:gd name="T29" fmla="*/ 2147483646 h 574"/>
              <a:gd name="T30" fmla="*/ 2147483646 w 635"/>
              <a:gd name="T31" fmla="*/ 2147483646 h 574"/>
              <a:gd name="T32" fmla="*/ 2147483646 w 635"/>
              <a:gd name="T33" fmla="*/ 2147483646 h 574"/>
              <a:gd name="T34" fmla="*/ 2147483646 w 635"/>
              <a:gd name="T35" fmla="*/ 2147483646 h 574"/>
              <a:gd name="T36" fmla="*/ 2147483646 w 635"/>
              <a:gd name="T37" fmla="*/ 2147483646 h 574"/>
              <a:gd name="T38" fmla="*/ 2147483646 w 635"/>
              <a:gd name="T39" fmla="*/ 2147483646 h 574"/>
              <a:gd name="T40" fmla="*/ 2147483646 w 635"/>
              <a:gd name="T41" fmla="*/ 2147483646 h 574"/>
              <a:gd name="T42" fmla="*/ 0 w 635"/>
              <a:gd name="T43" fmla="*/ 0 h 574"/>
              <a:gd name="T44" fmla="*/ 0 w 635"/>
              <a:gd name="T45" fmla="*/ 2147483646 h 574"/>
              <a:gd name="T46" fmla="*/ 2147483646 w 635"/>
              <a:gd name="T47" fmla="*/ 2147483646 h 57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635" h="574">
                <a:moveTo>
                  <a:pt x="491" y="291"/>
                </a:moveTo>
                <a:lnTo>
                  <a:pt x="496" y="312"/>
                </a:lnTo>
                <a:lnTo>
                  <a:pt x="506" y="331"/>
                </a:lnTo>
                <a:lnTo>
                  <a:pt x="523" y="346"/>
                </a:lnTo>
                <a:lnTo>
                  <a:pt x="542" y="356"/>
                </a:lnTo>
                <a:lnTo>
                  <a:pt x="565" y="357"/>
                </a:lnTo>
                <a:lnTo>
                  <a:pt x="587" y="354"/>
                </a:lnTo>
                <a:lnTo>
                  <a:pt x="606" y="344"/>
                </a:lnTo>
                <a:lnTo>
                  <a:pt x="621" y="327"/>
                </a:lnTo>
                <a:lnTo>
                  <a:pt x="633" y="308"/>
                </a:lnTo>
                <a:lnTo>
                  <a:pt x="635" y="287"/>
                </a:lnTo>
                <a:lnTo>
                  <a:pt x="633" y="264"/>
                </a:lnTo>
                <a:lnTo>
                  <a:pt x="621" y="245"/>
                </a:lnTo>
                <a:lnTo>
                  <a:pt x="606" y="229"/>
                </a:lnTo>
                <a:lnTo>
                  <a:pt x="587" y="218"/>
                </a:lnTo>
                <a:lnTo>
                  <a:pt x="565" y="214"/>
                </a:lnTo>
                <a:lnTo>
                  <a:pt x="542" y="218"/>
                </a:lnTo>
                <a:lnTo>
                  <a:pt x="523" y="227"/>
                </a:lnTo>
                <a:lnTo>
                  <a:pt x="506" y="241"/>
                </a:lnTo>
                <a:lnTo>
                  <a:pt x="496" y="260"/>
                </a:lnTo>
                <a:lnTo>
                  <a:pt x="491" y="283"/>
                </a:lnTo>
                <a:lnTo>
                  <a:pt x="0" y="0"/>
                </a:lnTo>
                <a:lnTo>
                  <a:pt x="0" y="574"/>
                </a:lnTo>
                <a:lnTo>
                  <a:pt x="491" y="291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902" name="Line 37">
            <a:extLst>
              <a:ext uri="{FF2B5EF4-FFF2-40B4-BE49-F238E27FC236}">
                <a16:creationId xmlns:a16="http://schemas.microsoft.com/office/drawing/2014/main" id="{CB35F301-8F49-4EBB-A844-DECED4C2F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250" y="4757738"/>
            <a:ext cx="14128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3" name="Freeform 38">
            <a:extLst>
              <a:ext uri="{FF2B5EF4-FFF2-40B4-BE49-F238E27FC236}">
                <a16:creationId xmlns:a16="http://schemas.microsoft.com/office/drawing/2014/main" id="{495BC3F7-8172-41A9-473F-93C5765D058F}"/>
              </a:ext>
            </a:extLst>
          </p:cNvPr>
          <p:cNvSpPr>
            <a:spLocks/>
          </p:cNvSpPr>
          <p:nvPr/>
        </p:nvSpPr>
        <p:spPr bwMode="auto">
          <a:xfrm>
            <a:off x="2513013" y="4713288"/>
            <a:ext cx="73025" cy="88900"/>
          </a:xfrm>
          <a:custGeom>
            <a:avLst/>
            <a:gdLst>
              <a:gd name="T0" fmla="*/ 0 w 104"/>
              <a:gd name="T1" fmla="*/ 0 h 103"/>
              <a:gd name="T2" fmla="*/ 2147483646 w 104"/>
              <a:gd name="T3" fmla="*/ 2147483646 h 103"/>
              <a:gd name="T4" fmla="*/ 0 w 104"/>
              <a:gd name="T5" fmla="*/ 2147483646 h 103"/>
              <a:gd name="T6" fmla="*/ 0 w 104"/>
              <a:gd name="T7" fmla="*/ 0 h 1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4" h="103">
                <a:moveTo>
                  <a:pt x="0" y="0"/>
                </a:moveTo>
                <a:lnTo>
                  <a:pt x="104" y="52"/>
                </a:lnTo>
                <a:lnTo>
                  <a:pt x="0" y="1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4" name="Freeform 39">
            <a:extLst>
              <a:ext uri="{FF2B5EF4-FFF2-40B4-BE49-F238E27FC236}">
                <a16:creationId xmlns:a16="http://schemas.microsoft.com/office/drawing/2014/main" id="{DC71621F-8D22-0633-526C-7328883FFC4A}"/>
              </a:ext>
            </a:extLst>
          </p:cNvPr>
          <p:cNvSpPr>
            <a:spLocks/>
          </p:cNvSpPr>
          <p:nvPr/>
        </p:nvSpPr>
        <p:spPr bwMode="auto">
          <a:xfrm>
            <a:off x="3036888" y="4757738"/>
            <a:ext cx="334962" cy="371475"/>
          </a:xfrm>
          <a:custGeom>
            <a:avLst/>
            <a:gdLst>
              <a:gd name="T0" fmla="*/ 0 w 470"/>
              <a:gd name="T1" fmla="*/ 0 h 430"/>
              <a:gd name="T2" fmla="*/ 2147483646 w 470"/>
              <a:gd name="T3" fmla="*/ 0 h 430"/>
              <a:gd name="T4" fmla="*/ 2147483646 w 470"/>
              <a:gd name="T5" fmla="*/ 2147483646 h 430"/>
              <a:gd name="T6" fmla="*/ 2147483646 w 470"/>
              <a:gd name="T7" fmla="*/ 2147483646 h 43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70" h="430">
                <a:moveTo>
                  <a:pt x="0" y="0"/>
                </a:moveTo>
                <a:lnTo>
                  <a:pt x="228" y="0"/>
                </a:lnTo>
                <a:lnTo>
                  <a:pt x="228" y="430"/>
                </a:lnTo>
                <a:lnTo>
                  <a:pt x="470" y="43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5" name="Freeform 40">
            <a:extLst>
              <a:ext uri="{FF2B5EF4-FFF2-40B4-BE49-F238E27FC236}">
                <a16:creationId xmlns:a16="http://schemas.microsoft.com/office/drawing/2014/main" id="{6B1C3F5F-5BC6-C8CA-6C06-60FA8AD48505}"/>
              </a:ext>
            </a:extLst>
          </p:cNvPr>
          <p:cNvSpPr>
            <a:spLocks/>
          </p:cNvSpPr>
          <p:nvPr/>
        </p:nvSpPr>
        <p:spPr bwMode="auto">
          <a:xfrm>
            <a:off x="3363913" y="5083175"/>
            <a:ext cx="73025" cy="90488"/>
          </a:xfrm>
          <a:custGeom>
            <a:avLst/>
            <a:gdLst>
              <a:gd name="T0" fmla="*/ 0 w 104"/>
              <a:gd name="T1" fmla="*/ 0 h 104"/>
              <a:gd name="T2" fmla="*/ 2147483646 w 104"/>
              <a:gd name="T3" fmla="*/ 2147483646 h 104"/>
              <a:gd name="T4" fmla="*/ 0 w 104"/>
              <a:gd name="T5" fmla="*/ 2147483646 h 104"/>
              <a:gd name="T6" fmla="*/ 0 w 104"/>
              <a:gd name="T7" fmla="*/ 0 h 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4" h="104">
                <a:moveTo>
                  <a:pt x="0" y="0"/>
                </a:moveTo>
                <a:lnTo>
                  <a:pt x="104" y="52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6" name="Freeform 41">
            <a:extLst>
              <a:ext uri="{FF2B5EF4-FFF2-40B4-BE49-F238E27FC236}">
                <a16:creationId xmlns:a16="http://schemas.microsoft.com/office/drawing/2014/main" id="{79ABD8FA-4729-EF70-8EA3-D2A2E1D5F164}"/>
              </a:ext>
            </a:extLst>
          </p:cNvPr>
          <p:cNvSpPr>
            <a:spLocks/>
          </p:cNvSpPr>
          <p:nvPr/>
        </p:nvSpPr>
        <p:spPr bwMode="auto">
          <a:xfrm>
            <a:off x="3916363" y="5253038"/>
            <a:ext cx="265112" cy="619125"/>
          </a:xfrm>
          <a:custGeom>
            <a:avLst/>
            <a:gdLst>
              <a:gd name="T0" fmla="*/ 0 w 372"/>
              <a:gd name="T1" fmla="*/ 0 h 717"/>
              <a:gd name="T2" fmla="*/ 2147483646 w 372"/>
              <a:gd name="T3" fmla="*/ 0 h 717"/>
              <a:gd name="T4" fmla="*/ 2147483646 w 372"/>
              <a:gd name="T5" fmla="*/ 2147483646 h 717"/>
              <a:gd name="T6" fmla="*/ 2147483646 w 372"/>
              <a:gd name="T7" fmla="*/ 2147483646 h 71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2" h="717">
                <a:moveTo>
                  <a:pt x="0" y="0"/>
                </a:moveTo>
                <a:lnTo>
                  <a:pt x="175" y="0"/>
                </a:lnTo>
                <a:lnTo>
                  <a:pt x="175" y="717"/>
                </a:lnTo>
                <a:lnTo>
                  <a:pt x="372" y="717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7" name="Freeform 42">
            <a:extLst>
              <a:ext uri="{FF2B5EF4-FFF2-40B4-BE49-F238E27FC236}">
                <a16:creationId xmlns:a16="http://schemas.microsoft.com/office/drawing/2014/main" id="{D4E266D8-54B8-C1B6-4F15-0548FD8F8351}"/>
              </a:ext>
            </a:extLst>
          </p:cNvPr>
          <p:cNvSpPr>
            <a:spLocks/>
          </p:cNvSpPr>
          <p:nvPr/>
        </p:nvSpPr>
        <p:spPr bwMode="auto">
          <a:xfrm>
            <a:off x="4171950" y="5827713"/>
            <a:ext cx="73025" cy="88900"/>
          </a:xfrm>
          <a:custGeom>
            <a:avLst/>
            <a:gdLst>
              <a:gd name="T0" fmla="*/ 0 w 103"/>
              <a:gd name="T1" fmla="*/ 0 h 104"/>
              <a:gd name="T2" fmla="*/ 2147483646 w 103"/>
              <a:gd name="T3" fmla="*/ 2147483646 h 104"/>
              <a:gd name="T4" fmla="*/ 0 w 103"/>
              <a:gd name="T5" fmla="*/ 2147483646 h 104"/>
              <a:gd name="T6" fmla="*/ 0 w 103"/>
              <a:gd name="T7" fmla="*/ 0 h 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3" h="104">
                <a:moveTo>
                  <a:pt x="0" y="0"/>
                </a:moveTo>
                <a:lnTo>
                  <a:pt x="103" y="52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8" name="Rectangle 43">
            <a:extLst>
              <a:ext uri="{FF2B5EF4-FFF2-40B4-BE49-F238E27FC236}">
                <a16:creationId xmlns:a16="http://schemas.microsoft.com/office/drawing/2014/main" id="{6F206489-321E-4706-F49D-FE4C59905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4560888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endParaRPr lang="en-US" altLang="en-US" sz="1400"/>
          </a:p>
        </p:txBody>
      </p:sp>
      <p:sp>
        <p:nvSpPr>
          <p:cNvPr id="36909" name="Rectangle 44">
            <a:extLst>
              <a:ext uri="{FF2B5EF4-FFF2-40B4-BE49-F238E27FC236}">
                <a16:creationId xmlns:a16="http://schemas.microsoft.com/office/drawing/2014/main" id="{23CAABB7-B301-8626-EE08-526B160C6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688" y="5046663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endParaRPr lang="en-US" altLang="en-US" sz="1400"/>
          </a:p>
        </p:txBody>
      </p:sp>
      <p:sp>
        <p:nvSpPr>
          <p:cNvPr id="36910" name="Freeform 45">
            <a:extLst>
              <a:ext uri="{FF2B5EF4-FFF2-40B4-BE49-F238E27FC236}">
                <a16:creationId xmlns:a16="http://schemas.microsoft.com/office/drawing/2014/main" id="{53D3B810-6594-A48D-329A-A9CD563536D5}"/>
              </a:ext>
            </a:extLst>
          </p:cNvPr>
          <p:cNvSpPr>
            <a:spLocks/>
          </p:cNvSpPr>
          <p:nvPr/>
        </p:nvSpPr>
        <p:spPr bwMode="auto">
          <a:xfrm>
            <a:off x="3886200" y="6119813"/>
            <a:ext cx="295275" cy="184150"/>
          </a:xfrm>
          <a:custGeom>
            <a:avLst/>
            <a:gdLst>
              <a:gd name="T0" fmla="*/ 0 w 414"/>
              <a:gd name="T1" fmla="*/ 2147483646 h 214"/>
              <a:gd name="T2" fmla="*/ 2147483646 w 414"/>
              <a:gd name="T3" fmla="*/ 2147483646 h 214"/>
              <a:gd name="T4" fmla="*/ 2147483646 w 414"/>
              <a:gd name="T5" fmla="*/ 0 h 214"/>
              <a:gd name="T6" fmla="*/ 2147483646 w 414"/>
              <a:gd name="T7" fmla="*/ 0 h 2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14" h="214">
                <a:moveTo>
                  <a:pt x="0" y="214"/>
                </a:moveTo>
                <a:lnTo>
                  <a:pt x="288" y="214"/>
                </a:lnTo>
                <a:lnTo>
                  <a:pt x="288" y="0"/>
                </a:lnTo>
                <a:lnTo>
                  <a:pt x="414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1" name="Freeform 46">
            <a:extLst>
              <a:ext uri="{FF2B5EF4-FFF2-40B4-BE49-F238E27FC236}">
                <a16:creationId xmlns:a16="http://schemas.microsoft.com/office/drawing/2014/main" id="{96DB6A1F-8CA1-EF38-D624-052E1DF00E03}"/>
              </a:ext>
            </a:extLst>
          </p:cNvPr>
          <p:cNvSpPr>
            <a:spLocks/>
          </p:cNvSpPr>
          <p:nvPr/>
        </p:nvSpPr>
        <p:spPr bwMode="auto">
          <a:xfrm>
            <a:off x="4171950" y="6075363"/>
            <a:ext cx="73025" cy="88900"/>
          </a:xfrm>
          <a:custGeom>
            <a:avLst/>
            <a:gdLst>
              <a:gd name="T0" fmla="*/ 0 w 103"/>
              <a:gd name="T1" fmla="*/ 0 h 104"/>
              <a:gd name="T2" fmla="*/ 2147483646 w 103"/>
              <a:gd name="T3" fmla="*/ 2147483646 h 104"/>
              <a:gd name="T4" fmla="*/ 0 w 103"/>
              <a:gd name="T5" fmla="*/ 2147483646 h 104"/>
              <a:gd name="T6" fmla="*/ 0 w 103"/>
              <a:gd name="T7" fmla="*/ 0 h 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3" h="104">
                <a:moveTo>
                  <a:pt x="0" y="0"/>
                </a:moveTo>
                <a:lnTo>
                  <a:pt x="103" y="52"/>
                </a:lnTo>
                <a:lnTo>
                  <a:pt x="0" y="10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2" name="Freeform 47">
            <a:extLst>
              <a:ext uri="{FF2B5EF4-FFF2-40B4-BE49-F238E27FC236}">
                <a16:creationId xmlns:a16="http://schemas.microsoft.com/office/drawing/2014/main" id="{A9C6B283-A4CC-9091-DE3C-3C169E224025}"/>
              </a:ext>
            </a:extLst>
          </p:cNvPr>
          <p:cNvSpPr>
            <a:spLocks/>
          </p:cNvSpPr>
          <p:nvPr/>
        </p:nvSpPr>
        <p:spPr bwMode="auto">
          <a:xfrm>
            <a:off x="3433763" y="6057900"/>
            <a:ext cx="452437" cy="495300"/>
          </a:xfrm>
          <a:custGeom>
            <a:avLst/>
            <a:gdLst>
              <a:gd name="T0" fmla="*/ 2147483646 w 635"/>
              <a:gd name="T1" fmla="*/ 2147483646 h 574"/>
              <a:gd name="T2" fmla="*/ 2147483646 w 635"/>
              <a:gd name="T3" fmla="*/ 2147483646 h 574"/>
              <a:gd name="T4" fmla="*/ 2147483646 w 635"/>
              <a:gd name="T5" fmla="*/ 2147483646 h 574"/>
              <a:gd name="T6" fmla="*/ 2147483646 w 635"/>
              <a:gd name="T7" fmla="*/ 2147483646 h 574"/>
              <a:gd name="T8" fmla="*/ 2147483646 w 635"/>
              <a:gd name="T9" fmla="*/ 2147483646 h 574"/>
              <a:gd name="T10" fmla="*/ 2147483646 w 635"/>
              <a:gd name="T11" fmla="*/ 2147483646 h 574"/>
              <a:gd name="T12" fmla="*/ 2147483646 w 635"/>
              <a:gd name="T13" fmla="*/ 2147483646 h 574"/>
              <a:gd name="T14" fmla="*/ 2147483646 w 635"/>
              <a:gd name="T15" fmla="*/ 2147483646 h 574"/>
              <a:gd name="T16" fmla="*/ 2147483646 w 635"/>
              <a:gd name="T17" fmla="*/ 2147483646 h 574"/>
              <a:gd name="T18" fmla="*/ 2147483646 w 635"/>
              <a:gd name="T19" fmla="*/ 2147483646 h 574"/>
              <a:gd name="T20" fmla="*/ 2147483646 w 635"/>
              <a:gd name="T21" fmla="*/ 2147483646 h 574"/>
              <a:gd name="T22" fmla="*/ 2147483646 w 635"/>
              <a:gd name="T23" fmla="*/ 2147483646 h 574"/>
              <a:gd name="T24" fmla="*/ 2147483646 w 635"/>
              <a:gd name="T25" fmla="*/ 2147483646 h 574"/>
              <a:gd name="T26" fmla="*/ 2147483646 w 635"/>
              <a:gd name="T27" fmla="*/ 2147483646 h 574"/>
              <a:gd name="T28" fmla="*/ 2147483646 w 635"/>
              <a:gd name="T29" fmla="*/ 2147483646 h 574"/>
              <a:gd name="T30" fmla="*/ 2147483646 w 635"/>
              <a:gd name="T31" fmla="*/ 2147483646 h 574"/>
              <a:gd name="T32" fmla="*/ 2147483646 w 635"/>
              <a:gd name="T33" fmla="*/ 2147483646 h 574"/>
              <a:gd name="T34" fmla="*/ 2147483646 w 635"/>
              <a:gd name="T35" fmla="*/ 2147483646 h 574"/>
              <a:gd name="T36" fmla="*/ 2147483646 w 635"/>
              <a:gd name="T37" fmla="*/ 2147483646 h 574"/>
              <a:gd name="T38" fmla="*/ 2147483646 w 635"/>
              <a:gd name="T39" fmla="*/ 2147483646 h 574"/>
              <a:gd name="T40" fmla="*/ 2147483646 w 635"/>
              <a:gd name="T41" fmla="*/ 2147483646 h 574"/>
              <a:gd name="T42" fmla="*/ 0 w 635"/>
              <a:gd name="T43" fmla="*/ 0 h 574"/>
              <a:gd name="T44" fmla="*/ 0 w 635"/>
              <a:gd name="T45" fmla="*/ 2147483646 h 574"/>
              <a:gd name="T46" fmla="*/ 2147483646 w 635"/>
              <a:gd name="T47" fmla="*/ 2147483646 h 57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635" h="574">
                <a:moveTo>
                  <a:pt x="491" y="291"/>
                </a:moveTo>
                <a:lnTo>
                  <a:pt x="497" y="314"/>
                </a:lnTo>
                <a:lnTo>
                  <a:pt x="506" y="333"/>
                </a:lnTo>
                <a:lnTo>
                  <a:pt x="523" y="347"/>
                </a:lnTo>
                <a:lnTo>
                  <a:pt x="543" y="356"/>
                </a:lnTo>
                <a:lnTo>
                  <a:pt x="566" y="360"/>
                </a:lnTo>
                <a:lnTo>
                  <a:pt x="587" y="356"/>
                </a:lnTo>
                <a:lnTo>
                  <a:pt x="606" y="345"/>
                </a:lnTo>
                <a:lnTo>
                  <a:pt x="621" y="329"/>
                </a:lnTo>
                <a:lnTo>
                  <a:pt x="631" y="310"/>
                </a:lnTo>
                <a:lnTo>
                  <a:pt x="635" y="287"/>
                </a:lnTo>
                <a:lnTo>
                  <a:pt x="631" y="266"/>
                </a:lnTo>
                <a:lnTo>
                  <a:pt x="621" y="247"/>
                </a:lnTo>
                <a:lnTo>
                  <a:pt x="606" y="230"/>
                </a:lnTo>
                <a:lnTo>
                  <a:pt x="587" y="220"/>
                </a:lnTo>
                <a:lnTo>
                  <a:pt x="566" y="217"/>
                </a:lnTo>
                <a:lnTo>
                  <a:pt x="543" y="218"/>
                </a:lnTo>
                <a:lnTo>
                  <a:pt x="523" y="228"/>
                </a:lnTo>
                <a:lnTo>
                  <a:pt x="506" y="243"/>
                </a:lnTo>
                <a:lnTo>
                  <a:pt x="497" y="262"/>
                </a:lnTo>
                <a:lnTo>
                  <a:pt x="491" y="283"/>
                </a:lnTo>
                <a:lnTo>
                  <a:pt x="0" y="0"/>
                </a:lnTo>
                <a:lnTo>
                  <a:pt x="0" y="574"/>
                </a:lnTo>
                <a:lnTo>
                  <a:pt x="491" y="291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913" name="Line 48">
            <a:extLst>
              <a:ext uri="{FF2B5EF4-FFF2-40B4-BE49-F238E27FC236}">
                <a16:creationId xmlns:a16="http://schemas.microsoft.com/office/drawing/2014/main" id="{01EFE662-AFF2-AC8D-A993-01882EF7F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4813" y="6303963"/>
            <a:ext cx="42545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4" name="Freeform 49">
            <a:extLst>
              <a:ext uri="{FF2B5EF4-FFF2-40B4-BE49-F238E27FC236}">
                <a16:creationId xmlns:a16="http://schemas.microsoft.com/office/drawing/2014/main" id="{969B558D-C9B3-92F4-2039-645E1C9CB407}"/>
              </a:ext>
            </a:extLst>
          </p:cNvPr>
          <p:cNvSpPr>
            <a:spLocks/>
          </p:cNvSpPr>
          <p:nvPr/>
        </p:nvSpPr>
        <p:spPr bwMode="auto">
          <a:xfrm>
            <a:off x="3362325" y="6259513"/>
            <a:ext cx="71438" cy="90487"/>
          </a:xfrm>
          <a:custGeom>
            <a:avLst/>
            <a:gdLst>
              <a:gd name="T0" fmla="*/ 0 w 104"/>
              <a:gd name="T1" fmla="*/ 0 h 103"/>
              <a:gd name="T2" fmla="*/ 2147483646 w 104"/>
              <a:gd name="T3" fmla="*/ 2147483646 h 103"/>
              <a:gd name="T4" fmla="*/ 0 w 104"/>
              <a:gd name="T5" fmla="*/ 2147483646 h 103"/>
              <a:gd name="T6" fmla="*/ 0 w 104"/>
              <a:gd name="T7" fmla="*/ 0 h 1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4" h="103">
                <a:moveTo>
                  <a:pt x="0" y="0"/>
                </a:moveTo>
                <a:lnTo>
                  <a:pt x="104" y="51"/>
                </a:lnTo>
                <a:lnTo>
                  <a:pt x="0" y="1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5" name="Freeform 50">
            <a:extLst>
              <a:ext uri="{FF2B5EF4-FFF2-40B4-BE49-F238E27FC236}">
                <a16:creationId xmlns:a16="http://schemas.microsoft.com/office/drawing/2014/main" id="{0E1DD436-EAF6-FE07-83F2-9B405CAD82BB}"/>
              </a:ext>
            </a:extLst>
          </p:cNvPr>
          <p:cNvSpPr>
            <a:spLocks/>
          </p:cNvSpPr>
          <p:nvPr/>
        </p:nvSpPr>
        <p:spPr bwMode="auto">
          <a:xfrm>
            <a:off x="2433638" y="6057900"/>
            <a:ext cx="511175" cy="495300"/>
          </a:xfrm>
          <a:custGeom>
            <a:avLst/>
            <a:gdLst>
              <a:gd name="T0" fmla="*/ 2147483646 w 719"/>
              <a:gd name="T1" fmla="*/ 0 h 574"/>
              <a:gd name="T2" fmla="*/ 2147483646 w 719"/>
              <a:gd name="T3" fmla="*/ 2147483646 h 574"/>
              <a:gd name="T4" fmla="*/ 2147483646 w 719"/>
              <a:gd name="T5" fmla="*/ 2147483646 h 574"/>
              <a:gd name="T6" fmla="*/ 2147483646 w 719"/>
              <a:gd name="T7" fmla="*/ 2147483646 h 574"/>
              <a:gd name="T8" fmla="*/ 2147483646 w 719"/>
              <a:gd name="T9" fmla="*/ 2147483646 h 574"/>
              <a:gd name="T10" fmla="*/ 2147483646 w 719"/>
              <a:gd name="T11" fmla="*/ 2147483646 h 574"/>
              <a:gd name="T12" fmla="*/ 2147483646 w 719"/>
              <a:gd name="T13" fmla="*/ 2147483646 h 574"/>
              <a:gd name="T14" fmla="*/ 2147483646 w 719"/>
              <a:gd name="T15" fmla="*/ 2147483646 h 574"/>
              <a:gd name="T16" fmla="*/ 2147483646 w 719"/>
              <a:gd name="T17" fmla="*/ 2147483646 h 574"/>
              <a:gd name="T18" fmla="*/ 2147483646 w 719"/>
              <a:gd name="T19" fmla="*/ 2147483646 h 574"/>
              <a:gd name="T20" fmla="*/ 2147483646 w 719"/>
              <a:gd name="T21" fmla="*/ 2147483646 h 574"/>
              <a:gd name="T22" fmla="*/ 2147483646 w 719"/>
              <a:gd name="T23" fmla="*/ 2147483646 h 574"/>
              <a:gd name="T24" fmla="*/ 2147483646 w 719"/>
              <a:gd name="T25" fmla="*/ 2147483646 h 574"/>
              <a:gd name="T26" fmla="*/ 2147483646 w 719"/>
              <a:gd name="T27" fmla="*/ 2147483646 h 574"/>
              <a:gd name="T28" fmla="*/ 2147483646 w 719"/>
              <a:gd name="T29" fmla="*/ 2147483646 h 574"/>
              <a:gd name="T30" fmla="*/ 2147483646 w 719"/>
              <a:gd name="T31" fmla="*/ 2147483646 h 574"/>
              <a:gd name="T32" fmla="*/ 2147483646 w 719"/>
              <a:gd name="T33" fmla="*/ 2147483646 h 574"/>
              <a:gd name="T34" fmla="*/ 0 w 719"/>
              <a:gd name="T35" fmla="*/ 2147483646 h 574"/>
              <a:gd name="T36" fmla="*/ 2147483646 w 719"/>
              <a:gd name="T37" fmla="*/ 2147483646 h 574"/>
              <a:gd name="T38" fmla="*/ 2147483646 w 719"/>
              <a:gd name="T39" fmla="*/ 2147483646 h 574"/>
              <a:gd name="T40" fmla="*/ 2147483646 w 719"/>
              <a:gd name="T41" fmla="*/ 2147483646 h 574"/>
              <a:gd name="T42" fmla="*/ 2147483646 w 719"/>
              <a:gd name="T43" fmla="*/ 2147483646 h 574"/>
              <a:gd name="T44" fmla="*/ 2147483646 w 719"/>
              <a:gd name="T45" fmla="*/ 2147483646 h 574"/>
              <a:gd name="T46" fmla="*/ 2147483646 w 719"/>
              <a:gd name="T47" fmla="*/ 2147483646 h 574"/>
              <a:gd name="T48" fmla="*/ 2147483646 w 719"/>
              <a:gd name="T49" fmla="*/ 2147483646 h 574"/>
              <a:gd name="T50" fmla="*/ 0 w 719"/>
              <a:gd name="T51" fmla="*/ 0 h 574"/>
              <a:gd name="T52" fmla="*/ 2147483646 w 719"/>
              <a:gd name="T53" fmla="*/ 0 h 574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719" h="574">
                <a:moveTo>
                  <a:pt x="310" y="0"/>
                </a:moveTo>
                <a:lnTo>
                  <a:pt x="374" y="16"/>
                </a:lnTo>
                <a:lnTo>
                  <a:pt x="433" y="37"/>
                </a:lnTo>
                <a:lnTo>
                  <a:pt x="493" y="65"/>
                </a:lnTo>
                <a:lnTo>
                  <a:pt x="546" y="100"/>
                </a:lnTo>
                <a:lnTo>
                  <a:pt x="596" y="140"/>
                </a:lnTo>
                <a:lnTo>
                  <a:pt x="642" y="184"/>
                </a:lnTo>
                <a:lnTo>
                  <a:pt x="683" y="234"/>
                </a:lnTo>
                <a:lnTo>
                  <a:pt x="719" y="287"/>
                </a:lnTo>
                <a:lnTo>
                  <a:pt x="685" y="343"/>
                </a:lnTo>
                <a:lnTo>
                  <a:pt x="644" y="394"/>
                </a:lnTo>
                <a:lnTo>
                  <a:pt x="600" y="440"/>
                </a:lnTo>
                <a:lnTo>
                  <a:pt x="548" y="481"/>
                </a:lnTo>
                <a:lnTo>
                  <a:pt x="495" y="515"/>
                </a:lnTo>
                <a:lnTo>
                  <a:pt x="435" y="542"/>
                </a:lnTo>
                <a:lnTo>
                  <a:pt x="374" y="561"/>
                </a:lnTo>
                <a:lnTo>
                  <a:pt x="310" y="574"/>
                </a:lnTo>
                <a:lnTo>
                  <a:pt x="0" y="574"/>
                </a:lnTo>
                <a:lnTo>
                  <a:pt x="25" y="505"/>
                </a:lnTo>
                <a:lnTo>
                  <a:pt x="44" y="435"/>
                </a:lnTo>
                <a:lnTo>
                  <a:pt x="55" y="362"/>
                </a:lnTo>
                <a:lnTo>
                  <a:pt x="59" y="287"/>
                </a:lnTo>
                <a:lnTo>
                  <a:pt x="55" y="215"/>
                </a:lnTo>
                <a:lnTo>
                  <a:pt x="44" y="142"/>
                </a:lnTo>
                <a:lnTo>
                  <a:pt x="25" y="69"/>
                </a:lnTo>
                <a:lnTo>
                  <a:pt x="0" y="0"/>
                </a:lnTo>
                <a:lnTo>
                  <a:pt x="310" y="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916" name="Freeform 51">
            <a:extLst>
              <a:ext uri="{FF2B5EF4-FFF2-40B4-BE49-F238E27FC236}">
                <a16:creationId xmlns:a16="http://schemas.microsoft.com/office/drawing/2014/main" id="{9D71C3D3-D7D2-78E8-684B-ED4F8299A07F}"/>
              </a:ext>
            </a:extLst>
          </p:cNvPr>
          <p:cNvSpPr>
            <a:spLocks/>
          </p:cNvSpPr>
          <p:nvPr/>
        </p:nvSpPr>
        <p:spPr bwMode="auto">
          <a:xfrm>
            <a:off x="1673225" y="5934075"/>
            <a:ext cx="454025" cy="495300"/>
          </a:xfrm>
          <a:custGeom>
            <a:avLst/>
            <a:gdLst>
              <a:gd name="T0" fmla="*/ 2147483646 w 637"/>
              <a:gd name="T1" fmla="*/ 2147483646 h 574"/>
              <a:gd name="T2" fmla="*/ 2147483646 w 637"/>
              <a:gd name="T3" fmla="*/ 2147483646 h 574"/>
              <a:gd name="T4" fmla="*/ 2147483646 w 637"/>
              <a:gd name="T5" fmla="*/ 2147483646 h 574"/>
              <a:gd name="T6" fmla="*/ 2147483646 w 637"/>
              <a:gd name="T7" fmla="*/ 2147483646 h 574"/>
              <a:gd name="T8" fmla="*/ 2147483646 w 637"/>
              <a:gd name="T9" fmla="*/ 2147483646 h 574"/>
              <a:gd name="T10" fmla="*/ 2147483646 w 637"/>
              <a:gd name="T11" fmla="*/ 2147483646 h 574"/>
              <a:gd name="T12" fmla="*/ 2147483646 w 637"/>
              <a:gd name="T13" fmla="*/ 2147483646 h 574"/>
              <a:gd name="T14" fmla="*/ 2147483646 w 637"/>
              <a:gd name="T15" fmla="*/ 2147483646 h 574"/>
              <a:gd name="T16" fmla="*/ 2147483646 w 637"/>
              <a:gd name="T17" fmla="*/ 2147483646 h 574"/>
              <a:gd name="T18" fmla="*/ 2147483646 w 637"/>
              <a:gd name="T19" fmla="*/ 2147483646 h 574"/>
              <a:gd name="T20" fmla="*/ 2147483646 w 637"/>
              <a:gd name="T21" fmla="*/ 2147483646 h 574"/>
              <a:gd name="T22" fmla="*/ 2147483646 w 637"/>
              <a:gd name="T23" fmla="*/ 2147483646 h 574"/>
              <a:gd name="T24" fmla="*/ 2147483646 w 637"/>
              <a:gd name="T25" fmla="*/ 2147483646 h 574"/>
              <a:gd name="T26" fmla="*/ 2147483646 w 637"/>
              <a:gd name="T27" fmla="*/ 2147483646 h 574"/>
              <a:gd name="T28" fmla="*/ 2147483646 w 637"/>
              <a:gd name="T29" fmla="*/ 2147483646 h 574"/>
              <a:gd name="T30" fmla="*/ 2147483646 w 637"/>
              <a:gd name="T31" fmla="*/ 2147483646 h 574"/>
              <a:gd name="T32" fmla="*/ 2147483646 w 637"/>
              <a:gd name="T33" fmla="*/ 2147483646 h 574"/>
              <a:gd name="T34" fmla="*/ 2147483646 w 637"/>
              <a:gd name="T35" fmla="*/ 2147483646 h 574"/>
              <a:gd name="T36" fmla="*/ 2147483646 w 637"/>
              <a:gd name="T37" fmla="*/ 2147483646 h 574"/>
              <a:gd name="T38" fmla="*/ 2147483646 w 637"/>
              <a:gd name="T39" fmla="*/ 2147483646 h 574"/>
              <a:gd name="T40" fmla="*/ 2147483646 w 637"/>
              <a:gd name="T41" fmla="*/ 2147483646 h 574"/>
              <a:gd name="T42" fmla="*/ 0 w 637"/>
              <a:gd name="T43" fmla="*/ 0 h 574"/>
              <a:gd name="T44" fmla="*/ 0 w 637"/>
              <a:gd name="T45" fmla="*/ 2147483646 h 574"/>
              <a:gd name="T46" fmla="*/ 2147483646 w 637"/>
              <a:gd name="T47" fmla="*/ 2147483646 h 57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637" h="574">
                <a:moveTo>
                  <a:pt x="493" y="291"/>
                </a:moveTo>
                <a:lnTo>
                  <a:pt x="497" y="314"/>
                </a:lnTo>
                <a:lnTo>
                  <a:pt x="509" y="333"/>
                </a:lnTo>
                <a:lnTo>
                  <a:pt x="524" y="346"/>
                </a:lnTo>
                <a:lnTo>
                  <a:pt x="545" y="356"/>
                </a:lnTo>
                <a:lnTo>
                  <a:pt x="566" y="360"/>
                </a:lnTo>
                <a:lnTo>
                  <a:pt x="587" y="356"/>
                </a:lnTo>
                <a:lnTo>
                  <a:pt x="608" y="344"/>
                </a:lnTo>
                <a:lnTo>
                  <a:pt x="624" y="329"/>
                </a:lnTo>
                <a:lnTo>
                  <a:pt x="633" y="310"/>
                </a:lnTo>
                <a:lnTo>
                  <a:pt x="637" y="287"/>
                </a:lnTo>
                <a:lnTo>
                  <a:pt x="633" y="266"/>
                </a:lnTo>
                <a:lnTo>
                  <a:pt x="624" y="247"/>
                </a:lnTo>
                <a:lnTo>
                  <a:pt x="608" y="229"/>
                </a:lnTo>
                <a:lnTo>
                  <a:pt x="587" y="220"/>
                </a:lnTo>
                <a:lnTo>
                  <a:pt x="566" y="216"/>
                </a:lnTo>
                <a:lnTo>
                  <a:pt x="545" y="218"/>
                </a:lnTo>
                <a:lnTo>
                  <a:pt x="524" y="228"/>
                </a:lnTo>
                <a:lnTo>
                  <a:pt x="509" y="243"/>
                </a:lnTo>
                <a:lnTo>
                  <a:pt x="497" y="262"/>
                </a:lnTo>
                <a:lnTo>
                  <a:pt x="493" y="283"/>
                </a:lnTo>
                <a:lnTo>
                  <a:pt x="0" y="0"/>
                </a:lnTo>
                <a:lnTo>
                  <a:pt x="0" y="574"/>
                </a:lnTo>
                <a:lnTo>
                  <a:pt x="493" y="291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917" name="Line 52">
            <a:extLst>
              <a:ext uri="{FF2B5EF4-FFF2-40B4-BE49-F238E27FC236}">
                <a16:creationId xmlns:a16="http://schemas.microsoft.com/office/drawing/2014/main" id="{DB4D6E88-7402-9AF5-2341-F5112954F2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7250" y="6180138"/>
            <a:ext cx="27305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8" name="Freeform 53">
            <a:extLst>
              <a:ext uri="{FF2B5EF4-FFF2-40B4-BE49-F238E27FC236}">
                <a16:creationId xmlns:a16="http://schemas.microsoft.com/office/drawing/2014/main" id="{D39B87C8-9363-18A5-68BB-930174E21179}"/>
              </a:ext>
            </a:extLst>
          </p:cNvPr>
          <p:cNvSpPr>
            <a:spLocks/>
          </p:cNvSpPr>
          <p:nvPr/>
        </p:nvSpPr>
        <p:spPr bwMode="auto">
          <a:xfrm>
            <a:off x="2392363" y="6137275"/>
            <a:ext cx="71437" cy="87313"/>
          </a:xfrm>
          <a:custGeom>
            <a:avLst/>
            <a:gdLst>
              <a:gd name="T0" fmla="*/ 0 w 104"/>
              <a:gd name="T1" fmla="*/ 0 h 103"/>
              <a:gd name="T2" fmla="*/ 2147483646 w 104"/>
              <a:gd name="T3" fmla="*/ 2147483646 h 103"/>
              <a:gd name="T4" fmla="*/ 0 w 104"/>
              <a:gd name="T5" fmla="*/ 2147483646 h 103"/>
              <a:gd name="T6" fmla="*/ 0 w 104"/>
              <a:gd name="T7" fmla="*/ 0 h 1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4" h="103">
                <a:moveTo>
                  <a:pt x="0" y="0"/>
                </a:moveTo>
                <a:lnTo>
                  <a:pt x="104" y="52"/>
                </a:lnTo>
                <a:lnTo>
                  <a:pt x="0" y="1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9" name="Freeform 54">
            <a:extLst>
              <a:ext uri="{FF2B5EF4-FFF2-40B4-BE49-F238E27FC236}">
                <a16:creationId xmlns:a16="http://schemas.microsoft.com/office/drawing/2014/main" id="{21EC0687-881C-4AD5-25FF-8924F887BE6B}"/>
              </a:ext>
            </a:extLst>
          </p:cNvPr>
          <p:cNvSpPr>
            <a:spLocks/>
          </p:cNvSpPr>
          <p:nvPr/>
        </p:nvSpPr>
        <p:spPr bwMode="auto">
          <a:xfrm>
            <a:off x="1204913" y="6138863"/>
            <a:ext cx="404812" cy="41275"/>
          </a:xfrm>
          <a:custGeom>
            <a:avLst/>
            <a:gdLst>
              <a:gd name="T0" fmla="*/ 0 w 568"/>
              <a:gd name="T1" fmla="*/ 2147483646 h 48"/>
              <a:gd name="T2" fmla="*/ 2147483646 w 568"/>
              <a:gd name="T3" fmla="*/ 2147483646 h 48"/>
              <a:gd name="T4" fmla="*/ 2147483646 w 568"/>
              <a:gd name="T5" fmla="*/ 2147483646 h 48"/>
              <a:gd name="T6" fmla="*/ 2147483646 w 568"/>
              <a:gd name="T7" fmla="*/ 2147483646 h 48"/>
              <a:gd name="T8" fmla="*/ 2147483646 w 568"/>
              <a:gd name="T9" fmla="*/ 2147483646 h 48"/>
              <a:gd name="T10" fmla="*/ 2147483646 w 568"/>
              <a:gd name="T11" fmla="*/ 0 h 48"/>
              <a:gd name="T12" fmla="*/ 2147483646 w 568"/>
              <a:gd name="T13" fmla="*/ 2147483646 h 48"/>
              <a:gd name="T14" fmla="*/ 2147483646 w 568"/>
              <a:gd name="T15" fmla="*/ 2147483646 h 48"/>
              <a:gd name="T16" fmla="*/ 2147483646 w 568"/>
              <a:gd name="T17" fmla="*/ 2147483646 h 48"/>
              <a:gd name="T18" fmla="*/ 2147483646 w 568"/>
              <a:gd name="T19" fmla="*/ 2147483646 h 48"/>
              <a:gd name="T20" fmla="*/ 2147483646 w 568"/>
              <a:gd name="T21" fmla="*/ 2147483646 h 4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8" h="48">
                <a:moveTo>
                  <a:pt x="0" y="48"/>
                </a:moveTo>
                <a:lnTo>
                  <a:pt x="269" y="48"/>
                </a:lnTo>
                <a:lnTo>
                  <a:pt x="273" y="31"/>
                </a:lnTo>
                <a:lnTo>
                  <a:pt x="284" y="15"/>
                </a:lnTo>
                <a:lnTo>
                  <a:pt x="299" y="4"/>
                </a:lnTo>
                <a:lnTo>
                  <a:pt x="317" y="0"/>
                </a:lnTo>
                <a:lnTo>
                  <a:pt x="336" y="4"/>
                </a:lnTo>
                <a:lnTo>
                  <a:pt x="351" y="15"/>
                </a:lnTo>
                <a:lnTo>
                  <a:pt x="361" y="31"/>
                </a:lnTo>
                <a:lnTo>
                  <a:pt x="365" y="48"/>
                </a:lnTo>
                <a:lnTo>
                  <a:pt x="568" y="48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0" name="Freeform 55">
            <a:extLst>
              <a:ext uri="{FF2B5EF4-FFF2-40B4-BE49-F238E27FC236}">
                <a16:creationId xmlns:a16="http://schemas.microsoft.com/office/drawing/2014/main" id="{A331CA3A-FFA1-560A-76DE-322DAE089033}"/>
              </a:ext>
            </a:extLst>
          </p:cNvPr>
          <p:cNvSpPr>
            <a:spLocks/>
          </p:cNvSpPr>
          <p:nvPr/>
        </p:nvSpPr>
        <p:spPr bwMode="auto">
          <a:xfrm>
            <a:off x="1600200" y="6137275"/>
            <a:ext cx="73025" cy="87313"/>
          </a:xfrm>
          <a:custGeom>
            <a:avLst/>
            <a:gdLst>
              <a:gd name="T0" fmla="*/ 0 w 103"/>
              <a:gd name="T1" fmla="*/ 0 h 103"/>
              <a:gd name="T2" fmla="*/ 2147483646 w 103"/>
              <a:gd name="T3" fmla="*/ 2147483646 h 103"/>
              <a:gd name="T4" fmla="*/ 0 w 103"/>
              <a:gd name="T5" fmla="*/ 2147483646 h 103"/>
              <a:gd name="T6" fmla="*/ 0 w 103"/>
              <a:gd name="T7" fmla="*/ 0 h 1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3" h="103">
                <a:moveTo>
                  <a:pt x="0" y="0"/>
                </a:moveTo>
                <a:lnTo>
                  <a:pt x="103" y="52"/>
                </a:lnTo>
                <a:lnTo>
                  <a:pt x="0" y="1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1" name="Rectangle 56">
            <a:extLst>
              <a:ext uri="{FF2B5EF4-FFF2-40B4-BE49-F238E27FC236}">
                <a16:creationId xmlns:a16="http://schemas.microsoft.com/office/drawing/2014/main" id="{0EAB0A8F-862E-2227-42BB-753428554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5959475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endParaRPr lang="en-US" altLang="en-US" sz="1400"/>
          </a:p>
        </p:txBody>
      </p:sp>
      <p:sp>
        <p:nvSpPr>
          <p:cNvPr id="36922" name="Rectangle 57">
            <a:extLst>
              <a:ext uri="{FF2B5EF4-FFF2-40B4-BE49-F238E27FC236}">
                <a16:creationId xmlns:a16="http://schemas.microsoft.com/office/drawing/2014/main" id="{259F953C-C2B7-79A5-F9BE-F2B11B955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6034088"/>
            <a:ext cx="492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endParaRPr lang="en-US" altLang="en-US" sz="1400"/>
          </a:p>
        </p:txBody>
      </p:sp>
      <p:sp>
        <p:nvSpPr>
          <p:cNvPr id="36923" name="Rectangle 58">
            <a:extLst>
              <a:ext uri="{FF2B5EF4-FFF2-40B4-BE49-F238E27FC236}">
                <a16:creationId xmlns:a16="http://schemas.microsoft.com/office/drawing/2014/main" id="{5611C6AB-6A5F-1137-0E5C-EE5EF2C47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6019800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endParaRPr lang="en-US" altLang="en-US" sz="1400"/>
          </a:p>
        </p:txBody>
      </p:sp>
      <p:sp>
        <p:nvSpPr>
          <p:cNvPr id="36924" name="Text Box 59">
            <a:extLst>
              <a:ext uri="{FF2B5EF4-FFF2-40B4-BE49-F238E27FC236}">
                <a16:creationId xmlns:a16="http://schemas.microsoft.com/office/drawing/2014/main" id="{79F6D817-4A19-3FF0-7324-F0B148655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9838" y="4619625"/>
            <a:ext cx="3636962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The formula is satisfiable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if and only if the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Boolean circuit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is satisfiable.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9125BA35-269A-D7F3-3F21-8FE475470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8CF643-57D1-4009-876A-C65BB000AB8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116721C-2D41-F78D-D3D1-1499E8A76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3SAT</a:t>
            </a:r>
          </a:p>
        </p:txBody>
      </p:sp>
      <p:sp>
        <p:nvSpPr>
          <p:cNvPr id="3789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BFABE77-862A-87F1-5409-3A902C78E9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05800" cy="48768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000"/>
              <a:t>The 3SAT problem is NP-complete even if it is in CNF (conjunctive normal form) and every clause has just 3 literals (a variable or its negation):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000" noProof="1">
                <a:latin typeface="Consolas" panose="020B0609020204030204" pitchFamily="49" charset="0"/>
              </a:rPr>
              <a:t>(a+b+¬d)(¬a+¬c+e)(¬b+d+e)(a+¬c+¬e)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Reduction from SAT                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DNF (disjunctive normal form): 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         _   _   _     _ _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   B=a.b.c+a.b.c+a.b.c+a.b.c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/>
              <a:t>CNF (conjunctive normal form):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      _ _     _   _     _ _       _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000" noProof="1">
                <a:latin typeface="Consolas" panose="020B0609020204030204" pitchFamily="49" charset="0"/>
              </a:rPr>
              <a:t>     B=(a+b+c).(a+b+c).(a+b+c).(a+b+c)</a:t>
            </a:r>
          </a:p>
          <a:p>
            <a:pPr lvl="1" eaLnBrk="1" hangingPunct="1">
              <a:spcBef>
                <a:spcPts val="600"/>
              </a:spcBef>
            </a:pPr>
            <a:endParaRPr lang="en-US" altLang="en-US" sz="2000"/>
          </a:p>
        </p:txBody>
      </p:sp>
      <p:pic>
        <p:nvPicPr>
          <p:cNvPr id="37893" name="Picture 4" descr="WB01602_">
            <a:extLst>
              <a:ext uri="{FF2B5EF4-FFF2-40B4-BE49-F238E27FC236}">
                <a16:creationId xmlns:a16="http://schemas.microsoft.com/office/drawing/2014/main" id="{114E4B0B-75CC-8B27-0208-CF1B473B3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0" y="304800"/>
            <a:ext cx="958850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>
            <a:extLst>
              <a:ext uri="{FF2B5EF4-FFF2-40B4-BE49-F238E27FC236}">
                <a16:creationId xmlns:a16="http://schemas.microsoft.com/office/drawing/2014/main" id="{430BD0A4-0214-69F3-14E6-018681D3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5CCCB5-37C8-4FC4-8949-53D8445C179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38915" name="Text Box 4">
            <a:extLst>
              <a:ext uri="{FF2B5EF4-FFF2-40B4-BE49-F238E27FC236}">
                <a16:creationId xmlns:a16="http://schemas.microsoft.com/office/drawing/2014/main" id="{6E3B50CA-1A68-AA06-1D5B-2CF1F6A82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615950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2"/>
              </a:solidFill>
            </a:endParaRPr>
          </a:p>
        </p:txBody>
      </p:sp>
      <p:sp>
        <p:nvSpPr>
          <p:cNvPr id="38916" name="Rectangle 5">
            <a:extLst>
              <a:ext uri="{FF2B5EF4-FFF2-40B4-BE49-F238E27FC236}">
                <a16:creationId xmlns:a16="http://schemas.microsoft.com/office/drawing/2014/main" id="{DCBF0844-C7D6-ED7C-483D-0E9EE33E7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457200"/>
          </a:xfrm>
          <a:noFill/>
        </p:spPr>
        <p:txBody>
          <a:bodyPr/>
          <a:lstStyle/>
          <a:p>
            <a:pPr eaLnBrk="1" hangingPunct="1"/>
            <a:r>
              <a:rPr lang="en-US" altLang="en-US" sz="3200"/>
              <a:t>Illustration of Reductions</a:t>
            </a:r>
          </a:p>
        </p:txBody>
      </p:sp>
      <p:sp>
        <p:nvSpPr>
          <p:cNvPr id="38917" name="AutoShape 6">
            <a:extLst>
              <a:ext uri="{FF2B5EF4-FFF2-40B4-BE49-F238E27FC236}">
                <a16:creationId xmlns:a16="http://schemas.microsoft.com/office/drawing/2014/main" id="{B5D50057-FF65-0FAB-8688-5F676AE9D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609600"/>
            <a:ext cx="2514600" cy="6096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18" name="Text Box 7">
            <a:extLst>
              <a:ext uri="{FF2B5EF4-FFF2-40B4-BE49-F238E27FC236}">
                <a16:creationId xmlns:a16="http://schemas.microsoft.com/office/drawing/2014/main" id="{E9BD500F-3627-191F-F416-E15F7BF86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238" y="730250"/>
            <a:ext cx="22653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Every problem in NP</a:t>
            </a:r>
          </a:p>
        </p:txBody>
      </p:sp>
      <p:sp>
        <p:nvSpPr>
          <p:cNvPr id="38919" name="AutoShape 8">
            <a:extLst>
              <a:ext uri="{FF2B5EF4-FFF2-40B4-BE49-F238E27FC236}">
                <a16:creationId xmlns:a16="http://schemas.microsoft.com/office/drawing/2014/main" id="{83055F62-CEE8-E20B-489D-89E42D36E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600200"/>
            <a:ext cx="1552575" cy="5334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20" name="Text Box 9">
            <a:extLst>
              <a:ext uri="{FF2B5EF4-FFF2-40B4-BE49-F238E27FC236}">
                <a16:creationId xmlns:a16="http://schemas.microsoft.com/office/drawing/2014/main" id="{72091FE4-5DB0-53BA-E1B3-19A46E7FC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720850"/>
            <a:ext cx="1552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CIRCUIT-SAT</a:t>
            </a:r>
          </a:p>
        </p:txBody>
      </p:sp>
      <p:sp>
        <p:nvSpPr>
          <p:cNvPr id="38921" name="Line 10">
            <a:extLst>
              <a:ext uri="{FF2B5EF4-FFF2-40B4-BE49-F238E27FC236}">
                <a16:creationId xmlns:a16="http://schemas.microsoft.com/office/drawing/2014/main" id="{433C6B24-77C8-6DD0-6661-2FD0CEFF86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2192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2" name="AutoShape 11">
            <a:extLst>
              <a:ext uri="{FF2B5EF4-FFF2-40B4-BE49-F238E27FC236}">
                <a16:creationId xmlns:a16="http://schemas.microsoft.com/office/drawing/2014/main" id="{0716D58F-4CAF-5570-3601-5E5549B15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438400"/>
            <a:ext cx="1552575" cy="5334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23" name="Text Box 12">
            <a:extLst>
              <a:ext uri="{FF2B5EF4-FFF2-40B4-BE49-F238E27FC236}">
                <a16:creationId xmlns:a16="http://schemas.microsoft.com/office/drawing/2014/main" id="{2D8F6F62-17F1-DF9E-26D0-81A17210E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2559050"/>
            <a:ext cx="1073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CNF-SAT</a:t>
            </a:r>
          </a:p>
        </p:txBody>
      </p:sp>
      <p:sp>
        <p:nvSpPr>
          <p:cNvPr id="38924" name="Line 13">
            <a:extLst>
              <a:ext uri="{FF2B5EF4-FFF2-40B4-BE49-F238E27FC236}">
                <a16:creationId xmlns:a16="http://schemas.microsoft.com/office/drawing/2014/main" id="{283AB81B-5681-875C-97C3-9BCC7C03A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1336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5" name="Text Box 14">
            <a:extLst>
              <a:ext uri="{FF2B5EF4-FFF2-40B4-BE49-F238E27FC236}">
                <a16:creationId xmlns:a16="http://schemas.microsoft.com/office/drawing/2014/main" id="{18FB3586-7E32-050C-53B6-ABF0A7052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1850" y="1295400"/>
            <a:ext cx="13652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solidFill>
                  <a:schemeClr val="tx2"/>
                </a:solidFill>
              </a:rPr>
              <a:t>comp. design</a:t>
            </a:r>
          </a:p>
        </p:txBody>
      </p:sp>
      <p:sp>
        <p:nvSpPr>
          <p:cNvPr id="38926" name="Text Box 15">
            <a:extLst>
              <a:ext uri="{FF2B5EF4-FFF2-40B4-BE49-F238E27FC236}">
                <a16:creationId xmlns:a16="http://schemas.microsoft.com/office/drawing/2014/main" id="{D06B2C0A-C60F-2DB9-B449-BA9A35F20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988" y="2133600"/>
            <a:ext cx="10048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solidFill>
                  <a:schemeClr val="tx2"/>
                </a:solidFill>
              </a:rPr>
              <a:t>local rep.</a:t>
            </a:r>
          </a:p>
        </p:txBody>
      </p:sp>
      <p:sp>
        <p:nvSpPr>
          <p:cNvPr id="38927" name="AutoShape 16">
            <a:extLst>
              <a:ext uri="{FF2B5EF4-FFF2-40B4-BE49-F238E27FC236}">
                <a16:creationId xmlns:a16="http://schemas.microsoft.com/office/drawing/2014/main" id="{4A7B9ACB-465A-3D7F-DBB5-BEE086F24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352800"/>
            <a:ext cx="1552575" cy="5334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28" name="Text Box 17">
            <a:extLst>
              <a:ext uri="{FF2B5EF4-FFF2-40B4-BE49-F238E27FC236}">
                <a16:creationId xmlns:a16="http://schemas.microsoft.com/office/drawing/2014/main" id="{85734D76-7649-A174-E100-3BDBC83B6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00" y="3473450"/>
            <a:ext cx="7064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3SAT</a:t>
            </a:r>
          </a:p>
        </p:txBody>
      </p:sp>
      <p:sp>
        <p:nvSpPr>
          <p:cNvPr id="38929" name="Line 18">
            <a:extLst>
              <a:ext uri="{FF2B5EF4-FFF2-40B4-BE49-F238E27FC236}">
                <a16:creationId xmlns:a16="http://schemas.microsoft.com/office/drawing/2014/main" id="{A878227A-35E1-38E6-02E4-09D867150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9718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0" name="Text Box 19">
            <a:extLst>
              <a:ext uri="{FF2B5EF4-FFF2-40B4-BE49-F238E27FC236}">
                <a16:creationId xmlns:a16="http://schemas.microsoft.com/office/drawing/2014/main" id="{6A932436-6094-66E4-1C49-BEDF7E66B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4413" y="2971800"/>
            <a:ext cx="10048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solidFill>
                  <a:schemeClr val="tx2"/>
                </a:solidFill>
              </a:rPr>
              <a:t>local rep.</a:t>
            </a:r>
          </a:p>
        </p:txBody>
      </p:sp>
      <p:sp>
        <p:nvSpPr>
          <p:cNvPr id="38931" name="AutoShape 20">
            <a:extLst>
              <a:ext uri="{FF2B5EF4-FFF2-40B4-BE49-F238E27FC236}">
                <a16:creationId xmlns:a16="http://schemas.microsoft.com/office/drawing/2014/main" id="{6C611125-277E-334E-9EB5-38F005078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191000"/>
            <a:ext cx="1552575" cy="5334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32" name="Text Box 21">
            <a:extLst>
              <a:ext uri="{FF2B5EF4-FFF2-40B4-BE49-F238E27FC236}">
                <a16:creationId xmlns:a16="http://schemas.microsoft.com/office/drawing/2014/main" id="{D8CA1B23-2D98-5AE9-EA2C-1D59C78BA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4338638"/>
            <a:ext cx="157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VERTEX-COVER</a:t>
            </a:r>
          </a:p>
        </p:txBody>
      </p:sp>
      <p:sp>
        <p:nvSpPr>
          <p:cNvPr id="38933" name="Line 22">
            <a:extLst>
              <a:ext uri="{FF2B5EF4-FFF2-40B4-BE49-F238E27FC236}">
                <a16:creationId xmlns:a16="http://schemas.microsoft.com/office/drawing/2014/main" id="{947448EB-2B7F-DCD9-7EB0-1BF896AD94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8862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4" name="Text Box 23">
            <a:extLst>
              <a:ext uri="{FF2B5EF4-FFF2-40B4-BE49-F238E27FC236}">
                <a16:creationId xmlns:a16="http://schemas.microsoft.com/office/drawing/2014/main" id="{57A3D032-5174-89E6-3B6E-6F2228610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3886200"/>
            <a:ext cx="13652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solidFill>
                  <a:schemeClr val="tx2"/>
                </a:solidFill>
              </a:rPr>
              <a:t>comp. design</a:t>
            </a:r>
          </a:p>
        </p:txBody>
      </p:sp>
      <p:sp>
        <p:nvSpPr>
          <p:cNvPr id="38935" name="AutoShape 24">
            <a:extLst>
              <a:ext uri="{FF2B5EF4-FFF2-40B4-BE49-F238E27FC236}">
                <a16:creationId xmlns:a16="http://schemas.microsoft.com/office/drawing/2014/main" id="{A27E8701-001D-C2C7-54D9-2E5E74AD4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105400"/>
            <a:ext cx="1552575" cy="5334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36" name="Text Box 25">
            <a:extLst>
              <a:ext uri="{FF2B5EF4-FFF2-40B4-BE49-F238E27FC236}">
                <a16:creationId xmlns:a16="http://schemas.microsoft.com/office/drawing/2014/main" id="{A3627725-2441-544F-5353-12E96D40B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700" y="5226050"/>
            <a:ext cx="9667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CLIQUE</a:t>
            </a:r>
          </a:p>
        </p:txBody>
      </p:sp>
      <p:sp>
        <p:nvSpPr>
          <p:cNvPr id="38937" name="AutoShape 26">
            <a:extLst>
              <a:ext uri="{FF2B5EF4-FFF2-40B4-BE49-F238E27FC236}">
                <a16:creationId xmlns:a16="http://schemas.microsoft.com/office/drawing/2014/main" id="{5634B524-060D-5915-D6F3-E00717326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105400"/>
            <a:ext cx="1552575" cy="5334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38" name="Text Box 27">
            <a:extLst>
              <a:ext uri="{FF2B5EF4-FFF2-40B4-BE49-F238E27FC236}">
                <a16:creationId xmlns:a16="http://schemas.microsoft.com/office/drawing/2014/main" id="{74AEADFF-E501-180A-1940-9F2F98C1F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00" y="5226050"/>
            <a:ext cx="1350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SET-COVER</a:t>
            </a:r>
          </a:p>
        </p:txBody>
      </p:sp>
      <p:sp>
        <p:nvSpPr>
          <p:cNvPr id="38939" name="AutoShape 28">
            <a:extLst>
              <a:ext uri="{FF2B5EF4-FFF2-40B4-BE49-F238E27FC236}">
                <a16:creationId xmlns:a16="http://schemas.microsoft.com/office/drawing/2014/main" id="{DDC93DD9-BD6F-0315-56E9-7A5B4FF4E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5105400"/>
            <a:ext cx="1552575" cy="5334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40" name="Text Box 29">
            <a:extLst>
              <a:ext uri="{FF2B5EF4-FFF2-40B4-BE49-F238E27FC236}">
                <a16:creationId xmlns:a16="http://schemas.microsoft.com/office/drawing/2014/main" id="{398BCCB2-6A63-8D01-16EC-E5BFC7B5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25" y="5226050"/>
            <a:ext cx="15287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SUBSET-SUM</a:t>
            </a:r>
          </a:p>
        </p:txBody>
      </p:sp>
      <p:sp>
        <p:nvSpPr>
          <p:cNvPr id="38941" name="AutoShape 30">
            <a:extLst>
              <a:ext uri="{FF2B5EF4-FFF2-40B4-BE49-F238E27FC236}">
                <a16:creationId xmlns:a16="http://schemas.microsoft.com/office/drawing/2014/main" id="{A2BB1633-CFEF-9F99-CCE1-4DECE8AED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5105400"/>
            <a:ext cx="1552575" cy="5334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42" name="Text Box 31">
            <a:extLst>
              <a:ext uri="{FF2B5EF4-FFF2-40B4-BE49-F238E27FC236}">
                <a16:creationId xmlns:a16="http://schemas.microsoft.com/office/drawing/2014/main" id="{1626AD56-69BD-9536-1088-A35134134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0388" y="5156200"/>
            <a:ext cx="1390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/>
              <a:t>HAMILTONIAN-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/>
              <a:t>CYCLE</a:t>
            </a:r>
          </a:p>
        </p:txBody>
      </p:sp>
      <p:sp>
        <p:nvSpPr>
          <p:cNvPr id="38943" name="AutoShape 32">
            <a:extLst>
              <a:ext uri="{FF2B5EF4-FFF2-40B4-BE49-F238E27FC236}">
                <a16:creationId xmlns:a16="http://schemas.microsoft.com/office/drawing/2014/main" id="{B712C6BC-3F8D-CE42-4732-446E24359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943600"/>
            <a:ext cx="1552575" cy="5334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44" name="Text Box 33">
            <a:extLst>
              <a:ext uri="{FF2B5EF4-FFF2-40B4-BE49-F238E27FC236}">
                <a16:creationId xmlns:a16="http://schemas.microsoft.com/office/drawing/2014/main" id="{A2CDA5F8-E23A-18E3-6C8E-C84BC1650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413" y="6064250"/>
            <a:ext cx="13001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KNAPSACK</a:t>
            </a:r>
          </a:p>
        </p:txBody>
      </p:sp>
      <p:sp>
        <p:nvSpPr>
          <p:cNvPr id="38945" name="AutoShape 34">
            <a:extLst>
              <a:ext uri="{FF2B5EF4-FFF2-40B4-BE49-F238E27FC236}">
                <a16:creationId xmlns:a16="http://schemas.microsoft.com/office/drawing/2014/main" id="{A4B7FFC1-B58C-2037-F953-7744B21F2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943600"/>
            <a:ext cx="1552575" cy="5334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46" name="Text Box 35">
            <a:extLst>
              <a:ext uri="{FF2B5EF4-FFF2-40B4-BE49-F238E27FC236}">
                <a16:creationId xmlns:a16="http://schemas.microsoft.com/office/drawing/2014/main" id="{A19E96BC-6165-2F87-DFC2-036CEAD0A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363" y="6064250"/>
            <a:ext cx="569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TSP</a:t>
            </a:r>
          </a:p>
        </p:txBody>
      </p:sp>
      <p:sp>
        <p:nvSpPr>
          <p:cNvPr id="38947" name="Line 36">
            <a:extLst>
              <a:ext uri="{FF2B5EF4-FFF2-40B4-BE49-F238E27FC236}">
                <a16:creationId xmlns:a16="http://schemas.microsoft.com/office/drawing/2014/main" id="{F4BB9559-DBCC-2AA1-87D9-89AB4F1BC0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600" y="4724400"/>
            <a:ext cx="2667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48" name="Line 37">
            <a:extLst>
              <a:ext uri="{FF2B5EF4-FFF2-40B4-BE49-F238E27FC236}">
                <a16:creationId xmlns:a16="http://schemas.microsoft.com/office/drawing/2014/main" id="{8C761199-B114-53D9-58CF-663AE7F256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71925" y="4724400"/>
            <a:ext cx="4476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49" name="Line 38">
            <a:extLst>
              <a:ext uri="{FF2B5EF4-FFF2-40B4-BE49-F238E27FC236}">
                <a16:creationId xmlns:a16="http://schemas.microsoft.com/office/drawing/2014/main" id="{0BE4CC1B-E2DC-0A50-7766-C9AAE132C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724400"/>
            <a:ext cx="11430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50" name="Line 39">
            <a:extLst>
              <a:ext uri="{FF2B5EF4-FFF2-40B4-BE49-F238E27FC236}">
                <a16:creationId xmlns:a16="http://schemas.microsoft.com/office/drawing/2014/main" id="{E5A6E118-CAE1-C52D-868E-AC1165F73A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3" y="4724400"/>
            <a:ext cx="3490912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51" name="Line 40">
            <a:extLst>
              <a:ext uri="{FF2B5EF4-FFF2-40B4-BE49-F238E27FC236}">
                <a16:creationId xmlns:a16="http://schemas.microsoft.com/office/drawing/2014/main" id="{8207055A-D961-E48A-B608-5A232243B3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56388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52" name="Line 41">
            <a:extLst>
              <a:ext uri="{FF2B5EF4-FFF2-40B4-BE49-F238E27FC236}">
                <a16:creationId xmlns:a16="http://schemas.microsoft.com/office/drawing/2014/main" id="{0AC1911C-7E5C-1A92-B1F6-2BEFF693D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56388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53" name="Text Box 42">
            <a:extLst>
              <a:ext uri="{FF2B5EF4-FFF2-40B4-BE49-F238E27FC236}">
                <a16:creationId xmlns:a16="http://schemas.microsoft.com/office/drawing/2014/main" id="{CA65B50C-0726-BE59-4104-CFE10063A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572000"/>
            <a:ext cx="10048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solidFill>
                  <a:schemeClr val="tx2"/>
                </a:solidFill>
              </a:rPr>
              <a:t>local rep.</a:t>
            </a:r>
          </a:p>
        </p:txBody>
      </p:sp>
      <p:sp>
        <p:nvSpPr>
          <p:cNvPr id="38954" name="Text Box 43">
            <a:extLst>
              <a:ext uri="{FF2B5EF4-FFF2-40B4-BE49-F238E27FC236}">
                <a16:creationId xmlns:a16="http://schemas.microsoft.com/office/drawing/2014/main" id="{861E8601-5431-C7B5-325C-FAF470B4A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3" y="4800600"/>
            <a:ext cx="10048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solidFill>
                  <a:schemeClr val="tx2"/>
                </a:solidFill>
              </a:rPr>
              <a:t>local rep.</a:t>
            </a:r>
          </a:p>
        </p:txBody>
      </p:sp>
      <p:sp>
        <p:nvSpPr>
          <p:cNvPr id="38955" name="Text Box 44">
            <a:extLst>
              <a:ext uri="{FF2B5EF4-FFF2-40B4-BE49-F238E27FC236}">
                <a16:creationId xmlns:a16="http://schemas.microsoft.com/office/drawing/2014/main" id="{AD400273-D964-A64D-215D-E5EA8150D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800600"/>
            <a:ext cx="13652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solidFill>
                  <a:schemeClr val="tx2"/>
                </a:solidFill>
              </a:rPr>
              <a:t>comp. design</a:t>
            </a:r>
          </a:p>
        </p:txBody>
      </p:sp>
      <p:sp>
        <p:nvSpPr>
          <p:cNvPr id="38956" name="Text Box 45">
            <a:extLst>
              <a:ext uri="{FF2B5EF4-FFF2-40B4-BE49-F238E27FC236}">
                <a16:creationId xmlns:a16="http://schemas.microsoft.com/office/drawing/2014/main" id="{051A99EF-1BC8-3CE6-E262-4A2EADBD5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8150" y="4724400"/>
            <a:ext cx="13652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solidFill>
                  <a:schemeClr val="tx2"/>
                </a:solidFill>
              </a:rPr>
              <a:t>comp. design</a:t>
            </a:r>
          </a:p>
        </p:txBody>
      </p:sp>
      <p:sp>
        <p:nvSpPr>
          <p:cNvPr id="38957" name="Text Box 46">
            <a:extLst>
              <a:ext uri="{FF2B5EF4-FFF2-40B4-BE49-F238E27FC236}">
                <a16:creationId xmlns:a16="http://schemas.microsoft.com/office/drawing/2014/main" id="{960D1776-61C8-5A5F-BACA-802B37004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0" y="5638800"/>
            <a:ext cx="11128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solidFill>
                  <a:schemeClr val="tx2"/>
                </a:solidFill>
              </a:rPr>
              <a:t>restriction</a:t>
            </a:r>
          </a:p>
        </p:txBody>
      </p:sp>
      <p:sp>
        <p:nvSpPr>
          <p:cNvPr id="38958" name="Text Box 47">
            <a:extLst>
              <a:ext uri="{FF2B5EF4-FFF2-40B4-BE49-F238E27FC236}">
                <a16:creationId xmlns:a16="http://schemas.microsoft.com/office/drawing/2014/main" id="{BCAEB323-4DC5-D854-4959-E16DC24F1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3363" y="5638800"/>
            <a:ext cx="11128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solidFill>
                  <a:schemeClr val="tx2"/>
                </a:solidFill>
              </a:rPr>
              <a:t>restriction</a:t>
            </a:r>
          </a:p>
        </p:txBody>
      </p:sp>
      <p:sp>
        <p:nvSpPr>
          <p:cNvPr id="38959" name="Rectangle 48">
            <a:extLst>
              <a:ext uri="{FF2B5EF4-FFF2-40B4-BE49-F238E27FC236}">
                <a16:creationId xmlns:a16="http://schemas.microsoft.com/office/drawing/2014/main" id="{3E026F3F-07FA-AE54-234C-79835145B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87450"/>
            <a:ext cx="3124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  Cook-Levin Theorem     CIRCUIT-SAT is NP-complete</a:t>
            </a:r>
          </a:p>
        </p:txBody>
      </p:sp>
      <p:sp>
        <p:nvSpPr>
          <p:cNvPr id="38960" name="AutoShape 50">
            <a:extLst>
              <a:ext uri="{FF2B5EF4-FFF2-40B4-BE49-F238E27FC236}">
                <a16:creationId xmlns:a16="http://schemas.microsoft.com/office/drawing/2014/main" id="{2BE02682-ABE1-6E05-14D7-17BE79D85145}"/>
              </a:ext>
            </a:extLst>
          </p:cNvPr>
          <p:cNvSpPr>
            <a:spLocks/>
          </p:cNvSpPr>
          <p:nvPr/>
        </p:nvSpPr>
        <p:spPr bwMode="auto">
          <a:xfrm>
            <a:off x="3048000" y="1012825"/>
            <a:ext cx="111125" cy="1044575"/>
          </a:xfrm>
          <a:prstGeom prst="leftBrace">
            <a:avLst>
              <a:gd name="adj1" fmla="val 78333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6569742C-0689-E572-B676-D5B62D29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8BBBF4-F4F4-4C2D-BBE9-8EE7AE3863A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A1D0532A-A98B-C608-C660-5F825D214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1675" y="457200"/>
            <a:ext cx="6156325" cy="1143000"/>
          </a:xfrm>
        </p:spPr>
        <p:txBody>
          <a:bodyPr/>
          <a:lstStyle/>
          <a:p>
            <a:pPr eaLnBrk="1" hangingPunct="1"/>
            <a:r>
              <a:rPr lang="en-US" altLang="en-US"/>
              <a:t>Some Thoughts     about P and NP</a:t>
            </a:r>
          </a:p>
        </p:txBody>
      </p:sp>
      <p:sp>
        <p:nvSpPr>
          <p:cNvPr id="39940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BA8A787-9DF0-BF66-67FD-66C8A0A46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286000"/>
            <a:ext cx="8153400" cy="4114800"/>
          </a:xfrm>
        </p:spPr>
        <p:txBody>
          <a:bodyPr/>
          <a:lstStyle/>
          <a:p>
            <a:pPr eaLnBrk="1" hangingPunct="1"/>
            <a:r>
              <a:rPr lang="en-US" altLang="en-US" sz="2000"/>
              <a:t>Belief: P is a proper subset of NP.</a:t>
            </a:r>
          </a:p>
          <a:p>
            <a:pPr eaLnBrk="1" hangingPunct="1"/>
            <a:r>
              <a:rPr lang="en-US" altLang="en-US" sz="2000"/>
              <a:t>Implication: NP-complete problems are the hardest in NP.</a:t>
            </a:r>
          </a:p>
          <a:p>
            <a:pPr eaLnBrk="1" hangingPunct="1"/>
            <a:r>
              <a:rPr lang="en-US" altLang="en-US" sz="2000"/>
              <a:t>Why: Because if we could </a:t>
            </a:r>
            <a:r>
              <a:rPr lang="en-US" altLang="en-US" sz="2000" u="sng"/>
              <a:t>solve an NP-complete problem in polynomial time</a:t>
            </a:r>
            <a:r>
              <a:rPr lang="en-US" altLang="en-US" sz="2000"/>
              <a:t>, we could </a:t>
            </a:r>
            <a:r>
              <a:rPr lang="en-US" altLang="en-US" sz="2000" u="sng"/>
              <a:t>solve every problem in NP in polynomial time</a:t>
            </a:r>
            <a:r>
              <a:rPr lang="en-US" altLang="en-US" sz="2000"/>
              <a:t>.</a:t>
            </a:r>
          </a:p>
          <a:p>
            <a:pPr eaLnBrk="1" hangingPunct="1"/>
            <a:r>
              <a:rPr lang="en-US" altLang="en-US" sz="2000"/>
              <a:t>That is, if an NP-complete problem is solvable in polynomial time, then </a:t>
            </a:r>
            <a:r>
              <a:rPr lang="en-US" altLang="en-US" sz="2000" u="sng"/>
              <a:t>P=NP</a:t>
            </a:r>
            <a:r>
              <a:rPr lang="en-US" altLang="en-US" sz="2000"/>
              <a:t>.</a:t>
            </a:r>
          </a:p>
          <a:p>
            <a:pPr eaLnBrk="1" hangingPunct="1"/>
            <a:r>
              <a:rPr lang="en-US" altLang="en-US" sz="2000"/>
              <a:t>Since so many people have attempted without success to find polynomial-time solutions to NP-complete problems, showing your problem is NP-complete is equivalent to showing that a lot of smart people have worked on your problem and found no polynomial-time algorithm.</a:t>
            </a:r>
          </a:p>
        </p:txBody>
      </p:sp>
      <p:grpSp>
        <p:nvGrpSpPr>
          <p:cNvPr id="39941" name="Group 11">
            <a:extLst>
              <a:ext uri="{FF2B5EF4-FFF2-40B4-BE49-F238E27FC236}">
                <a16:creationId xmlns:a16="http://schemas.microsoft.com/office/drawing/2014/main" id="{31FDEAB9-BA19-4029-CB84-3714050084F1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04800"/>
            <a:ext cx="3657600" cy="2209800"/>
            <a:chOff x="672" y="1392"/>
            <a:chExt cx="2832" cy="1680"/>
          </a:xfrm>
        </p:grpSpPr>
        <p:sp>
          <p:nvSpPr>
            <p:cNvPr id="39942" name="Oval 5">
              <a:extLst>
                <a:ext uri="{FF2B5EF4-FFF2-40B4-BE49-F238E27FC236}">
                  <a16:creationId xmlns:a16="http://schemas.microsoft.com/office/drawing/2014/main" id="{B38C481F-32A8-D081-86B1-75350ABBD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392"/>
              <a:ext cx="2832" cy="1680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NP</a:t>
              </a:r>
            </a:p>
          </p:txBody>
        </p:sp>
        <p:sp>
          <p:nvSpPr>
            <p:cNvPr id="39943" name="Oval 8">
              <a:extLst>
                <a:ext uri="{FF2B5EF4-FFF2-40B4-BE49-F238E27FC236}">
                  <a16:creationId xmlns:a16="http://schemas.microsoft.com/office/drawing/2014/main" id="{9B7E85D1-6D9B-F258-B52E-722F85C74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3" y="1824"/>
              <a:ext cx="913" cy="81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9944" name="Text Box 9">
              <a:extLst>
                <a:ext uri="{FF2B5EF4-FFF2-40B4-BE49-F238E27FC236}">
                  <a16:creationId xmlns:a16="http://schemas.microsoft.com/office/drawing/2014/main" id="{6EDFD8D5-2D2A-8058-786E-AB84E69F5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5" y="2116"/>
              <a:ext cx="246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P</a:t>
              </a:r>
            </a:p>
          </p:txBody>
        </p:sp>
        <p:sp>
          <p:nvSpPr>
            <p:cNvPr id="39945" name="Oval 2">
              <a:extLst>
                <a:ext uri="{FF2B5EF4-FFF2-40B4-BE49-F238E27FC236}">
                  <a16:creationId xmlns:a16="http://schemas.microsoft.com/office/drawing/2014/main" id="{A9A78B98-DB91-C916-94D2-6BA12CC2F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3" y="2400"/>
              <a:ext cx="1210" cy="480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9946" name="Text Box 7">
              <a:extLst>
                <a:ext uri="{FF2B5EF4-FFF2-40B4-BE49-F238E27FC236}">
                  <a16:creationId xmlns:a16="http://schemas.microsoft.com/office/drawing/2014/main" id="{4F1BD5B0-DD8A-8CD6-2716-F19844053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2539"/>
              <a:ext cx="107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CIRCUIT-SAT</a:t>
              </a:r>
            </a:p>
          </p:txBody>
        </p:sp>
        <p:sp>
          <p:nvSpPr>
            <p:cNvPr id="39947" name="Text Box 10">
              <a:extLst>
                <a:ext uri="{FF2B5EF4-FFF2-40B4-BE49-F238E27FC236}">
                  <a16:creationId xmlns:a16="http://schemas.microsoft.com/office/drawing/2014/main" id="{E9873D72-7F1C-DF5D-466D-1B317E71C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5" y="1508"/>
              <a:ext cx="142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NP-complete 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problems live here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Aspect">
      <a:dk1>
        <a:sysClr val="windowText" lastClr="C0C0C0"/>
      </a:dk1>
      <a:lt1>
        <a:sysClr val="window" lastClr="000000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9514</TotalTime>
  <Words>1867</Words>
  <Application>Microsoft Office PowerPoint</Application>
  <PresentationFormat>On-screen Show (4:3)</PresentationFormat>
  <Paragraphs>282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Consolas</vt:lpstr>
      <vt:lpstr>Symbol</vt:lpstr>
      <vt:lpstr>Tahoma</vt:lpstr>
      <vt:lpstr>Times New Roman</vt:lpstr>
      <vt:lpstr>Wingdings</vt:lpstr>
      <vt:lpstr>Blueprint</vt:lpstr>
      <vt:lpstr>VISIO</vt:lpstr>
      <vt:lpstr>Lecture 12: P &amp; NP</vt:lpstr>
      <vt:lpstr>Learning Outcome</vt:lpstr>
      <vt:lpstr>Running Time Revisited</vt:lpstr>
      <vt:lpstr>Dealing with Hard Problems</vt:lpstr>
      <vt:lpstr>Dealing with Hard Problems</vt:lpstr>
      <vt:lpstr>Dealing with Hard Problems</vt:lpstr>
      <vt:lpstr>Polynomial-Time  Decision Problems</vt:lpstr>
      <vt:lpstr>Problems and Languages</vt:lpstr>
      <vt:lpstr>The Complexity Class P</vt:lpstr>
      <vt:lpstr>The Complexity Class NP</vt:lpstr>
      <vt:lpstr>NP example</vt:lpstr>
      <vt:lpstr>The Complexity Class NP Alternate Definition</vt:lpstr>
      <vt:lpstr>NP example</vt:lpstr>
      <vt:lpstr>Equivalence of the  Two Definitions</vt:lpstr>
      <vt:lpstr>CIRCUIT-SAT</vt:lpstr>
      <vt:lpstr>CIRCUIT-SAT is in NP</vt:lpstr>
      <vt:lpstr>NP-Hard &amp; NP-Complete</vt:lpstr>
      <vt:lpstr>Cook-Levin Theorem</vt:lpstr>
      <vt:lpstr>Transitivity of Reducibility</vt:lpstr>
      <vt:lpstr>SAT</vt:lpstr>
      <vt:lpstr>SAT is NP-complete</vt:lpstr>
      <vt:lpstr>3SAT</vt:lpstr>
      <vt:lpstr>Illustration of Reductions</vt:lpstr>
      <vt:lpstr>Some Thoughts     about P and NP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12: P &amp; NP</dc:title>
  <dc:creator>Roberto Tamassia</dc:creator>
  <cp:lastModifiedBy>Neoh Kee Lin</cp:lastModifiedBy>
  <cp:revision>1440</cp:revision>
  <dcterms:created xsi:type="dcterms:W3CDTF">2002-01-21T02:22:10Z</dcterms:created>
  <dcterms:modified xsi:type="dcterms:W3CDTF">2025-02-02T15:09:54Z</dcterms:modified>
</cp:coreProperties>
</file>