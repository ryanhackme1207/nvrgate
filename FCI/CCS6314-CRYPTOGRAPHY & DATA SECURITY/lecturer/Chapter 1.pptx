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362" r:id="rId3"/>
    <p:sldId id="315" r:id="rId4"/>
    <p:sldId id="257" r:id="rId5"/>
    <p:sldId id="258" r:id="rId6"/>
    <p:sldId id="310" r:id="rId7"/>
    <p:sldId id="259" r:id="rId8"/>
    <p:sldId id="260" r:id="rId9"/>
    <p:sldId id="261" r:id="rId10"/>
    <p:sldId id="262" r:id="rId11"/>
    <p:sldId id="263" r:id="rId12"/>
    <p:sldId id="264" r:id="rId13"/>
    <p:sldId id="265" r:id="rId14"/>
    <p:sldId id="266" r:id="rId15"/>
    <p:sldId id="267" r:id="rId16"/>
    <p:sldId id="268" r:id="rId17"/>
    <p:sldId id="269" r:id="rId18"/>
    <p:sldId id="311" r:id="rId19"/>
    <p:sldId id="270" r:id="rId20"/>
    <p:sldId id="271" r:id="rId21"/>
    <p:sldId id="272" r:id="rId22"/>
    <p:sldId id="273" r:id="rId23"/>
    <p:sldId id="274" r:id="rId24"/>
    <p:sldId id="276" r:id="rId25"/>
    <p:sldId id="277" r:id="rId26"/>
    <p:sldId id="304" r:id="rId27"/>
    <p:sldId id="278" r:id="rId28"/>
    <p:sldId id="279" r:id="rId29"/>
    <p:sldId id="305" r:id="rId30"/>
    <p:sldId id="306" r:id="rId31"/>
    <p:sldId id="307" r:id="rId32"/>
    <p:sldId id="312" r:id="rId33"/>
    <p:sldId id="280" r:id="rId34"/>
    <p:sldId id="281" r:id="rId35"/>
    <p:sldId id="282" r:id="rId36"/>
    <p:sldId id="283" r:id="rId37"/>
    <p:sldId id="284" r:id="rId38"/>
    <p:sldId id="286" r:id="rId39"/>
    <p:sldId id="285" r:id="rId40"/>
    <p:sldId id="287" r:id="rId41"/>
    <p:sldId id="288" r:id="rId42"/>
    <p:sldId id="289" r:id="rId43"/>
    <p:sldId id="290" r:id="rId44"/>
    <p:sldId id="291" r:id="rId45"/>
    <p:sldId id="292" r:id="rId46"/>
    <p:sldId id="313" r:id="rId47"/>
    <p:sldId id="293" r:id="rId48"/>
    <p:sldId id="294" r:id="rId49"/>
    <p:sldId id="295" r:id="rId50"/>
    <p:sldId id="296" r:id="rId51"/>
    <p:sldId id="297" r:id="rId52"/>
    <p:sldId id="363" r:id="rId53"/>
    <p:sldId id="314" r:id="rId54"/>
    <p:sldId id="298" r:id="rId55"/>
    <p:sldId id="299" r:id="rId56"/>
    <p:sldId id="300" r:id="rId57"/>
    <p:sldId id="301" r:id="rId58"/>
    <p:sldId id="302" r:id="rId59"/>
    <p:sldId id="303"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275"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08" r:id="rId108"/>
    <p:sldId id="309" r:id="rId10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C3391F-5658-4208-9314-5C9C14917EFD}" v="5" dt="2024-03-26T02:30:05.220"/>
    <p1510:client id="{D0DA33D0-0B8F-46BF-822E-80D067496621}" v="1" dt="2024-03-25T06:15:50.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ustomXml" Target="../customXml/item2.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118" Type="http://schemas.openxmlformats.org/officeDocument/2006/relationships/customXml" Target="../customXml/item3.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 Boon Chian" userId="ab84e6a5-2079-4f96-af03-c8dde00dcc75" providerId="ADAL" clId="{C4C3391F-5658-4208-9314-5C9C14917EFD}"/>
    <pc:docChg chg="undo custSel addSld delSld modSld">
      <pc:chgData name="Tea Boon Chian" userId="ab84e6a5-2079-4f96-af03-c8dde00dcc75" providerId="ADAL" clId="{C4C3391F-5658-4208-9314-5C9C14917EFD}" dt="2024-03-26T02:30:34.311" v="25" actId="22"/>
      <pc:docMkLst>
        <pc:docMk/>
      </pc:docMkLst>
      <pc:sldChg chg="modSp mod">
        <pc:chgData name="Tea Boon Chian" userId="ab84e6a5-2079-4f96-af03-c8dde00dcc75" providerId="ADAL" clId="{C4C3391F-5658-4208-9314-5C9C14917EFD}" dt="2024-03-26T02:30:02.017" v="20" actId="20577"/>
        <pc:sldMkLst>
          <pc:docMk/>
          <pc:sldMk cId="3018477891" sldId="256"/>
        </pc:sldMkLst>
        <pc:spChg chg="mod">
          <ac:chgData name="Tea Boon Chian" userId="ab84e6a5-2079-4f96-af03-c8dde00dcc75" providerId="ADAL" clId="{C4C3391F-5658-4208-9314-5C9C14917EFD}" dt="2024-03-26T02:30:02.017" v="20" actId="20577"/>
          <ac:spMkLst>
            <pc:docMk/>
            <pc:sldMk cId="3018477891" sldId="256"/>
            <ac:spMk id="3" creationId="{DC7DB128-8446-4431-39C3-183597C89BAE}"/>
          </ac:spMkLst>
        </pc:spChg>
      </pc:sldChg>
      <pc:sldChg chg="add del">
        <pc:chgData name="Tea Boon Chian" userId="ab84e6a5-2079-4f96-af03-c8dde00dcc75" providerId="ADAL" clId="{C4C3391F-5658-4208-9314-5C9C14917EFD}" dt="2024-03-26T02:29:30.125" v="4" actId="2696"/>
        <pc:sldMkLst>
          <pc:docMk/>
          <pc:sldMk cId="2385317189" sldId="314"/>
        </pc:sldMkLst>
      </pc:sldChg>
      <pc:sldChg chg="addSp delSp modSp add del mod">
        <pc:chgData name="Tea Boon Chian" userId="ab84e6a5-2079-4f96-af03-c8dde00dcc75" providerId="ADAL" clId="{C4C3391F-5658-4208-9314-5C9C14917EFD}" dt="2024-03-26T02:30:34.311" v="25" actId="22"/>
        <pc:sldMkLst>
          <pc:docMk/>
          <pc:sldMk cId="2903114687" sldId="363"/>
        </pc:sldMkLst>
        <pc:spChg chg="del">
          <ac:chgData name="Tea Boon Chian" userId="ab84e6a5-2079-4f96-af03-c8dde00dcc75" providerId="ADAL" clId="{C4C3391F-5658-4208-9314-5C9C14917EFD}" dt="2024-03-26T02:30:19.185" v="23" actId="478"/>
          <ac:spMkLst>
            <pc:docMk/>
            <pc:sldMk cId="2903114687" sldId="363"/>
            <ac:spMk id="2" creationId="{28ED6484-F9BC-3630-6C5E-5D0F991C4C8F}"/>
          </ac:spMkLst>
        </pc:spChg>
        <pc:spChg chg="add del mod">
          <ac:chgData name="Tea Boon Chian" userId="ab84e6a5-2079-4f96-af03-c8dde00dcc75" providerId="ADAL" clId="{C4C3391F-5658-4208-9314-5C9C14917EFD}" dt="2024-03-26T02:30:21.586" v="24" actId="478"/>
          <ac:spMkLst>
            <pc:docMk/>
            <pc:sldMk cId="2903114687" sldId="363"/>
            <ac:spMk id="4" creationId="{18BFAE64-BC7A-239D-FCDC-A79E03C54D74}"/>
          </ac:spMkLst>
        </pc:spChg>
        <pc:picChg chg="add">
          <ac:chgData name="Tea Boon Chian" userId="ab84e6a5-2079-4f96-af03-c8dde00dcc75" providerId="ADAL" clId="{C4C3391F-5658-4208-9314-5C9C14917EFD}" dt="2024-03-26T02:30:34.311" v="25" actId="22"/>
          <ac:picMkLst>
            <pc:docMk/>
            <pc:sldMk cId="2903114687" sldId="363"/>
            <ac:picMk id="6" creationId="{09F6485F-8FE4-7215-ECD4-65108C230837}"/>
          </ac:picMkLst>
        </pc:picChg>
      </pc:sldChg>
      <pc:sldChg chg="addSp delSp add del setBg delDesignElem">
        <pc:chgData name="Tea Boon Chian" userId="ab84e6a5-2079-4f96-af03-c8dde00dcc75" providerId="ADAL" clId="{C4C3391F-5658-4208-9314-5C9C14917EFD}" dt="2024-03-26T02:29:26.295" v="2"/>
        <pc:sldMkLst>
          <pc:docMk/>
          <pc:sldMk cId="3816725200" sldId="363"/>
        </pc:sldMkLst>
        <pc:spChg chg="add del">
          <ac:chgData name="Tea Boon Chian" userId="ab84e6a5-2079-4f96-af03-c8dde00dcc75" providerId="ADAL" clId="{C4C3391F-5658-4208-9314-5C9C14917EFD}" dt="2024-03-26T02:29:26.295" v="2"/>
          <ac:spMkLst>
            <pc:docMk/>
            <pc:sldMk cId="3816725200" sldId="363"/>
            <ac:spMk id="1038" creationId="{68CA250C-CF5A-4736-9249-D6111F7C5545}"/>
          </ac:spMkLst>
        </pc:spChg>
        <pc:spChg chg="add del">
          <ac:chgData name="Tea Boon Chian" userId="ab84e6a5-2079-4f96-af03-c8dde00dcc75" providerId="ADAL" clId="{C4C3391F-5658-4208-9314-5C9C14917EFD}" dt="2024-03-26T02:29:26.295" v="2"/>
          <ac:spMkLst>
            <pc:docMk/>
            <pc:sldMk cId="3816725200" sldId="363"/>
            <ac:spMk id="1040" creationId="{1A85303E-1D59-4477-A849-22C7FEACDCE7}"/>
          </ac:spMkLst>
        </pc:spChg>
      </pc:sldChg>
    </pc:docChg>
  </pc:docChgLst>
  <pc:docChgLst>
    <pc:chgData name="Tea Boon Chian" userId="ab84e6a5-2079-4f96-af03-c8dde00dcc75" providerId="ADAL" clId="{D0DA33D0-0B8F-46BF-822E-80D067496621}"/>
    <pc:docChg chg="addSld modSld">
      <pc:chgData name="Tea Boon Chian" userId="ab84e6a5-2079-4f96-af03-c8dde00dcc75" providerId="ADAL" clId="{D0DA33D0-0B8F-46BF-822E-80D067496621}" dt="2024-03-25T06:15:50.873" v="0"/>
      <pc:docMkLst>
        <pc:docMk/>
      </pc:docMkLst>
      <pc:sldChg chg="add">
        <pc:chgData name="Tea Boon Chian" userId="ab84e6a5-2079-4f96-af03-c8dde00dcc75" providerId="ADAL" clId="{D0DA33D0-0B8F-46BF-822E-80D067496621}" dt="2024-03-25T06:15:50.873" v="0"/>
        <pc:sldMkLst>
          <pc:docMk/>
          <pc:sldMk cId="3103681988" sldId="362"/>
        </pc:sldMkLst>
      </pc:sldChg>
    </pc:docChg>
  </pc:docChgLst>
  <pc:docChgLst>
    <pc:chgData name="Tea Boon Chian" userId="ab84e6a5-2079-4f96-af03-c8dde00dcc75" providerId="ADAL" clId="{9D557A76-7C47-48FB-87BA-6F97A581C0A1}"/>
    <pc:docChg chg="undo custSel addSld delSld modSld sldOrd">
      <pc:chgData name="Tea Boon Chian" userId="ab84e6a5-2079-4f96-af03-c8dde00dcc75" providerId="ADAL" clId="{9D557A76-7C47-48FB-87BA-6F97A581C0A1}" dt="2024-02-15T23:52:33.925" v="2012" actId="14100"/>
      <pc:docMkLst>
        <pc:docMk/>
      </pc:docMkLst>
      <pc:sldChg chg="modSp mod ord modAnim">
        <pc:chgData name="Tea Boon Chian" userId="ab84e6a5-2079-4f96-af03-c8dde00dcc75" providerId="ADAL" clId="{9D557A76-7C47-48FB-87BA-6F97A581C0A1}" dt="2024-02-15T23:52:33.925" v="2012" actId="14100"/>
        <pc:sldMkLst>
          <pc:docMk/>
          <pc:sldMk cId="3018477891" sldId="256"/>
        </pc:sldMkLst>
        <pc:spChg chg="mod">
          <ac:chgData name="Tea Boon Chian" userId="ab84e6a5-2079-4f96-af03-c8dde00dcc75" providerId="ADAL" clId="{9D557A76-7C47-48FB-87BA-6F97A581C0A1}" dt="2024-02-15T23:52:30.907" v="2011" actId="14100"/>
          <ac:spMkLst>
            <pc:docMk/>
            <pc:sldMk cId="3018477891" sldId="256"/>
            <ac:spMk id="2" creationId="{032120D1-7E07-DCB2-D6BC-7020E4F941C6}"/>
          </ac:spMkLst>
        </pc:spChg>
        <pc:spChg chg="mod">
          <ac:chgData name="Tea Boon Chian" userId="ab84e6a5-2079-4f96-af03-c8dde00dcc75" providerId="ADAL" clId="{9D557A76-7C47-48FB-87BA-6F97A581C0A1}" dt="2024-02-15T23:52:33.925" v="2012" actId="14100"/>
          <ac:spMkLst>
            <pc:docMk/>
            <pc:sldMk cId="3018477891" sldId="256"/>
            <ac:spMk id="3" creationId="{DC7DB128-8446-4431-39C3-183597C89BAE}"/>
          </ac:spMkLst>
        </pc:spChg>
      </pc:sldChg>
      <pc:sldChg chg="modSp mod">
        <pc:chgData name="Tea Boon Chian" userId="ab84e6a5-2079-4f96-af03-c8dde00dcc75" providerId="ADAL" clId="{9D557A76-7C47-48FB-87BA-6F97A581C0A1}" dt="2024-02-15T23:46:23.235" v="1928" actId="20577"/>
        <pc:sldMkLst>
          <pc:docMk/>
          <pc:sldMk cId="1961635592" sldId="257"/>
        </pc:sldMkLst>
        <pc:spChg chg="mod">
          <ac:chgData name="Tea Boon Chian" userId="ab84e6a5-2079-4f96-af03-c8dde00dcc75" providerId="ADAL" clId="{9D557A76-7C47-48FB-87BA-6F97A581C0A1}" dt="2024-02-15T23:46:23.235" v="1928" actId="20577"/>
          <ac:spMkLst>
            <pc:docMk/>
            <pc:sldMk cId="1961635592" sldId="257"/>
            <ac:spMk id="2" creationId="{28ED6484-F9BC-3630-6C5E-5D0F991C4C8F}"/>
          </ac:spMkLst>
        </pc:spChg>
        <pc:spChg chg="mod">
          <ac:chgData name="Tea Boon Chian" userId="ab84e6a5-2079-4f96-af03-c8dde00dcc75" providerId="ADAL" clId="{9D557A76-7C47-48FB-87BA-6F97A581C0A1}" dt="2024-02-15T23:44:48.696" v="1874" actId="20577"/>
          <ac:spMkLst>
            <pc:docMk/>
            <pc:sldMk cId="1961635592" sldId="257"/>
            <ac:spMk id="3" creationId="{9D14A154-261B-C449-2DDE-7ED60759E1EF}"/>
          </ac:spMkLst>
        </pc:spChg>
      </pc:sldChg>
      <pc:sldChg chg="modSp mod">
        <pc:chgData name="Tea Boon Chian" userId="ab84e6a5-2079-4f96-af03-c8dde00dcc75" providerId="ADAL" clId="{9D557A76-7C47-48FB-87BA-6F97A581C0A1}" dt="2024-02-15T23:46:32.730" v="1935" actId="20577"/>
        <pc:sldMkLst>
          <pc:docMk/>
          <pc:sldMk cId="1633933684" sldId="258"/>
        </pc:sldMkLst>
        <pc:spChg chg="mod">
          <ac:chgData name="Tea Boon Chian" userId="ab84e6a5-2079-4f96-af03-c8dde00dcc75" providerId="ADAL" clId="{9D557A76-7C47-48FB-87BA-6F97A581C0A1}" dt="2024-02-15T23:46:32.730" v="1935" actId="20577"/>
          <ac:spMkLst>
            <pc:docMk/>
            <pc:sldMk cId="1633933684" sldId="258"/>
            <ac:spMk id="3" creationId="{9D14A154-261B-C449-2DDE-7ED60759E1EF}"/>
          </ac:spMkLst>
        </pc:spChg>
      </pc:sldChg>
      <pc:sldChg chg="modSp mod">
        <pc:chgData name="Tea Boon Chian" userId="ab84e6a5-2079-4f96-af03-c8dde00dcc75" providerId="ADAL" clId="{9D557A76-7C47-48FB-87BA-6F97A581C0A1}" dt="2023-10-26T12:19:01.353" v="1719" actId="20577"/>
        <pc:sldMkLst>
          <pc:docMk/>
          <pc:sldMk cId="3440104631" sldId="261"/>
        </pc:sldMkLst>
        <pc:spChg chg="mod">
          <ac:chgData name="Tea Boon Chian" userId="ab84e6a5-2079-4f96-af03-c8dde00dcc75" providerId="ADAL" clId="{9D557A76-7C47-48FB-87BA-6F97A581C0A1}" dt="2023-10-26T12:19:01.353" v="1719" actId="20577"/>
          <ac:spMkLst>
            <pc:docMk/>
            <pc:sldMk cId="3440104631" sldId="261"/>
            <ac:spMk id="3" creationId="{9D14A154-261B-C449-2DDE-7ED60759E1EF}"/>
          </ac:spMkLst>
        </pc:spChg>
      </pc:sldChg>
      <pc:sldChg chg="add">
        <pc:chgData name="Tea Boon Chian" userId="ab84e6a5-2079-4f96-af03-c8dde00dcc75" providerId="ADAL" clId="{9D557A76-7C47-48FB-87BA-6F97A581C0A1}" dt="2024-02-15T23:46:15.219" v="1926"/>
        <pc:sldMkLst>
          <pc:docMk/>
          <pc:sldMk cId="3657483800" sldId="275"/>
        </pc:sldMkLst>
      </pc:sldChg>
      <pc:sldChg chg="modSp mod">
        <pc:chgData name="Tea Boon Chian" userId="ab84e6a5-2079-4f96-af03-c8dde00dcc75" providerId="ADAL" clId="{9D557A76-7C47-48FB-87BA-6F97A581C0A1}" dt="2023-10-27T11:51:01.549" v="1840" actId="20577"/>
        <pc:sldMkLst>
          <pc:docMk/>
          <pc:sldMk cId="3191407405" sldId="280"/>
        </pc:sldMkLst>
        <pc:spChg chg="mod">
          <ac:chgData name="Tea Boon Chian" userId="ab84e6a5-2079-4f96-af03-c8dde00dcc75" providerId="ADAL" clId="{9D557A76-7C47-48FB-87BA-6F97A581C0A1}" dt="2023-10-27T11:51:01.549" v="1840" actId="20577"/>
          <ac:spMkLst>
            <pc:docMk/>
            <pc:sldMk cId="3191407405" sldId="280"/>
            <ac:spMk id="3" creationId="{9D14A154-261B-C449-2DDE-7ED60759E1EF}"/>
          </ac:spMkLst>
        </pc:spChg>
      </pc:sldChg>
      <pc:sldChg chg="modSp mod">
        <pc:chgData name="Tea Boon Chian" userId="ab84e6a5-2079-4f96-af03-c8dde00dcc75" providerId="ADAL" clId="{9D557A76-7C47-48FB-87BA-6F97A581C0A1}" dt="2023-10-17T03:37:55.531" v="110" actId="20577"/>
        <pc:sldMkLst>
          <pc:docMk/>
          <pc:sldMk cId="2589212291" sldId="295"/>
        </pc:sldMkLst>
        <pc:spChg chg="mod">
          <ac:chgData name="Tea Boon Chian" userId="ab84e6a5-2079-4f96-af03-c8dde00dcc75" providerId="ADAL" clId="{9D557A76-7C47-48FB-87BA-6F97A581C0A1}" dt="2023-10-17T03:33:46.200" v="4" actId="20577"/>
          <ac:spMkLst>
            <pc:docMk/>
            <pc:sldMk cId="2589212291" sldId="295"/>
            <ac:spMk id="2" creationId="{28ED6484-F9BC-3630-6C5E-5D0F991C4C8F}"/>
          </ac:spMkLst>
        </pc:spChg>
        <pc:spChg chg="mod">
          <ac:chgData name="Tea Boon Chian" userId="ab84e6a5-2079-4f96-af03-c8dde00dcc75" providerId="ADAL" clId="{9D557A76-7C47-48FB-87BA-6F97A581C0A1}" dt="2023-10-17T03:37:55.531" v="110" actId="20577"/>
          <ac:spMkLst>
            <pc:docMk/>
            <pc:sldMk cId="2589212291" sldId="295"/>
            <ac:spMk id="3" creationId="{9D14A154-261B-C449-2DDE-7ED60759E1EF}"/>
          </ac:spMkLst>
        </pc:spChg>
      </pc:sldChg>
      <pc:sldChg chg="modSp mod">
        <pc:chgData name="Tea Boon Chian" userId="ab84e6a5-2079-4f96-af03-c8dde00dcc75" providerId="ADAL" clId="{9D557A76-7C47-48FB-87BA-6F97A581C0A1}" dt="2023-10-17T03:38:11.081" v="112" actId="113"/>
        <pc:sldMkLst>
          <pc:docMk/>
          <pc:sldMk cId="1450369769" sldId="296"/>
        </pc:sldMkLst>
        <pc:spChg chg="mod">
          <ac:chgData name="Tea Boon Chian" userId="ab84e6a5-2079-4f96-af03-c8dde00dcc75" providerId="ADAL" clId="{9D557A76-7C47-48FB-87BA-6F97A581C0A1}" dt="2023-10-17T03:35:49.697" v="53"/>
          <ac:spMkLst>
            <pc:docMk/>
            <pc:sldMk cId="1450369769" sldId="296"/>
            <ac:spMk id="2" creationId="{28ED6484-F9BC-3630-6C5E-5D0F991C4C8F}"/>
          </ac:spMkLst>
        </pc:spChg>
        <pc:spChg chg="mod">
          <ac:chgData name="Tea Boon Chian" userId="ab84e6a5-2079-4f96-af03-c8dde00dcc75" providerId="ADAL" clId="{9D557A76-7C47-48FB-87BA-6F97A581C0A1}" dt="2023-10-17T03:38:11.081" v="112" actId="113"/>
          <ac:spMkLst>
            <pc:docMk/>
            <pc:sldMk cId="1450369769" sldId="296"/>
            <ac:spMk id="3" creationId="{9D14A154-261B-C449-2DDE-7ED60759E1EF}"/>
          </ac:spMkLst>
        </pc:spChg>
      </pc:sldChg>
      <pc:sldChg chg="addSp modSp mod">
        <pc:chgData name="Tea Boon Chian" userId="ab84e6a5-2079-4f96-af03-c8dde00dcc75" providerId="ADAL" clId="{9D557A76-7C47-48FB-87BA-6F97A581C0A1}" dt="2023-10-17T03:51:25.769" v="227" actId="1076"/>
        <pc:sldMkLst>
          <pc:docMk/>
          <pc:sldMk cId="3254039636" sldId="297"/>
        </pc:sldMkLst>
        <pc:spChg chg="mod">
          <ac:chgData name="Tea Boon Chian" userId="ab84e6a5-2079-4f96-af03-c8dde00dcc75" providerId="ADAL" clId="{9D557A76-7C47-48FB-87BA-6F97A581C0A1}" dt="2023-10-17T03:41:11.424" v="129" actId="20577"/>
          <ac:spMkLst>
            <pc:docMk/>
            <pc:sldMk cId="3254039636" sldId="297"/>
            <ac:spMk id="2" creationId="{28ED6484-F9BC-3630-6C5E-5D0F991C4C8F}"/>
          </ac:spMkLst>
        </pc:spChg>
        <pc:spChg chg="mod">
          <ac:chgData name="Tea Boon Chian" userId="ab84e6a5-2079-4f96-af03-c8dde00dcc75" providerId="ADAL" clId="{9D557A76-7C47-48FB-87BA-6F97A581C0A1}" dt="2023-10-17T03:41:37.749" v="221" actId="20577"/>
          <ac:spMkLst>
            <pc:docMk/>
            <pc:sldMk cId="3254039636" sldId="297"/>
            <ac:spMk id="3" creationId="{9D14A154-261B-C449-2DDE-7ED60759E1EF}"/>
          </ac:spMkLst>
        </pc:spChg>
        <pc:picChg chg="add mod">
          <ac:chgData name="Tea Boon Chian" userId="ab84e6a5-2079-4f96-af03-c8dde00dcc75" providerId="ADAL" clId="{9D557A76-7C47-48FB-87BA-6F97A581C0A1}" dt="2023-10-17T03:51:25.769" v="227" actId="1076"/>
          <ac:picMkLst>
            <pc:docMk/>
            <pc:sldMk cId="3254039636" sldId="297"/>
            <ac:picMk id="4" creationId="{8020E6A1-B720-2A73-CEA7-A81BC52E554B}"/>
          </ac:picMkLst>
        </pc:picChg>
      </pc:sldChg>
      <pc:sldChg chg="addSp delSp modSp mod">
        <pc:chgData name="Tea Boon Chian" userId="ab84e6a5-2079-4f96-af03-c8dde00dcc75" providerId="ADAL" clId="{9D557A76-7C47-48FB-87BA-6F97A581C0A1}" dt="2023-10-17T04:04:37.098" v="970" actId="20577"/>
        <pc:sldMkLst>
          <pc:docMk/>
          <pc:sldMk cId="845962273" sldId="298"/>
        </pc:sldMkLst>
        <pc:spChg chg="mod">
          <ac:chgData name="Tea Boon Chian" userId="ab84e6a5-2079-4f96-af03-c8dde00dcc75" providerId="ADAL" clId="{9D557A76-7C47-48FB-87BA-6F97A581C0A1}" dt="2023-10-17T04:01:09.442" v="708" actId="20577"/>
          <ac:spMkLst>
            <pc:docMk/>
            <pc:sldMk cId="845962273" sldId="298"/>
            <ac:spMk id="2" creationId="{28ED6484-F9BC-3630-6C5E-5D0F991C4C8F}"/>
          </ac:spMkLst>
        </pc:spChg>
        <pc:spChg chg="mod">
          <ac:chgData name="Tea Boon Chian" userId="ab84e6a5-2079-4f96-af03-c8dde00dcc75" providerId="ADAL" clId="{9D557A76-7C47-48FB-87BA-6F97A581C0A1}" dt="2023-10-17T04:04:37.098" v="970" actId="20577"/>
          <ac:spMkLst>
            <pc:docMk/>
            <pc:sldMk cId="845962273" sldId="298"/>
            <ac:spMk id="3" creationId="{9D14A154-261B-C449-2DDE-7ED60759E1EF}"/>
          </ac:spMkLst>
        </pc:spChg>
        <pc:picChg chg="add del mod">
          <ac:chgData name="Tea Boon Chian" userId="ab84e6a5-2079-4f96-af03-c8dde00dcc75" providerId="ADAL" clId="{9D557A76-7C47-48FB-87BA-6F97A581C0A1}" dt="2023-10-17T03:56:59.677" v="351" actId="21"/>
          <ac:picMkLst>
            <pc:docMk/>
            <pc:sldMk cId="845962273" sldId="298"/>
            <ac:picMk id="4" creationId="{04618684-CDA5-1BF0-5C3C-41F4B89AD268}"/>
          </ac:picMkLst>
        </pc:picChg>
      </pc:sldChg>
      <pc:sldChg chg="addSp delSp modSp mod">
        <pc:chgData name="Tea Boon Chian" userId="ab84e6a5-2079-4f96-af03-c8dde00dcc75" providerId="ADAL" clId="{9D557A76-7C47-48FB-87BA-6F97A581C0A1}" dt="2023-10-17T03:57:08.967" v="355" actId="1076"/>
        <pc:sldMkLst>
          <pc:docMk/>
          <pc:sldMk cId="3532232951" sldId="299"/>
        </pc:sldMkLst>
        <pc:spChg chg="del mod">
          <ac:chgData name="Tea Boon Chian" userId="ab84e6a5-2079-4f96-af03-c8dde00dcc75" providerId="ADAL" clId="{9D557A76-7C47-48FB-87BA-6F97A581C0A1}" dt="2023-10-17T03:56:55.391" v="349" actId="478"/>
          <ac:spMkLst>
            <pc:docMk/>
            <pc:sldMk cId="3532232951" sldId="299"/>
            <ac:spMk id="2" creationId="{28ED6484-F9BC-3630-6C5E-5D0F991C4C8F}"/>
          </ac:spMkLst>
        </pc:spChg>
        <pc:spChg chg="del">
          <ac:chgData name="Tea Boon Chian" userId="ab84e6a5-2079-4f96-af03-c8dde00dcc75" providerId="ADAL" clId="{9D557A76-7C47-48FB-87BA-6F97A581C0A1}" dt="2023-10-17T03:56:58.088" v="350" actId="478"/>
          <ac:spMkLst>
            <pc:docMk/>
            <pc:sldMk cId="3532232951" sldId="299"/>
            <ac:spMk id="3" creationId="{9D14A154-261B-C449-2DDE-7ED60759E1EF}"/>
          </ac:spMkLst>
        </pc:spChg>
        <pc:picChg chg="add mod">
          <ac:chgData name="Tea Boon Chian" userId="ab84e6a5-2079-4f96-af03-c8dde00dcc75" providerId="ADAL" clId="{9D557A76-7C47-48FB-87BA-6F97A581C0A1}" dt="2023-10-17T03:57:08.967" v="355" actId="1076"/>
          <ac:picMkLst>
            <pc:docMk/>
            <pc:sldMk cId="3532232951" sldId="299"/>
            <ac:picMk id="4" creationId="{E3C568B8-041F-1EDC-29D9-21580DFC02C6}"/>
          </ac:picMkLst>
        </pc:picChg>
      </pc:sldChg>
      <pc:sldChg chg="modSp mod">
        <pc:chgData name="Tea Boon Chian" userId="ab84e6a5-2079-4f96-af03-c8dde00dcc75" providerId="ADAL" clId="{9D557A76-7C47-48FB-87BA-6F97A581C0A1}" dt="2023-10-17T04:05:55.641" v="1005" actId="207"/>
        <pc:sldMkLst>
          <pc:docMk/>
          <pc:sldMk cId="589055399" sldId="300"/>
        </pc:sldMkLst>
        <pc:spChg chg="mod">
          <ac:chgData name="Tea Boon Chian" userId="ab84e6a5-2079-4f96-af03-c8dde00dcc75" providerId="ADAL" clId="{9D557A76-7C47-48FB-87BA-6F97A581C0A1}" dt="2023-10-17T04:01:11.866" v="710"/>
          <ac:spMkLst>
            <pc:docMk/>
            <pc:sldMk cId="589055399" sldId="300"/>
            <ac:spMk id="2" creationId="{28ED6484-F9BC-3630-6C5E-5D0F991C4C8F}"/>
          </ac:spMkLst>
        </pc:spChg>
        <pc:spChg chg="mod">
          <ac:chgData name="Tea Boon Chian" userId="ab84e6a5-2079-4f96-af03-c8dde00dcc75" providerId="ADAL" clId="{9D557A76-7C47-48FB-87BA-6F97A581C0A1}" dt="2023-10-17T04:05:55.641" v="1005" actId="207"/>
          <ac:spMkLst>
            <pc:docMk/>
            <pc:sldMk cId="589055399" sldId="300"/>
            <ac:spMk id="3" creationId="{9D14A154-261B-C449-2DDE-7ED60759E1EF}"/>
          </ac:spMkLst>
        </pc:spChg>
      </pc:sldChg>
      <pc:sldChg chg="modSp mod">
        <pc:chgData name="Tea Boon Chian" userId="ab84e6a5-2079-4f96-af03-c8dde00dcc75" providerId="ADAL" clId="{9D557A76-7C47-48FB-87BA-6F97A581C0A1}" dt="2023-10-17T04:19:20.473" v="1400" actId="207"/>
        <pc:sldMkLst>
          <pc:docMk/>
          <pc:sldMk cId="3437897024" sldId="301"/>
        </pc:sldMkLst>
        <pc:spChg chg="mod">
          <ac:chgData name="Tea Boon Chian" userId="ab84e6a5-2079-4f96-af03-c8dde00dcc75" providerId="ADAL" clId="{9D557A76-7C47-48FB-87BA-6F97A581C0A1}" dt="2023-10-17T04:19:20.473" v="1400" actId="207"/>
          <ac:spMkLst>
            <pc:docMk/>
            <pc:sldMk cId="3437897024" sldId="301"/>
            <ac:spMk id="2" creationId="{28ED6484-F9BC-3630-6C5E-5D0F991C4C8F}"/>
          </ac:spMkLst>
        </pc:spChg>
        <pc:spChg chg="mod">
          <ac:chgData name="Tea Boon Chian" userId="ab84e6a5-2079-4f96-af03-c8dde00dcc75" providerId="ADAL" clId="{9D557A76-7C47-48FB-87BA-6F97A581C0A1}" dt="2023-10-17T04:12:33.891" v="1192" actId="113"/>
          <ac:spMkLst>
            <pc:docMk/>
            <pc:sldMk cId="3437897024" sldId="301"/>
            <ac:spMk id="3" creationId="{9D14A154-261B-C449-2DDE-7ED60759E1EF}"/>
          </ac:spMkLst>
        </pc:spChg>
      </pc:sldChg>
      <pc:sldChg chg="addSp delSp modSp mod">
        <pc:chgData name="Tea Boon Chian" userId="ab84e6a5-2079-4f96-af03-c8dde00dcc75" providerId="ADAL" clId="{9D557A76-7C47-48FB-87BA-6F97A581C0A1}" dt="2023-10-17T04:13:17.382" v="1200" actId="1076"/>
        <pc:sldMkLst>
          <pc:docMk/>
          <pc:sldMk cId="357566115" sldId="302"/>
        </pc:sldMkLst>
        <pc:spChg chg="del">
          <ac:chgData name="Tea Boon Chian" userId="ab84e6a5-2079-4f96-af03-c8dde00dcc75" providerId="ADAL" clId="{9D557A76-7C47-48FB-87BA-6F97A581C0A1}" dt="2023-10-17T04:12:39.437" v="1193" actId="478"/>
          <ac:spMkLst>
            <pc:docMk/>
            <pc:sldMk cId="357566115" sldId="302"/>
            <ac:spMk id="2" creationId="{28ED6484-F9BC-3630-6C5E-5D0F991C4C8F}"/>
          </ac:spMkLst>
        </pc:spChg>
        <pc:spChg chg="del">
          <ac:chgData name="Tea Boon Chian" userId="ab84e6a5-2079-4f96-af03-c8dde00dcc75" providerId="ADAL" clId="{9D557A76-7C47-48FB-87BA-6F97A581C0A1}" dt="2023-10-17T04:12:40.338" v="1194" actId="478"/>
          <ac:spMkLst>
            <pc:docMk/>
            <pc:sldMk cId="357566115" sldId="302"/>
            <ac:spMk id="3" creationId="{9D14A154-261B-C449-2DDE-7ED60759E1EF}"/>
          </ac:spMkLst>
        </pc:spChg>
        <pc:spChg chg="add mod">
          <ac:chgData name="Tea Boon Chian" userId="ab84e6a5-2079-4f96-af03-c8dde00dcc75" providerId="ADAL" clId="{9D557A76-7C47-48FB-87BA-6F97A581C0A1}" dt="2023-10-17T04:13:14.815" v="1199"/>
          <ac:spMkLst>
            <pc:docMk/>
            <pc:sldMk cId="357566115" sldId="302"/>
            <ac:spMk id="5" creationId="{A1A17599-4537-50AE-B814-DB013DCFA779}"/>
          </ac:spMkLst>
        </pc:spChg>
        <pc:picChg chg="add mod">
          <ac:chgData name="Tea Boon Chian" userId="ab84e6a5-2079-4f96-af03-c8dde00dcc75" providerId="ADAL" clId="{9D557A76-7C47-48FB-87BA-6F97A581C0A1}" dt="2023-10-17T04:13:17.382" v="1200" actId="1076"/>
          <ac:picMkLst>
            <pc:docMk/>
            <pc:sldMk cId="357566115" sldId="302"/>
            <ac:picMk id="4" creationId="{B3EC3D97-6E04-F053-F366-97AB5B1E53E4}"/>
          </ac:picMkLst>
        </pc:picChg>
      </pc:sldChg>
      <pc:sldChg chg="modSp mod">
        <pc:chgData name="Tea Boon Chian" userId="ab84e6a5-2079-4f96-af03-c8dde00dcc75" providerId="ADAL" clId="{9D557A76-7C47-48FB-87BA-6F97A581C0A1}" dt="2023-10-17T04:18:17.620" v="1340" actId="113"/>
        <pc:sldMkLst>
          <pc:docMk/>
          <pc:sldMk cId="3229957439" sldId="303"/>
        </pc:sldMkLst>
        <pc:spChg chg="mod">
          <ac:chgData name="Tea Boon Chian" userId="ab84e6a5-2079-4f96-af03-c8dde00dcc75" providerId="ADAL" clId="{9D557A76-7C47-48FB-87BA-6F97A581C0A1}" dt="2023-10-17T04:14:15.335" v="1210"/>
          <ac:spMkLst>
            <pc:docMk/>
            <pc:sldMk cId="3229957439" sldId="303"/>
            <ac:spMk id="2" creationId="{28ED6484-F9BC-3630-6C5E-5D0F991C4C8F}"/>
          </ac:spMkLst>
        </pc:spChg>
        <pc:spChg chg="mod">
          <ac:chgData name="Tea Boon Chian" userId="ab84e6a5-2079-4f96-af03-c8dde00dcc75" providerId="ADAL" clId="{9D557A76-7C47-48FB-87BA-6F97A581C0A1}" dt="2023-10-17T04:18:17.620" v="1340" actId="113"/>
          <ac:spMkLst>
            <pc:docMk/>
            <pc:sldMk cId="3229957439" sldId="303"/>
            <ac:spMk id="3" creationId="{9D14A154-261B-C449-2DDE-7ED60759E1EF}"/>
          </ac:spMkLst>
        </pc:spChg>
      </pc:sldChg>
      <pc:sldChg chg="addSp delSp modSp add mod">
        <pc:chgData name="Tea Boon Chian" userId="ab84e6a5-2079-4f96-af03-c8dde00dcc75" providerId="ADAL" clId="{9D557A76-7C47-48FB-87BA-6F97A581C0A1}" dt="2024-02-15T23:50:52.836" v="2007" actId="20577"/>
        <pc:sldMkLst>
          <pc:docMk/>
          <pc:sldMk cId="2445283004" sldId="308"/>
        </pc:sldMkLst>
        <pc:spChg chg="add del mod">
          <ac:chgData name="Tea Boon Chian" userId="ab84e6a5-2079-4f96-af03-c8dde00dcc75" providerId="ADAL" clId="{9D557A76-7C47-48FB-87BA-6F97A581C0A1}" dt="2024-02-15T23:50:52.836" v="2007" actId="20577"/>
          <ac:spMkLst>
            <pc:docMk/>
            <pc:sldMk cId="2445283004" sldId="308"/>
            <ac:spMk id="2" creationId="{28ED6484-F9BC-3630-6C5E-5D0F991C4C8F}"/>
          </ac:spMkLst>
        </pc:spChg>
        <pc:spChg chg="mod">
          <ac:chgData name="Tea Boon Chian" userId="ab84e6a5-2079-4f96-af03-c8dde00dcc75" providerId="ADAL" clId="{9D557A76-7C47-48FB-87BA-6F97A581C0A1}" dt="2023-10-17T04:23:46.580" v="1480" actId="113"/>
          <ac:spMkLst>
            <pc:docMk/>
            <pc:sldMk cId="2445283004" sldId="308"/>
            <ac:spMk id="3" creationId="{9D14A154-261B-C449-2DDE-7ED60759E1EF}"/>
          </ac:spMkLst>
        </pc:spChg>
      </pc:sldChg>
      <pc:sldChg chg="delSp modSp add del mod">
        <pc:chgData name="Tea Boon Chian" userId="ab84e6a5-2079-4f96-af03-c8dde00dcc75" providerId="ADAL" clId="{9D557A76-7C47-48FB-87BA-6F97A581C0A1}" dt="2023-10-17T04:24:51.884" v="1539" actId="20577"/>
        <pc:sldMkLst>
          <pc:docMk/>
          <pc:sldMk cId="3192847958" sldId="309"/>
        </pc:sldMkLst>
        <pc:spChg chg="del">
          <ac:chgData name="Tea Boon Chian" userId="ab84e6a5-2079-4f96-af03-c8dde00dcc75" providerId="ADAL" clId="{9D557A76-7C47-48FB-87BA-6F97A581C0A1}" dt="2023-10-17T04:23:57.018" v="1481" actId="478"/>
          <ac:spMkLst>
            <pc:docMk/>
            <pc:sldMk cId="3192847958" sldId="309"/>
            <ac:spMk id="2" creationId="{28ED6484-F9BC-3630-6C5E-5D0F991C4C8F}"/>
          </ac:spMkLst>
        </pc:spChg>
        <pc:spChg chg="mod">
          <ac:chgData name="Tea Boon Chian" userId="ab84e6a5-2079-4f96-af03-c8dde00dcc75" providerId="ADAL" clId="{9D557A76-7C47-48FB-87BA-6F97A581C0A1}" dt="2023-10-17T04:24:51.884" v="1539" actId="20577"/>
          <ac:spMkLst>
            <pc:docMk/>
            <pc:sldMk cId="3192847958" sldId="309"/>
            <ac:spMk id="3" creationId="{9D14A154-261B-C449-2DDE-7ED60759E1EF}"/>
          </ac:spMkLst>
        </pc:spChg>
      </pc:sldChg>
      <pc:sldChg chg="add del">
        <pc:chgData name="Tea Boon Chian" userId="ab84e6a5-2079-4f96-af03-c8dde00dcc75" providerId="ADAL" clId="{9D557A76-7C47-48FB-87BA-6F97A581C0A1}" dt="2023-10-17T04:18:25.269" v="1341" actId="47"/>
        <pc:sldMkLst>
          <pc:docMk/>
          <pc:sldMk cId="89920711" sldId="310"/>
        </pc:sldMkLst>
      </pc:sldChg>
      <pc:sldChg chg="addSp delSp modSp add mod">
        <pc:chgData name="Tea Boon Chian" userId="ab84e6a5-2079-4f96-af03-c8dde00dcc75" providerId="ADAL" clId="{9D557A76-7C47-48FB-87BA-6F97A581C0A1}" dt="2023-10-24T11:49:53.461" v="1577" actId="20577"/>
        <pc:sldMkLst>
          <pc:docMk/>
          <pc:sldMk cId="3735440313" sldId="310"/>
        </pc:sldMkLst>
        <pc:spChg chg="mod">
          <ac:chgData name="Tea Boon Chian" userId="ab84e6a5-2079-4f96-af03-c8dde00dcc75" providerId="ADAL" clId="{9D557A76-7C47-48FB-87BA-6F97A581C0A1}" dt="2023-10-24T11:49:53.461" v="1577" actId="20577"/>
          <ac:spMkLst>
            <pc:docMk/>
            <pc:sldMk cId="3735440313" sldId="310"/>
            <ac:spMk id="2" creationId="{28ED6484-F9BC-3630-6C5E-5D0F991C4C8F}"/>
          </ac:spMkLst>
        </pc:spChg>
        <pc:spChg chg="del">
          <ac:chgData name="Tea Boon Chian" userId="ab84e6a5-2079-4f96-af03-c8dde00dcc75" providerId="ADAL" clId="{9D557A76-7C47-48FB-87BA-6F97A581C0A1}" dt="2023-10-24T11:49:16.686" v="1541" actId="478"/>
          <ac:spMkLst>
            <pc:docMk/>
            <pc:sldMk cId="3735440313" sldId="310"/>
            <ac:spMk id="3" creationId="{9D14A154-261B-C449-2DDE-7ED60759E1EF}"/>
          </ac:spMkLst>
        </pc:spChg>
        <pc:spChg chg="add del mod">
          <ac:chgData name="Tea Boon Chian" userId="ab84e6a5-2079-4f96-af03-c8dde00dcc75" providerId="ADAL" clId="{9D557A76-7C47-48FB-87BA-6F97A581C0A1}" dt="2023-10-24T11:49:17.978" v="1542" actId="478"/>
          <ac:spMkLst>
            <pc:docMk/>
            <pc:sldMk cId="3735440313" sldId="310"/>
            <ac:spMk id="5" creationId="{0B0204B3-D5EE-EDA7-D7AF-DF8C5FF30A1D}"/>
          </ac:spMkLst>
        </pc:spChg>
      </pc:sldChg>
      <pc:sldChg chg="modSp add mod">
        <pc:chgData name="Tea Boon Chian" userId="ab84e6a5-2079-4f96-af03-c8dde00dcc75" providerId="ADAL" clId="{9D557A76-7C47-48FB-87BA-6F97A581C0A1}" dt="2023-10-24T11:50:31.238" v="1596" actId="20577"/>
        <pc:sldMkLst>
          <pc:docMk/>
          <pc:sldMk cId="498412423" sldId="311"/>
        </pc:sldMkLst>
        <pc:spChg chg="mod">
          <ac:chgData name="Tea Boon Chian" userId="ab84e6a5-2079-4f96-af03-c8dde00dcc75" providerId="ADAL" clId="{9D557A76-7C47-48FB-87BA-6F97A581C0A1}" dt="2023-10-24T11:50:31.238" v="1596" actId="20577"/>
          <ac:spMkLst>
            <pc:docMk/>
            <pc:sldMk cId="498412423" sldId="311"/>
            <ac:spMk id="2" creationId="{28ED6484-F9BC-3630-6C5E-5D0F991C4C8F}"/>
          </ac:spMkLst>
        </pc:spChg>
      </pc:sldChg>
      <pc:sldChg chg="modSp add mod">
        <pc:chgData name="Tea Boon Chian" userId="ab84e6a5-2079-4f96-af03-c8dde00dcc75" providerId="ADAL" clId="{9D557A76-7C47-48FB-87BA-6F97A581C0A1}" dt="2023-10-24T11:50:44.790" v="1611" actId="20577"/>
        <pc:sldMkLst>
          <pc:docMk/>
          <pc:sldMk cId="3794698763" sldId="312"/>
        </pc:sldMkLst>
        <pc:spChg chg="mod">
          <ac:chgData name="Tea Boon Chian" userId="ab84e6a5-2079-4f96-af03-c8dde00dcc75" providerId="ADAL" clId="{9D557A76-7C47-48FB-87BA-6F97A581C0A1}" dt="2023-10-24T11:50:44.790" v="1611" actId="20577"/>
          <ac:spMkLst>
            <pc:docMk/>
            <pc:sldMk cId="3794698763" sldId="312"/>
            <ac:spMk id="2" creationId="{28ED6484-F9BC-3630-6C5E-5D0F991C4C8F}"/>
          </ac:spMkLst>
        </pc:spChg>
      </pc:sldChg>
      <pc:sldChg chg="modSp add mod">
        <pc:chgData name="Tea Boon Chian" userId="ab84e6a5-2079-4f96-af03-c8dde00dcc75" providerId="ADAL" clId="{9D557A76-7C47-48FB-87BA-6F97A581C0A1}" dt="2023-10-24T11:51:05.689" v="1645" actId="20577"/>
        <pc:sldMkLst>
          <pc:docMk/>
          <pc:sldMk cId="4107441001" sldId="313"/>
        </pc:sldMkLst>
        <pc:spChg chg="mod">
          <ac:chgData name="Tea Boon Chian" userId="ab84e6a5-2079-4f96-af03-c8dde00dcc75" providerId="ADAL" clId="{9D557A76-7C47-48FB-87BA-6F97A581C0A1}" dt="2023-10-24T11:51:05.689" v="1645" actId="20577"/>
          <ac:spMkLst>
            <pc:docMk/>
            <pc:sldMk cId="4107441001" sldId="313"/>
            <ac:spMk id="2" creationId="{28ED6484-F9BC-3630-6C5E-5D0F991C4C8F}"/>
          </ac:spMkLst>
        </pc:spChg>
      </pc:sldChg>
      <pc:sldChg chg="modSp add mod">
        <pc:chgData name="Tea Boon Chian" userId="ab84e6a5-2079-4f96-af03-c8dde00dcc75" providerId="ADAL" clId="{9D557A76-7C47-48FB-87BA-6F97A581C0A1}" dt="2023-10-24T11:51:28.046" v="1676" actId="20577"/>
        <pc:sldMkLst>
          <pc:docMk/>
          <pc:sldMk cId="2385317189" sldId="314"/>
        </pc:sldMkLst>
        <pc:spChg chg="mod">
          <ac:chgData name="Tea Boon Chian" userId="ab84e6a5-2079-4f96-af03-c8dde00dcc75" providerId="ADAL" clId="{9D557A76-7C47-48FB-87BA-6F97A581C0A1}" dt="2023-10-24T11:51:28.046" v="1676" actId="20577"/>
          <ac:spMkLst>
            <pc:docMk/>
            <pc:sldMk cId="2385317189" sldId="314"/>
            <ac:spMk id="2" creationId="{28ED6484-F9BC-3630-6C5E-5D0F991C4C8F}"/>
          </ac:spMkLst>
        </pc:spChg>
      </pc:sldChg>
      <pc:sldChg chg="modSp add mod">
        <pc:chgData name="Tea Boon Chian" userId="ab84e6a5-2079-4f96-af03-c8dde00dcc75" providerId="ADAL" clId="{9D557A76-7C47-48FB-87BA-6F97A581C0A1}" dt="2024-02-15T23:45:30.281" v="1910" actId="20577"/>
        <pc:sldMkLst>
          <pc:docMk/>
          <pc:sldMk cId="768124794" sldId="315"/>
        </pc:sldMkLst>
        <pc:spChg chg="mod">
          <ac:chgData name="Tea Boon Chian" userId="ab84e6a5-2079-4f96-af03-c8dde00dcc75" providerId="ADAL" clId="{9D557A76-7C47-48FB-87BA-6F97A581C0A1}" dt="2024-02-15T23:45:30.281" v="1910" actId="20577"/>
          <ac:spMkLst>
            <pc:docMk/>
            <pc:sldMk cId="768124794" sldId="315"/>
            <ac:spMk id="2" creationId="{28ED6484-F9BC-3630-6C5E-5D0F991C4C8F}"/>
          </ac:spMkLst>
        </pc:spChg>
      </pc:sldChg>
      <pc:sldChg chg="addSp delSp add del setBg delDesignElem">
        <pc:chgData name="Tea Boon Chian" userId="ab84e6a5-2079-4f96-af03-c8dde00dcc75" providerId="ADAL" clId="{9D557A76-7C47-48FB-87BA-6F97A581C0A1}" dt="2023-10-27T10:48:53.058" v="1726"/>
        <pc:sldMkLst>
          <pc:docMk/>
          <pc:sldMk cId="2409702016" sldId="315"/>
        </pc:sldMkLst>
        <pc:spChg chg="add del">
          <ac:chgData name="Tea Boon Chian" userId="ab84e6a5-2079-4f96-af03-c8dde00dcc75" providerId="ADAL" clId="{9D557A76-7C47-48FB-87BA-6F97A581C0A1}" dt="2023-10-27T10:48:53.058" v="1726"/>
          <ac:spMkLst>
            <pc:docMk/>
            <pc:sldMk cId="2409702016" sldId="315"/>
            <ac:spMk id="1038" creationId="{68CA250C-CF5A-4736-9249-D6111F7C5545}"/>
          </ac:spMkLst>
        </pc:spChg>
        <pc:spChg chg="add del">
          <ac:chgData name="Tea Boon Chian" userId="ab84e6a5-2079-4f96-af03-c8dde00dcc75" providerId="ADAL" clId="{9D557A76-7C47-48FB-87BA-6F97A581C0A1}" dt="2023-10-27T10:48:53.058" v="1726"/>
          <ac:spMkLst>
            <pc:docMk/>
            <pc:sldMk cId="2409702016" sldId="315"/>
            <ac:spMk id="1040" creationId="{1A85303E-1D59-4477-A849-22C7FEACDCE7}"/>
          </ac:spMkLst>
        </pc:spChg>
      </pc:sldChg>
      <pc:sldChg chg="modSp add mod">
        <pc:chgData name="Tea Boon Chian" userId="ab84e6a5-2079-4f96-af03-c8dde00dcc75" providerId="ADAL" clId="{9D557A76-7C47-48FB-87BA-6F97A581C0A1}" dt="2024-02-15T23:45:58.221" v="1925" actId="20577"/>
        <pc:sldMkLst>
          <pc:docMk/>
          <pc:sldMk cId="2489912148" sldId="316"/>
        </pc:sldMkLst>
        <pc:spChg chg="mod">
          <ac:chgData name="Tea Boon Chian" userId="ab84e6a5-2079-4f96-af03-c8dde00dcc75" providerId="ADAL" clId="{9D557A76-7C47-48FB-87BA-6F97A581C0A1}" dt="2024-02-15T23:45:58.221" v="1925" actId="20577"/>
          <ac:spMkLst>
            <pc:docMk/>
            <pc:sldMk cId="2489912148" sldId="316"/>
            <ac:spMk id="2" creationId="{28ED6484-F9BC-3630-6C5E-5D0F991C4C8F}"/>
          </ac:spMkLst>
        </pc:spChg>
      </pc:sldChg>
      <pc:sldChg chg="add">
        <pc:chgData name="Tea Boon Chian" userId="ab84e6a5-2079-4f96-af03-c8dde00dcc75" providerId="ADAL" clId="{9D557A76-7C47-48FB-87BA-6F97A581C0A1}" dt="2024-02-15T23:46:15.219" v="1926"/>
        <pc:sldMkLst>
          <pc:docMk/>
          <pc:sldMk cId="2080495578" sldId="317"/>
        </pc:sldMkLst>
      </pc:sldChg>
      <pc:sldChg chg="modSp add mod">
        <pc:chgData name="Tea Boon Chian" userId="ab84e6a5-2079-4f96-af03-c8dde00dcc75" providerId="ADAL" clId="{9D557A76-7C47-48FB-87BA-6F97A581C0A1}" dt="2024-02-15T23:46:57.896" v="1953" actId="20577"/>
        <pc:sldMkLst>
          <pc:docMk/>
          <pc:sldMk cId="2000883897" sldId="318"/>
        </pc:sldMkLst>
        <pc:spChg chg="mod">
          <ac:chgData name="Tea Boon Chian" userId="ab84e6a5-2079-4f96-af03-c8dde00dcc75" providerId="ADAL" clId="{9D557A76-7C47-48FB-87BA-6F97A581C0A1}" dt="2024-02-15T23:46:57.896" v="1953" actId="20577"/>
          <ac:spMkLst>
            <pc:docMk/>
            <pc:sldMk cId="2000883897" sldId="318"/>
            <ac:spMk id="3" creationId="{202A8117-FDEF-0DE7-A393-9A8513B2DF09}"/>
          </ac:spMkLst>
        </pc:spChg>
      </pc:sldChg>
      <pc:sldChg chg="modSp add mod">
        <pc:chgData name="Tea Boon Chian" userId="ab84e6a5-2079-4f96-af03-c8dde00dcc75" providerId="ADAL" clId="{9D557A76-7C47-48FB-87BA-6F97A581C0A1}" dt="2024-02-15T23:47:53.023" v="1964" actId="207"/>
        <pc:sldMkLst>
          <pc:docMk/>
          <pc:sldMk cId="3292451222" sldId="319"/>
        </pc:sldMkLst>
        <pc:spChg chg="mod">
          <ac:chgData name="Tea Boon Chian" userId="ab84e6a5-2079-4f96-af03-c8dde00dcc75" providerId="ADAL" clId="{9D557A76-7C47-48FB-87BA-6F97A581C0A1}" dt="2024-02-15T23:47:53.023" v="1964" actId="207"/>
          <ac:spMkLst>
            <pc:docMk/>
            <pc:sldMk cId="3292451222" sldId="319"/>
            <ac:spMk id="2" creationId="{25B0A8DD-2BDB-9C31-B768-49869D8F07B4}"/>
          </ac:spMkLst>
        </pc:spChg>
      </pc:sldChg>
      <pc:sldChg chg="modSp add mod">
        <pc:chgData name="Tea Boon Chian" userId="ab84e6a5-2079-4f96-af03-c8dde00dcc75" providerId="ADAL" clId="{9D557A76-7C47-48FB-87BA-6F97A581C0A1}" dt="2024-02-15T23:48:10.618" v="1966" actId="113"/>
        <pc:sldMkLst>
          <pc:docMk/>
          <pc:sldMk cId="3151230520" sldId="320"/>
        </pc:sldMkLst>
        <pc:spChg chg="mod">
          <ac:chgData name="Tea Boon Chian" userId="ab84e6a5-2079-4f96-af03-c8dde00dcc75" providerId="ADAL" clId="{9D557A76-7C47-48FB-87BA-6F97A581C0A1}" dt="2024-02-15T23:48:10.618" v="1966" actId="113"/>
          <ac:spMkLst>
            <pc:docMk/>
            <pc:sldMk cId="3151230520" sldId="320"/>
            <ac:spMk id="2" creationId="{25B0A8DD-2BDB-9C31-B768-49869D8F07B4}"/>
          </ac:spMkLst>
        </pc:spChg>
      </pc:sldChg>
      <pc:sldChg chg="add">
        <pc:chgData name="Tea Boon Chian" userId="ab84e6a5-2079-4f96-af03-c8dde00dcc75" providerId="ADAL" clId="{9D557A76-7C47-48FB-87BA-6F97A581C0A1}" dt="2024-02-15T23:46:15.219" v="1926"/>
        <pc:sldMkLst>
          <pc:docMk/>
          <pc:sldMk cId="240992410" sldId="321"/>
        </pc:sldMkLst>
      </pc:sldChg>
      <pc:sldChg chg="add">
        <pc:chgData name="Tea Boon Chian" userId="ab84e6a5-2079-4f96-af03-c8dde00dcc75" providerId="ADAL" clId="{9D557A76-7C47-48FB-87BA-6F97A581C0A1}" dt="2024-02-15T23:46:15.219" v="1926"/>
        <pc:sldMkLst>
          <pc:docMk/>
          <pc:sldMk cId="2621048145" sldId="322"/>
        </pc:sldMkLst>
      </pc:sldChg>
      <pc:sldChg chg="modSp add mod">
        <pc:chgData name="Tea Boon Chian" userId="ab84e6a5-2079-4f96-af03-c8dde00dcc75" providerId="ADAL" clId="{9D557A76-7C47-48FB-87BA-6F97A581C0A1}" dt="2024-02-15T23:48:50.137" v="1975" actId="1076"/>
        <pc:sldMkLst>
          <pc:docMk/>
          <pc:sldMk cId="2772072730" sldId="323"/>
        </pc:sldMkLst>
        <pc:spChg chg="mod">
          <ac:chgData name="Tea Boon Chian" userId="ab84e6a5-2079-4f96-af03-c8dde00dcc75" providerId="ADAL" clId="{9D557A76-7C47-48FB-87BA-6F97A581C0A1}" dt="2024-02-15T23:48:22.477" v="1969" actId="207"/>
          <ac:spMkLst>
            <pc:docMk/>
            <pc:sldMk cId="2772072730" sldId="323"/>
            <ac:spMk id="2" creationId="{25B0A8DD-2BDB-9C31-B768-49869D8F07B4}"/>
          </ac:spMkLst>
        </pc:spChg>
        <pc:spChg chg="ord">
          <ac:chgData name="Tea Boon Chian" userId="ab84e6a5-2079-4f96-af03-c8dde00dcc75" providerId="ADAL" clId="{9D557A76-7C47-48FB-87BA-6F97A581C0A1}" dt="2024-02-15T23:48:36.493" v="1971" actId="167"/>
          <ac:spMkLst>
            <pc:docMk/>
            <pc:sldMk cId="2772072730" sldId="323"/>
            <ac:spMk id="3" creationId="{202A8117-FDEF-0DE7-A393-9A8513B2DF09}"/>
          </ac:spMkLst>
        </pc:spChg>
        <pc:spChg chg="mod ord">
          <ac:chgData name="Tea Boon Chian" userId="ab84e6a5-2079-4f96-af03-c8dde00dcc75" providerId="ADAL" clId="{9D557A76-7C47-48FB-87BA-6F97A581C0A1}" dt="2024-02-15T23:48:50.137" v="1975" actId="1076"/>
          <ac:spMkLst>
            <pc:docMk/>
            <pc:sldMk cId="2772072730" sldId="323"/>
            <ac:spMk id="4" creationId="{B675F57D-DC2E-166E-E751-F20EA7BF6594}"/>
          </ac:spMkLst>
        </pc:spChg>
      </pc:sldChg>
      <pc:sldChg chg="modSp add mod">
        <pc:chgData name="Tea Boon Chian" userId="ab84e6a5-2079-4f96-af03-c8dde00dcc75" providerId="ADAL" clId="{9D557A76-7C47-48FB-87BA-6F97A581C0A1}" dt="2024-02-15T23:48:57.107" v="1977"/>
        <pc:sldMkLst>
          <pc:docMk/>
          <pc:sldMk cId="1849571540" sldId="324"/>
        </pc:sldMkLst>
        <pc:spChg chg="mod">
          <ac:chgData name="Tea Boon Chian" userId="ab84e6a5-2079-4f96-af03-c8dde00dcc75" providerId="ADAL" clId="{9D557A76-7C47-48FB-87BA-6F97A581C0A1}" dt="2024-02-15T23:48:57.107" v="1977"/>
          <ac:spMkLst>
            <pc:docMk/>
            <pc:sldMk cId="1849571540" sldId="324"/>
            <ac:spMk id="2" creationId="{25B0A8DD-2BDB-9C31-B768-49869D8F07B4}"/>
          </ac:spMkLst>
        </pc:spChg>
      </pc:sldChg>
      <pc:sldChg chg="modSp add mod">
        <pc:chgData name="Tea Boon Chian" userId="ab84e6a5-2079-4f96-af03-c8dde00dcc75" providerId="ADAL" clId="{9D557A76-7C47-48FB-87BA-6F97A581C0A1}" dt="2024-02-15T23:49:09.142" v="1978" actId="207"/>
        <pc:sldMkLst>
          <pc:docMk/>
          <pc:sldMk cId="699845587" sldId="325"/>
        </pc:sldMkLst>
        <pc:spChg chg="mod">
          <ac:chgData name="Tea Boon Chian" userId="ab84e6a5-2079-4f96-af03-c8dde00dcc75" providerId="ADAL" clId="{9D557A76-7C47-48FB-87BA-6F97A581C0A1}" dt="2024-02-15T23:49:09.142" v="1978" actId="207"/>
          <ac:spMkLst>
            <pc:docMk/>
            <pc:sldMk cId="699845587" sldId="325"/>
            <ac:spMk id="2" creationId="{25B0A8DD-2BDB-9C31-B768-49869D8F07B4}"/>
          </ac:spMkLst>
        </pc:spChg>
      </pc:sldChg>
      <pc:sldChg chg="add">
        <pc:chgData name="Tea Boon Chian" userId="ab84e6a5-2079-4f96-af03-c8dde00dcc75" providerId="ADAL" clId="{9D557A76-7C47-48FB-87BA-6F97A581C0A1}" dt="2024-02-15T23:46:15.219" v="1926"/>
        <pc:sldMkLst>
          <pc:docMk/>
          <pc:sldMk cId="667387020" sldId="326"/>
        </pc:sldMkLst>
      </pc:sldChg>
      <pc:sldChg chg="add">
        <pc:chgData name="Tea Boon Chian" userId="ab84e6a5-2079-4f96-af03-c8dde00dcc75" providerId="ADAL" clId="{9D557A76-7C47-48FB-87BA-6F97A581C0A1}" dt="2024-02-15T23:46:15.219" v="1926"/>
        <pc:sldMkLst>
          <pc:docMk/>
          <pc:sldMk cId="801291291" sldId="327"/>
        </pc:sldMkLst>
      </pc:sldChg>
      <pc:sldChg chg="modSp add mod">
        <pc:chgData name="Tea Boon Chian" userId="ab84e6a5-2079-4f96-af03-c8dde00dcc75" providerId="ADAL" clId="{9D557A76-7C47-48FB-87BA-6F97A581C0A1}" dt="2024-02-15T23:49:36.036" v="1984" actId="207"/>
        <pc:sldMkLst>
          <pc:docMk/>
          <pc:sldMk cId="2142594862" sldId="328"/>
        </pc:sldMkLst>
        <pc:spChg chg="mod">
          <ac:chgData name="Tea Boon Chian" userId="ab84e6a5-2079-4f96-af03-c8dde00dcc75" providerId="ADAL" clId="{9D557A76-7C47-48FB-87BA-6F97A581C0A1}" dt="2024-02-15T23:49:36.036" v="1984" actId="207"/>
          <ac:spMkLst>
            <pc:docMk/>
            <pc:sldMk cId="2142594862" sldId="328"/>
            <ac:spMk id="2" creationId="{25B0A8DD-2BDB-9C31-B768-49869D8F07B4}"/>
          </ac:spMkLst>
        </pc:spChg>
      </pc:sldChg>
      <pc:sldChg chg="add">
        <pc:chgData name="Tea Boon Chian" userId="ab84e6a5-2079-4f96-af03-c8dde00dcc75" providerId="ADAL" clId="{9D557A76-7C47-48FB-87BA-6F97A581C0A1}" dt="2024-02-15T23:46:15.219" v="1926"/>
        <pc:sldMkLst>
          <pc:docMk/>
          <pc:sldMk cId="699215758" sldId="329"/>
        </pc:sldMkLst>
      </pc:sldChg>
      <pc:sldChg chg="add">
        <pc:chgData name="Tea Boon Chian" userId="ab84e6a5-2079-4f96-af03-c8dde00dcc75" providerId="ADAL" clId="{9D557A76-7C47-48FB-87BA-6F97A581C0A1}" dt="2024-02-15T23:46:15.219" v="1926"/>
        <pc:sldMkLst>
          <pc:docMk/>
          <pc:sldMk cId="2954672749" sldId="330"/>
        </pc:sldMkLst>
      </pc:sldChg>
      <pc:sldChg chg="add">
        <pc:chgData name="Tea Boon Chian" userId="ab84e6a5-2079-4f96-af03-c8dde00dcc75" providerId="ADAL" clId="{9D557A76-7C47-48FB-87BA-6F97A581C0A1}" dt="2024-02-15T23:46:15.219" v="1926"/>
        <pc:sldMkLst>
          <pc:docMk/>
          <pc:sldMk cId="940269244" sldId="331"/>
        </pc:sldMkLst>
      </pc:sldChg>
      <pc:sldChg chg="add">
        <pc:chgData name="Tea Boon Chian" userId="ab84e6a5-2079-4f96-af03-c8dde00dcc75" providerId="ADAL" clId="{9D557A76-7C47-48FB-87BA-6F97A581C0A1}" dt="2024-02-15T23:46:15.219" v="1926"/>
        <pc:sldMkLst>
          <pc:docMk/>
          <pc:sldMk cId="3962596776" sldId="332"/>
        </pc:sldMkLst>
      </pc:sldChg>
      <pc:sldChg chg="add">
        <pc:chgData name="Tea Boon Chian" userId="ab84e6a5-2079-4f96-af03-c8dde00dcc75" providerId="ADAL" clId="{9D557A76-7C47-48FB-87BA-6F97A581C0A1}" dt="2024-02-15T23:46:15.219" v="1926"/>
        <pc:sldMkLst>
          <pc:docMk/>
          <pc:sldMk cId="1729575780" sldId="333"/>
        </pc:sldMkLst>
      </pc:sldChg>
      <pc:sldChg chg="modSp add mod">
        <pc:chgData name="Tea Boon Chian" userId="ab84e6a5-2079-4f96-af03-c8dde00dcc75" providerId="ADAL" clId="{9D557A76-7C47-48FB-87BA-6F97A581C0A1}" dt="2024-02-15T23:49:51.402" v="1989" actId="207"/>
        <pc:sldMkLst>
          <pc:docMk/>
          <pc:sldMk cId="2047122900" sldId="334"/>
        </pc:sldMkLst>
        <pc:spChg chg="mod">
          <ac:chgData name="Tea Boon Chian" userId="ab84e6a5-2079-4f96-af03-c8dde00dcc75" providerId="ADAL" clId="{9D557A76-7C47-48FB-87BA-6F97A581C0A1}" dt="2024-02-15T23:49:51.402" v="1989" actId="207"/>
          <ac:spMkLst>
            <pc:docMk/>
            <pc:sldMk cId="2047122900" sldId="334"/>
            <ac:spMk id="2" creationId="{25B0A8DD-2BDB-9C31-B768-49869D8F07B4}"/>
          </ac:spMkLst>
        </pc:spChg>
      </pc:sldChg>
      <pc:sldChg chg="add">
        <pc:chgData name="Tea Boon Chian" userId="ab84e6a5-2079-4f96-af03-c8dde00dcc75" providerId="ADAL" clId="{9D557A76-7C47-48FB-87BA-6F97A581C0A1}" dt="2024-02-15T23:46:15.219" v="1926"/>
        <pc:sldMkLst>
          <pc:docMk/>
          <pc:sldMk cId="620386685" sldId="335"/>
        </pc:sldMkLst>
      </pc:sldChg>
      <pc:sldChg chg="add">
        <pc:chgData name="Tea Boon Chian" userId="ab84e6a5-2079-4f96-af03-c8dde00dcc75" providerId="ADAL" clId="{9D557A76-7C47-48FB-87BA-6F97A581C0A1}" dt="2024-02-15T23:46:15.219" v="1926"/>
        <pc:sldMkLst>
          <pc:docMk/>
          <pc:sldMk cId="1760004950" sldId="336"/>
        </pc:sldMkLst>
      </pc:sldChg>
      <pc:sldChg chg="add">
        <pc:chgData name="Tea Boon Chian" userId="ab84e6a5-2079-4f96-af03-c8dde00dcc75" providerId="ADAL" clId="{9D557A76-7C47-48FB-87BA-6F97A581C0A1}" dt="2024-02-15T23:46:15.219" v="1926"/>
        <pc:sldMkLst>
          <pc:docMk/>
          <pc:sldMk cId="1095335034" sldId="337"/>
        </pc:sldMkLst>
      </pc:sldChg>
      <pc:sldChg chg="add">
        <pc:chgData name="Tea Boon Chian" userId="ab84e6a5-2079-4f96-af03-c8dde00dcc75" providerId="ADAL" clId="{9D557A76-7C47-48FB-87BA-6F97A581C0A1}" dt="2024-02-15T23:46:15.219" v="1926"/>
        <pc:sldMkLst>
          <pc:docMk/>
          <pc:sldMk cId="2785589881" sldId="338"/>
        </pc:sldMkLst>
      </pc:sldChg>
      <pc:sldChg chg="modSp add mod">
        <pc:chgData name="Tea Boon Chian" userId="ab84e6a5-2079-4f96-af03-c8dde00dcc75" providerId="ADAL" clId="{9D557A76-7C47-48FB-87BA-6F97A581C0A1}" dt="2024-02-15T23:46:15.432" v="1927" actId="27636"/>
        <pc:sldMkLst>
          <pc:docMk/>
          <pc:sldMk cId="3184425249" sldId="339"/>
        </pc:sldMkLst>
        <pc:spChg chg="mod">
          <ac:chgData name="Tea Boon Chian" userId="ab84e6a5-2079-4f96-af03-c8dde00dcc75" providerId="ADAL" clId="{9D557A76-7C47-48FB-87BA-6F97A581C0A1}" dt="2024-02-15T23:46:15.432" v="1927" actId="27636"/>
          <ac:spMkLst>
            <pc:docMk/>
            <pc:sldMk cId="3184425249" sldId="339"/>
            <ac:spMk id="2" creationId="{25B0A8DD-2BDB-9C31-B768-49869D8F07B4}"/>
          </ac:spMkLst>
        </pc:spChg>
      </pc:sldChg>
      <pc:sldChg chg="add">
        <pc:chgData name="Tea Boon Chian" userId="ab84e6a5-2079-4f96-af03-c8dde00dcc75" providerId="ADAL" clId="{9D557A76-7C47-48FB-87BA-6F97A581C0A1}" dt="2024-02-15T23:46:15.219" v="1926"/>
        <pc:sldMkLst>
          <pc:docMk/>
          <pc:sldMk cId="719795331" sldId="340"/>
        </pc:sldMkLst>
      </pc:sldChg>
      <pc:sldChg chg="add">
        <pc:chgData name="Tea Boon Chian" userId="ab84e6a5-2079-4f96-af03-c8dde00dcc75" providerId="ADAL" clId="{9D557A76-7C47-48FB-87BA-6F97A581C0A1}" dt="2024-02-15T23:46:15.219" v="1926"/>
        <pc:sldMkLst>
          <pc:docMk/>
          <pc:sldMk cId="3163232888" sldId="341"/>
        </pc:sldMkLst>
      </pc:sldChg>
      <pc:sldChg chg="modSp add mod">
        <pc:chgData name="Tea Boon Chian" userId="ab84e6a5-2079-4f96-af03-c8dde00dcc75" providerId="ADAL" clId="{9D557A76-7C47-48FB-87BA-6F97A581C0A1}" dt="2024-02-15T23:50:07.979" v="1997" actId="20577"/>
        <pc:sldMkLst>
          <pc:docMk/>
          <pc:sldMk cId="109781698" sldId="342"/>
        </pc:sldMkLst>
        <pc:spChg chg="mod">
          <ac:chgData name="Tea Boon Chian" userId="ab84e6a5-2079-4f96-af03-c8dde00dcc75" providerId="ADAL" clId="{9D557A76-7C47-48FB-87BA-6F97A581C0A1}" dt="2024-02-15T23:50:07.979" v="1997" actId="20577"/>
          <ac:spMkLst>
            <pc:docMk/>
            <pc:sldMk cId="109781698" sldId="342"/>
            <ac:spMk id="2" creationId="{25B0A8DD-2BDB-9C31-B768-49869D8F07B4}"/>
          </ac:spMkLst>
        </pc:spChg>
      </pc:sldChg>
      <pc:sldChg chg="add">
        <pc:chgData name="Tea Boon Chian" userId="ab84e6a5-2079-4f96-af03-c8dde00dcc75" providerId="ADAL" clId="{9D557A76-7C47-48FB-87BA-6F97A581C0A1}" dt="2024-02-15T23:46:15.219" v="1926"/>
        <pc:sldMkLst>
          <pc:docMk/>
          <pc:sldMk cId="2025596255" sldId="343"/>
        </pc:sldMkLst>
      </pc:sldChg>
      <pc:sldChg chg="add">
        <pc:chgData name="Tea Boon Chian" userId="ab84e6a5-2079-4f96-af03-c8dde00dcc75" providerId="ADAL" clId="{9D557A76-7C47-48FB-87BA-6F97A581C0A1}" dt="2024-02-15T23:46:15.219" v="1926"/>
        <pc:sldMkLst>
          <pc:docMk/>
          <pc:sldMk cId="1512433233" sldId="344"/>
        </pc:sldMkLst>
      </pc:sldChg>
      <pc:sldChg chg="add">
        <pc:chgData name="Tea Boon Chian" userId="ab84e6a5-2079-4f96-af03-c8dde00dcc75" providerId="ADAL" clId="{9D557A76-7C47-48FB-87BA-6F97A581C0A1}" dt="2024-02-15T23:46:15.219" v="1926"/>
        <pc:sldMkLst>
          <pc:docMk/>
          <pc:sldMk cId="1507862975" sldId="345"/>
        </pc:sldMkLst>
      </pc:sldChg>
      <pc:sldChg chg="add">
        <pc:chgData name="Tea Boon Chian" userId="ab84e6a5-2079-4f96-af03-c8dde00dcc75" providerId="ADAL" clId="{9D557A76-7C47-48FB-87BA-6F97A581C0A1}" dt="2024-02-15T23:46:15.219" v="1926"/>
        <pc:sldMkLst>
          <pc:docMk/>
          <pc:sldMk cId="1239464463" sldId="346"/>
        </pc:sldMkLst>
      </pc:sldChg>
      <pc:sldChg chg="add">
        <pc:chgData name="Tea Boon Chian" userId="ab84e6a5-2079-4f96-af03-c8dde00dcc75" providerId="ADAL" clId="{9D557A76-7C47-48FB-87BA-6F97A581C0A1}" dt="2024-02-15T23:46:15.219" v="1926"/>
        <pc:sldMkLst>
          <pc:docMk/>
          <pc:sldMk cId="3367808629" sldId="347"/>
        </pc:sldMkLst>
      </pc:sldChg>
      <pc:sldChg chg="add">
        <pc:chgData name="Tea Boon Chian" userId="ab84e6a5-2079-4f96-af03-c8dde00dcc75" providerId="ADAL" clId="{9D557A76-7C47-48FB-87BA-6F97A581C0A1}" dt="2024-02-15T23:46:15.219" v="1926"/>
        <pc:sldMkLst>
          <pc:docMk/>
          <pc:sldMk cId="2812873552" sldId="348"/>
        </pc:sldMkLst>
      </pc:sldChg>
      <pc:sldChg chg="add">
        <pc:chgData name="Tea Boon Chian" userId="ab84e6a5-2079-4f96-af03-c8dde00dcc75" providerId="ADAL" clId="{9D557A76-7C47-48FB-87BA-6F97A581C0A1}" dt="2024-02-15T23:46:15.219" v="1926"/>
        <pc:sldMkLst>
          <pc:docMk/>
          <pc:sldMk cId="3050682385" sldId="349"/>
        </pc:sldMkLst>
      </pc:sldChg>
      <pc:sldChg chg="add">
        <pc:chgData name="Tea Boon Chian" userId="ab84e6a5-2079-4f96-af03-c8dde00dcc75" providerId="ADAL" clId="{9D557A76-7C47-48FB-87BA-6F97A581C0A1}" dt="2024-02-15T23:46:15.219" v="1926"/>
        <pc:sldMkLst>
          <pc:docMk/>
          <pc:sldMk cId="818920078" sldId="350"/>
        </pc:sldMkLst>
      </pc:sldChg>
      <pc:sldChg chg="add">
        <pc:chgData name="Tea Boon Chian" userId="ab84e6a5-2079-4f96-af03-c8dde00dcc75" providerId="ADAL" clId="{9D557A76-7C47-48FB-87BA-6F97A581C0A1}" dt="2024-02-15T23:46:15.219" v="1926"/>
        <pc:sldMkLst>
          <pc:docMk/>
          <pc:sldMk cId="96032679" sldId="351"/>
        </pc:sldMkLst>
      </pc:sldChg>
      <pc:sldChg chg="add">
        <pc:chgData name="Tea Boon Chian" userId="ab84e6a5-2079-4f96-af03-c8dde00dcc75" providerId="ADAL" clId="{9D557A76-7C47-48FB-87BA-6F97A581C0A1}" dt="2024-02-15T23:46:15.219" v="1926"/>
        <pc:sldMkLst>
          <pc:docMk/>
          <pc:sldMk cId="1304964005" sldId="352"/>
        </pc:sldMkLst>
      </pc:sldChg>
      <pc:sldChg chg="add">
        <pc:chgData name="Tea Boon Chian" userId="ab84e6a5-2079-4f96-af03-c8dde00dcc75" providerId="ADAL" clId="{9D557A76-7C47-48FB-87BA-6F97A581C0A1}" dt="2024-02-15T23:46:15.219" v="1926"/>
        <pc:sldMkLst>
          <pc:docMk/>
          <pc:sldMk cId="3574119089" sldId="353"/>
        </pc:sldMkLst>
      </pc:sldChg>
      <pc:sldChg chg="add">
        <pc:chgData name="Tea Boon Chian" userId="ab84e6a5-2079-4f96-af03-c8dde00dcc75" providerId="ADAL" clId="{9D557A76-7C47-48FB-87BA-6F97A581C0A1}" dt="2024-02-15T23:46:15.219" v="1926"/>
        <pc:sldMkLst>
          <pc:docMk/>
          <pc:sldMk cId="3124274097" sldId="354"/>
        </pc:sldMkLst>
      </pc:sldChg>
      <pc:sldChg chg="modSp add mod">
        <pc:chgData name="Tea Boon Chian" userId="ab84e6a5-2079-4f96-af03-c8dde00dcc75" providerId="ADAL" clId="{9D557A76-7C47-48FB-87BA-6F97A581C0A1}" dt="2024-02-15T23:50:43.775" v="2003" actId="207"/>
        <pc:sldMkLst>
          <pc:docMk/>
          <pc:sldMk cId="2999772193" sldId="355"/>
        </pc:sldMkLst>
        <pc:spChg chg="mod">
          <ac:chgData name="Tea Boon Chian" userId="ab84e6a5-2079-4f96-af03-c8dde00dcc75" providerId="ADAL" clId="{9D557A76-7C47-48FB-87BA-6F97A581C0A1}" dt="2024-02-15T23:50:43.775" v="2003" actId="207"/>
          <ac:spMkLst>
            <pc:docMk/>
            <pc:sldMk cId="2999772193" sldId="355"/>
            <ac:spMk id="2" creationId="{25B0A8DD-2BDB-9C31-B768-49869D8F07B4}"/>
          </ac:spMkLst>
        </pc:spChg>
      </pc:sldChg>
      <pc:sldChg chg="add">
        <pc:chgData name="Tea Boon Chian" userId="ab84e6a5-2079-4f96-af03-c8dde00dcc75" providerId="ADAL" clId="{9D557A76-7C47-48FB-87BA-6F97A581C0A1}" dt="2024-02-15T23:46:15.219" v="1926"/>
        <pc:sldMkLst>
          <pc:docMk/>
          <pc:sldMk cId="2610568632" sldId="356"/>
        </pc:sldMkLst>
      </pc:sldChg>
      <pc:sldChg chg="add">
        <pc:chgData name="Tea Boon Chian" userId="ab84e6a5-2079-4f96-af03-c8dde00dcc75" providerId="ADAL" clId="{9D557A76-7C47-48FB-87BA-6F97A581C0A1}" dt="2024-02-15T23:46:15.219" v="1926"/>
        <pc:sldMkLst>
          <pc:docMk/>
          <pc:sldMk cId="3811232753" sldId="357"/>
        </pc:sldMkLst>
      </pc:sldChg>
      <pc:sldChg chg="add">
        <pc:chgData name="Tea Boon Chian" userId="ab84e6a5-2079-4f96-af03-c8dde00dcc75" providerId="ADAL" clId="{9D557A76-7C47-48FB-87BA-6F97A581C0A1}" dt="2024-02-15T23:46:15.219" v="1926"/>
        <pc:sldMkLst>
          <pc:docMk/>
          <pc:sldMk cId="273331406" sldId="358"/>
        </pc:sldMkLst>
      </pc:sldChg>
      <pc:sldChg chg="add">
        <pc:chgData name="Tea Boon Chian" userId="ab84e6a5-2079-4f96-af03-c8dde00dcc75" providerId="ADAL" clId="{9D557A76-7C47-48FB-87BA-6F97A581C0A1}" dt="2024-02-15T23:46:15.219" v="1926"/>
        <pc:sldMkLst>
          <pc:docMk/>
          <pc:sldMk cId="3202021867" sldId="359"/>
        </pc:sldMkLst>
      </pc:sldChg>
      <pc:sldChg chg="add">
        <pc:chgData name="Tea Boon Chian" userId="ab84e6a5-2079-4f96-af03-c8dde00dcc75" providerId="ADAL" clId="{9D557A76-7C47-48FB-87BA-6F97A581C0A1}" dt="2024-02-15T23:46:15.219" v="1926"/>
        <pc:sldMkLst>
          <pc:docMk/>
          <pc:sldMk cId="345883708" sldId="360"/>
        </pc:sldMkLst>
      </pc:sldChg>
      <pc:sldChg chg="add">
        <pc:chgData name="Tea Boon Chian" userId="ab84e6a5-2079-4f96-af03-c8dde00dcc75" providerId="ADAL" clId="{9D557A76-7C47-48FB-87BA-6F97A581C0A1}" dt="2024-02-15T23:46:15.219" v="1926"/>
        <pc:sldMkLst>
          <pc:docMk/>
          <pc:sldMk cId="93408218" sldId="3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3/26/2024</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47224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3/26/2024</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65617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3/26/2024</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05749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3/26/2024</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17612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3/26/2024</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65754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3/26/2024</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3180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3/26/2024</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1950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3/26/2024</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48886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3/26/2024</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92449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3/26/2024</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695921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3/26/2024</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50454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3/26/2024</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144142768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8" name="Background Fill">
            <a:extLst>
              <a:ext uri="{FF2B5EF4-FFF2-40B4-BE49-F238E27FC236}">
                <a16:creationId xmlns:a16="http://schemas.microsoft.com/office/drawing/2014/main" id="{68CA250C-CF5A-4736-9249-D6111F7C5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1A85303E-1D59-4477-A849-22C7FEACD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032120D1-7E07-DCB2-D6BC-7020E4F941C6}"/>
              </a:ext>
            </a:extLst>
          </p:cNvPr>
          <p:cNvSpPr>
            <a:spLocks noGrp="1"/>
          </p:cNvSpPr>
          <p:nvPr>
            <p:ph type="ctrTitle"/>
          </p:nvPr>
        </p:nvSpPr>
        <p:spPr>
          <a:xfrm>
            <a:off x="612648" y="557784"/>
            <a:ext cx="4339906" cy="2240529"/>
          </a:xfrm>
        </p:spPr>
        <p:txBody>
          <a:bodyPr>
            <a:normAutofit/>
          </a:bodyPr>
          <a:lstStyle/>
          <a:p>
            <a:r>
              <a:rPr lang="en-MY" sz="6000" b="1" dirty="0">
                <a:solidFill>
                  <a:srgbClr val="FFFFFF"/>
                </a:solidFill>
              </a:rPr>
              <a:t>Chapter 1</a:t>
            </a:r>
          </a:p>
        </p:txBody>
      </p:sp>
      <p:sp>
        <p:nvSpPr>
          <p:cNvPr id="3" name="Subtitle 2">
            <a:extLst>
              <a:ext uri="{FF2B5EF4-FFF2-40B4-BE49-F238E27FC236}">
                <a16:creationId xmlns:a16="http://schemas.microsoft.com/office/drawing/2014/main" id="{DC7DB128-8446-4431-39C3-183597C89BAE}"/>
              </a:ext>
            </a:extLst>
          </p:cNvPr>
          <p:cNvSpPr>
            <a:spLocks noGrp="1"/>
          </p:cNvSpPr>
          <p:nvPr>
            <p:ph type="subTitle" idx="1"/>
          </p:nvPr>
        </p:nvSpPr>
        <p:spPr>
          <a:xfrm>
            <a:off x="612647" y="3062796"/>
            <a:ext cx="4909263" cy="3079939"/>
          </a:xfrm>
        </p:spPr>
        <p:txBody>
          <a:bodyPr>
            <a:normAutofit/>
          </a:bodyPr>
          <a:lstStyle/>
          <a:p>
            <a:r>
              <a:rPr lang="en-MY" sz="4000" b="1" dirty="0">
                <a:solidFill>
                  <a:srgbClr val="FFFFFF"/>
                </a:solidFill>
              </a:rPr>
              <a:t>Introduction to Cryptography </a:t>
            </a:r>
          </a:p>
          <a:p>
            <a:r>
              <a:rPr lang="en-MY" sz="4000" b="1" dirty="0">
                <a:solidFill>
                  <a:srgbClr val="FFFFFF"/>
                </a:solidFill>
              </a:rPr>
              <a:t>and Data Security</a:t>
            </a:r>
          </a:p>
        </p:txBody>
      </p:sp>
      <p:pic>
        <p:nvPicPr>
          <p:cNvPr id="1026" name="Picture 2" descr="Data Security Background Images, HD Pictures and Wallpaper For Free  Download | Pngtree">
            <a:extLst>
              <a:ext uri="{FF2B5EF4-FFF2-40B4-BE49-F238E27FC236}">
                <a16:creationId xmlns:a16="http://schemas.microsoft.com/office/drawing/2014/main" id="{444C8C45-2863-5180-484C-C75B1BD3F9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203" r="25204" b="1"/>
          <a:stretch/>
        </p:blipFill>
        <p:spPr bwMode="auto">
          <a:xfrm>
            <a:off x="4955602" y="10"/>
            <a:ext cx="7236398" cy="6857990"/>
          </a:xfrm>
          <a:custGeom>
            <a:avLst/>
            <a:gdLst/>
            <a:ahLst/>
            <a:cxnLst/>
            <a:rect l="l" t="t" r="r" b="b"/>
            <a:pathLst>
              <a:path w="7726675" h="6858000">
                <a:moveTo>
                  <a:pt x="2975226" y="5978334"/>
                </a:moveTo>
                <a:cubicBezTo>
                  <a:pt x="3002582" y="5978928"/>
                  <a:pt x="3030286" y="5982273"/>
                  <a:pt x="3058007" y="5988576"/>
                </a:cubicBezTo>
                <a:cubicBezTo>
                  <a:pt x="3279778" y="6038998"/>
                  <a:pt x="3418684" y="6259656"/>
                  <a:pt x="3368261" y="6481427"/>
                </a:cubicBezTo>
                <a:cubicBezTo>
                  <a:pt x="3317839" y="6703198"/>
                  <a:pt x="3097182" y="6842104"/>
                  <a:pt x="2875410" y="6791681"/>
                </a:cubicBezTo>
                <a:cubicBezTo>
                  <a:pt x="2653640" y="6741259"/>
                  <a:pt x="2514734" y="6520601"/>
                  <a:pt x="2565157" y="6298830"/>
                </a:cubicBezTo>
                <a:cubicBezTo>
                  <a:pt x="2609276" y="6104780"/>
                  <a:pt x="2783732" y="5974174"/>
                  <a:pt x="2975226" y="5978334"/>
                </a:cubicBezTo>
                <a:close/>
                <a:moveTo>
                  <a:pt x="542891" y="1298362"/>
                </a:moveTo>
                <a:cubicBezTo>
                  <a:pt x="578216" y="1299129"/>
                  <a:pt x="613991" y="1303448"/>
                  <a:pt x="649789" y="1311587"/>
                </a:cubicBezTo>
                <a:cubicBezTo>
                  <a:pt x="936170" y="1376700"/>
                  <a:pt x="1115545" y="1661643"/>
                  <a:pt x="1050432" y="1948025"/>
                </a:cubicBezTo>
                <a:cubicBezTo>
                  <a:pt x="985319" y="2234407"/>
                  <a:pt x="700376" y="2413781"/>
                  <a:pt x="413995" y="2348669"/>
                </a:cubicBezTo>
                <a:cubicBezTo>
                  <a:pt x="127612" y="2283556"/>
                  <a:pt x="-51762" y="1998612"/>
                  <a:pt x="13351" y="1712231"/>
                </a:cubicBezTo>
                <a:cubicBezTo>
                  <a:pt x="70325" y="1461647"/>
                  <a:pt x="295606" y="1292990"/>
                  <a:pt x="542891" y="1298362"/>
                </a:cubicBezTo>
                <a:close/>
                <a:moveTo>
                  <a:pt x="362049" y="446831"/>
                </a:moveTo>
                <a:cubicBezTo>
                  <a:pt x="382746" y="447281"/>
                  <a:pt x="403706" y="449811"/>
                  <a:pt x="424679" y="454579"/>
                </a:cubicBezTo>
                <a:cubicBezTo>
                  <a:pt x="592463" y="492727"/>
                  <a:pt x="697554" y="659668"/>
                  <a:pt x="659405" y="827452"/>
                </a:cubicBezTo>
                <a:cubicBezTo>
                  <a:pt x="621257" y="995236"/>
                  <a:pt x="454318" y="1100327"/>
                  <a:pt x="286534" y="1062179"/>
                </a:cubicBezTo>
                <a:cubicBezTo>
                  <a:pt x="118749" y="1024031"/>
                  <a:pt x="13658" y="857091"/>
                  <a:pt x="51806" y="689306"/>
                </a:cubicBezTo>
                <a:cubicBezTo>
                  <a:pt x="85186" y="542495"/>
                  <a:pt x="217172" y="443684"/>
                  <a:pt x="362049" y="446831"/>
                </a:cubicBezTo>
                <a:close/>
                <a:moveTo>
                  <a:pt x="688320" y="0"/>
                </a:moveTo>
                <a:lnTo>
                  <a:pt x="5442022" y="0"/>
                </a:lnTo>
                <a:lnTo>
                  <a:pt x="7726675" y="0"/>
                </a:lnTo>
                <a:lnTo>
                  <a:pt x="7726675" y="988372"/>
                </a:lnTo>
                <a:lnTo>
                  <a:pt x="7726675" y="6858000"/>
                </a:lnTo>
                <a:lnTo>
                  <a:pt x="4265234" y="6858000"/>
                </a:lnTo>
                <a:lnTo>
                  <a:pt x="4167452" y="6648946"/>
                </a:lnTo>
                <a:cubicBezTo>
                  <a:pt x="4064668" y="6438534"/>
                  <a:pt x="3951418" y="6237194"/>
                  <a:pt x="3802376" y="6067515"/>
                </a:cubicBezTo>
                <a:cubicBezTo>
                  <a:pt x="3433898" y="5648543"/>
                  <a:pt x="2855445" y="5560200"/>
                  <a:pt x="2314714" y="5492960"/>
                </a:cubicBezTo>
                <a:cubicBezTo>
                  <a:pt x="1689319" y="5415368"/>
                  <a:pt x="1105502" y="5269445"/>
                  <a:pt x="626568" y="4822392"/>
                </a:cubicBezTo>
                <a:cubicBezTo>
                  <a:pt x="42544" y="4277286"/>
                  <a:pt x="59772" y="3691233"/>
                  <a:pt x="462831" y="3184007"/>
                </a:cubicBezTo>
                <a:cubicBezTo>
                  <a:pt x="688845" y="2899538"/>
                  <a:pt x="972083" y="2660548"/>
                  <a:pt x="1228189" y="2399566"/>
                </a:cubicBezTo>
                <a:cubicBezTo>
                  <a:pt x="1460698" y="2161897"/>
                  <a:pt x="1522193" y="1866062"/>
                  <a:pt x="1384674" y="1566341"/>
                </a:cubicBezTo>
                <a:cubicBezTo>
                  <a:pt x="1239184" y="1249484"/>
                  <a:pt x="1095206" y="930335"/>
                  <a:pt x="922279" y="628332"/>
                </a:cubicBezTo>
                <a:cubicBezTo>
                  <a:pt x="805583" y="424593"/>
                  <a:pt x="731712" y="225291"/>
                  <a:pt x="693729" y="3334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47789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4045-A1B3-E1EC-4411-B9F03A136DE9}"/>
              </a:ext>
            </a:extLst>
          </p:cNvPr>
          <p:cNvSpPr>
            <a:spLocks noGrp="1"/>
          </p:cNvSpPr>
          <p:nvPr>
            <p:ph type="title"/>
          </p:nvPr>
        </p:nvSpPr>
        <p:spPr/>
        <p:txBody>
          <a:bodyPr>
            <a:normAutofit/>
          </a:bodyPr>
          <a:lstStyle/>
          <a:p>
            <a:pPr algn="just"/>
            <a:r>
              <a:rPr lang="en-US" sz="3600" b="1" dirty="0">
                <a:solidFill>
                  <a:srgbClr val="FF0000"/>
                </a:solidFill>
                <a:latin typeface="Amasis MT Pro Black" panose="02040A04050005020304" pitchFamily="18" charset="0"/>
              </a:rPr>
              <a:t>So why are they important ?</a:t>
            </a:r>
            <a:endParaRPr lang="en-MY" sz="3600"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9F5790FC-620D-E0D5-1801-50AF776E971E}"/>
              </a:ext>
            </a:extLst>
          </p:cNvPr>
          <p:cNvSpPr>
            <a:spLocks noGrp="1"/>
          </p:cNvSpPr>
          <p:nvPr>
            <p:ph idx="1"/>
          </p:nvPr>
        </p:nvSpPr>
        <p:spPr/>
        <p:txBody>
          <a:bodyPr>
            <a:normAutofit/>
          </a:bodyPr>
          <a:lstStyle/>
          <a:p>
            <a:pPr algn="just">
              <a:buFont typeface="Wingdings" panose="05000000000000000000" pitchFamily="2" charset="2"/>
              <a:buChar char="Ø"/>
            </a:pPr>
            <a:r>
              <a:rPr lang="en-US" sz="2400" dirty="0"/>
              <a:t> </a:t>
            </a:r>
            <a:r>
              <a:rPr lang="en-US" sz="2400" b="0" i="0" dirty="0">
                <a:solidFill>
                  <a:srgbClr val="000000"/>
                </a:solidFill>
                <a:effectLst/>
              </a:rPr>
              <a:t>Organizations are legally obliged to protect customer and user data from being lost or stolen and ending up in the wrong hands.</a:t>
            </a:r>
          </a:p>
          <a:p>
            <a:pPr algn="just">
              <a:buFont typeface="Wingdings" panose="05000000000000000000" pitchFamily="2" charset="2"/>
              <a:buChar char="Ø"/>
            </a:pPr>
            <a:r>
              <a:rPr lang="en-US" sz="2400" dirty="0">
                <a:solidFill>
                  <a:srgbClr val="000000"/>
                </a:solidFill>
              </a:rPr>
              <a:t> It </a:t>
            </a:r>
            <a:r>
              <a:rPr lang="en-US" sz="2400" b="0" i="0" dirty="0">
                <a:solidFill>
                  <a:srgbClr val="000000"/>
                </a:solidFill>
                <a:effectLst/>
              </a:rPr>
              <a:t>is crucial to preventing the reputational risk that accompanies a data breach. A high-profile hack or loss of data can result in customers losing trust in an organization and taking their business to a competitor. </a:t>
            </a:r>
          </a:p>
          <a:p>
            <a:pPr algn="just">
              <a:buFont typeface="Wingdings" panose="05000000000000000000" pitchFamily="2" charset="2"/>
              <a:buChar char="Ø"/>
            </a:pPr>
            <a:r>
              <a:rPr lang="en-US" sz="2400" dirty="0">
                <a:solidFill>
                  <a:srgbClr val="000000"/>
                </a:solidFill>
              </a:rPr>
              <a:t> </a:t>
            </a:r>
            <a:r>
              <a:rPr lang="en-US" sz="2400" b="0" i="0" dirty="0">
                <a:solidFill>
                  <a:srgbClr val="000000"/>
                </a:solidFill>
                <a:effectLst/>
              </a:rPr>
              <a:t>This also runs the risk of serious financial losses, along with fines, legal payments, and damage repair in case sensitive data is lost. </a:t>
            </a:r>
            <a:r>
              <a:rPr lang="en-US" sz="2400" dirty="0">
                <a:solidFill>
                  <a:srgbClr val="000000"/>
                </a:solidFill>
              </a:rPr>
              <a:t>(Source: Fortinet)</a:t>
            </a:r>
            <a:endParaRPr lang="en-US" sz="2400" b="0" i="0" dirty="0">
              <a:solidFill>
                <a:srgbClr val="000000"/>
              </a:solidFill>
              <a:effectLst/>
            </a:endParaRPr>
          </a:p>
          <a:p>
            <a:pPr algn="just">
              <a:buFont typeface="Wingdings" panose="05000000000000000000" pitchFamily="2" charset="2"/>
              <a:buChar char="Ø"/>
            </a:pPr>
            <a:r>
              <a:rPr lang="en-US" sz="2400" b="0" i="0" dirty="0">
                <a:solidFill>
                  <a:srgbClr val="000000"/>
                </a:solidFill>
                <a:effectLst/>
              </a:rPr>
              <a:t> Cryptography provides solution to resolve all the above-mentioned issues.</a:t>
            </a:r>
            <a:endParaRPr lang="en-US" sz="2400" dirty="0">
              <a:solidFill>
                <a:srgbClr val="000000"/>
              </a:solidFill>
            </a:endParaRPr>
          </a:p>
        </p:txBody>
      </p:sp>
      <p:pic>
        <p:nvPicPr>
          <p:cNvPr id="4" name="Picture 3">
            <a:extLst>
              <a:ext uri="{FF2B5EF4-FFF2-40B4-BE49-F238E27FC236}">
                <a16:creationId xmlns:a16="http://schemas.microsoft.com/office/drawing/2014/main" id="{FE1E445E-02AD-14A8-379C-9358B5695A16}"/>
              </a:ext>
            </a:extLst>
          </p:cNvPr>
          <p:cNvPicPr>
            <a:picLocks noChangeAspect="1"/>
          </p:cNvPicPr>
          <p:nvPr/>
        </p:nvPicPr>
        <p:blipFill>
          <a:blip r:embed="rId2"/>
          <a:stretch>
            <a:fillRect/>
          </a:stretch>
        </p:blipFill>
        <p:spPr>
          <a:xfrm>
            <a:off x="0" y="0"/>
            <a:ext cx="6225540" cy="6858000"/>
          </a:xfrm>
          <a:prstGeom prst="rect">
            <a:avLst/>
          </a:prstGeom>
        </p:spPr>
      </p:pic>
      <p:pic>
        <p:nvPicPr>
          <p:cNvPr id="6" name="Picture 5">
            <a:extLst>
              <a:ext uri="{FF2B5EF4-FFF2-40B4-BE49-F238E27FC236}">
                <a16:creationId xmlns:a16="http://schemas.microsoft.com/office/drawing/2014/main" id="{026AE205-90E1-53AA-FE69-516AE2527FCB}"/>
              </a:ext>
            </a:extLst>
          </p:cNvPr>
          <p:cNvPicPr>
            <a:picLocks noChangeAspect="1"/>
          </p:cNvPicPr>
          <p:nvPr/>
        </p:nvPicPr>
        <p:blipFill>
          <a:blip r:embed="rId3"/>
          <a:stretch>
            <a:fillRect/>
          </a:stretch>
        </p:blipFill>
        <p:spPr>
          <a:xfrm>
            <a:off x="6159031" y="0"/>
            <a:ext cx="6034406" cy="6858000"/>
          </a:xfrm>
          <a:prstGeom prst="rect">
            <a:avLst/>
          </a:prstGeom>
        </p:spPr>
      </p:pic>
    </p:spTree>
    <p:extLst>
      <p:ext uri="{BB962C8B-B14F-4D97-AF65-F5344CB8AC3E}">
        <p14:creationId xmlns:p14="http://schemas.microsoft.com/office/powerpoint/2010/main" val="310368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PART 1:</a:t>
            </a:r>
            <a:br>
              <a:rPr lang="en-MY" sz="5400" b="1" dirty="0">
                <a:solidFill>
                  <a:srgbClr val="C00000"/>
                </a:solidFill>
              </a:rPr>
            </a:br>
            <a:r>
              <a:rPr lang="en-MY" sz="5400" b="1" dirty="0">
                <a:solidFill>
                  <a:srgbClr val="00B050"/>
                </a:solidFill>
              </a:rPr>
              <a:t>DATA SECURITY</a:t>
            </a:r>
            <a:br>
              <a:rPr lang="en-MY" sz="5400" b="1" dirty="0">
                <a:solidFill>
                  <a:srgbClr val="C00000"/>
                </a:solidFill>
              </a:rPr>
            </a:br>
            <a:r>
              <a:rPr lang="en-MY" sz="3600" b="1" dirty="0">
                <a:solidFill>
                  <a:srgbClr val="C00000"/>
                </a:solidFill>
              </a:rPr>
              <a:t> </a:t>
            </a: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768124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MY" dirty="0"/>
              <a:t>Outlines</a:t>
            </a:r>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457200" indent="-457200">
              <a:buFont typeface="+mj-lt"/>
              <a:buAutoNum type="arabicPeriod"/>
            </a:pPr>
            <a:r>
              <a:rPr lang="en-MY" sz="2400" dirty="0"/>
              <a:t>Security goals.</a:t>
            </a:r>
          </a:p>
          <a:p>
            <a:pPr marL="457200" indent="-457200">
              <a:buFont typeface="+mj-lt"/>
              <a:buAutoNum type="arabicPeriod"/>
            </a:pPr>
            <a:r>
              <a:rPr lang="en-MY" sz="2400" dirty="0"/>
              <a:t>Security attacks.</a:t>
            </a:r>
          </a:p>
          <a:p>
            <a:pPr marL="457200" indent="-457200">
              <a:buFont typeface="+mj-lt"/>
              <a:buAutoNum type="arabicPeriod"/>
            </a:pPr>
            <a:r>
              <a:rPr lang="en-MY" sz="2400" dirty="0"/>
              <a:t>Security services and mechanisms.</a:t>
            </a:r>
          </a:p>
        </p:txBody>
      </p:sp>
    </p:spTree>
    <p:extLst>
      <p:ext uri="{BB962C8B-B14F-4D97-AF65-F5344CB8AC3E}">
        <p14:creationId xmlns:p14="http://schemas.microsoft.com/office/powerpoint/2010/main" val="1961635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MY" dirty="0"/>
              <a:t>Learning Objectives</a:t>
            </a:r>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a:lnSpc>
                <a:spcPct val="100000"/>
              </a:lnSpc>
            </a:pPr>
            <a:r>
              <a:rPr lang="en-MY" sz="2400" b="1" dirty="0"/>
              <a:t>In the end of this Part 1, students should be able:</a:t>
            </a:r>
          </a:p>
          <a:p>
            <a:pPr marL="457200" indent="-457200">
              <a:lnSpc>
                <a:spcPct val="100000"/>
              </a:lnSpc>
              <a:buFont typeface="+mj-lt"/>
              <a:buAutoNum type="arabicPeriod"/>
            </a:pPr>
            <a:r>
              <a:rPr lang="en-MY" sz="2400" dirty="0"/>
              <a:t>To define the </a:t>
            </a:r>
            <a:r>
              <a:rPr lang="en-MY" sz="2400" b="1" dirty="0">
                <a:solidFill>
                  <a:srgbClr val="FF0000"/>
                </a:solidFill>
              </a:rPr>
              <a:t>three security goals</a:t>
            </a:r>
            <a:r>
              <a:rPr lang="en-MY" sz="2400" dirty="0"/>
              <a:t>.</a:t>
            </a:r>
          </a:p>
          <a:p>
            <a:pPr marL="457200" indent="-457200">
              <a:lnSpc>
                <a:spcPct val="100000"/>
              </a:lnSpc>
              <a:buFont typeface="+mj-lt"/>
              <a:buAutoNum type="arabicPeriod"/>
            </a:pPr>
            <a:r>
              <a:rPr lang="en-MY" sz="2400" dirty="0"/>
              <a:t>To define the </a:t>
            </a:r>
            <a:r>
              <a:rPr lang="en-MY" sz="2400" b="1" dirty="0">
                <a:solidFill>
                  <a:srgbClr val="FF0000"/>
                </a:solidFill>
              </a:rPr>
              <a:t>security attacks </a:t>
            </a:r>
            <a:r>
              <a:rPr lang="en-MY" sz="2400" dirty="0"/>
              <a:t>that threaten the security goals.</a:t>
            </a:r>
          </a:p>
          <a:p>
            <a:pPr marL="457200" indent="-457200">
              <a:lnSpc>
                <a:spcPct val="100000"/>
              </a:lnSpc>
              <a:buFont typeface="+mj-lt"/>
              <a:buAutoNum type="arabicPeriod"/>
            </a:pPr>
            <a:r>
              <a:rPr lang="en-MY" sz="2400" dirty="0"/>
              <a:t>To define the </a:t>
            </a:r>
            <a:r>
              <a:rPr lang="en-MY" sz="2400" b="1" dirty="0">
                <a:solidFill>
                  <a:srgbClr val="FF0000"/>
                </a:solidFill>
              </a:rPr>
              <a:t>security services </a:t>
            </a:r>
            <a:r>
              <a:rPr lang="en-MY" sz="2400" dirty="0"/>
              <a:t>and how they are related to the three security goals.</a:t>
            </a:r>
          </a:p>
          <a:p>
            <a:pPr marL="457200" indent="-457200">
              <a:lnSpc>
                <a:spcPct val="100000"/>
              </a:lnSpc>
              <a:buFont typeface="+mj-lt"/>
              <a:buAutoNum type="arabicPeriod"/>
            </a:pPr>
            <a:r>
              <a:rPr lang="en-MY" sz="2400" dirty="0"/>
              <a:t>To define the </a:t>
            </a:r>
            <a:r>
              <a:rPr lang="en-MY" sz="2400" b="1" dirty="0">
                <a:solidFill>
                  <a:srgbClr val="FF0000"/>
                </a:solidFill>
              </a:rPr>
              <a:t>security mechanisms </a:t>
            </a:r>
            <a:r>
              <a:rPr lang="en-MY" sz="2400" dirty="0"/>
              <a:t>to provide the security goals.</a:t>
            </a:r>
          </a:p>
        </p:txBody>
      </p:sp>
    </p:spTree>
    <p:extLst>
      <p:ext uri="{BB962C8B-B14F-4D97-AF65-F5344CB8AC3E}">
        <p14:creationId xmlns:p14="http://schemas.microsoft.com/office/powerpoint/2010/main" val="163393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SECURITY GOALS</a:t>
            </a:r>
            <a:br>
              <a:rPr lang="en-MY" sz="5400" b="1" dirty="0">
                <a:solidFill>
                  <a:srgbClr val="C00000"/>
                </a:solidFill>
              </a:rPr>
            </a:b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3735440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Need for Information Security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buFont typeface="Arial" panose="020B0604020202020204" pitchFamily="34" charset="0"/>
              <a:buChar char="•"/>
            </a:pPr>
            <a:r>
              <a:rPr lang="en-US" sz="2400" dirty="0"/>
              <a:t>Information Security requirements have changed in recent times.</a:t>
            </a:r>
          </a:p>
          <a:p>
            <a:pPr marL="342900" indent="-342900" algn="just" eaLnBrk="1" hangingPunct="1">
              <a:lnSpc>
                <a:spcPct val="100000"/>
              </a:lnSpc>
              <a:buFont typeface="Arial" panose="020B0604020202020204" pitchFamily="34" charset="0"/>
              <a:buChar char="•"/>
            </a:pPr>
            <a:r>
              <a:rPr lang="en-US" sz="2400" dirty="0"/>
              <a:t>Traditionally, they are provided by </a:t>
            </a:r>
            <a:r>
              <a:rPr lang="en-US" sz="2400" b="1" dirty="0"/>
              <a:t>physical</a:t>
            </a:r>
            <a:r>
              <a:rPr lang="en-US" sz="2400" dirty="0"/>
              <a:t> and </a:t>
            </a:r>
            <a:r>
              <a:rPr lang="en-US" sz="2400" b="1" dirty="0"/>
              <a:t>administrative mechanisms</a:t>
            </a:r>
            <a:r>
              <a:rPr lang="en-US" sz="2400" dirty="0"/>
              <a:t>.</a:t>
            </a:r>
          </a:p>
          <a:p>
            <a:pPr marL="342900" indent="-342900" algn="just" eaLnBrk="1" hangingPunct="1">
              <a:lnSpc>
                <a:spcPct val="100000"/>
              </a:lnSpc>
              <a:buFont typeface="Arial" panose="020B0604020202020204" pitchFamily="34" charset="0"/>
              <a:buChar char="•"/>
            </a:pPr>
            <a:r>
              <a:rPr lang="en-US" sz="2400" dirty="0"/>
              <a:t>Computer user requires </a:t>
            </a:r>
            <a:r>
              <a:rPr lang="en-AU" sz="2400" dirty="0"/>
              <a:t>automated tools to </a:t>
            </a:r>
            <a:r>
              <a:rPr lang="en-AU" sz="2400" b="1" dirty="0">
                <a:solidFill>
                  <a:srgbClr val="FF0000"/>
                </a:solidFill>
              </a:rPr>
              <a:t>protect</a:t>
            </a:r>
            <a:r>
              <a:rPr lang="en-AU" sz="2400" dirty="0"/>
              <a:t> files and other stored information.</a:t>
            </a:r>
          </a:p>
          <a:p>
            <a:pPr marL="342900" indent="-342900" algn="just" eaLnBrk="1" hangingPunct="1">
              <a:lnSpc>
                <a:spcPct val="100000"/>
              </a:lnSpc>
              <a:buFont typeface="Arial" panose="020B0604020202020204" pitchFamily="34" charset="0"/>
              <a:buChar char="•"/>
            </a:pPr>
            <a:r>
              <a:rPr lang="en-AU" sz="2400" dirty="0"/>
              <a:t>Use of networks and communications links requires measures to protect data during transmission.</a:t>
            </a:r>
          </a:p>
        </p:txBody>
      </p:sp>
    </p:spTree>
    <p:extLst>
      <p:ext uri="{BB962C8B-B14F-4D97-AF65-F5344CB8AC3E}">
        <p14:creationId xmlns:p14="http://schemas.microsoft.com/office/powerpoint/2010/main" val="1132435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Need for Information Security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5979534" y="2106203"/>
            <a:ext cx="5960932" cy="4587559"/>
          </a:xfrm>
        </p:spPr>
        <p:txBody>
          <a:bodyPr>
            <a:normAutofit/>
          </a:bodyPr>
          <a:lstStyle/>
          <a:p>
            <a:pPr>
              <a:lnSpc>
                <a:spcPct val="100000"/>
              </a:lnSpc>
            </a:pPr>
            <a:r>
              <a:rPr lang="en-MY" b="1" dirty="0"/>
              <a:t>Example:</a:t>
            </a:r>
          </a:p>
          <a:p>
            <a:pPr marL="342900" indent="-342900" algn="just">
              <a:lnSpc>
                <a:spcPct val="100000"/>
              </a:lnSpc>
              <a:buFont typeface="Wingdings" panose="05000000000000000000" pitchFamily="2" charset="2"/>
              <a:buChar char="v"/>
            </a:pPr>
            <a:r>
              <a:rPr lang="en-US" b="1" dirty="0">
                <a:solidFill>
                  <a:srgbClr val="FF0000"/>
                </a:solidFill>
              </a:rPr>
              <a:t>Possible security holes:</a:t>
            </a:r>
          </a:p>
          <a:p>
            <a:pPr marL="342900" indent="-342900" algn="just">
              <a:lnSpc>
                <a:spcPct val="100000"/>
              </a:lnSpc>
              <a:buFont typeface="Arial" panose="020B0604020202020204" pitchFamily="34" charset="0"/>
              <a:buChar char="•"/>
            </a:pPr>
            <a:r>
              <a:rPr lang="en-US" dirty="0"/>
              <a:t>Intruder capture the details as they travel.</a:t>
            </a:r>
          </a:p>
          <a:p>
            <a:pPr marL="342900" indent="-342900" algn="just">
              <a:lnSpc>
                <a:spcPct val="100000"/>
              </a:lnSpc>
              <a:buFont typeface="Arial" panose="020B0604020202020204" pitchFamily="34" charset="0"/>
              <a:buChar char="•"/>
            </a:pPr>
            <a:r>
              <a:rPr lang="en-US" dirty="0"/>
              <a:t>Attacker gain access to the merchant database. </a:t>
            </a:r>
          </a:p>
          <a:p>
            <a:pPr marL="342900" indent="-342900" algn="just">
              <a:lnSpc>
                <a:spcPct val="100000"/>
              </a:lnSpc>
              <a:buFont typeface="Wingdings" panose="05000000000000000000" pitchFamily="2" charset="2"/>
              <a:buChar char="v"/>
            </a:pPr>
            <a:r>
              <a:rPr lang="en-US" sz="2000" b="1" dirty="0">
                <a:solidFill>
                  <a:srgbClr val="FF0000"/>
                </a:solidFill>
              </a:rPr>
              <a:t>Event Happened:</a:t>
            </a:r>
          </a:p>
          <a:p>
            <a:pPr marL="342900" indent="-342900" algn="just">
              <a:lnSpc>
                <a:spcPct val="100000"/>
              </a:lnSpc>
              <a:buFont typeface="Arial" panose="020B0604020202020204" pitchFamily="34" charset="0"/>
              <a:buChar char="•"/>
            </a:pPr>
            <a:r>
              <a:rPr lang="en-US" sz="2000" dirty="0"/>
              <a:t>An attacker intrude into a merchant database and obtained credit card numbers and released/sold some of the card numbers on the internet.</a:t>
            </a:r>
          </a:p>
          <a:p>
            <a:pPr marL="342900" indent="-342900" algn="just">
              <a:lnSpc>
                <a:spcPct val="100000"/>
              </a:lnSpc>
              <a:buFont typeface="Arial" panose="020B0604020202020204" pitchFamily="34" charset="0"/>
              <a:buChar char="•"/>
            </a:pPr>
            <a:r>
              <a:rPr lang="en-US" sz="2000" dirty="0"/>
              <a:t>Consequences: Financial loss, and loss of goodwill.</a:t>
            </a:r>
          </a:p>
        </p:txBody>
      </p:sp>
      <p:grpSp>
        <p:nvGrpSpPr>
          <p:cNvPr id="5" name="Group 2">
            <a:extLst>
              <a:ext uri="{FF2B5EF4-FFF2-40B4-BE49-F238E27FC236}">
                <a16:creationId xmlns:a16="http://schemas.microsoft.com/office/drawing/2014/main" id="{052C0EBB-87AC-DF9D-C1E1-AC302A95DE21}"/>
              </a:ext>
            </a:extLst>
          </p:cNvPr>
          <p:cNvGrpSpPr>
            <a:grpSpLocks/>
          </p:cNvGrpSpPr>
          <p:nvPr/>
        </p:nvGrpSpPr>
        <p:grpSpPr bwMode="auto">
          <a:xfrm>
            <a:off x="609600" y="2106204"/>
            <a:ext cx="5076825" cy="3810000"/>
            <a:chOff x="1830" y="9505"/>
            <a:chExt cx="8595" cy="4620"/>
          </a:xfrm>
        </p:grpSpPr>
        <p:sp>
          <p:nvSpPr>
            <p:cNvPr id="6" name="Rectangle 3">
              <a:extLst>
                <a:ext uri="{FF2B5EF4-FFF2-40B4-BE49-F238E27FC236}">
                  <a16:creationId xmlns:a16="http://schemas.microsoft.com/office/drawing/2014/main" id="{C97BC241-B6D1-4135-0DD8-F9C4C8B08659}"/>
                </a:ext>
              </a:extLst>
            </p:cNvPr>
            <p:cNvSpPr>
              <a:spLocks noChangeArrowheads="1"/>
            </p:cNvSpPr>
            <p:nvPr/>
          </p:nvSpPr>
          <p:spPr bwMode="auto">
            <a:xfrm>
              <a:off x="1830" y="9505"/>
              <a:ext cx="8595" cy="4620"/>
            </a:xfrm>
            <a:prstGeom prst="rect">
              <a:avLst/>
            </a:prstGeom>
            <a:solidFill>
              <a:srgbClr val="FFFFFF"/>
            </a:solidFill>
            <a:ln w="9525">
              <a:solidFill>
                <a:srgbClr val="000000"/>
              </a:solidFill>
              <a:miter lim="800000"/>
              <a:headEnd/>
              <a:tailEnd/>
            </a:ln>
          </p:spPr>
          <p:txBody>
            <a:bodyPr/>
            <a:lstStyle/>
            <a:p>
              <a:endParaRPr lang="en-MY"/>
            </a:p>
          </p:txBody>
        </p:sp>
        <p:sp>
          <p:nvSpPr>
            <p:cNvPr id="7" name="computr1">
              <a:extLst>
                <a:ext uri="{FF2B5EF4-FFF2-40B4-BE49-F238E27FC236}">
                  <a16:creationId xmlns:a16="http://schemas.microsoft.com/office/drawing/2014/main" id="{339E54EC-89C3-93AC-0B1B-59AEB574C57E}"/>
                </a:ext>
              </a:extLst>
            </p:cNvPr>
            <p:cNvSpPr>
              <a:spLocks noEditPoints="1" noChangeArrowheads="1"/>
            </p:cNvSpPr>
            <p:nvPr/>
          </p:nvSpPr>
          <p:spPr bwMode="auto">
            <a:xfrm>
              <a:off x="2221" y="10103"/>
              <a:ext cx="1665" cy="1200"/>
            </a:xfrm>
            <a:custGeom>
              <a:avLst/>
              <a:gdLst>
                <a:gd name="T0" fmla="*/ 4 w 21600"/>
                <a:gd name="T1" fmla="*/ 0 h 21600"/>
                <a:gd name="T2" fmla="*/ 2 w 21600"/>
                <a:gd name="T3" fmla="*/ 0 h 21600"/>
                <a:gd name="T4" fmla="*/ 0 w 21600"/>
                <a:gd name="T5" fmla="*/ 0 h 21600"/>
                <a:gd name="T6" fmla="*/ 0 w 21600"/>
                <a:gd name="T7" fmla="*/ 3 h 21600"/>
                <a:gd name="T8" fmla="*/ 0 w 21600"/>
                <a:gd name="T9" fmla="*/ 4 h 21600"/>
                <a:gd name="T10" fmla="*/ 2 w 21600"/>
                <a:gd name="T11" fmla="*/ 4 h 21600"/>
                <a:gd name="T12" fmla="*/ 5 w 21600"/>
                <a:gd name="T13" fmla="*/ 4 h 21600"/>
                <a:gd name="T14" fmla="*/ 5 w 21600"/>
                <a:gd name="T15" fmla="*/ 3 h 21600"/>
                <a:gd name="T16" fmla="*/ 4 w 21600"/>
                <a:gd name="T17" fmla="*/ 2 h 21600"/>
                <a:gd name="T18" fmla="*/ 0 w 21600"/>
                <a:gd name="T19" fmla="*/ 2 h 21600"/>
                <a:gd name="T20" fmla="*/ 0 w 21600"/>
                <a:gd name="T21" fmla="*/ 1 h 21600"/>
                <a:gd name="T22" fmla="*/ 4 w 21600"/>
                <a:gd name="T23" fmla="*/ 1 h 21600"/>
                <a:gd name="T24" fmla="*/ 0 w 21600"/>
                <a:gd name="T25" fmla="*/ 3 h 21600"/>
                <a:gd name="T26" fmla="*/ 5 w 21600"/>
                <a:gd name="T27" fmla="*/ 3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38 h 21600"/>
                <a:gd name="T44" fmla="*/ 16758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000" b="1" dirty="0">
                  <a:latin typeface="Times New Roman" pitchFamily="18" charset="0"/>
                </a:rPr>
                <a:t>Client</a:t>
              </a:r>
            </a:p>
          </p:txBody>
        </p:sp>
        <p:sp>
          <p:nvSpPr>
            <p:cNvPr id="8" name="Text Box 5">
              <a:extLst>
                <a:ext uri="{FF2B5EF4-FFF2-40B4-BE49-F238E27FC236}">
                  <a16:creationId xmlns:a16="http://schemas.microsoft.com/office/drawing/2014/main" id="{BCE3ACD3-5F8C-9D99-0269-F15FE36F7299}"/>
                </a:ext>
              </a:extLst>
            </p:cNvPr>
            <p:cNvSpPr txBox="1">
              <a:spLocks noChangeArrowheads="1"/>
            </p:cNvSpPr>
            <p:nvPr/>
          </p:nvSpPr>
          <p:spPr bwMode="auto">
            <a:xfrm>
              <a:off x="4830" y="9815"/>
              <a:ext cx="2505" cy="2345"/>
            </a:xfrm>
            <a:prstGeom prst="rect">
              <a:avLst/>
            </a:prstGeom>
            <a:solidFill>
              <a:srgbClr val="FFFFFF"/>
            </a:solidFill>
            <a:ln w="9525">
              <a:solidFill>
                <a:srgbClr val="000000"/>
              </a:solidFill>
              <a:miter lim="800000"/>
              <a:headEnd/>
              <a:tailEnd/>
            </a:ln>
          </p:spPr>
          <p:txBody>
            <a:bodyPr/>
            <a:lstStyle/>
            <a:p>
              <a:pPr algn="ctr"/>
              <a:r>
                <a:rPr lang="en-US" sz="1200" b="1" dirty="0">
                  <a:latin typeface="Times New Roman" pitchFamily="18" charset="0"/>
                </a:rPr>
                <a:t>Customer Id: 78910</a:t>
              </a:r>
            </a:p>
            <a:p>
              <a:pPr algn="ctr"/>
              <a:r>
                <a:rPr lang="en-US" sz="1200" b="1" dirty="0">
                  <a:latin typeface="Times New Roman" pitchFamily="18" charset="0"/>
                </a:rPr>
                <a:t>Order Id: 90</a:t>
              </a:r>
            </a:p>
            <a:p>
              <a:pPr algn="ctr"/>
              <a:r>
                <a:rPr lang="en-US" sz="1200" b="1" dirty="0">
                  <a:latin typeface="Times New Roman" pitchFamily="18" charset="0"/>
                </a:rPr>
                <a:t>Item Id: 156</a:t>
              </a:r>
            </a:p>
            <a:p>
              <a:pPr algn="ctr"/>
              <a:r>
                <a:rPr lang="en-US" sz="1200" b="1" dirty="0">
                  <a:latin typeface="Times New Roman" pitchFamily="18" charset="0"/>
                </a:rPr>
                <a:t>Credit Card Number: 1234567890</a:t>
              </a:r>
            </a:p>
            <a:p>
              <a:pPr algn="ctr"/>
              <a:r>
                <a:rPr lang="en-US" sz="1200" b="1" dirty="0">
                  <a:latin typeface="Times New Roman" pitchFamily="18" charset="0"/>
                </a:rPr>
                <a:t>Issued By: Visa</a:t>
              </a:r>
            </a:p>
            <a:p>
              <a:pPr algn="ctr"/>
              <a:r>
                <a:rPr lang="en-US" sz="1200" b="1" dirty="0">
                  <a:latin typeface="Times New Roman" pitchFamily="18" charset="0"/>
                </a:rPr>
                <a:t>Valid Till: Jan 2026</a:t>
              </a:r>
            </a:p>
            <a:p>
              <a:pPr algn="ctr"/>
              <a:r>
                <a:rPr lang="en-US" sz="1200" b="1" dirty="0">
                  <a:latin typeface="Times New Roman" pitchFamily="18" charset="0"/>
                </a:rPr>
                <a:t>…</a:t>
              </a:r>
            </a:p>
            <a:p>
              <a:endParaRPr lang="en-US" sz="1200" dirty="0">
                <a:latin typeface="Times New Roman" pitchFamily="18" charset="0"/>
              </a:endParaRPr>
            </a:p>
          </p:txBody>
        </p:sp>
        <p:sp>
          <p:nvSpPr>
            <p:cNvPr id="9" name="AutoShape 6">
              <a:extLst>
                <a:ext uri="{FF2B5EF4-FFF2-40B4-BE49-F238E27FC236}">
                  <a16:creationId xmlns:a16="http://schemas.microsoft.com/office/drawing/2014/main" id="{70211262-7C9C-72EE-828A-A02DDC1A9DBB}"/>
                </a:ext>
              </a:extLst>
            </p:cNvPr>
            <p:cNvSpPr>
              <a:spLocks noChangeArrowheads="1"/>
            </p:cNvSpPr>
            <p:nvPr/>
          </p:nvSpPr>
          <p:spPr bwMode="auto">
            <a:xfrm>
              <a:off x="3780" y="10435"/>
              <a:ext cx="1050" cy="390"/>
            </a:xfrm>
            <a:prstGeom prst="rightArrow">
              <a:avLst>
                <a:gd name="adj1" fmla="val 50000"/>
                <a:gd name="adj2" fmla="val 67308"/>
              </a:avLst>
            </a:prstGeom>
            <a:solidFill>
              <a:srgbClr val="333333"/>
            </a:solidFill>
            <a:ln w="9525">
              <a:solidFill>
                <a:srgbClr val="000000"/>
              </a:solidFill>
              <a:miter lim="800000"/>
              <a:headEnd/>
              <a:tailEnd/>
            </a:ln>
          </p:spPr>
          <p:txBody>
            <a:bodyPr/>
            <a:lstStyle/>
            <a:p>
              <a:endParaRPr lang="en-MY"/>
            </a:p>
          </p:txBody>
        </p:sp>
        <p:sp>
          <p:nvSpPr>
            <p:cNvPr id="10" name="computr1">
              <a:extLst>
                <a:ext uri="{FF2B5EF4-FFF2-40B4-BE49-F238E27FC236}">
                  <a16:creationId xmlns:a16="http://schemas.microsoft.com/office/drawing/2014/main" id="{503392C0-F1A4-007B-D8EA-63AD6209AB84}"/>
                </a:ext>
              </a:extLst>
            </p:cNvPr>
            <p:cNvSpPr>
              <a:spLocks noEditPoints="1" noChangeArrowheads="1"/>
            </p:cNvSpPr>
            <p:nvPr/>
          </p:nvSpPr>
          <p:spPr bwMode="auto">
            <a:xfrm>
              <a:off x="8309" y="10103"/>
              <a:ext cx="1711" cy="1200"/>
            </a:xfrm>
            <a:custGeom>
              <a:avLst/>
              <a:gdLst>
                <a:gd name="T0" fmla="*/ 5 w 21600"/>
                <a:gd name="T1" fmla="*/ 0 h 21600"/>
                <a:gd name="T2" fmla="*/ 3 w 21600"/>
                <a:gd name="T3" fmla="*/ 0 h 21600"/>
                <a:gd name="T4" fmla="*/ 1 w 21600"/>
                <a:gd name="T5" fmla="*/ 0 h 21600"/>
                <a:gd name="T6" fmla="*/ 0 w 21600"/>
                <a:gd name="T7" fmla="*/ 3 h 21600"/>
                <a:gd name="T8" fmla="*/ 0 w 21600"/>
                <a:gd name="T9" fmla="*/ 4 h 21600"/>
                <a:gd name="T10" fmla="*/ 3 w 21600"/>
                <a:gd name="T11" fmla="*/ 4 h 21600"/>
                <a:gd name="T12" fmla="*/ 6 w 21600"/>
                <a:gd name="T13" fmla="*/ 4 h 21600"/>
                <a:gd name="T14" fmla="*/ 6 w 21600"/>
                <a:gd name="T15" fmla="*/ 3 h 21600"/>
                <a:gd name="T16" fmla="*/ 5 w 21600"/>
                <a:gd name="T17" fmla="*/ 2 h 21600"/>
                <a:gd name="T18" fmla="*/ 1 w 21600"/>
                <a:gd name="T19" fmla="*/ 2 h 21600"/>
                <a:gd name="T20" fmla="*/ 1 w 21600"/>
                <a:gd name="T21" fmla="*/ 1 h 21600"/>
                <a:gd name="T22" fmla="*/ 5 w 21600"/>
                <a:gd name="T23" fmla="*/ 1 h 21600"/>
                <a:gd name="T24" fmla="*/ 0 w 21600"/>
                <a:gd name="T25" fmla="*/ 3 h 21600"/>
                <a:gd name="T26" fmla="*/ 6 w 21600"/>
                <a:gd name="T27" fmla="*/ 3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30 w 21600"/>
                <a:gd name="T43" fmla="*/ 2538 h 21600"/>
                <a:gd name="T44" fmla="*/ 16749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000" b="1" dirty="0">
                  <a:latin typeface="Times New Roman" pitchFamily="18" charset="0"/>
                </a:rPr>
                <a:t>Server</a:t>
              </a:r>
            </a:p>
          </p:txBody>
        </p:sp>
        <p:sp>
          <p:nvSpPr>
            <p:cNvPr id="11" name="AutoShape 8">
              <a:extLst>
                <a:ext uri="{FF2B5EF4-FFF2-40B4-BE49-F238E27FC236}">
                  <a16:creationId xmlns:a16="http://schemas.microsoft.com/office/drawing/2014/main" id="{13E73C31-E4FE-6797-B9EC-46E9FDDFE965}"/>
                </a:ext>
              </a:extLst>
            </p:cNvPr>
            <p:cNvSpPr>
              <a:spLocks noChangeArrowheads="1"/>
            </p:cNvSpPr>
            <p:nvPr/>
          </p:nvSpPr>
          <p:spPr bwMode="auto">
            <a:xfrm>
              <a:off x="7335" y="10465"/>
              <a:ext cx="1065" cy="390"/>
            </a:xfrm>
            <a:prstGeom prst="rightArrow">
              <a:avLst>
                <a:gd name="adj1" fmla="val 50000"/>
                <a:gd name="adj2" fmla="val 68269"/>
              </a:avLst>
            </a:prstGeom>
            <a:solidFill>
              <a:srgbClr val="333333"/>
            </a:solidFill>
            <a:ln w="9525">
              <a:solidFill>
                <a:srgbClr val="000000"/>
              </a:solidFill>
              <a:miter lim="800000"/>
              <a:headEnd/>
              <a:tailEnd/>
            </a:ln>
          </p:spPr>
          <p:txBody>
            <a:bodyPr/>
            <a:lstStyle/>
            <a:p>
              <a:endParaRPr lang="en-MY"/>
            </a:p>
          </p:txBody>
        </p:sp>
        <p:sp>
          <p:nvSpPr>
            <p:cNvPr id="12" name="AutoShape 9">
              <a:extLst>
                <a:ext uri="{FF2B5EF4-FFF2-40B4-BE49-F238E27FC236}">
                  <a16:creationId xmlns:a16="http://schemas.microsoft.com/office/drawing/2014/main" id="{B24DC6EC-B646-E7EF-C5DA-54A112F40DE8}"/>
                </a:ext>
              </a:extLst>
            </p:cNvPr>
            <p:cNvSpPr>
              <a:spLocks noChangeArrowheads="1"/>
            </p:cNvSpPr>
            <p:nvPr/>
          </p:nvSpPr>
          <p:spPr bwMode="auto">
            <a:xfrm>
              <a:off x="8415" y="12160"/>
              <a:ext cx="1230" cy="1710"/>
            </a:xfrm>
            <a:prstGeom prst="flowChartMagneticDisk">
              <a:avLst/>
            </a:prstGeom>
            <a:solidFill>
              <a:srgbClr val="C0C0C0">
                <a:alpha val="50195"/>
              </a:srgbClr>
            </a:solidFill>
            <a:ln w="19050">
              <a:solidFill>
                <a:srgbClr val="000000"/>
              </a:solidFill>
              <a:round/>
              <a:headEnd/>
              <a:tailEnd/>
            </a:ln>
          </p:spPr>
          <p:txBody>
            <a:bodyPr/>
            <a:lstStyle/>
            <a:p>
              <a:pPr algn="ctr"/>
              <a:endParaRPr lang="en-US" sz="1200" b="1">
                <a:latin typeface="Times New Roman" pitchFamily="18" charset="0"/>
              </a:endParaRPr>
            </a:p>
            <a:p>
              <a:pPr algn="ctr"/>
              <a:r>
                <a:rPr lang="en-US" sz="1000" b="1">
                  <a:latin typeface="Times New Roman" pitchFamily="18" charset="0"/>
                </a:rPr>
                <a:t>Server Database</a:t>
              </a:r>
            </a:p>
          </p:txBody>
        </p:sp>
        <p:sp>
          <p:nvSpPr>
            <p:cNvPr id="13" name="AutoShape 10">
              <a:extLst>
                <a:ext uri="{FF2B5EF4-FFF2-40B4-BE49-F238E27FC236}">
                  <a16:creationId xmlns:a16="http://schemas.microsoft.com/office/drawing/2014/main" id="{D4EE771B-8119-495F-169F-80944F741CC3}"/>
                </a:ext>
              </a:extLst>
            </p:cNvPr>
            <p:cNvSpPr>
              <a:spLocks noChangeArrowheads="1"/>
            </p:cNvSpPr>
            <p:nvPr/>
          </p:nvSpPr>
          <p:spPr bwMode="auto">
            <a:xfrm>
              <a:off x="8790" y="11320"/>
              <a:ext cx="405" cy="870"/>
            </a:xfrm>
            <a:prstGeom prst="downArrow">
              <a:avLst>
                <a:gd name="adj1" fmla="val 50000"/>
                <a:gd name="adj2" fmla="val 53704"/>
              </a:avLst>
            </a:prstGeom>
            <a:solidFill>
              <a:srgbClr val="333333"/>
            </a:solidFill>
            <a:ln w="9525">
              <a:solidFill>
                <a:srgbClr val="000000"/>
              </a:solidFill>
              <a:miter lim="800000"/>
              <a:headEnd/>
              <a:tailEnd/>
            </a:ln>
          </p:spPr>
          <p:txBody>
            <a:bodyPr/>
            <a:lstStyle/>
            <a:p>
              <a:endParaRPr lang="en-MY"/>
            </a:p>
          </p:txBody>
        </p:sp>
      </p:grpSp>
    </p:spTree>
    <p:extLst>
      <p:ext uri="{BB962C8B-B14F-4D97-AF65-F5344CB8AC3E}">
        <p14:creationId xmlns:p14="http://schemas.microsoft.com/office/powerpoint/2010/main" val="3556943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Need for Information Security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buFont typeface="Wingdings" panose="05000000000000000000" pitchFamily="2" charset="2"/>
              <a:buChar char="v"/>
            </a:pPr>
            <a:r>
              <a:rPr lang="en-US" sz="2400" b="1" dirty="0"/>
              <a:t>Privacy concerns:</a:t>
            </a:r>
          </a:p>
          <a:p>
            <a:pPr marL="342900" indent="-342900" algn="just" eaLnBrk="1" hangingPunct="1">
              <a:buFont typeface="Wingdings" panose="05000000000000000000" pitchFamily="2" charset="2"/>
              <a:buChar char="Ø"/>
            </a:pPr>
            <a:r>
              <a:rPr lang="en-US" dirty="0"/>
              <a:t>Collecting info about people and misusing it</a:t>
            </a:r>
          </a:p>
          <a:p>
            <a:pPr marL="742950" lvl="2" indent="-285750" algn="just" eaLnBrk="1" hangingPunct="1">
              <a:buFont typeface="Arial" panose="020B0604020202020204" pitchFamily="34" charset="0"/>
              <a:buChar char="•"/>
            </a:pPr>
            <a:r>
              <a:rPr lang="en-US" sz="2000" b="1" dirty="0"/>
              <a:t>Data mining techniques </a:t>
            </a:r>
            <a:r>
              <a:rPr lang="en-US" sz="2000" dirty="0"/>
              <a:t>– to process and tabulate the needed details about individuals Illegally sell the info.</a:t>
            </a:r>
          </a:p>
          <a:p>
            <a:pPr marL="342900" indent="-342900" algn="just" eaLnBrk="1" hangingPunct="1">
              <a:buFont typeface="Wingdings" panose="05000000000000000000" pitchFamily="2" charset="2"/>
              <a:buChar char="v"/>
            </a:pPr>
            <a:r>
              <a:rPr lang="en-US" sz="2400" b="1" dirty="0"/>
              <a:t>No concern about the distance:</a:t>
            </a:r>
          </a:p>
          <a:p>
            <a:pPr marL="342900" indent="-342900" algn="just" eaLnBrk="1" hangingPunct="1">
              <a:buFont typeface="Wingdings" panose="05000000000000000000" pitchFamily="2" charset="2"/>
              <a:buChar char="Ø"/>
            </a:pPr>
            <a:r>
              <a:rPr lang="en-US" dirty="0"/>
              <a:t>Remote breaking of bank servers.</a:t>
            </a:r>
          </a:p>
          <a:p>
            <a:pPr marL="342900" indent="-342900" algn="just" eaLnBrk="1" hangingPunct="1">
              <a:buFont typeface="Wingdings" panose="05000000000000000000" pitchFamily="2" charset="2"/>
              <a:buChar char="Ø"/>
            </a:pPr>
            <a:r>
              <a:rPr lang="en-US" dirty="0"/>
              <a:t>Remote stealing credit card/ATM info.</a:t>
            </a:r>
          </a:p>
          <a:p>
            <a:pPr algn="just"/>
            <a:endParaRPr lang="en-MY" sz="2800" dirty="0"/>
          </a:p>
        </p:txBody>
      </p:sp>
    </p:spTree>
    <p:extLst>
      <p:ext uri="{BB962C8B-B14F-4D97-AF65-F5344CB8AC3E}">
        <p14:creationId xmlns:p14="http://schemas.microsoft.com/office/powerpoint/2010/main" val="344010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Security Concepts</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buFont typeface="Wingdings" panose="05000000000000000000" pitchFamily="2" charset="2"/>
              <a:buChar char="v"/>
            </a:pPr>
            <a:r>
              <a:rPr lang="en-US" sz="2400" b="1" dirty="0"/>
              <a:t>What is Security?</a:t>
            </a:r>
          </a:p>
          <a:p>
            <a:pPr marL="514350" lvl="1" indent="-285750" algn="just" eaLnBrk="1" hangingPunct="1">
              <a:lnSpc>
                <a:spcPct val="100000"/>
              </a:lnSpc>
              <a:buFont typeface="Wingdings" panose="05000000000000000000" pitchFamily="2" charset="2"/>
              <a:buChar char="Ø"/>
            </a:pPr>
            <a:r>
              <a:rPr lang="en-US" sz="2000" dirty="0"/>
              <a:t>Taking measures that </a:t>
            </a:r>
            <a:r>
              <a:rPr lang="en-US" sz="2000" b="1" dirty="0">
                <a:solidFill>
                  <a:srgbClr val="FF0000"/>
                </a:solidFill>
              </a:rPr>
              <a:t>prevent</a:t>
            </a:r>
            <a:r>
              <a:rPr lang="en-US" sz="2000" dirty="0"/>
              <a:t> assets from being damaged.</a:t>
            </a:r>
          </a:p>
          <a:p>
            <a:pPr marL="514350" lvl="1" indent="-285750" algn="just" eaLnBrk="1" hangingPunct="1">
              <a:lnSpc>
                <a:spcPct val="100000"/>
              </a:lnSpc>
              <a:buFont typeface="Wingdings" panose="05000000000000000000" pitchFamily="2" charset="2"/>
              <a:buChar char="Ø"/>
            </a:pPr>
            <a:r>
              <a:rPr lang="en-US" sz="2000" dirty="0"/>
              <a:t>Taking measures to </a:t>
            </a:r>
            <a:r>
              <a:rPr lang="en-US" sz="2000" b="1" dirty="0">
                <a:solidFill>
                  <a:srgbClr val="FF0000"/>
                </a:solidFill>
              </a:rPr>
              <a:t>detect</a:t>
            </a:r>
            <a:r>
              <a:rPr lang="en-US" sz="2000" dirty="0"/>
              <a:t> when, how and by whom an asset has been damaged.</a:t>
            </a:r>
          </a:p>
          <a:p>
            <a:pPr marL="514350" lvl="1" indent="-285750" algn="just" eaLnBrk="1" hangingPunct="1">
              <a:lnSpc>
                <a:spcPct val="100000"/>
              </a:lnSpc>
              <a:buFont typeface="Wingdings" panose="05000000000000000000" pitchFamily="2" charset="2"/>
              <a:buChar char="Ø"/>
            </a:pPr>
            <a:r>
              <a:rPr lang="en-US" sz="2000" dirty="0"/>
              <a:t>Taking measures so that you can </a:t>
            </a:r>
            <a:r>
              <a:rPr lang="en-US" sz="2000" b="1" dirty="0">
                <a:solidFill>
                  <a:srgbClr val="FF0000"/>
                </a:solidFill>
              </a:rPr>
              <a:t>recover</a:t>
            </a:r>
            <a:r>
              <a:rPr lang="en-US" sz="2000" dirty="0"/>
              <a:t> from a damage to assets.</a:t>
            </a:r>
          </a:p>
          <a:p>
            <a:pPr marL="342900" indent="-342900" algn="just" eaLnBrk="1" hangingPunct="1">
              <a:lnSpc>
                <a:spcPct val="100000"/>
              </a:lnSpc>
              <a:buFont typeface="Wingdings" panose="05000000000000000000" pitchFamily="2" charset="2"/>
              <a:buChar char="v"/>
            </a:pPr>
            <a:r>
              <a:rPr lang="en-US" sz="2400" dirty="0"/>
              <a:t>Security refers to the act of taking measures to facilitate </a:t>
            </a:r>
            <a:r>
              <a:rPr lang="en-US" sz="2200" b="1" dirty="0"/>
              <a:t>Prevention</a:t>
            </a:r>
            <a:r>
              <a:rPr lang="en-US" sz="2200" dirty="0"/>
              <a:t>, </a:t>
            </a:r>
            <a:r>
              <a:rPr lang="en-US" sz="2200" b="1" dirty="0"/>
              <a:t>Detection</a:t>
            </a:r>
            <a:r>
              <a:rPr lang="en-US" sz="2200" dirty="0"/>
              <a:t> and </a:t>
            </a:r>
            <a:r>
              <a:rPr lang="en-US" sz="2200" b="1" dirty="0"/>
              <a:t>Recovery</a:t>
            </a:r>
            <a:r>
              <a:rPr lang="en-US" sz="2200" dirty="0"/>
              <a:t> </a:t>
            </a:r>
            <a:r>
              <a:rPr lang="en-US" dirty="0"/>
              <a:t>of </a:t>
            </a:r>
            <a:r>
              <a:rPr lang="en-US" sz="2400" dirty="0"/>
              <a:t>assets from being damaged.</a:t>
            </a:r>
            <a:endParaRPr lang="en-MY" sz="2400" dirty="0"/>
          </a:p>
        </p:txBody>
      </p:sp>
    </p:spTree>
    <p:extLst>
      <p:ext uri="{BB962C8B-B14F-4D97-AF65-F5344CB8AC3E}">
        <p14:creationId xmlns:p14="http://schemas.microsoft.com/office/powerpoint/2010/main" val="3200138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normAutofit/>
          </a:bodyPr>
          <a:lstStyle/>
          <a:p>
            <a:r>
              <a:rPr lang="en-US" dirty="0">
                <a:solidFill>
                  <a:srgbClr val="0000FF"/>
                </a:solidFill>
              </a:rPr>
              <a:t>Security Goals - The CIA Triad</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5317724" y="2106204"/>
            <a:ext cx="6264676" cy="4036534"/>
          </a:xfrm>
        </p:spPr>
        <p:txBody>
          <a:bodyPr>
            <a:normAutofit/>
          </a:bodyPr>
          <a:lstStyle/>
          <a:p>
            <a:pPr algn="just">
              <a:lnSpc>
                <a:spcPct val="100000"/>
              </a:lnSpc>
            </a:pPr>
            <a:r>
              <a:rPr lang="en-MY" sz="2400" dirty="0"/>
              <a:t>The </a:t>
            </a:r>
            <a:r>
              <a:rPr lang="en-MY" sz="2400" b="1" dirty="0"/>
              <a:t>CIA</a:t>
            </a:r>
            <a:r>
              <a:rPr lang="en-MY" sz="2400" dirty="0"/>
              <a:t> Triad:</a:t>
            </a:r>
          </a:p>
          <a:p>
            <a:pPr marL="342900" indent="-342900" algn="just">
              <a:lnSpc>
                <a:spcPct val="100000"/>
              </a:lnSpc>
              <a:buFont typeface="Wingdings" panose="05000000000000000000" pitchFamily="2" charset="2"/>
              <a:buChar char="Ø"/>
            </a:pPr>
            <a:r>
              <a:rPr lang="en-MY" sz="2400" dirty="0"/>
              <a:t>C – </a:t>
            </a:r>
            <a:r>
              <a:rPr lang="en-MY" sz="2400" b="1" dirty="0"/>
              <a:t>Confidentiality </a:t>
            </a:r>
          </a:p>
          <a:p>
            <a:pPr marL="342900" indent="-342900" algn="just">
              <a:lnSpc>
                <a:spcPct val="100000"/>
              </a:lnSpc>
              <a:buFont typeface="Wingdings" panose="05000000000000000000" pitchFamily="2" charset="2"/>
              <a:buChar char="Ø"/>
            </a:pPr>
            <a:r>
              <a:rPr lang="en-MY" sz="2400" dirty="0"/>
              <a:t>I – </a:t>
            </a:r>
            <a:r>
              <a:rPr lang="en-MY" sz="2400" b="1" dirty="0"/>
              <a:t>Integrity</a:t>
            </a:r>
          </a:p>
          <a:p>
            <a:pPr marL="342900" indent="-342900" algn="just">
              <a:lnSpc>
                <a:spcPct val="100000"/>
              </a:lnSpc>
              <a:buFont typeface="Wingdings" panose="05000000000000000000" pitchFamily="2" charset="2"/>
              <a:buChar char="Ø"/>
            </a:pPr>
            <a:r>
              <a:rPr lang="en-MY" sz="2400" dirty="0"/>
              <a:t>A - </a:t>
            </a:r>
            <a:r>
              <a:rPr lang="en-MY" sz="2400" b="1" dirty="0">
                <a:solidFill>
                  <a:srgbClr val="FF0000"/>
                </a:solidFill>
              </a:rPr>
              <a:t>Availability</a:t>
            </a:r>
          </a:p>
          <a:p>
            <a:pPr algn="just">
              <a:lnSpc>
                <a:spcPct val="100000"/>
              </a:lnSpc>
            </a:pPr>
            <a:endParaRPr lang="en-MY" sz="2400" dirty="0"/>
          </a:p>
          <a:p>
            <a:pPr algn="just">
              <a:lnSpc>
                <a:spcPct val="100000"/>
              </a:lnSpc>
            </a:pPr>
            <a:r>
              <a:rPr lang="en-MY" sz="2400" dirty="0"/>
              <a:t># Please be reminded</a:t>
            </a:r>
            <a:r>
              <a:rPr lang="en-MY" sz="2400" b="1" dirty="0"/>
              <a:t> NOT </a:t>
            </a:r>
            <a:r>
              <a:rPr lang="en-MY" sz="2400" dirty="0"/>
              <a:t>to confuse </a:t>
            </a:r>
            <a:r>
              <a:rPr lang="en-MY" sz="2400" b="1" dirty="0">
                <a:solidFill>
                  <a:srgbClr val="FF0000"/>
                </a:solidFill>
              </a:rPr>
              <a:t>Availability</a:t>
            </a:r>
            <a:r>
              <a:rPr lang="en-MY" sz="2400" dirty="0"/>
              <a:t> with </a:t>
            </a:r>
            <a:r>
              <a:rPr lang="en-MY" sz="2400" b="1" dirty="0">
                <a:solidFill>
                  <a:srgbClr val="0070C0"/>
                </a:solidFill>
              </a:rPr>
              <a:t>Authentication</a:t>
            </a:r>
            <a:r>
              <a:rPr lang="en-MY" sz="2400" dirty="0"/>
              <a:t>.</a:t>
            </a:r>
          </a:p>
        </p:txBody>
      </p:sp>
      <p:pic>
        <p:nvPicPr>
          <p:cNvPr id="7" name="Picture 6">
            <a:extLst>
              <a:ext uri="{FF2B5EF4-FFF2-40B4-BE49-F238E27FC236}">
                <a16:creationId xmlns:a16="http://schemas.microsoft.com/office/drawing/2014/main" id="{9AB80E61-B7FE-B64C-9F7D-72BEBAE25C38}"/>
              </a:ext>
            </a:extLst>
          </p:cNvPr>
          <p:cNvPicPr>
            <a:picLocks noChangeAspect="1"/>
          </p:cNvPicPr>
          <p:nvPr/>
        </p:nvPicPr>
        <p:blipFill>
          <a:blip r:embed="rId2"/>
          <a:stretch>
            <a:fillRect/>
          </a:stretch>
        </p:blipFill>
        <p:spPr>
          <a:xfrm>
            <a:off x="609600" y="2106204"/>
            <a:ext cx="4166586" cy="3740337"/>
          </a:xfrm>
          <a:prstGeom prst="rect">
            <a:avLst/>
          </a:prstGeom>
        </p:spPr>
      </p:pic>
    </p:spTree>
    <p:extLst>
      <p:ext uri="{BB962C8B-B14F-4D97-AF65-F5344CB8AC3E}">
        <p14:creationId xmlns:p14="http://schemas.microsoft.com/office/powerpoint/2010/main" val="2998071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The CIA Triad – </a:t>
            </a:r>
            <a:r>
              <a:rPr lang="en-US" b="1" dirty="0">
                <a:solidFill>
                  <a:srgbClr val="0000FF"/>
                </a:solidFill>
              </a:rPr>
              <a:t>Confidentiality</a:t>
            </a:r>
            <a:endParaRPr lang="en-MY" b="1"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457200" indent="-457200" algn="just" eaLnBrk="1" hangingPunct="1">
              <a:lnSpc>
                <a:spcPct val="100000"/>
              </a:lnSpc>
              <a:buFont typeface="Wingdings" panose="05000000000000000000" pitchFamily="2" charset="2"/>
              <a:buChar char="q"/>
            </a:pPr>
            <a:r>
              <a:rPr lang="en-US" dirty="0"/>
              <a:t>The assurance of the </a:t>
            </a:r>
            <a:r>
              <a:rPr lang="en-US" b="1" dirty="0">
                <a:solidFill>
                  <a:srgbClr val="FF0000"/>
                </a:solidFill>
              </a:rPr>
              <a:t>secrecy</a:t>
            </a:r>
            <a:r>
              <a:rPr lang="en-US" dirty="0"/>
              <a:t> of the transmitted information, such that the content is readable/accessible only by both the intended sender and receivers</a:t>
            </a:r>
          </a:p>
          <a:p>
            <a:pPr marL="457200" indent="-457200" algn="just" eaLnBrk="1" hangingPunct="1">
              <a:lnSpc>
                <a:spcPct val="100000"/>
              </a:lnSpc>
              <a:buFont typeface="Wingdings" panose="05000000000000000000" pitchFamily="2" charset="2"/>
              <a:buChar char="q"/>
            </a:pPr>
            <a:r>
              <a:rPr lang="en-US" dirty="0"/>
              <a:t>The transmitted data should be protected from </a:t>
            </a:r>
            <a:r>
              <a:rPr lang="en-US" b="1" dirty="0">
                <a:solidFill>
                  <a:srgbClr val="FF0000"/>
                </a:solidFill>
              </a:rPr>
              <a:t>passive attacks</a:t>
            </a:r>
            <a:r>
              <a:rPr lang="en-US" dirty="0"/>
              <a:t>:</a:t>
            </a:r>
          </a:p>
          <a:p>
            <a:pPr marL="685800" lvl="1" indent="-457200" algn="just">
              <a:lnSpc>
                <a:spcPct val="100000"/>
              </a:lnSpc>
              <a:buFont typeface="Wingdings" panose="05000000000000000000" pitchFamily="2" charset="2"/>
              <a:buChar char="v"/>
            </a:pPr>
            <a:r>
              <a:rPr lang="en-US" sz="2000" b="1" dirty="0"/>
              <a:t>Snooping:</a:t>
            </a:r>
          </a:p>
          <a:p>
            <a:pPr marL="685800" lvl="1" indent="-457200" algn="just">
              <a:lnSpc>
                <a:spcPct val="100000"/>
              </a:lnSpc>
              <a:buFont typeface="Wingdings" panose="05000000000000000000" pitchFamily="2" charset="2"/>
              <a:buChar char="Ø"/>
            </a:pPr>
            <a:r>
              <a:rPr lang="en-US" sz="2000" dirty="0"/>
              <a:t>Unauthorized access to / interception of the transmitted data over insecure communication channel.</a:t>
            </a:r>
          </a:p>
          <a:p>
            <a:pPr marL="685800" lvl="1" indent="-457200" algn="just">
              <a:lnSpc>
                <a:spcPct val="100000"/>
              </a:lnSpc>
              <a:buFont typeface="Wingdings" panose="05000000000000000000" pitchFamily="2" charset="2"/>
              <a:buChar char="v"/>
            </a:pPr>
            <a:r>
              <a:rPr lang="en-US" sz="2000" b="1" dirty="0"/>
              <a:t>Traffic analysis:</a:t>
            </a:r>
          </a:p>
          <a:p>
            <a:pPr marL="685800" lvl="1" indent="-457200" algn="just">
              <a:lnSpc>
                <a:spcPct val="100000"/>
              </a:lnSpc>
              <a:buFont typeface="Wingdings" panose="05000000000000000000" pitchFamily="2" charset="2"/>
              <a:buChar char="Ø"/>
            </a:pPr>
            <a:r>
              <a:rPr lang="en-US" sz="2000" dirty="0"/>
              <a:t>Observation over the source, destination, frequency, length or other characteristics of the traffic on a communication facility by an attacker to guess the nature of the transmission.</a:t>
            </a:r>
          </a:p>
        </p:txBody>
      </p:sp>
    </p:spTree>
    <p:extLst>
      <p:ext uri="{BB962C8B-B14F-4D97-AF65-F5344CB8AC3E}">
        <p14:creationId xmlns:p14="http://schemas.microsoft.com/office/powerpoint/2010/main" val="2756352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The CIA Triad – </a:t>
            </a:r>
            <a:r>
              <a:rPr lang="en-US" b="1" dirty="0">
                <a:solidFill>
                  <a:srgbClr val="0000FF"/>
                </a:solidFill>
              </a:rPr>
              <a:t>Confidentiality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454066" y="2106204"/>
            <a:ext cx="5128334" cy="4036534"/>
          </a:xfrm>
        </p:spPr>
        <p:txBody>
          <a:bodyPr>
            <a:noAutofit/>
          </a:bodyPr>
          <a:lstStyle/>
          <a:p>
            <a:pPr>
              <a:lnSpc>
                <a:spcPct val="100000"/>
              </a:lnSpc>
            </a:pPr>
            <a:r>
              <a:rPr lang="en-US" sz="2200" b="1" dirty="0"/>
              <a:t>Example:</a:t>
            </a:r>
          </a:p>
          <a:p>
            <a:pPr marL="342900" indent="-342900" algn="just">
              <a:lnSpc>
                <a:spcPct val="100000"/>
              </a:lnSpc>
              <a:buFont typeface="Arial" panose="020B0604020202020204" pitchFamily="34" charset="0"/>
              <a:buChar char="•"/>
            </a:pPr>
            <a:r>
              <a:rPr lang="en-US" sz="2200" dirty="0"/>
              <a:t>Confidential email message sent by A to B, but accessed by C without the permission or knowledge of A and B.</a:t>
            </a:r>
          </a:p>
          <a:p>
            <a:pPr marL="342900" indent="-342900" algn="just">
              <a:lnSpc>
                <a:spcPct val="100000"/>
              </a:lnSpc>
              <a:buFont typeface="Arial" panose="020B0604020202020204" pitchFamily="34" charset="0"/>
              <a:buChar char="•"/>
            </a:pPr>
            <a:r>
              <a:rPr lang="en-US" sz="2200" b="1" dirty="0"/>
              <a:t>Type of attack – Interception</a:t>
            </a:r>
          </a:p>
          <a:p>
            <a:pPr marL="571500" lvl="1" indent="-342900" algn="just">
              <a:lnSpc>
                <a:spcPct val="100000"/>
              </a:lnSpc>
              <a:buFont typeface="Wingdings" panose="05000000000000000000" pitchFamily="2" charset="2"/>
              <a:buChar char="Ø"/>
            </a:pPr>
            <a:r>
              <a:rPr lang="en-US" sz="2000" dirty="0"/>
              <a:t>Interception causes loss of message (hence violates the confidentiality)</a:t>
            </a:r>
          </a:p>
          <a:p>
            <a:pPr>
              <a:lnSpc>
                <a:spcPct val="100000"/>
              </a:lnSpc>
            </a:pPr>
            <a:endParaRPr lang="en-MY" dirty="0"/>
          </a:p>
        </p:txBody>
      </p:sp>
      <p:grpSp>
        <p:nvGrpSpPr>
          <p:cNvPr id="4" name="Group 2">
            <a:extLst>
              <a:ext uri="{FF2B5EF4-FFF2-40B4-BE49-F238E27FC236}">
                <a16:creationId xmlns:a16="http://schemas.microsoft.com/office/drawing/2014/main" id="{46663801-97B2-477A-2310-DBB402C1DB99}"/>
              </a:ext>
            </a:extLst>
          </p:cNvPr>
          <p:cNvGrpSpPr>
            <a:grpSpLocks/>
          </p:cNvGrpSpPr>
          <p:nvPr/>
        </p:nvGrpSpPr>
        <p:grpSpPr bwMode="auto">
          <a:xfrm>
            <a:off x="609600" y="2239064"/>
            <a:ext cx="5486400" cy="3770813"/>
            <a:chOff x="3465" y="1565"/>
            <a:chExt cx="6300" cy="3195"/>
          </a:xfrm>
        </p:grpSpPr>
        <p:sp>
          <p:nvSpPr>
            <p:cNvPr id="5" name="Rectangle 3">
              <a:extLst>
                <a:ext uri="{FF2B5EF4-FFF2-40B4-BE49-F238E27FC236}">
                  <a16:creationId xmlns:a16="http://schemas.microsoft.com/office/drawing/2014/main" id="{B5707EB6-9689-6C65-94B6-5E8376AC1D1B}"/>
                </a:ext>
              </a:extLst>
            </p:cNvPr>
            <p:cNvSpPr>
              <a:spLocks noChangeArrowheads="1"/>
            </p:cNvSpPr>
            <p:nvPr/>
          </p:nvSpPr>
          <p:spPr bwMode="auto">
            <a:xfrm>
              <a:off x="3465" y="1565"/>
              <a:ext cx="6300" cy="3195"/>
            </a:xfrm>
            <a:prstGeom prst="rect">
              <a:avLst/>
            </a:prstGeom>
            <a:solidFill>
              <a:srgbClr val="FFFFFF"/>
            </a:solidFill>
            <a:ln w="9525">
              <a:solidFill>
                <a:srgbClr val="000000"/>
              </a:solidFill>
              <a:miter lim="800000"/>
              <a:headEnd/>
              <a:tailEnd/>
            </a:ln>
          </p:spPr>
          <p:txBody>
            <a:bodyPr/>
            <a:lstStyle/>
            <a:p>
              <a:endParaRPr lang="en-MY"/>
            </a:p>
          </p:txBody>
        </p:sp>
        <p:sp>
          <p:nvSpPr>
            <p:cNvPr id="6" name="computr1">
              <a:extLst>
                <a:ext uri="{FF2B5EF4-FFF2-40B4-BE49-F238E27FC236}">
                  <a16:creationId xmlns:a16="http://schemas.microsoft.com/office/drawing/2014/main" id="{AC0E672E-0F6C-7B5A-C0D2-FDC3236D266B}"/>
                </a:ext>
              </a:extLst>
            </p:cNvPr>
            <p:cNvSpPr>
              <a:spLocks noEditPoints="1" noChangeArrowheads="1"/>
            </p:cNvSpPr>
            <p:nvPr/>
          </p:nvSpPr>
          <p:spPr bwMode="auto">
            <a:xfrm>
              <a:off x="4154" y="2096"/>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A</a:t>
              </a:r>
            </a:p>
          </p:txBody>
        </p:sp>
        <p:sp>
          <p:nvSpPr>
            <p:cNvPr id="7" name="computr1">
              <a:extLst>
                <a:ext uri="{FF2B5EF4-FFF2-40B4-BE49-F238E27FC236}">
                  <a16:creationId xmlns:a16="http://schemas.microsoft.com/office/drawing/2014/main" id="{8BB63259-D55E-D74C-D0A1-F35C4A924800}"/>
                </a:ext>
              </a:extLst>
            </p:cNvPr>
            <p:cNvSpPr>
              <a:spLocks noEditPoints="1" noChangeArrowheads="1"/>
            </p:cNvSpPr>
            <p:nvPr/>
          </p:nvSpPr>
          <p:spPr bwMode="auto">
            <a:xfrm>
              <a:off x="7904" y="208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B</a:t>
              </a:r>
            </a:p>
          </p:txBody>
        </p:sp>
        <p:sp>
          <p:nvSpPr>
            <p:cNvPr id="8" name="computr1">
              <a:extLst>
                <a:ext uri="{FF2B5EF4-FFF2-40B4-BE49-F238E27FC236}">
                  <a16:creationId xmlns:a16="http://schemas.microsoft.com/office/drawing/2014/main" id="{ADBAA102-162F-4FE4-CA67-1E71F2EFB9DA}"/>
                </a:ext>
              </a:extLst>
            </p:cNvPr>
            <p:cNvSpPr>
              <a:spLocks noEditPoints="1" noChangeArrowheads="1"/>
            </p:cNvSpPr>
            <p:nvPr/>
          </p:nvSpPr>
          <p:spPr bwMode="auto">
            <a:xfrm>
              <a:off x="6029" y="3596"/>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C</a:t>
              </a:r>
            </a:p>
          </p:txBody>
        </p:sp>
        <p:sp>
          <p:nvSpPr>
            <p:cNvPr id="9" name="Text Box 7">
              <a:extLst>
                <a:ext uri="{FF2B5EF4-FFF2-40B4-BE49-F238E27FC236}">
                  <a16:creationId xmlns:a16="http://schemas.microsoft.com/office/drawing/2014/main" id="{AAFA2F4C-71D5-3D21-CA0F-1DE11E227B50}"/>
                </a:ext>
              </a:extLst>
            </p:cNvPr>
            <p:cNvSpPr txBox="1">
              <a:spLocks noChangeArrowheads="1"/>
            </p:cNvSpPr>
            <p:nvPr/>
          </p:nvSpPr>
          <p:spPr bwMode="auto">
            <a:xfrm>
              <a:off x="6030" y="2163"/>
              <a:ext cx="885" cy="540"/>
            </a:xfrm>
            <a:prstGeom prst="rect">
              <a:avLst/>
            </a:prstGeom>
            <a:solidFill>
              <a:srgbClr val="FFFFFF"/>
            </a:solidFill>
            <a:ln w="9525">
              <a:solidFill>
                <a:srgbClr val="000000"/>
              </a:solidFill>
              <a:miter lim="800000"/>
              <a:headEnd/>
              <a:tailEnd/>
            </a:ln>
          </p:spPr>
          <p:txBody>
            <a:bodyPr/>
            <a:lstStyle/>
            <a:p>
              <a:pPr algn="ctr"/>
              <a:r>
                <a:rPr lang="en-US" sz="1200" b="1">
                  <a:latin typeface="Times New Roman" pitchFamily="18" charset="0"/>
                </a:rPr>
                <a:t>Secret</a:t>
              </a:r>
            </a:p>
          </p:txBody>
        </p:sp>
        <p:sp>
          <p:nvSpPr>
            <p:cNvPr id="10" name="Rectangle 8">
              <a:extLst>
                <a:ext uri="{FF2B5EF4-FFF2-40B4-BE49-F238E27FC236}">
                  <a16:creationId xmlns:a16="http://schemas.microsoft.com/office/drawing/2014/main" id="{48CCCD06-9062-84AA-E832-D280539F105E}"/>
                </a:ext>
              </a:extLst>
            </p:cNvPr>
            <p:cNvSpPr>
              <a:spLocks noChangeArrowheads="1"/>
            </p:cNvSpPr>
            <p:nvPr/>
          </p:nvSpPr>
          <p:spPr bwMode="auto">
            <a:xfrm>
              <a:off x="4995" y="2373"/>
              <a:ext cx="1005" cy="143"/>
            </a:xfrm>
            <a:prstGeom prst="rect">
              <a:avLst/>
            </a:prstGeom>
            <a:solidFill>
              <a:srgbClr val="333333"/>
            </a:solidFill>
            <a:ln w="9525">
              <a:solidFill>
                <a:srgbClr val="000000"/>
              </a:solidFill>
              <a:miter lim="800000"/>
              <a:headEnd/>
              <a:tailEnd/>
            </a:ln>
          </p:spPr>
          <p:txBody>
            <a:bodyPr/>
            <a:lstStyle/>
            <a:p>
              <a:endParaRPr lang="en-MY"/>
            </a:p>
          </p:txBody>
        </p:sp>
        <p:sp>
          <p:nvSpPr>
            <p:cNvPr id="11" name="AutoShape 9">
              <a:extLst>
                <a:ext uri="{FF2B5EF4-FFF2-40B4-BE49-F238E27FC236}">
                  <a16:creationId xmlns:a16="http://schemas.microsoft.com/office/drawing/2014/main" id="{36668369-701E-89B3-9594-4C46D2BBEBD8}"/>
                </a:ext>
              </a:extLst>
            </p:cNvPr>
            <p:cNvSpPr>
              <a:spLocks noChangeArrowheads="1"/>
            </p:cNvSpPr>
            <p:nvPr/>
          </p:nvSpPr>
          <p:spPr bwMode="auto">
            <a:xfrm>
              <a:off x="6930" y="2298"/>
              <a:ext cx="1065" cy="315"/>
            </a:xfrm>
            <a:prstGeom prst="rightArrow">
              <a:avLst>
                <a:gd name="adj1" fmla="val 50000"/>
                <a:gd name="adj2" fmla="val 84524"/>
              </a:avLst>
            </a:prstGeom>
            <a:solidFill>
              <a:srgbClr val="333333"/>
            </a:solidFill>
            <a:ln w="9525">
              <a:solidFill>
                <a:srgbClr val="000000"/>
              </a:solidFill>
              <a:miter lim="800000"/>
              <a:headEnd/>
              <a:tailEnd/>
            </a:ln>
          </p:spPr>
          <p:txBody>
            <a:bodyPr/>
            <a:lstStyle/>
            <a:p>
              <a:endParaRPr lang="en-MY"/>
            </a:p>
          </p:txBody>
        </p:sp>
        <p:sp>
          <p:nvSpPr>
            <p:cNvPr id="12" name="AutoShape 10" descr="Large checker board">
              <a:extLst>
                <a:ext uri="{FF2B5EF4-FFF2-40B4-BE49-F238E27FC236}">
                  <a16:creationId xmlns:a16="http://schemas.microsoft.com/office/drawing/2014/main" id="{50EC21A9-B3A1-629B-B547-2159B72A0DF1}"/>
                </a:ext>
              </a:extLst>
            </p:cNvPr>
            <p:cNvSpPr>
              <a:spLocks noChangeArrowheads="1"/>
            </p:cNvSpPr>
            <p:nvPr/>
          </p:nvSpPr>
          <p:spPr bwMode="auto">
            <a:xfrm>
              <a:off x="6270" y="2718"/>
              <a:ext cx="338" cy="840"/>
            </a:xfrm>
            <a:prstGeom prst="upArrow">
              <a:avLst>
                <a:gd name="adj1" fmla="val 50000"/>
                <a:gd name="adj2" fmla="val 62130"/>
              </a:avLst>
            </a:prstGeom>
            <a:pattFill prst="lgCheck">
              <a:fgClr>
                <a:srgbClr val="333333"/>
              </a:fgClr>
              <a:bgClr>
                <a:srgbClr val="FFFFFF"/>
              </a:bgClr>
            </a:pattFill>
            <a:ln w="9525">
              <a:solidFill>
                <a:srgbClr val="000000"/>
              </a:solidFill>
              <a:miter lim="800000"/>
              <a:headEnd/>
              <a:tailEnd/>
            </a:ln>
          </p:spPr>
          <p:txBody>
            <a:bodyPr/>
            <a:lstStyle/>
            <a:p>
              <a:endParaRPr lang="en-MY"/>
            </a:p>
          </p:txBody>
        </p:sp>
      </p:grpSp>
    </p:spTree>
    <p:extLst>
      <p:ext uri="{BB962C8B-B14F-4D97-AF65-F5344CB8AC3E}">
        <p14:creationId xmlns:p14="http://schemas.microsoft.com/office/powerpoint/2010/main" val="527227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The CIA Triad – </a:t>
            </a:r>
            <a:r>
              <a:rPr lang="en-US" b="1" dirty="0">
                <a:solidFill>
                  <a:srgbClr val="0000FF"/>
                </a:solidFill>
              </a:rPr>
              <a:t>Integrity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q"/>
            </a:pPr>
            <a:r>
              <a:rPr lang="en-US" sz="2200" dirty="0"/>
              <a:t>The assurance that data received are </a:t>
            </a:r>
            <a:r>
              <a:rPr lang="en-US" sz="2200" b="1" dirty="0">
                <a:solidFill>
                  <a:srgbClr val="FF0000"/>
                </a:solidFill>
              </a:rPr>
              <a:t>the same </a:t>
            </a:r>
            <a:r>
              <a:rPr lang="en-US" sz="2200" dirty="0"/>
              <a:t>as sent by an authorized entity. </a:t>
            </a:r>
          </a:p>
          <a:p>
            <a:pPr marL="342900" indent="-342900" algn="just">
              <a:lnSpc>
                <a:spcPct val="100000"/>
              </a:lnSpc>
              <a:buFont typeface="Wingdings" panose="05000000000000000000" pitchFamily="2" charset="2"/>
              <a:buChar char="q"/>
            </a:pPr>
            <a:r>
              <a:rPr lang="en-US" sz="2200" dirty="0"/>
              <a:t>The message from the sender to the receiver must travel without any alterations</a:t>
            </a:r>
          </a:p>
          <a:p>
            <a:pPr marL="342900" indent="-342900" algn="just">
              <a:lnSpc>
                <a:spcPct val="100000"/>
              </a:lnSpc>
              <a:buFont typeface="Wingdings" panose="05000000000000000000" pitchFamily="2" charset="2"/>
              <a:buChar char="q"/>
            </a:pPr>
            <a:r>
              <a:rPr lang="en-US" sz="2200" dirty="0"/>
              <a:t>Any changes to a message / transmitted data are detectable and verifiable by the entities.</a:t>
            </a:r>
          </a:p>
          <a:p>
            <a:pPr marL="342900" indent="-342900" algn="just" eaLnBrk="1" hangingPunct="1">
              <a:lnSpc>
                <a:spcPct val="100000"/>
              </a:lnSpc>
              <a:buFont typeface="Wingdings" panose="05000000000000000000" pitchFamily="2" charset="2"/>
              <a:buChar char="q"/>
            </a:pPr>
            <a:r>
              <a:rPr lang="en-US" sz="2200" dirty="0"/>
              <a:t>The transmitted data should be protected from </a:t>
            </a:r>
            <a:r>
              <a:rPr lang="en-US" sz="2200" b="1" dirty="0">
                <a:solidFill>
                  <a:srgbClr val="FF0000"/>
                </a:solidFill>
              </a:rPr>
              <a:t>active attacks</a:t>
            </a:r>
            <a:r>
              <a:rPr lang="en-US" sz="2200" dirty="0"/>
              <a:t>:</a:t>
            </a:r>
          </a:p>
          <a:p>
            <a:pPr marL="571500" lvl="1" indent="-342900" algn="just">
              <a:lnSpc>
                <a:spcPct val="100000"/>
              </a:lnSpc>
              <a:buFont typeface="Wingdings" panose="05000000000000000000" pitchFamily="2" charset="2"/>
              <a:buChar char="v"/>
            </a:pPr>
            <a:r>
              <a:rPr lang="en-US" sz="2000" b="1" dirty="0"/>
              <a:t>Modification </a:t>
            </a:r>
            <a:r>
              <a:rPr lang="en-US" sz="2000" dirty="0"/>
              <a:t>– The data is modified / changed by an attacker for its benefits.</a:t>
            </a:r>
          </a:p>
          <a:p>
            <a:pPr marL="571500" lvl="1" indent="-342900" algn="just">
              <a:lnSpc>
                <a:spcPct val="100000"/>
              </a:lnSpc>
              <a:buFont typeface="Wingdings" panose="05000000000000000000" pitchFamily="2" charset="2"/>
              <a:buChar char="v"/>
            </a:pPr>
            <a:r>
              <a:rPr lang="en-US" sz="2000" b="1" dirty="0"/>
              <a:t>Masquerading </a:t>
            </a:r>
            <a:r>
              <a:rPr lang="en-US" sz="2000" dirty="0"/>
              <a:t>– An entity  is impersonated by an attacker.</a:t>
            </a:r>
          </a:p>
          <a:p>
            <a:pPr marL="571500" lvl="1" indent="-342900" algn="just">
              <a:lnSpc>
                <a:spcPct val="100000"/>
              </a:lnSpc>
              <a:buFont typeface="Wingdings" panose="05000000000000000000" pitchFamily="2" charset="2"/>
              <a:buChar char="v"/>
            </a:pPr>
            <a:r>
              <a:rPr lang="en-US" sz="2000" b="1" dirty="0"/>
              <a:t>Replaying </a:t>
            </a:r>
            <a:r>
              <a:rPr lang="en-US" sz="2000" dirty="0"/>
              <a:t>– Obtain of the same message / data sent and replayed for its benefits. </a:t>
            </a:r>
          </a:p>
          <a:p>
            <a:pPr marL="571500" lvl="1" indent="-342900" algn="just">
              <a:lnSpc>
                <a:spcPct val="100000"/>
              </a:lnSpc>
              <a:buFont typeface="Wingdings" panose="05000000000000000000" pitchFamily="2" charset="2"/>
              <a:buChar char="v"/>
            </a:pPr>
            <a:r>
              <a:rPr lang="en-US" sz="2000" b="1" dirty="0"/>
              <a:t>Repudiation </a:t>
            </a:r>
            <a:r>
              <a:rPr lang="en-US" sz="2000" dirty="0"/>
              <a:t>– The denial of entity (sender or receiver) that sent or received the message.</a:t>
            </a:r>
          </a:p>
        </p:txBody>
      </p:sp>
    </p:spTree>
    <p:extLst>
      <p:ext uri="{BB962C8B-B14F-4D97-AF65-F5344CB8AC3E}">
        <p14:creationId xmlns:p14="http://schemas.microsoft.com/office/powerpoint/2010/main" val="288804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The CIA Triad – </a:t>
            </a:r>
            <a:r>
              <a:rPr lang="en-US" b="1" dirty="0">
                <a:solidFill>
                  <a:srgbClr val="0000FF"/>
                </a:solidFill>
              </a:rPr>
              <a:t>Integrity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5534479" y="2106204"/>
            <a:ext cx="6047921" cy="4036534"/>
          </a:xfrm>
        </p:spPr>
        <p:txBody>
          <a:bodyPr>
            <a:noAutofit/>
          </a:bodyPr>
          <a:lstStyle/>
          <a:p>
            <a:pPr algn="just">
              <a:lnSpc>
                <a:spcPct val="100000"/>
              </a:lnSpc>
            </a:pPr>
            <a:r>
              <a:rPr lang="en-US" sz="2200" b="1" dirty="0"/>
              <a:t>Example:</a:t>
            </a:r>
          </a:p>
          <a:p>
            <a:pPr marL="342900" indent="-342900" algn="just">
              <a:lnSpc>
                <a:spcPct val="100000"/>
              </a:lnSpc>
              <a:buFont typeface="Arial" panose="020B0604020202020204" pitchFamily="34" charset="0"/>
              <a:buChar char="•"/>
            </a:pPr>
            <a:r>
              <a:rPr lang="en-US" sz="2200" dirty="0"/>
              <a:t>User C tampers with an original message sent by user A to B. User C access and change its contents and relay it to B.</a:t>
            </a:r>
          </a:p>
          <a:p>
            <a:pPr marL="342900" indent="-342900" algn="just">
              <a:lnSpc>
                <a:spcPct val="100000"/>
              </a:lnSpc>
              <a:buFont typeface="Arial" panose="020B0604020202020204" pitchFamily="34" charset="0"/>
              <a:buChar char="•"/>
            </a:pPr>
            <a:r>
              <a:rPr lang="en-US" sz="2200" dirty="0"/>
              <a:t>However, both users B and A have no idea about the changes done.</a:t>
            </a:r>
          </a:p>
          <a:p>
            <a:pPr marL="342900" indent="-342900" algn="just">
              <a:lnSpc>
                <a:spcPct val="100000"/>
              </a:lnSpc>
              <a:buFont typeface="Arial" panose="020B0604020202020204" pitchFamily="34" charset="0"/>
              <a:buChar char="•"/>
            </a:pPr>
            <a:r>
              <a:rPr lang="en-US" sz="2200" b="1" dirty="0"/>
              <a:t>Type of attack:</a:t>
            </a:r>
            <a:r>
              <a:rPr lang="en-US" sz="2200" dirty="0"/>
              <a:t> </a:t>
            </a:r>
            <a:r>
              <a:rPr lang="en-US" sz="2200" b="1" dirty="0"/>
              <a:t>Modification</a:t>
            </a:r>
          </a:p>
          <a:p>
            <a:pPr marL="571500" lvl="1" indent="-342900" algn="just">
              <a:lnSpc>
                <a:spcPct val="100000"/>
              </a:lnSpc>
              <a:buFont typeface="Wingdings" panose="05000000000000000000" pitchFamily="2" charset="2"/>
              <a:buChar char="Ø"/>
            </a:pPr>
            <a:r>
              <a:rPr lang="en-US" sz="2000" dirty="0"/>
              <a:t>Modification causes loss of message integrity.</a:t>
            </a:r>
          </a:p>
        </p:txBody>
      </p:sp>
      <p:grpSp>
        <p:nvGrpSpPr>
          <p:cNvPr id="4" name="Group 3">
            <a:extLst>
              <a:ext uri="{FF2B5EF4-FFF2-40B4-BE49-F238E27FC236}">
                <a16:creationId xmlns:a16="http://schemas.microsoft.com/office/drawing/2014/main" id="{66B1DD26-8107-8C5D-5F8C-D26F4B6CC85C}"/>
              </a:ext>
            </a:extLst>
          </p:cNvPr>
          <p:cNvGrpSpPr>
            <a:grpSpLocks/>
          </p:cNvGrpSpPr>
          <p:nvPr/>
        </p:nvGrpSpPr>
        <p:grpSpPr bwMode="auto">
          <a:xfrm>
            <a:off x="609600" y="2219471"/>
            <a:ext cx="4648200" cy="3810000"/>
            <a:chOff x="3105" y="1610"/>
            <a:chExt cx="6300" cy="3779"/>
          </a:xfrm>
        </p:grpSpPr>
        <p:sp>
          <p:nvSpPr>
            <p:cNvPr id="5" name="Rectangle 4">
              <a:extLst>
                <a:ext uri="{FF2B5EF4-FFF2-40B4-BE49-F238E27FC236}">
                  <a16:creationId xmlns:a16="http://schemas.microsoft.com/office/drawing/2014/main" id="{FE74AC5E-E6EF-0DE3-5396-49349EE5D1A9}"/>
                </a:ext>
              </a:extLst>
            </p:cNvPr>
            <p:cNvSpPr>
              <a:spLocks noChangeArrowheads="1"/>
            </p:cNvSpPr>
            <p:nvPr/>
          </p:nvSpPr>
          <p:spPr bwMode="auto">
            <a:xfrm>
              <a:off x="3105" y="1610"/>
              <a:ext cx="6300" cy="3779"/>
            </a:xfrm>
            <a:prstGeom prst="rect">
              <a:avLst/>
            </a:prstGeom>
            <a:solidFill>
              <a:srgbClr val="FFFFFF"/>
            </a:solidFill>
            <a:ln w="9525">
              <a:solidFill>
                <a:srgbClr val="000000"/>
              </a:solidFill>
              <a:miter lim="800000"/>
              <a:headEnd/>
              <a:tailEnd/>
            </a:ln>
          </p:spPr>
          <p:txBody>
            <a:bodyPr/>
            <a:lstStyle/>
            <a:p>
              <a:endParaRPr lang="en-MY"/>
            </a:p>
          </p:txBody>
        </p:sp>
        <p:sp>
          <p:nvSpPr>
            <p:cNvPr id="6" name="computr1">
              <a:extLst>
                <a:ext uri="{FF2B5EF4-FFF2-40B4-BE49-F238E27FC236}">
                  <a16:creationId xmlns:a16="http://schemas.microsoft.com/office/drawing/2014/main" id="{4828A2B8-8FA0-DA83-3054-8A885F7FAFBD}"/>
                </a:ext>
              </a:extLst>
            </p:cNvPr>
            <p:cNvSpPr>
              <a:spLocks noEditPoints="1" noChangeArrowheads="1"/>
            </p:cNvSpPr>
            <p:nvPr/>
          </p:nvSpPr>
          <p:spPr bwMode="auto">
            <a:xfrm>
              <a:off x="3449" y="211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A</a:t>
              </a:r>
            </a:p>
          </p:txBody>
        </p:sp>
        <p:sp>
          <p:nvSpPr>
            <p:cNvPr id="7" name="computr1">
              <a:extLst>
                <a:ext uri="{FF2B5EF4-FFF2-40B4-BE49-F238E27FC236}">
                  <a16:creationId xmlns:a16="http://schemas.microsoft.com/office/drawing/2014/main" id="{03C1E6DE-F32E-D658-5BB5-3B6375DEA2F7}"/>
                </a:ext>
              </a:extLst>
            </p:cNvPr>
            <p:cNvSpPr>
              <a:spLocks noEditPoints="1" noChangeArrowheads="1"/>
            </p:cNvSpPr>
            <p:nvPr/>
          </p:nvSpPr>
          <p:spPr bwMode="auto">
            <a:xfrm>
              <a:off x="7994" y="2126"/>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B</a:t>
              </a:r>
            </a:p>
          </p:txBody>
        </p:sp>
        <p:sp>
          <p:nvSpPr>
            <p:cNvPr id="8" name="computr1">
              <a:extLst>
                <a:ext uri="{FF2B5EF4-FFF2-40B4-BE49-F238E27FC236}">
                  <a16:creationId xmlns:a16="http://schemas.microsoft.com/office/drawing/2014/main" id="{7B1815B0-C755-42BC-0060-53FF4EE341D2}"/>
                </a:ext>
              </a:extLst>
            </p:cNvPr>
            <p:cNvSpPr>
              <a:spLocks noEditPoints="1" noChangeArrowheads="1"/>
            </p:cNvSpPr>
            <p:nvPr/>
          </p:nvSpPr>
          <p:spPr bwMode="auto">
            <a:xfrm>
              <a:off x="5535" y="421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C</a:t>
              </a:r>
            </a:p>
          </p:txBody>
        </p:sp>
        <p:sp>
          <p:nvSpPr>
            <p:cNvPr id="9" name="AutoShape 8" descr="Large checker board">
              <a:extLst>
                <a:ext uri="{FF2B5EF4-FFF2-40B4-BE49-F238E27FC236}">
                  <a16:creationId xmlns:a16="http://schemas.microsoft.com/office/drawing/2014/main" id="{34CE3B1F-9AE7-50B4-2973-F45398545163}"/>
                </a:ext>
              </a:extLst>
            </p:cNvPr>
            <p:cNvSpPr>
              <a:spLocks noChangeArrowheads="1"/>
            </p:cNvSpPr>
            <p:nvPr/>
          </p:nvSpPr>
          <p:spPr bwMode="auto">
            <a:xfrm rot="-2397925">
              <a:off x="4740" y="2820"/>
              <a:ext cx="390" cy="945"/>
            </a:xfrm>
            <a:prstGeom prst="downArrow">
              <a:avLst>
                <a:gd name="adj1" fmla="val 50000"/>
                <a:gd name="adj2" fmla="val 60577"/>
              </a:avLst>
            </a:prstGeom>
            <a:pattFill prst="lgCheck">
              <a:fgClr>
                <a:srgbClr val="333333"/>
              </a:fgClr>
              <a:bgClr>
                <a:srgbClr val="FFFFFF"/>
              </a:bgClr>
            </a:pattFill>
            <a:ln w="9525">
              <a:solidFill>
                <a:srgbClr val="000000"/>
              </a:solidFill>
              <a:miter lim="800000"/>
              <a:headEnd/>
              <a:tailEnd/>
            </a:ln>
          </p:spPr>
          <p:txBody>
            <a:bodyPr/>
            <a:lstStyle/>
            <a:p>
              <a:endParaRPr lang="en-MY"/>
            </a:p>
          </p:txBody>
        </p:sp>
        <p:sp>
          <p:nvSpPr>
            <p:cNvPr id="10" name="AutoShape 9" descr="Large checker board">
              <a:extLst>
                <a:ext uri="{FF2B5EF4-FFF2-40B4-BE49-F238E27FC236}">
                  <a16:creationId xmlns:a16="http://schemas.microsoft.com/office/drawing/2014/main" id="{4FF6576F-6110-6B61-908A-6C3303BD0222}"/>
                </a:ext>
              </a:extLst>
            </p:cNvPr>
            <p:cNvSpPr>
              <a:spLocks noChangeArrowheads="1"/>
            </p:cNvSpPr>
            <p:nvPr/>
          </p:nvSpPr>
          <p:spPr bwMode="auto">
            <a:xfrm rot="2117320">
              <a:off x="6945" y="2895"/>
              <a:ext cx="450" cy="900"/>
            </a:xfrm>
            <a:prstGeom prst="upArrow">
              <a:avLst>
                <a:gd name="adj1" fmla="val 50000"/>
                <a:gd name="adj2" fmla="val 50000"/>
              </a:avLst>
            </a:prstGeom>
            <a:pattFill prst="lgCheck">
              <a:fgClr>
                <a:srgbClr val="333333"/>
              </a:fgClr>
              <a:bgClr>
                <a:srgbClr val="FFFFFF"/>
              </a:bgClr>
            </a:pattFill>
            <a:ln w="9525">
              <a:solidFill>
                <a:srgbClr val="000000"/>
              </a:solidFill>
              <a:miter lim="800000"/>
              <a:headEnd/>
              <a:tailEnd/>
            </a:ln>
          </p:spPr>
          <p:txBody>
            <a:bodyPr/>
            <a:lstStyle/>
            <a:p>
              <a:endParaRPr lang="en-MY"/>
            </a:p>
          </p:txBody>
        </p:sp>
        <p:sp>
          <p:nvSpPr>
            <p:cNvPr id="11" name="AutoShape 10">
              <a:extLst>
                <a:ext uri="{FF2B5EF4-FFF2-40B4-BE49-F238E27FC236}">
                  <a16:creationId xmlns:a16="http://schemas.microsoft.com/office/drawing/2014/main" id="{1BCDADC6-5F0A-E92C-6F1C-F3AB90339ACD}"/>
                </a:ext>
              </a:extLst>
            </p:cNvPr>
            <p:cNvSpPr>
              <a:spLocks noChangeArrowheads="1"/>
            </p:cNvSpPr>
            <p:nvPr/>
          </p:nvSpPr>
          <p:spPr bwMode="auto">
            <a:xfrm>
              <a:off x="4725" y="2355"/>
              <a:ext cx="3105" cy="510"/>
            </a:xfrm>
            <a:prstGeom prst="rightArrow">
              <a:avLst>
                <a:gd name="adj1" fmla="val 50000"/>
                <a:gd name="adj2" fmla="val 152206"/>
              </a:avLst>
            </a:prstGeom>
            <a:solidFill>
              <a:srgbClr val="333333"/>
            </a:solidFill>
            <a:ln w="9525">
              <a:solidFill>
                <a:srgbClr val="000000"/>
              </a:solidFill>
              <a:prstDash val="sysDot"/>
              <a:miter lim="800000"/>
              <a:headEnd/>
              <a:tailEnd/>
            </a:ln>
          </p:spPr>
          <p:txBody>
            <a:bodyPr/>
            <a:lstStyle/>
            <a:p>
              <a:pPr algn="ctr"/>
              <a:endParaRPr lang="en-US" sz="1200" b="1">
                <a:latin typeface="Times New Roman" pitchFamily="18" charset="0"/>
              </a:endParaRPr>
            </a:p>
          </p:txBody>
        </p:sp>
        <p:sp>
          <p:nvSpPr>
            <p:cNvPr id="12" name="Text Box 11">
              <a:extLst>
                <a:ext uri="{FF2B5EF4-FFF2-40B4-BE49-F238E27FC236}">
                  <a16:creationId xmlns:a16="http://schemas.microsoft.com/office/drawing/2014/main" id="{8826E5FA-684B-E4FD-9A49-BDDC3906EA35}"/>
                </a:ext>
              </a:extLst>
            </p:cNvPr>
            <p:cNvSpPr txBox="1">
              <a:spLocks noChangeArrowheads="1"/>
            </p:cNvSpPr>
            <p:nvPr/>
          </p:nvSpPr>
          <p:spPr bwMode="auto">
            <a:xfrm>
              <a:off x="3480" y="3300"/>
              <a:ext cx="1065" cy="825"/>
            </a:xfrm>
            <a:prstGeom prst="rect">
              <a:avLst/>
            </a:prstGeom>
            <a:solidFill>
              <a:srgbClr val="FFFFFF"/>
            </a:solidFill>
            <a:ln w="9525">
              <a:solidFill>
                <a:srgbClr val="000000"/>
              </a:solidFill>
              <a:miter lim="800000"/>
              <a:headEnd/>
              <a:tailEnd/>
            </a:ln>
          </p:spPr>
          <p:txBody>
            <a:bodyPr/>
            <a:lstStyle/>
            <a:p>
              <a:pPr algn="ctr"/>
              <a:r>
                <a:rPr lang="en-US" sz="1200" b="1">
                  <a:latin typeface="Times New Roman" pitchFamily="18" charset="0"/>
                </a:rPr>
                <a:t>Transfer RM 100 </a:t>
              </a:r>
            </a:p>
            <a:p>
              <a:pPr algn="ctr"/>
              <a:r>
                <a:rPr lang="en-US" sz="1200" b="1">
                  <a:latin typeface="Times New Roman" pitchFamily="18" charset="0"/>
                </a:rPr>
                <a:t>to D</a:t>
              </a:r>
            </a:p>
          </p:txBody>
        </p:sp>
        <p:sp>
          <p:nvSpPr>
            <p:cNvPr id="13" name="Text Box 12">
              <a:extLst>
                <a:ext uri="{FF2B5EF4-FFF2-40B4-BE49-F238E27FC236}">
                  <a16:creationId xmlns:a16="http://schemas.microsoft.com/office/drawing/2014/main" id="{088D3399-A59B-B701-D58C-BD770BC36CA5}"/>
                </a:ext>
              </a:extLst>
            </p:cNvPr>
            <p:cNvSpPr txBox="1">
              <a:spLocks noChangeArrowheads="1"/>
            </p:cNvSpPr>
            <p:nvPr/>
          </p:nvSpPr>
          <p:spPr bwMode="auto">
            <a:xfrm>
              <a:off x="7890" y="3390"/>
              <a:ext cx="1065" cy="825"/>
            </a:xfrm>
            <a:prstGeom prst="rect">
              <a:avLst/>
            </a:prstGeom>
            <a:solidFill>
              <a:srgbClr val="FFFFFF"/>
            </a:solidFill>
            <a:ln w="9525">
              <a:solidFill>
                <a:srgbClr val="000000"/>
              </a:solidFill>
              <a:miter lim="800000"/>
              <a:headEnd/>
              <a:tailEnd/>
            </a:ln>
          </p:spPr>
          <p:txBody>
            <a:bodyPr/>
            <a:lstStyle/>
            <a:p>
              <a:pPr algn="ctr"/>
              <a:r>
                <a:rPr lang="en-US" sz="1200" b="1">
                  <a:latin typeface="Times New Roman" pitchFamily="18" charset="0"/>
                </a:rPr>
                <a:t>Transfer RM1000 </a:t>
              </a:r>
            </a:p>
            <a:p>
              <a:pPr algn="ctr"/>
              <a:r>
                <a:rPr lang="en-US" sz="1200" b="1">
                  <a:latin typeface="Times New Roman" pitchFamily="18" charset="0"/>
                </a:rPr>
                <a:t>to C</a:t>
              </a:r>
            </a:p>
          </p:txBody>
        </p:sp>
        <p:sp>
          <p:nvSpPr>
            <p:cNvPr id="14" name="Text Box 13">
              <a:extLst>
                <a:ext uri="{FF2B5EF4-FFF2-40B4-BE49-F238E27FC236}">
                  <a16:creationId xmlns:a16="http://schemas.microsoft.com/office/drawing/2014/main" id="{3A981987-B009-EEFB-0DDA-82386C7D0544}"/>
                </a:ext>
              </a:extLst>
            </p:cNvPr>
            <p:cNvSpPr txBox="1">
              <a:spLocks noChangeArrowheads="1"/>
            </p:cNvSpPr>
            <p:nvPr/>
          </p:nvSpPr>
          <p:spPr bwMode="auto">
            <a:xfrm>
              <a:off x="4695" y="1935"/>
              <a:ext cx="2640" cy="420"/>
            </a:xfrm>
            <a:prstGeom prst="rect">
              <a:avLst/>
            </a:prstGeom>
            <a:solidFill>
              <a:srgbClr val="FFFFFF"/>
            </a:solidFill>
            <a:ln w="9525">
              <a:noFill/>
              <a:miter lim="800000"/>
              <a:headEnd/>
              <a:tailEnd/>
            </a:ln>
          </p:spPr>
          <p:txBody>
            <a:bodyPr/>
            <a:lstStyle/>
            <a:p>
              <a:pPr algn="ctr"/>
              <a:r>
                <a:rPr lang="en-US" sz="1200" b="1">
                  <a:latin typeface="Times New Roman" pitchFamily="18" charset="0"/>
                </a:rPr>
                <a:t>Ideal route of the message</a:t>
              </a:r>
            </a:p>
          </p:txBody>
        </p:sp>
        <p:sp>
          <p:nvSpPr>
            <p:cNvPr id="15" name="Text Box 14">
              <a:extLst>
                <a:ext uri="{FF2B5EF4-FFF2-40B4-BE49-F238E27FC236}">
                  <a16:creationId xmlns:a16="http://schemas.microsoft.com/office/drawing/2014/main" id="{D711DF43-B4DA-347B-BCAA-BE4EFC5235E5}"/>
                </a:ext>
              </a:extLst>
            </p:cNvPr>
            <p:cNvSpPr txBox="1">
              <a:spLocks noChangeArrowheads="1"/>
            </p:cNvSpPr>
            <p:nvPr/>
          </p:nvSpPr>
          <p:spPr bwMode="auto">
            <a:xfrm>
              <a:off x="4745" y="3791"/>
              <a:ext cx="2763" cy="420"/>
            </a:xfrm>
            <a:prstGeom prst="rect">
              <a:avLst/>
            </a:prstGeom>
            <a:solidFill>
              <a:srgbClr val="FFFFFF"/>
            </a:solidFill>
            <a:ln w="9525">
              <a:noFill/>
              <a:miter lim="800000"/>
              <a:headEnd/>
              <a:tailEnd/>
            </a:ln>
          </p:spPr>
          <p:txBody>
            <a:bodyPr/>
            <a:lstStyle/>
            <a:p>
              <a:pPr algn="ctr"/>
              <a:r>
                <a:rPr lang="en-US" sz="1200" b="1">
                  <a:latin typeface="Times New Roman" pitchFamily="18" charset="0"/>
                </a:rPr>
                <a:t>Actual route of the message</a:t>
              </a:r>
            </a:p>
          </p:txBody>
        </p:sp>
      </p:grpSp>
    </p:spTree>
    <p:extLst>
      <p:ext uri="{BB962C8B-B14F-4D97-AF65-F5344CB8AC3E}">
        <p14:creationId xmlns:p14="http://schemas.microsoft.com/office/powerpoint/2010/main" val="637446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The CIA Triad – </a:t>
            </a:r>
            <a:r>
              <a:rPr lang="en-US" b="1" dirty="0">
                <a:solidFill>
                  <a:srgbClr val="0000FF"/>
                </a:solidFill>
              </a:rPr>
              <a:t>Availability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3"/>
            <a:ext cx="10972800" cy="4475571"/>
          </a:xfrm>
        </p:spPr>
        <p:txBody>
          <a:bodyPr>
            <a:normAutofit/>
          </a:bodyPr>
          <a:lstStyle/>
          <a:p>
            <a:pPr marL="342900" indent="-342900" algn="just" eaLnBrk="1" hangingPunct="1">
              <a:lnSpc>
                <a:spcPct val="100000"/>
              </a:lnSpc>
              <a:buFont typeface="Wingdings" panose="05000000000000000000" pitchFamily="2" charset="2"/>
              <a:buChar char="q"/>
            </a:pPr>
            <a:r>
              <a:rPr lang="en-US" sz="2200" dirty="0"/>
              <a:t>The assurance of the resources / applications that must be available to authentic users all the time.</a:t>
            </a:r>
          </a:p>
          <a:p>
            <a:pPr marL="342900" indent="-342900" algn="just" eaLnBrk="1" hangingPunct="1">
              <a:lnSpc>
                <a:spcPct val="100000"/>
              </a:lnSpc>
              <a:buFont typeface="Wingdings" panose="05000000000000000000" pitchFamily="2" charset="2"/>
              <a:buChar char="q"/>
            </a:pPr>
            <a:r>
              <a:rPr lang="en-US" sz="2200" dirty="0"/>
              <a:t>It depends on the proper management and control of system resources, as well as the access control service and other security services.</a:t>
            </a:r>
          </a:p>
          <a:p>
            <a:pPr marL="342900" indent="-342900" algn="just">
              <a:lnSpc>
                <a:spcPct val="100000"/>
              </a:lnSpc>
              <a:buFont typeface="Wingdings" panose="05000000000000000000" pitchFamily="2" charset="2"/>
              <a:buChar char="q"/>
            </a:pPr>
            <a:r>
              <a:rPr lang="en-US" sz="2200" dirty="0"/>
              <a:t>The availability of the data should be protected from </a:t>
            </a:r>
            <a:r>
              <a:rPr lang="en-US" sz="2200" b="1" dirty="0">
                <a:solidFill>
                  <a:srgbClr val="FF0000"/>
                </a:solidFill>
              </a:rPr>
              <a:t>active attacks</a:t>
            </a:r>
            <a:r>
              <a:rPr lang="en-US" sz="2200" dirty="0"/>
              <a:t>:</a:t>
            </a:r>
          </a:p>
          <a:p>
            <a:pPr marL="571500" lvl="1" indent="-342900" algn="just">
              <a:lnSpc>
                <a:spcPct val="100000"/>
              </a:lnSpc>
              <a:buFont typeface="Wingdings" panose="05000000000000000000" pitchFamily="2" charset="2"/>
              <a:buChar char="v"/>
            </a:pPr>
            <a:r>
              <a:rPr lang="en-US" sz="2200" b="1" dirty="0"/>
              <a:t>Denial of Service (DoS) </a:t>
            </a:r>
          </a:p>
          <a:p>
            <a:pPr marL="800100" lvl="2" indent="-342900" algn="just">
              <a:lnSpc>
                <a:spcPct val="100000"/>
              </a:lnSpc>
              <a:buFont typeface="Wingdings" panose="05000000000000000000" pitchFamily="2" charset="2"/>
              <a:buChar char="Ø"/>
            </a:pPr>
            <a:r>
              <a:rPr lang="en-US" sz="2000" dirty="0"/>
              <a:t>The slow down of interruption of the service of a system, where an attacker may send many bogus requests to cause the server crashes, making the user / client to believe that the server is not responding.</a:t>
            </a:r>
          </a:p>
          <a:p>
            <a:pPr marL="800100" lvl="2" indent="-342900" algn="just">
              <a:lnSpc>
                <a:spcPct val="100000"/>
              </a:lnSpc>
              <a:buFont typeface="Wingdings" panose="05000000000000000000" pitchFamily="2" charset="2"/>
              <a:buChar char="Ø"/>
            </a:pPr>
            <a:r>
              <a:rPr lang="en-US" sz="2000" dirty="0"/>
              <a:t>The interception of requests made by the client, causing the client to send repetitive requests to overload the system.</a:t>
            </a:r>
          </a:p>
        </p:txBody>
      </p:sp>
    </p:spTree>
    <p:extLst>
      <p:ext uri="{BB962C8B-B14F-4D97-AF65-F5344CB8AC3E}">
        <p14:creationId xmlns:p14="http://schemas.microsoft.com/office/powerpoint/2010/main" val="236132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The CIA Triad – </a:t>
            </a:r>
            <a:r>
              <a:rPr lang="en-US" b="1" dirty="0">
                <a:solidFill>
                  <a:srgbClr val="0000FF"/>
                </a:solidFill>
              </a:rPr>
              <a:t>Availability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0" y="2106204"/>
            <a:ext cx="5486399" cy="4036534"/>
          </a:xfrm>
        </p:spPr>
        <p:txBody>
          <a:bodyPr>
            <a:noAutofit/>
          </a:bodyPr>
          <a:lstStyle/>
          <a:p>
            <a:pPr algn="just">
              <a:lnSpc>
                <a:spcPct val="100000"/>
              </a:lnSpc>
            </a:pPr>
            <a:r>
              <a:rPr lang="en-US" sz="2200" b="1" dirty="0"/>
              <a:t>Example:</a:t>
            </a:r>
          </a:p>
          <a:p>
            <a:pPr marL="342900" indent="-342900" algn="just">
              <a:lnSpc>
                <a:spcPct val="100000"/>
              </a:lnSpc>
              <a:buFont typeface="Arial" panose="020B0604020202020204" pitchFamily="34" charset="0"/>
              <a:buChar char="•"/>
            </a:pPr>
            <a:r>
              <a:rPr lang="en-US" sz="2200" dirty="0"/>
              <a:t>Due to intentional actions of an unauthorized user C, an authorized user A may not be able to contact a server computer B</a:t>
            </a:r>
          </a:p>
          <a:p>
            <a:pPr marL="342900" indent="-342900" algn="just">
              <a:lnSpc>
                <a:spcPct val="100000"/>
              </a:lnSpc>
              <a:buFont typeface="Arial" panose="020B0604020202020204" pitchFamily="34" charset="0"/>
              <a:buChar char="•"/>
            </a:pPr>
            <a:r>
              <a:rPr lang="en-US" sz="2200" b="1" dirty="0"/>
              <a:t>Type of attack: Interruption</a:t>
            </a:r>
          </a:p>
          <a:p>
            <a:pPr marL="571500" lvl="1" indent="-342900" algn="just">
              <a:lnSpc>
                <a:spcPct val="100000"/>
              </a:lnSpc>
              <a:buFont typeface="Wingdings" panose="05000000000000000000" pitchFamily="2" charset="2"/>
              <a:buChar char="Ø"/>
            </a:pPr>
            <a:r>
              <a:rPr lang="en-US" sz="2000" dirty="0"/>
              <a:t>Interruption puts the availability of resources in danger.</a:t>
            </a:r>
          </a:p>
        </p:txBody>
      </p:sp>
      <p:grpSp>
        <p:nvGrpSpPr>
          <p:cNvPr id="4" name="Group 3">
            <a:extLst>
              <a:ext uri="{FF2B5EF4-FFF2-40B4-BE49-F238E27FC236}">
                <a16:creationId xmlns:a16="http://schemas.microsoft.com/office/drawing/2014/main" id="{ECDC9D91-725A-ECE6-71EE-2B85936B818C}"/>
              </a:ext>
            </a:extLst>
          </p:cNvPr>
          <p:cNvGrpSpPr>
            <a:grpSpLocks/>
          </p:cNvGrpSpPr>
          <p:nvPr/>
        </p:nvGrpSpPr>
        <p:grpSpPr bwMode="auto">
          <a:xfrm>
            <a:off x="609600" y="2219471"/>
            <a:ext cx="5257800" cy="3810000"/>
            <a:chOff x="3045" y="1740"/>
            <a:chExt cx="6300" cy="3195"/>
          </a:xfrm>
        </p:grpSpPr>
        <p:sp>
          <p:nvSpPr>
            <p:cNvPr id="5" name="Rectangle 4">
              <a:extLst>
                <a:ext uri="{FF2B5EF4-FFF2-40B4-BE49-F238E27FC236}">
                  <a16:creationId xmlns:a16="http://schemas.microsoft.com/office/drawing/2014/main" id="{8A5C78E6-7A86-6578-0955-AB9C2D85DBDC}"/>
                </a:ext>
              </a:extLst>
            </p:cNvPr>
            <p:cNvSpPr>
              <a:spLocks noChangeArrowheads="1"/>
            </p:cNvSpPr>
            <p:nvPr/>
          </p:nvSpPr>
          <p:spPr bwMode="auto">
            <a:xfrm>
              <a:off x="3045" y="1740"/>
              <a:ext cx="6300" cy="3195"/>
            </a:xfrm>
            <a:prstGeom prst="rect">
              <a:avLst/>
            </a:prstGeom>
            <a:solidFill>
              <a:srgbClr val="FFFFFF"/>
            </a:solidFill>
            <a:ln w="9525">
              <a:solidFill>
                <a:srgbClr val="000000"/>
              </a:solidFill>
              <a:miter lim="800000"/>
              <a:headEnd/>
              <a:tailEnd/>
            </a:ln>
          </p:spPr>
          <p:txBody>
            <a:bodyPr/>
            <a:lstStyle/>
            <a:p>
              <a:endParaRPr lang="en-MY"/>
            </a:p>
          </p:txBody>
        </p:sp>
        <p:sp>
          <p:nvSpPr>
            <p:cNvPr id="6" name="computr1">
              <a:extLst>
                <a:ext uri="{FF2B5EF4-FFF2-40B4-BE49-F238E27FC236}">
                  <a16:creationId xmlns:a16="http://schemas.microsoft.com/office/drawing/2014/main" id="{FF0AAB8A-3E41-407C-47AF-EEA2848A48A5}"/>
                </a:ext>
              </a:extLst>
            </p:cNvPr>
            <p:cNvSpPr>
              <a:spLocks noEditPoints="1" noChangeArrowheads="1"/>
            </p:cNvSpPr>
            <p:nvPr/>
          </p:nvSpPr>
          <p:spPr bwMode="auto">
            <a:xfrm>
              <a:off x="3734" y="227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A</a:t>
              </a:r>
            </a:p>
          </p:txBody>
        </p:sp>
        <p:sp>
          <p:nvSpPr>
            <p:cNvPr id="7" name="computr1">
              <a:extLst>
                <a:ext uri="{FF2B5EF4-FFF2-40B4-BE49-F238E27FC236}">
                  <a16:creationId xmlns:a16="http://schemas.microsoft.com/office/drawing/2014/main" id="{E359C453-1301-7C34-6A05-B8FE48896951}"/>
                </a:ext>
              </a:extLst>
            </p:cNvPr>
            <p:cNvSpPr>
              <a:spLocks noEditPoints="1" noChangeArrowheads="1"/>
            </p:cNvSpPr>
            <p:nvPr/>
          </p:nvSpPr>
          <p:spPr bwMode="auto">
            <a:xfrm>
              <a:off x="7484" y="2256"/>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B</a:t>
              </a:r>
            </a:p>
          </p:txBody>
        </p:sp>
        <p:sp>
          <p:nvSpPr>
            <p:cNvPr id="8" name="computr1">
              <a:extLst>
                <a:ext uri="{FF2B5EF4-FFF2-40B4-BE49-F238E27FC236}">
                  <a16:creationId xmlns:a16="http://schemas.microsoft.com/office/drawing/2014/main" id="{EF7198CA-3E62-42EC-E546-0CE7C0D0BE7C}"/>
                </a:ext>
              </a:extLst>
            </p:cNvPr>
            <p:cNvSpPr>
              <a:spLocks noEditPoints="1" noChangeArrowheads="1"/>
            </p:cNvSpPr>
            <p:nvPr/>
          </p:nvSpPr>
          <p:spPr bwMode="auto">
            <a:xfrm>
              <a:off x="5384" y="368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C</a:t>
              </a:r>
            </a:p>
          </p:txBody>
        </p:sp>
        <p:sp>
          <p:nvSpPr>
            <p:cNvPr id="9" name="AutoShape 8">
              <a:extLst>
                <a:ext uri="{FF2B5EF4-FFF2-40B4-BE49-F238E27FC236}">
                  <a16:creationId xmlns:a16="http://schemas.microsoft.com/office/drawing/2014/main" id="{548C852F-1A64-7414-3AC5-8247C644BED8}"/>
                </a:ext>
              </a:extLst>
            </p:cNvPr>
            <p:cNvSpPr>
              <a:spLocks noChangeArrowheads="1"/>
            </p:cNvSpPr>
            <p:nvPr/>
          </p:nvSpPr>
          <p:spPr bwMode="auto">
            <a:xfrm>
              <a:off x="4590" y="2490"/>
              <a:ext cx="1200" cy="300"/>
            </a:xfrm>
            <a:prstGeom prst="rightArrow">
              <a:avLst>
                <a:gd name="adj1" fmla="val 50000"/>
                <a:gd name="adj2" fmla="val 100000"/>
              </a:avLst>
            </a:prstGeom>
            <a:solidFill>
              <a:srgbClr val="333333"/>
            </a:solidFill>
            <a:ln w="9525">
              <a:solidFill>
                <a:srgbClr val="000000"/>
              </a:solidFill>
              <a:miter lim="800000"/>
              <a:headEnd/>
              <a:tailEnd/>
            </a:ln>
          </p:spPr>
          <p:txBody>
            <a:bodyPr/>
            <a:lstStyle/>
            <a:p>
              <a:endParaRPr lang="en-MY"/>
            </a:p>
          </p:txBody>
        </p:sp>
        <p:sp>
          <p:nvSpPr>
            <p:cNvPr id="10" name="Line 9">
              <a:extLst>
                <a:ext uri="{FF2B5EF4-FFF2-40B4-BE49-F238E27FC236}">
                  <a16:creationId xmlns:a16="http://schemas.microsoft.com/office/drawing/2014/main" id="{E3E56E49-8B67-3B33-0AD8-BF32FD428299}"/>
                </a:ext>
              </a:extLst>
            </p:cNvPr>
            <p:cNvSpPr>
              <a:spLocks noChangeShapeType="1"/>
            </p:cNvSpPr>
            <p:nvPr/>
          </p:nvSpPr>
          <p:spPr bwMode="auto">
            <a:xfrm>
              <a:off x="5790" y="2220"/>
              <a:ext cx="0" cy="930"/>
            </a:xfrm>
            <a:prstGeom prst="line">
              <a:avLst/>
            </a:prstGeom>
            <a:noFill/>
            <a:ln w="38100">
              <a:pattFill prst="lgCheck">
                <a:fgClr>
                  <a:srgbClr val="000000"/>
                </a:fgClr>
                <a:bgClr>
                  <a:srgbClr val="FFFFFF"/>
                </a:bgClr>
              </a:pattFill>
              <a:round/>
              <a:headEnd/>
              <a:tailEnd/>
            </a:ln>
          </p:spPr>
          <p:txBody>
            <a:bodyPr/>
            <a:lstStyle/>
            <a:p>
              <a:endParaRPr lang="en-MY"/>
            </a:p>
          </p:txBody>
        </p:sp>
      </p:grpSp>
    </p:spTree>
    <p:extLst>
      <p:ext uri="{BB962C8B-B14F-4D97-AF65-F5344CB8AC3E}">
        <p14:creationId xmlns:p14="http://schemas.microsoft.com/office/powerpoint/2010/main" val="577291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SECURITY </a:t>
            </a:r>
            <a:br>
              <a:rPr lang="en-MY" sz="5400" b="1" dirty="0">
                <a:solidFill>
                  <a:srgbClr val="C00000"/>
                </a:solidFill>
              </a:rPr>
            </a:br>
            <a:r>
              <a:rPr lang="en-MY" sz="5400" b="1" dirty="0">
                <a:solidFill>
                  <a:srgbClr val="C00000"/>
                </a:solidFill>
              </a:rPr>
              <a:t>THREATS / ATTACKS</a:t>
            </a:r>
            <a:br>
              <a:rPr lang="en-MY" sz="5400" b="1" dirty="0">
                <a:solidFill>
                  <a:srgbClr val="C00000"/>
                </a:solidFill>
              </a:rPr>
            </a:b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498412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OSI Security Architecture</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3"/>
            <a:ext cx="10972800" cy="4532721"/>
          </a:xfrm>
        </p:spPr>
        <p:txBody>
          <a:bodyPr>
            <a:normAutofit/>
          </a:bodyPr>
          <a:lstStyle/>
          <a:p>
            <a:pPr marL="457200" indent="-457200" algn="just" eaLnBrk="1" hangingPunct="1">
              <a:lnSpc>
                <a:spcPct val="100000"/>
              </a:lnSpc>
              <a:buFont typeface="Wingdings" panose="05000000000000000000" pitchFamily="2" charset="2"/>
              <a:buChar char="q"/>
            </a:pPr>
            <a:r>
              <a:rPr lang="en-US" sz="2400" b="1" dirty="0"/>
              <a:t>ITU–T </a:t>
            </a:r>
            <a:r>
              <a:rPr lang="en-US" sz="2400" dirty="0"/>
              <a:t>(International Telecommunication Union – Telecommunication Standardization Sector) Recommendation X.800 “Security Architecture for OSI”:</a:t>
            </a:r>
          </a:p>
          <a:p>
            <a:pPr marL="571500" lvl="1" indent="-342900" algn="just" eaLnBrk="1" hangingPunct="1">
              <a:lnSpc>
                <a:spcPct val="100000"/>
              </a:lnSpc>
              <a:buFont typeface="Wingdings" panose="05000000000000000000" pitchFamily="2" charset="2"/>
              <a:buChar char="Ø"/>
            </a:pPr>
            <a:r>
              <a:rPr lang="en-US" sz="2000" dirty="0"/>
              <a:t>Defines a systematic way of defining and providing security requirements and characterizing the approaches to satisfy the requirements. </a:t>
            </a:r>
          </a:p>
          <a:p>
            <a:pPr marL="571500" lvl="1" indent="-342900" algn="just" eaLnBrk="1" hangingPunct="1">
              <a:lnSpc>
                <a:spcPct val="100000"/>
              </a:lnSpc>
              <a:buFont typeface="Wingdings" panose="05000000000000000000" pitchFamily="2" charset="2"/>
              <a:buChar char="Ø"/>
            </a:pPr>
            <a:r>
              <a:rPr lang="en-US" sz="2000" dirty="0"/>
              <a:t>Useful to the managers as a way of organizing the task of providing security .</a:t>
            </a:r>
          </a:p>
          <a:p>
            <a:pPr marL="571500" lvl="1" indent="-342900" algn="just" eaLnBrk="1" hangingPunct="1">
              <a:lnSpc>
                <a:spcPct val="100000"/>
              </a:lnSpc>
              <a:buFont typeface="Wingdings" panose="05000000000000000000" pitchFamily="2" charset="2"/>
              <a:buChar char="Ø"/>
            </a:pPr>
            <a:r>
              <a:rPr lang="en-US" sz="2000" dirty="0"/>
              <a:t>Computer and communication vendors develop security features for their products and services based on this.</a:t>
            </a:r>
          </a:p>
          <a:p>
            <a:pPr marL="571500" lvl="1" indent="-342900" algn="just" eaLnBrk="1" hangingPunct="1">
              <a:lnSpc>
                <a:spcPct val="100000"/>
              </a:lnSpc>
              <a:buFont typeface="Wingdings" panose="05000000000000000000" pitchFamily="2" charset="2"/>
              <a:buChar char="Ø"/>
            </a:pPr>
            <a:r>
              <a:rPr lang="en-AU" sz="2000" dirty="0"/>
              <a:t>Information security is about how to prevent attacks, or failing that, to detect attacks on information-based systems</a:t>
            </a:r>
          </a:p>
          <a:p>
            <a:pPr marL="571500" lvl="1" indent="-342900" algn="just" eaLnBrk="1" hangingPunct="1">
              <a:lnSpc>
                <a:spcPct val="100000"/>
              </a:lnSpc>
              <a:buFont typeface="Wingdings" panose="05000000000000000000" pitchFamily="2" charset="2"/>
              <a:buChar char="Ø"/>
            </a:pPr>
            <a:r>
              <a:rPr lang="en-US" sz="2000" dirty="0"/>
              <a:t>Focuses on 3 aspects of information security: </a:t>
            </a:r>
            <a:r>
              <a:rPr lang="en-US" sz="2000" b="1" dirty="0">
                <a:solidFill>
                  <a:srgbClr val="FF0000"/>
                </a:solidFill>
              </a:rPr>
              <a:t>Security attack</a:t>
            </a:r>
            <a:r>
              <a:rPr lang="en-US" sz="2000" dirty="0"/>
              <a:t>,</a:t>
            </a:r>
            <a:r>
              <a:rPr lang="en-US" sz="2000" b="1" dirty="0"/>
              <a:t> </a:t>
            </a:r>
            <a:r>
              <a:rPr lang="en-US" sz="2000" b="1" dirty="0">
                <a:solidFill>
                  <a:srgbClr val="FF0000"/>
                </a:solidFill>
              </a:rPr>
              <a:t>Security service</a:t>
            </a:r>
            <a:r>
              <a:rPr lang="en-US" sz="2000" dirty="0"/>
              <a:t>,</a:t>
            </a:r>
            <a:r>
              <a:rPr lang="en-US" sz="2000" b="1" dirty="0"/>
              <a:t> </a:t>
            </a:r>
            <a:r>
              <a:rPr lang="en-US" sz="2000" dirty="0"/>
              <a:t> and </a:t>
            </a:r>
            <a:r>
              <a:rPr lang="en-US" sz="2000" b="1" dirty="0">
                <a:solidFill>
                  <a:srgbClr val="FF0000"/>
                </a:solidFill>
              </a:rPr>
              <a:t>Security mechanism</a:t>
            </a:r>
            <a:r>
              <a:rPr lang="en-US" sz="2000" dirty="0"/>
              <a:t>.</a:t>
            </a:r>
          </a:p>
          <a:p>
            <a:pPr marL="342900" indent="-342900">
              <a:buFont typeface="Wingdings" panose="05000000000000000000" pitchFamily="2" charset="2"/>
              <a:buChar char="q"/>
            </a:pPr>
            <a:endParaRPr lang="en-MY" sz="2400" dirty="0"/>
          </a:p>
        </p:txBody>
      </p:sp>
    </p:spTree>
    <p:extLst>
      <p:ext uri="{BB962C8B-B14F-4D97-AF65-F5344CB8AC3E}">
        <p14:creationId xmlns:p14="http://schemas.microsoft.com/office/powerpoint/2010/main" val="3807285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OSI Security Architecture</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4"/>
            <a:ext cx="10972800" cy="4194012"/>
          </a:xfrm>
        </p:spPr>
        <p:txBody>
          <a:bodyPr>
            <a:normAutofit/>
          </a:bodyPr>
          <a:lstStyle/>
          <a:p>
            <a:pPr marL="457200" indent="-457200" algn="just">
              <a:lnSpc>
                <a:spcPct val="100000"/>
              </a:lnSpc>
              <a:buFont typeface="+mj-lt"/>
              <a:buAutoNum type="arabicPeriod"/>
            </a:pPr>
            <a:r>
              <a:rPr lang="en-AU" sz="2400" b="1" dirty="0"/>
              <a:t>Security Attack</a:t>
            </a:r>
          </a:p>
          <a:p>
            <a:pPr marL="685800" lvl="1" indent="-457200" algn="just">
              <a:lnSpc>
                <a:spcPct val="100000"/>
              </a:lnSpc>
              <a:buFont typeface="Wingdings" panose="05000000000000000000" pitchFamily="2" charset="2"/>
              <a:buChar char="Ø"/>
            </a:pPr>
            <a:r>
              <a:rPr lang="en-AU" sz="2200" dirty="0"/>
              <a:t>Any action that compromises the security of information owned by an organization.</a:t>
            </a:r>
            <a:endParaRPr lang="en-AU" sz="2200" b="1" dirty="0"/>
          </a:p>
          <a:p>
            <a:pPr marL="457200" indent="-457200" algn="just">
              <a:lnSpc>
                <a:spcPct val="100000"/>
              </a:lnSpc>
              <a:buFont typeface="+mj-lt"/>
              <a:buAutoNum type="arabicPeriod"/>
            </a:pPr>
            <a:r>
              <a:rPr lang="en-AU" sz="2400" b="1" dirty="0"/>
              <a:t>Security Service</a:t>
            </a:r>
          </a:p>
          <a:p>
            <a:pPr marL="685800" lvl="1" indent="-457200" algn="just">
              <a:lnSpc>
                <a:spcPct val="100000"/>
              </a:lnSpc>
              <a:buFont typeface="Wingdings" panose="05000000000000000000" pitchFamily="2" charset="2"/>
              <a:buChar char="Ø"/>
            </a:pPr>
            <a:r>
              <a:rPr lang="en-AU" sz="2200" dirty="0"/>
              <a:t>A processing or communication service that enhances the security of the data processing systems and information transfers of an organization.</a:t>
            </a:r>
          </a:p>
          <a:p>
            <a:pPr marL="685800" lvl="1" indent="-457200" algn="just">
              <a:lnSpc>
                <a:spcPct val="100000"/>
              </a:lnSpc>
              <a:buFont typeface="Wingdings" panose="05000000000000000000" pitchFamily="2" charset="2"/>
              <a:buChar char="Ø"/>
            </a:pPr>
            <a:r>
              <a:rPr lang="en-AU" sz="2200" dirty="0"/>
              <a:t>To counter security attacks, and may use one or more security mechanisms.</a:t>
            </a:r>
            <a:endParaRPr lang="en-AU" sz="2200" b="1" dirty="0"/>
          </a:p>
          <a:p>
            <a:pPr marL="457200" indent="-457200" algn="just">
              <a:lnSpc>
                <a:spcPct val="100000"/>
              </a:lnSpc>
              <a:buFont typeface="+mj-lt"/>
              <a:buAutoNum type="arabicPeriod"/>
            </a:pPr>
            <a:r>
              <a:rPr lang="en-AU" sz="2400" b="1" dirty="0"/>
              <a:t>Security Mechanism</a:t>
            </a:r>
          </a:p>
          <a:p>
            <a:pPr marL="685800" lvl="1" indent="-457200" algn="just">
              <a:lnSpc>
                <a:spcPct val="100000"/>
              </a:lnSpc>
              <a:buFont typeface="Wingdings" panose="05000000000000000000" pitchFamily="2" charset="2"/>
              <a:buChar char="Ø"/>
            </a:pPr>
            <a:r>
              <a:rPr lang="en-AU" sz="2200" dirty="0"/>
              <a:t>A process or a device incorporating such a process that is designed to detect, prevent, or recover from a security attack.</a:t>
            </a:r>
            <a:endParaRPr lang="en-AU" sz="2200" b="1" dirty="0"/>
          </a:p>
        </p:txBody>
      </p:sp>
    </p:spTree>
    <p:extLst>
      <p:ext uri="{BB962C8B-B14F-4D97-AF65-F5344CB8AC3E}">
        <p14:creationId xmlns:p14="http://schemas.microsoft.com/office/powerpoint/2010/main" val="2588819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OSI Security Architecture</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4"/>
            <a:ext cx="10972800" cy="4194012"/>
          </a:xfrm>
        </p:spPr>
        <p:txBody>
          <a:bodyPr>
            <a:normAutofit/>
          </a:bodyPr>
          <a:lstStyle/>
          <a:p>
            <a:pPr marL="342900" indent="-342900">
              <a:lnSpc>
                <a:spcPct val="100000"/>
              </a:lnSpc>
              <a:buFont typeface="Wingdings" panose="05000000000000000000" pitchFamily="2" charset="2"/>
              <a:buChar char="v"/>
            </a:pPr>
            <a:r>
              <a:rPr lang="en-US" sz="2200" b="1" dirty="0"/>
              <a:t>Definitions</a:t>
            </a:r>
            <a:r>
              <a:rPr lang="en-US" sz="2200" dirty="0"/>
              <a:t> (RFC 2828, Internet Security Glossary):</a:t>
            </a:r>
          </a:p>
          <a:p>
            <a:pPr marL="571500" lvl="1" indent="-342900" algn="just">
              <a:lnSpc>
                <a:spcPct val="100000"/>
              </a:lnSpc>
              <a:buFont typeface="+mj-lt"/>
              <a:buAutoNum type="arabicPeriod"/>
            </a:pPr>
            <a:r>
              <a:rPr lang="en-US" sz="2200" b="1" dirty="0">
                <a:solidFill>
                  <a:srgbClr val="FF0000"/>
                </a:solidFill>
              </a:rPr>
              <a:t>Threat</a:t>
            </a:r>
            <a:r>
              <a:rPr lang="en-US" sz="2200" dirty="0"/>
              <a:t>:</a:t>
            </a:r>
            <a:r>
              <a:rPr lang="en-US" sz="2200" b="1" dirty="0"/>
              <a:t> </a:t>
            </a:r>
          </a:p>
          <a:p>
            <a:pPr marL="800100" lvl="2" indent="-342900" algn="just">
              <a:lnSpc>
                <a:spcPct val="100000"/>
              </a:lnSpc>
              <a:buFont typeface="Wingdings" panose="05000000000000000000" pitchFamily="2" charset="2"/>
              <a:buChar char="Ø"/>
            </a:pPr>
            <a:r>
              <a:rPr lang="en-US" sz="2000" dirty="0"/>
              <a:t>A potential for violation of security, which exists when there is a circumstance, capability, action, or event that could breach security and cause harm. </a:t>
            </a:r>
          </a:p>
          <a:p>
            <a:pPr marL="800100" lvl="2" indent="-342900" algn="just">
              <a:lnSpc>
                <a:spcPct val="100000"/>
              </a:lnSpc>
              <a:buFont typeface="Wingdings" panose="05000000000000000000" pitchFamily="2" charset="2"/>
              <a:buChar char="Ø"/>
            </a:pPr>
            <a:r>
              <a:rPr lang="en-US" sz="2000" dirty="0"/>
              <a:t>A threat is a possible danger that might exploit a vulnerability.</a:t>
            </a:r>
          </a:p>
          <a:p>
            <a:pPr marL="571500" lvl="1" indent="-342900" algn="just">
              <a:lnSpc>
                <a:spcPct val="100000"/>
              </a:lnSpc>
              <a:buFont typeface="+mj-lt"/>
              <a:buAutoNum type="arabicPeriod"/>
            </a:pPr>
            <a:r>
              <a:rPr lang="en-US" sz="2200" b="1" dirty="0">
                <a:solidFill>
                  <a:srgbClr val="FF0000"/>
                </a:solidFill>
              </a:rPr>
              <a:t>Attack</a:t>
            </a:r>
            <a:r>
              <a:rPr lang="en-US" sz="2200" dirty="0"/>
              <a:t>:</a:t>
            </a:r>
            <a:r>
              <a:rPr lang="en-US" sz="2200" b="1" dirty="0"/>
              <a:t> </a:t>
            </a:r>
          </a:p>
          <a:p>
            <a:pPr marL="800100" lvl="2" indent="-342900" algn="just">
              <a:lnSpc>
                <a:spcPct val="100000"/>
              </a:lnSpc>
              <a:buFont typeface="Wingdings" panose="05000000000000000000" pitchFamily="2" charset="2"/>
              <a:buChar char="Ø"/>
            </a:pPr>
            <a:r>
              <a:rPr lang="en-US" sz="2000" dirty="0"/>
              <a:t>An assault on system security that derives from an intelligent threat. </a:t>
            </a:r>
          </a:p>
          <a:p>
            <a:pPr marL="800100" lvl="2" indent="-342900" algn="just">
              <a:lnSpc>
                <a:spcPct val="100000"/>
              </a:lnSpc>
              <a:buFont typeface="Wingdings" panose="05000000000000000000" pitchFamily="2" charset="2"/>
              <a:buChar char="Ø"/>
            </a:pPr>
            <a:r>
              <a:rPr lang="en-US" sz="2000" dirty="0"/>
              <a:t>An intelligent act that is a deliberate attempt to evade security services and violate the security policy of a system.</a:t>
            </a:r>
          </a:p>
          <a:p>
            <a:pPr marL="342900" indent="-342900">
              <a:lnSpc>
                <a:spcPct val="100000"/>
              </a:lnSpc>
              <a:buFont typeface="Wingdings" panose="05000000000000000000" pitchFamily="2" charset="2"/>
              <a:buChar char="v"/>
            </a:pPr>
            <a:r>
              <a:rPr lang="en-US" sz="2200" dirty="0"/>
              <a:t>The terms </a:t>
            </a:r>
            <a:r>
              <a:rPr lang="en-US" sz="2200" b="1" dirty="0"/>
              <a:t>threat</a:t>
            </a:r>
            <a:r>
              <a:rPr lang="en-US" sz="2200" dirty="0"/>
              <a:t> and </a:t>
            </a:r>
            <a:r>
              <a:rPr lang="en-US" sz="2200" b="1" dirty="0"/>
              <a:t>attack</a:t>
            </a:r>
            <a:r>
              <a:rPr lang="en-US" sz="2200" dirty="0"/>
              <a:t> are commonly used to mean the same thing in the literature.</a:t>
            </a:r>
          </a:p>
        </p:txBody>
      </p:sp>
    </p:spTree>
    <p:extLst>
      <p:ext uri="{BB962C8B-B14F-4D97-AF65-F5344CB8AC3E}">
        <p14:creationId xmlns:p14="http://schemas.microsoft.com/office/powerpoint/2010/main" val="223776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Threats / Attacks</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q"/>
            </a:pPr>
            <a:r>
              <a:rPr lang="en-US" sz="2400" dirty="0"/>
              <a:t>General classification according to theoretical concepts behind attacks:</a:t>
            </a:r>
          </a:p>
          <a:p>
            <a:pPr marL="342900" indent="-342900" algn="just" eaLnBrk="1" hangingPunct="1">
              <a:lnSpc>
                <a:spcPct val="100000"/>
              </a:lnSpc>
              <a:buFont typeface="+mj-lt"/>
              <a:buAutoNum type="arabicPeriod"/>
            </a:pPr>
            <a:r>
              <a:rPr lang="en-US" sz="2200" b="1" dirty="0"/>
              <a:t>Interruption: </a:t>
            </a:r>
            <a:r>
              <a:rPr lang="en-US" sz="2200" dirty="0"/>
              <a:t>Asset of system becomes lost/unavailable that puts the </a:t>
            </a:r>
            <a:r>
              <a:rPr lang="en-US" sz="2200" b="1" dirty="0">
                <a:solidFill>
                  <a:srgbClr val="FF0000"/>
                </a:solidFill>
              </a:rPr>
              <a:t>availability</a:t>
            </a:r>
            <a:r>
              <a:rPr lang="en-US" sz="2200" dirty="0"/>
              <a:t> of resources in danger.</a:t>
            </a:r>
          </a:p>
          <a:p>
            <a:pPr marL="342900" indent="-342900" algn="just" eaLnBrk="1" hangingPunct="1">
              <a:lnSpc>
                <a:spcPct val="100000"/>
              </a:lnSpc>
              <a:buFont typeface="+mj-lt"/>
              <a:buAutoNum type="arabicPeriod"/>
            </a:pPr>
            <a:r>
              <a:rPr lang="en-US" sz="2200" b="1" dirty="0"/>
              <a:t>Interception: </a:t>
            </a:r>
            <a:r>
              <a:rPr lang="en-US" sz="2200" dirty="0"/>
              <a:t>Unauthorized access to an asset of the system that causes loss of message </a:t>
            </a:r>
            <a:r>
              <a:rPr lang="en-US" sz="2200" b="1" dirty="0">
                <a:solidFill>
                  <a:srgbClr val="FF0000"/>
                </a:solidFill>
              </a:rPr>
              <a:t>confidentiality</a:t>
            </a:r>
            <a:r>
              <a:rPr lang="en-US" sz="2200" dirty="0"/>
              <a:t>.</a:t>
            </a:r>
            <a:endParaRPr lang="en-US" sz="2200" b="1" dirty="0">
              <a:solidFill>
                <a:srgbClr val="0000FF"/>
              </a:solidFill>
            </a:endParaRPr>
          </a:p>
          <a:p>
            <a:pPr marL="342900" indent="-342900" algn="just" eaLnBrk="1" hangingPunct="1">
              <a:lnSpc>
                <a:spcPct val="100000"/>
              </a:lnSpc>
              <a:buFont typeface="+mj-lt"/>
              <a:buAutoNum type="arabicPeriod"/>
            </a:pPr>
            <a:r>
              <a:rPr lang="en-US" sz="2200" b="1" dirty="0"/>
              <a:t>Modification: </a:t>
            </a:r>
            <a:r>
              <a:rPr lang="en-US" sz="2200" dirty="0"/>
              <a:t>Tampering the asset of the system by unauthorized party which causes loss of message </a:t>
            </a:r>
            <a:r>
              <a:rPr lang="en-US" sz="2200" b="1" dirty="0">
                <a:solidFill>
                  <a:srgbClr val="FF0000"/>
                </a:solidFill>
              </a:rPr>
              <a:t>integrity</a:t>
            </a:r>
            <a:r>
              <a:rPr lang="en-US" sz="2200" dirty="0"/>
              <a:t>.</a:t>
            </a:r>
          </a:p>
          <a:p>
            <a:pPr marL="342900" indent="-342900" algn="just" eaLnBrk="1" hangingPunct="1">
              <a:lnSpc>
                <a:spcPct val="100000"/>
              </a:lnSpc>
              <a:buFont typeface="+mj-lt"/>
              <a:buAutoNum type="arabicPeriod"/>
            </a:pPr>
            <a:r>
              <a:rPr lang="en-US" sz="2200" b="1" dirty="0"/>
              <a:t>Fabrication: </a:t>
            </a:r>
            <a:r>
              <a:rPr lang="en-US" sz="2200" dirty="0"/>
              <a:t>Skillful modifications of the system that could be indistinguishable from real thing which is possible in absence of proper </a:t>
            </a:r>
            <a:r>
              <a:rPr lang="en-US" sz="2200" b="1" dirty="0">
                <a:solidFill>
                  <a:srgbClr val="FF0000"/>
                </a:solidFill>
              </a:rPr>
              <a:t>authentication</a:t>
            </a:r>
            <a:r>
              <a:rPr lang="en-US" sz="2200" dirty="0"/>
              <a:t> mechanisms.</a:t>
            </a:r>
          </a:p>
        </p:txBody>
      </p:sp>
    </p:spTree>
    <p:extLst>
      <p:ext uri="{BB962C8B-B14F-4D97-AF65-F5344CB8AC3E}">
        <p14:creationId xmlns:p14="http://schemas.microsoft.com/office/powerpoint/2010/main" val="563757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Threats / Attacks</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599" y="2106204"/>
            <a:ext cx="4010025" cy="4036534"/>
          </a:xfrm>
        </p:spPr>
        <p:txBody>
          <a:bodyPr>
            <a:normAutofit/>
          </a:bodyPr>
          <a:lstStyle/>
          <a:p>
            <a:pPr marL="342900" indent="-342900" algn="just" eaLnBrk="1" hangingPunct="1">
              <a:lnSpc>
                <a:spcPct val="100000"/>
              </a:lnSpc>
              <a:buFont typeface="Wingdings" panose="05000000000000000000" pitchFamily="2" charset="2"/>
              <a:buChar char="q"/>
            </a:pPr>
            <a:r>
              <a:rPr lang="en-US" sz="2400" dirty="0"/>
              <a:t>Taxonomy of attacks with relation to security goals. (Left diagram).</a:t>
            </a:r>
          </a:p>
          <a:p>
            <a:pPr marL="342900" indent="-342900" algn="just">
              <a:lnSpc>
                <a:spcPct val="100000"/>
              </a:lnSpc>
              <a:buFont typeface="Wingdings" panose="05000000000000000000" pitchFamily="2" charset="2"/>
              <a:buChar char="q"/>
            </a:pPr>
            <a:r>
              <a:rPr lang="en-US" sz="2400" dirty="0">
                <a:solidFill>
                  <a:schemeClr val="tx2"/>
                </a:solidFill>
              </a:rPr>
              <a:t>The attacks can also be classified according to practical approach used by attackers:</a:t>
            </a:r>
          </a:p>
          <a:p>
            <a:pPr marL="571500" lvl="1" indent="-342900" algn="just">
              <a:lnSpc>
                <a:spcPct val="100000"/>
              </a:lnSpc>
              <a:buFont typeface="Wingdings" panose="05000000000000000000" pitchFamily="2" charset="2"/>
              <a:buChar char="Ø"/>
            </a:pPr>
            <a:r>
              <a:rPr lang="en-US" sz="2200" b="1" dirty="0">
                <a:solidFill>
                  <a:schemeClr val="tx2"/>
                </a:solidFill>
              </a:rPr>
              <a:t>Passive Attacks</a:t>
            </a:r>
          </a:p>
          <a:p>
            <a:pPr marL="571500" lvl="1" indent="-342900" algn="just">
              <a:lnSpc>
                <a:spcPct val="100000"/>
              </a:lnSpc>
              <a:buFont typeface="Wingdings" panose="05000000000000000000" pitchFamily="2" charset="2"/>
              <a:buChar char="Ø"/>
            </a:pPr>
            <a:r>
              <a:rPr lang="en-US" sz="2200" b="1" dirty="0">
                <a:solidFill>
                  <a:schemeClr val="tx2"/>
                </a:solidFill>
              </a:rPr>
              <a:t>Active Attacks</a:t>
            </a:r>
          </a:p>
        </p:txBody>
      </p:sp>
      <p:pic>
        <p:nvPicPr>
          <p:cNvPr id="4" name="Picture 9" descr="Diagram&#10;&#10;Description automatically generated">
            <a:extLst>
              <a:ext uri="{FF2B5EF4-FFF2-40B4-BE49-F238E27FC236}">
                <a16:creationId xmlns:a16="http://schemas.microsoft.com/office/drawing/2014/main" id="{40DBD650-13E3-76E4-A9A5-BD4C2EA9F8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43500" y="2106204"/>
            <a:ext cx="6698825" cy="443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877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normAutofit fontScale="90000"/>
          </a:bodyPr>
          <a:lstStyle/>
          <a:p>
            <a:r>
              <a:rPr lang="en-US" sz="4400" dirty="0">
                <a:solidFill>
                  <a:srgbClr val="0000FF"/>
                </a:solidFill>
              </a:rPr>
              <a:t>Security Threats / Attacks – </a:t>
            </a:r>
            <a:r>
              <a:rPr lang="en-US" sz="4400" b="1" dirty="0">
                <a:solidFill>
                  <a:srgbClr val="0000FF"/>
                </a:solidFill>
              </a:rPr>
              <a:t>Passive Attacks</a:t>
            </a:r>
            <a:endParaRPr lang="en-MY" b="1"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v"/>
            </a:pPr>
            <a:r>
              <a:rPr lang="en-US" sz="2200" dirty="0"/>
              <a:t>Passive attacks </a:t>
            </a:r>
            <a:r>
              <a:rPr lang="en-US" sz="2200" b="1" dirty="0">
                <a:solidFill>
                  <a:srgbClr val="FF0000"/>
                </a:solidFill>
              </a:rPr>
              <a:t>do not involve any modifications to the contents</a:t>
            </a:r>
            <a:r>
              <a:rPr lang="en-US" sz="2200" dirty="0"/>
              <a:t> of an original message.</a:t>
            </a:r>
          </a:p>
          <a:p>
            <a:pPr marL="342900" indent="-342900" algn="just">
              <a:lnSpc>
                <a:spcPct val="100000"/>
              </a:lnSpc>
              <a:buFont typeface="Wingdings" panose="05000000000000000000" pitchFamily="2" charset="2"/>
              <a:buChar char="v"/>
            </a:pPr>
            <a:r>
              <a:rPr lang="en-US" sz="2200" dirty="0"/>
              <a:t>Attacker indulges in monitoring the data transmission and </a:t>
            </a:r>
            <a:r>
              <a:rPr lang="en-US" sz="2200" b="1" dirty="0"/>
              <a:t>aims to obtain information</a:t>
            </a:r>
            <a:r>
              <a:rPr lang="en-US" sz="2200" dirty="0"/>
              <a:t> in transit.</a:t>
            </a:r>
          </a:p>
          <a:p>
            <a:pPr marL="342900" indent="-342900" algn="just">
              <a:lnSpc>
                <a:spcPct val="100000"/>
              </a:lnSpc>
              <a:buFont typeface="Wingdings" panose="05000000000000000000" pitchFamily="2" charset="2"/>
              <a:buChar char="v"/>
            </a:pPr>
            <a:r>
              <a:rPr lang="en-US" sz="2200" dirty="0"/>
              <a:t>This attack is harder to detect, since attack does not involve actively in the communication.</a:t>
            </a:r>
            <a:endParaRPr lang="en-MY" sz="2200" dirty="0"/>
          </a:p>
          <a:p>
            <a:pPr marL="342900" indent="-342900" algn="just">
              <a:lnSpc>
                <a:spcPct val="100000"/>
              </a:lnSpc>
              <a:buFont typeface="Wingdings" panose="05000000000000000000" pitchFamily="2" charset="2"/>
              <a:buChar char="v"/>
            </a:pPr>
            <a:r>
              <a:rPr lang="en-MY" sz="2200" dirty="0"/>
              <a:t>Two common passive attacks:</a:t>
            </a:r>
          </a:p>
          <a:p>
            <a:pPr marL="571500" lvl="1" indent="-342900" algn="just">
              <a:lnSpc>
                <a:spcPct val="100000"/>
              </a:lnSpc>
              <a:buFont typeface="Wingdings" panose="05000000000000000000" pitchFamily="2" charset="2"/>
              <a:buChar char="Ø"/>
            </a:pPr>
            <a:r>
              <a:rPr lang="en-MY" sz="2000" b="1" dirty="0"/>
              <a:t>Release of message contents</a:t>
            </a:r>
            <a:r>
              <a:rPr lang="en-MY" sz="2000" dirty="0"/>
              <a:t>.</a:t>
            </a:r>
          </a:p>
          <a:p>
            <a:pPr marL="571500" lvl="1" indent="-342900" algn="just">
              <a:lnSpc>
                <a:spcPct val="100000"/>
              </a:lnSpc>
              <a:buFont typeface="Wingdings" panose="05000000000000000000" pitchFamily="2" charset="2"/>
              <a:buChar char="Ø"/>
            </a:pPr>
            <a:r>
              <a:rPr lang="en-MY" sz="2000" b="1" dirty="0"/>
              <a:t>Traffic analysis</a:t>
            </a:r>
            <a:r>
              <a:rPr lang="en-MY" sz="2000" dirty="0"/>
              <a:t>.</a:t>
            </a:r>
            <a:endParaRPr lang="en-US" sz="2000" dirty="0"/>
          </a:p>
        </p:txBody>
      </p:sp>
    </p:spTree>
    <p:extLst>
      <p:ext uri="{BB962C8B-B14F-4D97-AF65-F5344CB8AC3E}">
        <p14:creationId xmlns:p14="http://schemas.microsoft.com/office/powerpoint/2010/main" val="3480799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6D70E6-0C89-8127-9CCD-994D95A361E3}"/>
              </a:ext>
            </a:extLst>
          </p:cNvPr>
          <p:cNvPicPr>
            <a:picLocks noChangeAspect="1"/>
          </p:cNvPicPr>
          <p:nvPr/>
        </p:nvPicPr>
        <p:blipFill>
          <a:blip r:embed="rId2"/>
          <a:stretch>
            <a:fillRect/>
          </a:stretch>
        </p:blipFill>
        <p:spPr>
          <a:xfrm>
            <a:off x="937608" y="206925"/>
            <a:ext cx="10316783" cy="6444149"/>
          </a:xfrm>
          <a:prstGeom prst="rect">
            <a:avLst/>
          </a:prstGeom>
        </p:spPr>
      </p:pic>
    </p:spTree>
    <p:extLst>
      <p:ext uri="{BB962C8B-B14F-4D97-AF65-F5344CB8AC3E}">
        <p14:creationId xmlns:p14="http://schemas.microsoft.com/office/powerpoint/2010/main" val="200301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003C1F-FB97-2C52-05BB-8489253D5E45}"/>
              </a:ext>
            </a:extLst>
          </p:cNvPr>
          <p:cNvPicPr>
            <a:picLocks noChangeAspect="1"/>
          </p:cNvPicPr>
          <p:nvPr/>
        </p:nvPicPr>
        <p:blipFill>
          <a:blip r:embed="rId2"/>
          <a:stretch>
            <a:fillRect/>
          </a:stretch>
        </p:blipFill>
        <p:spPr>
          <a:xfrm>
            <a:off x="937608" y="236667"/>
            <a:ext cx="10316783" cy="6384665"/>
          </a:xfrm>
          <a:prstGeom prst="rect">
            <a:avLst/>
          </a:prstGeom>
        </p:spPr>
      </p:pic>
    </p:spTree>
    <p:extLst>
      <p:ext uri="{BB962C8B-B14F-4D97-AF65-F5344CB8AC3E}">
        <p14:creationId xmlns:p14="http://schemas.microsoft.com/office/powerpoint/2010/main" val="1654140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normAutofit fontScale="90000"/>
          </a:bodyPr>
          <a:lstStyle/>
          <a:p>
            <a:r>
              <a:rPr lang="en-US" sz="4400" dirty="0">
                <a:solidFill>
                  <a:srgbClr val="0000FF"/>
                </a:solidFill>
              </a:rPr>
              <a:t>Security Threats / Attacks – </a:t>
            </a:r>
            <a:r>
              <a:rPr lang="en-US" b="1" dirty="0">
                <a:solidFill>
                  <a:srgbClr val="0000FF"/>
                </a:solidFill>
              </a:rPr>
              <a:t>Active</a:t>
            </a:r>
            <a:r>
              <a:rPr lang="en-US" sz="4400" b="1" dirty="0">
                <a:solidFill>
                  <a:srgbClr val="0000FF"/>
                </a:solidFill>
              </a:rPr>
              <a:t> Attacks</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3"/>
            <a:ext cx="10972800" cy="4361271"/>
          </a:xfrm>
        </p:spPr>
        <p:txBody>
          <a:bodyPr>
            <a:normAutofit/>
          </a:bodyPr>
          <a:lstStyle/>
          <a:p>
            <a:pPr marL="342900" indent="-342900" algn="just" eaLnBrk="1" hangingPunct="1">
              <a:lnSpc>
                <a:spcPct val="100000"/>
              </a:lnSpc>
              <a:buFont typeface="Wingdings" panose="05000000000000000000" pitchFamily="2" charset="2"/>
              <a:buChar char="v"/>
            </a:pPr>
            <a:r>
              <a:rPr lang="en-US" sz="2200" dirty="0"/>
              <a:t>Active attack </a:t>
            </a:r>
            <a:r>
              <a:rPr lang="en-US" sz="2200" b="1" dirty="0">
                <a:solidFill>
                  <a:srgbClr val="FF0000"/>
                </a:solidFill>
              </a:rPr>
              <a:t>involves modification of the original message</a:t>
            </a:r>
            <a:r>
              <a:rPr lang="en-US" sz="2200" dirty="0"/>
              <a:t> or the creation of false message.</a:t>
            </a:r>
          </a:p>
          <a:p>
            <a:pPr marL="342900" indent="-342900" algn="just" eaLnBrk="1" hangingPunct="1">
              <a:lnSpc>
                <a:spcPct val="100000"/>
              </a:lnSpc>
              <a:buFont typeface="Wingdings" panose="05000000000000000000" pitchFamily="2" charset="2"/>
              <a:buChar char="v"/>
            </a:pPr>
            <a:r>
              <a:rPr lang="en-US" sz="2200" dirty="0"/>
              <a:t>This attack cannot be prevented easily, since the attacks can be in the form of </a:t>
            </a:r>
            <a:r>
              <a:rPr lang="en-US" sz="2200" b="1" dirty="0"/>
              <a:t>interruption</a:t>
            </a:r>
            <a:r>
              <a:rPr lang="en-US" sz="2200" dirty="0"/>
              <a:t>, </a:t>
            </a:r>
            <a:r>
              <a:rPr lang="en-US" sz="2200" b="1" dirty="0"/>
              <a:t>modification</a:t>
            </a:r>
            <a:r>
              <a:rPr lang="en-US" sz="2200" dirty="0"/>
              <a:t> and </a:t>
            </a:r>
            <a:r>
              <a:rPr lang="en-US" sz="2200" b="1" dirty="0"/>
              <a:t>fabrication</a:t>
            </a:r>
            <a:r>
              <a:rPr lang="en-US" sz="2200" dirty="0"/>
              <a:t>.</a:t>
            </a:r>
          </a:p>
          <a:p>
            <a:pPr marL="342900" indent="-342900" algn="just" eaLnBrk="1" hangingPunct="1">
              <a:lnSpc>
                <a:spcPct val="100000"/>
              </a:lnSpc>
              <a:buFont typeface="Wingdings" panose="05000000000000000000" pitchFamily="2" charset="2"/>
              <a:buChar char="v"/>
            </a:pPr>
            <a:r>
              <a:rPr lang="en-US" sz="2200" dirty="0"/>
              <a:t>Detected with some effort and attempts can be made to recover from them</a:t>
            </a:r>
          </a:p>
          <a:p>
            <a:pPr marL="342900" indent="-342900" algn="just">
              <a:lnSpc>
                <a:spcPct val="100000"/>
              </a:lnSpc>
              <a:buFont typeface="Wingdings" panose="05000000000000000000" pitchFamily="2" charset="2"/>
              <a:buChar char="v"/>
            </a:pPr>
            <a:r>
              <a:rPr lang="en-MY" sz="2200" dirty="0"/>
              <a:t>Common active attacks:</a:t>
            </a:r>
          </a:p>
          <a:p>
            <a:pPr marL="571500" lvl="1" indent="-342900" algn="just">
              <a:lnSpc>
                <a:spcPct val="100000"/>
              </a:lnSpc>
              <a:buFont typeface="Wingdings" panose="05000000000000000000" pitchFamily="2" charset="2"/>
              <a:buChar char="Ø"/>
            </a:pPr>
            <a:r>
              <a:rPr lang="en-MY" sz="2000" b="1" dirty="0"/>
              <a:t>Masquerade</a:t>
            </a:r>
          </a:p>
          <a:p>
            <a:pPr marL="571500" lvl="1" indent="-342900" algn="just">
              <a:lnSpc>
                <a:spcPct val="100000"/>
              </a:lnSpc>
              <a:buFont typeface="Wingdings" panose="05000000000000000000" pitchFamily="2" charset="2"/>
              <a:buChar char="Ø"/>
            </a:pPr>
            <a:r>
              <a:rPr lang="en-MY" sz="2000" b="1" dirty="0"/>
              <a:t>Replay attacks</a:t>
            </a:r>
          </a:p>
          <a:p>
            <a:pPr marL="571500" lvl="1" indent="-342900" algn="just">
              <a:lnSpc>
                <a:spcPct val="100000"/>
              </a:lnSpc>
              <a:buFont typeface="Wingdings" panose="05000000000000000000" pitchFamily="2" charset="2"/>
              <a:buChar char="Ø"/>
            </a:pPr>
            <a:r>
              <a:rPr lang="en-MY" sz="2000" b="1" dirty="0"/>
              <a:t>Modification of message</a:t>
            </a:r>
          </a:p>
          <a:p>
            <a:pPr marL="571500" lvl="1" indent="-342900" algn="just">
              <a:lnSpc>
                <a:spcPct val="100000"/>
              </a:lnSpc>
              <a:buFont typeface="Wingdings" panose="05000000000000000000" pitchFamily="2" charset="2"/>
              <a:buChar char="Ø"/>
            </a:pPr>
            <a:r>
              <a:rPr lang="en-MY" sz="2000" b="1" dirty="0"/>
              <a:t>Denial of service</a:t>
            </a:r>
            <a:endParaRPr lang="en-US" sz="2000" dirty="0"/>
          </a:p>
          <a:p>
            <a:pPr marL="342900" indent="-342900" algn="just">
              <a:lnSpc>
                <a:spcPct val="100000"/>
              </a:lnSpc>
              <a:buFont typeface="Wingdings" panose="05000000000000000000" pitchFamily="2" charset="2"/>
              <a:buChar char="v"/>
            </a:pPr>
            <a:endParaRPr lang="en-MY" sz="2400" b="1" dirty="0"/>
          </a:p>
        </p:txBody>
      </p:sp>
    </p:spTree>
    <p:extLst>
      <p:ext uri="{BB962C8B-B14F-4D97-AF65-F5344CB8AC3E}">
        <p14:creationId xmlns:p14="http://schemas.microsoft.com/office/powerpoint/2010/main" val="2362626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26622B-86BE-7077-60CD-A8021A915353}"/>
              </a:ext>
            </a:extLst>
          </p:cNvPr>
          <p:cNvPicPr>
            <a:picLocks noChangeAspect="1"/>
          </p:cNvPicPr>
          <p:nvPr/>
        </p:nvPicPr>
        <p:blipFill>
          <a:blip r:embed="rId2"/>
          <a:stretch>
            <a:fillRect/>
          </a:stretch>
        </p:blipFill>
        <p:spPr>
          <a:xfrm>
            <a:off x="847926" y="145710"/>
            <a:ext cx="10496148" cy="6566579"/>
          </a:xfrm>
          <a:prstGeom prst="rect">
            <a:avLst/>
          </a:prstGeom>
        </p:spPr>
      </p:pic>
    </p:spTree>
    <p:extLst>
      <p:ext uri="{BB962C8B-B14F-4D97-AF65-F5344CB8AC3E}">
        <p14:creationId xmlns:p14="http://schemas.microsoft.com/office/powerpoint/2010/main" val="3434998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DA61B5-C7AC-C468-6AD8-CAA257E1301D}"/>
              </a:ext>
            </a:extLst>
          </p:cNvPr>
          <p:cNvPicPr>
            <a:picLocks noChangeAspect="1"/>
          </p:cNvPicPr>
          <p:nvPr/>
        </p:nvPicPr>
        <p:blipFill>
          <a:blip r:embed="rId2"/>
          <a:stretch>
            <a:fillRect/>
          </a:stretch>
        </p:blipFill>
        <p:spPr>
          <a:xfrm>
            <a:off x="845779" y="165648"/>
            <a:ext cx="10500441" cy="6526704"/>
          </a:xfrm>
          <a:prstGeom prst="rect">
            <a:avLst/>
          </a:prstGeom>
        </p:spPr>
      </p:pic>
    </p:spTree>
    <p:extLst>
      <p:ext uri="{BB962C8B-B14F-4D97-AF65-F5344CB8AC3E}">
        <p14:creationId xmlns:p14="http://schemas.microsoft.com/office/powerpoint/2010/main" val="1559571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2001DA-3FC7-3ACA-C62E-D9BACF59D333}"/>
              </a:ext>
            </a:extLst>
          </p:cNvPr>
          <p:cNvPicPr>
            <a:picLocks noChangeAspect="1"/>
          </p:cNvPicPr>
          <p:nvPr/>
        </p:nvPicPr>
        <p:blipFill>
          <a:blip r:embed="rId2"/>
          <a:stretch>
            <a:fillRect/>
          </a:stretch>
        </p:blipFill>
        <p:spPr>
          <a:xfrm>
            <a:off x="781922" y="152876"/>
            <a:ext cx="10628156" cy="6552248"/>
          </a:xfrm>
          <a:prstGeom prst="rect">
            <a:avLst/>
          </a:prstGeom>
        </p:spPr>
      </p:pic>
    </p:spTree>
    <p:extLst>
      <p:ext uri="{BB962C8B-B14F-4D97-AF65-F5344CB8AC3E}">
        <p14:creationId xmlns:p14="http://schemas.microsoft.com/office/powerpoint/2010/main" val="1196069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317B2F4-0CE6-D303-C940-328A07C3DFD8}"/>
              </a:ext>
            </a:extLst>
          </p:cNvPr>
          <p:cNvPicPr>
            <a:picLocks noChangeAspect="1"/>
          </p:cNvPicPr>
          <p:nvPr/>
        </p:nvPicPr>
        <p:blipFill>
          <a:blip r:embed="rId2"/>
          <a:stretch>
            <a:fillRect/>
          </a:stretch>
        </p:blipFill>
        <p:spPr>
          <a:xfrm>
            <a:off x="1026151" y="171054"/>
            <a:ext cx="10139698" cy="6515892"/>
          </a:xfrm>
          <a:prstGeom prst="rect">
            <a:avLst/>
          </a:prstGeom>
        </p:spPr>
      </p:pic>
    </p:spTree>
    <p:extLst>
      <p:ext uri="{BB962C8B-B14F-4D97-AF65-F5344CB8AC3E}">
        <p14:creationId xmlns:p14="http://schemas.microsoft.com/office/powerpoint/2010/main" val="2937853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SECURITY SERVICES</a:t>
            </a:r>
            <a:br>
              <a:rPr lang="en-MY" sz="5400" b="1" dirty="0">
                <a:solidFill>
                  <a:srgbClr val="C00000"/>
                </a:solidFill>
              </a:rPr>
            </a:b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3794698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Analogy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3"/>
            <a:ext cx="10972800" cy="4525415"/>
          </a:xfrm>
        </p:spPr>
        <p:txBody>
          <a:bodyPr>
            <a:noAutofit/>
          </a:bodyPr>
          <a:lstStyle/>
          <a:p>
            <a:pPr marL="342900" indent="-342900" algn="just">
              <a:lnSpc>
                <a:spcPct val="100000"/>
              </a:lnSpc>
              <a:buFont typeface="Wingdings" panose="05000000000000000000" pitchFamily="2" charset="2"/>
              <a:buChar char="q"/>
            </a:pPr>
            <a:r>
              <a:rPr lang="en-US" dirty="0"/>
              <a:t>Related to </a:t>
            </a:r>
            <a:r>
              <a:rPr lang="en-US" b="1" dirty="0"/>
              <a:t>a particular message</a:t>
            </a:r>
            <a:r>
              <a:rPr lang="en-US" dirty="0"/>
              <a:t>.</a:t>
            </a:r>
            <a:endParaRPr lang="en-US" b="1" dirty="0"/>
          </a:p>
          <a:p>
            <a:pPr marL="342900" indent="-342900" algn="just" eaLnBrk="1" hangingPunct="1">
              <a:lnSpc>
                <a:spcPct val="100000"/>
              </a:lnSpc>
              <a:buFont typeface="Wingdings" panose="05000000000000000000" pitchFamily="2" charset="2"/>
              <a:buChar char="§"/>
            </a:pPr>
            <a:r>
              <a:rPr lang="en-US" dirty="0"/>
              <a:t>Assume that Alice wants to send a cheque to Bob. Alice will write the cheque, put it inside the envelope and send it to Bob. Now the </a:t>
            </a:r>
            <a:r>
              <a:rPr lang="en-US" b="1" dirty="0"/>
              <a:t>concerns</a:t>
            </a:r>
            <a:r>
              <a:rPr lang="en-US" dirty="0"/>
              <a:t> of Alice and Bob:</a:t>
            </a:r>
          </a:p>
          <a:p>
            <a:pPr marL="571500" lvl="1" indent="-342900" algn="just">
              <a:lnSpc>
                <a:spcPct val="100000"/>
              </a:lnSpc>
              <a:buFont typeface="Wingdings" panose="05000000000000000000" pitchFamily="2" charset="2"/>
              <a:buChar char="Ø"/>
            </a:pPr>
            <a:r>
              <a:rPr lang="en-US" dirty="0"/>
              <a:t>Alice would like to ensure that no one except Bob gets the envelope – principle of </a:t>
            </a:r>
            <a:r>
              <a:rPr lang="en-US" b="1" dirty="0">
                <a:solidFill>
                  <a:srgbClr val="FF0000"/>
                </a:solidFill>
              </a:rPr>
              <a:t>confidentiality</a:t>
            </a:r>
            <a:r>
              <a:rPr lang="en-US" b="1" dirty="0"/>
              <a:t> </a:t>
            </a:r>
            <a:r>
              <a:rPr lang="en-US" dirty="0"/>
              <a:t>(that assets are accessible only by authorized part).</a:t>
            </a:r>
          </a:p>
          <a:p>
            <a:pPr marL="571500" lvl="1" indent="-342900" algn="just">
              <a:lnSpc>
                <a:spcPct val="100000"/>
              </a:lnSpc>
              <a:buFont typeface="Wingdings" panose="05000000000000000000" pitchFamily="2" charset="2"/>
              <a:buChar char="Ø"/>
            </a:pPr>
            <a:r>
              <a:rPr lang="en-US" dirty="0"/>
              <a:t>Alice and Bob would like to make sure that no one can tamper with the contents of the cheque</a:t>
            </a:r>
            <a:r>
              <a:rPr lang="en-US" b="1" dirty="0"/>
              <a:t> – </a:t>
            </a:r>
            <a:r>
              <a:rPr lang="en-US" dirty="0"/>
              <a:t>principle of</a:t>
            </a:r>
            <a:r>
              <a:rPr lang="en-US" b="1" dirty="0"/>
              <a:t> </a:t>
            </a:r>
            <a:r>
              <a:rPr lang="en-US" b="1" dirty="0">
                <a:solidFill>
                  <a:srgbClr val="FF0000"/>
                </a:solidFill>
              </a:rPr>
              <a:t>integrity</a:t>
            </a:r>
            <a:r>
              <a:rPr lang="en-US" b="1" dirty="0"/>
              <a:t> </a:t>
            </a:r>
            <a:r>
              <a:rPr lang="en-US" dirty="0"/>
              <a:t>(that assets can be modified only by authorized party or in authorized ways).</a:t>
            </a:r>
          </a:p>
          <a:p>
            <a:pPr marL="571500" lvl="1" indent="-342900" algn="just">
              <a:lnSpc>
                <a:spcPct val="100000"/>
              </a:lnSpc>
              <a:buFont typeface="Wingdings" panose="05000000000000000000" pitchFamily="2" charset="2"/>
              <a:buChar char="Ø"/>
            </a:pPr>
            <a:r>
              <a:rPr lang="en-US" dirty="0"/>
              <a:t>Bob would like to be assured that the cheque has come from Alice and not from someone else – principle of</a:t>
            </a:r>
            <a:r>
              <a:rPr lang="en-US" b="1" dirty="0"/>
              <a:t> </a:t>
            </a:r>
            <a:r>
              <a:rPr lang="en-US" b="1" dirty="0">
                <a:solidFill>
                  <a:srgbClr val="FF0000"/>
                </a:solidFill>
              </a:rPr>
              <a:t>authentication</a:t>
            </a:r>
            <a:r>
              <a:rPr lang="en-US" dirty="0"/>
              <a:t>.</a:t>
            </a:r>
            <a:endParaRPr lang="en-US" b="1" dirty="0"/>
          </a:p>
          <a:p>
            <a:pPr marL="571500" lvl="1" indent="-342900" algn="just">
              <a:lnSpc>
                <a:spcPct val="100000"/>
              </a:lnSpc>
              <a:buFont typeface="Wingdings" panose="05000000000000000000" pitchFamily="2" charset="2"/>
              <a:buChar char="Ø"/>
            </a:pPr>
            <a:r>
              <a:rPr lang="en-US" dirty="0"/>
              <a:t>Bob deposits cheque, money is transferred and then Alice refuses having sent the check. Court of law will use Alice’s signature to settle the dispute – principle of</a:t>
            </a:r>
            <a:r>
              <a:rPr lang="en-US" b="1" dirty="0"/>
              <a:t> </a:t>
            </a:r>
            <a:r>
              <a:rPr lang="en-US" b="1" dirty="0">
                <a:solidFill>
                  <a:srgbClr val="FF0000"/>
                </a:solidFill>
              </a:rPr>
              <a:t>non-repudiation</a:t>
            </a:r>
            <a:r>
              <a:rPr lang="en-US" dirty="0"/>
              <a:t>.</a:t>
            </a:r>
          </a:p>
        </p:txBody>
      </p:sp>
    </p:spTree>
    <p:extLst>
      <p:ext uri="{BB962C8B-B14F-4D97-AF65-F5344CB8AC3E}">
        <p14:creationId xmlns:p14="http://schemas.microsoft.com/office/powerpoint/2010/main" val="3191407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Analogy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eaLnBrk="1" hangingPunct="1">
              <a:lnSpc>
                <a:spcPct val="100000"/>
              </a:lnSpc>
              <a:buFont typeface="Wingdings" panose="05000000000000000000" pitchFamily="2" charset="2"/>
              <a:buChar char="q"/>
            </a:pPr>
            <a:r>
              <a:rPr lang="en-US" dirty="0"/>
              <a:t>Related to </a:t>
            </a:r>
            <a:r>
              <a:rPr lang="en-US" b="1" dirty="0"/>
              <a:t>overall system</a:t>
            </a:r>
            <a:r>
              <a:rPr lang="en-US" dirty="0"/>
              <a:t>.</a:t>
            </a:r>
          </a:p>
          <a:p>
            <a:pPr marL="342900" indent="-342900" eaLnBrk="1" hangingPunct="1">
              <a:lnSpc>
                <a:spcPct val="100000"/>
              </a:lnSpc>
              <a:buFont typeface="Wingdings" panose="05000000000000000000" pitchFamily="2" charset="2"/>
              <a:buChar char="§"/>
            </a:pPr>
            <a:r>
              <a:rPr lang="en-US" b="1" dirty="0">
                <a:solidFill>
                  <a:srgbClr val="FF0000"/>
                </a:solidFill>
              </a:rPr>
              <a:t>Access Control</a:t>
            </a:r>
          </a:p>
          <a:p>
            <a:pPr marL="342900" indent="-342900" eaLnBrk="1" hangingPunct="1">
              <a:lnSpc>
                <a:spcPct val="100000"/>
              </a:lnSpc>
              <a:buFont typeface="Wingdings" panose="05000000000000000000" pitchFamily="2" charset="2"/>
              <a:buChar char="§"/>
            </a:pPr>
            <a:r>
              <a:rPr lang="en-US" b="1" dirty="0">
                <a:solidFill>
                  <a:srgbClr val="FF0000"/>
                </a:solidFill>
              </a:rPr>
              <a:t>Availability</a:t>
            </a:r>
          </a:p>
          <a:p>
            <a:pPr marL="571500" lvl="1" indent="-342900">
              <a:lnSpc>
                <a:spcPct val="100000"/>
              </a:lnSpc>
              <a:buFont typeface="Wingdings" panose="05000000000000000000" pitchFamily="2" charset="2"/>
              <a:buChar char="Ø"/>
            </a:pPr>
            <a:r>
              <a:rPr lang="en-US" sz="2000" dirty="0"/>
              <a:t>Assets are accessible to authorized party</a:t>
            </a:r>
          </a:p>
          <a:p>
            <a:pPr>
              <a:lnSpc>
                <a:spcPct val="100000"/>
              </a:lnSpc>
            </a:pPr>
            <a:endParaRPr lang="en-MY" sz="2200" dirty="0"/>
          </a:p>
        </p:txBody>
      </p:sp>
    </p:spTree>
    <p:extLst>
      <p:ext uri="{BB962C8B-B14F-4D97-AF65-F5344CB8AC3E}">
        <p14:creationId xmlns:p14="http://schemas.microsoft.com/office/powerpoint/2010/main" val="1631578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X.800 (Overall)</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buFont typeface="Wingdings" panose="05000000000000000000" pitchFamily="2" charset="2"/>
              <a:buChar char="q"/>
            </a:pPr>
            <a:r>
              <a:rPr lang="en-MY" sz="2200" dirty="0"/>
              <a:t>X.800 has defined </a:t>
            </a:r>
            <a:r>
              <a:rPr lang="en-MY" sz="2200" b="1" dirty="0"/>
              <a:t>five security services</a:t>
            </a:r>
            <a:r>
              <a:rPr lang="en-MY" sz="2200" dirty="0"/>
              <a:t> provided by a protocol layer of a communicating open systems, which ensures adequate security of the systems of data transfer.</a:t>
            </a:r>
          </a:p>
          <a:p>
            <a:pPr marL="342900" indent="-342900" algn="just">
              <a:buFont typeface="Wingdings" panose="05000000000000000000" pitchFamily="2" charset="2"/>
              <a:buChar char="q"/>
            </a:pPr>
            <a:r>
              <a:rPr lang="en-MY" sz="2200" dirty="0"/>
              <a:t>More information can be found in </a:t>
            </a:r>
            <a:r>
              <a:rPr lang="en-MY" sz="2200" b="1" dirty="0">
                <a:solidFill>
                  <a:srgbClr val="FF0000"/>
                </a:solidFill>
              </a:rPr>
              <a:t>RFC 2828 </a:t>
            </a:r>
            <a:r>
              <a:rPr lang="en-MY" sz="2200" dirty="0"/>
              <a:t>(Request for Comments: 2828).</a:t>
            </a:r>
          </a:p>
        </p:txBody>
      </p:sp>
      <p:pic>
        <p:nvPicPr>
          <p:cNvPr id="4" name="Picture 3">
            <a:extLst>
              <a:ext uri="{FF2B5EF4-FFF2-40B4-BE49-F238E27FC236}">
                <a16:creationId xmlns:a16="http://schemas.microsoft.com/office/drawing/2014/main" id="{0245D07C-75AD-7229-F0DF-B4C252D726E2}"/>
              </a:ext>
            </a:extLst>
          </p:cNvPr>
          <p:cNvPicPr>
            <a:picLocks noChangeAspect="1"/>
          </p:cNvPicPr>
          <p:nvPr/>
        </p:nvPicPr>
        <p:blipFill>
          <a:blip r:embed="rId2"/>
          <a:stretch>
            <a:fillRect/>
          </a:stretch>
        </p:blipFill>
        <p:spPr>
          <a:xfrm>
            <a:off x="2432544" y="3897219"/>
            <a:ext cx="7326912" cy="2747805"/>
          </a:xfrm>
          <a:prstGeom prst="rect">
            <a:avLst/>
          </a:prstGeom>
        </p:spPr>
      </p:pic>
    </p:spTree>
    <p:extLst>
      <p:ext uri="{BB962C8B-B14F-4D97-AF65-F5344CB8AC3E}">
        <p14:creationId xmlns:p14="http://schemas.microsoft.com/office/powerpoint/2010/main" val="2670035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Confidentiality</a:t>
            </a:r>
            <a:endParaRPr lang="en-MY" b="1"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4"/>
            <a:ext cx="10972800" cy="4099287"/>
          </a:xfrm>
        </p:spPr>
        <p:txBody>
          <a:bodyPr>
            <a:normAutofit/>
          </a:bodyPr>
          <a:lstStyle/>
          <a:p>
            <a:pPr marL="457200" indent="-457200" algn="just" eaLnBrk="1" hangingPunct="1">
              <a:lnSpc>
                <a:spcPct val="100000"/>
              </a:lnSpc>
              <a:buFont typeface="Wingdings" panose="05000000000000000000" pitchFamily="2" charset="2"/>
              <a:buChar char="q"/>
            </a:pPr>
            <a:r>
              <a:rPr lang="en-US" sz="2400" dirty="0"/>
              <a:t>The protection of data from unauthorized disclosure.</a:t>
            </a:r>
          </a:p>
          <a:p>
            <a:pPr marL="457200" indent="-457200" algn="just" eaLnBrk="1" hangingPunct="1">
              <a:lnSpc>
                <a:spcPct val="100000"/>
              </a:lnSpc>
              <a:buFont typeface="Wingdings" panose="05000000000000000000" pitchFamily="2" charset="2"/>
              <a:buChar char="v"/>
            </a:pPr>
            <a:r>
              <a:rPr lang="en-US" sz="2200" b="1" dirty="0">
                <a:solidFill>
                  <a:srgbClr val="FF0000"/>
                </a:solidFill>
              </a:rPr>
              <a:t>Connection confidentiality</a:t>
            </a:r>
            <a:r>
              <a:rPr lang="en-US" sz="2200" dirty="0"/>
              <a:t>: The protection of all user data on a connection</a:t>
            </a:r>
          </a:p>
          <a:p>
            <a:pPr marL="457200" indent="-457200" algn="just" eaLnBrk="1" hangingPunct="1">
              <a:lnSpc>
                <a:spcPct val="100000"/>
              </a:lnSpc>
              <a:buFont typeface="Wingdings" panose="05000000000000000000" pitchFamily="2" charset="2"/>
              <a:buChar char="v"/>
            </a:pPr>
            <a:r>
              <a:rPr lang="en-US" sz="2200" b="1" dirty="0">
                <a:solidFill>
                  <a:srgbClr val="FF0000"/>
                </a:solidFill>
              </a:rPr>
              <a:t>Connectionless confidentiality</a:t>
            </a:r>
            <a:r>
              <a:rPr lang="en-US" sz="2200" dirty="0"/>
              <a:t>: The protection of all user data in a single data block</a:t>
            </a:r>
          </a:p>
          <a:p>
            <a:pPr marL="457200" indent="-457200" algn="just" eaLnBrk="1" hangingPunct="1">
              <a:lnSpc>
                <a:spcPct val="100000"/>
              </a:lnSpc>
              <a:buFont typeface="Wingdings" panose="05000000000000000000" pitchFamily="2" charset="2"/>
              <a:buChar char="v"/>
            </a:pPr>
            <a:r>
              <a:rPr lang="en-US" sz="2200" b="1" dirty="0">
                <a:solidFill>
                  <a:srgbClr val="FF0000"/>
                </a:solidFill>
              </a:rPr>
              <a:t>Selective-Field Confidentiality</a:t>
            </a:r>
            <a:r>
              <a:rPr lang="en-US" sz="2200" dirty="0"/>
              <a:t>: The confidentiality of selected fields within the user data on a connection or in a single data block</a:t>
            </a:r>
          </a:p>
          <a:p>
            <a:pPr marL="457200" indent="-457200" algn="just" eaLnBrk="1" hangingPunct="1">
              <a:lnSpc>
                <a:spcPct val="100000"/>
              </a:lnSpc>
              <a:buFont typeface="Wingdings" panose="05000000000000000000" pitchFamily="2" charset="2"/>
              <a:buChar char="v"/>
            </a:pPr>
            <a:r>
              <a:rPr lang="en-US" sz="2200" b="1" dirty="0">
                <a:solidFill>
                  <a:srgbClr val="FF0000"/>
                </a:solidFill>
              </a:rPr>
              <a:t>Traffic Flow Confidentiality</a:t>
            </a:r>
            <a:r>
              <a:rPr lang="en-US" sz="2200" dirty="0"/>
              <a:t>: The protection of the information that might be derived from observation of traffic flows</a:t>
            </a:r>
          </a:p>
        </p:txBody>
      </p:sp>
    </p:spTree>
    <p:extLst>
      <p:ext uri="{BB962C8B-B14F-4D97-AF65-F5344CB8AC3E}">
        <p14:creationId xmlns:p14="http://schemas.microsoft.com/office/powerpoint/2010/main" val="1167910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Authentication</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buFont typeface="Wingdings" panose="05000000000000000000" pitchFamily="2" charset="2"/>
              <a:buChar char="q"/>
            </a:pPr>
            <a:r>
              <a:rPr lang="en-US" sz="2200" dirty="0"/>
              <a:t>The assurance that the communication entity is the one that it claims to be. </a:t>
            </a:r>
          </a:p>
          <a:p>
            <a:pPr marL="457200" indent="-457200" algn="just">
              <a:lnSpc>
                <a:spcPct val="100000"/>
              </a:lnSpc>
              <a:buFont typeface="+mj-lt"/>
              <a:buAutoNum type="arabicPeriod"/>
            </a:pPr>
            <a:r>
              <a:rPr lang="en-MY" sz="2200" b="1" dirty="0">
                <a:solidFill>
                  <a:srgbClr val="FF0000"/>
                </a:solidFill>
              </a:rPr>
              <a:t>Single message</a:t>
            </a:r>
            <a:r>
              <a:rPr lang="en-MY" sz="2200" dirty="0"/>
              <a:t>:</a:t>
            </a:r>
          </a:p>
          <a:p>
            <a:pPr marL="685800" lvl="1" indent="-457200" algn="just">
              <a:lnSpc>
                <a:spcPct val="100000"/>
              </a:lnSpc>
              <a:buFont typeface="Wingdings" panose="05000000000000000000" pitchFamily="2" charset="2"/>
              <a:buChar char="Ø"/>
            </a:pPr>
            <a:r>
              <a:rPr lang="en-US" sz="2000" dirty="0"/>
              <a:t>T</a:t>
            </a:r>
            <a:r>
              <a:rPr lang="en-US" sz="2000" b="0" i="0" u="none" strike="noStrike" baseline="0" dirty="0"/>
              <a:t>o assure the recipient that the message is </a:t>
            </a:r>
            <a:r>
              <a:rPr lang="en-US" sz="2200" b="0" i="0" u="none" strike="noStrike" baseline="0" dirty="0"/>
              <a:t>from the source that it claims to be from</a:t>
            </a:r>
            <a:endParaRPr lang="en-MY" sz="2200" dirty="0"/>
          </a:p>
          <a:p>
            <a:pPr marL="457200" indent="-457200" algn="just">
              <a:lnSpc>
                <a:spcPct val="100000"/>
              </a:lnSpc>
              <a:buFont typeface="+mj-lt"/>
              <a:buAutoNum type="arabicPeriod"/>
            </a:pPr>
            <a:r>
              <a:rPr lang="en-MY" sz="2200" b="1" dirty="0">
                <a:solidFill>
                  <a:srgbClr val="FF0000"/>
                </a:solidFill>
              </a:rPr>
              <a:t>Ongoing interaction</a:t>
            </a:r>
            <a:r>
              <a:rPr lang="en-MY" sz="2200" dirty="0"/>
              <a:t>:</a:t>
            </a:r>
          </a:p>
          <a:p>
            <a:pPr marL="685800" lvl="1" indent="-457200" algn="just">
              <a:lnSpc>
                <a:spcPct val="100000"/>
              </a:lnSpc>
              <a:buFont typeface="Wingdings" panose="05000000000000000000" pitchFamily="2" charset="2"/>
              <a:buChar char="Ø"/>
            </a:pPr>
            <a:r>
              <a:rPr lang="en-MY" sz="2200" dirty="0"/>
              <a:t>A</a:t>
            </a:r>
            <a:r>
              <a:rPr lang="en-MY" sz="2200" b="0" i="0" u="none" strike="noStrike" baseline="0" dirty="0"/>
              <a:t>t the time </a:t>
            </a:r>
            <a:r>
              <a:rPr lang="en-US" sz="2200" b="0" i="0" u="none" strike="noStrike" baseline="0" dirty="0"/>
              <a:t>of connection initiation, the service assures that the two entities are authentic (each is the entity that it claims to be).</a:t>
            </a:r>
          </a:p>
          <a:p>
            <a:pPr marL="685800" lvl="1" indent="-457200" algn="just">
              <a:lnSpc>
                <a:spcPct val="100000"/>
              </a:lnSpc>
              <a:buFont typeface="Wingdings" panose="05000000000000000000" pitchFamily="2" charset="2"/>
              <a:buChar char="Ø"/>
            </a:pPr>
            <a:r>
              <a:rPr lang="en-US" sz="2200" dirty="0"/>
              <a:t>T</a:t>
            </a:r>
            <a:r>
              <a:rPr lang="en-US" sz="2200" b="0" i="0" u="none" strike="noStrike" baseline="0" dirty="0"/>
              <a:t>he service must assure that the connection is </a:t>
            </a:r>
            <a:r>
              <a:rPr lang="en-US" sz="2200" b="1" i="0" u="none" strike="noStrike" baseline="0" dirty="0"/>
              <a:t>not interfered</a:t>
            </a:r>
            <a:r>
              <a:rPr lang="en-US" sz="2200" b="0" i="0" u="none" strike="noStrike" baseline="0" dirty="0"/>
              <a:t> with in such a way that a </a:t>
            </a:r>
            <a:r>
              <a:rPr lang="en-US" sz="2200" b="1" i="0" u="none" strike="noStrike" baseline="0" dirty="0"/>
              <a:t>third party can masquerade</a:t>
            </a:r>
            <a:r>
              <a:rPr lang="en-US" sz="2200" b="0" i="0" u="none" strike="noStrike" baseline="0" dirty="0"/>
              <a:t> as one of the two legitimate parties for the purposes of unauthorized transmission or </a:t>
            </a:r>
            <a:r>
              <a:rPr lang="en-MY" sz="2200" b="0" i="0" u="none" strike="noStrike" baseline="0" dirty="0"/>
              <a:t>reception.</a:t>
            </a:r>
            <a:endParaRPr lang="en-MY" sz="2200" dirty="0"/>
          </a:p>
        </p:txBody>
      </p:sp>
    </p:spTree>
    <p:extLst>
      <p:ext uri="{BB962C8B-B14F-4D97-AF65-F5344CB8AC3E}">
        <p14:creationId xmlns:p14="http://schemas.microsoft.com/office/powerpoint/2010/main" val="3666156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Authentication</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248400" y="2106204"/>
            <a:ext cx="5333999" cy="4036534"/>
          </a:xfrm>
        </p:spPr>
        <p:txBody>
          <a:bodyPr>
            <a:normAutofit/>
          </a:bodyPr>
          <a:lstStyle/>
          <a:p>
            <a:pPr algn="just">
              <a:lnSpc>
                <a:spcPct val="120000"/>
              </a:lnSpc>
            </a:pPr>
            <a:r>
              <a:rPr lang="en-US" sz="2200" b="1" dirty="0"/>
              <a:t>Example:</a:t>
            </a:r>
          </a:p>
          <a:p>
            <a:pPr marL="342900" indent="-342900" algn="just">
              <a:lnSpc>
                <a:spcPct val="120000"/>
              </a:lnSpc>
              <a:buFont typeface="Arial" panose="020B0604020202020204" pitchFamily="34" charset="0"/>
              <a:buChar char="•"/>
            </a:pPr>
            <a:r>
              <a:rPr lang="en-US" sz="2200" dirty="0"/>
              <a:t>User C, posing as User A sending a funds transfer request to bank B from A’s account to C’s account </a:t>
            </a:r>
          </a:p>
          <a:p>
            <a:pPr marL="342900" indent="-342900" algn="just">
              <a:lnSpc>
                <a:spcPct val="120000"/>
              </a:lnSpc>
              <a:buFont typeface="Arial" panose="020B0604020202020204" pitchFamily="34" charset="0"/>
              <a:buChar char="•"/>
            </a:pPr>
            <a:r>
              <a:rPr lang="en-US" sz="2200" b="1" dirty="0"/>
              <a:t>Type of attack – Fabrication</a:t>
            </a:r>
          </a:p>
          <a:p>
            <a:pPr marL="571500" lvl="1" indent="-342900" algn="just">
              <a:lnSpc>
                <a:spcPct val="120000"/>
              </a:lnSpc>
              <a:buFont typeface="Wingdings" panose="05000000000000000000" pitchFamily="2" charset="2"/>
              <a:buChar char="Ø"/>
            </a:pPr>
            <a:r>
              <a:rPr lang="en-US" sz="2000" dirty="0"/>
              <a:t>Fabrication is possible in the </a:t>
            </a:r>
            <a:r>
              <a:rPr lang="en-US" sz="2000" b="1" dirty="0">
                <a:solidFill>
                  <a:srgbClr val="FF0000"/>
                </a:solidFill>
              </a:rPr>
              <a:t>absence</a:t>
            </a:r>
            <a:r>
              <a:rPr lang="en-US" sz="2000" dirty="0"/>
              <a:t> of proper authentication mechanisms.</a:t>
            </a:r>
          </a:p>
        </p:txBody>
      </p:sp>
      <p:grpSp>
        <p:nvGrpSpPr>
          <p:cNvPr id="4" name="Group 3">
            <a:extLst>
              <a:ext uri="{FF2B5EF4-FFF2-40B4-BE49-F238E27FC236}">
                <a16:creationId xmlns:a16="http://schemas.microsoft.com/office/drawing/2014/main" id="{E73E8F3F-6AE7-E150-6054-605C303D7F79}"/>
              </a:ext>
            </a:extLst>
          </p:cNvPr>
          <p:cNvGrpSpPr>
            <a:grpSpLocks/>
          </p:cNvGrpSpPr>
          <p:nvPr/>
        </p:nvGrpSpPr>
        <p:grpSpPr bwMode="auto">
          <a:xfrm>
            <a:off x="609600" y="2333771"/>
            <a:ext cx="5334000" cy="3581400"/>
            <a:chOff x="3510" y="8120"/>
            <a:chExt cx="6300" cy="3195"/>
          </a:xfrm>
        </p:grpSpPr>
        <p:sp>
          <p:nvSpPr>
            <p:cNvPr id="5" name="Rectangle 4">
              <a:extLst>
                <a:ext uri="{FF2B5EF4-FFF2-40B4-BE49-F238E27FC236}">
                  <a16:creationId xmlns:a16="http://schemas.microsoft.com/office/drawing/2014/main" id="{FE75E1D6-1A8B-21C6-7FD4-DD1052B1E46E}"/>
                </a:ext>
              </a:extLst>
            </p:cNvPr>
            <p:cNvSpPr>
              <a:spLocks noChangeArrowheads="1"/>
            </p:cNvSpPr>
            <p:nvPr/>
          </p:nvSpPr>
          <p:spPr bwMode="auto">
            <a:xfrm>
              <a:off x="3510" y="8120"/>
              <a:ext cx="6300" cy="3195"/>
            </a:xfrm>
            <a:prstGeom prst="rect">
              <a:avLst/>
            </a:prstGeom>
            <a:solidFill>
              <a:srgbClr val="FFFFFF"/>
            </a:solidFill>
            <a:ln w="9525">
              <a:solidFill>
                <a:srgbClr val="000000"/>
              </a:solidFill>
              <a:miter lim="800000"/>
              <a:headEnd/>
              <a:tailEnd/>
            </a:ln>
          </p:spPr>
          <p:txBody>
            <a:bodyPr/>
            <a:lstStyle/>
            <a:p>
              <a:endParaRPr lang="en-MY"/>
            </a:p>
          </p:txBody>
        </p:sp>
        <p:sp>
          <p:nvSpPr>
            <p:cNvPr id="6" name="computr1">
              <a:extLst>
                <a:ext uri="{FF2B5EF4-FFF2-40B4-BE49-F238E27FC236}">
                  <a16:creationId xmlns:a16="http://schemas.microsoft.com/office/drawing/2014/main" id="{46388F01-E736-86B7-5B0B-73864A45AC1A}"/>
                </a:ext>
              </a:extLst>
            </p:cNvPr>
            <p:cNvSpPr>
              <a:spLocks noEditPoints="1" noChangeArrowheads="1"/>
            </p:cNvSpPr>
            <p:nvPr/>
          </p:nvSpPr>
          <p:spPr bwMode="auto">
            <a:xfrm>
              <a:off x="4199" y="865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A</a:t>
              </a:r>
            </a:p>
          </p:txBody>
        </p:sp>
        <p:sp>
          <p:nvSpPr>
            <p:cNvPr id="7" name="computr1">
              <a:extLst>
                <a:ext uri="{FF2B5EF4-FFF2-40B4-BE49-F238E27FC236}">
                  <a16:creationId xmlns:a16="http://schemas.microsoft.com/office/drawing/2014/main" id="{E90F6181-F280-9DDF-FE93-3355192DCA50}"/>
                </a:ext>
              </a:extLst>
            </p:cNvPr>
            <p:cNvSpPr>
              <a:spLocks noEditPoints="1" noChangeArrowheads="1"/>
            </p:cNvSpPr>
            <p:nvPr/>
          </p:nvSpPr>
          <p:spPr bwMode="auto">
            <a:xfrm>
              <a:off x="7949" y="8636"/>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B</a:t>
              </a:r>
            </a:p>
          </p:txBody>
        </p:sp>
        <p:sp>
          <p:nvSpPr>
            <p:cNvPr id="8" name="computr1">
              <a:extLst>
                <a:ext uri="{FF2B5EF4-FFF2-40B4-BE49-F238E27FC236}">
                  <a16:creationId xmlns:a16="http://schemas.microsoft.com/office/drawing/2014/main" id="{DE6C74A1-547B-42D6-3532-A83F6ADBD47B}"/>
                </a:ext>
              </a:extLst>
            </p:cNvPr>
            <p:cNvSpPr>
              <a:spLocks noEditPoints="1" noChangeArrowheads="1"/>
            </p:cNvSpPr>
            <p:nvPr/>
          </p:nvSpPr>
          <p:spPr bwMode="auto">
            <a:xfrm>
              <a:off x="5954" y="10151"/>
              <a:ext cx="932" cy="885"/>
            </a:xfrm>
            <a:custGeom>
              <a:avLst/>
              <a:gdLst>
                <a:gd name="T0" fmla="*/ 2 w 21600"/>
                <a:gd name="T1" fmla="*/ 0 h 21600"/>
                <a:gd name="T2" fmla="*/ 1 w 21600"/>
                <a:gd name="T3" fmla="*/ 0 h 21600"/>
                <a:gd name="T4" fmla="*/ 0 w 21600"/>
                <a:gd name="T5" fmla="*/ 0 h 21600"/>
                <a:gd name="T6" fmla="*/ 0 w 21600"/>
                <a:gd name="T7" fmla="*/ 1 h 21600"/>
                <a:gd name="T8" fmla="*/ 0 w 21600"/>
                <a:gd name="T9" fmla="*/ 1 h 21600"/>
                <a:gd name="T10" fmla="*/ 1 w 21600"/>
                <a:gd name="T11" fmla="*/ 1 h 21600"/>
                <a:gd name="T12" fmla="*/ 2 w 21600"/>
                <a:gd name="T13" fmla="*/ 1 h 21600"/>
                <a:gd name="T14" fmla="*/ 2 w 21600"/>
                <a:gd name="T15" fmla="*/ 1 h 21600"/>
                <a:gd name="T16" fmla="*/ 2 w 21600"/>
                <a:gd name="T17" fmla="*/ 1 h 21600"/>
                <a:gd name="T18" fmla="*/ 0 w 21600"/>
                <a:gd name="T19" fmla="*/ 1 h 21600"/>
                <a:gd name="T20" fmla="*/ 0 w 21600"/>
                <a:gd name="T21" fmla="*/ 0 h 21600"/>
                <a:gd name="T22" fmla="*/ 2 w 21600"/>
                <a:gd name="T23" fmla="*/ 0 h 21600"/>
                <a:gd name="T24" fmla="*/ 0 w 21600"/>
                <a:gd name="T25" fmla="*/ 1 h 21600"/>
                <a:gd name="T26" fmla="*/ 2 w 21600"/>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a:r>
                <a:rPr lang="en-US" sz="1200" b="1">
                  <a:latin typeface="Times New Roman" pitchFamily="18" charset="0"/>
                </a:rPr>
                <a:t>C</a:t>
              </a:r>
            </a:p>
          </p:txBody>
        </p:sp>
        <p:sp>
          <p:nvSpPr>
            <p:cNvPr id="9" name="Text Box 8">
              <a:extLst>
                <a:ext uri="{FF2B5EF4-FFF2-40B4-BE49-F238E27FC236}">
                  <a16:creationId xmlns:a16="http://schemas.microsoft.com/office/drawing/2014/main" id="{C62EDCEF-3B66-3744-29AC-EA80A126F1F9}"/>
                </a:ext>
              </a:extLst>
            </p:cNvPr>
            <p:cNvSpPr txBox="1">
              <a:spLocks noChangeArrowheads="1"/>
            </p:cNvSpPr>
            <p:nvPr/>
          </p:nvSpPr>
          <p:spPr bwMode="auto">
            <a:xfrm>
              <a:off x="5865" y="8598"/>
              <a:ext cx="1035" cy="660"/>
            </a:xfrm>
            <a:prstGeom prst="rect">
              <a:avLst/>
            </a:prstGeom>
            <a:solidFill>
              <a:srgbClr val="FFFFFF"/>
            </a:solidFill>
            <a:ln w="9525">
              <a:solidFill>
                <a:srgbClr val="000000"/>
              </a:solidFill>
              <a:miter lim="800000"/>
              <a:headEnd/>
              <a:tailEnd/>
            </a:ln>
          </p:spPr>
          <p:txBody>
            <a:bodyPr/>
            <a:lstStyle/>
            <a:p>
              <a:pPr algn="ctr"/>
              <a:r>
                <a:rPr lang="en-US" sz="1200" b="1">
                  <a:latin typeface="Times New Roman" pitchFamily="18" charset="0"/>
                </a:rPr>
                <a:t>I am user A</a:t>
              </a:r>
            </a:p>
          </p:txBody>
        </p:sp>
        <p:sp>
          <p:nvSpPr>
            <p:cNvPr id="10" name="AutoShape 9" descr="Large checker board">
              <a:extLst>
                <a:ext uri="{FF2B5EF4-FFF2-40B4-BE49-F238E27FC236}">
                  <a16:creationId xmlns:a16="http://schemas.microsoft.com/office/drawing/2014/main" id="{BDBF9EA4-2FDD-2794-C04D-B8BD5CC6AB32}"/>
                </a:ext>
              </a:extLst>
            </p:cNvPr>
            <p:cNvSpPr>
              <a:spLocks noChangeArrowheads="1"/>
            </p:cNvSpPr>
            <p:nvPr/>
          </p:nvSpPr>
          <p:spPr bwMode="auto">
            <a:xfrm>
              <a:off x="6915" y="8793"/>
              <a:ext cx="1125" cy="315"/>
            </a:xfrm>
            <a:prstGeom prst="rightArrow">
              <a:avLst>
                <a:gd name="adj1" fmla="val 50000"/>
                <a:gd name="adj2" fmla="val 89286"/>
              </a:avLst>
            </a:prstGeom>
            <a:pattFill prst="lgCheck">
              <a:fgClr>
                <a:srgbClr val="333333"/>
              </a:fgClr>
              <a:bgClr>
                <a:srgbClr val="FFFFFF"/>
              </a:bgClr>
            </a:pattFill>
            <a:ln w="9525">
              <a:solidFill>
                <a:srgbClr val="000000"/>
              </a:solidFill>
              <a:miter lim="800000"/>
              <a:headEnd/>
              <a:tailEnd/>
            </a:ln>
          </p:spPr>
          <p:txBody>
            <a:bodyPr/>
            <a:lstStyle/>
            <a:p>
              <a:endParaRPr lang="en-MY"/>
            </a:p>
          </p:txBody>
        </p:sp>
        <p:sp>
          <p:nvSpPr>
            <p:cNvPr id="11" name="AutoShape 10" descr="Large checker board">
              <a:extLst>
                <a:ext uri="{FF2B5EF4-FFF2-40B4-BE49-F238E27FC236}">
                  <a16:creationId xmlns:a16="http://schemas.microsoft.com/office/drawing/2014/main" id="{954EDDC4-00EE-B7ED-005C-CC81FD96FBA2}"/>
                </a:ext>
              </a:extLst>
            </p:cNvPr>
            <p:cNvSpPr>
              <a:spLocks noChangeArrowheads="1"/>
            </p:cNvSpPr>
            <p:nvPr/>
          </p:nvSpPr>
          <p:spPr bwMode="auto">
            <a:xfrm>
              <a:off x="6300" y="9273"/>
              <a:ext cx="233" cy="840"/>
            </a:xfrm>
            <a:prstGeom prst="upArrow">
              <a:avLst>
                <a:gd name="adj1" fmla="val 50000"/>
                <a:gd name="adj2" fmla="val 90129"/>
              </a:avLst>
            </a:prstGeom>
            <a:pattFill prst="lgCheck">
              <a:fgClr>
                <a:srgbClr val="333333"/>
              </a:fgClr>
              <a:bgClr>
                <a:srgbClr val="FFFFFF"/>
              </a:bgClr>
            </a:pattFill>
            <a:ln w="9525">
              <a:solidFill>
                <a:srgbClr val="000000"/>
              </a:solidFill>
              <a:miter lim="800000"/>
              <a:headEnd/>
              <a:tailEnd/>
            </a:ln>
          </p:spPr>
          <p:txBody>
            <a:bodyPr/>
            <a:lstStyle/>
            <a:p>
              <a:endParaRPr lang="en-MY"/>
            </a:p>
          </p:txBody>
        </p:sp>
      </p:grpSp>
    </p:spTree>
    <p:extLst>
      <p:ext uri="{BB962C8B-B14F-4D97-AF65-F5344CB8AC3E}">
        <p14:creationId xmlns:p14="http://schemas.microsoft.com/office/powerpoint/2010/main" val="41794315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Authentication</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457200" indent="-457200" eaLnBrk="1" hangingPunct="1">
              <a:lnSpc>
                <a:spcPct val="100000"/>
              </a:lnSpc>
              <a:buFont typeface="Wingdings" panose="05000000000000000000" pitchFamily="2" charset="2"/>
              <a:buChar char="§"/>
            </a:pPr>
            <a:r>
              <a:rPr lang="en-US" sz="2200" b="1" dirty="0">
                <a:solidFill>
                  <a:srgbClr val="FF0000"/>
                </a:solidFill>
              </a:rPr>
              <a:t>Peer Entity Authentication</a:t>
            </a:r>
            <a:r>
              <a:rPr lang="en-US" sz="2200" dirty="0"/>
              <a:t>:</a:t>
            </a:r>
            <a:endParaRPr lang="en-US" sz="2200" b="1" dirty="0">
              <a:solidFill>
                <a:srgbClr val="FF0000"/>
              </a:solidFill>
            </a:endParaRPr>
          </a:p>
          <a:p>
            <a:pPr marL="685800" lvl="1" indent="-457200">
              <a:lnSpc>
                <a:spcPct val="100000"/>
              </a:lnSpc>
              <a:buFont typeface="Wingdings" panose="05000000000000000000" pitchFamily="2" charset="2"/>
              <a:buChar char="Ø"/>
            </a:pPr>
            <a:r>
              <a:rPr lang="en-US" sz="2000" dirty="0"/>
              <a:t>Used in association with a logical connection to provide confidence in the identity of the entities connected.</a:t>
            </a:r>
          </a:p>
          <a:p>
            <a:pPr marL="685800" lvl="1" indent="-457200">
              <a:lnSpc>
                <a:spcPct val="100000"/>
              </a:lnSpc>
              <a:buFont typeface="Wingdings" panose="05000000000000000000" pitchFamily="2" charset="2"/>
              <a:buChar char="Ø"/>
            </a:pPr>
            <a:r>
              <a:rPr lang="en-US" sz="2200" dirty="0"/>
              <a:t>It is provided for use at the establishment of the connection or during the data transfer phase of a connection.</a:t>
            </a:r>
          </a:p>
          <a:p>
            <a:pPr marL="342900" indent="-342900" eaLnBrk="1" hangingPunct="1">
              <a:lnSpc>
                <a:spcPct val="100000"/>
              </a:lnSpc>
              <a:buFont typeface="Wingdings" panose="05000000000000000000" pitchFamily="2" charset="2"/>
              <a:buChar char="§"/>
            </a:pPr>
            <a:r>
              <a:rPr lang="en-US" sz="2200" b="1" dirty="0">
                <a:solidFill>
                  <a:srgbClr val="FF0000"/>
                </a:solidFill>
              </a:rPr>
              <a:t>Data origin authentication</a:t>
            </a:r>
            <a:r>
              <a:rPr lang="en-US" sz="2200" dirty="0"/>
              <a:t>:</a:t>
            </a:r>
            <a:endParaRPr lang="en-US" sz="2200" b="1" dirty="0">
              <a:solidFill>
                <a:srgbClr val="FF0000"/>
              </a:solidFill>
            </a:endParaRPr>
          </a:p>
          <a:p>
            <a:pPr marL="571500" lvl="1" indent="-342900">
              <a:lnSpc>
                <a:spcPct val="100000"/>
              </a:lnSpc>
              <a:buFont typeface="Wingdings" panose="05000000000000000000" pitchFamily="2" charset="2"/>
              <a:buChar char="Ø"/>
            </a:pPr>
            <a:r>
              <a:rPr lang="en-US" sz="2000" dirty="0"/>
              <a:t>In a connectionless transfer, provides assurance that the source of received data is as claimed.</a:t>
            </a:r>
          </a:p>
          <a:p>
            <a:pPr marL="571500" lvl="1" indent="-342900">
              <a:lnSpc>
                <a:spcPct val="100000"/>
              </a:lnSpc>
              <a:buFont typeface="Wingdings" panose="05000000000000000000" pitchFamily="2" charset="2"/>
              <a:buChar char="Ø"/>
            </a:pPr>
            <a:r>
              <a:rPr lang="en-US" sz="2200" dirty="0"/>
              <a:t>It supports applications like electronic mail.</a:t>
            </a:r>
          </a:p>
          <a:p>
            <a:endParaRPr lang="en-MY" sz="2400" dirty="0"/>
          </a:p>
        </p:txBody>
      </p:sp>
    </p:spTree>
    <p:extLst>
      <p:ext uri="{BB962C8B-B14F-4D97-AF65-F5344CB8AC3E}">
        <p14:creationId xmlns:p14="http://schemas.microsoft.com/office/powerpoint/2010/main" val="52568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Integrity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q"/>
            </a:pPr>
            <a:r>
              <a:rPr lang="en-US" sz="2200" b="0" i="0" u="none" strike="noStrike" baseline="0" dirty="0"/>
              <a:t>The assurance that </a:t>
            </a:r>
            <a:r>
              <a:rPr lang="en-US" sz="2200" b="1" i="0" u="none" strike="noStrike" baseline="0" dirty="0"/>
              <a:t>data received are </a:t>
            </a:r>
            <a:r>
              <a:rPr lang="en-US" sz="2200" b="1" i="0" u="none" strike="noStrike" baseline="0" dirty="0">
                <a:solidFill>
                  <a:srgbClr val="FF0000"/>
                </a:solidFill>
              </a:rPr>
              <a:t>exactly</a:t>
            </a:r>
            <a:r>
              <a:rPr lang="en-US" sz="2200" b="1" i="0" u="none" strike="noStrike" baseline="0" dirty="0"/>
              <a:t> as sent</a:t>
            </a:r>
            <a:r>
              <a:rPr lang="en-US" sz="2200" b="0" i="0" u="none" strike="noStrike" baseline="0" dirty="0"/>
              <a:t> by an authorized entity (i.e., contain no </a:t>
            </a:r>
            <a:r>
              <a:rPr lang="en-MY" sz="2200" b="0" i="0" u="none" strike="noStrike" baseline="0" dirty="0"/>
              <a:t>modification, insertion, deletion, or replay).</a:t>
            </a:r>
          </a:p>
          <a:p>
            <a:pPr marL="457200" indent="-457200" algn="just">
              <a:lnSpc>
                <a:spcPct val="100000"/>
              </a:lnSpc>
              <a:buFont typeface="+mj-lt"/>
              <a:buAutoNum type="arabicPeriod"/>
            </a:pPr>
            <a:r>
              <a:rPr lang="en-US" sz="2200" b="1" dirty="0"/>
              <a:t>Connection Integrity </a:t>
            </a:r>
            <a:r>
              <a:rPr lang="en-US" sz="2200" b="1" dirty="0">
                <a:solidFill>
                  <a:srgbClr val="FF0000"/>
                </a:solidFill>
              </a:rPr>
              <a:t>with</a:t>
            </a:r>
            <a:r>
              <a:rPr lang="en-US" sz="2200" b="1" dirty="0"/>
              <a:t> Recovery</a:t>
            </a:r>
          </a:p>
          <a:p>
            <a:pPr marL="685800" lvl="1" indent="-457200" algn="just">
              <a:lnSpc>
                <a:spcPct val="100000"/>
              </a:lnSpc>
              <a:buFont typeface="Wingdings" panose="05000000000000000000" pitchFamily="2" charset="2"/>
              <a:buChar char="Ø"/>
            </a:pPr>
            <a:r>
              <a:rPr lang="en-US" sz="2000" dirty="0"/>
              <a:t>Provides for the integrity of all user data on a connection and detection of any modification, insertion, deletion, or replay of any data within an entire data sequence, with recovery attempted</a:t>
            </a:r>
          </a:p>
          <a:p>
            <a:pPr marL="457200" indent="-457200" algn="just">
              <a:lnSpc>
                <a:spcPct val="100000"/>
              </a:lnSpc>
              <a:buFont typeface="+mj-lt"/>
              <a:buAutoNum type="arabicPeriod"/>
            </a:pPr>
            <a:r>
              <a:rPr lang="en-US" sz="2200" b="1" dirty="0"/>
              <a:t>Connection Integrity </a:t>
            </a:r>
            <a:r>
              <a:rPr lang="en-US" sz="2200" b="1" dirty="0">
                <a:solidFill>
                  <a:srgbClr val="FF0000"/>
                </a:solidFill>
              </a:rPr>
              <a:t>without </a:t>
            </a:r>
            <a:r>
              <a:rPr lang="en-US" sz="2200" b="1" dirty="0"/>
              <a:t>Recovery</a:t>
            </a:r>
          </a:p>
          <a:p>
            <a:pPr marL="685800" lvl="1" indent="-457200" algn="just">
              <a:lnSpc>
                <a:spcPct val="100000"/>
              </a:lnSpc>
              <a:buFont typeface="Wingdings" panose="05000000000000000000" pitchFamily="2" charset="2"/>
              <a:buChar char="Ø"/>
            </a:pPr>
            <a:r>
              <a:rPr lang="en-US" sz="2000" dirty="0"/>
              <a:t>Same as above  but only provide detection without recovery</a:t>
            </a:r>
            <a:endParaRPr lang="en-MY" sz="2000" dirty="0"/>
          </a:p>
        </p:txBody>
      </p:sp>
    </p:spTree>
    <p:extLst>
      <p:ext uri="{BB962C8B-B14F-4D97-AF65-F5344CB8AC3E}">
        <p14:creationId xmlns:p14="http://schemas.microsoft.com/office/powerpoint/2010/main" val="2945689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Integrity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2106203"/>
            <a:ext cx="10972800" cy="4569805"/>
          </a:xfrm>
        </p:spPr>
        <p:txBody>
          <a:bodyPr>
            <a:normAutofit/>
          </a:bodyPr>
          <a:lstStyle/>
          <a:p>
            <a:pPr marL="457200" indent="-457200" algn="just" eaLnBrk="1" hangingPunct="1">
              <a:lnSpc>
                <a:spcPct val="100000"/>
              </a:lnSpc>
              <a:buFont typeface="+mj-lt"/>
              <a:buAutoNum type="arabicPeriod" startAt="3"/>
            </a:pPr>
            <a:r>
              <a:rPr lang="en-US" sz="2200" b="1" dirty="0"/>
              <a:t>Selective-Field </a:t>
            </a:r>
            <a:r>
              <a:rPr lang="en-US" sz="2200" b="1" dirty="0">
                <a:solidFill>
                  <a:srgbClr val="FF0000"/>
                </a:solidFill>
              </a:rPr>
              <a:t>Connection</a:t>
            </a:r>
            <a:r>
              <a:rPr lang="en-US" sz="2200" b="1" dirty="0"/>
              <a:t> Integrity</a:t>
            </a:r>
          </a:p>
          <a:p>
            <a:pPr marL="685800" lvl="1" indent="-457200" algn="just">
              <a:lnSpc>
                <a:spcPct val="100000"/>
              </a:lnSpc>
              <a:buFont typeface="Wingdings" panose="05000000000000000000" pitchFamily="2" charset="2"/>
              <a:buChar char="Ø"/>
            </a:pPr>
            <a:r>
              <a:rPr lang="en-US" sz="2000" dirty="0"/>
              <a:t>Provides for the integrity of selected fields within the user data of a data block transferred over a connection to </a:t>
            </a:r>
            <a:r>
              <a:rPr lang="en-US" sz="2200" dirty="0"/>
              <a:t>determine whether the selected fields have been modified, inserted, deleted or replayed.</a:t>
            </a:r>
          </a:p>
          <a:p>
            <a:pPr marL="457200" indent="-457200" algn="just" eaLnBrk="1" hangingPunct="1">
              <a:lnSpc>
                <a:spcPct val="100000"/>
              </a:lnSpc>
              <a:buFont typeface="+mj-lt"/>
              <a:buAutoNum type="arabicPeriod" startAt="3"/>
            </a:pPr>
            <a:r>
              <a:rPr lang="en-US" sz="2200" b="1" dirty="0">
                <a:solidFill>
                  <a:srgbClr val="FF0000"/>
                </a:solidFill>
              </a:rPr>
              <a:t>Connectionless</a:t>
            </a:r>
            <a:r>
              <a:rPr lang="en-US" sz="2200" b="1" dirty="0"/>
              <a:t> Integrity</a:t>
            </a:r>
          </a:p>
          <a:p>
            <a:pPr marL="685800" lvl="1" indent="-457200" algn="just">
              <a:lnSpc>
                <a:spcPct val="100000"/>
              </a:lnSpc>
              <a:buFont typeface="Wingdings" panose="05000000000000000000" pitchFamily="2" charset="2"/>
              <a:buChar char="Ø"/>
            </a:pPr>
            <a:r>
              <a:rPr lang="en-US" sz="2000" dirty="0"/>
              <a:t>Provides for the integrity of a single connectionless data block that can be in the form of </a:t>
            </a:r>
            <a:r>
              <a:rPr lang="en-US" sz="2200" dirty="0"/>
              <a:t>detection of data modification and detection of limited form of replay.</a:t>
            </a:r>
          </a:p>
          <a:p>
            <a:pPr marL="457200" indent="-457200" algn="just" eaLnBrk="1" hangingPunct="1">
              <a:lnSpc>
                <a:spcPct val="100000"/>
              </a:lnSpc>
              <a:buFont typeface="+mj-lt"/>
              <a:buAutoNum type="arabicPeriod" startAt="3"/>
            </a:pPr>
            <a:r>
              <a:rPr lang="en-US" sz="2200" b="1" dirty="0"/>
              <a:t>Selective-Field </a:t>
            </a:r>
            <a:r>
              <a:rPr lang="en-US" sz="2200" b="1" dirty="0">
                <a:solidFill>
                  <a:srgbClr val="FF0000"/>
                </a:solidFill>
              </a:rPr>
              <a:t>Connectionless</a:t>
            </a:r>
            <a:r>
              <a:rPr lang="en-US" sz="2200" b="1" dirty="0"/>
              <a:t> Integrity</a:t>
            </a:r>
          </a:p>
          <a:p>
            <a:pPr marL="685800" lvl="1" indent="-457200" algn="just">
              <a:lnSpc>
                <a:spcPct val="100000"/>
              </a:lnSpc>
              <a:buFont typeface="Wingdings" panose="05000000000000000000" pitchFamily="2" charset="2"/>
              <a:buChar char="Ø"/>
            </a:pPr>
            <a:r>
              <a:rPr lang="en-US" sz="2000" dirty="0"/>
              <a:t>Provides for the integrity of selected fields within a single connectionless data block to </a:t>
            </a:r>
            <a:r>
              <a:rPr lang="en-US" sz="2200" dirty="0"/>
              <a:t>determine whether the selected fields have been modified.</a:t>
            </a:r>
          </a:p>
        </p:txBody>
      </p:sp>
    </p:spTree>
    <p:extLst>
      <p:ext uri="{BB962C8B-B14F-4D97-AF65-F5344CB8AC3E}">
        <p14:creationId xmlns:p14="http://schemas.microsoft.com/office/powerpoint/2010/main" val="2277569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Non-Repudiation</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285750" indent="-285750" algn="just">
              <a:lnSpc>
                <a:spcPct val="100000"/>
              </a:lnSpc>
              <a:buFont typeface="Wingdings" panose="05000000000000000000" pitchFamily="2" charset="2"/>
              <a:buChar char="q"/>
            </a:pPr>
            <a:r>
              <a:rPr lang="en-US" sz="2200" b="0" i="0" u="none" strike="noStrike" baseline="0" dirty="0"/>
              <a:t>Provides </a:t>
            </a:r>
            <a:r>
              <a:rPr lang="en-US" sz="2200" b="1" i="0" u="none" strike="noStrike" baseline="0" dirty="0">
                <a:solidFill>
                  <a:srgbClr val="FF0000"/>
                </a:solidFill>
              </a:rPr>
              <a:t>protection against denial </a:t>
            </a:r>
            <a:r>
              <a:rPr lang="en-US" sz="2200" b="0" i="0" u="none" strike="noStrike" baseline="0" dirty="0"/>
              <a:t>by one of the entities involved in a communication of having participated in all or part of the communication.</a:t>
            </a:r>
          </a:p>
          <a:p>
            <a:pPr marL="457200" indent="-457200" algn="just">
              <a:lnSpc>
                <a:spcPct val="100000"/>
              </a:lnSpc>
              <a:buFont typeface="+mj-lt"/>
              <a:buAutoNum type="arabicPeriod"/>
            </a:pPr>
            <a:r>
              <a:rPr lang="en-US" sz="2200" dirty="0"/>
              <a:t>Nonrepudiation, </a:t>
            </a:r>
            <a:r>
              <a:rPr lang="en-US" sz="2200" b="1" dirty="0"/>
              <a:t>Origin</a:t>
            </a:r>
          </a:p>
          <a:p>
            <a:pPr marL="685800" lvl="1" indent="-457200" algn="just">
              <a:lnSpc>
                <a:spcPct val="100000"/>
              </a:lnSpc>
              <a:buFont typeface="Wingdings" panose="05000000000000000000" pitchFamily="2" charset="2"/>
              <a:buChar char="Ø"/>
            </a:pPr>
            <a:r>
              <a:rPr lang="en-US" sz="2200" dirty="0"/>
              <a:t>Proof that the message was sent by the specified party.</a:t>
            </a:r>
          </a:p>
          <a:p>
            <a:pPr marL="457200" indent="-457200" algn="just">
              <a:lnSpc>
                <a:spcPct val="100000"/>
              </a:lnSpc>
              <a:buFont typeface="+mj-lt"/>
              <a:buAutoNum type="arabicPeriod"/>
            </a:pPr>
            <a:r>
              <a:rPr lang="en-US" sz="2200" dirty="0"/>
              <a:t>Nonrepudiation, </a:t>
            </a:r>
            <a:r>
              <a:rPr lang="en-US" sz="2200" b="1" dirty="0"/>
              <a:t>Destination</a:t>
            </a:r>
          </a:p>
          <a:p>
            <a:pPr marL="685800" lvl="1" indent="-457200" algn="just">
              <a:lnSpc>
                <a:spcPct val="100000"/>
              </a:lnSpc>
              <a:buFont typeface="Wingdings" panose="05000000000000000000" pitchFamily="2" charset="2"/>
              <a:buChar char="Ø"/>
            </a:pPr>
            <a:r>
              <a:rPr lang="en-US" sz="2200" dirty="0"/>
              <a:t>Proof that the message was received by the specified party.</a:t>
            </a:r>
          </a:p>
          <a:p>
            <a:pPr marL="285750" indent="-285750" algn="just">
              <a:lnSpc>
                <a:spcPct val="100000"/>
              </a:lnSpc>
              <a:buFont typeface="Wingdings" panose="05000000000000000000" pitchFamily="2" charset="2"/>
              <a:buChar char="q"/>
            </a:pPr>
            <a:endParaRPr lang="en-MY" sz="2200" dirty="0"/>
          </a:p>
        </p:txBody>
      </p:sp>
    </p:spTree>
    <p:extLst>
      <p:ext uri="{BB962C8B-B14F-4D97-AF65-F5344CB8AC3E}">
        <p14:creationId xmlns:p14="http://schemas.microsoft.com/office/powerpoint/2010/main" val="23821635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Non-Repudiation</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algn="just" eaLnBrk="1" hangingPunct="1">
              <a:lnSpc>
                <a:spcPct val="100000"/>
              </a:lnSpc>
            </a:pPr>
            <a:r>
              <a:rPr lang="en-US" sz="2200" b="1" dirty="0"/>
              <a:t>Example</a:t>
            </a:r>
            <a:r>
              <a:rPr lang="en-US" sz="2200" dirty="0"/>
              <a:t>:</a:t>
            </a:r>
          </a:p>
          <a:p>
            <a:pPr marL="514350" indent="-514350" algn="just" eaLnBrk="1" hangingPunct="1">
              <a:lnSpc>
                <a:spcPct val="100000"/>
              </a:lnSpc>
              <a:buFont typeface="Wingdings" panose="05000000000000000000" pitchFamily="2" charset="2"/>
              <a:buChar char="Ø"/>
            </a:pPr>
            <a:r>
              <a:rPr lang="en-US" sz="2200" dirty="0"/>
              <a:t>User A could send a fund transfer request to a bank over the internet. </a:t>
            </a:r>
          </a:p>
          <a:p>
            <a:pPr marL="514350" indent="-514350" algn="just" eaLnBrk="1" hangingPunct="1">
              <a:lnSpc>
                <a:spcPct val="100000"/>
              </a:lnSpc>
              <a:buFont typeface="Wingdings" panose="05000000000000000000" pitchFamily="2" charset="2"/>
              <a:buChar char="Ø"/>
            </a:pPr>
            <a:r>
              <a:rPr lang="en-US" sz="2200" dirty="0"/>
              <a:t>After the bank performs the fund transfer as per A’s instructions, A could repudiate or denies funds transfer instruction.</a:t>
            </a:r>
          </a:p>
          <a:p>
            <a:pPr algn="just" eaLnBrk="1" hangingPunct="1">
              <a:lnSpc>
                <a:spcPct val="100000"/>
              </a:lnSpc>
            </a:pPr>
            <a:endParaRPr lang="en-US" sz="2200" dirty="0"/>
          </a:p>
          <a:p>
            <a:pPr algn="just" eaLnBrk="1" hangingPunct="1">
              <a:lnSpc>
                <a:spcPct val="100000"/>
              </a:lnSpc>
            </a:pPr>
            <a:r>
              <a:rPr lang="en-US" sz="2200" dirty="0"/>
              <a:t>* Non–repudiation </a:t>
            </a:r>
            <a:r>
              <a:rPr lang="en-US" sz="2200" b="1" dirty="0">
                <a:solidFill>
                  <a:srgbClr val="FF0000"/>
                </a:solidFill>
              </a:rPr>
              <a:t>does not allow</a:t>
            </a:r>
            <a:r>
              <a:rPr lang="en-US" sz="2200" dirty="0"/>
              <a:t> the sender of a message to </a:t>
            </a:r>
            <a:r>
              <a:rPr lang="en-US" sz="2200" b="1" dirty="0">
                <a:solidFill>
                  <a:srgbClr val="FF0000"/>
                </a:solidFill>
              </a:rPr>
              <a:t>refute</a:t>
            </a:r>
            <a:r>
              <a:rPr lang="en-US" sz="2200" dirty="0"/>
              <a:t> the claim of not sending that message.</a:t>
            </a:r>
          </a:p>
          <a:p>
            <a:endParaRPr lang="en-MY" sz="2400" dirty="0"/>
          </a:p>
        </p:txBody>
      </p:sp>
    </p:spTree>
    <p:extLst>
      <p:ext uri="{BB962C8B-B14F-4D97-AF65-F5344CB8AC3E}">
        <p14:creationId xmlns:p14="http://schemas.microsoft.com/office/powerpoint/2010/main" val="3937386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Access Control</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q"/>
            </a:pPr>
            <a:r>
              <a:rPr lang="en-US" sz="2200" b="0" i="0" u="none" strike="noStrike" baseline="0" dirty="0"/>
              <a:t>The prevention of </a:t>
            </a:r>
            <a:r>
              <a:rPr lang="en-US" sz="2200" b="1" i="0" u="none" strike="noStrike" baseline="0" dirty="0"/>
              <a:t>unauthorized use of a resource </a:t>
            </a:r>
            <a:r>
              <a:rPr lang="en-US" sz="2200" b="0" i="0" u="none" strike="noStrike" baseline="0" dirty="0"/>
              <a:t>(i.e., this service controls who can have access to a resource, under what conditions access can occur, and what those accessing the resource are allowed </a:t>
            </a:r>
            <a:r>
              <a:rPr lang="en-MY" sz="2200" b="0" i="0" u="none" strike="noStrike" baseline="0" dirty="0"/>
              <a:t>to do).</a:t>
            </a:r>
          </a:p>
          <a:p>
            <a:pPr marL="342900" indent="-342900" algn="just">
              <a:lnSpc>
                <a:spcPct val="100000"/>
              </a:lnSpc>
              <a:buFont typeface="Wingdings" panose="05000000000000000000" pitchFamily="2" charset="2"/>
              <a:buChar char="q"/>
            </a:pPr>
            <a:r>
              <a:rPr lang="en-MY" sz="2200" b="1" dirty="0"/>
              <a:t>Example</a:t>
            </a:r>
            <a:r>
              <a:rPr lang="en-MY" sz="2200" dirty="0"/>
              <a:t>:</a:t>
            </a:r>
          </a:p>
          <a:p>
            <a:pPr marL="571500" lvl="1" indent="-342900" algn="just">
              <a:lnSpc>
                <a:spcPct val="100000"/>
              </a:lnSpc>
              <a:buFont typeface="Wingdings" panose="05000000000000000000" pitchFamily="2" charset="2"/>
              <a:buChar char="Ø"/>
            </a:pPr>
            <a:r>
              <a:rPr lang="en-MY" sz="2000" dirty="0"/>
              <a:t>Students in my Google Classroom will be able to </a:t>
            </a:r>
            <a:r>
              <a:rPr lang="en-MY" sz="2000" b="1" dirty="0">
                <a:solidFill>
                  <a:srgbClr val="FF0000"/>
                </a:solidFill>
              </a:rPr>
              <a:t>only view</a:t>
            </a:r>
            <a:r>
              <a:rPr lang="en-MY" sz="2000" dirty="0"/>
              <a:t> all the materials that uploaded in the Shared folder but disallowed to make any changes or upload anything from their side.</a:t>
            </a:r>
          </a:p>
        </p:txBody>
      </p:sp>
    </p:spTree>
    <p:extLst>
      <p:ext uri="{BB962C8B-B14F-4D97-AF65-F5344CB8AC3E}">
        <p14:creationId xmlns:p14="http://schemas.microsoft.com/office/powerpoint/2010/main" val="3175004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Security Services </a:t>
            </a:r>
            <a:r>
              <a:rPr lang="en-US" dirty="0">
                <a:solidFill>
                  <a:srgbClr val="0000FF"/>
                </a:solidFill>
              </a:rPr>
              <a:t>– </a:t>
            </a:r>
            <a:r>
              <a:rPr lang="en-US" b="1" dirty="0">
                <a:solidFill>
                  <a:srgbClr val="0000FF"/>
                </a:solidFill>
              </a:rPr>
              <a:t>Access Control</a:t>
            </a:r>
            <a:endParaRPr lang="en-MY" b="1"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buFont typeface="Wingdings" panose="05000000000000000000" pitchFamily="2" charset="2"/>
              <a:buChar char="q"/>
            </a:pPr>
            <a:r>
              <a:rPr lang="en-MY" sz="2200" dirty="0"/>
              <a:t>Two common areas in access control:</a:t>
            </a:r>
          </a:p>
          <a:p>
            <a:pPr marL="457200" indent="-457200" algn="just" eaLnBrk="1" hangingPunct="1">
              <a:buFont typeface="+mj-lt"/>
              <a:buAutoNum type="arabicPeriod"/>
            </a:pPr>
            <a:r>
              <a:rPr lang="en-US" sz="2200" b="1" dirty="0">
                <a:solidFill>
                  <a:srgbClr val="FF0000"/>
                </a:solidFill>
              </a:rPr>
              <a:t>Role management</a:t>
            </a:r>
            <a:r>
              <a:rPr lang="en-US" sz="2200" dirty="0"/>
              <a:t>.</a:t>
            </a:r>
          </a:p>
          <a:p>
            <a:pPr marL="685800" lvl="1" indent="-457200" algn="just">
              <a:buFont typeface="Wingdings" panose="05000000000000000000" pitchFamily="2" charset="2"/>
              <a:buChar char="Ø"/>
            </a:pPr>
            <a:r>
              <a:rPr lang="en-US" sz="2000" dirty="0"/>
              <a:t>Concentrates on the user side on what </a:t>
            </a:r>
            <a:r>
              <a:rPr lang="en-US" sz="2200" dirty="0"/>
              <a:t>a user can (or cannot) do.</a:t>
            </a:r>
          </a:p>
          <a:p>
            <a:pPr marL="457200" indent="-457200" algn="just" eaLnBrk="1" hangingPunct="1">
              <a:buFont typeface="+mj-lt"/>
              <a:buAutoNum type="arabicPeriod"/>
            </a:pPr>
            <a:r>
              <a:rPr lang="en-US" sz="2200" b="1" dirty="0">
                <a:solidFill>
                  <a:srgbClr val="FF0000"/>
                </a:solidFill>
              </a:rPr>
              <a:t>Rule management</a:t>
            </a:r>
            <a:r>
              <a:rPr lang="en-US" sz="2200" dirty="0"/>
              <a:t>.</a:t>
            </a:r>
          </a:p>
          <a:p>
            <a:pPr marL="685800" lvl="1" indent="-457200" algn="just">
              <a:buFont typeface="Wingdings" panose="05000000000000000000" pitchFamily="2" charset="2"/>
              <a:buChar char="Ø"/>
            </a:pPr>
            <a:r>
              <a:rPr lang="en-US" sz="2000" dirty="0"/>
              <a:t>Concentrates on the resources side on </a:t>
            </a:r>
            <a:r>
              <a:rPr lang="en-US" sz="2200" dirty="0"/>
              <a:t>which resource is accessible by a particular user and under what circumstances that he can access to it.</a:t>
            </a:r>
          </a:p>
        </p:txBody>
      </p:sp>
    </p:spTree>
    <p:extLst>
      <p:ext uri="{BB962C8B-B14F-4D97-AF65-F5344CB8AC3E}">
        <p14:creationId xmlns:p14="http://schemas.microsoft.com/office/powerpoint/2010/main" val="1437650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SECURITY MECHANISMS</a:t>
            </a:r>
            <a:br>
              <a:rPr lang="en-MY" sz="5400" b="1" dirty="0">
                <a:solidFill>
                  <a:srgbClr val="C00000"/>
                </a:solidFill>
              </a:rPr>
            </a:b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41074410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Security Mechanisms</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Arial" panose="020B0604020202020204" pitchFamily="34" charset="0"/>
              <a:buChar char="•"/>
            </a:pPr>
            <a:r>
              <a:rPr lang="en-MY" sz="2200" dirty="0"/>
              <a:t>Recommendation by X.800 to provide security services defined previously.</a:t>
            </a:r>
          </a:p>
          <a:p>
            <a:pPr marL="342900" indent="-342900" algn="just">
              <a:lnSpc>
                <a:spcPct val="100000"/>
              </a:lnSpc>
              <a:buFont typeface="Arial" panose="020B0604020202020204" pitchFamily="34" charset="0"/>
              <a:buChar char="•"/>
            </a:pPr>
            <a:r>
              <a:rPr lang="en-US" sz="2200" b="1" dirty="0"/>
              <a:t>Objective</a:t>
            </a:r>
            <a:r>
              <a:rPr lang="en-US" sz="2200" dirty="0"/>
              <a:t>: </a:t>
            </a:r>
          </a:p>
          <a:p>
            <a:pPr marL="571500" lvl="1" indent="-342900" algn="just">
              <a:lnSpc>
                <a:spcPct val="100000"/>
              </a:lnSpc>
              <a:buFont typeface="Wingdings" panose="05000000000000000000" pitchFamily="2" charset="2"/>
              <a:buChar char="Ø"/>
            </a:pPr>
            <a:r>
              <a:rPr lang="en-US" sz="2200" dirty="0"/>
              <a:t>To detect, prevent, or recover from a security attack. </a:t>
            </a:r>
          </a:p>
          <a:p>
            <a:pPr marL="571500" lvl="1" indent="-342900" algn="just">
              <a:lnSpc>
                <a:spcPct val="100000"/>
              </a:lnSpc>
              <a:buFont typeface="Wingdings" panose="05000000000000000000" pitchFamily="2" charset="2"/>
              <a:buChar char="Ø"/>
            </a:pPr>
            <a:r>
              <a:rPr lang="en-AU" sz="2200" dirty="0"/>
              <a:t>Specific means of implementing one or more security service</a:t>
            </a:r>
          </a:p>
          <a:p>
            <a:pPr marL="571500" lvl="1" indent="-342900" algn="just">
              <a:lnSpc>
                <a:spcPct val="100000"/>
              </a:lnSpc>
              <a:buFont typeface="Wingdings" panose="05000000000000000000" pitchFamily="2" charset="2"/>
              <a:buChar char="Ø"/>
            </a:pPr>
            <a:r>
              <a:rPr lang="en-AU" sz="2200" dirty="0"/>
              <a:t>No single mechanism that will support all services required</a:t>
            </a:r>
            <a:endParaRPr lang="en-MY" sz="2200" dirty="0"/>
          </a:p>
          <a:p>
            <a:pPr marL="342900" indent="-342900" algn="just">
              <a:lnSpc>
                <a:spcPct val="100000"/>
              </a:lnSpc>
              <a:buFont typeface="Arial" panose="020B0604020202020204" pitchFamily="34" charset="0"/>
              <a:buChar char="•"/>
            </a:pPr>
            <a:r>
              <a:rPr lang="en-US" sz="2200" dirty="0"/>
              <a:t>However, </a:t>
            </a:r>
            <a:r>
              <a:rPr lang="en-AU" sz="2200" dirty="0"/>
              <a:t>one element underlies many of the security mechanisms in use – </a:t>
            </a:r>
            <a:r>
              <a:rPr lang="en-AU" sz="2200" b="1" dirty="0">
                <a:solidFill>
                  <a:srgbClr val="FF0000"/>
                </a:solidFill>
              </a:rPr>
              <a:t>Cryptographic Techniques</a:t>
            </a:r>
            <a:endParaRPr lang="en-AU" sz="2200" dirty="0">
              <a:solidFill>
                <a:srgbClr val="FF0000"/>
              </a:solidFill>
            </a:endParaRPr>
          </a:p>
          <a:p>
            <a:pPr algn="just">
              <a:lnSpc>
                <a:spcPct val="100000"/>
              </a:lnSpc>
            </a:pPr>
            <a:endParaRPr lang="en-MY" sz="2200" dirty="0"/>
          </a:p>
        </p:txBody>
      </p:sp>
    </p:spTree>
    <p:extLst>
      <p:ext uri="{BB962C8B-B14F-4D97-AF65-F5344CB8AC3E}">
        <p14:creationId xmlns:p14="http://schemas.microsoft.com/office/powerpoint/2010/main" val="392695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Security Mechanisms – X.800 (Overall)</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q"/>
            </a:pPr>
            <a:r>
              <a:rPr lang="en-MY" sz="2200" dirty="0"/>
              <a:t>X.800 has defined </a:t>
            </a:r>
            <a:r>
              <a:rPr lang="en-MY" sz="2200" b="1" dirty="0"/>
              <a:t>two major groups of security mechanisms</a:t>
            </a:r>
            <a:r>
              <a:rPr lang="en-MY" sz="2200" dirty="0"/>
              <a:t>:</a:t>
            </a:r>
          </a:p>
          <a:p>
            <a:pPr marL="457200" indent="-457200" algn="just">
              <a:lnSpc>
                <a:spcPct val="100000"/>
              </a:lnSpc>
              <a:buFont typeface="+mj-lt"/>
              <a:buAutoNum type="arabicPeriod"/>
            </a:pPr>
            <a:r>
              <a:rPr lang="en-MY" sz="2200" b="1" dirty="0">
                <a:solidFill>
                  <a:srgbClr val="FF0000"/>
                </a:solidFill>
              </a:rPr>
              <a:t>Specific</a:t>
            </a:r>
            <a:r>
              <a:rPr lang="en-MY" sz="2200" dirty="0"/>
              <a:t> Security Mechanisms.</a:t>
            </a:r>
          </a:p>
          <a:p>
            <a:pPr marL="685800" lvl="1" indent="-457200" algn="just">
              <a:lnSpc>
                <a:spcPct val="100000"/>
              </a:lnSpc>
              <a:buFont typeface="Wingdings" panose="05000000000000000000" pitchFamily="2" charset="2"/>
              <a:buChar char="Ø"/>
            </a:pPr>
            <a:r>
              <a:rPr lang="en-AU" sz="2200" dirty="0"/>
              <a:t>Incorporated into the appropriate protocol layer to provide some OSI security services.</a:t>
            </a:r>
            <a:endParaRPr lang="en-MY" sz="2200" dirty="0"/>
          </a:p>
          <a:p>
            <a:pPr marL="457200" indent="-457200" algn="just">
              <a:lnSpc>
                <a:spcPct val="100000"/>
              </a:lnSpc>
              <a:buFont typeface="+mj-lt"/>
              <a:buAutoNum type="arabicPeriod"/>
            </a:pPr>
            <a:r>
              <a:rPr lang="en-MY" sz="2200" b="1" dirty="0">
                <a:solidFill>
                  <a:srgbClr val="FF0000"/>
                </a:solidFill>
              </a:rPr>
              <a:t>Pervasive</a:t>
            </a:r>
            <a:r>
              <a:rPr lang="en-MY" sz="2200" dirty="0"/>
              <a:t> Security Mechanisms.</a:t>
            </a:r>
          </a:p>
          <a:p>
            <a:pPr marL="685800" lvl="1" indent="-457200" algn="just">
              <a:lnSpc>
                <a:spcPct val="100000"/>
              </a:lnSpc>
              <a:buFont typeface="Wingdings" panose="05000000000000000000" pitchFamily="2" charset="2"/>
              <a:buChar char="Ø"/>
            </a:pPr>
            <a:r>
              <a:rPr lang="en-US" sz="2200" dirty="0"/>
              <a:t>Not specific to any OSI protocol layer or any OSI security service.</a:t>
            </a:r>
            <a:endParaRPr lang="en-MY" sz="2200" dirty="0"/>
          </a:p>
          <a:p>
            <a:pPr algn="just">
              <a:lnSpc>
                <a:spcPct val="100000"/>
              </a:lnSpc>
            </a:pPr>
            <a:endParaRPr lang="en-MY" sz="2200" dirty="0"/>
          </a:p>
          <a:p>
            <a:pPr algn="just">
              <a:lnSpc>
                <a:spcPct val="100000"/>
              </a:lnSpc>
            </a:pPr>
            <a:r>
              <a:rPr lang="en-MY" sz="2200" dirty="0"/>
              <a:t>* In this course, we </a:t>
            </a:r>
            <a:r>
              <a:rPr lang="en-MY" sz="2200" b="1" dirty="0"/>
              <a:t>DO NOT </a:t>
            </a:r>
            <a:r>
              <a:rPr lang="en-MY" sz="2200" dirty="0"/>
              <a:t>consider the </a:t>
            </a:r>
            <a:r>
              <a:rPr lang="en-MY" sz="2200" b="1" dirty="0">
                <a:solidFill>
                  <a:srgbClr val="FF0000"/>
                </a:solidFill>
              </a:rPr>
              <a:t>pervasive</a:t>
            </a:r>
            <a:r>
              <a:rPr lang="en-MY" sz="2200" dirty="0"/>
              <a:t> group.</a:t>
            </a:r>
          </a:p>
        </p:txBody>
      </p:sp>
    </p:spTree>
    <p:extLst>
      <p:ext uri="{BB962C8B-B14F-4D97-AF65-F5344CB8AC3E}">
        <p14:creationId xmlns:p14="http://schemas.microsoft.com/office/powerpoint/2010/main" val="1520364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Security Mechanisms – X.800</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buFont typeface="Wingdings" panose="05000000000000000000" pitchFamily="2" charset="2"/>
              <a:buChar char="q"/>
            </a:pPr>
            <a:r>
              <a:rPr lang="en-US" sz="2200" b="1" dirty="0">
                <a:solidFill>
                  <a:srgbClr val="FF0000"/>
                </a:solidFill>
              </a:rPr>
              <a:t>Encipherment</a:t>
            </a:r>
          </a:p>
          <a:p>
            <a:pPr marL="571500" lvl="1" indent="-342900" algn="just">
              <a:lnSpc>
                <a:spcPct val="100000"/>
              </a:lnSpc>
              <a:buFont typeface="Wingdings" panose="05000000000000000000" pitchFamily="2" charset="2"/>
              <a:buChar char="Ø"/>
            </a:pPr>
            <a:r>
              <a:rPr lang="en-US" sz="2000" dirty="0"/>
              <a:t>Use of </a:t>
            </a:r>
            <a:r>
              <a:rPr lang="en-US" sz="2000" b="1" dirty="0"/>
              <a:t>mathematical algorithms</a:t>
            </a:r>
            <a:r>
              <a:rPr lang="en-US" sz="2000" dirty="0"/>
              <a:t> to transform data into not intelligible form.</a:t>
            </a:r>
          </a:p>
          <a:p>
            <a:pPr marL="571500" lvl="1" indent="-342900" algn="just">
              <a:lnSpc>
                <a:spcPct val="100000"/>
              </a:lnSpc>
              <a:buFont typeface="Wingdings" panose="05000000000000000000" pitchFamily="2" charset="2"/>
              <a:buChar char="Ø"/>
            </a:pPr>
            <a:r>
              <a:rPr lang="en-US" sz="2000" dirty="0"/>
              <a:t>Transformation and recovery depend on an algorithm and zero or more encryption keys.</a:t>
            </a:r>
          </a:p>
          <a:p>
            <a:pPr marL="342900" indent="-342900" algn="just" eaLnBrk="1" hangingPunct="1">
              <a:lnSpc>
                <a:spcPct val="100000"/>
              </a:lnSpc>
              <a:buFont typeface="Wingdings" panose="05000000000000000000" pitchFamily="2" charset="2"/>
              <a:buChar char="q"/>
            </a:pPr>
            <a:r>
              <a:rPr lang="en-US" sz="2200" b="1" dirty="0">
                <a:solidFill>
                  <a:srgbClr val="FF0000"/>
                </a:solidFill>
              </a:rPr>
              <a:t>Digital Signature</a:t>
            </a:r>
          </a:p>
          <a:p>
            <a:pPr marL="571500" lvl="1" indent="-342900" algn="just">
              <a:lnSpc>
                <a:spcPct val="100000"/>
              </a:lnSpc>
              <a:buFont typeface="Wingdings" panose="05000000000000000000" pitchFamily="2" charset="2"/>
              <a:buChar char="Ø"/>
            </a:pPr>
            <a:r>
              <a:rPr lang="en-US" sz="2000" dirty="0"/>
              <a:t>Data added to a data unit that allows the receiver to prove the source and </a:t>
            </a:r>
            <a:r>
              <a:rPr lang="en-US" sz="2000" b="1" dirty="0"/>
              <a:t>integrity</a:t>
            </a:r>
            <a:r>
              <a:rPr lang="en-US" sz="2000" dirty="0"/>
              <a:t> of data and protect against forgery.</a:t>
            </a:r>
          </a:p>
          <a:p>
            <a:pPr marL="342900" indent="-342900" algn="just" eaLnBrk="1" hangingPunct="1">
              <a:lnSpc>
                <a:spcPct val="100000"/>
              </a:lnSpc>
              <a:buFont typeface="Wingdings" panose="05000000000000000000" pitchFamily="2" charset="2"/>
              <a:buChar char="q"/>
            </a:pPr>
            <a:r>
              <a:rPr lang="en-US" sz="2200" b="1" dirty="0">
                <a:solidFill>
                  <a:srgbClr val="FF0000"/>
                </a:solidFill>
              </a:rPr>
              <a:t>Access Control</a:t>
            </a:r>
          </a:p>
          <a:p>
            <a:pPr marL="571500" lvl="1" indent="-342900" algn="just">
              <a:lnSpc>
                <a:spcPct val="100000"/>
              </a:lnSpc>
              <a:buFont typeface="Wingdings" panose="05000000000000000000" pitchFamily="2" charset="2"/>
              <a:buChar char="Ø"/>
            </a:pPr>
            <a:r>
              <a:rPr lang="en-US" sz="2000" dirty="0"/>
              <a:t>Mechanisms to enforce access rights to resources.</a:t>
            </a:r>
          </a:p>
          <a:p>
            <a:pPr marL="342900" indent="-342900" eaLnBrk="1" hangingPunct="1">
              <a:lnSpc>
                <a:spcPct val="80000"/>
              </a:lnSpc>
              <a:buFont typeface="Wingdings" panose="05000000000000000000" pitchFamily="2" charset="2"/>
              <a:buChar char="q"/>
            </a:pPr>
            <a:r>
              <a:rPr lang="en-US" sz="2200" b="1" dirty="0">
                <a:solidFill>
                  <a:srgbClr val="FF0000"/>
                </a:solidFill>
              </a:rPr>
              <a:t>Notarization</a:t>
            </a:r>
          </a:p>
          <a:p>
            <a:pPr marL="571500" lvl="1" indent="-342900">
              <a:lnSpc>
                <a:spcPct val="80000"/>
              </a:lnSpc>
              <a:buFont typeface="Wingdings" panose="05000000000000000000" pitchFamily="2" charset="2"/>
              <a:buChar char="Ø"/>
            </a:pPr>
            <a:r>
              <a:rPr lang="en-US" sz="2000" dirty="0"/>
              <a:t>Use of </a:t>
            </a:r>
            <a:r>
              <a:rPr lang="en-US" sz="2000" b="1" dirty="0"/>
              <a:t>trusted third party (TTP) </a:t>
            </a:r>
            <a:r>
              <a:rPr lang="en-US" sz="2000" dirty="0"/>
              <a:t>to assure certain properties of data exchange.</a:t>
            </a:r>
          </a:p>
        </p:txBody>
      </p:sp>
    </p:spTree>
    <p:extLst>
      <p:ext uri="{BB962C8B-B14F-4D97-AF65-F5344CB8AC3E}">
        <p14:creationId xmlns:p14="http://schemas.microsoft.com/office/powerpoint/2010/main" val="25892122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Security Mechanisms – X.800</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buFont typeface="Wingdings" panose="05000000000000000000" pitchFamily="2" charset="2"/>
              <a:buChar char="q"/>
            </a:pPr>
            <a:r>
              <a:rPr lang="en-US" sz="2200" b="1" dirty="0">
                <a:solidFill>
                  <a:srgbClr val="FF0000"/>
                </a:solidFill>
              </a:rPr>
              <a:t>Data Integrity</a:t>
            </a:r>
          </a:p>
          <a:p>
            <a:pPr marL="571500" lvl="1" indent="-342900" algn="just">
              <a:lnSpc>
                <a:spcPct val="100000"/>
              </a:lnSpc>
              <a:buFont typeface="Wingdings" panose="05000000000000000000" pitchFamily="2" charset="2"/>
              <a:buChar char="Ø"/>
            </a:pPr>
            <a:r>
              <a:rPr lang="en-US" sz="2000" dirty="0"/>
              <a:t>Mechanisms to assure the </a:t>
            </a:r>
            <a:r>
              <a:rPr lang="en-US" sz="2000" b="1" dirty="0"/>
              <a:t>integrity</a:t>
            </a:r>
            <a:r>
              <a:rPr lang="en-US" sz="2000" dirty="0"/>
              <a:t> of a data unit or a stream of data.</a:t>
            </a:r>
          </a:p>
          <a:p>
            <a:pPr marL="342900" indent="-342900" algn="just" eaLnBrk="1" hangingPunct="1">
              <a:lnSpc>
                <a:spcPct val="100000"/>
              </a:lnSpc>
              <a:buFont typeface="Wingdings" panose="05000000000000000000" pitchFamily="2" charset="2"/>
              <a:buChar char="q"/>
            </a:pPr>
            <a:r>
              <a:rPr lang="en-US" sz="2200" b="1" dirty="0">
                <a:solidFill>
                  <a:srgbClr val="FF0000"/>
                </a:solidFill>
              </a:rPr>
              <a:t>Authentication Exchange</a:t>
            </a:r>
          </a:p>
          <a:p>
            <a:pPr marL="571500" lvl="1" indent="-342900" algn="just">
              <a:lnSpc>
                <a:spcPct val="100000"/>
              </a:lnSpc>
              <a:buFont typeface="Wingdings" panose="05000000000000000000" pitchFamily="2" charset="2"/>
              <a:buChar char="Ø"/>
            </a:pPr>
            <a:r>
              <a:rPr lang="en-US" sz="2000" dirty="0"/>
              <a:t>Mechanism to ensure the identity by information exchange.</a:t>
            </a:r>
          </a:p>
          <a:p>
            <a:pPr marL="342900" indent="-342900" algn="just" eaLnBrk="1" hangingPunct="1">
              <a:lnSpc>
                <a:spcPct val="100000"/>
              </a:lnSpc>
              <a:buFont typeface="Wingdings" panose="05000000000000000000" pitchFamily="2" charset="2"/>
              <a:buChar char="q"/>
            </a:pPr>
            <a:r>
              <a:rPr lang="en-US" sz="2200" b="1" dirty="0">
                <a:solidFill>
                  <a:srgbClr val="FF0000"/>
                </a:solidFill>
              </a:rPr>
              <a:t>Traffic Padding</a:t>
            </a:r>
          </a:p>
          <a:p>
            <a:pPr marL="571500" lvl="1" indent="-342900" algn="just">
              <a:lnSpc>
                <a:spcPct val="100000"/>
              </a:lnSpc>
              <a:buFont typeface="Wingdings" panose="05000000000000000000" pitchFamily="2" charset="2"/>
              <a:buChar char="Ø"/>
            </a:pPr>
            <a:r>
              <a:rPr lang="en-US" sz="2000" dirty="0"/>
              <a:t>Insertion of bits in a data stream to avoid </a:t>
            </a:r>
            <a:r>
              <a:rPr lang="en-US" sz="2000" b="1" dirty="0"/>
              <a:t>traffic analysis</a:t>
            </a:r>
            <a:r>
              <a:rPr lang="en-US" sz="2000" dirty="0"/>
              <a:t>.</a:t>
            </a:r>
          </a:p>
          <a:p>
            <a:pPr marL="342900" indent="-342900" algn="just" eaLnBrk="1" hangingPunct="1">
              <a:lnSpc>
                <a:spcPct val="100000"/>
              </a:lnSpc>
              <a:buFont typeface="Wingdings" panose="05000000000000000000" pitchFamily="2" charset="2"/>
              <a:buChar char="q"/>
            </a:pPr>
            <a:r>
              <a:rPr lang="en-US" sz="2200" b="1" dirty="0">
                <a:solidFill>
                  <a:srgbClr val="FF0000"/>
                </a:solidFill>
              </a:rPr>
              <a:t>Routing Control</a:t>
            </a:r>
          </a:p>
          <a:p>
            <a:pPr marL="571500" lvl="1" indent="-342900" algn="just">
              <a:lnSpc>
                <a:spcPct val="100000"/>
              </a:lnSpc>
              <a:buFont typeface="Wingdings" panose="05000000000000000000" pitchFamily="2" charset="2"/>
              <a:buChar char="Ø"/>
            </a:pPr>
            <a:r>
              <a:rPr lang="en-US" sz="2000" dirty="0"/>
              <a:t>Selection of physically secure routes for data.</a:t>
            </a:r>
          </a:p>
          <a:p>
            <a:pPr marL="571500" lvl="1" indent="-342900" algn="just">
              <a:lnSpc>
                <a:spcPct val="100000"/>
              </a:lnSpc>
              <a:buFont typeface="Wingdings" panose="05000000000000000000" pitchFamily="2" charset="2"/>
              <a:buChar char="Ø"/>
            </a:pPr>
            <a:r>
              <a:rPr lang="en-US" sz="2000" dirty="0"/>
              <a:t>Allow routing change for the suspected violation of security.</a:t>
            </a:r>
          </a:p>
        </p:txBody>
      </p:sp>
    </p:spTree>
    <p:extLst>
      <p:ext uri="{BB962C8B-B14F-4D97-AF65-F5344CB8AC3E}">
        <p14:creationId xmlns:p14="http://schemas.microsoft.com/office/powerpoint/2010/main" val="14503697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Security Services and Mechanisms</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buFont typeface="Wingdings" panose="05000000000000000000" pitchFamily="2" charset="2"/>
              <a:buChar char="q"/>
            </a:pPr>
            <a:r>
              <a:rPr lang="en-MY" sz="2400" dirty="0"/>
              <a:t>The relationship between security services and security mechanisms:</a:t>
            </a:r>
          </a:p>
        </p:txBody>
      </p:sp>
      <p:pic>
        <p:nvPicPr>
          <p:cNvPr id="4" name="Picture 3">
            <a:extLst>
              <a:ext uri="{FF2B5EF4-FFF2-40B4-BE49-F238E27FC236}">
                <a16:creationId xmlns:a16="http://schemas.microsoft.com/office/drawing/2014/main" id="{8020E6A1-B720-2A73-CEA7-A81BC52E554B}"/>
              </a:ext>
            </a:extLst>
          </p:cNvPr>
          <p:cNvPicPr>
            <a:picLocks noChangeAspect="1"/>
          </p:cNvPicPr>
          <p:nvPr/>
        </p:nvPicPr>
        <p:blipFill>
          <a:blip r:embed="rId2"/>
          <a:stretch>
            <a:fillRect/>
          </a:stretch>
        </p:blipFill>
        <p:spPr>
          <a:xfrm>
            <a:off x="158417" y="2861102"/>
            <a:ext cx="11875166" cy="3575208"/>
          </a:xfrm>
          <a:prstGeom prst="rect">
            <a:avLst/>
          </a:prstGeom>
        </p:spPr>
      </p:pic>
    </p:spTree>
    <p:extLst>
      <p:ext uri="{BB962C8B-B14F-4D97-AF65-F5344CB8AC3E}">
        <p14:creationId xmlns:p14="http://schemas.microsoft.com/office/powerpoint/2010/main" val="32540396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F6485F-8FE4-7215-ECD4-65108C230837}"/>
              </a:ext>
            </a:extLst>
          </p:cNvPr>
          <p:cNvPicPr>
            <a:picLocks noChangeAspect="1"/>
          </p:cNvPicPr>
          <p:nvPr/>
        </p:nvPicPr>
        <p:blipFill>
          <a:blip r:embed="rId2"/>
          <a:stretch>
            <a:fillRect/>
          </a:stretch>
        </p:blipFill>
        <p:spPr>
          <a:xfrm>
            <a:off x="1974" y="0"/>
            <a:ext cx="12188052" cy="6858000"/>
          </a:xfrm>
          <a:prstGeom prst="rect">
            <a:avLst/>
          </a:prstGeom>
        </p:spPr>
      </p:pic>
    </p:spTree>
    <p:extLst>
      <p:ext uri="{BB962C8B-B14F-4D97-AF65-F5344CB8AC3E}">
        <p14:creationId xmlns:p14="http://schemas.microsoft.com/office/powerpoint/2010/main" val="29031146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NETWORK SECURITY </a:t>
            </a:r>
            <a:br>
              <a:rPr lang="en-MY" sz="5400" b="1" dirty="0">
                <a:solidFill>
                  <a:srgbClr val="C00000"/>
                </a:solidFill>
              </a:rPr>
            </a:br>
            <a:r>
              <a:rPr lang="en-MY" sz="5400" b="1" dirty="0">
                <a:solidFill>
                  <a:srgbClr val="C00000"/>
                </a:solidFill>
              </a:rPr>
              <a:t>MODELS</a:t>
            </a:r>
            <a:br>
              <a:rPr lang="en-MY" sz="5400" b="1" dirty="0">
                <a:solidFill>
                  <a:srgbClr val="C00000"/>
                </a:solidFill>
              </a:rPr>
            </a:b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23853171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Model for Network Security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a:lnSpc>
                <a:spcPct val="100000"/>
              </a:lnSpc>
              <a:buFont typeface="Wingdings" panose="05000000000000000000" pitchFamily="2" charset="2"/>
              <a:buChar char="v"/>
            </a:pPr>
            <a:r>
              <a:rPr lang="en-AU" sz="2200" dirty="0"/>
              <a:t>It models an information flowing over an insecure communications channel, in the presence of possible opponents (attackers/adversaries).</a:t>
            </a:r>
          </a:p>
          <a:p>
            <a:pPr marL="342900" indent="-342900" algn="just">
              <a:lnSpc>
                <a:spcPct val="100000"/>
              </a:lnSpc>
              <a:buFont typeface="Wingdings" panose="05000000000000000000" pitchFamily="2" charset="2"/>
              <a:buChar char="v"/>
            </a:pPr>
            <a:r>
              <a:rPr lang="en-AU" sz="2200" dirty="0"/>
              <a:t> An appropriate </a:t>
            </a:r>
            <a:r>
              <a:rPr lang="en-AU" sz="2200" b="1" dirty="0"/>
              <a:t>security transformation (</a:t>
            </a:r>
            <a:r>
              <a:rPr lang="en-AU" sz="2200" b="1" dirty="0">
                <a:solidFill>
                  <a:srgbClr val="FF0000"/>
                </a:solidFill>
              </a:rPr>
              <a:t>encryption algorithm</a:t>
            </a:r>
            <a:r>
              <a:rPr lang="en-AU" sz="2200" b="1" dirty="0"/>
              <a:t>)</a:t>
            </a:r>
            <a:r>
              <a:rPr lang="en-AU" sz="2200" dirty="0"/>
              <a:t> can be used, with suitable </a:t>
            </a:r>
            <a:r>
              <a:rPr lang="en-AU" sz="2200" b="1" dirty="0">
                <a:solidFill>
                  <a:srgbClr val="FF0000"/>
                </a:solidFill>
              </a:rPr>
              <a:t>keys</a:t>
            </a:r>
            <a:r>
              <a:rPr lang="en-AU" sz="2200" b="1" dirty="0"/>
              <a:t> </a:t>
            </a:r>
            <a:r>
              <a:rPr lang="en-AU" sz="2200" dirty="0"/>
              <a:t>(a secret information shared only by the authorized entities), possibly negotiated using the presence of a </a:t>
            </a:r>
            <a:r>
              <a:rPr lang="en-AU" sz="2200" b="1" dirty="0"/>
              <a:t>trusted third party</a:t>
            </a:r>
            <a:r>
              <a:rPr lang="en-AU" sz="2200" dirty="0"/>
              <a:t>.</a:t>
            </a:r>
          </a:p>
          <a:p>
            <a:pPr marL="342900" indent="-342900" algn="just">
              <a:lnSpc>
                <a:spcPct val="100000"/>
              </a:lnSpc>
              <a:buFont typeface="Wingdings" panose="05000000000000000000" pitchFamily="2" charset="2"/>
              <a:buChar char="v"/>
            </a:pPr>
            <a:r>
              <a:rPr lang="en-AU" sz="2200" b="1" dirty="0"/>
              <a:t>Trusted Third Party (TTP)</a:t>
            </a:r>
            <a:r>
              <a:rPr lang="en-AU" sz="2200" dirty="0"/>
              <a:t>:</a:t>
            </a:r>
          </a:p>
          <a:p>
            <a:pPr marL="571500" lvl="1" indent="-342900" algn="just">
              <a:lnSpc>
                <a:spcPct val="100000"/>
              </a:lnSpc>
              <a:buFont typeface="Wingdings" panose="05000000000000000000" pitchFamily="2" charset="2"/>
              <a:buChar char="Ø"/>
            </a:pPr>
            <a:r>
              <a:rPr lang="en-AU" sz="2000" dirty="0"/>
              <a:t>A third party that may be responsible for </a:t>
            </a:r>
            <a:r>
              <a:rPr lang="en-AU" sz="2000" b="1" dirty="0">
                <a:solidFill>
                  <a:srgbClr val="FF0000"/>
                </a:solidFill>
              </a:rPr>
              <a:t>key distribution</a:t>
            </a:r>
            <a:r>
              <a:rPr lang="en-AU" sz="2000" dirty="0"/>
              <a:t>.</a:t>
            </a:r>
          </a:p>
          <a:p>
            <a:pPr marL="571500" lvl="1" indent="-342900" algn="just">
              <a:lnSpc>
                <a:spcPct val="100000"/>
              </a:lnSpc>
              <a:buFont typeface="Wingdings" panose="05000000000000000000" pitchFamily="2" charset="2"/>
              <a:buChar char="Ø"/>
            </a:pPr>
            <a:r>
              <a:rPr lang="en-AU" sz="2000" dirty="0"/>
              <a:t>A third party that may be needed to </a:t>
            </a:r>
            <a:r>
              <a:rPr lang="en-AU" sz="2000" b="1" dirty="0">
                <a:solidFill>
                  <a:srgbClr val="FF0000"/>
                </a:solidFill>
              </a:rPr>
              <a:t>authenticate</a:t>
            </a:r>
            <a:r>
              <a:rPr lang="en-AU" sz="2000" dirty="0"/>
              <a:t> the communicating parties/message sent.</a:t>
            </a:r>
            <a:endParaRPr lang="en-US" sz="2000" dirty="0"/>
          </a:p>
          <a:p>
            <a:pPr marL="342900" indent="-342900" algn="just">
              <a:lnSpc>
                <a:spcPct val="100000"/>
              </a:lnSpc>
              <a:buFont typeface="Wingdings" panose="05000000000000000000" pitchFamily="2" charset="2"/>
              <a:buChar char="v"/>
            </a:pPr>
            <a:endParaRPr lang="en-AU" sz="2200" dirty="0"/>
          </a:p>
        </p:txBody>
      </p:sp>
    </p:spTree>
    <p:extLst>
      <p:ext uri="{BB962C8B-B14F-4D97-AF65-F5344CB8AC3E}">
        <p14:creationId xmlns:p14="http://schemas.microsoft.com/office/powerpoint/2010/main" val="8459622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C568B8-041F-1EDC-29D9-21580DFC02C6}"/>
              </a:ext>
            </a:extLst>
          </p:cNvPr>
          <p:cNvPicPr>
            <a:picLocks noChangeAspect="1"/>
          </p:cNvPicPr>
          <p:nvPr/>
        </p:nvPicPr>
        <p:blipFill>
          <a:blip r:embed="rId2"/>
          <a:stretch>
            <a:fillRect/>
          </a:stretch>
        </p:blipFill>
        <p:spPr>
          <a:xfrm>
            <a:off x="446696" y="121011"/>
            <a:ext cx="11298607" cy="6615977"/>
          </a:xfrm>
          <a:prstGeom prst="rect">
            <a:avLst/>
          </a:prstGeom>
        </p:spPr>
      </p:pic>
    </p:spTree>
    <p:extLst>
      <p:ext uri="{BB962C8B-B14F-4D97-AF65-F5344CB8AC3E}">
        <p14:creationId xmlns:p14="http://schemas.microsoft.com/office/powerpoint/2010/main" val="3532232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dirty="0">
                <a:solidFill>
                  <a:srgbClr val="0000FF"/>
                </a:solidFill>
              </a:rPr>
              <a:t>Model for Network Security</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Autofit/>
          </a:bodyPr>
          <a:lstStyle/>
          <a:p>
            <a:pPr marL="342900" indent="-342900" algn="just">
              <a:lnSpc>
                <a:spcPct val="100000"/>
              </a:lnSpc>
              <a:buFont typeface="Wingdings" panose="05000000000000000000" pitchFamily="2" charset="2"/>
              <a:buChar char="q"/>
            </a:pPr>
            <a:r>
              <a:rPr lang="en-AU" sz="2200" b="1" dirty="0"/>
              <a:t>Four basic tasks in designing a security service:</a:t>
            </a:r>
          </a:p>
          <a:p>
            <a:pPr marL="457200" indent="-457200" algn="just">
              <a:lnSpc>
                <a:spcPct val="100000"/>
              </a:lnSpc>
              <a:buFont typeface="+mj-lt"/>
              <a:buAutoNum type="arabicPeriod"/>
            </a:pPr>
            <a:r>
              <a:rPr lang="en-AU" sz="2000" dirty="0"/>
              <a:t>Design a suitable algorithm (via </a:t>
            </a:r>
            <a:r>
              <a:rPr lang="en-AU" sz="2000" b="1" dirty="0">
                <a:solidFill>
                  <a:srgbClr val="FF0000"/>
                </a:solidFill>
              </a:rPr>
              <a:t>cryptography</a:t>
            </a:r>
            <a:r>
              <a:rPr lang="en-AU" sz="2000" dirty="0"/>
              <a:t>) for the security-related transformation. The algorithm should be impossible (or at least difficult) for an opponent to defeat its purpose.</a:t>
            </a:r>
          </a:p>
          <a:p>
            <a:pPr marL="457200" indent="-457200" algn="just">
              <a:lnSpc>
                <a:spcPct val="100000"/>
              </a:lnSpc>
              <a:buFont typeface="+mj-lt"/>
              <a:buAutoNum type="arabicPeriod"/>
            </a:pPr>
            <a:r>
              <a:rPr lang="en-AU" sz="2000" dirty="0"/>
              <a:t>Generate the secret information (that is, the </a:t>
            </a:r>
            <a:r>
              <a:rPr lang="en-AU" sz="2000" b="1" dirty="0">
                <a:solidFill>
                  <a:srgbClr val="FF0000"/>
                </a:solidFill>
              </a:rPr>
              <a:t>secret key</a:t>
            </a:r>
            <a:r>
              <a:rPr lang="en-AU" sz="2000" dirty="0"/>
              <a:t>) used with the algorithm. </a:t>
            </a:r>
          </a:p>
          <a:p>
            <a:pPr marL="457200" indent="-457200" algn="just">
              <a:lnSpc>
                <a:spcPct val="100000"/>
              </a:lnSpc>
              <a:buFont typeface="+mj-lt"/>
              <a:buAutoNum type="arabicPeriod"/>
            </a:pPr>
            <a:r>
              <a:rPr lang="en-AU" sz="2000" dirty="0"/>
              <a:t>Develop methods (common via </a:t>
            </a:r>
            <a:r>
              <a:rPr lang="en-AU" b="1" dirty="0">
                <a:solidFill>
                  <a:srgbClr val="FF0000"/>
                </a:solidFill>
              </a:rPr>
              <a:t>a TTP</a:t>
            </a:r>
            <a:r>
              <a:rPr lang="en-AU" dirty="0"/>
              <a:t>) </a:t>
            </a:r>
            <a:r>
              <a:rPr lang="en-AU" sz="2000" dirty="0"/>
              <a:t>to distribute and share the secret information.</a:t>
            </a:r>
          </a:p>
          <a:p>
            <a:pPr marL="457200" indent="-457200" algn="just">
              <a:lnSpc>
                <a:spcPct val="100000"/>
              </a:lnSpc>
              <a:buFont typeface="+mj-lt"/>
              <a:buAutoNum type="arabicPeriod"/>
            </a:pPr>
            <a:r>
              <a:rPr lang="en-AU" sz="2000" dirty="0"/>
              <a:t>Specify a protocol enabling the principals to use the transformation and secret information for a security service.</a:t>
            </a:r>
          </a:p>
        </p:txBody>
      </p:sp>
    </p:spTree>
    <p:extLst>
      <p:ext uri="{BB962C8B-B14F-4D97-AF65-F5344CB8AC3E}">
        <p14:creationId xmlns:p14="http://schemas.microsoft.com/office/powerpoint/2010/main" val="5890553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normAutofit/>
          </a:bodyPr>
          <a:lstStyle/>
          <a:p>
            <a:r>
              <a:rPr lang="en-US" sz="4400" dirty="0">
                <a:solidFill>
                  <a:srgbClr val="0000FF"/>
                </a:solidFill>
              </a:rPr>
              <a:t>Network </a:t>
            </a:r>
            <a:r>
              <a:rPr lang="en-US" sz="4400" dirty="0">
                <a:solidFill>
                  <a:srgbClr val="FF0000"/>
                </a:solidFill>
              </a:rPr>
              <a:t>Access</a:t>
            </a:r>
            <a:r>
              <a:rPr lang="en-US" sz="4400" dirty="0">
                <a:solidFill>
                  <a:srgbClr val="0000FF"/>
                </a:solidFill>
              </a:rPr>
              <a:t> Security Model</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spcBef>
                <a:spcPct val="30000"/>
              </a:spcBef>
              <a:buFont typeface="Wingdings" panose="05000000000000000000" pitchFamily="2" charset="2"/>
              <a:buChar char="v"/>
            </a:pPr>
            <a:r>
              <a:rPr lang="en-AU" sz="2200" dirty="0"/>
              <a:t>A model that is concerned with controlled access to information or resources on a computer system, in the presence of possible opponents. </a:t>
            </a:r>
          </a:p>
          <a:p>
            <a:pPr marL="342900" indent="-342900" algn="just" eaLnBrk="1" hangingPunct="1">
              <a:lnSpc>
                <a:spcPct val="100000"/>
              </a:lnSpc>
              <a:spcBef>
                <a:spcPct val="30000"/>
              </a:spcBef>
              <a:buFont typeface="Wingdings" panose="05000000000000000000" pitchFamily="2" charset="2"/>
              <a:buChar char="v"/>
            </a:pPr>
            <a:r>
              <a:rPr lang="en-AU" sz="2200" dirty="0"/>
              <a:t>Two possible kinds of threats:</a:t>
            </a:r>
          </a:p>
          <a:p>
            <a:pPr marL="571500" lvl="1" indent="-342900" algn="just">
              <a:lnSpc>
                <a:spcPct val="100000"/>
              </a:lnSpc>
              <a:spcBef>
                <a:spcPct val="30000"/>
              </a:spcBef>
              <a:buFont typeface="Wingdings" panose="05000000000000000000" pitchFamily="2" charset="2"/>
              <a:buChar char="Ø"/>
            </a:pPr>
            <a:r>
              <a:rPr lang="en-AU" sz="2000" b="1" dirty="0">
                <a:solidFill>
                  <a:srgbClr val="FF0000"/>
                </a:solidFill>
              </a:rPr>
              <a:t>Information access threats</a:t>
            </a:r>
            <a:r>
              <a:rPr lang="en-AU" sz="2000" dirty="0"/>
              <a:t>: It intercepts or modifies data on behalf of users who should not have access to that data.</a:t>
            </a:r>
          </a:p>
          <a:p>
            <a:pPr marL="571500" lvl="1" indent="-342900" algn="just">
              <a:lnSpc>
                <a:spcPct val="100000"/>
              </a:lnSpc>
              <a:spcBef>
                <a:spcPct val="30000"/>
              </a:spcBef>
              <a:buFont typeface="Wingdings" panose="05000000000000000000" pitchFamily="2" charset="2"/>
              <a:buChar char="Ø"/>
            </a:pPr>
            <a:r>
              <a:rPr lang="en-AU" sz="2000" b="1" dirty="0">
                <a:solidFill>
                  <a:srgbClr val="FF0000"/>
                </a:solidFill>
              </a:rPr>
              <a:t>Service threats</a:t>
            </a:r>
            <a:r>
              <a:rPr lang="en-AU" sz="2000" dirty="0"/>
              <a:t>: It exploits service flaws in computers to inhibit use by legitimate users.</a:t>
            </a:r>
          </a:p>
          <a:p>
            <a:pPr marL="342900" indent="-342900" algn="just" eaLnBrk="1" hangingPunct="1">
              <a:lnSpc>
                <a:spcPct val="100000"/>
              </a:lnSpc>
              <a:spcBef>
                <a:spcPct val="30000"/>
              </a:spcBef>
              <a:buFont typeface="Wingdings" panose="05000000000000000000" pitchFamily="2" charset="2"/>
              <a:buChar char="v"/>
            </a:pPr>
            <a:r>
              <a:rPr lang="en-AU" sz="2200" dirty="0"/>
              <a:t>Appropriate controls are needed on the access and also within the system, to provide suitable security. In some cases, cryptographic techniques are useful too.</a:t>
            </a:r>
          </a:p>
        </p:txBody>
      </p:sp>
    </p:spTree>
    <p:extLst>
      <p:ext uri="{BB962C8B-B14F-4D97-AF65-F5344CB8AC3E}">
        <p14:creationId xmlns:p14="http://schemas.microsoft.com/office/powerpoint/2010/main" val="34378970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EC3D97-6E04-F053-F366-97AB5B1E53E4}"/>
              </a:ext>
            </a:extLst>
          </p:cNvPr>
          <p:cNvPicPr>
            <a:picLocks noChangeAspect="1"/>
          </p:cNvPicPr>
          <p:nvPr/>
        </p:nvPicPr>
        <p:blipFill>
          <a:blip r:embed="rId2"/>
          <a:stretch>
            <a:fillRect/>
          </a:stretch>
        </p:blipFill>
        <p:spPr>
          <a:xfrm>
            <a:off x="297764" y="2166322"/>
            <a:ext cx="11596471" cy="4133894"/>
          </a:xfrm>
          <a:prstGeom prst="rect">
            <a:avLst/>
          </a:prstGeom>
        </p:spPr>
      </p:pic>
      <p:sp>
        <p:nvSpPr>
          <p:cNvPr id="5" name="Title 1">
            <a:extLst>
              <a:ext uri="{FF2B5EF4-FFF2-40B4-BE49-F238E27FC236}">
                <a16:creationId xmlns:a16="http://schemas.microsoft.com/office/drawing/2014/main" id="{A1A17599-4537-50AE-B814-DB013DCFA779}"/>
              </a:ext>
            </a:extLst>
          </p:cNvPr>
          <p:cNvSpPr>
            <a:spLocks noGrp="1"/>
          </p:cNvSpPr>
          <p:nvPr>
            <p:ph type="title"/>
          </p:nvPr>
        </p:nvSpPr>
        <p:spPr>
          <a:xfrm>
            <a:off x="609600" y="557784"/>
            <a:ext cx="10972800" cy="1325563"/>
          </a:xfrm>
        </p:spPr>
        <p:txBody>
          <a:bodyPr>
            <a:normAutofit/>
          </a:bodyPr>
          <a:lstStyle/>
          <a:p>
            <a:r>
              <a:rPr lang="en-US" sz="4400" dirty="0">
                <a:solidFill>
                  <a:srgbClr val="0000FF"/>
                </a:solidFill>
              </a:rPr>
              <a:t>Network Access Security Model</a:t>
            </a:r>
            <a:endParaRPr lang="en-MY" dirty="0"/>
          </a:p>
        </p:txBody>
      </p:sp>
    </p:spTree>
    <p:extLst>
      <p:ext uri="{BB962C8B-B14F-4D97-AF65-F5344CB8AC3E}">
        <p14:creationId xmlns:p14="http://schemas.microsoft.com/office/powerpoint/2010/main" val="3575661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US" sz="4400" dirty="0">
                <a:solidFill>
                  <a:srgbClr val="0000FF"/>
                </a:solidFill>
              </a:rPr>
              <a:t>Network Access Security Model</a:t>
            </a:r>
            <a:endParaRPr lang="en-MY" dirty="0"/>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342900" indent="-342900" algn="just" eaLnBrk="1" hangingPunct="1">
              <a:lnSpc>
                <a:spcPct val="100000"/>
              </a:lnSpc>
              <a:buFont typeface="Wingdings" panose="05000000000000000000" pitchFamily="2" charset="2"/>
              <a:buChar char="q"/>
            </a:pPr>
            <a:r>
              <a:rPr lang="en-AU" sz="2200" b="1" dirty="0"/>
              <a:t>Two broad categories</a:t>
            </a:r>
            <a:r>
              <a:rPr lang="en-AU" sz="2200" dirty="0"/>
              <a:t> of security mechanisms needed to cope with unwanted access:</a:t>
            </a:r>
          </a:p>
          <a:p>
            <a:pPr marL="457200" indent="-457200" algn="just" eaLnBrk="1" hangingPunct="1">
              <a:lnSpc>
                <a:spcPct val="100000"/>
              </a:lnSpc>
              <a:buFont typeface="+mj-lt"/>
              <a:buAutoNum type="arabicPeriod"/>
            </a:pPr>
            <a:r>
              <a:rPr lang="en-AU" sz="2200" dirty="0"/>
              <a:t>Select appropriate </a:t>
            </a:r>
            <a:r>
              <a:rPr lang="en-AU" sz="2200" b="1" dirty="0">
                <a:solidFill>
                  <a:srgbClr val="FF0000"/>
                </a:solidFill>
              </a:rPr>
              <a:t>gatekeeper functions</a:t>
            </a:r>
            <a:r>
              <a:rPr lang="en-AU" sz="2200" dirty="0"/>
              <a:t>:</a:t>
            </a:r>
          </a:p>
          <a:p>
            <a:pPr marL="685800" lvl="1" indent="-457200" algn="just">
              <a:lnSpc>
                <a:spcPct val="100000"/>
              </a:lnSpc>
              <a:buFont typeface="Wingdings" panose="05000000000000000000" pitchFamily="2" charset="2"/>
              <a:buChar char="Ø"/>
            </a:pPr>
            <a:r>
              <a:rPr lang="en-AU" sz="2200" dirty="0"/>
              <a:t>To include password-based login procedures to allow only authorized users.</a:t>
            </a:r>
          </a:p>
          <a:p>
            <a:pPr marL="685800" lvl="1" indent="-457200" algn="just">
              <a:lnSpc>
                <a:spcPct val="100000"/>
              </a:lnSpc>
              <a:buFont typeface="Wingdings" panose="05000000000000000000" pitchFamily="2" charset="2"/>
              <a:buChar char="Ø"/>
            </a:pPr>
            <a:r>
              <a:rPr lang="en-AU" sz="2200" dirty="0"/>
              <a:t>To include screening logic to detect and reject worms, viruses and similar attacks.</a:t>
            </a:r>
          </a:p>
          <a:p>
            <a:pPr marL="457200" indent="-457200" algn="just">
              <a:lnSpc>
                <a:spcPct val="100000"/>
              </a:lnSpc>
              <a:buFont typeface="+mj-lt"/>
              <a:buAutoNum type="arabicPeriod"/>
            </a:pPr>
            <a:r>
              <a:rPr lang="en-AU" sz="2200" dirty="0"/>
              <a:t>Implement </a:t>
            </a:r>
            <a:r>
              <a:rPr lang="en-AU" sz="2200" b="1" dirty="0">
                <a:solidFill>
                  <a:srgbClr val="FF0000"/>
                </a:solidFill>
              </a:rPr>
              <a:t>internal security controls </a:t>
            </a:r>
            <a:r>
              <a:rPr lang="en-AU" sz="2200" dirty="0"/>
              <a:t>to monitor activity and analyse stored information to detect the presence of unwanted intruders or virus.</a:t>
            </a:r>
          </a:p>
        </p:txBody>
      </p:sp>
    </p:spTree>
    <p:extLst>
      <p:ext uri="{BB962C8B-B14F-4D97-AF65-F5344CB8AC3E}">
        <p14:creationId xmlns:p14="http://schemas.microsoft.com/office/powerpoint/2010/main" val="32299574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a:xfrm>
            <a:off x="609600" y="557784"/>
            <a:ext cx="10972800" cy="5683218"/>
          </a:xfrm>
        </p:spPr>
        <p:txBody>
          <a:bodyPr>
            <a:normAutofit/>
          </a:bodyPr>
          <a:lstStyle/>
          <a:p>
            <a:pPr algn="ctr"/>
            <a:r>
              <a:rPr lang="en-MY" sz="5400" b="1" dirty="0">
                <a:solidFill>
                  <a:srgbClr val="C00000"/>
                </a:solidFill>
              </a:rPr>
              <a:t>PART 2:</a:t>
            </a:r>
            <a:br>
              <a:rPr lang="en-MY" sz="5400" b="1" dirty="0">
                <a:solidFill>
                  <a:srgbClr val="C00000"/>
                </a:solidFill>
              </a:rPr>
            </a:br>
            <a:r>
              <a:rPr lang="en-MY" sz="5400" b="1" dirty="0">
                <a:solidFill>
                  <a:srgbClr val="00B050"/>
                </a:solidFill>
              </a:rPr>
              <a:t>CRYPTOGRAPHY</a:t>
            </a:r>
            <a:br>
              <a:rPr lang="en-MY" sz="5400" b="1" dirty="0">
                <a:solidFill>
                  <a:srgbClr val="C00000"/>
                </a:solidFill>
              </a:rPr>
            </a:br>
            <a:r>
              <a:rPr lang="en-MY" sz="3600" b="1" dirty="0">
                <a:solidFill>
                  <a:srgbClr val="C00000"/>
                </a:solidFill>
              </a:rPr>
              <a:t> </a:t>
            </a:r>
            <a:br>
              <a:rPr lang="en-MY" sz="5400" b="1" dirty="0">
                <a:solidFill>
                  <a:srgbClr val="C00000"/>
                </a:solidFill>
              </a:rPr>
            </a:br>
            <a:br>
              <a:rPr lang="en-MY" sz="5400" b="1" dirty="0">
                <a:solidFill>
                  <a:srgbClr val="C00000"/>
                </a:solidFill>
              </a:rPr>
            </a:br>
            <a:endParaRPr lang="en-MY" sz="5400" b="1" dirty="0">
              <a:solidFill>
                <a:srgbClr val="C00000"/>
              </a:solidFill>
            </a:endParaRPr>
          </a:p>
        </p:txBody>
      </p:sp>
    </p:spTree>
    <p:extLst>
      <p:ext uri="{BB962C8B-B14F-4D97-AF65-F5344CB8AC3E}">
        <p14:creationId xmlns:p14="http://schemas.microsoft.com/office/powerpoint/2010/main" val="24899121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Outlines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marL="457200" indent="-457200">
              <a:buFont typeface="+mj-lt"/>
              <a:buAutoNum type="arabicPeriod"/>
            </a:pPr>
            <a:r>
              <a:rPr lang="en-MY" sz="2400" dirty="0"/>
              <a:t>Basic terminologies.</a:t>
            </a:r>
          </a:p>
          <a:p>
            <a:pPr marL="457200" indent="-457200">
              <a:buFont typeface="+mj-lt"/>
              <a:buAutoNum type="arabicPeriod"/>
            </a:pPr>
            <a:r>
              <a:rPr lang="en-MY" sz="2400" dirty="0" err="1"/>
              <a:t>Kerckhoffs</a:t>
            </a:r>
            <a:r>
              <a:rPr lang="en-MY" sz="2400" dirty="0"/>
              <a:t>’ Principle.</a:t>
            </a:r>
          </a:p>
          <a:p>
            <a:pPr marL="457200" indent="-457200">
              <a:buFont typeface="+mj-lt"/>
              <a:buAutoNum type="arabicPeriod"/>
            </a:pPr>
            <a:r>
              <a:rPr lang="en-MY" sz="2400" dirty="0"/>
              <a:t>Security Levels.</a:t>
            </a:r>
          </a:p>
          <a:p>
            <a:pPr marL="457200" indent="-457200">
              <a:buFont typeface="+mj-lt"/>
              <a:buAutoNum type="arabicPeriod"/>
            </a:pPr>
            <a:r>
              <a:rPr lang="en-MY" sz="2400" dirty="0"/>
              <a:t>Types of Cryptography.</a:t>
            </a:r>
          </a:p>
          <a:p>
            <a:pPr marL="457200" indent="-457200">
              <a:buFont typeface="+mj-lt"/>
              <a:buAutoNum type="arabicPeriod"/>
            </a:pPr>
            <a:r>
              <a:rPr lang="en-MY" sz="2400" dirty="0"/>
              <a:t>Types of Cryptanalysis.</a:t>
            </a:r>
          </a:p>
          <a:p>
            <a:endParaRPr lang="en-MY" sz="2400" dirty="0"/>
          </a:p>
        </p:txBody>
      </p:sp>
    </p:spTree>
    <p:extLst>
      <p:ext uri="{BB962C8B-B14F-4D97-AF65-F5344CB8AC3E}">
        <p14:creationId xmlns:p14="http://schemas.microsoft.com/office/powerpoint/2010/main" val="2080495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Learning Objectives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marL="0" indent="0" algn="just">
              <a:lnSpc>
                <a:spcPct val="100000"/>
              </a:lnSpc>
              <a:buNone/>
            </a:pPr>
            <a:r>
              <a:rPr lang="en-MY" sz="2200" b="1" dirty="0"/>
              <a:t>In the end of this Part 2, students should be able:</a:t>
            </a:r>
          </a:p>
          <a:p>
            <a:pPr marL="457200" indent="-457200" algn="just">
              <a:lnSpc>
                <a:spcPct val="100000"/>
              </a:lnSpc>
              <a:buFont typeface="+mj-lt"/>
              <a:buAutoNum type="arabicPeriod"/>
            </a:pPr>
            <a:r>
              <a:rPr lang="en-MY" sz="2200" dirty="0"/>
              <a:t>To understand the </a:t>
            </a:r>
            <a:r>
              <a:rPr lang="en-MY" sz="2200" b="1" dirty="0">
                <a:solidFill>
                  <a:srgbClr val="FF0000"/>
                </a:solidFill>
              </a:rPr>
              <a:t>terms</a:t>
            </a:r>
            <a:r>
              <a:rPr lang="en-MY" sz="2200" dirty="0"/>
              <a:t> used in describing cryptography.</a:t>
            </a:r>
          </a:p>
          <a:p>
            <a:pPr marL="457200" indent="-457200" algn="just">
              <a:lnSpc>
                <a:spcPct val="100000"/>
              </a:lnSpc>
              <a:buFont typeface="+mj-lt"/>
              <a:buAutoNum type="arabicPeriod"/>
            </a:pPr>
            <a:r>
              <a:rPr lang="en-MY" sz="2200" dirty="0"/>
              <a:t>To understand the </a:t>
            </a:r>
            <a:r>
              <a:rPr lang="en-MY" sz="2200" b="1" dirty="0" err="1">
                <a:solidFill>
                  <a:srgbClr val="FF0000"/>
                </a:solidFill>
              </a:rPr>
              <a:t>Kerckhoffs</a:t>
            </a:r>
            <a:r>
              <a:rPr lang="en-MY" sz="2200" b="1" dirty="0">
                <a:solidFill>
                  <a:srgbClr val="FF0000"/>
                </a:solidFill>
              </a:rPr>
              <a:t>’ principle</a:t>
            </a:r>
            <a:r>
              <a:rPr lang="en-MY" sz="2200" dirty="0"/>
              <a:t> and its importance in cryptology.</a:t>
            </a:r>
          </a:p>
          <a:p>
            <a:pPr marL="457200" indent="-457200" algn="just">
              <a:lnSpc>
                <a:spcPct val="100000"/>
              </a:lnSpc>
              <a:buFont typeface="+mj-lt"/>
              <a:buAutoNum type="arabicPeriod"/>
            </a:pPr>
            <a:r>
              <a:rPr lang="en-MY" sz="2200" dirty="0"/>
              <a:t>To understand the difference of the </a:t>
            </a:r>
            <a:r>
              <a:rPr lang="en-MY" sz="2200" b="1" dirty="0">
                <a:solidFill>
                  <a:srgbClr val="FF0000"/>
                </a:solidFill>
              </a:rPr>
              <a:t>security levels</a:t>
            </a:r>
            <a:r>
              <a:rPr lang="en-MY" sz="2200" dirty="0"/>
              <a:t> defined in cryptography.</a:t>
            </a:r>
          </a:p>
          <a:p>
            <a:pPr marL="457200" indent="-457200" algn="just">
              <a:lnSpc>
                <a:spcPct val="100000"/>
              </a:lnSpc>
              <a:buFont typeface="+mj-lt"/>
              <a:buAutoNum type="arabicPeriod"/>
            </a:pPr>
            <a:r>
              <a:rPr lang="en-MY" sz="2200" dirty="0"/>
              <a:t>To understand and differentiate different types of </a:t>
            </a:r>
            <a:r>
              <a:rPr lang="en-MY" sz="2200" b="1" dirty="0">
                <a:solidFill>
                  <a:srgbClr val="FF0000"/>
                </a:solidFill>
              </a:rPr>
              <a:t>cryptography</a:t>
            </a:r>
            <a:r>
              <a:rPr lang="en-MY" sz="2200" dirty="0"/>
              <a:t>.</a:t>
            </a:r>
          </a:p>
          <a:p>
            <a:pPr marL="457200" indent="-457200" algn="just">
              <a:lnSpc>
                <a:spcPct val="100000"/>
              </a:lnSpc>
              <a:buFont typeface="+mj-lt"/>
              <a:buAutoNum type="arabicPeriod"/>
            </a:pPr>
            <a:r>
              <a:rPr lang="en-MY" sz="2200" dirty="0"/>
              <a:t>To understand and differentiate different types of </a:t>
            </a:r>
            <a:r>
              <a:rPr lang="en-MY" sz="2200" b="1" dirty="0">
                <a:solidFill>
                  <a:srgbClr val="FF0000"/>
                </a:solidFill>
              </a:rPr>
              <a:t>cryptanalysis</a:t>
            </a:r>
            <a:r>
              <a:rPr lang="en-MY" sz="2200" dirty="0"/>
              <a:t>.</a:t>
            </a:r>
          </a:p>
        </p:txBody>
      </p:sp>
    </p:spTree>
    <p:extLst>
      <p:ext uri="{BB962C8B-B14F-4D97-AF65-F5344CB8AC3E}">
        <p14:creationId xmlns:p14="http://schemas.microsoft.com/office/powerpoint/2010/main" val="20008838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6106696"/>
          </a:xfrm>
        </p:spPr>
        <p:txBody>
          <a:bodyPr>
            <a:normAutofit/>
          </a:bodyPr>
          <a:lstStyle/>
          <a:p>
            <a:pPr algn="ctr"/>
            <a:r>
              <a:rPr lang="en-MY" sz="6000" b="1" dirty="0">
                <a:solidFill>
                  <a:srgbClr val="C00000"/>
                </a:solidFill>
              </a:rPr>
              <a:t>BASIC</a:t>
            </a:r>
            <a:br>
              <a:rPr lang="en-MY" sz="6000" b="1" dirty="0">
                <a:solidFill>
                  <a:srgbClr val="00B050"/>
                </a:solidFill>
              </a:rPr>
            </a:br>
            <a:r>
              <a:rPr lang="en-MY" sz="6000" b="1" dirty="0">
                <a:solidFill>
                  <a:srgbClr val="C00000"/>
                </a:solidFill>
              </a:rPr>
              <a:t>CONCEPTS</a:t>
            </a:r>
            <a:br>
              <a:rPr lang="en-MY" sz="6000" b="1" dirty="0"/>
            </a:br>
            <a:br>
              <a:rPr lang="en-MY" sz="3600" b="1" dirty="0"/>
            </a:br>
            <a:br>
              <a:rPr lang="en-MY" sz="6000" b="1" dirty="0"/>
            </a:br>
            <a:endParaRPr lang="en-MY" sz="6000" b="1" dirty="0"/>
          </a:p>
        </p:txBody>
      </p:sp>
    </p:spTree>
    <p:extLst>
      <p:ext uri="{BB962C8B-B14F-4D97-AF65-F5344CB8AC3E}">
        <p14:creationId xmlns:p14="http://schemas.microsoft.com/office/powerpoint/2010/main" val="32924512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Basic Terminology – </a:t>
            </a:r>
            <a:r>
              <a:rPr lang="en-MY" sz="4400" dirty="0">
                <a:solidFill>
                  <a:srgbClr val="0000FF"/>
                </a:solidFill>
              </a:rPr>
              <a:t>Cryptology</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13587"/>
          </a:xfrm>
        </p:spPr>
        <p:txBody>
          <a:bodyPr>
            <a:noAutofit/>
          </a:bodyPr>
          <a:lstStyle/>
          <a:p>
            <a:pPr algn="just">
              <a:lnSpc>
                <a:spcPct val="100000"/>
              </a:lnSpc>
            </a:pPr>
            <a:r>
              <a:rPr lang="en-MY" sz="2000" b="1" dirty="0"/>
              <a:t>Cryptology</a:t>
            </a:r>
            <a:r>
              <a:rPr lang="en-MY" sz="2000" dirty="0"/>
              <a:t> is a study covers two major areas:</a:t>
            </a:r>
          </a:p>
          <a:p>
            <a:pPr marL="457200" indent="-457200" algn="just">
              <a:lnSpc>
                <a:spcPct val="100000"/>
              </a:lnSpc>
              <a:buFont typeface="+mj-lt"/>
              <a:buAutoNum type="arabicPeriod"/>
            </a:pPr>
            <a:r>
              <a:rPr lang="en-MY" sz="2000" b="1" dirty="0">
                <a:solidFill>
                  <a:srgbClr val="FF0000"/>
                </a:solidFill>
              </a:rPr>
              <a:t>Cryptography</a:t>
            </a:r>
          </a:p>
          <a:p>
            <a:pPr lvl="1" algn="just">
              <a:lnSpc>
                <a:spcPct val="100000"/>
              </a:lnSpc>
              <a:buFont typeface="Wingdings" panose="05000000000000000000" pitchFamily="2" charset="2"/>
              <a:buChar char="Ø"/>
            </a:pPr>
            <a:r>
              <a:rPr lang="en-US" sz="2000" dirty="0"/>
              <a:t>A</a:t>
            </a:r>
            <a:r>
              <a:rPr lang="en-US" sz="2000" b="0" i="0" u="none" strike="noStrike" baseline="0" dirty="0"/>
              <a:t> word with Greek origins – </a:t>
            </a:r>
            <a:r>
              <a:rPr lang="en-US" sz="2000" b="1" i="0" u="none" strike="noStrike" baseline="0" dirty="0">
                <a:solidFill>
                  <a:srgbClr val="FF0000"/>
                </a:solidFill>
              </a:rPr>
              <a:t>secret writing</a:t>
            </a:r>
            <a:r>
              <a:rPr lang="en-US" sz="2000" b="0" i="0" u="none" strike="noStrike" baseline="0" dirty="0"/>
              <a:t>.</a:t>
            </a:r>
          </a:p>
          <a:p>
            <a:pPr lvl="1" algn="just">
              <a:lnSpc>
                <a:spcPct val="100000"/>
              </a:lnSpc>
              <a:buFont typeface="Wingdings" panose="05000000000000000000" pitchFamily="2" charset="2"/>
              <a:buChar char="Ø"/>
            </a:pPr>
            <a:r>
              <a:rPr lang="en-US" sz="2000" dirty="0"/>
              <a:t>T</a:t>
            </a:r>
            <a:r>
              <a:rPr lang="en-US" sz="2000" b="0" i="0" u="none" strike="noStrike" baseline="0" dirty="0"/>
              <a:t>he science and art of transforming messages to make them secure (</a:t>
            </a:r>
            <a:r>
              <a:rPr lang="en-US" sz="2000" b="1" i="0" u="none" strike="noStrike" baseline="0" dirty="0">
                <a:solidFill>
                  <a:srgbClr val="0000FF"/>
                </a:solidFill>
              </a:rPr>
              <a:t>unreadable</a:t>
            </a:r>
            <a:r>
              <a:rPr lang="en-US" sz="2000" b="0" i="0" u="none" strike="noStrike" baseline="0" dirty="0"/>
              <a:t> by unauthorized users) and immune to attacks (</a:t>
            </a:r>
            <a:r>
              <a:rPr lang="en-US" sz="2000" b="1" dirty="0">
                <a:solidFill>
                  <a:srgbClr val="0000FF"/>
                </a:solidFill>
              </a:rPr>
              <a:t>ir</a:t>
            </a:r>
            <a:r>
              <a:rPr lang="en-US" sz="2000" b="1" i="0" u="none" strike="noStrike" baseline="0" dirty="0">
                <a:solidFill>
                  <a:srgbClr val="0000FF"/>
                </a:solidFill>
              </a:rPr>
              <a:t>recoverable</a:t>
            </a:r>
            <a:r>
              <a:rPr lang="en-US" sz="2000" b="0" i="0" u="none" strike="noStrike" baseline="0" dirty="0"/>
              <a:t> by attackers).</a:t>
            </a:r>
          </a:p>
          <a:p>
            <a:pPr lvl="1" algn="just">
              <a:lnSpc>
                <a:spcPct val="100000"/>
              </a:lnSpc>
              <a:buFont typeface="Wingdings" panose="05000000000000000000" pitchFamily="2" charset="2"/>
              <a:buChar char="Ø"/>
            </a:pPr>
            <a:r>
              <a:rPr lang="en-US" sz="2000" dirty="0"/>
              <a:t>Practitioners in this area is called </a:t>
            </a:r>
            <a:r>
              <a:rPr lang="en-US" sz="2000" b="1" dirty="0">
                <a:solidFill>
                  <a:srgbClr val="0000FF"/>
                </a:solidFill>
              </a:rPr>
              <a:t>Cryptographers</a:t>
            </a:r>
            <a:r>
              <a:rPr lang="en-US" sz="2000" dirty="0"/>
              <a:t>.</a:t>
            </a:r>
            <a:endParaRPr lang="en-MY" sz="2000" dirty="0"/>
          </a:p>
          <a:p>
            <a:pPr marL="457200" indent="-457200" algn="just">
              <a:lnSpc>
                <a:spcPct val="100000"/>
              </a:lnSpc>
              <a:buFont typeface="+mj-lt"/>
              <a:buAutoNum type="arabicPeriod"/>
            </a:pPr>
            <a:r>
              <a:rPr lang="en-MY" sz="2000" b="1" dirty="0">
                <a:solidFill>
                  <a:srgbClr val="FF0000"/>
                </a:solidFill>
              </a:rPr>
              <a:t>Cryptanalysis</a:t>
            </a:r>
          </a:p>
          <a:p>
            <a:pPr lvl="1" algn="just">
              <a:lnSpc>
                <a:spcPct val="100000"/>
              </a:lnSpc>
              <a:buFont typeface="Wingdings" panose="05000000000000000000" pitchFamily="2" charset="2"/>
              <a:buChar char="Ø"/>
            </a:pPr>
            <a:r>
              <a:rPr lang="en-US" sz="2000" b="0" i="0" u="none" strike="noStrike" baseline="0" dirty="0"/>
              <a:t>Techniques used for deciphering a</a:t>
            </a:r>
            <a:r>
              <a:rPr lang="en-MY" sz="2000" b="0" i="0" u="none" strike="noStrike" baseline="0" dirty="0"/>
              <a:t> </a:t>
            </a:r>
            <a:r>
              <a:rPr lang="en-US" sz="2000" b="0" i="0" u="none" strike="noStrike" baseline="0" dirty="0"/>
              <a:t>message </a:t>
            </a:r>
            <a:r>
              <a:rPr lang="en-US" sz="2000" b="1" i="0" u="none" strike="noStrike" baseline="0" dirty="0">
                <a:solidFill>
                  <a:srgbClr val="0000FF"/>
                </a:solidFill>
              </a:rPr>
              <a:t>without</a:t>
            </a:r>
            <a:r>
              <a:rPr lang="en-US" sz="2000" b="0" i="0" u="none" strike="noStrike" baseline="0" dirty="0"/>
              <a:t> any knowledge of the enciphering details (</a:t>
            </a:r>
            <a:r>
              <a:rPr lang="en-US" sz="2000" b="1" i="0" u="none" strike="noStrike" baseline="0" dirty="0">
                <a:solidFill>
                  <a:srgbClr val="0000FF"/>
                </a:solidFill>
              </a:rPr>
              <a:t>without using keys</a:t>
            </a:r>
            <a:r>
              <a:rPr lang="en-US" sz="2000" b="0" i="0" u="none" strike="noStrike" baseline="0" dirty="0"/>
              <a:t>).</a:t>
            </a:r>
          </a:p>
          <a:p>
            <a:pPr lvl="1" algn="just">
              <a:lnSpc>
                <a:spcPct val="100000"/>
              </a:lnSpc>
              <a:buFont typeface="Wingdings" panose="05000000000000000000" pitchFamily="2" charset="2"/>
              <a:buChar char="Ø"/>
            </a:pPr>
            <a:r>
              <a:rPr lang="en-US" sz="2000" dirty="0"/>
              <a:t>Practitioners in this area is called </a:t>
            </a:r>
            <a:r>
              <a:rPr lang="en-US" sz="2000" b="1" dirty="0">
                <a:solidFill>
                  <a:srgbClr val="0000FF"/>
                </a:solidFill>
              </a:rPr>
              <a:t>Cryptanalysts</a:t>
            </a:r>
            <a:r>
              <a:rPr lang="en-US" sz="2000" dirty="0"/>
              <a:t>.</a:t>
            </a:r>
            <a:endParaRPr lang="en-MY" sz="2000" dirty="0"/>
          </a:p>
        </p:txBody>
      </p:sp>
    </p:spTree>
    <p:extLst>
      <p:ext uri="{BB962C8B-B14F-4D97-AF65-F5344CB8AC3E}">
        <p14:creationId xmlns:p14="http://schemas.microsoft.com/office/powerpoint/2010/main" val="31512305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Basic Terminology – </a:t>
            </a:r>
            <a:r>
              <a:rPr lang="en-MY" sz="4400" dirty="0">
                <a:solidFill>
                  <a:srgbClr val="0000FF"/>
                </a:solidFill>
              </a:rPr>
              <a:t>Cryptology</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49098"/>
          </a:xfrm>
        </p:spPr>
        <p:txBody>
          <a:bodyPr>
            <a:noAutofit/>
          </a:bodyPr>
          <a:lstStyle/>
          <a:p>
            <a:pPr marL="457200" indent="-457200" algn="just" eaLnBrk="1" hangingPunct="1">
              <a:lnSpc>
                <a:spcPct val="100000"/>
              </a:lnSpc>
              <a:buFont typeface="+mj-lt"/>
              <a:buAutoNum type="arabicPeriod" startAt="3"/>
            </a:pPr>
            <a:r>
              <a:rPr lang="en-AU" sz="2000" b="1" dirty="0">
                <a:solidFill>
                  <a:srgbClr val="FF0000"/>
                </a:solidFill>
              </a:rPr>
              <a:t>Plaintext or Message</a:t>
            </a:r>
          </a:p>
          <a:p>
            <a:pPr lvl="1" algn="just">
              <a:lnSpc>
                <a:spcPct val="100000"/>
              </a:lnSpc>
              <a:buFont typeface="Wingdings" panose="05000000000000000000" pitchFamily="2" charset="2"/>
              <a:buChar char="Ø"/>
            </a:pPr>
            <a:r>
              <a:rPr lang="en-AU" sz="2000" dirty="0"/>
              <a:t>The original </a:t>
            </a:r>
            <a:r>
              <a:rPr lang="en-AU" sz="2000" b="1" dirty="0">
                <a:solidFill>
                  <a:srgbClr val="0000FF"/>
                </a:solidFill>
              </a:rPr>
              <a:t>intelligible</a:t>
            </a:r>
            <a:r>
              <a:rPr lang="en-AU" sz="2000" dirty="0"/>
              <a:t> message understood by anyone. It can be understood by the sender, the recipient, and by whoever gets an access to that message.</a:t>
            </a:r>
          </a:p>
          <a:p>
            <a:pPr marL="457200" indent="-457200" algn="just" eaLnBrk="1" hangingPunct="1">
              <a:lnSpc>
                <a:spcPct val="100000"/>
              </a:lnSpc>
              <a:buFont typeface="+mj-lt"/>
              <a:buAutoNum type="arabicPeriod" startAt="3"/>
            </a:pPr>
            <a:r>
              <a:rPr lang="en-AU" sz="2000" b="1" dirty="0">
                <a:solidFill>
                  <a:srgbClr val="FF0000"/>
                </a:solidFill>
              </a:rPr>
              <a:t>Ciphertext</a:t>
            </a:r>
            <a:r>
              <a:rPr lang="en-AU" sz="2000" dirty="0"/>
              <a:t> </a:t>
            </a:r>
          </a:p>
          <a:p>
            <a:pPr lvl="1" algn="just">
              <a:lnSpc>
                <a:spcPct val="100000"/>
              </a:lnSpc>
              <a:buFont typeface="Wingdings" panose="05000000000000000000" pitchFamily="2" charset="2"/>
              <a:buChar char="Ø"/>
            </a:pPr>
            <a:r>
              <a:rPr lang="en-AU" sz="2000" dirty="0"/>
              <a:t>The encrypted message output from some algorithms. It is a random string of data that is </a:t>
            </a:r>
            <a:r>
              <a:rPr lang="en-AU" sz="2000" b="1" dirty="0">
                <a:solidFill>
                  <a:srgbClr val="0000FF"/>
                </a:solidFill>
              </a:rPr>
              <a:t>unintelligible</a:t>
            </a:r>
            <a:r>
              <a:rPr lang="en-AU" sz="2000" dirty="0"/>
              <a:t>.</a:t>
            </a:r>
          </a:p>
          <a:p>
            <a:pPr marL="457200" indent="-457200" algn="just" eaLnBrk="1" hangingPunct="1">
              <a:lnSpc>
                <a:spcPct val="100000"/>
              </a:lnSpc>
              <a:buFont typeface="+mj-lt"/>
              <a:buAutoNum type="arabicPeriod" startAt="3"/>
            </a:pPr>
            <a:r>
              <a:rPr lang="en-AU" sz="2000" b="1" dirty="0">
                <a:solidFill>
                  <a:srgbClr val="FF0000"/>
                </a:solidFill>
              </a:rPr>
              <a:t>Encryption Algorithm </a:t>
            </a:r>
          </a:p>
          <a:p>
            <a:pPr lvl="1" algn="just">
              <a:lnSpc>
                <a:spcPct val="100000"/>
              </a:lnSpc>
              <a:buFont typeface="Wingdings" panose="05000000000000000000" pitchFamily="2" charset="2"/>
              <a:buChar char="Ø"/>
            </a:pPr>
            <a:r>
              <a:rPr lang="en-AU" sz="2000" dirty="0"/>
              <a:t>An algorithm used to </a:t>
            </a:r>
            <a:r>
              <a:rPr lang="en-AU" sz="2000" b="1" dirty="0">
                <a:solidFill>
                  <a:srgbClr val="0000FF"/>
                </a:solidFill>
              </a:rPr>
              <a:t>transform</a:t>
            </a:r>
            <a:r>
              <a:rPr lang="en-AU" sz="2000" dirty="0"/>
              <a:t> plaintext into ciphertext.</a:t>
            </a:r>
          </a:p>
          <a:p>
            <a:pPr marL="457200" indent="-457200" algn="just" eaLnBrk="1" hangingPunct="1">
              <a:lnSpc>
                <a:spcPct val="100000"/>
              </a:lnSpc>
              <a:buFont typeface="+mj-lt"/>
              <a:buAutoNum type="arabicPeriod" startAt="3"/>
            </a:pPr>
            <a:r>
              <a:rPr lang="en-AU" sz="2000" b="1" dirty="0">
                <a:solidFill>
                  <a:srgbClr val="FF0000"/>
                </a:solidFill>
              </a:rPr>
              <a:t>Decryption Algorithm</a:t>
            </a:r>
          </a:p>
          <a:p>
            <a:pPr lvl="1" algn="just">
              <a:lnSpc>
                <a:spcPct val="100000"/>
              </a:lnSpc>
              <a:buFont typeface="Wingdings" panose="05000000000000000000" pitchFamily="2" charset="2"/>
              <a:buChar char="Ø"/>
            </a:pPr>
            <a:r>
              <a:rPr lang="en-AU" sz="2000" dirty="0"/>
              <a:t>An algorithm used to </a:t>
            </a:r>
            <a:r>
              <a:rPr lang="en-AU" sz="2000" b="1" dirty="0">
                <a:solidFill>
                  <a:srgbClr val="0000FF"/>
                </a:solidFill>
              </a:rPr>
              <a:t>transform</a:t>
            </a:r>
            <a:r>
              <a:rPr lang="en-AU" sz="2000" dirty="0"/>
              <a:t> ciphertext into plaintext.</a:t>
            </a:r>
          </a:p>
          <a:p>
            <a:pPr marL="228600" lvl="1" indent="0" algn="just">
              <a:lnSpc>
                <a:spcPct val="100000"/>
              </a:lnSpc>
              <a:buNone/>
            </a:pPr>
            <a:endParaRPr lang="en-AU" sz="2000" dirty="0"/>
          </a:p>
        </p:txBody>
      </p:sp>
    </p:spTree>
    <p:extLst>
      <p:ext uri="{BB962C8B-B14F-4D97-AF65-F5344CB8AC3E}">
        <p14:creationId xmlns:p14="http://schemas.microsoft.com/office/powerpoint/2010/main" val="2409924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Basic Terminology – </a:t>
            </a:r>
            <a:r>
              <a:rPr lang="en-MY" sz="4400" dirty="0">
                <a:solidFill>
                  <a:srgbClr val="0000FF"/>
                </a:solidFill>
              </a:rPr>
              <a:t>Cryptology</a:t>
            </a:r>
            <a:endParaRPr lang="en-MY" sz="4400" b="1"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marL="457200" indent="-457200" algn="just" eaLnBrk="1" hangingPunct="1">
              <a:lnSpc>
                <a:spcPct val="100000"/>
              </a:lnSpc>
              <a:buFont typeface="+mj-lt"/>
              <a:buAutoNum type="arabicPeriod" startAt="7"/>
            </a:pPr>
            <a:r>
              <a:rPr lang="en-AU" sz="2000" b="1" dirty="0">
                <a:solidFill>
                  <a:srgbClr val="FF0000"/>
                </a:solidFill>
              </a:rPr>
              <a:t>Secret Key</a:t>
            </a:r>
            <a:r>
              <a:rPr lang="en-AU" sz="2000" dirty="0">
                <a:solidFill>
                  <a:srgbClr val="FF0000"/>
                </a:solidFill>
              </a:rPr>
              <a:t> </a:t>
            </a:r>
          </a:p>
          <a:p>
            <a:pPr lvl="1" algn="just">
              <a:lnSpc>
                <a:spcPct val="100000"/>
              </a:lnSpc>
              <a:buFont typeface="Wingdings" panose="05000000000000000000" pitchFamily="2" charset="2"/>
              <a:buChar char="Ø"/>
            </a:pPr>
            <a:r>
              <a:rPr lang="en-AU" sz="2000" dirty="0"/>
              <a:t>A </a:t>
            </a:r>
            <a:r>
              <a:rPr lang="en-AU" sz="2000" b="1" dirty="0">
                <a:solidFill>
                  <a:srgbClr val="0000FF"/>
                </a:solidFill>
              </a:rPr>
              <a:t>secret information</a:t>
            </a:r>
            <a:r>
              <a:rPr lang="en-AU" sz="2000" dirty="0"/>
              <a:t> used in encryption known only to sender/receiver.</a:t>
            </a:r>
            <a:endParaRPr lang="en-AU" sz="2000" dirty="0">
              <a:solidFill>
                <a:srgbClr val="FF0000"/>
              </a:solidFill>
            </a:endParaRPr>
          </a:p>
          <a:p>
            <a:pPr marL="457200" indent="-457200" algn="just" eaLnBrk="1" hangingPunct="1">
              <a:lnSpc>
                <a:spcPct val="100000"/>
              </a:lnSpc>
              <a:buFont typeface="+mj-lt"/>
              <a:buAutoNum type="arabicPeriod" startAt="7"/>
            </a:pPr>
            <a:r>
              <a:rPr lang="en-AU" sz="2000" b="1" dirty="0">
                <a:solidFill>
                  <a:srgbClr val="FF0000"/>
                </a:solidFill>
              </a:rPr>
              <a:t>Encryption (Encipherment)</a:t>
            </a:r>
          </a:p>
          <a:p>
            <a:pPr lvl="1" algn="just">
              <a:lnSpc>
                <a:spcPct val="100000"/>
              </a:lnSpc>
              <a:buFont typeface="Wingdings" panose="05000000000000000000" pitchFamily="2" charset="2"/>
              <a:buChar char="Ø"/>
            </a:pPr>
            <a:r>
              <a:rPr lang="en-AU" sz="2000" dirty="0"/>
              <a:t>The process of converting from plaintext to ciphertext using a cipher and secret key(s).</a:t>
            </a:r>
            <a:endParaRPr lang="en-AU" sz="2000" dirty="0">
              <a:solidFill>
                <a:srgbClr val="FF0000"/>
              </a:solidFill>
            </a:endParaRPr>
          </a:p>
          <a:p>
            <a:pPr marL="457200" indent="-457200" algn="just" eaLnBrk="1" hangingPunct="1">
              <a:lnSpc>
                <a:spcPct val="100000"/>
              </a:lnSpc>
              <a:buFont typeface="+mj-lt"/>
              <a:buAutoNum type="arabicPeriod" startAt="7"/>
            </a:pPr>
            <a:r>
              <a:rPr lang="en-AU" sz="2000" b="1" dirty="0">
                <a:solidFill>
                  <a:srgbClr val="FF0000"/>
                </a:solidFill>
              </a:rPr>
              <a:t>Decryption (Decipherment)</a:t>
            </a:r>
          </a:p>
          <a:p>
            <a:pPr lvl="1" algn="just">
              <a:lnSpc>
                <a:spcPct val="100000"/>
              </a:lnSpc>
              <a:buFont typeface="Wingdings" panose="05000000000000000000" pitchFamily="2" charset="2"/>
              <a:buChar char="Ø"/>
            </a:pPr>
            <a:r>
              <a:rPr lang="en-AU" sz="2000" dirty="0"/>
              <a:t>The process of recovering plaintext from ciphertext using a cipher and secret key(s).</a:t>
            </a:r>
            <a:endParaRPr lang="en-AU" sz="2000" dirty="0">
              <a:solidFill>
                <a:srgbClr val="FF0000"/>
              </a:solidFill>
            </a:endParaRPr>
          </a:p>
        </p:txBody>
      </p:sp>
    </p:spTree>
    <p:extLst>
      <p:ext uri="{BB962C8B-B14F-4D97-AF65-F5344CB8AC3E}">
        <p14:creationId xmlns:p14="http://schemas.microsoft.com/office/powerpoint/2010/main" val="26210481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75F57D-DC2E-166E-E751-F20EA7BF6594}"/>
              </a:ext>
            </a:extLst>
          </p:cNvPr>
          <p:cNvSpPr/>
          <p:nvPr/>
        </p:nvSpPr>
        <p:spPr>
          <a:xfrm>
            <a:off x="571132" y="3755255"/>
            <a:ext cx="10952084" cy="1180730"/>
          </a:xfrm>
          <a:prstGeom prst="rect">
            <a:avLst/>
          </a:prstGeom>
          <a:solidFill>
            <a:srgbClr val="FFECA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algn="just">
              <a:lnSpc>
                <a:spcPct val="100000"/>
              </a:lnSpc>
            </a:pPr>
            <a:r>
              <a:rPr lang="en-MY" sz="2200" dirty="0"/>
              <a:t>In the 19</a:t>
            </a:r>
            <a:r>
              <a:rPr lang="en-MY" sz="2200" baseline="30000" dirty="0"/>
              <a:t>th</a:t>
            </a:r>
            <a:r>
              <a:rPr lang="en-MY" sz="2200" dirty="0"/>
              <a:t> century, a Dutch-born cryptographer Auguste </a:t>
            </a:r>
            <a:r>
              <a:rPr lang="en-MY" sz="2200" dirty="0" err="1"/>
              <a:t>Kerckhoffs</a:t>
            </a:r>
            <a:r>
              <a:rPr lang="en-MY" sz="2200" dirty="0"/>
              <a:t> came out one of the most important design principles for encryption, which now famously known as the </a:t>
            </a:r>
            <a:r>
              <a:rPr lang="en-MY" sz="2200" b="1" dirty="0" err="1">
                <a:solidFill>
                  <a:srgbClr val="0000FF"/>
                </a:solidFill>
              </a:rPr>
              <a:t>Kerckhoffs</a:t>
            </a:r>
            <a:r>
              <a:rPr lang="en-MY" sz="2200" b="1" dirty="0">
                <a:solidFill>
                  <a:srgbClr val="0000FF"/>
                </a:solidFill>
              </a:rPr>
              <a:t>’ principle</a:t>
            </a:r>
            <a:r>
              <a:rPr lang="en-MY" sz="2200" dirty="0"/>
              <a:t>, states that:</a:t>
            </a:r>
          </a:p>
          <a:p>
            <a:pPr algn="just">
              <a:lnSpc>
                <a:spcPct val="100000"/>
              </a:lnSpc>
            </a:pPr>
            <a:endParaRPr lang="en-MY" sz="2200" dirty="0"/>
          </a:p>
          <a:p>
            <a:pPr marL="0" indent="0" algn="ctr">
              <a:lnSpc>
                <a:spcPct val="100000"/>
              </a:lnSpc>
              <a:buNone/>
            </a:pPr>
            <a:r>
              <a:rPr lang="en-MY" sz="2400" b="1" i="1" dirty="0">
                <a:solidFill>
                  <a:srgbClr val="FF0000"/>
                </a:solidFill>
              </a:rPr>
              <a:t>The cipher method (encryption) must </a:t>
            </a:r>
            <a:r>
              <a:rPr lang="en-MY" sz="2400" b="1" i="1" dirty="0">
                <a:solidFill>
                  <a:srgbClr val="0000FF"/>
                </a:solidFill>
              </a:rPr>
              <a:t>NOT</a:t>
            </a:r>
            <a:r>
              <a:rPr lang="en-MY" sz="2400" b="1" i="1" dirty="0">
                <a:solidFill>
                  <a:srgbClr val="FF0000"/>
                </a:solidFill>
              </a:rPr>
              <a:t> be required to be secret, and it must be able to fall into the hands of the enemy without inconvenience.</a:t>
            </a:r>
          </a:p>
        </p:txBody>
      </p:sp>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b="1" dirty="0" err="1">
                <a:solidFill>
                  <a:srgbClr val="00B050"/>
                </a:solidFill>
              </a:rPr>
              <a:t>Kerckhoffs</a:t>
            </a:r>
            <a:r>
              <a:rPr lang="en-MY" sz="4400" b="1" dirty="0">
                <a:solidFill>
                  <a:srgbClr val="00B050"/>
                </a:solidFill>
              </a:rPr>
              <a:t>’ Principle</a:t>
            </a:r>
          </a:p>
        </p:txBody>
      </p:sp>
    </p:spTree>
    <p:extLst>
      <p:ext uri="{BB962C8B-B14F-4D97-AF65-F5344CB8AC3E}">
        <p14:creationId xmlns:p14="http://schemas.microsoft.com/office/powerpoint/2010/main" val="27720727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b="1" dirty="0" err="1">
                <a:solidFill>
                  <a:srgbClr val="00B050"/>
                </a:solidFill>
              </a:rPr>
              <a:t>Kerckhoffs</a:t>
            </a:r>
            <a:r>
              <a:rPr lang="en-MY" sz="4400" b="1" dirty="0">
                <a:solidFill>
                  <a:srgbClr val="00B050"/>
                </a:solidFill>
              </a:rPr>
              <a:t>’ Principle</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algn="just">
              <a:lnSpc>
                <a:spcPct val="100000"/>
              </a:lnSpc>
            </a:pPr>
            <a:r>
              <a:rPr lang="en-MY" sz="2200" dirty="0"/>
              <a:t>In other words, the </a:t>
            </a:r>
            <a:r>
              <a:rPr lang="en-MY" sz="2200" b="1" dirty="0">
                <a:solidFill>
                  <a:srgbClr val="FF0000"/>
                </a:solidFill>
              </a:rPr>
              <a:t>security</a:t>
            </a:r>
            <a:r>
              <a:rPr lang="en-MY" sz="2200" dirty="0"/>
              <a:t> of an cryptographic algorithm lies on the </a:t>
            </a:r>
            <a:r>
              <a:rPr lang="en-MY" sz="2200" b="1" dirty="0">
                <a:solidFill>
                  <a:srgbClr val="FF0000"/>
                </a:solidFill>
              </a:rPr>
              <a:t>secrecy of the KEYs</a:t>
            </a:r>
            <a:r>
              <a:rPr lang="en-MY" sz="2200" dirty="0"/>
              <a:t>, not the algorithm itself.</a:t>
            </a:r>
          </a:p>
          <a:p>
            <a:pPr algn="just">
              <a:lnSpc>
                <a:spcPct val="100000"/>
              </a:lnSpc>
            </a:pPr>
            <a:r>
              <a:rPr lang="en-MY" sz="2200" dirty="0"/>
              <a:t>Guessing / finding the key must be </a:t>
            </a:r>
            <a:r>
              <a:rPr lang="en-MY" sz="2200" b="1" dirty="0">
                <a:solidFill>
                  <a:srgbClr val="FF0000"/>
                </a:solidFill>
              </a:rPr>
              <a:t>difficult</a:t>
            </a:r>
            <a:r>
              <a:rPr lang="en-MY" sz="2200" dirty="0"/>
              <a:t> for an attacker. Hence, the </a:t>
            </a:r>
            <a:r>
              <a:rPr lang="en-MY" sz="2200" b="1" dirty="0">
                <a:solidFill>
                  <a:srgbClr val="0000FF"/>
                </a:solidFill>
              </a:rPr>
              <a:t>key domain </a:t>
            </a:r>
            <a:r>
              <a:rPr lang="en-MY" sz="2200" dirty="0"/>
              <a:t>must be large enough to achieve such an objective.</a:t>
            </a:r>
          </a:p>
        </p:txBody>
      </p:sp>
    </p:spTree>
    <p:extLst>
      <p:ext uri="{BB962C8B-B14F-4D97-AF65-F5344CB8AC3E}">
        <p14:creationId xmlns:p14="http://schemas.microsoft.com/office/powerpoint/2010/main" val="18495715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5" y="365125"/>
            <a:ext cx="11105964" cy="1577975"/>
          </a:xfrm>
        </p:spPr>
        <p:txBody>
          <a:bodyPr>
            <a:normAutofit/>
          </a:bodyPr>
          <a:lstStyle/>
          <a:p>
            <a:r>
              <a:rPr lang="en-MY" sz="4400" dirty="0">
                <a:solidFill>
                  <a:srgbClr val="7030A0"/>
                </a:solidFill>
              </a:rPr>
              <a:t>Security Levels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174843"/>
          </a:xfrm>
        </p:spPr>
        <p:txBody>
          <a:bodyPr>
            <a:normAutofit/>
          </a:bodyPr>
          <a:lstStyle/>
          <a:p>
            <a:pPr marL="457200" indent="-457200" algn="just">
              <a:lnSpc>
                <a:spcPct val="100000"/>
              </a:lnSpc>
              <a:buFont typeface="+mj-lt"/>
              <a:buAutoNum type="arabicPeriod"/>
            </a:pPr>
            <a:r>
              <a:rPr lang="en-MY" sz="2200" b="1" dirty="0">
                <a:solidFill>
                  <a:srgbClr val="FF0000"/>
                </a:solidFill>
              </a:rPr>
              <a:t>Unconditional Security</a:t>
            </a:r>
          </a:p>
          <a:p>
            <a:pPr lvl="1" algn="just">
              <a:lnSpc>
                <a:spcPct val="100000"/>
              </a:lnSpc>
              <a:buFont typeface="Wingdings" panose="05000000000000000000" pitchFamily="2" charset="2"/>
              <a:buChar char="Ø"/>
            </a:pPr>
            <a:r>
              <a:rPr lang="en-AU" sz="1800" dirty="0"/>
              <a:t>Regardless of endless computer power, the ciphertext cannot be broken since the ciphertext provides insufficient information to uniquely determine the corresponding plaintext.</a:t>
            </a:r>
          </a:p>
          <a:p>
            <a:pPr lvl="1" algn="just">
              <a:lnSpc>
                <a:spcPct val="100000"/>
              </a:lnSpc>
              <a:buFont typeface="Wingdings" panose="05000000000000000000" pitchFamily="2" charset="2"/>
              <a:buChar char="Ø"/>
            </a:pPr>
            <a:r>
              <a:rPr lang="en-AU" sz="1800" dirty="0"/>
              <a:t>No encryption algorithm is </a:t>
            </a:r>
            <a:r>
              <a:rPr lang="en-AU" sz="1800" b="1" dirty="0">
                <a:solidFill>
                  <a:srgbClr val="0000FF"/>
                </a:solidFill>
              </a:rPr>
              <a:t>unconditionally secure</a:t>
            </a:r>
            <a:r>
              <a:rPr lang="en-AU" sz="1800" dirty="0"/>
              <a:t> except the </a:t>
            </a:r>
            <a:r>
              <a:rPr lang="en-AU" sz="1800" b="1" dirty="0">
                <a:solidFill>
                  <a:srgbClr val="0000FF"/>
                </a:solidFill>
              </a:rPr>
              <a:t>one-time pad scheme</a:t>
            </a:r>
            <a:r>
              <a:rPr lang="en-AU" sz="1800" dirty="0"/>
              <a:t>.</a:t>
            </a:r>
            <a:endParaRPr lang="en-MY" sz="1800" dirty="0"/>
          </a:p>
          <a:p>
            <a:pPr marL="457200" indent="-457200" algn="just">
              <a:lnSpc>
                <a:spcPct val="100000"/>
              </a:lnSpc>
              <a:buFont typeface="+mj-lt"/>
              <a:buAutoNum type="arabicPeriod"/>
            </a:pPr>
            <a:r>
              <a:rPr lang="en-MY" sz="2200" b="1" dirty="0">
                <a:solidFill>
                  <a:srgbClr val="FF0000"/>
                </a:solidFill>
              </a:rPr>
              <a:t>Computational Security</a:t>
            </a:r>
          </a:p>
          <a:p>
            <a:pPr lvl="1" algn="just">
              <a:lnSpc>
                <a:spcPct val="100000"/>
              </a:lnSpc>
              <a:buFont typeface="Wingdings" panose="05000000000000000000" pitchFamily="2" charset="2"/>
              <a:buChar char="Ø"/>
            </a:pPr>
            <a:r>
              <a:rPr lang="en-AU" sz="1800" dirty="0"/>
              <a:t>The </a:t>
            </a:r>
            <a:r>
              <a:rPr lang="en-AU" sz="1800" b="1" dirty="0">
                <a:solidFill>
                  <a:srgbClr val="0000FF"/>
                </a:solidFill>
              </a:rPr>
              <a:t>cost</a:t>
            </a:r>
            <a:r>
              <a:rPr lang="en-AU" sz="1800" dirty="0"/>
              <a:t> of breaking the cipher exceeds the value of the encrypted information.</a:t>
            </a:r>
          </a:p>
          <a:p>
            <a:pPr lvl="1" algn="just">
              <a:lnSpc>
                <a:spcPct val="100000"/>
              </a:lnSpc>
              <a:buFont typeface="Wingdings" panose="05000000000000000000" pitchFamily="2" charset="2"/>
              <a:buChar char="Ø"/>
            </a:pPr>
            <a:r>
              <a:rPr lang="en-AU" sz="1800" dirty="0"/>
              <a:t>The </a:t>
            </a:r>
            <a:r>
              <a:rPr lang="en-AU" sz="1800" b="1" dirty="0">
                <a:solidFill>
                  <a:srgbClr val="0000FF"/>
                </a:solidFill>
              </a:rPr>
              <a:t>time</a:t>
            </a:r>
            <a:r>
              <a:rPr lang="en-AU" sz="1800" dirty="0"/>
              <a:t> required to break the cipher exceeds the useful lifetime of the information.</a:t>
            </a:r>
          </a:p>
          <a:p>
            <a:pPr lvl="1" algn="just">
              <a:lnSpc>
                <a:spcPct val="100000"/>
              </a:lnSpc>
              <a:buFont typeface="Wingdings" panose="05000000000000000000" pitchFamily="2" charset="2"/>
              <a:buChar char="Ø"/>
            </a:pPr>
            <a:r>
              <a:rPr lang="en-AU" sz="1800" dirty="0"/>
              <a:t>If either of the above criteria is met, an encryption scheme is said to be </a:t>
            </a:r>
            <a:r>
              <a:rPr lang="en-AU" sz="1800" b="1" dirty="0">
                <a:solidFill>
                  <a:srgbClr val="0000FF"/>
                </a:solidFill>
              </a:rPr>
              <a:t>computationally secure</a:t>
            </a:r>
            <a:r>
              <a:rPr lang="en-AU" sz="1800" dirty="0"/>
              <a:t>.</a:t>
            </a:r>
          </a:p>
        </p:txBody>
      </p:sp>
    </p:spTree>
    <p:extLst>
      <p:ext uri="{BB962C8B-B14F-4D97-AF65-F5344CB8AC3E}">
        <p14:creationId xmlns:p14="http://schemas.microsoft.com/office/powerpoint/2010/main" val="6998455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Cryptography (</a:t>
            </a:r>
            <a:r>
              <a:rPr lang="en-MY" sz="4400" dirty="0">
                <a:solidFill>
                  <a:srgbClr val="0000FF"/>
                </a:solidFill>
              </a:rPr>
              <a:t>Overall</a:t>
            </a:r>
            <a:r>
              <a:rPr lang="en-MY" sz="4400"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174843"/>
              </a:xfrm>
            </p:spPr>
            <p:txBody>
              <a:bodyPr>
                <a:normAutofit/>
              </a:bodyPr>
              <a:lstStyle/>
              <a:p>
                <a:pPr algn="just">
                  <a:lnSpc>
                    <a:spcPct val="100000"/>
                  </a:lnSpc>
                  <a:buFont typeface="Wingdings" panose="05000000000000000000" pitchFamily="2" charset="2"/>
                  <a:buChar char="v"/>
                </a:pPr>
                <a:r>
                  <a:rPr lang="en-MY" sz="2000" dirty="0"/>
                  <a:t>Generally, a cryptographic scheme (or simply </a:t>
                </a:r>
                <a:r>
                  <a:rPr lang="en-MY" sz="2000" b="1" dirty="0">
                    <a:solidFill>
                      <a:srgbClr val="FF0000"/>
                    </a:solidFill>
                  </a:rPr>
                  <a:t>cryptosystem</a:t>
                </a:r>
                <a:r>
                  <a:rPr lang="en-MY" sz="2000" dirty="0"/>
                  <a:t>) consists of the following </a:t>
                </a:r>
                <a:r>
                  <a:rPr lang="en-MY" sz="2000" b="1" dirty="0"/>
                  <a:t>three</a:t>
                </a:r>
                <a:r>
                  <a:rPr lang="en-MY" sz="2000" dirty="0"/>
                  <a:t> algorithms:</a:t>
                </a:r>
              </a:p>
              <a:p>
                <a:pPr marL="457200" indent="-457200" algn="just">
                  <a:buFont typeface="+mj-lt"/>
                  <a:buAutoNum type="arabicPeriod"/>
                </a:pPr>
                <a:r>
                  <a:rPr lang="en-MY" sz="2000" b="1" dirty="0">
                    <a:solidFill>
                      <a:srgbClr val="0000FF"/>
                    </a:solidFill>
                  </a:rPr>
                  <a:t>Key Generation algorithm</a:t>
                </a:r>
                <a:r>
                  <a:rPr lang="en-MY" sz="2000" dirty="0"/>
                  <a:t>: </a:t>
                </a:r>
                <a:r>
                  <a:rPr lang="en-MY" sz="1800" dirty="0"/>
                  <a:t>O</a:t>
                </a:r>
                <a:r>
                  <a:rPr lang="en-MY" sz="1800" b="0" i="0" u="none" strike="noStrike" baseline="0" dirty="0"/>
                  <a:t>n input </a:t>
                </a:r>
                <a:r>
                  <a:rPr lang="en-US" sz="1800" b="0" i="0" u="none" strike="noStrike" baseline="0" dirty="0"/>
                  <a:t>of security parameter </a:t>
                </a:r>
                <a14:m>
                  <m:oMath xmlns:m="http://schemas.openxmlformats.org/officeDocument/2006/math">
                    <m:r>
                      <a:rPr lang="en-MY" sz="1800" b="0" i="1" u="none" strike="noStrike" baseline="0" smtClean="0">
                        <a:latin typeface="Cambria Math" panose="02040503050406030204" pitchFamily="18" charset="0"/>
                      </a:rPr>
                      <m:t>𝑛</m:t>
                    </m:r>
                  </m:oMath>
                </a14:m>
                <a:r>
                  <a:rPr lang="en-US" sz="1800" b="0" i="0" u="none" strike="noStrike" baseline="0" dirty="0"/>
                  <a:t>, it generates system parameters. These system parameters include a description of </a:t>
                </a:r>
                <a:r>
                  <a:rPr lang="en-US" sz="1800" b="1" i="0" u="none" strike="noStrike" baseline="0" dirty="0">
                    <a:solidFill>
                      <a:srgbClr val="FF0000"/>
                    </a:solidFill>
                  </a:rPr>
                  <a:t>finite message</a:t>
                </a:r>
                <a:r>
                  <a:rPr lang="en-US" sz="1800" b="0" i="0" u="none" strike="noStrike" baseline="0" dirty="0"/>
                  <a:t> space</a:t>
                </a:r>
                <a:r>
                  <a:rPr lang="en-US" sz="1800" b="0" i="0" u="none" strike="noStrike" dirty="0"/>
                  <a:t> </a:t>
                </a:r>
                <a14:m>
                  <m:oMath xmlns:m="http://schemas.openxmlformats.org/officeDocument/2006/math">
                    <m:r>
                      <a:rPr lang="en-US" sz="1800" b="0" i="1" u="none" strike="noStrike" smtClean="0">
                        <a:latin typeface="Cambria Math" panose="02040503050406030204" pitchFamily="18" charset="0"/>
                        <a:ea typeface="Cambria Math" panose="02040503050406030204" pitchFamily="18" charset="0"/>
                      </a:rPr>
                      <m:t>𝔐</m:t>
                    </m:r>
                  </m:oMath>
                </a14:m>
                <a:r>
                  <a:rPr lang="en-US" sz="1800" b="0" i="0" u="none" strike="noStrike" baseline="0" dirty="0"/>
                  <a:t>, a </a:t>
                </a:r>
                <a:r>
                  <a:rPr lang="en-US" sz="1800" b="1" i="0" u="none" strike="noStrike" baseline="0" dirty="0">
                    <a:solidFill>
                      <a:srgbClr val="FF0000"/>
                    </a:solidFill>
                  </a:rPr>
                  <a:t>finite ciphertext</a:t>
                </a:r>
                <a:r>
                  <a:rPr lang="en-US" sz="1800" b="0" i="0" u="none" strike="noStrike" baseline="0" dirty="0"/>
                  <a:t> space </a:t>
                </a:r>
                <a14:m>
                  <m:oMath xmlns:m="http://schemas.openxmlformats.org/officeDocument/2006/math">
                    <m:r>
                      <a:rPr lang="en-US" sz="1800" b="0" i="1" u="none" strike="noStrike" baseline="0" smtClean="0">
                        <a:latin typeface="Cambria Math" panose="02040503050406030204" pitchFamily="18" charset="0"/>
                        <a:ea typeface="Cambria Math" panose="02040503050406030204" pitchFamily="18" charset="0"/>
                      </a:rPr>
                      <m:t>ℭ</m:t>
                    </m:r>
                  </m:oMath>
                </a14:m>
                <a:r>
                  <a:rPr lang="en-US" sz="1800" b="0" i="0" u="none" strike="noStrike" baseline="0" dirty="0"/>
                  <a:t>, and a </a:t>
                </a:r>
                <a:r>
                  <a:rPr lang="en-US" sz="1800" b="1" i="0" u="none" strike="noStrike" baseline="0" dirty="0">
                    <a:solidFill>
                      <a:srgbClr val="FF0000"/>
                    </a:solidFill>
                  </a:rPr>
                  <a:t>finite key</a:t>
                </a:r>
                <a:r>
                  <a:rPr lang="en-US" sz="1800" b="0" i="0" u="none" strike="noStrike" baseline="0" dirty="0"/>
                  <a:t> space </a:t>
                </a:r>
                <a14:m>
                  <m:oMath xmlns:m="http://schemas.openxmlformats.org/officeDocument/2006/math">
                    <m:r>
                      <a:rPr lang="en-US" sz="1800" b="0" i="1" u="none" strike="noStrike" baseline="0" smtClean="0">
                        <a:latin typeface="Cambria Math" panose="02040503050406030204" pitchFamily="18" charset="0"/>
                        <a:ea typeface="Cambria Math" panose="02040503050406030204" pitchFamily="18" charset="0"/>
                      </a:rPr>
                      <m:t>𝔎</m:t>
                    </m:r>
                  </m:oMath>
                </a14:m>
                <a:r>
                  <a:rPr lang="en-US" sz="1800" b="0" i="0" u="none" strike="noStrike" baseline="0" dirty="0"/>
                  <a:t>.</a:t>
                </a:r>
              </a:p>
              <a:p>
                <a:pPr marL="457200" indent="-457200" algn="just">
                  <a:buFont typeface="+mj-lt"/>
                  <a:buAutoNum type="arabicPeriod"/>
                </a:pPr>
                <a:r>
                  <a:rPr lang="en-US" sz="2000" b="1" dirty="0">
                    <a:solidFill>
                      <a:srgbClr val="0000FF"/>
                    </a:solidFill>
                  </a:rPr>
                  <a:t>Encryption algorithm</a:t>
                </a:r>
                <a:r>
                  <a:rPr lang="en-US" sz="1800" dirty="0"/>
                  <a:t>: On input of system parameters, a message </a:t>
                </a:r>
                <a14:m>
                  <m:oMath xmlns:m="http://schemas.openxmlformats.org/officeDocument/2006/math">
                    <m:r>
                      <a:rPr lang="en-MY" sz="1800" b="0" i="1" smtClean="0">
                        <a:latin typeface="Cambria Math" panose="02040503050406030204" pitchFamily="18" charset="0"/>
                      </a:rPr>
                      <m:t>𝑀</m:t>
                    </m:r>
                    <m:r>
                      <a:rPr lang="en-MY"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𝔐</m:t>
                    </m:r>
                  </m:oMath>
                </a14:m>
                <a:r>
                  <a:rPr lang="en-US" sz="1800" dirty="0"/>
                  <a:t>, and a key </a:t>
                </a:r>
                <a14:m>
                  <m:oMath xmlns:m="http://schemas.openxmlformats.org/officeDocument/2006/math">
                    <m:r>
                      <a:rPr lang="en-MY" sz="1800" b="0" i="1" smtClean="0">
                        <a:latin typeface="Cambria Math" panose="02040503050406030204" pitchFamily="18" charset="0"/>
                      </a:rPr>
                      <m:t>𝐾</m:t>
                    </m:r>
                    <m:r>
                      <a:rPr lang="en-MY"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𝔎</m:t>
                    </m:r>
                  </m:oMath>
                </a14:m>
                <a:r>
                  <a:rPr lang="en-US" sz="1800" dirty="0"/>
                  <a:t>, it outputs a ciphertext </a:t>
                </a:r>
                <a14:m>
                  <m:oMath xmlns:m="http://schemas.openxmlformats.org/officeDocument/2006/math">
                    <m:r>
                      <a:rPr lang="en-MY" sz="1800" b="0" i="1" smtClean="0">
                        <a:latin typeface="Cambria Math" panose="02040503050406030204" pitchFamily="18" charset="0"/>
                      </a:rPr>
                      <m:t>𝐶</m:t>
                    </m:r>
                    <m:r>
                      <a:rPr lang="en-MY"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ℭ</m:t>
                    </m:r>
                  </m:oMath>
                </a14:m>
                <a:r>
                  <a:rPr lang="en-US" sz="1800" dirty="0"/>
                  <a:t>. Mathematically, </a:t>
                </a:r>
                <a14:m>
                  <m:oMath xmlns:m="http://schemas.openxmlformats.org/officeDocument/2006/math">
                    <m:r>
                      <a:rPr lang="en-MY" sz="1800" b="0" i="1" smtClean="0">
                        <a:latin typeface="Cambria Math" panose="02040503050406030204" pitchFamily="18" charset="0"/>
                      </a:rPr>
                      <m:t>𝐶</m:t>
                    </m:r>
                    <m:r>
                      <a:rPr lang="en-MY" sz="1800" b="0" i="0" smtClean="0">
                        <a:latin typeface="Cambria Math" panose="02040503050406030204" pitchFamily="18" charset="0"/>
                      </a:rPr>
                      <m:t>=</m:t>
                    </m:r>
                    <m:r>
                      <m:rPr>
                        <m:sty m:val="p"/>
                      </m:rPr>
                      <a:rPr lang="en-MY" sz="1800" b="0" i="0" smtClean="0">
                        <a:latin typeface="Cambria Math" panose="02040503050406030204" pitchFamily="18" charset="0"/>
                      </a:rPr>
                      <m:t>Enc</m:t>
                    </m:r>
                    <m:d>
                      <m:dPr>
                        <m:ctrlPr>
                          <a:rPr lang="en-MY" sz="1800" b="0" i="1" smtClean="0">
                            <a:latin typeface="Cambria Math" panose="02040503050406030204" pitchFamily="18" charset="0"/>
                          </a:rPr>
                        </m:ctrlPr>
                      </m:dPr>
                      <m:e>
                        <m:r>
                          <a:rPr lang="en-MY" sz="1800" b="0" i="1" smtClean="0">
                            <a:latin typeface="Cambria Math" panose="02040503050406030204" pitchFamily="18" charset="0"/>
                          </a:rPr>
                          <m:t>𝑀</m:t>
                        </m:r>
                        <m:r>
                          <a:rPr lang="en-MY" sz="1800" b="0" i="1" smtClean="0">
                            <a:latin typeface="Cambria Math" panose="02040503050406030204" pitchFamily="18" charset="0"/>
                          </a:rPr>
                          <m:t>,</m:t>
                        </m:r>
                        <m:r>
                          <a:rPr lang="en-MY" sz="1800" b="0" i="1" smtClean="0">
                            <a:latin typeface="Cambria Math" panose="02040503050406030204" pitchFamily="18" charset="0"/>
                          </a:rPr>
                          <m:t>𝐾</m:t>
                        </m:r>
                      </m:e>
                    </m:d>
                  </m:oMath>
                </a14:m>
                <a:r>
                  <a:rPr lang="en-US" sz="1800" dirty="0"/>
                  <a:t>.</a:t>
                </a:r>
              </a:p>
              <a:p>
                <a:pPr marL="457200" indent="-457200" algn="just">
                  <a:buFont typeface="+mj-lt"/>
                  <a:buAutoNum type="arabicPeriod"/>
                </a:pPr>
                <a:r>
                  <a:rPr lang="en-US" sz="2000" b="1" dirty="0">
                    <a:solidFill>
                      <a:srgbClr val="0000FF"/>
                    </a:solidFill>
                  </a:rPr>
                  <a:t>Decryption algorithm</a:t>
                </a:r>
                <a:r>
                  <a:rPr lang="en-US" sz="1800" dirty="0"/>
                  <a:t>: On input of system parameters, a ciphertext </a:t>
                </a:r>
                <a14:m>
                  <m:oMath xmlns:m="http://schemas.openxmlformats.org/officeDocument/2006/math">
                    <m:r>
                      <a:rPr lang="en-MY" sz="1800" i="1">
                        <a:latin typeface="Cambria Math" panose="02040503050406030204" pitchFamily="18" charset="0"/>
                      </a:rPr>
                      <m:t>𝐶</m:t>
                    </m:r>
                    <m:r>
                      <a:rPr lang="en-MY" sz="1800" i="1">
                        <a:latin typeface="Cambria Math" panose="02040503050406030204" pitchFamily="18" charset="0"/>
                      </a:rPr>
                      <m:t>∈</m:t>
                    </m:r>
                    <m:r>
                      <a:rPr lang="en-US" sz="1800" i="1">
                        <a:latin typeface="Cambria Math" panose="02040503050406030204" pitchFamily="18" charset="0"/>
                        <a:ea typeface="Cambria Math" panose="02040503050406030204" pitchFamily="18" charset="0"/>
                      </a:rPr>
                      <m:t>ℭ</m:t>
                    </m:r>
                  </m:oMath>
                </a14:m>
                <a:r>
                  <a:rPr lang="en-US" sz="1800" dirty="0"/>
                  <a:t>, and a key </a:t>
                </a:r>
                <a14:m>
                  <m:oMath xmlns:m="http://schemas.openxmlformats.org/officeDocument/2006/math">
                    <m:r>
                      <a:rPr lang="en-MY" sz="1800" b="0" i="1" smtClean="0">
                        <a:latin typeface="Cambria Math" panose="02040503050406030204" pitchFamily="18" charset="0"/>
                      </a:rPr>
                      <m:t>𝐾</m:t>
                    </m:r>
                    <m:r>
                      <a:rPr lang="en-MY"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𝔎</m:t>
                    </m:r>
                  </m:oMath>
                </a14:m>
                <a:r>
                  <a:rPr lang="en-US" sz="1800" dirty="0"/>
                  <a:t>, it returns a message </a:t>
                </a:r>
                <a14:m>
                  <m:oMath xmlns:m="http://schemas.openxmlformats.org/officeDocument/2006/math">
                    <m:r>
                      <a:rPr lang="en-MY" sz="1800" i="1">
                        <a:latin typeface="Cambria Math" panose="02040503050406030204" pitchFamily="18" charset="0"/>
                      </a:rPr>
                      <m:t>𝑀</m:t>
                    </m:r>
                    <m:r>
                      <a:rPr lang="en-MY" sz="1800" i="1">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𝔐</m:t>
                    </m:r>
                  </m:oMath>
                </a14:m>
                <a:r>
                  <a:rPr lang="en-US" sz="1800" dirty="0"/>
                  <a:t>. Mathematically, </a:t>
                </a:r>
                <a14:m>
                  <m:oMath xmlns:m="http://schemas.openxmlformats.org/officeDocument/2006/math">
                    <m:r>
                      <a:rPr lang="en-MY" sz="1800" b="0" i="1" smtClean="0">
                        <a:latin typeface="Cambria Math" panose="02040503050406030204" pitchFamily="18" charset="0"/>
                      </a:rPr>
                      <m:t>𝑀</m:t>
                    </m:r>
                    <m:r>
                      <a:rPr lang="en-MY" sz="1800" b="0" i="0" smtClean="0">
                        <a:latin typeface="Cambria Math" panose="02040503050406030204" pitchFamily="18" charset="0"/>
                      </a:rPr>
                      <m:t>=</m:t>
                    </m:r>
                    <m:r>
                      <m:rPr>
                        <m:sty m:val="p"/>
                      </m:rPr>
                      <a:rPr lang="en-MY" sz="1800" b="0" i="0" smtClean="0">
                        <a:latin typeface="Cambria Math" panose="02040503050406030204" pitchFamily="18" charset="0"/>
                      </a:rPr>
                      <m:t>Dec</m:t>
                    </m:r>
                    <m:d>
                      <m:dPr>
                        <m:ctrlPr>
                          <a:rPr lang="en-MY" sz="1800" b="0" i="1" smtClean="0">
                            <a:latin typeface="Cambria Math" panose="02040503050406030204" pitchFamily="18" charset="0"/>
                          </a:rPr>
                        </m:ctrlPr>
                      </m:dPr>
                      <m:e>
                        <m:r>
                          <a:rPr lang="en-MY" sz="1800" b="0" i="1" smtClean="0">
                            <a:latin typeface="Cambria Math" panose="02040503050406030204" pitchFamily="18" charset="0"/>
                          </a:rPr>
                          <m:t>𝐶</m:t>
                        </m:r>
                        <m:r>
                          <a:rPr lang="en-MY" sz="1800" b="0" i="1" smtClean="0">
                            <a:latin typeface="Cambria Math" panose="02040503050406030204" pitchFamily="18" charset="0"/>
                          </a:rPr>
                          <m:t>,</m:t>
                        </m:r>
                        <m:r>
                          <a:rPr lang="en-MY" sz="1800" b="0" i="1" smtClean="0">
                            <a:latin typeface="Cambria Math" panose="02040503050406030204" pitchFamily="18" charset="0"/>
                          </a:rPr>
                          <m:t>𝐾</m:t>
                        </m:r>
                      </m:e>
                    </m:d>
                  </m:oMath>
                </a14:m>
                <a:r>
                  <a:rPr lang="en-US" sz="1800" dirty="0"/>
                  <a:t>.</a:t>
                </a:r>
              </a:p>
              <a:p>
                <a:pPr algn="just">
                  <a:buFont typeface="Wingdings" panose="05000000000000000000" pitchFamily="2" charset="2"/>
                  <a:buChar char="§"/>
                </a:pPr>
                <a:r>
                  <a:rPr lang="en-US" sz="1800" dirty="0"/>
                  <a:t>Hence, encryption and decryption are </a:t>
                </a:r>
                <a:r>
                  <a:rPr lang="en-US" sz="1800" b="1" dirty="0">
                    <a:solidFill>
                      <a:srgbClr val="FF0000"/>
                    </a:solidFill>
                  </a:rPr>
                  <a:t>inverse</a:t>
                </a:r>
                <a:r>
                  <a:rPr lang="en-US" sz="1800" dirty="0"/>
                  <a:t> to each other: </a:t>
                </a:r>
                <a14:m>
                  <m:oMath xmlns:m="http://schemas.openxmlformats.org/officeDocument/2006/math">
                    <m:r>
                      <a:rPr lang="en-MY" sz="1800" b="0" i="1" smtClean="0">
                        <a:latin typeface="Cambria Math" panose="02040503050406030204" pitchFamily="18" charset="0"/>
                      </a:rPr>
                      <m:t>𝑀</m:t>
                    </m:r>
                    <m:r>
                      <a:rPr lang="en-MY" sz="1800" b="0" i="0" smtClean="0">
                        <a:latin typeface="Cambria Math" panose="02040503050406030204" pitchFamily="18" charset="0"/>
                      </a:rPr>
                      <m:t>=</m:t>
                    </m:r>
                    <m:r>
                      <m:rPr>
                        <m:sty m:val="p"/>
                      </m:rPr>
                      <a:rPr lang="en-MY" sz="1800" b="0" i="0" smtClean="0">
                        <a:latin typeface="Cambria Math" panose="02040503050406030204" pitchFamily="18" charset="0"/>
                      </a:rPr>
                      <m:t>Dec</m:t>
                    </m:r>
                    <m:d>
                      <m:dPr>
                        <m:ctrlPr>
                          <a:rPr lang="en-MY" sz="1800" b="0" i="1" smtClean="0">
                            <a:latin typeface="Cambria Math" panose="02040503050406030204" pitchFamily="18" charset="0"/>
                          </a:rPr>
                        </m:ctrlPr>
                      </m:dPr>
                      <m:e>
                        <m:r>
                          <m:rPr>
                            <m:sty m:val="p"/>
                          </m:rPr>
                          <a:rPr lang="en-MY" sz="1800">
                            <a:latin typeface="Cambria Math" panose="02040503050406030204" pitchFamily="18" charset="0"/>
                          </a:rPr>
                          <m:t>Enc</m:t>
                        </m:r>
                        <m:d>
                          <m:dPr>
                            <m:ctrlPr>
                              <a:rPr lang="en-MY" sz="1800" i="1">
                                <a:latin typeface="Cambria Math" panose="02040503050406030204" pitchFamily="18" charset="0"/>
                              </a:rPr>
                            </m:ctrlPr>
                          </m:dPr>
                          <m:e>
                            <m:r>
                              <a:rPr lang="en-MY" sz="1800" i="1">
                                <a:latin typeface="Cambria Math" panose="02040503050406030204" pitchFamily="18" charset="0"/>
                              </a:rPr>
                              <m:t>𝑀</m:t>
                            </m:r>
                            <m:r>
                              <a:rPr lang="en-MY" sz="1800" i="1">
                                <a:latin typeface="Cambria Math" panose="02040503050406030204" pitchFamily="18" charset="0"/>
                              </a:rPr>
                              <m:t>,</m:t>
                            </m:r>
                            <m:r>
                              <a:rPr lang="en-MY" sz="1800" i="1">
                                <a:latin typeface="Cambria Math" panose="02040503050406030204" pitchFamily="18" charset="0"/>
                              </a:rPr>
                              <m:t>𝐾</m:t>
                            </m:r>
                          </m:e>
                        </m:d>
                        <m:r>
                          <a:rPr lang="en-MY" sz="1800" b="0" i="1" smtClean="0">
                            <a:latin typeface="Cambria Math" panose="02040503050406030204" pitchFamily="18" charset="0"/>
                          </a:rPr>
                          <m:t>,</m:t>
                        </m:r>
                        <m:r>
                          <a:rPr lang="en-MY" sz="1800" b="0" i="1" smtClean="0">
                            <a:latin typeface="Cambria Math" panose="02040503050406030204" pitchFamily="18" charset="0"/>
                          </a:rPr>
                          <m:t>𝐾</m:t>
                        </m:r>
                      </m:e>
                    </m:d>
                  </m:oMath>
                </a14:m>
                <a:r>
                  <a:rPr lang="en-US" sz="1800" dirty="0"/>
                  <a:t>.</a:t>
                </a:r>
              </a:p>
            </p:txBody>
          </p:sp>
        </mc:Choice>
        <mc:Fallback xmlns="">
          <p:sp>
            <p:nvSpPr>
              <p:cNvPr id="3" name="Content Placeholder 2">
                <a:extLst>
                  <a:ext uri="{FF2B5EF4-FFF2-40B4-BE49-F238E27FC236}">
                    <a16:creationId xmlns:a16="http://schemas.microsoft.com/office/drawing/2014/main" id="{202A8117-FDEF-0DE7-A393-9A8513B2DF09}"/>
                  </a:ext>
                </a:extLst>
              </p:cNvPr>
              <p:cNvSpPr>
                <a:spLocks noGrp="1" noRot="1" noChangeAspect="1" noMove="1" noResize="1" noEditPoints="1" noAdjustHandles="1" noChangeArrowheads="1" noChangeShapeType="1" noTextEdit="1"/>
              </p:cNvSpPr>
              <p:nvPr>
                <p:ph idx="1"/>
              </p:nvPr>
            </p:nvSpPr>
            <p:spPr>
              <a:xfrm>
                <a:off x="514905" y="2318032"/>
                <a:ext cx="11105963" cy="4174843"/>
              </a:xfrm>
              <a:blipFill>
                <a:blip r:embed="rId2"/>
                <a:stretch>
                  <a:fillRect l="-549" t="-730" r="-604"/>
                </a:stretch>
              </a:blipFill>
            </p:spPr>
            <p:txBody>
              <a:bodyPr/>
              <a:lstStyle/>
              <a:p>
                <a:r>
                  <a:rPr lang="en-MY">
                    <a:noFill/>
                  </a:rPr>
                  <a:t> </a:t>
                </a:r>
              </a:p>
            </p:txBody>
          </p:sp>
        </mc:Fallback>
      </mc:AlternateContent>
    </p:spTree>
    <p:extLst>
      <p:ext uri="{BB962C8B-B14F-4D97-AF65-F5344CB8AC3E}">
        <p14:creationId xmlns:p14="http://schemas.microsoft.com/office/powerpoint/2010/main" val="6673870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Cryptography (</a:t>
            </a:r>
            <a:r>
              <a:rPr lang="en-MY" sz="4400" dirty="0">
                <a:solidFill>
                  <a:srgbClr val="0000FF"/>
                </a:solidFill>
              </a:rPr>
              <a:t>Overall</a:t>
            </a:r>
            <a:r>
              <a:rPr lang="en-MY" sz="4400" dirty="0"/>
              <a:t>)</a:t>
            </a:r>
            <a:endParaRPr lang="en-MY" sz="4400" dirty="0">
              <a:solidFill>
                <a:srgbClr val="0000FF"/>
              </a:solidFill>
            </a:endParaRP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402364"/>
          </a:xfrm>
        </p:spPr>
        <p:txBody>
          <a:bodyPr>
            <a:normAutofit/>
          </a:bodyPr>
          <a:lstStyle/>
          <a:p>
            <a:pPr algn="just">
              <a:lnSpc>
                <a:spcPct val="100000"/>
              </a:lnSpc>
              <a:buFont typeface="Courier New" panose="02070309020205020404" pitchFamily="49" charset="0"/>
              <a:buChar char="o"/>
            </a:pPr>
            <a:r>
              <a:rPr lang="en-MY" sz="2200" dirty="0"/>
              <a:t>Different cryptosystem features different settings in their algorithms:</a:t>
            </a:r>
          </a:p>
          <a:p>
            <a:pPr marL="685800" lvl="1" indent="-457200" algn="just">
              <a:lnSpc>
                <a:spcPct val="100000"/>
              </a:lnSpc>
              <a:buFont typeface="+mj-lt"/>
              <a:buAutoNum type="arabicPeriod"/>
            </a:pPr>
            <a:r>
              <a:rPr lang="en-MY" sz="2000" b="1" dirty="0">
                <a:solidFill>
                  <a:srgbClr val="0000FF"/>
                </a:solidFill>
              </a:rPr>
              <a:t>Amount of keys involves</a:t>
            </a:r>
            <a:r>
              <a:rPr lang="en-MY" sz="2000" dirty="0"/>
              <a:t>:</a:t>
            </a:r>
          </a:p>
          <a:p>
            <a:pPr lvl="2" algn="just">
              <a:lnSpc>
                <a:spcPct val="100000"/>
              </a:lnSpc>
              <a:buFont typeface="Wingdings" panose="05000000000000000000" pitchFamily="2" charset="2"/>
              <a:buChar char="Ø"/>
            </a:pPr>
            <a:r>
              <a:rPr lang="en-MY" sz="2000" dirty="0"/>
              <a:t> Hash Functions: 0 key.</a:t>
            </a:r>
          </a:p>
          <a:p>
            <a:pPr lvl="2" algn="just">
              <a:lnSpc>
                <a:spcPct val="100000"/>
              </a:lnSpc>
              <a:buFont typeface="Wingdings" panose="05000000000000000000" pitchFamily="2" charset="2"/>
              <a:buChar char="Ø"/>
            </a:pPr>
            <a:r>
              <a:rPr lang="en-MY" sz="2000" dirty="0"/>
              <a:t> </a:t>
            </a:r>
            <a:r>
              <a:rPr lang="en-MY" sz="2000" b="1" dirty="0">
                <a:solidFill>
                  <a:srgbClr val="FF0000"/>
                </a:solidFill>
              </a:rPr>
              <a:t>Symmetric cryptography</a:t>
            </a:r>
            <a:r>
              <a:rPr lang="en-MY" sz="2000" dirty="0"/>
              <a:t>: 1 key.</a:t>
            </a:r>
          </a:p>
          <a:p>
            <a:pPr lvl="2" algn="just">
              <a:lnSpc>
                <a:spcPct val="100000"/>
              </a:lnSpc>
              <a:buFont typeface="Wingdings" panose="05000000000000000000" pitchFamily="2" charset="2"/>
              <a:buChar char="Ø"/>
            </a:pPr>
            <a:r>
              <a:rPr lang="en-MY" sz="2000" dirty="0"/>
              <a:t> </a:t>
            </a:r>
            <a:r>
              <a:rPr lang="en-MY" sz="2000" b="1" dirty="0">
                <a:solidFill>
                  <a:srgbClr val="FF0000"/>
                </a:solidFill>
              </a:rPr>
              <a:t>Asymmetric cryptography</a:t>
            </a:r>
            <a:r>
              <a:rPr lang="en-MY" sz="2000" dirty="0"/>
              <a:t>: 2 keys.</a:t>
            </a:r>
          </a:p>
          <a:p>
            <a:pPr marL="685800" lvl="1" indent="-457200" algn="just">
              <a:lnSpc>
                <a:spcPct val="100000"/>
              </a:lnSpc>
              <a:buFont typeface="+mj-lt"/>
              <a:buAutoNum type="arabicPeriod"/>
            </a:pPr>
            <a:r>
              <a:rPr lang="en-MY" sz="2000" b="1" dirty="0">
                <a:solidFill>
                  <a:srgbClr val="0000FF"/>
                </a:solidFill>
              </a:rPr>
              <a:t>Types of encryption operations</a:t>
            </a:r>
            <a:r>
              <a:rPr lang="en-MY" sz="2000" dirty="0"/>
              <a:t>: Substitution, transposition, product, etc.</a:t>
            </a:r>
          </a:p>
          <a:p>
            <a:pPr marL="685800" lvl="1" indent="-457200" algn="just">
              <a:lnSpc>
                <a:spcPct val="100000"/>
              </a:lnSpc>
              <a:buFont typeface="+mj-lt"/>
              <a:buAutoNum type="arabicPeriod"/>
            </a:pPr>
            <a:r>
              <a:rPr lang="en-MY" sz="2000" b="1" dirty="0">
                <a:solidFill>
                  <a:srgbClr val="0000FF"/>
                </a:solidFill>
              </a:rPr>
              <a:t>Techniques in processing the plaintext (message)</a:t>
            </a:r>
            <a:r>
              <a:rPr lang="en-MY" sz="2000" dirty="0"/>
              <a:t>:</a:t>
            </a:r>
          </a:p>
          <a:p>
            <a:pPr lvl="2" algn="just">
              <a:lnSpc>
                <a:spcPct val="100000"/>
              </a:lnSpc>
              <a:buFont typeface="Wingdings" panose="05000000000000000000" pitchFamily="2" charset="2"/>
              <a:buChar char="Ø"/>
            </a:pPr>
            <a:r>
              <a:rPr lang="en-MY" sz="2000" dirty="0"/>
              <a:t> Stream cipher.</a:t>
            </a:r>
          </a:p>
          <a:p>
            <a:pPr lvl="2" algn="just">
              <a:lnSpc>
                <a:spcPct val="100000"/>
              </a:lnSpc>
              <a:buFont typeface="Wingdings" panose="05000000000000000000" pitchFamily="2" charset="2"/>
              <a:buChar char="Ø"/>
            </a:pPr>
            <a:r>
              <a:rPr lang="en-MY" sz="2000" dirty="0"/>
              <a:t> Block cipher.</a:t>
            </a:r>
          </a:p>
          <a:p>
            <a:pPr algn="just">
              <a:lnSpc>
                <a:spcPct val="100000"/>
              </a:lnSpc>
              <a:buFont typeface="Courier New" panose="02070309020205020404" pitchFamily="49" charset="0"/>
              <a:buChar char="o"/>
            </a:pPr>
            <a:endParaRPr lang="en-MY" sz="2200" dirty="0"/>
          </a:p>
          <a:p>
            <a:pPr algn="just">
              <a:lnSpc>
                <a:spcPct val="100000"/>
              </a:lnSpc>
              <a:buFont typeface="Courier New" panose="02070309020205020404" pitchFamily="49" charset="0"/>
              <a:buChar char="o"/>
            </a:pPr>
            <a:endParaRPr lang="en-MY" sz="2200" dirty="0"/>
          </a:p>
          <a:p>
            <a:pPr lvl="1" algn="just">
              <a:lnSpc>
                <a:spcPct val="100000"/>
              </a:lnSpc>
              <a:buFont typeface="Wingdings" panose="05000000000000000000" pitchFamily="2" charset="2"/>
              <a:buChar char="Ø"/>
            </a:pPr>
            <a:endParaRPr lang="en-MY" sz="2000" dirty="0"/>
          </a:p>
        </p:txBody>
      </p:sp>
    </p:spTree>
    <p:extLst>
      <p:ext uri="{BB962C8B-B14F-4D97-AF65-F5344CB8AC3E}">
        <p14:creationId xmlns:p14="http://schemas.microsoft.com/office/powerpoint/2010/main" val="8012912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6106696"/>
          </a:xfrm>
        </p:spPr>
        <p:txBody>
          <a:bodyPr>
            <a:normAutofit/>
          </a:bodyPr>
          <a:lstStyle/>
          <a:p>
            <a:pPr algn="ctr"/>
            <a:r>
              <a:rPr lang="en-MY" sz="6000" b="1" dirty="0">
                <a:solidFill>
                  <a:srgbClr val="0000FF"/>
                </a:solidFill>
              </a:rPr>
              <a:t>SYMMETRIC</a:t>
            </a:r>
            <a:br>
              <a:rPr lang="en-MY" sz="6000" b="1" dirty="0"/>
            </a:br>
            <a:r>
              <a:rPr lang="en-MY" sz="6000" b="1" dirty="0">
                <a:solidFill>
                  <a:srgbClr val="C00000"/>
                </a:solidFill>
              </a:rPr>
              <a:t>CRYPTOGRAPHY</a:t>
            </a:r>
            <a:br>
              <a:rPr lang="en-MY" sz="6000" b="1" dirty="0"/>
            </a:br>
            <a:r>
              <a:rPr lang="en-MY" sz="4000" b="1" dirty="0"/>
              <a:t> </a:t>
            </a:r>
            <a:br>
              <a:rPr lang="en-MY" sz="6000" b="1" dirty="0"/>
            </a:br>
            <a:br>
              <a:rPr lang="en-MY" sz="6000" b="1" dirty="0"/>
            </a:br>
            <a:endParaRPr lang="en-MY" sz="6000" b="1" dirty="0"/>
          </a:p>
        </p:txBody>
      </p:sp>
    </p:spTree>
    <p:extLst>
      <p:ext uri="{BB962C8B-B14F-4D97-AF65-F5344CB8AC3E}">
        <p14:creationId xmlns:p14="http://schemas.microsoft.com/office/powerpoint/2010/main" val="21425948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rgbClr val="FF0000"/>
                </a:solidFill>
              </a:rPr>
              <a:t>Symmetric</a:t>
            </a:r>
            <a:r>
              <a:rPr lang="en-MY" sz="4400" dirty="0"/>
              <a:t> Cryptography</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Autofit/>
          </a:bodyPr>
          <a:lstStyle/>
          <a:p>
            <a:pPr algn="just" eaLnBrk="1" hangingPunct="1">
              <a:lnSpc>
                <a:spcPct val="100000"/>
              </a:lnSpc>
              <a:defRPr/>
            </a:pPr>
            <a:r>
              <a:rPr lang="en-US" sz="2000" dirty="0"/>
              <a:t>Also known as </a:t>
            </a:r>
            <a:r>
              <a:rPr lang="en-AU" sz="2000" b="1" dirty="0">
                <a:solidFill>
                  <a:srgbClr val="0000FF"/>
                </a:solidFill>
              </a:rPr>
              <a:t>secret/private</a:t>
            </a:r>
            <a:r>
              <a:rPr lang="en-US" sz="2000" b="1" dirty="0">
                <a:solidFill>
                  <a:srgbClr val="0000FF"/>
                </a:solidFill>
              </a:rPr>
              <a:t>-key cryptography.</a:t>
            </a:r>
          </a:p>
          <a:p>
            <a:pPr lvl="1" algn="just">
              <a:lnSpc>
                <a:spcPct val="100000"/>
              </a:lnSpc>
              <a:buFont typeface="Wingdings" panose="05000000000000000000" pitchFamily="2" charset="2"/>
              <a:buChar char="Ø"/>
              <a:defRPr/>
            </a:pPr>
            <a:r>
              <a:rPr lang="en-US" sz="2000" dirty="0"/>
              <a:t>Both </a:t>
            </a:r>
            <a:r>
              <a:rPr lang="en-AU" sz="2000" dirty="0"/>
              <a:t>sender and receiver </a:t>
            </a:r>
            <a:r>
              <a:rPr lang="en-AU" sz="2000" b="1" dirty="0">
                <a:solidFill>
                  <a:srgbClr val="FF0000"/>
                </a:solidFill>
              </a:rPr>
              <a:t>share a common secret key</a:t>
            </a:r>
            <a:r>
              <a:rPr lang="en-AU" sz="2000" dirty="0"/>
              <a:t>.</a:t>
            </a:r>
          </a:p>
          <a:p>
            <a:pPr lvl="1" algn="just">
              <a:lnSpc>
                <a:spcPct val="100000"/>
              </a:lnSpc>
              <a:buFont typeface="Wingdings" panose="05000000000000000000" pitchFamily="2" charset="2"/>
              <a:buChar char="Ø"/>
              <a:defRPr/>
            </a:pPr>
            <a:r>
              <a:rPr lang="en-AU" sz="2000" dirty="0"/>
              <a:t>If this key is disclosed, then the communication is compromised.</a:t>
            </a:r>
          </a:p>
          <a:p>
            <a:pPr lvl="1" algn="just">
              <a:lnSpc>
                <a:spcPct val="100000"/>
              </a:lnSpc>
              <a:buFont typeface="Wingdings" panose="05000000000000000000" pitchFamily="2" charset="2"/>
              <a:buChar char="Ø"/>
              <a:defRPr/>
            </a:pPr>
            <a:r>
              <a:rPr lang="en-AU" sz="2000" dirty="0"/>
              <a:t>It relies on the fundamental building blocks of substitution and     permutation (transposition).</a:t>
            </a:r>
          </a:p>
          <a:p>
            <a:pPr algn="just" eaLnBrk="1" hangingPunct="1">
              <a:lnSpc>
                <a:spcPct val="100000"/>
              </a:lnSpc>
              <a:defRPr/>
            </a:pPr>
            <a:r>
              <a:rPr lang="en-AU" sz="2000" dirty="0"/>
              <a:t>It is </a:t>
            </a:r>
            <a:r>
              <a:rPr lang="en-AU" sz="2000" b="1" dirty="0">
                <a:solidFill>
                  <a:srgbClr val="0000FF"/>
                </a:solidFill>
              </a:rPr>
              <a:t>symmetric </a:t>
            </a:r>
            <a:r>
              <a:rPr lang="en-AU" sz="2000" dirty="0"/>
              <a:t>since both parties are equally having the same secret key.</a:t>
            </a:r>
          </a:p>
          <a:p>
            <a:pPr lvl="1" algn="just">
              <a:lnSpc>
                <a:spcPct val="100000"/>
              </a:lnSpc>
              <a:buFont typeface="Wingdings" panose="05000000000000000000" pitchFamily="2" charset="2"/>
              <a:buChar char="Ø"/>
              <a:defRPr/>
            </a:pPr>
            <a:r>
              <a:rPr lang="en-AU" sz="2000" dirty="0"/>
              <a:t>Hence does not protect sender from receiver forging a message (</a:t>
            </a:r>
            <a:r>
              <a:rPr lang="en-AU" sz="2000" b="1" dirty="0">
                <a:solidFill>
                  <a:srgbClr val="FF0000"/>
                </a:solidFill>
              </a:rPr>
              <a:t>integrity</a:t>
            </a:r>
            <a:r>
              <a:rPr lang="en-AU" sz="2000" dirty="0"/>
              <a:t>) and claiming it is sent by sender (</a:t>
            </a:r>
            <a:r>
              <a:rPr lang="en-AU" sz="2000" b="1" dirty="0">
                <a:solidFill>
                  <a:srgbClr val="FF0000"/>
                </a:solidFill>
              </a:rPr>
              <a:t>non-repudiation</a:t>
            </a:r>
            <a:r>
              <a:rPr lang="en-AU" sz="2000" dirty="0"/>
              <a:t>).</a:t>
            </a:r>
          </a:p>
          <a:p>
            <a:pPr algn="just">
              <a:lnSpc>
                <a:spcPct val="100000"/>
              </a:lnSpc>
              <a:defRPr/>
            </a:pPr>
            <a:r>
              <a:rPr lang="en-AU" sz="2000" dirty="0"/>
              <a:t>All classical encryption algorithms are secret-key type and </a:t>
            </a:r>
            <a:r>
              <a:rPr lang="en-US" sz="2000" dirty="0"/>
              <a:t>were only the type prior to invention of public-key in the 1970s.</a:t>
            </a:r>
          </a:p>
          <a:p>
            <a:pPr algn="just">
              <a:lnSpc>
                <a:spcPct val="100000"/>
              </a:lnSpc>
            </a:pPr>
            <a:endParaRPr lang="en-MY" sz="2000" dirty="0"/>
          </a:p>
        </p:txBody>
      </p:sp>
    </p:spTree>
    <p:extLst>
      <p:ext uri="{BB962C8B-B14F-4D97-AF65-F5344CB8AC3E}">
        <p14:creationId xmlns:p14="http://schemas.microsoft.com/office/powerpoint/2010/main" val="6992157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EAD7E1-579B-215A-3C7F-36E8F7D2E196}"/>
              </a:ext>
            </a:extLst>
          </p:cNvPr>
          <p:cNvPicPr>
            <a:picLocks noChangeAspect="1"/>
          </p:cNvPicPr>
          <p:nvPr/>
        </p:nvPicPr>
        <p:blipFill>
          <a:blip r:embed="rId2"/>
          <a:stretch>
            <a:fillRect/>
          </a:stretch>
        </p:blipFill>
        <p:spPr>
          <a:xfrm>
            <a:off x="1014930" y="184006"/>
            <a:ext cx="10162140" cy="6489988"/>
          </a:xfrm>
          <a:prstGeom prst="rect">
            <a:avLst/>
          </a:prstGeom>
        </p:spPr>
      </p:pic>
    </p:spTree>
    <p:extLst>
      <p:ext uri="{BB962C8B-B14F-4D97-AF65-F5344CB8AC3E}">
        <p14:creationId xmlns:p14="http://schemas.microsoft.com/office/powerpoint/2010/main" val="29546727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US" sz="4400" dirty="0">
                <a:solidFill>
                  <a:srgbClr val="FF0000"/>
                </a:solidFill>
              </a:rPr>
              <a:t>Ingredients</a:t>
            </a:r>
            <a:r>
              <a:rPr lang="en-US" sz="4400" dirty="0">
                <a:solidFill>
                  <a:schemeClr val="tx1"/>
                </a:solidFill>
              </a:rPr>
              <a:t> of Symmetric Cryptography</a:t>
            </a:r>
            <a:endParaRPr lang="en-MY" sz="4400" dirty="0">
              <a:solidFill>
                <a:schemeClr val="tx1"/>
              </a:solidFill>
            </a:endParaRP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278077"/>
          </a:xfrm>
        </p:spPr>
        <p:txBody>
          <a:bodyPr>
            <a:normAutofit/>
          </a:bodyPr>
          <a:lstStyle/>
          <a:p>
            <a:pPr marL="457200" indent="-457200" algn="just">
              <a:lnSpc>
                <a:spcPct val="100000"/>
              </a:lnSpc>
              <a:buFont typeface="+mj-lt"/>
              <a:buAutoNum type="arabicPeriod"/>
            </a:pPr>
            <a:r>
              <a:rPr lang="en-MY" sz="2000" b="1" dirty="0">
                <a:solidFill>
                  <a:srgbClr val="FF0000"/>
                </a:solidFill>
              </a:rPr>
              <a:t>Plaintext</a:t>
            </a:r>
            <a:r>
              <a:rPr lang="en-MY" sz="2000" b="1" dirty="0"/>
              <a:t>: </a:t>
            </a:r>
            <a:r>
              <a:rPr lang="en-MY" sz="2000" dirty="0"/>
              <a:t>The original intelligible message or data. </a:t>
            </a:r>
          </a:p>
          <a:p>
            <a:pPr marL="457200" indent="-457200" algn="just">
              <a:lnSpc>
                <a:spcPct val="100000"/>
              </a:lnSpc>
              <a:buFont typeface="+mj-lt"/>
              <a:buAutoNum type="arabicPeriod"/>
            </a:pPr>
            <a:r>
              <a:rPr lang="en-US" sz="2000" b="1" dirty="0">
                <a:solidFill>
                  <a:srgbClr val="0000FF"/>
                </a:solidFill>
              </a:rPr>
              <a:t>Encryption algorithm</a:t>
            </a:r>
            <a:r>
              <a:rPr lang="en-US" sz="2000" dirty="0"/>
              <a:t>: It performs various transformations on the plaintext.</a:t>
            </a:r>
          </a:p>
          <a:p>
            <a:pPr marL="457200" indent="-457200" algn="just">
              <a:lnSpc>
                <a:spcPct val="100000"/>
              </a:lnSpc>
              <a:buFont typeface="+mj-lt"/>
              <a:buAutoNum type="arabicPeriod"/>
            </a:pPr>
            <a:r>
              <a:rPr lang="en-US" sz="2000" b="1" dirty="0"/>
              <a:t>Secret key</a:t>
            </a:r>
            <a:r>
              <a:rPr lang="en-US" sz="2000" dirty="0"/>
              <a:t>: It controls the exact substitutions or transformations used in encryption algorithm. The key is a value </a:t>
            </a:r>
            <a:r>
              <a:rPr lang="en-US" sz="2000" b="1" dirty="0"/>
              <a:t>independent</a:t>
            </a:r>
            <a:r>
              <a:rPr lang="en-US" sz="2000" dirty="0"/>
              <a:t> of the plaintext and of the algorithm. The algorithm produces different output depending on the specific key used at the time (</a:t>
            </a:r>
            <a:r>
              <a:rPr lang="en-US" sz="2000" b="1" dirty="0"/>
              <a:t>random / probabilistic</a:t>
            </a:r>
            <a:r>
              <a:rPr lang="en-US" sz="2000" dirty="0"/>
              <a:t>).</a:t>
            </a:r>
          </a:p>
          <a:p>
            <a:pPr marL="457200" indent="-457200" algn="just">
              <a:lnSpc>
                <a:spcPct val="100000"/>
              </a:lnSpc>
              <a:buFont typeface="+mj-lt"/>
              <a:buAutoNum type="arabicPeriod"/>
            </a:pPr>
            <a:r>
              <a:rPr lang="en-US" sz="2000" b="1" dirty="0">
                <a:solidFill>
                  <a:srgbClr val="FF0000"/>
                </a:solidFill>
              </a:rPr>
              <a:t>Ciphertext</a:t>
            </a:r>
            <a:r>
              <a:rPr lang="en-US" sz="2000" dirty="0"/>
              <a:t>: An output that depends on the input plaintext and the secret key.</a:t>
            </a:r>
          </a:p>
          <a:p>
            <a:pPr marL="457200" indent="-457200" algn="just">
              <a:lnSpc>
                <a:spcPct val="100000"/>
              </a:lnSpc>
              <a:buFont typeface="+mj-lt"/>
              <a:buAutoNum type="arabicPeriod"/>
            </a:pPr>
            <a:r>
              <a:rPr lang="en-US" sz="2000" b="1" dirty="0">
                <a:solidFill>
                  <a:srgbClr val="0000FF"/>
                </a:solidFill>
              </a:rPr>
              <a:t>Decryption algorithm</a:t>
            </a:r>
            <a:r>
              <a:rPr lang="en-US" sz="2000" dirty="0"/>
              <a:t>: It is an inverse of encryption algorithm that </a:t>
            </a:r>
            <a:r>
              <a:rPr lang="en-AU" sz="2000" dirty="0"/>
              <a:t>takes the ciphertext and secret key and returns the original plaintext.</a:t>
            </a:r>
            <a:endParaRPr lang="en-US" sz="2000" dirty="0"/>
          </a:p>
          <a:p>
            <a:pPr marL="457200" indent="-457200" algn="just">
              <a:lnSpc>
                <a:spcPct val="100000"/>
              </a:lnSpc>
              <a:buFont typeface="+mj-lt"/>
              <a:buAutoNum type="arabicPeriod"/>
            </a:pPr>
            <a:endParaRPr lang="en-US" sz="2000" dirty="0"/>
          </a:p>
          <a:p>
            <a:pPr marL="457200" indent="-457200" algn="just">
              <a:lnSpc>
                <a:spcPct val="100000"/>
              </a:lnSpc>
              <a:buFont typeface="+mj-lt"/>
              <a:buAutoNum type="arabicPeriod"/>
            </a:pPr>
            <a:endParaRPr lang="en-US" sz="2000" dirty="0"/>
          </a:p>
          <a:p>
            <a:pPr marL="457200" indent="-457200" algn="just">
              <a:lnSpc>
                <a:spcPct val="100000"/>
              </a:lnSpc>
              <a:buFont typeface="+mj-lt"/>
              <a:buAutoNum type="arabicPeriod"/>
            </a:pPr>
            <a:endParaRPr lang="en-US" sz="2000" dirty="0"/>
          </a:p>
          <a:p>
            <a:pPr marL="457200" indent="-457200" algn="just">
              <a:lnSpc>
                <a:spcPct val="100000"/>
              </a:lnSpc>
              <a:buFont typeface="+mj-lt"/>
              <a:buAutoNum type="arabicPeriod"/>
            </a:pPr>
            <a:endParaRPr lang="en-MY" sz="2000" dirty="0"/>
          </a:p>
        </p:txBody>
      </p:sp>
    </p:spTree>
    <p:extLst>
      <p:ext uri="{BB962C8B-B14F-4D97-AF65-F5344CB8AC3E}">
        <p14:creationId xmlns:p14="http://schemas.microsoft.com/office/powerpoint/2010/main" val="9402692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2DDBF4-3357-61C4-2076-1E2C93A1A895}"/>
              </a:ext>
            </a:extLst>
          </p:cNvPr>
          <p:cNvPicPr>
            <a:picLocks noChangeAspect="1"/>
          </p:cNvPicPr>
          <p:nvPr/>
        </p:nvPicPr>
        <p:blipFill>
          <a:blip r:embed="rId2"/>
          <a:stretch>
            <a:fillRect/>
          </a:stretch>
        </p:blipFill>
        <p:spPr>
          <a:xfrm>
            <a:off x="664074" y="2032420"/>
            <a:ext cx="10863851" cy="4608258"/>
          </a:xfrm>
          <a:prstGeom prst="rect">
            <a:avLst/>
          </a:prstGeom>
        </p:spPr>
      </p:pic>
      <p:sp>
        <p:nvSpPr>
          <p:cNvPr id="2" name="Title 1">
            <a:extLst>
              <a:ext uri="{FF2B5EF4-FFF2-40B4-BE49-F238E27FC236}">
                <a16:creationId xmlns:a16="http://schemas.microsoft.com/office/drawing/2014/main" id="{0EDAD76D-E8B5-17FB-8E2B-FF10C60B171B}"/>
              </a:ext>
            </a:extLst>
          </p:cNvPr>
          <p:cNvSpPr>
            <a:spLocks noGrp="1"/>
          </p:cNvSpPr>
          <p:nvPr>
            <p:ph type="title"/>
          </p:nvPr>
        </p:nvSpPr>
        <p:spPr>
          <a:xfrm>
            <a:off x="514906" y="365125"/>
            <a:ext cx="11105964" cy="1577975"/>
          </a:xfrm>
        </p:spPr>
        <p:txBody>
          <a:bodyPr>
            <a:normAutofit/>
          </a:bodyPr>
          <a:lstStyle/>
          <a:p>
            <a:r>
              <a:rPr lang="en-US" sz="4400" dirty="0">
                <a:solidFill>
                  <a:srgbClr val="FF0000"/>
                </a:solidFill>
              </a:rPr>
              <a:t>Model</a:t>
            </a:r>
            <a:r>
              <a:rPr lang="en-US" sz="4400" dirty="0">
                <a:solidFill>
                  <a:schemeClr val="tx1"/>
                </a:solidFill>
              </a:rPr>
              <a:t> of Symmetric Cryptography</a:t>
            </a:r>
            <a:endParaRPr lang="en-MY" sz="4400" dirty="0">
              <a:solidFill>
                <a:schemeClr val="tx1"/>
              </a:solidFill>
            </a:endParaRPr>
          </a:p>
        </p:txBody>
      </p:sp>
    </p:spTree>
    <p:extLst>
      <p:ext uri="{BB962C8B-B14F-4D97-AF65-F5344CB8AC3E}">
        <p14:creationId xmlns:p14="http://schemas.microsoft.com/office/powerpoint/2010/main" val="39625967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US" sz="4400" dirty="0">
                <a:solidFill>
                  <a:srgbClr val="FF0000"/>
                </a:solidFill>
              </a:rPr>
              <a:t>Requirements</a:t>
            </a:r>
            <a:r>
              <a:rPr lang="en-US" sz="4400" dirty="0">
                <a:solidFill>
                  <a:schemeClr val="tx1"/>
                </a:solidFill>
              </a:rPr>
              <a:t> of Symmetric Cryptography</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algn="just">
              <a:lnSpc>
                <a:spcPct val="100000"/>
              </a:lnSpc>
            </a:pPr>
            <a:r>
              <a:rPr lang="en-MY" sz="2000" dirty="0"/>
              <a:t>For a secure use of symmetric cryptography:</a:t>
            </a:r>
          </a:p>
          <a:p>
            <a:pPr marL="457200" indent="-457200" algn="just">
              <a:lnSpc>
                <a:spcPct val="100000"/>
              </a:lnSpc>
              <a:buFont typeface="+mj-lt"/>
              <a:buAutoNum type="arabicPeriod"/>
            </a:pPr>
            <a:r>
              <a:rPr lang="en-US" sz="2000" b="1" dirty="0"/>
              <a:t>A </a:t>
            </a:r>
            <a:r>
              <a:rPr lang="en-US" sz="2000" b="1" dirty="0">
                <a:solidFill>
                  <a:srgbClr val="0000FF"/>
                </a:solidFill>
              </a:rPr>
              <a:t>strong encryption algorithm</a:t>
            </a:r>
            <a:r>
              <a:rPr lang="en-US" sz="2000" b="1" dirty="0"/>
              <a:t> is needed</a:t>
            </a:r>
            <a:r>
              <a:rPr lang="en-US" sz="2000" dirty="0"/>
              <a:t>.</a:t>
            </a:r>
          </a:p>
          <a:p>
            <a:pPr lvl="1" algn="just">
              <a:lnSpc>
                <a:spcPct val="100000"/>
              </a:lnSpc>
              <a:buFont typeface="Wingdings" panose="05000000000000000000" pitchFamily="2" charset="2"/>
              <a:buChar char="Ø"/>
            </a:pPr>
            <a:r>
              <a:rPr lang="en-US" sz="2000" dirty="0"/>
              <a:t>The opponent should be </a:t>
            </a:r>
            <a:r>
              <a:rPr lang="en-US" sz="2000" b="1" dirty="0">
                <a:solidFill>
                  <a:srgbClr val="FF0000"/>
                </a:solidFill>
              </a:rPr>
              <a:t>unable to decrypt</a:t>
            </a:r>
            <a:r>
              <a:rPr lang="en-US" sz="2000" dirty="0"/>
              <a:t> ciphertext or </a:t>
            </a:r>
            <a:r>
              <a:rPr lang="en-US" sz="2000" b="1" dirty="0">
                <a:solidFill>
                  <a:srgbClr val="FF0000"/>
                </a:solidFill>
              </a:rPr>
              <a:t>to discover the key</a:t>
            </a:r>
            <a:r>
              <a:rPr lang="en-US" sz="2000" dirty="0">
                <a:solidFill>
                  <a:srgbClr val="FF0000"/>
                </a:solidFill>
              </a:rPr>
              <a:t> </a:t>
            </a:r>
            <a:r>
              <a:rPr lang="en-US" sz="2000" dirty="0"/>
              <a:t>even if he or she is in possession of several ciphertexts together with the plain text that produced each ciphertext.</a:t>
            </a:r>
          </a:p>
          <a:p>
            <a:pPr marL="457200" indent="-457200" algn="just">
              <a:lnSpc>
                <a:spcPct val="100000"/>
              </a:lnSpc>
              <a:buFont typeface="+mj-lt"/>
              <a:buAutoNum type="arabicPeriod"/>
            </a:pPr>
            <a:r>
              <a:rPr lang="en-US" sz="2000" b="1" dirty="0"/>
              <a:t>The </a:t>
            </a:r>
            <a:r>
              <a:rPr lang="en-US" sz="2000" b="1" dirty="0">
                <a:solidFill>
                  <a:srgbClr val="0000FF"/>
                </a:solidFill>
              </a:rPr>
              <a:t>secret key </a:t>
            </a:r>
            <a:r>
              <a:rPr lang="en-US" sz="2000" b="1" dirty="0"/>
              <a:t>should be </a:t>
            </a:r>
            <a:r>
              <a:rPr lang="en-US" sz="2000" b="1" dirty="0">
                <a:solidFill>
                  <a:srgbClr val="0000FF"/>
                </a:solidFill>
              </a:rPr>
              <a:t>known only to sender and receiver</a:t>
            </a:r>
            <a:r>
              <a:rPr lang="en-US" sz="2000" dirty="0"/>
              <a:t>.</a:t>
            </a:r>
          </a:p>
          <a:p>
            <a:pPr lvl="1" algn="just">
              <a:lnSpc>
                <a:spcPct val="100000"/>
              </a:lnSpc>
              <a:buFont typeface="Wingdings" panose="05000000000000000000" pitchFamily="2" charset="2"/>
              <a:buChar char="Ø"/>
            </a:pPr>
            <a:r>
              <a:rPr lang="en-US" sz="2000" dirty="0"/>
              <a:t>A </a:t>
            </a:r>
            <a:r>
              <a:rPr lang="en-US" sz="2000" b="1" dirty="0">
                <a:solidFill>
                  <a:srgbClr val="FF0000"/>
                </a:solidFill>
              </a:rPr>
              <a:t>secure secret-key distribution</a:t>
            </a:r>
            <a:r>
              <a:rPr lang="en-US" sz="2000" dirty="0"/>
              <a:t> is required to transfer the keys to the intended receiver.</a:t>
            </a:r>
          </a:p>
          <a:p>
            <a:pPr lvl="1" algn="just">
              <a:lnSpc>
                <a:spcPct val="100000"/>
              </a:lnSpc>
              <a:buFont typeface="Wingdings" panose="05000000000000000000" pitchFamily="2" charset="2"/>
              <a:buChar char="Ø"/>
            </a:pPr>
            <a:r>
              <a:rPr lang="en-US" sz="2000" dirty="0"/>
              <a:t>The secret key must be </a:t>
            </a:r>
            <a:r>
              <a:rPr lang="en-US" sz="2000" b="1" dirty="0">
                <a:solidFill>
                  <a:srgbClr val="FF0000"/>
                </a:solidFill>
              </a:rPr>
              <a:t>kept and protected securely</a:t>
            </a:r>
            <a:r>
              <a:rPr lang="en-US" sz="2000" dirty="0"/>
              <a:t> from any malicious party.</a:t>
            </a:r>
          </a:p>
        </p:txBody>
      </p:sp>
    </p:spTree>
    <p:extLst>
      <p:ext uri="{BB962C8B-B14F-4D97-AF65-F5344CB8AC3E}">
        <p14:creationId xmlns:p14="http://schemas.microsoft.com/office/powerpoint/2010/main" val="17295757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6106696"/>
          </a:xfrm>
        </p:spPr>
        <p:txBody>
          <a:bodyPr>
            <a:normAutofit/>
          </a:bodyPr>
          <a:lstStyle/>
          <a:p>
            <a:pPr algn="ctr"/>
            <a:r>
              <a:rPr lang="en-MY" sz="6000" b="1" dirty="0">
                <a:solidFill>
                  <a:srgbClr val="0000FF"/>
                </a:solidFill>
              </a:rPr>
              <a:t>ASYMMETRIC</a:t>
            </a:r>
            <a:br>
              <a:rPr lang="en-MY" sz="6000" b="1" dirty="0"/>
            </a:br>
            <a:r>
              <a:rPr lang="en-MY" sz="6000" b="1" dirty="0">
                <a:solidFill>
                  <a:srgbClr val="C00000"/>
                </a:solidFill>
              </a:rPr>
              <a:t>CRYPTOGRAPHY</a:t>
            </a:r>
            <a:br>
              <a:rPr lang="en-MY" sz="6000" b="1" dirty="0"/>
            </a:br>
            <a:r>
              <a:rPr lang="en-MY" sz="4000" b="1" dirty="0"/>
              <a:t> </a:t>
            </a:r>
            <a:br>
              <a:rPr lang="en-MY" sz="6000" b="1" dirty="0"/>
            </a:br>
            <a:br>
              <a:rPr lang="en-MY" sz="6000" dirty="0"/>
            </a:br>
            <a:endParaRPr lang="en-MY" sz="6000" dirty="0"/>
          </a:p>
        </p:txBody>
      </p:sp>
    </p:spTree>
    <p:extLst>
      <p:ext uri="{BB962C8B-B14F-4D97-AF65-F5344CB8AC3E}">
        <p14:creationId xmlns:p14="http://schemas.microsoft.com/office/powerpoint/2010/main" val="20471229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rgbClr val="FF0000"/>
                </a:solidFill>
              </a:rPr>
              <a:t>Asymmetric</a:t>
            </a:r>
            <a:r>
              <a:rPr lang="en-MY" sz="4400" dirty="0"/>
              <a:t> Cryptography</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Autofit/>
          </a:bodyPr>
          <a:lstStyle/>
          <a:p>
            <a:pPr algn="just" eaLnBrk="1" hangingPunct="1">
              <a:lnSpc>
                <a:spcPct val="100000"/>
              </a:lnSpc>
              <a:defRPr/>
            </a:pPr>
            <a:r>
              <a:rPr lang="en-US" sz="2000" dirty="0"/>
              <a:t>Also known as </a:t>
            </a:r>
            <a:r>
              <a:rPr lang="en-US" sz="2000" b="1" dirty="0">
                <a:solidFill>
                  <a:srgbClr val="0000FF"/>
                </a:solidFill>
              </a:rPr>
              <a:t>Public-key Cryptography</a:t>
            </a:r>
            <a:r>
              <a:rPr lang="en-US" sz="2000" dirty="0"/>
              <a:t>.</a:t>
            </a:r>
          </a:p>
          <a:p>
            <a:pPr lvl="1" algn="just">
              <a:lnSpc>
                <a:spcPct val="100000"/>
              </a:lnSpc>
              <a:buFont typeface="Wingdings" panose="05000000000000000000" pitchFamily="2" charset="2"/>
              <a:buChar char="Ø"/>
              <a:defRPr/>
            </a:pPr>
            <a:r>
              <a:rPr lang="en-US" sz="2000" dirty="0"/>
              <a:t>Two keys are used: one </a:t>
            </a:r>
            <a:r>
              <a:rPr lang="en-US" sz="2000" b="1" dirty="0">
                <a:solidFill>
                  <a:srgbClr val="FF0000"/>
                </a:solidFill>
              </a:rPr>
              <a:t>public key </a:t>
            </a:r>
            <a:r>
              <a:rPr lang="en-US" sz="2000" dirty="0"/>
              <a:t>and one </a:t>
            </a:r>
            <a:r>
              <a:rPr lang="en-US" sz="2000" b="1" dirty="0">
                <a:solidFill>
                  <a:srgbClr val="FF0000"/>
                </a:solidFill>
              </a:rPr>
              <a:t>private key</a:t>
            </a:r>
            <a:r>
              <a:rPr lang="en-US" sz="2000" dirty="0"/>
              <a:t>.</a:t>
            </a:r>
            <a:endParaRPr lang="en-US" sz="2000" b="1" dirty="0"/>
          </a:p>
          <a:p>
            <a:pPr lvl="1" algn="just">
              <a:lnSpc>
                <a:spcPct val="100000"/>
              </a:lnSpc>
              <a:buFont typeface="Wingdings" panose="05000000000000000000" pitchFamily="2" charset="2"/>
              <a:buChar char="Ø"/>
              <a:defRPr/>
            </a:pPr>
            <a:r>
              <a:rPr lang="en-AU" sz="2000" dirty="0"/>
              <a:t>To send a secure message, sender first encrypts the message using receiver’s public key.</a:t>
            </a:r>
          </a:p>
          <a:p>
            <a:pPr lvl="1" algn="just">
              <a:lnSpc>
                <a:spcPct val="100000"/>
              </a:lnSpc>
              <a:buFont typeface="Wingdings" panose="05000000000000000000" pitchFamily="2" charset="2"/>
              <a:buChar char="Ø"/>
              <a:defRPr/>
            </a:pPr>
            <a:r>
              <a:rPr lang="en-AU" sz="2000" dirty="0"/>
              <a:t>To decrypt the message, receiver uses his/her own private key. </a:t>
            </a:r>
          </a:p>
          <a:p>
            <a:pPr marL="342900" indent="-342900" algn="just">
              <a:lnSpc>
                <a:spcPct val="100000"/>
              </a:lnSpc>
              <a:defRPr/>
            </a:pPr>
            <a:r>
              <a:rPr lang="en-AU" sz="2000" dirty="0"/>
              <a:t>It is </a:t>
            </a:r>
            <a:r>
              <a:rPr lang="en-AU" sz="2000" b="1" dirty="0">
                <a:solidFill>
                  <a:srgbClr val="0000FF"/>
                </a:solidFill>
              </a:rPr>
              <a:t>asymmetric</a:t>
            </a:r>
            <a:r>
              <a:rPr lang="en-AU" sz="2000" dirty="0"/>
              <a:t> since anyone knowing the public key </a:t>
            </a:r>
            <a:r>
              <a:rPr lang="en-AU" sz="2000" b="1" dirty="0">
                <a:solidFill>
                  <a:srgbClr val="FF0000"/>
                </a:solidFill>
              </a:rPr>
              <a:t>can encrypt</a:t>
            </a:r>
            <a:r>
              <a:rPr lang="en-AU" sz="2000" dirty="0"/>
              <a:t> messages or verify signatures, but </a:t>
            </a:r>
            <a:r>
              <a:rPr lang="en-AU" sz="2000" b="1" dirty="0">
                <a:solidFill>
                  <a:srgbClr val="FF0000"/>
                </a:solidFill>
              </a:rPr>
              <a:t>cannot decrypt</a:t>
            </a:r>
            <a:r>
              <a:rPr lang="en-AU" sz="2000" dirty="0"/>
              <a:t> messages or create signatures</a:t>
            </a:r>
          </a:p>
          <a:p>
            <a:pPr algn="just">
              <a:lnSpc>
                <a:spcPct val="100000"/>
              </a:lnSpc>
              <a:defRPr/>
            </a:pPr>
            <a:r>
              <a:rPr lang="en-AU" sz="2000" dirty="0"/>
              <a:t>It uses clever application of </a:t>
            </a:r>
            <a:r>
              <a:rPr lang="en-AU" sz="2000" b="1" dirty="0">
                <a:solidFill>
                  <a:srgbClr val="0000FF"/>
                </a:solidFill>
              </a:rPr>
              <a:t>number theory (mathematics) </a:t>
            </a:r>
            <a:r>
              <a:rPr lang="en-AU" sz="2000" dirty="0"/>
              <a:t>concepts.</a:t>
            </a:r>
          </a:p>
          <a:p>
            <a:pPr algn="just">
              <a:lnSpc>
                <a:spcPct val="100000"/>
              </a:lnSpc>
              <a:defRPr/>
            </a:pPr>
            <a:r>
              <a:rPr lang="en-US" sz="2000" dirty="0"/>
              <a:t>It </a:t>
            </a:r>
            <a:r>
              <a:rPr lang="en-US" sz="2000" b="1" dirty="0">
                <a:solidFill>
                  <a:srgbClr val="FF0000"/>
                </a:solidFill>
              </a:rPr>
              <a:t>complements</a:t>
            </a:r>
            <a:r>
              <a:rPr lang="en-US" sz="2000" dirty="0"/>
              <a:t> rather than replaces private key cryptosystem.</a:t>
            </a:r>
          </a:p>
        </p:txBody>
      </p:sp>
    </p:spTree>
    <p:extLst>
      <p:ext uri="{BB962C8B-B14F-4D97-AF65-F5344CB8AC3E}">
        <p14:creationId xmlns:p14="http://schemas.microsoft.com/office/powerpoint/2010/main" val="6203866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C256FB-8133-A65E-9092-74565575D57A}"/>
              </a:ext>
            </a:extLst>
          </p:cNvPr>
          <p:cNvPicPr>
            <a:picLocks noChangeAspect="1"/>
          </p:cNvPicPr>
          <p:nvPr/>
        </p:nvPicPr>
        <p:blipFill>
          <a:blip r:embed="rId2"/>
          <a:stretch>
            <a:fillRect/>
          </a:stretch>
        </p:blipFill>
        <p:spPr>
          <a:xfrm>
            <a:off x="988234" y="266367"/>
            <a:ext cx="10215531" cy="6325265"/>
          </a:xfrm>
          <a:prstGeom prst="rect">
            <a:avLst/>
          </a:prstGeom>
        </p:spPr>
      </p:pic>
    </p:spTree>
    <p:extLst>
      <p:ext uri="{BB962C8B-B14F-4D97-AF65-F5344CB8AC3E}">
        <p14:creationId xmlns:p14="http://schemas.microsoft.com/office/powerpoint/2010/main" val="17600049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rgbClr val="FF0000"/>
                </a:solidFill>
              </a:rPr>
              <a:t>Asymmetric</a:t>
            </a:r>
            <a:r>
              <a:rPr lang="en-MY" sz="4400" dirty="0"/>
              <a:t> Cryptography - </a:t>
            </a:r>
            <a:r>
              <a:rPr lang="en-MY" sz="4400" dirty="0">
                <a:solidFill>
                  <a:srgbClr val="0000FF"/>
                </a:solidFill>
              </a:rPr>
              <a:t>Analogy</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6" y="2318032"/>
            <a:ext cx="11105963" cy="4402364"/>
          </a:xfrm>
        </p:spPr>
        <p:txBody>
          <a:bodyPr>
            <a:normAutofit/>
          </a:bodyPr>
          <a:lstStyle/>
          <a:p>
            <a:pPr algn="just"/>
            <a:r>
              <a:rPr lang="en-AU" sz="2000" dirty="0"/>
              <a:t>Consider the following </a:t>
            </a:r>
            <a:r>
              <a:rPr lang="en-AU" sz="2000" b="1" dirty="0">
                <a:solidFill>
                  <a:srgbClr val="0000FF"/>
                </a:solidFill>
              </a:rPr>
              <a:t>analogies</a:t>
            </a:r>
            <a:r>
              <a:rPr lang="en-AU" sz="2000" dirty="0"/>
              <a:t> using padlocked boxes:</a:t>
            </a:r>
          </a:p>
          <a:p>
            <a:pPr marL="457200" indent="-457200" algn="just">
              <a:buFont typeface="+mj-lt"/>
              <a:buAutoNum type="arabicPeriod"/>
            </a:pPr>
            <a:r>
              <a:rPr lang="en-AU" sz="2000" dirty="0"/>
              <a:t>Private key cryptography involve the sender putting a message in a box and locking it, sending that to the receiver, and somehow securely also sending them the key to unlock the box.</a:t>
            </a:r>
          </a:p>
          <a:p>
            <a:pPr marL="457200" indent="-457200" algn="just">
              <a:buFont typeface="+mj-lt"/>
              <a:buAutoNum type="arabicPeriod"/>
            </a:pPr>
            <a:r>
              <a:rPr lang="en-AU" sz="2000" dirty="0"/>
              <a:t>The radical advance in public key cryptography change the environment:</a:t>
            </a:r>
          </a:p>
          <a:p>
            <a:pPr lvl="1" algn="just">
              <a:buFont typeface="Wingdings" panose="05000000000000000000" pitchFamily="2" charset="2"/>
              <a:buChar char="Ø"/>
            </a:pPr>
            <a:r>
              <a:rPr lang="en-AU" sz="1800" dirty="0"/>
              <a:t>The receiver sends an </a:t>
            </a:r>
            <a:r>
              <a:rPr lang="en-AU" sz="1800" b="1" dirty="0"/>
              <a:t>unlocked box</a:t>
            </a:r>
            <a:r>
              <a:rPr lang="en-AU" sz="1800" dirty="0"/>
              <a:t> (his </a:t>
            </a:r>
            <a:r>
              <a:rPr lang="en-AU" sz="1800" b="1" dirty="0">
                <a:solidFill>
                  <a:srgbClr val="FF0000"/>
                </a:solidFill>
              </a:rPr>
              <a:t>public key</a:t>
            </a:r>
            <a:r>
              <a:rPr lang="en-AU" sz="1800" dirty="0"/>
              <a:t>) to the sender, who puts the message in the box and locks it (easy and having locked, it is impossible to take out the message anymore), and sends the locked box to the receiver who can unlock it (also easy) with his </a:t>
            </a:r>
            <a:r>
              <a:rPr lang="en-AU" sz="1800" b="1" dirty="0">
                <a:solidFill>
                  <a:srgbClr val="FF0000"/>
                </a:solidFill>
              </a:rPr>
              <a:t>private</a:t>
            </a:r>
            <a:r>
              <a:rPr lang="en-AU" sz="1800" dirty="0"/>
              <a:t> </a:t>
            </a:r>
            <a:r>
              <a:rPr lang="en-AU" sz="1800" b="1" dirty="0">
                <a:solidFill>
                  <a:srgbClr val="FF0000"/>
                </a:solidFill>
              </a:rPr>
              <a:t>key</a:t>
            </a:r>
            <a:r>
              <a:rPr lang="en-AU" sz="1800" dirty="0"/>
              <a:t>.</a:t>
            </a:r>
          </a:p>
          <a:p>
            <a:pPr lvl="1" algn="just">
              <a:buFont typeface="Wingdings" panose="05000000000000000000" pitchFamily="2" charset="2"/>
              <a:buChar char="Ø"/>
            </a:pPr>
            <a:r>
              <a:rPr lang="en-AU" sz="1800" dirty="0"/>
              <a:t>An attacker would have to identify the private key to unlock the box (hard). </a:t>
            </a:r>
          </a:p>
          <a:p>
            <a:pPr lvl="1" algn="just">
              <a:buFont typeface="Wingdings" panose="05000000000000000000" pitchFamily="2" charset="2"/>
              <a:buChar char="Ø"/>
            </a:pPr>
            <a:endParaRPr lang="en-AU" sz="1600" dirty="0"/>
          </a:p>
        </p:txBody>
      </p:sp>
    </p:spTree>
    <p:extLst>
      <p:ext uri="{BB962C8B-B14F-4D97-AF65-F5344CB8AC3E}">
        <p14:creationId xmlns:p14="http://schemas.microsoft.com/office/powerpoint/2010/main" val="10953350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US" sz="4400" dirty="0">
                <a:solidFill>
                  <a:srgbClr val="FF0000"/>
                </a:solidFill>
              </a:rPr>
              <a:t>Ingredients</a:t>
            </a:r>
            <a:r>
              <a:rPr lang="en-US" sz="4400" dirty="0">
                <a:solidFill>
                  <a:schemeClr val="tx1"/>
                </a:solidFill>
              </a:rPr>
              <a:t> of Asymmetric Cryptography</a:t>
            </a:r>
            <a:endParaRPr lang="en-MY" sz="4400" dirty="0"/>
          </a:p>
        </p:txBody>
      </p:sp>
      <p:sp>
        <p:nvSpPr>
          <p:cNvPr id="4" name="Content Placeholder 2">
            <a:extLst>
              <a:ext uri="{FF2B5EF4-FFF2-40B4-BE49-F238E27FC236}">
                <a16:creationId xmlns:a16="http://schemas.microsoft.com/office/drawing/2014/main" id="{8B92ACB8-9F84-E3DE-37E9-C19225831855}"/>
              </a:ext>
            </a:extLst>
          </p:cNvPr>
          <p:cNvSpPr>
            <a:spLocks noGrp="1"/>
          </p:cNvSpPr>
          <p:nvPr>
            <p:ph idx="1"/>
          </p:nvPr>
        </p:nvSpPr>
        <p:spPr>
          <a:xfrm>
            <a:off x="514350" y="2317749"/>
            <a:ext cx="11106150" cy="4402647"/>
          </a:xfrm>
        </p:spPr>
        <p:txBody>
          <a:bodyPr>
            <a:normAutofit/>
          </a:bodyPr>
          <a:lstStyle/>
          <a:p>
            <a:pPr marL="457200" indent="-457200" algn="just">
              <a:lnSpc>
                <a:spcPct val="100000"/>
              </a:lnSpc>
              <a:buFont typeface="+mj-lt"/>
              <a:buAutoNum type="arabicPeriod"/>
            </a:pPr>
            <a:r>
              <a:rPr lang="en-MY" sz="2000" b="1" dirty="0">
                <a:solidFill>
                  <a:srgbClr val="FF0000"/>
                </a:solidFill>
              </a:rPr>
              <a:t>Plaintext</a:t>
            </a:r>
            <a:r>
              <a:rPr lang="en-MY" sz="2000" b="1" dirty="0"/>
              <a:t>: </a:t>
            </a:r>
            <a:r>
              <a:rPr lang="en-MY" sz="2000" dirty="0"/>
              <a:t>The original intelligible message or data. </a:t>
            </a:r>
          </a:p>
          <a:p>
            <a:pPr marL="457200" indent="-457200" algn="just">
              <a:lnSpc>
                <a:spcPct val="100000"/>
              </a:lnSpc>
              <a:buFont typeface="+mj-lt"/>
              <a:buAutoNum type="arabicPeriod"/>
            </a:pPr>
            <a:r>
              <a:rPr lang="en-US" sz="2000" b="1" dirty="0">
                <a:solidFill>
                  <a:srgbClr val="0000FF"/>
                </a:solidFill>
              </a:rPr>
              <a:t>Encryption algorithm</a:t>
            </a:r>
            <a:r>
              <a:rPr lang="en-US" sz="2000" dirty="0"/>
              <a:t>: It performs various transformations on the plaintext.</a:t>
            </a:r>
          </a:p>
          <a:p>
            <a:pPr marL="457200" indent="-457200" algn="just">
              <a:lnSpc>
                <a:spcPct val="100000"/>
              </a:lnSpc>
              <a:buFont typeface="+mj-lt"/>
              <a:buAutoNum type="arabicPeriod"/>
            </a:pPr>
            <a:r>
              <a:rPr lang="en-US" sz="2000" b="1" dirty="0">
                <a:solidFill>
                  <a:srgbClr val="FF0000"/>
                </a:solidFill>
              </a:rPr>
              <a:t>Public-Private keys</a:t>
            </a:r>
            <a:r>
              <a:rPr lang="en-US" sz="2000" dirty="0"/>
              <a:t>: A pair of keys that have been selected so that if one is used for encryption, the other is used for decryption. The exact transformations performed by the algorithm depend on the public or private key that is provided as input</a:t>
            </a:r>
          </a:p>
          <a:p>
            <a:pPr marL="457200" indent="-457200" algn="just">
              <a:lnSpc>
                <a:spcPct val="100000"/>
              </a:lnSpc>
              <a:buFont typeface="+mj-lt"/>
              <a:buAutoNum type="arabicPeriod"/>
            </a:pPr>
            <a:r>
              <a:rPr lang="en-US" sz="2000" b="1" dirty="0">
                <a:solidFill>
                  <a:srgbClr val="FF0000"/>
                </a:solidFill>
              </a:rPr>
              <a:t>Ciphertext</a:t>
            </a:r>
            <a:r>
              <a:rPr lang="en-US" sz="2000" dirty="0"/>
              <a:t>: An output that depends on the input plaintext and the secret key.</a:t>
            </a:r>
          </a:p>
          <a:p>
            <a:pPr marL="457200" indent="-457200" algn="just">
              <a:lnSpc>
                <a:spcPct val="100000"/>
              </a:lnSpc>
              <a:buFont typeface="+mj-lt"/>
              <a:buAutoNum type="arabicPeriod"/>
            </a:pPr>
            <a:r>
              <a:rPr lang="en-US" sz="2000" b="1" dirty="0">
                <a:solidFill>
                  <a:srgbClr val="0000FF"/>
                </a:solidFill>
              </a:rPr>
              <a:t>Decryption algorithm</a:t>
            </a:r>
            <a:r>
              <a:rPr lang="en-US" sz="2000" dirty="0"/>
              <a:t>: It is an inverse of encryption algorithm that </a:t>
            </a:r>
            <a:r>
              <a:rPr lang="en-AU" sz="2000" dirty="0"/>
              <a:t>takes the ciphertext and secret key and returns the original plaintext.</a:t>
            </a:r>
            <a:endParaRPr lang="en-US" sz="2000" dirty="0"/>
          </a:p>
          <a:p>
            <a:pPr marL="457200" indent="-457200" algn="just">
              <a:lnSpc>
                <a:spcPct val="100000"/>
              </a:lnSpc>
              <a:buFont typeface="+mj-lt"/>
              <a:buAutoNum type="arabicPeriod"/>
            </a:pPr>
            <a:endParaRPr lang="en-US" sz="2000" dirty="0"/>
          </a:p>
          <a:p>
            <a:pPr marL="457200" indent="-457200" algn="just">
              <a:lnSpc>
                <a:spcPct val="100000"/>
              </a:lnSpc>
              <a:buFont typeface="+mj-lt"/>
              <a:buAutoNum type="arabicPeriod"/>
            </a:pPr>
            <a:endParaRPr lang="en-US" sz="2000" dirty="0"/>
          </a:p>
          <a:p>
            <a:pPr marL="457200" indent="-457200" algn="just">
              <a:lnSpc>
                <a:spcPct val="100000"/>
              </a:lnSpc>
              <a:buFont typeface="+mj-lt"/>
              <a:buAutoNum type="arabicPeriod"/>
            </a:pPr>
            <a:endParaRPr lang="en-US" sz="2000" dirty="0"/>
          </a:p>
          <a:p>
            <a:pPr marL="457200" indent="-457200" algn="just">
              <a:lnSpc>
                <a:spcPct val="100000"/>
              </a:lnSpc>
              <a:buFont typeface="+mj-lt"/>
              <a:buAutoNum type="arabicPeriod"/>
            </a:pPr>
            <a:endParaRPr lang="en-MY" sz="2000" dirty="0"/>
          </a:p>
        </p:txBody>
      </p:sp>
    </p:spTree>
    <p:extLst>
      <p:ext uri="{BB962C8B-B14F-4D97-AF65-F5344CB8AC3E}">
        <p14:creationId xmlns:p14="http://schemas.microsoft.com/office/powerpoint/2010/main" val="27855898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94A269-EBE9-3B95-9BDE-8EDA3C1B1D95}"/>
              </a:ext>
            </a:extLst>
          </p:cNvPr>
          <p:cNvPicPr>
            <a:picLocks noChangeAspect="1"/>
          </p:cNvPicPr>
          <p:nvPr/>
        </p:nvPicPr>
        <p:blipFill>
          <a:blip r:embed="rId2"/>
          <a:stretch>
            <a:fillRect/>
          </a:stretch>
        </p:blipFill>
        <p:spPr>
          <a:xfrm>
            <a:off x="887328" y="224898"/>
            <a:ext cx="10417343" cy="6408203"/>
          </a:xfrm>
          <a:prstGeom prst="rect">
            <a:avLst/>
          </a:prstGeom>
        </p:spPr>
      </p:pic>
    </p:spTree>
    <p:extLst>
      <p:ext uri="{BB962C8B-B14F-4D97-AF65-F5344CB8AC3E}">
        <p14:creationId xmlns:p14="http://schemas.microsoft.com/office/powerpoint/2010/main" val="36574838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rgbClr val="FF0000"/>
                </a:solidFill>
              </a:rPr>
              <a:t>Asymmetric</a:t>
            </a:r>
            <a:r>
              <a:rPr lang="en-MY" sz="4400" dirty="0"/>
              <a:t> Cryptography – </a:t>
            </a:r>
            <a:r>
              <a:rPr lang="en-MY" sz="4400" dirty="0">
                <a:solidFill>
                  <a:srgbClr val="0000FF"/>
                </a:solidFill>
              </a:rPr>
              <a:t>Essential Steps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174843"/>
          </a:xfrm>
        </p:spPr>
        <p:txBody>
          <a:bodyPr>
            <a:normAutofit/>
          </a:bodyPr>
          <a:lstStyle/>
          <a:p>
            <a:pPr marL="342900" indent="-342900" algn="just">
              <a:lnSpc>
                <a:spcPct val="100000"/>
              </a:lnSpc>
              <a:buFont typeface="+mj-lt"/>
              <a:buAutoNum type="arabicPeriod"/>
            </a:pPr>
            <a:r>
              <a:rPr lang="en-US" sz="2000" b="0" i="0" u="none" strike="noStrike" baseline="0" dirty="0"/>
              <a:t>Each user </a:t>
            </a:r>
            <a:r>
              <a:rPr lang="en-US" sz="2000" b="1" i="0" u="none" strike="noStrike" baseline="0" dirty="0">
                <a:solidFill>
                  <a:srgbClr val="0000FF"/>
                </a:solidFill>
              </a:rPr>
              <a:t>generates a pair of keys </a:t>
            </a:r>
            <a:r>
              <a:rPr lang="en-US" sz="2000" b="0" i="0" u="none" strike="noStrike" baseline="0" dirty="0"/>
              <a:t>to be used for the encryption and decryption </a:t>
            </a:r>
            <a:r>
              <a:rPr lang="en-MY" sz="2000" b="0" i="0" u="none" strike="noStrike" baseline="0" dirty="0"/>
              <a:t>of messages.</a:t>
            </a:r>
          </a:p>
          <a:p>
            <a:pPr marL="342900" indent="-342900" algn="just">
              <a:lnSpc>
                <a:spcPct val="100000"/>
              </a:lnSpc>
              <a:buFont typeface="+mj-lt"/>
              <a:buAutoNum type="arabicPeriod"/>
            </a:pPr>
            <a:r>
              <a:rPr lang="en-US" sz="2000" b="0" i="0" u="none" strike="noStrike" baseline="0" dirty="0"/>
              <a:t>Each user </a:t>
            </a:r>
            <a:r>
              <a:rPr lang="en-US" sz="2000" b="1" i="0" u="none" strike="noStrike" baseline="0" dirty="0">
                <a:solidFill>
                  <a:srgbClr val="FF0000"/>
                </a:solidFill>
              </a:rPr>
              <a:t>places one of the two keys in a public register</a:t>
            </a:r>
            <a:r>
              <a:rPr lang="en-US" sz="2000" b="0" i="0" u="none" strike="noStrike" baseline="0" dirty="0"/>
              <a:t> or other accessible file. This is the </a:t>
            </a:r>
            <a:r>
              <a:rPr lang="en-US" sz="2000" b="1" i="0" u="none" strike="noStrike" baseline="0" dirty="0">
                <a:solidFill>
                  <a:srgbClr val="FF0000"/>
                </a:solidFill>
              </a:rPr>
              <a:t>public key</a:t>
            </a:r>
            <a:r>
              <a:rPr lang="en-US" sz="2000" b="0" i="0" u="none" strike="noStrike" baseline="0" dirty="0"/>
              <a:t>. The companion key is kept private. As the previous </a:t>
            </a:r>
            <a:r>
              <a:rPr lang="en-US" sz="2000" dirty="0"/>
              <a:t>f</a:t>
            </a:r>
            <a:r>
              <a:rPr lang="en-US" sz="2000" b="0" i="0" u="none" strike="noStrike" baseline="0" dirty="0"/>
              <a:t>igure suggests, each user maintains a collection of public keys obtained from others.</a:t>
            </a:r>
          </a:p>
          <a:p>
            <a:pPr marL="342900" indent="-342900" algn="just">
              <a:lnSpc>
                <a:spcPct val="100000"/>
              </a:lnSpc>
              <a:buFont typeface="+mj-lt"/>
              <a:buAutoNum type="arabicPeriod"/>
            </a:pPr>
            <a:r>
              <a:rPr lang="en-US" sz="2000" b="0" i="0" u="none" strike="noStrike" baseline="0" dirty="0"/>
              <a:t>If Bob wishes to send a confidential message to Alice, Bob </a:t>
            </a:r>
            <a:r>
              <a:rPr lang="en-US" sz="2000" b="1" i="0" u="none" strike="noStrike" baseline="0" dirty="0">
                <a:solidFill>
                  <a:srgbClr val="0000FF"/>
                </a:solidFill>
              </a:rPr>
              <a:t>encrypts</a:t>
            </a:r>
            <a:r>
              <a:rPr lang="en-US" sz="2000" b="0" i="0" u="none" strike="noStrike" baseline="0" dirty="0"/>
              <a:t> the message </a:t>
            </a:r>
            <a:r>
              <a:rPr lang="en-MY" sz="2000" b="0" i="0" u="none" strike="noStrike" baseline="0" dirty="0"/>
              <a:t>using </a:t>
            </a:r>
            <a:r>
              <a:rPr lang="en-MY" sz="2000" b="1" i="0" u="none" strike="noStrike" baseline="0" dirty="0">
                <a:solidFill>
                  <a:srgbClr val="0000FF"/>
                </a:solidFill>
              </a:rPr>
              <a:t>Alice’s public key</a:t>
            </a:r>
            <a:r>
              <a:rPr lang="en-MY" sz="2000" b="0" i="0" u="none" strike="noStrike" baseline="0" dirty="0"/>
              <a:t>.</a:t>
            </a:r>
          </a:p>
          <a:p>
            <a:pPr marL="342900" indent="-342900" algn="just">
              <a:lnSpc>
                <a:spcPct val="100000"/>
              </a:lnSpc>
              <a:buFont typeface="+mj-lt"/>
              <a:buAutoNum type="arabicPeriod"/>
            </a:pPr>
            <a:r>
              <a:rPr lang="en-US" sz="2000" b="0" i="0" u="none" strike="noStrike" baseline="0" dirty="0"/>
              <a:t>When Alice receives the message, she </a:t>
            </a:r>
            <a:r>
              <a:rPr lang="en-US" sz="2000" b="1" i="0" u="none" strike="noStrike" baseline="0" dirty="0">
                <a:solidFill>
                  <a:srgbClr val="FF0000"/>
                </a:solidFill>
              </a:rPr>
              <a:t>decrypts</a:t>
            </a:r>
            <a:r>
              <a:rPr lang="en-US" sz="2000" b="0" i="0" u="none" strike="noStrike" baseline="0" dirty="0"/>
              <a:t> it using </a:t>
            </a:r>
            <a:r>
              <a:rPr lang="en-US" sz="2000" b="1" i="0" u="none" strike="noStrike" baseline="0" dirty="0">
                <a:solidFill>
                  <a:srgbClr val="FF0000"/>
                </a:solidFill>
              </a:rPr>
              <a:t>her private key</a:t>
            </a:r>
            <a:r>
              <a:rPr lang="en-US" sz="2000" b="0" i="0" u="none" strike="noStrike" baseline="0" dirty="0"/>
              <a:t>. No other recipient can decrypt the message because only Alice knows Alice’s </a:t>
            </a:r>
            <a:r>
              <a:rPr lang="en-MY" sz="2000" b="0" i="0" u="none" strike="noStrike" baseline="0" dirty="0"/>
              <a:t>private key.</a:t>
            </a:r>
            <a:endParaRPr lang="en-MY" sz="2000" dirty="0"/>
          </a:p>
        </p:txBody>
      </p:sp>
    </p:spTree>
    <p:extLst>
      <p:ext uri="{BB962C8B-B14F-4D97-AF65-F5344CB8AC3E}">
        <p14:creationId xmlns:p14="http://schemas.microsoft.com/office/powerpoint/2010/main" val="31844252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rgbClr val="FF0000"/>
                </a:solidFill>
              </a:rPr>
              <a:t>Symmetric</a:t>
            </a:r>
            <a:r>
              <a:rPr lang="en-MY" sz="4400" dirty="0"/>
              <a:t> vs </a:t>
            </a:r>
            <a:r>
              <a:rPr lang="en-MY" sz="4400" dirty="0">
                <a:solidFill>
                  <a:srgbClr val="0000FF"/>
                </a:solidFill>
              </a:rPr>
              <a:t>Asymmetric</a:t>
            </a:r>
            <a:r>
              <a:rPr lang="en-MY" sz="4400" dirty="0"/>
              <a:t> Cryptography</a:t>
            </a:r>
          </a:p>
        </p:txBody>
      </p:sp>
      <p:pic>
        <p:nvPicPr>
          <p:cNvPr id="5" name="Picture 4">
            <a:extLst>
              <a:ext uri="{FF2B5EF4-FFF2-40B4-BE49-F238E27FC236}">
                <a16:creationId xmlns:a16="http://schemas.microsoft.com/office/drawing/2014/main" id="{D3B775E5-BD06-A957-4C73-F3F2E0D4BF7A}"/>
              </a:ext>
            </a:extLst>
          </p:cNvPr>
          <p:cNvPicPr>
            <a:picLocks noChangeAspect="1"/>
          </p:cNvPicPr>
          <p:nvPr/>
        </p:nvPicPr>
        <p:blipFill>
          <a:blip r:embed="rId2"/>
          <a:stretch>
            <a:fillRect/>
          </a:stretch>
        </p:blipFill>
        <p:spPr>
          <a:xfrm>
            <a:off x="1401921" y="2031877"/>
            <a:ext cx="9388157" cy="4651367"/>
          </a:xfrm>
          <a:prstGeom prst="rect">
            <a:avLst/>
          </a:prstGeom>
        </p:spPr>
      </p:pic>
    </p:spTree>
    <p:extLst>
      <p:ext uri="{BB962C8B-B14F-4D97-AF65-F5344CB8AC3E}">
        <p14:creationId xmlns:p14="http://schemas.microsoft.com/office/powerpoint/2010/main" val="7197953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C568B8-041F-1EDC-29D9-21580DFC02C6}"/>
              </a:ext>
            </a:extLst>
          </p:cNvPr>
          <p:cNvPicPr>
            <a:picLocks noChangeAspect="1"/>
          </p:cNvPicPr>
          <p:nvPr/>
        </p:nvPicPr>
        <p:blipFill>
          <a:blip r:embed="rId2"/>
          <a:stretch>
            <a:fillRect/>
          </a:stretch>
        </p:blipFill>
        <p:spPr>
          <a:xfrm>
            <a:off x="446696" y="121011"/>
            <a:ext cx="11298607" cy="6615977"/>
          </a:xfrm>
          <a:prstGeom prst="rect">
            <a:avLst/>
          </a:prstGeom>
        </p:spPr>
      </p:pic>
    </p:spTree>
    <p:extLst>
      <p:ext uri="{BB962C8B-B14F-4D97-AF65-F5344CB8AC3E}">
        <p14:creationId xmlns:p14="http://schemas.microsoft.com/office/powerpoint/2010/main" val="31632328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6106696"/>
          </a:xfrm>
        </p:spPr>
        <p:txBody>
          <a:bodyPr>
            <a:normAutofit/>
          </a:bodyPr>
          <a:lstStyle/>
          <a:p>
            <a:pPr algn="ctr"/>
            <a:r>
              <a:rPr lang="en-MY" sz="6000" b="1" dirty="0">
                <a:solidFill>
                  <a:srgbClr val="C00000"/>
                </a:solidFill>
              </a:rPr>
              <a:t>CRYPTANALYSIS</a:t>
            </a:r>
            <a:br>
              <a:rPr lang="en-MY" sz="6000" b="1" dirty="0">
                <a:solidFill>
                  <a:srgbClr val="C00000"/>
                </a:solidFill>
              </a:rPr>
            </a:br>
            <a:r>
              <a:rPr lang="en-MY" sz="4800" b="1" dirty="0">
                <a:solidFill>
                  <a:srgbClr val="C00000"/>
                </a:solidFill>
              </a:rPr>
              <a:t> </a:t>
            </a:r>
            <a:br>
              <a:rPr lang="en-MY" sz="4800" b="1" dirty="0">
                <a:solidFill>
                  <a:srgbClr val="C00000"/>
                </a:solidFill>
              </a:rPr>
            </a:br>
            <a:br>
              <a:rPr lang="en-MY" sz="2000" b="1" dirty="0">
                <a:solidFill>
                  <a:srgbClr val="C00000"/>
                </a:solidFill>
              </a:rPr>
            </a:br>
            <a:br>
              <a:rPr lang="en-MY" sz="2000" b="1" dirty="0">
                <a:solidFill>
                  <a:srgbClr val="C00000"/>
                </a:solidFill>
              </a:rPr>
            </a:br>
            <a:br>
              <a:rPr lang="en-MY" sz="2000" b="1" dirty="0">
                <a:solidFill>
                  <a:srgbClr val="C00000"/>
                </a:solidFill>
              </a:rPr>
            </a:br>
            <a:br>
              <a:rPr lang="en-MY" sz="2000" b="1" dirty="0">
                <a:solidFill>
                  <a:srgbClr val="C00000"/>
                </a:solidFill>
              </a:rPr>
            </a:br>
            <a:endParaRPr lang="en-MY" sz="6000" b="1" dirty="0">
              <a:solidFill>
                <a:srgbClr val="C00000"/>
              </a:solidFill>
            </a:endParaRPr>
          </a:p>
        </p:txBody>
      </p:sp>
    </p:spTree>
    <p:extLst>
      <p:ext uri="{BB962C8B-B14F-4D97-AF65-F5344CB8AC3E}">
        <p14:creationId xmlns:p14="http://schemas.microsoft.com/office/powerpoint/2010/main" val="1097816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US" sz="2000" dirty="0"/>
              <a:t> As opposed to cryptography, cryptanalysis is </a:t>
            </a:r>
            <a:r>
              <a:rPr lang="en-US" sz="2000" b="1" dirty="0">
                <a:solidFill>
                  <a:srgbClr val="FF0000"/>
                </a:solidFill>
              </a:rPr>
              <a:t>art and science of breaking the cryptography</a:t>
            </a:r>
            <a:r>
              <a:rPr lang="en-US" sz="2000" dirty="0"/>
              <a:t>.</a:t>
            </a:r>
          </a:p>
          <a:p>
            <a:pPr algn="just">
              <a:lnSpc>
                <a:spcPct val="100000"/>
              </a:lnSpc>
              <a:buFont typeface="Wingdings" panose="05000000000000000000" pitchFamily="2" charset="2"/>
              <a:buChar char="q"/>
            </a:pPr>
            <a:r>
              <a:rPr lang="en-MY" sz="2000" dirty="0"/>
              <a:t> In general, there are </a:t>
            </a:r>
            <a:r>
              <a:rPr lang="en-MY" sz="2000" b="1" dirty="0"/>
              <a:t>two approaches </a:t>
            </a:r>
            <a:r>
              <a:rPr lang="en-MY" sz="2000" dirty="0"/>
              <a:t>in attacking cryptography:</a:t>
            </a:r>
          </a:p>
          <a:p>
            <a:pPr marL="571500" lvl="1" indent="-342900" algn="just">
              <a:lnSpc>
                <a:spcPct val="100000"/>
              </a:lnSpc>
              <a:buFont typeface="+mj-lt"/>
              <a:buAutoNum type="arabicPeriod"/>
            </a:pPr>
            <a:r>
              <a:rPr lang="en-MY" sz="1800" b="1" dirty="0">
                <a:solidFill>
                  <a:srgbClr val="0000FF"/>
                </a:solidFill>
              </a:rPr>
              <a:t>Brute-Force attack</a:t>
            </a:r>
            <a:r>
              <a:rPr lang="en-MY" sz="1800" dirty="0"/>
              <a:t>:</a:t>
            </a:r>
          </a:p>
          <a:p>
            <a:pPr lvl="2" algn="just">
              <a:lnSpc>
                <a:spcPct val="100000"/>
              </a:lnSpc>
              <a:buFont typeface="Wingdings" panose="05000000000000000000" pitchFamily="2" charset="2"/>
              <a:buChar char="Ø"/>
            </a:pPr>
            <a:r>
              <a:rPr lang="en-MY" sz="1800" dirty="0"/>
              <a:t>The attacker </a:t>
            </a:r>
            <a:r>
              <a:rPr lang="en-MY" sz="1800" b="1" dirty="0">
                <a:solidFill>
                  <a:srgbClr val="FF0000"/>
                </a:solidFill>
              </a:rPr>
              <a:t>tries every possible key</a:t>
            </a:r>
            <a:r>
              <a:rPr lang="en-MY" sz="1800" dirty="0"/>
              <a:t> on a piece of ciphertext until an intelligible translation into plaintext is obtained. On average, half of all possible keys must be tried to achieve success.</a:t>
            </a:r>
          </a:p>
          <a:p>
            <a:pPr marL="571500" lvl="1" indent="-342900" algn="just">
              <a:lnSpc>
                <a:spcPct val="100000"/>
              </a:lnSpc>
              <a:buFont typeface="+mj-lt"/>
              <a:buAutoNum type="arabicPeriod"/>
            </a:pPr>
            <a:r>
              <a:rPr lang="en-MY" sz="1800" b="1" dirty="0">
                <a:solidFill>
                  <a:srgbClr val="0000FF"/>
                </a:solidFill>
              </a:rPr>
              <a:t>Cryptanalysis</a:t>
            </a:r>
            <a:r>
              <a:rPr lang="en-MY" sz="1800" dirty="0"/>
              <a:t>: </a:t>
            </a:r>
          </a:p>
          <a:p>
            <a:pPr lvl="2" algn="just">
              <a:lnSpc>
                <a:spcPct val="100000"/>
              </a:lnSpc>
              <a:buFont typeface="Wingdings" panose="05000000000000000000" pitchFamily="2" charset="2"/>
              <a:buChar char="Ø"/>
            </a:pPr>
            <a:r>
              <a:rPr lang="en-MY" sz="1800" dirty="0"/>
              <a:t>It relies on the </a:t>
            </a:r>
            <a:r>
              <a:rPr lang="en-MY" sz="1800" b="1" dirty="0">
                <a:solidFill>
                  <a:srgbClr val="FF0000"/>
                </a:solidFill>
              </a:rPr>
              <a:t>nature of the algorithm</a:t>
            </a:r>
            <a:r>
              <a:rPr lang="en-MY" sz="1800" dirty="0"/>
              <a:t> in addition some knowledge of the </a:t>
            </a:r>
            <a:r>
              <a:rPr lang="en-MY" sz="1800" b="1" dirty="0">
                <a:solidFill>
                  <a:srgbClr val="FF0000"/>
                </a:solidFill>
              </a:rPr>
              <a:t>general characteristics of the plaintext or plaintext-ciphertext pairs</a:t>
            </a:r>
            <a:r>
              <a:rPr lang="en-MY" sz="1800" dirty="0"/>
              <a:t>. This attack attempts to a specific plaintext, or to deduce the key used in the cryptography.</a:t>
            </a:r>
          </a:p>
        </p:txBody>
      </p:sp>
    </p:spTree>
    <p:extLst>
      <p:ext uri="{BB962C8B-B14F-4D97-AF65-F5344CB8AC3E}">
        <p14:creationId xmlns:p14="http://schemas.microsoft.com/office/powerpoint/2010/main" val="20255962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Brute Force Attack</a:t>
            </a:r>
          </a:p>
        </p:txBody>
      </p:sp>
      <p:pic>
        <p:nvPicPr>
          <p:cNvPr id="4" name="Picture 3">
            <a:extLst>
              <a:ext uri="{FF2B5EF4-FFF2-40B4-BE49-F238E27FC236}">
                <a16:creationId xmlns:a16="http://schemas.microsoft.com/office/drawing/2014/main" id="{623BF864-32E7-EB8D-C6D7-40E20AB4F000}"/>
              </a:ext>
            </a:extLst>
          </p:cNvPr>
          <p:cNvPicPr>
            <a:picLocks noChangeAspect="1"/>
          </p:cNvPicPr>
          <p:nvPr/>
        </p:nvPicPr>
        <p:blipFill>
          <a:blip r:embed="rId2"/>
          <a:stretch>
            <a:fillRect/>
          </a:stretch>
        </p:blipFill>
        <p:spPr>
          <a:xfrm>
            <a:off x="452175" y="2111776"/>
            <a:ext cx="11287649" cy="4173614"/>
          </a:xfrm>
          <a:prstGeom prst="rect">
            <a:avLst/>
          </a:prstGeom>
        </p:spPr>
      </p:pic>
    </p:spTree>
    <p:extLst>
      <p:ext uri="{BB962C8B-B14F-4D97-AF65-F5344CB8AC3E}">
        <p14:creationId xmlns:p14="http://schemas.microsoft.com/office/powerpoint/2010/main" val="15124332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Cryptanalytic Attacks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In general, there are </a:t>
            </a:r>
            <a:r>
              <a:rPr lang="en-MY" sz="2000" b="1" dirty="0">
                <a:solidFill>
                  <a:srgbClr val="FF0000"/>
                </a:solidFill>
              </a:rPr>
              <a:t>five common types</a:t>
            </a:r>
            <a:r>
              <a:rPr lang="en-MY" sz="2000" dirty="0"/>
              <a:t> of cryptanalytic attacks based on </a:t>
            </a:r>
            <a:r>
              <a:rPr lang="en-MY" sz="2000" b="1" dirty="0">
                <a:solidFill>
                  <a:srgbClr val="0000FF"/>
                </a:solidFill>
              </a:rPr>
              <a:t>the amount of the information</a:t>
            </a:r>
            <a:r>
              <a:rPr lang="en-MY" sz="2000" dirty="0"/>
              <a:t> (environment) an attacker has. These attacks are ranked from the weakest to the strongest.</a:t>
            </a:r>
          </a:p>
          <a:p>
            <a:pPr marL="342900" indent="-342900" algn="just">
              <a:lnSpc>
                <a:spcPct val="100000"/>
              </a:lnSpc>
              <a:buFont typeface="+mj-lt"/>
              <a:buAutoNum type="arabicPeriod"/>
            </a:pPr>
            <a:r>
              <a:rPr lang="en-MY" sz="2000" dirty="0"/>
              <a:t>Ciphertext-only Attack (COA) – </a:t>
            </a:r>
            <a:r>
              <a:rPr lang="en-MY" sz="2000" b="1" dirty="0">
                <a:solidFill>
                  <a:srgbClr val="FF0000"/>
                </a:solidFill>
              </a:rPr>
              <a:t>the weakest</a:t>
            </a:r>
          </a:p>
          <a:p>
            <a:pPr marL="342900" indent="-342900" algn="just">
              <a:lnSpc>
                <a:spcPct val="100000"/>
              </a:lnSpc>
              <a:buFont typeface="+mj-lt"/>
              <a:buAutoNum type="arabicPeriod"/>
            </a:pPr>
            <a:r>
              <a:rPr lang="en-MY" sz="2000" dirty="0"/>
              <a:t>Known-Plaintext Attack (KPA) </a:t>
            </a:r>
          </a:p>
          <a:p>
            <a:pPr marL="342900" indent="-342900" algn="just">
              <a:lnSpc>
                <a:spcPct val="100000"/>
              </a:lnSpc>
              <a:buFont typeface="+mj-lt"/>
              <a:buAutoNum type="arabicPeriod"/>
            </a:pPr>
            <a:r>
              <a:rPr lang="en-MY" sz="2000" dirty="0"/>
              <a:t>Chosen-Plaintext Attack (CPA) </a:t>
            </a:r>
          </a:p>
          <a:p>
            <a:pPr marL="342900" indent="-342900" algn="just">
              <a:lnSpc>
                <a:spcPct val="100000"/>
              </a:lnSpc>
              <a:buFont typeface="+mj-lt"/>
              <a:buAutoNum type="arabicPeriod"/>
            </a:pPr>
            <a:r>
              <a:rPr lang="en-MY" sz="2000" dirty="0"/>
              <a:t>Chosen-Ciphertext Attack (CCA)</a:t>
            </a:r>
          </a:p>
          <a:p>
            <a:pPr marL="342900" indent="-342900" algn="just">
              <a:lnSpc>
                <a:spcPct val="100000"/>
              </a:lnSpc>
              <a:buFont typeface="+mj-lt"/>
              <a:buAutoNum type="arabicPeriod"/>
            </a:pPr>
            <a:r>
              <a:rPr lang="en-MY" sz="2000" dirty="0"/>
              <a:t>Chosen-Text Attack – </a:t>
            </a:r>
            <a:r>
              <a:rPr lang="en-MY" sz="2000" b="1" dirty="0">
                <a:solidFill>
                  <a:srgbClr val="0000FF"/>
                </a:solidFill>
              </a:rPr>
              <a:t>the strongest </a:t>
            </a:r>
          </a:p>
          <a:p>
            <a:pPr marL="342900" indent="-342900" algn="just">
              <a:lnSpc>
                <a:spcPct val="100000"/>
              </a:lnSpc>
              <a:buFont typeface="+mj-lt"/>
              <a:buAutoNum type="arabicPeriod"/>
            </a:pPr>
            <a:endParaRPr lang="en-MY" sz="2000" dirty="0">
              <a:solidFill>
                <a:srgbClr val="0000FF"/>
              </a:solidFill>
            </a:endParaRPr>
          </a:p>
          <a:p>
            <a:pPr algn="just">
              <a:lnSpc>
                <a:spcPct val="100000"/>
              </a:lnSpc>
              <a:buFont typeface="Wingdings" panose="05000000000000000000" pitchFamily="2" charset="2"/>
              <a:buChar char="v"/>
            </a:pPr>
            <a:r>
              <a:rPr lang="en-MY" sz="2000" dirty="0"/>
              <a:t>The </a:t>
            </a:r>
            <a:r>
              <a:rPr lang="en-MY" sz="2000" b="1" dirty="0"/>
              <a:t>chosen text attack</a:t>
            </a:r>
            <a:r>
              <a:rPr lang="en-MY" sz="2000" dirty="0"/>
              <a:t> is always analysed under </a:t>
            </a:r>
            <a:r>
              <a:rPr lang="en-MY" sz="2000" b="1" dirty="0"/>
              <a:t>CCA</a:t>
            </a:r>
            <a:r>
              <a:rPr lang="en-MY" sz="2000" dirty="0"/>
              <a:t> in security analysis.</a:t>
            </a:r>
          </a:p>
        </p:txBody>
      </p:sp>
    </p:spTree>
    <p:extLst>
      <p:ext uri="{BB962C8B-B14F-4D97-AF65-F5344CB8AC3E}">
        <p14:creationId xmlns:p14="http://schemas.microsoft.com/office/powerpoint/2010/main" val="15078629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A51620-4773-BD6E-1E89-124D72A6AC23}"/>
              </a:ext>
            </a:extLst>
          </p:cNvPr>
          <p:cNvPicPr>
            <a:picLocks noChangeAspect="1"/>
          </p:cNvPicPr>
          <p:nvPr/>
        </p:nvPicPr>
        <p:blipFill>
          <a:blip r:embed="rId2"/>
          <a:stretch>
            <a:fillRect/>
          </a:stretch>
        </p:blipFill>
        <p:spPr>
          <a:xfrm>
            <a:off x="1405110" y="10201"/>
            <a:ext cx="9381780" cy="6837598"/>
          </a:xfrm>
          <a:prstGeom prst="rect">
            <a:avLst/>
          </a:prstGeom>
        </p:spPr>
      </p:pic>
    </p:spTree>
    <p:extLst>
      <p:ext uri="{BB962C8B-B14F-4D97-AF65-F5344CB8AC3E}">
        <p14:creationId xmlns:p14="http://schemas.microsoft.com/office/powerpoint/2010/main" val="12394644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Ciphertext-Only Attack</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The attacker (Eve) has </a:t>
            </a:r>
            <a:r>
              <a:rPr lang="en-MY" sz="2000" b="1" dirty="0">
                <a:solidFill>
                  <a:srgbClr val="FF0000"/>
                </a:solidFill>
              </a:rPr>
              <a:t>access to only some ciphertext</a:t>
            </a:r>
            <a:r>
              <a:rPr lang="en-MY" sz="2000" dirty="0"/>
              <a:t>, and tries to find the corresponding plaintext, or the key.</a:t>
            </a:r>
          </a:p>
          <a:p>
            <a:pPr algn="just">
              <a:lnSpc>
                <a:spcPct val="100000"/>
              </a:lnSpc>
              <a:buFont typeface="Wingdings" panose="05000000000000000000" pitchFamily="2" charset="2"/>
              <a:buChar char="q"/>
            </a:pPr>
            <a:r>
              <a:rPr lang="en-MY" sz="2000" dirty="0"/>
              <a:t>Possible attacks:</a:t>
            </a:r>
          </a:p>
          <a:p>
            <a:pPr marL="571500" lvl="1" indent="-342900" algn="just">
              <a:lnSpc>
                <a:spcPct val="100000"/>
              </a:lnSpc>
              <a:buFont typeface="+mj-lt"/>
              <a:buAutoNum type="arabicPeriod"/>
            </a:pPr>
            <a:r>
              <a:rPr lang="en-MY" sz="1800" b="1" dirty="0">
                <a:solidFill>
                  <a:srgbClr val="0000FF"/>
                </a:solidFill>
              </a:rPr>
              <a:t>Brute force / exhausted key search</a:t>
            </a:r>
            <a:r>
              <a:rPr lang="en-MY" sz="1800" dirty="0"/>
              <a:t>: Eve tries to decrypt the ciphertext using all possible keys until the plaintext makes sense. </a:t>
            </a:r>
          </a:p>
          <a:p>
            <a:pPr lvl="2" algn="just">
              <a:lnSpc>
                <a:spcPct val="100000"/>
              </a:lnSpc>
              <a:buFont typeface="Wingdings" panose="05000000000000000000" pitchFamily="2" charset="2"/>
              <a:buChar char="Ø"/>
            </a:pPr>
            <a:r>
              <a:rPr lang="en-MY" sz="1800" b="1" dirty="0">
                <a:solidFill>
                  <a:srgbClr val="FF0000"/>
                </a:solidFill>
              </a:rPr>
              <a:t>Prevention</a:t>
            </a:r>
            <a:r>
              <a:rPr lang="en-MY" sz="1800" dirty="0"/>
              <a:t>: Apply a very large key size.</a:t>
            </a:r>
          </a:p>
          <a:p>
            <a:pPr marL="571500" lvl="1" indent="-342900" algn="just">
              <a:lnSpc>
                <a:spcPct val="100000"/>
              </a:lnSpc>
              <a:buFont typeface="+mj-lt"/>
              <a:buAutoNum type="arabicPeriod"/>
            </a:pPr>
            <a:r>
              <a:rPr lang="en-MY" sz="1800" b="1" dirty="0">
                <a:solidFill>
                  <a:srgbClr val="0000FF"/>
                </a:solidFill>
              </a:rPr>
              <a:t>Statistical attack</a:t>
            </a:r>
            <a:r>
              <a:rPr lang="en-MY" sz="1800" dirty="0"/>
              <a:t>: Eve tries to detect some inherent characteristics of the language pattern (For example, letter ‘E’ has the highest frequency in English text) to search for the key used in the encryption.</a:t>
            </a:r>
          </a:p>
          <a:p>
            <a:pPr lvl="2" algn="just">
              <a:lnSpc>
                <a:spcPct val="100000"/>
              </a:lnSpc>
              <a:buFont typeface="Wingdings" panose="05000000000000000000" pitchFamily="2" charset="2"/>
              <a:buChar char="Ø"/>
            </a:pPr>
            <a:r>
              <a:rPr lang="en-MY" sz="1800" b="1" dirty="0">
                <a:solidFill>
                  <a:srgbClr val="FF0000"/>
                </a:solidFill>
              </a:rPr>
              <a:t>Prevention</a:t>
            </a:r>
            <a:r>
              <a:rPr lang="en-MY" sz="1800" dirty="0"/>
              <a:t>: Hide the characteristics of the language.</a:t>
            </a:r>
          </a:p>
          <a:p>
            <a:pPr marL="571500" lvl="1" indent="-342900" algn="just">
              <a:lnSpc>
                <a:spcPct val="100000"/>
              </a:lnSpc>
              <a:buFont typeface="+mj-lt"/>
              <a:buAutoNum type="arabicPeriod"/>
            </a:pPr>
            <a:r>
              <a:rPr lang="en-MY" sz="1800" b="1" dirty="0">
                <a:solidFill>
                  <a:srgbClr val="0000FF"/>
                </a:solidFill>
              </a:rPr>
              <a:t>Pattern attack</a:t>
            </a:r>
            <a:r>
              <a:rPr lang="en-MY" sz="1800" dirty="0"/>
              <a:t>: Exploit the pattern of the ciphertext.</a:t>
            </a:r>
          </a:p>
          <a:p>
            <a:pPr lvl="2" algn="just">
              <a:lnSpc>
                <a:spcPct val="100000"/>
              </a:lnSpc>
              <a:buFont typeface="Wingdings" panose="05000000000000000000" pitchFamily="2" charset="2"/>
              <a:buChar char="Ø"/>
            </a:pPr>
            <a:r>
              <a:rPr lang="en-MY" sz="1800" b="1" dirty="0">
                <a:solidFill>
                  <a:srgbClr val="FF0000"/>
                </a:solidFill>
              </a:rPr>
              <a:t>Prevention</a:t>
            </a:r>
            <a:r>
              <a:rPr lang="en-MY" sz="1800" dirty="0"/>
              <a:t>: Randomize the output ciphertext.</a:t>
            </a:r>
          </a:p>
        </p:txBody>
      </p:sp>
    </p:spTree>
    <p:extLst>
      <p:ext uri="{BB962C8B-B14F-4D97-AF65-F5344CB8AC3E}">
        <p14:creationId xmlns:p14="http://schemas.microsoft.com/office/powerpoint/2010/main" val="33678086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F97CA3-3D06-A703-2B38-CE84C49906DC}"/>
              </a:ext>
            </a:extLst>
          </p:cNvPr>
          <p:cNvPicPr>
            <a:picLocks noChangeAspect="1"/>
          </p:cNvPicPr>
          <p:nvPr/>
        </p:nvPicPr>
        <p:blipFill>
          <a:blip r:embed="rId2"/>
          <a:stretch>
            <a:fillRect/>
          </a:stretch>
        </p:blipFill>
        <p:spPr>
          <a:xfrm>
            <a:off x="1482633" y="97451"/>
            <a:ext cx="9226733" cy="3217587"/>
          </a:xfrm>
          <a:prstGeom prst="rect">
            <a:avLst/>
          </a:prstGeom>
        </p:spPr>
      </p:pic>
      <p:pic>
        <p:nvPicPr>
          <p:cNvPr id="7" name="Picture 6">
            <a:extLst>
              <a:ext uri="{FF2B5EF4-FFF2-40B4-BE49-F238E27FC236}">
                <a16:creationId xmlns:a16="http://schemas.microsoft.com/office/drawing/2014/main" id="{1B2AB1FA-B849-B6C0-8357-49C8F337D3F8}"/>
              </a:ext>
            </a:extLst>
          </p:cNvPr>
          <p:cNvPicPr>
            <a:picLocks noChangeAspect="1"/>
          </p:cNvPicPr>
          <p:nvPr/>
        </p:nvPicPr>
        <p:blipFill>
          <a:blip r:embed="rId3"/>
          <a:stretch>
            <a:fillRect/>
          </a:stretch>
        </p:blipFill>
        <p:spPr>
          <a:xfrm>
            <a:off x="1482633" y="3429000"/>
            <a:ext cx="9226733" cy="3331549"/>
          </a:xfrm>
          <a:prstGeom prst="rect">
            <a:avLst/>
          </a:prstGeom>
        </p:spPr>
      </p:pic>
    </p:spTree>
    <p:extLst>
      <p:ext uri="{BB962C8B-B14F-4D97-AF65-F5344CB8AC3E}">
        <p14:creationId xmlns:p14="http://schemas.microsoft.com/office/powerpoint/2010/main" val="28128735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Known-Plaintext Attack</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The attacker (Eve) </a:t>
            </a:r>
            <a:r>
              <a:rPr lang="en-MY" sz="2000" b="1" dirty="0">
                <a:solidFill>
                  <a:srgbClr val="FF0000"/>
                </a:solidFill>
              </a:rPr>
              <a:t>has access to some plaintext-ciphertext pairs</a:t>
            </a:r>
            <a:r>
              <a:rPr lang="en-MY" sz="2000" dirty="0"/>
              <a:t>, in addition to the </a:t>
            </a:r>
            <a:r>
              <a:rPr lang="en-MY" sz="2000" b="1" dirty="0">
                <a:solidFill>
                  <a:srgbClr val="0000FF"/>
                </a:solidFill>
              </a:rPr>
              <a:t>intercepted ciphertext that she wants to break</a:t>
            </a:r>
            <a:r>
              <a:rPr lang="en-MY" sz="2000" dirty="0"/>
              <a:t>.</a:t>
            </a:r>
          </a:p>
          <a:p>
            <a:pPr algn="just">
              <a:lnSpc>
                <a:spcPct val="100000"/>
              </a:lnSpc>
              <a:buFont typeface="Wingdings" panose="05000000000000000000" pitchFamily="2" charset="2"/>
              <a:buChar char="q"/>
            </a:pPr>
            <a:r>
              <a:rPr lang="en-MY" sz="2000" dirty="0"/>
              <a:t>The collected pairs are used to break the </a:t>
            </a:r>
            <a:r>
              <a:rPr lang="en-MY" sz="2000" b="1" dirty="0">
                <a:solidFill>
                  <a:srgbClr val="FF0000"/>
                </a:solidFill>
              </a:rPr>
              <a:t>NEXT</a:t>
            </a:r>
            <a:r>
              <a:rPr lang="en-MY" sz="2000" dirty="0"/>
              <a:t> intercepted ciphertext, assuming the </a:t>
            </a:r>
            <a:r>
              <a:rPr lang="en-MY" sz="2000" b="1" dirty="0">
                <a:solidFill>
                  <a:srgbClr val="FF0000"/>
                </a:solidFill>
              </a:rPr>
              <a:t>key has NOT changed</a:t>
            </a:r>
            <a:r>
              <a:rPr lang="en-MY" sz="2000" dirty="0"/>
              <a:t>.</a:t>
            </a:r>
          </a:p>
          <a:p>
            <a:pPr algn="just">
              <a:lnSpc>
                <a:spcPct val="100000"/>
              </a:lnSpc>
              <a:buFont typeface="Wingdings" panose="05000000000000000000" pitchFamily="2" charset="2"/>
              <a:buChar char="q"/>
            </a:pPr>
            <a:r>
              <a:rPr lang="en-MY" sz="2000" dirty="0"/>
              <a:t>All the attacks launched in COA are also applicable here.</a:t>
            </a:r>
          </a:p>
          <a:p>
            <a:pPr algn="just">
              <a:lnSpc>
                <a:spcPct val="100000"/>
              </a:lnSpc>
              <a:buFont typeface="Wingdings" panose="05000000000000000000" pitchFamily="2" charset="2"/>
              <a:buChar char="q"/>
            </a:pPr>
            <a:r>
              <a:rPr lang="en-MY" sz="2000" dirty="0"/>
              <a:t>This attack is </a:t>
            </a:r>
            <a:r>
              <a:rPr lang="en-MY" sz="2000" b="1" dirty="0">
                <a:solidFill>
                  <a:srgbClr val="0000FF"/>
                </a:solidFill>
              </a:rPr>
              <a:t>easier</a:t>
            </a:r>
            <a:r>
              <a:rPr lang="en-MY" sz="2000" dirty="0"/>
              <a:t> since Eve has now more information to aid her, but </a:t>
            </a:r>
            <a:r>
              <a:rPr lang="en-MY" sz="2000" b="1" dirty="0">
                <a:solidFill>
                  <a:srgbClr val="0000FF"/>
                </a:solidFill>
              </a:rPr>
              <a:t>less likely to happen </a:t>
            </a:r>
            <a:r>
              <a:rPr lang="en-MY" sz="2000" dirty="0"/>
              <a:t>since sender may have changed the encryption key, or the previous message is not revealed.</a:t>
            </a:r>
          </a:p>
        </p:txBody>
      </p:sp>
    </p:spTree>
    <p:extLst>
      <p:ext uri="{BB962C8B-B14F-4D97-AF65-F5344CB8AC3E}">
        <p14:creationId xmlns:p14="http://schemas.microsoft.com/office/powerpoint/2010/main" val="30506823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Chosen-Plaintext Attack</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The attacker (Eve) has </a:t>
            </a:r>
            <a:r>
              <a:rPr lang="en-MY" sz="2000" b="1" dirty="0">
                <a:solidFill>
                  <a:srgbClr val="FF0000"/>
                </a:solidFill>
              </a:rPr>
              <a:t>access to the plaintext-ciphertext pairs </a:t>
            </a:r>
            <a:r>
              <a:rPr lang="en-MY" sz="2000" b="1" dirty="0">
                <a:solidFill>
                  <a:srgbClr val="0000FF"/>
                </a:solidFill>
              </a:rPr>
              <a:t>CHOSEN</a:t>
            </a:r>
            <a:r>
              <a:rPr lang="en-MY" sz="2000" b="1" dirty="0">
                <a:solidFill>
                  <a:srgbClr val="FF0000"/>
                </a:solidFill>
              </a:rPr>
              <a:t> by herself</a:t>
            </a:r>
            <a:r>
              <a:rPr lang="en-MY" sz="2000" dirty="0"/>
              <a:t>.</a:t>
            </a:r>
          </a:p>
          <a:p>
            <a:pPr algn="just">
              <a:lnSpc>
                <a:spcPct val="100000"/>
              </a:lnSpc>
              <a:buFont typeface="Wingdings" panose="05000000000000000000" pitchFamily="2" charset="2"/>
              <a:buChar char="q"/>
            </a:pPr>
            <a:r>
              <a:rPr lang="en-MY" sz="2000" dirty="0"/>
              <a:t>Eve can </a:t>
            </a:r>
            <a:r>
              <a:rPr lang="en-MY" sz="2000" b="1" dirty="0">
                <a:solidFill>
                  <a:srgbClr val="7030A0"/>
                </a:solidFill>
              </a:rPr>
              <a:t>choose any plaintext of her choice </a:t>
            </a:r>
            <a:r>
              <a:rPr lang="en-MY" sz="2000" dirty="0"/>
              <a:t>and ask for </a:t>
            </a:r>
            <a:r>
              <a:rPr lang="en-MY" sz="2000" b="1" dirty="0">
                <a:solidFill>
                  <a:srgbClr val="FF0000"/>
                </a:solidFill>
              </a:rPr>
              <a:t>encryption</a:t>
            </a:r>
            <a:r>
              <a:rPr lang="en-MY" sz="2000" dirty="0"/>
              <a:t> to obtain the corresponding ciphertext. The output ciphertext is collected and used to attack the </a:t>
            </a:r>
            <a:r>
              <a:rPr lang="en-MY" sz="2000" b="1" dirty="0">
                <a:solidFill>
                  <a:srgbClr val="0000FF"/>
                </a:solidFill>
              </a:rPr>
              <a:t>NEXT</a:t>
            </a:r>
            <a:r>
              <a:rPr lang="en-MY" sz="2000" dirty="0"/>
              <a:t> intercepted ciphertext. </a:t>
            </a:r>
          </a:p>
          <a:p>
            <a:pPr algn="just">
              <a:lnSpc>
                <a:spcPct val="100000"/>
              </a:lnSpc>
              <a:buFont typeface="Wingdings" panose="05000000000000000000" pitchFamily="2" charset="2"/>
              <a:buChar char="q"/>
            </a:pPr>
            <a:r>
              <a:rPr lang="en-MY" sz="2000" b="1" dirty="0"/>
              <a:t>For example</a:t>
            </a:r>
            <a:r>
              <a:rPr lang="en-MY" sz="2000" dirty="0"/>
              <a:t>: Eve has access to the Sender’s computer. She can choose some plaintext and intercept the output ciphertext. Note that Eve does not have the encryption key.</a:t>
            </a:r>
          </a:p>
          <a:p>
            <a:pPr algn="just">
              <a:lnSpc>
                <a:spcPct val="100000"/>
              </a:lnSpc>
              <a:buFont typeface="Wingdings" panose="05000000000000000000" pitchFamily="2" charset="2"/>
              <a:buChar char="q"/>
            </a:pPr>
            <a:r>
              <a:rPr lang="en-MY" sz="2000" dirty="0"/>
              <a:t> This attack is </a:t>
            </a:r>
            <a:r>
              <a:rPr lang="en-MY" sz="2000" b="1" dirty="0">
                <a:solidFill>
                  <a:srgbClr val="0000FF"/>
                </a:solidFill>
              </a:rPr>
              <a:t>much easier</a:t>
            </a:r>
            <a:r>
              <a:rPr lang="en-MY" sz="2000" dirty="0"/>
              <a:t> to implement, but </a:t>
            </a:r>
            <a:r>
              <a:rPr lang="en-MY" sz="2000" b="1" dirty="0">
                <a:solidFill>
                  <a:srgbClr val="0000FF"/>
                </a:solidFill>
              </a:rPr>
              <a:t>much less likely to happen</a:t>
            </a:r>
            <a:r>
              <a:rPr lang="en-MY" sz="2000" dirty="0"/>
              <a:t>.</a:t>
            </a:r>
          </a:p>
        </p:txBody>
      </p:sp>
    </p:spTree>
    <p:extLst>
      <p:ext uri="{BB962C8B-B14F-4D97-AF65-F5344CB8AC3E}">
        <p14:creationId xmlns:p14="http://schemas.microsoft.com/office/powerpoint/2010/main" val="81892007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FFFCB57-B6EB-4947-584C-2414E7D20F11}"/>
              </a:ext>
            </a:extLst>
          </p:cNvPr>
          <p:cNvPicPr>
            <a:picLocks noChangeAspect="1"/>
          </p:cNvPicPr>
          <p:nvPr/>
        </p:nvPicPr>
        <p:blipFill>
          <a:blip r:embed="rId2"/>
          <a:stretch>
            <a:fillRect/>
          </a:stretch>
        </p:blipFill>
        <p:spPr>
          <a:xfrm>
            <a:off x="2133141" y="67684"/>
            <a:ext cx="7925718" cy="3319864"/>
          </a:xfrm>
          <a:prstGeom prst="rect">
            <a:avLst/>
          </a:prstGeom>
        </p:spPr>
      </p:pic>
      <p:pic>
        <p:nvPicPr>
          <p:cNvPr id="7" name="Picture 6">
            <a:extLst>
              <a:ext uri="{FF2B5EF4-FFF2-40B4-BE49-F238E27FC236}">
                <a16:creationId xmlns:a16="http://schemas.microsoft.com/office/drawing/2014/main" id="{49DA4ED6-BB18-661E-FFB1-5BCB5741622D}"/>
              </a:ext>
            </a:extLst>
          </p:cNvPr>
          <p:cNvPicPr>
            <a:picLocks noChangeAspect="1"/>
          </p:cNvPicPr>
          <p:nvPr/>
        </p:nvPicPr>
        <p:blipFill>
          <a:blip r:embed="rId3"/>
          <a:stretch>
            <a:fillRect/>
          </a:stretch>
        </p:blipFill>
        <p:spPr>
          <a:xfrm>
            <a:off x="2133141" y="3480590"/>
            <a:ext cx="7925718" cy="3325804"/>
          </a:xfrm>
          <a:prstGeom prst="rect">
            <a:avLst/>
          </a:prstGeom>
        </p:spPr>
      </p:pic>
    </p:spTree>
    <p:extLst>
      <p:ext uri="{BB962C8B-B14F-4D97-AF65-F5344CB8AC3E}">
        <p14:creationId xmlns:p14="http://schemas.microsoft.com/office/powerpoint/2010/main" val="960326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Chosen-Ciphertext Attack</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The attacker (Eve) has </a:t>
            </a:r>
            <a:r>
              <a:rPr lang="en-MY" sz="2000" b="1" dirty="0">
                <a:solidFill>
                  <a:srgbClr val="FF0000"/>
                </a:solidFill>
              </a:rPr>
              <a:t>access to the plaintext-ciphertext pairs </a:t>
            </a:r>
            <a:r>
              <a:rPr lang="en-MY" sz="2000" b="1" dirty="0">
                <a:solidFill>
                  <a:srgbClr val="0000FF"/>
                </a:solidFill>
              </a:rPr>
              <a:t>CHOSEN</a:t>
            </a:r>
            <a:r>
              <a:rPr lang="en-MY" sz="2000" b="1" dirty="0">
                <a:solidFill>
                  <a:srgbClr val="FF0000"/>
                </a:solidFill>
              </a:rPr>
              <a:t> by herself</a:t>
            </a:r>
            <a:r>
              <a:rPr lang="en-MY" sz="2000" dirty="0"/>
              <a:t>.</a:t>
            </a:r>
          </a:p>
          <a:p>
            <a:pPr algn="just">
              <a:lnSpc>
                <a:spcPct val="100000"/>
              </a:lnSpc>
              <a:buFont typeface="Wingdings" panose="05000000000000000000" pitchFamily="2" charset="2"/>
              <a:buChar char="q"/>
            </a:pPr>
            <a:r>
              <a:rPr lang="en-MY" sz="2000" dirty="0"/>
              <a:t>Eve can </a:t>
            </a:r>
            <a:r>
              <a:rPr lang="en-MY" sz="2000" b="1" dirty="0">
                <a:solidFill>
                  <a:srgbClr val="7030A0"/>
                </a:solidFill>
              </a:rPr>
              <a:t>choose any ciphertext of her choice </a:t>
            </a:r>
            <a:r>
              <a:rPr lang="en-MY" sz="2000" dirty="0"/>
              <a:t>and ask for </a:t>
            </a:r>
            <a:r>
              <a:rPr lang="en-MY" sz="2000" b="1" dirty="0">
                <a:solidFill>
                  <a:srgbClr val="FF0000"/>
                </a:solidFill>
              </a:rPr>
              <a:t>decryption</a:t>
            </a:r>
            <a:r>
              <a:rPr lang="en-MY" sz="2000" dirty="0"/>
              <a:t> to obtain the corresponding plaintext. The output plaintext is collected and used to attack the </a:t>
            </a:r>
            <a:r>
              <a:rPr lang="en-MY" sz="2000" b="1" dirty="0">
                <a:solidFill>
                  <a:srgbClr val="0000FF"/>
                </a:solidFill>
              </a:rPr>
              <a:t>NEXT</a:t>
            </a:r>
            <a:r>
              <a:rPr lang="en-MY" sz="2000" dirty="0"/>
              <a:t> intercepted ciphertext. </a:t>
            </a:r>
          </a:p>
          <a:p>
            <a:pPr algn="just">
              <a:lnSpc>
                <a:spcPct val="100000"/>
              </a:lnSpc>
              <a:buFont typeface="Wingdings" panose="05000000000000000000" pitchFamily="2" charset="2"/>
              <a:buChar char="q"/>
            </a:pPr>
            <a:r>
              <a:rPr lang="en-MY" sz="2000" b="1" dirty="0"/>
              <a:t>For example</a:t>
            </a:r>
            <a:r>
              <a:rPr lang="en-MY" sz="2000" dirty="0"/>
              <a:t>: Eve has access to the Receiver’s computer. She can choose some ciphertext and intercept the decrypted plaintext. Note that Eve does not have the decryption key.</a:t>
            </a:r>
          </a:p>
          <a:p>
            <a:pPr algn="just">
              <a:lnSpc>
                <a:spcPct val="100000"/>
              </a:lnSpc>
              <a:buFont typeface="Wingdings" panose="05000000000000000000" pitchFamily="2" charset="2"/>
              <a:buChar char="q"/>
            </a:pPr>
            <a:r>
              <a:rPr lang="en-MY" sz="2000" dirty="0"/>
              <a:t> This attack is </a:t>
            </a:r>
            <a:r>
              <a:rPr lang="en-MY" sz="2000" b="1" dirty="0">
                <a:solidFill>
                  <a:srgbClr val="0000FF"/>
                </a:solidFill>
              </a:rPr>
              <a:t>even much easier</a:t>
            </a:r>
            <a:r>
              <a:rPr lang="en-MY" sz="2000" dirty="0"/>
              <a:t> to implement, but </a:t>
            </a:r>
            <a:r>
              <a:rPr lang="en-MY" sz="2000" b="1" dirty="0">
                <a:solidFill>
                  <a:srgbClr val="0000FF"/>
                </a:solidFill>
              </a:rPr>
              <a:t>very unlikely to happen</a:t>
            </a:r>
            <a:r>
              <a:rPr lang="en-MY" sz="2000" dirty="0"/>
              <a:t>.</a:t>
            </a:r>
          </a:p>
          <a:p>
            <a:pPr algn="just">
              <a:lnSpc>
                <a:spcPct val="100000"/>
              </a:lnSpc>
              <a:buFont typeface="Wingdings" panose="05000000000000000000" pitchFamily="2" charset="2"/>
              <a:buChar char="q"/>
            </a:pPr>
            <a:endParaRPr lang="en-MY" sz="2000" dirty="0"/>
          </a:p>
        </p:txBody>
      </p:sp>
    </p:spTree>
    <p:extLst>
      <p:ext uri="{BB962C8B-B14F-4D97-AF65-F5344CB8AC3E}">
        <p14:creationId xmlns:p14="http://schemas.microsoft.com/office/powerpoint/2010/main" val="13049640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Chosen-Text Attack</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A </a:t>
            </a:r>
            <a:r>
              <a:rPr lang="en-MY" sz="2000" b="1" dirty="0">
                <a:solidFill>
                  <a:srgbClr val="FF0000"/>
                </a:solidFill>
              </a:rPr>
              <a:t>combination of both</a:t>
            </a:r>
            <a:r>
              <a:rPr lang="en-MY" sz="2000" dirty="0"/>
              <a:t> CPA and CCA environments.</a:t>
            </a:r>
          </a:p>
          <a:p>
            <a:pPr algn="just">
              <a:lnSpc>
                <a:spcPct val="100000"/>
              </a:lnSpc>
              <a:buFont typeface="Wingdings" panose="05000000000000000000" pitchFamily="2" charset="2"/>
              <a:buChar char="q"/>
            </a:pPr>
            <a:r>
              <a:rPr lang="en-MY" sz="2000" dirty="0"/>
              <a:t>The attacker (Eve) acquires </a:t>
            </a:r>
            <a:r>
              <a:rPr lang="en-MY" sz="2000" b="1" dirty="0">
                <a:solidFill>
                  <a:srgbClr val="0000FF"/>
                </a:solidFill>
              </a:rPr>
              <a:t>the greatest (complete) attacking ability</a:t>
            </a:r>
            <a:r>
              <a:rPr lang="en-MY" sz="2000" dirty="0"/>
              <a:t>.</a:t>
            </a:r>
          </a:p>
          <a:p>
            <a:pPr algn="just">
              <a:lnSpc>
                <a:spcPct val="100000"/>
              </a:lnSpc>
              <a:buFont typeface="Wingdings" panose="05000000000000000000" pitchFamily="2" charset="2"/>
              <a:buChar char="q"/>
            </a:pPr>
            <a:r>
              <a:rPr lang="en-MY" sz="2000" dirty="0"/>
              <a:t>The final target is remains the same:</a:t>
            </a:r>
          </a:p>
          <a:p>
            <a:pPr marL="571500" lvl="1" indent="-342900" algn="just">
              <a:lnSpc>
                <a:spcPct val="100000"/>
              </a:lnSpc>
              <a:buFont typeface="+mj-lt"/>
              <a:buAutoNum type="arabicPeriod"/>
            </a:pPr>
            <a:r>
              <a:rPr lang="en-MY" sz="2000" dirty="0"/>
              <a:t>She can </a:t>
            </a:r>
            <a:r>
              <a:rPr lang="en-MY" sz="2000" b="1" dirty="0">
                <a:solidFill>
                  <a:srgbClr val="C00000"/>
                </a:solidFill>
              </a:rPr>
              <a:t>deduce the plaintext </a:t>
            </a:r>
            <a:r>
              <a:rPr lang="en-MY" sz="2000" dirty="0"/>
              <a:t>from the intercepted ciphertext.</a:t>
            </a:r>
          </a:p>
          <a:p>
            <a:pPr marL="571500" lvl="1" indent="-342900" algn="just">
              <a:lnSpc>
                <a:spcPct val="100000"/>
              </a:lnSpc>
              <a:buFont typeface="+mj-lt"/>
              <a:buAutoNum type="arabicPeriod"/>
            </a:pPr>
            <a:r>
              <a:rPr lang="en-MY" sz="2000" dirty="0"/>
              <a:t>She can </a:t>
            </a:r>
            <a:r>
              <a:rPr lang="en-MY" sz="2000" b="1" dirty="0">
                <a:solidFill>
                  <a:srgbClr val="C00000"/>
                </a:solidFill>
              </a:rPr>
              <a:t>deduce the encryption and/or decryption keys</a:t>
            </a:r>
            <a:r>
              <a:rPr lang="en-MY" sz="2000" dirty="0"/>
              <a:t> used in the communication.</a:t>
            </a:r>
          </a:p>
          <a:p>
            <a:pPr algn="just">
              <a:lnSpc>
                <a:spcPct val="100000"/>
              </a:lnSpc>
              <a:buFont typeface="Wingdings" panose="05000000000000000000" pitchFamily="2" charset="2"/>
              <a:buChar char="q"/>
            </a:pPr>
            <a:r>
              <a:rPr lang="en-MY" sz="2000" dirty="0"/>
              <a:t>Also the easiest and provide highest ability to the attacker, this attack is rarely likely to happen.</a:t>
            </a:r>
          </a:p>
        </p:txBody>
      </p:sp>
    </p:spTree>
    <p:extLst>
      <p:ext uri="{BB962C8B-B14F-4D97-AF65-F5344CB8AC3E}">
        <p14:creationId xmlns:p14="http://schemas.microsoft.com/office/powerpoint/2010/main" val="35741190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solidFill>
                  <a:schemeClr val="tx1"/>
                </a:solidFill>
              </a:rPr>
              <a:t>Cryptanalysis – </a:t>
            </a:r>
            <a:r>
              <a:rPr lang="en-MY" sz="4400" dirty="0">
                <a:solidFill>
                  <a:srgbClr val="0000FF"/>
                </a:solidFill>
              </a:rPr>
              <a:t>Security vs Attack</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buFont typeface="Wingdings" panose="05000000000000000000" pitchFamily="2" charset="2"/>
              <a:buChar char="q"/>
            </a:pPr>
            <a:r>
              <a:rPr lang="en-MY" sz="2000" dirty="0"/>
              <a:t>In cryptography, when proposing or designing a cryptosystem, often the security analysis is given to support its protection against specific attack.</a:t>
            </a:r>
          </a:p>
          <a:p>
            <a:pPr algn="just">
              <a:lnSpc>
                <a:spcPct val="100000"/>
              </a:lnSpc>
              <a:buFont typeface="Wingdings" panose="05000000000000000000" pitchFamily="2" charset="2"/>
              <a:buChar char="q"/>
            </a:pPr>
            <a:r>
              <a:rPr lang="en-MY" sz="2000" dirty="0"/>
              <a:t>In most cases, all designed cryptosystems are looking for CCA security. That is </a:t>
            </a:r>
            <a:r>
              <a:rPr lang="en-MY" sz="2000" b="1" dirty="0">
                <a:solidFill>
                  <a:srgbClr val="0000FF"/>
                </a:solidFill>
              </a:rPr>
              <a:t>we assume an attacker has the highest attacking ability</a:t>
            </a:r>
            <a:r>
              <a:rPr lang="en-MY" sz="2000" dirty="0"/>
              <a:t>, and then we prove that </a:t>
            </a:r>
            <a:r>
              <a:rPr lang="en-MY" sz="2000" b="1" dirty="0">
                <a:solidFill>
                  <a:srgbClr val="FF0000"/>
                </a:solidFill>
              </a:rPr>
              <a:t>he will eventually failed in achieving his target</a:t>
            </a:r>
            <a:r>
              <a:rPr lang="en-MY" sz="2000" dirty="0"/>
              <a:t>.</a:t>
            </a:r>
          </a:p>
          <a:p>
            <a:pPr algn="just">
              <a:lnSpc>
                <a:spcPct val="100000"/>
              </a:lnSpc>
              <a:buFont typeface="Wingdings" panose="05000000000000000000" pitchFamily="2" charset="2"/>
              <a:buChar char="q"/>
            </a:pPr>
            <a:r>
              <a:rPr lang="en-MY" sz="2000" dirty="0"/>
              <a:t>If one can show that a cryptosystem is </a:t>
            </a:r>
            <a:r>
              <a:rPr lang="en-MY" sz="2000" b="1" dirty="0">
                <a:solidFill>
                  <a:srgbClr val="FF0000"/>
                </a:solidFill>
              </a:rPr>
              <a:t>secure against CCA</a:t>
            </a:r>
            <a:r>
              <a:rPr lang="en-MY" sz="2000" dirty="0"/>
              <a:t>, then the system is considered </a:t>
            </a:r>
            <a:r>
              <a:rPr lang="en-MY" sz="2000" b="1" dirty="0">
                <a:solidFill>
                  <a:srgbClr val="0000FF"/>
                </a:solidFill>
              </a:rPr>
              <a:t>safe to be used in practice</a:t>
            </a:r>
            <a:r>
              <a:rPr lang="en-MY" sz="2000" dirty="0"/>
              <a:t>.</a:t>
            </a:r>
          </a:p>
          <a:p>
            <a:pPr marL="0" indent="0" algn="ctr">
              <a:lnSpc>
                <a:spcPct val="100000"/>
              </a:lnSpc>
              <a:buNone/>
            </a:pPr>
            <a:r>
              <a:rPr lang="en-MY" sz="2000" dirty="0"/>
              <a:t> </a:t>
            </a:r>
          </a:p>
        </p:txBody>
      </p:sp>
    </p:spTree>
    <p:extLst>
      <p:ext uri="{BB962C8B-B14F-4D97-AF65-F5344CB8AC3E}">
        <p14:creationId xmlns:p14="http://schemas.microsoft.com/office/powerpoint/2010/main" val="31242740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6106696"/>
          </a:xfrm>
        </p:spPr>
        <p:txBody>
          <a:bodyPr>
            <a:normAutofit/>
          </a:bodyPr>
          <a:lstStyle/>
          <a:p>
            <a:pPr algn="ctr"/>
            <a:r>
              <a:rPr lang="en-MY" sz="5400" b="1" dirty="0"/>
              <a:t>OTHER </a:t>
            </a:r>
            <a:r>
              <a:rPr lang="en-MY" sz="5400" b="1" dirty="0">
                <a:solidFill>
                  <a:srgbClr val="0000FF"/>
                </a:solidFill>
              </a:rPr>
              <a:t>CLASSICAL</a:t>
            </a:r>
            <a:br>
              <a:rPr lang="en-MY" sz="5400" b="1" dirty="0">
                <a:solidFill>
                  <a:srgbClr val="C00000"/>
                </a:solidFill>
              </a:rPr>
            </a:br>
            <a:r>
              <a:rPr lang="en-MY" sz="5400" b="1" dirty="0">
                <a:solidFill>
                  <a:srgbClr val="C00000"/>
                </a:solidFill>
              </a:rPr>
              <a:t>ENCRYPTION TECHNIQUE</a:t>
            </a:r>
            <a:br>
              <a:rPr lang="en-MY" sz="6000" b="1" dirty="0"/>
            </a:br>
            <a:br>
              <a:rPr lang="en-MY" sz="6000" b="1" dirty="0"/>
            </a:br>
            <a:r>
              <a:rPr lang="en-MY" sz="4800" b="1" dirty="0"/>
              <a:t> </a:t>
            </a:r>
            <a:br>
              <a:rPr lang="en-MY" sz="6000" b="1" dirty="0"/>
            </a:br>
            <a:endParaRPr lang="en-MY" sz="6000" b="1" dirty="0"/>
          </a:p>
        </p:txBody>
      </p:sp>
    </p:spTree>
    <p:extLst>
      <p:ext uri="{BB962C8B-B14F-4D97-AF65-F5344CB8AC3E}">
        <p14:creationId xmlns:p14="http://schemas.microsoft.com/office/powerpoint/2010/main" val="29997721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Steganography – </a:t>
            </a:r>
            <a:r>
              <a:rPr lang="en-MY" sz="4400" dirty="0">
                <a:solidFill>
                  <a:srgbClr val="0000FF"/>
                </a:solidFill>
              </a:rPr>
              <a:t>Classical Techniques</a:t>
            </a:r>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4322465"/>
          </a:xfrm>
        </p:spPr>
        <p:txBody>
          <a:bodyPr>
            <a:normAutofit/>
          </a:bodyPr>
          <a:lstStyle/>
          <a:p>
            <a:pPr algn="just">
              <a:lnSpc>
                <a:spcPct val="100000"/>
              </a:lnSpc>
            </a:pPr>
            <a:r>
              <a:rPr lang="en-MY" sz="1800" dirty="0"/>
              <a:t>A method of </a:t>
            </a:r>
            <a:r>
              <a:rPr lang="en-US" sz="1800" b="1" i="0" u="none" strike="noStrike" baseline="0" dirty="0">
                <a:solidFill>
                  <a:srgbClr val="0000FF"/>
                </a:solidFill>
              </a:rPr>
              <a:t>concealing the existence of the original message </a:t>
            </a:r>
            <a:r>
              <a:rPr lang="en-US" sz="1800" b="0" i="0" u="none" strike="noStrike" baseline="0" dirty="0"/>
              <a:t>rather than make it unreadable</a:t>
            </a:r>
            <a:r>
              <a:rPr lang="en-US" sz="1800" dirty="0"/>
              <a:t> but does not change the original message.</a:t>
            </a:r>
          </a:p>
          <a:p>
            <a:pPr algn="just">
              <a:lnSpc>
                <a:spcPct val="100000"/>
              </a:lnSpc>
            </a:pPr>
            <a:r>
              <a:rPr lang="en-US" sz="1800" dirty="0"/>
              <a:t>Common </a:t>
            </a:r>
            <a:r>
              <a:rPr lang="en-US" sz="1800" b="1" dirty="0">
                <a:solidFill>
                  <a:srgbClr val="0000FF"/>
                </a:solidFill>
              </a:rPr>
              <a:t>classical techniques</a:t>
            </a:r>
            <a:r>
              <a:rPr lang="en-US" sz="1800" dirty="0"/>
              <a:t>:</a:t>
            </a:r>
          </a:p>
          <a:p>
            <a:pPr lvl="1" algn="just">
              <a:lnSpc>
                <a:spcPct val="100000"/>
              </a:lnSpc>
              <a:buFont typeface="Wingdings" panose="05000000000000000000" pitchFamily="2" charset="2"/>
              <a:buChar char="Ø"/>
            </a:pPr>
            <a:r>
              <a:rPr lang="en-US" sz="1800" b="1" dirty="0">
                <a:solidFill>
                  <a:srgbClr val="FF0000"/>
                </a:solidFill>
              </a:rPr>
              <a:t>Character marking</a:t>
            </a:r>
            <a:r>
              <a:rPr lang="en-US" sz="1800" b="1" dirty="0"/>
              <a:t>: </a:t>
            </a:r>
            <a:r>
              <a:rPr lang="en-US" sz="1800" dirty="0"/>
              <a:t>Uses only a subset of letters/words in a longer message marked in some way.</a:t>
            </a:r>
          </a:p>
          <a:p>
            <a:pPr lvl="1" algn="just">
              <a:lnSpc>
                <a:spcPct val="100000"/>
              </a:lnSpc>
              <a:buFont typeface="Wingdings" panose="05000000000000000000" pitchFamily="2" charset="2"/>
              <a:buChar char="Ø"/>
            </a:pPr>
            <a:r>
              <a:rPr lang="en-US" sz="1800" b="1" dirty="0">
                <a:solidFill>
                  <a:srgbClr val="FF0000"/>
                </a:solidFill>
              </a:rPr>
              <a:t>Invisible ink</a:t>
            </a:r>
            <a:r>
              <a:rPr lang="en-US" sz="1800" b="1" dirty="0"/>
              <a:t>: </a:t>
            </a:r>
            <a:r>
              <a:rPr lang="en-US" sz="1800" dirty="0"/>
              <a:t>It leaves no visible trace until heat, or some chemical is applied on the paper.</a:t>
            </a:r>
          </a:p>
          <a:p>
            <a:pPr lvl="1" algn="just">
              <a:lnSpc>
                <a:spcPct val="100000"/>
              </a:lnSpc>
              <a:buFont typeface="Wingdings" panose="05000000000000000000" pitchFamily="2" charset="2"/>
              <a:buChar char="Ø"/>
            </a:pPr>
            <a:r>
              <a:rPr lang="en-US" sz="1800" b="1" dirty="0">
                <a:solidFill>
                  <a:srgbClr val="FF0000"/>
                </a:solidFill>
              </a:rPr>
              <a:t>Pin punctures</a:t>
            </a:r>
            <a:r>
              <a:rPr lang="en-US" sz="1800" b="1" dirty="0"/>
              <a:t>: </a:t>
            </a:r>
            <a:r>
              <a:rPr lang="en-US" sz="1800" dirty="0"/>
              <a:t>Invisible unless the paper is held in front of light.</a:t>
            </a:r>
          </a:p>
          <a:p>
            <a:pPr lvl="1" algn="just">
              <a:lnSpc>
                <a:spcPct val="100000"/>
              </a:lnSpc>
              <a:buFont typeface="Wingdings" panose="05000000000000000000" pitchFamily="2" charset="2"/>
              <a:buChar char="Ø"/>
            </a:pPr>
            <a:r>
              <a:rPr lang="en-US" sz="1800" b="1" dirty="0">
                <a:solidFill>
                  <a:srgbClr val="FF0000"/>
                </a:solidFill>
              </a:rPr>
              <a:t>Typewriter correction ribbon</a:t>
            </a:r>
            <a:r>
              <a:rPr lang="en-US" sz="1800" b="1" dirty="0"/>
              <a:t>: </a:t>
            </a:r>
            <a:r>
              <a:rPr lang="en-US" sz="1800" dirty="0"/>
              <a:t>It types with correction tape between lines typed with black ribbon – visible only under a strong light.</a:t>
            </a:r>
          </a:p>
          <a:p>
            <a:pPr lvl="1" algn="just">
              <a:lnSpc>
                <a:spcPct val="100000"/>
              </a:lnSpc>
              <a:buFont typeface="Wingdings" panose="05000000000000000000" pitchFamily="2" charset="2"/>
              <a:buChar char="Ø"/>
            </a:pPr>
            <a:r>
              <a:rPr lang="en-US" sz="1800" b="1" dirty="0">
                <a:solidFill>
                  <a:srgbClr val="FF0000"/>
                </a:solidFill>
              </a:rPr>
              <a:t>Photographing</a:t>
            </a:r>
            <a:r>
              <a:rPr lang="en-US" sz="1800" b="1" dirty="0"/>
              <a:t>: </a:t>
            </a:r>
            <a:r>
              <a:rPr lang="en-US" sz="1800" dirty="0"/>
              <a:t>The secret message is </a:t>
            </a:r>
            <a:r>
              <a:rPr lang="en-US" sz="1800" b="1" dirty="0"/>
              <a:t>snapped</a:t>
            </a:r>
            <a:r>
              <a:rPr lang="en-US" sz="1800" dirty="0"/>
              <a:t> and </a:t>
            </a:r>
            <a:r>
              <a:rPr lang="en-US" sz="1800" b="1" dirty="0"/>
              <a:t>reduced</a:t>
            </a:r>
            <a:r>
              <a:rPr lang="en-US" sz="1800" dirty="0"/>
              <a:t> to a size of a dot and inserted in place of regular periods at the end of sentences.</a:t>
            </a:r>
          </a:p>
          <a:p>
            <a:pPr lvl="1" algn="just">
              <a:lnSpc>
                <a:spcPct val="100000"/>
              </a:lnSpc>
              <a:buFont typeface="Wingdings" panose="05000000000000000000" pitchFamily="2" charset="2"/>
              <a:buChar char="Ø"/>
            </a:pPr>
            <a:r>
              <a:rPr lang="en-US" sz="1800" b="1" dirty="0">
                <a:solidFill>
                  <a:srgbClr val="FF0000"/>
                </a:solidFill>
              </a:rPr>
              <a:t>Hiding in LSB</a:t>
            </a:r>
            <a:r>
              <a:rPr lang="en-US" sz="1800" b="1" dirty="0"/>
              <a:t>: In either graphic image or sound file.</a:t>
            </a:r>
            <a:endParaRPr lang="en-US" sz="1800" dirty="0"/>
          </a:p>
          <a:p>
            <a:pPr lvl="1" algn="just">
              <a:lnSpc>
                <a:spcPct val="100000"/>
              </a:lnSpc>
              <a:buFont typeface="Wingdings" panose="05000000000000000000" pitchFamily="2" charset="2"/>
              <a:buChar char="Ø"/>
            </a:pPr>
            <a:endParaRPr lang="en-US" sz="1800" dirty="0"/>
          </a:p>
          <a:p>
            <a:pPr lvl="1" algn="just">
              <a:lnSpc>
                <a:spcPct val="100000"/>
              </a:lnSpc>
              <a:buFont typeface="Wingdings" panose="05000000000000000000" pitchFamily="2" charset="2"/>
              <a:buChar char="Ø"/>
            </a:pPr>
            <a:endParaRPr lang="en-US" sz="1800" dirty="0"/>
          </a:p>
          <a:p>
            <a:pPr lvl="1" algn="just">
              <a:lnSpc>
                <a:spcPct val="100000"/>
              </a:lnSpc>
              <a:buFont typeface="Wingdings" panose="05000000000000000000" pitchFamily="2" charset="2"/>
              <a:buChar char="Ø"/>
            </a:pPr>
            <a:endParaRPr lang="en-US" sz="1800" dirty="0"/>
          </a:p>
          <a:p>
            <a:pPr lvl="1" algn="just">
              <a:lnSpc>
                <a:spcPct val="100000"/>
              </a:lnSpc>
              <a:buFont typeface="Wingdings" panose="05000000000000000000" pitchFamily="2" charset="2"/>
              <a:buChar char="Ø"/>
            </a:pPr>
            <a:endParaRPr lang="en-US" sz="2000" dirty="0"/>
          </a:p>
          <a:p>
            <a:pPr lvl="1" algn="just">
              <a:lnSpc>
                <a:spcPct val="100000"/>
              </a:lnSpc>
              <a:buFont typeface="Wingdings" panose="05000000000000000000" pitchFamily="2" charset="2"/>
              <a:buChar char="Ø"/>
            </a:pPr>
            <a:endParaRPr lang="en-MY" sz="2000" dirty="0"/>
          </a:p>
        </p:txBody>
      </p:sp>
    </p:spTree>
    <p:extLst>
      <p:ext uri="{BB962C8B-B14F-4D97-AF65-F5344CB8AC3E}">
        <p14:creationId xmlns:p14="http://schemas.microsoft.com/office/powerpoint/2010/main" val="26105686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Steganography – </a:t>
            </a:r>
            <a:r>
              <a:rPr lang="en-MY" sz="4400" dirty="0">
                <a:solidFill>
                  <a:srgbClr val="0000FF"/>
                </a:solidFill>
              </a:rPr>
              <a:t>Modern Techniques</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algn="just">
              <a:buClr>
                <a:srgbClr val="0000FF"/>
              </a:buClr>
            </a:pPr>
            <a:r>
              <a:rPr lang="en-US" sz="2000" dirty="0"/>
              <a:t>Secret binary information can be inserted into any form of data (text, image, audio, or video) during digitization processes.</a:t>
            </a:r>
          </a:p>
          <a:p>
            <a:pPr algn="just">
              <a:buClr>
                <a:srgbClr val="0000FF"/>
              </a:buClr>
            </a:pPr>
            <a:r>
              <a:rPr lang="en-US" sz="2000" dirty="0"/>
              <a:t>Hidden information can be used for secrecy, to protect copyright, prevent tampering or add extra information.</a:t>
            </a:r>
          </a:p>
          <a:p>
            <a:pPr algn="just">
              <a:lnSpc>
                <a:spcPct val="100000"/>
              </a:lnSpc>
            </a:pPr>
            <a:endParaRPr lang="en-MY" sz="2200" dirty="0"/>
          </a:p>
        </p:txBody>
      </p:sp>
    </p:spTree>
    <p:extLst>
      <p:ext uri="{BB962C8B-B14F-4D97-AF65-F5344CB8AC3E}">
        <p14:creationId xmlns:p14="http://schemas.microsoft.com/office/powerpoint/2010/main" val="38112327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Steganography – </a:t>
            </a:r>
            <a:r>
              <a:rPr lang="en-MY" sz="4400" dirty="0">
                <a:solidFill>
                  <a:srgbClr val="0000FF"/>
                </a:solidFill>
              </a:rPr>
              <a:t>Modern Techniques</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marL="0" indent="0" algn="just">
              <a:lnSpc>
                <a:spcPct val="100000"/>
              </a:lnSpc>
              <a:buNone/>
            </a:pPr>
            <a:r>
              <a:rPr lang="en-MY" sz="2000" b="1" dirty="0">
                <a:solidFill>
                  <a:srgbClr val="0000FF"/>
                </a:solidFill>
              </a:rPr>
              <a:t>Example 1: Covering data with text.</a:t>
            </a:r>
          </a:p>
          <a:p>
            <a:pPr marL="0" indent="0" algn="just">
              <a:lnSpc>
                <a:spcPct val="100000"/>
              </a:lnSpc>
              <a:buNone/>
            </a:pPr>
            <a:endParaRPr lang="en-MY" sz="1800" dirty="0"/>
          </a:p>
          <a:p>
            <a:pPr marL="0" indent="0" algn="just">
              <a:lnSpc>
                <a:spcPct val="100000"/>
              </a:lnSpc>
              <a:buNone/>
            </a:pPr>
            <a:endParaRPr lang="en-MY" sz="1800" dirty="0"/>
          </a:p>
          <a:p>
            <a:pPr marL="0" indent="0" algn="just">
              <a:lnSpc>
                <a:spcPct val="100000"/>
              </a:lnSpc>
              <a:buNone/>
            </a:pPr>
            <a:endParaRPr lang="en-MY" sz="1800" dirty="0"/>
          </a:p>
          <a:p>
            <a:pPr marL="0" indent="0" algn="just">
              <a:lnSpc>
                <a:spcPct val="100000"/>
              </a:lnSpc>
              <a:buNone/>
            </a:pPr>
            <a:endParaRPr lang="en-MY" sz="1800" dirty="0"/>
          </a:p>
          <a:p>
            <a:pPr marL="0" indent="0" algn="just">
              <a:lnSpc>
                <a:spcPct val="100000"/>
              </a:lnSpc>
              <a:buNone/>
            </a:pPr>
            <a:endParaRPr lang="en-MY" sz="1800" dirty="0"/>
          </a:p>
          <a:p>
            <a:pPr algn="just">
              <a:lnSpc>
                <a:spcPct val="100000"/>
              </a:lnSpc>
              <a:buFont typeface="Wingdings" panose="05000000000000000000" pitchFamily="2" charset="2"/>
              <a:buChar char="Ø"/>
            </a:pPr>
            <a:r>
              <a:rPr lang="en-US" sz="1800" dirty="0"/>
              <a:t>Single space between words represents binary digit 0.</a:t>
            </a:r>
          </a:p>
          <a:p>
            <a:pPr algn="just">
              <a:lnSpc>
                <a:spcPct val="100000"/>
              </a:lnSpc>
              <a:buFont typeface="Wingdings" panose="05000000000000000000" pitchFamily="2" charset="2"/>
              <a:buChar char="Ø"/>
            </a:pPr>
            <a:r>
              <a:rPr lang="en-US" sz="1800" dirty="0"/>
              <a:t>Double space between words represents binary digit 1.</a:t>
            </a:r>
          </a:p>
          <a:p>
            <a:pPr algn="just">
              <a:lnSpc>
                <a:spcPct val="100000"/>
              </a:lnSpc>
              <a:buFont typeface="Wingdings" panose="05000000000000000000" pitchFamily="2" charset="2"/>
              <a:buChar char="Ø"/>
            </a:pPr>
            <a:r>
              <a:rPr lang="en-US" sz="1800" dirty="0"/>
              <a:t>Above hides the 8-bit binary representation of the ! in </a:t>
            </a:r>
            <a:r>
              <a:rPr lang="en-US" sz="1800" b="1" dirty="0">
                <a:solidFill>
                  <a:srgbClr val="FF0000"/>
                </a:solidFill>
              </a:rPr>
              <a:t>ASCII code </a:t>
            </a:r>
            <a:r>
              <a:rPr lang="en-US" sz="1800" dirty="0"/>
              <a:t>(0100001)</a:t>
            </a:r>
          </a:p>
          <a:p>
            <a:pPr marL="0" indent="0" algn="just">
              <a:lnSpc>
                <a:spcPct val="100000"/>
              </a:lnSpc>
              <a:buNone/>
            </a:pPr>
            <a:endParaRPr lang="en-MY" sz="1800" dirty="0"/>
          </a:p>
        </p:txBody>
      </p:sp>
      <p:pic>
        <p:nvPicPr>
          <p:cNvPr id="4" name="Picture 11">
            <a:extLst>
              <a:ext uri="{FF2B5EF4-FFF2-40B4-BE49-F238E27FC236}">
                <a16:creationId xmlns:a16="http://schemas.microsoft.com/office/drawing/2014/main" id="{A3C01B59-41DF-4DBE-49D2-E7A7B5F470C8}"/>
              </a:ext>
            </a:extLst>
          </p:cNvPr>
          <p:cNvPicPr>
            <a:picLocks noChangeAspect="1" noChangeArrowheads="1"/>
          </p:cNvPicPr>
          <p:nvPr/>
        </p:nvPicPr>
        <p:blipFill>
          <a:blip r:embed="rId2" cstate="print"/>
          <a:srcRect/>
          <a:stretch>
            <a:fillRect/>
          </a:stretch>
        </p:blipFill>
        <p:spPr bwMode="auto">
          <a:xfrm>
            <a:off x="2101056" y="2979877"/>
            <a:ext cx="7989887" cy="12652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33314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Steganography – </a:t>
            </a:r>
            <a:r>
              <a:rPr lang="en-MY" sz="4400" dirty="0">
                <a:solidFill>
                  <a:srgbClr val="0000FF"/>
                </a:solidFill>
              </a:rPr>
              <a:t>Modern Techniques</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6" y="2318032"/>
            <a:ext cx="6889072" cy="3854167"/>
          </a:xfrm>
        </p:spPr>
        <p:txBody>
          <a:bodyPr>
            <a:normAutofit/>
          </a:bodyPr>
          <a:lstStyle/>
          <a:p>
            <a:pPr marL="0" indent="0" algn="just">
              <a:lnSpc>
                <a:spcPct val="100000"/>
              </a:lnSpc>
              <a:buNone/>
            </a:pPr>
            <a:r>
              <a:rPr lang="en-MY" sz="2000" b="1" dirty="0">
                <a:solidFill>
                  <a:srgbClr val="0000FF"/>
                </a:solidFill>
              </a:rPr>
              <a:t>Example 2: Using dictionary.</a:t>
            </a:r>
          </a:p>
          <a:p>
            <a:pPr marL="0" indent="0" algn="just">
              <a:lnSpc>
                <a:spcPct val="100000"/>
              </a:lnSpc>
              <a:buNone/>
            </a:pPr>
            <a:endParaRPr lang="en-MY" sz="2000" dirty="0"/>
          </a:p>
          <a:p>
            <a:pPr marL="0" indent="0" algn="just">
              <a:lnSpc>
                <a:spcPct val="100000"/>
              </a:lnSpc>
              <a:buNone/>
            </a:pPr>
            <a:endParaRPr lang="en-MY" sz="2000" dirty="0"/>
          </a:p>
          <a:p>
            <a:pPr algn="just">
              <a:buFont typeface="Wingdings" panose="05000000000000000000" pitchFamily="2" charset="2"/>
              <a:buChar char="Ø"/>
            </a:pPr>
            <a:r>
              <a:rPr lang="en-US" sz="1800" dirty="0"/>
              <a:t>Use a dictionary of words organized according to their grammatical usages.</a:t>
            </a:r>
          </a:p>
          <a:p>
            <a:pPr algn="just">
              <a:buFont typeface="Wingdings" panose="05000000000000000000" pitchFamily="2" charset="2"/>
              <a:buChar char="Ø"/>
            </a:pPr>
            <a:r>
              <a:rPr lang="en-US" sz="1800" dirty="0"/>
              <a:t>It assumes a dictionary contain 2 articles, 16 verbs, 32 nouns.</a:t>
            </a:r>
          </a:p>
          <a:p>
            <a:pPr algn="just">
              <a:buFont typeface="Wingdings" panose="05000000000000000000" pitchFamily="2" charset="2"/>
              <a:buChar char="Ø"/>
            </a:pPr>
            <a:r>
              <a:rPr lang="en-US" sz="1800" b="1" dirty="0">
                <a:solidFill>
                  <a:srgbClr val="FF0000"/>
                </a:solidFill>
              </a:rPr>
              <a:t>Pattern agreed</a:t>
            </a:r>
            <a:r>
              <a:rPr lang="en-US" sz="1800" dirty="0"/>
              <a:t>: article-noun-verb-article-noun.</a:t>
            </a:r>
          </a:p>
          <a:p>
            <a:pPr algn="just">
              <a:buFont typeface="Wingdings" panose="05000000000000000000" pitchFamily="2" charset="2"/>
              <a:buChar char="Ø"/>
            </a:pPr>
            <a:r>
              <a:rPr lang="en-US" sz="1800" dirty="0"/>
              <a:t>Divide the secret binary data into 16-bit chunks</a:t>
            </a:r>
            <a:r>
              <a:rPr lang="en-MY" sz="2000" dirty="0"/>
              <a:t>.</a:t>
            </a:r>
            <a:endParaRPr lang="en-US" sz="1800" dirty="0"/>
          </a:p>
        </p:txBody>
      </p:sp>
      <p:pic>
        <p:nvPicPr>
          <p:cNvPr id="4" name="Picture 9">
            <a:extLst>
              <a:ext uri="{FF2B5EF4-FFF2-40B4-BE49-F238E27FC236}">
                <a16:creationId xmlns:a16="http://schemas.microsoft.com/office/drawing/2014/main" id="{FB12502E-CFDC-A97C-9798-5F72164205F2}"/>
              </a:ext>
            </a:extLst>
          </p:cNvPr>
          <p:cNvPicPr>
            <a:picLocks noChangeAspect="1" noChangeArrowheads="1"/>
          </p:cNvPicPr>
          <p:nvPr/>
        </p:nvPicPr>
        <p:blipFill>
          <a:blip r:embed="rId2" cstate="print"/>
          <a:srcRect/>
          <a:stretch>
            <a:fillRect/>
          </a:stretch>
        </p:blipFill>
        <p:spPr bwMode="auto">
          <a:xfrm>
            <a:off x="5990669" y="2318032"/>
            <a:ext cx="5686425" cy="957263"/>
          </a:xfrm>
          <a:prstGeom prst="rect">
            <a:avLst/>
          </a:prstGeom>
          <a:noFill/>
          <a:ln w="9525">
            <a:noFill/>
            <a:miter lim="800000"/>
            <a:headEnd/>
            <a:tailEnd/>
          </a:ln>
        </p:spPr>
      </p:pic>
      <p:graphicFrame>
        <p:nvGraphicFramePr>
          <p:cNvPr id="5" name="Table 5">
            <a:extLst>
              <a:ext uri="{FF2B5EF4-FFF2-40B4-BE49-F238E27FC236}">
                <a16:creationId xmlns:a16="http://schemas.microsoft.com/office/drawing/2014/main" id="{00875EDE-D912-4E85-A401-14790F3C83D6}"/>
              </a:ext>
            </a:extLst>
          </p:cNvPr>
          <p:cNvGraphicFramePr>
            <a:graphicFrameLocks noGrp="1"/>
          </p:cNvGraphicFramePr>
          <p:nvPr/>
        </p:nvGraphicFramePr>
        <p:xfrm>
          <a:off x="7547990" y="3817621"/>
          <a:ext cx="4129104" cy="2194560"/>
        </p:xfrm>
        <a:graphic>
          <a:graphicData uri="http://schemas.openxmlformats.org/drawingml/2006/table">
            <a:tbl>
              <a:tblPr firstRow="1" bandRow="1">
                <a:tableStyleId>{5C22544A-7EE6-4342-B048-85BDC9FD1C3A}</a:tableStyleId>
              </a:tblPr>
              <a:tblGrid>
                <a:gridCol w="1527945">
                  <a:extLst>
                    <a:ext uri="{9D8B030D-6E8A-4147-A177-3AD203B41FA5}">
                      <a16:colId xmlns:a16="http://schemas.microsoft.com/office/drawing/2014/main" val="3807287072"/>
                    </a:ext>
                  </a:extLst>
                </a:gridCol>
                <a:gridCol w="2601159">
                  <a:extLst>
                    <a:ext uri="{9D8B030D-6E8A-4147-A177-3AD203B41FA5}">
                      <a16:colId xmlns:a16="http://schemas.microsoft.com/office/drawing/2014/main" val="594656235"/>
                    </a:ext>
                  </a:extLst>
                </a:gridCol>
              </a:tblGrid>
              <a:tr h="0">
                <a:tc>
                  <a:txBody>
                    <a:bodyPr/>
                    <a:lstStyle/>
                    <a:p>
                      <a:pPr algn="ctr"/>
                      <a:r>
                        <a:rPr lang="en-MY" dirty="0"/>
                        <a:t>Bits</a:t>
                      </a:r>
                    </a:p>
                  </a:txBody>
                  <a:tcPr/>
                </a:tc>
                <a:tc>
                  <a:txBody>
                    <a:bodyPr/>
                    <a:lstStyle/>
                    <a:p>
                      <a:pPr algn="ctr"/>
                      <a:r>
                        <a:rPr lang="en-MY" dirty="0"/>
                        <a:t>Representations</a:t>
                      </a:r>
                    </a:p>
                  </a:txBody>
                  <a:tcPr/>
                </a:tc>
                <a:extLst>
                  <a:ext uri="{0D108BD9-81ED-4DB2-BD59-A6C34878D82A}">
                    <a16:rowId xmlns:a16="http://schemas.microsoft.com/office/drawing/2014/main" val="3581668676"/>
                  </a:ext>
                </a:extLst>
              </a:tr>
              <a:tr h="350572">
                <a:tc>
                  <a:txBody>
                    <a:bodyPr/>
                    <a:lstStyle/>
                    <a:p>
                      <a:pPr algn="ctr"/>
                      <a:r>
                        <a:rPr lang="en-MY" dirty="0"/>
                        <a:t>1</a:t>
                      </a:r>
                    </a:p>
                  </a:txBody>
                  <a:tcPr/>
                </a:tc>
                <a:tc>
                  <a:txBody>
                    <a:bodyPr/>
                    <a:lstStyle/>
                    <a:p>
                      <a:pPr algn="l"/>
                      <a:r>
                        <a:rPr lang="en-MY" dirty="0"/>
                        <a:t>First article</a:t>
                      </a:r>
                    </a:p>
                  </a:txBody>
                  <a:tcPr/>
                </a:tc>
                <a:extLst>
                  <a:ext uri="{0D108BD9-81ED-4DB2-BD59-A6C34878D82A}">
                    <a16:rowId xmlns:a16="http://schemas.microsoft.com/office/drawing/2014/main" val="1606479596"/>
                  </a:ext>
                </a:extLst>
              </a:tr>
              <a:tr h="350572">
                <a:tc>
                  <a:txBody>
                    <a:bodyPr/>
                    <a:lstStyle/>
                    <a:p>
                      <a:pPr algn="ctr"/>
                      <a:r>
                        <a:rPr lang="en-MY" dirty="0"/>
                        <a:t>2 – 6 </a:t>
                      </a:r>
                    </a:p>
                  </a:txBody>
                  <a:tcPr/>
                </a:tc>
                <a:tc>
                  <a:txBody>
                    <a:bodyPr/>
                    <a:lstStyle/>
                    <a:p>
                      <a:pPr algn="l"/>
                      <a:r>
                        <a:rPr lang="en-MY" dirty="0"/>
                        <a:t>First noun</a:t>
                      </a:r>
                    </a:p>
                  </a:txBody>
                  <a:tcPr/>
                </a:tc>
                <a:extLst>
                  <a:ext uri="{0D108BD9-81ED-4DB2-BD59-A6C34878D82A}">
                    <a16:rowId xmlns:a16="http://schemas.microsoft.com/office/drawing/2014/main" val="578464452"/>
                  </a:ext>
                </a:extLst>
              </a:tr>
              <a:tr h="350572">
                <a:tc>
                  <a:txBody>
                    <a:bodyPr/>
                    <a:lstStyle/>
                    <a:p>
                      <a:pPr algn="ctr"/>
                      <a:r>
                        <a:rPr lang="en-MY" dirty="0"/>
                        <a:t>7 – 10 </a:t>
                      </a:r>
                    </a:p>
                  </a:txBody>
                  <a:tcPr/>
                </a:tc>
                <a:tc>
                  <a:txBody>
                    <a:bodyPr/>
                    <a:lstStyle/>
                    <a:p>
                      <a:pPr algn="l"/>
                      <a:r>
                        <a:rPr lang="en-MY" dirty="0"/>
                        <a:t>Verb</a:t>
                      </a:r>
                    </a:p>
                  </a:txBody>
                  <a:tcPr/>
                </a:tc>
                <a:extLst>
                  <a:ext uri="{0D108BD9-81ED-4DB2-BD59-A6C34878D82A}">
                    <a16:rowId xmlns:a16="http://schemas.microsoft.com/office/drawing/2014/main" val="1614133407"/>
                  </a:ext>
                </a:extLst>
              </a:tr>
              <a:tr h="350572">
                <a:tc>
                  <a:txBody>
                    <a:bodyPr/>
                    <a:lstStyle/>
                    <a:p>
                      <a:pPr algn="ctr"/>
                      <a:r>
                        <a:rPr lang="en-MY" dirty="0"/>
                        <a:t>11</a:t>
                      </a:r>
                    </a:p>
                  </a:txBody>
                  <a:tcPr/>
                </a:tc>
                <a:tc>
                  <a:txBody>
                    <a:bodyPr/>
                    <a:lstStyle/>
                    <a:p>
                      <a:pPr algn="l"/>
                      <a:r>
                        <a:rPr lang="en-MY" dirty="0"/>
                        <a:t>Second article</a:t>
                      </a:r>
                    </a:p>
                  </a:txBody>
                  <a:tcPr/>
                </a:tc>
                <a:extLst>
                  <a:ext uri="{0D108BD9-81ED-4DB2-BD59-A6C34878D82A}">
                    <a16:rowId xmlns:a16="http://schemas.microsoft.com/office/drawing/2014/main" val="3239529292"/>
                  </a:ext>
                </a:extLst>
              </a:tr>
              <a:tr h="350572">
                <a:tc>
                  <a:txBody>
                    <a:bodyPr/>
                    <a:lstStyle/>
                    <a:p>
                      <a:pPr algn="ctr"/>
                      <a:r>
                        <a:rPr lang="en-MY" dirty="0"/>
                        <a:t>12 – 16 </a:t>
                      </a:r>
                    </a:p>
                  </a:txBody>
                  <a:tcPr/>
                </a:tc>
                <a:tc>
                  <a:txBody>
                    <a:bodyPr/>
                    <a:lstStyle/>
                    <a:p>
                      <a:pPr algn="l"/>
                      <a:r>
                        <a:rPr lang="en-MY" dirty="0"/>
                        <a:t>Second noun</a:t>
                      </a:r>
                    </a:p>
                  </a:txBody>
                  <a:tcPr/>
                </a:tc>
                <a:extLst>
                  <a:ext uri="{0D108BD9-81ED-4DB2-BD59-A6C34878D82A}">
                    <a16:rowId xmlns:a16="http://schemas.microsoft.com/office/drawing/2014/main" val="4120155679"/>
                  </a:ext>
                </a:extLst>
              </a:tr>
            </a:tbl>
          </a:graphicData>
        </a:graphic>
      </p:graphicFrame>
    </p:spTree>
    <p:extLst>
      <p:ext uri="{BB962C8B-B14F-4D97-AF65-F5344CB8AC3E}">
        <p14:creationId xmlns:p14="http://schemas.microsoft.com/office/powerpoint/2010/main" val="32020218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Steganography – </a:t>
            </a:r>
            <a:r>
              <a:rPr lang="en-MY" sz="4400" dirty="0">
                <a:solidFill>
                  <a:srgbClr val="0000FF"/>
                </a:solidFill>
              </a:rPr>
              <a:t>Modern Techniques</a:t>
            </a:r>
            <a:endParaRPr lang="en-MY" sz="4400"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9629C15-741C-2D4D-7EF1-C7EDF08F961A}"/>
                  </a:ext>
                </a:extLst>
              </p:cNvPr>
              <p:cNvSpPr>
                <a:spLocks noGrp="1"/>
              </p:cNvSpPr>
              <p:nvPr>
                <p:ph idx="1"/>
              </p:nvPr>
            </p:nvSpPr>
            <p:spPr>
              <a:xfrm>
                <a:off x="514350" y="2317750"/>
                <a:ext cx="11106150" cy="3854450"/>
              </a:xfrm>
            </p:spPr>
            <p:txBody>
              <a:bodyPr>
                <a:normAutofit/>
              </a:bodyPr>
              <a:lstStyle/>
              <a:p>
                <a:pPr marL="0" indent="0" algn="just">
                  <a:lnSpc>
                    <a:spcPct val="100000"/>
                  </a:lnSpc>
                  <a:buNone/>
                </a:pPr>
                <a:r>
                  <a:rPr lang="en-MY" sz="2000" b="1" dirty="0">
                    <a:solidFill>
                      <a:srgbClr val="0000FF"/>
                    </a:solidFill>
                  </a:rPr>
                  <a:t>Example 3: Covering data under colour image.</a:t>
                </a:r>
                <a:endParaRPr lang="en-MY" sz="2000" dirty="0"/>
              </a:p>
              <a:p>
                <a:pPr algn="just">
                  <a:lnSpc>
                    <a:spcPct val="100000"/>
                  </a:lnSpc>
                  <a:buFont typeface="Wingdings" panose="05000000000000000000" pitchFamily="2" charset="2"/>
                  <a:buChar char="Ø"/>
                </a:pPr>
                <a:r>
                  <a:rPr lang="en-US" sz="2000" dirty="0"/>
                  <a:t>Digitized images are made of pixels, with each pixel uses 24 bits (three bytes).</a:t>
                </a:r>
              </a:p>
              <a:p>
                <a:pPr algn="just">
                  <a:lnSpc>
                    <a:spcPct val="100000"/>
                  </a:lnSpc>
                  <a:buFont typeface="Wingdings" panose="05000000000000000000" pitchFamily="2" charset="2"/>
                  <a:buChar char="Ø"/>
                </a:pPr>
                <a:r>
                  <a:rPr lang="en-US" sz="2000" dirty="0"/>
                  <a:t>Each byte represents one of the primary colors (red, green, or blue), hence there are </a:t>
                </a:r>
                <a14:m>
                  <m:oMath xmlns:m="http://schemas.openxmlformats.org/officeDocument/2006/math">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2</m:t>
                        </m:r>
                      </m:e>
                      <m:sup>
                        <m:r>
                          <a:rPr lang="en-MY" sz="2000" b="0" i="1" smtClean="0">
                            <a:latin typeface="Cambria Math" panose="02040503050406030204" pitchFamily="18" charset="0"/>
                          </a:rPr>
                          <m:t>8</m:t>
                        </m:r>
                      </m:sup>
                    </m:sSup>
                    <m:r>
                      <a:rPr lang="en-MY" sz="2000" b="0" i="1" smtClean="0">
                        <a:latin typeface="Cambria Math" panose="02040503050406030204" pitchFamily="18" charset="0"/>
                      </a:rPr>
                      <m:t>=</m:t>
                    </m:r>
                    <m:r>
                      <a:rPr lang="en-MY" sz="2000" b="1" i="1" smtClean="0">
                        <a:solidFill>
                          <a:srgbClr val="FF0000"/>
                        </a:solidFill>
                        <a:latin typeface="Cambria Math" panose="02040503050406030204" pitchFamily="18" charset="0"/>
                      </a:rPr>
                      <m:t>𝟐𝟓𝟔</m:t>
                    </m:r>
                  </m:oMath>
                </a14:m>
                <a:r>
                  <a:rPr lang="en-US" sz="2000" baseline="30000" dirty="0"/>
                  <a:t> </a:t>
                </a:r>
                <a:r>
                  <a:rPr lang="en-US" sz="2000" dirty="0"/>
                  <a:t>different shades of each color that is possible.</a:t>
                </a:r>
              </a:p>
              <a:p>
                <a:pPr algn="just">
                  <a:lnSpc>
                    <a:spcPct val="100000"/>
                  </a:lnSpc>
                  <a:buFont typeface="Wingdings" panose="05000000000000000000" pitchFamily="2" charset="2"/>
                  <a:buChar char="Ø"/>
                </a:pPr>
                <a:r>
                  <a:rPr lang="en-US" sz="2000" dirty="0"/>
                  <a:t>In </a:t>
                </a:r>
                <a:r>
                  <a:rPr lang="en-US" sz="2000" b="1" dirty="0">
                    <a:solidFill>
                      <a:srgbClr val="0000FF"/>
                    </a:solidFill>
                  </a:rPr>
                  <a:t>LSB method</a:t>
                </a:r>
                <a:r>
                  <a:rPr lang="en-US" sz="2000" dirty="0"/>
                  <a:t>, sets the least significant bit of each byte to zero. Next, hide a binary data in the image by keeping or changing the LSB. Finally, hide the character in three pixels.</a:t>
                </a:r>
              </a:p>
              <a:p>
                <a:pPr marL="0" indent="0" algn="just">
                  <a:lnSpc>
                    <a:spcPct val="100000"/>
                  </a:lnSpc>
                  <a:buNone/>
                </a:pPr>
                <a:endParaRPr lang="en-MY" sz="2000" b="1" dirty="0"/>
              </a:p>
            </p:txBody>
          </p:sp>
        </mc:Choice>
        <mc:Fallback xmlns="">
          <p:sp>
            <p:nvSpPr>
              <p:cNvPr id="4" name="Content Placeholder 2">
                <a:extLst>
                  <a:ext uri="{FF2B5EF4-FFF2-40B4-BE49-F238E27FC236}">
                    <a16:creationId xmlns:a16="http://schemas.microsoft.com/office/drawing/2014/main" id="{E9629C15-741C-2D4D-7EF1-C7EDF08F961A}"/>
                  </a:ext>
                </a:extLst>
              </p:cNvPr>
              <p:cNvSpPr>
                <a:spLocks noGrp="1" noRot="1" noChangeAspect="1" noMove="1" noResize="1" noEditPoints="1" noAdjustHandles="1" noChangeArrowheads="1" noChangeShapeType="1" noTextEdit="1"/>
              </p:cNvSpPr>
              <p:nvPr>
                <p:ph idx="1"/>
              </p:nvPr>
            </p:nvSpPr>
            <p:spPr>
              <a:xfrm>
                <a:off x="514350" y="2317750"/>
                <a:ext cx="11106150" cy="3854450"/>
              </a:xfrm>
              <a:blipFill>
                <a:blip r:embed="rId2"/>
                <a:stretch>
                  <a:fillRect l="-549" t="-790" r="-604"/>
                </a:stretch>
              </a:blipFill>
            </p:spPr>
            <p:txBody>
              <a:bodyPr/>
              <a:lstStyle/>
              <a:p>
                <a:r>
                  <a:rPr lang="en-MY">
                    <a:noFill/>
                  </a:rPr>
                  <a:t> </a:t>
                </a:r>
              </a:p>
            </p:txBody>
          </p:sp>
        </mc:Fallback>
      </mc:AlternateContent>
    </p:spTree>
    <p:extLst>
      <p:ext uri="{BB962C8B-B14F-4D97-AF65-F5344CB8AC3E}">
        <p14:creationId xmlns:p14="http://schemas.microsoft.com/office/powerpoint/2010/main" val="3458837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A8DD-2BDB-9C31-B768-49869D8F07B4}"/>
              </a:ext>
            </a:extLst>
          </p:cNvPr>
          <p:cNvSpPr>
            <a:spLocks noGrp="1"/>
          </p:cNvSpPr>
          <p:nvPr>
            <p:ph type="title"/>
          </p:nvPr>
        </p:nvSpPr>
        <p:spPr>
          <a:xfrm>
            <a:off x="514906" y="365125"/>
            <a:ext cx="11105964" cy="1577975"/>
          </a:xfrm>
        </p:spPr>
        <p:txBody>
          <a:bodyPr>
            <a:normAutofit/>
          </a:bodyPr>
          <a:lstStyle/>
          <a:p>
            <a:r>
              <a:rPr lang="en-MY" sz="4400" dirty="0"/>
              <a:t>Steganography – </a:t>
            </a:r>
            <a:r>
              <a:rPr lang="en-MY" sz="4400" dirty="0">
                <a:solidFill>
                  <a:srgbClr val="0000FF"/>
                </a:solidFill>
              </a:rPr>
              <a:t>Drawbacks &amp; Remedy</a:t>
            </a:r>
            <a:endParaRPr lang="en-MY" sz="4400" dirty="0"/>
          </a:p>
        </p:txBody>
      </p:sp>
      <p:sp>
        <p:nvSpPr>
          <p:cNvPr id="3" name="Content Placeholder 2">
            <a:extLst>
              <a:ext uri="{FF2B5EF4-FFF2-40B4-BE49-F238E27FC236}">
                <a16:creationId xmlns:a16="http://schemas.microsoft.com/office/drawing/2014/main" id="{202A8117-FDEF-0DE7-A393-9A8513B2DF09}"/>
              </a:ext>
            </a:extLst>
          </p:cNvPr>
          <p:cNvSpPr>
            <a:spLocks noGrp="1"/>
          </p:cNvSpPr>
          <p:nvPr>
            <p:ph idx="1"/>
          </p:nvPr>
        </p:nvSpPr>
        <p:spPr>
          <a:xfrm>
            <a:off x="514905" y="2318032"/>
            <a:ext cx="11105963" cy="3854167"/>
          </a:xfrm>
        </p:spPr>
        <p:txBody>
          <a:bodyPr>
            <a:normAutofit/>
          </a:bodyPr>
          <a:lstStyle/>
          <a:p>
            <a:pPr eaLnBrk="1" hangingPunct="1">
              <a:lnSpc>
                <a:spcPct val="90000"/>
              </a:lnSpc>
              <a:buFont typeface="Wingdings" panose="05000000000000000000" pitchFamily="2" charset="2"/>
              <a:buChar char="v"/>
            </a:pPr>
            <a:r>
              <a:rPr lang="en-US" sz="2200" b="1" dirty="0">
                <a:solidFill>
                  <a:srgbClr val="FF0000"/>
                </a:solidFill>
              </a:rPr>
              <a:t>Drawbacks</a:t>
            </a:r>
            <a:r>
              <a:rPr lang="en-US" sz="2200" dirty="0"/>
              <a:t>:</a:t>
            </a:r>
          </a:p>
          <a:p>
            <a:pPr lvl="1">
              <a:lnSpc>
                <a:spcPct val="90000"/>
              </a:lnSpc>
              <a:buFont typeface="Wingdings" panose="05000000000000000000" pitchFamily="2" charset="2"/>
              <a:buChar char="Ø"/>
            </a:pPr>
            <a:r>
              <a:rPr lang="en-US" sz="2000" dirty="0"/>
              <a:t>High overhead to hide relatively few information bits.</a:t>
            </a:r>
          </a:p>
          <a:p>
            <a:pPr lvl="1">
              <a:lnSpc>
                <a:spcPct val="90000"/>
              </a:lnSpc>
              <a:buFont typeface="Wingdings" panose="05000000000000000000" pitchFamily="2" charset="2"/>
              <a:buChar char="Ø"/>
            </a:pPr>
            <a:r>
              <a:rPr lang="en-US" sz="2200" dirty="0"/>
              <a:t>Once the system is discovered, it becomes worthless.</a:t>
            </a:r>
          </a:p>
          <a:p>
            <a:pPr marL="228600" lvl="1" indent="0">
              <a:lnSpc>
                <a:spcPct val="90000"/>
              </a:lnSpc>
              <a:buNone/>
            </a:pPr>
            <a:endParaRPr lang="en-US" sz="2200" dirty="0"/>
          </a:p>
          <a:p>
            <a:pPr eaLnBrk="1" hangingPunct="1">
              <a:lnSpc>
                <a:spcPct val="90000"/>
              </a:lnSpc>
              <a:buFont typeface="Wingdings" panose="05000000000000000000" pitchFamily="2" charset="2"/>
              <a:buChar char="v"/>
            </a:pPr>
            <a:r>
              <a:rPr lang="en-US" sz="2200" b="1" dirty="0">
                <a:solidFill>
                  <a:srgbClr val="0000FF"/>
                </a:solidFill>
              </a:rPr>
              <a:t>Remedy</a:t>
            </a:r>
            <a:r>
              <a:rPr lang="en-US" sz="2200" dirty="0"/>
              <a:t>:</a:t>
            </a:r>
          </a:p>
          <a:p>
            <a:pPr lvl="1">
              <a:lnSpc>
                <a:spcPct val="90000"/>
              </a:lnSpc>
              <a:buFont typeface="Wingdings" panose="05000000000000000000" pitchFamily="2" charset="2"/>
              <a:buChar char="Ø"/>
            </a:pPr>
            <a:r>
              <a:rPr lang="en-US" sz="2000" dirty="0"/>
              <a:t>Insertion method can depend on some sort of key.</a:t>
            </a:r>
          </a:p>
          <a:p>
            <a:pPr lvl="1">
              <a:lnSpc>
                <a:spcPct val="90000"/>
              </a:lnSpc>
              <a:buFont typeface="Wingdings" panose="05000000000000000000" pitchFamily="2" charset="2"/>
              <a:buChar char="Ø"/>
            </a:pPr>
            <a:r>
              <a:rPr lang="en-US" sz="2200" dirty="0"/>
              <a:t>First encrypt the message and then hide using steganography.</a:t>
            </a:r>
          </a:p>
          <a:p>
            <a:pPr algn="just">
              <a:lnSpc>
                <a:spcPct val="100000"/>
              </a:lnSpc>
            </a:pPr>
            <a:endParaRPr lang="en-MY" sz="2200" dirty="0"/>
          </a:p>
        </p:txBody>
      </p:sp>
    </p:spTree>
    <p:extLst>
      <p:ext uri="{BB962C8B-B14F-4D97-AF65-F5344CB8AC3E}">
        <p14:creationId xmlns:p14="http://schemas.microsoft.com/office/powerpoint/2010/main" val="934082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6484-F9BC-3630-6C5E-5D0F991C4C8F}"/>
              </a:ext>
            </a:extLst>
          </p:cNvPr>
          <p:cNvSpPr>
            <a:spLocks noGrp="1"/>
          </p:cNvSpPr>
          <p:nvPr>
            <p:ph type="title"/>
          </p:nvPr>
        </p:nvSpPr>
        <p:spPr/>
        <p:txBody>
          <a:bodyPr/>
          <a:lstStyle/>
          <a:p>
            <a:r>
              <a:rPr lang="en-MY" dirty="0">
                <a:solidFill>
                  <a:srgbClr val="0000FF"/>
                </a:solidFill>
              </a:rPr>
              <a:t>Main References for Chapter 1</a:t>
            </a:r>
          </a:p>
        </p:txBody>
      </p:sp>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p:txBody>
          <a:bodyPr>
            <a:normAutofit/>
          </a:bodyPr>
          <a:lstStyle/>
          <a:p>
            <a:pPr marL="457200" indent="-457200" algn="just">
              <a:lnSpc>
                <a:spcPct val="100000"/>
              </a:lnSpc>
              <a:buFont typeface="+mj-lt"/>
              <a:buAutoNum type="arabicPeriod"/>
            </a:pPr>
            <a:r>
              <a:rPr lang="en-US" altLang="ko-KR" sz="2400" dirty="0" err="1">
                <a:ea typeface="Gulim" pitchFamily="34" charset="-127"/>
              </a:rPr>
              <a:t>Forouzan</a:t>
            </a:r>
            <a:r>
              <a:rPr lang="en-US" altLang="ko-KR" sz="2400" dirty="0">
                <a:ea typeface="Gulim" pitchFamily="34" charset="-127"/>
              </a:rPr>
              <a:t>, B.A. </a:t>
            </a:r>
            <a:r>
              <a:rPr lang="en-US" sz="2400" dirty="0"/>
              <a:t>“</a:t>
            </a:r>
            <a:r>
              <a:rPr lang="en-US" sz="2400" b="1" i="1" dirty="0"/>
              <a:t>Introduction to Cryptography and Network Security</a:t>
            </a:r>
            <a:r>
              <a:rPr lang="en-US" sz="2400" dirty="0"/>
              <a:t>”, Third Edition, McGraw-Hill, 2008.</a:t>
            </a:r>
          </a:p>
          <a:p>
            <a:pPr marL="457200" indent="-457200" algn="just">
              <a:lnSpc>
                <a:spcPct val="100000"/>
              </a:lnSpc>
              <a:buFont typeface="+mj-lt"/>
              <a:buAutoNum type="arabicPeriod"/>
            </a:pPr>
            <a:r>
              <a:rPr lang="en-US" sz="2400" dirty="0"/>
              <a:t>Stallings, W.  “</a:t>
            </a:r>
            <a:r>
              <a:rPr lang="en-US" sz="2400" b="1" i="1" dirty="0"/>
              <a:t>Cryptography and Network Security: Principles and Practices</a:t>
            </a:r>
            <a:r>
              <a:rPr lang="en-US" sz="2400" dirty="0"/>
              <a:t>”, Fifth Edition, Pearson Prentice Hall, 2011.</a:t>
            </a:r>
          </a:p>
          <a:p>
            <a:pPr marL="438150" lvl="1" indent="0" algn="just" eaLnBrk="1" hangingPunct="1">
              <a:lnSpc>
                <a:spcPct val="100000"/>
              </a:lnSpc>
              <a:buNone/>
            </a:pPr>
            <a:endParaRPr lang="en-US" altLang="ko-KR" sz="2800" dirty="0">
              <a:ea typeface="Gulim" pitchFamily="34" charset="-127"/>
            </a:endParaRPr>
          </a:p>
          <a:p>
            <a:pPr marL="457200" indent="-457200" algn="just">
              <a:lnSpc>
                <a:spcPct val="100000"/>
              </a:lnSpc>
              <a:buFont typeface="+mj-lt"/>
              <a:buAutoNum type="arabicPeriod"/>
            </a:pPr>
            <a:endParaRPr lang="en-MY" sz="2400" dirty="0"/>
          </a:p>
        </p:txBody>
      </p:sp>
    </p:spTree>
    <p:extLst>
      <p:ext uri="{BB962C8B-B14F-4D97-AF65-F5344CB8AC3E}">
        <p14:creationId xmlns:p14="http://schemas.microsoft.com/office/powerpoint/2010/main" val="24452830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14A154-261B-C449-2DDE-7ED60759E1EF}"/>
              </a:ext>
            </a:extLst>
          </p:cNvPr>
          <p:cNvSpPr>
            <a:spLocks noGrp="1"/>
          </p:cNvSpPr>
          <p:nvPr>
            <p:ph idx="1"/>
          </p:nvPr>
        </p:nvSpPr>
        <p:spPr>
          <a:xfrm>
            <a:off x="609600" y="621437"/>
            <a:ext cx="10972800" cy="5521301"/>
          </a:xfrm>
        </p:spPr>
        <p:txBody>
          <a:bodyPr>
            <a:normAutofit/>
          </a:bodyPr>
          <a:lstStyle/>
          <a:p>
            <a:pPr algn="ctr"/>
            <a:endParaRPr lang="en-MY" sz="3200" b="1" dirty="0">
              <a:solidFill>
                <a:srgbClr val="0000FF"/>
              </a:solidFill>
            </a:endParaRPr>
          </a:p>
          <a:p>
            <a:pPr algn="ctr"/>
            <a:endParaRPr lang="en-MY" sz="3200" b="1" dirty="0">
              <a:solidFill>
                <a:srgbClr val="0000FF"/>
              </a:solidFill>
            </a:endParaRPr>
          </a:p>
          <a:p>
            <a:pPr algn="ctr"/>
            <a:endParaRPr lang="en-MY" sz="2800" b="1" dirty="0">
              <a:solidFill>
                <a:srgbClr val="0000FF"/>
              </a:solidFill>
            </a:endParaRPr>
          </a:p>
          <a:p>
            <a:pPr algn="ctr"/>
            <a:r>
              <a:rPr lang="en-MY" sz="5400" b="1" dirty="0">
                <a:solidFill>
                  <a:srgbClr val="0000FF"/>
                </a:solidFill>
              </a:rPr>
              <a:t>~ THE END </a:t>
            </a:r>
            <a:r>
              <a:rPr lang="en-MY" sz="5400" b="1" dirty="0">
                <a:solidFill>
                  <a:srgbClr val="0000FF"/>
                </a:solidFill>
                <a:sym typeface="Wingdings" panose="05000000000000000000" pitchFamily="2" charset="2"/>
              </a:rPr>
              <a:t> ~</a:t>
            </a:r>
            <a:endParaRPr lang="en-MY" sz="5400" b="1" dirty="0">
              <a:solidFill>
                <a:srgbClr val="0000FF"/>
              </a:solidFill>
            </a:endParaRPr>
          </a:p>
        </p:txBody>
      </p:sp>
    </p:spTree>
    <p:extLst>
      <p:ext uri="{BB962C8B-B14F-4D97-AF65-F5344CB8AC3E}">
        <p14:creationId xmlns:p14="http://schemas.microsoft.com/office/powerpoint/2010/main" val="3192847958"/>
      </p:ext>
    </p:extLst>
  </p:cSld>
  <p:clrMapOvr>
    <a:masterClrMapping/>
  </p:clrMapOvr>
</p:sld>
</file>

<file path=ppt/theme/theme1.xml><?xml version="1.0" encoding="utf-8"?>
<a:theme xmlns:a="http://schemas.openxmlformats.org/drawingml/2006/main" name="Splash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FBB7BC0B-5C15-40C1-917F-EAD6654C6920}"/>
</file>

<file path=customXml/itemProps2.xml><?xml version="1.0" encoding="utf-8"?>
<ds:datastoreItem xmlns:ds="http://schemas.openxmlformats.org/officeDocument/2006/customXml" ds:itemID="{9D0C8C65-C845-4332-8B47-9E7F683A21FB}"/>
</file>

<file path=customXml/itemProps3.xml><?xml version="1.0" encoding="utf-8"?>
<ds:datastoreItem xmlns:ds="http://schemas.openxmlformats.org/officeDocument/2006/customXml" ds:itemID="{E2FD9D6A-88CC-4CD7-8657-6EFC9DFA17C7}"/>
</file>

<file path=docProps/app.xml><?xml version="1.0" encoding="utf-8"?>
<Properties xmlns="http://schemas.openxmlformats.org/officeDocument/2006/extended-properties" xmlns:vt="http://schemas.openxmlformats.org/officeDocument/2006/docPropsVTypes">
  <TotalTime>779</TotalTime>
  <Words>6121</Words>
  <Application>Microsoft Office PowerPoint</Application>
  <PresentationFormat>Widescreen</PresentationFormat>
  <Paragraphs>561</Paragraphs>
  <Slides>108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108</vt:i4>
      </vt:variant>
    </vt:vector>
  </HeadingPairs>
  <TitlesOfParts>
    <vt:vector size="118" baseType="lpstr">
      <vt:lpstr>Gulim</vt:lpstr>
      <vt:lpstr>Amasis MT Pro Black</vt:lpstr>
      <vt:lpstr>Arial</vt:lpstr>
      <vt:lpstr>Avenir Next LT Pro</vt:lpstr>
      <vt:lpstr>Cambria Math</vt:lpstr>
      <vt:lpstr>Courier New</vt:lpstr>
      <vt:lpstr>Posterama</vt:lpstr>
      <vt:lpstr>Times New Roman</vt:lpstr>
      <vt:lpstr>Wingdings</vt:lpstr>
      <vt:lpstr>SplashVTI</vt:lpstr>
      <vt:lpstr>Chapter 1</vt:lpstr>
      <vt:lpstr>So why are they important ?</vt:lpstr>
      <vt:lpstr>PART 1: DATA SECURITY    </vt:lpstr>
      <vt:lpstr>Outlines</vt:lpstr>
      <vt:lpstr>Learning Objectives</vt:lpstr>
      <vt:lpstr>SECURITY GOALS   </vt:lpstr>
      <vt:lpstr>Need for Information Security</vt:lpstr>
      <vt:lpstr>Need for Information Security</vt:lpstr>
      <vt:lpstr>Need for Information Security</vt:lpstr>
      <vt:lpstr>Security Concepts</vt:lpstr>
      <vt:lpstr>Security Goals - The CIA Triad</vt:lpstr>
      <vt:lpstr>The CIA Triad – Confidentiality</vt:lpstr>
      <vt:lpstr>The CIA Triad – Confidentiality</vt:lpstr>
      <vt:lpstr>The CIA Triad – Integrity</vt:lpstr>
      <vt:lpstr>The CIA Triad – Integrity</vt:lpstr>
      <vt:lpstr>The CIA Triad – Availability</vt:lpstr>
      <vt:lpstr>The CIA Triad – Availability</vt:lpstr>
      <vt:lpstr>SECURITY  THREATS / ATTACKS   </vt:lpstr>
      <vt:lpstr>OSI Security Architecture</vt:lpstr>
      <vt:lpstr>OSI Security Architecture</vt:lpstr>
      <vt:lpstr>OSI Security Architecture</vt:lpstr>
      <vt:lpstr>Security Threats / Attacks</vt:lpstr>
      <vt:lpstr>Security Threats / Attacks</vt:lpstr>
      <vt:lpstr>Security Threats / Attacks – Passive Attacks</vt:lpstr>
      <vt:lpstr>PowerPoint Presentation</vt:lpstr>
      <vt:lpstr>PowerPoint Presentation</vt:lpstr>
      <vt:lpstr>Security Threats / Attacks – Active Attacks</vt:lpstr>
      <vt:lpstr>PowerPoint Presentation</vt:lpstr>
      <vt:lpstr>PowerPoint Presentation</vt:lpstr>
      <vt:lpstr>PowerPoint Presentation</vt:lpstr>
      <vt:lpstr>PowerPoint Presentation</vt:lpstr>
      <vt:lpstr>SECURITY SERVICES   </vt:lpstr>
      <vt:lpstr>Security Services - Analogy</vt:lpstr>
      <vt:lpstr>Security Services - Analogy</vt:lpstr>
      <vt:lpstr>Security Services – X.800 (Overall)</vt:lpstr>
      <vt:lpstr>Security Services – Confidentiality</vt:lpstr>
      <vt:lpstr>Security Services – Authentication</vt:lpstr>
      <vt:lpstr>Security Services – Authentication</vt:lpstr>
      <vt:lpstr>Security Services – Authentication</vt:lpstr>
      <vt:lpstr>Security Services – Integrity</vt:lpstr>
      <vt:lpstr>Security Services – Integrity</vt:lpstr>
      <vt:lpstr>Security Services – Non-Repudiation</vt:lpstr>
      <vt:lpstr>Security Services – Non-Repudiation</vt:lpstr>
      <vt:lpstr>Security Services – Access Control</vt:lpstr>
      <vt:lpstr>Security Services – Access Control</vt:lpstr>
      <vt:lpstr>SECURITY MECHANISMS   </vt:lpstr>
      <vt:lpstr>Security Mechanisms</vt:lpstr>
      <vt:lpstr>Security Mechanisms – X.800 (Overall)</vt:lpstr>
      <vt:lpstr>Security Mechanisms – X.800</vt:lpstr>
      <vt:lpstr>Security Mechanisms – X.800</vt:lpstr>
      <vt:lpstr>Security Services and Mechanisms</vt:lpstr>
      <vt:lpstr>PowerPoint Presentation</vt:lpstr>
      <vt:lpstr>NETWORK SECURITY  MODELS   </vt:lpstr>
      <vt:lpstr>Model for Network Security</vt:lpstr>
      <vt:lpstr>PowerPoint Presentation</vt:lpstr>
      <vt:lpstr>Model for Network Security</vt:lpstr>
      <vt:lpstr>Network Access Security Model</vt:lpstr>
      <vt:lpstr>Network Access Security Model</vt:lpstr>
      <vt:lpstr>Network Access Security Model</vt:lpstr>
      <vt:lpstr>PART 2: CRYPTOGRAPHY    </vt:lpstr>
      <vt:lpstr>Outlines</vt:lpstr>
      <vt:lpstr>Learning Objectives</vt:lpstr>
      <vt:lpstr>BASIC CONCEPTS   </vt:lpstr>
      <vt:lpstr>Basic Terminology – Cryptology</vt:lpstr>
      <vt:lpstr>Basic Terminology – Cryptology</vt:lpstr>
      <vt:lpstr>Basic Terminology – Cryptology</vt:lpstr>
      <vt:lpstr>Kerckhoffs’ Principle</vt:lpstr>
      <vt:lpstr>Kerckhoffs’ Principle</vt:lpstr>
      <vt:lpstr>Security Levels</vt:lpstr>
      <vt:lpstr>Cryptography (Overall)</vt:lpstr>
      <vt:lpstr>Cryptography (Overall)</vt:lpstr>
      <vt:lpstr>SYMMETRIC CRYPTOGRAPHY    </vt:lpstr>
      <vt:lpstr>Symmetric Cryptography</vt:lpstr>
      <vt:lpstr>PowerPoint Presentation</vt:lpstr>
      <vt:lpstr>Ingredients of Symmetric Cryptography</vt:lpstr>
      <vt:lpstr>Model of Symmetric Cryptography</vt:lpstr>
      <vt:lpstr>Requirements of Symmetric Cryptography</vt:lpstr>
      <vt:lpstr>ASYMMETRIC CRYPTOGRAPHY    </vt:lpstr>
      <vt:lpstr>Asymmetric Cryptography</vt:lpstr>
      <vt:lpstr>PowerPoint Presentation</vt:lpstr>
      <vt:lpstr>Asymmetric Cryptography - Analogy</vt:lpstr>
      <vt:lpstr>Ingredients of Asymmetric Cryptography</vt:lpstr>
      <vt:lpstr>PowerPoint Presentation</vt:lpstr>
      <vt:lpstr>Asymmetric Cryptography – Essential Steps</vt:lpstr>
      <vt:lpstr>Symmetric vs Asymmetric Cryptography</vt:lpstr>
      <vt:lpstr>PowerPoint Presentation</vt:lpstr>
      <vt:lpstr>CRYPTANALYSIS       </vt:lpstr>
      <vt:lpstr>Cryptanalysis</vt:lpstr>
      <vt:lpstr>Cryptanalysis – Brute Force Attack</vt:lpstr>
      <vt:lpstr>Cryptanalysis – Cryptanalytic Attacks</vt:lpstr>
      <vt:lpstr>PowerPoint Presentation</vt:lpstr>
      <vt:lpstr>Cryptanalysis – Ciphertext-Only Attack</vt:lpstr>
      <vt:lpstr>PowerPoint Presentation</vt:lpstr>
      <vt:lpstr>Cryptanalysis – Known-Plaintext Attack</vt:lpstr>
      <vt:lpstr>Cryptanalysis – Chosen-Plaintext Attack</vt:lpstr>
      <vt:lpstr>PowerPoint Presentation</vt:lpstr>
      <vt:lpstr>Cryptanalysis – Chosen-Ciphertext Attack</vt:lpstr>
      <vt:lpstr>Cryptanalysis – Chosen-Text Attack</vt:lpstr>
      <vt:lpstr>Cryptanalysis – Security vs Attack</vt:lpstr>
      <vt:lpstr>OTHER CLASSICAL ENCRYPTION TECHNIQUE    </vt:lpstr>
      <vt:lpstr>Steganography – Classical Techniques</vt:lpstr>
      <vt:lpstr>Steganography – Modern Techniques</vt:lpstr>
      <vt:lpstr>Steganography – Modern Techniques</vt:lpstr>
      <vt:lpstr>Steganography – Modern Techniques</vt:lpstr>
      <vt:lpstr>Steganography – Modern Techniques</vt:lpstr>
      <vt:lpstr>Steganography – Drawbacks &amp; Remedy</vt:lpstr>
      <vt:lpstr>Main References for Chapter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1A</dc:title>
  <dc:creator>Tea Boon Chian</dc:creator>
  <cp:lastModifiedBy>Tea Boon Chian</cp:lastModifiedBy>
  <cp:revision>4</cp:revision>
  <dcterms:created xsi:type="dcterms:W3CDTF">2023-10-13T08:20:52Z</dcterms:created>
  <dcterms:modified xsi:type="dcterms:W3CDTF">2024-03-26T02:30:43Z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