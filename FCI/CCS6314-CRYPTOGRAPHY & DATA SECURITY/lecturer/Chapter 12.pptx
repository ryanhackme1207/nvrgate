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95" r:id="rId4"/>
    <p:sldId id="317" r:id="rId5"/>
    <p:sldId id="296" r:id="rId6"/>
    <p:sldId id="297" r:id="rId7"/>
    <p:sldId id="298" r:id="rId8"/>
    <p:sldId id="303" r:id="rId9"/>
    <p:sldId id="318" r:id="rId10"/>
    <p:sldId id="299" r:id="rId11"/>
    <p:sldId id="300" r:id="rId12"/>
    <p:sldId id="301" r:id="rId13"/>
    <p:sldId id="304" r:id="rId14"/>
    <p:sldId id="319" r:id="rId15"/>
    <p:sldId id="321" r:id="rId16"/>
    <p:sldId id="305" r:id="rId17"/>
    <p:sldId id="306" r:id="rId18"/>
    <p:sldId id="307" r:id="rId19"/>
    <p:sldId id="322" r:id="rId20"/>
    <p:sldId id="309" r:id="rId21"/>
    <p:sldId id="308" r:id="rId22"/>
    <p:sldId id="310" r:id="rId23"/>
    <p:sldId id="323" r:id="rId24"/>
    <p:sldId id="324" r:id="rId25"/>
    <p:sldId id="327" r:id="rId26"/>
    <p:sldId id="311" r:id="rId27"/>
    <p:sldId id="325" r:id="rId28"/>
    <p:sldId id="328" r:id="rId29"/>
    <p:sldId id="329" r:id="rId30"/>
    <p:sldId id="330" r:id="rId31"/>
    <p:sldId id="326" r:id="rId32"/>
    <p:sldId id="320" r:id="rId33"/>
    <p:sldId id="312" r:id="rId34"/>
    <p:sldId id="313" r:id="rId35"/>
    <p:sldId id="314" r:id="rId36"/>
    <p:sldId id="316" r:id="rId37"/>
    <p:sldId id="315" r:id="rId38"/>
    <p:sldId id="293" r:id="rId39"/>
    <p:sldId id="332" r:id="rId40"/>
    <p:sldId id="331" r:id="rId41"/>
    <p:sldId id="294" r:id="rId42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828347-E773-4B42-8812-5E0AE98BFB7D}" v="24" dt="2024-06-14T18:06:59.755"/>
  </p1510:revLst>
</p1510:revInfo>
</file>

<file path=ppt/tableStyles.xml><?xml version="1.0" encoding="utf-8"?>
<a:tblStyleLst xmlns:a="http://schemas.openxmlformats.org/drawingml/2006/main" def="{5C22544A-7EE6-4342-B048-85BDC9FD1C3A}"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microsoft.com/office/2016/11/relationships/changesInfo" Target="changesInfos/changesInfo1.xml"/><Relationship Id="rId50" Type="http://schemas.openxmlformats.org/officeDocument/2006/relationships/customXml" Target="../customXml/item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customXml" Target="../customXml/item3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a Boon Chian" userId="ab84e6a5-2079-4f96-af03-c8dde00dcc75" providerId="ADAL" clId="{72959C6B-DC73-40F0-ADFD-D6716F00F5B4}"/>
    <pc:docChg chg="undo redo custSel addSld delSld modSld sldOrd">
      <pc:chgData name="Tea Boon Chian" userId="ab84e6a5-2079-4f96-af03-c8dde00dcc75" providerId="ADAL" clId="{72959C6B-DC73-40F0-ADFD-D6716F00F5B4}" dt="2024-01-22T23:06:35.852" v="9636" actId="20577"/>
      <pc:docMkLst>
        <pc:docMk/>
      </pc:docMkLst>
      <pc:sldChg chg="modSp mod">
        <pc:chgData name="Tea Boon Chian" userId="ab84e6a5-2079-4f96-af03-c8dde00dcc75" providerId="ADAL" clId="{72959C6B-DC73-40F0-ADFD-D6716F00F5B4}" dt="2023-12-28T09:13:27.282" v="6514" actId="20577"/>
        <pc:sldMkLst>
          <pc:docMk/>
          <pc:sldMk cId="2372397544" sldId="257"/>
        </pc:sldMkLst>
        <pc:spChg chg="mod">
          <ac:chgData name="Tea Boon Chian" userId="ab84e6a5-2079-4f96-af03-c8dde00dcc75" providerId="ADAL" clId="{72959C6B-DC73-40F0-ADFD-D6716F00F5B4}" dt="2023-12-28T09:13:27.282" v="6514" actId="20577"/>
          <ac:spMkLst>
            <pc:docMk/>
            <pc:sldMk cId="2372397544" sldId="257"/>
            <ac:spMk id="3" creationId="{1A1CAA18-07F5-3B15-1ADF-AB0FD2F628FA}"/>
          </ac:spMkLst>
        </pc:spChg>
      </pc:sldChg>
      <pc:sldChg chg="modSp mod">
        <pc:chgData name="Tea Boon Chian" userId="ab84e6a5-2079-4f96-af03-c8dde00dcc75" providerId="ADAL" clId="{72959C6B-DC73-40F0-ADFD-D6716F00F5B4}" dt="2023-12-28T01:55:05.297" v="3016" actId="2711"/>
        <pc:sldMkLst>
          <pc:docMk/>
          <pc:sldMk cId="1021943844" sldId="293"/>
        </pc:sldMkLst>
        <pc:spChg chg="mod">
          <ac:chgData name="Tea Boon Chian" userId="ab84e6a5-2079-4f96-af03-c8dde00dcc75" providerId="ADAL" clId="{72959C6B-DC73-40F0-ADFD-D6716F00F5B4}" dt="2023-12-26T05:01:43.990" v="3" actId="20577"/>
          <ac:spMkLst>
            <pc:docMk/>
            <pc:sldMk cId="1021943844" sldId="293"/>
            <ac:spMk id="2" creationId="{3F5D1FAB-9F38-8A67-57AC-C16EE3DD7677}"/>
          </ac:spMkLst>
        </pc:spChg>
        <pc:spChg chg="mod">
          <ac:chgData name="Tea Boon Chian" userId="ab84e6a5-2079-4f96-af03-c8dde00dcc75" providerId="ADAL" clId="{72959C6B-DC73-40F0-ADFD-D6716F00F5B4}" dt="2023-12-28T01:55:05.297" v="3016" actId="2711"/>
          <ac:spMkLst>
            <pc:docMk/>
            <pc:sldMk cId="1021943844" sldId="293"/>
            <ac:spMk id="3" creationId="{1A1CAA18-07F5-3B15-1ADF-AB0FD2F628FA}"/>
          </ac:spMkLst>
        </pc:spChg>
      </pc:sldChg>
      <pc:sldChg chg="modSp mod">
        <pc:chgData name="Tea Boon Chian" userId="ab84e6a5-2079-4f96-af03-c8dde00dcc75" providerId="ADAL" clId="{72959C6B-DC73-40F0-ADFD-D6716F00F5B4}" dt="2023-12-28T09:13:38.733" v="6521" actId="5793"/>
        <pc:sldMkLst>
          <pc:docMk/>
          <pc:sldMk cId="1037136064" sldId="295"/>
        </pc:sldMkLst>
        <pc:spChg chg="mod">
          <ac:chgData name="Tea Boon Chian" userId="ab84e6a5-2079-4f96-af03-c8dde00dcc75" providerId="ADAL" clId="{72959C6B-DC73-40F0-ADFD-D6716F00F5B4}" dt="2023-12-28T09:13:38.733" v="6521" actId="5793"/>
          <ac:spMkLst>
            <pc:docMk/>
            <pc:sldMk cId="1037136064" sldId="295"/>
            <ac:spMk id="3" creationId="{1A1CAA18-07F5-3B15-1ADF-AB0FD2F628FA}"/>
          </ac:spMkLst>
        </pc:spChg>
      </pc:sldChg>
      <pc:sldChg chg="modSp mod">
        <pc:chgData name="Tea Boon Chian" userId="ab84e6a5-2079-4f96-af03-c8dde00dcc75" providerId="ADAL" clId="{72959C6B-DC73-40F0-ADFD-D6716F00F5B4}" dt="2023-12-27T16:04:08.849" v="1825" actId="207"/>
        <pc:sldMkLst>
          <pc:docMk/>
          <pc:sldMk cId="1087809050" sldId="296"/>
        </pc:sldMkLst>
        <pc:spChg chg="mod">
          <ac:chgData name="Tea Boon Chian" userId="ab84e6a5-2079-4f96-af03-c8dde00dcc75" providerId="ADAL" clId="{72959C6B-DC73-40F0-ADFD-D6716F00F5B4}" dt="2023-12-27T12:26:04.878" v="747" actId="207"/>
          <ac:spMkLst>
            <pc:docMk/>
            <pc:sldMk cId="1087809050" sldId="296"/>
            <ac:spMk id="2" creationId="{3F5D1FAB-9F38-8A67-57AC-C16EE3DD7677}"/>
          </ac:spMkLst>
        </pc:spChg>
        <pc:spChg chg="mod">
          <ac:chgData name="Tea Boon Chian" userId="ab84e6a5-2079-4f96-af03-c8dde00dcc75" providerId="ADAL" clId="{72959C6B-DC73-40F0-ADFD-D6716F00F5B4}" dt="2023-12-27T16:04:08.849" v="1825" actId="207"/>
          <ac:spMkLst>
            <pc:docMk/>
            <pc:sldMk cId="1087809050" sldId="296"/>
            <ac:spMk id="3" creationId="{1A1CAA18-07F5-3B15-1ADF-AB0FD2F628FA}"/>
          </ac:spMkLst>
        </pc:spChg>
      </pc:sldChg>
      <pc:sldChg chg="modSp mod">
        <pc:chgData name="Tea Boon Chian" userId="ab84e6a5-2079-4f96-af03-c8dde00dcc75" providerId="ADAL" clId="{72959C6B-DC73-40F0-ADFD-D6716F00F5B4}" dt="2023-12-27T16:12:49.427" v="2485" actId="20577"/>
        <pc:sldMkLst>
          <pc:docMk/>
          <pc:sldMk cId="2894974863" sldId="297"/>
        </pc:sldMkLst>
        <pc:spChg chg="mod">
          <ac:chgData name="Tea Boon Chian" userId="ab84e6a5-2079-4f96-af03-c8dde00dcc75" providerId="ADAL" clId="{72959C6B-DC73-40F0-ADFD-D6716F00F5B4}" dt="2023-12-27T16:05:19.177" v="1838" actId="20577"/>
          <ac:spMkLst>
            <pc:docMk/>
            <pc:sldMk cId="2894974863" sldId="297"/>
            <ac:spMk id="2" creationId="{3F5D1FAB-9F38-8A67-57AC-C16EE3DD7677}"/>
          </ac:spMkLst>
        </pc:spChg>
        <pc:spChg chg="mod">
          <ac:chgData name="Tea Boon Chian" userId="ab84e6a5-2079-4f96-af03-c8dde00dcc75" providerId="ADAL" clId="{72959C6B-DC73-40F0-ADFD-D6716F00F5B4}" dt="2023-12-27T16:12:49.427" v="2485" actId="20577"/>
          <ac:spMkLst>
            <pc:docMk/>
            <pc:sldMk cId="2894974863" sldId="297"/>
            <ac:spMk id="3" creationId="{1A1CAA18-07F5-3B15-1ADF-AB0FD2F628FA}"/>
          </ac:spMkLst>
        </pc:spChg>
      </pc:sldChg>
      <pc:sldChg chg="modSp mod">
        <pc:chgData name="Tea Boon Chian" userId="ab84e6a5-2079-4f96-af03-c8dde00dcc75" providerId="ADAL" clId="{72959C6B-DC73-40F0-ADFD-D6716F00F5B4}" dt="2023-12-27T16:17:18.668" v="2991" actId="20577"/>
        <pc:sldMkLst>
          <pc:docMk/>
          <pc:sldMk cId="867456361" sldId="298"/>
        </pc:sldMkLst>
        <pc:spChg chg="mod">
          <ac:chgData name="Tea Boon Chian" userId="ab84e6a5-2079-4f96-af03-c8dde00dcc75" providerId="ADAL" clId="{72959C6B-DC73-40F0-ADFD-D6716F00F5B4}" dt="2023-12-27T16:12:55.265" v="2487"/>
          <ac:spMkLst>
            <pc:docMk/>
            <pc:sldMk cId="867456361" sldId="298"/>
            <ac:spMk id="2" creationId="{3F5D1FAB-9F38-8A67-57AC-C16EE3DD7677}"/>
          </ac:spMkLst>
        </pc:spChg>
        <pc:spChg chg="mod">
          <ac:chgData name="Tea Boon Chian" userId="ab84e6a5-2079-4f96-af03-c8dde00dcc75" providerId="ADAL" clId="{72959C6B-DC73-40F0-ADFD-D6716F00F5B4}" dt="2023-12-27T16:17:18.668" v="2991" actId="20577"/>
          <ac:spMkLst>
            <pc:docMk/>
            <pc:sldMk cId="867456361" sldId="298"/>
            <ac:spMk id="3" creationId="{1A1CAA18-07F5-3B15-1ADF-AB0FD2F628FA}"/>
          </ac:spMkLst>
        </pc:spChg>
      </pc:sldChg>
      <pc:sldChg chg="modSp mod">
        <pc:chgData name="Tea Boon Chian" userId="ab84e6a5-2079-4f96-af03-c8dde00dcc75" providerId="ADAL" clId="{72959C6B-DC73-40F0-ADFD-D6716F00F5B4}" dt="2023-12-28T08:23:00.710" v="3819" actId="20577"/>
        <pc:sldMkLst>
          <pc:docMk/>
          <pc:sldMk cId="2739934171" sldId="299"/>
        </pc:sldMkLst>
        <pc:spChg chg="mod">
          <ac:chgData name="Tea Boon Chian" userId="ab84e6a5-2079-4f96-af03-c8dde00dcc75" providerId="ADAL" clId="{72959C6B-DC73-40F0-ADFD-D6716F00F5B4}" dt="2023-12-28T07:49:05.163" v="3086" actId="1076"/>
          <ac:spMkLst>
            <pc:docMk/>
            <pc:sldMk cId="2739934171" sldId="299"/>
            <ac:spMk id="2" creationId="{3F5D1FAB-9F38-8A67-57AC-C16EE3DD7677}"/>
          </ac:spMkLst>
        </pc:spChg>
        <pc:spChg chg="mod">
          <ac:chgData name="Tea Boon Chian" userId="ab84e6a5-2079-4f96-af03-c8dde00dcc75" providerId="ADAL" clId="{72959C6B-DC73-40F0-ADFD-D6716F00F5B4}" dt="2023-12-28T08:23:00.710" v="3819" actId="20577"/>
          <ac:spMkLst>
            <pc:docMk/>
            <pc:sldMk cId="2739934171" sldId="299"/>
            <ac:spMk id="3" creationId="{1A1CAA18-07F5-3B15-1ADF-AB0FD2F628FA}"/>
          </ac:spMkLst>
        </pc:spChg>
      </pc:sldChg>
      <pc:sldChg chg="modSp mod">
        <pc:chgData name="Tea Boon Chian" userId="ab84e6a5-2079-4f96-af03-c8dde00dcc75" providerId="ADAL" clId="{72959C6B-DC73-40F0-ADFD-D6716F00F5B4}" dt="2023-12-28T18:00:49.678" v="8896" actId="20577"/>
        <pc:sldMkLst>
          <pc:docMk/>
          <pc:sldMk cId="2729002477" sldId="300"/>
        </pc:sldMkLst>
        <pc:spChg chg="mod">
          <ac:chgData name="Tea Boon Chian" userId="ab84e6a5-2079-4f96-af03-c8dde00dcc75" providerId="ADAL" clId="{72959C6B-DC73-40F0-ADFD-D6716F00F5B4}" dt="2023-12-28T08:42:34.916" v="3821"/>
          <ac:spMkLst>
            <pc:docMk/>
            <pc:sldMk cId="2729002477" sldId="300"/>
            <ac:spMk id="2" creationId="{3F5D1FAB-9F38-8A67-57AC-C16EE3DD7677}"/>
          </ac:spMkLst>
        </pc:spChg>
        <pc:spChg chg="mod">
          <ac:chgData name="Tea Boon Chian" userId="ab84e6a5-2079-4f96-af03-c8dde00dcc75" providerId="ADAL" clId="{72959C6B-DC73-40F0-ADFD-D6716F00F5B4}" dt="2023-12-28T18:00:49.678" v="8896" actId="20577"/>
          <ac:spMkLst>
            <pc:docMk/>
            <pc:sldMk cId="2729002477" sldId="300"/>
            <ac:spMk id="3" creationId="{1A1CAA18-07F5-3B15-1ADF-AB0FD2F628FA}"/>
          </ac:spMkLst>
        </pc:spChg>
      </pc:sldChg>
      <pc:sldChg chg="modSp mod">
        <pc:chgData name="Tea Boon Chian" userId="ab84e6a5-2079-4f96-af03-c8dde00dcc75" providerId="ADAL" clId="{72959C6B-DC73-40F0-ADFD-D6716F00F5B4}" dt="2023-12-28T08:54:09.759" v="5061" actId="20577"/>
        <pc:sldMkLst>
          <pc:docMk/>
          <pc:sldMk cId="529556995" sldId="301"/>
        </pc:sldMkLst>
        <pc:spChg chg="mod">
          <ac:chgData name="Tea Boon Chian" userId="ab84e6a5-2079-4f96-af03-c8dde00dcc75" providerId="ADAL" clId="{72959C6B-DC73-40F0-ADFD-D6716F00F5B4}" dt="2023-12-28T08:49:16.765" v="4416" actId="12"/>
          <ac:spMkLst>
            <pc:docMk/>
            <pc:sldMk cId="529556995" sldId="301"/>
            <ac:spMk id="2" creationId="{3F5D1FAB-9F38-8A67-57AC-C16EE3DD7677}"/>
          </ac:spMkLst>
        </pc:spChg>
        <pc:spChg chg="mod">
          <ac:chgData name="Tea Boon Chian" userId="ab84e6a5-2079-4f96-af03-c8dde00dcc75" providerId="ADAL" clId="{72959C6B-DC73-40F0-ADFD-D6716F00F5B4}" dt="2023-12-28T08:54:09.759" v="5061" actId="20577"/>
          <ac:spMkLst>
            <pc:docMk/>
            <pc:sldMk cId="529556995" sldId="301"/>
            <ac:spMk id="3" creationId="{1A1CAA18-07F5-3B15-1ADF-AB0FD2F628FA}"/>
          </ac:spMkLst>
        </pc:spChg>
      </pc:sldChg>
      <pc:sldChg chg="modSp del mod">
        <pc:chgData name="Tea Boon Chian" userId="ab84e6a5-2079-4f96-af03-c8dde00dcc75" providerId="ADAL" clId="{72959C6B-DC73-40F0-ADFD-D6716F00F5B4}" dt="2023-12-28T09:03:27.862" v="6029" actId="2696"/>
        <pc:sldMkLst>
          <pc:docMk/>
          <pc:sldMk cId="211964146" sldId="302"/>
        </pc:sldMkLst>
        <pc:spChg chg="mod">
          <ac:chgData name="Tea Boon Chian" userId="ab84e6a5-2079-4f96-af03-c8dde00dcc75" providerId="ADAL" clId="{72959C6B-DC73-40F0-ADFD-D6716F00F5B4}" dt="2023-12-28T08:54:35.265" v="5084" actId="207"/>
          <ac:spMkLst>
            <pc:docMk/>
            <pc:sldMk cId="211964146" sldId="302"/>
            <ac:spMk id="2" creationId="{3F5D1FAB-9F38-8A67-57AC-C16EE3DD7677}"/>
          </ac:spMkLst>
        </pc:spChg>
        <pc:spChg chg="mod">
          <ac:chgData name="Tea Boon Chian" userId="ab84e6a5-2079-4f96-af03-c8dde00dcc75" providerId="ADAL" clId="{72959C6B-DC73-40F0-ADFD-D6716F00F5B4}" dt="2023-12-28T08:59:55.953" v="5450" actId="20577"/>
          <ac:spMkLst>
            <pc:docMk/>
            <pc:sldMk cId="211964146" sldId="302"/>
            <ac:spMk id="3" creationId="{1A1CAA18-07F5-3B15-1ADF-AB0FD2F628FA}"/>
          </ac:spMkLst>
        </pc:spChg>
      </pc:sldChg>
      <pc:sldChg chg="modSp add del mod">
        <pc:chgData name="Tea Boon Chian" userId="ab84e6a5-2079-4f96-af03-c8dde00dcc75" providerId="ADAL" clId="{72959C6B-DC73-40F0-ADFD-D6716F00F5B4}" dt="2023-12-28T09:03:54.234" v="6044" actId="47"/>
        <pc:sldMkLst>
          <pc:docMk/>
          <pc:sldMk cId="1966498318" sldId="302"/>
        </pc:sldMkLst>
        <pc:spChg chg="mod">
          <ac:chgData name="Tea Boon Chian" userId="ab84e6a5-2079-4f96-af03-c8dde00dcc75" providerId="ADAL" clId="{72959C6B-DC73-40F0-ADFD-D6716F00F5B4}" dt="2023-12-28T09:03:40.766" v="6040" actId="5793"/>
          <ac:spMkLst>
            <pc:docMk/>
            <pc:sldMk cId="1966498318" sldId="302"/>
            <ac:spMk id="2" creationId="{3F5D1FAB-9F38-8A67-57AC-C16EE3DD7677}"/>
          </ac:spMkLst>
        </pc:spChg>
      </pc:sldChg>
      <pc:sldChg chg="modSp add mod">
        <pc:chgData name="Tea Boon Chian" userId="ab84e6a5-2079-4f96-af03-c8dde00dcc75" providerId="ADAL" clId="{72959C6B-DC73-40F0-ADFD-D6716F00F5B4}" dt="2023-12-28T09:04:24.758" v="6072" actId="207"/>
        <pc:sldMkLst>
          <pc:docMk/>
          <pc:sldMk cId="1290179837" sldId="303"/>
        </pc:sldMkLst>
        <pc:spChg chg="mod">
          <ac:chgData name="Tea Boon Chian" userId="ab84e6a5-2079-4f96-af03-c8dde00dcc75" providerId="ADAL" clId="{72959C6B-DC73-40F0-ADFD-D6716F00F5B4}" dt="2023-12-28T09:04:24.758" v="6072" actId="207"/>
          <ac:spMkLst>
            <pc:docMk/>
            <pc:sldMk cId="1290179837" sldId="303"/>
            <ac:spMk id="2" creationId="{3F5D1FAB-9F38-8A67-57AC-C16EE3DD7677}"/>
          </ac:spMkLst>
        </pc:spChg>
      </pc:sldChg>
      <pc:sldChg chg="modSp del mod">
        <pc:chgData name="Tea Boon Chian" userId="ab84e6a5-2079-4f96-af03-c8dde00dcc75" providerId="ADAL" clId="{72959C6B-DC73-40F0-ADFD-D6716F00F5B4}" dt="2023-12-28T09:03:27.862" v="6029" actId="2696"/>
        <pc:sldMkLst>
          <pc:docMk/>
          <pc:sldMk cId="3934364575" sldId="303"/>
        </pc:sldMkLst>
        <pc:spChg chg="mod">
          <ac:chgData name="Tea Boon Chian" userId="ab84e6a5-2079-4f96-af03-c8dde00dcc75" providerId="ADAL" clId="{72959C6B-DC73-40F0-ADFD-D6716F00F5B4}" dt="2023-12-28T09:00:01.233" v="5452"/>
          <ac:spMkLst>
            <pc:docMk/>
            <pc:sldMk cId="3934364575" sldId="303"/>
            <ac:spMk id="2" creationId="{3F5D1FAB-9F38-8A67-57AC-C16EE3DD7677}"/>
          </ac:spMkLst>
        </pc:spChg>
        <pc:spChg chg="mod">
          <ac:chgData name="Tea Boon Chian" userId="ab84e6a5-2079-4f96-af03-c8dde00dcc75" providerId="ADAL" clId="{72959C6B-DC73-40F0-ADFD-D6716F00F5B4}" dt="2023-12-28T09:02:36.450" v="6028" actId="20577"/>
          <ac:spMkLst>
            <pc:docMk/>
            <pc:sldMk cId="3934364575" sldId="303"/>
            <ac:spMk id="3" creationId="{1A1CAA18-07F5-3B15-1ADF-AB0FD2F628FA}"/>
          </ac:spMkLst>
        </pc:spChg>
      </pc:sldChg>
      <pc:sldChg chg="modSp mod">
        <pc:chgData name="Tea Boon Chian" userId="ab84e6a5-2079-4f96-af03-c8dde00dcc75" providerId="ADAL" clId="{72959C6B-DC73-40F0-ADFD-D6716F00F5B4}" dt="2023-12-28T09:11:02.779" v="6415" actId="20577"/>
        <pc:sldMkLst>
          <pc:docMk/>
          <pc:sldMk cId="3150553865" sldId="304"/>
        </pc:sldMkLst>
        <pc:spChg chg="mod">
          <ac:chgData name="Tea Boon Chian" userId="ab84e6a5-2079-4f96-af03-c8dde00dcc75" providerId="ADAL" clId="{72959C6B-DC73-40F0-ADFD-D6716F00F5B4}" dt="2023-12-28T09:05:31.974" v="6086" actId="20577"/>
          <ac:spMkLst>
            <pc:docMk/>
            <pc:sldMk cId="3150553865" sldId="304"/>
            <ac:spMk id="2" creationId="{3F5D1FAB-9F38-8A67-57AC-C16EE3DD7677}"/>
          </ac:spMkLst>
        </pc:spChg>
        <pc:spChg chg="mod">
          <ac:chgData name="Tea Boon Chian" userId="ab84e6a5-2079-4f96-af03-c8dde00dcc75" providerId="ADAL" clId="{72959C6B-DC73-40F0-ADFD-D6716F00F5B4}" dt="2023-12-28T09:11:02.779" v="6415" actId="20577"/>
          <ac:spMkLst>
            <pc:docMk/>
            <pc:sldMk cId="3150553865" sldId="304"/>
            <ac:spMk id="3" creationId="{1A1CAA18-07F5-3B15-1ADF-AB0FD2F628FA}"/>
          </ac:spMkLst>
        </pc:spChg>
      </pc:sldChg>
      <pc:sldChg chg="addSp delSp modSp mod">
        <pc:chgData name="Tea Boon Chian" userId="ab84e6a5-2079-4f96-af03-c8dde00dcc75" providerId="ADAL" clId="{72959C6B-DC73-40F0-ADFD-D6716F00F5B4}" dt="2023-12-28T17:01:09.796" v="6628" actId="1076"/>
        <pc:sldMkLst>
          <pc:docMk/>
          <pc:sldMk cId="1439173668" sldId="305"/>
        </pc:sldMkLst>
        <pc:spChg chg="mod">
          <ac:chgData name="Tea Boon Chian" userId="ab84e6a5-2079-4f96-af03-c8dde00dcc75" providerId="ADAL" clId="{72959C6B-DC73-40F0-ADFD-D6716F00F5B4}" dt="2023-12-28T11:52:10.597" v="6620" actId="20577"/>
          <ac:spMkLst>
            <pc:docMk/>
            <pc:sldMk cId="1439173668" sldId="305"/>
            <ac:spMk id="2" creationId="{3F5D1FAB-9F38-8A67-57AC-C16EE3DD7677}"/>
          </ac:spMkLst>
        </pc:spChg>
        <pc:spChg chg="del">
          <ac:chgData name="Tea Boon Chian" userId="ab84e6a5-2079-4f96-af03-c8dde00dcc75" providerId="ADAL" clId="{72959C6B-DC73-40F0-ADFD-D6716F00F5B4}" dt="2023-12-28T17:00:57.236" v="6621" actId="478"/>
          <ac:spMkLst>
            <pc:docMk/>
            <pc:sldMk cId="1439173668" sldId="305"/>
            <ac:spMk id="3" creationId="{1A1CAA18-07F5-3B15-1ADF-AB0FD2F628FA}"/>
          </ac:spMkLst>
        </pc:spChg>
        <pc:graphicFrameChg chg="add del mod">
          <ac:chgData name="Tea Boon Chian" userId="ab84e6a5-2079-4f96-af03-c8dde00dcc75" providerId="ADAL" clId="{72959C6B-DC73-40F0-ADFD-D6716F00F5B4}" dt="2023-12-28T17:00:57.939" v="6624"/>
          <ac:graphicFrameMkLst>
            <pc:docMk/>
            <pc:sldMk cId="1439173668" sldId="305"/>
            <ac:graphicFrameMk id="5" creationId="{946714B7-D237-8901-4B63-E299307EC5B0}"/>
          </ac:graphicFrameMkLst>
        </pc:graphicFrameChg>
        <pc:picChg chg="add mod">
          <ac:chgData name="Tea Boon Chian" userId="ab84e6a5-2079-4f96-af03-c8dde00dcc75" providerId="ADAL" clId="{72959C6B-DC73-40F0-ADFD-D6716F00F5B4}" dt="2023-12-28T17:01:09.796" v="6628" actId="1076"/>
          <ac:picMkLst>
            <pc:docMk/>
            <pc:sldMk cId="1439173668" sldId="305"/>
            <ac:picMk id="7" creationId="{1E824AAF-9D0F-6DFF-3040-D40A6D9F33D1}"/>
          </ac:picMkLst>
        </pc:picChg>
      </pc:sldChg>
      <pc:sldChg chg="modSp mod">
        <pc:chgData name="Tea Boon Chian" userId="ab84e6a5-2079-4f96-af03-c8dde00dcc75" providerId="ADAL" clId="{72959C6B-DC73-40F0-ADFD-D6716F00F5B4}" dt="2024-01-22T23:06:21.588" v="9625" actId="20577"/>
        <pc:sldMkLst>
          <pc:docMk/>
          <pc:sldMk cId="1908279808" sldId="306"/>
        </pc:sldMkLst>
        <pc:spChg chg="mod">
          <ac:chgData name="Tea Boon Chian" userId="ab84e6a5-2079-4f96-af03-c8dde00dcc75" providerId="ADAL" clId="{72959C6B-DC73-40F0-ADFD-D6716F00F5B4}" dt="2023-12-28T17:09:54.032" v="6938"/>
          <ac:spMkLst>
            <pc:docMk/>
            <pc:sldMk cId="1908279808" sldId="306"/>
            <ac:spMk id="2" creationId="{3F5D1FAB-9F38-8A67-57AC-C16EE3DD7677}"/>
          </ac:spMkLst>
        </pc:spChg>
        <pc:spChg chg="mod">
          <ac:chgData name="Tea Boon Chian" userId="ab84e6a5-2079-4f96-af03-c8dde00dcc75" providerId="ADAL" clId="{72959C6B-DC73-40F0-ADFD-D6716F00F5B4}" dt="2024-01-22T23:06:21.588" v="9625" actId="20577"/>
          <ac:spMkLst>
            <pc:docMk/>
            <pc:sldMk cId="1908279808" sldId="306"/>
            <ac:spMk id="3" creationId="{1A1CAA18-07F5-3B15-1ADF-AB0FD2F628FA}"/>
          </ac:spMkLst>
        </pc:spChg>
      </pc:sldChg>
      <pc:sldChg chg="modSp mod">
        <pc:chgData name="Tea Boon Chian" userId="ab84e6a5-2079-4f96-af03-c8dde00dcc75" providerId="ADAL" clId="{72959C6B-DC73-40F0-ADFD-D6716F00F5B4}" dt="2024-01-22T23:06:35.852" v="9636" actId="20577"/>
        <pc:sldMkLst>
          <pc:docMk/>
          <pc:sldMk cId="570463114" sldId="307"/>
        </pc:sldMkLst>
        <pc:spChg chg="mod">
          <ac:chgData name="Tea Boon Chian" userId="ab84e6a5-2079-4f96-af03-c8dde00dcc75" providerId="ADAL" clId="{72959C6B-DC73-40F0-ADFD-D6716F00F5B4}" dt="2023-12-28T17:09:55.531" v="6940"/>
          <ac:spMkLst>
            <pc:docMk/>
            <pc:sldMk cId="570463114" sldId="307"/>
            <ac:spMk id="2" creationId="{3F5D1FAB-9F38-8A67-57AC-C16EE3DD7677}"/>
          </ac:spMkLst>
        </pc:spChg>
        <pc:spChg chg="mod">
          <ac:chgData name="Tea Boon Chian" userId="ab84e6a5-2079-4f96-af03-c8dde00dcc75" providerId="ADAL" clId="{72959C6B-DC73-40F0-ADFD-D6716F00F5B4}" dt="2024-01-22T23:06:35.852" v="9636" actId="20577"/>
          <ac:spMkLst>
            <pc:docMk/>
            <pc:sldMk cId="570463114" sldId="307"/>
            <ac:spMk id="3" creationId="{1A1CAA18-07F5-3B15-1ADF-AB0FD2F628FA}"/>
          </ac:spMkLst>
        </pc:spChg>
      </pc:sldChg>
      <pc:sldChg chg="addSp delSp modSp mod">
        <pc:chgData name="Tea Boon Chian" userId="ab84e6a5-2079-4f96-af03-c8dde00dcc75" providerId="ADAL" clId="{72959C6B-DC73-40F0-ADFD-D6716F00F5B4}" dt="2023-12-28T17:01:56.864" v="6653" actId="1076"/>
        <pc:sldMkLst>
          <pc:docMk/>
          <pc:sldMk cId="871685768" sldId="308"/>
        </pc:sldMkLst>
        <pc:spChg chg="mod">
          <ac:chgData name="Tea Boon Chian" userId="ab84e6a5-2079-4f96-af03-c8dde00dcc75" providerId="ADAL" clId="{72959C6B-DC73-40F0-ADFD-D6716F00F5B4}" dt="2023-12-28T17:01:29.353" v="6646" actId="20577"/>
          <ac:spMkLst>
            <pc:docMk/>
            <pc:sldMk cId="871685768" sldId="308"/>
            <ac:spMk id="2" creationId="{3F5D1FAB-9F38-8A67-57AC-C16EE3DD7677}"/>
          </ac:spMkLst>
        </pc:spChg>
        <pc:spChg chg="del">
          <ac:chgData name="Tea Boon Chian" userId="ab84e6a5-2079-4f96-af03-c8dde00dcc75" providerId="ADAL" clId="{72959C6B-DC73-40F0-ADFD-D6716F00F5B4}" dt="2023-12-28T17:01:32.978" v="6647" actId="478"/>
          <ac:spMkLst>
            <pc:docMk/>
            <pc:sldMk cId="871685768" sldId="308"/>
            <ac:spMk id="3" creationId="{1A1CAA18-07F5-3B15-1ADF-AB0FD2F628FA}"/>
          </ac:spMkLst>
        </pc:spChg>
        <pc:graphicFrameChg chg="add del mod">
          <ac:chgData name="Tea Boon Chian" userId="ab84e6a5-2079-4f96-af03-c8dde00dcc75" providerId="ADAL" clId="{72959C6B-DC73-40F0-ADFD-D6716F00F5B4}" dt="2023-12-28T17:01:52.052" v="6650"/>
          <ac:graphicFrameMkLst>
            <pc:docMk/>
            <pc:sldMk cId="871685768" sldId="308"/>
            <ac:graphicFrameMk id="5" creationId="{0177BC2D-91FC-15A0-03B9-813D90A691E1}"/>
          </ac:graphicFrameMkLst>
        </pc:graphicFrameChg>
        <pc:picChg chg="add mod">
          <ac:chgData name="Tea Boon Chian" userId="ab84e6a5-2079-4f96-af03-c8dde00dcc75" providerId="ADAL" clId="{72959C6B-DC73-40F0-ADFD-D6716F00F5B4}" dt="2023-12-28T17:01:56.864" v="6653" actId="1076"/>
          <ac:picMkLst>
            <pc:docMk/>
            <pc:sldMk cId="871685768" sldId="308"/>
            <ac:picMk id="7" creationId="{056D9D4E-53F8-DDDA-D132-CD6E0EBACCA2}"/>
          </ac:picMkLst>
        </pc:picChg>
      </pc:sldChg>
      <pc:sldChg chg="modSp mod ord">
        <pc:chgData name="Tea Boon Chian" userId="ab84e6a5-2079-4f96-af03-c8dde00dcc75" providerId="ADAL" clId="{72959C6B-DC73-40F0-ADFD-D6716F00F5B4}" dt="2023-12-28T17:09:35.892" v="6936" actId="20577"/>
        <pc:sldMkLst>
          <pc:docMk/>
          <pc:sldMk cId="2279952718" sldId="309"/>
        </pc:sldMkLst>
        <pc:spChg chg="mod">
          <ac:chgData name="Tea Boon Chian" userId="ab84e6a5-2079-4f96-af03-c8dde00dcc75" providerId="ADAL" clId="{72959C6B-DC73-40F0-ADFD-D6716F00F5B4}" dt="2023-12-28T17:02:45.728" v="6657"/>
          <ac:spMkLst>
            <pc:docMk/>
            <pc:sldMk cId="2279952718" sldId="309"/>
            <ac:spMk id="2" creationId="{3F5D1FAB-9F38-8A67-57AC-C16EE3DD7677}"/>
          </ac:spMkLst>
        </pc:spChg>
        <pc:spChg chg="mod">
          <ac:chgData name="Tea Boon Chian" userId="ab84e6a5-2079-4f96-af03-c8dde00dcc75" providerId="ADAL" clId="{72959C6B-DC73-40F0-ADFD-D6716F00F5B4}" dt="2023-12-28T17:09:35.892" v="6936" actId="20577"/>
          <ac:spMkLst>
            <pc:docMk/>
            <pc:sldMk cId="2279952718" sldId="309"/>
            <ac:spMk id="3" creationId="{1A1CAA18-07F5-3B15-1ADF-AB0FD2F628FA}"/>
          </ac:spMkLst>
        </pc:spChg>
      </pc:sldChg>
      <pc:sldChg chg="modSp mod">
        <pc:chgData name="Tea Boon Chian" userId="ab84e6a5-2079-4f96-af03-c8dde00dcc75" providerId="ADAL" clId="{72959C6B-DC73-40F0-ADFD-D6716F00F5B4}" dt="2023-12-28T18:00:09.231" v="8871" actId="20577"/>
        <pc:sldMkLst>
          <pc:docMk/>
          <pc:sldMk cId="379003066" sldId="310"/>
        </pc:sldMkLst>
        <pc:spChg chg="mod">
          <ac:chgData name="Tea Boon Chian" userId="ab84e6a5-2079-4f96-af03-c8dde00dcc75" providerId="ADAL" clId="{72959C6B-DC73-40F0-ADFD-D6716F00F5B4}" dt="2023-12-28T17:48:30.636" v="7994"/>
          <ac:spMkLst>
            <pc:docMk/>
            <pc:sldMk cId="379003066" sldId="310"/>
            <ac:spMk id="2" creationId="{3F5D1FAB-9F38-8A67-57AC-C16EE3DD7677}"/>
          </ac:spMkLst>
        </pc:spChg>
        <pc:spChg chg="mod">
          <ac:chgData name="Tea Boon Chian" userId="ab84e6a5-2079-4f96-af03-c8dde00dcc75" providerId="ADAL" clId="{72959C6B-DC73-40F0-ADFD-D6716F00F5B4}" dt="2023-12-28T18:00:09.231" v="8871" actId="20577"/>
          <ac:spMkLst>
            <pc:docMk/>
            <pc:sldMk cId="379003066" sldId="310"/>
            <ac:spMk id="3" creationId="{1A1CAA18-07F5-3B15-1ADF-AB0FD2F628FA}"/>
          </ac:spMkLst>
        </pc:spChg>
      </pc:sldChg>
      <pc:sldChg chg="ord">
        <pc:chgData name="Tea Boon Chian" userId="ab84e6a5-2079-4f96-af03-c8dde00dcc75" providerId="ADAL" clId="{72959C6B-DC73-40F0-ADFD-D6716F00F5B4}" dt="2023-12-28T18:05:05.654" v="9308"/>
        <pc:sldMkLst>
          <pc:docMk/>
          <pc:sldMk cId="3792554087" sldId="311"/>
        </pc:sldMkLst>
      </pc:sldChg>
      <pc:sldChg chg="modSp add mod">
        <pc:chgData name="Tea Boon Chian" userId="ab84e6a5-2079-4f96-af03-c8dde00dcc75" providerId="ADAL" clId="{72959C6B-DC73-40F0-ADFD-D6716F00F5B4}" dt="2023-12-27T12:25:47.921" v="707" actId="207"/>
        <pc:sldMkLst>
          <pc:docMk/>
          <pc:sldMk cId="2498171351" sldId="317"/>
        </pc:sldMkLst>
        <pc:spChg chg="mod">
          <ac:chgData name="Tea Boon Chian" userId="ab84e6a5-2079-4f96-af03-c8dde00dcc75" providerId="ADAL" clId="{72959C6B-DC73-40F0-ADFD-D6716F00F5B4}" dt="2023-12-27T12:25:47.921" v="707" actId="207"/>
          <ac:spMkLst>
            <pc:docMk/>
            <pc:sldMk cId="2498171351" sldId="317"/>
            <ac:spMk id="2" creationId="{3F5D1FAB-9F38-8A67-57AC-C16EE3DD7677}"/>
          </ac:spMkLst>
        </pc:spChg>
      </pc:sldChg>
      <pc:sldChg chg="modSp add mod">
        <pc:chgData name="Tea Boon Chian" userId="ab84e6a5-2079-4f96-af03-c8dde00dcc75" providerId="ADAL" clId="{72959C6B-DC73-40F0-ADFD-D6716F00F5B4}" dt="2023-12-27T16:17:48.717" v="3008" actId="20577"/>
        <pc:sldMkLst>
          <pc:docMk/>
          <pc:sldMk cId="375179747" sldId="318"/>
        </pc:sldMkLst>
        <pc:spChg chg="mod">
          <ac:chgData name="Tea Boon Chian" userId="ab84e6a5-2079-4f96-af03-c8dde00dcc75" providerId="ADAL" clId="{72959C6B-DC73-40F0-ADFD-D6716F00F5B4}" dt="2023-12-27T16:17:48.717" v="3008" actId="20577"/>
          <ac:spMkLst>
            <pc:docMk/>
            <pc:sldMk cId="375179747" sldId="318"/>
            <ac:spMk id="2" creationId="{3F5D1FAB-9F38-8A67-57AC-C16EE3DD7677}"/>
          </ac:spMkLst>
        </pc:spChg>
      </pc:sldChg>
      <pc:sldChg chg="modSp add mod">
        <pc:chgData name="Tea Boon Chian" userId="ab84e6a5-2079-4f96-af03-c8dde00dcc75" providerId="ADAL" clId="{72959C6B-DC73-40F0-ADFD-D6716F00F5B4}" dt="2024-01-22T23:06:00.107" v="9616" actId="207"/>
        <pc:sldMkLst>
          <pc:docMk/>
          <pc:sldMk cId="1126811955" sldId="319"/>
        </pc:sldMkLst>
        <pc:spChg chg="mod">
          <ac:chgData name="Tea Boon Chian" userId="ab84e6a5-2079-4f96-af03-c8dde00dcc75" providerId="ADAL" clId="{72959C6B-DC73-40F0-ADFD-D6716F00F5B4}" dt="2023-12-28T09:12:51.298" v="6465" actId="1076"/>
          <ac:spMkLst>
            <pc:docMk/>
            <pc:sldMk cId="1126811955" sldId="319"/>
            <ac:spMk id="2" creationId="{3F5D1FAB-9F38-8A67-57AC-C16EE3DD7677}"/>
          </ac:spMkLst>
        </pc:spChg>
        <pc:spChg chg="mod">
          <ac:chgData name="Tea Boon Chian" userId="ab84e6a5-2079-4f96-af03-c8dde00dcc75" providerId="ADAL" clId="{72959C6B-DC73-40F0-ADFD-D6716F00F5B4}" dt="2024-01-22T23:06:00.107" v="9616" actId="207"/>
          <ac:spMkLst>
            <pc:docMk/>
            <pc:sldMk cId="1126811955" sldId="319"/>
            <ac:spMk id="3" creationId="{1A1CAA18-07F5-3B15-1ADF-AB0FD2F628FA}"/>
          </ac:spMkLst>
        </pc:spChg>
      </pc:sldChg>
      <pc:sldChg chg="add">
        <pc:chgData name="Tea Boon Chian" userId="ab84e6a5-2079-4f96-af03-c8dde00dcc75" providerId="ADAL" clId="{72959C6B-DC73-40F0-ADFD-D6716F00F5B4}" dt="2023-12-28T09:13:18.955" v="6509"/>
        <pc:sldMkLst>
          <pc:docMk/>
          <pc:sldMk cId="309629256" sldId="320"/>
        </pc:sldMkLst>
      </pc:sldChg>
      <pc:sldChg chg="modSp add del mod">
        <pc:chgData name="Tea Boon Chian" userId="ab84e6a5-2079-4f96-af03-c8dde00dcc75" providerId="ADAL" clId="{72959C6B-DC73-40F0-ADFD-D6716F00F5B4}" dt="2023-12-28T09:13:13.712" v="6506" actId="2696"/>
        <pc:sldMkLst>
          <pc:docMk/>
          <pc:sldMk cId="3363864773" sldId="320"/>
        </pc:sldMkLst>
        <pc:spChg chg="mod">
          <ac:chgData name="Tea Boon Chian" userId="ab84e6a5-2079-4f96-af03-c8dde00dcc75" providerId="ADAL" clId="{72959C6B-DC73-40F0-ADFD-D6716F00F5B4}" dt="2023-12-28T09:13:13.680" v="6505" actId="207"/>
          <ac:spMkLst>
            <pc:docMk/>
            <pc:sldMk cId="3363864773" sldId="320"/>
            <ac:spMk id="2" creationId="{3F5D1FAB-9F38-8A67-57AC-C16EE3DD7677}"/>
          </ac:spMkLst>
        </pc:spChg>
      </pc:sldChg>
      <pc:sldChg chg="add del">
        <pc:chgData name="Tea Boon Chian" userId="ab84e6a5-2079-4f96-af03-c8dde00dcc75" providerId="ADAL" clId="{72959C6B-DC73-40F0-ADFD-D6716F00F5B4}" dt="2023-12-28T09:13:13.789" v="6508" actId="2696"/>
        <pc:sldMkLst>
          <pc:docMk/>
          <pc:sldMk cId="3570531155" sldId="320"/>
        </pc:sldMkLst>
      </pc:sldChg>
      <pc:sldChg chg="modSp add mod">
        <pc:chgData name="Tea Boon Chian" userId="ab84e6a5-2079-4f96-af03-c8dde00dcc75" providerId="ADAL" clId="{72959C6B-DC73-40F0-ADFD-D6716F00F5B4}" dt="2023-12-28T11:47:31.205" v="6546" actId="403"/>
        <pc:sldMkLst>
          <pc:docMk/>
          <pc:sldMk cId="3372072187" sldId="321"/>
        </pc:sldMkLst>
        <pc:spChg chg="mod">
          <ac:chgData name="Tea Boon Chian" userId="ab84e6a5-2079-4f96-af03-c8dde00dcc75" providerId="ADAL" clId="{72959C6B-DC73-40F0-ADFD-D6716F00F5B4}" dt="2023-12-28T11:47:31.205" v="6546" actId="403"/>
          <ac:spMkLst>
            <pc:docMk/>
            <pc:sldMk cId="3372072187" sldId="321"/>
            <ac:spMk id="2" creationId="{3F5D1FAB-9F38-8A67-57AC-C16EE3DD7677}"/>
          </ac:spMkLst>
        </pc:spChg>
      </pc:sldChg>
      <pc:sldChg chg="modSp add del mod">
        <pc:chgData name="Tea Boon Chian" userId="ab84e6a5-2079-4f96-af03-c8dde00dcc75" providerId="ADAL" clId="{72959C6B-DC73-40F0-ADFD-D6716F00F5B4}" dt="2023-12-28T11:51:43.849" v="6591" actId="47"/>
        <pc:sldMkLst>
          <pc:docMk/>
          <pc:sldMk cId="152522964" sldId="322"/>
        </pc:sldMkLst>
        <pc:spChg chg="mod">
          <ac:chgData name="Tea Boon Chian" userId="ab84e6a5-2079-4f96-af03-c8dde00dcc75" providerId="ADAL" clId="{72959C6B-DC73-40F0-ADFD-D6716F00F5B4}" dt="2023-12-28T11:48:02.635" v="6579" actId="20577"/>
          <ac:spMkLst>
            <pc:docMk/>
            <pc:sldMk cId="152522964" sldId="322"/>
            <ac:spMk id="2" creationId="{3F5D1FAB-9F38-8A67-57AC-C16EE3DD7677}"/>
          </ac:spMkLst>
        </pc:spChg>
        <pc:spChg chg="mod">
          <ac:chgData name="Tea Boon Chian" userId="ab84e6a5-2079-4f96-af03-c8dde00dcc75" providerId="ADAL" clId="{72959C6B-DC73-40F0-ADFD-D6716F00F5B4}" dt="2023-12-28T11:48:44.779" v="6590" actId="20577"/>
          <ac:spMkLst>
            <pc:docMk/>
            <pc:sldMk cId="152522964" sldId="322"/>
            <ac:spMk id="3" creationId="{1A1CAA18-07F5-3B15-1ADF-AB0FD2F628FA}"/>
          </ac:spMkLst>
        </pc:spChg>
      </pc:sldChg>
      <pc:sldChg chg="modSp add del mod">
        <pc:chgData name="Tea Boon Chian" userId="ab84e6a5-2079-4f96-af03-c8dde00dcc75" providerId="ADAL" clId="{72959C6B-DC73-40F0-ADFD-D6716F00F5B4}" dt="2023-12-28T11:51:54.080" v="6599" actId="2696"/>
        <pc:sldMkLst>
          <pc:docMk/>
          <pc:sldMk cId="2495469044" sldId="322"/>
        </pc:sldMkLst>
        <pc:spChg chg="mod">
          <ac:chgData name="Tea Boon Chian" userId="ab84e6a5-2079-4f96-af03-c8dde00dcc75" providerId="ADAL" clId="{72959C6B-DC73-40F0-ADFD-D6716F00F5B4}" dt="2023-12-28T11:51:50.250" v="6598" actId="20577"/>
          <ac:spMkLst>
            <pc:docMk/>
            <pc:sldMk cId="2495469044" sldId="322"/>
            <ac:spMk id="2" creationId="{3F5D1FAB-9F38-8A67-57AC-C16EE3DD7677}"/>
          </ac:spMkLst>
        </pc:spChg>
      </pc:sldChg>
      <pc:sldChg chg="add">
        <pc:chgData name="Tea Boon Chian" userId="ab84e6a5-2079-4f96-af03-c8dde00dcc75" providerId="ADAL" clId="{72959C6B-DC73-40F0-ADFD-D6716F00F5B4}" dt="2023-12-28T11:51:57.740" v="6600"/>
        <pc:sldMkLst>
          <pc:docMk/>
          <pc:sldMk cId="2952377457" sldId="322"/>
        </pc:sldMkLst>
      </pc:sldChg>
      <pc:sldChg chg="modSp add mod">
        <pc:chgData name="Tea Boon Chian" userId="ab84e6a5-2079-4f96-af03-c8dde00dcc75" providerId="ADAL" clId="{72959C6B-DC73-40F0-ADFD-D6716F00F5B4}" dt="2023-12-28T18:04:22.507" v="9286" actId="207"/>
        <pc:sldMkLst>
          <pc:docMk/>
          <pc:sldMk cId="3486893230" sldId="323"/>
        </pc:sldMkLst>
        <pc:spChg chg="mod">
          <ac:chgData name="Tea Boon Chian" userId="ab84e6a5-2079-4f96-af03-c8dde00dcc75" providerId="ADAL" clId="{72959C6B-DC73-40F0-ADFD-D6716F00F5B4}" dt="2023-12-28T17:48:32.916" v="8000"/>
          <ac:spMkLst>
            <pc:docMk/>
            <pc:sldMk cId="3486893230" sldId="323"/>
            <ac:spMk id="2" creationId="{3F5D1FAB-9F38-8A67-57AC-C16EE3DD7677}"/>
          </ac:spMkLst>
        </pc:spChg>
        <pc:spChg chg="mod">
          <ac:chgData name="Tea Boon Chian" userId="ab84e6a5-2079-4f96-af03-c8dde00dcc75" providerId="ADAL" clId="{72959C6B-DC73-40F0-ADFD-D6716F00F5B4}" dt="2023-12-28T18:04:22.507" v="9286" actId="207"/>
          <ac:spMkLst>
            <pc:docMk/>
            <pc:sldMk cId="3486893230" sldId="323"/>
            <ac:spMk id="3" creationId="{1A1CAA18-07F5-3B15-1ADF-AB0FD2F628FA}"/>
          </ac:spMkLst>
        </pc:spChg>
      </pc:sldChg>
      <pc:sldChg chg="modSp add mod">
        <pc:chgData name="Tea Boon Chian" userId="ab84e6a5-2079-4f96-af03-c8dde00dcc75" providerId="ADAL" clId="{72959C6B-DC73-40F0-ADFD-D6716F00F5B4}" dt="2023-12-28T18:05:02.327" v="9306" actId="207"/>
        <pc:sldMkLst>
          <pc:docMk/>
          <pc:sldMk cId="1152193033" sldId="324"/>
        </pc:sldMkLst>
        <pc:spChg chg="mod">
          <ac:chgData name="Tea Boon Chian" userId="ab84e6a5-2079-4f96-af03-c8dde00dcc75" providerId="ADAL" clId="{72959C6B-DC73-40F0-ADFD-D6716F00F5B4}" dt="2023-12-28T18:05:02.327" v="9306" actId="207"/>
          <ac:spMkLst>
            <pc:docMk/>
            <pc:sldMk cId="1152193033" sldId="324"/>
            <ac:spMk id="2" creationId="{3F5D1FAB-9F38-8A67-57AC-C16EE3DD7677}"/>
          </ac:spMkLst>
        </pc:spChg>
      </pc:sldChg>
      <pc:sldChg chg="add">
        <pc:chgData name="Tea Boon Chian" userId="ab84e6a5-2079-4f96-af03-c8dde00dcc75" providerId="ADAL" clId="{72959C6B-DC73-40F0-ADFD-D6716F00F5B4}" dt="2023-12-28T18:05:06.857" v="9309"/>
        <pc:sldMkLst>
          <pc:docMk/>
          <pc:sldMk cId="3441924155" sldId="325"/>
        </pc:sldMkLst>
      </pc:sldChg>
      <pc:sldChg chg="addSp delSp modSp add mod">
        <pc:chgData name="Tea Boon Chian" userId="ab84e6a5-2079-4f96-af03-c8dde00dcc75" providerId="ADAL" clId="{72959C6B-DC73-40F0-ADFD-D6716F00F5B4}" dt="2023-12-28T18:10:10.932" v="9586" actId="20577"/>
        <pc:sldMkLst>
          <pc:docMk/>
          <pc:sldMk cId="1185022211" sldId="326"/>
        </pc:sldMkLst>
        <pc:spChg chg="mod">
          <ac:chgData name="Tea Boon Chian" userId="ab84e6a5-2079-4f96-af03-c8dde00dcc75" providerId="ADAL" clId="{72959C6B-DC73-40F0-ADFD-D6716F00F5B4}" dt="2023-12-28T18:10:10.932" v="9586" actId="20577"/>
          <ac:spMkLst>
            <pc:docMk/>
            <pc:sldMk cId="1185022211" sldId="326"/>
            <ac:spMk id="2" creationId="{3F5D1FAB-9F38-8A67-57AC-C16EE3DD7677}"/>
          </ac:spMkLst>
        </pc:spChg>
        <pc:spChg chg="del">
          <ac:chgData name="Tea Boon Chian" userId="ab84e6a5-2079-4f96-af03-c8dde00dcc75" providerId="ADAL" clId="{72959C6B-DC73-40F0-ADFD-D6716F00F5B4}" dt="2023-12-28T18:06:03.452" v="9351" actId="478"/>
          <ac:spMkLst>
            <pc:docMk/>
            <pc:sldMk cId="1185022211" sldId="326"/>
            <ac:spMk id="3" creationId="{1A1CAA18-07F5-3B15-1ADF-AB0FD2F628FA}"/>
          </ac:spMkLst>
        </pc:spChg>
        <pc:graphicFrameChg chg="add mod modGraphic">
          <ac:chgData name="Tea Boon Chian" userId="ab84e6a5-2079-4f96-af03-c8dde00dcc75" providerId="ADAL" clId="{72959C6B-DC73-40F0-ADFD-D6716F00F5B4}" dt="2023-12-28T18:09:01.523" v="9440" actId="12385"/>
          <ac:graphicFrameMkLst>
            <pc:docMk/>
            <pc:sldMk cId="1185022211" sldId="326"/>
            <ac:graphicFrameMk id="5" creationId="{F09D820D-1C64-6654-B7DF-A36FC40CC2AD}"/>
          </ac:graphicFrameMkLst>
        </pc:graphicFrameChg>
      </pc:sldChg>
      <pc:sldChg chg="modSp add mod ord">
        <pc:chgData name="Tea Boon Chian" userId="ab84e6a5-2079-4f96-af03-c8dde00dcc75" providerId="ADAL" clId="{72959C6B-DC73-40F0-ADFD-D6716F00F5B4}" dt="2023-12-28T18:05:48.786" v="9350"/>
        <pc:sldMkLst>
          <pc:docMk/>
          <pc:sldMk cId="1381022410" sldId="327"/>
        </pc:sldMkLst>
        <pc:spChg chg="mod">
          <ac:chgData name="Tea Boon Chian" userId="ab84e6a5-2079-4f96-af03-c8dde00dcc75" providerId="ADAL" clId="{72959C6B-DC73-40F0-ADFD-D6716F00F5B4}" dt="2023-12-28T18:05:26.604" v="9348" actId="207"/>
          <ac:spMkLst>
            <pc:docMk/>
            <pc:sldMk cId="1381022410" sldId="327"/>
            <ac:spMk id="2" creationId="{3F5D1FAB-9F38-8A67-57AC-C16EE3DD7677}"/>
          </ac:spMkLst>
        </pc:spChg>
      </pc:sldChg>
    </pc:docChg>
  </pc:docChgLst>
  <pc:docChgLst>
    <pc:chgData name="Tea Boon Chian" userId="ab84e6a5-2079-4f96-af03-c8dde00dcc75" providerId="ADAL" clId="{76828347-E773-4B42-8812-5E0AE98BFB7D}"/>
    <pc:docChg chg="modSld">
      <pc:chgData name="Tea Boon Chian" userId="ab84e6a5-2079-4f96-af03-c8dde00dcc75" providerId="ADAL" clId="{76828347-E773-4B42-8812-5E0AE98BFB7D}" dt="2024-06-14T18:06:59.755" v="24" actId="20577"/>
      <pc:docMkLst>
        <pc:docMk/>
      </pc:docMkLst>
      <pc:sldChg chg="modSp">
        <pc:chgData name="Tea Boon Chian" userId="ab84e6a5-2079-4f96-af03-c8dde00dcc75" providerId="ADAL" clId="{76828347-E773-4B42-8812-5E0AE98BFB7D}" dt="2024-06-10T07:42:02.461" v="7" actId="20577"/>
        <pc:sldMkLst>
          <pc:docMk/>
          <pc:sldMk cId="2729002477" sldId="300"/>
        </pc:sldMkLst>
        <pc:spChg chg="mod">
          <ac:chgData name="Tea Boon Chian" userId="ab84e6a5-2079-4f96-af03-c8dde00dcc75" providerId="ADAL" clId="{76828347-E773-4B42-8812-5E0AE98BFB7D}" dt="2024-06-10T07:42:02.461" v="7" actId="20577"/>
          <ac:spMkLst>
            <pc:docMk/>
            <pc:sldMk cId="2729002477" sldId="300"/>
            <ac:spMk id="3" creationId="{1A1CAA18-07F5-3B15-1ADF-AB0FD2F628FA}"/>
          </ac:spMkLst>
        </pc:spChg>
      </pc:sldChg>
      <pc:sldChg chg="modSp">
        <pc:chgData name="Tea Boon Chian" userId="ab84e6a5-2079-4f96-af03-c8dde00dcc75" providerId="ADAL" clId="{76828347-E773-4B42-8812-5E0AE98BFB7D}" dt="2024-06-14T18:06:41.208" v="21" actId="20577"/>
        <pc:sldMkLst>
          <pc:docMk/>
          <pc:sldMk cId="379003066" sldId="310"/>
        </pc:sldMkLst>
        <pc:spChg chg="mod">
          <ac:chgData name="Tea Boon Chian" userId="ab84e6a5-2079-4f96-af03-c8dde00dcc75" providerId="ADAL" clId="{76828347-E773-4B42-8812-5E0AE98BFB7D}" dt="2024-06-14T18:06:41.208" v="21" actId="20577"/>
          <ac:spMkLst>
            <pc:docMk/>
            <pc:sldMk cId="379003066" sldId="310"/>
            <ac:spMk id="3" creationId="{1A1CAA18-07F5-3B15-1ADF-AB0FD2F628FA}"/>
          </ac:spMkLst>
        </pc:spChg>
      </pc:sldChg>
      <pc:sldChg chg="modSp mod">
        <pc:chgData name="Tea Boon Chian" userId="ab84e6a5-2079-4f96-af03-c8dde00dcc75" providerId="ADAL" clId="{76828347-E773-4B42-8812-5E0AE98BFB7D}" dt="2024-06-10T07:44:11.711" v="8" actId="11"/>
        <pc:sldMkLst>
          <pc:docMk/>
          <pc:sldMk cId="1126811955" sldId="319"/>
        </pc:sldMkLst>
        <pc:spChg chg="mod">
          <ac:chgData name="Tea Boon Chian" userId="ab84e6a5-2079-4f96-af03-c8dde00dcc75" providerId="ADAL" clId="{76828347-E773-4B42-8812-5E0AE98BFB7D}" dt="2024-06-10T07:44:11.711" v="8" actId="11"/>
          <ac:spMkLst>
            <pc:docMk/>
            <pc:sldMk cId="1126811955" sldId="319"/>
            <ac:spMk id="3" creationId="{1A1CAA18-07F5-3B15-1ADF-AB0FD2F628FA}"/>
          </ac:spMkLst>
        </pc:spChg>
      </pc:sldChg>
      <pc:sldChg chg="modSp">
        <pc:chgData name="Tea Boon Chian" userId="ab84e6a5-2079-4f96-af03-c8dde00dcc75" providerId="ADAL" clId="{76828347-E773-4B42-8812-5E0AE98BFB7D}" dt="2024-06-14T18:06:59.755" v="24" actId="20577"/>
        <pc:sldMkLst>
          <pc:docMk/>
          <pc:sldMk cId="3486893230" sldId="323"/>
        </pc:sldMkLst>
        <pc:spChg chg="mod">
          <ac:chgData name="Tea Boon Chian" userId="ab84e6a5-2079-4f96-af03-c8dde00dcc75" providerId="ADAL" clId="{76828347-E773-4B42-8812-5E0AE98BFB7D}" dt="2024-06-14T18:06:59.755" v="24" actId="20577"/>
          <ac:spMkLst>
            <pc:docMk/>
            <pc:sldMk cId="3486893230" sldId="323"/>
            <ac:spMk id="3" creationId="{1A1CAA18-07F5-3B15-1ADF-AB0FD2F628F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6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426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D4F60-3B00-4DB4-90A4-67F8107A0900}" type="datetime1">
              <a:rPr lang="en-US" smtClean="0"/>
              <a:t>6/15/2024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481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E685-1B6F-4D7C-AEF2-C9AD71EC467A}" type="datetime1">
              <a:rPr lang="en-US" smtClean="0"/>
              <a:t>6/15/2024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084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20BAB-D1DB-4DC1-908A-9B5E73715905}" type="datetime1">
              <a:rPr lang="en-US" smtClean="0"/>
              <a:t>6/15/2024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840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12793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5383" y="2128684"/>
            <a:ext cx="5304417" cy="38444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28684"/>
            <a:ext cx="5219700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2DD5A-C337-4F22-BED0-547AFC68CFD6}" type="datetime1">
              <a:rPr lang="en-US" smtClean="0"/>
              <a:t>6/15/2024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086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87" y="929148"/>
            <a:ext cx="10640005" cy="7615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4" y="1681163"/>
            <a:ext cx="5282192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384" y="2505075"/>
            <a:ext cx="5282192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8DFBF-4DB8-447F-A740-22B1B0F7DDD8}" type="datetime1">
              <a:rPr lang="en-US" smtClean="0"/>
              <a:t>6/15/2024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774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12435-B87A-4434-B86A-1406D5D81959}" type="datetime1">
              <a:rPr lang="en-US" smtClean="0"/>
              <a:t>6/15/2024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204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850E0-9242-469C-9FA7-447D7E43FF29}" type="datetime1">
              <a:rPr lang="en-US" smtClean="0"/>
              <a:t>6/15/2024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306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6" y="781665"/>
            <a:ext cx="4093599" cy="122345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8258" y="2315497"/>
            <a:ext cx="4093599" cy="35534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184C1-634B-4D2F-90E1-C39B48114444}" type="datetime1">
              <a:rPr lang="en-US" smtClean="0"/>
              <a:t>6/15/2024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092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42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342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A4FC1-9CCD-4E4B-AB4D-5CAEC19C950B}" type="datetime1">
              <a:rPr lang="en-US" smtClean="0"/>
              <a:t>6/15/2024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764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12018-AE0B-45B3-8833-1C61B747ADFD}" type="datetime1">
              <a:rPr lang="en-US" smtClean="0"/>
              <a:t>6/15/2024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547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7973"/>
            <a:ext cx="8404122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74D72-DF44-407D-AEE5-0273DD00D922}" type="datetime1">
              <a:rPr lang="en-US" smtClean="0"/>
              <a:t>6/15/2024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197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371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93126"/>
            <a:ext cx="10691265" cy="3636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925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FBA78304-8938-479D-8111-AA943458A814}" type="datetime1">
              <a:rPr lang="en-US" smtClean="0"/>
              <a:t>6/15/2024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383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4711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60E52DF2-6802-459B-AC2A-AF976DEB1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153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Digital Signatures Electronic Signatures: What's The, 44% OFF">
            <a:extLst>
              <a:ext uri="{FF2B5EF4-FFF2-40B4-BE49-F238E27FC236}">
                <a16:creationId xmlns:a16="http://schemas.microsoft.com/office/drawing/2014/main" id="{BA6DDFAD-60DB-9314-28C5-DF03986386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9" r="17918"/>
          <a:stretch/>
        </p:blipFill>
        <p:spPr bwMode="auto">
          <a:xfrm>
            <a:off x="20" y="10"/>
            <a:ext cx="7320707" cy="6857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ED10A4-71E4-B985-6D16-BD4990F117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02184" y="2386295"/>
            <a:ext cx="3730839" cy="3569150"/>
          </a:xfrm>
        </p:spPr>
        <p:txBody>
          <a:bodyPr anchor="b">
            <a:normAutofit/>
          </a:bodyPr>
          <a:lstStyle/>
          <a:p>
            <a:pPr algn="ctr"/>
            <a:r>
              <a:rPr lang="en-MY" sz="4800" dirty="0"/>
              <a:t>DIGITAL SIGNATURES</a:t>
            </a:r>
            <a:br>
              <a:rPr lang="en-MY" sz="4800" dirty="0"/>
            </a:br>
            <a:br>
              <a:rPr lang="en-MY" sz="4800" dirty="0"/>
            </a:br>
            <a:endParaRPr lang="en-MY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C9F4FE-C0DF-EF82-012A-BEAA9476F0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15300" y="1208146"/>
            <a:ext cx="3137031" cy="979680"/>
          </a:xfrm>
        </p:spPr>
        <p:txBody>
          <a:bodyPr anchor="t">
            <a:normAutofit/>
          </a:bodyPr>
          <a:lstStyle/>
          <a:p>
            <a:r>
              <a:rPr lang="en-MY" sz="3600" b="1" dirty="0"/>
              <a:t>CHAPTER 12</a:t>
            </a:r>
          </a:p>
        </p:txBody>
      </p:sp>
    </p:spTree>
    <p:extLst>
      <p:ext uri="{BB962C8B-B14F-4D97-AF65-F5344CB8AC3E}">
        <p14:creationId xmlns:p14="http://schemas.microsoft.com/office/powerpoint/2010/main" val="2095673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D1FAB-9F38-8A67-57AC-C16EE3DD7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/>
              <a:t>Outlines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CAA18-07F5-3B15-1ADF-AB0FD2F62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MY" sz="2400" dirty="0"/>
              <a:t>Introduction to Digital Signature.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sz="2400" dirty="0"/>
              <a:t>Design of Digital Signature.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sz="2400" dirty="0"/>
              <a:t>Cryptanalysis on Digital Signature.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sz="2400" dirty="0"/>
              <a:t>Practical Digital Signature Schemes.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CCE9A-1B11-2175-DA9B-7412850DB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E685-1B6F-4D7C-AEF2-C9AD71EC467A}" type="datetime1">
              <a:rPr lang="en-US" smtClean="0"/>
              <a:t>6/15/2024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37BCC-DE2D-5A94-C600-EA7DA6DF9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397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D1FAB-9F38-8A67-57AC-C16EE3DD7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CAA18-07F5-3B15-1ADF-AB0FD2F62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MY" sz="2200" b="1" dirty="0"/>
              <a:t>In the end of this Chapter 12, students will be able: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sz="2200" dirty="0"/>
              <a:t>To understand the </a:t>
            </a:r>
            <a:r>
              <a:rPr lang="en-MY" sz="2200" b="1" dirty="0">
                <a:solidFill>
                  <a:srgbClr val="FF0000"/>
                </a:solidFill>
              </a:rPr>
              <a:t>concept and importance </a:t>
            </a:r>
            <a:r>
              <a:rPr lang="en-MY" sz="2200" dirty="0"/>
              <a:t>of </a:t>
            </a:r>
            <a:r>
              <a:rPr lang="en-MY" sz="2200" b="1" dirty="0">
                <a:solidFill>
                  <a:srgbClr val="FF0000"/>
                </a:solidFill>
              </a:rPr>
              <a:t>digital signature </a:t>
            </a:r>
            <a:r>
              <a:rPr lang="en-MY" sz="2200" dirty="0"/>
              <a:t>in cryptography.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sz="2200" dirty="0"/>
              <a:t>To understand in depth the </a:t>
            </a:r>
            <a:r>
              <a:rPr lang="en-MY" sz="2200" b="1" dirty="0">
                <a:solidFill>
                  <a:srgbClr val="FF0000"/>
                </a:solidFill>
              </a:rPr>
              <a:t>design of digital signature </a:t>
            </a:r>
            <a:r>
              <a:rPr lang="en-MY" sz="2200" dirty="0"/>
              <a:t>using different approaches.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sz="2200" dirty="0"/>
              <a:t>To understand and describe the </a:t>
            </a:r>
            <a:r>
              <a:rPr lang="en-MY" sz="2200" b="1" dirty="0">
                <a:solidFill>
                  <a:srgbClr val="FF0000"/>
                </a:solidFill>
              </a:rPr>
              <a:t>cryptanalysis</a:t>
            </a:r>
            <a:r>
              <a:rPr lang="en-MY" sz="2200" dirty="0"/>
              <a:t> on digital signature.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sz="2200" dirty="0"/>
              <a:t>To understand the </a:t>
            </a:r>
            <a:r>
              <a:rPr lang="en-MY" sz="2200" b="1" dirty="0">
                <a:solidFill>
                  <a:srgbClr val="FF0000"/>
                </a:solidFill>
              </a:rPr>
              <a:t>practical digital signature schemes</a:t>
            </a:r>
            <a:r>
              <a:rPr lang="en-MY" sz="2200" dirty="0"/>
              <a:t>. </a:t>
            </a:r>
          </a:p>
          <a:p>
            <a:pPr marL="0" indent="0" algn="just">
              <a:buNone/>
            </a:pPr>
            <a:endParaRPr lang="en-MY" sz="2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CCE9A-1B11-2175-DA9B-7412850DB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E685-1B6F-4D7C-AEF2-C9AD71EC467A}" type="datetime1">
              <a:rPr lang="en-US" smtClean="0"/>
              <a:t>6/15/2024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37BCC-DE2D-5A94-C600-EA7DA6DF9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136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D1FAB-9F38-8A67-57AC-C16EE3DD7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4999310"/>
          </a:xfrm>
        </p:spPr>
        <p:txBody>
          <a:bodyPr>
            <a:normAutofit/>
          </a:bodyPr>
          <a:lstStyle/>
          <a:p>
            <a:pPr algn="ctr"/>
            <a:br>
              <a:rPr lang="en-MY" sz="6000" dirty="0"/>
            </a:br>
            <a:r>
              <a:rPr lang="en-MY" sz="6000" dirty="0"/>
              <a:t>Introduction</a:t>
            </a:r>
            <a:br>
              <a:rPr lang="en-MY" sz="6000" dirty="0"/>
            </a:br>
            <a:r>
              <a:rPr lang="en-MY" sz="6000" dirty="0"/>
              <a:t>to</a:t>
            </a:r>
            <a:br>
              <a:rPr lang="en-MY" sz="6000" dirty="0"/>
            </a:br>
            <a:r>
              <a:rPr lang="en-MY" sz="6000" b="1" dirty="0">
                <a:solidFill>
                  <a:srgbClr val="00B050"/>
                </a:solidFill>
              </a:rPr>
              <a:t>digital signature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CCE9A-1B11-2175-DA9B-7412850DB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E685-1B6F-4D7C-AEF2-C9AD71EC467A}" type="datetime1">
              <a:rPr lang="en-US" smtClean="0"/>
              <a:t>6/15/2024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37BCC-DE2D-5A94-C600-EA7DA6DF9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171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D1FAB-9F38-8A67-57AC-C16EE3DD7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/>
              <a:t>Introduction to </a:t>
            </a:r>
            <a:r>
              <a:rPr lang="en-MY" b="1" dirty="0">
                <a:solidFill>
                  <a:srgbClr val="00B050"/>
                </a:solidFill>
              </a:rPr>
              <a:t>Digital signature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1CAA18-07F5-3B15-1ADF-AB0FD2F628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buFont typeface="Courier New" panose="02070309020205020404" pitchFamily="49" charset="0"/>
                  <a:buChar char="o"/>
                </a:pPr>
                <a:r>
                  <a:rPr lang="en-MY" sz="2200" b="1" dirty="0">
                    <a:solidFill>
                      <a:srgbClr val="FF0000"/>
                    </a:solidFill>
                  </a:rPr>
                  <a:t>Analogy</a:t>
                </a:r>
                <a:r>
                  <a:rPr lang="en-MY" sz="2200" dirty="0"/>
                  <a:t>: A person signs a document to show that document is originated from (was approved) by him/her. It can be viewed like handwritten signatures on documents.</a:t>
                </a:r>
              </a:p>
              <a:p>
                <a:pPr algn="just">
                  <a:buFont typeface="Courier New" panose="02070309020205020404" pitchFamily="49" charset="0"/>
                  <a:buChar char="o"/>
                </a:pPr>
                <a:r>
                  <a:rPr lang="en-MY" sz="2200" dirty="0"/>
                  <a:t>A </a:t>
                </a:r>
                <a:r>
                  <a:rPr lang="en-MY" sz="2200" b="1" dirty="0">
                    <a:solidFill>
                      <a:srgbClr val="00B050"/>
                    </a:solidFill>
                  </a:rPr>
                  <a:t>digital signature </a:t>
                </a:r>
                <a:r>
                  <a:rPr lang="en-MY" sz="2200" dirty="0"/>
                  <a:t>in cryptography is therefore a mathematical technique used to validate the </a:t>
                </a:r>
                <a:r>
                  <a:rPr lang="en-MY" sz="2200" b="1" dirty="0">
                    <a:solidFill>
                      <a:srgbClr val="0000FF"/>
                    </a:solidFill>
                  </a:rPr>
                  <a:t>authenticity</a:t>
                </a:r>
                <a:r>
                  <a:rPr lang="en-MY" sz="2200" dirty="0"/>
                  <a:t> and </a:t>
                </a:r>
                <a:r>
                  <a:rPr lang="en-MY" sz="2200" b="1" dirty="0">
                    <a:solidFill>
                      <a:srgbClr val="0000FF"/>
                    </a:solidFill>
                  </a:rPr>
                  <a:t>integrity</a:t>
                </a:r>
                <a:r>
                  <a:rPr lang="en-MY" sz="2200" dirty="0"/>
                  <a:t> of a document or message. </a:t>
                </a:r>
              </a:p>
              <a:p>
                <a:pPr algn="just">
                  <a:buFont typeface="Courier New" panose="02070309020205020404" pitchFamily="49" charset="0"/>
                  <a:buChar char="o"/>
                </a:pPr>
                <a:r>
                  <a:rPr lang="en-MY" sz="2200" dirty="0"/>
                  <a:t>This scheme is worked through the </a:t>
                </a:r>
                <a:r>
                  <a:rPr lang="en-MY" sz="2200" b="1" dirty="0">
                    <a:solidFill>
                      <a:srgbClr val="FF0000"/>
                    </a:solidFill>
                  </a:rPr>
                  <a:t>public-key cryptography</a:t>
                </a:r>
                <a:r>
                  <a:rPr lang="en-MY" sz="2200" dirty="0"/>
                  <a:t>, where signing and verifying the signature are done using different keys.</a:t>
                </a:r>
              </a:p>
              <a:p>
                <a:pPr lvl="1" algn="just">
                  <a:buFont typeface="Wingdings" panose="05000000000000000000" pitchFamily="2" charset="2"/>
                  <a:buChar char="Ø"/>
                </a:pPr>
                <a:r>
                  <a:rPr lang="en-MY" sz="2200" dirty="0"/>
                  <a:t>The </a:t>
                </a:r>
                <a:r>
                  <a:rPr lang="en-MY" sz="2200" b="1" dirty="0">
                    <a:solidFill>
                      <a:srgbClr val="00B050"/>
                    </a:solidFill>
                  </a:rPr>
                  <a:t>private key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MY" sz="2200" b="0" i="0" smtClean="0">
                            <a:latin typeface="Cambria Math" panose="02040503050406030204" pitchFamily="18" charset="0"/>
                          </a:rPr>
                          <m:t>prv</m:t>
                        </m:r>
                      </m:sub>
                    </m:sSub>
                  </m:oMath>
                </a14:m>
                <a:r>
                  <a:rPr lang="en-MY" sz="2200" dirty="0"/>
                  <a:t> is used to </a:t>
                </a:r>
                <a:r>
                  <a:rPr lang="en-MY" sz="2200" b="1" dirty="0">
                    <a:solidFill>
                      <a:srgbClr val="00B050"/>
                    </a:solidFill>
                  </a:rPr>
                  <a:t>sign</a:t>
                </a:r>
                <a:r>
                  <a:rPr lang="en-MY" sz="2200" dirty="0"/>
                  <a:t> the message (document).</a:t>
                </a:r>
              </a:p>
              <a:p>
                <a:pPr lvl="1" algn="just">
                  <a:buFont typeface="Wingdings" panose="05000000000000000000" pitchFamily="2" charset="2"/>
                  <a:buChar char="Ø"/>
                </a:pPr>
                <a:r>
                  <a:rPr lang="en-MY" sz="2200" dirty="0"/>
                  <a:t>The </a:t>
                </a:r>
                <a:r>
                  <a:rPr lang="en-MY" sz="2200" b="1" dirty="0">
                    <a:solidFill>
                      <a:srgbClr val="7030A0"/>
                    </a:solidFill>
                  </a:rPr>
                  <a:t>public key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MY" sz="2200" b="0" i="0" smtClean="0">
                            <a:latin typeface="Cambria Math" panose="02040503050406030204" pitchFamily="18" charset="0"/>
                          </a:rPr>
                          <m:t>pub</m:t>
                        </m:r>
                      </m:sub>
                    </m:sSub>
                  </m:oMath>
                </a14:m>
                <a:r>
                  <a:rPr lang="en-MY" sz="2200" dirty="0"/>
                  <a:t> is used to </a:t>
                </a:r>
                <a:r>
                  <a:rPr lang="en-MY" sz="2200" b="1" dirty="0">
                    <a:solidFill>
                      <a:srgbClr val="7030A0"/>
                    </a:solidFill>
                  </a:rPr>
                  <a:t>verify</a:t>
                </a:r>
                <a:r>
                  <a:rPr lang="en-MY" sz="2200" dirty="0"/>
                  <a:t> the signature.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1CAA18-07F5-3B15-1ADF-AB0FD2F628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84" t="-1005" r="-741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CCE9A-1B11-2175-DA9B-7412850DB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E685-1B6F-4D7C-AEF2-C9AD71EC467A}" type="datetime1">
              <a:rPr lang="en-US" smtClean="0"/>
              <a:t>6/15/2024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37BCC-DE2D-5A94-C600-EA7DA6DF9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809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D1FAB-9F38-8A67-57AC-C16EE3DD7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/>
              <a:t>Introduction to </a:t>
            </a:r>
            <a:r>
              <a:rPr lang="en-MY" b="1" dirty="0">
                <a:solidFill>
                  <a:srgbClr val="00B050"/>
                </a:solidFill>
              </a:rPr>
              <a:t>Digital signature 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CAA18-07F5-3B15-1ADF-AB0FD2F628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93126"/>
            <a:ext cx="10691265" cy="3841344"/>
          </a:xfrm>
        </p:spPr>
        <p:txBody>
          <a:bodyPr>
            <a:normAutofit/>
          </a:bodyPr>
          <a:lstStyle/>
          <a:p>
            <a:pPr algn="just">
              <a:buFont typeface="Courier New" panose="02070309020205020404" pitchFamily="49" charset="0"/>
              <a:buChar char="o"/>
            </a:pPr>
            <a:r>
              <a:rPr lang="en-MY" sz="2200" b="1" dirty="0">
                <a:solidFill>
                  <a:srgbClr val="FF0000"/>
                </a:solidFill>
              </a:rPr>
              <a:t>Comparison</a:t>
            </a:r>
            <a:r>
              <a:rPr lang="en-MY" sz="2200" dirty="0"/>
              <a:t> between conventional (handwritten) signature and digital signature.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sz="2200" b="1" dirty="0">
                <a:solidFill>
                  <a:srgbClr val="0000FF"/>
                </a:solidFill>
              </a:rPr>
              <a:t>Inclusion</a:t>
            </a:r>
            <a:r>
              <a:rPr lang="en-MY" sz="2200" dirty="0"/>
              <a:t>.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altLang="en-US" sz="2000" dirty="0">
                <a:cs typeface="Arial" panose="020B0604020202020204" pitchFamily="34" charset="0"/>
              </a:rPr>
              <a:t>A conventional signature is included and is part of the document.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altLang="en-US" sz="2000" dirty="0">
                <a:cs typeface="Arial" panose="020B0604020202020204" pitchFamily="34" charset="0"/>
              </a:rPr>
              <a:t>A digital signature is computed and sent separately with document.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altLang="en-US" sz="2200" b="1" dirty="0">
                <a:solidFill>
                  <a:srgbClr val="C00000"/>
                </a:solidFill>
                <a:cs typeface="Arial" panose="020B0604020202020204" pitchFamily="34" charset="0"/>
              </a:rPr>
              <a:t>Verification technique</a:t>
            </a:r>
            <a:r>
              <a:rPr lang="en-US" altLang="en-US" sz="2200" dirty="0">
                <a:cs typeface="Arial" panose="020B0604020202020204" pitchFamily="34" charset="0"/>
              </a:rPr>
              <a:t>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altLang="en-US" sz="2000" dirty="0">
                <a:cs typeface="Arial" panose="020B0604020202020204" pitchFamily="34" charset="0"/>
              </a:rPr>
              <a:t>A receiver compares the conventional signature on the document with the signature on the file to verify its authenticity.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altLang="en-US" sz="2000" dirty="0">
                <a:cs typeface="Arial" panose="020B0604020202020204" pitchFamily="34" charset="0"/>
              </a:rPr>
              <a:t>A receiver performs mathematical operations on the combination of both message and digital signature to verify its authenticity.</a:t>
            </a:r>
          </a:p>
          <a:p>
            <a:pPr marL="457200" indent="-457200" algn="just">
              <a:buFont typeface="+mj-lt"/>
              <a:buAutoNum type="arabicPeriod"/>
            </a:pPr>
            <a:endParaRPr lang="en-MY" sz="2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CCE9A-1B11-2175-DA9B-7412850DB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E685-1B6F-4D7C-AEF2-C9AD71EC467A}" type="datetime1">
              <a:rPr lang="en-US" smtClean="0"/>
              <a:t>6/15/2024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37BCC-DE2D-5A94-C600-EA7DA6DF9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974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D1FAB-9F38-8A67-57AC-C16EE3DD7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/>
              <a:t>Introduction to </a:t>
            </a:r>
            <a:r>
              <a:rPr lang="en-MY" b="1" dirty="0">
                <a:solidFill>
                  <a:srgbClr val="00B050"/>
                </a:solidFill>
              </a:rPr>
              <a:t>Digital signature 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CAA18-07F5-3B15-1ADF-AB0FD2F62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 startAt="3"/>
            </a:pPr>
            <a:r>
              <a:rPr lang="en-MY" sz="2200" b="1" dirty="0">
                <a:solidFill>
                  <a:srgbClr val="FF0000"/>
                </a:solidFill>
              </a:rPr>
              <a:t>Relationship</a:t>
            </a:r>
            <a:r>
              <a:rPr lang="en-MY" sz="2200" dirty="0"/>
              <a:t>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MY" sz="2200" dirty="0"/>
              <a:t>A conventional signature is usually a one-to-many relationship between a signature and documents.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MY" sz="2200" dirty="0"/>
              <a:t>A digital signature is a one-to-one relationship (unique) between a signature and a document.</a:t>
            </a:r>
          </a:p>
          <a:p>
            <a:pPr marL="457200" indent="-457200" algn="just">
              <a:buFont typeface="+mj-lt"/>
              <a:buAutoNum type="arabicPeriod" startAt="3"/>
            </a:pPr>
            <a:r>
              <a:rPr lang="en-MY" sz="2200" b="1" dirty="0">
                <a:solidFill>
                  <a:srgbClr val="002060"/>
                </a:solidFill>
              </a:rPr>
              <a:t>Duplicity</a:t>
            </a:r>
            <a:r>
              <a:rPr lang="en-MY" sz="2200" dirty="0"/>
              <a:t>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MY" sz="2000" dirty="0"/>
              <a:t>A conventional signature can be distinguished between the copied and the original.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MY" sz="2000" dirty="0"/>
              <a:t>A digital signature is indistinguishable unless specific time-factor is imposed on it.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CCE9A-1B11-2175-DA9B-7412850DB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E685-1B6F-4D7C-AEF2-C9AD71EC467A}" type="datetime1">
              <a:rPr lang="en-US" smtClean="0"/>
              <a:t>6/15/2024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37BCC-DE2D-5A94-C600-EA7DA6DF9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456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D1FAB-9F38-8A67-57AC-C16EE3DD7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/>
              <a:t>Introduction to </a:t>
            </a:r>
            <a:r>
              <a:rPr lang="en-MY" b="1" dirty="0">
                <a:solidFill>
                  <a:srgbClr val="00B050"/>
                </a:solidFill>
              </a:rPr>
              <a:t>Digital signature </a:t>
            </a:r>
            <a:r>
              <a:rPr lang="en-MY" b="1" dirty="0"/>
              <a:t>– </a:t>
            </a:r>
            <a:br>
              <a:rPr lang="en-MY" b="1" dirty="0"/>
            </a:br>
            <a:r>
              <a:rPr lang="en-MY" b="1" dirty="0">
                <a:solidFill>
                  <a:srgbClr val="FF0000"/>
                </a:solidFill>
              </a:rPr>
              <a:t>WHY DO WE NEED IT</a:t>
            </a:r>
            <a:r>
              <a:rPr lang="en-MY" b="1" dirty="0"/>
              <a:t>?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CAA18-07F5-3B15-1ADF-AB0FD2F62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Courier New" panose="02070309020205020404" pitchFamily="49" charset="0"/>
              <a:buChar char="o"/>
            </a:pPr>
            <a:r>
              <a:rPr lang="en-MY" sz="2200" dirty="0"/>
              <a:t>Message authentication protects two parties who exchange the message from any third party (message integrity). 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MY" sz="2200" dirty="0"/>
              <a:t>However, it does not protect two parties against each other (non-repudiation). Hence, several forms of dispute between the parties are possible.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MY" sz="2200" dirty="0"/>
              <a:t>It a situation where there is no complete trust between the communicating parties (sender and receiver), then other solutions more than authentication is needed. </a:t>
            </a:r>
          </a:p>
          <a:p>
            <a:pPr algn="just">
              <a:buFont typeface="Courier New" panose="02070309020205020404" pitchFamily="49" charset="0"/>
              <a:buChar char="o"/>
            </a:pPr>
            <a:endParaRPr lang="en-MY" sz="2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CCE9A-1B11-2175-DA9B-7412850DB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E685-1B6F-4D7C-AEF2-C9AD71EC467A}" type="datetime1">
              <a:rPr lang="en-US" smtClean="0"/>
              <a:t>6/15/2024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37BCC-DE2D-5A94-C600-EA7DA6DF9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179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D1FAB-9F38-8A67-57AC-C16EE3DD7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4999310"/>
          </a:xfrm>
        </p:spPr>
        <p:txBody>
          <a:bodyPr>
            <a:normAutofit/>
          </a:bodyPr>
          <a:lstStyle/>
          <a:p>
            <a:pPr algn="ctr"/>
            <a:br>
              <a:rPr lang="en-MY" sz="6000" dirty="0"/>
            </a:br>
            <a:r>
              <a:rPr lang="en-MY" sz="6000" b="1" dirty="0">
                <a:solidFill>
                  <a:srgbClr val="FF0000"/>
                </a:solidFill>
              </a:rPr>
              <a:t>design </a:t>
            </a:r>
            <a:r>
              <a:rPr lang="en-MY" sz="6000" dirty="0"/>
              <a:t>of</a:t>
            </a:r>
            <a:br>
              <a:rPr lang="en-MY" sz="6000" dirty="0"/>
            </a:br>
            <a:r>
              <a:rPr lang="en-MY" sz="6000" dirty="0"/>
              <a:t>digital signature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CCE9A-1B11-2175-DA9B-7412850DB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E685-1B6F-4D7C-AEF2-C9AD71EC467A}" type="datetime1">
              <a:rPr lang="en-US" smtClean="0"/>
              <a:t>6/15/2024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37BCC-DE2D-5A94-C600-EA7DA6DF9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797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D1FAB-9F38-8A67-57AC-C16EE3DD7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>
                <a:solidFill>
                  <a:srgbClr val="FF0000"/>
                </a:solidFill>
              </a:rPr>
              <a:t>Design</a:t>
            </a:r>
            <a:r>
              <a:rPr lang="en-MY" dirty="0"/>
              <a:t> of digital signature –</a:t>
            </a:r>
            <a:br>
              <a:rPr lang="en-MY" dirty="0"/>
            </a:br>
            <a:r>
              <a:rPr lang="en-MY" b="1" dirty="0">
                <a:solidFill>
                  <a:srgbClr val="0000FF"/>
                </a:solidFill>
              </a:rPr>
              <a:t>generic model (framework)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1CAA18-07F5-3B15-1ADF-AB0FD2F628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buFont typeface="Courier New" panose="02070309020205020404" pitchFamily="49" charset="0"/>
                  <a:buChar char="o"/>
                </a:pPr>
                <a:r>
                  <a:rPr lang="en-MY" sz="2200" dirty="0"/>
                  <a:t>Suppose two users (says Alice and Bob) wants to communicate securely. Alice wants to send a message to Bob.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sz="2200" dirty="0"/>
                  <a:t>Alice hashes the message </a:t>
                </a:r>
                <a14:m>
                  <m:oMath xmlns:m="http://schemas.openxmlformats.org/officeDocument/2006/math">
                    <m:r>
                      <a:rPr lang="en-MY" sz="22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MY" sz="2200" dirty="0"/>
                  <a:t> using a cryptographic hash function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MY" sz="2200" dirty="0"/>
                  <a:t> to produce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MY" sz="2200" dirty="0"/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sz="2200" dirty="0"/>
                  <a:t>The hash value is then signed using a digital signature scheme with her private key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MY" sz="2200" b="0" i="0" smtClean="0">
                            <a:latin typeface="Cambria Math" panose="02040503050406030204" pitchFamily="18" charset="0"/>
                          </a:rPr>
                          <m:t>Prv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MY" sz="2200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en-MY" sz="2200" dirty="0"/>
                  <a:t> to produce a signature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MY" sz="2200" b="0" i="0" smtClean="0">
                        <a:latin typeface="Cambria Math" panose="02040503050406030204" pitchFamily="18" charset="0"/>
                      </a:rPr>
                      <m:t>Sig</m:t>
                    </m:r>
                    <m:d>
                      <m:d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MY" sz="2200" b="0" i="0" smtClean="0">
                                <a:latin typeface="Cambria Math" panose="02040503050406030204" pitchFamily="18" charset="0"/>
                              </a:rPr>
                              <m:t>Prv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MY" sz="22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  <m:r>
                          <a:rPr lang="en-MY" sz="2200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r>
                  <a:rPr lang="en-MY" sz="2200" dirty="0"/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sz="2200" dirty="0"/>
                  <a:t>The message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MY" sz="2200" dirty="0"/>
                  <a:t> and signature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MY" sz="2200" dirty="0"/>
                  <a:t> are sent to Bob as concatenated ciphertext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∥</m:t>
                        </m:r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d>
                  </m:oMath>
                </a14:m>
                <a:r>
                  <a:rPr lang="en-MY" sz="22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1CAA18-07F5-3B15-1ADF-AB0FD2F628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1" t="-1005" r="-741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CCE9A-1B11-2175-DA9B-7412850DB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E685-1B6F-4D7C-AEF2-C9AD71EC467A}" type="datetime1">
              <a:rPr lang="en-US" smtClean="0"/>
              <a:t>6/15/2024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37BCC-DE2D-5A94-C600-EA7DA6DF9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9341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D1FAB-9F38-8A67-57AC-C16EE3DD7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>
                <a:solidFill>
                  <a:srgbClr val="FF0000"/>
                </a:solidFill>
              </a:rPr>
              <a:t>Design</a:t>
            </a:r>
            <a:r>
              <a:rPr lang="en-MY" dirty="0"/>
              <a:t> of digital signature –</a:t>
            </a:r>
            <a:br>
              <a:rPr lang="en-MY" dirty="0"/>
            </a:br>
            <a:r>
              <a:rPr lang="en-MY" b="1" dirty="0">
                <a:solidFill>
                  <a:srgbClr val="0000FF"/>
                </a:solidFill>
              </a:rPr>
              <a:t>generic model (framework)</a:t>
            </a:r>
            <a:endParaRPr lang="en-MY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1CAA18-07F5-3B15-1ADF-AB0FD2F628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457200" indent="-457200" algn="just">
                  <a:buFont typeface="+mj-lt"/>
                  <a:buAutoNum type="arabicPeriod" startAt="4"/>
                </a:pPr>
                <a:r>
                  <a:rPr lang="en-MY" sz="2200" dirty="0"/>
                  <a:t>Bob when receiving the ciphertext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∥</m:t>
                        </m:r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d>
                  </m:oMath>
                </a14:m>
                <a:r>
                  <a:rPr lang="en-MY" sz="2200" dirty="0"/>
                  <a:t>, extracts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MY" sz="2200" dirty="0"/>
                  <a:t> from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MY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200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MY" sz="2200" i="1">
                            <a:latin typeface="Cambria Math" panose="02040503050406030204" pitchFamily="18" charset="0"/>
                          </a:rPr>
                          <m:t>∥</m:t>
                        </m:r>
                        <m:r>
                          <a:rPr lang="en-MY" sz="22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d>
                  </m:oMath>
                </a14:m>
                <a:r>
                  <a:rPr lang="en-MY" sz="2200" dirty="0"/>
                  <a:t> and computes the hash value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</m:oMath>
                </a14:m>
                <a:r>
                  <a:rPr lang="en-MY" sz="2200" dirty="0"/>
                  <a:t>.</a:t>
                </a:r>
              </a:p>
              <a:p>
                <a:pPr marL="457200" indent="-457200" algn="just">
                  <a:buFont typeface="+mj-lt"/>
                  <a:buAutoNum type="arabicPeriod" startAt="4"/>
                </a:pPr>
                <a:r>
                  <a:rPr lang="en-MY" sz="2200" dirty="0"/>
                  <a:t>Next, Bob verifies the validity of the signature using the same signature algorithm with Alice’s public key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MY" sz="2200" b="0" i="0" smtClean="0">
                        <a:latin typeface="Cambria Math" panose="02040503050406030204" pitchFamily="18" charset="0"/>
                      </a:rPr>
                      <m:t>Vrfy</m:t>
                    </m:r>
                    <m:d>
                      <m:d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MY" sz="2200" b="0" i="0" smtClean="0">
                                <a:latin typeface="Cambria Math" panose="02040503050406030204" pitchFamily="18" charset="0"/>
                              </a:rPr>
                              <m:t>Pub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MY" sz="22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d>
                  </m:oMath>
                </a14:m>
                <a:r>
                  <a:rPr lang="en-MY" sz="2200" dirty="0"/>
                  <a:t> and compares it with the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MY" sz="2200" dirty="0"/>
                  <a:t> computed.</a:t>
                </a:r>
              </a:p>
              <a:p>
                <a:pPr marL="457200" indent="-457200" algn="just">
                  <a:buFont typeface="+mj-lt"/>
                  <a:buAutoNum type="arabicPeriod" startAt="4"/>
                </a:pPr>
                <a:r>
                  <a:rPr lang="en-MY" sz="2200" dirty="0"/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MY" sz="2200" dirty="0"/>
                  <a:t>, it tallies and Bob accept the signature as valid signature and message integrity and authenticity are protected. Otherwise, Bob rejects the ciphertext. </a:t>
                </a:r>
              </a:p>
              <a:p>
                <a:pPr marL="0" indent="0" algn="just">
                  <a:buNone/>
                </a:pPr>
                <a:endParaRPr lang="en-MY" sz="2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1CAA18-07F5-3B15-1ADF-AB0FD2F628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1" t="-1005" r="-741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CCE9A-1B11-2175-DA9B-7412850DB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E685-1B6F-4D7C-AEF2-C9AD71EC467A}" type="datetime1">
              <a:rPr lang="en-US" smtClean="0"/>
              <a:t>6/15/2024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37BCC-DE2D-5A94-C600-EA7DA6DF9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002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D1FAB-9F38-8A67-57AC-C16EE3DD7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>
                <a:solidFill>
                  <a:srgbClr val="FF0000"/>
                </a:solidFill>
              </a:rPr>
              <a:t>Design</a:t>
            </a:r>
            <a:r>
              <a:rPr lang="en-MY" dirty="0"/>
              <a:t> of digital signature –</a:t>
            </a:r>
            <a:br>
              <a:rPr lang="en-MY" dirty="0"/>
            </a:br>
            <a:r>
              <a:rPr lang="en-MY" b="1" dirty="0">
                <a:solidFill>
                  <a:srgbClr val="0000FF"/>
                </a:solidFill>
              </a:rPr>
              <a:t>generic model (framework)</a:t>
            </a:r>
            <a:endParaRPr lang="en-MY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1CAA18-07F5-3B15-1ADF-AB0FD2F628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buFont typeface="Courier New" panose="02070309020205020404" pitchFamily="49" charset="0"/>
                  <a:buChar char="o"/>
                </a:pPr>
                <a:r>
                  <a:rPr lang="en-MY" sz="2200" dirty="0"/>
                  <a:t>In the generic model, if the algorithm returns the </a:t>
                </a:r>
                <a:r>
                  <a:rPr lang="en-MY" sz="2200" b="1" dirty="0">
                    <a:solidFill>
                      <a:srgbClr val="00B050"/>
                    </a:solidFill>
                  </a:rPr>
                  <a:t>valid verification decision</a:t>
                </a:r>
                <a:r>
                  <a:rPr lang="en-MY" sz="2200" dirty="0"/>
                  <a:t>, then Bob is assured that Alice must have signed the message, since </a:t>
                </a:r>
                <a:r>
                  <a:rPr lang="en-MY" sz="2200" b="1" dirty="0">
                    <a:solidFill>
                      <a:srgbClr val="FF0000"/>
                    </a:solidFill>
                  </a:rPr>
                  <a:t>none possesses Alice’s private key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2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𝐏𝐫𝐯</m:t>
                        </m:r>
                      </m:e>
                      <m:sub>
                        <m:r>
                          <a:rPr lang="en-MY" sz="22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𝐀</m:t>
                        </m:r>
                      </m:sub>
                    </m:sSub>
                  </m:oMath>
                </a14:m>
                <a:r>
                  <a:rPr lang="en-MY" sz="2200" b="1" dirty="0">
                    <a:solidFill>
                      <a:srgbClr val="FF0000"/>
                    </a:solidFill>
                  </a:rPr>
                  <a:t> </a:t>
                </a:r>
                <a:r>
                  <a:rPr lang="en-MY" sz="2200" dirty="0"/>
                  <a:t>other than herself.</a:t>
                </a:r>
              </a:p>
              <a:p>
                <a:pPr algn="just">
                  <a:buFont typeface="Courier New" panose="02070309020205020404" pitchFamily="49" charset="0"/>
                  <a:buChar char="o"/>
                </a:pPr>
                <a:r>
                  <a:rPr lang="en-MY" sz="2200" dirty="0"/>
                  <a:t>In addition, it is impossible for an attacker/adversary to alter the message without the access to Alice’s private key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MY" sz="2200" b="0" i="0" smtClean="0">
                            <a:latin typeface="Cambria Math" panose="02040503050406030204" pitchFamily="18" charset="0"/>
                          </a:rPr>
                          <m:t>Prv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MY" sz="2200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en-MY" sz="2200" dirty="0"/>
                  <a:t>. Hence, the </a:t>
                </a:r>
                <a:r>
                  <a:rPr lang="en-MY" sz="2200" b="1" dirty="0">
                    <a:solidFill>
                      <a:srgbClr val="0000FF"/>
                    </a:solidFill>
                  </a:rPr>
                  <a:t>message is authenticated </a:t>
                </a:r>
                <a:r>
                  <a:rPr lang="en-MY" sz="2200" dirty="0"/>
                  <a:t>with respect to its </a:t>
                </a:r>
                <a:r>
                  <a:rPr lang="en-MY" sz="2200" b="1" dirty="0">
                    <a:solidFill>
                      <a:srgbClr val="00B050"/>
                    </a:solidFill>
                  </a:rPr>
                  <a:t>data origin </a:t>
                </a:r>
                <a:r>
                  <a:rPr lang="en-MY" sz="2200" dirty="0"/>
                  <a:t>and</a:t>
                </a:r>
                <a:r>
                  <a:rPr lang="en-MY" sz="2200" b="1" dirty="0"/>
                  <a:t> </a:t>
                </a:r>
                <a:r>
                  <a:rPr lang="en-MY" sz="2200" b="1" dirty="0">
                    <a:solidFill>
                      <a:srgbClr val="00B050"/>
                    </a:solidFill>
                  </a:rPr>
                  <a:t>data integrity</a:t>
                </a:r>
                <a:r>
                  <a:rPr lang="en-MY" sz="22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1CAA18-07F5-3B15-1ADF-AB0FD2F628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84" t="-1005" r="-741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CCE9A-1B11-2175-DA9B-7412850DB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E685-1B6F-4D7C-AEF2-C9AD71EC467A}" type="datetime1">
              <a:rPr lang="en-US" smtClean="0"/>
              <a:t>6/15/2024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37BCC-DE2D-5A94-C600-EA7DA6DF9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5569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D1FAB-9F38-8A67-57AC-C16EE3DD7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>
                <a:solidFill>
                  <a:srgbClr val="FF0000"/>
                </a:solidFill>
              </a:rPr>
              <a:t>Design</a:t>
            </a:r>
            <a:r>
              <a:rPr lang="en-MY" dirty="0"/>
              <a:t> of digital signature –</a:t>
            </a:r>
            <a:br>
              <a:rPr lang="en-MY" dirty="0"/>
            </a:br>
            <a:r>
              <a:rPr lang="en-MY" b="1" dirty="0">
                <a:solidFill>
                  <a:srgbClr val="0000FF"/>
                </a:solidFill>
              </a:rPr>
              <a:t>requirements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CAA18-07F5-3B15-1ADF-AB0FD2F62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buFont typeface="Courier New" panose="02070309020205020404" pitchFamily="49" charset="0"/>
              <a:buChar char="o"/>
            </a:pPr>
            <a:r>
              <a:rPr lang="en-MY" sz="2200" dirty="0"/>
              <a:t>For a digital signature scheme to be secure and practical, several requirements should be met.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sz="2200" dirty="0"/>
              <a:t>The signature must be a</a:t>
            </a:r>
            <a:r>
              <a:rPr lang="en-AU" sz="2200" dirty="0"/>
              <a:t> bit pattern that depends on the message being signed.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AU" sz="2200" dirty="0"/>
              <a:t>The signature must contain some information unique to the sender to prevent both forgery and denial.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sz="2200" dirty="0"/>
              <a:t>The signature</a:t>
            </a:r>
            <a:r>
              <a:rPr lang="en-AU" sz="2200" dirty="0"/>
              <a:t> must be relatively easy to be produced and verified by any communicating parties.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CCE9A-1B11-2175-DA9B-7412850DB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E685-1B6F-4D7C-AEF2-C9AD71EC467A}" type="datetime1">
              <a:rPr lang="en-US" smtClean="0"/>
              <a:t>6/15/2024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37BCC-DE2D-5A94-C600-EA7DA6DF9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5538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D1FAB-9F38-8A67-57AC-C16EE3DD7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>
                <a:solidFill>
                  <a:srgbClr val="FF0000"/>
                </a:solidFill>
              </a:rPr>
              <a:t>Design</a:t>
            </a:r>
            <a:r>
              <a:rPr lang="en-MY" dirty="0"/>
              <a:t> of digital signature –</a:t>
            </a:r>
            <a:br>
              <a:rPr lang="en-MY" dirty="0"/>
            </a:br>
            <a:r>
              <a:rPr lang="en-MY" b="1" dirty="0">
                <a:solidFill>
                  <a:srgbClr val="0000FF"/>
                </a:solidFill>
              </a:rPr>
              <a:t>requirements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CAA18-07F5-3B15-1ADF-AB0FD2F62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 startAt="4"/>
            </a:pPr>
            <a:r>
              <a:rPr lang="en-MY" sz="2200" dirty="0"/>
              <a:t>The signature</a:t>
            </a:r>
            <a:r>
              <a:rPr lang="en-AU" sz="2200" dirty="0"/>
              <a:t> must be </a:t>
            </a:r>
            <a:r>
              <a:rPr lang="en-AU" sz="2200" b="1" dirty="0">
                <a:solidFill>
                  <a:srgbClr val="00B050"/>
                </a:solidFill>
              </a:rPr>
              <a:t>computationally infeasible for </a:t>
            </a:r>
            <a:r>
              <a:rPr lang="en-AU" sz="2200" dirty="0"/>
              <a:t>an attacker to forged it, either by </a:t>
            </a:r>
            <a:r>
              <a:rPr lang="en-AU" sz="2200" b="1" dirty="0">
                <a:solidFill>
                  <a:srgbClr val="FF0000"/>
                </a:solidFill>
              </a:rPr>
              <a:t>constructing a new message for an existing digital signature </a:t>
            </a:r>
            <a:r>
              <a:rPr lang="en-AU" sz="2200" dirty="0"/>
              <a:t>or by </a:t>
            </a:r>
            <a:r>
              <a:rPr lang="en-AU" sz="2200" b="1" dirty="0">
                <a:solidFill>
                  <a:srgbClr val="0000FF"/>
                </a:solidFill>
              </a:rPr>
              <a:t>constructing a fraudulent digital signature for a given message</a:t>
            </a:r>
            <a:r>
              <a:rPr lang="en-AU" sz="2200" dirty="0"/>
              <a:t>.</a:t>
            </a:r>
          </a:p>
          <a:p>
            <a:pPr marL="457200" indent="-457200" algn="just">
              <a:buFont typeface="+mj-lt"/>
              <a:buAutoNum type="arabicPeriod" startAt="4"/>
            </a:pPr>
            <a:r>
              <a:rPr lang="en-AU" sz="2200" dirty="0"/>
              <a:t>It must be practical to retain a copy of the digital signature in storage.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CCE9A-1B11-2175-DA9B-7412850DB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E685-1B6F-4D7C-AEF2-C9AD71EC467A}" type="datetime1">
              <a:rPr lang="en-US" smtClean="0"/>
              <a:t>6/15/2024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37BCC-DE2D-5A94-C600-EA7DA6DF9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8119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D1FAB-9F38-8A67-57AC-C16EE3DD7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4999310"/>
          </a:xfrm>
        </p:spPr>
        <p:txBody>
          <a:bodyPr>
            <a:normAutofit/>
          </a:bodyPr>
          <a:lstStyle/>
          <a:p>
            <a:pPr algn="ctr"/>
            <a:br>
              <a:rPr lang="en-MY" sz="5400" dirty="0"/>
            </a:br>
            <a:r>
              <a:rPr lang="en-MY" sz="5400" b="1" dirty="0">
                <a:solidFill>
                  <a:srgbClr val="FF0000"/>
                </a:solidFill>
              </a:rPr>
              <a:t>design </a:t>
            </a:r>
            <a:r>
              <a:rPr lang="en-MY" sz="5400" dirty="0"/>
              <a:t>of</a:t>
            </a:r>
            <a:br>
              <a:rPr lang="en-MY" sz="5400" dirty="0"/>
            </a:br>
            <a:r>
              <a:rPr lang="en-MY" sz="5400" dirty="0"/>
              <a:t>digital signature</a:t>
            </a:r>
            <a:br>
              <a:rPr lang="en-MY" sz="5400" dirty="0"/>
            </a:br>
            <a:br>
              <a:rPr lang="en-MY" sz="5400" dirty="0"/>
            </a:br>
            <a:r>
              <a:rPr lang="en-MY" sz="6000" dirty="0"/>
              <a:t>The </a:t>
            </a:r>
            <a:r>
              <a:rPr lang="en-MY" sz="6000" b="1" dirty="0">
                <a:solidFill>
                  <a:srgbClr val="0000FF"/>
                </a:solidFill>
              </a:rPr>
              <a:t>RSA</a:t>
            </a:r>
            <a:r>
              <a:rPr lang="en-MY" sz="6000" dirty="0"/>
              <a:t> APPROACH</a:t>
            </a:r>
            <a:endParaRPr lang="en-MY" sz="5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CCE9A-1B11-2175-DA9B-7412850DB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E685-1B6F-4D7C-AEF2-C9AD71EC467A}" type="datetime1">
              <a:rPr lang="en-US" smtClean="0"/>
              <a:t>6/15/2024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37BCC-DE2D-5A94-C600-EA7DA6DF9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0721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D1FAB-9F38-8A67-57AC-C16EE3DD7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>
                <a:solidFill>
                  <a:srgbClr val="FF0000"/>
                </a:solidFill>
              </a:rPr>
              <a:t>Design</a:t>
            </a:r>
            <a:r>
              <a:rPr lang="en-MY" dirty="0"/>
              <a:t> of digital signature –</a:t>
            </a:r>
            <a:br>
              <a:rPr lang="en-MY" dirty="0"/>
            </a:br>
            <a:r>
              <a:rPr lang="en-MY" b="1" dirty="0">
                <a:solidFill>
                  <a:srgbClr val="0000FF"/>
                </a:solidFill>
              </a:rPr>
              <a:t>the RSA APPROACH</a:t>
            </a:r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CCE9A-1B11-2175-DA9B-7412850DB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E685-1B6F-4D7C-AEF2-C9AD71EC467A}" type="datetime1">
              <a:rPr lang="en-US" smtClean="0"/>
              <a:t>6/15/2024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37BCC-DE2D-5A94-C600-EA7DA6DF9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824AAF-9D0F-6DFF-3040-D40A6D9F3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965" y="2631409"/>
            <a:ext cx="11002069" cy="2990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1736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D1FAB-9F38-8A67-57AC-C16EE3DD7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>
                <a:solidFill>
                  <a:srgbClr val="FF0000"/>
                </a:solidFill>
              </a:rPr>
              <a:t>Design</a:t>
            </a:r>
            <a:r>
              <a:rPr lang="en-MY" dirty="0"/>
              <a:t> of digital signature –</a:t>
            </a:r>
            <a:br>
              <a:rPr lang="en-MY" dirty="0"/>
            </a:br>
            <a:r>
              <a:rPr lang="en-MY" b="1" dirty="0">
                <a:solidFill>
                  <a:srgbClr val="0000FF"/>
                </a:solidFill>
              </a:rPr>
              <a:t>the RSA APPROACH</a:t>
            </a:r>
            <a:endParaRPr lang="en-MY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1CAA18-07F5-3B15-1ADF-AB0FD2F628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457200" indent="-457200" algn="just">
                  <a:buFont typeface="+mj-lt"/>
                  <a:buAutoNum type="arabicPeriod"/>
                </a:pPr>
                <a:r>
                  <a:rPr lang="en-MY" sz="2200" dirty="0"/>
                  <a:t>The message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MY" sz="2200" dirty="0"/>
                  <a:t> to be signed is input into a hash function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MY" sz="2200" dirty="0"/>
                  <a:t> that produces a secure hash code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</m:oMath>
                </a14:m>
                <a:r>
                  <a:rPr lang="en-MY" sz="2200" dirty="0"/>
                  <a:t> of fixed length.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sz="2200" dirty="0"/>
                  <a:t>The hash code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MY" sz="2200" dirty="0"/>
                  <a:t> is then encrypted (signed) using sender’s private key to produce the signature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MY" sz="2200" b="1" i="0" smtClean="0">
                        <a:latin typeface="Cambria Math" panose="02040503050406030204" pitchFamily="18" charset="0"/>
                      </a:rPr>
                      <m:t>𝐄</m:t>
                    </m:r>
                    <m:d>
                      <m:d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MY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MY" sz="2200">
                                <a:latin typeface="Cambria Math" panose="02040503050406030204" pitchFamily="18" charset="0"/>
                              </a:rPr>
                              <m:t>PR</m:t>
                            </m:r>
                          </m:e>
                          <m:sub>
                            <m:r>
                              <a:rPr lang="en-MY" sz="22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r>
                  <a:rPr lang="en-MY" sz="2200" dirty="0"/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sz="2200" dirty="0"/>
                  <a:t>Both the message and the signature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∥</m:t>
                        </m:r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d>
                  </m:oMath>
                </a14:m>
                <a:r>
                  <a:rPr lang="en-MY" sz="2200" dirty="0"/>
                  <a:t> are sent over to the receiver.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sz="2200" dirty="0"/>
                  <a:t>The receiver extract the message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MY" sz="2200" dirty="0"/>
                  <a:t> from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MY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200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MY" sz="2200" i="1">
                            <a:latin typeface="Cambria Math" panose="02040503050406030204" pitchFamily="18" charset="0"/>
                          </a:rPr>
                          <m:t>∥</m:t>
                        </m:r>
                        <m:r>
                          <a:rPr lang="en-MY" sz="22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d>
                  </m:oMath>
                </a14:m>
                <a:r>
                  <a:rPr lang="en-MY" sz="2200" dirty="0"/>
                  <a:t> and compute the hash code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</m:oMath>
                </a14:m>
                <a:r>
                  <a:rPr lang="en-MY" sz="2200" dirty="0"/>
                  <a:t>. 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endParaRPr lang="en-MY" sz="2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1CAA18-07F5-3B15-1ADF-AB0FD2F628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1" t="-1005" r="-741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CCE9A-1B11-2175-DA9B-7412850DB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E685-1B6F-4D7C-AEF2-C9AD71EC467A}" type="datetime1">
              <a:rPr lang="en-US" smtClean="0"/>
              <a:t>6/15/2024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37BCC-DE2D-5A94-C600-EA7DA6DF9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2798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D1FAB-9F38-8A67-57AC-C16EE3DD7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>
                <a:solidFill>
                  <a:srgbClr val="FF0000"/>
                </a:solidFill>
              </a:rPr>
              <a:t>Design</a:t>
            </a:r>
            <a:r>
              <a:rPr lang="en-MY" dirty="0"/>
              <a:t> of digital signature –</a:t>
            </a:r>
            <a:br>
              <a:rPr lang="en-MY" dirty="0"/>
            </a:br>
            <a:r>
              <a:rPr lang="en-MY" b="1" dirty="0">
                <a:solidFill>
                  <a:srgbClr val="0000FF"/>
                </a:solidFill>
              </a:rPr>
              <a:t>the RSA APPROACH</a:t>
            </a:r>
            <a:endParaRPr lang="en-MY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1CAA18-07F5-3B15-1ADF-AB0FD2F628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457200" indent="-457200" algn="just">
                  <a:buFont typeface="+mj-lt"/>
                  <a:buAutoNum type="arabicPeriod" startAt="5"/>
                </a:pPr>
                <a:r>
                  <a:rPr lang="en-MY" sz="2200" dirty="0"/>
                  <a:t>The receiver decrypts (verifies) the signature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MY" sz="2200" dirty="0"/>
                  <a:t> using the sender’s public key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MY" sz="2200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m:rPr>
                            <m:sty m:val="p"/>
                          </m:rPr>
                          <a:rPr lang="en-MY" sz="2200" b="0" i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en-MY" sz="22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MY" sz="2200" dirty="0"/>
                  <a:t> to recover the hash code </a:t>
                </a:r>
                <a14:m>
                  <m:oMath xmlns:m="http://schemas.openxmlformats.org/officeDocument/2006/math">
                    <m:r>
                      <a:rPr lang="en-MY" sz="2200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MY" sz="2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MY" sz="2200" b="1" i="0" smtClean="0">
                        <a:latin typeface="Cambria Math" panose="02040503050406030204" pitchFamily="18" charset="0"/>
                      </a:rPr>
                      <m:t>𝐃</m:t>
                    </m:r>
                    <m:d>
                      <m:dPr>
                        <m:ctrlPr>
                          <a:rPr lang="en-MY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MY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MY" sz="2200">
                                <a:latin typeface="Cambria Math" panose="02040503050406030204" pitchFamily="18" charset="0"/>
                              </a:rPr>
                              <m:t>P</m:t>
                            </m:r>
                            <m:r>
                              <m:rPr>
                                <m:sty m:val="p"/>
                              </m:rPr>
                              <a:rPr lang="en-MY" sz="2200" b="0" i="0" smtClean="0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en-MY" sz="22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MY" sz="2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d>
                  </m:oMath>
                </a14:m>
                <a:r>
                  <a:rPr lang="en-MY" sz="2200" dirty="0"/>
                  <a:t>.</a:t>
                </a:r>
              </a:p>
              <a:p>
                <a:pPr marL="457200" indent="-457200" algn="just">
                  <a:buFont typeface="+mj-lt"/>
                  <a:buAutoNum type="arabicPeriod" startAt="5"/>
                </a:pPr>
                <a:r>
                  <a:rPr lang="en-MY" sz="2200" dirty="0"/>
                  <a:t>The receiver matches the computed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MY" sz="2200" dirty="0"/>
                  <a:t> and the decrypted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MY" sz="2200" dirty="0"/>
                  <a:t>.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MY" sz="2200" dirty="0"/>
                  <a:t>, then the signature is accepted as valid signature. Otherwise, it rejects it.</a:t>
                </a:r>
              </a:p>
              <a:p>
                <a:pPr marL="457200" indent="-457200" algn="just">
                  <a:buFont typeface="+mj-lt"/>
                  <a:buAutoNum type="arabicPeriod" startAt="5"/>
                </a:pPr>
                <a:endParaRPr lang="en-MY" sz="2200" dirty="0"/>
              </a:p>
              <a:p>
                <a:pPr algn="just">
                  <a:buFont typeface="Courier New" panose="02070309020205020404" pitchFamily="49" charset="0"/>
                  <a:buChar char="o"/>
                </a:pPr>
                <a:r>
                  <a:rPr lang="en-MY" sz="2200" dirty="0"/>
                  <a:t>Since only the sender knows the private key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MY" sz="2200">
                            <a:latin typeface="Cambria Math" panose="02040503050406030204" pitchFamily="18" charset="0"/>
                          </a:rPr>
                          <m:t>PR</m:t>
                        </m:r>
                      </m:e>
                      <m:sub>
                        <m:r>
                          <a:rPr lang="en-MY" sz="22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MY" sz="2200" dirty="0"/>
                  <a:t>, he can be the only who produce a valid signature.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1CAA18-07F5-3B15-1ADF-AB0FD2F628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1" t="-1005" r="-741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CCE9A-1B11-2175-DA9B-7412850DB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E685-1B6F-4D7C-AEF2-C9AD71EC467A}" type="datetime1">
              <a:rPr lang="en-US" smtClean="0"/>
              <a:t>6/15/2024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37BCC-DE2D-5A94-C600-EA7DA6DF9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463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D1FAB-9F38-8A67-57AC-C16EE3DD7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4999310"/>
          </a:xfrm>
        </p:spPr>
        <p:txBody>
          <a:bodyPr>
            <a:normAutofit/>
          </a:bodyPr>
          <a:lstStyle/>
          <a:p>
            <a:pPr algn="ctr"/>
            <a:br>
              <a:rPr lang="en-MY" sz="5400" dirty="0"/>
            </a:br>
            <a:r>
              <a:rPr lang="en-MY" sz="5400" b="1" dirty="0">
                <a:solidFill>
                  <a:srgbClr val="FF0000"/>
                </a:solidFill>
              </a:rPr>
              <a:t>design </a:t>
            </a:r>
            <a:r>
              <a:rPr lang="en-MY" sz="5400" dirty="0"/>
              <a:t>of</a:t>
            </a:r>
            <a:br>
              <a:rPr lang="en-MY" sz="5400" dirty="0"/>
            </a:br>
            <a:r>
              <a:rPr lang="en-MY" sz="5400" dirty="0"/>
              <a:t>digital signature</a:t>
            </a:r>
            <a:br>
              <a:rPr lang="en-MY" sz="5400" dirty="0"/>
            </a:br>
            <a:br>
              <a:rPr lang="en-MY" sz="5400" dirty="0"/>
            </a:br>
            <a:r>
              <a:rPr lang="en-MY" sz="6000" dirty="0"/>
              <a:t>The </a:t>
            </a:r>
            <a:r>
              <a:rPr lang="en-MY" sz="6000" b="1" dirty="0" err="1">
                <a:solidFill>
                  <a:srgbClr val="0000FF"/>
                </a:solidFill>
              </a:rPr>
              <a:t>dss</a:t>
            </a:r>
            <a:r>
              <a:rPr lang="en-MY" sz="6000" dirty="0"/>
              <a:t> APPROACH</a:t>
            </a:r>
            <a:endParaRPr lang="en-MY" sz="5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CCE9A-1B11-2175-DA9B-7412850DB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E685-1B6F-4D7C-AEF2-C9AD71EC467A}" type="datetime1">
              <a:rPr lang="en-US" smtClean="0"/>
              <a:t>6/15/2024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37BCC-DE2D-5A94-C600-EA7DA6DF9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3774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D1FAB-9F38-8A67-57AC-C16EE3DD7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>
                <a:solidFill>
                  <a:srgbClr val="FF0000"/>
                </a:solidFill>
              </a:rPr>
              <a:t>Design</a:t>
            </a:r>
            <a:r>
              <a:rPr lang="en-MY" dirty="0"/>
              <a:t> of digital signature –</a:t>
            </a:r>
            <a:br>
              <a:rPr lang="en-MY" dirty="0"/>
            </a:br>
            <a:r>
              <a:rPr lang="en-MY" b="1" dirty="0">
                <a:solidFill>
                  <a:srgbClr val="0000FF"/>
                </a:solidFill>
              </a:rPr>
              <a:t>the </a:t>
            </a:r>
            <a:r>
              <a:rPr lang="en-MY" b="1" dirty="0" err="1">
                <a:solidFill>
                  <a:srgbClr val="0000FF"/>
                </a:solidFill>
              </a:rPr>
              <a:t>dss</a:t>
            </a:r>
            <a:r>
              <a:rPr lang="en-MY" b="1" dirty="0">
                <a:solidFill>
                  <a:srgbClr val="0000FF"/>
                </a:solidFill>
              </a:rPr>
              <a:t> APPROACH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CAA18-07F5-3B15-1ADF-AB0FD2F62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Courier New" panose="02070309020205020404" pitchFamily="49" charset="0"/>
              <a:buChar char="o"/>
            </a:pPr>
            <a:r>
              <a:rPr lang="en-MY" sz="2200" dirty="0"/>
              <a:t>NIST in 1991 has published </a:t>
            </a:r>
            <a:r>
              <a:rPr lang="en-MY" sz="2200" b="0" i="0" u="none" strike="noStrike" baseline="0" dirty="0"/>
              <a:t>Federal </a:t>
            </a:r>
            <a:r>
              <a:rPr lang="en-US" sz="2200" b="0" i="0" u="none" strike="noStrike" baseline="0" dirty="0"/>
              <a:t>Information Processing Standard FIPS 186, known as the </a:t>
            </a:r>
            <a:r>
              <a:rPr lang="en-US" sz="2200" b="1" i="0" u="none" strike="noStrike" baseline="0" dirty="0">
                <a:solidFill>
                  <a:srgbClr val="00B050"/>
                </a:solidFill>
              </a:rPr>
              <a:t>Digital Signature </a:t>
            </a:r>
            <a:r>
              <a:rPr lang="en-MY" sz="2200" b="1" i="0" u="none" strike="noStrike" baseline="0" dirty="0">
                <a:solidFill>
                  <a:srgbClr val="00B050"/>
                </a:solidFill>
              </a:rPr>
              <a:t>Standard (DSS)</a:t>
            </a:r>
            <a:r>
              <a:rPr lang="en-MY" sz="2200" b="0" i="0" u="none" strike="noStrike" baseline="0" dirty="0"/>
              <a:t>.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2200" b="0" i="0" u="none" strike="noStrike" baseline="0" dirty="0"/>
              <a:t>The DSS makes use of the </a:t>
            </a:r>
            <a:r>
              <a:rPr lang="en-US" sz="2200" b="1" i="0" u="none" strike="noStrike" baseline="0" dirty="0">
                <a:solidFill>
                  <a:srgbClr val="FF0000"/>
                </a:solidFill>
              </a:rPr>
              <a:t>Secure Hash Algorithm (SHA) </a:t>
            </a:r>
            <a:r>
              <a:rPr lang="en-US" sz="2200" b="0" i="0" u="none" strike="noStrike" baseline="0" dirty="0"/>
              <a:t>and presents a new digital signature technique, </a:t>
            </a:r>
            <a:r>
              <a:rPr lang="en-US" sz="2200" dirty="0"/>
              <a:t>known as </a:t>
            </a:r>
            <a:r>
              <a:rPr lang="en-US" sz="2200" b="0" i="0" u="none" strike="noStrike" baseline="0" dirty="0"/>
              <a:t>the </a:t>
            </a:r>
            <a:r>
              <a:rPr lang="en-US" sz="2200" b="1" i="0" u="none" strike="noStrike" baseline="0" dirty="0">
                <a:solidFill>
                  <a:srgbClr val="0070C0"/>
                </a:solidFill>
              </a:rPr>
              <a:t>Digital </a:t>
            </a:r>
            <a:r>
              <a:rPr lang="en-MY" sz="2200" b="1" i="0" u="none" strike="noStrike" baseline="0" dirty="0">
                <a:solidFill>
                  <a:srgbClr val="0070C0"/>
                </a:solidFill>
              </a:rPr>
              <a:t>Signature Algorithm (DSA)</a:t>
            </a:r>
            <a:r>
              <a:rPr lang="en-MY" sz="2200" b="0" i="0" u="none" strike="noStrike" baseline="0" dirty="0"/>
              <a:t>.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MY" sz="2200" b="0" i="0" u="none" strike="noStrike" baseline="0" dirty="0"/>
              <a:t>DSS has gone through several revision updates, and the current </a:t>
            </a:r>
            <a:r>
              <a:rPr lang="en-US" sz="2200" b="0" i="0" u="none" strike="noStrike" baseline="0" dirty="0"/>
              <a:t>version also incorporates digital signature algorithms based on RSA and on elliptic </a:t>
            </a:r>
            <a:r>
              <a:rPr lang="en-MY" sz="2200" b="0" i="0" u="none" strike="noStrike" baseline="0" dirty="0"/>
              <a:t>curve cryptography.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MY" sz="2200" dirty="0"/>
              <a:t>In this course, we consider only the original DSS algorithm and its approach.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CCE9A-1B11-2175-DA9B-7412850DB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E685-1B6F-4D7C-AEF2-C9AD71EC467A}" type="datetime1">
              <a:rPr lang="en-US" smtClean="0"/>
              <a:t>6/15/2024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37BCC-DE2D-5A94-C600-EA7DA6DF9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9527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D1FAB-9F38-8A67-57AC-C16EE3DD7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>
                <a:solidFill>
                  <a:srgbClr val="FF0000"/>
                </a:solidFill>
              </a:rPr>
              <a:t>Design</a:t>
            </a:r>
            <a:r>
              <a:rPr lang="en-MY" dirty="0"/>
              <a:t> of digital signature –</a:t>
            </a:r>
            <a:br>
              <a:rPr lang="en-MY" dirty="0"/>
            </a:br>
            <a:r>
              <a:rPr lang="en-MY" b="1" dirty="0">
                <a:solidFill>
                  <a:srgbClr val="0000FF"/>
                </a:solidFill>
              </a:rPr>
              <a:t>the </a:t>
            </a:r>
            <a:r>
              <a:rPr lang="en-MY" b="1" dirty="0" err="1">
                <a:solidFill>
                  <a:srgbClr val="0000FF"/>
                </a:solidFill>
              </a:rPr>
              <a:t>dss</a:t>
            </a:r>
            <a:r>
              <a:rPr lang="en-MY" b="1" dirty="0">
                <a:solidFill>
                  <a:srgbClr val="0000FF"/>
                </a:solidFill>
              </a:rPr>
              <a:t> APPROACH</a:t>
            </a:r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CCE9A-1B11-2175-DA9B-7412850DB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E685-1B6F-4D7C-AEF2-C9AD71EC467A}" type="datetime1">
              <a:rPr lang="en-US" smtClean="0"/>
              <a:t>6/15/2024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37BCC-DE2D-5A94-C600-EA7DA6DF9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21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56D9D4E-53F8-DDDA-D132-CD6E0EBAC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505" y="2699913"/>
            <a:ext cx="9942990" cy="3205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6857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D1FAB-9F38-8A67-57AC-C16EE3DD7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>
                <a:solidFill>
                  <a:srgbClr val="FF0000"/>
                </a:solidFill>
              </a:rPr>
              <a:t>Design</a:t>
            </a:r>
            <a:r>
              <a:rPr lang="en-MY" dirty="0"/>
              <a:t> of digital signature –</a:t>
            </a:r>
            <a:br>
              <a:rPr lang="en-MY" dirty="0"/>
            </a:br>
            <a:r>
              <a:rPr lang="en-MY" b="1" dirty="0">
                <a:solidFill>
                  <a:srgbClr val="0000FF"/>
                </a:solidFill>
              </a:rPr>
              <a:t>the </a:t>
            </a:r>
            <a:r>
              <a:rPr lang="en-MY" b="1" dirty="0" err="1">
                <a:solidFill>
                  <a:srgbClr val="0000FF"/>
                </a:solidFill>
              </a:rPr>
              <a:t>dss</a:t>
            </a:r>
            <a:r>
              <a:rPr lang="en-MY" b="1" dirty="0">
                <a:solidFill>
                  <a:srgbClr val="0000FF"/>
                </a:solidFill>
              </a:rPr>
              <a:t> APPROACH</a:t>
            </a:r>
            <a:endParaRPr lang="en-MY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1CAA18-07F5-3B15-1ADF-AB0FD2F628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457200" indent="-457200" algn="just">
                  <a:buFont typeface="+mj-lt"/>
                  <a:buAutoNum type="arabicPeriod"/>
                </a:pPr>
                <a:r>
                  <a:rPr lang="en-MY" sz="2200" dirty="0"/>
                  <a:t>The message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MY" sz="2200" dirty="0"/>
                  <a:t> to be signed is input into a hash function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MY" sz="2200" dirty="0"/>
                  <a:t> that produces a secure hash code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</m:oMath>
                </a14:m>
                <a:r>
                  <a:rPr lang="en-MY" sz="2200" dirty="0"/>
                  <a:t> of fixed length.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sz="2200" dirty="0"/>
                  <a:t>The hash code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MY" sz="2200" dirty="0"/>
                  <a:t> is then signed using a </a:t>
                </a:r>
                <a:r>
                  <a:rPr lang="en-MY" sz="2200" b="1" dirty="0">
                    <a:solidFill>
                      <a:srgbClr val="FF0000"/>
                    </a:solidFill>
                  </a:rPr>
                  <a:t>signature function </a:t>
                </a:r>
                <a:r>
                  <a:rPr lang="en-MY" sz="2200" dirty="0"/>
                  <a:t>with input of a random number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MY" sz="2200" dirty="0"/>
                  <a:t> generated for this particular signature, the sender’s private key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MY" sz="2200">
                            <a:latin typeface="Cambria Math" panose="02040503050406030204" pitchFamily="18" charset="0"/>
                          </a:rPr>
                          <m:t>PR</m:t>
                        </m:r>
                      </m:e>
                      <m:sub>
                        <m:r>
                          <a:rPr lang="en-MY" sz="22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MY" sz="2200" dirty="0"/>
                  <a:t>, and the global public key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MY" sz="2200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m:rPr>
                            <m:sty m:val="p"/>
                          </m:rPr>
                          <a:rPr lang="en-MY" sz="2200" b="0" i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en-MY" sz="2200" dirty="0"/>
                  <a:t>,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MY" sz="2200" b="0" i="0" smtClean="0">
                        <a:latin typeface="Cambria Math" panose="02040503050406030204" pitchFamily="18" charset="0"/>
                      </a:rPr>
                      <m:t>Sig</m:t>
                    </m:r>
                    <m:d>
                      <m:d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MY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MY" sz="2200">
                                <a:latin typeface="Cambria Math" panose="02040503050406030204" pitchFamily="18" charset="0"/>
                              </a:rPr>
                              <m:t>PR</m:t>
                            </m:r>
                          </m:e>
                          <m:sub>
                            <m:r>
                              <a:rPr lang="en-MY" sz="22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MY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MY" sz="2200">
                                <a:latin typeface="Cambria Math" panose="02040503050406030204" pitchFamily="18" charset="0"/>
                              </a:rPr>
                              <m:t>PU</m:t>
                            </m:r>
                          </m:e>
                          <m:sub>
                            <m:r>
                              <a:rPr lang="en-MY" sz="22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sub>
                        </m:sSub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r>
                  <a:rPr lang="en-MY" sz="2200" dirty="0"/>
                  <a:t>. This global public key is a set of parameters known to a group of communicating principals. 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sz="2200" dirty="0"/>
                  <a:t>The output signature </a:t>
                </a:r>
                <a14:m>
                  <m:oMath xmlns:m="http://schemas.openxmlformats.org/officeDocument/2006/math">
                    <m:r>
                      <a:rPr lang="en-MY" sz="2200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MY" sz="2200" dirty="0"/>
                  <a:t> contains two components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MY" sz="2200" dirty="0"/>
                  <a:t> and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MY" sz="2200" dirty="0"/>
                  <a:t>. They are all sent along with the message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MY" sz="2200" dirty="0"/>
                  <a:t> as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∥</m:t>
                        </m:r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en-MY" sz="2200" dirty="0"/>
                  <a:t> to the receiver.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1CAA18-07F5-3B15-1ADF-AB0FD2F628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1" t="-1005" r="-741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CCE9A-1B11-2175-DA9B-7412850DB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E685-1B6F-4D7C-AEF2-C9AD71EC467A}" type="datetime1">
              <a:rPr lang="en-US" smtClean="0"/>
              <a:t>6/15/2024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37BCC-DE2D-5A94-C600-EA7DA6DF9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030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D1FAB-9F38-8A67-57AC-C16EE3DD7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>
                <a:solidFill>
                  <a:srgbClr val="FF0000"/>
                </a:solidFill>
              </a:rPr>
              <a:t>Design</a:t>
            </a:r>
            <a:r>
              <a:rPr lang="en-MY" dirty="0"/>
              <a:t> of digital signature –</a:t>
            </a:r>
            <a:br>
              <a:rPr lang="en-MY" dirty="0"/>
            </a:br>
            <a:r>
              <a:rPr lang="en-MY" b="1" dirty="0">
                <a:solidFill>
                  <a:srgbClr val="0000FF"/>
                </a:solidFill>
              </a:rPr>
              <a:t>the </a:t>
            </a:r>
            <a:r>
              <a:rPr lang="en-MY" b="1" dirty="0" err="1">
                <a:solidFill>
                  <a:srgbClr val="0000FF"/>
                </a:solidFill>
              </a:rPr>
              <a:t>dss</a:t>
            </a:r>
            <a:r>
              <a:rPr lang="en-MY" b="1" dirty="0">
                <a:solidFill>
                  <a:srgbClr val="0000FF"/>
                </a:solidFill>
              </a:rPr>
              <a:t> APPROACH</a:t>
            </a:r>
            <a:endParaRPr lang="en-MY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1CAA18-07F5-3B15-1ADF-AB0FD2F628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457200" indent="-457200" algn="just">
                  <a:buFont typeface="+mj-lt"/>
                  <a:buAutoNum type="arabicPeriod" startAt="4"/>
                </a:pPr>
                <a:r>
                  <a:rPr lang="en-MY" sz="2200" dirty="0"/>
                  <a:t>The receiver extract the message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MY" sz="2200" dirty="0"/>
                  <a:t> from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MY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200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MY" sz="2200" i="1">
                            <a:latin typeface="Cambria Math" panose="02040503050406030204" pitchFamily="18" charset="0"/>
                          </a:rPr>
                          <m:t>∥</m:t>
                        </m:r>
                        <m:r>
                          <a:rPr lang="en-MY" sz="22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MY" sz="22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en-MY" sz="2200" dirty="0"/>
                  <a:t> and compute the hash code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</m:oMath>
                </a14:m>
                <a:r>
                  <a:rPr lang="en-MY" sz="2200" dirty="0"/>
                  <a:t>.</a:t>
                </a:r>
              </a:p>
              <a:p>
                <a:pPr marL="457200" indent="-457200" algn="just">
                  <a:buFont typeface="+mj-lt"/>
                  <a:buAutoNum type="arabicPeriod" startAt="4"/>
                </a:pPr>
                <a:r>
                  <a:rPr lang="en-MY" sz="2200" dirty="0"/>
                  <a:t>Both the computed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MY" sz="2200" dirty="0"/>
                  <a:t> and </a:t>
                </a:r>
                <a14:m>
                  <m:oMath xmlns:m="http://schemas.openxmlformats.org/officeDocument/2006/math">
                    <m:r>
                      <a:rPr lang="en-MY" sz="220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MY" sz="2200" dirty="0"/>
                  <a:t> are input into a </a:t>
                </a:r>
                <a:r>
                  <a:rPr lang="en-MY" sz="2200" b="1" dirty="0">
                    <a:solidFill>
                      <a:srgbClr val="C00000"/>
                    </a:solidFill>
                  </a:rPr>
                  <a:t>verification function</a:t>
                </a:r>
                <a:r>
                  <a:rPr lang="en-MY" sz="2200" dirty="0"/>
                  <a:t>, together with the </a:t>
                </a:r>
                <a:r>
                  <a:rPr lang="en-MY" sz="2200"/>
                  <a:t>sender’s public </a:t>
                </a:r>
                <a:r>
                  <a:rPr lang="en-MY" sz="2200" dirty="0"/>
                  <a:t>key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MY" sz="2200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m:rPr>
                            <m:sty m:val="p"/>
                          </m:rPr>
                          <a:rPr lang="en-MY" sz="2200" b="0" i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en-MY" sz="22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MY" sz="2200" dirty="0"/>
                  <a:t>, and the global public key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MY" sz="2200">
                            <a:latin typeface="Cambria Math" panose="02040503050406030204" pitchFamily="18" charset="0"/>
                          </a:rPr>
                          <m:t>PU</m:t>
                        </m:r>
                      </m:e>
                      <m:sub>
                        <m:r>
                          <a:rPr lang="en-MY" sz="2200" i="1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en-MY" sz="220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sz="22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2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MY" sz="2200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MY" sz="22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MY" sz="2200" b="0" i="0" smtClean="0">
                        <a:latin typeface="Cambria Math" panose="02040503050406030204" pitchFamily="18" charset="0"/>
                      </a:rPr>
                      <m:t>Vrfy</m:t>
                    </m:r>
                    <m:d>
                      <m:dPr>
                        <m:ctrlPr>
                          <a:rPr lang="en-MY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MY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MY" sz="2200">
                                <a:latin typeface="Cambria Math" panose="02040503050406030204" pitchFamily="18" charset="0"/>
                              </a:rPr>
                              <m:t>P</m:t>
                            </m:r>
                            <m:r>
                              <m:rPr>
                                <m:sty m:val="p"/>
                              </m:rPr>
                              <a:rPr lang="en-MY" sz="2200" b="0" i="0" smtClean="0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en-MY" sz="22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MY" sz="22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MY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MY" sz="2200">
                                <a:latin typeface="Cambria Math" panose="02040503050406030204" pitchFamily="18" charset="0"/>
                              </a:rPr>
                              <m:t>PU</m:t>
                            </m:r>
                          </m:e>
                          <m:sub>
                            <m:r>
                              <a:rPr lang="en-MY" sz="22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sub>
                        </m:sSub>
                        <m:r>
                          <a:rPr lang="en-MY" sz="2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MY" sz="2200" dirty="0"/>
                  <a:t>.</a:t>
                </a:r>
              </a:p>
              <a:p>
                <a:pPr marL="457200" indent="-457200" algn="just">
                  <a:buFont typeface="+mj-lt"/>
                  <a:buAutoNum type="arabicPeriod" startAt="4"/>
                </a:pPr>
                <a:r>
                  <a:rPr lang="en-MY" sz="2200" dirty="0"/>
                  <a:t>If the computed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sz="22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2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MY" sz="2200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MY" sz="2200" dirty="0"/>
                  <a:t> matches the signature component </a:t>
                </a:r>
                <a14:m>
                  <m:oMath xmlns:m="http://schemas.openxmlformats.org/officeDocument/2006/math">
                    <m:r>
                      <a:rPr lang="en-MY" sz="2200" b="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MY" sz="2200" dirty="0"/>
                  <a:t> from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MY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200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MY" sz="2200" i="1">
                            <a:latin typeface="Cambria Math" panose="02040503050406030204" pitchFamily="18" charset="0"/>
                          </a:rPr>
                          <m:t>∥</m:t>
                        </m:r>
                        <m:r>
                          <a:rPr lang="en-MY" sz="22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MY" sz="2200" i="1">
                            <a:latin typeface="Cambria Math" panose="02040503050406030204" pitchFamily="18" charset="0"/>
                          </a:rPr>
                          <m:t>∥</m:t>
                        </m:r>
                        <m:r>
                          <a:rPr lang="en-MY" sz="22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en-MY" sz="2200" dirty="0"/>
                  <a:t>, that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MY" sz="2200" dirty="0"/>
                  <a:t>, the signature is accepted as a valid signature. Otherwise, it rejects it.</a:t>
                </a:r>
              </a:p>
              <a:p>
                <a:pPr algn="just">
                  <a:buFont typeface="Courier New" panose="02070309020205020404" pitchFamily="49" charset="0"/>
                  <a:buChar char="o"/>
                </a:pPr>
                <a:r>
                  <a:rPr lang="en-MY" sz="2200" b="1" dirty="0">
                    <a:solidFill>
                      <a:srgbClr val="00B050"/>
                    </a:solidFill>
                  </a:rPr>
                  <a:t>Note:</a:t>
                </a:r>
                <a:r>
                  <a:rPr lang="en-MY" sz="2200" dirty="0"/>
                  <a:t> The signature function is a function such that only sender with knowledge of the private key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MY" sz="2200">
                            <a:latin typeface="Cambria Math" panose="02040503050406030204" pitchFamily="18" charset="0"/>
                          </a:rPr>
                          <m:t>PR</m:t>
                        </m:r>
                      </m:e>
                      <m:sub>
                        <m:r>
                          <a:rPr lang="en-MY" sz="22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MY" sz="2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MY" sz="2200" dirty="0"/>
                  <a:t>can produce the valid signature.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1CAA18-07F5-3B15-1ADF-AB0FD2F628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1" t="-1005" r="-741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CCE9A-1B11-2175-DA9B-7412850DB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E685-1B6F-4D7C-AEF2-C9AD71EC467A}" type="datetime1">
              <a:rPr lang="en-US" smtClean="0"/>
              <a:t>6/15/2024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37BCC-DE2D-5A94-C600-EA7DA6DF9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8932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D1FAB-9F38-8A67-57AC-C16EE3DD7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4999310"/>
          </a:xfrm>
        </p:spPr>
        <p:txBody>
          <a:bodyPr>
            <a:normAutofit/>
          </a:bodyPr>
          <a:lstStyle/>
          <a:p>
            <a:pPr algn="ctr"/>
            <a:br>
              <a:rPr lang="en-MY" sz="6000" dirty="0"/>
            </a:br>
            <a:r>
              <a:rPr lang="en-MY" sz="6000" b="1" dirty="0">
                <a:solidFill>
                  <a:srgbClr val="0070C0"/>
                </a:solidFill>
              </a:rPr>
              <a:t>attacks</a:t>
            </a:r>
            <a:r>
              <a:rPr lang="en-MY" sz="6000" dirty="0"/>
              <a:t> &amp; </a:t>
            </a:r>
            <a:r>
              <a:rPr lang="en-MY" sz="6000" b="1" dirty="0">
                <a:solidFill>
                  <a:srgbClr val="0070C0"/>
                </a:solidFill>
              </a:rPr>
              <a:t>CRYPTANALYSIS</a:t>
            </a:r>
            <a:br>
              <a:rPr lang="en-MY" sz="6000" b="1" dirty="0">
                <a:solidFill>
                  <a:srgbClr val="FF0000"/>
                </a:solidFill>
              </a:rPr>
            </a:br>
            <a:r>
              <a:rPr lang="en-MY" sz="6000" dirty="0"/>
              <a:t>ON</a:t>
            </a:r>
            <a:br>
              <a:rPr lang="en-MY" sz="6000" dirty="0"/>
            </a:br>
            <a:r>
              <a:rPr lang="en-MY" sz="6000" dirty="0"/>
              <a:t>digital signature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CCE9A-1B11-2175-DA9B-7412850DB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E685-1B6F-4D7C-AEF2-C9AD71EC467A}" type="datetime1">
              <a:rPr lang="en-US" smtClean="0"/>
              <a:t>6/15/2024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37BCC-DE2D-5A94-C600-EA7DA6DF9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1930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D1FAB-9F38-8A67-57AC-C16EE3DD7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>
                <a:solidFill>
                  <a:srgbClr val="00B050"/>
                </a:solidFill>
              </a:rPr>
              <a:t>Attacks </a:t>
            </a:r>
            <a:r>
              <a:rPr lang="en-MY" dirty="0"/>
              <a:t>&amp;</a:t>
            </a:r>
            <a:r>
              <a:rPr lang="en-MY" b="1" dirty="0">
                <a:solidFill>
                  <a:srgbClr val="00B050"/>
                </a:solidFill>
              </a:rPr>
              <a:t> CRYPTANALYSIS</a:t>
            </a:r>
            <a:r>
              <a:rPr lang="en-MY" b="1" dirty="0">
                <a:solidFill>
                  <a:srgbClr val="FF0000"/>
                </a:solidFill>
              </a:rPr>
              <a:t> </a:t>
            </a:r>
            <a:br>
              <a:rPr lang="en-MY" b="1" dirty="0">
                <a:solidFill>
                  <a:srgbClr val="FF0000"/>
                </a:solidFill>
              </a:rPr>
            </a:br>
            <a:r>
              <a:rPr lang="en-MY" dirty="0"/>
              <a:t>ON DIGITAL SIGNATURE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CAA18-07F5-3B15-1ADF-AB0FD2F62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Courier New" panose="02070309020205020404" pitchFamily="49" charset="0"/>
              <a:buChar char="o"/>
            </a:pPr>
            <a:r>
              <a:rPr lang="en-MY" sz="2200" dirty="0"/>
              <a:t>Like encryption scheme, digital signature is also exposed to attacks and cryptanalysis. For an </a:t>
            </a:r>
            <a:r>
              <a:rPr lang="en-MY" sz="2200" b="1" dirty="0">
                <a:solidFill>
                  <a:srgbClr val="FF0000"/>
                </a:solidFill>
              </a:rPr>
              <a:t>encryption scheme</a:t>
            </a:r>
            <a:r>
              <a:rPr lang="en-MY" sz="2200" dirty="0"/>
              <a:t>, an adversary (attacker) tries all his ability to either </a:t>
            </a:r>
            <a:r>
              <a:rPr lang="en-MY" sz="2200" b="1" dirty="0">
                <a:solidFill>
                  <a:srgbClr val="FF0000"/>
                </a:solidFill>
              </a:rPr>
              <a:t>decrypt the ciphertext </a:t>
            </a:r>
            <a:r>
              <a:rPr lang="en-MY" sz="2200" dirty="0"/>
              <a:t>or to </a:t>
            </a:r>
            <a:r>
              <a:rPr lang="en-MY" sz="2200" b="1" dirty="0">
                <a:solidFill>
                  <a:srgbClr val="FF0000"/>
                </a:solidFill>
              </a:rPr>
              <a:t>find the encryption key </a:t>
            </a:r>
            <a:r>
              <a:rPr lang="en-MY" sz="2200" dirty="0"/>
              <a:t>using any methods.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MY" sz="2200" dirty="0"/>
              <a:t>For </a:t>
            </a:r>
            <a:r>
              <a:rPr lang="en-MY" sz="2200" b="1" dirty="0">
                <a:solidFill>
                  <a:srgbClr val="0000FF"/>
                </a:solidFill>
              </a:rPr>
              <a:t>digital signature</a:t>
            </a:r>
            <a:r>
              <a:rPr lang="en-MY" sz="2200" dirty="0"/>
              <a:t>, on the other hand, an adversary (attacker) tries to </a:t>
            </a:r>
            <a:r>
              <a:rPr lang="en-MY" sz="2200" b="1" dirty="0">
                <a:solidFill>
                  <a:srgbClr val="0000FF"/>
                </a:solidFill>
              </a:rPr>
              <a:t>forge another valid signature for a message </a:t>
            </a:r>
            <a:r>
              <a:rPr lang="en-MY" sz="2200" dirty="0"/>
              <a:t>that he intercepted or </a:t>
            </a:r>
            <a:r>
              <a:rPr lang="en-MY" sz="2200" b="1" dirty="0">
                <a:solidFill>
                  <a:srgbClr val="0000FF"/>
                </a:solidFill>
              </a:rPr>
              <a:t>find the signing key</a:t>
            </a:r>
            <a:r>
              <a:rPr lang="en-MY" sz="2200" dirty="0"/>
              <a:t> using any methods.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CCE9A-1B11-2175-DA9B-7412850DB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E685-1B6F-4D7C-AEF2-C9AD71EC467A}" type="datetime1">
              <a:rPr lang="en-US" smtClean="0"/>
              <a:t>6/15/2024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37BCC-DE2D-5A94-C600-EA7DA6DF9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0224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D1FAB-9F38-8A67-57AC-C16EE3DD7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>
                <a:solidFill>
                  <a:srgbClr val="00B050"/>
                </a:solidFill>
              </a:rPr>
              <a:t>Attacks</a:t>
            </a:r>
            <a:r>
              <a:rPr lang="en-MY" b="1" dirty="0">
                <a:solidFill>
                  <a:srgbClr val="FF0000"/>
                </a:solidFill>
              </a:rPr>
              <a:t> </a:t>
            </a:r>
            <a:r>
              <a:rPr lang="en-MY" dirty="0"/>
              <a:t>ON DIGITAL SIGNATURE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1CAA18-07F5-3B15-1ADF-AB0FD2F628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buFont typeface="Courier New" panose="02070309020205020404" pitchFamily="49" charset="0"/>
                  <a:buChar char="o"/>
                </a:pPr>
                <a:r>
                  <a:rPr lang="en-MY" sz="2200" dirty="0"/>
                  <a:t>The attacks on digital signature can be categorized into the following five environments, depending on how much the ability an adversary (attacker) has.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sz="2200" b="1" dirty="0">
                    <a:solidFill>
                      <a:srgbClr val="0000FF"/>
                    </a:solidFill>
                  </a:rPr>
                  <a:t>Key-Only Attack </a:t>
                </a:r>
                <a:r>
                  <a:rPr lang="en-MY" sz="2200" dirty="0"/>
                  <a:t>(</a:t>
                </a:r>
                <a:r>
                  <a:rPr lang="en-MY" sz="2200" b="1" i="1" dirty="0">
                    <a:solidFill>
                      <a:srgbClr val="FF0000"/>
                    </a:solidFill>
                  </a:rPr>
                  <a:t>Weakest</a:t>
                </a:r>
                <a:r>
                  <a:rPr lang="en-MY" sz="2200" dirty="0"/>
                  <a:t>). The adversary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MY" sz="2200" dirty="0"/>
                  <a:t> knows only sender’s public key. His target is to find out the corresponding private key for signing.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sz="2200" b="1" dirty="0">
                    <a:solidFill>
                      <a:srgbClr val="C00000"/>
                    </a:solidFill>
                  </a:rPr>
                  <a:t>Known Message Attack</a:t>
                </a:r>
                <a:r>
                  <a:rPr lang="en-MY" sz="2200" dirty="0"/>
                  <a:t>. The adversary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MY" sz="2200" dirty="0"/>
                  <a:t> is given access to a set of messages and their corresponding signatures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MY" sz="2200" dirty="0"/>
                  <a:t>.</a:t>
                </a:r>
              </a:p>
              <a:p>
                <a:pPr algn="just">
                  <a:buFont typeface="Courier New" panose="02070309020205020404" pitchFamily="49" charset="0"/>
                  <a:buChar char="o"/>
                </a:pPr>
                <a:endParaRPr lang="en-MY" sz="2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1CAA18-07F5-3B15-1ADF-AB0FD2F628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84" t="-1005" r="-741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CCE9A-1B11-2175-DA9B-7412850DB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E685-1B6F-4D7C-AEF2-C9AD71EC467A}" type="datetime1">
              <a:rPr lang="en-US" smtClean="0"/>
              <a:t>6/15/2024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37BCC-DE2D-5A94-C600-EA7DA6DF9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5540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D1FAB-9F38-8A67-57AC-C16EE3DD7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>
                <a:solidFill>
                  <a:srgbClr val="00B050"/>
                </a:solidFill>
              </a:rPr>
              <a:t>Attacks</a:t>
            </a:r>
            <a:r>
              <a:rPr lang="en-MY" b="1" dirty="0">
                <a:solidFill>
                  <a:srgbClr val="FF0000"/>
                </a:solidFill>
              </a:rPr>
              <a:t> </a:t>
            </a:r>
            <a:r>
              <a:rPr lang="en-MY" dirty="0"/>
              <a:t>ON DIGITAL SIGNATURE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1CAA18-07F5-3B15-1ADF-AB0FD2F628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457200" indent="-457200" algn="just">
                  <a:buFont typeface="+mj-lt"/>
                  <a:buAutoNum type="arabicPeriod" startAt="3"/>
                </a:pPr>
                <a:r>
                  <a:rPr lang="en-MY" sz="2200" b="1" dirty="0">
                    <a:solidFill>
                      <a:srgbClr val="7030A0"/>
                    </a:solidFill>
                  </a:rPr>
                  <a:t>Generic Chosen Message Attack </a:t>
                </a:r>
                <a:r>
                  <a:rPr lang="en-MY" sz="2200" dirty="0"/>
                  <a:t>(</a:t>
                </a:r>
                <a:r>
                  <a:rPr lang="en-MY" sz="2200" b="1" dirty="0">
                    <a:solidFill>
                      <a:srgbClr val="7030A0"/>
                    </a:solidFill>
                  </a:rPr>
                  <a:t>Generic CMA</a:t>
                </a:r>
                <a:r>
                  <a:rPr lang="en-MY" sz="2200" dirty="0"/>
                  <a:t>). The adversary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MY" sz="2200" dirty="0"/>
                  <a:t> chooses a list of message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MY" sz="2200" dirty="0"/>
                  <a:t> of his choice </a:t>
                </a:r>
                <a:r>
                  <a:rPr lang="en-MY" sz="2200" b="1" dirty="0">
                    <a:solidFill>
                      <a:srgbClr val="00B050"/>
                    </a:solidFill>
                  </a:rPr>
                  <a:t>without knowing sender’s public key</a:t>
                </a:r>
                <a:r>
                  <a:rPr lang="en-MY" sz="2200" dirty="0"/>
                  <a:t>. The adversary </a:t>
                </a:r>
                <a14:m>
                  <m:oMath xmlns:m="http://schemas.openxmlformats.org/officeDocument/2006/math">
                    <m:r>
                      <a:rPr lang="en-MY" sz="220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MY" sz="2200" dirty="0"/>
                  <a:t> next obtains from the sender’s valid signatures for the chosen message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MY" sz="2200" dirty="0"/>
                  <a:t>.</a:t>
                </a:r>
              </a:p>
              <a:p>
                <a:pPr marL="457200" indent="-457200" algn="just">
                  <a:buFont typeface="+mj-lt"/>
                  <a:buAutoNum type="arabicPeriod" startAt="3"/>
                </a:pPr>
                <a:r>
                  <a:rPr lang="en-MY" sz="2200" b="1" dirty="0">
                    <a:solidFill>
                      <a:srgbClr val="FF0000"/>
                    </a:solidFill>
                  </a:rPr>
                  <a:t>Directed Chosen Message Attack </a:t>
                </a:r>
                <a:r>
                  <a:rPr lang="en-MY" sz="2200" dirty="0"/>
                  <a:t>(</a:t>
                </a:r>
                <a:r>
                  <a:rPr lang="en-MY" sz="2200" b="1" dirty="0">
                    <a:solidFill>
                      <a:srgbClr val="FF0000"/>
                    </a:solidFill>
                  </a:rPr>
                  <a:t>Directed CMA</a:t>
                </a:r>
                <a:r>
                  <a:rPr lang="en-MY" sz="2200" dirty="0"/>
                  <a:t>). Similar to Generic CMA, but the adversary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MY" sz="2200" dirty="0"/>
                  <a:t> now </a:t>
                </a:r>
                <a:r>
                  <a:rPr lang="en-MY" sz="2200" b="1" dirty="0">
                    <a:solidFill>
                      <a:srgbClr val="00B050"/>
                    </a:solidFill>
                  </a:rPr>
                  <a:t>has the knowledge of sender’s public key</a:t>
                </a:r>
                <a:r>
                  <a:rPr lang="en-MY" sz="2200" dirty="0"/>
                  <a:t>. </a:t>
                </a:r>
              </a:p>
              <a:p>
                <a:pPr marL="457200" indent="-457200" algn="just">
                  <a:buFont typeface="+mj-lt"/>
                  <a:buAutoNum type="arabicPeriod" startAt="3"/>
                </a:pPr>
                <a:r>
                  <a:rPr lang="en-MY" sz="2200" b="1" dirty="0">
                    <a:solidFill>
                      <a:srgbClr val="0000FF"/>
                    </a:solidFill>
                  </a:rPr>
                  <a:t>Adaptive Chosen Message Attack</a:t>
                </a:r>
                <a:r>
                  <a:rPr lang="en-MY" sz="2200" dirty="0"/>
                  <a:t> (</a:t>
                </a:r>
                <a:r>
                  <a:rPr lang="en-MY" sz="2200" b="1" dirty="0">
                    <a:solidFill>
                      <a:srgbClr val="0000FF"/>
                    </a:solidFill>
                  </a:rPr>
                  <a:t>Adaptive CMA</a:t>
                </a:r>
                <a:r>
                  <a:rPr lang="en-MY" sz="2200" dirty="0"/>
                  <a:t>) (</a:t>
                </a:r>
                <a:r>
                  <a:rPr lang="en-MY" sz="2200" b="1" i="1" dirty="0">
                    <a:solidFill>
                      <a:srgbClr val="FF0000"/>
                    </a:solidFill>
                  </a:rPr>
                  <a:t>Strongest</a:t>
                </a:r>
                <a:r>
                  <a:rPr lang="en-MY" sz="2200" dirty="0"/>
                  <a:t>). The adversary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MY" sz="2200" dirty="0"/>
                  <a:t> may request from the sender the signatures of the chosen messages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MY" sz="2200" dirty="0"/>
                  <a:t>, depending on the previously collected message-signature pairs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MY" sz="2200" dirty="0"/>
                  <a:t>. </a:t>
                </a:r>
              </a:p>
              <a:p>
                <a:pPr marL="457200" indent="-457200" algn="just">
                  <a:buFont typeface="+mj-lt"/>
                  <a:buAutoNum type="arabicPeriod" startAt="3"/>
                </a:pPr>
                <a:endParaRPr lang="en-MY" sz="2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1CAA18-07F5-3B15-1ADF-AB0FD2F628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84" t="-1005" r="-741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CCE9A-1B11-2175-DA9B-7412850DB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E685-1B6F-4D7C-AEF2-C9AD71EC467A}" type="datetime1">
              <a:rPr lang="en-US" smtClean="0"/>
              <a:t>6/15/2024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37BCC-DE2D-5A94-C600-EA7DA6DF9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9241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D1FAB-9F38-8A67-57AC-C16EE3DD7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>
                <a:solidFill>
                  <a:srgbClr val="00B050"/>
                </a:solidFill>
              </a:rPr>
              <a:t>CRYPTANALYSIS</a:t>
            </a:r>
            <a:r>
              <a:rPr lang="en-MY" b="1" dirty="0">
                <a:solidFill>
                  <a:srgbClr val="FF0000"/>
                </a:solidFill>
              </a:rPr>
              <a:t> </a:t>
            </a:r>
            <a:r>
              <a:rPr lang="en-MY" dirty="0"/>
              <a:t>ON DIGITAL SIGNATURE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1CAA18-07F5-3B15-1ADF-AB0FD2F628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buFont typeface="Courier New" panose="02070309020205020404" pitchFamily="49" charset="0"/>
                  <a:buChar char="o"/>
                </a:pPr>
                <a:r>
                  <a:rPr lang="en-MY" sz="2200" dirty="0"/>
                  <a:t>As stated, an adversary’s ultimate target in digital signature is to either </a:t>
                </a:r>
                <a:r>
                  <a:rPr lang="en-MY" sz="2200" b="1" dirty="0">
                    <a:solidFill>
                      <a:srgbClr val="FF0000"/>
                    </a:solidFill>
                  </a:rPr>
                  <a:t>forge a valid signature for a message</a:t>
                </a:r>
                <a:r>
                  <a:rPr lang="en-MY" sz="2200" dirty="0"/>
                  <a:t>, or to </a:t>
                </a:r>
                <a:r>
                  <a:rPr lang="en-MY" sz="2200" b="1" dirty="0">
                    <a:solidFill>
                      <a:srgbClr val="FF0000"/>
                    </a:solidFill>
                  </a:rPr>
                  <a:t>find out the signing key</a:t>
                </a:r>
                <a:r>
                  <a:rPr lang="en-MY" sz="2200" dirty="0"/>
                  <a:t>.</a:t>
                </a:r>
              </a:p>
              <a:p>
                <a:pPr algn="just">
                  <a:buFont typeface="Courier New" panose="02070309020205020404" pitchFamily="49" charset="0"/>
                  <a:buChar char="o"/>
                </a:pPr>
                <a:r>
                  <a:rPr lang="en-MY" sz="2200" dirty="0"/>
                  <a:t>Hence, there are </a:t>
                </a:r>
                <a:r>
                  <a:rPr lang="en-MY" sz="2200" b="1" dirty="0">
                    <a:solidFill>
                      <a:srgbClr val="0070C0"/>
                    </a:solidFill>
                  </a:rPr>
                  <a:t>four possible targets </a:t>
                </a:r>
                <a:r>
                  <a:rPr lang="en-MY" sz="2200" dirty="0"/>
                  <a:t>that an adversary can achieve when attacking a signature scheme.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sz="2200" b="1" dirty="0">
                    <a:solidFill>
                      <a:srgbClr val="0000FF"/>
                    </a:solidFill>
                  </a:rPr>
                  <a:t>Total Break </a:t>
                </a:r>
                <a:r>
                  <a:rPr lang="en-MY" sz="2200" dirty="0"/>
                  <a:t>(</a:t>
                </a:r>
                <a:r>
                  <a:rPr lang="en-MY" sz="2200" b="1" i="1" dirty="0">
                    <a:solidFill>
                      <a:srgbClr val="FF0000"/>
                    </a:solidFill>
                  </a:rPr>
                  <a:t>Strongest</a:t>
                </a:r>
                <a:r>
                  <a:rPr lang="en-MY" sz="2200" dirty="0"/>
                  <a:t>). The adversary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MY" sz="2200" dirty="0"/>
                  <a:t> found the signing key (the sender’s private key). In this case, the signature scheme is </a:t>
                </a:r>
                <a:r>
                  <a:rPr lang="en-MY" sz="2200" b="1" dirty="0"/>
                  <a:t>totally broken</a:t>
                </a:r>
                <a:r>
                  <a:rPr lang="en-MY" sz="2200" dirty="0"/>
                  <a:t>. </a:t>
                </a:r>
              </a:p>
              <a:p>
                <a:pPr marL="0" indent="0" algn="just">
                  <a:buNone/>
                </a:pPr>
                <a:endParaRPr lang="en-MY" sz="2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1CAA18-07F5-3B15-1ADF-AB0FD2F628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84" t="-1005" r="-741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CCE9A-1B11-2175-DA9B-7412850DB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E685-1B6F-4D7C-AEF2-C9AD71EC467A}" type="datetime1">
              <a:rPr lang="en-US" smtClean="0"/>
              <a:t>6/15/2024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37BCC-DE2D-5A94-C600-EA7DA6DF9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9429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D1FAB-9F38-8A67-57AC-C16EE3DD7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>
                <a:solidFill>
                  <a:srgbClr val="00B050"/>
                </a:solidFill>
              </a:rPr>
              <a:t>CRYPTANALYSIS</a:t>
            </a:r>
            <a:r>
              <a:rPr lang="en-MY" b="1" dirty="0">
                <a:solidFill>
                  <a:srgbClr val="FF0000"/>
                </a:solidFill>
              </a:rPr>
              <a:t> </a:t>
            </a:r>
            <a:r>
              <a:rPr lang="en-MY" dirty="0"/>
              <a:t>ON DIGITAL SIGNATURE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1CAA18-07F5-3B15-1ADF-AB0FD2F628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457200" indent="-457200" algn="just">
                  <a:buFont typeface="+mj-lt"/>
                  <a:buAutoNum type="arabicPeriod" startAt="2"/>
                </a:pPr>
                <a:r>
                  <a:rPr lang="en-MY" sz="2200" b="1" dirty="0">
                    <a:solidFill>
                      <a:srgbClr val="FF0000"/>
                    </a:solidFill>
                  </a:rPr>
                  <a:t>Universal Forgery</a:t>
                </a:r>
                <a:r>
                  <a:rPr lang="en-MY" sz="2200" dirty="0"/>
                  <a:t>. The adversary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MY" sz="2200" dirty="0"/>
                  <a:t> found an efficient signing algorithm (not the signature algorithm that the sender used) that provides an equivalent way of constructing a valid signature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MY" sz="2200" dirty="0"/>
                  <a:t> on arbitrary messages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MY" sz="2200" dirty="0"/>
                  <a:t>. </a:t>
                </a:r>
              </a:p>
              <a:p>
                <a:pPr marL="457200" indent="-457200" algn="just">
                  <a:buFont typeface="+mj-lt"/>
                  <a:buAutoNum type="arabicPeriod" startAt="2"/>
                </a:pPr>
                <a:r>
                  <a:rPr lang="en-MY" sz="2200" b="1" dirty="0">
                    <a:solidFill>
                      <a:srgbClr val="0000FF"/>
                    </a:solidFill>
                  </a:rPr>
                  <a:t>Selective Forgery</a:t>
                </a:r>
                <a:r>
                  <a:rPr lang="en-MY" sz="2200" dirty="0"/>
                  <a:t>. The adversary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MY" sz="2200" dirty="0"/>
                  <a:t> forged a valid signature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MY" sz="2200" dirty="0"/>
                  <a:t> for a particular message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MY" sz="2200" dirty="0"/>
                  <a:t> of his choice.</a:t>
                </a:r>
              </a:p>
              <a:p>
                <a:pPr marL="457200" indent="-457200" algn="just">
                  <a:buFont typeface="+mj-lt"/>
                  <a:buAutoNum type="arabicPeriod" startAt="2"/>
                </a:pPr>
                <a:r>
                  <a:rPr lang="en-MY" sz="2200" b="1" dirty="0">
                    <a:solidFill>
                      <a:srgbClr val="00B050"/>
                    </a:solidFill>
                  </a:rPr>
                  <a:t>Existential Forgery </a:t>
                </a:r>
                <a:r>
                  <a:rPr lang="en-MY" sz="2200" dirty="0"/>
                  <a:t>(</a:t>
                </a:r>
                <a:r>
                  <a:rPr lang="en-MY" sz="2200" b="1" i="1" dirty="0">
                    <a:solidFill>
                      <a:srgbClr val="FF0000"/>
                    </a:solidFill>
                  </a:rPr>
                  <a:t>Weakest</a:t>
                </a:r>
                <a:r>
                  <a:rPr lang="en-MY" sz="2200" dirty="0"/>
                  <a:t>). The adversary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MY" sz="2200" dirty="0"/>
                  <a:t> forged a valid signature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MY" sz="2200" dirty="0"/>
                  <a:t> for at least one existing message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MY" sz="2200" dirty="0"/>
                  <a:t> given. In achieving this target, the adversary </a:t>
                </a:r>
                <a14:m>
                  <m:oMath xmlns:m="http://schemas.openxmlformats.org/officeDocument/2006/math">
                    <m:r>
                      <a:rPr lang="en-MY" sz="22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MY" sz="2200" dirty="0"/>
                  <a:t> has </a:t>
                </a:r>
                <a:r>
                  <a:rPr lang="en-MY" sz="2200" b="1" dirty="0">
                    <a:solidFill>
                      <a:srgbClr val="7030A0"/>
                    </a:solidFill>
                  </a:rPr>
                  <a:t>no control over the message </a:t>
                </a:r>
                <a14:m>
                  <m:oMath xmlns:m="http://schemas.openxmlformats.org/officeDocument/2006/math">
                    <m:r>
                      <a:rPr lang="en-MY" sz="2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en-MY" sz="22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1CAA18-07F5-3B15-1ADF-AB0FD2F628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84" t="-1005" r="-741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CCE9A-1B11-2175-DA9B-7412850DB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E685-1B6F-4D7C-AEF2-C9AD71EC467A}" type="datetime1">
              <a:rPr lang="en-US" smtClean="0"/>
              <a:t>6/15/2024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37BCC-DE2D-5A94-C600-EA7DA6DF9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2977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D1FAB-9F38-8A67-57AC-C16EE3DD7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>
                <a:solidFill>
                  <a:srgbClr val="00B050"/>
                </a:solidFill>
              </a:rPr>
              <a:t>CRYPTANALYSIS</a:t>
            </a:r>
            <a:r>
              <a:rPr lang="en-MY" b="1" dirty="0">
                <a:solidFill>
                  <a:srgbClr val="FF0000"/>
                </a:solidFill>
              </a:rPr>
              <a:t> </a:t>
            </a:r>
            <a:r>
              <a:rPr lang="en-MY" dirty="0"/>
              <a:t>ON DIGITAL SIGNATURE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CAA18-07F5-3B15-1ADF-AB0FD2F62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Courier New" panose="02070309020205020404" pitchFamily="49" charset="0"/>
              <a:buChar char="o"/>
            </a:pPr>
            <a:r>
              <a:rPr lang="en-MY" sz="2200" dirty="0"/>
              <a:t>The current </a:t>
            </a:r>
            <a:r>
              <a:rPr lang="en-MY" sz="2200" b="1" dirty="0">
                <a:solidFill>
                  <a:srgbClr val="FF0000"/>
                </a:solidFill>
              </a:rPr>
              <a:t>security proof </a:t>
            </a:r>
            <a:r>
              <a:rPr lang="en-MY" sz="2200" dirty="0"/>
              <a:t>approach of a </a:t>
            </a:r>
            <a:r>
              <a:rPr lang="en-MY" sz="2200" b="1" dirty="0">
                <a:solidFill>
                  <a:srgbClr val="FF0000"/>
                </a:solidFill>
              </a:rPr>
              <a:t>digital signature scheme </a:t>
            </a:r>
            <a:r>
              <a:rPr lang="en-MY" sz="2200" dirty="0"/>
              <a:t>is to achieve the </a:t>
            </a:r>
            <a:r>
              <a:rPr lang="en-MY" sz="2200" b="1" dirty="0">
                <a:solidFill>
                  <a:srgbClr val="0000FF"/>
                </a:solidFill>
              </a:rPr>
              <a:t>Existential Unforgeability under Adaptive Chosen Message Attack</a:t>
            </a:r>
            <a:r>
              <a:rPr lang="en-MY" sz="2200" dirty="0"/>
              <a:t> (</a:t>
            </a:r>
            <a:r>
              <a:rPr lang="en-MY" sz="2200" b="1" dirty="0">
                <a:solidFill>
                  <a:srgbClr val="0000FF"/>
                </a:solidFill>
              </a:rPr>
              <a:t>EUF-CMA</a:t>
            </a:r>
            <a:r>
              <a:rPr lang="en-MY" sz="2200" dirty="0"/>
              <a:t>).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MY" sz="2200" dirty="0"/>
              <a:t>In other words, under the </a:t>
            </a:r>
            <a:r>
              <a:rPr lang="en-MY" sz="2200" b="1" dirty="0">
                <a:solidFill>
                  <a:srgbClr val="FF0000"/>
                </a:solidFill>
              </a:rPr>
              <a:t>STRONGEST</a:t>
            </a:r>
            <a:r>
              <a:rPr lang="en-MY" sz="2200" dirty="0"/>
              <a:t> attack environment (</a:t>
            </a:r>
            <a:r>
              <a:rPr lang="en-MY" sz="2200" b="1" dirty="0">
                <a:solidFill>
                  <a:srgbClr val="0000FF"/>
                </a:solidFill>
              </a:rPr>
              <a:t>Adaptive CMA</a:t>
            </a:r>
            <a:r>
              <a:rPr lang="en-MY" sz="2200" dirty="0"/>
              <a:t>) the adversary has, the adversary is still </a:t>
            </a:r>
            <a:r>
              <a:rPr lang="en-MY" sz="2200" b="1" dirty="0">
                <a:solidFill>
                  <a:srgbClr val="00B050"/>
                </a:solidFill>
              </a:rPr>
              <a:t>FAILED </a:t>
            </a:r>
            <a:r>
              <a:rPr lang="en-MY" sz="2200" dirty="0"/>
              <a:t>to</a:t>
            </a:r>
            <a:r>
              <a:rPr lang="en-MY" sz="2200" b="1" dirty="0">
                <a:solidFill>
                  <a:srgbClr val="00B050"/>
                </a:solidFill>
              </a:rPr>
              <a:t> FORGE </a:t>
            </a:r>
            <a:r>
              <a:rPr lang="en-MY" sz="2200" dirty="0"/>
              <a:t>any signature for a given message (</a:t>
            </a:r>
            <a:r>
              <a:rPr lang="en-MY" sz="2200" b="1" dirty="0">
                <a:solidFill>
                  <a:srgbClr val="0000FF"/>
                </a:solidFill>
              </a:rPr>
              <a:t>Existential Forgery</a:t>
            </a:r>
            <a:r>
              <a:rPr lang="en-MY" sz="2200" dirty="0"/>
              <a:t>).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CCE9A-1B11-2175-DA9B-7412850DB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E685-1B6F-4D7C-AEF2-C9AD71EC467A}" type="datetime1">
              <a:rPr lang="en-US" smtClean="0"/>
              <a:t>6/15/2024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37BCC-DE2D-5A94-C600-EA7DA6DF9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1361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D1FAB-9F38-8A67-57AC-C16EE3DD7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MY" b="1" dirty="0">
                <a:solidFill>
                  <a:srgbClr val="00B050"/>
                </a:solidFill>
              </a:rPr>
              <a:t>Security proof</a:t>
            </a:r>
            <a:r>
              <a:rPr lang="en-MY" b="1" dirty="0"/>
              <a:t> </a:t>
            </a:r>
            <a:br>
              <a:rPr lang="en-MY" b="1" dirty="0">
                <a:solidFill>
                  <a:srgbClr val="00B050"/>
                </a:solidFill>
              </a:rPr>
            </a:br>
            <a:r>
              <a:rPr lang="en-MY" b="1" dirty="0">
                <a:solidFill>
                  <a:srgbClr val="0000FF"/>
                </a:solidFill>
              </a:rPr>
              <a:t>ENCRYPTION</a:t>
            </a:r>
            <a:r>
              <a:rPr lang="en-MY" b="1" dirty="0">
                <a:solidFill>
                  <a:srgbClr val="00B050"/>
                </a:solidFill>
              </a:rPr>
              <a:t> </a:t>
            </a:r>
            <a:r>
              <a:rPr lang="en-MY" b="1" dirty="0"/>
              <a:t>VS</a:t>
            </a:r>
            <a:r>
              <a:rPr lang="en-MY" b="1" dirty="0">
                <a:solidFill>
                  <a:srgbClr val="00B050"/>
                </a:solidFill>
              </a:rPr>
              <a:t> </a:t>
            </a:r>
            <a:r>
              <a:rPr lang="en-MY" b="1" dirty="0">
                <a:solidFill>
                  <a:srgbClr val="FF0000"/>
                </a:solidFill>
              </a:rPr>
              <a:t>DIGITAL SIGNATURE</a:t>
            </a:r>
            <a:endParaRPr lang="en-MY" dirty="0">
              <a:solidFill>
                <a:srgbClr val="FF00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CCE9A-1B11-2175-DA9B-7412850DB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E685-1B6F-4D7C-AEF2-C9AD71EC467A}" type="datetime1">
              <a:rPr lang="en-US" smtClean="0"/>
              <a:t>6/15/2024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37BCC-DE2D-5A94-C600-EA7DA6DF9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31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2">
                <a:extLst>
                  <a:ext uri="{FF2B5EF4-FFF2-40B4-BE49-F238E27FC236}">
                    <a16:creationId xmlns:a16="http://schemas.microsoft.com/office/drawing/2014/main" id="{F09D820D-1C64-6654-B7DF-A36FC40CC2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33666928"/>
                  </p:ext>
                </p:extLst>
              </p:nvPr>
            </p:nvGraphicFramePr>
            <p:xfrm>
              <a:off x="142043" y="2409548"/>
              <a:ext cx="11940466" cy="3816327"/>
            </p:xfrm>
            <a:graphic>
              <a:graphicData uri="http://schemas.openxmlformats.org/drawingml/2006/table">
                <a:tbl>
                  <a:tblPr firstRow="1" bandRow="1">
                    <a:tableStyleId>{BDBED569-4797-4DF1-A0F4-6AAB3CD982D8}</a:tableStyleId>
                  </a:tblPr>
                  <a:tblGrid>
                    <a:gridCol w="2361460">
                      <a:extLst>
                        <a:ext uri="{9D8B030D-6E8A-4147-A177-3AD203B41FA5}">
                          <a16:colId xmlns:a16="http://schemas.microsoft.com/office/drawing/2014/main" val="1820111073"/>
                        </a:ext>
                      </a:extLst>
                    </a:gridCol>
                    <a:gridCol w="4838330">
                      <a:extLst>
                        <a:ext uri="{9D8B030D-6E8A-4147-A177-3AD203B41FA5}">
                          <a16:colId xmlns:a16="http://schemas.microsoft.com/office/drawing/2014/main" val="469623706"/>
                        </a:ext>
                      </a:extLst>
                    </a:gridCol>
                    <a:gridCol w="4740676">
                      <a:extLst>
                        <a:ext uri="{9D8B030D-6E8A-4147-A177-3AD203B41FA5}">
                          <a16:colId xmlns:a16="http://schemas.microsoft.com/office/drawing/2014/main" val="126066646"/>
                        </a:ext>
                      </a:extLst>
                    </a:gridCol>
                  </a:tblGrid>
                  <a:tr h="475575">
                    <a:tc>
                      <a:txBody>
                        <a:bodyPr/>
                        <a:lstStyle/>
                        <a:p>
                          <a:pPr algn="ctr"/>
                          <a:endParaRPr lang="en-MY" sz="2200" b="1" dirty="0">
                            <a:latin typeface="+mn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sz="2200" dirty="0"/>
                            <a:t>Encryption</a:t>
                          </a:r>
                          <a:endParaRPr lang="en-MY" sz="2200" dirty="0">
                            <a:latin typeface="+mn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sz="2200" dirty="0"/>
                            <a:t>Signature</a:t>
                          </a:r>
                          <a:endParaRPr lang="en-MY" sz="2200" dirty="0">
                            <a:latin typeface="+mn-lt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37650307"/>
                      </a:ext>
                    </a:extLst>
                  </a:tr>
                  <a:tr h="475575">
                    <a:tc>
                      <a:txBody>
                        <a:bodyPr/>
                        <a:lstStyle/>
                        <a:p>
                          <a:r>
                            <a:rPr lang="en-MY" sz="2200" b="1" dirty="0"/>
                            <a:t>Security aspect</a:t>
                          </a:r>
                          <a:endParaRPr lang="en-MY" sz="2200" b="1" dirty="0">
                            <a:latin typeface="+mn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sz="2200" dirty="0"/>
                            <a:t>Secrecy of Ciphertext</a:t>
                          </a:r>
                          <a:endParaRPr lang="en-MY" sz="2200" dirty="0">
                            <a:latin typeface="+mn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sz="2200" dirty="0"/>
                            <a:t>Validity of Signature</a:t>
                          </a:r>
                          <a:endParaRPr lang="en-MY" sz="2200" dirty="0">
                            <a:latin typeface="+mn-lt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56945077"/>
                      </a:ext>
                    </a:extLst>
                  </a:tr>
                  <a:tr h="835157">
                    <a:tc>
                      <a:txBody>
                        <a:bodyPr/>
                        <a:lstStyle/>
                        <a:p>
                          <a:r>
                            <a:rPr lang="en-MY" sz="2200" b="1" dirty="0"/>
                            <a:t>Attacker’</a:t>
                          </a:r>
                        </a:p>
                        <a:p>
                          <a:r>
                            <a:rPr lang="en-MY" sz="2200" b="1" dirty="0"/>
                            <a:t>Strongest Attack</a:t>
                          </a:r>
                          <a:endParaRPr lang="en-MY" sz="2200" b="1" dirty="0">
                            <a:latin typeface="+mn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sz="2200" dirty="0"/>
                            <a:t>Chosen Ciphertext Attack (CCA)</a:t>
                          </a:r>
                          <a:endParaRPr lang="en-MY" sz="2200" dirty="0">
                            <a:latin typeface="+mn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sz="2200" dirty="0"/>
                            <a:t>Chosen Message Attack (CMA)</a:t>
                          </a:r>
                          <a:endParaRPr lang="en-MY" sz="2200" dirty="0">
                            <a:latin typeface="+mn-lt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06567063"/>
                      </a:ext>
                    </a:extLst>
                  </a:tr>
                  <a:tr h="944316">
                    <a:tc>
                      <a:txBody>
                        <a:bodyPr/>
                        <a:lstStyle/>
                        <a:p>
                          <a:r>
                            <a:rPr lang="en-MY" sz="2200" b="1" dirty="0"/>
                            <a:t>Attacker’s </a:t>
                          </a:r>
                        </a:p>
                        <a:p>
                          <a:r>
                            <a:rPr lang="en-MY" sz="2200" b="1" dirty="0"/>
                            <a:t>Weakest Target</a:t>
                          </a:r>
                          <a:endParaRPr lang="en-MY" sz="2200" b="1" dirty="0">
                            <a:latin typeface="+mn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sz="2200" dirty="0"/>
                            <a:t>To </a:t>
                          </a:r>
                          <a:r>
                            <a:rPr lang="en-MY" sz="2200" b="1" dirty="0">
                              <a:solidFill>
                                <a:srgbClr val="0070C0"/>
                              </a:solidFill>
                            </a:rPr>
                            <a:t>distinguish</a:t>
                          </a:r>
                          <a:r>
                            <a:rPr lang="en-MY" sz="2200" dirty="0"/>
                            <a:t> among two messages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MY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MY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MY" sz="2200" b="0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MY" sz="2200" b="0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MY" sz="2200" b="0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MY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MY" sz="2200" b="0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MY" sz="2200" b="0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r>
                            <a:rPr lang="en-MY" sz="2200" dirty="0"/>
                            <a:t>, which is encrypted as</a:t>
                          </a:r>
                          <a:r>
                            <a:rPr lang="en-MY" sz="2200" baseline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MY" sz="2200" b="0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oMath>
                          </a14:m>
                          <a:r>
                            <a:rPr lang="en-MY" sz="2200" baseline="0" dirty="0"/>
                            <a:t>.</a:t>
                          </a:r>
                          <a:endParaRPr lang="en-MY" sz="2200" dirty="0">
                            <a:latin typeface="+mn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sz="2200" dirty="0"/>
                            <a:t>To </a:t>
                          </a:r>
                          <a:r>
                            <a:rPr lang="en-MY" sz="2200" b="1" dirty="0">
                              <a:solidFill>
                                <a:srgbClr val="0070C0"/>
                              </a:solidFill>
                            </a:rPr>
                            <a:t>forge</a:t>
                          </a:r>
                          <a:r>
                            <a:rPr lang="en-MY" sz="2200" dirty="0"/>
                            <a:t> a valid signature </a:t>
                          </a:r>
                          <a14:m>
                            <m:oMath xmlns:m="http://schemas.openxmlformats.org/officeDocument/2006/math">
                              <m:r>
                                <a:rPr lang="en-MY" sz="2200" b="0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oMath>
                          </a14:m>
                          <a:r>
                            <a:rPr lang="en-MY" sz="2200" dirty="0"/>
                            <a:t> based on all the existed</a:t>
                          </a:r>
                          <a:r>
                            <a:rPr lang="en-MY" sz="2200" baseline="0" dirty="0"/>
                            <a:t> </a:t>
                          </a:r>
                          <a:r>
                            <a:rPr lang="en-MY" sz="2200" dirty="0"/>
                            <a:t>message </a:t>
                          </a:r>
                          <a14:m>
                            <m:oMath xmlns:m="http://schemas.openxmlformats.org/officeDocument/2006/math">
                              <m:r>
                                <a:rPr lang="en-MY" sz="2200" b="0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oMath>
                          </a14:m>
                          <a:r>
                            <a:rPr lang="en-MY" sz="2200" dirty="0"/>
                            <a:t> learned.</a:t>
                          </a:r>
                          <a:endParaRPr lang="en-MY" sz="2200" dirty="0">
                            <a:latin typeface="+mn-lt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20654685"/>
                      </a:ext>
                    </a:extLst>
                  </a:tr>
                  <a:tr h="1085704">
                    <a:tc>
                      <a:txBody>
                        <a:bodyPr/>
                        <a:lstStyle/>
                        <a:p>
                          <a:r>
                            <a:rPr lang="en-MY" sz="2200" b="1" dirty="0"/>
                            <a:t>Proof of Security</a:t>
                          </a:r>
                          <a:endParaRPr lang="en-MY" sz="2200" b="1" dirty="0">
                            <a:latin typeface="+mn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sz="2200" dirty="0"/>
                            <a:t>Indistinguishability against Chosen Ciphertext Attack (IND-CCA)</a:t>
                          </a:r>
                          <a:endParaRPr lang="en-MY" sz="2200" dirty="0">
                            <a:latin typeface="+mn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sz="2200" dirty="0"/>
                            <a:t>Existential Unforgeability under Chosen Message Attack (EUF-CMA)</a:t>
                          </a:r>
                          <a:endParaRPr lang="en-MY" sz="2200" dirty="0">
                            <a:latin typeface="+mn-lt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780959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2">
                <a:extLst>
                  <a:ext uri="{FF2B5EF4-FFF2-40B4-BE49-F238E27FC236}">
                    <a16:creationId xmlns:a16="http://schemas.microsoft.com/office/drawing/2014/main" id="{F09D820D-1C64-6654-B7DF-A36FC40CC2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33666928"/>
                  </p:ext>
                </p:extLst>
              </p:nvPr>
            </p:nvGraphicFramePr>
            <p:xfrm>
              <a:off x="142043" y="2409548"/>
              <a:ext cx="11940466" cy="3816327"/>
            </p:xfrm>
            <a:graphic>
              <a:graphicData uri="http://schemas.openxmlformats.org/drawingml/2006/table">
                <a:tbl>
                  <a:tblPr firstRow="1" bandRow="1">
                    <a:tableStyleId>{BDBED569-4797-4DF1-A0F4-6AAB3CD982D8}</a:tableStyleId>
                  </a:tblPr>
                  <a:tblGrid>
                    <a:gridCol w="2361460">
                      <a:extLst>
                        <a:ext uri="{9D8B030D-6E8A-4147-A177-3AD203B41FA5}">
                          <a16:colId xmlns:a16="http://schemas.microsoft.com/office/drawing/2014/main" val="1820111073"/>
                        </a:ext>
                      </a:extLst>
                    </a:gridCol>
                    <a:gridCol w="4838330">
                      <a:extLst>
                        <a:ext uri="{9D8B030D-6E8A-4147-A177-3AD203B41FA5}">
                          <a16:colId xmlns:a16="http://schemas.microsoft.com/office/drawing/2014/main" val="469623706"/>
                        </a:ext>
                      </a:extLst>
                    </a:gridCol>
                    <a:gridCol w="4740676">
                      <a:extLst>
                        <a:ext uri="{9D8B030D-6E8A-4147-A177-3AD203B41FA5}">
                          <a16:colId xmlns:a16="http://schemas.microsoft.com/office/drawing/2014/main" val="126066646"/>
                        </a:ext>
                      </a:extLst>
                    </a:gridCol>
                  </a:tblGrid>
                  <a:tr h="475575">
                    <a:tc>
                      <a:txBody>
                        <a:bodyPr/>
                        <a:lstStyle/>
                        <a:p>
                          <a:pPr algn="ctr"/>
                          <a:endParaRPr lang="en-MY" sz="2200" b="1" dirty="0">
                            <a:latin typeface="+mn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sz="2200" dirty="0"/>
                            <a:t>Encryption</a:t>
                          </a:r>
                          <a:endParaRPr lang="en-MY" sz="2200" dirty="0">
                            <a:latin typeface="+mn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sz="2200" dirty="0"/>
                            <a:t>Signature</a:t>
                          </a:r>
                          <a:endParaRPr lang="en-MY" sz="2200" dirty="0">
                            <a:latin typeface="+mn-lt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37650307"/>
                      </a:ext>
                    </a:extLst>
                  </a:tr>
                  <a:tr h="475575">
                    <a:tc>
                      <a:txBody>
                        <a:bodyPr/>
                        <a:lstStyle/>
                        <a:p>
                          <a:r>
                            <a:rPr lang="en-MY" sz="2200" b="1" dirty="0"/>
                            <a:t>Security aspect</a:t>
                          </a:r>
                          <a:endParaRPr lang="en-MY" sz="2200" b="1" dirty="0">
                            <a:latin typeface="+mn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sz="2200" dirty="0"/>
                            <a:t>Secrecy of Ciphertext</a:t>
                          </a:r>
                          <a:endParaRPr lang="en-MY" sz="2200" dirty="0">
                            <a:latin typeface="+mn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sz="2200" dirty="0"/>
                            <a:t>Validity of Signature</a:t>
                          </a:r>
                          <a:endParaRPr lang="en-MY" sz="2200" dirty="0">
                            <a:latin typeface="+mn-lt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56945077"/>
                      </a:ext>
                    </a:extLst>
                  </a:tr>
                  <a:tr h="835157">
                    <a:tc>
                      <a:txBody>
                        <a:bodyPr/>
                        <a:lstStyle/>
                        <a:p>
                          <a:r>
                            <a:rPr lang="en-MY" sz="2200" b="1" dirty="0"/>
                            <a:t>Attacker’</a:t>
                          </a:r>
                        </a:p>
                        <a:p>
                          <a:r>
                            <a:rPr lang="en-MY" sz="2200" b="1" dirty="0"/>
                            <a:t>Strongest Attack</a:t>
                          </a:r>
                          <a:endParaRPr lang="en-MY" sz="2200" b="1" dirty="0">
                            <a:latin typeface="+mn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sz="2200" dirty="0"/>
                            <a:t>Chosen Ciphertext Attack (CCA)</a:t>
                          </a:r>
                          <a:endParaRPr lang="en-MY" sz="2200" dirty="0">
                            <a:latin typeface="+mn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sz="2200" dirty="0"/>
                            <a:t>Chosen Message Attack (CMA)</a:t>
                          </a:r>
                          <a:endParaRPr lang="en-MY" sz="2200" dirty="0">
                            <a:latin typeface="+mn-lt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06567063"/>
                      </a:ext>
                    </a:extLst>
                  </a:tr>
                  <a:tr h="944316">
                    <a:tc>
                      <a:txBody>
                        <a:bodyPr/>
                        <a:lstStyle/>
                        <a:p>
                          <a:r>
                            <a:rPr lang="en-MY" sz="2200" b="1" dirty="0"/>
                            <a:t>Attacker’s </a:t>
                          </a:r>
                        </a:p>
                        <a:p>
                          <a:r>
                            <a:rPr lang="en-MY" sz="2200" b="1" dirty="0"/>
                            <a:t>Weakest Target</a:t>
                          </a:r>
                          <a:endParaRPr lang="en-MY" sz="2200" b="1" dirty="0">
                            <a:latin typeface="+mn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8992" t="-189103" r="-98363" b="-1153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2057" t="-189103" r="-386" b="-1153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0654685"/>
                      </a:ext>
                    </a:extLst>
                  </a:tr>
                  <a:tr h="1085704">
                    <a:tc>
                      <a:txBody>
                        <a:bodyPr/>
                        <a:lstStyle/>
                        <a:p>
                          <a:r>
                            <a:rPr lang="en-MY" sz="2200" b="1" dirty="0"/>
                            <a:t>Proof of Security</a:t>
                          </a:r>
                          <a:endParaRPr lang="en-MY" sz="2200" b="1" dirty="0">
                            <a:latin typeface="+mn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sz="2200" dirty="0"/>
                            <a:t>Indistinguishability against Chosen Ciphertext Attack (IND-CCA)</a:t>
                          </a:r>
                          <a:endParaRPr lang="en-MY" sz="2200" dirty="0">
                            <a:latin typeface="+mn-lt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MY" sz="2200" dirty="0"/>
                            <a:t>Existential Unforgeability under Chosen Message Attack (EUF-CMA)</a:t>
                          </a:r>
                          <a:endParaRPr lang="en-MY" sz="2200" dirty="0">
                            <a:latin typeface="+mn-lt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7809590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850222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D1FAB-9F38-8A67-57AC-C16EE3DD7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4999310"/>
          </a:xfrm>
        </p:spPr>
        <p:txBody>
          <a:bodyPr>
            <a:normAutofit/>
          </a:bodyPr>
          <a:lstStyle/>
          <a:p>
            <a:pPr algn="ctr"/>
            <a:br>
              <a:rPr lang="en-MY" sz="6000" dirty="0"/>
            </a:br>
            <a:r>
              <a:rPr lang="en-MY" sz="6000" b="1" dirty="0">
                <a:solidFill>
                  <a:srgbClr val="C00000"/>
                </a:solidFill>
              </a:rPr>
              <a:t>PRACTICAL</a:t>
            </a:r>
            <a:br>
              <a:rPr lang="en-MY" sz="6000" dirty="0"/>
            </a:br>
            <a:r>
              <a:rPr lang="en-MY" sz="6000" b="1" dirty="0">
                <a:solidFill>
                  <a:srgbClr val="0000FF"/>
                </a:solidFill>
              </a:rPr>
              <a:t>digital signature</a:t>
            </a:r>
            <a:br>
              <a:rPr lang="en-MY" sz="6000" dirty="0"/>
            </a:br>
            <a:r>
              <a:rPr lang="en-MY" sz="6000" b="1" dirty="0">
                <a:solidFill>
                  <a:srgbClr val="00B050"/>
                </a:solidFill>
              </a:rPr>
              <a:t>SCHEMES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CCE9A-1B11-2175-DA9B-7412850DB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E685-1B6F-4D7C-AEF2-C9AD71EC467A}" type="datetime1">
              <a:rPr lang="en-US" smtClean="0"/>
              <a:t>6/15/2024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37BCC-DE2D-5A94-C600-EA7DA6DF9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292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D1FAB-9F38-8A67-57AC-C16EE3DD7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>
                <a:solidFill>
                  <a:srgbClr val="00B050"/>
                </a:solidFill>
              </a:rPr>
              <a:t>Practical</a:t>
            </a:r>
            <a:r>
              <a:rPr lang="en-MY" dirty="0"/>
              <a:t> digital signature schemes – </a:t>
            </a:r>
            <a:br>
              <a:rPr lang="en-MY" dirty="0"/>
            </a:br>
            <a:r>
              <a:rPr lang="en-MY" b="1" dirty="0">
                <a:solidFill>
                  <a:srgbClr val="FF0000"/>
                </a:solidFill>
              </a:rPr>
              <a:t>The digital signature algorithm (</a:t>
            </a:r>
            <a:r>
              <a:rPr lang="en-MY" b="1" dirty="0" err="1">
                <a:solidFill>
                  <a:srgbClr val="FF0000"/>
                </a:solidFill>
              </a:rPr>
              <a:t>dsa</a:t>
            </a:r>
            <a:r>
              <a:rPr lang="en-MY" b="1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CAA18-07F5-3B15-1ADF-AB0FD2F62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Courier New" panose="02070309020205020404" pitchFamily="49" charset="0"/>
              <a:buChar char="o"/>
            </a:pPr>
            <a:r>
              <a:rPr lang="en-MY" sz="2200" dirty="0"/>
              <a:t>The </a:t>
            </a:r>
            <a:r>
              <a:rPr lang="en-MY" sz="2200" b="1" dirty="0">
                <a:solidFill>
                  <a:srgbClr val="0000FF"/>
                </a:solidFill>
              </a:rPr>
              <a:t>Digital Signature Algorithm </a:t>
            </a:r>
            <a:r>
              <a:rPr lang="en-MY" sz="2200" dirty="0"/>
              <a:t>(</a:t>
            </a:r>
            <a:r>
              <a:rPr lang="en-MY" sz="2200" b="1" dirty="0">
                <a:solidFill>
                  <a:srgbClr val="0000FF"/>
                </a:solidFill>
              </a:rPr>
              <a:t>DSA</a:t>
            </a:r>
            <a:r>
              <a:rPr lang="en-MY" sz="2200" dirty="0"/>
              <a:t>) is designed based on the difficulty of computing the Discrete Logarithm Problem (DLP). 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MY" sz="2200" dirty="0"/>
              <a:t>This DSA scheme is based on the signature scheme originally presented by </a:t>
            </a:r>
            <a:r>
              <a:rPr lang="en-MY" sz="2200" dirty="0" err="1"/>
              <a:t>ElGamal</a:t>
            </a:r>
            <a:r>
              <a:rPr lang="en-MY" sz="2200" dirty="0"/>
              <a:t> and </a:t>
            </a:r>
            <a:r>
              <a:rPr lang="en-MY" sz="2200" dirty="0" err="1"/>
              <a:t>Schnorr</a:t>
            </a:r>
            <a:r>
              <a:rPr lang="en-MY" sz="2200" dirty="0"/>
              <a:t> in 1985.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CCE9A-1B11-2175-DA9B-7412850DB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E685-1B6F-4D7C-AEF2-C9AD71EC467A}" type="datetime1">
              <a:rPr lang="en-US" smtClean="0"/>
              <a:t>6/15/2024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37BCC-DE2D-5A94-C600-EA7DA6DF9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0778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D1FAB-9F38-8A67-57AC-C16EE3DD7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>
                <a:solidFill>
                  <a:srgbClr val="00B050"/>
                </a:solidFill>
              </a:rPr>
              <a:t>Practical</a:t>
            </a:r>
            <a:r>
              <a:rPr lang="en-MY" dirty="0"/>
              <a:t> digital signature schemes – </a:t>
            </a:r>
            <a:br>
              <a:rPr lang="en-MY" dirty="0"/>
            </a:br>
            <a:r>
              <a:rPr lang="en-MY" b="1" dirty="0">
                <a:solidFill>
                  <a:srgbClr val="FF0000"/>
                </a:solidFill>
              </a:rPr>
              <a:t>The digital signature algorithm (</a:t>
            </a:r>
            <a:r>
              <a:rPr lang="en-MY" b="1" dirty="0" err="1">
                <a:solidFill>
                  <a:srgbClr val="FF0000"/>
                </a:solidFill>
              </a:rPr>
              <a:t>dsa</a:t>
            </a:r>
            <a:r>
              <a:rPr lang="en-MY" b="1" dirty="0">
                <a:solidFill>
                  <a:srgbClr val="FF0000"/>
                </a:solidFill>
              </a:rPr>
              <a:t>)</a:t>
            </a:r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CCE9A-1B11-2175-DA9B-7412850DB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E685-1B6F-4D7C-AEF2-C9AD71EC467A}" type="datetime1">
              <a:rPr lang="en-US" smtClean="0"/>
              <a:t>6/15/2024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37BCC-DE2D-5A94-C600-EA7DA6DF9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34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DB27ED-EC53-5030-7B23-515278395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93126"/>
            <a:ext cx="6425564" cy="40632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F873DC4-FBB2-A42D-6C3C-15AD4F932E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5989" y="2429288"/>
            <a:ext cx="5806768" cy="3551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2151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D1FAB-9F38-8A67-57AC-C16EE3DD7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>
                <a:solidFill>
                  <a:srgbClr val="00B050"/>
                </a:solidFill>
              </a:rPr>
              <a:t>Practical</a:t>
            </a:r>
            <a:r>
              <a:rPr lang="en-MY" dirty="0"/>
              <a:t> digital signature schemes – </a:t>
            </a:r>
            <a:br>
              <a:rPr lang="en-MY" dirty="0"/>
            </a:br>
            <a:r>
              <a:rPr lang="en-MY" b="1" dirty="0">
                <a:solidFill>
                  <a:srgbClr val="FF0000"/>
                </a:solidFill>
              </a:rPr>
              <a:t>The digital signature algorithm (</a:t>
            </a:r>
            <a:r>
              <a:rPr lang="en-MY" b="1" dirty="0" err="1">
                <a:solidFill>
                  <a:srgbClr val="FF0000"/>
                </a:solidFill>
              </a:rPr>
              <a:t>dsa</a:t>
            </a:r>
            <a:r>
              <a:rPr lang="en-MY" b="1" dirty="0">
                <a:solidFill>
                  <a:srgbClr val="FF0000"/>
                </a:solidFill>
              </a:rPr>
              <a:t>)</a:t>
            </a:r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CCE9A-1B11-2175-DA9B-7412850DB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E685-1B6F-4D7C-AEF2-C9AD71EC467A}" type="datetime1">
              <a:rPr lang="en-US" smtClean="0"/>
              <a:t>6/15/2024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37BCC-DE2D-5A94-C600-EA7DA6DF9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35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1F3D5A-B7FB-7D84-4749-9DBCEDE68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906" y="2441227"/>
            <a:ext cx="5477336" cy="21147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9B05F9F-D66D-6A83-9662-9AA65D3864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4030" y="2441227"/>
            <a:ext cx="5477336" cy="305200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3974608-77A1-312D-7101-FC0B065F94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805" y="4770228"/>
            <a:ext cx="4109820" cy="1232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0024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D1FAB-9F38-8A67-57AC-C16EE3DD7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>
                <a:solidFill>
                  <a:srgbClr val="FF0000"/>
                </a:solidFill>
              </a:rPr>
              <a:t>The digital signature algorithm (</a:t>
            </a:r>
            <a:r>
              <a:rPr lang="en-MY" b="1" dirty="0" err="1">
                <a:solidFill>
                  <a:srgbClr val="FF0000"/>
                </a:solidFill>
              </a:rPr>
              <a:t>dsa</a:t>
            </a:r>
            <a:r>
              <a:rPr lang="en-MY" b="1" dirty="0">
                <a:solidFill>
                  <a:srgbClr val="FF0000"/>
                </a:solidFill>
              </a:rPr>
              <a:t>) – </a:t>
            </a:r>
            <a:br>
              <a:rPr lang="en-MY" b="1" dirty="0">
                <a:solidFill>
                  <a:srgbClr val="FF0000"/>
                </a:solidFill>
              </a:rPr>
            </a:br>
            <a:r>
              <a:rPr lang="en-MY" b="1" dirty="0">
                <a:solidFill>
                  <a:srgbClr val="0000FF"/>
                </a:solidFill>
              </a:rPr>
              <a:t>Proof of correctness</a:t>
            </a:r>
            <a:endParaRPr lang="en-MY" dirty="0">
              <a:solidFill>
                <a:srgbClr val="0000FF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CCE9A-1B11-2175-DA9B-7412850DB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E685-1B6F-4D7C-AEF2-C9AD71EC467A}" type="datetime1">
              <a:rPr lang="en-US" smtClean="0"/>
              <a:t>6/15/2024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37BCC-DE2D-5A94-C600-EA7DA6DF9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36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2">
                <a:extLst>
                  <a:ext uri="{FF2B5EF4-FFF2-40B4-BE49-F238E27FC236}">
                    <a16:creationId xmlns:a16="http://schemas.microsoft.com/office/drawing/2014/main" id="{53AC4627-7CE9-29FE-FF8D-D589304F55E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2484379"/>
                  </p:ext>
                </p:extLst>
              </p:nvPr>
            </p:nvGraphicFramePr>
            <p:xfrm>
              <a:off x="2108140" y="2424629"/>
              <a:ext cx="7975719" cy="3800217"/>
            </p:xfrm>
            <a:graphic>
              <a:graphicData uri="http://schemas.openxmlformats.org/drawingml/2006/table">
                <a:tbl>
                  <a:tblPr firstRow="1" bandRow="1">
                    <a:tableStyleId>{1FECB4D8-DB02-4DC6-A0A2-4F2EBAE1DC90}</a:tableStyleId>
                  </a:tblPr>
                  <a:tblGrid>
                    <a:gridCol w="1075628">
                      <a:extLst>
                        <a:ext uri="{9D8B030D-6E8A-4147-A177-3AD203B41FA5}">
                          <a16:colId xmlns:a16="http://schemas.microsoft.com/office/drawing/2014/main" val="2102139270"/>
                        </a:ext>
                      </a:extLst>
                    </a:gridCol>
                    <a:gridCol w="603757">
                      <a:extLst>
                        <a:ext uri="{9D8B030D-6E8A-4147-A177-3AD203B41FA5}">
                          <a16:colId xmlns:a16="http://schemas.microsoft.com/office/drawing/2014/main" val="4285726184"/>
                        </a:ext>
                      </a:extLst>
                    </a:gridCol>
                    <a:gridCol w="3137058">
                      <a:extLst>
                        <a:ext uri="{9D8B030D-6E8A-4147-A177-3AD203B41FA5}">
                          <a16:colId xmlns:a16="http://schemas.microsoft.com/office/drawing/2014/main" val="3772281694"/>
                        </a:ext>
                      </a:extLst>
                    </a:gridCol>
                    <a:gridCol w="3159276">
                      <a:extLst>
                        <a:ext uri="{9D8B030D-6E8A-4147-A177-3AD203B41FA5}">
                          <a16:colId xmlns:a16="http://schemas.microsoft.com/office/drawing/2014/main" val="2888805880"/>
                        </a:ext>
                      </a:extLst>
                    </a:gridCol>
                  </a:tblGrid>
                  <a:tr h="47584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 xmlns:m="http://schemas.openxmlformats.org/officeDocument/2006/math">
                              <m:r>
                                <a:rPr lang="en-MY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oMath>
                          </a14:m>
                          <a:r>
                            <a:rPr lang="en-MY" sz="2400" dirty="0"/>
                            <a:t> 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sz="24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MY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MY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MY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MY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MY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MY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p>
                                </m:sSup>
                                <m:r>
                                  <a:rPr lang="en-MY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sSup>
                                  <m:sSupPr>
                                    <m:ctrlPr>
                                      <a:rPr lang="en-MY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MY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MY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MY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MY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p>
                                </m:sSup>
                              </m:oMath>
                            </m:oMathPara>
                          </a14:m>
                          <a:endParaRPr lang="en-MY" sz="2400" dirty="0"/>
                        </a:p>
                      </a:txBody>
                      <a:tcPr anchor="ctr"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MY" sz="2400" dirty="0"/>
                        </a:p>
                      </a:txBody>
                      <a:tcPr anchor="ctr"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87745245"/>
                      </a:ext>
                    </a:extLst>
                  </a:tr>
                  <a:tr h="492950">
                    <a:tc>
                      <a:txBody>
                        <a:bodyPr/>
                        <a:lstStyle/>
                        <a:p>
                          <a:r>
                            <a:rPr lang="en-MY" sz="2400" dirty="0"/>
                            <a:t> 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sz="24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MY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MY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MY" sz="2400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p>
                                    <m:r>
                                      <a:rPr lang="en-MY" sz="2400" b="0" i="1" smtClean="0">
                                        <a:latin typeface="Cambria Math" panose="02040503050406030204" pitchFamily="18" charset="0"/>
                                      </a:rPr>
                                      <m:t>𝑤𝐻</m:t>
                                    </m:r>
                                    <m:d>
                                      <m:dPr>
                                        <m:ctrlPr>
                                          <a:rPr lang="en-MY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MY" sz="2400" b="0" i="1" smtClean="0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a:rPr lang="en-MY" sz="2400" b="0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sSup>
                                  <m:sSupPr>
                                    <m:ctrlPr>
                                      <a:rPr lang="en-MY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MY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MY" sz="2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MY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𝑔</m:t>
                                            </m:r>
                                          </m:e>
                                          <m:sup>
                                            <m:r>
                                              <a:rPr lang="en-MY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r>
                                      <a:rPr lang="en-MY" sz="2400" b="0" i="1" smtClean="0">
                                        <a:latin typeface="Cambria Math" panose="02040503050406030204" pitchFamily="18" charset="0"/>
                                      </a:rPr>
                                      <m:t>𝑟𝑤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MY" sz="2400" b="0" dirty="0"/>
                        </a:p>
                      </a:txBody>
                      <a:tcPr anchor="ctr"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MY" sz="2400" b="0" dirty="0"/>
                        </a:p>
                      </a:txBody>
                      <a:tcPr anchor="ctr"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1779377"/>
                      </a:ext>
                    </a:extLst>
                  </a:tr>
                  <a:tr h="821312">
                    <a:tc>
                      <a:txBody>
                        <a:bodyPr/>
                        <a:lstStyle/>
                        <a:p>
                          <a:endParaRPr lang="en-MY" sz="2400"/>
                        </a:p>
                      </a:txBody>
                      <a:tcPr anchor="ctr">
                        <a:lnL w="12700" cmpd="sng"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sz="24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MY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MY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MY" sz="2400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p>
                                    <m:r>
                                      <a:rPr lang="en-MY" sz="24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d>
                                      <m:dPr>
                                        <m:ctrlPr>
                                          <a:rPr lang="en-MY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MY" sz="2400" b="0" i="1" smtClean="0"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  <m:d>
                                          <m:dPr>
                                            <m:ctrlPr>
                                              <a:rPr lang="en-MY" sz="2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MY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𝑀</m:t>
                                            </m:r>
                                          </m:e>
                                        </m:d>
                                        <m:r>
                                          <a:rPr lang="en-MY" sz="2400" b="0" i="1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MY" sz="2400" b="0" i="1" smtClean="0">
                                            <a:latin typeface="Cambria Math" panose="02040503050406030204" pitchFamily="18" charset="0"/>
                                          </a:rPr>
                                          <m:t>𝑥𝑟</m:t>
                                        </m:r>
                                      </m:e>
                                    </m:d>
                                  </m:sup>
                                </m:sSup>
                              </m:oMath>
                            </m:oMathPara>
                          </a14:m>
                          <a:endParaRPr lang="en-MY" sz="2400" b="0" dirty="0"/>
                        </a:p>
                      </a:txBody>
                      <a:tcPr anchor="ctr"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MY" sz="24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MY" sz="2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MY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MY" sz="24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p>
                                    <m:r>
                                      <a:rPr lang="en-MY" sz="24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MY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MY" sz="24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  <m:d>
                                      <m:dPr>
                                        <m:ctrlPr>
                                          <a:rPr lang="en-MY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MY" sz="2400" b="0" i="1" smtClean="0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</m:d>
                                    <m:r>
                                      <a:rPr lang="en-MY" sz="24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MY" sz="2400" b="0" i="1" smtClean="0">
                                        <a:latin typeface="Cambria Math" panose="02040503050406030204" pitchFamily="18" charset="0"/>
                                      </a:rPr>
                                      <m:t>𝑥𝑟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MY" sz="2400" b="0" dirty="0"/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MY" sz="2400" b="0" i="1" smtClean="0">
                                    <a:latin typeface="Cambria Math" panose="02040503050406030204" pitchFamily="18" charset="0"/>
                                  </a:rPr>
                                  <m:t>𝑥𝑟</m:t>
                                </m:r>
                                <m:r>
                                  <a:rPr lang="en-MY" sz="2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MY" sz="2400" b="0" i="1" smtClean="0">
                                    <a:latin typeface="Cambria Math" panose="02040503050406030204" pitchFamily="18" charset="0"/>
                                  </a:rPr>
                                  <m:t>𝑠𝑘</m:t>
                                </m:r>
                                <m:r>
                                  <a:rPr lang="en-MY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MY" sz="2400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  <m:d>
                                  <m:dPr>
                                    <m:ctrlPr>
                                      <a:rPr lang="en-MY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MY" sz="24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MY" sz="2400" b="0" dirty="0"/>
                        </a:p>
                      </a:txBody>
                      <a:tcPr anchor="ctr"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5365557"/>
                      </a:ext>
                    </a:extLst>
                  </a:tr>
                  <a:tr h="523098">
                    <a:tc>
                      <a:txBody>
                        <a:bodyPr/>
                        <a:lstStyle/>
                        <a:p>
                          <a:endParaRPr lang="en-MY" sz="2400" dirty="0"/>
                        </a:p>
                      </a:txBody>
                      <a:tcPr anchor="ctr">
                        <a:lnL w="12700" cmpd="sng"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sz="24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MY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MY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MY" sz="2400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p>
                                    <m:r>
                                      <a:rPr lang="en-MY" sz="24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d>
                                      <m:dPr>
                                        <m:ctrlPr>
                                          <a:rPr lang="en-MY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MY" sz="2400" b="0" i="1" smtClean="0"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  <m:d>
                                          <m:dPr>
                                            <m:ctrlPr>
                                              <a:rPr lang="en-MY" sz="2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MY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𝑀</m:t>
                                            </m:r>
                                          </m:e>
                                        </m:d>
                                        <m:r>
                                          <a:rPr lang="en-MY" sz="2400" b="0" i="1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MY" sz="2400" b="0" i="1" smtClean="0">
                                            <a:latin typeface="Cambria Math" panose="02040503050406030204" pitchFamily="18" charset="0"/>
                                          </a:rPr>
                                          <m:t>𝑠𝑘</m:t>
                                        </m:r>
                                        <m:r>
                                          <a:rPr lang="en-MY" sz="2400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MY" sz="2400" b="0" i="1" smtClean="0"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  <m:d>
                                          <m:dPr>
                                            <m:ctrlPr>
                                              <a:rPr lang="en-MY" sz="2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MY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𝑀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sup>
                                </m:sSup>
                              </m:oMath>
                            </m:oMathPara>
                          </a14:m>
                          <a:endParaRPr lang="en-MY" sz="2400" b="0" dirty="0"/>
                        </a:p>
                      </a:txBody>
                      <a:tcPr anchor="ctr"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 sz="2400" b="0" dirty="0"/>
                        </a:p>
                      </a:txBody>
                      <a:tcPr anchor="ctr"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8274542"/>
                      </a:ext>
                    </a:extLst>
                  </a:tr>
                  <a:tr h="492950">
                    <a:tc>
                      <a:txBody>
                        <a:bodyPr/>
                        <a:lstStyle/>
                        <a:p>
                          <a:endParaRPr lang="en-MY" sz="2400" dirty="0"/>
                        </a:p>
                      </a:txBody>
                      <a:tcPr anchor="ctr">
                        <a:lnL w="12700" cmpd="sng"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sz="24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MY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MY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MY" sz="2400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p>
                                    <m:r>
                                      <a:rPr lang="en-MY" sz="24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d>
                                      <m:dPr>
                                        <m:ctrlPr>
                                          <a:rPr lang="en-MY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MY" sz="2400" b="0" i="1" smtClean="0">
                                            <a:latin typeface="Cambria Math" panose="02040503050406030204" pitchFamily="18" charset="0"/>
                                          </a:rPr>
                                          <m:t>𝑠𝑘</m:t>
                                        </m:r>
                                      </m:e>
                                    </m:d>
                                  </m:sup>
                                </m:sSup>
                              </m:oMath>
                            </m:oMathPara>
                          </a14:m>
                          <a:endParaRPr lang="en-MY" sz="2400" b="0" dirty="0"/>
                        </a:p>
                      </a:txBody>
                      <a:tcPr anchor="ctr"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MY" sz="24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MY" sz="2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MY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MY" sz="24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en-MY" sz="24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MY" sz="2400" b="0" dirty="0"/>
                        </a:p>
                      </a:txBody>
                      <a:tcPr anchor="ctr"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27431274"/>
                      </a:ext>
                    </a:extLst>
                  </a:tr>
                  <a:tr h="516579">
                    <a:tc>
                      <a:txBody>
                        <a:bodyPr/>
                        <a:lstStyle/>
                        <a:p>
                          <a:endParaRPr lang="en-MY" sz="2400" dirty="0"/>
                        </a:p>
                      </a:txBody>
                      <a:tcPr anchor="ctr">
                        <a:lnL w="12700" cmpd="sng"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sz="24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MY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MY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MY" sz="2400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p>
                                    <m:sSup>
                                      <m:sSupPr>
                                        <m:ctrlPr>
                                          <a:rPr lang="en-MY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MY" sz="24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n-MY" sz="2400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p>
                                    </m:sSup>
                                    <m:d>
                                      <m:dPr>
                                        <m:ctrlPr>
                                          <a:rPr lang="en-MY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MY" sz="2400" b="0" i="1" smtClean="0">
                                            <a:latin typeface="Cambria Math" panose="02040503050406030204" pitchFamily="18" charset="0"/>
                                          </a:rPr>
                                          <m:t>𝑠𝑘</m:t>
                                        </m:r>
                                      </m:e>
                                    </m:d>
                                  </m:sup>
                                </m:sSup>
                              </m:oMath>
                            </m:oMathPara>
                          </a14:m>
                          <a:endParaRPr lang="en-MY" sz="2400" b="0" dirty="0"/>
                        </a:p>
                      </a:txBody>
                      <a:tcPr anchor="ctr"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 sz="2400" b="0" dirty="0"/>
                        </a:p>
                      </a:txBody>
                      <a:tcPr anchor="ctr"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5044197"/>
                      </a:ext>
                    </a:extLst>
                  </a:tr>
                  <a:tr h="475840">
                    <a:tc>
                      <a:txBody>
                        <a:bodyPr/>
                        <a:lstStyle/>
                        <a:p>
                          <a:endParaRPr lang="en-MY" sz="2400" dirty="0"/>
                        </a:p>
                      </a:txBody>
                      <a:tcPr anchor="ctr">
                        <a:lnL w="12700" cmpd="sng"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MY" sz="2400" b="0" i="1" smtClean="0">
                                    <a:latin typeface="Cambria Math" panose="02040503050406030204" pitchFamily="18" charset="0"/>
                                  </a:rPr>
                                  <m:t>≡</m:t>
                                </m:r>
                              </m:oMath>
                            </m:oMathPara>
                          </a14:m>
                          <a:endParaRPr lang="en-MY" sz="24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MY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MY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MY" sz="2400" b="0" i="1" smtClean="0"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e>
                                      <m:sup>
                                        <m:r>
                                          <a:rPr lang="en-MY" sz="2400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p>
                                    </m:sSup>
                                    <m:r>
                                      <a:rPr lang="en-MY" sz="24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d>
                                      <m:dPr>
                                        <m:ctrlPr>
                                          <a:rPr lang="en-MY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MY" sz="2400" b="0" i="0" smtClean="0">
                                            <a:latin typeface="Cambria Math" panose="02040503050406030204" pitchFamily="18" charset="0"/>
                                          </a:rPr>
                                          <m:t>mod</m:t>
                                        </m:r>
                                        <m:r>
                                          <a:rPr lang="en-MY" sz="2400" b="0" i="0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MY" sz="2400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</m:d>
                                  </m:e>
                                </m:d>
                                <m:d>
                                  <m:dPr>
                                    <m:ctrlPr>
                                      <a:rPr lang="en-MY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MY" sz="2400" b="0" i="0" smtClean="0">
                                        <a:latin typeface="Cambria Math" panose="02040503050406030204" pitchFamily="18" charset="0"/>
                                      </a:rPr>
                                      <m:t>mod</m:t>
                                    </m:r>
                                    <m:r>
                                      <a:rPr lang="en-MY" sz="2400" b="0" i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MY" sz="24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MY" sz="2400" b="0" dirty="0"/>
                        </a:p>
                      </a:txBody>
                      <a:tcPr anchor="ctr"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 sz="2400" b="0" dirty="0"/>
                        </a:p>
                      </a:txBody>
                      <a:tcPr anchor="ctr"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93293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2">
                <a:extLst>
                  <a:ext uri="{FF2B5EF4-FFF2-40B4-BE49-F238E27FC236}">
                    <a16:creationId xmlns:a16="http://schemas.microsoft.com/office/drawing/2014/main" id="{53AC4627-7CE9-29FE-FF8D-D589304F55E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2484379"/>
                  </p:ext>
                </p:extLst>
              </p:nvPr>
            </p:nvGraphicFramePr>
            <p:xfrm>
              <a:off x="2108140" y="2424629"/>
              <a:ext cx="7975719" cy="3800217"/>
            </p:xfrm>
            <a:graphic>
              <a:graphicData uri="http://schemas.openxmlformats.org/drawingml/2006/table">
                <a:tbl>
                  <a:tblPr firstRow="1" bandRow="1">
                    <a:tableStyleId>{1FECB4D8-DB02-4DC6-A0A2-4F2EBAE1DC90}</a:tableStyleId>
                  </a:tblPr>
                  <a:tblGrid>
                    <a:gridCol w="1075628">
                      <a:extLst>
                        <a:ext uri="{9D8B030D-6E8A-4147-A177-3AD203B41FA5}">
                          <a16:colId xmlns:a16="http://schemas.microsoft.com/office/drawing/2014/main" val="2102139270"/>
                        </a:ext>
                      </a:extLst>
                    </a:gridCol>
                    <a:gridCol w="603757">
                      <a:extLst>
                        <a:ext uri="{9D8B030D-6E8A-4147-A177-3AD203B41FA5}">
                          <a16:colId xmlns:a16="http://schemas.microsoft.com/office/drawing/2014/main" val="4285726184"/>
                        </a:ext>
                      </a:extLst>
                    </a:gridCol>
                    <a:gridCol w="3137058">
                      <a:extLst>
                        <a:ext uri="{9D8B030D-6E8A-4147-A177-3AD203B41FA5}">
                          <a16:colId xmlns:a16="http://schemas.microsoft.com/office/drawing/2014/main" val="3772281694"/>
                        </a:ext>
                      </a:extLst>
                    </a:gridCol>
                    <a:gridCol w="3159276">
                      <a:extLst>
                        <a:ext uri="{9D8B030D-6E8A-4147-A177-3AD203B41FA5}">
                          <a16:colId xmlns:a16="http://schemas.microsoft.com/office/drawing/2014/main" val="2888805880"/>
                        </a:ext>
                      </a:extLst>
                    </a:gridCol>
                  </a:tblGrid>
                  <a:tr h="475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640113" b="-71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78788" r="-1044444" b="-71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3592" r="-100777" b="-71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MY" sz="2400" dirty="0"/>
                        </a:p>
                      </a:txBody>
                      <a:tcPr anchor="ctr"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87745245"/>
                      </a:ext>
                    </a:extLst>
                  </a:tr>
                  <a:tr h="492950">
                    <a:tc>
                      <a:txBody>
                        <a:bodyPr/>
                        <a:lstStyle/>
                        <a:p>
                          <a:r>
                            <a:rPr lang="en-MY" sz="2400" dirty="0"/>
                            <a:t> 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78788" t="-96296" r="-1044444" b="-5851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3592" t="-96296" r="-100777" b="-5851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MY" sz="2400" b="0" dirty="0"/>
                        </a:p>
                      </a:txBody>
                      <a:tcPr anchor="ctr"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1779377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endParaRPr lang="en-MY" sz="2400"/>
                        </a:p>
                      </a:txBody>
                      <a:tcPr anchor="ctr">
                        <a:lnL w="12700" cmpd="sng"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78788" t="-116912" r="-1044444" b="-248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3592" t="-116912" r="-100777" b="-248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52408" t="-116912" b="-248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5365557"/>
                      </a:ext>
                    </a:extLst>
                  </a:tr>
                  <a:tr h="523098">
                    <a:tc>
                      <a:txBody>
                        <a:bodyPr/>
                        <a:lstStyle/>
                        <a:p>
                          <a:endParaRPr lang="en-MY" sz="2400" dirty="0"/>
                        </a:p>
                      </a:txBody>
                      <a:tcPr anchor="ctr">
                        <a:lnL w="12700" cmpd="sng"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78788" t="-343023" r="-1044444" b="-2930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3592" t="-343023" r="-100777" b="-2930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 sz="2400" b="0" dirty="0"/>
                        </a:p>
                      </a:txBody>
                      <a:tcPr anchor="ctr"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8274542"/>
                      </a:ext>
                    </a:extLst>
                  </a:tr>
                  <a:tr h="492950">
                    <a:tc>
                      <a:txBody>
                        <a:bodyPr/>
                        <a:lstStyle/>
                        <a:p>
                          <a:endParaRPr lang="en-MY" sz="2400" dirty="0"/>
                        </a:p>
                      </a:txBody>
                      <a:tcPr anchor="ctr">
                        <a:lnL w="12700" cmpd="sng"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78788" t="-470370" r="-1044444" b="-2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3592" t="-470370" r="-100777" b="-2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52408" t="-470370" b="-2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27431274"/>
                      </a:ext>
                    </a:extLst>
                  </a:tr>
                  <a:tr h="516579">
                    <a:tc>
                      <a:txBody>
                        <a:bodyPr/>
                        <a:lstStyle/>
                        <a:p>
                          <a:endParaRPr lang="en-MY" sz="2400" dirty="0"/>
                        </a:p>
                      </a:txBody>
                      <a:tcPr anchor="ctr">
                        <a:lnL w="12700" cmpd="sng"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78788" t="-543529" r="-1044444" b="-1011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3592" t="-543529" r="-100777" b="-1011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 sz="2400" b="0" dirty="0"/>
                        </a:p>
                      </a:txBody>
                      <a:tcPr anchor="ctr"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5044197"/>
                      </a:ext>
                    </a:extLst>
                  </a:tr>
                  <a:tr h="475840">
                    <a:tc>
                      <a:txBody>
                        <a:bodyPr/>
                        <a:lstStyle/>
                        <a:p>
                          <a:endParaRPr lang="en-MY" sz="2400" dirty="0"/>
                        </a:p>
                      </a:txBody>
                      <a:tcPr anchor="ctr">
                        <a:lnL w="12700" cmpd="sng"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78788" t="-701282" r="-1044444" b="-102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3592" t="-701282" r="-100777" b="-102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MY" sz="2400" b="0" dirty="0"/>
                        </a:p>
                      </a:txBody>
                      <a:tcPr anchor="ctr">
                        <a:lnL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932936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388744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CCE9A-1B11-2175-DA9B-7412850DB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E685-1B6F-4D7C-AEF2-C9AD71EC467A}" type="datetime1">
              <a:rPr lang="en-US" smtClean="0"/>
              <a:t>6/15/2024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37BCC-DE2D-5A94-C600-EA7DA6DF9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37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15195B-C501-FD6D-506A-E5B1C683AB3D}"/>
              </a:ext>
            </a:extLst>
          </p:cNvPr>
          <p:cNvSpPr/>
          <p:nvPr/>
        </p:nvSpPr>
        <p:spPr>
          <a:xfrm>
            <a:off x="683581" y="390617"/>
            <a:ext cx="10972800" cy="63308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A4D8F3B-6FA8-71DD-0130-A899948EA3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085" y="136524"/>
            <a:ext cx="5187556" cy="6593446"/>
          </a:xfrm>
          <a:prstGeom prst="rect">
            <a:avLst/>
          </a:prstGeom>
          <a:ln w="19050">
            <a:solidFill>
              <a:srgbClr val="002060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94EF7B3-C1D1-DF49-25E3-C268B9FB29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591" y="120927"/>
            <a:ext cx="5563064" cy="6600548"/>
          </a:xfrm>
          <a:prstGeom prst="rect">
            <a:avLst/>
          </a:prstGeom>
          <a:ln w="19050"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37953732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D1FAB-9F38-8A67-57AC-C16EE3DD7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200" b="1" dirty="0">
                <a:solidFill>
                  <a:srgbClr val="00B050"/>
                </a:solidFill>
              </a:rPr>
              <a:t>Practical</a:t>
            </a:r>
            <a:r>
              <a:rPr lang="en-MY" sz="3200" dirty="0"/>
              <a:t> digital signature schemes – </a:t>
            </a:r>
            <a:br>
              <a:rPr lang="en-MY" sz="3200" dirty="0"/>
            </a:br>
            <a:r>
              <a:rPr lang="en-MY" sz="3200" b="1" dirty="0">
                <a:solidFill>
                  <a:srgbClr val="0000FF"/>
                </a:solidFill>
              </a:rPr>
              <a:t>the </a:t>
            </a:r>
            <a:r>
              <a:rPr lang="en-MY" sz="3200" b="1" dirty="0" err="1">
                <a:solidFill>
                  <a:srgbClr val="0000FF"/>
                </a:solidFill>
              </a:rPr>
              <a:t>rsa</a:t>
            </a:r>
            <a:r>
              <a:rPr lang="en-MY" sz="3200" b="1" dirty="0">
                <a:solidFill>
                  <a:srgbClr val="0000FF"/>
                </a:solidFill>
              </a:rPr>
              <a:t>-probabilistic signature scheme (</a:t>
            </a:r>
            <a:r>
              <a:rPr lang="en-MY" sz="3200" b="1" dirty="0" err="1">
                <a:solidFill>
                  <a:srgbClr val="0000FF"/>
                </a:solidFill>
              </a:rPr>
              <a:t>rsa-pss</a:t>
            </a:r>
            <a:r>
              <a:rPr lang="en-MY" sz="3200" b="1" dirty="0">
                <a:solidFill>
                  <a:srgbClr val="0000FF"/>
                </a:solidFill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CAA18-07F5-3B15-1ADF-AB0FD2F62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Courier New" panose="02070309020205020404" pitchFamily="49" charset="0"/>
              <a:buChar char="o"/>
            </a:pPr>
            <a:r>
              <a:rPr lang="en-US" sz="2200" dirty="0"/>
              <a:t>Another practical digital signature scheme that worth its mentioned is the </a:t>
            </a:r>
            <a:r>
              <a:rPr lang="en-US" sz="2200" b="1" dirty="0">
                <a:solidFill>
                  <a:srgbClr val="FF0000"/>
                </a:solidFill>
              </a:rPr>
              <a:t>RSA-Probabilistic Signature Scheme</a:t>
            </a:r>
            <a:r>
              <a:rPr lang="en-US" sz="2200" dirty="0"/>
              <a:t> (</a:t>
            </a:r>
            <a:r>
              <a:rPr lang="en-US" sz="2200" b="1" dirty="0">
                <a:solidFill>
                  <a:srgbClr val="FF0000"/>
                </a:solidFill>
              </a:rPr>
              <a:t>RSA-PSS</a:t>
            </a:r>
            <a:r>
              <a:rPr lang="en-US" sz="2200" dirty="0"/>
              <a:t>).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2200" dirty="0"/>
              <a:t>This scheme was included in 2009’s version of FIPS-186 and is the latest of the RSA schemes and the one that RSA Laboratories recommends as </a:t>
            </a:r>
            <a:r>
              <a:rPr lang="en-US" sz="2200" b="1" dirty="0">
                <a:solidFill>
                  <a:srgbClr val="0000FF"/>
                </a:solidFill>
              </a:rPr>
              <a:t>the most secure </a:t>
            </a:r>
            <a:r>
              <a:rPr lang="en-US" sz="2200" dirty="0"/>
              <a:t>of the RSA schemes.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2200" dirty="0"/>
              <a:t>For all schemes developed </a:t>
            </a:r>
            <a:r>
              <a:rPr lang="en-US" sz="2200" b="1" dirty="0"/>
              <a:t>prior to PSS</a:t>
            </a:r>
            <a:r>
              <a:rPr lang="en-US" sz="2200" dirty="0"/>
              <a:t>, developing a mathematical proof that the signature scheme is as secure as the underlying RSA encryption/decryption primitive </a:t>
            </a:r>
            <a:r>
              <a:rPr lang="en-US" sz="2200" b="1" dirty="0">
                <a:solidFill>
                  <a:srgbClr val="C00000"/>
                </a:solidFill>
              </a:rPr>
              <a:t>is NOT possible</a:t>
            </a:r>
            <a:r>
              <a:rPr lang="en-US" sz="2200" dirty="0"/>
              <a:t>. </a:t>
            </a:r>
          </a:p>
          <a:p>
            <a:pPr algn="just">
              <a:buFont typeface="Courier New" panose="02070309020205020404" pitchFamily="49" charset="0"/>
              <a:buChar char="o"/>
            </a:pPr>
            <a:endParaRPr lang="en-MY" sz="2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CCE9A-1B11-2175-DA9B-7412850DB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E685-1B6F-4D7C-AEF2-C9AD71EC467A}" type="datetime1">
              <a:rPr lang="en-US" smtClean="0"/>
              <a:t>6/15/2024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37BCC-DE2D-5A94-C600-EA7DA6DF9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9438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D1FAB-9F38-8A67-57AC-C16EE3DD7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3200" b="1" dirty="0">
                <a:solidFill>
                  <a:srgbClr val="00B050"/>
                </a:solidFill>
              </a:rPr>
              <a:t>Practical</a:t>
            </a:r>
            <a:r>
              <a:rPr lang="en-MY" sz="3200" dirty="0"/>
              <a:t> digital signature schemes – </a:t>
            </a:r>
            <a:br>
              <a:rPr lang="en-MY" sz="3200" dirty="0"/>
            </a:br>
            <a:r>
              <a:rPr lang="en-MY" sz="3200" b="1" dirty="0">
                <a:solidFill>
                  <a:srgbClr val="0000FF"/>
                </a:solidFill>
              </a:rPr>
              <a:t>the </a:t>
            </a:r>
            <a:r>
              <a:rPr lang="en-MY" sz="3200" b="1" dirty="0" err="1">
                <a:solidFill>
                  <a:srgbClr val="0000FF"/>
                </a:solidFill>
              </a:rPr>
              <a:t>rsa</a:t>
            </a:r>
            <a:r>
              <a:rPr lang="en-MY" sz="3200" b="1" dirty="0">
                <a:solidFill>
                  <a:srgbClr val="0000FF"/>
                </a:solidFill>
              </a:rPr>
              <a:t>-probabilistic signature scheme (</a:t>
            </a:r>
            <a:r>
              <a:rPr lang="en-MY" sz="3200" b="1" dirty="0" err="1">
                <a:solidFill>
                  <a:srgbClr val="0000FF"/>
                </a:solidFill>
              </a:rPr>
              <a:t>rsa-pss</a:t>
            </a:r>
            <a:r>
              <a:rPr lang="en-MY" sz="3200" b="1" dirty="0">
                <a:solidFill>
                  <a:srgbClr val="0000FF"/>
                </a:solidFill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CAA18-07F5-3B15-1ADF-AB0FD2F62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Courier New" panose="02070309020205020404" pitchFamily="49" charset="0"/>
              <a:buChar char="o"/>
            </a:pPr>
            <a:r>
              <a:rPr lang="en-MY" sz="2200" dirty="0"/>
              <a:t>The idea of PSS was first proposed by </a:t>
            </a:r>
            <a:r>
              <a:rPr lang="en-MY" sz="2200" dirty="0" err="1"/>
              <a:t>Bellare</a:t>
            </a:r>
            <a:r>
              <a:rPr lang="en-MY" sz="2200" dirty="0"/>
              <a:t> and </a:t>
            </a:r>
            <a:r>
              <a:rPr lang="en-MY" sz="2200" dirty="0" err="1"/>
              <a:t>Rogaway</a:t>
            </a:r>
            <a:r>
              <a:rPr lang="en-MY" sz="2200" dirty="0"/>
              <a:t>.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2200" dirty="0"/>
              <a:t>This approach, unlike the other RSA-based schemes, introduces a </a:t>
            </a:r>
            <a:r>
              <a:rPr lang="en-US" sz="2200" b="1" dirty="0">
                <a:solidFill>
                  <a:srgbClr val="FF0000"/>
                </a:solidFill>
              </a:rPr>
              <a:t>randomization process </a:t>
            </a:r>
            <a:r>
              <a:rPr lang="en-US" sz="2200" dirty="0"/>
              <a:t>using </a:t>
            </a:r>
            <a:r>
              <a:rPr lang="en-US" sz="2200" b="1" dirty="0">
                <a:solidFill>
                  <a:srgbClr val="00B050"/>
                </a:solidFill>
              </a:rPr>
              <a:t>Mask Generation Function</a:t>
            </a:r>
            <a:r>
              <a:rPr lang="en-US" sz="2200" dirty="0"/>
              <a:t> (</a:t>
            </a:r>
            <a:r>
              <a:rPr lang="en-US" sz="2200" b="1" dirty="0">
                <a:solidFill>
                  <a:srgbClr val="00B050"/>
                </a:solidFill>
              </a:rPr>
              <a:t>MGF</a:t>
            </a:r>
            <a:r>
              <a:rPr lang="en-US" sz="2200" dirty="0"/>
              <a:t>) that enables the security of the method to be shown to be closely related to the security of the RSA algorithm itself.</a:t>
            </a:r>
          </a:p>
          <a:p>
            <a:pPr algn="just">
              <a:buFont typeface="Courier New" panose="02070309020205020404" pitchFamily="49" charset="0"/>
              <a:buChar char="o"/>
            </a:pPr>
            <a:endParaRPr lang="en-US" sz="2200" dirty="0"/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200" dirty="0"/>
              <a:t>The RSA-PSS is complex and hence we will not go through the algorithm here. Interested readers may search through internet and </a:t>
            </a:r>
            <a:r>
              <a:rPr lang="en-US" sz="2200" dirty="0" err="1"/>
              <a:t>Bellare</a:t>
            </a:r>
            <a:r>
              <a:rPr lang="en-US" sz="2200" dirty="0"/>
              <a:t> &amp; </a:t>
            </a:r>
            <a:r>
              <a:rPr lang="en-US" sz="2200" dirty="0" err="1"/>
              <a:t>Rogaway’s</a:t>
            </a:r>
            <a:r>
              <a:rPr lang="en-US" sz="2200" dirty="0"/>
              <a:t> paper for a detailed architecture and construction of the scheme.</a:t>
            </a:r>
          </a:p>
          <a:p>
            <a:pPr algn="just">
              <a:buFont typeface="Courier New" panose="02070309020205020404" pitchFamily="49" charset="0"/>
              <a:buChar char="o"/>
            </a:pPr>
            <a:endParaRPr lang="en-MY" sz="2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CCE9A-1B11-2175-DA9B-7412850DB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E685-1B6F-4D7C-AEF2-C9AD71EC467A}" type="datetime1">
              <a:rPr lang="en-US" smtClean="0"/>
              <a:t>6/15/2024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37BCC-DE2D-5A94-C600-EA7DA6DF9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0698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D1FAB-9F38-8A67-57AC-C16EE3DD7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4000" b="1" dirty="0"/>
              <a:t>Main References for Chapter 12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CAA18-07F5-3B15-1ADF-AB0FD2F62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sz="2400" dirty="0"/>
              <a:t>Stallings, W. “</a:t>
            </a:r>
            <a:r>
              <a:rPr lang="en-US" sz="2400" b="1" i="1" dirty="0"/>
              <a:t>Cryptography and Network Security: Principles and Practices</a:t>
            </a:r>
            <a:r>
              <a:rPr lang="en-US" sz="2400" dirty="0"/>
              <a:t>”, Fifth Edition, Pearson Prentice Hall, 2011.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altLang="ko-KR" sz="2400" dirty="0" err="1">
                <a:ea typeface="Gulim" pitchFamily="34" charset="-127"/>
              </a:rPr>
              <a:t>Forouzan</a:t>
            </a:r>
            <a:r>
              <a:rPr lang="en-US" altLang="ko-KR" sz="2400" dirty="0">
                <a:ea typeface="Gulim" pitchFamily="34" charset="-127"/>
              </a:rPr>
              <a:t>, B.A. </a:t>
            </a:r>
            <a:r>
              <a:rPr lang="en-US" sz="2400" dirty="0"/>
              <a:t>“</a:t>
            </a:r>
            <a:r>
              <a:rPr lang="en-US" sz="2400" b="1" i="1" dirty="0"/>
              <a:t>Introduction to Cryptography and Network Security</a:t>
            </a:r>
            <a:r>
              <a:rPr lang="en-US" sz="2400" dirty="0"/>
              <a:t>”, Third Edition, McGraw-Hill, 2008.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400" dirty="0"/>
          </a:p>
          <a:p>
            <a:pPr marL="457200" indent="-457200" algn="just">
              <a:buFont typeface="+mj-lt"/>
              <a:buAutoNum type="arabicPeriod"/>
            </a:pPr>
            <a:endParaRPr lang="en-MY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CCE9A-1B11-2175-DA9B-7412850DB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E685-1B6F-4D7C-AEF2-C9AD71EC467A}" type="datetime1">
              <a:rPr lang="en-US" smtClean="0"/>
              <a:t>6/15/2024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37BCC-DE2D-5A94-C600-EA7DA6DF9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047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D1FAB-9F38-8A67-57AC-C16EE3DD7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4999310"/>
          </a:xfrm>
        </p:spPr>
        <p:txBody>
          <a:bodyPr>
            <a:normAutofit/>
          </a:bodyPr>
          <a:lstStyle/>
          <a:p>
            <a:pPr algn="ctr"/>
            <a:br>
              <a:rPr lang="en-MY" sz="6000" dirty="0"/>
            </a:br>
            <a:br>
              <a:rPr lang="en-MY" sz="6000" dirty="0"/>
            </a:br>
            <a:r>
              <a:rPr lang="en-MY" sz="6000" dirty="0"/>
              <a:t>~ the end </a:t>
            </a:r>
            <a:r>
              <a:rPr lang="en-MY" sz="6000" dirty="0">
                <a:sym typeface="Wingdings" panose="05000000000000000000" pitchFamily="2" charset="2"/>
              </a:rPr>
              <a:t> ~</a:t>
            </a:r>
            <a:endParaRPr lang="en-MY" sz="6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CCE9A-1B11-2175-DA9B-7412850DB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E685-1B6F-4D7C-AEF2-C9AD71EC467A}" type="datetime1">
              <a:rPr lang="en-US" smtClean="0"/>
              <a:t>6/15/2024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37BCC-DE2D-5A94-C600-EA7DA6DF9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362228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FA374375A648B43BE2F504427ACA368" ma:contentTypeVersion="15" ma:contentTypeDescription="Create a new document." ma:contentTypeScope="" ma:versionID="013dc5019cb378d6f3b4beb94fb7cf4e">
  <xsd:schema xmlns:xsd="http://www.w3.org/2001/XMLSchema" xmlns:xs="http://www.w3.org/2001/XMLSchema" xmlns:p="http://schemas.microsoft.com/office/2006/metadata/properties" xmlns:ns2="6da64911-38d9-4b77-b6d0-85c58d59eee7" xmlns:ns3="c14bfc95-5fc1-4e5f-aee2-c8976470c7fa" targetNamespace="http://schemas.microsoft.com/office/2006/metadata/properties" ma:root="true" ma:fieldsID="ea8c4da17c1bbcf1ebea871cf52d131d" ns2:_="" ns3:_="">
    <xsd:import namespace="6da64911-38d9-4b77-b6d0-85c58d59eee7"/>
    <xsd:import namespace="c14bfc95-5fc1-4e5f-aee2-c8976470c7fa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a64911-38d9-4b77-b6d0-85c58d59eee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df6769d7-3c27-4ceb-9c12-0647dbcb441e}" ma:internalName="TaxCatchAll" ma:showField="CatchAllData" ma:web="6da64911-38d9-4b77-b6d0-85c58d59ee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4bfc95-5fc1-4e5f-aee2-c8976470c7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a47f1639-9130-493c-b0f7-7f4b51b1a9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14bfc95-5fc1-4e5f-aee2-c8976470c7fa">
      <Terms xmlns="http://schemas.microsoft.com/office/infopath/2007/PartnerControls"/>
    </lcf76f155ced4ddcb4097134ff3c332f>
    <TaxCatchAll xmlns="6da64911-38d9-4b77-b6d0-85c58d59eee7" xsi:nil="true"/>
  </documentManagement>
</p:properties>
</file>

<file path=customXml/itemProps1.xml><?xml version="1.0" encoding="utf-8"?>
<ds:datastoreItem xmlns:ds="http://schemas.openxmlformats.org/officeDocument/2006/customXml" ds:itemID="{F28EF6D7-573F-4A5C-8DFA-E56074213192}"/>
</file>

<file path=customXml/itemProps2.xml><?xml version="1.0" encoding="utf-8"?>
<ds:datastoreItem xmlns:ds="http://schemas.openxmlformats.org/officeDocument/2006/customXml" ds:itemID="{73D27D80-7668-47D2-8A86-FE5FAAA65F1D}"/>
</file>

<file path=customXml/itemProps3.xml><?xml version="1.0" encoding="utf-8"?>
<ds:datastoreItem xmlns:ds="http://schemas.openxmlformats.org/officeDocument/2006/customXml" ds:itemID="{5CD57C88-DF51-4EC0-9CC6-7657EE54371A}"/>
</file>

<file path=docProps/app.xml><?xml version="1.0" encoding="utf-8"?>
<Properties xmlns="http://schemas.openxmlformats.org/officeDocument/2006/extended-properties" xmlns:vt="http://schemas.openxmlformats.org/officeDocument/2006/docPropsVTypes">
  <TotalTime>507</TotalTime>
  <Words>2471</Words>
  <Application>Microsoft Office PowerPoint</Application>
  <PresentationFormat>Widescreen</PresentationFormat>
  <Paragraphs>247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9" baseType="lpstr">
      <vt:lpstr>Gulim</vt:lpstr>
      <vt:lpstr>Arial</vt:lpstr>
      <vt:lpstr>Calisto MT</vt:lpstr>
      <vt:lpstr>Cambria Math</vt:lpstr>
      <vt:lpstr>Courier New</vt:lpstr>
      <vt:lpstr>Univers Condensed</vt:lpstr>
      <vt:lpstr>Wingdings</vt:lpstr>
      <vt:lpstr>ChronicleVTI</vt:lpstr>
      <vt:lpstr>DIGITAL SIGNATURES  </vt:lpstr>
      <vt:lpstr>Outlines</vt:lpstr>
      <vt:lpstr>Learning objectives</vt:lpstr>
      <vt:lpstr> Introduction to digital signature</vt:lpstr>
      <vt:lpstr>Introduction to Digital signature</vt:lpstr>
      <vt:lpstr>Introduction to Digital signature </vt:lpstr>
      <vt:lpstr>Introduction to Digital signature </vt:lpstr>
      <vt:lpstr>Introduction to Digital signature –  WHY DO WE NEED IT?</vt:lpstr>
      <vt:lpstr> design of digital signature</vt:lpstr>
      <vt:lpstr>Design of digital signature – generic model (framework)</vt:lpstr>
      <vt:lpstr>Design of digital signature – generic model (framework)</vt:lpstr>
      <vt:lpstr>Design of digital signature – generic model (framework)</vt:lpstr>
      <vt:lpstr>Design of digital signature – requirements</vt:lpstr>
      <vt:lpstr>Design of digital signature – requirements</vt:lpstr>
      <vt:lpstr> design of digital signature  The RSA APPROACH</vt:lpstr>
      <vt:lpstr>Design of digital signature – the RSA APPROACH</vt:lpstr>
      <vt:lpstr>Design of digital signature – the RSA APPROACH</vt:lpstr>
      <vt:lpstr>Design of digital signature – the RSA APPROACH</vt:lpstr>
      <vt:lpstr> design of digital signature  The dss APPROACH</vt:lpstr>
      <vt:lpstr>Design of digital signature – the dss APPROACH</vt:lpstr>
      <vt:lpstr>Design of digital signature – the dss APPROACH</vt:lpstr>
      <vt:lpstr>Design of digital signature – the dss APPROACH</vt:lpstr>
      <vt:lpstr>Design of digital signature – the dss APPROACH</vt:lpstr>
      <vt:lpstr> attacks &amp; CRYPTANALYSIS ON digital signature</vt:lpstr>
      <vt:lpstr>Attacks &amp; CRYPTANALYSIS  ON DIGITAL SIGNATURE</vt:lpstr>
      <vt:lpstr>Attacks ON DIGITAL SIGNATURE</vt:lpstr>
      <vt:lpstr>Attacks ON DIGITAL SIGNATURE</vt:lpstr>
      <vt:lpstr>CRYPTANALYSIS ON DIGITAL SIGNATURE</vt:lpstr>
      <vt:lpstr>CRYPTANALYSIS ON DIGITAL SIGNATURE</vt:lpstr>
      <vt:lpstr>CRYPTANALYSIS ON DIGITAL SIGNATURE</vt:lpstr>
      <vt:lpstr>Security proof  ENCRYPTION VS DIGITAL SIGNATURE</vt:lpstr>
      <vt:lpstr> PRACTICAL digital signature SCHEMES</vt:lpstr>
      <vt:lpstr>Practical digital signature schemes –  The digital signature algorithm (dsa)</vt:lpstr>
      <vt:lpstr>Practical digital signature schemes –  The digital signature algorithm (dsa)</vt:lpstr>
      <vt:lpstr>Practical digital signature schemes –  The digital signature algorithm (dsa)</vt:lpstr>
      <vt:lpstr>The digital signature algorithm (dsa) –  Proof of correctness</vt:lpstr>
      <vt:lpstr>PowerPoint Presentation</vt:lpstr>
      <vt:lpstr>Practical digital signature schemes –  the rsa-probabilistic signature scheme (rsa-pss)</vt:lpstr>
      <vt:lpstr>Practical digital signature schemes –  the rsa-probabilistic signature scheme (rsa-pss)</vt:lpstr>
      <vt:lpstr>Main References for Chapter 12</vt:lpstr>
      <vt:lpstr>  ~ the end  ~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SIGNATURES  </dc:title>
  <dc:creator>Tea Boon Chian</dc:creator>
  <cp:lastModifiedBy>Tea Boon Chian</cp:lastModifiedBy>
  <cp:revision>2</cp:revision>
  <cp:lastPrinted>2023-12-29T04:27:31Z</cp:lastPrinted>
  <dcterms:created xsi:type="dcterms:W3CDTF">2023-12-26T00:44:09Z</dcterms:created>
  <dcterms:modified xsi:type="dcterms:W3CDTF">2024-06-14T18:07:03Z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0x0101009FA374375A648B43BE2F504427ACA368</vt:lpwstr>
  </property>
</Properties>
</file>