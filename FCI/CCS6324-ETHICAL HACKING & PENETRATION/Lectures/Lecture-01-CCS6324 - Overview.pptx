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ITC Avant Garde Gothic" panose="020B0502020202020204" pitchFamily="34" charset="77"/>
      <p:regular r:id="rId30"/>
    </p:embeddedFont>
    <p:embeddedFont>
      <p:font typeface="ITC Avant Garde Gothic Bold" panose="020B0802020202020204" pitchFamily="34" charset="77"/>
      <p:regular r:id="rId31"/>
      <p:bold r:id="rId32"/>
    </p:embeddedFont>
    <p:embeddedFont>
      <p:font typeface="TT Fors" panose="020B0003030001020000" pitchFamily="34" charset="0"/>
      <p:regular r:id="rId33"/>
    </p:embeddedFont>
    <p:embeddedFont>
      <p:font typeface="TT Fors Bold" panose="020B0003030001020000" pitchFamily="34" charset="0"/>
      <p:regular r:id="rId34"/>
      <p:bold r:id="rId35"/>
    </p:embeddedFont>
    <p:embeddedFont>
      <p:font typeface="TT Fors Italics" panose="020B0003030001020000" pitchFamily="34" charset="0"/>
      <p:regular r:id="rId36"/>
      <p: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6" autoAdjust="0"/>
    <p:restoredTop sz="94588" autoAdjust="0"/>
  </p:normalViewPr>
  <p:slideViewPr>
    <p:cSldViewPr>
      <p:cViewPr varScale="1">
        <p:scale>
          <a:sx n="91" d="100"/>
          <a:sy n="91" d="100"/>
        </p:scale>
        <p:origin x="85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CEH: Certified Ethical Hacker focuses on penetration testing.</a:t>
            </a:r>
          </a:p>
          <a:p>
            <a:endParaRPr lang="en-US"/>
          </a:p>
          <a:p>
            <a:r>
              <a:rPr lang="en-US"/>
              <a:t>OSCP: Offensive Security Certified Professional emphasizes hands-on skills.</a:t>
            </a:r>
          </a:p>
          <a:p>
            <a:endParaRPr lang="en-US"/>
          </a:p>
          <a:p>
            <a:r>
              <a:rPr lang="en-US"/>
              <a:t>PNPT: Practical Network Penetration Tester focuses on network assessments.</a:t>
            </a:r>
          </a:p>
          <a:p>
            <a:endParaRPr lang="en-US"/>
          </a:p>
          <a:p>
            <a:r>
              <a:rPr lang="en-US"/>
              <a:t>GPEN: GIAC Penetration Tester showcases advanced penetration testing knowledge.</a:t>
            </a:r>
          </a:p>
          <a:p>
            <a:endParaRPr lang="en-US"/>
          </a:p>
          <a:p>
            <a:r>
              <a:rPr lang="en-US"/>
              <a:t>GWAPT: GIAC Web Application Penetration Tester specializes in web 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Black Box Testing simulates an external attacker's perspective, providing zero knowledge of the target. This method reveals vulnerabilities without prior insights, ensuring a realistic and unbiased assessment.</a:t>
            </a:r>
          </a:p>
          <a:p>
            <a:endParaRPr lang="en-US"/>
          </a:p>
          <a:p>
            <a:r>
              <a:rPr lang="en-US"/>
              <a:t>White Box testing offers full knowledge of the target, simulating an insider threat. This approach enables comprehensive analysis and identification of vulnerabilities, resulting in efficient security assessments and remediation.</a:t>
            </a:r>
          </a:p>
          <a:p>
            <a:endParaRPr lang="en-US"/>
          </a:p>
          <a:p>
            <a:r>
              <a:rPr lang="en-US"/>
              <a:t>Grey Box testing combines elements of both Black and White Box methods. With partial knowledge of the target, it simulates a compromised account, striking a balance between realism and thoroughness.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Penetration tests vary by target, addressing network vulnerabilities, assessing web applications, evaluating wireless security, and testing defenses against social engineering. Each type requires unique methodologies for effective risk management and mitigation.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Authorization and Scope:</a:t>
            </a:r>
          </a:p>
          <a:p>
            <a:r>
              <a:rPr lang="en-US"/>
              <a:t>Clear Permission Required:</a:t>
            </a:r>
          </a:p>
          <a:p>
            <a:r>
              <a:rPr lang="en-US"/>
              <a:t>Before conducting any penetration test, it is crucial to obtain explicit written permission from the relevant authorities. This ensures that the defined scope is respected and boundaries maintained.</a:t>
            </a:r>
          </a:p>
          <a:p>
            <a:endParaRPr lang="en-US"/>
          </a:p>
          <a:p>
            <a:r>
              <a:rPr lang="en-US"/>
              <a:t>Rules of Engagement:</a:t>
            </a:r>
          </a:p>
          <a:p>
            <a:r>
              <a:rPr lang="en-US"/>
              <a:t>Essential Guidelines for Testing:</a:t>
            </a:r>
          </a:p>
          <a:p>
            <a:r>
              <a:rPr lang="en-US"/>
              <a:t>Establishing clear rules of engagement ensures effective penetration testing. Define testing timeframes, target systems, prohibited actions, and emergency contacts to maintain security and legal compliance throughout the process.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Computer Crimes Act 1997, PDPA 2010, and Communications and Multimedia Act 1998 establish legal frameworks addressing unauthorized access, data privacy, and network misuse, emphasizing strict penalties for violations in Malaysia.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Obtain Authorization:</a:t>
            </a:r>
          </a:p>
          <a:p>
            <a:r>
              <a:rPr lang="en-US"/>
              <a:t>Prior to conducting any penetration test, it’s crucial to secure explicit permission from the client. This protects both parties and ensures compliance with legal and ethical standards.</a:t>
            </a:r>
          </a:p>
          <a:p>
            <a:endParaRPr lang="en-US"/>
          </a:p>
          <a:p>
            <a:r>
              <a:rPr lang="en-US"/>
              <a:t>Respect Privacy:</a:t>
            </a:r>
          </a:p>
          <a:p>
            <a:r>
              <a:rPr lang="en-US"/>
              <a:t>Ethical hackers must avoid unnecessary data access, ensuring that they respect client confidentiality. Protecting sensitive information is vital to maintaining trust and integrity in professional interactions.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Overview of Recent Local Threats:</a:t>
            </a:r>
          </a:p>
          <a:p>
            <a:r>
              <a:rPr lang="en-US"/>
              <a:t>Malaysia has faced significant cybersecurity challenges, including the MCMC data leak and ongoing banking sector phishing scams, resulting in serious financial losses and compromised user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Overview of Recent Local Threats:</a:t>
            </a:r>
          </a:p>
          <a:p>
            <a:r>
              <a:rPr lang="en-US"/>
              <a:t>Malaysia has faced significant cybersecurity challenges, including the MCMC data leak and ongoing banking sector phishing scams, resulting in serious financial losses and compromised user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Black Box Testing simulates an external attacker's perspective, providing zero knowledge of the target. This method reveals vulnerabilities without prior insights, ensuring a realistic and unbiased assessment.</a:t>
            </a:r>
          </a:p>
          <a:p>
            <a:endParaRPr lang="en-US"/>
          </a:p>
          <a:p>
            <a:r>
              <a:rPr lang="en-US"/>
              <a:t>White Box testing offers full knowledge of the target, simulating an insider threat. This approach enables comprehensive analysis and identification of vulnerabilities, resulting in efficient security assessments and remediation.</a:t>
            </a:r>
          </a:p>
          <a:p>
            <a:endParaRPr lang="en-US"/>
          </a:p>
          <a:p>
            <a:r>
              <a:rPr lang="en-US"/>
              <a:t>Grey Box testing combines elements of both Black and White Box methods. With partial knowledge of the target, it simulates a compromised account, striking a balance between realism and thoroughness.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Authorization and Scope:</a:t>
            </a:r>
          </a:p>
          <a:p>
            <a:r>
              <a:rPr lang="en-US"/>
              <a:t>Clear Permission Required:</a:t>
            </a:r>
          </a:p>
          <a:p>
            <a:r>
              <a:rPr lang="en-US"/>
              <a:t>Before conducting any penetration test, it is crucial to obtain explicit written permission from the relevant authorities. This ensures that the defined scope is respected and boundaries maintained.</a:t>
            </a:r>
          </a:p>
          <a:p>
            <a:endParaRPr lang="en-US"/>
          </a:p>
          <a:p>
            <a:r>
              <a:rPr lang="en-US"/>
              <a:t>Rules of Engagement:</a:t>
            </a:r>
          </a:p>
          <a:p>
            <a:r>
              <a:rPr lang="en-US"/>
              <a:t>Essential Guidelines for Testing:</a:t>
            </a:r>
          </a:p>
          <a:p>
            <a:r>
              <a:rPr lang="en-US"/>
              <a:t>Establishing clear rules of engagement ensures effective penetration testing. Define testing timeframes, target systems, prohibited actions, and emergency contacts to maintain security and legal compliance throughout the process.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Overview of Recent Local Threats:</a:t>
            </a:r>
          </a:p>
          <a:p>
            <a:r>
              <a:rPr lang="en-US"/>
              <a:t>Malaysia has faced significant cybersecurity challenges, including the MCMC data leak and ongoing banking sector phishing scams, resulting in serious financial losses and compromised user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Overview of Recent Local Threats:</a:t>
            </a:r>
          </a:p>
          <a:p>
            <a:r>
              <a:rPr lang="en-US"/>
              <a:t>Malaysia has faced significant cybersecurity challenges, including the MCMC data leak and ongoing banking sector phishing scams, resulting in serious financial losses and compromised user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Overview of Recent Local Threats:</a:t>
            </a:r>
          </a:p>
          <a:p>
            <a:r>
              <a:rPr lang="en-US"/>
              <a:t>Malaysia has faced significant cybersecurity challenges, including the MCMC data leak and ongoing banking sector phishing scams, resulting in serious financial losses and compromised user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svg"/><Relationship Id="rId7"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8.sv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9.png"/><Relationship Id="rId9"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1877675"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t="-126" b="-126"/>
              </a:stretch>
            </a:blipFill>
          </p:spPr>
          <p:txBody>
            <a:bodyPr/>
            <a:lstStyle/>
            <a:p>
              <a:endParaRPr lang="en-US"/>
            </a:p>
          </p:txBody>
        </p:sp>
      </p:grpSp>
      <p:grpSp>
        <p:nvGrpSpPr>
          <p:cNvPr id="4" name="Group 4"/>
          <p:cNvGrpSpPr/>
          <p:nvPr/>
        </p:nvGrpSpPr>
        <p:grpSpPr>
          <a:xfrm>
            <a:off x="9444829" y="7828295"/>
            <a:ext cx="4846643" cy="1793210"/>
            <a:chOff x="0" y="0"/>
            <a:chExt cx="6462190" cy="2390946"/>
          </a:xfrm>
        </p:grpSpPr>
        <p:grpSp>
          <p:nvGrpSpPr>
            <p:cNvPr id="5" name="Group 5"/>
            <p:cNvGrpSpPr/>
            <p:nvPr/>
          </p:nvGrpSpPr>
          <p:grpSpPr>
            <a:xfrm>
              <a:off x="0" y="1673"/>
              <a:ext cx="2389273" cy="23892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20326" y="458807"/>
              <a:ext cx="1897113" cy="1475005"/>
            </a:xfrm>
            <a:custGeom>
              <a:avLst/>
              <a:gdLst/>
              <a:ahLst/>
              <a:cxnLst/>
              <a:rect l="l" t="t" r="r" b="b"/>
              <a:pathLst>
                <a:path w="1897113" h="1475005">
                  <a:moveTo>
                    <a:pt x="0" y="0"/>
                  </a:moveTo>
                  <a:lnTo>
                    <a:pt x="1897113" y="0"/>
                  </a:lnTo>
                  <a:lnTo>
                    <a:pt x="1897113" y="1475005"/>
                  </a:lnTo>
                  <a:lnTo>
                    <a:pt x="0" y="14750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022118" y="1411744"/>
              <a:ext cx="344328" cy="344328"/>
            </a:xfrm>
            <a:custGeom>
              <a:avLst/>
              <a:gdLst/>
              <a:ahLst/>
              <a:cxnLst/>
              <a:rect l="l" t="t" r="r" b="b"/>
              <a:pathLst>
                <a:path w="344328" h="344328">
                  <a:moveTo>
                    <a:pt x="0" y="0"/>
                  </a:moveTo>
                  <a:lnTo>
                    <a:pt x="344328" y="0"/>
                  </a:lnTo>
                  <a:lnTo>
                    <a:pt x="344328" y="344328"/>
                  </a:lnTo>
                  <a:lnTo>
                    <a:pt x="0" y="344328"/>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2023759" y="0"/>
              <a:ext cx="2389273" cy="238927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257139" y="458807"/>
              <a:ext cx="1897113" cy="1475005"/>
            </a:xfrm>
            <a:custGeom>
              <a:avLst/>
              <a:gdLst/>
              <a:ahLst/>
              <a:cxnLst/>
              <a:rect l="l" t="t" r="r" b="b"/>
              <a:pathLst>
                <a:path w="1897113" h="1475005">
                  <a:moveTo>
                    <a:pt x="0" y="0"/>
                  </a:moveTo>
                  <a:lnTo>
                    <a:pt x="1897113" y="0"/>
                  </a:lnTo>
                  <a:lnTo>
                    <a:pt x="1897113" y="1475005"/>
                  </a:lnTo>
                  <a:lnTo>
                    <a:pt x="0" y="14750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3058931" y="1411744"/>
              <a:ext cx="344328" cy="344328"/>
            </a:xfrm>
            <a:custGeom>
              <a:avLst/>
              <a:gdLst/>
              <a:ahLst/>
              <a:cxnLst/>
              <a:rect l="l" t="t" r="r" b="b"/>
              <a:pathLst>
                <a:path w="344328" h="344328">
                  <a:moveTo>
                    <a:pt x="0" y="0"/>
                  </a:moveTo>
                  <a:lnTo>
                    <a:pt x="344328" y="0"/>
                  </a:lnTo>
                  <a:lnTo>
                    <a:pt x="344328" y="344328"/>
                  </a:lnTo>
                  <a:lnTo>
                    <a:pt x="0" y="344328"/>
                  </a:lnTo>
                  <a:lnTo>
                    <a:pt x="0" y="0"/>
                  </a:lnTo>
                  <a:close/>
                </a:path>
              </a:pathLst>
            </a:custGeom>
            <a:blipFill>
              <a:blip r:embed="rId5"/>
              <a:stretch>
                <a:fillRect/>
              </a:stretch>
            </a:blipFill>
          </p:spPr>
          <p:txBody>
            <a:bodyPr/>
            <a:lstStyle/>
            <a:p>
              <a:endParaRPr lang="en-US"/>
            </a:p>
          </p:txBody>
        </p:sp>
        <p:grpSp>
          <p:nvGrpSpPr>
            <p:cNvPr id="15" name="Group 15"/>
            <p:cNvGrpSpPr/>
            <p:nvPr/>
          </p:nvGrpSpPr>
          <p:grpSpPr>
            <a:xfrm>
              <a:off x="4072917" y="0"/>
              <a:ext cx="2389273" cy="238927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4293597" y="458807"/>
              <a:ext cx="1897113" cy="1475005"/>
            </a:xfrm>
            <a:custGeom>
              <a:avLst/>
              <a:gdLst/>
              <a:ahLst/>
              <a:cxnLst/>
              <a:rect l="l" t="t" r="r" b="b"/>
              <a:pathLst>
                <a:path w="1897113" h="1475005">
                  <a:moveTo>
                    <a:pt x="0" y="0"/>
                  </a:moveTo>
                  <a:lnTo>
                    <a:pt x="1897113" y="0"/>
                  </a:lnTo>
                  <a:lnTo>
                    <a:pt x="1897113" y="1475005"/>
                  </a:lnTo>
                  <a:lnTo>
                    <a:pt x="0" y="14750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5095390" y="1411744"/>
              <a:ext cx="344328" cy="344328"/>
            </a:xfrm>
            <a:custGeom>
              <a:avLst/>
              <a:gdLst/>
              <a:ahLst/>
              <a:cxnLst/>
              <a:rect l="l" t="t" r="r" b="b"/>
              <a:pathLst>
                <a:path w="344328" h="344328">
                  <a:moveTo>
                    <a:pt x="0" y="0"/>
                  </a:moveTo>
                  <a:lnTo>
                    <a:pt x="344327" y="0"/>
                  </a:lnTo>
                  <a:lnTo>
                    <a:pt x="344327" y="344328"/>
                  </a:lnTo>
                  <a:lnTo>
                    <a:pt x="0" y="344328"/>
                  </a:lnTo>
                  <a:lnTo>
                    <a:pt x="0" y="0"/>
                  </a:lnTo>
                  <a:close/>
                </a:path>
              </a:pathLst>
            </a:custGeom>
            <a:blipFill>
              <a:blip r:embed="rId5"/>
              <a:stretch>
                <a:fillRect/>
              </a:stretch>
            </a:blipFill>
          </p:spPr>
          <p:txBody>
            <a:bodyPr/>
            <a:lstStyle/>
            <a:p>
              <a:endParaRPr lang="en-US"/>
            </a:p>
          </p:txBody>
        </p:sp>
      </p:grpSp>
      <p:sp>
        <p:nvSpPr>
          <p:cNvPr id="20" name="TextBox 20"/>
          <p:cNvSpPr txBox="1"/>
          <p:nvPr/>
        </p:nvSpPr>
        <p:spPr>
          <a:xfrm>
            <a:off x="666750" y="1552575"/>
            <a:ext cx="9763125" cy="2797174"/>
          </a:xfrm>
          <a:prstGeom prst="rect">
            <a:avLst/>
          </a:prstGeom>
        </p:spPr>
        <p:txBody>
          <a:bodyPr lIns="0" tIns="0" rIns="0" bIns="0" rtlCol="0" anchor="t">
            <a:spAutoFit/>
          </a:bodyPr>
          <a:lstStyle/>
          <a:p>
            <a:pPr marL="0" lvl="0" indent="0" algn="l">
              <a:lnSpc>
                <a:spcPts val="9999"/>
              </a:lnSpc>
            </a:pPr>
            <a:r>
              <a:rPr lang="en-US" sz="9999" spc="-299">
                <a:solidFill>
                  <a:srgbClr val="00FFA8"/>
                </a:solidFill>
                <a:latin typeface="ITC Avant Garde Gothic"/>
                <a:ea typeface="ITC Avant Garde Gothic"/>
                <a:cs typeface="ITC Avant Garde Gothic"/>
                <a:sym typeface="ITC Avant Garde Gothic"/>
              </a:rPr>
              <a:t>Ethical Hacking Overview</a:t>
            </a:r>
          </a:p>
        </p:txBody>
      </p:sp>
      <p:sp>
        <p:nvSpPr>
          <p:cNvPr id="21" name="TextBox 21"/>
          <p:cNvSpPr txBox="1"/>
          <p:nvPr/>
        </p:nvSpPr>
        <p:spPr>
          <a:xfrm>
            <a:off x="666750" y="561975"/>
            <a:ext cx="9763125" cy="495935"/>
          </a:xfrm>
          <a:prstGeom prst="rect">
            <a:avLst/>
          </a:prstGeom>
        </p:spPr>
        <p:txBody>
          <a:bodyPr lIns="0" tIns="0" rIns="0" bIns="0" rtlCol="0" anchor="t">
            <a:spAutoFit/>
          </a:bodyPr>
          <a:lstStyle/>
          <a:p>
            <a:pPr marL="0" lvl="0" indent="0" algn="l">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id="22" name="TextBox 22"/>
          <p:cNvSpPr txBox="1"/>
          <p:nvPr/>
        </p:nvSpPr>
        <p:spPr>
          <a:xfrm>
            <a:off x="666750" y="5019675"/>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id="23" name="TextBox 23"/>
          <p:cNvSpPr txBox="1"/>
          <p:nvPr/>
        </p:nvSpPr>
        <p:spPr>
          <a:xfrm>
            <a:off x="666750" y="4538980"/>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id="24" name="TextBox 24"/>
          <p:cNvSpPr txBox="1"/>
          <p:nvPr/>
        </p:nvSpPr>
        <p:spPr>
          <a:xfrm>
            <a:off x="663474" y="9181465"/>
            <a:ext cx="7194651" cy="438785"/>
          </a:xfrm>
          <a:prstGeom prst="rect">
            <a:avLst/>
          </a:prstGeom>
        </p:spPr>
        <p:txBody>
          <a:bodyPr lIns="0" tIns="0" rIns="0" bIns="0" rtlCol="0" anchor="t">
            <a:spAutoFit/>
          </a:bodyPr>
          <a:lstStyle/>
          <a:p>
            <a:pPr marL="0" lvl="0" indent="0" algn="l">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2533260"/>
            <a:ext cx="16592550" cy="65646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u="none" strike="noStrike" spc="-95">
                <a:solidFill>
                  <a:srgbClr val="00FFA8"/>
                </a:solidFill>
                <a:latin typeface="TT Fors"/>
                <a:ea typeface="TT Fors"/>
                <a:cs typeface="TT Fors"/>
                <a:sym typeface="TT Fors"/>
              </a:rPr>
              <a:t>rinciples. The knowledge and techniques acquired must be used responsibly and not for any illegal or unauthorized activities.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Each student is solely responsible for their actions.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Do not investigate individuals, websites, servers or conduct any illegal activities on any system you do not have permission to analyze.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The course content has been developed in good faith, drawing from the author’s experience and reputable sources. While every effort has been made to ensure accuracy, the author does not guarantee absolute correctness. Students are encouraged to exercise discretion and actively engage in discussions by raising any questions or concerns during the course.</a:t>
            </a:r>
          </a:p>
        </p:txBody>
      </p:sp>
      <p:sp>
        <p:nvSpPr>
          <p:cNvPr id="3" name="TextBox 3"/>
          <p:cNvSpPr txBox="1"/>
          <p:nvPr/>
        </p:nvSpPr>
        <p:spPr>
          <a:xfrm>
            <a:off x="666750" y="657225"/>
            <a:ext cx="11201400" cy="1222376"/>
          </a:xfrm>
          <a:prstGeom prst="rect">
            <a:avLst/>
          </a:prstGeom>
        </p:spPr>
        <p:txBody>
          <a:bodyPr lIns="0" tIns="0" rIns="0" bIns="0" rtlCol="0" anchor="t">
            <a:spAutoFit/>
          </a:bodyPr>
          <a:lstStyle/>
          <a:p>
            <a:pPr marL="0" lvl="0" indent="0" algn="l">
              <a:lnSpc>
                <a:spcPts val="8000"/>
              </a:lnSpc>
              <a:spcBef>
                <a:spcPct val="0"/>
              </a:spcBef>
            </a:pPr>
            <a:r>
              <a:rPr lang="en-US" sz="8000" spc="-240">
                <a:solidFill>
                  <a:srgbClr val="00FFA8"/>
                </a:solidFill>
                <a:latin typeface="ITC Avant Garde Gothic"/>
                <a:ea typeface="ITC Avant Garde Gothic"/>
                <a:cs typeface="ITC Avant Garde Gothic"/>
                <a:sym typeface="ITC Avant Garde Gothic"/>
              </a:rPr>
              <a:t>DISC</a:t>
            </a:r>
            <a:r>
              <a:rPr lang="en-US" sz="8000" u="none" strike="noStrike" spc="-240">
                <a:solidFill>
                  <a:srgbClr val="00FFA8"/>
                </a:solidFill>
                <a:latin typeface="ITC Avant Garde Gothic"/>
                <a:ea typeface="ITC Avant Garde Gothic"/>
                <a:cs typeface="ITC Avant Garde Gothic"/>
                <a:sym typeface="ITC Avant Garde Gothic"/>
              </a:rPr>
              <a:t>LAIMER</a:t>
            </a:r>
          </a:p>
        </p:txBody>
      </p:sp>
      <p:grpSp>
        <p:nvGrpSpPr>
          <p:cNvPr id="4" name="Group 4"/>
          <p:cNvGrpSpPr/>
          <p:nvPr/>
        </p:nvGrpSpPr>
        <p:grpSpPr>
          <a:xfrm>
            <a:off x="15430500" y="751544"/>
            <a:ext cx="2190750" cy="810556"/>
            <a:chOff x="0" y="0"/>
            <a:chExt cx="2921000" cy="1080741"/>
          </a:xfrm>
        </p:grpSpPr>
        <p:grpSp>
          <p:nvGrpSpPr>
            <p:cNvPr id="5" name="Group 5"/>
            <p:cNvGrpSpPr/>
            <p:nvPr/>
          </p:nvGrpSpPr>
          <p:grpSpPr>
            <a:xfrm>
              <a:off x="0" y="756"/>
              <a:ext cx="1079985" cy="107998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8" name="Freeform 8"/>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914767" y="0"/>
              <a:ext cx="1079985" cy="107998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3" name="Freeform 13"/>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15" name="Group 15"/>
            <p:cNvGrpSpPr/>
            <p:nvPr/>
          </p:nvGrpSpPr>
          <p:grpSpPr>
            <a:xfrm>
              <a:off x="1841015" y="0"/>
              <a:ext cx="1079985" cy="107998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8" name="Freeform 18"/>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8208320"/>
            <a:ext cx="16954500" cy="1513288"/>
            <a:chOff x="0" y="-150"/>
            <a:chExt cx="4465332" cy="398571"/>
          </a:xfrm>
        </p:grpSpPr>
        <p:sp>
          <p:nvSpPr>
            <p:cNvPr id="3" name="Freeform 3"/>
            <p:cNvSpPr/>
            <p:nvPr/>
          </p:nvSpPr>
          <p:spPr>
            <a:xfrm>
              <a:off x="0" y="0"/>
              <a:ext cx="4465332" cy="398421"/>
            </a:xfrm>
            <a:custGeom>
              <a:avLst/>
              <a:gdLst/>
              <a:ahLst/>
              <a:cxnLst/>
              <a:rect l="l" t="t" r="r" b="b"/>
              <a:pathLst>
                <a:path w="4465332" h="398421">
                  <a:moveTo>
                    <a:pt x="4465332" y="9133"/>
                  </a:moveTo>
                  <a:lnTo>
                    <a:pt x="4465332" y="389289"/>
                  </a:lnTo>
                  <a:cubicBezTo>
                    <a:pt x="4465332" y="391711"/>
                    <a:pt x="4464370" y="394034"/>
                    <a:pt x="4462657" y="395746"/>
                  </a:cubicBezTo>
                  <a:cubicBezTo>
                    <a:pt x="4460944" y="397459"/>
                    <a:pt x="4458622" y="398421"/>
                    <a:pt x="4456200" y="398421"/>
                  </a:cubicBezTo>
                  <a:lnTo>
                    <a:pt x="9133" y="398421"/>
                  </a:lnTo>
                  <a:cubicBezTo>
                    <a:pt x="6710" y="398421"/>
                    <a:pt x="4388" y="397459"/>
                    <a:pt x="2675" y="395746"/>
                  </a:cubicBezTo>
                  <a:cubicBezTo>
                    <a:pt x="962" y="394034"/>
                    <a:pt x="0" y="391711"/>
                    <a:pt x="0" y="38928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4" name="TextBox 4"/>
            <p:cNvSpPr txBox="1"/>
            <p:nvPr/>
          </p:nvSpPr>
          <p:spPr>
            <a:xfrm>
              <a:off x="0" y="-150"/>
              <a:ext cx="4465332" cy="398570"/>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Learning Outcomes:</a:t>
              </a:r>
              <a:r>
                <a:rPr lang="en-US" sz="2800" spc="-84" dirty="0">
                  <a:solidFill>
                    <a:srgbClr val="FFFFFF"/>
                  </a:solidFill>
                  <a:latin typeface="TT Fors"/>
                  <a:ea typeface="TT Fors"/>
                  <a:cs typeface="TT Fors"/>
                  <a:sym typeface="TT Fors"/>
                </a:rPr>
                <a:t> By the end of this lecture, you will understand the fundamentals of ethical hacking, legal boundaries, and penetration testing frameworks.</a:t>
              </a:r>
            </a:p>
          </p:txBody>
        </p:sp>
      </p:grpSp>
      <p:sp>
        <p:nvSpPr>
          <p:cNvPr id="5" name="TextBox 5"/>
          <p:cNvSpPr txBox="1"/>
          <p:nvPr/>
        </p:nvSpPr>
        <p:spPr>
          <a:xfrm>
            <a:off x="666750" y="2533260"/>
            <a:ext cx="13978289" cy="3564255"/>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Introduction to Ethical Hacking &amp; Cyb</a:t>
            </a:r>
            <a:r>
              <a:rPr lang="en-US" sz="3199" u="none" strike="noStrike" spc="-95">
                <a:solidFill>
                  <a:srgbClr val="00FFA8"/>
                </a:solidFill>
                <a:latin typeface="TT Fors"/>
                <a:ea typeface="TT Fors"/>
                <a:cs typeface="TT Fors"/>
                <a:sym typeface="TT Fors"/>
              </a:rPr>
              <a:t>ersecurity Landscape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The Role of Security and Penetration Testers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Penetration-Testing Methodologies (PTES, OWASP, NIST)</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Categories and Types of Penetration Tests (Black/White/Grey box)</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Legal and Ethical Considerations - Law of the land</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Recent Hacking Incidents and Case Studies</a:t>
            </a:r>
          </a:p>
        </p:txBody>
      </p:sp>
      <p:sp>
        <p:nvSpPr>
          <p:cNvPr id="6" name="TextBox 6"/>
          <p:cNvSpPr txBox="1"/>
          <p:nvPr/>
        </p:nvSpPr>
        <p:spPr>
          <a:xfrm>
            <a:off x="666750" y="657225"/>
            <a:ext cx="11201400"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Learning Objectives</a:t>
            </a:r>
          </a:p>
        </p:txBody>
      </p:sp>
      <p:grpSp>
        <p:nvGrpSpPr>
          <p:cNvPr id="7" name="Group 7"/>
          <p:cNvGrpSpPr/>
          <p:nvPr/>
        </p:nvGrpSpPr>
        <p:grpSpPr>
          <a:xfrm>
            <a:off x="15430500" y="751544"/>
            <a:ext cx="2190750" cy="810556"/>
            <a:chOff x="0" y="0"/>
            <a:chExt cx="2921000" cy="1080741"/>
          </a:xfrm>
        </p:grpSpPr>
        <p:grpSp>
          <p:nvGrpSpPr>
            <p:cNvPr id="8" name="Group 8"/>
            <p:cNvGrpSpPr/>
            <p:nvPr/>
          </p:nvGrpSpPr>
          <p:grpSpPr>
            <a:xfrm>
              <a:off x="0" y="756"/>
              <a:ext cx="1079985" cy="107998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1" name="Freeform 11"/>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13" name="Group 13"/>
            <p:cNvGrpSpPr/>
            <p:nvPr/>
          </p:nvGrpSpPr>
          <p:grpSpPr>
            <a:xfrm>
              <a:off x="914767" y="0"/>
              <a:ext cx="1079985" cy="107998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6" name="Freeform 16"/>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18" name="Group 18"/>
            <p:cNvGrpSpPr/>
            <p:nvPr/>
          </p:nvGrpSpPr>
          <p:grpSpPr>
            <a:xfrm>
              <a:off x="1841015" y="0"/>
              <a:ext cx="1079985" cy="107998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0" name="TextBox 20"/>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1" name="Freeform 21"/>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2" name="Freeform 22"/>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4564502"/>
            <a:ext cx="6886575" cy="3099436"/>
            <a:chOff x="0" y="0"/>
            <a:chExt cx="9182100" cy="4132581"/>
          </a:xfrm>
        </p:grpSpPr>
        <p:sp>
          <p:nvSpPr>
            <p:cNvPr id="3" name="TextBox 3"/>
            <p:cNvSpPr txBox="1"/>
            <p:nvPr/>
          </p:nvSpPr>
          <p:spPr>
            <a:xfrm>
              <a:off x="0" y="868257"/>
              <a:ext cx="9182100"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00FFA8"/>
                  </a:solidFill>
                  <a:latin typeface="TT Fors"/>
                  <a:ea typeface="TT Fors"/>
                  <a:cs typeface="TT Fors"/>
                  <a:sym typeface="TT Fors"/>
                </a:rPr>
                <a:t>Unauthorized access</a:t>
              </a:r>
            </a:p>
            <a:p>
              <a:pPr marL="604519" lvl="1" indent="-302260" algn="l">
                <a:lnSpc>
                  <a:spcPts val="3919"/>
                </a:lnSpc>
                <a:buFont typeface="Arial"/>
                <a:buChar char="•"/>
              </a:pPr>
              <a:r>
                <a:rPr lang="en-US" sz="2799">
                  <a:solidFill>
                    <a:srgbClr val="00FFA8"/>
                  </a:solidFill>
                  <a:latin typeface="TT Fors"/>
                  <a:ea typeface="TT Fors"/>
                  <a:cs typeface="TT Fors"/>
                  <a:sym typeface="TT Fors"/>
                </a:rPr>
                <a:t>Criminal intent</a:t>
              </a:r>
            </a:p>
            <a:p>
              <a:pPr marL="604519" lvl="1" indent="-302260" algn="l">
                <a:lnSpc>
                  <a:spcPts val="3919"/>
                </a:lnSpc>
                <a:buFont typeface="Arial"/>
                <a:buChar char="•"/>
              </a:pPr>
              <a:r>
                <a:rPr lang="en-US" sz="2799">
                  <a:solidFill>
                    <a:srgbClr val="00FFA8"/>
                  </a:solidFill>
                  <a:latin typeface="TT Fors"/>
                  <a:ea typeface="TT Fors"/>
                  <a:cs typeface="TT Fors"/>
                  <a:sym typeface="TT Fors"/>
                </a:rPr>
                <a:t>Data theft/destruction</a:t>
              </a:r>
            </a:p>
            <a:p>
              <a:pPr marL="604519" lvl="1" indent="-302260" algn="l">
                <a:lnSpc>
                  <a:spcPts val="3919"/>
                </a:lnSpc>
                <a:buFont typeface="Arial"/>
                <a:buChar char="•"/>
              </a:pPr>
              <a:r>
                <a:rPr lang="en-US" sz="2799">
                  <a:solidFill>
                    <a:srgbClr val="00FFA8"/>
                  </a:solidFill>
                  <a:latin typeface="TT Fors"/>
                  <a:ea typeface="TT Fors"/>
                  <a:cs typeface="TT Fors"/>
                  <a:sym typeface="TT Fors"/>
                </a:rPr>
                <a:t>Financial gain</a:t>
              </a:r>
            </a:p>
            <a:p>
              <a:pPr marL="604519" lvl="1" indent="-302260" algn="l">
                <a:lnSpc>
                  <a:spcPts val="3919"/>
                </a:lnSpc>
                <a:buFont typeface="Arial"/>
                <a:buChar char="•"/>
              </a:pPr>
              <a:r>
                <a:rPr lang="en-US" sz="2799">
                  <a:solidFill>
                    <a:srgbClr val="00FFA8"/>
                  </a:solidFill>
                  <a:latin typeface="TT Fors"/>
                  <a:ea typeface="TT Fors"/>
                  <a:cs typeface="TT Fors"/>
                  <a:sym typeface="TT Fors"/>
                </a:rPr>
                <a:t>Illegal activities</a:t>
              </a:r>
            </a:p>
          </p:txBody>
        </p:sp>
        <p:sp>
          <p:nvSpPr>
            <p:cNvPr id="4" name="TextBox 4"/>
            <p:cNvSpPr txBox="1"/>
            <p:nvPr/>
          </p:nvSpPr>
          <p:spPr>
            <a:xfrm>
              <a:off x="0" y="-238125"/>
              <a:ext cx="9182100" cy="884132"/>
            </a:xfrm>
            <a:prstGeom prst="rect">
              <a:avLst/>
            </a:prstGeom>
          </p:spPr>
          <p:txBody>
            <a:bodyPr lIns="0" tIns="0" rIns="0" bIns="0" rtlCol="0" anchor="t">
              <a:spAutoFit/>
            </a:bodyPr>
            <a:lstStyle/>
            <a:p>
              <a:pPr algn="l">
                <a:lnSpc>
                  <a:spcPts val="6399"/>
                </a:lnSpc>
              </a:pPr>
              <a:r>
                <a:rPr lang="en-US" sz="3199" b="1" u="none" strike="noStrike" spc="-95">
                  <a:solidFill>
                    <a:srgbClr val="00FFA8"/>
                  </a:solidFill>
                  <a:latin typeface="TT Fors Bold"/>
                  <a:ea typeface="TT Fors Bold"/>
                  <a:cs typeface="TT Fors Bold"/>
                  <a:sym typeface="TT Fors Bold"/>
                </a:rPr>
                <a:t>Malicious Hacking</a:t>
              </a:r>
            </a:p>
          </p:txBody>
        </p:sp>
      </p:grpSp>
      <p:grpSp>
        <p:nvGrpSpPr>
          <p:cNvPr id="5" name="Group 5"/>
          <p:cNvGrpSpPr/>
          <p:nvPr/>
        </p:nvGrpSpPr>
        <p:grpSpPr>
          <a:xfrm>
            <a:off x="9296400" y="4564502"/>
            <a:ext cx="6886575" cy="3099436"/>
            <a:chOff x="0" y="0"/>
            <a:chExt cx="9182100" cy="4132581"/>
          </a:xfrm>
        </p:grpSpPr>
        <p:sp>
          <p:nvSpPr>
            <p:cNvPr id="6" name="TextBox 6"/>
            <p:cNvSpPr txBox="1"/>
            <p:nvPr/>
          </p:nvSpPr>
          <p:spPr>
            <a:xfrm>
              <a:off x="0" y="868257"/>
              <a:ext cx="9182100"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Authorized access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Security improvement</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Vulnerability discovery</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Protect organizations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Legal &amp; documented</a:t>
              </a:r>
            </a:p>
          </p:txBody>
        </p:sp>
        <p:sp>
          <p:nvSpPr>
            <p:cNvPr id="7" name="TextBox 7"/>
            <p:cNvSpPr txBox="1"/>
            <p:nvPr/>
          </p:nvSpPr>
          <p:spPr>
            <a:xfrm>
              <a:off x="0" y="-238125"/>
              <a:ext cx="9182100" cy="884132"/>
            </a:xfrm>
            <a:prstGeom prst="rect">
              <a:avLst/>
            </a:prstGeom>
          </p:spPr>
          <p:txBody>
            <a:bodyPr lIns="0" tIns="0" rIns="0" bIns="0" rtlCol="0" anchor="t">
              <a:spAutoFit/>
            </a:bodyPr>
            <a:lstStyle/>
            <a:p>
              <a:pPr marL="0" lvl="1" indent="0" algn="l">
                <a:lnSpc>
                  <a:spcPts val="6399"/>
                </a:lnSpc>
                <a:spcBef>
                  <a:spcPct val="0"/>
                </a:spcBef>
              </a:pPr>
              <a:r>
                <a:rPr lang="en-US" sz="3199" b="1" u="none" strike="noStrike" spc="-95">
                  <a:solidFill>
                    <a:srgbClr val="00FFA8"/>
                  </a:solidFill>
                  <a:latin typeface="TT Fors Bold"/>
                  <a:ea typeface="TT Fors Bold"/>
                  <a:cs typeface="TT Fors Bold"/>
                  <a:sym typeface="TT Fors Bold"/>
                </a:rPr>
                <a:t>Ethical Hacking</a:t>
              </a:r>
            </a:p>
          </p:txBody>
        </p:sp>
      </p:grpSp>
      <p:sp>
        <p:nvSpPr>
          <p:cNvPr id="8" name="TextBox 8"/>
          <p:cNvSpPr txBox="1"/>
          <p:nvPr/>
        </p:nvSpPr>
        <p:spPr>
          <a:xfrm>
            <a:off x="666750" y="657225"/>
            <a:ext cx="13911071"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What is Ethical Hacking?</a:t>
            </a:r>
          </a:p>
        </p:txBody>
      </p:sp>
      <p:sp>
        <p:nvSpPr>
          <p:cNvPr id="9" name="TextBox 9"/>
          <p:cNvSpPr txBox="1"/>
          <p:nvPr/>
        </p:nvSpPr>
        <p:spPr>
          <a:xfrm>
            <a:off x="666750" y="2952750"/>
            <a:ext cx="16954500" cy="971550"/>
          </a:xfrm>
          <a:prstGeom prst="rect">
            <a:avLst/>
          </a:prstGeom>
        </p:spPr>
        <p:txBody>
          <a:bodyPr lIns="0" tIns="0" rIns="0" bIns="0" rtlCol="0" anchor="t">
            <a:spAutoFit/>
          </a:bodyPr>
          <a:lstStyle/>
          <a:p>
            <a:pPr marL="0" lvl="0" indent="0" algn="l">
              <a:lnSpc>
                <a:spcPts val="3839"/>
              </a:lnSpc>
              <a:spcBef>
                <a:spcPct val="0"/>
              </a:spcBef>
            </a:pPr>
            <a:r>
              <a:rPr lang="en-US" sz="3199" spc="-95">
                <a:solidFill>
                  <a:srgbClr val="00FFA8"/>
                </a:solidFill>
                <a:latin typeface="TT Fors"/>
                <a:ea typeface="TT Fors"/>
                <a:cs typeface="TT Fors"/>
                <a:sym typeface="TT Fors"/>
              </a:rPr>
              <a:t>Ethical Hacki</a:t>
            </a:r>
            <a:r>
              <a:rPr lang="en-US" sz="3199" u="none" strike="noStrike" spc="-95">
                <a:solidFill>
                  <a:srgbClr val="00FFA8"/>
                </a:solidFill>
                <a:latin typeface="TT Fors"/>
                <a:ea typeface="TT Fors"/>
                <a:cs typeface="TT Fors"/>
                <a:sym typeface="TT Fors"/>
              </a:rPr>
              <a:t>ng is the authorized practice of bypassing system security to identify potential data breaches and threats in a network.</a:t>
            </a:r>
          </a:p>
        </p:txBody>
      </p:sp>
      <p:grpSp>
        <p:nvGrpSpPr>
          <p:cNvPr id="10" name="Group 10"/>
          <p:cNvGrpSpPr/>
          <p:nvPr/>
        </p:nvGrpSpPr>
        <p:grpSpPr>
          <a:xfrm>
            <a:off x="666750" y="8191501"/>
            <a:ext cx="16954500" cy="1530107"/>
            <a:chOff x="0" y="-4580"/>
            <a:chExt cx="4465332" cy="403001"/>
          </a:xfrm>
        </p:grpSpPr>
        <p:sp>
          <p:nvSpPr>
            <p:cNvPr id="11" name="Freeform 11"/>
            <p:cNvSpPr/>
            <p:nvPr/>
          </p:nvSpPr>
          <p:spPr>
            <a:xfrm>
              <a:off x="0" y="0"/>
              <a:ext cx="4465332" cy="398421"/>
            </a:xfrm>
            <a:custGeom>
              <a:avLst/>
              <a:gdLst/>
              <a:ahLst/>
              <a:cxnLst/>
              <a:rect l="l" t="t" r="r" b="b"/>
              <a:pathLst>
                <a:path w="4465332" h="398421">
                  <a:moveTo>
                    <a:pt x="4465332" y="9133"/>
                  </a:moveTo>
                  <a:lnTo>
                    <a:pt x="4465332" y="389289"/>
                  </a:lnTo>
                  <a:cubicBezTo>
                    <a:pt x="4465332" y="391711"/>
                    <a:pt x="4464370" y="394034"/>
                    <a:pt x="4462657" y="395746"/>
                  </a:cubicBezTo>
                  <a:cubicBezTo>
                    <a:pt x="4460944" y="397459"/>
                    <a:pt x="4458622" y="398421"/>
                    <a:pt x="4456200" y="398421"/>
                  </a:cubicBezTo>
                  <a:lnTo>
                    <a:pt x="9133" y="398421"/>
                  </a:lnTo>
                  <a:cubicBezTo>
                    <a:pt x="6710" y="398421"/>
                    <a:pt x="4388" y="397459"/>
                    <a:pt x="2675" y="395746"/>
                  </a:cubicBezTo>
                  <a:cubicBezTo>
                    <a:pt x="962" y="394034"/>
                    <a:pt x="0" y="391711"/>
                    <a:pt x="0" y="38928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12" name="TextBox 12"/>
            <p:cNvSpPr txBox="1"/>
            <p:nvPr/>
          </p:nvSpPr>
          <p:spPr>
            <a:xfrm>
              <a:off x="0" y="-4580"/>
              <a:ext cx="4465332" cy="403001"/>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Key Point: </a:t>
              </a:r>
              <a:r>
                <a:rPr lang="en-US" sz="2800" spc="-84" dirty="0">
                  <a:solidFill>
                    <a:srgbClr val="FFFFFF"/>
                  </a:solidFill>
                  <a:latin typeface="TT Fors"/>
                  <a:ea typeface="TT Fors"/>
                  <a:cs typeface="TT Fors"/>
                  <a:sym typeface="TT Fors"/>
                </a:rPr>
                <a:t>Ethical hackers use the same techniques as malicious hackers, but with permission and for defensive purposes.</a:t>
              </a:r>
            </a:p>
          </p:txBody>
        </p:sp>
      </p:grpSp>
      <p:sp>
        <p:nvSpPr>
          <p:cNvPr id="13" name="TextBox 13"/>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What</a:t>
            </a:r>
            <a:r>
              <a:rPr lang="en-US" sz="3199" b="1" u="none" strike="noStrike" spc="-95">
                <a:solidFill>
                  <a:srgbClr val="00FFA8"/>
                </a:solidFill>
                <a:latin typeface="TT Fors Bold"/>
                <a:ea typeface="TT Fors Bold"/>
                <a:cs typeface="TT Fors Bold"/>
                <a:sym typeface="TT Fors Bold"/>
              </a:rPr>
              <a:t> picture comes to your mind when you think of Hacking?</a:t>
            </a:r>
          </a:p>
        </p:txBody>
      </p:sp>
      <p:grpSp>
        <p:nvGrpSpPr>
          <p:cNvPr id="14" name="Group 14"/>
          <p:cNvGrpSpPr/>
          <p:nvPr/>
        </p:nvGrpSpPr>
        <p:grpSpPr>
          <a:xfrm>
            <a:off x="15430500" y="751544"/>
            <a:ext cx="2190750" cy="810556"/>
            <a:chOff x="0" y="0"/>
            <a:chExt cx="2921000" cy="1080741"/>
          </a:xfrm>
        </p:grpSpPr>
        <p:grpSp>
          <p:nvGrpSpPr>
            <p:cNvPr id="15" name="Group 15"/>
            <p:cNvGrpSpPr/>
            <p:nvPr/>
          </p:nvGrpSpPr>
          <p:grpSpPr>
            <a:xfrm>
              <a:off x="0" y="756"/>
              <a:ext cx="1079985" cy="107998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8" name="Freeform 18"/>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9" name="Freeform 19"/>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20" name="Group 20"/>
            <p:cNvGrpSpPr/>
            <p:nvPr/>
          </p:nvGrpSpPr>
          <p:grpSpPr>
            <a:xfrm>
              <a:off x="914767" y="0"/>
              <a:ext cx="1079985" cy="107998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2" name="TextBox 22"/>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3" name="Freeform 23"/>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4" name="Freeform 24"/>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25" name="Group 25"/>
            <p:cNvGrpSpPr/>
            <p:nvPr/>
          </p:nvGrpSpPr>
          <p:grpSpPr>
            <a:xfrm>
              <a:off x="1841015" y="0"/>
              <a:ext cx="1079985" cy="107998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7" name="TextBox 2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8" name="Freeform 28"/>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4495192"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Cybersecurity Landscape 2025</a:t>
            </a:r>
          </a:p>
        </p:txBody>
      </p:sp>
      <p:grpSp>
        <p:nvGrpSpPr>
          <p:cNvPr id="3" name="Group 3"/>
          <p:cNvGrpSpPr/>
          <p:nvPr/>
        </p:nvGrpSpPr>
        <p:grpSpPr>
          <a:xfrm>
            <a:off x="666750" y="2571750"/>
            <a:ext cx="16954500" cy="3007233"/>
            <a:chOff x="0" y="0"/>
            <a:chExt cx="22606000" cy="4009645"/>
          </a:xfrm>
        </p:grpSpPr>
        <p:sp>
          <p:nvSpPr>
            <p:cNvPr id="4" name="TextBox 4"/>
            <p:cNvSpPr txBox="1"/>
            <p:nvPr/>
          </p:nvSpPr>
          <p:spPr>
            <a:xfrm>
              <a:off x="0" y="0"/>
              <a:ext cx="22606000" cy="647700"/>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C</a:t>
              </a:r>
              <a:r>
                <a:rPr lang="en-US" sz="3199" b="1" u="none" strike="noStrike" spc="-95">
                  <a:solidFill>
                    <a:srgbClr val="00FFA8"/>
                  </a:solidFill>
                  <a:latin typeface="TT Fors Bold"/>
                  <a:ea typeface="TT Fors Bold"/>
                  <a:cs typeface="TT Fors Bold"/>
                  <a:sym typeface="TT Fors Bold"/>
                </a:rPr>
                <a:t>urrent Threats and Trends:</a:t>
              </a:r>
            </a:p>
          </p:txBody>
        </p:sp>
        <p:sp>
          <p:nvSpPr>
            <p:cNvPr id="5" name="TextBox 5"/>
            <p:cNvSpPr txBox="1"/>
            <p:nvPr/>
          </p:nvSpPr>
          <p:spPr>
            <a:xfrm>
              <a:off x="0" y="745321"/>
              <a:ext cx="13660359"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00FFA8"/>
                  </a:solidFill>
                  <a:latin typeface="TT Fors"/>
                  <a:ea typeface="TT Fors"/>
                  <a:cs typeface="TT Fors"/>
                  <a:sym typeface="TT Fors"/>
                </a:rPr>
                <a:t>Ransomware attacks increasing by 150% year-over-year</a:t>
              </a:r>
            </a:p>
            <a:p>
              <a:pPr marL="604519" lvl="1" indent="-302260" algn="l">
                <a:lnSpc>
                  <a:spcPts val="3919"/>
                </a:lnSpc>
                <a:buFont typeface="Arial"/>
                <a:buChar char="•"/>
              </a:pPr>
              <a:r>
                <a:rPr lang="en-US" sz="2799">
                  <a:solidFill>
                    <a:srgbClr val="00FFA8"/>
                  </a:solidFill>
                  <a:latin typeface="TT Fors"/>
                  <a:ea typeface="TT Fors"/>
                  <a:cs typeface="TT Fors"/>
                  <a:sym typeface="TT Fors"/>
                </a:rPr>
                <a:t>Supply chain attacks targeting third-party vendors</a:t>
              </a:r>
            </a:p>
            <a:p>
              <a:pPr marL="604519" lvl="1" indent="-302260" algn="l">
                <a:lnSpc>
                  <a:spcPts val="3919"/>
                </a:lnSpc>
                <a:buFont typeface="Arial"/>
                <a:buChar char="•"/>
              </a:pPr>
              <a:r>
                <a:rPr lang="en-US" sz="2799">
                  <a:solidFill>
                    <a:srgbClr val="00FFA8"/>
                  </a:solidFill>
                  <a:latin typeface="TT Fors"/>
                  <a:ea typeface="TT Fors"/>
                  <a:cs typeface="TT Fors"/>
                  <a:sym typeface="TT Fors"/>
                </a:rPr>
                <a:t>AI-powered phishing becoming more sophisticated</a:t>
              </a:r>
            </a:p>
            <a:p>
              <a:pPr marL="604519" lvl="1" indent="-302260" algn="l">
                <a:lnSpc>
                  <a:spcPts val="3919"/>
                </a:lnSpc>
                <a:buFont typeface="Arial"/>
                <a:buChar char="•"/>
              </a:pPr>
              <a:r>
                <a:rPr lang="en-US" sz="2799">
                  <a:solidFill>
                    <a:srgbClr val="00FFA8"/>
                  </a:solidFill>
                  <a:latin typeface="TT Fors"/>
                  <a:ea typeface="TT Fors"/>
                  <a:cs typeface="TT Fors"/>
                  <a:sym typeface="TT Fors"/>
                </a:rPr>
                <a:t>IoT vulnerabilities exposing critical infrastructure</a:t>
              </a:r>
            </a:p>
            <a:p>
              <a:pPr marL="604519" lvl="1" indent="-302260" algn="l">
                <a:lnSpc>
                  <a:spcPts val="3919"/>
                </a:lnSpc>
                <a:buFont typeface="Arial"/>
                <a:buChar char="•"/>
              </a:pPr>
              <a:r>
                <a:rPr lang="en-US" sz="2799">
                  <a:solidFill>
                    <a:srgbClr val="00FFA8"/>
                  </a:solidFill>
                  <a:latin typeface="TT Fors"/>
                  <a:ea typeface="TT Fors"/>
                  <a:cs typeface="TT Fors"/>
                  <a:sym typeface="TT Fors"/>
                </a:rPr>
                <a:t>Cloud misconfigurations leading to data breaches</a:t>
              </a:r>
            </a:p>
          </p:txBody>
        </p:sp>
      </p:grpSp>
      <p:grpSp>
        <p:nvGrpSpPr>
          <p:cNvPr id="6" name="Group 6"/>
          <p:cNvGrpSpPr/>
          <p:nvPr/>
        </p:nvGrpSpPr>
        <p:grpSpPr>
          <a:xfrm>
            <a:off x="666750" y="6727760"/>
            <a:ext cx="16954500" cy="2973020"/>
            <a:chOff x="0" y="0"/>
            <a:chExt cx="4465332" cy="783037"/>
          </a:xfrm>
        </p:grpSpPr>
        <p:sp>
          <p:nvSpPr>
            <p:cNvPr id="7" name="Freeform 7"/>
            <p:cNvSpPr/>
            <p:nvPr/>
          </p:nvSpPr>
          <p:spPr>
            <a:xfrm>
              <a:off x="0" y="0"/>
              <a:ext cx="4465332" cy="783037"/>
            </a:xfrm>
            <a:custGeom>
              <a:avLst/>
              <a:gdLst/>
              <a:ahLst/>
              <a:cxnLst/>
              <a:rect l="l" t="t" r="r" b="b"/>
              <a:pathLst>
                <a:path w="4465332" h="783037">
                  <a:moveTo>
                    <a:pt x="4465332" y="9133"/>
                  </a:moveTo>
                  <a:lnTo>
                    <a:pt x="4465332" y="773905"/>
                  </a:lnTo>
                  <a:cubicBezTo>
                    <a:pt x="4465332" y="776327"/>
                    <a:pt x="4464370" y="778650"/>
                    <a:pt x="4462657" y="780362"/>
                  </a:cubicBezTo>
                  <a:cubicBezTo>
                    <a:pt x="4460944" y="782075"/>
                    <a:pt x="4458622" y="783037"/>
                    <a:pt x="4456200" y="783037"/>
                  </a:cubicBezTo>
                  <a:lnTo>
                    <a:pt x="9133" y="783037"/>
                  </a:lnTo>
                  <a:cubicBezTo>
                    <a:pt x="6710" y="783037"/>
                    <a:pt x="4388" y="782075"/>
                    <a:pt x="2675" y="780362"/>
                  </a:cubicBezTo>
                  <a:cubicBezTo>
                    <a:pt x="962" y="778650"/>
                    <a:pt x="0" y="776327"/>
                    <a:pt x="0" y="773905"/>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8" name="TextBox 8"/>
            <p:cNvSpPr txBox="1"/>
            <p:nvPr/>
          </p:nvSpPr>
          <p:spPr>
            <a:xfrm>
              <a:off x="0" y="0"/>
              <a:ext cx="4465332" cy="783037"/>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Industry Statistics (2024-2025):</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Average cost of data breach: $4.45 million USD</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Time to identify breach: 277 days (average)</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Cybercrime expected to cost $10.5 trillion globally by 2025</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3.5 million unfilled cybersecurity positions worldwide</a:t>
              </a:r>
            </a:p>
          </p:txBody>
        </p:sp>
      </p:grpSp>
      <p:grpSp>
        <p:nvGrpSpPr>
          <p:cNvPr id="9" name="Group 9"/>
          <p:cNvGrpSpPr/>
          <p:nvPr/>
        </p:nvGrpSpPr>
        <p:grpSpPr>
          <a:xfrm>
            <a:off x="15430500" y="751544"/>
            <a:ext cx="2190750" cy="810556"/>
            <a:chOff x="0" y="0"/>
            <a:chExt cx="2921000" cy="1080741"/>
          </a:xfrm>
        </p:grpSpPr>
        <p:grpSp>
          <p:nvGrpSpPr>
            <p:cNvPr id="10" name="Group 10"/>
            <p:cNvGrpSpPr/>
            <p:nvPr/>
          </p:nvGrpSpPr>
          <p:grpSpPr>
            <a:xfrm>
              <a:off x="0" y="756"/>
              <a:ext cx="1079985" cy="107998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3" name="Freeform 13"/>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15" name="Group 15"/>
            <p:cNvGrpSpPr/>
            <p:nvPr/>
          </p:nvGrpSpPr>
          <p:grpSpPr>
            <a:xfrm>
              <a:off x="914767" y="0"/>
              <a:ext cx="1079985" cy="107998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8" name="Freeform 18"/>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20" name="Group 20"/>
            <p:cNvGrpSpPr/>
            <p:nvPr/>
          </p:nvGrpSpPr>
          <p:grpSpPr>
            <a:xfrm>
              <a:off x="1841015" y="0"/>
              <a:ext cx="1079985" cy="107998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2" name="TextBox 22"/>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3" name="Freeform 23"/>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3900626"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Why Ethical Hacking Matters</a:t>
            </a:r>
          </a:p>
        </p:txBody>
      </p:sp>
      <p:sp>
        <p:nvSpPr>
          <p:cNvPr id="3" name="TextBox 3"/>
          <p:cNvSpPr txBox="1"/>
          <p:nvPr/>
        </p:nvSpPr>
        <p:spPr>
          <a:xfrm>
            <a:off x="666750" y="2028825"/>
            <a:ext cx="8324850" cy="552450"/>
          </a:xfrm>
          <a:prstGeom prst="rect">
            <a:avLst/>
          </a:prstGeom>
        </p:spPr>
        <p:txBody>
          <a:bodyPr lIns="0" tIns="0" rIns="0" bIns="0" rtlCol="0" anchor="t">
            <a:spAutoFit/>
          </a:bodyPr>
          <a:lstStyle/>
          <a:p>
            <a:pPr marL="0" lvl="0" indent="0" algn="l">
              <a:lnSpc>
                <a:spcPts val="3839"/>
              </a:lnSpc>
              <a:spcBef>
                <a:spcPct val="0"/>
              </a:spcBef>
            </a:pPr>
            <a:r>
              <a:rPr lang="en-US" sz="3199" u="none" strike="noStrike" spc="-95">
                <a:solidFill>
                  <a:srgbClr val="00FFA8"/>
                </a:solidFill>
                <a:latin typeface="ITC Avant Garde Gothic"/>
                <a:ea typeface="ITC Avant Garde Gothic"/>
                <a:cs typeface="ITC Avant Garde Gothic"/>
                <a:sym typeface="ITC Avant Garde Gothic"/>
              </a:rPr>
              <a:t>Importance of Security and Compliance</a:t>
            </a:r>
          </a:p>
        </p:txBody>
      </p:sp>
      <p:grpSp>
        <p:nvGrpSpPr>
          <p:cNvPr id="4" name="Group 4"/>
          <p:cNvGrpSpPr/>
          <p:nvPr/>
        </p:nvGrpSpPr>
        <p:grpSpPr>
          <a:xfrm>
            <a:off x="15488769" y="0"/>
            <a:ext cx="2799231" cy="10287000"/>
            <a:chOff x="0" y="0"/>
            <a:chExt cx="433674" cy="1593725"/>
          </a:xfrm>
        </p:grpSpPr>
        <p:sp>
          <p:nvSpPr>
            <p:cNvPr id="5" name="Freeform 5"/>
            <p:cNvSpPr/>
            <p:nvPr/>
          </p:nvSpPr>
          <p:spPr>
            <a:xfrm>
              <a:off x="0" y="0"/>
              <a:ext cx="433674" cy="1593725"/>
            </a:xfrm>
            <a:custGeom>
              <a:avLst/>
              <a:gdLst/>
              <a:ahLst/>
              <a:cxnLst/>
              <a:rect l="l" t="t" r="r" b="b"/>
              <a:pathLst>
                <a:path w="433674" h="1593725">
                  <a:moveTo>
                    <a:pt x="0" y="0"/>
                  </a:moveTo>
                  <a:lnTo>
                    <a:pt x="433674" y="0"/>
                  </a:lnTo>
                  <a:lnTo>
                    <a:pt x="433674" y="1593725"/>
                  </a:lnTo>
                  <a:lnTo>
                    <a:pt x="0" y="1593725"/>
                  </a:lnTo>
                  <a:close/>
                </a:path>
              </a:pathLst>
            </a:custGeom>
            <a:blipFill>
              <a:blip r:embed="rId3"/>
              <a:stretch>
                <a:fillRect l="-84364" r="-84364"/>
              </a:stretch>
            </a:blipFill>
          </p:spPr>
          <p:txBody>
            <a:bodyPr/>
            <a:lstStyle/>
            <a:p>
              <a:endParaRPr lang="en-US"/>
            </a:p>
          </p:txBody>
        </p:sp>
      </p:grpSp>
      <p:grpSp>
        <p:nvGrpSpPr>
          <p:cNvPr id="6" name="Group 6"/>
          <p:cNvGrpSpPr/>
          <p:nvPr/>
        </p:nvGrpSpPr>
        <p:grpSpPr>
          <a:xfrm>
            <a:off x="666750" y="3593782"/>
            <a:ext cx="7177187" cy="3099436"/>
            <a:chOff x="0" y="0"/>
            <a:chExt cx="9569583" cy="4132581"/>
          </a:xfrm>
        </p:grpSpPr>
        <p:sp>
          <p:nvSpPr>
            <p:cNvPr id="7" name="TextBox 7"/>
            <p:cNvSpPr txBox="1"/>
            <p:nvPr/>
          </p:nvSpPr>
          <p:spPr>
            <a:xfrm>
              <a:off x="0" y="868257"/>
              <a:ext cx="9569583"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00FFA8"/>
                  </a:solidFill>
                  <a:latin typeface="TT Fors"/>
                  <a:ea typeface="TT Fors"/>
                  <a:cs typeface="TT Fors"/>
                  <a:sym typeface="TT Fors"/>
                </a:rPr>
                <a:t>Identify vulnerabilities before attackers</a:t>
              </a:r>
            </a:p>
            <a:p>
              <a:pPr marL="604519" lvl="1" indent="-302260" algn="l">
                <a:lnSpc>
                  <a:spcPts val="3919"/>
                </a:lnSpc>
                <a:buFont typeface="Arial"/>
                <a:buChar char="•"/>
              </a:pPr>
              <a:r>
                <a:rPr lang="en-US" sz="2799">
                  <a:solidFill>
                    <a:srgbClr val="00FFA8"/>
                  </a:solidFill>
                  <a:latin typeface="TT Fors"/>
                  <a:ea typeface="TT Fors"/>
                  <a:cs typeface="TT Fors"/>
                  <a:sym typeface="TT Fors"/>
                </a:rPr>
                <a:t>Comply with regulations (PDPA, GDPR)</a:t>
              </a:r>
            </a:p>
            <a:p>
              <a:pPr marL="604519" lvl="1" indent="-302260" algn="l">
                <a:lnSpc>
                  <a:spcPts val="3919"/>
                </a:lnSpc>
                <a:buFont typeface="Arial"/>
                <a:buChar char="•"/>
              </a:pPr>
              <a:r>
                <a:rPr lang="en-US" sz="2799">
                  <a:solidFill>
                    <a:srgbClr val="00FFA8"/>
                  </a:solidFill>
                  <a:latin typeface="TT Fors"/>
                  <a:ea typeface="TT Fors"/>
                  <a:cs typeface="TT Fors"/>
                  <a:sym typeface="TT Fors"/>
                </a:rPr>
                <a:t>Protect customer data and trust</a:t>
              </a:r>
            </a:p>
            <a:p>
              <a:pPr marL="604519" lvl="1" indent="-302260" algn="l">
                <a:lnSpc>
                  <a:spcPts val="3919"/>
                </a:lnSpc>
                <a:buFont typeface="Arial"/>
                <a:buChar char="•"/>
              </a:pPr>
              <a:r>
                <a:rPr lang="en-US" sz="2799">
                  <a:solidFill>
                    <a:srgbClr val="00FFA8"/>
                  </a:solidFill>
                  <a:latin typeface="TT Fors"/>
                  <a:ea typeface="TT Fors"/>
                  <a:cs typeface="TT Fors"/>
                  <a:sym typeface="TT Fors"/>
                </a:rPr>
                <a:t>Prevent financial losses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Maintain business continuity</a:t>
              </a:r>
            </a:p>
          </p:txBody>
        </p:sp>
        <p:sp>
          <p:nvSpPr>
            <p:cNvPr id="8" name="TextBox 8"/>
            <p:cNvSpPr txBox="1"/>
            <p:nvPr/>
          </p:nvSpPr>
          <p:spPr>
            <a:xfrm>
              <a:off x="0" y="-238125"/>
              <a:ext cx="9569583"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F</a:t>
              </a:r>
              <a:r>
                <a:rPr lang="en-US" sz="3199" b="1" u="none" strike="noStrike" spc="-95">
                  <a:solidFill>
                    <a:srgbClr val="00FFA8"/>
                  </a:solidFill>
                  <a:latin typeface="TT Fors Bold"/>
                  <a:ea typeface="TT Fors Bold"/>
                  <a:cs typeface="TT Fors Bold"/>
                  <a:sym typeface="TT Fors Bold"/>
                </a:rPr>
                <a:t>or Organizations</a:t>
              </a:r>
            </a:p>
          </p:txBody>
        </p:sp>
      </p:grpSp>
      <p:grpSp>
        <p:nvGrpSpPr>
          <p:cNvPr id="9" name="Group 9"/>
          <p:cNvGrpSpPr/>
          <p:nvPr/>
        </p:nvGrpSpPr>
        <p:grpSpPr>
          <a:xfrm>
            <a:off x="8911360" y="3593782"/>
            <a:ext cx="5656016" cy="3099436"/>
            <a:chOff x="0" y="0"/>
            <a:chExt cx="7541355" cy="4132581"/>
          </a:xfrm>
        </p:grpSpPr>
        <p:sp>
          <p:nvSpPr>
            <p:cNvPr id="10" name="TextBox 10"/>
            <p:cNvSpPr txBox="1"/>
            <p:nvPr/>
          </p:nvSpPr>
          <p:spPr>
            <a:xfrm>
              <a:off x="0" y="868257"/>
              <a:ext cx="7541355"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00FFA8"/>
                  </a:solidFill>
                  <a:latin typeface="TT Fors"/>
                  <a:ea typeface="TT Fors"/>
                  <a:cs typeface="TT Fors"/>
                  <a:sym typeface="TT Fors"/>
                </a:rPr>
                <a:t>Pro</a:t>
              </a:r>
              <a:r>
                <a:rPr lang="en-US" sz="2799" u="none" strike="noStrike">
                  <a:solidFill>
                    <a:srgbClr val="00FFA8"/>
                  </a:solidFill>
                  <a:latin typeface="TT Fors"/>
                  <a:ea typeface="TT Fors"/>
                  <a:cs typeface="TT Fors"/>
                  <a:sym typeface="TT Fors"/>
                </a:rPr>
                <a:t>tect critical infrastructure</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Secure healthcare systems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Defend financial institutions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Safeguard national security</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Privacy protection</a:t>
              </a:r>
            </a:p>
          </p:txBody>
        </p:sp>
        <p:sp>
          <p:nvSpPr>
            <p:cNvPr id="11" name="TextBox 11"/>
            <p:cNvSpPr txBox="1"/>
            <p:nvPr/>
          </p:nvSpPr>
          <p:spPr>
            <a:xfrm>
              <a:off x="0" y="-238125"/>
              <a:ext cx="7541355" cy="884132"/>
            </a:xfrm>
            <a:prstGeom prst="rect">
              <a:avLst/>
            </a:prstGeom>
          </p:spPr>
          <p:txBody>
            <a:bodyPr lIns="0" tIns="0" rIns="0" bIns="0" rtlCol="0" anchor="t">
              <a:spAutoFit/>
            </a:bodyPr>
            <a:lstStyle/>
            <a:p>
              <a:pPr marL="0" lvl="1" indent="0" algn="l">
                <a:lnSpc>
                  <a:spcPts val="6399"/>
                </a:lnSpc>
                <a:spcBef>
                  <a:spcPct val="0"/>
                </a:spcBef>
              </a:pPr>
              <a:r>
                <a:rPr lang="en-US" sz="3199" b="1" spc="-95">
                  <a:solidFill>
                    <a:srgbClr val="00FFA8"/>
                  </a:solidFill>
                  <a:latin typeface="TT Fors Bold"/>
                  <a:ea typeface="TT Fors Bold"/>
                  <a:cs typeface="TT Fors Bold"/>
                  <a:sym typeface="TT Fors Bold"/>
                </a:rPr>
                <a:t>For</a:t>
              </a:r>
              <a:r>
                <a:rPr lang="en-US" sz="3199" b="1" u="none" strike="noStrike" spc="-95">
                  <a:solidFill>
                    <a:srgbClr val="00FFA8"/>
                  </a:solidFill>
                  <a:latin typeface="TT Fors Bold"/>
                  <a:ea typeface="TT Fors Bold"/>
                  <a:cs typeface="TT Fors Bold"/>
                  <a:sym typeface="TT Fors Bold"/>
                </a:rPr>
                <a:t> Society</a:t>
              </a:r>
            </a:p>
          </p:txBody>
        </p:sp>
      </p:grpSp>
      <p:grpSp>
        <p:nvGrpSpPr>
          <p:cNvPr id="12" name="Group 12"/>
          <p:cNvGrpSpPr/>
          <p:nvPr/>
        </p:nvGrpSpPr>
        <p:grpSpPr>
          <a:xfrm>
            <a:off x="666750" y="8208890"/>
            <a:ext cx="14127784" cy="1512718"/>
            <a:chOff x="0" y="0"/>
            <a:chExt cx="3720856" cy="398421"/>
          </a:xfrm>
        </p:grpSpPr>
        <p:sp>
          <p:nvSpPr>
            <p:cNvPr id="13" name="Freeform 13"/>
            <p:cNvSpPr/>
            <p:nvPr/>
          </p:nvSpPr>
          <p:spPr>
            <a:xfrm>
              <a:off x="0" y="0"/>
              <a:ext cx="3720856" cy="398421"/>
            </a:xfrm>
            <a:custGeom>
              <a:avLst/>
              <a:gdLst/>
              <a:ahLst/>
              <a:cxnLst/>
              <a:rect l="l" t="t" r="r" b="b"/>
              <a:pathLst>
                <a:path w="3720856" h="398421">
                  <a:moveTo>
                    <a:pt x="3720856" y="10960"/>
                  </a:moveTo>
                  <a:lnTo>
                    <a:pt x="3720856" y="387461"/>
                  </a:lnTo>
                  <a:cubicBezTo>
                    <a:pt x="3720856" y="393514"/>
                    <a:pt x="3715949" y="398421"/>
                    <a:pt x="3709896" y="398421"/>
                  </a:cubicBezTo>
                  <a:lnTo>
                    <a:pt x="10960" y="398421"/>
                  </a:lnTo>
                  <a:cubicBezTo>
                    <a:pt x="4907" y="398421"/>
                    <a:pt x="0" y="393514"/>
                    <a:pt x="0" y="387461"/>
                  </a:cubicBezTo>
                  <a:lnTo>
                    <a:pt x="0" y="10960"/>
                  </a:lnTo>
                  <a:cubicBezTo>
                    <a:pt x="0" y="4907"/>
                    <a:pt x="4907" y="0"/>
                    <a:pt x="10960" y="0"/>
                  </a:cubicBezTo>
                  <a:lnTo>
                    <a:pt x="3709896" y="0"/>
                  </a:lnTo>
                  <a:cubicBezTo>
                    <a:pt x="3715949" y="0"/>
                    <a:pt x="3720856" y="4907"/>
                    <a:pt x="3720856" y="10960"/>
                  </a:cubicBezTo>
                  <a:close/>
                </a:path>
              </a:pathLst>
            </a:custGeom>
            <a:solidFill>
              <a:srgbClr val="301445"/>
            </a:solidFill>
            <a:ln cap="sq">
              <a:noFill/>
              <a:prstDash val="solid"/>
              <a:miter/>
            </a:ln>
          </p:spPr>
          <p:txBody>
            <a:bodyPr/>
            <a:lstStyle/>
            <a:p>
              <a:endParaRPr lang="en-US"/>
            </a:p>
          </p:txBody>
        </p:sp>
        <p:sp>
          <p:nvSpPr>
            <p:cNvPr id="14" name="TextBox 14"/>
            <p:cNvSpPr txBox="1"/>
            <p:nvPr/>
          </p:nvSpPr>
          <p:spPr>
            <a:xfrm>
              <a:off x="0" y="0"/>
              <a:ext cx="3720856" cy="398421"/>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Quote: </a:t>
              </a:r>
              <a:r>
                <a:rPr lang="en-US" sz="2800" spc="-84" dirty="0">
                  <a:solidFill>
                    <a:srgbClr val="FFFFFF"/>
                  </a:solidFill>
                  <a:latin typeface="TT Fors"/>
                  <a:ea typeface="TT Fors"/>
                  <a:cs typeface="TT Fors"/>
                  <a:sym typeface="TT Fors"/>
                </a:rPr>
                <a:t>"The best defense is a good offense. Understanding how systems can be compromised is essential to protecting them."</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180805"/>
            <a:ext cx="16964025" cy="2095500"/>
          </a:xfrm>
          <a:prstGeom prst="rect">
            <a:avLst/>
          </a:prstGeom>
        </p:spPr>
        <p:txBody>
          <a:bodyPr lIns="0" tIns="0" rIns="0" bIns="0" rtlCol="0" anchor="t">
            <a:spAutoFit/>
          </a:bodyPr>
          <a:lstStyle/>
          <a:p>
            <a:pPr marL="604518" lvl="1" indent="-302259" algn="l">
              <a:lnSpc>
                <a:spcPts val="3359"/>
              </a:lnSpc>
              <a:spcBef>
                <a:spcPct val="0"/>
              </a:spcBef>
              <a:buFont typeface="Arial"/>
              <a:buChar char="•"/>
            </a:pPr>
            <a:r>
              <a:rPr lang="en-US" sz="2799" b="1">
                <a:solidFill>
                  <a:srgbClr val="00FFA8"/>
                </a:solidFill>
                <a:latin typeface="TT Fors Bold"/>
                <a:ea typeface="TT Fors Bold"/>
                <a:cs typeface="TT Fors Bold"/>
                <a:sym typeface="TT Fors Bold"/>
              </a:rPr>
              <a:t>Vulnerability Assessment:</a:t>
            </a:r>
            <a:r>
              <a:rPr lang="en-US" sz="2799">
                <a:solidFill>
                  <a:srgbClr val="00FFA8"/>
                </a:solidFill>
                <a:latin typeface="TT Fors"/>
                <a:ea typeface="TT Fors"/>
                <a:cs typeface="TT Fors"/>
                <a:sym typeface="TT Fors"/>
              </a:rPr>
              <a:t> Identify security weaknesses in systems, networks, and applications</a:t>
            </a:r>
          </a:p>
          <a:p>
            <a:pPr marL="604518" lvl="1" indent="-302259" algn="l">
              <a:lnSpc>
                <a:spcPts val="3359"/>
              </a:lnSpc>
              <a:spcBef>
                <a:spcPct val="0"/>
              </a:spcBef>
              <a:buFont typeface="Arial"/>
              <a:buChar char="•"/>
            </a:pPr>
            <a:r>
              <a:rPr lang="en-US" sz="2799" b="1">
                <a:solidFill>
                  <a:srgbClr val="00FFA8"/>
                </a:solidFill>
                <a:latin typeface="TT Fors Bold"/>
                <a:ea typeface="TT Fors Bold"/>
                <a:cs typeface="TT Fors Bold"/>
                <a:sym typeface="TT Fors Bold"/>
              </a:rPr>
              <a:t>Penetration Testing:</a:t>
            </a:r>
            <a:r>
              <a:rPr lang="en-US" sz="2799">
                <a:solidFill>
                  <a:srgbClr val="00FFA8"/>
                </a:solidFill>
                <a:latin typeface="TT Fors"/>
                <a:ea typeface="TT Fors"/>
                <a:cs typeface="TT Fors"/>
                <a:sym typeface="TT Fors"/>
              </a:rPr>
              <a:t> Simulate real-world attacks to exploit vulnerabilities</a:t>
            </a:r>
          </a:p>
          <a:p>
            <a:pPr marL="604518" lvl="1" indent="-302259" algn="l">
              <a:lnSpc>
                <a:spcPts val="3359"/>
              </a:lnSpc>
              <a:spcBef>
                <a:spcPct val="0"/>
              </a:spcBef>
              <a:buFont typeface="Arial"/>
              <a:buChar char="•"/>
            </a:pPr>
            <a:r>
              <a:rPr lang="en-US" sz="2799" b="1">
                <a:solidFill>
                  <a:srgbClr val="00FFA8"/>
                </a:solidFill>
                <a:latin typeface="TT Fors Bold"/>
                <a:ea typeface="TT Fors Bold"/>
                <a:cs typeface="TT Fors Bold"/>
                <a:sym typeface="TT Fors Bold"/>
              </a:rPr>
              <a:t>Security Auditing: </a:t>
            </a:r>
            <a:r>
              <a:rPr lang="en-US" sz="2799">
                <a:solidFill>
                  <a:srgbClr val="00FFA8"/>
                </a:solidFill>
                <a:latin typeface="TT Fors"/>
                <a:ea typeface="TT Fors"/>
                <a:cs typeface="TT Fors"/>
                <a:sym typeface="TT Fors"/>
              </a:rPr>
              <a:t>Review security policies, configurations, and controls</a:t>
            </a:r>
          </a:p>
          <a:p>
            <a:pPr marL="604518" lvl="1" indent="-302259" algn="l">
              <a:lnSpc>
                <a:spcPts val="3359"/>
              </a:lnSpc>
              <a:spcBef>
                <a:spcPct val="0"/>
              </a:spcBef>
              <a:buFont typeface="Arial"/>
              <a:buChar char="•"/>
            </a:pPr>
            <a:r>
              <a:rPr lang="en-US" sz="2799" b="1">
                <a:solidFill>
                  <a:srgbClr val="00FFA8"/>
                </a:solidFill>
                <a:latin typeface="TT Fors Bold"/>
                <a:ea typeface="TT Fors Bold"/>
                <a:cs typeface="TT Fors Bold"/>
                <a:sym typeface="TT Fors Bold"/>
              </a:rPr>
              <a:t>Report Writing:</a:t>
            </a:r>
            <a:r>
              <a:rPr lang="en-US" sz="2799">
                <a:solidFill>
                  <a:srgbClr val="00FFA8"/>
                </a:solidFill>
                <a:latin typeface="TT Fors"/>
                <a:ea typeface="TT Fors"/>
                <a:cs typeface="TT Fors"/>
                <a:sym typeface="TT Fors"/>
              </a:rPr>
              <a:t> Document findings and provide remediation recommendations</a:t>
            </a:r>
          </a:p>
          <a:p>
            <a:pPr marL="604518" lvl="1" indent="-302259" algn="l">
              <a:lnSpc>
                <a:spcPts val="3359"/>
              </a:lnSpc>
              <a:spcBef>
                <a:spcPct val="0"/>
              </a:spcBef>
              <a:buFont typeface="Arial"/>
              <a:buChar char="•"/>
            </a:pPr>
            <a:r>
              <a:rPr lang="en-US" sz="2799" b="1">
                <a:solidFill>
                  <a:srgbClr val="00FFA8"/>
                </a:solidFill>
                <a:latin typeface="TT Fors Bold"/>
                <a:ea typeface="TT Fors Bold"/>
                <a:cs typeface="TT Fors Bold"/>
                <a:sym typeface="TT Fors Bold"/>
              </a:rPr>
              <a:t>Client Communication:</a:t>
            </a:r>
            <a:r>
              <a:rPr lang="en-US" sz="2799">
                <a:solidFill>
                  <a:srgbClr val="00FFA8"/>
                </a:solidFill>
                <a:latin typeface="TT Fors"/>
                <a:ea typeface="TT Fors"/>
                <a:cs typeface="TT Fors"/>
                <a:sym typeface="TT Fors"/>
              </a:rPr>
              <a:t> Explain technical risks to non-technical stakeholders</a:t>
            </a:r>
          </a:p>
        </p:txBody>
      </p:sp>
      <p:sp>
        <p:nvSpPr>
          <p:cNvPr id="3" name="TextBox 3"/>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Th</a:t>
            </a:r>
            <a:r>
              <a:rPr lang="en-US" sz="6999" u="none" strike="noStrike" spc="-209">
                <a:solidFill>
                  <a:srgbClr val="00FFA8"/>
                </a:solidFill>
                <a:latin typeface="ITC Avant Garde Gothic"/>
                <a:ea typeface="ITC Avant Garde Gothic"/>
                <a:cs typeface="ITC Avant Garde Gothic"/>
                <a:sym typeface="ITC Avant Garde Gothic"/>
              </a:rPr>
              <a:t>e Role of Security &amp; Penetration Testers</a:t>
            </a:r>
          </a:p>
        </p:txBody>
      </p:sp>
      <p:sp>
        <p:nvSpPr>
          <p:cNvPr id="4" name="TextBox 4"/>
          <p:cNvSpPr txBox="1"/>
          <p:nvPr/>
        </p:nvSpPr>
        <p:spPr>
          <a:xfrm>
            <a:off x="666750" y="2244543"/>
            <a:ext cx="7177187"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C</a:t>
            </a:r>
            <a:r>
              <a:rPr lang="en-US" sz="3199" b="1" u="none" strike="noStrike" spc="-95">
                <a:solidFill>
                  <a:srgbClr val="00FFA8"/>
                </a:solidFill>
                <a:latin typeface="TT Fors Bold"/>
                <a:ea typeface="TT Fors Bold"/>
                <a:cs typeface="TT Fors Bold"/>
                <a:sym typeface="TT Fors Bold"/>
              </a:rPr>
              <a:t>ore Responsibilities:</a:t>
            </a:r>
          </a:p>
        </p:txBody>
      </p:sp>
      <p:sp>
        <p:nvSpPr>
          <p:cNvPr id="5" name="TextBox 5"/>
          <p:cNvSpPr txBox="1"/>
          <p:nvPr/>
        </p:nvSpPr>
        <p:spPr>
          <a:xfrm>
            <a:off x="666750" y="5790473"/>
            <a:ext cx="7177187"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Required Skills:</a:t>
            </a:r>
          </a:p>
        </p:txBody>
      </p:sp>
      <p:grpSp>
        <p:nvGrpSpPr>
          <p:cNvPr id="6" name="Group 6"/>
          <p:cNvGrpSpPr/>
          <p:nvPr/>
        </p:nvGrpSpPr>
        <p:grpSpPr>
          <a:xfrm>
            <a:off x="666750" y="6772112"/>
            <a:ext cx="8334375" cy="2973024"/>
            <a:chOff x="0" y="-1"/>
            <a:chExt cx="2195037" cy="783038"/>
          </a:xfrm>
        </p:grpSpPr>
        <p:sp>
          <p:nvSpPr>
            <p:cNvPr id="7" name="Freeform 7"/>
            <p:cNvSpPr/>
            <p:nvPr/>
          </p:nvSpPr>
          <p:spPr>
            <a:xfrm>
              <a:off x="0" y="0"/>
              <a:ext cx="2195037" cy="783037"/>
            </a:xfrm>
            <a:custGeom>
              <a:avLst/>
              <a:gdLst/>
              <a:ahLst/>
              <a:cxnLst/>
              <a:rect l="l" t="t" r="r" b="b"/>
              <a:pathLst>
                <a:path w="2195037" h="783037">
                  <a:moveTo>
                    <a:pt x="2195037" y="18578"/>
                  </a:moveTo>
                  <a:lnTo>
                    <a:pt x="2195037" y="764459"/>
                  </a:lnTo>
                  <a:cubicBezTo>
                    <a:pt x="2195037" y="769386"/>
                    <a:pt x="2193079" y="774112"/>
                    <a:pt x="2189595" y="777596"/>
                  </a:cubicBezTo>
                  <a:cubicBezTo>
                    <a:pt x="2186111" y="781080"/>
                    <a:pt x="2181386" y="783037"/>
                    <a:pt x="2176458" y="783037"/>
                  </a:cubicBezTo>
                  <a:lnTo>
                    <a:pt x="18578" y="783037"/>
                  </a:lnTo>
                  <a:cubicBezTo>
                    <a:pt x="13651" y="783037"/>
                    <a:pt x="8926" y="781080"/>
                    <a:pt x="5441" y="777596"/>
                  </a:cubicBezTo>
                  <a:cubicBezTo>
                    <a:pt x="1957" y="774112"/>
                    <a:pt x="0" y="769386"/>
                    <a:pt x="0" y="764459"/>
                  </a:cubicBezTo>
                  <a:lnTo>
                    <a:pt x="0" y="18578"/>
                  </a:lnTo>
                  <a:cubicBezTo>
                    <a:pt x="0" y="13651"/>
                    <a:pt x="1957" y="8926"/>
                    <a:pt x="5441" y="5441"/>
                  </a:cubicBezTo>
                  <a:cubicBezTo>
                    <a:pt x="8926" y="1957"/>
                    <a:pt x="13651" y="0"/>
                    <a:pt x="18578" y="0"/>
                  </a:cubicBezTo>
                  <a:lnTo>
                    <a:pt x="2176458" y="0"/>
                  </a:lnTo>
                  <a:cubicBezTo>
                    <a:pt x="2181386" y="0"/>
                    <a:pt x="2186111" y="1957"/>
                    <a:pt x="2189595" y="5441"/>
                  </a:cubicBezTo>
                  <a:cubicBezTo>
                    <a:pt x="2193079" y="8926"/>
                    <a:pt x="2195037" y="13651"/>
                    <a:pt x="2195037" y="18578"/>
                  </a:cubicBezTo>
                  <a:close/>
                </a:path>
              </a:pathLst>
            </a:custGeom>
            <a:solidFill>
              <a:srgbClr val="08FFA7"/>
            </a:solidFill>
            <a:ln cap="sq">
              <a:noFill/>
              <a:prstDash val="solid"/>
              <a:miter/>
            </a:ln>
          </p:spPr>
          <p:txBody>
            <a:bodyPr/>
            <a:lstStyle/>
            <a:p>
              <a:endParaRPr lang="en-US"/>
            </a:p>
          </p:txBody>
        </p:sp>
        <p:sp>
          <p:nvSpPr>
            <p:cNvPr id="8" name="TextBox 8"/>
            <p:cNvSpPr txBox="1"/>
            <p:nvPr/>
          </p:nvSpPr>
          <p:spPr>
            <a:xfrm>
              <a:off x="0" y="-1"/>
              <a:ext cx="2195037" cy="783037"/>
            </a:xfrm>
            <a:prstGeom prst="rect">
              <a:avLst/>
            </a:prstGeom>
          </p:spPr>
          <p:txBody>
            <a:bodyPr lIns="254000" tIns="254000" rIns="254000" bIns="254000" rtlCol="0" anchor="ctr"/>
            <a:lstStyle/>
            <a:p>
              <a:pPr algn="l">
                <a:lnSpc>
                  <a:spcPts val="3920"/>
                </a:lnSpc>
              </a:pPr>
              <a:r>
                <a:rPr lang="en-US" sz="2800" b="1" spc="-84" dirty="0">
                  <a:solidFill>
                    <a:srgbClr val="000000"/>
                  </a:solidFill>
                  <a:latin typeface="TT Fors Bold"/>
                  <a:ea typeface="TT Fors Bold"/>
                  <a:cs typeface="TT Fors Bold"/>
                  <a:sym typeface="TT Fors Bold"/>
                </a:rPr>
                <a:t>Technical:</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Networking (TCP/IP, DNS, routing)</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Operating Systems (Linux, Windows)</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Programming (Python, Bash, PowerShell)</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Web technologies (HTTP, databases)</a:t>
              </a:r>
            </a:p>
          </p:txBody>
        </p:sp>
      </p:grpSp>
      <p:grpSp>
        <p:nvGrpSpPr>
          <p:cNvPr id="9" name="Group 9"/>
          <p:cNvGrpSpPr/>
          <p:nvPr/>
        </p:nvGrpSpPr>
        <p:grpSpPr>
          <a:xfrm>
            <a:off x="9296400" y="6772112"/>
            <a:ext cx="8334375" cy="2973024"/>
            <a:chOff x="0" y="-1"/>
            <a:chExt cx="2195037" cy="783038"/>
          </a:xfrm>
        </p:grpSpPr>
        <p:sp>
          <p:nvSpPr>
            <p:cNvPr id="10" name="Freeform 10"/>
            <p:cNvSpPr/>
            <p:nvPr/>
          </p:nvSpPr>
          <p:spPr>
            <a:xfrm>
              <a:off x="0" y="0"/>
              <a:ext cx="2195037" cy="783037"/>
            </a:xfrm>
            <a:custGeom>
              <a:avLst/>
              <a:gdLst/>
              <a:ahLst/>
              <a:cxnLst/>
              <a:rect l="l" t="t" r="r" b="b"/>
              <a:pathLst>
                <a:path w="2195037" h="783037">
                  <a:moveTo>
                    <a:pt x="2195037" y="18578"/>
                  </a:moveTo>
                  <a:lnTo>
                    <a:pt x="2195037" y="764459"/>
                  </a:lnTo>
                  <a:cubicBezTo>
                    <a:pt x="2195037" y="769386"/>
                    <a:pt x="2193079" y="774112"/>
                    <a:pt x="2189595" y="777596"/>
                  </a:cubicBezTo>
                  <a:cubicBezTo>
                    <a:pt x="2186111" y="781080"/>
                    <a:pt x="2181386" y="783037"/>
                    <a:pt x="2176458" y="783037"/>
                  </a:cubicBezTo>
                  <a:lnTo>
                    <a:pt x="18578" y="783037"/>
                  </a:lnTo>
                  <a:cubicBezTo>
                    <a:pt x="13651" y="783037"/>
                    <a:pt x="8926" y="781080"/>
                    <a:pt x="5441" y="777596"/>
                  </a:cubicBezTo>
                  <a:cubicBezTo>
                    <a:pt x="1957" y="774112"/>
                    <a:pt x="0" y="769386"/>
                    <a:pt x="0" y="764459"/>
                  </a:cubicBezTo>
                  <a:lnTo>
                    <a:pt x="0" y="18578"/>
                  </a:lnTo>
                  <a:cubicBezTo>
                    <a:pt x="0" y="13651"/>
                    <a:pt x="1957" y="8926"/>
                    <a:pt x="5441" y="5441"/>
                  </a:cubicBezTo>
                  <a:cubicBezTo>
                    <a:pt x="8926" y="1957"/>
                    <a:pt x="13651" y="0"/>
                    <a:pt x="18578" y="0"/>
                  </a:cubicBezTo>
                  <a:lnTo>
                    <a:pt x="2176458" y="0"/>
                  </a:lnTo>
                  <a:cubicBezTo>
                    <a:pt x="2181386" y="0"/>
                    <a:pt x="2186111" y="1957"/>
                    <a:pt x="2189595" y="5441"/>
                  </a:cubicBezTo>
                  <a:cubicBezTo>
                    <a:pt x="2193079" y="8926"/>
                    <a:pt x="2195037" y="13651"/>
                    <a:pt x="2195037" y="18578"/>
                  </a:cubicBezTo>
                  <a:close/>
                </a:path>
              </a:pathLst>
            </a:custGeom>
            <a:solidFill>
              <a:srgbClr val="08FFA7"/>
            </a:solidFill>
            <a:ln cap="sq">
              <a:noFill/>
              <a:prstDash val="solid"/>
              <a:miter/>
            </a:ln>
          </p:spPr>
          <p:txBody>
            <a:bodyPr/>
            <a:lstStyle/>
            <a:p>
              <a:endParaRPr lang="en-US"/>
            </a:p>
          </p:txBody>
        </p:sp>
        <p:sp>
          <p:nvSpPr>
            <p:cNvPr id="11" name="TextBox 11"/>
            <p:cNvSpPr txBox="1"/>
            <p:nvPr/>
          </p:nvSpPr>
          <p:spPr>
            <a:xfrm>
              <a:off x="0" y="-1"/>
              <a:ext cx="2195037" cy="783038"/>
            </a:xfrm>
            <a:prstGeom prst="rect">
              <a:avLst/>
            </a:prstGeom>
          </p:spPr>
          <p:txBody>
            <a:bodyPr lIns="254000" tIns="254000" rIns="254000" bIns="254000" rtlCol="0" anchor="ctr"/>
            <a:lstStyle/>
            <a:p>
              <a:pPr algn="l">
                <a:lnSpc>
                  <a:spcPts val="3920"/>
                </a:lnSpc>
              </a:pPr>
              <a:r>
                <a:rPr lang="en-US" sz="2800" b="1" spc="-84" dirty="0">
                  <a:solidFill>
                    <a:srgbClr val="000000"/>
                  </a:solidFill>
                  <a:latin typeface="TT Fors Bold"/>
                  <a:ea typeface="TT Fors Bold"/>
                  <a:cs typeface="TT Fors Bold"/>
                  <a:sym typeface="TT Fors Bold"/>
                </a:rPr>
                <a:t>Soft Skills:</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Problem-solving mindset</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Attention to detail</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Communication skills</a:t>
              </a:r>
            </a:p>
            <a:p>
              <a:pPr marL="604524" lvl="1" indent="-302262" algn="l">
                <a:lnSpc>
                  <a:spcPts val="3920"/>
                </a:lnSpc>
                <a:buFont typeface="Arial"/>
                <a:buChar char="•"/>
              </a:pPr>
              <a:r>
                <a:rPr lang="en-US" sz="2800" spc="-84" dirty="0">
                  <a:solidFill>
                    <a:srgbClr val="000000"/>
                  </a:solidFill>
                  <a:latin typeface="TT Fors"/>
                  <a:ea typeface="TT Fors"/>
                  <a:cs typeface="TT Fors"/>
                  <a:sym typeface="TT Fors"/>
                </a:rPr>
                <a:t>Ethical integrity</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66750" y="2374999"/>
          <a:ext cx="16954500" cy="5486401"/>
        </p:xfrm>
        <a:graphic>
          <a:graphicData uri="http://schemas.openxmlformats.org/drawingml/2006/table">
            <a:tbl>
              <a:tblPr/>
              <a:tblGrid>
                <a:gridCol w="4806914">
                  <a:extLst>
                    <a:ext uri="{9D8B030D-6E8A-4147-A177-3AD203B41FA5}">
                      <a16:colId xmlns:a16="http://schemas.microsoft.com/office/drawing/2014/main" val="20000"/>
                    </a:ext>
                  </a:extLst>
                </a:gridCol>
                <a:gridCol w="7896717">
                  <a:extLst>
                    <a:ext uri="{9D8B030D-6E8A-4147-A177-3AD203B41FA5}">
                      <a16:colId xmlns:a16="http://schemas.microsoft.com/office/drawing/2014/main" val="20001"/>
                    </a:ext>
                  </a:extLst>
                </a:gridCol>
                <a:gridCol w="4250869">
                  <a:extLst>
                    <a:ext uri="{9D8B030D-6E8A-4147-A177-3AD203B41FA5}">
                      <a16:colId xmlns:a16="http://schemas.microsoft.com/office/drawing/2014/main" val="20002"/>
                    </a:ext>
                  </a:extLst>
                </a:gridCol>
              </a:tblGrid>
              <a:tr h="930386">
                <a:tc>
                  <a:txBody>
                    <a:bodyPr/>
                    <a:lstStyle/>
                    <a:p>
                      <a:pPr algn="l">
                        <a:lnSpc>
                          <a:spcPts val="3499"/>
                        </a:lnSpc>
                        <a:defRPr/>
                      </a:pPr>
                      <a:r>
                        <a:rPr lang="en-US" sz="2499" b="1">
                          <a:solidFill>
                            <a:srgbClr val="000000"/>
                          </a:solidFill>
                          <a:latin typeface="TT Fors Bold"/>
                          <a:ea typeface="TT Fors Bold"/>
                          <a:cs typeface="TT Fors Bold"/>
                          <a:sym typeface="TT Fors Bold"/>
                        </a:rPr>
                        <a:t>Role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3499"/>
                        </a:lnSpc>
                        <a:defRPr/>
                      </a:pPr>
                      <a:r>
                        <a:rPr lang="en-US" sz="2499" b="1">
                          <a:solidFill>
                            <a:srgbClr val="000000"/>
                          </a:solidFill>
                          <a:latin typeface="TT Fors Bold"/>
                          <a:ea typeface="TT Fors Bold"/>
                          <a:cs typeface="TT Fors Bold"/>
                          <a:sym typeface="TT Fors Bold"/>
                        </a:rPr>
                        <a:t>Description</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ctr">
                        <a:lnSpc>
                          <a:spcPts val="3499"/>
                        </a:lnSpc>
                        <a:defRPr/>
                      </a:pPr>
                      <a:r>
                        <a:rPr lang="en-US" sz="2499" b="1">
                          <a:solidFill>
                            <a:srgbClr val="000000"/>
                          </a:solidFill>
                          <a:latin typeface="TT Fors Bold"/>
                          <a:ea typeface="TT Fors Bold"/>
                          <a:cs typeface="TT Fors Bold"/>
                          <a:sym typeface="TT Fors Bold"/>
                        </a:rPr>
                        <a:t>Avg. Salary (Malaysia)</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911203">
                <a:tc>
                  <a:txBody>
                    <a:bodyPr/>
                    <a:lstStyle/>
                    <a:p>
                      <a:pPr algn="l">
                        <a:lnSpc>
                          <a:spcPts val="3359"/>
                        </a:lnSpc>
                        <a:defRPr/>
                      </a:pPr>
                      <a:r>
                        <a:rPr lang="en-US" sz="2399" b="1">
                          <a:solidFill>
                            <a:srgbClr val="FFFFFF"/>
                          </a:solidFill>
                          <a:latin typeface="TT Fors Bold"/>
                          <a:ea typeface="TT Fors Bold"/>
                          <a:cs typeface="TT Fors Bold"/>
                          <a:sym typeface="TT Fors Bold"/>
                        </a:rPr>
                        <a:t>Penetration Tester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Simulate attacks on systems to find vulnerabilities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ctr">
                        <a:lnSpc>
                          <a:spcPts val="3359"/>
                        </a:lnSpc>
                        <a:defRPr/>
                      </a:pPr>
                      <a:r>
                        <a:rPr lang="en-US" sz="2399" b="1">
                          <a:solidFill>
                            <a:srgbClr val="FFFFFF"/>
                          </a:solidFill>
                          <a:latin typeface="TT Fors Bold"/>
                          <a:ea typeface="TT Fors Bold"/>
                          <a:cs typeface="TT Fors Bold"/>
                          <a:sym typeface="TT Fors Bold"/>
                        </a:rPr>
                        <a:t>RM 60k - 120k/year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911203">
                <a:tc>
                  <a:txBody>
                    <a:bodyPr/>
                    <a:lstStyle/>
                    <a:p>
                      <a:pPr algn="l">
                        <a:lnSpc>
                          <a:spcPts val="3359"/>
                        </a:lnSpc>
                        <a:defRPr/>
                      </a:pPr>
                      <a:r>
                        <a:rPr lang="en-US" sz="2399" b="1">
                          <a:solidFill>
                            <a:srgbClr val="FFFFFF"/>
                          </a:solidFill>
                          <a:latin typeface="TT Fors Bold"/>
                          <a:ea typeface="TT Fors Bold"/>
                          <a:cs typeface="TT Fors Bold"/>
                          <a:sym typeface="TT Fors Bold"/>
                        </a:rPr>
                        <a:t>Security Analyst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Monitor and respond to security incidents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ctr">
                        <a:lnSpc>
                          <a:spcPts val="3359"/>
                        </a:lnSpc>
                        <a:defRPr/>
                      </a:pPr>
                      <a:r>
                        <a:rPr lang="en-US" sz="2399" b="1">
                          <a:solidFill>
                            <a:srgbClr val="FFFFFF"/>
                          </a:solidFill>
                          <a:latin typeface="TT Fors Bold"/>
                          <a:ea typeface="TT Fors Bold"/>
                          <a:cs typeface="TT Fors Bold"/>
                          <a:sym typeface="TT Fors Bold"/>
                        </a:rPr>
                        <a:t>RM 50k - 90k/year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911203">
                <a:tc>
                  <a:txBody>
                    <a:bodyPr/>
                    <a:lstStyle/>
                    <a:p>
                      <a:pPr algn="l">
                        <a:lnSpc>
                          <a:spcPts val="3359"/>
                        </a:lnSpc>
                        <a:defRPr/>
                      </a:pPr>
                      <a:r>
                        <a:rPr lang="en-US" sz="2399" b="1">
                          <a:solidFill>
                            <a:srgbClr val="FFFFFF"/>
                          </a:solidFill>
                          <a:latin typeface="TT Fors Bold"/>
                          <a:ea typeface="TT Fors Bold"/>
                          <a:cs typeface="TT Fors Bold"/>
                          <a:sym typeface="TT Fors Bold"/>
                        </a:rPr>
                        <a:t>Red Team Operator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Advanced adversary simulation and testing</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ctr">
                        <a:lnSpc>
                          <a:spcPts val="3359"/>
                        </a:lnSpc>
                        <a:defRPr/>
                      </a:pPr>
                      <a:r>
                        <a:rPr lang="en-US" sz="2399" b="1">
                          <a:solidFill>
                            <a:srgbClr val="FFFFFF"/>
                          </a:solidFill>
                          <a:latin typeface="TT Fors Bold"/>
                          <a:ea typeface="TT Fors Bold"/>
                          <a:cs typeface="TT Fors Bold"/>
                          <a:sym typeface="TT Fors Bold"/>
                        </a:rPr>
                        <a:t>RM 80k - 150k/year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911203">
                <a:tc>
                  <a:txBody>
                    <a:bodyPr/>
                    <a:lstStyle/>
                    <a:p>
                      <a:pPr algn="l">
                        <a:lnSpc>
                          <a:spcPts val="3359"/>
                        </a:lnSpc>
                        <a:defRPr/>
                      </a:pPr>
                      <a:r>
                        <a:rPr lang="en-US" sz="2399" b="1">
                          <a:solidFill>
                            <a:srgbClr val="FFFFFF"/>
                          </a:solidFill>
                          <a:latin typeface="TT Fors Bold"/>
                          <a:ea typeface="TT Fors Bold"/>
                          <a:cs typeface="TT Fors Bold"/>
                          <a:sym typeface="TT Fors Bold"/>
                        </a:rPr>
                        <a:t>Security Consultant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Advise organizations on security strategy</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ctr">
                        <a:lnSpc>
                          <a:spcPts val="3359"/>
                        </a:lnSpc>
                        <a:defRPr/>
                      </a:pPr>
                      <a:r>
                        <a:rPr lang="en-US" sz="2399" b="1">
                          <a:solidFill>
                            <a:srgbClr val="FFFFFF"/>
                          </a:solidFill>
                          <a:latin typeface="TT Fors Bold"/>
                          <a:ea typeface="TT Fors Bold"/>
                          <a:cs typeface="TT Fors Bold"/>
                          <a:sym typeface="TT Fors Bold"/>
                        </a:rPr>
                        <a:t>RM 70k - 130k/year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911203">
                <a:tc>
                  <a:txBody>
                    <a:bodyPr/>
                    <a:lstStyle/>
                    <a:p>
                      <a:pPr algn="l">
                        <a:lnSpc>
                          <a:spcPts val="3359"/>
                        </a:lnSpc>
                        <a:defRPr/>
                      </a:pPr>
                      <a:r>
                        <a:rPr lang="en-US" sz="2399" b="1">
                          <a:solidFill>
                            <a:srgbClr val="FFFFFF"/>
                          </a:solidFill>
                          <a:latin typeface="TT Fors Bold"/>
                          <a:ea typeface="TT Fors Bold"/>
                          <a:cs typeface="TT Fors Bold"/>
                          <a:sym typeface="TT Fors Bold"/>
                        </a:rPr>
                        <a:t>Bug Bounty Hunter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Find vulnerabilities for rewards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ctr">
                        <a:lnSpc>
                          <a:spcPts val="3359"/>
                        </a:lnSpc>
                        <a:defRPr/>
                      </a:pPr>
                      <a:r>
                        <a:rPr lang="en-US" sz="2399" b="1">
                          <a:solidFill>
                            <a:srgbClr val="FFFFFF"/>
                          </a:solidFill>
                          <a:latin typeface="TT Fors Bold"/>
                          <a:ea typeface="TT Fors Bold"/>
                          <a:cs typeface="TT Fors Bold"/>
                          <a:sym typeface="TT Fors Bold"/>
                        </a:rPr>
                        <a:t>Variable (up to $1M+)</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u="none" strike="noStrike" spc="-209">
                <a:solidFill>
                  <a:srgbClr val="00FFA8"/>
                </a:solidFill>
                <a:latin typeface="ITC Avant Garde Gothic"/>
                <a:ea typeface="ITC Avant Garde Gothic"/>
                <a:cs typeface="ITC Avant Garde Gothic"/>
                <a:sym typeface="ITC Avant Garde Gothic"/>
              </a:rPr>
              <a:t>Career Paths in Ethical Hacking</a:t>
            </a:r>
          </a:p>
        </p:txBody>
      </p:sp>
      <p:grpSp>
        <p:nvGrpSpPr>
          <p:cNvPr id="4" name="Group 4"/>
          <p:cNvGrpSpPr/>
          <p:nvPr/>
        </p:nvGrpSpPr>
        <p:grpSpPr>
          <a:xfrm>
            <a:off x="666750" y="8506024"/>
            <a:ext cx="16954500" cy="1215584"/>
            <a:chOff x="0" y="-810"/>
            <a:chExt cx="4465332" cy="320162"/>
          </a:xfrm>
        </p:grpSpPr>
        <p:sp>
          <p:nvSpPr>
            <p:cNvPr id="5" name="Freeform 5"/>
            <p:cNvSpPr/>
            <p:nvPr/>
          </p:nvSpPr>
          <p:spPr>
            <a:xfrm>
              <a:off x="0" y="0"/>
              <a:ext cx="4465332" cy="319352"/>
            </a:xfrm>
            <a:custGeom>
              <a:avLst/>
              <a:gdLst/>
              <a:ahLst/>
              <a:cxnLst/>
              <a:rect l="l" t="t" r="r" b="b"/>
              <a:pathLst>
                <a:path w="4465332" h="319352">
                  <a:moveTo>
                    <a:pt x="4465332" y="9133"/>
                  </a:moveTo>
                  <a:lnTo>
                    <a:pt x="4465332" y="310219"/>
                  </a:lnTo>
                  <a:cubicBezTo>
                    <a:pt x="4465332" y="312642"/>
                    <a:pt x="4464370" y="314964"/>
                    <a:pt x="4462657" y="316677"/>
                  </a:cubicBezTo>
                  <a:cubicBezTo>
                    <a:pt x="4460944" y="318390"/>
                    <a:pt x="4458622" y="319352"/>
                    <a:pt x="4456200" y="319352"/>
                  </a:cubicBezTo>
                  <a:lnTo>
                    <a:pt x="9133" y="319352"/>
                  </a:lnTo>
                  <a:cubicBezTo>
                    <a:pt x="6710" y="319352"/>
                    <a:pt x="4388" y="318390"/>
                    <a:pt x="2675" y="316677"/>
                  </a:cubicBezTo>
                  <a:cubicBezTo>
                    <a:pt x="962" y="314964"/>
                    <a:pt x="0" y="312642"/>
                    <a:pt x="0" y="31021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6" name="TextBox 6"/>
            <p:cNvSpPr txBox="1"/>
            <p:nvPr/>
          </p:nvSpPr>
          <p:spPr>
            <a:xfrm>
              <a:off x="0" y="-810"/>
              <a:ext cx="4465332" cy="320162"/>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Key Certifications: </a:t>
              </a:r>
              <a:r>
                <a:rPr lang="en-US" sz="2800" spc="-84" dirty="0">
                  <a:solidFill>
                    <a:srgbClr val="FFFFFF"/>
                  </a:solidFill>
                  <a:latin typeface="TT Fors"/>
                  <a:ea typeface="TT Fors"/>
                  <a:cs typeface="TT Fors"/>
                  <a:sym typeface="TT Fors"/>
                </a:rPr>
                <a:t>CEH, OSCP, GPEN, GWAPT, PNPT, </a:t>
              </a:r>
              <a:r>
                <a:rPr lang="en-US" sz="2800" spc="-84" dirty="0" err="1">
                  <a:solidFill>
                    <a:srgbClr val="FFFFFF"/>
                  </a:solidFill>
                  <a:latin typeface="TT Fors"/>
                  <a:ea typeface="TT Fors"/>
                  <a:cs typeface="TT Fors"/>
                  <a:sym typeface="TT Fors"/>
                </a:rPr>
                <a:t>eWPT</a:t>
              </a:r>
              <a:r>
                <a:rPr lang="en-US" sz="2800" spc="-84" dirty="0">
                  <a:solidFill>
                    <a:srgbClr val="FFFFFF"/>
                  </a:solidFill>
                  <a:latin typeface="TT Fors"/>
                  <a:ea typeface="TT Fors"/>
                  <a:cs typeface="TT Fors"/>
                  <a:sym typeface="TT Fors"/>
                </a:rPr>
                <a:t>, CompTIA </a:t>
              </a:r>
              <a:r>
                <a:rPr lang="en-US" sz="2800" spc="-84" dirty="0" err="1">
                  <a:solidFill>
                    <a:srgbClr val="FFFFFF"/>
                  </a:solidFill>
                  <a:latin typeface="TT Fors"/>
                  <a:ea typeface="TT Fors"/>
                  <a:cs typeface="TT Fors"/>
                  <a:sym typeface="TT Fors"/>
                </a:rPr>
                <a:t>PenTest</a:t>
              </a:r>
              <a:r>
                <a:rPr lang="en-US" sz="2800" spc="-84" dirty="0">
                  <a:solidFill>
                    <a:srgbClr val="FFFFFF"/>
                  </a:solidFill>
                  <a:latin typeface="TT Fors"/>
                  <a:ea typeface="TT Fors"/>
                  <a:cs typeface="TT Fors"/>
                  <a:sym typeface="TT Fors"/>
                </a:rPr>
                <a: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4408263" cy="1063625"/>
          </a:xfrm>
          <a:prstGeom prst="rect">
            <a:avLst/>
          </a:prstGeom>
        </p:spPr>
        <p:txBody>
          <a:bodyPr lIns="0" tIns="0" rIns="0" bIns="0" rtlCol="0" anchor="t">
            <a:spAutoFit/>
          </a:bodyPr>
          <a:lstStyle/>
          <a:p>
            <a:pPr marL="0" lvl="0" indent="0" algn="l">
              <a:lnSpc>
                <a:spcPts val="6999"/>
              </a:lnSpc>
              <a:spcBef>
                <a:spcPct val="0"/>
              </a:spcBef>
            </a:pPr>
            <a:r>
              <a:rPr lang="en-US" sz="6999" u="none" strike="noStrike" spc="-209">
                <a:solidFill>
                  <a:srgbClr val="00FFA8"/>
                </a:solidFill>
                <a:latin typeface="ITC Avant Garde Gothic"/>
                <a:ea typeface="ITC Avant Garde Gothic"/>
                <a:cs typeface="ITC Avant Garde Gothic"/>
                <a:sym typeface="ITC Avant Garde Gothic"/>
              </a:rPr>
              <a:t>Penetration Testing Methodologies</a:t>
            </a:r>
          </a:p>
        </p:txBody>
      </p:sp>
      <p:grpSp>
        <p:nvGrpSpPr>
          <p:cNvPr id="3" name="Group 3"/>
          <p:cNvGrpSpPr/>
          <p:nvPr/>
        </p:nvGrpSpPr>
        <p:grpSpPr>
          <a:xfrm>
            <a:off x="15557618" y="-844380"/>
            <a:ext cx="3467057" cy="4305236"/>
            <a:chOff x="0" y="0"/>
            <a:chExt cx="4622743" cy="5740315"/>
          </a:xfrm>
        </p:grpSpPr>
        <p:sp>
          <p:nvSpPr>
            <p:cNvPr id="4" name="Freeform 4"/>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rot="8100000">
              <a:off x="-106337" y="2577879"/>
              <a:ext cx="4835418" cy="1702128"/>
              <a:chOff x="0" y="0"/>
              <a:chExt cx="954623" cy="336039"/>
            </a:xfrm>
          </p:grpSpPr>
          <p:sp>
            <p:nvSpPr>
              <p:cNvPr id="6" name="Freeform 6"/>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00FFA8"/>
              </a:solidFill>
              <a:ln cap="sq">
                <a:noFill/>
                <a:prstDash val="solid"/>
                <a:miter/>
              </a:ln>
            </p:spPr>
            <p:txBody>
              <a:bodyPr/>
              <a:lstStyle/>
              <a:p>
                <a:endParaRPr lang="en-US"/>
              </a:p>
            </p:txBody>
          </p:sp>
          <p:sp>
            <p:nvSpPr>
              <p:cNvPr id="7" name="TextBox 7"/>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8" name="TextBox 8"/>
          <p:cNvSpPr txBox="1"/>
          <p:nvPr/>
        </p:nvSpPr>
        <p:spPr>
          <a:xfrm>
            <a:off x="666750" y="2028825"/>
            <a:ext cx="14408263" cy="552450"/>
          </a:xfrm>
          <a:prstGeom prst="rect">
            <a:avLst/>
          </a:prstGeom>
        </p:spPr>
        <p:txBody>
          <a:bodyPr lIns="0" tIns="0" rIns="0" bIns="0" rtlCol="0" anchor="t">
            <a:spAutoFit/>
          </a:bodyPr>
          <a:lstStyle/>
          <a:p>
            <a:pPr marL="0" lvl="0" indent="0" algn="l">
              <a:lnSpc>
                <a:spcPts val="3839"/>
              </a:lnSpc>
              <a:spcBef>
                <a:spcPct val="0"/>
              </a:spcBef>
            </a:pPr>
            <a:r>
              <a:rPr lang="en-US" sz="3199" spc="-95">
                <a:solidFill>
                  <a:srgbClr val="00FFA8"/>
                </a:solidFill>
                <a:latin typeface="ITC Avant Garde Gothic"/>
                <a:ea typeface="ITC Avant Garde Gothic"/>
                <a:cs typeface="ITC Avant Garde Gothic"/>
                <a:sym typeface="ITC Avant Garde Gothic"/>
              </a:rPr>
              <a:t>S</a:t>
            </a:r>
            <a:r>
              <a:rPr lang="en-US" sz="3199" u="none" strike="noStrike" spc="-95">
                <a:solidFill>
                  <a:srgbClr val="00FFA8"/>
                </a:solidFill>
                <a:latin typeface="ITC Avant Garde Gothic"/>
                <a:ea typeface="ITC Avant Garde Gothic"/>
                <a:cs typeface="ITC Avant Garde Gothic"/>
                <a:sym typeface="ITC Avant Garde Gothic"/>
              </a:rPr>
              <a:t>tandardized frameworks ensure comprehensive and consistent testing</a:t>
            </a:r>
          </a:p>
        </p:txBody>
      </p:sp>
      <p:grpSp>
        <p:nvGrpSpPr>
          <p:cNvPr id="9" name="Group 9"/>
          <p:cNvGrpSpPr/>
          <p:nvPr/>
        </p:nvGrpSpPr>
        <p:grpSpPr>
          <a:xfrm>
            <a:off x="666750" y="3229292"/>
            <a:ext cx="16344638" cy="3828415"/>
            <a:chOff x="0" y="0"/>
            <a:chExt cx="21792851" cy="5104554"/>
          </a:xfrm>
        </p:grpSpPr>
        <p:sp>
          <p:nvSpPr>
            <p:cNvPr id="10" name="TextBox 10"/>
            <p:cNvSpPr txBox="1"/>
            <p:nvPr/>
          </p:nvSpPr>
          <p:spPr>
            <a:xfrm>
              <a:off x="0" y="877782"/>
              <a:ext cx="21792851" cy="4226772"/>
            </a:xfrm>
            <a:prstGeom prst="rect">
              <a:avLst/>
            </a:prstGeom>
          </p:spPr>
          <p:txBody>
            <a:bodyPr lIns="0" tIns="0" rIns="0" bIns="0" rtlCol="0" anchor="t">
              <a:spAutoFit/>
            </a:bodyPr>
            <a:lstStyle/>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Pre-engagement:</a:t>
              </a:r>
              <a:r>
                <a:rPr lang="en-US" sz="2600">
                  <a:solidFill>
                    <a:srgbClr val="00FFA8"/>
                  </a:solidFill>
                  <a:latin typeface="TT Fors"/>
                  <a:ea typeface="TT Fors"/>
                  <a:cs typeface="TT Fors"/>
                  <a:sym typeface="TT Fors"/>
                </a:rPr>
                <a:t> Scope definition, rules of engagement</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Intelligence Gathering:</a:t>
              </a:r>
              <a:r>
                <a:rPr lang="en-US" sz="2600">
                  <a:solidFill>
                    <a:srgbClr val="00FFA8"/>
                  </a:solidFill>
                  <a:latin typeface="TT Fors"/>
                  <a:ea typeface="TT Fors"/>
                  <a:cs typeface="TT Fors"/>
                  <a:sym typeface="TT Fors"/>
                </a:rPr>
                <a:t> OSINT and reconnaissance</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Threat Modeling:</a:t>
              </a:r>
              <a:r>
                <a:rPr lang="en-US" sz="2600">
                  <a:solidFill>
                    <a:srgbClr val="00FFA8"/>
                  </a:solidFill>
                  <a:latin typeface="TT Fors"/>
                  <a:ea typeface="TT Fors"/>
                  <a:cs typeface="TT Fors"/>
                  <a:sym typeface="TT Fors"/>
                </a:rPr>
                <a:t> Identify attack vectors</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Vulnerability Analysis:</a:t>
              </a:r>
              <a:r>
                <a:rPr lang="en-US" sz="2600">
                  <a:solidFill>
                    <a:srgbClr val="00FFA8"/>
                  </a:solidFill>
                  <a:latin typeface="TT Fors"/>
                  <a:ea typeface="TT Fors"/>
                  <a:cs typeface="TT Fors"/>
                  <a:sym typeface="TT Fors"/>
                </a:rPr>
                <a:t> Find weaknesses</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Exploitation:</a:t>
              </a:r>
              <a:r>
                <a:rPr lang="en-US" sz="2600">
                  <a:solidFill>
                    <a:srgbClr val="00FFA8"/>
                  </a:solidFill>
                  <a:latin typeface="TT Fors"/>
                  <a:ea typeface="TT Fors"/>
                  <a:cs typeface="TT Fors"/>
                  <a:sym typeface="TT Fors"/>
                </a:rPr>
                <a:t> Attempt to compromise systems</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Post-Exploitation:</a:t>
              </a:r>
              <a:r>
                <a:rPr lang="en-US" sz="2600">
                  <a:solidFill>
                    <a:srgbClr val="00FFA8"/>
                  </a:solidFill>
                  <a:latin typeface="TT Fors"/>
                  <a:ea typeface="TT Fors"/>
                  <a:cs typeface="TT Fors"/>
                  <a:sym typeface="TT Fors"/>
                </a:rPr>
                <a:t> Maintain access, pivot</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Reporting:</a:t>
              </a:r>
              <a:r>
                <a:rPr lang="en-US" sz="2600">
                  <a:solidFill>
                    <a:srgbClr val="00FFA8"/>
                  </a:solidFill>
                  <a:latin typeface="TT Fors"/>
                  <a:ea typeface="TT Fors"/>
                  <a:cs typeface="TT Fors"/>
                  <a:sym typeface="TT Fors"/>
                </a:rPr>
                <a:t> Document findings and recommendations</a:t>
              </a:r>
            </a:p>
          </p:txBody>
        </p:sp>
        <p:sp>
          <p:nvSpPr>
            <p:cNvPr id="11" name="TextBox 11"/>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1.</a:t>
              </a:r>
              <a:r>
                <a:rPr lang="en-US" sz="3199" b="1" u="none" strike="noStrike" spc="-95">
                  <a:solidFill>
                    <a:srgbClr val="00FFA8"/>
                  </a:solidFill>
                  <a:latin typeface="TT Fors Bold"/>
                  <a:ea typeface="TT Fors Bold"/>
                  <a:cs typeface="TT Fors Bold"/>
                  <a:sym typeface="TT Fors Bold"/>
                </a:rPr>
                <a:t> PTES (Penetration Testing Execution Standard)</a:t>
              </a:r>
            </a:p>
          </p:txBody>
        </p:sp>
      </p:grpSp>
      <p:sp>
        <p:nvSpPr>
          <p:cNvPr id="12" name="TextBox 12"/>
          <p:cNvSpPr txBox="1"/>
          <p:nvPr/>
        </p:nvSpPr>
        <p:spPr>
          <a:xfrm>
            <a:off x="15953985" y="9654533"/>
            <a:ext cx="2114807" cy="481963"/>
          </a:xfrm>
          <a:prstGeom prst="rect">
            <a:avLst/>
          </a:prstGeom>
        </p:spPr>
        <p:txBody>
          <a:bodyPr lIns="0" tIns="0" rIns="0" bIns="0" rtlCol="0" anchor="t">
            <a:spAutoFit/>
          </a:bodyPr>
          <a:lstStyle/>
          <a:p>
            <a:pPr algn="l">
              <a:lnSpc>
                <a:spcPts val="4200"/>
              </a:lnSpc>
            </a:pPr>
            <a:r>
              <a:rPr lang="en-US" sz="2100" i="1" spc="-63">
                <a:solidFill>
                  <a:srgbClr val="00FFA8"/>
                </a:solidFill>
                <a:latin typeface="TT Fors Italics"/>
                <a:ea typeface="TT Fors Italics"/>
                <a:cs typeface="TT Fors Italics"/>
                <a:sym typeface="TT Fors Italics"/>
              </a:rPr>
              <a:t>To be continued...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4408263"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O</a:t>
            </a:r>
            <a:r>
              <a:rPr lang="en-US" sz="6999" u="none" strike="noStrike" spc="-209">
                <a:solidFill>
                  <a:srgbClr val="00FFA8"/>
                </a:solidFill>
                <a:latin typeface="ITC Avant Garde Gothic"/>
                <a:ea typeface="ITC Avant Garde Gothic"/>
                <a:cs typeface="ITC Avant Garde Gothic"/>
                <a:sym typeface="ITC Avant Garde Gothic"/>
              </a:rPr>
              <a:t>ther Testing Methodologies</a:t>
            </a:r>
          </a:p>
        </p:txBody>
      </p:sp>
      <p:grpSp>
        <p:nvGrpSpPr>
          <p:cNvPr id="3" name="Group 3"/>
          <p:cNvGrpSpPr/>
          <p:nvPr/>
        </p:nvGrpSpPr>
        <p:grpSpPr>
          <a:xfrm>
            <a:off x="15557618" y="-844380"/>
            <a:ext cx="3467057" cy="4305236"/>
            <a:chOff x="0" y="0"/>
            <a:chExt cx="4622743" cy="5740315"/>
          </a:xfrm>
        </p:grpSpPr>
        <p:sp>
          <p:nvSpPr>
            <p:cNvPr id="4" name="Freeform 4"/>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rot="8100000">
              <a:off x="-106337" y="2577879"/>
              <a:ext cx="4835418" cy="1702128"/>
              <a:chOff x="0" y="0"/>
              <a:chExt cx="954623" cy="336039"/>
            </a:xfrm>
          </p:grpSpPr>
          <p:sp>
            <p:nvSpPr>
              <p:cNvPr id="6" name="Freeform 6"/>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00FFA8"/>
              </a:solidFill>
              <a:ln cap="sq">
                <a:noFill/>
                <a:prstDash val="solid"/>
                <a:miter/>
              </a:ln>
            </p:spPr>
            <p:txBody>
              <a:bodyPr/>
              <a:lstStyle/>
              <a:p>
                <a:endParaRPr lang="en-US"/>
              </a:p>
            </p:txBody>
          </p:sp>
          <p:sp>
            <p:nvSpPr>
              <p:cNvPr id="7" name="TextBox 7"/>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grpSp>
        <p:nvGrpSpPr>
          <p:cNvPr id="8" name="Group 8"/>
          <p:cNvGrpSpPr/>
          <p:nvPr/>
        </p:nvGrpSpPr>
        <p:grpSpPr>
          <a:xfrm>
            <a:off x="666750" y="4934592"/>
            <a:ext cx="16344638" cy="2456815"/>
            <a:chOff x="0" y="0"/>
            <a:chExt cx="21792851" cy="3275754"/>
          </a:xfrm>
        </p:grpSpPr>
        <p:sp>
          <p:nvSpPr>
            <p:cNvPr id="9" name="TextBox 9"/>
            <p:cNvSpPr txBox="1"/>
            <p:nvPr/>
          </p:nvSpPr>
          <p:spPr>
            <a:xfrm>
              <a:off x="0" y="877782"/>
              <a:ext cx="21792851" cy="2397972"/>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FFA8"/>
                  </a:solidFill>
                  <a:latin typeface="TT Fors"/>
                  <a:ea typeface="TT Fors"/>
                  <a:cs typeface="TT Fors"/>
                  <a:sym typeface="TT Fors"/>
                </a:rPr>
                <a:t>U.S. National Institute of Standards and Technology framework</a:t>
              </a:r>
            </a:p>
            <a:p>
              <a:pPr marL="561341" lvl="1" indent="-280670" algn="l">
                <a:lnSpc>
                  <a:spcPts val="3640"/>
                </a:lnSpc>
                <a:buFont typeface="Arial"/>
                <a:buChar char="•"/>
              </a:pPr>
              <a:r>
                <a:rPr lang="en-US" sz="2600">
                  <a:solidFill>
                    <a:srgbClr val="00FFA8"/>
                  </a:solidFill>
                  <a:latin typeface="TT Fors"/>
                  <a:ea typeface="TT Fors"/>
                  <a:cs typeface="TT Fors"/>
                  <a:sym typeface="TT Fors"/>
                </a:rPr>
                <a:t>Government and compliance-focused</a:t>
              </a:r>
            </a:p>
            <a:p>
              <a:pPr marL="561341" lvl="1" indent="-280670" algn="l">
                <a:lnSpc>
                  <a:spcPts val="3640"/>
                </a:lnSpc>
                <a:buFont typeface="Arial"/>
                <a:buChar char="•"/>
              </a:pPr>
              <a:r>
                <a:rPr lang="en-US" sz="2600">
                  <a:solidFill>
                    <a:srgbClr val="00FFA8"/>
                  </a:solidFill>
                  <a:latin typeface="TT Fors"/>
                  <a:ea typeface="TT Fors"/>
                  <a:cs typeface="TT Fors"/>
                  <a:sym typeface="TT Fors"/>
                </a:rPr>
                <a:t>Phases: Planning, Discovery, Attack, Reporting</a:t>
              </a:r>
            </a:p>
            <a:p>
              <a:pPr marL="561341" lvl="1" indent="-280670" algn="l">
                <a:lnSpc>
                  <a:spcPts val="3640"/>
                </a:lnSpc>
                <a:buFont typeface="Arial"/>
                <a:buChar char="•"/>
              </a:pPr>
              <a:r>
                <a:rPr lang="en-US" sz="2600">
                  <a:solidFill>
                    <a:srgbClr val="00FFA8"/>
                  </a:solidFill>
                  <a:latin typeface="TT Fors"/>
                  <a:ea typeface="TT Fors"/>
                  <a:cs typeface="TT Fors"/>
                  <a:sym typeface="TT Fors"/>
                </a:rPr>
                <a:t>Best for: Enterprise and regulated industries</a:t>
              </a:r>
            </a:p>
          </p:txBody>
        </p:sp>
        <p:sp>
          <p:nvSpPr>
            <p:cNvPr id="10" name="TextBox 10"/>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3.</a:t>
              </a:r>
              <a:r>
                <a:rPr lang="en-US" sz="3199" b="1" u="none" strike="noStrike" spc="-95">
                  <a:solidFill>
                    <a:srgbClr val="00FFA8"/>
                  </a:solidFill>
                  <a:latin typeface="TT Fors Bold"/>
                  <a:ea typeface="TT Fors Bold"/>
                  <a:cs typeface="TT Fors Bold"/>
                  <a:sym typeface="TT Fors Bold"/>
                </a:rPr>
                <a:t> NIST SP 800-115</a:t>
              </a:r>
            </a:p>
          </p:txBody>
        </p:sp>
      </p:grpSp>
      <p:grpSp>
        <p:nvGrpSpPr>
          <p:cNvPr id="11" name="Group 11"/>
          <p:cNvGrpSpPr/>
          <p:nvPr/>
        </p:nvGrpSpPr>
        <p:grpSpPr>
          <a:xfrm>
            <a:off x="666750" y="7458142"/>
            <a:ext cx="16344638" cy="2178209"/>
            <a:chOff x="0" y="-238125"/>
            <a:chExt cx="21792851" cy="2904279"/>
          </a:xfrm>
        </p:grpSpPr>
        <p:sp>
          <p:nvSpPr>
            <p:cNvPr id="12" name="TextBox 12"/>
            <p:cNvSpPr txBox="1"/>
            <p:nvPr/>
          </p:nvSpPr>
          <p:spPr>
            <a:xfrm>
              <a:off x="0" y="877782"/>
              <a:ext cx="21792851" cy="1788372"/>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FFA8"/>
                  </a:solidFill>
                  <a:latin typeface="TT Fors"/>
                  <a:ea typeface="TT Fors"/>
                  <a:cs typeface="TT Fors"/>
                  <a:sym typeface="TT Fors"/>
                </a:rPr>
                <a:t>Scientific approach to security testing</a:t>
              </a:r>
            </a:p>
            <a:p>
              <a:pPr marL="561341" lvl="1" indent="-280670" algn="l">
                <a:lnSpc>
                  <a:spcPts val="3640"/>
                </a:lnSpc>
                <a:buFont typeface="Arial"/>
                <a:buChar char="•"/>
              </a:pPr>
              <a:r>
                <a:rPr lang="en-US" sz="2600">
                  <a:solidFill>
                    <a:srgbClr val="00FFA8"/>
                  </a:solidFill>
                  <a:latin typeface="TT Fors"/>
                  <a:ea typeface="TT Fors"/>
                  <a:cs typeface="TT Fors"/>
                  <a:sym typeface="TT Fors"/>
                </a:rPr>
                <a:t>Covers: Networks, wireless, human security, physical security</a:t>
              </a:r>
            </a:p>
            <a:p>
              <a:pPr marL="561341" lvl="1" indent="-280670" algn="l">
                <a:lnSpc>
                  <a:spcPts val="3640"/>
                </a:lnSpc>
                <a:buFont typeface="Arial"/>
                <a:buChar char="•"/>
              </a:pPr>
              <a:r>
                <a:rPr lang="en-US" sz="2600">
                  <a:solidFill>
                    <a:srgbClr val="00FFA8"/>
                  </a:solidFill>
                  <a:latin typeface="TT Fors"/>
                  <a:ea typeface="TT Fors"/>
                  <a:cs typeface="TT Fors"/>
                  <a:sym typeface="TT Fors"/>
                </a:rPr>
                <a:t>Provides metrics and measurements</a:t>
              </a:r>
            </a:p>
          </p:txBody>
        </p:sp>
        <p:sp>
          <p:nvSpPr>
            <p:cNvPr id="13" name="TextBox 13"/>
            <p:cNvSpPr txBox="1"/>
            <p:nvPr/>
          </p:nvSpPr>
          <p:spPr>
            <a:xfrm>
              <a:off x="0" y="-238125"/>
              <a:ext cx="21792851" cy="984800"/>
            </a:xfrm>
            <a:prstGeom prst="rect">
              <a:avLst/>
            </a:prstGeom>
          </p:spPr>
          <p:txBody>
            <a:bodyPr lIns="0" tIns="0" rIns="0" bIns="0" rtlCol="0" anchor="t">
              <a:spAutoFit/>
            </a:bodyPr>
            <a:lstStyle/>
            <a:p>
              <a:pPr algn="l">
                <a:lnSpc>
                  <a:spcPts val="6399"/>
                </a:lnSpc>
              </a:pPr>
              <a:r>
                <a:rPr lang="en-US" sz="3199" b="1" spc="-95" dirty="0">
                  <a:solidFill>
                    <a:srgbClr val="00FFA8"/>
                  </a:solidFill>
                  <a:latin typeface="TT Fors Bold"/>
                  <a:ea typeface="TT Fors Bold"/>
                  <a:cs typeface="TT Fors Bold"/>
                  <a:sym typeface="TT Fors Bold"/>
                </a:rPr>
                <a:t>4.</a:t>
              </a:r>
              <a:r>
                <a:rPr lang="en-US" sz="3199" b="1" u="none" strike="noStrike" spc="-95" dirty="0">
                  <a:solidFill>
                    <a:srgbClr val="00FFA8"/>
                  </a:solidFill>
                  <a:latin typeface="TT Fors Bold"/>
                  <a:ea typeface="TT Fors Bold"/>
                  <a:cs typeface="TT Fors Bold"/>
                  <a:sym typeface="TT Fors Bold"/>
                </a:rPr>
                <a:t> OSSTMM (Open-Source Security Testing Methodology Manual)</a:t>
              </a:r>
            </a:p>
          </p:txBody>
        </p:sp>
      </p:grpSp>
      <p:grpSp>
        <p:nvGrpSpPr>
          <p:cNvPr id="14" name="Group 14"/>
          <p:cNvGrpSpPr/>
          <p:nvPr/>
        </p:nvGrpSpPr>
        <p:grpSpPr>
          <a:xfrm>
            <a:off x="666750" y="2232449"/>
            <a:ext cx="16344638" cy="2456815"/>
            <a:chOff x="0" y="0"/>
            <a:chExt cx="21792851" cy="3275754"/>
          </a:xfrm>
        </p:grpSpPr>
        <p:sp>
          <p:nvSpPr>
            <p:cNvPr id="15" name="TextBox 15"/>
            <p:cNvSpPr txBox="1"/>
            <p:nvPr/>
          </p:nvSpPr>
          <p:spPr>
            <a:xfrm>
              <a:off x="0" y="877782"/>
              <a:ext cx="21792851" cy="2397972"/>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FFA8"/>
                  </a:solidFill>
                  <a:latin typeface="TT Fors"/>
                  <a:ea typeface="TT Fors"/>
                  <a:cs typeface="TT Fors"/>
                  <a:sym typeface="TT Fors"/>
                </a:rPr>
                <a:t>Focus on </a:t>
              </a:r>
              <a:r>
                <a:rPr lang="en-US" sz="2600" b="1">
                  <a:solidFill>
                    <a:srgbClr val="00FFA8"/>
                  </a:solidFill>
                  <a:latin typeface="TT Fors Bold"/>
                  <a:ea typeface="TT Fors Bold"/>
                  <a:cs typeface="TT Fors Bold"/>
                  <a:sym typeface="TT Fors Bold"/>
                </a:rPr>
                <a:t>web application security</a:t>
              </a:r>
            </a:p>
            <a:p>
              <a:pPr marL="561341" lvl="1" indent="-280670" algn="l">
                <a:lnSpc>
                  <a:spcPts val="3640"/>
                </a:lnSpc>
                <a:buFont typeface="Arial"/>
                <a:buChar char="•"/>
              </a:pPr>
              <a:r>
                <a:rPr lang="en-US" sz="2600">
                  <a:solidFill>
                    <a:srgbClr val="00FFA8"/>
                  </a:solidFill>
                  <a:latin typeface="TT Fors"/>
                  <a:ea typeface="TT Fors"/>
                  <a:cs typeface="TT Fors"/>
                  <a:sym typeface="TT Fors"/>
                </a:rPr>
                <a:t>OWASP Top 10 vulnerabilities framework</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Covers:</a:t>
              </a:r>
              <a:r>
                <a:rPr lang="en-US" sz="2600">
                  <a:solidFill>
                    <a:srgbClr val="00FFA8"/>
                  </a:solidFill>
                  <a:latin typeface="TT Fors"/>
                  <a:ea typeface="TT Fors"/>
                  <a:cs typeface="TT Fors"/>
                  <a:sym typeface="TT Fors"/>
                </a:rPr>
                <a:t> Authentication, session management, input validation, cryptography</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Best for:</a:t>
              </a:r>
              <a:r>
                <a:rPr lang="en-US" sz="2600">
                  <a:solidFill>
                    <a:srgbClr val="00FFA8"/>
                  </a:solidFill>
                  <a:latin typeface="TT Fors"/>
                  <a:ea typeface="TT Fors"/>
                  <a:cs typeface="TT Fors"/>
                  <a:sym typeface="TT Fors"/>
                </a:rPr>
                <a:t> Web app penetration testing</a:t>
              </a:r>
            </a:p>
          </p:txBody>
        </p:sp>
        <p:sp>
          <p:nvSpPr>
            <p:cNvPr id="16" name="TextBox 16"/>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2.</a:t>
              </a:r>
              <a:r>
                <a:rPr lang="en-US" sz="3199" b="1" u="none" strike="noStrike" spc="-95">
                  <a:solidFill>
                    <a:srgbClr val="00FFA8"/>
                  </a:solidFill>
                  <a:latin typeface="TT Fors Bold"/>
                  <a:ea typeface="TT Fors Bold"/>
                  <a:cs typeface="TT Fors Bold"/>
                  <a:sym typeface="TT Fors Bold"/>
                </a:rPr>
                <a:t> OWASP Testing Guide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Freeform 2"/>
          <p:cNvSpPr/>
          <p:nvPr/>
        </p:nvSpPr>
        <p:spPr>
          <a:xfrm>
            <a:off x="2003179" y="2445455"/>
            <a:ext cx="14281642" cy="7241199"/>
          </a:xfrm>
          <a:custGeom>
            <a:avLst/>
            <a:gdLst/>
            <a:ahLst/>
            <a:cxnLst/>
            <a:rect l="l" t="t" r="r" b="b"/>
            <a:pathLst>
              <a:path w="14281642" h="7241199">
                <a:moveTo>
                  <a:pt x="0" y="0"/>
                </a:moveTo>
                <a:lnTo>
                  <a:pt x="14281642" y="0"/>
                </a:lnTo>
                <a:lnTo>
                  <a:pt x="14281642" y="7241199"/>
                </a:lnTo>
                <a:lnTo>
                  <a:pt x="0" y="7241199"/>
                </a:lnTo>
                <a:lnTo>
                  <a:pt x="0" y="0"/>
                </a:lnTo>
                <a:close/>
              </a:path>
            </a:pathLst>
          </a:custGeom>
          <a:blipFill>
            <a:blip r:embed="rId2"/>
            <a:stretch>
              <a:fillRect t="-35005" b="-9709"/>
            </a:stretch>
          </a:blipFill>
        </p:spPr>
        <p:txBody>
          <a:bodyPr/>
          <a:lstStyle/>
          <a:p>
            <a:endParaRPr lang="en-US"/>
          </a:p>
        </p:txBody>
      </p:sp>
      <p:sp>
        <p:nvSpPr>
          <p:cNvPr id="3" name="TextBox 3"/>
          <p:cNvSpPr txBox="1"/>
          <p:nvPr/>
        </p:nvSpPr>
        <p:spPr>
          <a:xfrm>
            <a:off x="666750" y="666750"/>
            <a:ext cx="14408263"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8FFA7"/>
                </a:solidFill>
                <a:latin typeface="ITC Avant Garde Gothic"/>
                <a:ea typeface="ITC Avant Garde Gothic"/>
                <a:cs typeface="ITC Avant Garde Gothic"/>
                <a:sym typeface="ITC Avant Garde Gothic"/>
              </a:rPr>
              <a:t>The Penetration Testing Process</a:t>
            </a:r>
          </a:p>
        </p:txBody>
      </p:sp>
      <p:grpSp>
        <p:nvGrpSpPr>
          <p:cNvPr id="4" name="Group 4"/>
          <p:cNvGrpSpPr/>
          <p:nvPr/>
        </p:nvGrpSpPr>
        <p:grpSpPr>
          <a:xfrm>
            <a:off x="15430500" y="751544"/>
            <a:ext cx="2190750" cy="810556"/>
            <a:chOff x="0" y="0"/>
            <a:chExt cx="2921000" cy="1080741"/>
          </a:xfrm>
        </p:grpSpPr>
        <p:grpSp>
          <p:nvGrpSpPr>
            <p:cNvPr id="5" name="Group 5"/>
            <p:cNvGrpSpPr/>
            <p:nvPr/>
          </p:nvGrpSpPr>
          <p:grpSpPr>
            <a:xfrm>
              <a:off x="0" y="756"/>
              <a:ext cx="1079985" cy="107998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8" name="Freeform 8"/>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914767" y="0"/>
              <a:ext cx="1079985" cy="107998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3" name="Freeform 13"/>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15" name="Group 15"/>
            <p:cNvGrpSpPr/>
            <p:nvPr/>
          </p:nvGrpSpPr>
          <p:grpSpPr>
            <a:xfrm>
              <a:off x="1841015" y="0"/>
              <a:ext cx="1079985" cy="107998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8" name="Freeform 18"/>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66750" y="4019100"/>
          <a:ext cx="16954500" cy="3676650"/>
        </p:xfrm>
        <a:graphic>
          <a:graphicData uri="http://schemas.openxmlformats.org/drawingml/2006/table">
            <a:tbl>
              <a:tblPr/>
              <a:tblGrid>
                <a:gridCol w="3197849">
                  <a:extLst>
                    <a:ext uri="{9D8B030D-6E8A-4147-A177-3AD203B41FA5}">
                      <a16:colId xmlns:a16="http://schemas.microsoft.com/office/drawing/2014/main" val="20000"/>
                    </a:ext>
                  </a:extLst>
                </a:gridCol>
                <a:gridCol w="4482557">
                  <a:extLst>
                    <a:ext uri="{9D8B030D-6E8A-4147-A177-3AD203B41FA5}">
                      <a16:colId xmlns:a16="http://schemas.microsoft.com/office/drawing/2014/main" val="20001"/>
                    </a:ext>
                  </a:extLst>
                </a:gridCol>
                <a:gridCol w="4645178">
                  <a:extLst>
                    <a:ext uri="{9D8B030D-6E8A-4147-A177-3AD203B41FA5}">
                      <a16:colId xmlns:a16="http://schemas.microsoft.com/office/drawing/2014/main" val="20002"/>
                    </a:ext>
                  </a:extLst>
                </a:gridCol>
                <a:gridCol w="4628916">
                  <a:extLst>
                    <a:ext uri="{9D8B030D-6E8A-4147-A177-3AD203B41FA5}">
                      <a16:colId xmlns:a16="http://schemas.microsoft.com/office/drawing/2014/main" val="20003"/>
                    </a:ext>
                  </a:extLst>
                </a:gridCol>
              </a:tblGrid>
              <a:tr h="933600">
                <a:tc>
                  <a:txBody>
                    <a:bodyPr/>
                    <a:lstStyle/>
                    <a:p>
                      <a:pPr algn="l">
                        <a:lnSpc>
                          <a:spcPts val="3499"/>
                        </a:lnSpc>
                        <a:defRPr/>
                      </a:pPr>
                      <a:r>
                        <a:rPr lang="en-US" sz="2499" b="1">
                          <a:solidFill>
                            <a:srgbClr val="000000"/>
                          </a:solidFill>
                          <a:latin typeface="TT Fors Bold"/>
                          <a:ea typeface="TT Fors Bold"/>
                          <a:cs typeface="TT Fors Bold"/>
                          <a:sym typeface="TT Fors Bold"/>
                        </a:rPr>
                        <a:t>Type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just">
                        <a:lnSpc>
                          <a:spcPts val="3499"/>
                        </a:lnSpc>
                        <a:defRPr/>
                      </a:pPr>
                      <a:r>
                        <a:rPr lang="en-US" sz="2499" b="1">
                          <a:solidFill>
                            <a:srgbClr val="000000"/>
                          </a:solidFill>
                          <a:latin typeface="TT Fors Bold"/>
                          <a:ea typeface="TT Fors Bold"/>
                          <a:cs typeface="TT Fors Bold"/>
                          <a:sym typeface="TT Fors Bold"/>
                        </a:rPr>
                        <a:t>Tester Knowledge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just">
                        <a:lnSpc>
                          <a:spcPts val="3499"/>
                        </a:lnSpc>
                        <a:defRPr/>
                      </a:pPr>
                      <a:r>
                        <a:rPr lang="en-US" sz="2499" b="1">
                          <a:solidFill>
                            <a:srgbClr val="000000"/>
                          </a:solidFill>
                          <a:latin typeface="TT Fors Bold"/>
                          <a:ea typeface="TT Fors Bold"/>
                          <a:cs typeface="TT Fors Bold"/>
                          <a:sym typeface="TT Fors Bold"/>
                        </a:rPr>
                        <a:t>Simulates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3499"/>
                        </a:lnSpc>
                        <a:defRPr/>
                      </a:pPr>
                      <a:r>
                        <a:rPr lang="en-US" sz="2499" b="1">
                          <a:solidFill>
                            <a:srgbClr val="000000"/>
                          </a:solidFill>
                          <a:latin typeface="TT Fors Bold"/>
                          <a:ea typeface="TT Fors Bold"/>
                          <a:cs typeface="TT Fors Bold"/>
                          <a:sym typeface="TT Fors Bold"/>
                        </a:rPr>
                        <a:t>Advantages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914350">
                <a:tc>
                  <a:txBody>
                    <a:bodyPr/>
                    <a:lstStyle/>
                    <a:p>
                      <a:pPr algn="l">
                        <a:lnSpc>
                          <a:spcPts val="3359"/>
                        </a:lnSpc>
                        <a:defRPr/>
                      </a:pPr>
                      <a:r>
                        <a:rPr lang="en-US" sz="2399" b="1">
                          <a:solidFill>
                            <a:srgbClr val="FFFFFF"/>
                          </a:solidFill>
                          <a:latin typeface="TT Fors Bold"/>
                          <a:ea typeface="TT Fors Bold"/>
                          <a:cs typeface="TT Fors Bold"/>
                          <a:sym typeface="TT Fors Bold"/>
                        </a:rPr>
                        <a:t>Black Box</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Zero knowledge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External attacker</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Realistic, unbiased</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914350">
                <a:tc>
                  <a:txBody>
                    <a:bodyPr/>
                    <a:lstStyle/>
                    <a:p>
                      <a:pPr algn="l">
                        <a:lnSpc>
                          <a:spcPts val="3359"/>
                        </a:lnSpc>
                        <a:defRPr/>
                      </a:pPr>
                      <a:r>
                        <a:rPr lang="en-US" sz="2399" b="1">
                          <a:solidFill>
                            <a:srgbClr val="FFFFFF"/>
                          </a:solidFill>
                          <a:latin typeface="TT Fors Bold"/>
                          <a:ea typeface="TT Fors Bold"/>
                          <a:cs typeface="TT Fors Bold"/>
                          <a:sym typeface="TT Fors Bold"/>
                        </a:rPr>
                        <a:t>White Box</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Complete knowledge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Insider threat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Comprehensive, efficient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914350">
                <a:tc>
                  <a:txBody>
                    <a:bodyPr/>
                    <a:lstStyle/>
                    <a:p>
                      <a:pPr algn="l">
                        <a:lnSpc>
                          <a:spcPts val="3359"/>
                        </a:lnSpc>
                        <a:defRPr/>
                      </a:pPr>
                      <a:r>
                        <a:rPr lang="en-US" sz="2399" b="1">
                          <a:solidFill>
                            <a:srgbClr val="FFFFFF"/>
                          </a:solidFill>
                          <a:latin typeface="TT Fors Bold"/>
                          <a:ea typeface="TT Fors Bold"/>
                          <a:cs typeface="TT Fors Bold"/>
                          <a:sym typeface="TT Fors Bold"/>
                        </a:rPr>
                        <a:t>Grey Box</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Partial knowledge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Compromised account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Balanced approach</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u="none" strike="noStrike" spc="-209">
                <a:solidFill>
                  <a:srgbClr val="00FFA8"/>
                </a:solidFill>
                <a:latin typeface="ITC Avant Garde Gothic"/>
                <a:ea typeface="ITC Avant Garde Gothic"/>
                <a:cs typeface="ITC Avant Garde Gothic"/>
                <a:sym typeface="ITC Avant Garde Gothic"/>
              </a:rPr>
              <a:t>Categories &amp; Types of Penetration Tests</a:t>
            </a:r>
          </a:p>
        </p:txBody>
      </p:sp>
      <p:grpSp>
        <p:nvGrpSpPr>
          <p:cNvPr id="4" name="Group 4"/>
          <p:cNvGrpSpPr/>
          <p:nvPr/>
        </p:nvGrpSpPr>
        <p:grpSpPr>
          <a:xfrm>
            <a:off x="666750" y="8509099"/>
            <a:ext cx="16954500" cy="1212509"/>
            <a:chOff x="0" y="0"/>
            <a:chExt cx="4465332" cy="319352"/>
          </a:xfrm>
        </p:grpSpPr>
        <p:sp>
          <p:nvSpPr>
            <p:cNvPr id="5" name="Freeform 5"/>
            <p:cNvSpPr/>
            <p:nvPr/>
          </p:nvSpPr>
          <p:spPr>
            <a:xfrm>
              <a:off x="0" y="0"/>
              <a:ext cx="4465332" cy="319352"/>
            </a:xfrm>
            <a:custGeom>
              <a:avLst/>
              <a:gdLst/>
              <a:ahLst/>
              <a:cxnLst/>
              <a:rect l="l" t="t" r="r" b="b"/>
              <a:pathLst>
                <a:path w="4465332" h="319352">
                  <a:moveTo>
                    <a:pt x="4465332" y="9133"/>
                  </a:moveTo>
                  <a:lnTo>
                    <a:pt x="4465332" y="310219"/>
                  </a:lnTo>
                  <a:cubicBezTo>
                    <a:pt x="4465332" y="312642"/>
                    <a:pt x="4464370" y="314964"/>
                    <a:pt x="4462657" y="316677"/>
                  </a:cubicBezTo>
                  <a:cubicBezTo>
                    <a:pt x="4460944" y="318390"/>
                    <a:pt x="4458622" y="319352"/>
                    <a:pt x="4456200" y="319352"/>
                  </a:cubicBezTo>
                  <a:lnTo>
                    <a:pt x="9133" y="319352"/>
                  </a:lnTo>
                  <a:cubicBezTo>
                    <a:pt x="6710" y="319352"/>
                    <a:pt x="4388" y="318390"/>
                    <a:pt x="2675" y="316677"/>
                  </a:cubicBezTo>
                  <a:cubicBezTo>
                    <a:pt x="962" y="314964"/>
                    <a:pt x="0" y="312642"/>
                    <a:pt x="0" y="31021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6" name="TextBox 6"/>
            <p:cNvSpPr txBox="1"/>
            <p:nvPr/>
          </p:nvSpPr>
          <p:spPr>
            <a:xfrm>
              <a:off x="0" y="0"/>
              <a:ext cx="4465332" cy="319352"/>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Most Common:</a:t>
              </a:r>
              <a:r>
                <a:rPr lang="en-US" sz="2800" spc="-84" dirty="0">
                  <a:solidFill>
                    <a:srgbClr val="FFFFFF"/>
                  </a:solidFill>
                  <a:latin typeface="TT Fors"/>
                  <a:ea typeface="TT Fors"/>
                  <a:cs typeface="TT Fors"/>
                  <a:sym typeface="TT Fors"/>
                </a:rPr>
                <a:t> Grey box testing provides a balance between realism and thoroughness.</a:t>
              </a:r>
            </a:p>
          </p:txBody>
        </p:sp>
      </p:grpSp>
      <p:sp>
        <p:nvSpPr>
          <p:cNvPr id="7" name="TextBox 7"/>
          <p:cNvSpPr txBox="1"/>
          <p:nvPr/>
        </p:nvSpPr>
        <p:spPr>
          <a:xfrm>
            <a:off x="666750" y="2958469"/>
            <a:ext cx="7177187"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Bas</a:t>
            </a:r>
            <a:r>
              <a:rPr lang="en-US" sz="3199" b="1" u="none" strike="noStrike" spc="-95">
                <a:solidFill>
                  <a:srgbClr val="00FFA8"/>
                </a:solidFill>
                <a:latin typeface="TT Fors Bold"/>
                <a:ea typeface="TT Fors Bold"/>
                <a:cs typeface="TT Fors Bold"/>
                <a:sym typeface="TT Fors Bold"/>
              </a:rPr>
              <a:t>ed on Knowledge Level:</a:t>
            </a:r>
          </a:p>
        </p:txBody>
      </p:sp>
      <p:sp>
        <p:nvSpPr>
          <p:cNvPr id="8" name="TextBox 8"/>
          <p:cNvSpPr txBox="1"/>
          <p:nvPr/>
        </p:nvSpPr>
        <p:spPr>
          <a:xfrm>
            <a:off x="666750" y="2028825"/>
            <a:ext cx="12144006" cy="552450"/>
          </a:xfrm>
          <a:prstGeom prst="rect">
            <a:avLst/>
          </a:prstGeom>
        </p:spPr>
        <p:txBody>
          <a:bodyPr lIns="0" tIns="0" rIns="0" bIns="0" rtlCol="0" anchor="t">
            <a:spAutoFit/>
          </a:bodyPr>
          <a:lstStyle/>
          <a:p>
            <a:pPr marL="0" lvl="0" indent="0" algn="l">
              <a:lnSpc>
                <a:spcPts val="3839"/>
              </a:lnSpc>
            </a:pPr>
            <a:r>
              <a:rPr lang="en-US" sz="3199" u="none" strike="noStrike">
                <a:solidFill>
                  <a:srgbClr val="00FFA8"/>
                </a:solidFill>
                <a:latin typeface="ITC Avant Garde Gothic"/>
                <a:ea typeface="ITC Avant Garde Gothic"/>
                <a:cs typeface="ITC Avant Garde Gothic"/>
                <a:sym typeface="ITC Avant Garde Gothic"/>
              </a:rPr>
              <a:t>APPROACHES TO PENETRATION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u="none" strike="noStrike" spc="-209">
                <a:solidFill>
                  <a:srgbClr val="00FFA8"/>
                </a:solidFill>
                <a:latin typeface="ITC Avant Garde Gothic"/>
                <a:ea typeface="ITC Avant Garde Gothic"/>
                <a:cs typeface="ITC Avant Garde Gothic"/>
                <a:sym typeface="ITC Avant Garde Gothic"/>
              </a:rPr>
              <a:t>Categories &amp; Types of Penetration Tests</a:t>
            </a:r>
          </a:p>
        </p:txBody>
      </p:sp>
      <p:grpSp>
        <p:nvGrpSpPr>
          <p:cNvPr id="3" name="Group 3"/>
          <p:cNvGrpSpPr/>
          <p:nvPr/>
        </p:nvGrpSpPr>
        <p:grpSpPr>
          <a:xfrm>
            <a:off x="666750" y="2297200"/>
            <a:ext cx="5353212" cy="3423925"/>
            <a:chOff x="0" y="-1"/>
            <a:chExt cx="1409884" cy="901797"/>
          </a:xfrm>
        </p:grpSpPr>
        <p:sp>
          <p:nvSpPr>
            <p:cNvPr id="4" name="Freeform 4"/>
            <p:cNvSpPr/>
            <p:nvPr/>
          </p:nvSpPr>
          <p:spPr>
            <a:xfrm>
              <a:off x="0" y="0"/>
              <a:ext cx="1409884" cy="901796"/>
            </a:xfrm>
            <a:custGeom>
              <a:avLst/>
              <a:gdLst/>
              <a:ahLst/>
              <a:cxnLst/>
              <a:rect l="l" t="t" r="r" b="b"/>
              <a:pathLst>
                <a:path w="1409884" h="901796">
                  <a:moveTo>
                    <a:pt x="1409884" y="28924"/>
                  </a:moveTo>
                  <a:lnTo>
                    <a:pt x="1409884" y="872872"/>
                  </a:lnTo>
                  <a:cubicBezTo>
                    <a:pt x="1409884" y="880543"/>
                    <a:pt x="1406836" y="887900"/>
                    <a:pt x="1401412" y="893324"/>
                  </a:cubicBezTo>
                  <a:cubicBezTo>
                    <a:pt x="1395987" y="898749"/>
                    <a:pt x="1388630" y="901796"/>
                    <a:pt x="1380959" y="901796"/>
                  </a:cubicBezTo>
                  <a:lnTo>
                    <a:pt x="28924" y="901796"/>
                  </a:lnTo>
                  <a:cubicBezTo>
                    <a:pt x="21253" y="901796"/>
                    <a:pt x="13896" y="898749"/>
                    <a:pt x="8472" y="893324"/>
                  </a:cubicBezTo>
                  <a:cubicBezTo>
                    <a:pt x="3047" y="887900"/>
                    <a:pt x="0" y="880543"/>
                    <a:pt x="0" y="872872"/>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8FFA7"/>
            </a:solidFill>
            <a:ln cap="sq">
              <a:noFill/>
              <a:prstDash val="solid"/>
              <a:miter/>
            </a:ln>
          </p:spPr>
          <p:txBody>
            <a:bodyPr/>
            <a:lstStyle/>
            <a:p>
              <a:endParaRPr lang="en-US"/>
            </a:p>
          </p:txBody>
        </p:sp>
        <p:sp>
          <p:nvSpPr>
            <p:cNvPr id="5" name="TextBox 5"/>
            <p:cNvSpPr txBox="1"/>
            <p:nvPr/>
          </p:nvSpPr>
          <p:spPr>
            <a:xfrm>
              <a:off x="0" y="-1"/>
              <a:ext cx="1409884" cy="901797"/>
            </a:xfrm>
            <a:prstGeom prst="rect">
              <a:avLst/>
            </a:prstGeom>
          </p:spPr>
          <p:txBody>
            <a:bodyPr lIns="254000" tIns="254000" rIns="254000" bIns="254000" rtlCol="0" anchor="ctr"/>
            <a:lstStyle/>
            <a:p>
              <a:pPr algn="ctr">
                <a:lnSpc>
                  <a:spcPts val="3920"/>
                </a:lnSpc>
              </a:pPr>
              <a:r>
                <a:rPr lang="en-US" sz="2600" b="1" spc="-84" dirty="0">
                  <a:solidFill>
                    <a:srgbClr val="000000"/>
                  </a:solidFill>
                  <a:latin typeface="TT Fors Bold"/>
                  <a:ea typeface="TT Fors Bold"/>
                  <a:cs typeface="TT Fors Bold"/>
                  <a:sym typeface="TT Fors Bold"/>
                </a:rPr>
                <a:t>Network Penetration</a:t>
              </a:r>
            </a:p>
            <a:p>
              <a:pPr algn="ctr">
                <a:lnSpc>
                  <a:spcPts val="3920"/>
                </a:lnSpc>
              </a:pPr>
              <a:r>
                <a:rPr lang="en-US" sz="2600" spc="-84" dirty="0">
                  <a:solidFill>
                    <a:srgbClr val="000000"/>
                  </a:solidFill>
                  <a:latin typeface="TT Fors"/>
                  <a:ea typeface="TT Fors"/>
                  <a:cs typeface="TT Fors"/>
                  <a:sym typeface="TT Fors"/>
                </a:rPr>
                <a:t>Tests internal and external network security, identifying vulnerabilities in firewalls, routers, switches, and servers.</a:t>
              </a:r>
            </a:p>
          </p:txBody>
        </p:sp>
      </p:grpSp>
      <p:grpSp>
        <p:nvGrpSpPr>
          <p:cNvPr id="6" name="Group 6"/>
          <p:cNvGrpSpPr/>
          <p:nvPr/>
        </p:nvGrpSpPr>
        <p:grpSpPr>
          <a:xfrm>
            <a:off x="6467394" y="2297201"/>
            <a:ext cx="5353212" cy="3423924"/>
            <a:chOff x="0" y="-1"/>
            <a:chExt cx="1409884" cy="901797"/>
          </a:xfrm>
        </p:grpSpPr>
        <p:sp>
          <p:nvSpPr>
            <p:cNvPr id="7" name="Freeform 7"/>
            <p:cNvSpPr/>
            <p:nvPr/>
          </p:nvSpPr>
          <p:spPr>
            <a:xfrm>
              <a:off x="0" y="0"/>
              <a:ext cx="1409884" cy="901796"/>
            </a:xfrm>
            <a:custGeom>
              <a:avLst/>
              <a:gdLst/>
              <a:ahLst/>
              <a:cxnLst/>
              <a:rect l="l" t="t" r="r" b="b"/>
              <a:pathLst>
                <a:path w="1409884" h="901796">
                  <a:moveTo>
                    <a:pt x="1409884" y="28924"/>
                  </a:moveTo>
                  <a:lnTo>
                    <a:pt x="1409884" y="872872"/>
                  </a:lnTo>
                  <a:cubicBezTo>
                    <a:pt x="1409884" y="880543"/>
                    <a:pt x="1406836" y="887900"/>
                    <a:pt x="1401412" y="893324"/>
                  </a:cubicBezTo>
                  <a:cubicBezTo>
                    <a:pt x="1395987" y="898749"/>
                    <a:pt x="1388630" y="901796"/>
                    <a:pt x="1380959" y="901796"/>
                  </a:cubicBezTo>
                  <a:lnTo>
                    <a:pt x="28924" y="901796"/>
                  </a:lnTo>
                  <a:cubicBezTo>
                    <a:pt x="21253" y="901796"/>
                    <a:pt x="13896" y="898749"/>
                    <a:pt x="8472" y="893324"/>
                  </a:cubicBezTo>
                  <a:cubicBezTo>
                    <a:pt x="3047" y="887900"/>
                    <a:pt x="0" y="880543"/>
                    <a:pt x="0" y="872872"/>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8FFA7"/>
            </a:solidFill>
            <a:ln cap="sq">
              <a:noFill/>
              <a:prstDash val="solid"/>
              <a:miter/>
            </a:ln>
          </p:spPr>
          <p:txBody>
            <a:bodyPr/>
            <a:lstStyle/>
            <a:p>
              <a:endParaRPr lang="en-US"/>
            </a:p>
          </p:txBody>
        </p:sp>
        <p:sp>
          <p:nvSpPr>
            <p:cNvPr id="8" name="TextBox 8"/>
            <p:cNvSpPr txBox="1"/>
            <p:nvPr/>
          </p:nvSpPr>
          <p:spPr>
            <a:xfrm>
              <a:off x="0" y="-1"/>
              <a:ext cx="1409884" cy="901796"/>
            </a:xfrm>
            <a:prstGeom prst="rect">
              <a:avLst/>
            </a:prstGeom>
          </p:spPr>
          <p:txBody>
            <a:bodyPr lIns="254000" tIns="254000" rIns="254000" bIns="254000" rtlCol="0" anchor="ctr"/>
            <a:lstStyle/>
            <a:p>
              <a:pPr algn="ctr">
                <a:lnSpc>
                  <a:spcPts val="3920"/>
                </a:lnSpc>
              </a:pPr>
              <a:r>
                <a:rPr lang="en-US" sz="2600" b="1" spc="-84" dirty="0">
                  <a:solidFill>
                    <a:srgbClr val="000000"/>
                  </a:solidFill>
                  <a:latin typeface="TT Fors Bold"/>
                  <a:ea typeface="TT Fors Bold"/>
                  <a:cs typeface="TT Fors Bold"/>
                  <a:sym typeface="TT Fors Bold"/>
                </a:rPr>
                <a:t>Web Application</a:t>
              </a:r>
            </a:p>
            <a:p>
              <a:pPr algn="ctr">
                <a:lnSpc>
                  <a:spcPts val="3920"/>
                </a:lnSpc>
              </a:pPr>
              <a:r>
                <a:rPr lang="en-US" sz="2600" b="1" spc="-84" dirty="0">
                  <a:solidFill>
                    <a:srgbClr val="000000"/>
                  </a:solidFill>
                  <a:latin typeface="TT Fors Bold"/>
                  <a:ea typeface="TT Fors Bold"/>
                  <a:cs typeface="TT Fors Bold"/>
                  <a:sym typeface="TT Fors Bold"/>
                </a:rPr>
                <a:t>Penetration</a:t>
              </a:r>
            </a:p>
            <a:p>
              <a:pPr algn="ctr">
                <a:lnSpc>
                  <a:spcPts val="3920"/>
                </a:lnSpc>
              </a:pPr>
              <a:r>
                <a:rPr lang="en-US" sz="2600" spc="-84" dirty="0">
                  <a:solidFill>
                    <a:srgbClr val="000000"/>
                  </a:solidFill>
                  <a:latin typeface="TT Fors"/>
                  <a:ea typeface="TT Fors"/>
                  <a:cs typeface="TT Fors"/>
                  <a:sym typeface="TT Fors"/>
                </a:rPr>
                <a:t>Focuses on web apps and APIs, testing for OWASP Top 10 vulnerabilities like SQL injection, XSS, and authentication flaws.</a:t>
              </a:r>
            </a:p>
          </p:txBody>
        </p:sp>
      </p:grpSp>
      <p:grpSp>
        <p:nvGrpSpPr>
          <p:cNvPr id="9" name="Group 9"/>
          <p:cNvGrpSpPr/>
          <p:nvPr/>
        </p:nvGrpSpPr>
        <p:grpSpPr>
          <a:xfrm>
            <a:off x="12268038" y="2297200"/>
            <a:ext cx="5353212" cy="3423925"/>
            <a:chOff x="0" y="-1"/>
            <a:chExt cx="1409884" cy="901797"/>
          </a:xfrm>
        </p:grpSpPr>
        <p:sp>
          <p:nvSpPr>
            <p:cNvPr id="10" name="Freeform 10"/>
            <p:cNvSpPr/>
            <p:nvPr/>
          </p:nvSpPr>
          <p:spPr>
            <a:xfrm>
              <a:off x="0" y="0"/>
              <a:ext cx="1409884" cy="901796"/>
            </a:xfrm>
            <a:custGeom>
              <a:avLst/>
              <a:gdLst/>
              <a:ahLst/>
              <a:cxnLst/>
              <a:rect l="l" t="t" r="r" b="b"/>
              <a:pathLst>
                <a:path w="1409884" h="901796">
                  <a:moveTo>
                    <a:pt x="1409884" y="28924"/>
                  </a:moveTo>
                  <a:lnTo>
                    <a:pt x="1409884" y="872872"/>
                  </a:lnTo>
                  <a:cubicBezTo>
                    <a:pt x="1409884" y="880543"/>
                    <a:pt x="1406836" y="887900"/>
                    <a:pt x="1401412" y="893324"/>
                  </a:cubicBezTo>
                  <a:cubicBezTo>
                    <a:pt x="1395987" y="898749"/>
                    <a:pt x="1388630" y="901796"/>
                    <a:pt x="1380959" y="901796"/>
                  </a:cubicBezTo>
                  <a:lnTo>
                    <a:pt x="28924" y="901796"/>
                  </a:lnTo>
                  <a:cubicBezTo>
                    <a:pt x="21253" y="901796"/>
                    <a:pt x="13896" y="898749"/>
                    <a:pt x="8472" y="893324"/>
                  </a:cubicBezTo>
                  <a:cubicBezTo>
                    <a:pt x="3047" y="887900"/>
                    <a:pt x="0" y="880543"/>
                    <a:pt x="0" y="872872"/>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8FFA7"/>
            </a:solidFill>
            <a:ln cap="sq">
              <a:noFill/>
              <a:prstDash val="solid"/>
              <a:miter/>
            </a:ln>
          </p:spPr>
          <p:txBody>
            <a:bodyPr/>
            <a:lstStyle/>
            <a:p>
              <a:endParaRPr lang="en-US"/>
            </a:p>
          </p:txBody>
        </p:sp>
        <p:sp>
          <p:nvSpPr>
            <p:cNvPr id="11" name="TextBox 11"/>
            <p:cNvSpPr txBox="1"/>
            <p:nvPr/>
          </p:nvSpPr>
          <p:spPr>
            <a:xfrm>
              <a:off x="0" y="-1"/>
              <a:ext cx="1409884" cy="901797"/>
            </a:xfrm>
            <a:prstGeom prst="rect">
              <a:avLst/>
            </a:prstGeom>
          </p:spPr>
          <p:txBody>
            <a:bodyPr lIns="254000" tIns="254000" rIns="254000" bIns="254000" rtlCol="0" anchor="ctr"/>
            <a:lstStyle/>
            <a:p>
              <a:pPr algn="ctr">
                <a:lnSpc>
                  <a:spcPts val="3920"/>
                </a:lnSpc>
              </a:pPr>
              <a:r>
                <a:rPr lang="en-US" sz="2600" b="1" spc="-84" dirty="0">
                  <a:solidFill>
                    <a:srgbClr val="000000"/>
                  </a:solidFill>
                  <a:latin typeface="TT Fors Bold"/>
                  <a:ea typeface="TT Fors Bold"/>
                  <a:cs typeface="TT Fors Bold"/>
                  <a:sym typeface="TT Fors Bold"/>
                </a:rPr>
                <a:t>Wireless Network Penetration</a:t>
              </a:r>
            </a:p>
            <a:p>
              <a:pPr algn="ctr">
                <a:lnSpc>
                  <a:spcPts val="3920"/>
                </a:lnSpc>
              </a:pPr>
              <a:r>
                <a:rPr lang="en-US" sz="2600" spc="-84" dirty="0">
                  <a:solidFill>
                    <a:srgbClr val="000000"/>
                  </a:solidFill>
                  <a:latin typeface="TT Fors"/>
                  <a:ea typeface="TT Fors"/>
                  <a:cs typeface="TT Fors"/>
                  <a:sym typeface="TT Fors"/>
                </a:rPr>
                <a:t>Assesses </a:t>
              </a:r>
              <a:r>
                <a:rPr lang="en-US" sz="2600" spc="-84" dirty="0" err="1">
                  <a:solidFill>
                    <a:srgbClr val="000000"/>
                  </a:solidFill>
                  <a:latin typeface="TT Fors"/>
                  <a:ea typeface="TT Fors"/>
                  <a:cs typeface="TT Fors"/>
                  <a:sym typeface="TT Fors"/>
                </a:rPr>
                <a:t>WiFi</a:t>
              </a:r>
              <a:r>
                <a:rPr lang="en-US" sz="2600" spc="-84" dirty="0">
                  <a:solidFill>
                    <a:srgbClr val="000000"/>
                  </a:solidFill>
                  <a:latin typeface="TT Fors"/>
                  <a:ea typeface="TT Fors"/>
                  <a:cs typeface="TT Fors"/>
                  <a:sym typeface="TT Fors"/>
                </a:rPr>
                <a:t> security, testing WPA2/WPA3 encryption, rogue access points, and wireless attack vectors.</a:t>
              </a:r>
            </a:p>
          </p:txBody>
        </p:sp>
      </p:grpSp>
      <p:grpSp>
        <p:nvGrpSpPr>
          <p:cNvPr id="12" name="Group 12"/>
          <p:cNvGrpSpPr/>
          <p:nvPr/>
        </p:nvGrpSpPr>
        <p:grpSpPr>
          <a:xfrm>
            <a:off x="3567072" y="6179041"/>
            <a:ext cx="5353212" cy="2928625"/>
            <a:chOff x="0" y="-1"/>
            <a:chExt cx="1409884" cy="771344"/>
          </a:xfrm>
        </p:grpSpPr>
        <p:sp>
          <p:nvSpPr>
            <p:cNvPr id="13" name="Freeform 13"/>
            <p:cNvSpPr/>
            <p:nvPr/>
          </p:nvSpPr>
          <p:spPr>
            <a:xfrm>
              <a:off x="0" y="0"/>
              <a:ext cx="1409884" cy="771343"/>
            </a:xfrm>
            <a:custGeom>
              <a:avLst/>
              <a:gdLst/>
              <a:ahLst/>
              <a:cxnLst/>
              <a:rect l="l" t="t" r="r" b="b"/>
              <a:pathLst>
                <a:path w="1409884" h="771343">
                  <a:moveTo>
                    <a:pt x="1409884" y="28924"/>
                  </a:moveTo>
                  <a:lnTo>
                    <a:pt x="1409884" y="742419"/>
                  </a:lnTo>
                  <a:cubicBezTo>
                    <a:pt x="1409884" y="750090"/>
                    <a:pt x="1406836" y="757447"/>
                    <a:pt x="1401412" y="762871"/>
                  </a:cubicBezTo>
                  <a:cubicBezTo>
                    <a:pt x="1395987" y="768296"/>
                    <a:pt x="1388630" y="771343"/>
                    <a:pt x="1380959" y="771343"/>
                  </a:cubicBezTo>
                  <a:lnTo>
                    <a:pt x="28924" y="771343"/>
                  </a:lnTo>
                  <a:cubicBezTo>
                    <a:pt x="12950" y="771343"/>
                    <a:pt x="0" y="758393"/>
                    <a:pt x="0" y="742419"/>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8FFA7"/>
            </a:solidFill>
            <a:ln cap="sq">
              <a:noFill/>
              <a:prstDash val="solid"/>
              <a:miter/>
            </a:ln>
          </p:spPr>
          <p:txBody>
            <a:bodyPr/>
            <a:lstStyle/>
            <a:p>
              <a:endParaRPr lang="en-US"/>
            </a:p>
          </p:txBody>
        </p:sp>
        <p:sp>
          <p:nvSpPr>
            <p:cNvPr id="14" name="TextBox 14"/>
            <p:cNvSpPr txBox="1"/>
            <p:nvPr/>
          </p:nvSpPr>
          <p:spPr>
            <a:xfrm>
              <a:off x="0" y="-1"/>
              <a:ext cx="1409884" cy="771344"/>
            </a:xfrm>
            <a:prstGeom prst="rect">
              <a:avLst/>
            </a:prstGeom>
          </p:spPr>
          <p:txBody>
            <a:bodyPr lIns="254000" tIns="254000" rIns="254000" bIns="254000" rtlCol="0" anchor="ctr"/>
            <a:lstStyle/>
            <a:p>
              <a:pPr algn="ctr">
                <a:lnSpc>
                  <a:spcPts val="3920"/>
                </a:lnSpc>
              </a:pPr>
              <a:r>
                <a:rPr lang="en-US" sz="2600" b="1" spc="-84" dirty="0">
                  <a:solidFill>
                    <a:srgbClr val="000000"/>
                  </a:solidFill>
                  <a:latin typeface="TT Fors Bold"/>
                  <a:ea typeface="TT Fors Bold"/>
                  <a:cs typeface="TT Fors Bold"/>
                  <a:sym typeface="TT Fors Bold"/>
                </a:rPr>
                <a:t>Social Engineering</a:t>
              </a:r>
            </a:p>
            <a:p>
              <a:pPr algn="ctr">
                <a:lnSpc>
                  <a:spcPts val="3920"/>
                </a:lnSpc>
              </a:pPr>
              <a:r>
                <a:rPr lang="en-US" sz="2600" spc="-84" dirty="0">
                  <a:solidFill>
                    <a:srgbClr val="000000"/>
                  </a:solidFill>
                  <a:latin typeface="TT Fors"/>
                  <a:ea typeface="TT Fors"/>
                  <a:cs typeface="TT Fors"/>
                  <a:sym typeface="TT Fors"/>
                </a:rPr>
                <a:t>Tests human vulnerabilities through phishing, vishing, pretexting, and physical security bypasses.</a:t>
              </a:r>
            </a:p>
          </p:txBody>
        </p:sp>
      </p:grpSp>
      <p:grpSp>
        <p:nvGrpSpPr>
          <p:cNvPr id="15" name="Group 15"/>
          <p:cNvGrpSpPr/>
          <p:nvPr/>
        </p:nvGrpSpPr>
        <p:grpSpPr>
          <a:xfrm>
            <a:off x="9367716" y="6179045"/>
            <a:ext cx="5353212" cy="2928621"/>
            <a:chOff x="0" y="0"/>
            <a:chExt cx="1409884" cy="771343"/>
          </a:xfrm>
        </p:grpSpPr>
        <p:sp>
          <p:nvSpPr>
            <p:cNvPr id="16" name="Freeform 16"/>
            <p:cNvSpPr/>
            <p:nvPr/>
          </p:nvSpPr>
          <p:spPr>
            <a:xfrm>
              <a:off x="0" y="0"/>
              <a:ext cx="1409884" cy="771343"/>
            </a:xfrm>
            <a:custGeom>
              <a:avLst/>
              <a:gdLst/>
              <a:ahLst/>
              <a:cxnLst/>
              <a:rect l="l" t="t" r="r" b="b"/>
              <a:pathLst>
                <a:path w="1409884" h="771343">
                  <a:moveTo>
                    <a:pt x="1409884" y="28924"/>
                  </a:moveTo>
                  <a:lnTo>
                    <a:pt x="1409884" y="742419"/>
                  </a:lnTo>
                  <a:cubicBezTo>
                    <a:pt x="1409884" y="750090"/>
                    <a:pt x="1406836" y="757447"/>
                    <a:pt x="1401412" y="762871"/>
                  </a:cubicBezTo>
                  <a:cubicBezTo>
                    <a:pt x="1395987" y="768296"/>
                    <a:pt x="1388630" y="771343"/>
                    <a:pt x="1380959" y="771343"/>
                  </a:cubicBezTo>
                  <a:lnTo>
                    <a:pt x="28924" y="771343"/>
                  </a:lnTo>
                  <a:cubicBezTo>
                    <a:pt x="12950" y="771343"/>
                    <a:pt x="0" y="758393"/>
                    <a:pt x="0" y="742419"/>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8FFA7"/>
            </a:solidFill>
            <a:ln cap="sq">
              <a:noFill/>
              <a:prstDash val="solid"/>
              <a:miter/>
            </a:ln>
          </p:spPr>
          <p:txBody>
            <a:bodyPr/>
            <a:lstStyle/>
            <a:p>
              <a:endParaRPr lang="en-US"/>
            </a:p>
          </p:txBody>
        </p:sp>
        <p:sp>
          <p:nvSpPr>
            <p:cNvPr id="17" name="TextBox 17"/>
            <p:cNvSpPr txBox="1"/>
            <p:nvPr/>
          </p:nvSpPr>
          <p:spPr>
            <a:xfrm>
              <a:off x="0" y="0"/>
              <a:ext cx="1409884" cy="771343"/>
            </a:xfrm>
            <a:prstGeom prst="rect">
              <a:avLst/>
            </a:prstGeom>
          </p:spPr>
          <p:txBody>
            <a:bodyPr lIns="254000" tIns="254000" rIns="254000" bIns="254000" rtlCol="0" anchor="ctr"/>
            <a:lstStyle/>
            <a:p>
              <a:pPr algn="ctr">
                <a:lnSpc>
                  <a:spcPts val="3920"/>
                </a:lnSpc>
              </a:pPr>
              <a:r>
                <a:rPr lang="en-US" sz="2600" b="1" spc="-84" dirty="0">
                  <a:solidFill>
                    <a:srgbClr val="000000"/>
                  </a:solidFill>
                  <a:latin typeface="TT Fors Bold"/>
                  <a:ea typeface="TT Fors Bold"/>
                  <a:cs typeface="TT Fors Bold"/>
                  <a:sym typeface="TT Fors Bold"/>
                </a:rPr>
                <a:t>Physical Penetration</a:t>
              </a:r>
            </a:p>
            <a:p>
              <a:pPr algn="ctr">
                <a:lnSpc>
                  <a:spcPts val="3920"/>
                </a:lnSpc>
              </a:pPr>
              <a:r>
                <a:rPr lang="en-US" sz="2600" spc="-84" dirty="0">
                  <a:solidFill>
                    <a:srgbClr val="000000"/>
                  </a:solidFill>
                  <a:latin typeface="TT Fors"/>
                  <a:ea typeface="TT Fors"/>
                  <a:cs typeface="TT Fors"/>
                  <a:sym typeface="TT Fors"/>
                </a:rPr>
                <a:t>Assesses physical security controls like locks, badges, security guards, and surveillance systems.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R</a:t>
            </a:r>
            <a:r>
              <a:rPr lang="en-US" sz="6999" u="none" strike="noStrike" spc="-209">
                <a:solidFill>
                  <a:srgbClr val="00FFA8"/>
                </a:solidFill>
                <a:latin typeface="ITC Avant Garde Gothic"/>
                <a:ea typeface="ITC Avant Garde Gothic"/>
                <a:cs typeface="ITC Avant Garde Gothic"/>
                <a:sym typeface="ITC Avant Garde Gothic"/>
              </a:rPr>
              <a:t>ed Team vs Blue Team vs Purple Team</a:t>
            </a:r>
          </a:p>
        </p:txBody>
      </p:sp>
      <p:grpSp>
        <p:nvGrpSpPr>
          <p:cNvPr id="3" name="Group 3"/>
          <p:cNvGrpSpPr/>
          <p:nvPr/>
        </p:nvGrpSpPr>
        <p:grpSpPr>
          <a:xfrm>
            <a:off x="666750" y="3137329"/>
            <a:ext cx="5353212" cy="4414521"/>
            <a:chOff x="0" y="0"/>
            <a:chExt cx="1409884" cy="1162701"/>
          </a:xfrm>
        </p:grpSpPr>
        <p:sp>
          <p:nvSpPr>
            <p:cNvPr id="4" name="Freeform 4"/>
            <p:cNvSpPr/>
            <p:nvPr/>
          </p:nvSpPr>
          <p:spPr>
            <a:xfrm>
              <a:off x="0" y="0"/>
              <a:ext cx="1409884" cy="1162701"/>
            </a:xfrm>
            <a:custGeom>
              <a:avLst/>
              <a:gdLst/>
              <a:ahLst/>
              <a:cxnLst/>
              <a:rect l="l" t="t" r="r" b="b"/>
              <a:pathLst>
                <a:path w="1409884" h="1162701">
                  <a:moveTo>
                    <a:pt x="1409884" y="28924"/>
                  </a:moveTo>
                  <a:lnTo>
                    <a:pt x="1409884" y="1133777"/>
                  </a:lnTo>
                  <a:cubicBezTo>
                    <a:pt x="1409884" y="1141448"/>
                    <a:pt x="1406836" y="1148805"/>
                    <a:pt x="1401412" y="1154229"/>
                  </a:cubicBezTo>
                  <a:cubicBezTo>
                    <a:pt x="1395987" y="1159654"/>
                    <a:pt x="1388630" y="1162701"/>
                    <a:pt x="1380959" y="1162701"/>
                  </a:cubicBezTo>
                  <a:lnTo>
                    <a:pt x="28924" y="1162701"/>
                  </a:lnTo>
                  <a:cubicBezTo>
                    <a:pt x="21253" y="1162701"/>
                    <a:pt x="13896" y="1159654"/>
                    <a:pt x="8472" y="1154229"/>
                  </a:cubicBezTo>
                  <a:cubicBezTo>
                    <a:pt x="3047" y="1148805"/>
                    <a:pt x="0" y="1141448"/>
                    <a:pt x="0" y="1133777"/>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BD0000"/>
            </a:solidFill>
            <a:ln cap="sq">
              <a:noFill/>
              <a:prstDash val="solid"/>
              <a:miter/>
            </a:ln>
          </p:spPr>
          <p:txBody>
            <a:bodyPr/>
            <a:lstStyle/>
            <a:p>
              <a:endParaRPr lang="en-US"/>
            </a:p>
          </p:txBody>
        </p:sp>
        <p:sp>
          <p:nvSpPr>
            <p:cNvPr id="5" name="TextBox 5"/>
            <p:cNvSpPr txBox="1"/>
            <p:nvPr/>
          </p:nvSpPr>
          <p:spPr>
            <a:xfrm>
              <a:off x="0" y="0"/>
              <a:ext cx="1409884" cy="1162701"/>
            </a:xfrm>
            <a:prstGeom prst="rect">
              <a:avLst/>
            </a:prstGeom>
          </p:spPr>
          <p:txBody>
            <a:bodyPr lIns="254000" tIns="254000" rIns="254000" bIns="254000" rtlCol="0" anchor="t"/>
            <a:lstStyle/>
            <a:p>
              <a:pPr algn="l">
                <a:lnSpc>
                  <a:spcPts val="3920"/>
                </a:lnSpc>
              </a:pPr>
              <a:r>
                <a:rPr lang="en-US" sz="2800" b="1" spc="-84" dirty="0">
                  <a:solidFill>
                    <a:srgbClr val="FFFFFF"/>
                  </a:solidFill>
                  <a:latin typeface="TT Fors Bold"/>
                  <a:ea typeface="TT Fors Bold"/>
                  <a:cs typeface="TT Fors Bold"/>
                  <a:sym typeface="TT Fors Bold"/>
                </a:rPr>
                <a:t>Red Team</a:t>
              </a:r>
            </a:p>
            <a:p>
              <a:pPr algn="l">
                <a:lnSpc>
                  <a:spcPts val="3920"/>
                </a:lnSpc>
              </a:pPr>
              <a:r>
                <a:rPr lang="en-US" sz="2800" b="1" spc="-84" dirty="0">
                  <a:solidFill>
                    <a:srgbClr val="FFFFFF"/>
                  </a:solidFill>
                  <a:latin typeface="TT Fors Bold"/>
                  <a:ea typeface="TT Fors Bold"/>
                  <a:cs typeface="TT Fors Bold"/>
                  <a:sym typeface="TT Fors Bold"/>
                </a:rPr>
                <a:t>Role: </a:t>
              </a:r>
              <a:r>
                <a:rPr lang="en-US" sz="2800" spc="-84" dirty="0">
                  <a:solidFill>
                    <a:srgbClr val="FFFFFF"/>
                  </a:solidFill>
                  <a:latin typeface="TT Fors"/>
                  <a:ea typeface="TT Fors"/>
                  <a:cs typeface="TT Fors"/>
                  <a:sym typeface="TT Fors"/>
                </a:rPr>
                <a:t>Offensive security</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Simulate real attackers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Find vulnerabilities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Test detection capabilities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Full-scope engagement</a:t>
              </a:r>
            </a:p>
          </p:txBody>
        </p:sp>
      </p:grpSp>
      <p:grpSp>
        <p:nvGrpSpPr>
          <p:cNvPr id="6" name="Group 6"/>
          <p:cNvGrpSpPr/>
          <p:nvPr/>
        </p:nvGrpSpPr>
        <p:grpSpPr>
          <a:xfrm>
            <a:off x="6467394" y="3137329"/>
            <a:ext cx="5353212" cy="4414521"/>
            <a:chOff x="0" y="0"/>
            <a:chExt cx="1409884" cy="1162701"/>
          </a:xfrm>
        </p:grpSpPr>
        <p:sp>
          <p:nvSpPr>
            <p:cNvPr id="7" name="Freeform 7"/>
            <p:cNvSpPr/>
            <p:nvPr/>
          </p:nvSpPr>
          <p:spPr>
            <a:xfrm>
              <a:off x="0" y="0"/>
              <a:ext cx="1409884" cy="1162701"/>
            </a:xfrm>
            <a:custGeom>
              <a:avLst/>
              <a:gdLst/>
              <a:ahLst/>
              <a:cxnLst/>
              <a:rect l="l" t="t" r="r" b="b"/>
              <a:pathLst>
                <a:path w="1409884" h="1162701">
                  <a:moveTo>
                    <a:pt x="1409884" y="28924"/>
                  </a:moveTo>
                  <a:lnTo>
                    <a:pt x="1409884" y="1133777"/>
                  </a:lnTo>
                  <a:cubicBezTo>
                    <a:pt x="1409884" y="1141448"/>
                    <a:pt x="1406836" y="1148805"/>
                    <a:pt x="1401412" y="1154229"/>
                  </a:cubicBezTo>
                  <a:cubicBezTo>
                    <a:pt x="1395987" y="1159654"/>
                    <a:pt x="1388630" y="1162701"/>
                    <a:pt x="1380959" y="1162701"/>
                  </a:cubicBezTo>
                  <a:lnTo>
                    <a:pt x="28924" y="1162701"/>
                  </a:lnTo>
                  <a:cubicBezTo>
                    <a:pt x="21253" y="1162701"/>
                    <a:pt x="13896" y="1159654"/>
                    <a:pt x="8472" y="1154229"/>
                  </a:cubicBezTo>
                  <a:cubicBezTo>
                    <a:pt x="3047" y="1148805"/>
                    <a:pt x="0" y="1141448"/>
                    <a:pt x="0" y="1133777"/>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0025CC"/>
            </a:solidFill>
            <a:ln cap="sq">
              <a:noFill/>
              <a:prstDash val="solid"/>
              <a:miter/>
            </a:ln>
          </p:spPr>
          <p:txBody>
            <a:bodyPr/>
            <a:lstStyle/>
            <a:p>
              <a:endParaRPr lang="en-US"/>
            </a:p>
          </p:txBody>
        </p:sp>
        <p:sp>
          <p:nvSpPr>
            <p:cNvPr id="8" name="TextBox 8"/>
            <p:cNvSpPr txBox="1"/>
            <p:nvPr/>
          </p:nvSpPr>
          <p:spPr>
            <a:xfrm>
              <a:off x="0" y="0"/>
              <a:ext cx="1409884" cy="1162701"/>
            </a:xfrm>
            <a:prstGeom prst="rect">
              <a:avLst/>
            </a:prstGeom>
          </p:spPr>
          <p:txBody>
            <a:bodyPr lIns="254000" tIns="254000" rIns="254000" bIns="254000" rtlCol="0" anchor="t"/>
            <a:lstStyle/>
            <a:p>
              <a:pPr algn="l">
                <a:lnSpc>
                  <a:spcPts val="3920"/>
                </a:lnSpc>
              </a:pPr>
              <a:r>
                <a:rPr lang="en-US" sz="2800" b="1" spc="-84" dirty="0">
                  <a:solidFill>
                    <a:srgbClr val="FFFFFF"/>
                  </a:solidFill>
                  <a:latin typeface="TT Fors Bold"/>
                  <a:ea typeface="TT Fors Bold"/>
                  <a:cs typeface="TT Fors Bold"/>
                  <a:sym typeface="TT Fors Bold"/>
                </a:rPr>
                <a:t>Blue Team</a:t>
              </a:r>
            </a:p>
            <a:p>
              <a:pPr algn="l">
                <a:lnSpc>
                  <a:spcPts val="3920"/>
                </a:lnSpc>
              </a:pPr>
              <a:r>
                <a:rPr lang="en-US" sz="2800" b="1" spc="-84" dirty="0">
                  <a:solidFill>
                    <a:srgbClr val="FFFFFF"/>
                  </a:solidFill>
                  <a:latin typeface="TT Fors Bold"/>
                  <a:ea typeface="TT Fors Bold"/>
                  <a:cs typeface="TT Fors Bold"/>
                  <a:sym typeface="TT Fors Bold"/>
                </a:rPr>
                <a:t>Role: </a:t>
              </a:r>
              <a:r>
                <a:rPr lang="en-US" sz="2800" spc="-84" dirty="0">
                  <a:solidFill>
                    <a:srgbClr val="FFFFFF"/>
                  </a:solidFill>
                  <a:latin typeface="TT Fors"/>
                  <a:ea typeface="TT Fors"/>
                  <a:cs typeface="TT Fors"/>
                  <a:sym typeface="TT Fors"/>
                </a:rPr>
                <a:t>Defensive security</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Monitor and defend systems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Detect attacks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Respond to incidents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Improve security posture</a:t>
              </a:r>
            </a:p>
          </p:txBody>
        </p:sp>
      </p:grpSp>
      <p:grpSp>
        <p:nvGrpSpPr>
          <p:cNvPr id="9" name="Group 9"/>
          <p:cNvGrpSpPr/>
          <p:nvPr/>
        </p:nvGrpSpPr>
        <p:grpSpPr>
          <a:xfrm>
            <a:off x="12268038" y="3137329"/>
            <a:ext cx="5353212" cy="4414521"/>
            <a:chOff x="0" y="0"/>
            <a:chExt cx="1409884" cy="1162701"/>
          </a:xfrm>
        </p:grpSpPr>
        <p:sp>
          <p:nvSpPr>
            <p:cNvPr id="10" name="Freeform 10"/>
            <p:cNvSpPr/>
            <p:nvPr/>
          </p:nvSpPr>
          <p:spPr>
            <a:xfrm>
              <a:off x="0" y="0"/>
              <a:ext cx="1409884" cy="1162701"/>
            </a:xfrm>
            <a:custGeom>
              <a:avLst/>
              <a:gdLst/>
              <a:ahLst/>
              <a:cxnLst/>
              <a:rect l="l" t="t" r="r" b="b"/>
              <a:pathLst>
                <a:path w="1409884" h="1162701">
                  <a:moveTo>
                    <a:pt x="1409884" y="28924"/>
                  </a:moveTo>
                  <a:lnTo>
                    <a:pt x="1409884" y="1133777"/>
                  </a:lnTo>
                  <a:cubicBezTo>
                    <a:pt x="1409884" y="1141448"/>
                    <a:pt x="1406836" y="1148805"/>
                    <a:pt x="1401412" y="1154229"/>
                  </a:cubicBezTo>
                  <a:cubicBezTo>
                    <a:pt x="1395987" y="1159654"/>
                    <a:pt x="1388630" y="1162701"/>
                    <a:pt x="1380959" y="1162701"/>
                  </a:cubicBezTo>
                  <a:lnTo>
                    <a:pt x="28924" y="1162701"/>
                  </a:lnTo>
                  <a:cubicBezTo>
                    <a:pt x="21253" y="1162701"/>
                    <a:pt x="13896" y="1159654"/>
                    <a:pt x="8472" y="1154229"/>
                  </a:cubicBezTo>
                  <a:cubicBezTo>
                    <a:pt x="3047" y="1148805"/>
                    <a:pt x="0" y="1141448"/>
                    <a:pt x="0" y="1133777"/>
                  </a:cubicBezTo>
                  <a:lnTo>
                    <a:pt x="0" y="28924"/>
                  </a:lnTo>
                  <a:cubicBezTo>
                    <a:pt x="0" y="21253"/>
                    <a:pt x="3047" y="13896"/>
                    <a:pt x="8472" y="8472"/>
                  </a:cubicBezTo>
                  <a:cubicBezTo>
                    <a:pt x="13896" y="3047"/>
                    <a:pt x="21253" y="0"/>
                    <a:pt x="28924" y="0"/>
                  </a:cubicBezTo>
                  <a:lnTo>
                    <a:pt x="1380959" y="0"/>
                  </a:lnTo>
                  <a:cubicBezTo>
                    <a:pt x="1396934" y="0"/>
                    <a:pt x="1409884" y="12950"/>
                    <a:pt x="1409884" y="28924"/>
                  </a:cubicBezTo>
                  <a:close/>
                </a:path>
              </a:pathLst>
            </a:custGeom>
            <a:solidFill>
              <a:srgbClr val="8F1EAE"/>
            </a:solidFill>
            <a:ln cap="sq">
              <a:noFill/>
              <a:prstDash val="solid"/>
              <a:miter/>
            </a:ln>
          </p:spPr>
          <p:txBody>
            <a:bodyPr/>
            <a:lstStyle/>
            <a:p>
              <a:endParaRPr lang="en-US"/>
            </a:p>
          </p:txBody>
        </p:sp>
        <p:sp>
          <p:nvSpPr>
            <p:cNvPr id="11" name="TextBox 11"/>
            <p:cNvSpPr txBox="1"/>
            <p:nvPr/>
          </p:nvSpPr>
          <p:spPr>
            <a:xfrm>
              <a:off x="0" y="0"/>
              <a:ext cx="1409884" cy="1162701"/>
            </a:xfrm>
            <a:prstGeom prst="rect">
              <a:avLst/>
            </a:prstGeom>
          </p:spPr>
          <p:txBody>
            <a:bodyPr lIns="254000" tIns="254000" rIns="254000" bIns="254000" rtlCol="0" anchor="t"/>
            <a:lstStyle/>
            <a:p>
              <a:pPr algn="l">
                <a:lnSpc>
                  <a:spcPts val="3920"/>
                </a:lnSpc>
              </a:pPr>
              <a:r>
                <a:rPr lang="en-US" sz="2800" b="1" spc="-84" dirty="0">
                  <a:solidFill>
                    <a:srgbClr val="FFFFFF"/>
                  </a:solidFill>
                  <a:latin typeface="TT Fors Bold"/>
                  <a:ea typeface="TT Fors Bold"/>
                  <a:cs typeface="TT Fors Bold"/>
                  <a:sym typeface="TT Fors Bold"/>
                </a:rPr>
                <a:t>Purple Team</a:t>
              </a:r>
            </a:p>
            <a:p>
              <a:pPr algn="l">
                <a:lnSpc>
                  <a:spcPts val="3920"/>
                </a:lnSpc>
              </a:pPr>
              <a:r>
                <a:rPr lang="en-US" sz="2800" b="1" spc="-84" dirty="0">
                  <a:solidFill>
                    <a:srgbClr val="FFFFFF"/>
                  </a:solidFill>
                  <a:latin typeface="TT Fors Bold"/>
                  <a:ea typeface="TT Fors Bold"/>
                  <a:cs typeface="TT Fors Bold"/>
                  <a:sym typeface="TT Fors Bold"/>
                </a:rPr>
                <a:t>Role:</a:t>
              </a:r>
              <a:r>
                <a:rPr lang="en-US" sz="2800" spc="-84" dirty="0">
                  <a:solidFill>
                    <a:srgbClr val="FFFFFF"/>
                  </a:solidFill>
                  <a:latin typeface="TT Fors"/>
                  <a:ea typeface="TT Fors"/>
                  <a:cs typeface="TT Fors"/>
                  <a:sym typeface="TT Fors"/>
                </a:rPr>
                <a:t> Collaboration between Red and Blue</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Knowledge sharing between teams</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Continuous improvement</a:t>
              </a:r>
            </a:p>
            <a:p>
              <a:pPr marL="604524" lvl="1" indent="-302262" algn="l">
                <a:lnSpc>
                  <a:spcPts val="3920"/>
                </a:lnSpc>
                <a:buFont typeface="Arial"/>
                <a:buChar char="•"/>
              </a:pPr>
              <a:r>
                <a:rPr lang="en-US" sz="2800" spc="-84" dirty="0">
                  <a:solidFill>
                    <a:srgbClr val="FFFFFF"/>
                  </a:solidFill>
                  <a:latin typeface="TT Fors"/>
                  <a:ea typeface="TT Fors"/>
                  <a:cs typeface="TT Fors"/>
                  <a:sym typeface="TT Fors"/>
                </a:rPr>
                <a:t>Feedback loop for defense enhancement</a:t>
              </a:r>
            </a:p>
          </p:txBody>
        </p:sp>
      </p:grpSp>
      <p:grpSp>
        <p:nvGrpSpPr>
          <p:cNvPr id="12" name="Group 12"/>
          <p:cNvGrpSpPr/>
          <p:nvPr/>
        </p:nvGrpSpPr>
        <p:grpSpPr>
          <a:xfrm>
            <a:off x="666750" y="8509099"/>
            <a:ext cx="16954500" cy="1442721"/>
            <a:chOff x="0" y="0"/>
            <a:chExt cx="4465332" cy="379985"/>
          </a:xfrm>
        </p:grpSpPr>
        <p:sp>
          <p:nvSpPr>
            <p:cNvPr id="13" name="Freeform 13"/>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14" name="TextBox 14"/>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This Course: </a:t>
              </a:r>
              <a:r>
                <a:rPr lang="en-US" sz="2800" spc="-84" dirty="0">
                  <a:solidFill>
                    <a:srgbClr val="FFFFFF"/>
                  </a:solidFill>
                  <a:latin typeface="TT Fors"/>
                  <a:ea typeface="TT Fors"/>
                  <a:cs typeface="TT Fors"/>
                  <a:sym typeface="TT Fors"/>
                </a:rPr>
                <a:t>Focuses primarily on Red Team (offensive) skills, with awareness of Blue Team defensive measures.</a:t>
              </a:r>
            </a:p>
          </p:txBody>
        </p:sp>
      </p:grpSp>
      <p:sp>
        <p:nvSpPr>
          <p:cNvPr id="15" name="TextBox 15"/>
          <p:cNvSpPr txBox="1"/>
          <p:nvPr/>
        </p:nvSpPr>
        <p:spPr>
          <a:xfrm>
            <a:off x="666750" y="2057205"/>
            <a:ext cx="12170312" cy="476250"/>
          </a:xfrm>
          <a:prstGeom prst="rect">
            <a:avLst/>
          </a:prstGeom>
        </p:spPr>
        <p:txBody>
          <a:bodyPr lIns="0" tIns="0" rIns="0" bIns="0" rtlCol="0" anchor="t">
            <a:spAutoFit/>
          </a:bodyPr>
          <a:lstStyle/>
          <a:p>
            <a:pPr marL="0" lvl="0" indent="0" algn="l">
              <a:lnSpc>
                <a:spcPts val="3349"/>
              </a:lnSpc>
              <a:spcBef>
                <a:spcPct val="0"/>
              </a:spcBef>
            </a:pPr>
            <a:r>
              <a:rPr lang="en-US" sz="2790" u="none" strike="noStrike">
                <a:solidFill>
                  <a:srgbClr val="00FFA8"/>
                </a:solidFill>
                <a:latin typeface="ITC Avant Garde Gothic"/>
                <a:ea typeface="ITC Avant Garde Gothic"/>
                <a:cs typeface="ITC Avant Garde Gothic"/>
                <a:sym typeface="ITC Avant Garde Gothic"/>
              </a:rPr>
              <a:t>EXPLORING DIFFERENT TESTING METHODOLOGIES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4077950" cy="1130936"/>
          </a:xfrm>
          <a:prstGeom prst="rect">
            <a:avLst/>
          </a:prstGeom>
        </p:spPr>
        <p:txBody>
          <a:bodyPr lIns="0" tIns="0" rIns="0" bIns="0" rtlCol="0" anchor="t">
            <a:spAutoFit/>
          </a:bodyPr>
          <a:lstStyle/>
          <a:p>
            <a:pPr marL="0" lvl="0" indent="0" algn="l">
              <a:lnSpc>
                <a:spcPts val="7400"/>
              </a:lnSpc>
              <a:spcBef>
                <a:spcPct val="0"/>
              </a:spcBef>
            </a:pPr>
            <a:r>
              <a:rPr lang="en-US" sz="7400" u="none" strike="noStrike" spc="-222">
                <a:solidFill>
                  <a:srgbClr val="00FFA8"/>
                </a:solidFill>
                <a:latin typeface="ITC Avant Garde Gothic"/>
                <a:ea typeface="ITC Avant Garde Gothic"/>
                <a:cs typeface="ITC Avant Garde Gothic"/>
                <a:sym typeface="ITC Avant Garde Gothic"/>
              </a:rPr>
              <a:t>Legal and Ethical Considerations</a:t>
            </a:r>
          </a:p>
        </p:txBody>
      </p:sp>
      <p:grpSp>
        <p:nvGrpSpPr>
          <p:cNvPr id="3" name="Group 3"/>
          <p:cNvGrpSpPr/>
          <p:nvPr/>
        </p:nvGrpSpPr>
        <p:grpSpPr>
          <a:xfrm>
            <a:off x="666750" y="8509099"/>
            <a:ext cx="16954500" cy="1442721"/>
            <a:chOff x="0" y="0"/>
            <a:chExt cx="4465332" cy="379985"/>
          </a:xfrm>
        </p:grpSpPr>
        <p:sp>
          <p:nvSpPr>
            <p:cNvPr id="4" name="Freeform 4"/>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CC4E00"/>
            </a:solidFill>
            <a:ln cap="sq">
              <a:noFill/>
              <a:prstDash val="solid"/>
              <a:miter/>
            </a:ln>
          </p:spPr>
          <p:txBody>
            <a:bodyPr/>
            <a:lstStyle/>
            <a:p>
              <a:endParaRPr lang="en-US"/>
            </a:p>
          </p:txBody>
        </p:sp>
        <p:sp>
          <p:nvSpPr>
            <p:cNvPr id="5" name="TextBox 5"/>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 CRITICAL: Always Get Written Authorization!</a:t>
              </a:r>
            </a:p>
            <a:p>
              <a:pPr algn="l">
                <a:lnSpc>
                  <a:spcPts val="3920"/>
                </a:lnSpc>
              </a:pPr>
              <a:r>
                <a:rPr lang="en-US" sz="2800" spc="-84" dirty="0">
                  <a:solidFill>
                    <a:srgbClr val="FFFFFF"/>
                  </a:solidFill>
                  <a:latin typeface="TT Fors"/>
                  <a:ea typeface="TT Fors"/>
                  <a:cs typeface="TT Fors"/>
                  <a:sym typeface="TT Fors"/>
                </a:rPr>
                <a:t>Unauthorized access to computer systems is ILLEGAL, even if your intentions are good.</a:t>
              </a:r>
            </a:p>
          </p:txBody>
        </p:sp>
      </p:grpSp>
      <p:grpSp>
        <p:nvGrpSpPr>
          <p:cNvPr id="6" name="Group 6"/>
          <p:cNvGrpSpPr/>
          <p:nvPr/>
        </p:nvGrpSpPr>
        <p:grpSpPr>
          <a:xfrm>
            <a:off x="666750" y="2121718"/>
            <a:ext cx="16344638" cy="2914015"/>
            <a:chOff x="0" y="0"/>
            <a:chExt cx="21792851" cy="3885354"/>
          </a:xfrm>
        </p:grpSpPr>
        <p:sp>
          <p:nvSpPr>
            <p:cNvPr id="7" name="TextBox 7"/>
            <p:cNvSpPr txBox="1"/>
            <p:nvPr/>
          </p:nvSpPr>
          <p:spPr>
            <a:xfrm>
              <a:off x="0" y="877782"/>
              <a:ext cx="21792851" cy="3007572"/>
            </a:xfrm>
            <a:prstGeom prst="rect">
              <a:avLst/>
            </a:prstGeom>
          </p:spPr>
          <p:txBody>
            <a:bodyPr lIns="0" tIns="0" rIns="0" bIns="0" rtlCol="0" anchor="t">
              <a:spAutoFit/>
            </a:bodyPr>
            <a:lstStyle/>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Get explicit permission: </a:t>
              </a:r>
              <a:r>
                <a:rPr lang="en-US" sz="2600">
                  <a:solidFill>
                    <a:srgbClr val="00FFA8"/>
                  </a:solidFill>
                  <a:latin typeface="TT Fors"/>
                  <a:ea typeface="TT Fors"/>
                  <a:cs typeface="TT Fors"/>
                  <a:sym typeface="TT Fors"/>
                </a:rPr>
                <a:t>Written authorization before testing</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Define scope clearly: </a:t>
              </a:r>
              <a:r>
                <a:rPr lang="en-US" sz="2600">
                  <a:solidFill>
                    <a:srgbClr val="00FFA8"/>
                  </a:solidFill>
                  <a:latin typeface="TT Fors"/>
                  <a:ea typeface="TT Fors"/>
                  <a:cs typeface="TT Fors"/>
                  <a:sym typeface="TT Fors"/>
                </a:rPr>
                <a:t>What systems, time windows, methods allowed</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Respect boundaries: </a:t>
              </a:r>
              <a:r>
                <a:rPr lang="en-US" sz="2600">
                  <a:solidFill>
                    <a:srgbClr val="00FFA8"/>
                  </a:solidFill>
                  <a:latin typeface="TT Fors"/>
                  <a:ea typeface="TT Fors"/>
                  <a:cs typeface="TT Fors"/>
                  <a:sym typeface="TT Fors"/>
                </a:rPr>
                <a:t>Never exceed authorized scope</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Protect data:</a:t>
              </a:r>
              <a:r>
                <a:rPr lang="en-US" sz="2600">
                  <a:solidFill>
                    <a:srgbClr val="00FFA8"/>
                  </a:solidFill>
                  <a:latin typeface="TT Fors"/>
                  <a:ea typeface="TT Fors"/>
                  <a:cs typeface="TT Fors"/>
                  <a:sym typeface="TT Fors"/>
                </a:rPr>
                <a:t> Treat discovered information as confidential</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Report responsibly:</a:t>
              </a:r>
              <a:r>
                <a:rPr lang="en-US" sz="2600">
                  <a:solidFill>
                    <a:srgbClr val="00FFA8"/>
                  </a:solidFill>
                  <a:latin typeface="TT Fors"/>
                  <a:ea typeface="TT Fors"/>
                  <a:cs typeface="TT Fors"/>
                  <a:sym typeface="TT Fors"/>
                </a:rPr>
                <a:t> Disclose vulnerabilities properly</a:t>
              </a:r>
            </a:p>
          </p:txBody>
        </p:sp>
        <p:sp>
          <p:nvSpPr>
            <p:cNvPr id="8" name="TextBox 8"/>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Key</a:t>
              </a:r>
              <a:r>
                <a:rPr lang="en-US" sz="3199" b="1" u="none" strike="noStrike" spc="-95">
                  <a:solidFill>
                    <a:srgbClr val="00FFA8"/>
                  </a:solidFill>
                  <a:latin typeface="TT Fors Bold"/>
                  <a:ea typeface="TT Fors Bold"/>
                  <a:cs typeface="TT Fors Bold"/>
                  <a:sym typeface="TT Fors Bold"/>
                </a:rPr>
                <a:t> Legal Principles:</a:t>
              </a:r>
            </a:p>
          </p:txBody>
        </p:sp>
      </p:grpSp>
      <p:grpSp>
        <p:nvGrpSpPr>
          <p:cNvPr id="9" name="Group 9"/>
          <p:cNvGrpSpPr/>
          <p:nvPr/>
        </p:nvGrpSpPr>
        <p:grpSpPr>
          <a:xfrm>
            <a:off x="666750" y="5261526"/>
            <a:ext cx="16344638" cy="2914015"/>
            <a:chOff x="0" y="0"/>
            <a:chExt cx="21792851" cy="3885354"/>
          </a:xfrm>
        </p:grpSpPr>
        <p:sp>
          <p:nvSpPr>
            <p:cNvPr id="10" name="TextBox 10"/>
            <p:cNvSpPr txBox="1"/>
            <p:nvPr/>
          </p:nvSpPr>
          <p:spPr>
            <a:xfrm>
              <a:off x="0" y="877782"/>
              <a:ext cx="21792851" cy="3007572"/>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FFA8"/>
                  </a:solidFill>
                  <a:latin typeface="TT Fors"/>
                  <a:ea typeface="TT Fors"/>
                  <a:cs typeface="TT Fors"/>
                  <a:sym typeface="TT Fors"/>
                </a:rPr>
                <a:t>Testing timeframe and windows</a:t>
              </a:r>
            </a:p>
            <a:p>
              <a:pPr marL="561341" lvl="1" indent="-280670" algn="l">
                <a:lnSpc>
                  <a:spcPts val="3640"/>
                </a:lnSpc>
                <a:buFont typeface="Arial"/>
                <a:buChar char="•"/>
              </a:pPr>
              <a:r>
                <a:rPr lang="en-US" sz="2600">
                  <a:solidFill>
                    <a:srgbClr val="00FFA8"/>
                  </a:solidFill>
                  <a:latin typeface="TT Fors"/>
                  <a:ea typeface="TT Fors"/>
                  <a:cs typeface="TT Fors"/>
                  <a:sym typeface="TT Fors"/>
                </a:rPr>
                <a:t>Target systems and IP ranges</a:t>
              </a:r>
            </a:p>
            <a:p>
              <a:pPr marL="561341" lvl="1" indent="-280670" algn="l">
                <a:lnSpc>
                  <a:spcPts val="3640"/>
                </a:lnSpc>
                <a:buFont typeface="Arial"/>
                <a:buChar char="•"/>
              </a:pPr>
              <a:r>
                <a:rPr lang="en-US" sz="2600">
                  <a:solidFill>
                    <a:srgbClr val="00FFA8"/>
                  </a:solidFill>
                  <a:latin typeface="TT Fors"/>
                  <a:ea typeface="TT Fors"/>
                  <a:cs typeface="TT Fors"/>
                  <a:sym typeface="TT Fors"/>
                </a:rPr>
                <a:t>Prohibited actions (e.g., DoS attacks)</a:t>
              </a:r>
            </a:p>
            <a:p>
              <a:pPr marL="561341" lvl="1" indent="-280670" algn="l">
                <a:lnSpc>
                  <a:spcPts val="3640"/>
                </a:lnSpc>
                <a:buFont typeface="Arial"/>
                <a:buChar char="•"/>
              </a:pPr>
              <a:r>
                <a:rPr lang="en-US" sz="2600">
                  <a:solidFill>
                    <a:srgbClr val="00FFA8"/>
                  </a:solidFill>
                  <a:latin typeface="TT Fors"/>
                  <a:ea typeface="TT Fors"/>
                  <a:cs typeface="TT Fors"/>
                  <a:sym typeface="TT Fors"/>
                </a:rPr>
                <a:t>Emergency contact procedures</a:t>
              </a:r>
            </a:p>
            <a:p>
              <a:pPr marL="561341" lvl="1" indent="-280670" algn="l">
                <a:lnSpc>
                  <a:spcPts val="3640"/>
                </a:lnSpc>
                <a:buFont typeface="Arial"/>
                <a:buChar char="•"/>
              </a:pPr>
              <a:r>
                <a:rPr lang="en-US" sz="2600">
                  <a:solidFill>
                    <a:srgbClr val="00FFA8"/>
                  </a:solidFill>
                  <a:latin typeface="TT Fors"/>
                  <a:ea typeface="TT Fors"/>
                  <a:cs typeface="TT Fors"/>
                  <a:sym typeface="TT Fors"/>
                </a:rPr>
                <a:t>Data handling and confidentiality agreements</a:t>
              </a:r>
            </a:p>
          </p:txBody>
        </p:sp>
        <p:sp>
          <p:nvSpPr>
            <p:cNvPr id="11" name="TextBox 11"/>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Rules</a:t>
              </a:r>
              <a:r>
                <a:rPr lang="en-US" sz="3199" b="1" u="none" strike="noStrike" spc="-95">
                  <a:solidFill>
                    <a:srgbClr val="00FFA8"/>
                  </a:solidFill>
                  <a:latin typeface="TT Fors Bold"/>
                  <a:ea typeface="TT Fors Bold"/>
                  <a:cs typeface="TT Fors Bold"/>
                  <a:sym typeface="TT Fors Bold"/>
                </a:rPr>
                <a:t> of Engagement (ROE):</a:t>
              </a:r>
            </a:p>
          </p:txBody>
        </p:sp>
      </p:grpSp>
      <p:grpSp>
        <p:nvGrpSpPr>
          <p:cNvPr id="12" name="Group 12"/>
          <p:cNvGrpSpPr/>
          <p:nvPr/>
        </p:nvGrpSpPr>
        <p:grpSpPr>
          <a:xfrm>
            <a:off x="15430500" y="751544"/>
            <a:ext cx="2190750" cy="810556"/>
            <a:chOff x="0" y="0"/>
            <a:chExt cx="2921000" cy="1080741"/>
          </a:xfrm>
        </p:grpSpPr>
        <p:grpSp>
          <p:nvGrpSpPr>
            <p:cNvPr id="13" name="Group 13"/>
            <p:cNvGrpSpPr/>
            <p:nvPr/>
          </p:nvGrpSpPr>
          <p:grpSpPr>
            <a:xfrm>
              <a:off x="0" y="756"/>
              <a:ext cx="1079985" cy="107998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6" name="Freeform 16"/>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18" name="Group 18"/>
            <p:cNvGrpSpPr/>
            <p:nvPr/>
          </p:nvGrpSpPr>
          <p:grpSpPr>
            <a:xfrm>
              <a:off x="914767" y="0"/>
              <a:ext cx="1079985" cy="107998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0" name="TextBox 20"/>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1" name="Freeform 21"/>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2" name="Freeform 22"/>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23" name="Group 23"/>
            <p:cNvGrpSpPr/>
            <p:nvPr/>
          </p:nvGrpSpPr>
          <p:grpSpPr>
            <a:xfrm>
              <a:off x="1841015" y="0"/>
              <a:ext cx="1079985" cy="107998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5" name="TextBox 25"/>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6" name="Freeform 26"/>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7" name="Freeform 27"/>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200400"/>
            <a:ext cx="10519582" cy="5185410"/>
          </a:xfrm>
          <a:prstGeom prst="rect">
            <a:avLst/>
          </a:prstGeom>
        </p:spPr>
        <p:txBody>
          <a:bodyPr lIns="0" tIns="0" rIns="0" bIns="0" rtlCol="0" anchor="t">
            <a:spAutoFit/>
          </a:bodyPr>
          <a:lstStyle/>
          <a:p>
            <a:pPr marL="0" lvl="0" indent="0" algn="l">
              <a:lnSpc>
                <a:spcPts val="2940"/>
              </a:lnSpc>
              <a:spcBef>
                <a:spcPct val="0"/>
              </a:spcBef>
            </a:pPr>
            <a:r>
              <a:rPr lang="en-US" sz="2100" b="1" u="none" strike="noStrike" dirty="0">
                <a:solidFill>
                  <a:srgbClr val="00FFA8"/>
                </a:solidFill>
                <a:latin typeface="TT Fors Bold"/>
                <a:ea typeface="TT Fors Bold"/>
                <a:cs typeface="TT Fors Bold"/>
                <a:sym typeface="TT Fors Bold"/>
              </a:rPr>
              <a:t>Computer Crimes Act 1997</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Section 3: Unauthorized access - Up to 5 years imprisonment or RM 50,000 fine</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Section 4: Unauthorized access with intent to commit fraud - Up to 10 years</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Section 5: Unauthorized modification - Up to 7 years or RM 100,000 fine</a:t>
            </a:r>
          </a:p>
          <a:p>
            <a:pPr algn="l">
              <a:lnSpc>
                <a:spcPts val="2940"/>
              </a:lnSpc>
              <a:spcBef>
                <a:spcPct val="0"/>
              </a:spcBef>
            </a:pPr>
            <a:endParaRPr lang="en-US" sz="2100" u="none" strike="noStrike" dirty="0">
              <a:solidFill>
                <a:srgbClr val="00FFA8"/>
              </a:solidFill>
              <a:latin typeface="TT Fors"/>
              <a:ea typeface="TT Fors"/>
              <a:cs typeface="TT Fors"/>
              <a:sym typeface="TT Fors"/>
            </a:endParaRPr>
          </a:p>
          <a:p>
            <a:pPr marL="0" lvl="0" indent="0" algn="l">
              <a:lnSpc>
                <a:spcPts val="2940"/>
              </a:lnSpc>
              <a:spcBef>
                <a:spcPct val="0"/>
              </a:spcBef>
            </a:pPr>
            <a:r>
              <a:rPr lang="en-US" sz="2100" b="1" u="none" strike="noStrike" dirty="0">
                <a:solidFill>
                  <a:srgbClr val="00FFA8"/>
                </a:solidFill>
                <a:latin typeface="TT Fors Bold"/>
                <a:ea typeface="TT Fors Bold"/>
                <a:cs typeface="TT Fors Bold"/>
                <a:sym typeface="TT Fors Bold"/>
              </a:rPr>
              <a:t>Personal Data Protection Act (PDPA) 2010</a:t>
            </a:r>
          </a:p>
          <a:p>
            <a:pPr marL="453390" lvl="1" indent="-226695">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Protects </a:t>
            </a:r>
            <a:r>
              <a:rPr lang="en-US" sz="2100" dirty="0">
                <a:solidFill>
                  <a:srgbClr val="00FFA8"/>
                </a:solidFill>
                <a:latin typeface="TT Fors"/>
                <a:ea typeface="TT Fors"/>
                <a:cs typeface="TT Fors"/>
                <a:sym typeface="TT Fors"/>
              </a:rPr>
              <a:t>the personal </a:t>
            </a:r>
            <a:r>
              <a:rPr lang="en-US" sz="2100" u="none" strike="noStrike" dirty="0">
                <a:solidFill>
                  <a:srgbClr val="00FFA8"/>
                </a:solidFill>
                <a:latin typeface="TT Fors"/>
                <a:ea typeface="TT Fors"/>
                <a:cs typeface="TT Fors"/>
                <a:sym typeface="TT Fors"/>
              </a:rPr>
              <a:t>data of individuals</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Organizations must secure data properly</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Penalties up to RM 500,000 or 3 years imprisonment</a:t>
            </a:r>
          </a:p>
          <a:p>
            <a:pPr algn="l">
              <a:lnSpc>
                <a:spcPts val="2940"/>
              </a:lnSpc>
              <a:spcBef>
                <a:spcPct val="0"/>
              </a:spcBef>
            </a:pPr>
            <a:endParaRPr lang="en-US" sz="2100" u="none" strike="noStrike" dirty="0">
              <a:solidFill>
                <a:srgbClr val="00FFA8"/>
              </a:solidFill>
              <a:latin typeface="TT Fors"/>
              <a:ea typeface="TT Fors"/>
              <a:cs typeface="TT Fors"/>
              <a:sym typeface="TT Fors"/>
            </a:endParaRPr>
          </a:p>
          <a:p>
            <a:pPr marL="0" lvl="0" indent="0" algn="l">
              <a:lnSpc>
                <a:spcPts val="2940"/>
              </a:lnSpc>
              <a:spcBef>
                <a:spcPct val="0"/>
              </a:spcBef>
            </a:pPr>
            <a:r>
              <a:rPr lang="en-US" sz="2100" b="1" u="none" strike="noStrike" dirty="0">
                <a:solidFill>
                  <a:srgbClr val="00FFA8"/>
                </a:solidFill>
                <a:latin typeface="TT Fors Bold"/>
                <a:ea typeface="TT Fors Bold"/>
                <a:cs typeface="TT Fors Bold"/>
                <a:sym typeface="TT Fors Bold"/>
              </a:rPr>
              <a:t>Communications and Multimedia Act 1998</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Section 233: Improper use of network facilities</a:t>
            </a:r>
          </a:p>
          <a:p>
            <a:pPr marL="453390" lvl="1" indent="-226695" algn="l">
              <a:lnSpc>
                <a:spcPts val="2940"/>
              </a:lnSpc>
              <a:spcBef>
                <a:spcPct val="0"/>
              </a:spcBef>
              <a:buFont typeface="Arial"/>
              <a:buChar char="•"/>
            </a:pPr>
            <a:r>
              <a:rPr lang="en-US" sz="2100" u="none" strike="noStrike" dirty="0">
                <a:solidFill>
                  <a:srgbClr val="00FFA8"/>
                </a:solidFill>
                <a:latin typeface="TT Fors"/>
                <a:ea typeface="TT Fors"/>
                <a:cs typeface="TT Fors"/>
                <a:sym typeface="TT Fors"/>
              </a:rPr>
              <a:t>Covers online threats, harassment, and offensive content</a:t>
            </a:r>
          </a:p>
          <a:p>
            <a:pPr marL="0" lvl="0" indent="0" algn="l">
              <a:lnSpc>
                <a:spcPts val="2940"/>
              </a:lnSpc>
              <a:spcBef>
                <a:spcPct val="0"/>
              </a:spcBef>
            </a:pPr>
            <a:endParaRPr lang="en-US" sz="2100" u="none" strike="noStrike" dirty="0">
              <a:solidFill>
                <a:srgbClr val="00FFA8"/>
              </a:solidFill>
              <a:latin typeface="TT Fors"/>
              <a:ea typeface="TT Fors"/>
              <a:cs typeface="TT Fors"/>
              <a:sym typeface="TT Fors"/>
            </a:endParaRPr>
          </a:p>
        </p:txBody>
      </p:sp>
      <p:grpSp>
        <p:nvGrpSpPr>
          <p:cNvPr id="3" name="Group 3"/>
          <p:cNvGrpSpPr/>
          <p:nvPr/>
        </p:nvGrpSpPr>
        <p:grpSpPr>
          <a:xfrm>
            <a:off x="12130075" y="0"/>
            <a:ext cx="6157925" cy="10287000"/>
            <a:chOff x="0" y="0"/>
            <a:chExt cx="954024" cy="1593725"/>
          </a:xfrm>
        </p:grpSpPr>
        <p:sp>
          <p:nvSpPr>
            <p:cNvPr id="4" name="Freeform 4"/>
            <p:cNvSpPr/>
            <p:nvPr/>
          </p:nvSpPr>
          <p:spPr>
            <a:xfrm>
              <a:off x="0" y="0"/>
              <a:ext cx="954024" cy="1593725"/>
            </a:xfrm>
            <a:custGeom>
              <a:avLst/>
              <a:gdLst/>
              <a:ahLst/>
              <a:cxnLst/>
              <a:rect l="l" t="t" r="r" b="b"/>
              <a:pathLst>
                <a:path w="954024" h="1593725">
                  <a:moveTo>
                    <a:pt x="0" y="0"/>
                  </a:moveTo>
                  <a:lnTo>
                    <a:pt x="954024" y="0"/>
                  </a:lnTo>
                  <a:lnTo>
                    <a:pt x="954024" y="1593725"/>
                  </a:lnTo>
                  <a:lnTo>
                    <a:pt x="0" y="1593725"/>
                  </a:lnTo>
                  <a:close/>
                </a:path>
              </a:pathLst>
            </a:custGeom>
            <a:blipFill>
              <a:blip r:embed="rId3"/>
              <a:stretch>
                <a:fillRect l="-11078" r="-11078"/>
              </a:stretch>
            </a:blipFill>
          </p:spPr>
          <p:txBody>
            <a:bodyPr/>
            <a:lstStyle/>
            <a:p>
              <a:endParaRPr lang="en-US"/>
            </a:p>
          </p:txBody>
        </p:sp>
      </p:grpSp>
      <p:sp>
        <p:nvSpPr>
          <p:cNvPr id="5" name="TextBox 5"/>
          <p:cNvSpPr txBox="1"/>
          <p:nvPr/>
        </p:nvSpPr>
        <p:spPr>
          <a:xfrm>
            <a:off x="666750" y="2028825"/>
            <a:ext cx="13598163" cy="552450"/>
          </a:xfrm>
          <a:prstGeom prst="rect">
            <a:avLst/>
          </a:prstGeom>
        </p:spPr>
        <p:txBody>
          <a:bodyPr lIns="0" tIns="0" rIns="0" bIns="0" rtlCol="0" anchor="t">
            <a:spAutoFit/>
          </a:bodyPr>
          <a:lstStyle/>
          <a:p>
            <a:pPr marL="0" lvl="0" indent="0" algn="l">
              <a:lnSpc>
                <a:spcPts val="3839"/>
              </a:lnSpc>
              <a:spcBef>
                <a:spcPct val="0"/>
              </a:spcBef>
            </a:pPr>
            <a:r>
              <a:rPr lang="en-US" sz="3199" u="none" strike="noStrike">
                <a:solidFill>
                  <a:srgbClr val="00FFA8"/>
                </a:solidFill>
                <a:latin typeface="ITC Avant Garde Gothic"/>
                <a:ea typeface="ITC Avant Garde Gothic"/>
                <a:cs typeface="ITC Avant Garde Gothic"/>
                <a:sym typeface="ITC Avant Garde Gothic"/>
              </a:rPr>
              <a:t>UNDERSTANDING KEY REGULATORY FRAMEWORKS AND PENALTIES</a:t>
            </a:r>
          </a:p>
        </p:txBody>
      </p:sp>
      <p:sp>
        <p:nvSpPr>
          <p:cNvPr id="6" name="TextBox 6"/>
          <p:cNvSpPr txBox="1"/>
          <p:nvPr/>
        </p:nvSpPr>
        <p:spPr>
          <a:xfrm>
            <a:off x="714375" y="257175"/>
            <a:ext cx="4138651" cy="552450"/>
          </a:xfrm>
          <a:prstGeom prst="rect">
            <a:avLst/>
          </a:prstGeom>
        </p:spPr>
        <p:txBody>
          <a:bodyPr lIns="0" tIns="0" rIns="0" bIns="0" rtlCol="0" anchor="t">
            <a:spAutoFit/>
          </a:bodyPr>
          <a:lstStyle/>
          <a:p>
            <a:pPr marL="0" lvl="0" indent="0" algn="l">
              <a:lnSpc>
                <a:spcPts val="3839"/>
              </a:lnSpc>
              <a:spcBef>
                <a:spcPct val="0"/>
              </a:spcBef>
            </a:pPr>
            <a:r>
              <a:rPr lang="en-US" sz="3199">
                <a:solidFill>
                  <a:srgbClr val="00FFA8"/>
                </a:solidFill>
                <a:latin typeface="ITC Avant Garde Gothic"/>
                <a:ea typeface="ITC Avant Garde Gothic"/>
                <a:cs typeface="ITC Avant Garde Gothic"/>
                <a:sym typeface="ITC Avant Garde Gothic"/>
              </a:rPr>
              <a:t>L</a:t>
            </a:r>
            <a:r>
              <a:rPr lang="en-US" sz="3199" u="none" strike="noStrike">
                <a:solidFill>
                  <a:srgbClr val="00FFA8"/>
                </a:solidFill>
                <a:latin typeface="ITC Avant Garde Gothic"/>
                <a:ea typeface="ITC Avant Garde Gothic"/>
                <a:cs typeface="ITC Avant Garde Gothic"/>
                <a:sym typeface="ITC Avant Garde Gothic"/>
              </a:rPr>
              <a:t>AW OF THE LAND: </a:t>
            </a:r>
          </a:p>
        </p:txBody>
      </p:sp>
      <p:sp>
        <p:nvSpPr>
          <p:cNvPr id="7" name="TextBox 7"/>
          <p:cNvSpPr txBox="1"/>
          <p:nvPr/>
        </p:nvSpPr>
        <p:spPr>
          <a:xfrm>
            <a:off x="666750" y="657225"/>
            <a:ext cx="14944885"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Malaysian Cybersecurity Laws</a:t>
            </a:r>
          </a:p>
        </p:txBody>
      </p:sp>
      <p:grpSp>
        <p:nvGrpSpPr>
          <p:cNvPr id="8" name="Group 8"/>
          <p:cNvGrpSpPr/>
          <p:nvPr/>
        </p:nvGrpSpPr>
        <p:grpSpPr>
          <a:xfrm>
            <a:off x="666750" y="8490108"/>
            <a:ext cx="10779191" cy="1442721"/>
            <a:chOff x="0" y="0"/>
            <a:chExt cx="2838932" cy="379985"/>
          </a:xfrm>
        </p:grpSpPr>
        <p:sp>
          <p:nvSpPr>
            <p:cNvPr id="9" name="Freeform 9"/>
            <p:cNvSpPr/>
            <p:nvPr/>
          </p:nvSpPr>
          <p:spPr>
            <a:xfrm>
              <a:off x="0" y="0"/>
              <a:ext cx="2838932" cy="379985"/>
            </a:xfrm>
            <a:custGeom>
              <a:avLst/>
              <a:gdLst/>
              <a:ahLst/>
              <a:cxnLst/>
              <a:rect l="l" t="t" r="r" b="b"/>
              <a:pathLst>
                <a:path w="2838932" h="379985">
                  <a:moveTo>
                    <a:pt x="2838932" y="14365"/>
                  </a:moveTo>
                  <a:lnTo>
                    <a:pt x="2838932" y="365621"/>
                  </a:lnTo>
                  <a:cubicBezTo>
                    <a:pt x="2838932" y="373554"/>
                    <a:pt x="2832501" y="379985"/>
                    <a:pt x="2824567" y="379985"/>
                  </a:cubicBezTo>
                  <a:lnTo>
                    <a:pt x="14365" y="379985"/>
                  </a:lnTo>
                  <a:cubicBezTo>
                    <a:pt x="6431" y="379985"/>
                    <a:pt x="0" y="373554"/>
                    <a:pt x="0" y="365621"/>
                  </a:cubicBezTo>
                  <a:lnTo>
                    <a:pt x="0" y="14365"/>
                  </a:lnTo>
                  <a:cubicBezTo>
                    <a:pt x="0" y="6431"/>
                    <a:pt x="6431" y="0"/>
                    <a:pt x="14365" y="0"/>
                  </a:cubicBezTo>
                  <a:lnTo>
                    <a:pt x="2824567" y="0"/>
                  </a:lnTo>
                  <a:cubicBezTo>
                    <a:pt x="2832501" y="0"/>
                    <a:pt x="2838932" y="6431"/>
                    <a:pt x="2838932" y="14365"/>
                  </a:cubicBezTo>
                  <a:close/>
                </a:path>
              </a:pathLst>
            </a:custGeom>
            <a:solidFill>
              <a:srgbClr val="E10505"/>
            </a:solidFill>
            <a:ln cap="sq">
              <a:noFill/>
              <a:prstDash val="solid"/>
              <a:miter/>
            </a:ln>
          </p:spPr>
          <p:txBody>
            <a:bodyPr/>
            <a:lstStyle/>
            <a:p>
              <a:endParaRPr lang="en-US"/>
            </a:p>
          </p:txBody>
        </p:sp>
        <p:sp>
          <p:nvSpPr>
            <p:cNvPr id="10" name="TextBox 10"/>
            <p:cNvSpPr txBox="1"/>
            <p:nvPr/>
          </p:nvSpPr>
          <p:spPr>
            <a:xfrm>
              <a:off x="0" y="0"/>
              <a:ext cx="28389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Remember: "I was just testing"</a:t>
              </a:r>
              <a:r>
                <a:rPr lang="en-US" sz="2800" spc="-84" dirty="0">
                  <a:solidFill>
                    <a:srgbClr val="FFFFFF"/>
                  </a:solidFill>
                  <a:latin typeface="TT Fors"/>
                  <a:ea typeface="TT Fors"/>
                  <a:cs typeface="TT Fors"/>
                  <a:sym typeface="TT Fors"/>
                </a:rPr>
                <a:t> or </a:t>
              </a:r>
              <a:r>
                <a:rPr lang="en-US" sz="2800" b="1" spc="-84" dirty="0">
                  <a:solidFill>
                    <a:srgbClr val="FFFFFF"/>
                  </a:solidFill>
                  <a:latin typeface="TT Fors Bold"/>
                  <a:ea typeface="TT Fors Bold"/>
                  <a:cs typeface="TT Fors Bold"/>
                  <a:sym typeface="TT Fors Bold"/>
                </a:rPr>
                <a:t>"I was learning"</a:t>
              </a:r>
              <a:r>
                <a:rPr lang="en-US" sz="2800" spc="-84" dirty="0">
                  <a:solidFill>
                    <a:srgbClr val="FFFFFF"/>
                  </a:solidFill>
                  <a:latin typeface="TT Fors"/>
                  <a:ea typeface="TT Fors"/>
                  <a:cs typeface="TT Fors"/>
                  <a:sym typeface="TT Fors"/>
                </a:rPr>
                <a:t> is NOT a legal defense for unauthorized access!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3768831"/>
            <a:ext cx="10462003" cy="3686063"/>
            <a:chOff x="0" y="0"/>
            <a:chExt cx="13949338" cy="4914750"/>
          </a:xfrm>
        </p:grpSpPr>
        <p:sp>
          <p:nvSpPr>
            <p:cNvPr id="3" name="TextBox 3"/>
            <p:cNvSpPr txBox="1"/>
            <p:nvPr/>
          </p:nvSpPr>
          <p:spPr>
            <a:xfrm>
              <a:off x="0" y="687979"/>
              <a:ext cx="13949338" cy="4226772"/>
            </a:xfrm>
            <a:prstGeom prst="rect">
              <a:avLst/>
            </a:prstGeom>
          </p:spPr>
          <p:txBody>
            <a:bodyPr lIns="0" tIns="0" rIns="0" bIns="0" rtlCol="0" anchor="t">
              <a:spAutoFit/>
            </a:bodyPr>
            <a:lstStyle/>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Obtain proper authorization</a:t>
              </a:r>
              <a:r>
                <a:rPr lang="en-US" sz="2600">
                  <a:solidFill>
                    <a:srgbClr val="00FFA8"/>
                  </a:solidFill>
                  <a:latin typeface="TT Fors"/>
                  <a:ea typeface="TT Fors"/>
                  <a:cs typeface="TT Fors"/>
                  <a:sym typeface="TT Fors"/>
                </a:rPr>
                <a:t> before any testing</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Respect privacy </a:t>
              </a:r>
              <a:r>
                <a:rPr lang="en-US" sz="2600">
                  <a:solidFill>
                    <a:srgbClr val="00FFA8"/>
                  </a:solidFill>
                  <a:latin typeface="TT Fors"/>
                  <a:ea typeface="TT Fors"/>
                  <a:cs typeface="TT Fors"/>
                  <a:sym typeface="TT Fors"/>
                </a:rPr>
                <a:t>- don't access unnecessary data</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Maintain confidentiality</a:t>
              </a:r>
              <a:r>
                <a:rPr lang="en-US" sz="2600">
                  <a:solidFill>
                    <a:srgbClr val="00FFA8"/>
                  </a:solidFill>
                  <a:latin typeface="TT Fors"/>
                  <a:ea typeface="TT Fors"/>
                  <a:cs typeface="TT Fors"/>
                  <a:sym typeface="TT Fors"/>
                </a:rPr>
                <a:t> - protect client information</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Report all findings</a:t>
              </a:r>
              <a:r>
                <a:rPr lang="en-US" sz="2600">
                  <a:solidFill>
                    <a:srgbClr val="00FFA8"/>
                  </a:solidFill>
                  <a:latin typeface="TT Fors"/>
                  <a:ea typeface="TT Fors"/>
                  <a:cs typeface="TT Fors"/>
                  <a:sym typeface="TT Fors"/>
                </a:rPr>
                <a:t> - even if uncomfortable</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Do no harm</a:t>
              </a:r>
              <a:r>
                <a:rPr lang="en-US" sz="2600">
                  <a:solidFill>
                    <a:srgbClr val="00FFA8"/>
                  </a:solidFill>
                  <a:latin typeface="TT Fors"/>
                  <a:ea typeface="TT Fors"/>
                  <a:cs typeface="TT Fors"/>
                  <a:sym typeface="TT Fors"/>
                </a:rPr>
                <a:t> - avoid disrupting systems</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Continuous learning</a:t>
              </a:r>
              <a:r>
                <a:rPr lang="en-US" sz="2600">
                  <a:solidFill>
                    <a:srgbClr val="00FFA8"/>
                  </a:solidFill>
                  <a:latin typeface="TT Fors"/>
                  <a:ea typeface="TT Fors"/>
                  <a:cs typeface="TT Fors"/>
                  <a:sym typeface="TT Fors"/>
                </a:rPr>
                <a:t> - stay updated on threats</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Give back</a:t>
              </a:r>
              <a:r>
                <a:rPr lang="en-US" sz="2600">
                  <a:solidFill>
                    <a:srgbClr val="00FFA8"/>
                  </a:solidFill>
                  <a:latin typeface="TT Fors"/>
                  <a:ea typeface="TT Fors"/>
                  <a:cs typeface="TT Fors"/>
                  <a:sym typeface="TT Fors"/>
                </a:rPr>
                <a:t> - contribute to security community</a:t>
              </a:r>
            </a:p>
          </p:txBody>
        </p:sp>
        <p:sp>
          <p:nvSpPr>
            <p:cNvPr id="4" name="TextBox 4"/>
            <p:cNvSpPr txBox="1"/>
            <p:nvPr/>
          </p:nvSpPr>
          <p:spPr>
            <a:xfrm>
              <a:off x="0" y="-114300"/>
              <a:ext cx="13949338" cy="679873"/>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0FFA8"/>
                  </a:solidFill>
                  <a:latin typeface="ITC Avant Garde Gothic Bold"/>
                  <a:ea typeface="ITC Avant Garde Gothic Bold"/>
                  <a:cs typeface="ITC Avant Garde Gothic Bold"/>
                  <a:sym typeface="ITC Avant Garde Gothic Bold"/>
                </a:rPr>
                <a:t>CORE E</a:t>
              </a:r>
              <a:r>
                <a:rPr lang="en-US" sz="2799" b="1" u="none" strike="noStrike">
                  <a:solidFill>
                    <a:srgbClr val="00FFA8"/>
                  </a:solidFill>
                  <a:latin typeface="ITC Avant Garde Gothic Bold"/>
                  <a:ea typeface="ITC Avant Garde Gothic Bold"/>
                  <a:cs typeface="ITC Avant Garde Gothic Bold"/>
                  <a:sym typeface="ITC Avant Garde Gothic Bold"/>
                </a:rPr>
                <a:t>THICAL PRINCIPLES:</a:t>
              </a:r>
            </a:p>
          </p:txBody>
        </p:sp>
      </p:grpSp>
      <p:sp>
        <p:nvSpPr>
          <p:cNvPr id="5" name="TextBox 5"/>
          <p:cNvSpPr txBox="1"/>
          <p:nvPr/>
        </p:nvSpPr>
        <p:spPr>
          <a:xfrm>
            <a:off x="666750" y="657225"/>
            <a:ext cx="16041245" cy="1222376"/>
          </a:xfrm>
          <a:prstGeom prst="rect">
            <a:avLst/>
          </a:prstGeom>
        </p:spPr>
        <p:txBody>
          <a:bodyPr lIns="0" tIns="0" rIns="0" bIns="0" rtlCol="0" anchor="t">
            <a:spAutoFit/>
          </a:bodyPr>
          <a:lstStyle/>
          <a:p>
            <a:pPr marL="0" lvl="0" indent="0" algn="l">
              <a:lnSpc>
                <a:spcPts val="8000"/>
              </a:lnSpc>
              <a:spcBef>
                <a:spcPct val="0"/>
              </a:spcBef>
            </a:pPr>
            <a:r>
              <a:rPr lang="en-US" sz="8000" u="none" strike="noStrike" spc="-240">
                <a:solidFill>
                  <a:srgbClr val="00FFA8"/>
                </a:solidFill>
                <a:latin typeface="ITC Avant Garde Gothic"/>
                <a:ea typeface="ITC Avant Garde Gothic"/>
                <a:cs typeface="ITC Avant Garde Gothic"/>
                <a:sym typeface="ITC Avant Garde Gothic"/>
              </a:rPr>
              <a:t>Ethical Hacker's Code of Conduct</a:t>
            </a:r>
          </a:p>
        </p:txBody>
      </p:sp>
      <p:grpSp>
        <p:nvGrpSpPr>
          <p:cNvPr id="6" name="Group 6"/>
          <p:cNvGrpSpPr/>
          <p:nvPr/>
        </p:nvGrpSpPr>
        <p:grpSpPr>
          <a:xfrm>
            <a:off x="666750" y="8509099"/>
            <a:ext cx="16954500" cy="1212509"/>
            <a:chOff x="0" y="0"/>
            <a:chExt cx="4465332" cy="319352"/>
          </a:xfrm>
        </p:grpSpPr>
        <p:sp>
          <p:nvSpPr>
            <p:cNvPr id="7" name="Freeform 7"/>
            <p:cNvSpPr/>
            <p:nvPr/>
          </p:nvSpPr>
          <p:spPr>
            <a:xfrm>
              <a:off x="0" y="0"/>
              <a:ext cx="4465332" cy="319352"/>
            </a:xfrm>
            <a:custGeom>
              <a:avLst/>
              <a:gdLst/>
              <a:ahLst/>
              <a:cxnLst/>
              <a:rect l="l" t="t" r="r" b="b"/>
              <a:pathLst>
                <a:path w="4465332" h="319352">
                  <a:moveTo>
                    <a:pt x="4465332" y="9133"/>
                  </a:moveTo>
                  <a:lnTo>
                    <a:pt x="4465332" y="310219"/>
                  </a:lnTo>
                  <a:cubicBezTo>
                    <a:pt x="4465332" y="312642"/>
                    <a:pt x="4464370" y="314964"/>
                    <a:pt x="4462657" y="316677"/>
                  </a:cubicBezTo>
                  <a:cubicBezTo>
                    <a:pt x="4460944" y="318390"/>
                    <a:pt x="4458622" y="319352"/>
                    <a:pt x="4456200" y="319352"/>
                  </a:cubicBezTo>
                  <a:lnTo>
                    <a:pt x="9133" y="319352"/>
                  </a:lnTo>
                  <a:cubicBezTo>
                    <a:pt x="6710" y="319352"/>
                    <a:pt x="4388" y="318390"/>
                    <a:pt x="2675" y="316677"/>
                  </a:cubicBezTo>
                  <a:cubicBezTo>
                    <a:pt x="962" y="314964"/>
                    <a:pt x="0" y="312642"/>
                    <a:pt x="0" y="31021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8" name="TextBox 8"/>
            <p:cNvSpPr txBox="1"/>
            <p:nvPr/>
          </p:nvSpPr>
          <p:spPr>
            <a:xfrm>
              <a:off x="0" y="0"/>
              <a:ext cx="4465332" cy="319352"/>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Professional Standards:</a:t>
              </a:r>
              <a:r>
                <a:rPr lang="en-US" sz="2800" spc="-84" dirty="0">
                  <a:solidFill>
                    <a:srgbClr val="FFFFFF"/>
                  </a:solidFill>
                  <a:latin typeface="TT Fors"/>
                  <a:ea typeface="TT Fors"/>
                  <a:cs typeface="TT Fors"/>
                  <a:sym typeface="TT Fors"/>
                </a:rPr>
                <a:t> Most certifications </a:t>
              </a:r>
              <a:r>
                <a:rPr lang="en-US" sz="2800" b="1" spc="-84" dirty="0">
                  <a:solidFill>
                    <a:srgbClr val="FFFFFF"/>
                  </a:solidFill>
                  <a:latin typeface="TT Fors Bold"/>
                  <a:ea typeface="TT Fors Bold"/>
                  <a:cs typeface="TT Fors Bold"/>
                  <a:sym typeface="TT Fors Bold"/>
                </a:rPr>
                <a:t>(CEH, OSCP)</a:t>
              </a:r>
              <a:r>
                <a:rPr lang="en-US" sz="2800" spc="-84" dirty="0">
                  <a:solidFill>
                    <a:srgbClr val="FFFFFF"/>
                  </a:solidFill>
                  <a:latin typeface="TT Fors"/>
                  <a:ea typeface="TT Fors"/>
                  <a:cs typeface="TT Fors"/>
                  <a:sym typeface="TT Fors"/>
                </a:rPr>
                <a:t> require agreeing to strict ethical codes.</a:t>
              </a:r>
            </a:p>
          </p:txBody>
        </p:sp>
      </p:grpSp>
      <p:sp>
        <p:nvSpPr>
          <p:cNvPr id="9" name="TextBox 9"/>
          <p:cNvSpPr txBox="1"/>
          <p:nvPr/>
        </p:nvSpPr>
        <p:spPr>
          <a:xfrm>
            <a:off x="666750" y="2162175"/>
            <a:ext cx="14496371" cy="552450"/>
          </a:xfrm>
          <a:prstGeom prst="rect">
            <a:avLst/>
          </a:prstGeom>
        </p:spPr>
        <p:txBody>
          <a:bodyPr lIns="0" tIns="0" rIns="0" bIns="0" rtlCol="0" anchor="t">
            <a:spAutoFit/>
          </a:bodyPr>
          <a:lstStyle/>
          <a:p>
            <a:pPr marL="0" lvl="0" indent="0" algn="l">
              <a:lnSpc>
                <a:spcPts val="3839"/>
              </a:lnSpc>
              <a:spcBef>
                <a:spcPct val="0"/>
              </a:spcBef>
            </a:pPr>
            <a:r>
              <a:rPr lang="en-US" sz="3199" u="none" strike="noStrike">
                <a:solidFill>
                  <a:srgbClr val="00FFA8"/>
                </a:solidFill>
                <a:latin typeface="ITC Avant Garde Gothic"/>
                <a:ea typeface="ITC Avant Garde Gothic"/>
                <a:cs typeface="ITC Avant Garde Gothic"/>
                <a:sym typeface="ITC Avant Garde Gothic"/>
              </a:rPr>
              <a:t>ESSENTIAL GUIDELINES FOR RESPONSIBLE ETHICAL HACKING</a:t>
            </a:r>
          </a:p>
        </p:txBody>
      </p:sp>
      <p:grpSp>
        <p:nvGrpSpPr>
          <p:cNvPr id="10" name="Group 10"/>
          <p:cNvGrpSpPr/>
          <p:nvPr/>
        </p:nvGrpSpPr>
        <p:grpSpPr>
          <a:xfrm>
            <a:off x="11049547" y="3438313"/>
            <a:ext cx="6571703" cy="4347099"/>
            <a:chOff x="0" y="0"/>
            <a:chExt cx="8762270" cy="5796132"/>
          </a:xfrm>
        </p:grpSpPr>
        <p:grpSp>
          <p:nvGrpSpPr>
            <p:cNvPr id="11" name="Group 11"/>
            <p:cNvGrpSpPr/>
            <p:nvPr/>
          </p:nvGrpSpPr>
          <p:grpSpPr>
            <a:xfrm>
              <a:off x="0" y="0"/>
              <a:ext cx="8762270" cy="5796132"/>
              <a:chOff x="0" y="0"/>
              <a:chExt cx="1730799" cy="1144944"/>
            </a:xfrm>
          </p:grpSpPr>
          <p:sp>
            <p:nvSpPr>
              <p:cNvPr id="12" name="Freeform 12"/>
              <p:cNvSpPr/>
              <p:nvPr/>
            </p:nvSpPr>
            <p:spPr>
              <a:xfrm>
                <a:off x="0" y="0"/>
                <a:ext cx="1730799" cy="1144944"/>
              </a:xfrm>
              <a:custGeom>
                <a:avLst/>
                <a:gdLst/>
                <a:ahLst/>
                <a:cxnLst/>
                <a:rect l="l" t="t" r="r" b="b"/>
                <a:pathLst>
                  <a:path w="1730799" h="1144944">
                    <a:moveTo>
                      <a:pt x="1730799" y="23561"/>
                    </a:moveTo>
                    <a:lnTo>
                      <a:pt x="1730799" y="1121382"/>
                    </a:lnTo>
                    <a:cubicBezTo>
                      <a:pt x="1730799" y="1134395"/>
                      <a:pt x="1720250" y="1144944"/>
                      <a:pt x="1707238" y="1144944"/>
                    </a:cubicBezTo>
                    <a:lnTo>
                      <a:pt x="23561" y="1144944"/>
                    </a:lnTo>
                    <a:cubicBezTo>
                      <a:pt x="10549" y="1144944"/>
                      <a:pt x="0" y="1134395"/>
                      <a:pt x="0" y="1121382"/>
                    </a:cubicBezTo>
                    <a:lnTo>
                      <a:pt x="0" y="23561"/>
                    </a:lnTo>
                    <a:cubicBezTo>
                      <a:pt x="0" y="10549"/>
                      <a:pt x="10549" y="0"/>
                      <a:pt x="23561" y="0"/>
                    </a:cubicBezTo>
                    <a:lnTo>
                      <a:pt x="1707238" y="0"/>
                    </a:lnTo>
                    <a:cubicBezTo>
                      <a:pt x="1720250" y="0"/>
                      <a:pt x="1730799" y="10549"/>
                      <a:pt x="1730799" y="23561"/>
                    </a:cubicBezTo>
                    <a:close/>
                  </a:path>
                </a:pathLst>
              </a:custGeom>
              <a:solidFill>
                <a:srgbClr val="E10505"/>
              </a:solidFill>
              <a:ln cap="sq">
                <a:noFill/>
                <a:prstDash val="solid"/>
                <a:miter/>
              </a:ln>
            </p:spPr>
            <p:txBody>
              <a:bodyPr/>
              <a:lstStyle/>
              <a:p>
                <a:endParaRPr lang="en-US"/>
              </a:p>
            </p:txBody>
          </p:sp>
          <p:sp>
            <p:nvSpPr>
              <p:cNvPr id="13" name="TextBox 13"/>
              <p:cNvSpPr txBox="1"/>
              <p:nvPr/>
            </p:nvSpPr>
            <p:spPr>
              <a:xfrm>
                <a:off x="0" y="-57150"/>
                <a:ext cx="1730799" cy="1202094"/>
              </a:xfrm>
              <a:prstGeom prst="rect">
                <a:avLst/>
              </a:prstGeom>
            </p:spPr>
            <p:txBody>
              <a:bodyPr lIns="254000" tIns="254000" rIns="254000" bIns="254000" rtlCol="0" anchor="ctr"/>
              <a:lstStyle/>
              <a:p>
                <a:pPr algn="l">
                  <a:lnSpc>
                    <a:spcPts val="3920"/>
                  </a:lnSpc>
                </a:pPr>
                <a:endParaRPr/>
              </a:p>
            </p:txBody>
          </p:sp>
        </p:grpSp>
        <p:sp>
          <p:nvSpPr>
            <p:cNvPr id="14" name="TextBox 14"/>
            <p:cNvSpPr txBox="1"/>
            <p:nvPr/>
          </p:nvSpPr>
          <p:spPr>
            <a:xfrm>
              <a:off x="1751839" y="4839776"/>
              <a:ext cx="5258592" cy="484293"/>
            </a:xfrm>
            <a:prstGeom prst="rect">
              <a:avLst/>
            </a:prstGeom>
          </p:spPr>
          <p:txBody>
            <a:bodyPr lIns="0" tIns="0" rIns="0" bIns="0" rtlCol="0" anchor="t">
              <a:spAutoFit/>
            </a:bodyPr>
            <a:lstStyle/>
            <a:p>
              <a:pPr marL="0" lvl="0" indent="0" algn="ctr">
                <a:lnSpc>
                  <a:spcPts val="3080"/>
                </a:lnSpc>
              </a:pPr>
              <a:r>
                <a:rPr lang="en-US" sz="2200">
                  <a:solidFill>
                    <a:srgbClr val="FFFFFF"/>
                  </a:solidFill>
                  <a:latin typeface="TT Fors"/>
                  <a:ea typeface="TT Fors"/>
                  <a:cs typeface="TT Fors"/>
                  <a:sym typeface="TT Fors"/>
                </a:rPr>
                <a:t>– EC-Council</a:t>
              </a:r>
            </a:p>
          </p:txBody>
        </p:sp>
        <p:sp>
          <p:nvSpPr>
            <p:cNvPr id="15" name="TextBox 15"/>
            <p:cNvSpPr txBox="1"/>
            <p:nvPr/>
          </p:nvSpPr>
          <p:spPr>
            <a:xfrm>
              <a:off x="0" y="1343083"/>
              <a:ext cx="8762270" cy="3313219"/>
            </a:xfrm>
            <a:prstGeom prst="rect">
              <a:avLst/>
            </a:prstGeom>
          </p:spPr>
          <p:txBody>
            <a:bodyPr lIns="0" tIns="0" rIns="0" bIns="0" rtlCol="0" anchor="t">
              <a:spAutoFit/>
            </a:bodyPr>
            <a:lstStyle/>
            <a:p>
              <a:pPr marL="0" lvl="0" indent="0" algn="ctr">
                <a:lnSpc>
                  <a:spcPts val="3800"/>
                </a:lnSpc>
                <a:spcBef>
                  <a:spcPct val="0"/>
                </a:spcBef>
              </a:pPr>
              <a:r>
                <a:rPr lang="en-US" sz="3800" u="none" strike="noStrike" spc="-114" dirty="0">
                  <a:solidFill>
                    <a:srgbClr val="FFFFFF"/>
                  </a:solidFill>
                  <a:latin typeface="ITC Avant Garde Gothic"/>
                  <a:ea typeface="ITC Avant Garde Gothic"/>
                  <a:cs typeface="ITC Avant Garde Gothic"/>
                  <a:sym typeface="ITC Avant Garde Gothic"/>
                </a:rPr>
                <a:t>“Keep private and confidential information gained in your professional work to maintain trust and integrity.”</a:t>
              </a:r>
            </a:p>
          </p:txBody>
        </p:sp>
        <p:sp>
          <p:nvSpPr>
            <p:cNvPr id="16" name="Freeform 16"/>
            <p:cNvSpPr/>
            <p:nvPr/>
          </p:nvSpPr>
          <p:spPr>
            <a:xfrm>
              <a:off x="3950056" y="472063"/>
              <a:ext cx="862157" cy="664645"/>
            </a:xfrm>
            <a:custGeom>
              <a:avLst/>
              <a:gdLst/>
              <a:ahLst/>
              <a:cxnLst/>
              <a:rect l="l" t="t" r="r" b="b"/>
              <a:pathLst>
                <a:path w="862157" h="664645">
                  <a:moveTo>
                    <a:pt x="0" y="0"/>
                  </a:moveTo>
                  <a:lnTo>
                    <a:pt x="862158" y="0"/>
                  </a:lnTo>
                  <a:lnTo>
                    <a:pt x="862158" y="664645"/>
                  </a:lnTo>
                  <a:lnTo>
                    <a:pt x="0" y="6646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R</a:t>
            </a:r>
            <a:r>
              <a:rPr lang="en-US" sz="6999" u="none" strike="noStrike" spc="-209">
                <a:solidFill>
                  <a:srgbClr val="00FFA8"/>
                </a:solidFill>
                <a:latin typeface="ITC Avant Garde Gothic"/>
                <a:ea typeface="ITC Avant Garde Gothic"/>
                <a:cs typeface="ITC Avant Garde Gothic"/>
                <a:sym typeface="ITC Avant Garde Gothic"/>
              </a:rPr>
              <a:t>ecent Hacking Incidents (2023-2025)</a:t>
            </a:r>
          </a:p>
        </p:txBody>
      </p:sp>
      <p:grpSp>
        <p:nvGrpSpPr>
          <p:cNvPr id="3" name="Group 3"/>
          <p:cNvGrpSpPr/>
          <p:nvPr/>
        </p:nvGrpSpPr>
        <p:grpSpPr>
          <a:xfrm>
            <a:off x="666750" y="2693318"/>
            <a:ext cx="8266317" cy="1703070"/>
            <a:chOff x="0" y="0"/>
            <a:chExt cx="2177112" cy="448556"/>
          </a:xfrm>
        </p:grpSpPr>
        <p:sp>
          <p:nvSpPr>
            <p:cNvPr id="4" name="Freeform 4"/>
            <p:cNvSpPr/>
            <p:nvPr/>
          </p:nvSpPr>
          <p:spPr>
            <a:xfrm>
              <a:off x="0" y="0"/>
              <a:ext cx="2177112" cy="448556"/>
            </a:xfrm>
            <a:custGeom>
              <a:avLst/>
              <a:gdLst/>
              <a:ahLst/>
              <a:cxnLst/>
              <a:rect l="l" t="t" r="r" b="b"/>
              <a:pathLst>
                <a:path w="2177112" h="448556">
                  <a:moveTo>
                    <a:pt x="2177112" y="18731"/>
                  </a:moveTo>
                  <a:lnTo>
                    <a:pt x="2177112" y="429825"/>
                  </a:lnTo>
                  <a:cubicBezTo>
                    <a:pt x="2177112" y="440170"/>
                    <a:pt x="2168726" y="448556"/>
                    <a:pt x="2158381" y="448556"/>
                  </a:cubicBezTo>
                  <a:lnTo>
                    <a:pt x="18731" y="448556"/>
                  </a:lnTo>
                  <a:cubicBezTo>
                    <a:pt x="8386" y="448556"/>
                    <a:pt x="0" y="440170"/>
                    <a:pt x="0" y="429825"/>
                  </a:cubicBezTo>
                  <a:lnTo>
                    <a:pt x="0" y="18731"/>
                  </a:lnTo>
                  <a:cubicBezTo>
                    <a:pt x="0" y="8386"/>
                    <a:pt x="8386" y="0"/>
                    <a:pt x="18731" y="0"/>
                  </a:cubicBezTo>
                  <a:lnTo>
                    <a:pt x="2158381" y="0"/>
                  </a:lnTo>
                  <a:cubicBezTo>
                    <a:pt x="2168726" y="0"/>
                    <a:pt x="2177112" y="8386"/>
                    <a:pt x="2177112" y="18731"/>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5" name="TextBox 5"/>
            <p:cNvSpPr txBox="1"/>
            <p:nvPr/>
          </p:nvSpPr>
          <p:spPr>
            <a:xfrm>
              <a:off x="0" y="-38100"/>
              <a:ext cx="2177112"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1. MOVEit Transfer Zero-Day Exploit (2023)</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Over 2,000 organizations affected globally</a:t>
              </a:r>
            </a:p>
            <a:p>
              <a:pPr algn="l">
                <a:lnSpc>
                  <a:spcPts val="2520"/>
                </a:lnSpc>
              </a:pPr>
              <a:r>
                <a:rPr lang="en-US" sz="1800" b="1" spc="-54">
                  <a:solidFill>
                    <a:srgbClr val="FFFFFF"/>
                  </a:solidFill>
                  <a:latin typeface="TT Fors Bold"/>
                  <a:ea typeface="TT Fors Bold"/>
                  <a:cs typeface="TT Fors Bold"/>
                  <a:sym typeface="TT Fors Bold"/>
                </a:rPr>
                <a:t>Attack Vector: </a:t>
              </a:r>
              <a:r>
                <a:rPr lang="en-US" sz="1800" spc="-54">
                  <a:solidFill>
                    <a:srgbClr val="FFFFFF"/>
                  </a:solidFill>
                  <a:latin typeface="TT Fors"/>
                  <a:ea typeface="TT Fors"/>
                  <a:cs typeface="TT Fors"/>
                  <a:sym typeface="TT Fors"/>
                </a:rPr>
                <a:t>SQL injection vulnerability in file transfer software</a:t>
              </a:r>
            </a:p>
            <a:p>
              <a:pPr algn="l">
                <a:lnSpc>
                  <a:spcPts val="2520"/>
                </a:lnSpc>
              </a:pPr>
              <a:r>
                <a:rPr lang="en-US" sz="1800" b="1" spc="-54">
                  <a:solidFill>
                    <a:srgbClr val="FFFFFF"/>
                  </a:solidFill>
                  <a:latin typeface="TT Fors Bold"/>
                  <a:ea typeface="TT Fors Bold"/>
                  <a:cs typeface="TT Fors Bold"/>
                  <a:sym typeface="TT Fors Bold"/>
                </a:rPr>
                <a:t>Lesson: </a:t>
              </a:r>
              <a:r>
                <a:rPr lang="en-US" sz="1800" spc="-54">
                  <a:solidFill>
                    <a:srgbClr val="FFFFFF"/>
                  </a:solidFill>
                  <a:latin typeface="TT Fors"/>
                  <a:ea typeface="TT Fors"/>
                  <a:cs typeface="TT Fors"/>
                  <a:sym typeface="TT Fors"/>
                </a:rPr>
                <a:t>Supply chain vulnerabilities can have massive cascading effects</a:t>
              </a:r>
            </a:p>
          </p:txBody>
        </p:sp>
      </p:grpSp>
      <p:grpSp>
        <p:nvGrpSpPr>
          <p:cNvPr id="6" name="Group 6"/>
          <p:cNvGrpSpPr/>
          <p:nvPr/>
        </p:nvGrpSpPr>
        <p:grpSpPr>
          <a:xfrm>
            <a:off x="666750" y="4596413"/>
            <a:ext cx="8266317" cy="1703070"/>
            <a:chOff x="0" y="0"/>
            <a:chExt cx="2177112" cy="448556"/>
          </a:xfrm>
        </p:grpSpPr>
        <p:sp>
          <p:nvSpPr>
            <p:cNvPr id="7" name="Freeform 7"/>
            <p:cNvSpPr/>
            <p:nvPr/>
          </p:nvSpPr>
          <p:spPr>
            <a:xfrm>
              <a:off x="0" y="0"/>
              <a:ext cx="2177112" cy="448556"/>
            </a:xfrm>
            <a:custGeom>
              <a:avLst/>
              <a:gdLst/>
              <a:ahLst/>
              <a:cxnLst/>
              <a:rect l="l" t="t" r="r" b="b"/>
              <a:pathLst>
                <a:path w="2177112" h="448556">
                  <a:moveTo>
                    <a:pt x="2177112" y="18731"/>
                  </a:moveTo>
                  <a:lnTo>
                    <a:pt x="2177112" y="429825"/>
                  </a:lnTo>
                  <a:cubicBezTo>
                    <a:pt x="2177112" y="440170"/>
                    <a:pt x="2168726" y="448556"/>
                    <a:pt x="2158381" y="448556"/>
                  </a:cubicBezTo>
                  <a:lnTo>
                    <a:pt x="18731" y="448556"/>
                  </a:lnTo>
                  <a:cubicBezTo>
                    <a:pt x="8386" y="448556"/>
                    <a:pt x="0" y="440170"/>
                    <a:pt x="0" y="429825"/>
                  </a:cubicBezTo>
                  <a:lnTo>
                    <a:pt x="0" y="18731"/>
                  </a:lnTo>
                  <a:cubicBezTo>
                    <a:pt x="0" y="8386"/>
                    <a:pt x="8386" y="0"/>
                    <a:pt x="18731" y="0"/>
                  </a:cubicBezTo>
                  <a:lnTo>
                    <a:pt x="2158381" y="0"/>
                  </a:lnTo>
                  <a:cubicBezTo>
                    <a:pt x="2168726" y="0"/>
                    <a:pt x="2177112" y="8386"/>
                    <a:pt x="2177112" y="18731"/>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8" name="TextBox 8"/>
            <p:cNvSpPr txBox="1"/>
            <p:nvPr/>
          </p:nvSpPr>
          <p:spPr>
            <a:xfrm>
              <a:off x="0" y="-38100"/>
              <a:ext cx="2177112"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2. MGM Resorts Ransomware Attack (2023)</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$100 million in losses, casino operations shut down</a:t>
              </a:r>
            </a:p>
            <a:p>
              <a:pPr algn="l">
                <a:lnSpc>
                  <a:spcPts val="2520"/>
                </a:lnSpc>
              </a:pPr>
              <a:r>
                <a:rPr lang="en-US" sz="1800" b="1" spc="-54">
                  <a:solidFill>
                    <a:srgbClr val="FFFFFF"/>
                  </a:solidFill>
                  <a:latin typeface="TT Fors Bold"/>
                  <a:ea typeface="TT Fors Bold"/>
                  <a:cs typeface="TT Fors Bold"/>
                  <a:sym typeface="TT Fors Bold"/>
                </a:rPr>
                <a:t>Attack Vector: </a:t>
              </a:r>
              <a:r>
                <a:rPr lang="en-US" sz="1800" spc="-54">
                  <a:solidFill>
                    <a:srgbClr val="FFFFFF"/>
                  </a:solidFill>
                  <a:latin typeface="TT Fors"/>
                  <a:ea typeface="TT Fors"/>
                  <a:cs typeface="TT Fors"/>
                  <a:sym typeface="TT Fors"/>
                </a:rPr>
                <a:t>Social engineering via LinkedIn, compromised VPN credentials</a:t>
              </a:r>
            </a:p>
            <a:p>
              <a:pPr algn="l">
                <a:lnSpc>
                  <a:spcPts val="2520"/>
                </a:lnSpc>
              </a:pPr>
              <a:r>
                <a:rPr lang="en-US" sz="1800" b="1" spc="-54">
                  <a:solidFill>
                    <a:srgbClr val="FFFFFF"/>
                  </a:solidFill>
                  <a:latin typeface="TT Fors Bold"/>
                  <a:ea typeface="TT Fors Bold"/>
                  <a:cs typeface="TT Fors Bold"/>
                  <a:sym typeface="TT Fors Bold"/>
                </a:rPr>
                <a:t>Lesson: </a:t>
              </a:r>
              <a:r>
                <a:rPr lang="en-US" sz="1800" spc="-54">
                  <a:solidFill>
                    <a:srgbClr val="FFFFFF"/>
                  </a:solidFill>
                  <a:latin typeface="TT Fors"/>
                  <a:ea typeface="TT Fors"/>
                  <a:cs typeface="TT Fors"/>
                  <a:sym typeface="TT Fors"/>
                </a:rPr>
                <a:t>Human vulnerabilities remain the weakest link</a:t>
              </a:r>
            </a:p>
          </p:txBody>
        </p:sp>
      </p:grpSp>
      <p:grpSp>
        <p:nvGrpSpPr>
          <p:cNvPr id="9" name="Group 9"/>
          <p:cNvGrpSpPr/>
          <p:nvPr/>
        </p:nvGrpSpPr>
        <p:grpSpPr>
          <a:xfrm>
            <a:off x="666750" y="6499509"/>
            <a:ext cx="8266317" cy="1703070"/>
            <a:chOff x="0" y="0"/>
            <a:chExt cx="2177112" cy="448556"/>
          </a:xfrm>
        </p:grpSpPr>
        <p:sp>
          <p:nvSpPr>
            <p:cNvPr id="10" name="Freeform 10"/>
            <p:cNvSpPr/>
            <p:nvPr/>
          </p:nvSpPr>
          <p:spPr>
            <a:xfrm>
              <a:off x="0" y="0"/>
              <a:ext cx="2177112" cy="448556"/>
            </a:xfrm>
            <a:custGeom>
              <a:avLst/>
              <a:gdLst/>
              <a:ahLst/>
              <a:cxnLst/>
              <a:rect l="l" t="t" r="r" b="b"/>
              <a:pathLst>
                <a:path w="2177112" h="448556">
                  <a:moveTo>
                    <a:pt x="2177112" y="18731"/>
                  </a:moveTo>
                  <a:lnTo>
                    <a:pt x="2177112" y="429825"/>
                  </a:lnTo>
                  <a:cubicBezTo>
                    <a:pt x="2177112" y="440170"/>
                    <a:pt x="2168726" y="448556"/>
                    <a:pt x="2158381" y="448556"/>
                  </a:cubicBezTo>
                  <a:lnTo>
                    <a:pt x="18731" y="448556"/>
                  </a:lnTo>
                  <a:cubicBezTo>
                    <a:pt x="8386" y="448556"/>
                    <a:pt x="0" y="440170"/>
                    <a:pt x="0" y="429825"/>
                  </a:cubicBezTo>
                  <a:lnTo>
                    <a:pt x="0" y="18731"/>
                  </a:lnTo>
                  <a:cubicBezTo>
                    <a:pt x="0" y="8386"/>
                    <a:pt x="8386" y="0"/>
                    <a:pt x="18731" y="0"/>
                  </a:cubicBezTo>
                  <a:lnTo>
                    <a:pt x="2158381" y="0"/>
                  </a:lnTo>
                  <a:cubicBezTo>
                    <a:pt x="2168726" y="0"/>
                    <a:pt x="2177112" y="8386"/>
                    <a:pt x="2177112" y="18731"/>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11" name="TextBox 11"/>
            <p:cNvSpPr txBox="1"/>
            <p:nvPr/>
          </p:nvSpPr>
          <p:spPr>
            <a:xfrm>
              <a:off x="0" y="-38100"/>
              <a:ext cx="2177112"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3. Change Healthcare Cyberattack (2024)</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100+ million patient records compromised, healthcare disruption</a:t>
              </a:r>
            </a:p>
            <a:p>
              <a:pPr algn="l">
                <a:lnSpc>
                  <a:spcPts val="2520"/>
                </a:lnSpc>
              </a:pPr>
              <a:r>
                <a:rPr lang="en-US" sz="1800" b="1" spc="-54">
                  <a:solidFill>
                    <a:srgbClr val="FFFFFF"/>
                  </a:solidFill>
                  <a:latin typeface="TT Fors Bold"/>
                  <a:ea typeface="TT Fors Bold"/>
                  <a:cs typeface="TT Fors Bold"/>
                  <a:sym typeface="TT Fors Bold"/>
                </a:rPr>
                <a:t>Attack Vector: </a:t>
              </a:r>
              <a:r>
                <a:rPr lang="en-US" sz="1800" spc="-54">
                  <a:solidFill>
                    <a:srgbClr val="FFFFFF"/>
                  </a:solidFill>
                  <a:latin typeface="TT Fors"/>
                  <a:ea typeface="TT Fors"/>
                  <a:cs typeface="TT Fors"/>
                  <a:sym typeface="TT Fors"/>
                </a:rPr>
                <a:t>Ransomware via compromised credentials</a:t>
              </a:r>
            </a:p>
            <a:p>
              <a:pPr algn="l">
                <a:lnSpc>
                  <a:spcPts val="2520"/>
                </a:lnSpc>
              </a:pPr>
              <a:r>
                <a:rPr lang="en-US" sz="1800" b="1" spc="-54">
                  <a:solidFill>
                    <a:srgbClr val="FFFFFF"/>
                  </a:solidFill>
                  <a:latin typeface="TT Fors Bold"/>
                  <a:ea typeface="TT Fors Bold"/>
                  <a:cs typeface="TT Fors Bold"/>
                  <a:sym typeface="TT Fors Bold"/>
                </a:rPr>
                <a:t>Lesson: </a:t>
              </a:r>
              <a:r>
                <a:rPr lang="en-US" sz="1800" spc="-54">
                  <a:solidFill>
                    <a:srgbClr val="FFFFFF"/>
                  </a:solidFill>
                  <a:latin typeface="TT Fors"/>
                  <a:ea typeface="TT Fors"/>
                  <a:cs typeface="TT Fors"/>
                  <a:sym typeface="TT Fors"/>
                </a:rPr>
                <a:t>Healthcare sector remains high-value target</a:t>
              </a:r>
            </a:p>
          </p:txBody>
        </p:sp>
      </p:grpSp>
      <p:grpSp>
        <p:nvGrpSpPr>
          <p:cNvPr id="12" name="Group 12"/>
          <p:cNvGrpSpPr/>
          <p:nvPr/>
        </p:nvGrpSpPr>
        <p:grpSpPr>
          <a:xfrm>
            <a:off x="9354503" y="2693318"/>
            <a:ext cx="8266748" cy="1703070"/>
            <a:chOff x="0" y="0"/>
            <a:chExt cx="2177226" cy="448556"/>
          </a:xfrm>
        </p:grpSpPr>
        <p:sp>
          <p:nvSpPr>
            <p:cNvPr id="13" name="Freeform 13"/>
            <p:cNvSpPr/>
            <p:nvPr/>
          </p:nvSpPr>
          <p:spPr>
            <a:xfrm>
              <a:off x="0" y="0"/>
              <a:ext cx="2177226" cy="448556"/>
            </a:xfrm>
            <a:custGeom>
              <a:avLst/>
              <a:gdLst/>
              <a:ahLst/>
              <a:cxnLst/>
              <a:rect l="l" t="t" r="r" b="b"/>
              <a:pathLst>
                <a:path w="2177226" h="448556">
                  <a:moveTo>
                    <a:pt x="2177226" y="18730"/>
                  </a:moveTo>
                  <a:lnTo>
                    <a:pt x="2177226" y="429826"/>
                  </a:lnTo>
                  <a:cubicBezTo>
                    <a:pt x="2177226" y="434794"/>
                    <a:pt x="2175252" y="439558"/>
                    <a:pt x="2171740" y="443071"/>
                  </a:cubicBezTo>
                  <a:cubicBezTo>
                    <a:pt x="2168227" y="446583"/>
                    <a:pt x="2163463" y="448556"/>
                    <a:pt x="2158495" y="448556"/>
                  </a:cubicBezTo>
                  <a:lnTo>
                    <a:pt x="18730" y="448556"/>
                  </a:lnTo>
                  <a:cubicBezTo>
                    <a:pt x="8386" y="448556"/>
                    <a:pt x="0" y="440171"/>
                    <a:pt x="0" y="429826"/>
                  </a:cubicBezTo>
                  <a:lnTo>
                    <a:pt x="0" y="18730"/>
                  </a:lnTo>
                  <a:cubicBezTo>
                    <a:pt x="0" y="8386"/>
                    <a:pt x="8386" y="0"/>
                    <a:pt x="18730" y="0"/>
                  </a:cubicBezTo>
                  <a:lnTo>
                    <a:pt x="2158495" y="0"/>
                  </a:lnTo>
                  <a:cubicBezTo>
                    <a:pt x="2168840" y="0"/>
                    <a:pt x="2177226" y="8386"/>
                    <a:pt x="2177226" y="18730"/>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14" name="TextBox 14"/>
            <p:cNvSpPr txBox="1"/>
            <p:nvPr/>
          </p:nvSpPr>
          <p:spPr>
            <a:xfrm>
              <a:off x="0" y="-38100"/>
              <a:ext cx="2177226"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1. Malaysian Communications &amp; Multimedia Commission (MCMC) Data Leak (2024)</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Sensitive government communications exposed</a:t>
              </a:r>
            </a:p>
            <a:p>
              <a:pPr algn="l">
                <a:lnSpc>
                  <a:spcPts val="2520"/>
                </a:lnSpc>
              </a:pPr>
              <a:r>
                <a:rPr lang="en-US" sz="1800" b="1" spc="-54">
                  <a:solidFill>
                    <a:srgbClr val="FFFFFF"/>
                  </a:solidFill>
                  <a:latin typeface="TT Fors Bold"/>
                  <a:ea typeface="TT Fors Bold"/>
                  <a:cs typeface="TT Fors Bold"/>
                  <a:sym typeface="TT Fors Bold"/>
                </a:rPr>
                <a:t>Cause: </a:t>
              </a:r>
              <a:r>
                <a:rPr lang="en-US" sz="1800" spc="-54">
                  <a:solidFill>
                    <a:srgbClr val="FFFFFF"/>
                  </a:solidFill>
                  <a:latin typeface="TT Fors"/>
                  <a:ea typeface="TT Fors"/>
                  <a:cs typeface="TT Fors"/>
                  <a:sym typeface="TT Fors"/>
                </a:rPr>
                <a:t>Database misconfiguration</a:t>
              </a:r>
            </a:p>
          </p:txBody>
        </p:sp>
      </p:grpSp>
      <p:grpSp>
        <p:nvGrpSpPr>
          <p:cNvPr id="15" name="Group 15"/>
          <p:cNvGrpSpPr/>
          <p:nvPr/>
        </p:nvGrpSpPr>
        <p:grpSpPr>
          <a:xfrm>
            <a:off x="9354503" y="4596413"/>
            <a:ext cx="8266748" cy="1703070"/>
            <a:chOff x="0" y="0"/>
            <a:chExt cx="2177226" cy="448556"/>
          </a:xfrm>
        </p:grpSpPr>
        <p:sp>
          <p:nvSpPr>
            <p:cNvPr id="16" name="Freeform 16"/>
            <p:cNvSpPr/>
            <p:nvPr/>
          </p:nvSpPr>
          <p:spPr>
            <a:xfrm>
              <a:off x="0" y="0"/>
              <a:ext cx="2177226" cy="448556"/>
            </a:xfrm>
            <a:custGeom>
              <a:avLst/>
              <a:gdLst/>
              <a:ahLst/>
              <a:cxnLst/>
              <a:rect l="l" t="t" r="r" b="b"/>
              <a:pathLst>
                <a:path w="2177226" h="448556">
                  <a:moveTo>
                    <a:pt x="2177226" y="18730"/>
                  </a:moveTo>
                  <a:lnTo>
                    <a:pt x="2177226" y="429826"/>
                  </a:lnTo>
                  <a:cubicBezTo>
                    <a:pt x="2177226" y="434794"/>
                    <a:pt x="2175252" y="439558"/>
                    <a:pt x="2171740" y="443071"/>
                  </a:cubicBezTo>
                  <a:cubicBezTo>
                    <a:pt x="2168227" y="446583"/>
                    <a:pt x="2163463" y="448556"/>
                    <a:pt x="2158495" y="448556"/>
                  </a:cubicBezTo>
                  <a:lnTo>
                    <a:pt x="18730" y="448556"/>
                  </a:lnTo>
                  <a:cubicBezTo>
                    <a:pt x="8386" y="448556"/>
                    <a:pt x="0" y="440171"/>
                    <a:pt x="0" y="429826"/>
                  </a:cubicBezTo>
                  <a:lnTo>
                    <a:pt x="0" y="18730"/>
                  </a:lnTo>
                  <a:cubicBezTo>
                    <a:pt x="0" y="8386"/>
                    <a:pt x="8386" y="0"/>
                    <a:pt x="18730" y="0"/>
                  </a:cubicBezTo>
                  <a:lnTo>
                    <a:pt x="2158495" y="0"/>
                  </a:lnTo>
                  <a:cubicBezTo>
                    <a:pt x="2168840" y="0"/>
                    <a:pt x="2177226" y="8386"/>
                    <a:pt x="2177226" y="18730"/>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17" name="TextBox 17"/>
            <p:cNvSpPr txBox="1"/>
            <p:nvPr/>
          </p:nvSpPr>
          <p:spPr>
            <a:xfrm>
              <a:off x="0" y="-38100"/>
              <a:ext cx="2177226"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2. Banking Sector Phishing Campaigns (Ongoing)</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Millions lost to fake banking apps and SMS phishing</a:t>
              </a:r>
            </a:p>
            <a:p>
              <a:pPr algn="l">
                <a:lnSpc>
                  <a:spcPts val="2520"/>
                </a:lnSpc>
              </a:pPr>
              <a:r>
                <a:rPr lang="en-US" sz="1800" b="1" spc="-54">
                  <a:solidFill>
                    <a:srgbClr val="FFFFFF"/>
                  </a:solidFill>
                  <a:latin typeface="TT Fors Bold"/>
                  <a:ea typeface="TT Fors Bold"/>
                  <a:cs typeface="TT Fors Bold"/>
                  <a:sym typeface="TT Fors Bold"/>
                </a:rPr>
                <a:t>Attack Vector: </a:t>
              </a:r>
              <a:r>
                <a:rPr lang="en-US" sz="1800" spc="-54">
                  <a:solidFill>
                    <a:srgbClr val="FFFFFF"/>
                  </a:solidFill>
                  <a:latin typeface="TT Fors"/>
                  <a:ea typeface="TT Fors"/>
                  <a:cs typeface="TT Fors"/>
                  <a:sym typeface="TT Fors"/>
                </a:rPr>
                <a:t>Social engineering, fake mobile apps</a:t>
              </a:r>
            </a:p>
            <a:p>
              <a:pPr algn="l">
                <a:lnSpc>
                  <a:spcPts val="2520"/>
                </a:lnSpc>
              </a:pPr>
              <a:r>
                <a:rPr lang="en-US" sz="1800" b="1" spc="-54">
                  <a:solidFill>
                    <a:srgbClr val="FFFFFF"/>
                  </a:solidFill>
                  <a:latin typeface="TT Fors Bold"/>
                  <a:ea typeface="TT Fors Bold"/>
                  <a:cs typeface="TT Fors Bold"/>
                  <a:sym typeface="TT Fors Bold"/>
                </a:rPr>
                <a:t>Lesson: Public </a:t>
              </a:r>
              <a:r>
                <a:rPr lang="en-US" sz="1800" spc="-54">
                  <a:solidFill>
                    <a:srgbClr val="FFFFFF"/>
                  </a:solidFill>
                  <a:latin typeface="TT Fors"/>
                  <a:ea typeface="TT Fors"/>
                  <a:cs typeface="TT Fors"/>
                  <a:sym typeface="TT Fors"/>
                </a:rPr>
                <a:t>Awareness crucial for defense</a:t>
              </a:r>
            </a:p>
          </p:txBody>
        </p:sp>
      </p:grpSp>
      <p:grpSp>
        <p:nvGrpSpPr>
          <p:cNvPr id="18" name="Group 18"/>
          <p:cNvGrpSpPr/>
          <p:nvPr/>
        </p:nvGrpSpPr>
        <p:grpSpPr>
          <a:xfrm>
            <a:off x="9354503" y="6499509"/>
            <a:ext cx="8266748" cy="1703070"/>
            <a:chOff x="0" y="0"/>
            <a:chExt cx="2177226" cy="448556"/>
          </a:xfrm>
        </p:grpSpPr>
        <p:sp>
          <p:nvSpPr>
            <p:cNvPr id="19" name="Freeform 19"/>
            <p:cNvSpPr/>
            <p:nvPr/>
          </p:nvSpPr>
          <p:spPr>
            <a:xfrm>
              <a:off x="0" y="0"/>
              <a:ext cx="2177226" cy="448556"/>
            </a:xfrm>
            <a:custGeom>
              <a:avLst/>
              <a:gdLst/>
              <a:ahLst/>
              <a:cxnLst/>
              <a:rect l="l" t="t" r="r" b="b"/>
              <a:pathLst>
                <a:path w="2177226" h="448556">
                  <a:moveTo>
                    <a:pt x="2177226" y="18730"/>
                  </a:moveTo>
                  <a:lnTo>
                    <a:pt x="2177226" y="429826"/>
                  </a:lnTo>
                  <a:cubicBezTo>
                    <a:pt x="2177226" y="434794"/>
                    <a:pt x="2175252" y="439558"/>
                    <a:pt x="2171740" y="443071"/>
                  </a:cubicBezTo>
                  <a:cubicBezTo>
                    <a:pt x="2168227" y="446583"/>
                    <a:pt x="2163463" y="448556"/>
                    <a:pt x="2158495" y="448556"/>
                  </a:cubicBezTo>
                  <a:lnTo>
                    <a:pt x="18730" y="448556"/>
                  </a:lnTo>
                  <a:cubicBezTo>
                    <a:pt x="8386" y="448556"/>
                    <a:pt x="0" y="440171"/>
                    <a:pt x="0" y="429826"/>
                  </a:cubicBezTo>
                  <a:lnTo>
                    <a:pt x="0" y="18730"/>
                  </a:lnTo>
                  <a:cubicBezTo>
                    <a:pt x="0" y="8386"/>
                    <a:pt x="8386" y="0"/>
                    <a:pt x="18730" y="0"/>
                  </a:cubicBezTo>
                  <a:lnTo>
                    <a:pt x="2158495" y="0"/>
                  </a:lnTo>
                  <a:cubicBezTo>
                    <a:pt x="2168840" y="0"/>
                    <a:pt x="2177226" y="8386"/>
                    <a:pt x="2177226" y="18730"/>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20" name="TextBox 20"/>
            <p:cNvSpPr txBox="1"/>
            <p:nvPr/>
          </p:nvSpPr>
          <p:spPr>
            <a:xfrm>
              <a:off x="0" y="-38100"/>
              <a:ext cx="2177226" cy="486656"/>
            </a:xfrm>
            <a:prstGeom prst="rect">
              <a:avLst/>
            </a:prstGeom>
          </p:spPr>
          <p:txBody>
            <a:bodyPr lIns="254000" tIns="254000" rIns="254000" bIns="254000" rtlCol="0" anchor="t"/>
            <a:lstStyle/>
            <a:p>
              <a:pPr algn="l">
                <a:lnSpc>
                  <a:spcPts val="2520"/>
                </a:lnSpc>
              </a:pPr>
              <a:r>
                <a:rPr lang="en-US" sz="1800" b="1" spc="-54">
                  <a:solidFill>
                    <a:srgbClr val="FFFFFF"/>
                  </a:solidFill>
                  <a:latin typeface="TT Fors Bold"/>
                  <a:ea typeface="TT Fors Bold"/>
                  <a:cs typeface="TT Fors Bold"/>
                  <a:sym typeface="TT Fors Bold"/>
                </a:rPr>
                <a:t>3. E-Commerce Platform Breaches (2023-2024)</a:t>
              </a:r>
            </a:p>
            <a:p>
              <a:pPr algn="l">
                <a:lnSpc>
                  <a:spcPts val="2520"/>
                </a:lnSpc>
              </a:pPr>
              <a:r>
                <a:rPr lang="en-US" sz="1800" b="1" spc="-54">
                  <a:solidFill>
                    <a:srgbClr val="FFFFFF"/>
                  </a:solidFill>
                  <a:latin typeface="TT Fors Bold"/>
                  <a:ea typeface="TT Fors Bold"/>
                  <a:cs typeface="TT Fors Bold"/>
                  <a:sym typeface="TT Fors Bold"/>
                </a:rPr>
                <a:t>Impact: </a:t>
              </a:r>
              <a:r>
                <a:rPr lang="en-US" sz="1800" spc="-54">
                  <a:solidFill>
                    <a:srgbClr val="FFFFFF"/>
                  </a:solidFill>
                  <a:latin typeface="TT Fors"/>
                  <a:ea typeface="TT Fors"/>
                  <a:cs typeface="TT Fors"/>
                  <a:sym typeface="TT Fors"/>
                </a:rPr>
                <a:t>Customer data and payment information compromised</a:t>
              </a:r>
            </a:p>
            <a:p>
              <a:pPr algn="l">
                <a:lnSpc>
                  <a:spcPts val="2520"/>
                </a:lnSpc>
              </a:pPr>
              <a:r>
                <a:rPr lang="en-US" sz="1800" b="1" spc="-54">
                  <a:solidFill>
                    <a:srgbClr val="FFFFFF"/>
                  </a:solidFill>
                  <a:latin typeface="TT Fors Bold"/>
                  <a:ea typeface="TT Fors Bold"/>
                  <a:cs typeface="TT Fors Bold"/>
                  <a:sym typeface="TT Fors Bold"/>
                </a:rPr>
                <a:t>Cause: </a:t>
              </a:r>
              <a:r>
                <a:rPr lang="en-US" sz="1800" spc="-54">
                  <a:solidFill>
                    <a:srgbClr val="FFFFFF"/>
                  </a:solidFill>
                  <a:latin typeface="TT Fors"/>
                  <a:ea typeface="TT Fors"/>
                  <a:cs typeface="TT Fors"/>
                  <a:sym typeface="TT Fors"/>
                </a:rPr>
                <a:t>SQL injection, weak authentication</a:t>
              </a:r>
            </a:p>
          </p:txBody>
        </p:sp>
      </p:grpSp>
      <p:grpSp>
        <p:nvGrpSpPr>
          <p:cNvPr id="21" name="Group 21"/>
          <p:cNvGrpSpPr/>
          <p:nvPr/>
        </p:nvGrpSpPr>
        <p:grpSpPr>
          <a:xfrm>
            <a:off x="666750" y="8509099"/>
            <a:ext cx="16954500" cy="1442721"/>
            <a:chOff x="0" y="0"/>
            <a:chExt cx="4465332" cy="379985"/>
          </a:xfrm>
        </p:grpSpPr>
        <p:sp>
          <p:nvSpPr>
            <p:cNvPr id="22" name="Freeform 22"/>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23" name="TextBox 23"/>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Trend: </a:t>
              </a:r>
              <a:r>
                <a:rPr lang="en-US" sz="2800" spc="-84" dirty="0">
                  <a:solidFill>
                    <a:srgbClr val="FFFFFF"/>
                  </a:solidFill>
                  <a:latin typeface="TT Fors"/>
                  <a:ea typeface="TT Fors"/>
                  <a:cs typeface="TT Fors"/>
                  <a:sym typeface="TT Fors"/>
                </a:rPr>
                <a:t>Malaysian organizations increasingly targeted due to growing digital economy and sometimes weaker security postures compared to Western counterparts.</a:t>
              </a:r>
            </a:p>
          </p:txBody>
        </p:sp>
      </p:grpSp>
      <p:sp>
        <p:nvSpPr>
          <p:cNvPr id="24" name="TextBox 24"/>
          <p:cNvSpPr txBox="1"/>
          <p:nvPr/>
        </p:nvSpPr>
        <p:spPr>
          <a:xfrm>
            <a:off x="666750" y="1812431"/>
            <a:ext cx="7290766"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Global Cybersecurity Incidents:</a:t>
            </a:r>
          </a:p>
        </p:txBody>
      </p:sp>
      <p:sp>
        <p:nvSpPr>
          <p:cNvPr id="25" name="TextBox 25"/>
          <p:cNvSpPr txBox="1"/>
          <p:nvPr/>
        </p:nvSpPr>
        <p:spPr>
          <a:xfrm>
            <a:off x="9354503" y="1812431"/>
            <a:ext cx="7324441"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Malaysian Cybersecurity Incidents: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R</a:t>
            </a:r>
            <a:r>
              <a:rPr lang="en-US" sz="6999" u="none" strike="noStrike" spc="-209">
                <a:solidFill>
                  <a:srgbClr val="00FFA8"/>
                </a:solidFill>
                <a:latin typeface="ITC Avant Garde Gothic"/>
                <a:ea typeface="ITC Avant Garde Gothic"/>
                <a:cs typeface="ITC Avant Garde Gothic"/>
                <a:sym typeface="ITC Avant Garde Gothic"/>
              </a:rPr>
              <a:t>ecent Hacking Incidents (References)</a:t>
            </a:r>
          </a:p>
        </p:txBody>
      </p:sp>
      <p:graphicFrame>
        <p:nvGraphicFramePr>
          <p:cNvPr id="3" name="Table 3"/>
          <p:cNvGraphicFramePr>
            <a:graphicFrameLocks noGrp="1"/>
          </p:cNvGraphicFramePr>
          <p:nvPr/>
        </p:nvGraphicFramePr>
        <p:xfrm>
          <a:off x="666750" y="2219325"/>
          <a:ext cx="16954500" cy="7219951"/>
        </p:xfrm>
        <a:graphic>
          <a:graphicData uri="http://schemas.openxmlformats.org/drawingml/2006/table">
            <a:tbl>
              <a:tblPr/>
              <a:tblGrid>
                <a:gridCol w="5975269">
                  <a:extLst>
                    <a:ext uri="{9D8B030D-6E8A-4147-A177-3AD203B41FA5}">
                      <a16:colId xmlns:a16="http://schemas.microsoft.com/office/drawing/2014/main" val="20000"/>
                    </a:ext>
                  </a:extLst>
                </a:gridCol>
                <a:gridCol w="10979231">
                  <a:extLst>
                    <a:ext uri="{9D8B030D-6E8A-4147-A177-3AD203B41FA5}">
                      <a16:colId xmlns:a16="http://schemas.microsoft.com/office/drawing/2014/main" val="20001"/>
                    </a:ext>
                  </a:extLst>
                </a:gridCol>
              </a:tblGrid>
              <a:tr h="928826">
                <a:tc>
                  <a:txBody>
                    <a:bodyPr/>
                    <a:lstStyle/>
                    <a:p>
                      <a:pPr algn="l">
                        <a:lnSpc>
                          <a:spcPts val="3499"/>
                        </a:lnSpc>
                        <a:defRPr/>
                      </a:pPr>
                      <a:r>
                        <a:rPr lang="en-US" sz="2499" b="1">
                          <a:solidFill>
                            <a:srgbClr val="000000"/>
                          </a:solidFill>
                          <a:latin typeface="TT Fors Bold"/>
                          <a:ea typeface="TT Fors Bold"/>
                          <a:cs typeface="TT Fors Bold"/>
                          <a:sym typeface="TT Fors Bold"/>
                        </a:rPr>
                        <a:t>Heading</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3499"/>
                        </a:lnSpc>
                        <a:defRPr/>
                      </a:pPr>
                      <a:r>
                        <a:rPr lang="en-US" sz="2499" b="1">
                          <a:solidFill>
                            <a:srgbClr val="000000"/>
                          </a:solidFill>
                          <a:latin typeface="TT Fors Bold"/>
                          <a:ea typeface="TT Fors Bold"/>
                          <a:cs typeface="TT Fors Bold"/>
                          <a:sym typeface="TT Fors Bold"/>
                        </a:rPr>
                        <a:t>URL</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785194">
                <a:tc>
                  <a:txBody>
                    <a:bodyPr/>
                    <a:lstStyle/>
                    <a:p>
                      <a:pPr algn="l">
                        <a:lnSpc>
                          <a:spcPts val="2520"/>
                        </a:lnSpc>
                        <a:defRPr/>
                      </a:pPr>
                      <a:r>
                        <a:rPr lang="en-US" sz="1800" b="1">
                          <a:solidFill>
                            <a:srgbClr val="FFFFFF"/>
                          </a:solidFill>
                          <a:latin typeface="TT Fors Bold"/>
                          <a:ea typeface="TT Fors Bold"/>
                          <a:cs typeface="TT Fors Bold"/>
                          <a:sym typeface="TT Fors Bold"/>
                        </a:rPr>
                        <a:t>Cyber Threats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https://cybermap.kaspersky.com</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785194">
                <a:tc>
                  <a:txBody>
                    <a:bodyPr/>
                    <a:lstStyle/>
                    <a:p>
                      <a:pPr algn="l">
                        <a:lnSpc>
                          <a:spcPts val="2520"/>
                        </a:lnSpc>
                        <a:defRPr/>
                      </a:pPr>
                      <a:r>
                        <a:rPr lang="en-US" sz="1800" b="1">
                          <a:solidFill>
                            <a:srgbClr val="FFFFFF"/>
                          </a:solidFill>
                          <a:latin typeface="TT Fors Bold"/>
                          <a:ea typeface="TT Fors Bold"/>
                          <a:cs typeface="TT Fors Bold"/>
                          <a:sym typeface="TT Fors Bold"/>
                        </a:rPr>
                        <a:t>World’s Biggest Data Breaches &amp; Hacks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https://informationisbeautiful.net/visualizations/worlds-biggest-data-breaches-hacks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1101186">
                <a:tc>
                  <a:txBody>
                    <a:bodyPr/>
                    <a:lstStyle/>
                    <a:p>
                      <a:pPr algn="l">
                        <a:lnSpc>
                          <a:spcPts val="2520"/>
                        </a:lnSpc>
                        <a:defRPr/>
                      </a:pPr>
                      <a:r>
                        <a:rPr lang="en-US" sz="1800" b="1">
                          <a:solidFill>
                            <a:srgbClr val="FFFFFF"/>
                          </a:solidFill>
                          <a:latin typeface="TT Fors Bold"/>
                          <a:ea typeface="TT Fors Bold"/>
                          <a:cs typeface="TT Fors Bold"/>
                          <a:sym typeface="TT Fors Bold"/>
                        </a:rPr>
                        <a:t>SR-029.022025: MyCERT Report - Cyber Incident Quarterly Summary Report - Q4 2024</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https://www.mycert.org.my/portal/advisory?id=SR-029.022025 </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1101186">
                <a:tc>
                  <a:txBody>
                    <a:bodyPr/>
                    <a:lstStyle/>
                    <a:p>
                      <a:pPr algn="l">
                        <a:lnSpc>
                          <a:spcPts val="2520"/>
                        </a:lnSpc>
                        <a:defRPr/>
                      </a:pPr>
                      <a:r>
                        <a:rPr lang="en-US" sz="1800" b="1">
                          <a:solidFill>
                            <a:srgbClr val="FFFFFF"/>
                          </a:solidFill>
                          <a:latin typeface="TT Fors Bold"/>
                          <a:ea typeface="TT Fors Bold"/>
                          <a:cs typeface="TT Fors Bold"/>
                          <a:sym typeface="TT Fors Bold"/>
                        </a:rPr>
                        <a:t>Malaysia hit by more than 3,000 cyber attacks each day</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https://www.nst.com.my/news/nation/2024/03/1032394/malaysia-hit-more-3000-cyber-attacks-each-day </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1101186">
                <a:tc>
                  <a:txBody>
                    <a:bodyPr/>
                    <a:lstStyle/>
                    <a:p>
                      <a:pPr algn="l">
                        <a:lnSpc>
                          <a:spcPts val="2520"/>
                        </a:lnSpc>
                        <a:defRPr/>
                      </a:pPr>
                      <a:r>
                        <a:rPr lang="en-US" sz="1800" b="1">
                          <a:solidFill>
                            <a:srgbClr val="FFFFFF"/>
                          </a:solidFill>
                          <a:latin typeface="TT Fors Bold"/>
                          <a:ea typeface="TT Fors Bold"/>
                          <a:cs typeface="TT Fors Bold"/>
                          <a:sym typeface="TT Fors Bold"/>
                        </a:rPr>
                        <a:t>Telekom Malaysia customer data</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https://www.thestar.com.my/tech/tech-news/2024/01/26/hack er-alleges-to-have-stolen-telekom-malaysias-customer-datab ase-with-nearly-20-million-effective-user-data </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r h="1417179">
                <a:tc>
                  <a:txBody>
                    <a:bodyPr/>
                    <a:lstStyle/>
                    <a:p>
                      <a:pPr algn="l">
                        <a:lnSpc>
                          <a:spcPts val="2520"/>
                        </a:lnSpc>
                        <a:defRPr/>
                      </a:pPr>
                      <a:r>
                        <a:rPr lang="en-US" sz="1800" b="1">
                          <a:solidFill>
                            <a:srgbClr val="FFFFFF"/>
                          </a:solidFill>
                          <a:latin typeface="TT Fors Bold"/>
                          <a:ea typeface="TT Fors Bold"/>
                          <a:cs typeface="TT Fors Bold"/>
                          <a:sym typeface="TT Fors Bold"/>
                        </a:rPr>
                        <a:t>Other breaches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https://www.lowyat.net/data-breaches/ https://www.malaymail.com/news/malaysia/2022/12/31/major-data-breaches-in-malaysia-in-the-past-24-months/47722 </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66750" y="2762250"/>
          <a:ext cx="16954501" cy="5565875"/>
        </p:xfrm>
        <a:graphic>
          <a:graphicData uri="http://schemas.openxmlformats.org/drawingml/2006/table">
            <a:tbl>
              <a:tblPr/>
              <a:tblGrid>
                <a:gridCol w="4398813">
                  <a:extLst>
                    <a:ext uri="{9D8B030D-6E8A-4147-A177-3AD203B41FA5}">
                      <a16:colId xmlns:a16="http://schemas.microsoft.com/office/drawing/2014/main" val="20000"/>
                    </a:ext>
                  </a:extLst>
                </a:gridCol>
                <a:gridCol w="5108959">
                  <a:extLst>
                    <a:ext uri="{9D8B030D-6E8A-4147-A177-3AD203B41FA5}">
                      <a16:colId xmlns:a16="http://schemas.microsoft.com/office/drawing/2014/main" val="20001"/>
                    </a:ext>
                  </a:extLst>
                </a:gridCol>
                <a:gridCol w="7446729">
                  <a:extLst>
                    <a:ext uri="{9D8B030D-6E8A-4147-A177-3AD203B41FA5}">
                      <a16:colId xmlns:a16="http://schemas.microsoft.com/office/drawing/2014/main" val="20002"/>
                    </a:ext>
                  </a:extLst>
                </a:gridCol>
              </a:tblGrid>
              <a:tr h="930293">
                <a:tc>
                  <a:txBody>
                    <a:bodyPr/>
                    <a:lstStyle/>
                    <a:p>
                      <a:pPr algn="l">
                        <a:lnSpc>
                          <a:spcPts val="3499"/>
                        </a:lnSpc>
                        <a:defRPr/>
                      </a:pPr>
                      <a:r>
                        <a:rPr lang="en-US" sz="2499" b="1">
                          <a:solidFill>
                            <a:srgbClr val="000000"/>
                          </a:solidFill>
                          <a:latin typeface="TT Fors Bold"/>
                          <a:ea typeface="TT Fors Bold"/>
                          <a:cs typeface="TT Fors Bold"/>
                          <a:sym typeface="TT Fors Bold"/>
                        </a:rPr>
                        <a:t>Attack Type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just">
                        <a:lnSpc>
                          <a:spcPts val="3499"/>
                        </a:lnSpc>
                        <a:defRPr/>
                      </a:pPr>
                      <a:r>
                        <a:rPr lang="en-US" sz="2499" b="1">
                          <a:solidFill>
                            <a:srgbClr val="000000"/>
                          </a:solidFill>
                          <a:latin typeface="TT Fors Bold"/>
                          <a:ea typeface="TT Fors Bold"/>
                          <a:cs typeface="TT Fors Bold"/>
                          <a:sym typeface="TT Fors Bold"/>
                        </a:rPr>
                        <a:t>Frequency</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just">
                        <a:lnSpc>
                          <a:spcPts val="3499"/>
                        </a:lnSpc>
                        <a:defRPr/>
                      </a:pPr>
                      <a:r>
                        <a:rPr lang="en-US" sz="2499" b="1">
                          <a:solidFill>
                            <a:srgbClr val="000000"/>
                          </a:solidFill>
                          <a:latin typeface="TT Fors Bold"/>
                          <a:ea typeface="TT Fors Bold"/>
                          <a:cs typeface="TT Fors Bold"/>
                          <a:sym typeface="TT Fors Bold"/>
                        </a:rPr>
                        <a:t>Primary Targets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911112">
                <a:tc>
                  <a:txBody>
                    <a:bodyPr/>
                    <a:lstStyle/>
                    <a:p>
                      <a:pPr algn="l">
                        <a:lnSpc>
                          <a:spcPts val="3359"/>
                        </a:lnSpc>
                        <a:defRPr/>
                      </a:pPr>
                      <a:r>
                        <a:rPr lang="en-US" sz="2399" b="1">
                          <a:solidFill>
                            <a:srgbClr val="FFFFFF"/>
                          </a:solidFill>
                          <a:latin typeface="TT Fors Bold"/>
                          <a:ea typeface="TT Fors Bold"/>
                          <a:cs typeface="TT Fors Bold"/>
                          <a:sym typeface="TT Fors Bold"/>
                        </a:rPr>
                        <a:t>Ransomware</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Every 11 seconds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Healthcare, Government, Education</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911112">
                <a:tc>
                  <a:txBody>
                    <a:bodyPr/>
                    <a:lstStyle/>
                    <a:p>
                      <a:pPr algn="l">
                        <a:lnSpc>
                          <a:spcPts val="3359"/>
                        </a:lnSpc>
                        <a:defRPr/>
                      </a:pPr>
                      <a:r>
                        <a:rPr lang="en-US" sz="2399" b="1">
                          <a:solidFill>
                            <a:srgbClr val="FFFFFF"/>
                          </a:solidFill>
                          <a:latin typeface="TT Fors Bold"/>
                          <a:ea typeface="TT Fors Bold"/>
                          <a:cs typeface="TT Fors Bold"/>
                          <a:sym typeface="TT Fors Bold"/>
                        </a:rPr>
                        <a:t>Phishing</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3.4 billion emails/day</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Financial services, Retail</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911112">
                <a:tc>
                  <a:txBody>
                    <a:bodyPr/>
                    <a:lstStyle/>
                    <a:p>
                      <a:pPr algn="l">
                        <a:lnSpc>
                          <a:spcPts val="3359"/>
                        </a:lnSpc>
                        <a:defRPr/>
                      </a:pPr>
                      <a:r>
                        <a:rPr lang="en-US" sz="2399" b="1">
                          <a:solidFill>
                            <a:srgbClr val="FFFFFF"/>
                          </a:solidFill>
                          <a:latin typeface="TT Fors Bold"/>
                          <a:ea typeface="TT Fors Bold"/>
                          <a:cs typeface="TT Fors Bold"/>
                          <a:sym typeface="TT Fors Bold"/>
                        </a:rPr>
                        <a:t>Supply Chain</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Increasing 300%</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Software vendors, MSPs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911112">
                <a:tc>
                  <a:txBody>
                    <a:bodyPr/>
                    <a:lstStyle/>
                    <a:p>
                      <a:pPr algn="l">
                        <a:lnSpc>
                          <a:spcPts val="3359"/>
                        </a:lnSpc>
                        <a:defRPr/>
                      </a:pPr>
                      <a:r>
                        <a:rPr lang="en-US" sz="2399" b="1">
                          <a:solidFill>
                            <a:srgbClr val="FFFFFF"/>
                          </a:solidFill>
                          <a:latin typeface="TT Fors Bold"/>
                          <a:ea typeface="TT Fors Bold"/>
                          <a:cs typeface="TT Fors Bold"/>
                          <a:sym typeface="TT Fors Bold"/>
                        </a:rPr>
                        <a:t>IoT Exploits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Growing rapidly</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Smart devices, Industrial systems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991134">
                <a:tc>
                  <a:txBody>
                    <a:bodyPr/>
                    <a:lstStyle/>
                    <a:p>
                      <a:pPr algn="l">
                        <a:lnSpc>
                          <a:spcPts val="3359"/>
                        </a:lnSpc>
                        <a:defRPr/>
                      </a:pPr>
                      <a:r>
                        <a:rPr lang="en-US" sz="2399" b="1">
                          <a:solidFill>
                            <a:srgbClr val="FFFFFF"/>
                          </a:solidFill>
                          <a:latin typeface="TT Fors Bold"/>
                          <a:ea typeface="TT Fors Bold"/>
                          <a:cs typeface="TT Fors Bold"/>
                          <a:sym typeface="TT Fors Bold"/>
                        </a:rPr>
                        <a:t>AI-Powered Attacks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Emerging threat</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3359"/>
                        </a:lnSpc>
                        <a:defRPr/>
                      </a:pPr>
                      <a:r>
                        <a:rPr lang="en-US" sz="2399">
                          <a:solidFill>
                            <a:srgbClr val="FFFFFF"/>
                          </a:solidFill>
                          <a:latin typeface="TT Fors"/>
                          <a:ea typeface="TT Fors"/>
                          <a:cs typeface="TT Fors"/>
                          <a:sym typeface="TT Fors"/>
                        </a:rPr>
                        <a:t>All sectors</a:t>
                      </a:r>
                      <a:endParaRPr lang="en-US" sz="1100"/>
                    </a:p>
                  </a:txBody>
                  <a:tcPr marL="190500" marR="190500" marT="190500" marB="19050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u="none" strike="noStrike" spc="-209">
                <a:solidFill>
                  <a:srgbClr val="00FFA8"/>
                </a:solidFill>
                <a:latin typeface="ITC Avant Garde Gothic"/>
                <a:ea typeface="ITC Avant Garde Gothic"/>
                <a:cs typeface="ITC Avant Garde Gothic"/>
                <a:sym typeface="ITC Avant Garde Gothic"/>
              </a:rPr>
              <a:t>Current Attack Trends &amp; Techniques</a:t>
            </a:r>
          </a:p>
        </p:txBody>
      </p:sp>
      <p:grpSp>
        <p:nvGrpSpPr>
          <p:cNvPr id="4" name="Group 4"/>
          <p:cNvGrpSpPr/>
          <p:nvPr/>
        </p:nvGrpSpPr>
        <p:grpSpPr>
          <a:xfrm>
            <a:off x="666750" y="8509099"/>
            <a:ext cx="16954500" cy="1442721"/>
            <a:chOff x="0" y="0"/>
            <a:chExt cx="4465332" cy="379985"/>
          </a:xfrm>
        </p:grpSpPr>
        <p:sp>
          <p:nvSpPr>
            <p:cNvPr id="5" name="Freeform 5"/>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6" name="TextBox 6"/>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Key Insight: </a:t>
              </a:r>
              <a:r>
                <a:rPr lang="en-US" sz="2800" spc="-84" dirty="0">
                  <a:solidFill>
                    <a:srgbClr val="FFFFFF"/>
                  </a:solidFill>
                  <a:latin typeface="TT Fors"/>
                  <a:ea typeface="TT Fors"/>
                  <a:cs typeface="TT Fors"/>
                  <a:sym typeface="TT Fors"/>
                </a:rPr>
                <a:t>Attackers increasingly use automation, AI, and sophisticated social engineering rather than just technical exploits.</a:t>
              </a:r>
            </a:p>
          </p:txBody>
        </p:sp>
      </p:grpSp>
      <p:sp>
        <p:nvSpPr>
          <p:cNvPr id="7" name="TextBox 7"/>
          <p:cNvSpPr txBox="1"/>
          <p:nvPr/>
        </p:nvSpPr>
        <p:spPr>
          <a:xfrm>
            <a:off x="666750" y="2028825"/>
            <a:ext cx="12144006" cy="552450"/>
          </a:xfrm>
          <a:prstGeom prst="rect">
            <a:avLst/>
          </a:prstGeom>
        </p:spPr>
        <p:txBody>
          <a:bodyPr lIns="0" tIns="0" rIns="0" bIns="0" rtlCol="0" anchor="t">
            <a:spAutoFit/>
          </a:bodyPr>
          <a:lstStyle/>
          <a:p>
            <a:pPr marL="0" lvl="0" indent="0" algn="l">
              <a:lnSpc>
                <a:spcPts val="3839"/>
              </a:lnSpc>
            </a:pPr>
            <a:r>
              <a:rPr lang="en-US" sz="3199">
                <a:solidFill>
                  <a:srgbClr val="00FFA8"/>
                </a:solidFill>
                <a:latin typeface="ITC Avant Garde Gothic"/>
                <a:ea typeface="ITC Avant Garde Gothic"/>
                <a:cs typeface="ITC Avant Garde Gothic"/>
                <a:sym typeface="ITC Avant Garde Gothic"/>
              </a:rPr>
              <a:t>T</a:t>
            </a:r>
            <a:r>
              <a:rPr lang="en-US" sz="3199" u="none" strike="noStrike">
                <a:solidFill>
                  <a:srgbClr val="00FFA8"/>
                </a:solidFill>
                <a:latin typeface="ITC Avant Garde Gothic"/>
                <a:ea typeface="ITC Avant Garde Gothic"/>
                <a:cs typeface="ITC Avant Garde Gothic"/>
                <a:sym typeface="ITC Avant Garde Gothic"/>
              </a:rPr>
              <a:t>OP ATTACK VECTORS (2024-2025)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267700" cy="10287000"/>
            <a:chOff x="0" y="0"/>
            <a:chExt cx="2177501" cy="2709333"/>
          </a:xfrm>
        </p:grpSpPr>
        <p:sp>
          <p:nvSpPr>
            <p:cNvPr id="3" name="Freeform 3"/>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82A5D"/>
            </a:solidFill>
          </p:spPr>
          <p:txBody>
            <a:bodyPr/>
            <a:lstStyle/>
            <a:p>
              <a:endParaRPr lang="en-US"/>
            </a:p>
          </p:txBody>
        </p:sp>
        <p:sp>
          <p:nvSpPr>
            <p:cNvPr id="4" name="TextBox 4"/>
            <p:cNvSpPr txBox="1"/>
            <p:nvPr/>
          </p:nvSpPr>
          <p:spPr>
            <a:xfrm>
              <a:off x="0" y="-38100"/>
              <a:ext cx="2177501" cy="2747433"/>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666750" y="666750"/>
            <a:ext cx="6886575" cy="8953500"/>
            <a:chOff x="0" y="0"/>
            <a:chExt cx="812800" cy="1056752"/>
          </a:xfrm>
        </p:grpSpPr>
        <p:sp>
          <p:nvSpPr>
            <p:cNvPr id="6" name="Freeform 6"/>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txBody>
            <a:bodyPr/>
            <a:lstStyle/>
            <a:p>
              <a:endParaRPr lang="en-US"/>
            </a:p>
          </p:txBody>
        </p:sp>
      </p:grpSp>
      <p:sp>
        <p:nvSpPr>
          <p:cNvPr id="7" name="TextBox 7"/>
          <p:cNvSpPr txBox="1"/>
          <p:nvPr/>
        </p:nvSpPr>
        <p:spPr>
          <a:xfrm>
            <a:off x="9144000" y="2057400"/>
            <a:ext cx="8115300" cy="5981700"/>
          </a:xfrm>
          <a:prstGeom prst="rect">
            <a:avLst/>
          </a:prstGeom>
        </p:spPr>
        <p:txBody>
          <a:bodyPr lIns="0" tIns="0" rIns="0" bIns="0" rtlCol="0" anchor="t">
            <a:spAutoFit/>
          </a:bodyPr>
          <a:lstStyle/>
          <a:p>
            <a:pPr marL="0" lvl="0" indent="0" algn="l">
              <a:lnSpc>
                <a:spcPts val="11400"/>
              </a:lnSpc>
            </a:pPr>
            <a:r>
              <a:rPr lang="en-US" sz="9500">
                <a:solidFill>
                  <a:srgbClr val="00FFA8"/>
                </a:solidFill>
                <a:latin typeface="ITC Avant Garde Gothic"/>
                <a:ea typeface="ITC Avant Garde Gothic"/>
                <a:cs typeface="ITC Avant Garde Gothic"/>
                <a:sym typeface="ITC Avant Garde Gothic"/>
              </a:rPr>
              <a:t>Case Study: </a:t>
            </a:r>
            <a:r>
              <a:rPr lang="en-US" sz="9500" u="none" strike="noStrike">
                <a:solidFill>
                  <a:srgbClr val="00FFA8"/>
                </a:solidFill>
                <a:latin typeface="ITC Avant Garde Gothic"/>
                <a:ea typeface="ITC Avant Garde Gothic"/>
                <a:cs typeface="ITC Avant Garde Gothic"/>
                <a:sym typeface="ITC Avant Garde Gothic"/>
              </a:rPr>
              <a:t>SolarWinds Supply Chain Attack</a:t>
            </a:r>
          </a:p>
        </p:txBody>
      </p:sp>
      <p:sp>
        <p:nvSpPr>
          <p:cNvPr id="8" name="Freeform 8"/>
          <p:cNvSpPr/>
          <p:nvPr/>
        </p:nvSpPr>
        <p:spPr>
          <a:xfrm>
            <a:off x="-52388" y="1028700"/>
            <a:ext cx="1438275" cy="1315368"/>
          </a:xfrm>
          <a:custGeom>
            <a:avLst/>
            <a:gdLst/>
            <a:ahLst/>
            <a:cxnLst/>
            <a:rect l="l" t="t" r="r" b="b"/>
            <a:pathLst>
              <a:path w="1438275" h="1315368">
                <a:moveTo>
                  <a:pt x="0" y="0"/>
                </a:moveTo>
                <a:lnTo>
                  <a:pt x="1438276" y="0"/>
                </a:lnTo>
                <a:lnTo>
                  <a:pt x="1438276" y="1315368"/>
                </a:lnTo>
                <a:lnTo>
                  <a:pt x="0" y="131536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4077950" cy="1130936"/>
          </a:xfrm>
          <a:prstGeom prst="rect">
            <a:avLst/>
          </a:prstGeom>
        </p:spPr>
        <p:txBody>
          <a:bodyPr lIns="0" tIns="0" rIns="0" bIns="0" rtlCol="0" anchor="t">
            <a:spAutoFit/>
          </a:bodyPr>
          <a:lstStyle/>
          <a:p>
            <a:pPr marL="0" lvl="0" indent="0" algn="l">
              <a:lnSpc>
                <a:spcPts val="7400"/>
              </a:lnSpc>
              <a:spcBef>
                <a:spcPct val="0"/>
              </a:spcBef>
            </a:pPr>
            <a:r>
              <a:rPr lang="en-US" sz="7400" u="none" strike="noStrike" spc="-222">
                <a:solidFill>
                  <a:srgbClr val="00FFA8"/>
                </a:solidFill>
                <a:latin typeface="ITC Avant Garde Gothic"/>
                <a:ea typeface="ITC Avant Garde Gothic"/>
                <a:cs typeface="ITC Avant Garde Gothic"/>
                <a:sym typeface="ITC Avant Garde Gothic"/>
              </a:rPr>
              <a:t>SolarWinds Supply Chain Attack</a:t>
            </a:r>
          </a:p>
        </p:txBody>
      </p:sp>
      <p:grpSp>
        <p:nvGrpSpPr>
          <p:cNvPr id="3" name="Group 3"/>
          <p:cNvGrpSpPr/>
          <p:nvPr/>
        </p:nvGrpSpPr>
        <p:grpSpPr>
          <a:xfrm>
            <a:off x="666750" y="8509099"/>
            <a:ext cx="16954500" cy="1442721"/>
            <a:chOff x="0" y="0"/>
            <a:chExt cx="4465332" cy="379985"/>
          </a:xfrm>
        </p:grpSpPr>
        <p:sp>
          <p:nvSpPr>
            <p:cNvPr id="4" name="Freeform 4"/>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E10505"/>
            </a:solidFill>
            <a:ln cap="sq">
              <a:noFill/>
              <a:prstDash val="solid"/>
              <a:miter/>
            </a:ln>
          </p:spPr>
          <p:txBody>
            <a:bodyPr/>
            <a:lstStyle/>
            <a:p>
              <a:endParaRPr lang="en-US"/>
            </a:p>
          </p:txBody>
        </p:sp>
        <p:sp>
          <p:nvSpPr>
            <p:cNvPr id="5" name="TextBox 5"/>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Impact:</a:t>
              </a:r>
              <a:r>
                <a:rPr lang="en-US" sz="2800" spc="-84" dirty="0">
                  <a:solidFill>
                    <a:srgbClr val="FFFFFF"/>
                  </a:solidFill>
                  <a:latin typeface="TT Fors"/>
                  <a:ea typeface="TT Fors"/>
                  <a:cs typeface="TT Fors"/>
                  <a:sym typeface="TT Fors"/>
                </a:rPr>
                <a:t> U.S. government agencies, Fortune 500 companies, critical infrastructure compromised. Estimated cost: billions of dollars.</a:t>
              </a:r>
            </a:p>
          </p:txBody>
        </p:sp>
      </p:grpSp>
      <p:grpSp>
        <p:nvGrpSpPr>
          <p:cNvPr id="6" name="Group 6"/>
          <p:cNvGrpSpPr/>
          <p:nvPr/>
        </p:nvGrpSpPr>
        <p:grpSpPr>
          <a:xfrm>
            <a:off x="666750" y="2121718"/>
            <a:ext cx="16344638" cy="1085215"/>
            <a:chOff x="0" y="0"/>
            <a:chExt cx="21792851" cy="1446954"/>
          </a:xfrm>
        </p:grpSpPr>
        <p:sp>
          <p:nvSpPr>
            <p:cNvPr id="7" name="TextBox 7"/>
            <p:cNvSpPr txBox="1"/>
            <p:nvPr/>
          </p:nvSpPr>
          <p:spPr>
            <a:xfrm>
              <a:off x="0" y="877782"/>
              <a:ext cx="21792851" cy="569172"/>
            </a:xfrm>
            <a:prstGeom prst="rect">
              <a:avLst/>
            </a:prstGeom>
          </p:spPr>
          <p:txBody>
            <a:bodyPr lIns="0" tIns="0" rIns="0" bIns="0" rtlCol="0" anchor="t">
              <a:spAutoFit/>
            </a:bodyPr>
            <a:lstStyle/>
            <a:p>
              <a:pPr algn="l">
                <a:lnSpc>
                  <a:spcPts val="3640"/>
                </a:lnSpc>
              </a:pPr>
              <a:r>
                <a:rPr lang="en-US" sz="2600">
                  <a:solidFill>
                    <a:srgbClr val="00FFA8"/>
                  </a:solidFill>
                  <a:latin typeface="TT Fors"/>
                  <a:ea typeface="TT Fors"/>
                  <a:cs typeface="TT Fors"/>
                  <a:sym typeface="TT Fors"/>
                </a:rPr>
                <a:t>One of the most sophisticated cyberattacks in history, demonstrating modern threat actor capabilities.</a:t>
              </a:r>
            </a:p>
          </p:txBody>
        </p:sp>
        <p:sp>
          <p:nvSpPr>
            <p:cNvPr id="8" name="TextBox 8"/>
            <p:cNvSpPr txBox="1"/>
            <p:nvPr/>
          </p:nvSpPr>
          <p:spPr>
            <a:xfrm>
              <a:off x="0" y="-238125"/>
              <a:ext cx="21792851"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Back</a:t>
              </a:r>
              <a:r>
                <a:rPr lang="en-US" sz="3199" b="1" u="none" strike="noStrike" spc="-95">
                  <a:solidFill>
                    <a:srgbClr val="00FFA8"/>
                  </a:solidFill>
                  <a:latin typeface="TT Fors Bold"/>
                  <a:ea typeface="TT Fors Bold"/>
                  <a:cs typeface="TT Fors Bold"/>
                  <a:sym typeface="TT Fors Bold"/>
                </a:rPr>
                <a:t>ground (2020, still relevant):</a:t>
              </a:r>
            </a:p>
          </p:txBody>
        </p:sp>
      </p:grpSp>
      <p:grpSp>
        <p:nvGrpSpPr>
          <p:cNvPr id="9" name="Group 9"/>
          <p:cNvGrpSpPr/>
          <p:nvPr/>
        </p:nvGrpSpPr>
        <p:grpSpPr>
          <a:xfrm>
            <a:off x="7367913" y="3786713"/>
            <a:ext cx="10253337" cy="4285615"/>
            <a:chOff x="0" y="0"/>
            <a:chExt cx="13671116" cy="5714154"/>
          </a:xfrm>
        </p:grpSpPr>
        <p:sp>
          <p:nvSpPr>
            <p:cNvPr id="10" name="TextBox 10"/>
            <p:cNvSpPr txBox="1"/>
            <p:nvPr/>
          </p:nvSpPr>
          <p:spPr>
            <a:xfrm>
              <a:off x="0" y="877782"/>
              <a:ext cx="13671116" cy="4836372"/>
            </a:xfrm>
            <a:prstGeom prst="rect">
              <a:avLst/>
            </a:prstGeom>
          </p:spPr>
          <p:txBody>
            <a:bodyPr lIns="0" tIns="0" rIns="0" bIns="0" rtlCol="0" anchor="t">
              <a:spAutoFit/>
            </a:bodyPr>
            <a:lstStyle/>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Initial Access:</a:t>
              </a:r>
              <a:r>
                <a:rPr lang="en-US" sz="2600">
                  <a:solidFill>
                    <a:srgbClr val="00FFA8"/>
                  </a:solidFill>
                  <a:latin typeface="TT Fors"/>
                  <a:ea typeface="TT Fors"/>
                  <a:cs typeface="TT Fors"/>
                  <a:sym typeface="TT Fors"/>
                </a:rPr>
                <a:t> Compromised SolarWinds build environment</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Code Injection:</a:t>
              </a:r>
              <a:r>
                <a:rPr lang="en-US" sz="2600">
                  <a:solidFill>
                    <a:srgbClr val="00FFA8"/>
                  </a:solidFill>
                  <a:latin typeface="TT Fors"/>
                  <a:ea typeface="TT Fors"/>
                  <a:cs typeface="TT Fors"/>
                  <a:sym typeface="TT Fors"/>
                </a:rPr>
                <a:t> Backdoor (SUNBURST) added to legitimate software</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Distribution:</a:t>
              </a:r>
              <a:r>
                <a:rPr lang="en-US" sz="2600">
                  <a:solidFill>
                    <a:srgbClr val="00FFA8"/>
                  </a:solidFill>
                  <a:latin typeface="TT Fors"/>
                  <a:ea typeface="TT Fors"/>
                  <a:cs typeface="TT Fors"/>
                  <a:sym typeface="TT Fors"/>
                </a:rPr>
                <a:t> Signed updates pushed to customers automatically</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Lateral Movement:</a:t>
              </a:r>
              <a:r>
                <a:rPr lang="en-US" sz="2600">
                  <a:solidFill>
                    <a:srgbClr val="00FFA8"/>
                  </a:solidFill>
                  <a:latin typeface="TT Fors"/>
                  <a:ea typeface="TT Fors"/>
                  <a:cs typeface="TT Fors"/>
                  <a:sym typeface="TT Fors"/>
                </a:rPr>
                <a:t> Attackers moved through victim networks</a:t>
              </a:r>
            </a:p>
            <a:p>
              <a:pPr marL="561341" lvl="1" indent="-280670" algn="l">
                <a:lnSpc>
                  <a:spcPts val="3640"/>
                </a:lnSpc>
                <a:buAutoNum type="arabicPeriod"/>
              </a:pPr>
              <a:r>
                <a:rPr lang="en-US" sz="2600" b="1">
                  <a:solidFill>
                    <a:srgbClr val="00FFA8"/>
                  </a:solidFill>
                  <a:latin typeface="TT Fors Bold"/>
                  <a:ea typeface="TT Fors Bold"/>
                  <a:cs typeface="TT Fors Bold"/>
                  <a:sym typeface="TT Fors Bold"/>
                </a:rPr>
                <a:t>Data Exfiltration:</a:t>
              </a:r>
              <a:r>
                <a:rPr lang="en-US" sz="2600">
                  <a:solidFill>
                    <a:srgbClr val="00FFA8"/>
                  </a:solidFill>
                  <a:latin typeface="TT Fors"/>
                  <a:ea typeface="TT Fors"/>
                  <a:cs typeface="TT Fors"/>
                  <a:sym typeface="TT Fors"/>
                </a:rPr>
                <a:t> Sensitive information stolen over months</a:t>
              </a:r>
            </a:p>
            <a:p>
              <a:pPr algn="l">
                <a:lnSpc>
                  <a:spcPts val="3640"/>
                </a:lnSpc>
              </a:pPr>
              <a:endParaRPr lang="en-US" sz="2600">
                <a:solidFill>
                  <a:srgbClr val="00FFA8"/>
                </a:solidFill>
                <a:latin typeface="TT Fors"/>
                <a:ea typeface="TT Fors"/>
                <a:cs typeface="TT Fors"/>
                <a:sym typeface="TT Fors"/>
              </a:endParaRPr>
            </a:p>
          </p:txBody>
        </p:sp>
        <p:sp>
          <p:nvSpPr>
            <p:cNvPr id="11" name="TextBox 11"/>
            <p:cNvSpPr txBox="1"/>
            <p:nvPr/>
          </p:nvSpPr>
          <p:spPr>
            <a:xfrm>
              <a:off x="0" y="-238125"/>
              <a:ext cx="13671116"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Att</a:t>
              </a:r>
              <a:r>
                <a:rPr lang="en-US" sz="3199" b="1" u="none" strike="noStrike" spc="-95">
                  <a:solidFill>
                    <a:srgbClr val="00FFA8"/>
                  </a:solidFill>
                  <a:latin typeface="TT Fors Bold"/>
                  <a:ea typeface="TT Fors Bold"/>
                  <a:cs typeface="TT Fors Bold"/>
                  <a:sym typeface="TT Fors Bold"/>
                </a:rPr>
                <a:t>ack Methodology:</a:t>
              </a:r>
            </a:p>
          </p:txBody>
        </p:sp>
      </p:grpSp>
      <p:grpSp>
        <p:nvGrpSpPr>
          <p:cNvPr id="12" name="Group 12"/>
          <p:cNvGrpSpPr/>
          <p:nvPr/>
        </p:nvGrpSpPr>
        <p:grpSpPr>
          <a:xfrm>
            <a:off x="666750" y="3786713"/>
            <a:ext cx="6284780" cy="4285615"/>
            <a:chOff x="0" y="0"/>
            <a:chExt cx="8379707" cy="5714154"/>
          </a:xfrm>
        </p:grpSpPr>
        <p:sp>
          <p:nvSpPr>
            <p:cNvPr id="13" name="TextBox 13"/>
            <p:cNvSpPr txBox="1"/>
            <p:nvPr/>
          </p:nvSpPr>
          <p:spPr>
            <a:xfrm>
              <a:off x="0" y="877782"/>
              <a:ext cx="8379707" cy="4836372"/>
            </a:xfrm>
            <a:prstGeom prst="rect">
              <a:avLst/>
            </a:prstGeom>
          </p:spPr>
          <p:txBody>
            <a:bodyPr lIns="0" tIns="0" rIns="0" bIns="0" rtlCol="0" anchor="t">
              <a:spAutoFit/>
            </a:bodyPr>
            <a:lstStyle/>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September 2019:</a:t>
              </a:r>
              <a:r>
                <a:rPr lang="en-US" sz="2600">
                  <a:solidFill>
                    <a:srgbClr val="00FFA8"/>
                  </a:solidFill>
                  <a:latin typeface="TT Fors"/>
                  <a:ea typeface="TT Fors"/>
                  <a:cs typeface="TT Fors"/>
                  <a:sym typeface="TT Fors"/>
                </a:rPr>
                <a:t> Initial network compromise</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March 2020:</a:t>
              </a:r>
              <a:r>
                <a:rPr lang="en-US" sz="2600">
                  <a:solidFill>
                    <a:srgbClr val="00FFA8"/>
                  </a:solidFill>
                  <a:latin typeface="TT Fors"/>
                  <a:ea typeface="TT Fors"/>
                  <a:cs typeface="TT Fors"/>
                  <a:sym typeface="TT Fors"/>
                </a:rPr>
                <a:t> Malicious code inserted into Orion software</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May-June 2020:</a:t>
              </a:r>
              <a:r>
                <a:rPr lang="en-US" sz="2600">
                  <a:solidFill>
                    <a:srgbClr val="00FFA8"/>
                  </a:solidFill>
                  <a:latin typeface="TT Fors"/>
                  <a:ea typeface="TT Fors"/>
                  <a:cs typeface="TT Fors"/>
                  <a:sym typeface="TT Fors"/>
                </a:rPr>
                <a:t> Trojanized updates distributed to 18,000 customers</a:t>
              </a:r>
            </a:p>
            <a:p>
              <a:pPr marL="561341" lvl="1" indent="-280670" algn="l">
                <a:lnSpc>
                  <a:spcPts val="3640"/>
                </a:lnSpc>
                <a:buFont typeface="Arial"/>
                <a:buChar char="•"/>
              </a:pPr>
              <a:r>
                <a:rPr lang="en-US" sz="2600" b="1">
                  <a:solidFill>
                    <a:srgbClr val="00FFA8"/>
                  </a:solidFill>
                  <a:latin typeface="TT Fors Bold"/>
                  <a:ea typeface="TT Fors Bold"/>
                  <a:cs typeface="TT Fors Bold"/>
                  <a:sym typeface="TT Fors Bold"/>
                </a:rPr>
                <a:t>December 2020:</a:t>
              </a:r>
              <a:r>
                <a:rPr lang="en-US" sz="2600">
                  <a:solidFill>
                    <a:srgbClr val="00FFA8"/>
                  </a:solidFill>
                  <a:latin typeface="TT Fors"/>
                  <a:ea typeface="TT Fors"/>
                  <a:cs typeface="TT Fors"/>
                  <a:sym typeface="TT Fors"/>
                </a:rPr>
                <a:t> Attack discovered by FireEye</a:t>
              </a:r>
            </a:p>
          </p:txBody>
        </p:sp>
        <p:sp>
          <p:nvSpPr>
            <p:cNvPr id="14" name="TextBox 14"/>
            <p:cNvSpPr txBox="1"/>
            <p:nvPr/>
          </p:nvSpPr>
          <p:spPr>
            <a:xfrm>
              <a:off x="0" y="-238125"/>
              <a:ext cx="8379707"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Att</a:t>
              </a:r>
              <a:r>
                <a:rPr lang="en-US" sz="3199" b="1" u="none" strike="noStrike" spc="-95">
                  <a:solidFill>
                    <a:srgbClr val="00FFA8"/>
                  </a:solidFill>
                  <a:latin typeface="TT Fors Bold"/>
                  <a:ea typeface="TT Fors Bold"/>
                  <a:cs typeface="TT Fors Bold"/>
                  <a:sym typeface="TT Fors Bold"/>
                </a:rPr>
                <a:t>ack Timeline:</a:t>
              </a:r>
            </a:p>
          </p:txBody>
        </p:sp>
      </p:grpSp>
      <p:grpSp>
        <p:nvGrpSpPr>
          <p:cNvPr id="15" name="Group 15"/>
          <p:cNvGrpSpPr/>
          <p:nvPr/>
        </p:nvGrpSpPr>
        <p:grpSpPr>
          <a:xfrm>
            <a:off x="15430500" y="751544"/>
            <a:ext cx="2190750" cy="810556"/>
            <a:chOff x="0" y="0"/>
            <a:chExt cx="2921000" cy="1080741"/>
          </a:xfrm>
        </p:grpSpPr>
        <p:grpSp>
          <p:nvGrpSpPr>
            <p:cNvPr id="16" name="Group 16"/>
            <p:cNvGrpSpPr/>
            <p:nvPr/>
          </p:nvGrpSpPr>
          <p:grpSpPr>
            <a:xfrm>
              <a:off x="0" y="756"/>
              <a:ext cx="1079985" cy="107998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8" name="TextBox 18"/>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9" name="Freeform 19"/>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nvGrpSpPr>
            <p:cNvPr id="21" name="Group 21"/>
            <p:cNvGrpSpPr/>
            <p:nvPr/>
          </p:nvGrpSpPr>
          <p:grpSpPr>
            <a:xfrm>
              <a:off x="914767" y="0"/>
              <a:ext cx="1079985" cy="107998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3" name="TextBox 23"/>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4" name="Freeform 24"/>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5" name="Freeform 25"/>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5"/>
              <a:stretch>
                <a:fillRect/>
              </a:stretch>
            </a:blipFill>
          </p:spPr>
          <p:txBody>
            <a:bodyPr/>
            <a:lstStyle/>
            <a:p>
              <a:endParaRPr lang="en-US"/>
            </a:p>
          </p:txBody>
        </p:sp>
        <p:grpSp>
          <p:nvGrpSpPr>
            <p:cNvPr id="26" name="Group 26"/>
            <p:cNvGrpSpPr/>
            <p:nvPr/>
          </p:nvGrpSpPr>
          <p:grpSpPr>
            <a:xfrm>
              <a:off x="1841015" y="0"/>
              <a:ext cx="1079985" cy="107998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8" name="TextBox 28"/>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9" name="Freeform 29"/>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0" name="Freeform 30"/>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Lessons from R</a:t>
            </a:r>
            <a:r>
              <a:rPr lang="en-US" sz="6999" u="none" strike="noStrike" spc="-209">
                <a:solidFill>
                  <a:srgbClr val="00FFA8"/>
                </a:solidFill>
                <a:latin typeface="ITC Avant Garde Gothic"/>
                <a:ea typeface="ITC Avant Garde Gothic"/>
                <a:cs typeface="ITC Avant Garde Gothic"/>
                <a:sym typeface="ITC Avant Garde Gothic"/>
              </a:rPr>
              <a:t>ecent Incidents</a:t>
            </a:r>
          </a:p>
        </p:txBody>
      </p:sp>
      <p:grpSp>
        <p:nvGrpSpPr>
          <p:cNvPr id="3" name="Group 3"/>
          <p:cNvGrpSpPr/>
          <p:nvPr/>
        </p:nvGrpSpPr>
        <p:grpSpPr>
          <a:xfrm>
            <a:off x="666750" y="2693318"/>
            <a:ext cx="8039159" cy="3209290"/>
            <a:chOff x="0" y="0"/>
            <a:chExt cx="2117285" cy="845266"/>
          </a:xfrm>
        </p:grpSpPr>
        <p:sp>
          <p:nvSpPr>
            <p:cNvPr id="4" name="Freeform 4"/>
            <p:cNvSpPr/>
            <p:nvPr/>
          </p:nvSpPr>
          <p:spPr>
            <a:xfrm>
              <a:off x="0" y="0"/>
              <a:ext cx="2117285" cy="845266"/>
            </a:xfrm>
            <a:custGeom>
              <a:avLst/>
              <a:gdLst/>
              <a:ahLst/>
              <a:cxnLst/>
              <a:rect l="l" t="t" r="r" b="b"/>
              <a:pathLst>
                <a:path w="2117285" h="845266">
                  <a:moveTo>
                    <a:pt x="2117285" y="19261"/>
                  </a:moveTo>
                  <a:lnTo>
                    <a:pt x="2117285" y="826006"/>
                  </a:lnTo>
                  <a:cubicBezTo>
                    <a:pt x="2117285" y="836643"/>
                    <a:pt x="2108662" y="845266"/>
                    <a:pt x="2098025" y="845266"/>
                  </a:cubicBezTo>
                  <a:lnTo>
                    <a:pt x="19261" y="845266"/>
                  </a:lnTo>
                  <a:cubicBezTo>
                    <a:pt x="8623" y="845266"/>
                    <a:pt x="0" y="836643"/>
                    <a:pt x="0" y="826006"/>
                  </a:cubicBezTo>
                  <a:lnTo>
                    <a:pt x="0" y="19261"/>
                  </a:lnTo>
                  <a:cubicBezTo>
                    <a:pt x="0" y="8623"/>
                    <a:pt x="8623" y="0"/>
                    <a:pt x="19261" y="0"/>
                  </a:cubicBezTo>
                  <a:lnTo>
                    <a:pt x="2098025" y="0"/>
                  </a:lnTo>
                  <a:cubicBezTo>
                    <a:pt x="2103133" y="0"/>
                    <a:pt x="2108032" y="2029"/>
                    <a:pt x="2111644" y="5641"/>
                  </a:cubicBezTo>
                  <a:cubicBezTo>
                    <a:pt x="2115256" y="9253"/>
                    <a:pt x="2117285" y="14152"/>
                    <a:pt x="2117285" y="19261"/>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5" name="TextBox 5"/>
            <p:cNvSpPr txBox="1"/>
            <p:nvPr/>
          </p:nvSpPr>
          <p:spPr>
            <a:xfrm>
              <a:off x="0" y="-47625"/>
              <a:ext cx="2117285" cy="892891"/>
            </a:xfrm>
            <a:prstGeom prst="rect">
              <a:avLst/>
            </a:prstGeom>
          </p:spPr>
          <p:txBody>
            <a:bodyPr lIns="254000" tIns="254000" rIns="254000" bIns="254000" rtlCol="0" anchor="t"/>
            <a:lstStyle/>
            <a:p>
              <a:pPr marL="561337" lvl="1" indent="-280669" algn="l">
                <a:lnSpc>
                  <a:spcPts val="3639"/>
                </a:lnSpc>
                <a:buFont typeface="Arial"/>
                <a:buChar char="•"/>
              </a:pPr>
              <a:r>
                <a:rPr lang="en-US" sz="2599" spc="-77">
                  <a:solidFill>
                    <a:srgbClr val="08FFA7"/>
                  </a:solidFill>
                  <a:latin typeface="TT Fors"/>
                  <a:ea typeface="TT Fors"/>
                  <a:cs typeface="TT Fors"/>
                  <a:sym typeface="TT Fors"/>
                </a:rPr>
                <a:t>Zero-trust architecture essential</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Supply chain security critical</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Continuous monitoring required</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Incident response plans must be tested</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User security awareness training</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Regular penetration testing</a:t>
              </a:r>
            </a:p>
          </p:txBody>
        </p:sp>
      </p:grpSp>
      <p:grpSp>
        <p:nvGrpSpPr>
          <p:cNvPr id="6" name="Group 6"/>
          <p:cNvGrpSpPr/>
          <p:nvPr/>
        </p:nvGrpSpPr>
        <p:grpSpPr>
          <a:xfrm>
            <a:off x="9013765" y="2693318"/>
            <a:ext cx="8607485" cy="3209290"/>
            <a:chOff x="0" y="0"/>
            <a:chExt cx="2266966" cy="845266"/>
          </a:xfrm>
        </p:grpSpPr>
        <p:sp>
          <p:nvSpPr>
            <p:cNvPr id="7" name="Freeform 7"/>
            <p:cNvSpPr/>
            <p:nvPr/>
          </p:nvSpPr>
          <p:spPr>
            <a:xfrm>
              <a:off x="0" y="0"/>
              <a:ext cx="2266966" cy="845266"/>
            </a:xfrm>
            <a:custGeom>
              <a:avLst/>
              <a:gdLst/>
              <a:ahLst/>
              <a:cxnLst/>
              <a:rect l="l" t="t" r="r" b="b"/>
              <a:pathLst>
                <a:path w="2266966" h="845266">
                  <a:moveTo>
                    <a:pt x="2266966" y="17989"/>
                  </a:moveTo>
                  <a:lnTo>
                    <a:pt x="2266966" y="827277"/>
                  </a:lnTo>
                  <a:cubicBezTo>
                    <a:pt x="2266966" y="837212"/>
                    <a:pt x="2258912" y="845266"/>
                    <a:pt x="2248977" y="845266"/>
                  </a:cubicBezTo>
                  <a:lnTo>
                    <a:pt x="17989" y="845266"/>
                  </a:lnTo>
                  <a:cubicBezTo>
                    <a:pt x="13218" y="845266"/>
                    <a:pt x="8642" y="843371"/>
                    <a:pt x="5269" y="839997"/>
                  </a:cubicBezTo>
                  <a:cubicBezTo>
                    <a:pt x="1895" y="836624"/>
                    <a:pt x="0" y="832048"/>
                    <a:pt x="0" y="827277"/>
                  </a:cubicBezTo>
                  <a:lnTo>
                    <a:pt x="0" y="17989"/>
                  </a:lnTo>
                  <a:cubicBezTo>
                    <a:pt x="0" y="13218"/>
                    <a:pt x="1895" y="8642"/>
                    <a:pt x="5269" y="5269"/>
                  </a:cubicBezTo>
                  <a:cubicBezTo>
                    <a:pt x="8642" y="1895"/>
                    <a:pt x="13218" y="0"/>
                    <a:pt x="17989" y="0"/>
                  </a:cubicBezTo>
                  <a:lnTo>
                    <a:pt x="2248977" y="0"/>
                  </a:lnTo>
                  <a:cubicBezTo>
                    <a:pt x="2253748" y="0"/>
                    <a:pt x="2258324" y="1895"/>
                    <a:pt x="2261697" y="5269"/>
                  </a:cubicBezTo>
                  <a:cubicBezTo>
                    <a:pt x="2265071" y="8642"/>
                    <a:pt x="2266966" y="13218"/>
                    <a:pt x="2266966" y="17989"/>
                  </a:cubicBezTo>
                  <a:close/>
                </a:path>
              </a:pathLst>
            </a:custGeom>
            <a:solidFill>
              <a:srgbClr val="000000">
                <a:alpha val="0"/>
              </a:srgbClr>
            </a:solidFill>
            <a:ln w="9525" cap="sq">
              <a:solidFill>
                <a:srgbClr val="08FFA7"/>
              </a:solidFill>
              <a:prstDash val="solid"/>
              <a:miter/>
            </a:ln>
          </p:spPr>
          <p:txBody>
            <a:bodyPr/>
            <a:lstStyle/>
            <a:p>
              <a:endParaRPr lang="en-US"/>
            </a:p>
          </p:txBody>
        </p:sp>
        <p:sp>
          <p:nvSpPr>
            <p:cNvPr id="8" name="TextBox 8"/>
            <p:cNvSpPr txBox="1"/>
            <p:nvPr/>
          </p:nvSpPr>
          <p:spPr>
            <a:xfrm>
              <a:off x="0" y="-47625"/>
              <a:ext cx="2266966" cy="892891"/>
            </a:xfrm>
            <a:prstGeom prst="rect">
              <a:avLst/>
            </a:prstGeom>
          </p:spPr>
          <p:txBody>
            <a:bodyPr lIns="254000" tIns="254000" rIns="254000" bIns="254000" rtlCol="0" anchor="t"/>
            <a:lstStyle/>
            <a:p>
              <a:pPr marL="561337" lvl="1" indent="-280669" algn="l">
                <a:lnSpc>
                  <a:spcPts val="3639"/>
                </a:lnSpc>
                <a:buFont typeface="Arial"/>
                <a:buChar char="•"/>
              </a:pPr>
              <a:r>
                <a:rPr lang="en-US" sz="2599" spc="-77">
                  <a:solidFill>
                    <a:srgbClr val="08FFA7"/>
                  </a:solidFill>
                  <a:latin typeface="TT Fors"/>
                  <a:ea typeface="TT Fors"/>
                  <a:cs typeface="TT Fors"/>
                  <a:sym typeface="TT Fors"/>
                </a:rPr>
                <a:t>Patience and persistence pay off</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Social engineering highly effective</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Supply chain = force multiplier</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Living-off-the-land techniques avoid detection</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Legitimate tools weaponized</a:t>
              </a:r>
            </a:p>
            <a:p>
              <a:pPr marL="561337" lvl="1" indent="-280669" algn="l">
                <a:lnSpc>
                  <a:spcPts val="3639"/>
                </a:lnSpc>
                <a:buFont typeface="Arial"/>
                <a:buChar char="•"/>
              </a:pPr>
              <a:r>
                <a:rPr lang="en-US" sz="2599" spc="-77">
                  <a:solidFill>
                    <a:srgbClr val="08FFA7"/>
                  </a:solidFill>
                  <a:latin typeface="TT Fors"/>
                  <a:ea typeface="TT Fors"/>
                  <a:cs typeface="TT Fors"/>
                  <a:sym typeface="TT Fors"/>
                </a:rPr>
                <a:t>Multi-stage attacks harder to detect</a:t>
              </a:r>
            </a:p>
          </p:txBody>
        </p:sp>
      </p:grpSp>
      <p:grpSp>
        <p:nvGrpSpPr>
          <p:cNvPr id="9" name="Group 9"/>
          <p:cNvGrpSpPr/>
          <p:nvPr/>
        </p:nvGrpSpPr>
        <p:grpSpPr>
          <a:xfrm>
            <a:off x="666750" y="8509099"/>
            <a:ext cx="16954500" cy="1442721"/>
            <a:chOff x="0" y="0"/>
            <a:chExt cx="4465332" cy="379985"/>
          </a:xfrm>
        </p:grpSpPr>
        <p:sp>
          <p:nvSpPr>
            <p:cNvPr id="10" name="Freeform 10"/>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08FFA7"/>
            </a:solidFill>
            <a:ln cap="sq">
              <a:noFill/>
              <a:prstDash val="solid"/>
              <a:miter/>
            </a:ln>
          </p:spPr>
          <p:txBody>
            <a:bodyPr/>
            <a:lstStyle/>
            <a:p>
              <a:endParaRPr lang="en-US"/>
            </a:p>
          </p:txBody>
        </p:sp>
        <p:sp>
          <p:nvSpPr>
            <p:cNvPr id="11" name="TextBox 11"/>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000000"/>
                  </a:solidFill>
                  <a:latin typeface="TT Fors Bold"/>
                  <a:ea typeface="TT Fors Bold"/>
                  <a:cs typeface="TT Fors Bold"/>
                  <a:sym typeface="TT Fors Bold"/>
                </a:rPr>
                <a:t>Your Role as Ethical Hackers:</a:t>
              </a:r>
              <a:r>
                <a:rPr lang="en-US" sz="2800" spc="-84" dirty="0">
                  <a:solidFill>
                    <a:srgbClr val="000000"/>
                  </a:solidFill>
                  <a:latin typeface="TT Fors"/>
                  <a:ea typeface="TT Fors"/>
                  <a:cs typeface="TT Fors"/>
                  <a:sym typeface="TT Fors"/>
                </a:rPr>
                <a:t> Understand attacker mindset and techniques to better defend organizations. Think like attackers but act ethically.</a:t>
              </a:r>
            </a:p>
          </p:txBody>
        </p:sp>
      </p:grpSp>
      <p:sp>
        <p:nvSpPr>
          <p:cNvPr id="12" name="TextBox 12"/>
          <p:cNvSpPr txBox="1"/>
          <p:nvPr/>
        </p:nvSpPr>
        <p:spPr>
          <a:xfrm>
            <a:off x="666750" y="1812431"/>
            <a:ext cx="7290766"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For Defenders:</a:t>
            </a:r>
          </a:p>
        </p:txBody>
      </p:sp>
      <p:sp>
        <p:nvSpPr>
          <p:cNvPr id="13" name="TextBox 13"/>
          <p:cNvSpPr txBox="1"/>
          <p:nvPr/>
        </p:nvSpPr>
        <p:spPr>
          <a:xfrm>
            <a:off x="9013765" y="1812431"/>
            <a:ext cx="7324441" cy="722631"/>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For Attackers (What We Study):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AI &amp; ML in Cybers</a:t>
            </a:r>
            <a:r>
              <a:rPr lang="en-US" sz="6999" u="none" strike="noStrike" spc="-209">
                <a:solidFill>
                  <a:srgbClr val="00FFA8"/>
                </a:solidFill>
                <a:latin typeface="ITC Avant Garde Gothic"/>
                <a:ea typeface="ITC Avant Garde Gothic"/>
                <a:cs typeface="ITC Avant Garde Gothic"/>
                <a:sym typeface="ITC Avant Garde Gothic"/>
              </a:rPr>
              <a:t>ecurity - Overview</a:t>
            </a:r>
          </a:p>
        </p:txBody>
      </p:sp>
      <p:sp>
        <p:nvSpPr>
          <p:cNvPr id="3" name="TextBox 3"/>
          <p:cNvSpPr txBox="1"/>
          <p:nvPr/>
        </p:nvSpPr>
        <p:spPr>
          <a:xfrm>
            <a:off x="666750" y="2533260"/>
            <a:ext cx="16592550" cy="6564630"/>
          </a:xfrm>
          <a:prstGeom prst="rect">
            <a:avLst/>
          </a:prstGeom>
        </p:spPr>
        <p:txBody>
          <a:bodyPr lIns="0" tIns="0" rIns="0" bIns="0" rtlCol="0" anchor="t">
            <a:spAutoFit/>
          </a:bodyPr>
          <a:lstStyle/>
          <a:p>
            <a:pPr algn="l">
              <a:lnSpc>
                <a:spcPts val="4799"/>
              </a:lnSpc>
            </a:pPr>
            <a:r>
              <a:rPr lang="en-US" sz="3199" b="1" spc="-95">
                <a:solidFill>
                  <a:srgbClr val="00FFA8"/>
                </a:solidFill>
                <a:latin typeface="TT Fors Bold"/>
                <a:ea typeface="TT Fors Bold"/>
                <a:cs typeface="TT Fors Bold"/>
                <a:sym typeface="TT Fors Bold"/>
              </a:rPr>
              <a:t>Key Roles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AI &amp; ML are powerful allies in detecting and preventing cyber attacks.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Cyber th</a:t>
            </a:r>
            <a:r>
              <a:rPr lang="en-US" sz="3199" u="none" strike="noStrike" spc="-95">
                <a:solidFill>
                  <a:srgbClr val="00FFA8"/>
                </a:solidFill>
                <a:latin typeface="TT Fors"/>
                <a:ea typeface="TT Fors"/>
                <a:cs typeface="TT Fors"/>
                <a:sym typeface="TT Fors"/>
              </a:rPr>
              <a:t>reats have evolved from the Morris Worm (1988) to modern ransomware and cloud security risks.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Today’s attacks are complex, well-funded, and target organizations globally.</a:t>
            </a:r>
          </a:p>
          <a:p>
            <a:pPr algn="l">
              <a:lnSpc>
                <a:spcPts val="4799"/>
              </a:lnSpc>
            </a:pPr>
            <a:endParaRPr lang="en-US" sz="3199" u="none" strike="noStrike" spc="-95">
              <a:solidFill>
                <a:srgbClr val="00FFA8"/>
              </a:solidFill>
              <a:latin typeface="TT Fors"/>
              <a:ea typeface="TT Fors"/>
              <a:cs typeface="TT Fors"/>
              <a:sym typeface="TT Fors"/>
            </a:endParaRPr>
          </a:p>
          <a:p>
            <a:pPr algn="l">
              <a:lnSpc>
                <a:spcPts val="4799"/>
              </a:lnSpc>
            </a:pPr>
            <a:r>
              <a:rPr lang="en-US" sz="3199" b="1" u="none" strike="noStrike" spc="-95">
                <a:solidFill>
                  <a:srgbClr val="00FFA8"/>
                </a:solidFill>
                <a:latin typeface="TT Fors Bold"/>
                <a:ea typeface="TT Fors Bold"/>
                <a:cs typeface="TT Fors Bold"/>
                <a:sym typeface="TT Fors Bold"/>
              </a:rPr>
              <a:t>Why AI &amp; ML Matter</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Analyze massive volumes of data in real time.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Identify patterns &amp; anomalies indicating potential threats.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Detect fraudulent activities such as phishing, pharming, and financial scams.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Enable faster, more accurate response to zero-day and sophisticated attacks.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66750"/>
            <a:ext cx="16954500" cy="1063625"/>
          </a:xfrm>
          <a:prstGeom prst="rect">
            <a:avLst/>
          </a:prstGeom>
        </p:spPr>
        <p:txBody>
          <a:bodyPr lIns="0" tIns="0" rIns="0" bIns="0" rtlCol="0" anchor="t">
            <a:spAutoFit/>
          </a:bodyPr>
          <a:lstStyle/>
          <a:p>
            <a:pPr marL="0" lvl="0" indent="0" algn="l">
              <a:lnSpc>
                <a:spcPts val="6999"/>
              </a:lnSpc>
              <a:spcBef>
                <a:spcPct val="0"/>
              </a:spcBef>
            </a:pPr>
            <a:r>
              <a:rPr lang="en-US" sz="6999" spc="-209">
                <a:solidFill>
                  <a:srgbClr val="00FFA8"/>
                </a:solidFill>
                <a:latin typeface="ITC Avant Garde Gothic"/>
                <a:ea typeface="ITC Avant Garde Gothic"/>
                <a:cs typeface="ITC Avant Garde Gothic"/>
                <a:sym typeface="ITC Avant Garde Gothic"/>
              </a:rPr>
              <a:t>AI &amp; ML Threat Det</a:t>
            </a:r>
            <a:r>
              <a:rPr lang="en-US" sz="6999" u="none" strike="noStrike" spc="-209">
                <a:solidFill>
                  <a:srgbClr val="00FFA8"/>
                </a:solidFill>
                <a:latin typeface="ITC Avant Garde Gothic"/>
                <a:ea typeface="ITC Avant Garde Gothic"/>
                <a:cs typeface="ITC Avant Garde Gothic"/>
                <a:sym typeface="ITC Avant Garde Gothic"/>
              </a:rPr>
              <a:t>ection Techniques</a:t>
            </a:r>
          </a:p>
        </p:txBody>
      </p:sp>
      <p:sp>
        <p:nvSpPr>
          <p:cNvPr id="3" name="TextBox 3"/>
          <p:cNvSpPr txBox="1"/>
          <p:nvPr/>
        </p:nvSpPr>
        <p:spPr>
          <a:xfrm>
            <a:off x="666750" y="2533260"/>
            <a:ext cx="16592550" cy="6564630"/>
          </a:xfrm>
          <a:prstGeom prst="rect">
            <a:avLst/>
          </a:prstGeom>
        </p:spPr>
        <p:txBody>
          <a:bodyPr lIns="0" tIns="0" rIns="0" bIns="0" rtlCol="0" anchor="t">
            <a:spAutoFit/>
          </a:bodyPr>
          <a:lstStyle/>
          <a:p>
            <a:pPr algn="l">
              <a:lnSpc>
                <a:spcPts val="4799"/>
              </a:lnSpc>
            </a:pPr>
            <a:r>
              <a:rPr lang="en-US" sz="3199" b="1" spc="-95">
                <a:solidFill>
                  <a:srgbClr val="00FFA8"/>
                </a:solidFill>
                <a:latin typeface="TT Fors Bold"/>
                <a:ea typeface="TT Fors Bold"/>
                <a:cs typeface="TT Fors Bold"/>
                <a:sym typeface="TT Fors Bold"/>
              </a:rPr>
              <a:t>Detection Methods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Heuristic-based: Recognizes general malware characteristics.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Rule-based: Uses predefined rules to flag malicious behavior.</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St</a:t>
            </a:r>
            <a:r>
              <a:rPr lang="en-US" sz="3199" u="none" strike="noStrike" spc="-95">
                <a:solidFill>
                  <a:srgbClr val="00FFA8"/>
                </a:solidFill>
                <a:latin typeface="TT Fors"/>
                <a:ea typeface="TT Fors"/>
                <a:cs typeface="TT Fors"/>
                <a:sym typeface="TT Fors"/>
              </a:rPr>
              <a:t>atistical Anomaly Detection: Flags outliers (e.g., unusual data uploads).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User &amp; Entity Behavior Analytics (UEBA): Monitors users and devices for abnormal actions (e.g., unauthorized file access or foreign emails).</a:t>
            </a:r>
          </a:p>
          <a:p>
            <a:pPr algn="l">
              <a:lnSpc>
                <a:spcPts val="4799"/>
              </a:lnSpc>
            </a:pPr>
            <a:endParaRPr lang="en-US" sz="3199" u="none" strike="noStrike" spc="-95">
              <a:solidFill>
                <a:srgbClr val="00FFA8"/>
              </a:solidFill>
              <a:latin typeface="TT Fors"/>
              <a:ea typeface="TT Fors"/>
              <a:cs typeface="TT Fors"/>
              <a:sym typeface="TT Fors"/>
            </a:endParaRPr>
          </a:p>
          <a:p>
            <a:pPr algn="l">
              <a:lnSpc>
                <a:spcPts val="4799"/>
              </a:lnSpc>
            </a:pPr>
            <a:r>
              <a:rPr lang="en-US" sz="3199" b="1" u="none" strike="noStrike" spc="-95">
                <a:solidFill>
                  <a:srgbClr val="00FFA8"/>
                </a:solidFill>
                <a:latin typeface="TT Fors Bold"/>
                <a:ea typeface="TT Fors Bold"/>
                <a:cs typeface="TT Fors Bold"/>
                <a:sym typeface="TT Fors Bold"/>
              </a:rPr>
              <a:t>Future Trends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Automation and AI processes are key for early threat detection and response.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Continuous advancement in AI/ML is reshaping how organizations monitor, detect, and respond to cyber attacks.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267700" cy="10287000"/>
            <a:chOff x="0" y="0"/>
            <a:chExt cx="2177501" cy="2709333"/>
          </a:xfrm>
        </p:grpSpPr>
        <p:sp>
          <p:nvSpPr>
            <p:cNvPr id="3" name="Freeform 3"/>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301445"/>
            </a:solidFill>
          </p:spPr>
          <p:txBody>
            <a:bodyPr/>
            <a:lstStyle/>
            <a:p>
              <a:endParaRPr lang="en-US"/>
            </a:p>
          </p:txBody>
        </p:sp>
        <p:sp>
          <p:nvSpPr>
            <p:cNvPr id="4" name="TextBox 4"/>
            <p:cNvSpPr txBox="1"/>
            <p:nvPr/>
          </p:nvSpPr>
          <p:spPr>
            <a:xfrm>
              <a:off x="0" y="-38100"/>
              <a:ext cx="2177501" cy="2747433"/>
            </a:xfrm>
            <a:prstGeom prst="rect">
              <a:avLst/>
            </a:prstGeom>
          </p:spPr>
          <p:txBody>
            <a:bodyPr lIns="50800" tIns="50800" rIns="50800" bIns="50800" rtlCol="0" anchor="ctr"/>
            <a:lstStyle/>
            <a:p>
              <a:pPr marL="0" lvl="0" indent="0" algn="ctr">
                <a:lnSpc>
                  <a:spcPts val="2100"/>
                </a:lnSpc>
              </a:pPr>
              <a:endParaRPr/>
            </a:p>
          </p:txBody>
        </p:sp>
      </p:grpSp>
      <p:sp>
        <p:nvSpPr>
          <p:cNvPr id="5" name="TextBox 5"/>
          <p:cNvSpPr txBox="1"/>
          <p:nvPr/>
        </p:nvSpPr>
        <p:spPr>
          <a:xfrm>
            <a:off x="9144000" y="2592469"/>
            <a:ext cx="8324850" cy="2651126"/>
          </a:xfrm>
          <a:prstGeom prst="rect">
            <a:avLst/>
          </a:prstGeom>
        </p:spPr>
        <p:txBody>
          <a:bodyPr lIns="0" tIns="0" rIns="0" bIns="0" rtlCol="0" anchor="t">
            <a:spAutoFit/>
          </a:bodyPr>
          <a:lstStyle/>
          <a:p>
            <a:pPr marL="0" lvl="0" indent="0" algn="l">
              <a:lnSpc>
                <a:spcPts val="9500"/>
              </a:lnSpc>
            </a:pPr>
            <a:r>
              <a:rPr lang="en-US" sz="9500" u="none" strike="noStrike" spc="-285">
                <a:solidFill>
                  <a:srgbClr val="00FFA8"/>
                </a:solidFill>
                <a:latin typeface="ITC Avant Garde Gothic"/>
                <a:ea typeface="ITC Avant Garde Gothic"/>
                <a:cs typeface="ITC Avant Garde Gothic"/>
                <a:sym typeface="ITC Avant Garde Gothic"/>
              </a:rPr>
              <a:t>Conclusion &amp; Next Steps</a:t>
            </a:r>
          </a:p>
        </p:txBody>
      </p:sp>
      <p:sp>
        <p:nvSpPr>
          <p:cNvPr id="6" name="TextBox 6"/>
          <p:cNvSpPr txBox="1"/>
          <p:nvPr/>
        </p:nvSpPr>
        <p:spPr>
          <a:xfrm>
            <a:off x="9144000" y="5434270"/>
            <a:ext cx="8324850" cy="1163955"/>
          </a:xfrm>
          <a:prstGeom prst="rect">
            <a:avLst/>
          </a:prstGeom>
        </p:spPr>
        <p:txBody>
          <a:bodyPr lIns="0" tIns="0" rIns="0" bIns="0" rtlCol="0" anchor="t">
            <a:spAutoFit/>
          </a:bodyPr>
          <a:lstStyle/>
          <a:p>
            <a:pPr marL="0" lvl="0" indent="0" algn="l">
              <a:lnSpc>
                <a:spcPts val="4799"/>
              </a:lnSpc>
            </a:pPr>
            <a:r>
              <a:rPr lang="en-US" sz="3199" spc="-95">
                <a:solidFill>
                  <a:srgbClr val="00FFA8"/>
                </a:solidFill>
                <a:latin typeface="TT Fors"/>
                <a:ea typeface="TT Fors"/>
                <a:cs typeface="TT Fors"/>
                <a:sym typeface="TT Fors"/>
              </a:rPr>
              <a:t>E</a:t>
            </a:r>
            <a:r>
              <a:rPr lang="en-US" sz="3199" u="none" strike="noStrike" spc="-95">
                <a:solidFill>
                  <a:srgbClr val="00FFA8"/>
                </a:solidFill>
                <a:latin typeface="TT Fors"/>
                <a:ea typeface="TT Fors"/>
                <a:cs typeface="TT Fors"/>
                <a:sym typeface="TT Fors"/>
              </a:rPr>
              <a:t>ngage in ethical hacking practice and continuous learning</a:t>
            </a:r>
          </a:p>
        </p:txBody>
      </p:sp>
      <p:sp>
        <p:nvSpPr>
          <p:cNvPr id="7" name="Freeform 7"/>
          <p:cNvSpPr/>
          <p:nvPr/>
        </p:nvSpPr>
        <p:spPr>
          <a:xfrm>
            <a:off x="-52388" y="1028700"/>
            <a:ext cx="1438275" cy="1315368"/>
          </a:xfrm>
          <a:custGeom>
            <a:avLst/>
            <a:gdLst/>
            <a:ahLst/>
            <a:cxnLst/>
            <a:rect l="l" t="t" r="r" b="b"/>
            <a:pathLst>
              <a:path w="1438275" h="1315368">
                <a:moveTo>
                  <a:pt x="0" y="0"/>
                </a:moveTo>
                <a:lnTo>
                  <a:pt x="1438276" y="0"/>
                </a:lnTo>
                <a:lnTo>
                  <a:pt x="1438276" y="1315368"/>
                </a:lnTo>
                <a:lnTo>
                  <a:pt x="0" y="131536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grpSp>
        <p:nvGrpSpPr>
          <p:cNvPr id="8" name="Group 8"/>
          <p:cNvGrpSpPr/>
          <p:nvPr/>
        </p:nvGrpSpPr>
        <p:grpSpPr>
          <a:xfrm>
            <a:off x="666750" y="666750"/>
            <a:ext cx="6886575" cy="8953500"/>
            <a:chOff x="0" y="0"/>
            <a:chExt cx="812800" cy="1056752"/>
          </a:xfrm>
        </p:grpSpPr>
        <p:sp>
          <p:nvSpPr>
            <p:cNvPr id="9" name="Freeform 9"/>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4"/>
              <a:stretch>
                <a:fillRect l="-7937" r="-7937"/>
              </a:stretch>
            </a:blipFill>
          </p:spPr>
          <p:txBody>
            <a:bodyPr/>
            <a:lstStyle/>
            <a:p>
              <a:endParaRPr lang="en-US"/>
            </a:p>
          </p:txBody>
        </p:sp>
      </p:grpSp>
      <p:grpSp>
        <p:nvGrpSpPr>
          <p:cNvPr id="10" name="Group 10"/>
          <p:cNvGrpSpPr/>
          <p:nvPr/>
        </p:nvGrpSpPr>
        <p:grpSpPr>
          <a:xfrm>
            <a:off x="9144000" y="6874450"/>
            <a:ext cx="2190750" cy="810556"/>
            <a:chOff x="0" y="0"/>
            <a:chExt cx="2921000" cy="1080741"/>
          </a:xfrm>
        </p:grpSpPr>
        <p:grpSp>
          <p:nvGrpSpPr>
            <p:cNvPr id="11" name="Group 11"/>
            <p:cNvGrpSpPr/>
            <p:nvPr/>
          </p:nvGrpSpPr>
          <p:grpSpPr>
            <a:xfrm>
              <a:off x="0" y="756"/>
              <a:ext cx="1079985" cy="107998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4" name="Freeform 14"/>
            <p:cNvSpPr/>
            <p:nvPr/>
          </p:nvSpPr>
          <p:spPr>
            <a:xfrm>
              <a:off x="99590"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Freeform 15"/>
            <p:cNvSpPr/>
            <p:nvPr/>
          </p:nvSpPr>
          <p:spPr>
            <a:xfrm>
              <a:off x="462012"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7"/>
              <a:stretch>
                <a:fillRect/>
              </a:stretch>
            </a:blipFill>
          </p:spPr>
          <p:txBody>
            <a:bodyPr/>
            <a:lstStyle/>
            <a:p>
              <a:endParaRPr lang="en-US"/>
            </a:p>
          </p:txBody>
        </p:sp>
        <p:grpSp>
          <p:nvGrpSpPr>
            <p:cNvPr id="16" name="Group 16"/>
            <p:cNvGrpSpPr/>
            <p:nvPr/>
          </p:nvGrpSpPr>
          <p:grpSpPr>
            <a:xfrm>
              <a:off x="914767" y="0"/>
              <a:ext cx="1079985" cy="107998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8" name="TextBox 18"/>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19" name="Freeform 19"/>
            <p:cNvSpPr/>
            <p:nvPr/>
          </p:nvSpPr>
          <p:spPr>
            <a:xfrm>
              <a:off x="1020258" y="207387"/>
              <a:ext cx="857521" cy="666723"/>
            </a:xfrm>
            <a:custGeom>
              <a:avLst/>
              <a:gdLst/>
              <a:ahLst/>
              <a:cxnLst/>
              <a:rect l="l" t="t" r="r" b="b"/>
              <a:pathLst>
                <a:path w="857521" h="666723">
                  <a:moveTo>
                    <a:pt x="0" y="0"/>
                  </a:moveTo>
                  <a:lnTo>
                    <a:pt x="857522" y="0"/>
                  </a:lnTo>
                  <a:lnTo>
                    <a:pt x="857522" y="666723"/>
                  </a:lnTo>
                  <a:lnTo>
                    <a:pt x="0" y="6667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0" name="Freeform 20"/>
            <p:cNvSpPr/>
            <p:nvPr/>
          </p:nvSpPr>
          <p:spPr>
            <a:xfrm>
              <a:off x="1382680" y="638128"/>
              <a:ext cx="155641" cy="155641"/>
            </a:xfrm>
            <a:custGeom>
              <a:avLst/>
              <a:gdLst/>
              <a:ahLst/>
              <a:cxnLst/>
              <a:rect l="l" t="t" r="r" b="b"/>
              <a:pathLst>
                <a:path w="155641" h="155641">
                  <a:moveTo>
                    <a:pt x="0" y="0"/>
                  </a:moveTo>
                  <a:lnTo>
                    <a:pt x="155640" y="0"/>
                  </a:lnTo>
                  <a:lnTo>
                    <a:pt x="155640" y="155641"/>
                  </a:lnTo>
                  <a:lnTo>
                    <a:pt x="0" y="155641"/>
                  </a:lnTo>
                  <a:lnTo>
                    <a:pt x="0" y="0"/>
                  </a:lnTo>
                  <a:close/>
                </a:path>
              </a:pathLst>
            </a:custGeom>
            <a:blipFill>
              <a:blip r:embed="rId7"/>
              <a:stretch>
                <a:fillRect/>
              </a:stretch>
            </a:blipFill>
          </p:spPr>
          <p:txBody>
            <a:bodyPr/>
            <a:lstStyle/>
            <a:p>
              <a:endParaRPr lang="en-US"/>
            </a:p>
          </p:txBody>
        </p:sp>
        <p:grpSp>
          <p:nvGrpSpPr>
            <p:cNvPr id="21" name="Group 21"/>
            <p:cNvGrpSpPr/>
            <p:nvPr/>
          </p:nvGrpSpPr>
          <p:grpSpPr>
            <a:xfrm>
              <a:off x="1841015" y="0"/>
              <a:ext cx="1079985" cy="107998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3" name="TextBox 23"/>
              <p:cNvSpPr txBox="1"/>
              <p:nvPr/>
            </p:nvSpPr>
            <p:spPr>
              <a:xfrm>
                <a:off x="76200" y="38100"/>
                <a:ext cx="660400" cy="698500"/>
              </a:xfrm>
              <a:prstGeom prst="rect">
                <a:avLst/>
              </a:prstGeom>
            </p:spPr>
            <p:txBody>
              <a:bodyPr lIns="22962" tIns="22962" rIns="22962" bIns="22962" rtlCol="0" anchor="ctr"/>
              <a:lstStyle/>
              <a:p>
                <a:pPr algn="ctr">
                  <a:lnSpc>
                    <a:spcPts val="2659"/>
                  </a:lnSpc>
                  <a:spcBef>
                    <a:spcPct val="0"/>
                  </a:spcBef>
                </a:pPr>
                <a:endParaRPr/>
              </a:p>
            </p:txBody>
          </p:sp>
        </p:grpSp>
        <p:sp>
          <p:nvSpPr>
            <p:cNvPr id="24" name="Freeform 24"/>
            <p:cNvSpPr/>
            <p:nvPr/>
          </p:nvSpPr>
          <p:spPr>
            <a:xfrm>
              <a:off x="1940766" y="207387"/>
              <a:ext cx="857521" cy="666723"/>
            </a:xfrm>
            <a:custGeom>
              <a:avLst/>
              <a:gdLst/>
              <a:ahLst/>
              <a:cxnLst/>
              <a:rect l="l" t="t" r="r" b="b"/>
              <a:pathLst>
                <a:path w="857521" h="666723">
                  <a:moveTo>
                    <a:pt x="0" y="0"/>
                  </a:moveTo>
                  <a:lnTo>
                    <a:pt x="857521" y="0"/>
                  </a:lnTo>
                  <a:lnTo>
                    <a:pt x="857521" y="666723"/>
                  </a:lnTo>
                  <a:lnTo>
                    <a:pt x="0" y="6667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5" name="Freeform 25"/>
            <p:cNvSpPr/>
            <p:nvPr/>
          </p:nvSpPr>
          <p:spPr>
            <a:xfrm>
              <a:off x="2303187" y="638128"/>
              <a:ext cx="155641" cy="155641"/>
            </a:xfrm>
            <a:custGeom>
              <a:avLst/>
              <a:gdLst/>
              <a:ahLst/>
              <a:cxnLst/>
              <a:rect l="l" t="t" r="r" b="b"/>
              <a:pathLst>
                <a:path w="155641" h="155641">
                  <a:moveTo>
                    <a:pt x="0" y="0"/>
                  </a:moveTo>
                  <a:lnTo>
                    <a:pt x="155641" y="0"/>
                  </a:lnTo>
                  <a:lnTo>
                    <a:pt x="155641" y="155641"/>
                  </a:lnTo>
                  <a:lnTo>
                    <a:pt x="0" y="155641"/>
                  </a:lnTo>
                  <a:lnTo>
                    <a:pt x="0" y="0"/>
                  </a:lnTo>
                  <a:close/>
                </a:path>
              </a:pathLst>
            </a:custGeom>
            <a:blipFill>
              <a:blip r:embed="rId7"/>
              <a:stretch>
                <a:fillRect/>
              </a:stretch>
            </a:blipFill>
          </p:spPr>
          <p:txBody>
            <a:bodyPr/>
            <a:lstStyle/>
            <a:p>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0102596" y="0"/>
            <a:ext cx="8185404" cy="10287000"/>
            <a:chOff x="0" y="0"/>
            <a:chExt cx="2155827" cy="2709333"/>
          </a:xfrm>
        </p:grpSpPr>
        <p:sp>
          <p:nvSpPr>
            <p:cNvPr id="3" name="Freeform 3"/>
            <p:cNvSpPr/>
            <p:nvPr/>
          </p:nvSpPr>
          <p:spPr>
            <a:xfrm>
              <a:off x="0" y="0"/>
              <a:ext cx="2155827" cy="2709333"/>
            </a:xfrm>
            <a:custGeom>
              <a:avLst/>
              <a:gdLst/>
              <a:ahLst/>
              <a:cxnLst/>
              <a:rect l="l" t="t" r="r" b="b"/>
              <a:pathLst>
                <a:path w="2155827" h="2709333">
                  <a:moveTo>
                    <a:pt x="0" y="0"/>
                  </a:moveTo>
                  <a:lnTo>
                    <a:pt x="2155827" y="0"/>
                  </a:lnTo>
                  <a:lnTo>
                    <a:pt x="2155827" y="2709333"/>
                  </a:lnTo>
                  <a:lnTo>
                    <a:pt x="0" y="2709333"/>
                  </a:lnTo>
                  <a:close/>
                </a:path>
              </a:pathLst>
            </a:custGeom>
            <a:solidFill>
              <a:srgbClr val="301445"/>
            </a:solidFill>
          </p:spPr>
          <p:txBody>
            <a:bodyPr/>
            <a:lstStyle/>
            <a:p>
              <a:endParaRPr lang="en-US"/>
            </a:p>
          </p:txBody>
        </p:sp>
        <p:sp>
          <p:nvSpPr>
            <p:cNvPr id="4" name="TextBox 4"/>
            <p:cNvSpPr txBox="1"/>
            <p:nvPr/>
          </p:nvSpPr>
          <p:spPr>
            <a:xfrm>
              <a:off x="0" y="-38100"/>
              <a:ext cx="2155827" cy="2747433"/>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10708180" y="666750"/>
            <a:ext cx="6947741" cy="8953500"/>
            <a:chOff x="0" y="0"/>
            <a:chExt cx="812800" cy="1047449"/>
          </a:xfrm>
        </p:grpSpPr>
        <p:sp>
          <p:nvSpPr>
            <p:cNvPr id="6" name="Freeform 6"/>
            <p:cNvSpPr/>
            <p:nvPr/>
          </p:nvSpPr>
          <p:spPr>
            <a:xfrm>
              <a:off x="0" y="0"/>
              <a:ext cx="812800" cy="1047449"/>
            </a:xfrm>
            <a:custGeom>
              <a:avLst/>
              <a:gdLst/>
              <a:ahLst/>
              <a:cxnLst/>
              <a:rect l="l" t="t" r="r" b="b"/>
              <a:pathLst>
                <a:path w="812800" h="1047449">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t="-306" b="-306"/>
              </a:stretch>
            </a:blipFill>
          </p:spPr>
          <p:txBody>
            <a:bodyPr/>
            <a:lstStyle/>
            <a:p>
              <a:endParaRPr lang="en-US"/>
            </a:p>
          </p:txBody>
        </p:sp>
      </p:grpSp>
      <p:grpSp>
        <p:nvGrpSpPr>
          <p:cNvPr id="7" name="Group 7"/>
          <p:cNvGrpSpPr/>
          <p:nvPr/>
        </p:nvGrpSpPr>
        <p:grpSpPr>
          <a:xfrm>
            <a:off x="1126053" y="4096993"/>
            <a:ext cx="8324850" cy="2093014"/>
            <a:chOff x="0" y="0"/>
            <a:chExt cx="11099800" cy="2790686"/>
          </a:xfrm>
        </p:grpSpPr>
        <p:sp>
          <p:nvSpPr>
            <p:cNvPr id="8" name="TextBox 8"/>
            <p:cNvSpPr txBox="1"/>
            <p:nvPr/>
          </p:nvSpPr>
          <p:spPr>
            <a:xfrm>
              <a:off x="0" y="2051122"/>
              <a:ext cx="11099800" cy="739564"/>
            </a:xfrm>
            <a:prstGeom prst="rect">
              <a:avLst/>
            </a:prstGeom>
          </p:spPr>
          <p:txBody>
            <a:bodyPr lIns="0" tIns="0" rIns="0" bIns="0" rtlCol="0" anchor="t">
              <a:spAutoFit/>
            </a:bodyPr>
            <a:lstStyle/>
            <a:p>
              <a:pPr marL="0" lvl="0" indent="0" algn="ctr">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QUESTIONS?</a:t>
              </a:r>
            </a:p>
          </p:txBody>
        </p:sp>
        <p:sp>
          <p:nvSpPr>
            <p:cNvPr id="9" name="TextBox 9"/>
            <p:cNvSpPr txBox="1"/>
            <p:nvPr/>
          </p:nvSpPr>
          <p:spPr>
            <a:xfrm>
              <a:off x="0" y="0"/>
              <a:ext cx="11099800" cy="1722963"/>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254">
                  <a:solidFill>
                    <a:srgbClr val="00FFA8"/>
                  </a:solidFill>
                  <a:latin typeface="ITC Avant Garde Gothic"/>
                  <a:ea typeface="ITC Avant Garde Gothic"/>
                  <a:cs typeface="ITC Avant Garde Gothic"/>
                  <a:sym typeface="ITC Avant Garde Gothic"/>
                </a:rPr>
                <a:t>Thank You</a:t>
              </a:r>
            </a:p>
          </p:txBody>
        </p:sp>
      </p:grpSp>
      <p:sp>
        <p:nvSpPr>
          <p:cNvPr id="10" name="Freeform 10"/>
          <p:cNvSpPr/>
          <p:nvPr/>
        </p:nvSpPr>
        <p:spPr>
          <a:xfrm rot="5400000" flipH="1">
            <a:off x="16106389" y="8352937"/>
            <a:ext cx="1792448" cy="1639275"/>
          </a:xfrm>
          <a:custGeom>
            <a:avLst/>
            <a:gdLst/>
            <a:ahLst/>
            <a:cxnLst/>
            <a:rect l="l" t="t" r="r" b="b"/>
            <a:pathLst>
              <a:path w="1792448" h="1639275">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4124</Words>
  <Application>Microsoft Macintosh PowerPoint</Application>
  <PresentationFormat>Custom</PresentationFormat>
  <Paragraphs>502</Paragraphs>
  <Slides>27</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ITC Avant Garde Gothic</vt:lpstr>
      <vt:lpstr>TT Fors Italics</vt:lpstr>
      <vt:lpstr>Arial</vt:lpstr>
      <vt:lpstr>ITC Avant Garde Gothic Bold</vt:lpstr>
      <vt:lpstr>TT Fors Bold</vt:lpstr>
      <vt:lpstr>TT Fors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CCS6324: Ethical Hacking and Penetration Testing - Overview</dc:title>
  <dc:description>Presentation - Ethical Hacking Overview</dc:description>
  <cp:lastModifiedBy>Hussain Hafiz Adnan</cp:lastModifiedBy>
  <cp:revision>23</cp:revision>
  <dcterms:created xsi:type="dcterms:W3CDTF">2006-08-16T00:00:00Z</dcterms:created>
  <dcterms:modified xsi:type="dcterms:W3CDTF">2025-11-10T04:14:46Z</dcterms:modified>
  <dc:identifier>DAG4FlpLGQ0</dc:identifier>
</cp:coreProperties>
</file>