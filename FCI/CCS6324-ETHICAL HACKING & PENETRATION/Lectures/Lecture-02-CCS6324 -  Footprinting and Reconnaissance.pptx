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8288000" cy="10287000"/>
  <p:notesSz cx="6858000" cy="9144000"/>
  <p:embeddedFontLst>
    <p:embeddedFont>
      <p:font typeface="ITC Avant Garde Gothic" panose="020B0502020202020204" pitchFamily="34" charset="77"/>
      <p:regular r:id="rId49"/>
    </p:embeddedFont>
    <p:embeddedFont>
      <p:font typeface="ITC Avant Garde Gothic Bold" panose="020B0802020202020204" pitchFamily="34" charset="77"/>
      <p:regular r:id="rId50"/>
      <p:bold r:id="rId51"/>
    </p:embeddedFont>
    <p:embeddedFont>
      <p:font typeface="TT Fors" panose="020B0003030001020000" pitchFamily="34" charset="0"/>
      <p:regular r:id="rId52"/>
    </p:embeddedFont>
    <p:embeddedFont>
      <p:font typeface="TT Fors Bold" panose="020B0003030001020000" pitchFamily="34" charset="0"/>
      <p:regular r:id="rId53"/>
      <p:bold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42" autoAdjust="0"/>
    <p:restoredTop sz="94588" autoAdjust="0"/>
  </p:normalViewPr>
  <p:slideViewPr>
    <p:cSldViewPr>
      <p:cViewPr varScale="1">
        <p:scale>
          <a:sx n="91" d="100"/>
          <a:sy n="91" d="100"/>
        </p:scale>
        <p:origin x="856"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5.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18.11.2025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Role of Security:</a:t>
            </a:r>
          </a:p>
          <a:p>
            <a:r>
              <a:rPr lang="en-US"/>
              <a:t>Security professionals play a crucial role in protecting systems and data. They employ ethical hacking techniques to identify vulnerabilities, ensuring that organizations can defend against potential threats and attacks.</a:t>
            </a:r>
          </a:p>
          <a:p>
            <a:endParaRPr lang="en-US"/>
          </a:p>
          <a:p>
            <a:r>
              <a:rPr lang="en-US"/>
              <a:t>Penetration Testing Methodologies:</a:t>
            </a:r>
          </a:p>
          <a:p>
            <a:r>
              <a:rPr lang="en-US"/>
              <a:t>Various methodologies guide penetration testing, including PTES, OWASP, and NIST. These frameworks provide structured approaches that enhance security assessments, helping organizations establish effective defenses against cyber threats.</a:t>
            </a:r>
          </a:p>
          <a:p>
            <a:endParaRPr lang="en-US"/>
          </a:p>
          <a:p>
            <a:r>
              <a:rPr lang="en-US"/>
              <a:t>Categories of Penetration Tests:</a:t>
            </a:r>
          </a:p>
          <a:p>
            <a:r>
              <a:rPr lang="en-US"/>
              <a:t>Penetration tests can be categorized based on scope, such as black-box, white-box, and grey-box testing. Each category serves a unique purpose, ensuring comprehensive evaluation of security measures and vulnerabilities.</a:t>
            </a:r>
          </a:p>
          <a:p>
            <a:endParaRPr lang="en-US"/>
          </a:p>
          <a:p>
            <a:r>
              <a:rPr lang="en-US"/>
              <a:t>Legal Framework:</a:t>
            </a:r>
          </a:p>
          <a:p>
            <a:r>
              <a:rPr lang="en-US"/>
              <a:t>Ethical hackers must navigate a complex legal framework, ensuring compliance with laws and regulations to avoid legal repercussions while conducting penetration tests and vulnerability assessments.</a:t>
            </a:r>
          </a:p>
          <a:p>
            <a:endParaRPr lang="en-US"/>
          </a:p>
          <a:p>
            <a:r>
              <a:rPr lang="en-US"/>
              <a:t>Ethical Concerns:</a:t>
            </a:r>
          </a:p>
          <a:p>
            <a:r>
              <a:rPr lang="en-US"/>
              <a:t>Ethical considerations are paramount for penetration testers, as they must balance security practices with respect for privacy and integrity, ensuring that their actions do not harm individuals or organizations.</a:t>
            </a:r>
          </a:p>
          <a:p>
            <a:endParaRPr lang="en-US"/>
          </a:p>
          <a:p>
            <a:r>
              <a:rPr lang="en-US"/>
              <a:t>Learning Outcomes:</a:t>
            </a:r>
          </a:p>
          <a:p>
            <a:r>
              <a:rPr lang="en-US"/>
              <a:t>By the end of this week, students will grasp the fundamentals of ethical hacking, legal boundaries, and frameworks, empowering them to engage confidently in ethical hacking practices.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Unauthorized Access:</a:t>
            </a:r>
          </a:p>
          <a:p>
            <a:r>
              <a:rPr lang="en-US"/>
              <a:t>Malicious hacking involves unauthorized access to systems, networks, or data with the intent to exploit, damage, or steal information. This activity is illegal and poses significant risks to individuals and organizations, including financial loss and reputational damage. Malicious hackers operate in secrecy, often using advanced techniques to bypass security measures without consent.</a:t>
            </a:r>
          </a:p>
          <a:p>
            <a:endParaRPr lang="en-US"/>
          </a:p>
          <a:p>
            <a:r>
              <a:rPr lang="en-US"/>
              <a:t>Criminal Intent:</a:t>
            </a:r>
          </a:p>
          <a:p>
            <a:r>
              <a:rPr lang="en-US"/>
              <a:t>Unlike ethical hackers who work with permission to strengthen security, malicious hackers act with criminal intent. They aim to cause harm or gain personal benefits, disregarding laws and ethical norms. This distinction is crucial as ethical hackers contribute to the defense of systems, while malicious hackers exploit vulnerabilities for their gain, often leading to severe consequences for victims.</a:t>
            </a:r>
          </a:p>
          <a:p>
            <a:endParaRPr lang="en-US"/>
          </a:p>
          <a:p>
            <a:r>
              <a:rPr lang="en-US"/>
              <a:t>Authorized Practice:</a:t>
            </a:r>
          </a:p>
          <a:p>
            <a:r>
              <a:rPr lang="en-US"/>
              <a:t>Ethical hacking is the authorized practice of probing systems for vulnerabilities. Unlike malicious hackers, ethical hackers receive permission from organizations to identify weaknesses in their systems. This proactive approach helps improve security by ensuring that vulnerabilities are addressed before they can be exploited by unauthorized individuals. Ethical hackers leverage their skills to protect sensitive information and maintain the integrity of systems.</a:t>
            </a:r>
          </a:p>
          <a:p>
            <a:endParaRPr lang="en-US"/>
          </a:p>
          <a:p>
            <a:r>
              <a:rPr lang="en-US"/>
              <a:t>Improve Security:</a:t>
            </a:r>
          </a:p>
          <a:p>
            <a:r>
              <a:rPr lang="en-US"/>
              <a:t>The primary goal of ethical hacking is to enhance security measures within an organization. By simulating attacks and testing defense mechanisms, ethical hackers provide valuable insights into potential risks. This continuous evaluation and improvement process allows organizations to strengthen their cyber defenses, ensuring a more secure environment for their data and operations. Ultimately, ethical hackers play a vital role in safeguarding both organizational and customer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Unauthorized Access:</a:t>
            </a:r>
          </a:p>
          <a:p>
            <a:r>
              <a:rPr lang="en-US"/>
              <a:t>Malicious hacking involves unauthorized access to systems, networks, or data with the intent to exploit, damage, or steal information. This activity is illegal and poses significant risks to individuals and organizations, including financial loss and reputational damage. Malicious hackers operate in secrecy, often using advanced techniques to bypass security measures without consent.</a:t>
            </a:r>
          </a:p>
          <a:p>
            <a:endParaRPr lang="en-US"/>
          </a:p>
          <a:p>
            <a:r>
              <a:rPr lang="en-US"/>
              <a:t>Criminal Intent:</a:t>
            </a:r>
          </a:p>
          <a:p>
            <a:r>
              <a:rPr lang="en-US"/>
              <a:t>Unlike ethical hackers who work with permission to strengthen security, malicious hackers act with criminal intent. They aim to cause harm or gain personal benefits, disregarding laws and ethical norms. This distinction is crucial as ethical hackers contribute to the defense of systems, while malicious hackers exploit vulnerabilities for their gain, often leading to severe consequences for victims.</a:t>
            </a:r>
          </a:p>
          <a:p>
            <a:endParaRPr lang="en-US"/>
          </a:p>
          <a:p>
            <a:r>
              <a:rPr lang="en-US"/>
              <a:t>Authorized Practice:</a:t>
            </a:r>
          </a:p>
          <a:p>
            <a:r>
              <a:rPr lang="en-US"/>
              <a:t>Ethical hacking is the authorized practice of probing systems for vulnerabilities. Unlike malicious hackers, ethical hackers receive permission from organizations to identify weaknesses in their systems. This proactive approach helps improve security by ensuring that vulnerabilities are addressed before they can be exploited by unauthorized individuals. Ethical hackers leverage their skills to protect sensitive information and maintain the integrity of systems.</a:t>
            </a:r>
          </a:p>
          <a:p>
            <a:endParaRPr lang="en-US"/>
          </a:p>
          <a:p>
            <a:r>
              <a:rPr lang="en-US"/>
              <a:t>Improve Security:</a:t>
            </a:r>
          </a:p>
          <a:p>
            <a:r>
              <a:rPr lang="en-US"/>
              <a:t>The primary goal of ethical hacking is to enhance security measures within an organization. By simulating attacks and testing defense mechanisms, ethical hackers provide valuable insights into potential risks. This continuous evaluation and improvement process allows organizations to strengthen their cyber defenses, ensuring a more secure environment for their data and operations. Ultimately, ethical hackers play a vital role in safeguarding both organizational and customer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Unauthorized Access:</a:t>
            </a:r>
          </a:p>
          <a:p>
            <a:r>
              <a:rPr lang="en-US"/>
              <a:t>Malicious hacking involves unauthorized access to systems, networks, or data with the intent to exploit, damage, or steal information. This activity is illegal and poses significant risks to individuals and organizations, including financial loss and reputational damage. Malicious hackers operate in secrecy, often using advanced techniques to bypass security measures without consent.</a:t>
            </a:r>
          </a:p>
          <a:p>
            <a:endParaRPr lang="en-US"/>
          </a:p>
          <a:p>
            <a:r>
              <a:rPr lang="en-US"/>
              <a:t>Criminal Intent:</a:t>
            </a:r>
          </a:p>
          <a:p>
            <a:r>
              <a:rPr lang="en-US"/>
              <a:t>Unlike ethical hackers who work with permission to strengthen security, malicious hackers act with criminal intent. They aim to cause harm or gain personal benefits, disregarding laws and ethical norms. This distinction is crucial as ethical hackers contribute to the defense of systems, while malicious hackers exploit vulnerabilities for their gain, often leading to severe consequences for victims.</a:t>
            </a:r>
          </a:p>
          <a:p>
            <a:endParaRPr lang="en-US"/>
          </a:p>
          <a:p>
            <a:r>
              <a:rPr lang="en-US"/>
              <a:t>Authorized Practice:</a:t>
            </a:r>
          </a:p>
          <a:p>
            <a:r>
              <a:rPr lang="en-US"/>
              <a:t>Ethical hacking is the authorized practice of probing systems for vulnerabilities. Unlike malicious hackers, ethical hackers receive permission from organizations to identify weaknesses in their systems. This proactive approach helps improve security by ensuring that vulnerabilities are addressed before they can be exploited by unauthorized individuals. Ethical hackers leverage their skills to protect sensitive information and maintain the integrity of systems.</a:t>
            </a:r>
          </a:p>
          <a:p>
            <a:endParaRPr lang="en-US"/>
          </a:p>
          <a:p>
            <a:r>
              <a:rPr lang="en-US"/>
              <a:t>Improve Security:</a:t>
            </a:r>
          </a:p>
          <a:p>
            <a:r>
              <a:rPr lang="en-US"/>
              <a:t>The primary goal of ethical hacking is to enhance security measures within an organization. By simulating attacks and testing defense mechanisms, ethical hackers provide valuable insights into potential risks. This continuous evaluation and improvement process allows organizations to strengthen their cyber defenses, ensuring a more secure environment for their data and operations. Ultimately, ethical hackers play a vital role in safeguarding both organizational and customer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Unauthorized Access:</a:t>
            </a:r>
          </a:p>
          <a:p>
            <a:r>
              <a:rPr lang="en-US"/>
              <a:t>Malicious hacking involves unauthorized access to systems, networks, or data with the intent to exploit, damage, or steal information. This activity is illegal and poses significant risks to individuals and organizations, including financial loss and reputational damage. Malicious hackers operate in secrecy, often using advanced techniques to bypass security measures without consent.</a:t>
            </a:r>
          </a:p>
          <a:p>
            <a:endParaRPr lang="en-US"/>
          </a:p>
          <a:p>
            <a:r>
              <a:rPr lang="en-US"/>
              <a:t>Criminal Intent:</a:t>
            </a:r>
          </a:p>
          <a:p>
            <a:r>
              <a:rPr lang="en-US"/>
              <a:t>Unlike ethical hackers who work with permission to strengthen security, malicious hackers act with criminal intent. They aim to cause harm or gain personal benefits, disregarding laws and ethical norms. This distinction is crucial as ethical hackers contribute to the defense of systems, while malicious hackers exploit vulnerabilities for their gain, often leading to severe consequences for victims.</a:t>
            </a:r>
          </a:p>
          <a:p>
            <a:endParaRPr lang="en-US"/>
          </a:p>
          <a:p>
            <a:r>
              <a:rPr lang="en-US"/>
              <a:t>Authorized Practice:</a:t>
            </a:r>
          </a:p>
          <a:p>
            <a:r>
              <a:rPr lang="en-US"/>
              <a:t>Ethical hacking is the authorized practice of probing systems for vulnerabilities. Unlike malicious hackers, ethical hackers receive permission from organizations to identify weaknesses in their systems. This proactive approach helps improve security by ensuring that vulnerabilities are addressed before they can be exploited by unauthorized individuals. Ethical hackers leverage their skills to protect sensitive information and maintain the integrity of systems.</a:t>
            </a:r>
          </a:p>
          <a:p>
            <a:endParaRPr lang="en-US"/>
          </a:p>
          <a:p>
            <a:r>
              <a:rPr lang="en-US"/>
              <a:t>Improve Security:</a:t>
            </a:r>
          </a:p>
          <a:p>
            <a:r>
              <a:rPr lang="en-US"/>
              <a:t>The primary goal of ethical hacking is to enhance security measures within an organization. By simulating attacks and testing defense mechanisms, ethical hackers provide valuable insights into potential risks. This continuous evaluation and improvement process allows organizations to strengthen their cyber defenses, ensuring a more secure environment for their data and operations. Ultimately, ethical hackers play a vital role in safeguarding both organizational and customer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Unauthorized Access:</a:t>
            </a:r>
          </a:p>
          <a:p>
            <a:r>
              <a:rPr lang="en-US"/>
              <a:t>Malicious hacking involves unauthorized access to systems, networks, or data with the intent to exploit, damage, or steal information. This activity is illegal and poses significant risks to individuals and organizations, including financial loss and reputational damage. Malicious hackers operate in secrecy, often using advanced techniques to bypass security measures without consent.</a:t>
            </a:r>
          </a:p>
          <a:p>
            <a:endParaRPr lang="en-US"/>
          </a:p>
          <a:p>
            <a:r>
              <a:rPr lang="en-US"/>
              <a:t>Criminal Intent:</a:t>
            </a:r>
          </a:p>
          <a:p>
            <a:r>
              <a:rPr lang="en-US"/>
              <a:t>Unlike ethical hackers who work with permission to strengthen security, malicious hackers act with criminal intent. They aim to cause harm or gain personal benefits, disregarding laws and ethical norms. This distinction is crucial as ethical hackers contribute to the defense of systems, while malicious hackers exploit vulnerabilities for their gain, often leading to severe consequences for victims.</a:t>
            </a:r>
          </a:p>
          <a:p>
            <a:endParaRPr lang="en-US"/>
          </a:p>
          <a:p>
            <a:r>
              <a:rPr lang="en-US"/>
              <a:t>Authorized Practice:</a:t>
            </a:r>
          </a:p>
          <a:p>
            <a:r>
              <a:rPr lang="en-US"/>
              <a:t>Ethical hacking is the authorized practice of probing systems for vulnerabilities. Unlike malicious hackers, ethical hackers receive permission from organizations to identify weaknesses in their systems. This proactive approach helps improve security by ensuring that vulnerabilities are addressed before they can be exploited by unauthorized individuals. Ethical hackers leverage their skills to protect sensitive information and maintain the integrity of systems.</a:t>
            </a:r>
          </a:p>
          <a:p>
            <a:endParaRPr lang="en-US"/>
          </a:p>
          <a:p>
            <a:r>
              <a:rPr lang="en-US"/>
              <a:t>Improve Security:</a:t>
            </a:r>
          </a:p>
          <a:p>
            <a:r>
              <a:rPr lang="en-US"/>
              <a:t>The primary goal of ethical hacking is to enhance security measures within an organization. By simulating attacks and testing defense mechanisms, ethical hackers provide valuable insights into potential risks. This continuous evaluation and improvement process allows organizations to strengthen their cyber defenses, ensuring a more secure environment for their data and operations. Ultimately, ethical hackers play a vital role in safeguarding both organizational and customer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CEH: Certified Ethical Hacker focuses on penetration testing.</a:t>
            </a:r>
          </a:p>
          <a:p>
            <a:endParaRPr lang="en-US"/>
          </a:p>
          <a:p>
            <a:r>
              <a:rPr lang="en-US"/>
              <a:t>OSCP: Offensive Security Certified Professional emphasizes hands-on skills.</a:t>
            </a:r>
          </a:p>
          <a:p>
            <a:endParaRPr lang="en-US"/>
          </a:p>
          <a:p>
            <a:r>
              <a:rPr lang="en-US"/>
              <a:t>PNPT: Practical Network Penetration Tester focuses on network assessments.</a:t>
            </a:r>
          </a:p>
          <a:p>
            <a:endParaRPr lang="en-US"/>
          </a:p>
          <a:p>
            <a:r>
              <a:rPr lang="en-US"/>
              <a:t>GPEN: GIAC Penetration Tester showcases advanced penetration testing knowledge.</a:t>
            </a:r>
          </a:p>
          <a:p>
            <a:endParaRPr lang="en-US"/>
          </a:p>
          <a:p>
            <a:r>
              <a:rPr lang="en-US"/>
              <a:t>GWAPT: GIAC Web Application Penetration Tester specializes in web security.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Unauthorized Access:</a:t>
            </a:r>
          </a:p>
          <a:p>
            <a:r>
              <a:rPr lang="en-US"/>
              <a:t>Malicious hacking involves unauthorized access to systems, networks, or data with the intent to exploit, damage, or steal information. This activity is illegal and poses significant risks to individuals and organizations, including financial loss and reputational damage. Malicious hackers operate in secrecy, often using advanced techniques to bypass security measures without consent.</a:t>
            </a:r>
          </a:p>
          <a:p>
            <a:endParaRPr lang="en-US"/>
          </a:p>
          <a:p>
            <a:r>
              <a:rPr lang="en-US"/>
              <a:t>Criminal Intent:</a:t>
            </a:r>
          </a:p>
          <a:p>
            <a:r>
              <a:rPr lang="en-US"/>
              <a:t>Unlike ethical hackers who work with permission to strengthen security, malicious hackers act with criminal intent. They aim to cause harm or gain personal benefits, disregarding laws and ethical norms. This distinction is crucial as ethical hackers contribute to the defense of systems, while malicious hackers exploit vulnerabilities for their gain, often leading to severe consequences for victims.</a:t>
            </a:r>
          </a:p>
          <a:p>
            <a:endParaRPr lang="en-US"/>
          </a:p>
          <a:p>
            <a:r>
              <a:rPr lang="en-US"/>
              <a:t>Authorized Practice:</a:t>
            </a:r>
          </a:p>
          <a:p>
            <a:r>
              <a:rPr lang="en-US"/>
              <a:t>Ethical hacking is the authorized practice of probing systems for vulnerabilities. Unlike malicious hackers, ethical hackers receive permission from organizations to identify weaknesses in their systems. This proactive approach helps improve security by ensuring that vulnerabilities are addressed before they can be exploited by unauthorized individuals. Ethical hackers leverage their skills to protect sensitive information and maintain the integrity of systems.</a:t>
            </a:r>
          </a:p>
          <a:p>
            <a:endParaRPr lang="en-US"/>
          </a:p>
          <a:p>
            <a:r>
              <a:rPr lang="en-US"/>
              <a:t>Improve Security:</a:t>
            </a:r>
          </a:p>
          <a:p>
            <a:r>
              <a:rPr lang="en-US"/>
              <a:t>The primary goal of ethical hacking is to enhance security measures within an organization. By simulating attacks and testing defense mechanisms, ethical hackers provide valuable insights into potential risks. This continuous evaluation and improvement process allows organizations to strengthen their cyber defenses, ensuring a more secure environment for their data and operations. Ultimately, ethical hackers play a vital role in safeguarding both organizational and customer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Unauthorized Access:</a:t>
            </a:r>
          </a:p>
          <a:p>
            <a:r>
              <a:rPr lang="en-US"/>
              <a:t>Malicious hacking involves unauthorized access to systems, networks, or data with the intent to exploit, damage, or steal information. This activity is illegal and poses significant risks to individuals and organizations, including financial loss and reputational damage. Malicious hackers operate in secrecy, often using advanced techniques to bypass security measures without consent.</a:t>
            </a:r>
          </a:p>
          <a:p>
            <a:endParaRPr lang="en-US"/>
          </a:p>
          <a:p>
            <a:r>
              <a:rPr lang="en-US"/>
              <a:t>Criminal Intent:</a:t>
            </a:r>
          </a:p>
          <a:p>
            <a:r>
              <a:rPr lang="en-US"/>
              <a:t>Unlike ethical hackers who work with permission to strengthen security, malicious hackers act with criminal intent. They aim to cause harm or gain personal benefits, disregarding laws and ethical norms. This distinction is crucial as ethical hackers contribute to the defense of systems, while malicious hackers exploit vulnerabilities for their gain, often leading to severe consequences for victims.</a:t>
            </a:r>
          </a:p>
          <a:p>
            <a:endParaRPr lang="en-US"/>
          </a:p>
          <a:p>
            <a:r>
              <a:rPr lang="en-US"/>
              <a:t>Authorized Practice:</a:t>
            </a:r>
          </a:p>
          <a:p>
            <a:r>
              <a:rPr lang="en-US"/>
              <a:t>Ethical hacking is the authorized practice of probing systems for vulnerabilities. Unlike malicious hackers, ethical hackers receive permission from organizations to identify weaknesses in their systems. This proactive approach helps improve security by ensuring that vulnerabilities are addressed before they can be exploited by unauthorized individuals. Ethical hackers leverage their skills to protect sensitive information and maintain the integrity of systems.</a:t>
            </a:r>
          </a:p>
          <a:p>
            <a:endParaRPr lang="en-US"/>
          </a:p>
          <a:p>
            <a:r>
              <a:rPr lang="en-US"/>
              <a:t>Improve Security:</a:t>
            </a:r>
          </a:p>
          <a:p>
            <a:r>
              <a:rPr lang="en-US"/>
              <a:t>The primary goal of ethical hacking is to enhance security measures within an organization. By simulating attacks and testing defense mechanisms, ethical hackers provide valuable insights into potential risks. This continuous evaluation and improvement process allows organizations to strengthen their cyber defenses, ensuring a more secure environment for their data and operations. Ultimately, ethical hackers play a vital role in safeguarding both organizational and customer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Ransomware attacks have surged by 150% year-over-year, significantly impacting organizations and individuals. Effective prevention strategies and incident response plans are essential to mitigate these evolving threats.</a:t>
            </a:r>
          </a:p>
          <a:p>
            <a:endParaRPr lang="en-US"/>
          </a:p>
          <a:p>
            <a:endParaRPr lang="en-US"/>
          </a:p>
          <a:p>
            <a:r>
              <a:rPr lang="en-US"/>
              <a:t>Supply chain attacks are increasingly targeting vendors, compromising multiple organizations simultaneously. This interconnectedness highlights the importance of robust security practices throughout the supply chain to ensure overall resilience.</a:t>
            </a:r>
          </a:p>
          <a:p>
            <a:endParaRPr lang="en-US"/>
          </a:p>
          <a:p>
            <a:r>
              <a:rPr lang="en-US"/>
              <a:t>Phishing techniques are becoming more sophisticated, leveraging AI to create highly personalized and convincing scams. Awareness and training are crucial in defending against these advanced social engineering tactics.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Ethical hacking is crucial for vulnerability identification and ensuring regulatory compliance. Organizations can proactively protect their systems, maintain customer trust, and prevent financial losses through effective security measures and assessments.</a:t>
            </a:r>
          </a:p>
          <a:p>
            <a:endParaRPr lang="en-US"/>
          </a:p>
          <a:p>
            <a:r>
              <a:rPr lang="en-US"/>
              <a:t>For Organizations:</a:t>
            </a:r>
          </a:p>
          <a:p>
            <a:r>
              <a:rPr lang="en-US"/>
              <a:t>Customer Data Protection:</a:t>
            </a:r>
          </a:p>
          <a:p>
            <a:r>
              <a:rPr lang="en-US"/>
              <a:t>Protecting customer data is vital for maintaining trust. Organizations must ensure robust security measures are in place to prevent breaches and safeguard sensitive information from unauthorized access.</a:t>
            </a:r>
          </a:p>
          <a:p>
            <a:endParaRPr lang="en-US"/>
          </a:p>
          <a:p>
            <a:r>
              <a:rPr lang="en-US"/>
              <a:t>Financial Loss Prevention:</a:t>
            </a:r>
          </a:p>
          <a:p>
            <a:r>
              <a:rPr lang="en-US"/>
              <a:t>Ethical hacking plays a crucial role in identifying vulnerabilities that could lead to financial losses. Proactive security measures reduce the likelihood of costly incidents or data breaches for businesses.</a:t>
            </a:r>
          </a:p>
          <a:p>
            <a:endParaRPr lang="en-US"/>
          </a:p>
          <a:p>
            <a:r>
              <a:rPr lang="en-US"/>
              <a:t>Business Continuity:</a:t>
            </a:r>
          </a:p>
          <a:p>
            <a:r>
              <a:rPr lang="en-US"/>
              <a:t>Implementing ethical hacking practices ensures a resilient infrastructure. By identifying potential threats, organizations can maintain operations and minimize disruptions, ultimately supporting long-term business success and stability.</a:t>
            </a:r>
          </a:p>
          <a:p>
            <a:endParaRPr lang="en-US"/>
          </a:p>
          <a:p>
            <a:r>
              <a:rPr lang="en-US"/>
              <a:t>For Society:</a:t>
            </a:r>
          </a:p>
          <a:p>
            <a:r>
              <a:rPr lang="en-US"/>
              <a:t>Critical Infrastructure:</a:t>
            </a:r>
          </a:p>
          <a:p>
            <a:r>
              <a:rPr lang="en-US"/>
              <a:t>Protecting critical infrastructure is essential for maintaining societal functions, including transportation, utilities, and communication systems, ensuring that they are resilient against potential threats from malicious attacks.</a:t>
            </a:r>
          </a:p>
          <a:p>
            <a:endParaRPr lang="en-US"/>
          </a:p>
          <a:p>
            <a:r>
              <a:rPr lang="en-US"/>
              <a:t>Securing Systems:</a:t>
            </a:r>
          </a:p>
          <a:p>
            <a:r>
              <a:rPr lang="en-US"/>
              <a:t>Effective security measures are necessary to safeguard sensitive systems, preventing unauthorized access and ensuring that organizations can operate without disruption due to cyber threats or potential breaches.</a:t>
            </a:r>
          </a:p>
          <a:p>
            <a:endParaRPr lang="en-US"/>
          </a:p>
          <a:p>
            <a:r>
              <a:rPr lang="en-US"/>
              <a:t>National Security:</a:t>
            </a:r>
          </a:p>
          <a:p>
            <a:r>
              <a:rPr lang="en-US"/>
              <a:t>Strong cybersecurity practices are vital for national security, as they defend against espionage and cyber warfare, maintaining the integrity of governmental operations and protecting citizens from harm.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hyperlink" Target="mailto:firstname.lastname@company.com" TargetMode="External"/><Relationship Id="rId7"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hyperlink" Target="mailto:f.lastname@company.com" TargetMode="External"/><Relationship Id="rId5" Type="http://schemas.openxmlformats.org/officeDocument/2006/relationships/hyperlink" Target="mailto:firstnamelastname@company.com" TargetMode="External"/><Relationship Id="rId10" Type="http://schemas.openxmlformats.org/officeDocument/2006/relationships/image" Target="../media/image5.svg"/><Relationship Id="rId4" Type="http://schemas.openxmlformats.org/officeDocument/2006/relationships/hyperlink" Target="mailto:firstname@company.com" TargetMode="External"/><Relationship Id="rId9"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7.xml"/><Relationship Id="rId4" Type="http://schemas.openxmlformats.org/officeDocument/2006/relationships/image" Target="../media/image1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1877675" y="0"/>
            <a:ext cx="6419850" cy="10287000"/>
            <a:chOff x="0" y="0"/>
            <a:chExt cx="994603" cy="1593725"/>
          </a:xfrm>
        </p:grpSpPr>
        <p:sp>
          <p:nvSpPr>
            <p:cNvPr id="3" name="Freeform 3"/>
            <p:cNvSpPr/>
            <p:nvPr/>
          </p:nvSpPr>
          <p:spPr>
            <a:xfrm>
              <a:off x="0" y="0"/>
              <a:ext cx="994603" cy="1593725"/>
            </a:xfrm>
            <a:custGeom>
              <a:avLst/>
              <a:gdLst/>
              <a:ahLst/>
              <a:cxnLst/>
              <a:rect l="l" t="t" r="r" b="b"/>
              <a:pathLst>
                <a:path w="994603" h="1593725">
                  <a:moveTo>
                    <a:pt x="0" y="0"/>
                  </a:moveTo>
                  <a:lnTo>
                    <a:pt x="994603" y="0"/>
                  </a:lnTo>
                  <a:lnTo>
                    <a:pt x="994603" y="1593725"/>
                  </a:lnTo>
                  <a:lnTo>
                    <a:pt x="0" y="1593725"/>
                  </a:lnTo>
                  <a:close/>
                </a:path>
              </a:pathLst>
            </a:custGeom>
            <a:blipFill>
              <a:blip r:embed="rId2"/>
              <a:stretch>
                <a:fillRect t="-126" b="-126"/>
              </a:stretch>
            </a:blipFill>
          </p:spPr>
          <p:txBody>
            <a:bodyPr/>
            <a:lstStyle/>
            <a:p>
              <a:endParaRPr lang="en-US"/>
            </a:p>
          </p:txBody>
        </p:sp>
      </p:grpSp>
      <p:grpSp>
        <p:nvGrpSpPr>
          <p:cNvPr id="4" name="Group 4"/>
          <p:cNvGrpSpPr/>
          <p:nvPr/>
        </p:nvGrpSpPr>
        <p:grpSpPr>
          <a:xfrm>
            <a:off x="10962648" y="7828295"/>
            <a:ext cx="3328824" cy="1791955"/>
            <a:chOff x="0" y="0"/>
            <a:chExt cx="4438432" cy="2389273"/>
          </a:xfrm>
        </p:grpSpPr>
        <p:grpSp>
          <p:nvGrpSpPr>
            <p:cNvPr id="5" name="Group 5"/>
            <p:cNvGrpSpPr/>
            <p:nvPr/>
          </p:nvGrpSpPr>
          <p:grpSpPr>
            <a:xfrm>
              <a:off x="0" y="0"/>
              <a:ext cx="2389273" cy="238927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2049159" y="0"/>
              <a:ext cx="2389273" cy="238927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2411442" y="321786"/>
              <a:ext cx="1584887" cy="1584887"/>
            </a:xfrm>
            <a:custGeom>
              <a:avLst/>
              <a:gdLst/>
              <a:ahLst/>
              <a:cxnLst/>
              <a:rect l="l" t="t" r="r" b="b"/>
              <a:pathLst>
                <a:path w="1584887" h="1584887">
                  <a:moveTo>
                    <a:pt x="0" y="0"/>
                  </a:moveTo>
                  <a:lnTo>
                    <a:pt x="1584887" y="0"/>
                  </a:lnTo>
                  <a:lnTo>
                    <a:pt x="1584887" y="1584887"/>
                  </a:lnTo>
                  <a:lnTo>
                    <a:pt x="0" y="158488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V="1">
              <a:off x="624623" y="194786"/>
              <a:ext cx="2367052" cy="1745701"/>
            </a:xfrm>
            <a:custGeom>
              <a:avLst/>
              <a:gdLst/>
              <a:ahLst/>
              <a:cxnLst/>
              <a:rect l="l" t="t" r="r" b="b"/>
              <a:pathLst>
                <a:path w="2367052" h="1745701">
                  <a:moveTo>
                    <a:pt x="0" y="1745701"/>
                  </a:moveTo>
                  <a:lnTo>
                    <a:pt x="2367052" y="1745701"/>
                  </a:lnTo>
                  <a:lnTo>
                    <a:pt x="2367052" y="0"/>
                  </a:lnTo>
                  <a:lnTo>
                    <a:pt x="0" y="0"/>
                  </a:lnTo>
                  <a:lnTo>
                    <a:pt x="0" y="1745701"/>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3" name="TextBox 13"/>
          <p:cNvSpPr txBox="1"/>
          <p:nvPr/>
        </p:nvSpPr>
        <p:spPr>
          <a:xfrm>
            <a:off x="666750" y="1552575"/>
            <a:ext cx="9763125" cy="2797174"/>
          </a:xfrm>
          <a:prstGeom prst="rect">
            <a:avLst/>
          </a:prstGeom>
        </p:spPr>
        <p:txBody>
          <a:bodyPr lIns="0" tIns="0" rIns="0" bIns="0" rtlCol="0" anchor="t">
            <a:spAutoFit/>
          </a:bodyPr>
          <a:lstStyle/>
          <a:p>
            <a:pPr marL="0" lvl="0" indent="0" algn="l">
              <a:lnSpc>
                <a:spcPts val="9999"/>
              </a:lnSpc>
            </a:pPr>
            <a:r>
              <a:rPr lang="en-US" sz="9999" spc="-299">
                <a:solidFill>
                  <a:srgbClr val="00FFA8"/>
                </a:solidFill>
                <a:latin typeface="ITC Avant Garde Gothic"/>
                <a:ea typeface="ITC Avant Garde Gothic"/>
                <a:cs typeface="ITC Avant Garde Gothic"/>
                <a:sym typeface="ITC Avant Garde Gothic"/>
              </a:rPr>
              <a:t>Footprinting and Reconnaissance</a:t>
            </a:r>
          </a:p>
        </p:txBody>
      </p:sp>
      <p:sp>
        <p:nvSpPr>
          <p:cNvPr id="14" name="TextBox 14"/>
          <p:cNvSpPr txBox="1"/>
          <p:nvPr/>
        </p:nvSpPr>
        <p:spPr>
          <a:xfrm>
            <a:off x="666750" y="561975"/>
            <a:ext cx="9763125" cy="495935"/>
          </a:xfrm>
          <a:prstGeom prst="rect">
            <a:avLst/>
          </a:prstGeom>
        </p:spPr>
        <p:txBody>
          <a:bodyPr lIns="0" tIns="0" rIns="0" bIns="0" rtlCol="0" anchor="t">
            <a:spAutoFit/>
          </a:bodyPr>
          <a:lstStyle/>
          <a:p>
            <a:pPr marL="0" lvl="0" indent="0" algn="l">
              <a:lnSpc>
                <a:spcPts val="3640"/>
              </a:lnSpc>
              <a:spcBef>
                <a:spcPct val="0"/>
              </a:spcBef>
            </a:pPr>
            <a:r>
              <a:rPr lang="en-US" sz="2600">
                <a:solidFill>
                  <a:srgbClr val="00FFA8"/>
                </a:solidFill>
                <a:latin typeface="ITC Avant Garde Gothic"/>
                <a:ea typeface="ITC Avant Garde Gothic"/>
                <a:cs typeface="ITC Avant Garde Gothic"/>
                <a:sym typeface="ITC Avant Garde Gothic"/>
              </a:rPr>
              <a:t>MULTIMEDIA UNIVERSITY, MALAYSIA</a:t>
            </a:r>
          </a:p>
        </p:txBody>
      </p:sp>
      <p:sp>
        <p:nvSpPr>
          <p:cNvPr id="15" name="TextBox 15"/>
          <p:cNvSpPr txBox="1"/>
          <p:nvPr/>
        </p:nvSpPr>
        <p:spPr>
          <a:xfrm>
            <a:off x="666750" y="5019675"/>
            <a:ext cx="9763125" cy="604520"/>
          </a:xfrm>
          <a:prstGeom prst="rect">
            <a:avLst/>
          </a:prstGeom>
        </p:spPr>
        <p:txBody>
          <a:bodyPr lIns="0" tIns="0" rIns="0" bIns="0" rtlCol="0" anchor="t">
            <a:spAutoFit/>
          </a:bodyPr>
          <a:lstStyle/>
          <a:p>
            <a:pPr marL="0" lvl="0" indent="0" algn="l">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CCS6324 - 2530</a:t>
            </a:r>
          </a:p>
        </p:txBody>
      </p:sp>
      <p:sp>
        <p:nvSpPr>
          <p:cNvPr id="16" name="TextBox 16"/>
          <p:cNvSpPr txBox="1"/>
          <p:nvPr/>
        </p:nvSpPr>
        <p:spPr>
          <a:xfrm>
            <a:off x="666750" y="4538980"/>
            <a:ext cx="9763125" cy="604520"/>
          </a:xfrm>
          <a:prstGeom prst="rect">
            <a:avLst/>
          </a:prstGeom>
        </p:spPr>
        <p:txBody>
          <a:bodyPr lIns="0" tIns="0" rIns="0" bIns="0" rtlCol="0" anchor="t">
            <a:spAutoFit/>
          </a:bodyPr>
          <a:lstStyle/>
          <a:p>
            <a:pPr marL="0" lvl="0" indent="0" algn="l">
              <a:lnSpc>
                <a:spcPts val="4479"/>
              </a:lnSpc>
              <a:spcBef>
                <a:spcPct val="0"/>
              </a:spcBef>
            </a:pPr>
            <a:r>
              <a:rPr lang="en-US" sz="3199">
                <a:solidFill>
                  <a:srgbClr val="00FFA8"/>
                </a:solidFill>
                <a:latin typeface="ITC Avant Garde Gothic"/>
                <a:ea typeface="ITC Avant Garde Gothic"/>
                <a:cs typeface="ITC Avant Garde Gothic"/>
                <a:sym typeface="ITC Avant Garde Gothic"/>
              </a:rPr>
              <a:t>ETHICAL HACKING AND PENETRATION TESTING</a:t>
            </a:r>
          </a:p>
        </p:txBody>
      </p:sp>
      <p:sp>
        <p:nvSpPr>
          <p:cNvPr id="17" name="TextBox 17"/>
          <p:cNvSpPr txBox="1"/>
          <p:nvPr/>
        </p:nvSpPr>
        <p:spPr>
          <a:xfrm>
            <a:off x="663474" y="9181465"/>
            <a:ext cx="7194651" cy="438785"/>
          </a:xfrm>
          <a:prstGeom prst="rect">
            <a:avLst/>
          </a:prstGeom>
        </p:spPr>
        <p:txBody>
          <a:bodyPr lIns="0" tIns="0" rIns="0" bIns="0" rtlCol="0" anchor="t">
            <a:spAutoFit/>
          </a:bodyPr>
          <a:lstStyle/>
          <a:p>
            <a:pPr marL="0" lvl="0" indent="0" algn="l">
              <a:lnSpc>
                <a:spcPts val="3640"/>
              </a:lnSpc>
            </a:pPr>
            <a:r>
              <a:rPr lang="en-US" sz="2600">
                <a:solidFill>
                  <a:srgbClr val="00FFA8"/>
                </a:solidFill>
                <a:latin typeface="TT Fors"/>
                <a:ea typeface="TT Fors"/>
                <a:cs typeface="TT Fors"/>
                <a:sym typeface="TT Fors"/>
              </a:rPr>
              <a:t>Dr. Hafiz Adnan Hussain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2533260"/>
            <a:ext cx="16592550" cy="6564630"/>
          </a:xfrm>
          <a:prstGeom prst="rect">
            <a:avLst/>
          </a:prstGeom>
        </p:spPr>
        <p:txBody>
          <a:bodyPr lIns="0" tIns="0" rIns="0" bIns="0" rtlCol="0" anchor="t">
            <a:spAutoFit/>
          </a:bodyPr>
          <a:lstStyle/>
          <a:p>
            <a:pPr marL="690879" lvl="1" indent="-345439" algn="l">
              <a:lnSpc>
                <a:spcPts val="4799"/>
              </a:lnSpc>
              <a:buFont typeface="Arial"/>
              <a:buChar char="•"/>
            </a:pPr>
            <a:r>
              <a:rPr lang="en-US" sz="3199" spc="-95">
                <a:solidFill>
                  <a:srgbClr val="00FFA8"/>
                </a:solidFill>
                <a:latin typeface="TT Fors"/>
                <a:ea typeface="TT Fors"/>
                <a:cs typeface="TT Fors"/>
                <a:sym typeface="TT Fors"/>
              </a:rPr>
              <a:t>This course is designed to educate students on ethical hacking p</a:t>
            </a:r>
            <a:r>
              <a:rPr lang="en-US" sz="3199" u="none" strike="noStrike" spc="-95">
                <a:solidFill>
                  <a:srgbClr val="00FFA8"/>
                </a:solidFill>
                <a:latin typeface="TT Fors"/>
                <a:ea typeface="TT Fors"/>
                <a:cs typeface="TT Fors"/>
                <a:sym typeface="TT Fors"/>
              </a:rPr>
              <a:t>rinciples. The knowledge and techniques acquired must be used responsibly and not for any illegal or unauthorized activities.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Each student is solely responsible for their actions.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Do not investigate individuals, websites, servers or conduct any illegal activities on any system you do not have permission to analyze.</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The course content has been developed in good faith, drawing from the author’s experience and reputable sources. While every effort has been made to ensure accuracy, the author does not guarantee absolute correctness. Students are encouraged to exercise discretion and actively engage in discussions by raising any questions or concerns during the course.</a:t>
            </a:r>
          </a:p>
        </p:txBody>
      </p:sp>
      <p:sp>
        <p:nvSpPr>
          <p:cNvPr id="3" name="TextBox 3"/>
          <p:cNvSpPr txBox="1"/>
          <p:nvPr/>
        </p:nvSpPr>
        <p:spPr>
          <a:xfrm>
            <a:off x="666750" y="657225"/>
            <a:ext cx="112014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DISC</a:t>
            </a:r>
            <a:r>
              <a:rPr lang="en-US" sz="6000" u="none" strike="noStrike" spc="-179">
                <a:solidFill>
                  <a:srgbClr val="00FFA8"/>
                </a:solidFill>
                <a:latin typeface="ITC Avant Garde Gothic"/>
                <a:ea typeface="ITC Avant Garde Gothic"/>
                <a:cs typeface="ITC Avant Garde Gothic"/>
                <a:sym typeface="ITC Avant Garde Gothic"/>
              </a:rPr>
              <a:t>LAIMER</a:t>
            </a:r>
          </a:p>
        </p:txBody>
      </p:sp>
      <p:grpSp>
        <p:nvGrpSpPr>
          <p:cNvPr id="4" name="Group 4"/>
          <p:cNvGrpSpPr/>
          <p:nvPr/>
        </p:nvGrpSpPr>
        <p:grpSpPr>
          <a:xfrm>
            <a:off x="16115522" y="751544"/>
            <a:ext cx="1505728" cy="810556"/>
            <a:chOff x="0" y="0"/>
            <a:chExt cx="2007638" cy="1080741"/>
          </a:xfrm>
        </p:grpSpPr>
        <p:grpSp>
          <p:nvGrpSpPr>
            <p:cNvPr id="5" name="Group 5"/>
            <p:cNvGrpSpPr/>
            <p:nvPr/>
          </p:nvGrpSpPr>
          <p:grpSpPr>
            <a:xfrm>
              <a:off x="0" y="0"/>
              <a:ext cx="1080741" cy="10807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926897" y="0"/>
              <a:ext cx="1080741" cy="10807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8191501"/>
            <a:ext cx="16954500" cy="1530107"/>
            <a:chOff x="0" y="-4580"/>
            <a:chExt cx="4465332" cy="403001"/>
          </a:xfrm>
        </p:grpSpPr>
        <p:sp>
          <p:nvSpPr>
            <p:cNvPr id="3" name="Freeform 3"/>
            <p:cNvSpPr/>
            <p:nvPr/>
          </p:nvSpPr>
          <p:spPr>
            <a:xfrm>
              <a:off x="0" y="0"/>
              <a:ext cx="4465332" cy="398421"/>
            </a:xfrm>
            <a:custGeom>
              <a:avLst/>
              <a:gdLst/>
              <a:ahLst/>
              <a:cxnLst/>
              <a:rect l="l" t="t" r="r" b="b"/>
              <a:pathLst>
                <a:path w="4465332" h="398421">
                  <a:moveTo>
                    <a:pt x="4465332" y="9133"/>
                  </a:moveTo>
                  <a:lnTo>
                    <a:pt x="4465332" y="389289"/>
                  </a:lnTo>
                  <a:cubicBezTo>
                    <a:pt x="4465332" y="391711"/>
                    <a:pt x="4464370" y="394034"/>
                    <a:pt x="4462657" y="395746"/>
                  </a:cubicBezTo>
                  <a:cubicBezTo>
                    <a:pt x="4460944" y="397459"/>
                    <a:pt x="4458622" y="398421"/>
                    <a:pt x="4456200" y="398421"/>
                  </a:cubicBezTo>
                  <a:lnTo>
                    <a:pt x="9133" y="398421"/>
                  </a:lnTo>
                  <a:cubicBezTo>
                    <a:pt x="6710" y="398421"/>
                    <a:pt x="4388" y="397459"/>
                    <a:pt x="2675" y="395746"/>
                  </a:cubicBezTo>
                  <a:cubicBezTo>
                    <a:pt x="962" y="394034"/>
                    <a:pt x="0" y="391711"/>
                    <a:pt x="0" y="389289"/>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4" name="TextBox 4"/>
            <p:cNvSpPr txBox="1"/>
            <p:nvPr/>
          </p:nvSpPr>
          <p:spPr>
            <a:xfrm>
              <a:off x="0" y="-4580"/>
              <a:ext cx="4465332" cy="403001"/>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Learning Outcomes:</a:t>
              </a:r>
              <a:r>
                <a:rPr lang="en-US" sz="2800" spc="-84" dirty="0">
                  <a:solidFill>
                    <a:srgbClr val="FFFFFF"/>
                  </a:solidFill>
                  <a:latin typeface="TT Fors"/>
                  <a:ea typeface="TT Fors"/>
                  <a:cs typeface="TT Fors"/>
                  <a:sym typeface="TT Fors"/>
                </a:rPr>
                <a:t> By the end of this lecture, you will understand the reconnaissance phase in penetration testing, OSINT tools, DNS vulnerabilities, and social engineering concepts.</a:t>
              </a:r>
            </a:p>
          </p:txBody>
        </p:sp>
      </p:grpSp>
      <p:sp>
        <p:nvSpPr>
          <p:cNvPr id="5" name="TextBox 5"/>
          <p:cNvSpPr txBox="1"/>
          <p:nvPr/>
        </p:nvSpPr>
        <p:spPr>
          <a:xfrm>
            <a:off x="666750" y="3219255"/>
            <a:ext cx="10074587" cy="4164330"/>
          </a:xfrm>
          <a:prstGeom prst="rect">
            <a:avLst/>
          </a:prstGeom>
        </p:spPr>
        <p:txBody>
          <a:bodyPr lIns="0" tIns="0" rIns="0" bIns="0" rtlCol="0" anchor="t">
            <a:spAutoFit/>
          </a:bodyPr>
          <a:lstStyle/>
          <a:p>
            <a:pPr marL="690879" lvl="1" indent="-345439" algn="l">
              <a:lnSpc>
                <a:spcPts val="4799"/>
              </a:lnSpc>
              <a:buFont typeface="Arial"/>
              <a:buChar char="•"/>
            </a:pPr>
            <a:r>
              <a:rPr lang="en-US" sz="3199" spc="-95">
                <a:solidFill>
                  <a:srgbClr val="00FFA8"/>
                </a:solidFill>
                <a:latin typeface="TT Fors"/>
                <a:ea typeface="TT Fors"/>
                <a:cs typeface="TT Fors"/>
                <a:sym typeface="TT Fors"/>
              </a:rPr>
              <a:t>Th</a:t>
            </a:r>
            <a:r>
              <a:rPr lang="en-US" sz="3199" u="none" strike="noStrike" spc="-95">
                <a:solidFill>
                  <a:srgbClr val="00FFA8"/>
                </a:solidFill>
                <a:latin typeface="TT Fors"/>
                <a:ea typeface="TT Fors"/>
                <a:cs typeface="TT Fors"/>
                <a:sym typeface="TT Fors"/>
              </a:rPr>
              <a:t>e reconnaissance phase in penetration testing</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Differentiate between passive and active footprinting</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Apply various information-gathering techniques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Use OSINT tools effectively</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Identify DNS vulnerabilities, including zone transfers</a:t>
            </a:r>
          </a:p>
          <a:p>
            <a:pPr marL="690879" lvl="1" indent="-345439" algn="l">
              <a:lnSpc>
                <a:spcPts val="4799"/>
              </a:lnSpc>
              <a:buFont typeface="Arial"/>
              <a:buChar char="•"/>
            </a:pPr>
            <a:r>
              <a:rPr lang="en-US" sz="3199" u="none" strike="noStrike" spc="-95">
                <a:solidFill>
                  <a:srgbClr val="00FFA8"/>
                </a:solidFill>
                <a:latin typeface="TT Fors"/>
                <a:ea typeface="TT Fors"/>
                <a:cs typeface="TT Fors"/>
                <a:sym typeface="TT Fors"/>
              </a:rPr>
              <a:t>Understand basic social engineering concepts in reconnaissance</a:t>
            </a:r>
          </a:p>
        </p:txBody>
      </p:sp>
      <p:sp>
        <p:nvSpPr>
          <p:cNvPr id="6" name="TextBox 6"/>
          <p:cNvSpPr txBox="1"/>
          <p:nvPr/>
        </p:nvSpPr>
        <p:spPr>
          <a:xfrm>
            <a:off x="666750" y="657225"/>
            <a:ext cx="11201400" cy="923925"/>
          </a:xfrm>
          <a:prstGeom prst="rect">
            <a:avLst/>
          </a:prstGeom>
        </p:spPr>
        <p:txBody>
          <a:bodyPr lIns="0" tIns="0" rIns="0" bIns="0" rtlCol="0" anchor="t">
            <a:spAutoFit/>
          </a:bodyPr>
          <a:lstStyle/>
          <a:p>
            <a:pPr marL="0" lvl="0" indent="0" algn="l">
              <a:lnSpc>
                <a:spcPts val="6000"/>
              </a:lnSpc>
              <a:spcBef>
                <a:spcPct val="0"/>
              </a:spcBef>
            </a:pPr>
            <a:r>
              <a:rPr lang="en-US" sz="6000" u="none" strike="noStrike" spc="-179">
                <a:solidFill>
                  <a:srgbClr val="00FFA8"/>
                </a:solidFill>
                <a:latin typeface="ITC Avant Garde Gothic"/>
                <a:ea typeface="ITC Avant Garde Gothic"/>
                <a:cs typeface="ITC Avant Garde Gothic"/>
                <a:sym typeface="ITC Avant Garde Gothic"/>
              </a:rPr>
              <a:t>Learning Objectives</a:t>
            </a:r>
          </a:p>
        </p:txBody>
      </p:sp>
      <p:sp>
        <p:nvSpPr>
          <p:cNvPr id="7" name="TextBox 7"/>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What</a:t>
            </a:r>
            <a:r>
              <a:rPr lang="en-US" sz="3199" b="1" u="none" strike="noStrike" spc="-95">
                <a:solidFill>
                  <a:srgbClr val="00FFA8"/>
                </a:solidFill>
                <a:latin typeface="TT Fors Bold"/>
                <a:ea typeface="TT Fors Bold"/>
                <a:cs typeface="TT Fors Bold"/>
                <a:sym typeface="TT Fors Bold"/>
              </a:rPr>
              <a:t> You Will Learn?</a:t>
            </a:r>
          </a:p>
        </p:txBody>
      </p:sp>
      <p:grpSp>
        <p:nvGrpSpPr>
          <p:cNvPr id="8" name="Group 8"/>
          <p:cNvGrpSpPr/>
          <p:nvPr/>
        </p:nvGrpSpPr>
        <p:grpSpPr>
          <a:xfrm>
            <a:off x="16115522" y="751544"/>
            <a:ext cx="1505728" cy="810556"/>
            <a:chOff x="0" y="0"/>
            <a:chExt cx="2007638" cy="1080741"/>
          </a:xfrm>
        </p:grpSpPr>
        <p:grpSp>
          <p:nvGrpSpPr>
            <p:cNvPr id="9" name="Group 9"/>
            <p:cNvGrpSpPr/>
            <p:nvPr/>
          </p:nvGrpSpPr>
          <p:grpSpPr>
            <a:xfrm>
              <a:off x="0" y="0"/>
              <a:ext cx="1080741" cy="108074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926897" y="0"/>
              <a:ext cx="1080741" cy="108074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6" name="Freeform 16"/>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7" name="Group 17"/>
          <p:cNvGrpSpPr/>
          <p:nvPr/>
        </p:nvGrpSpPr>
        <p:grpSpPr>
          <a:xfrm>
            <a:off x="11049547" y="3040269"/>
            <a:ext cx="6571703" cy="4608029"/>
            <a:chOff x="0" y="0"/>
            <a:chExt cx="8762270" cy="6144038"/>
          </a:xfrm>
        </p:grpSpPr>
        <p:grpSp>
          <p:nvGrpSpPr>
            <p:cNvPr id="18" name="Group 18"/>
            <p:cNvGrpSpPr/>
            <p:nvPr/>
          </p:nvGrpSpPr>
          <p:grpSpPr>
            <a:xfrm>
              <a:off x="0" y="0"/>
              <a:ext cx="8762270" cy="6144038"/>
              <a:chOff x="0" y="0"/>
              <a:chExt cx="1730799" cy="1213668"/>
            </a:xfrm>
          </p:grpSpPr>
          <p:sp>
            <p:nvSpPr>
              <p:cNvPr id="19" name="Freeform 19"/>
              <p:cNvSpPr/>
              <p:nvPr/>
            </p:nvSpPr>
            <p:spPr>
              <a:xfrm>
                <a:off x="0" y="0"/>
                <a:ext cx="1730799" cy="1213668"/>
              </a:xfrm>
              <a:custGeom>
                <a:avLst/>
                <a:gdLst/>
                <a:ahLst/>
                <a:cxnLst/>
                <a:rect l="l" t="t" r="r" b="b"/>
                <a:pathLst>
                  <a:path w="1730799" h="1213668">
                    <a:moveTo>
                      <a:pt x="1730799" y="23561"/>
                    </a:moveTo>
                    <a:lnTo>
                      <a:pt x="1730799" y="1190106"/>
                    </a:lnTo>
                    <a:cubicBezTo>
                      <a:pt x="1730799" y="1203119"/>
                      <a:pt x="1720250" y="1213668"/>
                      <a:pt x="1707238" y="1213668"/>
                    </a:cubicBezTo>
                    <a:lnTo>
                      <a:pt x="23561" y="1213668"/>
                    </a:lnTo>
                    <a:cubicBezTo>
                      <a:pt x="10549" y="1213668"/>
                      <a:pt x="0" y="1203119"/>
                      <a:pt x="0" y="1190106"/>
                    </a:cubicBezTo>
                    <a:lnTo>
                      <a:pt x="0" y="23561"/>
                    </a:lnTo>
                    <a:cubicBezTo>
                      <a:pt x="0" y="10549"/>
                      <a:pt x="10549" y="0"/>
                      <a:pt x="23561" y="0"/>
                    </a:cubicBezTo>
                    <a:lnTo>
                      <a:pt x="1707238" y="0"/>
                    </a:lnTo>
                    <a:cubicBezTo>
                      <a:pt x="1720250" y="0"/>
                      <a:pt x="1730799" y="10549"/>
                      <a:pt x="1730799" y="23561"/>
                    </a:cubicBezTo>
                    <a:close/>
                  </a:path>
                </a:pathLst>
              </a:custGeom>
              <a:solidFill>
                <a:srgbClr val="E10505"/>
              </a:solidFill>
              <a:ln cap="sq">
                <a:noFill/>
                <a:prstDash val="solid"/>
                <a:miter/>
              </a:ln>
            </p:spPr>
            <p:txBody>
              <a:bodyPr/>
              <a:lstStyle/>
              <a:p>
                <a:endParaRPr lang="en-US"/>
              </a:p>
            </p:txBody>
          </p:sp>
          <p:sp>
            <p:nvSpPr>
              <p:cNvPr id="20" name="TextBox 20"/>
              <p:cNvSpPr txBox="1"/>
              <p:nvPr/>
            </p:nvSpPr>
            <p:spPr>
              <a:xfrm>
                <a:off x="0" y="-57150"/>
                <a:ext cx="1730799" cy="1270818"/>
              </a:xfrm>
              <a:prstGeom prst="rect">
                <a:avLst/>
              </a:prstGeom>
            </p:spPr>
            <p:txBody>
              <a:bodyPr lIns="254000" tIns="254000" rIns="254000" bIns="254000" rtlCol="0" anchor="ctr"/>
              <a:lstStyle/>
              <a:p>
                <a:pPr algn="l">
                  <a:lnSpc>
                    <a:spcPts val="3920"/>
                  </a:lnSpc>
                </a:pPr>
                <a:endParaRPr/>
              </a:p>
            </p:txBody>
          </p:sp>
        </p:grpSp>
        <p:sp>
          <p:nvSpPr>
            <p:cNvPr id="21" name="TextBox 21"/>
            <p:cNvSpPr txBox="1"/>
            <p:nvPr/>
          </p:nvSpPr>
          <p:spPr>
            <a:xfrm>
              <a:off x="1751839" y="4204776"/>
              <a:ext cx="5258592" cy="484293"/>
            </a:xfrm>
            <a:prstGeom prst="rect">
              <a:avLst/>
            </a:prstGeom>
          </p:spPr>
          <p:txBody>
            <a:bodyPr lIns="0" tIns="0" rIns="0" bIns="0" rtlCol="0" anchor="t">
              <a:spAutoFit/>
            </a:bodyPr>
            <a:lstStyle/>
            <a:p>
              <a:pPr marL="0" lvl="0" indent="0" algn="ctr">
                <a:lnSpc>
                  <a:spcPts val="3080"/>
                </a:lnSpc>
              </a:pPr>
              <a:r>
                <a:rPr lang="en-US" sz="2200">
                  <a:solidFill>
                    <a:srgbClr val="FFFFFF"/>
                  </a:solidFill>
                  <a:latin typeface="TT Fors"/>
                  <a:ea typeface="TT Fors"/>
                  <a:cs typeface="TT Fors"/>
                  <a:sym typeface="TT Fors"/>
                </a:rPr>
                <a:t>– Abraham Lincoln</a:t>
              </a:r>
            </a:p>
          </p:txBody>
        </p:sp>
        <p:sp>
          <p:nvSpPr>
            <p:cNvPr id="22" name="TextBox 22"/>
            <p:cNvSpPr txBox="1"/>
            <p:nvPr/>
          </p:nvSpPr>
          <p:spPr>
            <a:xfrm>
              <a:off x="143447" y="4857344"/>
              <a:ext cx="8475377" cy="919691"/>
            </a:xfrm>
            <a:prstGeom prst="rect">
              <a:avLst/>
            </a:prstGeom>
          </p:spPr>
          <p:txBody>
            <a:bodyPr lIns="0" tIns="0" rIns="0" bIns="0" rtlCol="0" anchor="t">
              <a:spAutoFit/>
            </a:bodyPr>
            <a:lstStyle/>
            <a:p>
              <a:pPr marL="0" lvl="0" indent="0" algn="ctr">
                <a:lnSpc>
                  <a:spcPts val="2800"/>
                </a:lnSpc>
              </a:pPr>
              <a:r>
                <a:rPr lang="en-US" sz="2000" b="1">
                  <a:solidFill>
                    <a:srgbClr val="FFFFFF"/>
                  </a:solidFill>
                  <a:latin typeface="TT Fors Bold"/>
                  <a:ea typeface="TT Fors Bold"/>
                  <a:cs typeface="TT Fors Bold"/>
                  <a:sym typeface="TT Fors Bold"/>
                </a:rPr>
                <a:t>In pentesting: Spend 80% of time in reconnaissance!</a:t>
              </a:r>
            </a:p>
          </p:txBody>
        </p:sp>
        <p:sp>
          <p:nvSpPr>
            <p:cNvPr id="23" name="TextBox 23"/>
            <p:cNvSpPr txBox="1"/>
            <p:nvPr/>
          </p:nvSpPr>
          <p:spPr>
            <a:xfrm>
              <a:off x="0" y="1343083"/>
              <a:ext cx="8762270" cy="2678219"/>
            </a:xfrm>
            <a:prstGeom prst="rect">
              <a:avLst/>
            </a:prstGeom>
          </p:spPr>
          <p:txBody>
            <a:bodyPr lIns="0" tIns="0" rIns="0" bIns="0" rtlCol="0" anchor="t">
              <a:spAutoFit/>
            </a:bodyPr>
            <a:lstStyle/>
            <a:p>
              <a:pPr marL="0" lvl="0" indent="0" algn="ctr">
                <a:lnSpc>
                  <a:spcPts val="3800"/>
                </a:lnSpc>
                <a:spcBef>
                  <a:spcPct val="0"/>
                </a:spcBef>
              </a:pPr>
              <a:r>
                <a:rPr lang="en-US" sz="3800" spc="-114" dirty="0">
                  <a:solidFill>
                    <a:srgbClr val="FFFFFF"/>
                  </a:solidFill>
                  <a:latin typeface="ITC Avant Garde Gothic"/>
                  <a:ea typeface="ITC Avant Garde Gothic"/>
                  <a:cs typeface="ITC Avant Garde Gothic"/>
                  <a:sym typeface="ITC Avant Garde Gothic"/>
                </a:rPr>
                <a:t>Giv</a:t>
              </a:r>
              <a:r>
                <a:rPr lang="en-US" sz="3800" u="none" strike="noStrike" spc="-114" dirty="0">
                  <a:solidFill>
                    <a:srgbClr val="FFFFFF"/>
                  </a:solidFill>
                  <a:latin typeface="ITC Avant Garde Gothic"/>
                  <a:ea typeface="ITC Avant Garde Gothic"/>
                  <a:cs typeface="ITC Avant Garde Gothic"/>
                  <a:sym typeface="ITC Avant Garde Gothic"/>
                </a:rPr>
                <a:t>e me six hours to chop down a tree and I will spend the first four sharpening the axe."</a:t>
              </a:r>
            </a:p>
          </p:txBody>
        </p:sp>
        <p:sp>
          <p:nvSpPr>
            <p:cNvPr id="24" name="Freeform 24"/>
            <p:cNvSpPr/>
            <p:nvPr/>
          </p:nvSpPr>
          <p:spPr>
            <a:xfrm>
              <a:off x="3950056" y="472063"/>
              <a:ext cx="862157" cy="664645"/>
            </a:xfrm>
            <a:custGeom>
              <a:avLst/>
              <a:gdLst/>
              <a:ahLst/>
              <a:cxnLst/>
              <a:rect l="l" t="t" r="r" b="b"/>
              <a:pathLst>
                <a:path w="862157" h="664645">
                  <a:moveTo>
                    <a:pt x="0" y="0"/>
                  </a:moveTo>
                  <a:lnTo>
                    <a:pt x="862158" y="0"/>
                  </a:lnTo>
                  <a:lnTo>
                    <a:pt x="862158" y="664645"/>
                  </a:lnTo>
                  <a:lnTo>
                    <a:pt x="0" y="66464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8774188"/>
            <a:ext cx="16954500" cy="947421"/>
            <a:chOff x="0" y="0"/>
            <a:chExt cx="4465332" cy="249533"/>
          </a:xfrm>
        </p:grpSpPr>
        <p:sp>
          <p:nvSpPr>
            <p:cNvPr id="3" name="Freeform 3"/>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4" name="TextBox 4"/>
            <p:cNvSpPr txBox="1"/>
            <p:nvPr/>
          </p:nvSpPr>
          <p:spPr>
            <a:xfrm>
              <a:off x="0" y="5017"/>
              <a:ext cx="4465332" cy="244516"/>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Overall:</a:t>
              </a:r>
              <a:r>
                <a:rPr lang="en-US" sz="2800" spc="-84" dirty="0">
                  <a:solidFill>
                    <a:srgbClr val="FFFFFF"/>
                  </a:solidFill>
                  <a:latin typeface="TT Fors"/>
                  <a:ea typeface="TT Fors"/>
                  <a:cs typeface="TT Fors"/>
                  <a:sym typeface="TT Fors"/>
                </a:rPr>
                <a:t> These techniques are foundational in ethical hacking and penetration testing.</a:t>
              </a:r>
            </a:p>
          </p:txBody>
        </p:sp>
      </p:grpSp>
      <p:sp>
        <p:nvSpPr>
          <p:cNvPr id="5" name="TextBox 5"/>
          <p:cNvSpPr txBox="1"/>
          <p:nvPr/>
        </p:nvSpPr>
        <p:spPr>
          <a:xfrm>
            <a:off x="666750" y="2606925"/>
            <a:ext cx="13978289" cy="4167505"/>
          </a:xfrm>
          <a:prstGeom prst="rect">
            <a:avLst/>
          </a:prstGeom>
        </p:spPr>
        <p:txBody>
          <a:bodyPr lIns="0" tIns="0" rIns="0" bIns="0" rtlCol="0" anchor="t">
            <a:spAutoFit/>
          </a:bodyPr>
          <a:lstStyle/>
          <a:p>
            <a:pPr marL="690879" lvl="1" indent="-345439" algn="l">
              <a:lnSpc>
                <a:spcPts val="5599"/>
              </a:lnSpc>
              <a:buFont typeface="Arial"/>
              <a:buChar char="•"/>
            </a:pPr>
            <a:r>
              <a:rPr lang="en-US" sz="3199" b="1" spc="-95">
                <a:solidFill>
                  <a:srgbClr val="00FFA8"/>
                </a:solidFill>
                <a:latin typeface="TT Fors Bold"/>
                <a:ea typeface="TT Fors Bold"/>
                <a:cs typeface="TT Fors Bold"/>
                <a:sym typeface="TT Fors Bold"/>
              </a:rPr>
              <a:t>R</a:t>
            </a:r>
            <a:r>
              <a:rPr lang="en-US" sz="3199" b="1" u="none" strike="noStrike" spc="-95">
                <a:solidFill>
                  <a:srgbClr val="00FFA8"/>
                </a:solidFill>
                <a:latin typeface="TT Fors Bold"/>
                <a:ea typeface="TT Fors Bold"/>
                <a:cs typeface="TT Fors Bold"/>
                <a:sym typeface="TT Fors Bold"/>
              </a:rPr>
              <a:t>econnaissance:</a:t>
            </a:r>
            <a:r>
              <a:rPr lang="en-US" sz="3199" u="none" strike="noStrike" spc="-95">
                <a:solidFill>
                  <a:srgbClr val="00FFA8"/>
                </a:solidFill>
                <a:latin typeface="TT Fors"/>
                <a:ea typeface="TT Fors"/>
                <a:cs typeface="TT Fors"/>
                <a:sym typeface="TT Fors"/>
              </a:rPr>
              <a:t> Gathering information from public websites, social media, and internal networks to identify vulnerabilities.</a:t>
            </a:r>
          </a:p>
          <a:p>
            <a:pPr marL="690879" lvl="1" indent="-345439" algn="l">
              <a:lnSpc>
                <a:spcPts val="5599"/>
              </a:lnSpc>
              <a:buFont typeface="Arial"/>
              <a:buChar char="•"/>
            </a:pPr>
            <a:r>
              <a:rPr lang="en-US" sz="3199" b="1" u="none" strike="noStrike" spc="-95">
                <a:solidFill>
                  <a:srgbClr val="00FFA8"/>
                </a:solidFill>
                <a:latin typeface="TT Fors Bold"/>
                <a:ea typeface="TT Fors Bold"/>
                <a:cs typeface="TT Fors Bold"/>
                <a:sym typeface="TT Fors Bold"/>
              </a:rPr>
              <a:t>Footprinting:</a:t>
            </a:r>
            <a:r>
              <a:rPr lang="en-US" sz="3199" u="none" strike="noStrike" spc="-95">
                <a:solidFill>
                  <a:srgbClr val="00FFA8"/>
                </a:solidFill>
                <a:latin typeface="TT Fors"/>
                <a:ea typeface="TT Fors"/>
                <a:cs typeface="TT Fors"/>
                <a:sym typeface="TT Fors"/>
              </a:rPr>
              <a:t> The process of gathering information about a target system or organization to identify potential vulnerabilities.</a:t>
            </a:r>
          </a:p>
          <a:p>
            <a:pPr marL="690879" lvl="1" indent="-345439" algn="l">
              <a:lnSpc>
                <a:spcPts val="5599"/>
              </a:lnSpc>
              <a:buFont typeface="Arial"/>
              <a:buChar char="•"/>
            </a:pPr>
            <a:r>
              <a:rPr lang="en-US" sz="3199" b="1" u="none" strike="noStrike" spc="-95">
                <a:solidFill>
                  <a:srgbClr val="00FFA8"/>
                </a:solidFill>
                <a:latin typeface="TT Fors Bold"/>
                <a:ea typeface="TT Fors Bold"/>
                <a:cs typeface="TT Fors Bold"/>
                <a:sym typeface="TT Fors Bold"/>
              </a:rPr>
              <a:t>Social Engineering:</a:t>
            </a:r>
            <a:r>
              <a:rPr lang="en-US" sz="3199" u="none" strike="noStrike" spc="-95">
                <a:solidFill>
                  <a:srgbClr val="00FFA8"/>
                </a:solidFill>
                <a:latin typeface="TT Fors"/>
                <a:ea typeface="TT Fors"/>
                <a:cs typeface="TT Fors"/>
                <a:sym typeface="TT Fors"/>
              </a:rPr>
              <a:t> Manipulating individuals into divulging confidential information or performing actions that compromise security.</a:t>
            </a:r>
          </a:p>
        </p:txBody>
      </p:sp>
      <p:sp>
        <p:nvSpPr>
          <p:cNvPr id="6" name="TextBox 6"/>
          <p:cNvSpPr txBox="1"/>
          <p:nvPr/>
        </p:nvSpPr>
        <p:spPr>
          <a:xfrm>
            <a:off x="666750" y="657225"/>
            <a:ext cx="11201400" cy="923925"/>
          </a:xfrm>
          <a:prstGeom prst="rect">
            <a:avLst/>
          </a:prstGeom>
        </p:spPr>
        <p:txBody>
          <a:bodyPr lIns="0" tIns="0" rIns="0" bIns="0" rtlCol="0" anchor="t">
            <a:spAutoFit/>
          </a:bodyPr>
          <a:lstStyle/>
          <a:p>
            <a:pPr marL="0" lvl="0" indent="0" algn="l">
              <a:lnSpc>
                <a:spcPts val="6000"/>
              </a:lnSpc>
              <a:spcBef>
                <a:spcPct val="0"/>
              </a:spcBef>
            </a:pPr>
            <a:r>
              <a:rPr lang="en-US" sz="6000" u="none" strike="noStrike" spc="-179">
                <a:solidFill>
                  <a:srgbClr val="00FFA8"/>
                </a:solidFill>
                <a:latin typeface="ITC Avant Garde Gothic"/>
                <a:ea typeface="ITC Avant Garde Gothic"/>
                <a:cs typeface="ITC Avant Garde Gothic"/>
                <a:sym typeface="ITC Avant Garde Gothic"/>
              </a:rPr>
              <a:t>Introduction</a:t>
            </a:r>
          </a:p>
        </p:txBody>
      </p:sp>
      <p:grpSp>
        <p:nvGrpSpPr>
          <p:cNvPr id="7" name="Group 7"/>
          <p:cNvGrpSpPr/>
          <p:nvPr/>
        </p:nvGrpSpPr>
        <p:grpSpPr>
          <a:xfrm>
            <a:off x="16115522" y="751544"/>
            <a:ext cx="1505728" cy="810556"/>
            <a:chOff x="0" y="0"/>
            <a:chExt cx="2007638" cy="1080741"/>
          </a:xfrm>
        </p:grpSpPr>
        <p:grpSp>
          <p:nvGrpSpPr>
            <p:cNvPr id="8" name="Group 8"/>
            <p:cNvGrpSpPr/>
            <p:nvPr/>
          </p:nvGrpSpPr>
          <p:grpSpPr>
            <a:xfrm>
              <a:off x="0" y="0"/>
              <a:ext cx="1080741" cy="10807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926897" y="0"/>
              <a:ext cx="1080741" cy="108074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5" name="Freeform 15"/>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3762889"/>
            <a:ext cx="11539005" cy="3099436"/>
            <a:chOff x="0" y="0"/>
            <a:chExt cx="15385339" cy="4132581"/>
          </a:xfrm>
        </p:grpSpPr>
        <p:sp>
          <p:nvSpPr>
            <p:cNvPr id="3" name="TextBox 3"/>
            <p:cNvSpPr txBox="1"/>
            <p:nvPr/>
          </p:nvSpPr>
          <p:spPr>
            <a:xfrm>
              <a:off x="0" y="868257"/>
              <a:ext cx="15385339" cy="3264323"/>
            </a:xfrm>
            <a:prstGeom prst="rect">
              <a:avLst/>
            </a:prstGeom>
          </p:spPr>
          <p:txBody>
            <a:bodyPr lIns="0" tIns="0" rIns="0" bIns="0" rtlCol="0" anchor="t">
              <a:spAutoFit/>
            </a:bodyPr>
            <a:lstStyle/>
            <a:p>
              <a:pPr marL="604519" lvl="1" indent="-302260" algn="l">
                <a:lnSpc>
                  <a:spcPts val="3919"/>
                </a:lnSpc>
                <a:buFont typeface="Arial"/>
                <a:buChar char="•"/>
              </a:pPr>
              <a:r>
                <a:rPr lang="en-US" sz="2799" b="1">
                  <a:solidFill>
                    <a:srgbClr val="00FFA8"/>
                  </a:solidFill>
                  <a:latin typeface="TT Fors Bold"/>
                  <a:ea typeface="TT Fors Bold"/>
                  <a:cs typeface="TT Fors Bold"/>
                  <a:sym typeface="TT Fors Bold"/>
                </a:rPr>
                <a:t>Foundation for all attacks: </a:t>
              </a:r>
              <a:r>
                <a:rPr lang="en-US" sz="2799">
                  <a:solidFill>
                    <a:srgbClr val="00FFA8"/>
                  </a:solidFill>
                  <a:latin typeface="TT Fors"/>
                  <a:ea typeface="TT Fors"/>
                  <a:cs typeface="TT Fors"/>
                  <a:sym typeface="TT Fors"/>
                </a:rPr>
                <a:t>Better information = better targeting</a:t>
              </a:r>
            </a:p>
            <a:p>
              <a:pPr marL="604519" lvl="1" indent="-302260" algn="l">
                <a:lnSpc>
                  <a:spcPts val="3919"/>
                </a:lnSpc>
                <a:buFont typeface="Arial"/>
                <a:buChar char="•"/>
              </a:pPr>
              <a:r>
                <a:rPr lang="en-US" sz="2799" b="1">
                  <a:solidFill>
                    <a:srgbClr val="00FFA8"/>
                  </a:solidFill>
                  <a:latin typeface="TT Fors Bold"/>
                  <a:ea typeface="TT Fors Bold"/>
                  <a:cs typeface="TT Fors Bold"/>
                  <a:sym typeface="TT Fors Bold"/>
                </a:rPr>
                <a:t>Identify attack surface: </a:t>
              </a:r>
              <a:r>
                <a:rPr lang="en-US" sz="2799">
                  <a:solidFill>
                    <a:srgbClr val="00FFA8"/>
                  </a:solidFill>
                  <a:latin typeface="TT Fors"/>
                  <a:ea typeface="TT Fors"/>
                  <a:cs typeface="TT Fors"/>
                  <a:sym typeface="TT Fors"/>
                </a:rPr>
                <a:t>Find all possible entry points</a:t>
              </a:r>
            </a:p>
            <a:p>
              <a:pPr marL="604519" lvl="1" indent="-302260" algn="l">
                <a:lnSpc>
                  <a:spcPts val="3919"/>
                </a:lnSpc>
                <a:buFont typeface="Arial"/>
                <a:buChar char="•"/>
              </a:pPr>
              <a:r>
                <a:rPr lang="en-US" sz="2799" b="1">
                  <a:solidFill>
                    <a:srgbClr val="00FFA8"/>
                  </a:solidFill>
                  <a:latin typeface="TT Fors Bold"/>
                  <a:ea typeface="TT Fors Bold"/>
                  <a:cs typeface="TT Fors Bold"/>
                  <a:sym typeface="TT Fors Bold"/>
                </a:rPr>
                <a:t>Reduce detection risk: </a:t>
              </a:r>
              <a:r>
                <a:rPr lang="en-US" sz="2799">
                  <a:solidFill>
                    <a:srgbClr val="00FFA8"/>
                  </a:solidFill>
                  <a:latin typeface="TT Fors"/>
                  <a:ea typeface="TT Fors"/>
                  <a:cs typeface="TT Fors"/>
                  <a:sym typeface="TT Fors"/>
                </a:rPr>
                <a:t>Avoid noisy, unnecessary scans</a:t>
              </a:r>
            </a:p>
            <a:p>
              <a:pPr marL="604519" lvl="1" indent="-302260" algn="l">
                <a:lnSpc>
                  <a:spcPts val="3919"/>
                </a:lnSpc>
                <a:buFont typeface="Arial"/>
                <a:buChar char="•"/>
              </a:pPr>
              <a:r>
                <a:rPr lang="en-US" sz="2799" b="1">
                  <a:solidFill>
                    <a:srgbClr val="00FFA8"/>
                  </a:solidFill>
                  <a:latin typeface="TT Fors Bold"/>
                  <a:ea typeface="TT Fors Bold"/>
                  <a:cs typeface="TT Fors Bold"/>
                  <a:sym typeface="TT Fors Bold"/>
                </a:rPr>
                <a:t>Plan attack strategy: </a:t>
              </a:r>
              <a:r>
                <a:rPr lang="en-US" sz="2799">
                  <a:solidFill>
                    <a:srgbClr val="00FFA8"/>
                  </a:solidFill>
                  <a:latin typeface="TT Fors"/>
                  <a:ea typeface="TT Fors"/>
                  <a:cs typeface="TT Fors"/>
                  <a:sym typeface="TT Fors"/>
                </a:rPr>
                <a:t>Choose the right tools and techniques</a:t>
              </a:r>
            </a:p>
            <a:p>
              <a:pPr marL="604519" lvl="1" indent="-302260" algn="l">
                <a:lnSpc>
                  <a:spcPts val="3919"/>
                </a:lnSpc>
                <a:buFont typeface="Arial"/>
                <a:buChar char="•"/>
              </a:pPr>
              <a:r>
                <a:rPr lang="en-US" sz="2799" b="1">
                  <a:solidFill>
                    <a:srgbClr val="00FFA8"/>
                  </a:solidFill>
                  <a:latin typeface="TT Fors Bold"/>
                  <a:ea typeface="TT Fors Bold"/>
                  <a:cs typeface="TT Fors Bold"/>
                  <a:sym typeface="TT Fors Bold"/>
                </a:rPr>
                <a:t>Save time: </a:t>
              </a:r>
              <a:r>
                <a:rPr lang="en-US" sz="2799">
                  <a:solidFill>
                    <a:srgbClr val="00FFA8"/>
                  </a:solidFill>
                  <a:latin typeface="TT Fors"/>
                  <a:ea typeface="TT Fors"/>
                  <a:cs typeface="TT Fors"/>
                  <a:sym typeface="TT Fors"/>
                </a:rPr>
                <a:t>Focus on actual vulnerabilities</a:t>
              </a:r>
            </a:p>
          </p:txBody>
        </p:sp>
        <p:sp>
          <p:nvSpPr>
            <p:cNvPr id="4" name="TextBox 4"/>
            <p:cNvSpPr txBox="1"/>
            <p:nvPr/>
          </p:nvSpPr>
          <p:spPr>
            <a:xfrm>
              <a:off x="0" y="-238125"/>
              <a:ext cx="15385339" cy="884132"/>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Why is Rec</a:t>
              </a:r>
              <a:r>
                <a:rPr lang="en-US" sz="3199" b="1" u="none" strike="noStrike" spc="-95">
                  <a:solidFill>
                    <a:srgbClr val="00FFA8"/>
                  </a:solidFill>
                  <a:latin typeface="TT Fors Bold"/>
                  <a:ea typeface="TT Fors Bold"/>
                  <a:cs typeface="TT Fors Bold"/>
                  <a:sym typeface="TT Fors Bold"/>
                </a:rPr>
                <a:t>onnaissance Critical?</a:t>
              </a:r>
            </a:p>
          </p:txBody>
        </p:sp>
      </p:grpSp>
      <p:sp>
        <p:nvSpPr>
          <p:cNvPr id="5" name="TextBox 5"/>
          <p:cNvSpPr txBox="1"/>
          <p:nvPr/>
        </p:nvSpPr>
        <p:spPr>
          <a:xfrm>
            <a:off x="666750" y="657225"/>
            <a:ext cx="13911071" cy="923925"/>
          </a:xfrm>
          <a:prstGeom prst="rect">
            <a:avLst/>
          </a:prstGeom>
        </p:spPr>
        <p:txBody>
          <a:bodyPr lIns="0" tIns="0" rIns="0" bIns="0" rtlCol="0" anchor="t">
            <a:spAutoFit/>
          </a:bodyPr>
          <a:lstStyle/>
          <a:p>
            <a:pPr marL="0" lvl="0" indent="0" algn="l">
              <a:lnSpc>
                <a:spcPts val="6000"/>
              </a:lnSpc>
              <a:spcBef>
                <a:spcPct val="0"/>
              </a:spcBef>
            </a:pPr>
            <a:r>
              <a:rPr lang="en-US" sz="6000" u="none" strike="noStrike" spc="-179">
                <a:solidFill>
                  <a:srgbClr val="00FFA8"/>
                </a:solidFill>
                <a:latin typeface="ITC Avant Garde Gothic"/>
                <a:ea typeface="ITC Avant Garde Gothic"/>
                <a:cs typeface="ITC Avant Garde Gothic"/>
                <a:sym typeface="ITC Avant Garde Gothic"/>
              </a:rPr>
              <a:t>What is Reconnaissance?</a:t>
            </a:r>
          </a:p>
        </p:txBody>
      </p:sp>
      <p:sp>
        <p:nvSpPr>
          <p:cNvPr id="6" name="TextBox 6"/>
          <p:cNvSpPr txBox="1"/>
          <p:nvPr/>
        </p:nvSpPr>
        <p:spPr>
          <a:xfrm>
            <a:off x="666750" y="1879601"/>
            <a:ext cx="16954500" cy="145732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FFFFFF"/>
                </a:solidFill>
                <a:latin typeface="TT Fors Bold"/>
                <a:ea typeface="TT Fors Bold"/>
                <a:cs typeface="TT Fors Bold"/>
                <a:sym typeface="TT Fors Bold"/>
              </a:rPr>
              <a:t>Reconnaissance (Reco</a:t>
            </a:r>
            <a:r>
              <a:rPr lang="en-US" sz="3199" b="1" u="none" strike="noStrike" spc="-95">
                <a:solidFill>
                  <a:srgbClr val="FFFFFF"/>
                </a:solidFill>
                <a:latin typeface="TT Fors Bold"/>
                <a:ea typeface="TT Fors Bold"/>
                <a:cs typeface="TT Fors Bold"/>
                <a:sym typeface="TT Fors Bold"/>
              </a:rPr>
              <a:t>n): </a:t>
            </a:r>
            <a:r>
              <a:rPr lang="en-US" sz="3199" u="none" strike="noStrike" spc="-95">
                <a:solidFill>
                  <a:srgbClr val="FFFFFF"/>
                </a:solidFill>
                <a:latin typeface="TT Fors"/>
                <a:ea typeface="TT Fors"/>
                <a:cs typeface="TT Fors"/>
                <a:sym typeface="TT Fors"/>
              </a:rPr>
              <a:t>It is the first phase of penetration testing, saying that the systematic process of gathering information about a target system, network, or organization before launching an attack without directly interacting with it.</a:t>
            </a:r>
          </a:p>
        </p:txBody>
      </p:sp>
      <p:grpSp>
        <p:nvGrpSpPr>
          <p:cNvPr id="7" name="Group 7"/>
          <p:cNvGrpSpPr/>
          <p:nvPr/>
        </p:nvGrpSpPr>
        <p:grpSpPr>
          <a:xfrm>
            <a:off x="666750" y="7290949"/>
            <a:ext cx="16954500" cy="2433321"/>
            <a:chOff x="0" y="0"/>
            <a:chExt cx="4465332" cy="640891"/>
          </a:xfrm>
        </p:grpSpPr>
        <p:sp>
          <p:nvSpPr>
            <p:cNvPr id="8" name="Freeform 8"/>
            <p:cNvSpPr/>
            <p:nvPr/>
          </p:nvSpPr>
          <p:spPr>
            <a:xfrm>
              <a:off x="0" y="0"/>
              <a:ext cx="4465332" cy="640891"/>
            </a:xfrm>
            <a:custGeom>
              <a:avLst/>
              <a:gdLst/>
              <a:ahLst/>
              <a:cxnLst/>
              <a:rect l="l" t="t" r="r" b="b"/>
              <a:pathLst>
                <a:path w="4465332" h="640891">
                  <a:moveTo>
                    <a:pt x="4465332" y="9133"/>
                  </a:moveTo>
                  <a:lnTo>
                    <a:pt x="4465332" y="631758"/>
                  </a:lnTo>
                  <a:cubicBezTo>
                    <a:pt x="4465332" y="634180"/>
                    <a:pt x="4464370" y="636503"/>
                    <a:pt x="4462657" y="638216"/>
                  </a:cubicBezTo>
                  <a:cubicBezTo>
                    <a:pt x="4460944" y="639928"/>
                    <a:pt x="4458622" y="640891"/>
                    <a:pt x="4456200" y="640891"/>
                  </a:cubicBezTo>
                  <a:lnTo>
                    <a:pt x="9133" y="640891"/>
                  </a:lnTo>
                  <a:cubicBezTo>
                    <a:pt x="6710" y="640891"/>
                    <a:pt x="4388" y="639928"/>
                    <a:pt x="2675" y="638216"/>
                  </a:cubicBezTo>
                  <a:cubicBezTo>
                    <a:pt x="962" y="636503"/>
                    <a:pt x="0" y="634180"/>
                    <a:pt x="0" y="631758"/>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08FFA7"/>
            </a:solidFill>
            <a:ln cap="sq">
              <a:noFill/>
              <a:prstDash val="solid"/>
              <a:miter/>
            </a:ln>
          </p:spPr>
          <p:txBody>
            <a:bodyPr/>
            <a:lstStyle/>
            <a:p>
              <a:endParaRPr lang="en-US"/>
            </a:p>
          </p:txBody>
        </p:sp>
        <p:sp>
          <p:nvSpPr>
            <p:cNvPr id="9" name="TextBox 9"/>
            <p:cNvSpPr txBox="1"/>
            <p:nvPr/>
          </p:nvSpPr>
          <p:spPr>
            <a:xfrm>
              <a:off x="0" y="0"/>
              <a:ext cx="4465332" cy="640891"/>
            </a:xfrm>
            <a:prstGeom prst="rect">
              <a:avLst/>
            </a:prstGeom>
          </p:spPr>
          <p:txBody>
            <a:bodyPr lIns="254000" tIns="254000" rIns="254000" bIns="254000" rtlCol="0" anchor="ctr"/>
            <a:lstStyle/>
            <a:p>
              <a:pPr algn="l">
                <a:lnSpc>
                  <a:spcPts val="3920"/>
                </a:lnSpc>
              </a:pPr>
              <a:r>
                <a:rPr lang="en-US" sz="2800" b="1" spc="-84" dirty="0">
                  <a:solidFill>
                    <a:srgbClr val="000000"/>
                  </a:solidFill>
                  <a:latin typeface="TT Fors Bold"/>
                  <a:ea typeface="TT Fors Bold"/>
                  <a:cs typeface="TT Fors Bold"/>
                  <a:sym typeface="TT Fors Bold"/>
                </a:rPr>
                <a:t>Real-World Analogy: </a:t>
              </a:r>
            </a:p>
            <a:p>
              <a:pPr algn="l">
                <a:lnSpc>
                  <a:spcPts val="3920"/>
                </a:lnSpc>
              </a:pPr>
              <a:r>
                <a:rPr lang="en-US" sz="2800" b="1" spc="-84" dirty="0">
                  <a:solidFill>
                    <a:srgbClr val="000000"/>
                  </a:solidFill>
                  <a:latin typeface="TT Fors Bold"/>
                  <a:ea typeface="TT Fors Bold"/>
                  <a:cs typeface="TT Fors Bold"/>
                  <a:sym typeface="TT Fors Bold"/>
                </a:rPr>
                <a:t>🏠 </a:t>
              </a:r>
              <a:r>
                <a:rPr lang="en-US" sz="2800" spc="-84" dirty="0">
                  <a:solidFill>
                    <a:srgbClr val="000000"/>
                  </a:solidFill>
                  <a:latin typeface="TT Fors"/>
                  <a:ea typeface="TT Fors"/>
                  <a:cs typeface="TT Fors"/>
                  <a:sym typeface="TT Fors"/>
                </a:rPr>
                <a:t>Like a </a:t>
              </a:r>
              <a:r>
                <a:rPr lang="en-US" sz="2800" b="1" spc="-84" dirty="0">
                  <a:solidFill>
                    <a:srgbClr val="000000"/>
                  </a:solidFill>
                  <a:latin typeface="TT Fors Bold"/>
                  <a:ea typeface="TT Fors Bold"/>
                  <a:cs typeface="TT Fors Bold"/>
                  <a:sym typeface="TT Fors Bold"/>
                </a:rPr>
                <a:t>thief</a:t>
              </a:r>
              <a:r>
                <a:rPr lang="en-US" sz="2800" spc="-84" dirty="0">
                  <a:solidFill>
                    <a:srgbClr val="000000"/>
                  </a:solidFill>
                  <a:latin typeface="TT Fors"/>
                  <a:ea typeface="TT Fors"/>
                  <a:cs typeface="TT Fors"/>
                  <a:sym typeface="TT Fors"/>
                </a:rPr>
                <a:t> studying a building's layout, security systems, and schedules before attempting a break-in. </a:t>
              </a:r>
            </a:p>
            <a:p>
              <a:pPr algn="l">
                <a:lnSpc>
                  <a:spcPts val="3920"/>
                </a:lnSpc>
              </a:pPr>
              <a:r>
                <a:rPr lang="en-US" sz="2800" spc="-84" dirty="0">
                  <a:solidFill>
                    <a:srgbClr val="000000"/>
                  </a:solidFill>
                  <a:latin typeface="TT Fors"/>
                  <a:ea typeface="TT Fors"/>
                  <a:cs typeface="TT Fors"/>
                  <a:sym typeface="TT Fors"/>
                </a:rPr>
                <a:t>♟️ </a:t>
              </a:r>
              <a:r>
                <a:rPr lang="en-US" sz="2800" b="1" spc="-84" dirty="0">
                  <a:solidFill>
                    <a:srgbClr val="000000"/>
                  </a:solidFill>
                  <a:latin typeface="TT Fors Bold"/>
                  <a:ea typeface="TT Fors Bold"/>
                  <a:cs typeface="TT Fors Bold"/>
                  <a:sym typeface="TT Fors Bold"/>
                </a:rPr>
                <a:t>Chess player:</a:t>
              </a:r>
              <a:r>
                <a:rPr lang="en-US" sz="2800" spc="-84" dirty="0">
                  <a:solidFill>
                    <a:srgbClr val="000000"/>
                  </a:solidFill>
                  <a:latin typeface="TT Fors"/>
                  <a:ea typeface="TT Fors"/>
                  <a:cs typeface="TT Fors"/>
                  <a:sym typeface="TT Fors"/>
                </a:rPr>
                <a:t> Studies opponent's strategy. </a:t>
              </a:r>
            </a:p>
            <a:p>
              <a:pPr algn="l">
                <a:lnSpc>
                  <a:spcPts val="3920"/>
                </a:lnSpc>
              </a:pPr>
              <a:r>
                <a:rPr lang="en-US" sz="2800" spc="-84" dirty="0">
                  <a:solidFill>
                    <a:srgbClr val="000000"/>
                  </a:solidFill>
                  <a:latin typeface="TT Fors"/>
                  <a:ea typeface="TT Fors"/>
                  <a:cs typeface="TT Fors"/>
                  <a:sym typeface="TT Fors"/>
                </a:rPr>
                <a:t>🎯 </a:t>
              </a:r>
              <a:r>
                <a:rPr lang="en-US" sz="2800" b="1" spc="-84" dirty="0">
                  <a:solidFill>
                    <a:srgbClr val="000000"/>
                  </a:solidFill>
                  <a:latin typeface="TT Fors Bold"/>
                  <a:ea typeface="TT Fors Bold"/>
                  <a:cs typeface="TT Fors Bold"/>
                  <a:sym typeface="TT Fors Bold"/>
                </a:rPr>
                <a:t>Military:</a:t>
              </a:r>
              <a:r>
                <a:rPr lang="en-US" sz="2800" spc="-84" dirty="0">
                  <a:solidFill>
                    <a:srgbClr val="000000"/>
                  </a:solidFill>
                  <a:latin typeface="TT Fors"/>
                  <a:ea typeface="TT Fors"/>
                  <a:cs typeface="TT Fors"/>
                  <a:sym typeface="TT Fors"/>
                </a:rPr>
                <a:t> Gathers intel before attack.</a:t>
              </a:r>
            </a:p>
          </p:txBody>
        </p:sp>
      </p:grpSp>
      <p:grpSp>
        <p:nvGrpSpPr>
          <p:cNvPr id="10" name="Group 10"/>
          <p:cNvGrpSpPr/>
          <p:nvPr/>
        </p:nvGrpSpPr>
        <p:grpSpPr>
          <a:xfrm>
            <a:off x="16115522" y="751544"/>
            <a:ext cx="1505728" cy="810556"/>
            <a:chOff x="0" y="0"/>
            <a:chExt cx="2007638" cy="1080741"/>
          </a:xfrm>
        </p:grpSpPr>
        <p:grpSp>
          <p:nvGrpSpPr>
            <p:cNvPr id="11" name="Group 11"/>
            <p:cNvGrpSpPr/>
            <p:nvPr/>
          </p:nvGrpSpPr>
          <p:grpSpPr>
            <a:xfrm>
              <a:off x="0" y="0"/>
              <a:ext cx="1080741" cy="108074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926897" y="0"/>
              <a:ext cx="1080741" cy="1080741"/>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7" name="Freeform 17"/>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Freeform 18"/>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2960454"/>
            <a:ext cx="12080341" cy="2190748"/>
            <a:chOff x="0" y="0"/>
            <a:chExt cx="16107122" cy="2920998"/>
          </a:xfrm>
        </p:grpSpPr>
        <p:sp>
          <p:nvSpPr>
            <p:cNvPr id="3" name="TextBox 3"/>
            <p:cNvSpPr txBox="1"/>
            <p:nvPr/>
          </p:nvSpPr>
          <p:spPr>
            <a:xfrm>
              <a:off x="0" y="728978"/>
              <a:ext cx="16107122" cy="21920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FFA8"/>
                  </a:solidFill>
                  <a:latin typeface="TT Fors"/>
                  <a:ea typeface="TT Fors"/>
                  <a:cs typeface="TT Fors"/>
                  <a:sym typeface="TT Fors"/>
                </a:rPr>
                <a:t>Gathering information through social media platforms</a:t>
              </a:r>
            </a:p>
            <a:p>
              <a:pPr marL="518162" lvl="1" indent="-259081" algn="l">
                <a:lnSpc>
                  <a:spcPts val="3360"/>
                </a:lnSpc>
                <a:buFont typeface="Arial"/>
                <a:buChar char="•"/>
              </a:pPr>
              <a:r>
                <a:rPr lang="en-US" sz="2400">
                  <a:solidFill>
                    <a:srgbClr val="00FFA8"/>
                  </a:solidFill>
                  <a:latin typeface="TT Fors"/>
                  <a:ea typeface="TT Fors"/>
                  <a:cs typeface="TT Fors"/>
                  <a:sym typeface="TT Fors"/>
                </a:rPr>
                <a:t>Monitoring employee posts and activities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Identifying organizational relationships</a:t>
              </a:r>
            </a:p>
            <a:p>
              <a:pPr marL="518162" lvl="1" indent="-259081" algn="l">
                <a:lnSpc>
                  <a:spcPts val="3360"/>
                </a:lnSpc>
                <a:buFont typeface="Arial"/>
                <a:buChar char="•"/>
              </a:pPr>
              <a:r>
                <a:rPr lang="en-US" sz="2400">
                  <a:solidFill>
                    <a:srgbClr val="FFFFFF"/>
                  </a:solidFill>
                  <a:latin typeface="TT Fors"/>
                  <a:ea typeface="TT Fors"/>
                  <a:cs typeface="TT Fors"/>
                  <a:sym typeface="TT Fors"/>
                </a:rPr>
                <a:t>Example: LinkedIn for employee roles, Facebook for personal details</a:t>
              </a:r>
            </a:p>
          </p:txBody>
        </p:sp>
        <p:sp>
          <p:nvSpPr>
            <p:cNvPr id="4" name="TextBox 4"/>
            <p:cNvSpPr txBox="1"/>
            <p:nvPr/>
          </p:nvSpPr>
          <p:spPr>
            <a:xfrm>
              <a:off x="0" y="-180975"/>
              <a:ext cx="16107122"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1. Social Reconnaissance</a:t>
              </a:r>
            </a:p>
          </p:txBody>
        </p:sp>
      </p:grpSp>
      <p:grpSp>
        <p:nvGrpSpPr>
          <p:cNvPr id="5" name="Group 5"/>
          <p:cNvGrpSpPr/>
          <p:nvPr/>
        </p:nvGrpSpPr>
        <p:grpSpPr>
          <a:xfrm>
            <a:off x="666750" y="5460765"/>
            <a:ext cx="12080341" cy="2190748"/>
            <a:chOff x="0" y="0"/>
            <a:chExt cx="16107122" cy="2920998"/>
          </a:xfrm>
        </p:grpSpPr>
        <p:sp>
          <p:nvSpPr>
            <p:cNvPr id="6" name="TextBox 6"/>
            <p:cNvSpPr txBox="1"/>
            <p:nvPr/>
          </p:nvSpPr>
          <p:spPr>
            <a:xfrm>
              <a:off x="0" y="728978"/>
              <a:ext cx="16107122" cy="21920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FFA8"/>
                  </a:solidFill>
                  <a:latin typeface="TT Fors"/>
                  <a:ea typeface="TT Fors"/>
                  <a:cs typeface="TT Fors"/>
                  <a:sym typeface="TT Fors"/>
                </a:rPr>
                <a:t>Using publicly available information</a:t>
              </a:r>
            </a:p>
            <a:p>
              <a:pPr marL="518162" lvl="1" indent="-259081" algn="l">
                <a:lnSpc>
                  <a:spcPts val="3360"/>
                </a:lnSpc>
                <a:buFont typeface="Arial"/>
                <a:buChar char="•"/>
              </a:pPr>
              <a:r>
                <a:rPr lang="en-US" sz="2400">
                  <a:solidFill>
                    <a:srgbClr val="00FFA8"/>
                  </a:solidFill>
                  <a:latin typeface="TT Fors"/>
                  <a:ea typeface="TT Fors"/>
                  <a:cs typeface="TT Fors"/>
                  <a:sym typeface="TT Fors"/>
                </a:rPr>
                <a:t>Company websites, news articles, press releases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Public databases and records</a:t>
              </a:r>
            </a:p>
            <a:p>
              <a:pPr marL="518162" lvl="1" indent="-259081" algn="l">
                <a:lnSpc>
                  <a:spcPts val="3360"/>
                </a:lnSpc>
                <a:buFont typeface="Arial"/>
                <a:buChar char="•"/>
              </a:pPr>
              <a:r>
                <a:rPr lang="en-US" sz="2400">
                  <a:solidFill>
                    <a:srgbClr val="FFFFFF"/>
                  </a:solidFill>
                  <a:latin typeface="TT Fors"/>
                  <a:ea typeface="TT Fors"/>
                  <a:cs typeface="TT Fors"/>
                  <a:sym typeface="TT Fors"/>
                </a:rPr>
                <a:t>Example: Company website revealing technology partners</a:t>
              </a:r>
            </a:p>
          </p:txBody>
        </p:sp>
        <p:sp>
          <p:nvSpPr>
            <p:cNvPr id="7" name="TextBox 7"/>
            <p:cNvSpPr txBox="1"/>
            <p:nvPr/>
          </p:nvSpPr>
          <p:spPr>
            <a:xfrm>
              <a:off x="0" y="-180975"/>
              <a:ext cx="16107122"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2. Public Reconnaissance</a:t>
              </a:r>
            </a:p>
          </p:txBody>
        </p:sp>
      </p:grpSp>
      <p:grpSp>
        <p:nvGrpSpPr>
          <p:cNvPr id="8" name="Group 8"/>
          <p:cNvGrpSpPr/>
          <p:nvPr/>
        </p:nvGrpSpPr>
        <p:grpSpPr>
          <a:xfrm>
            <a:off x="666750" y="7961076"/>
            <a:ext cx="12080341" cy="1771648"/>
            <a:chOff x="0" y="0"/>
            <a:chExt cx="16107122" cy="2362198"/>
          </a:xfrm>
        </p:grpSpPr>
        <p:sp>
          <p:nvSpPr>
            <p:cNvPr id="9" name="TextBox 9"/>
            <p:cNvSpPr txBox="1"/>
            <p:nvPr/>
          </p:nvSpPr>
          <p:spPr>
            <a:xfrm>
              <a:off x="0" y="728978"/>
              <a:ext cx="16107122" cy="16332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FFA8"/>
                  </a:solidFill>
                  <a:latin typeface="TT Fors"/>
                  <a:ea typeface="TT Fors"/>
                  <a:cs typeface="TT Fors"/>
                  <a:sym typeface="TT Fors"/>
                </a:rPr>
                <a:t>Using technical tools and methods</a:t>
              </a:r>
            </a:p>
            <a:p>
              <a:pPr marL="518162" lvl="1" indent="-259081" algn="l">
                <a:lnSpc>
                  <a:spcPts val="3360"/>
                </a:lnSpc>
                <a:buFont typeface="Arial"/>
                <a:buChar char="•"/>
              </a:pPr>
              <a:r>
                <a:rPr lang="en-US" sz="2400">
                  <a:solidFill>
                    <a:srgbClr val="00FFA8"/>
                  </a:solidFill>
                  <a:latin typeface="TT Fors"/>
                  <a:ea typeface="TT Fors"/>
                  <a:cs typeface="TT Fors"/>
                  <a:sym typeface="TT Fors"/>
                </a:rPr>
                <a:t>Network scanning, DNS queries, port scanning</a:t>
              </a:r>
            </a:p>
            <a:p>
              <a:pPr marL="518162" lvl="1" indent="-259081" algn="l">
                <a:lnSpc>
                  <a:spcPts val="3360"/>
                </a:lnSpc>
                <a:buFont typeface="Arial"/>
                <a:buChar char="•"/>
              </a:pPr>
              <a:r>
                <a:rPr lang="en-US" sz="2400">
                  <a:solidFill>
                    <a:srgbClr val="FFFFFF"/>
                  </a:solidFill>
                  <a:latin typeface="TT Fors"/>
                  <a:ea typeface="TT Fors"/>
                  <a:cs typeface="TT Fors"/>
                  <a:sym typeface="TT Fors"/>
                </a:rPr>
                <a:t>Example: Using Nmap to identify open ports</a:t>
              </a:r>
            </a:p>
          </p:txBody>
        </p:sp>
        <p:sp>
          <p:nvSpPr>
            <p:cNvPr id="10" name="TextBox 10"/>
            <p:cNvSpPr txBox="1"/>
            <p:nvPr/>
          </p:nvSpPr>
          <p:spPr>
            <a:xfrm>
              <a:off x="0" y="-180975"/>
              <a:ext cx="16107122"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3. Software/Technical Reconnaissance</a:t>
              </a:r>
            </a:p>
          </p:txBody>
        </p:sp>
      </p:grpSp>
      <p:sp>
        <p:nvSpPr>
          <p:cNvPr id="11" name="TextBox 11"/>
          <p:cNvSpPr txBox="1"/>
          <p:nvPr/>
        </p:nvSpPr>
        <p:spPr>
          <a:xfrm>
            <a:off x="666750" y="657225"/>
            <a:ext cx="13911071"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Type</a:t>
            </a:r>
            <a:r>
              <a:rPr lang="en-US" sz="6000" u="none" strike="noStrike" spc="-179">
                <a:solidFill>
                  <a:srgbClr val="00FFA8"/>
                </a:solidFill>
                <a:latin typeface="ITC Avant Garde Gothic"/>
                <a:ea typeface="ITC Avant Garde Gothic"/>
                <a:cs typeface="ITC Avant Garde Gothic"/>
                <a:sym typeface="ITC Avant Garde Gothic"/>
              </a:rPr>
              <a:t>s of Recon</a:t>
            </a:r>
          </a:p>
        </p:txBody>
      </p:sp>
      <p:grpSp>
        <p:nvGrpSpPr>
          <p:cNvPr id="12" name="Group 12"/>
          <p:cNvGrpSpPr/>
          <p:nvPr/>
        </p:nvGrpSpPr>
        <p:grpSpPr>
          <a:xfrm>
            <a:off x="16115522" y="751544"/>
            <a:ext cx="1505728" cy="810556"/>
            <a:chOff x="0" y="0"/>
            <a:chExt cx="2007638" cy="1080741"/>
          </a:xfrm>
        </p:grpSpPr>
        <p:grpSp>
          <p:nvGrpSpPr>
            <p:cNvPr id="13" name="Group 13"/>
            <p:cNvGrpSpPr/>
            <p:nvPr/>
          </p:nvGrpSpPr>
          <p:grpSpPr>
            <a:xfrm>
              <a:off x="0" y="0"/>
              <a:ext cx="1080741" cy="108074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926897" y="0"/>
              <a:ext cx="1080741" cy="108074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9" name="Freeform 19"/>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Freeform 20"/>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21" name="TextBox 21"/>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Three Main</a:t>
            </a:r>
            <a:r>
              <a:rPr lang="en-US" sz="3199" b="1" u="none" strike="noStrike" spc="-95">
                <a:solidFill>
                  <a:srgbClr val="00FFA8"/>
                </a:solidFill>
                <a:latin typeface="TT Fors Bold"/>
                <a:ea typeface="TT Fors Bold"/>
                <a:cs typeface="TT Fors Bold"/>
                <a:sym typeface="TT Fors Bold"/>
              </a:rPr>
              <a:t> Categories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4183502"/>
            <a:ext cx="9667753" cy="4090036"/>
            <a:chOff x="0" y="0"/>
            <a:chExt cx="12890337" cy="5453381"/>
          </a:xfrm>
        </p:grpSpPr>
        <p:sp>
          <p:nvSpPr>
            <p:cNvPr id="3" name="TextBox 3"/>
            <p:cNvSpPr txBox="1"/>
            <p:nvPr/>
          </p:nvSpPr>
          <p:spPr>
            <a:xfrm>
              <a:off x="0" y="868257"/>
              <a:ext cx="12890337" cy="4585123"/>
            </a:xfrm>
            <a:prstGeom prst="rect">
              <a:avLst/>
            </a:prstGeom>
          </p:spPr>
          <p:txBody>
            <a:bodyPr lIns="0" tIns="0" rIns="0" bIns="0" rtlCol="0" anchor="t">
              <a:spAutoFit/>
            </a:bodyPr>
            <a:lstStyle/>
            <a:p>
              <a:pPr marL="604519" lvl="1" indent="-302260" algn="l">
                <a:lnSpc>
                  <a:spcPts val="3919"/>
                </a:lnSpc>
                <a:buFont typeface="Arial"/>
                <a:buChar char="•"/>
              </a:pPr>
              <a:r>
                <a:rPr lang="en-US" sz="2799">
                  <a:solidFill>
                    <a:srgbClr val="00FFA8"/>
                  </a:solidFill>
                  <a:latin typeface="TT Fors"/>
                  <a:ea typeface="TT Fors"/>
                  <a:cs typeface="TT Fors"/>
                  <a:sym typeface="TT Fors"/>
                </a:rPr>
                <a:t>Network architecture and topology</a:t>
              </a:r>
            </a:p>
            <a:p>
              <a:pPr marL="604519" lvl="1" indent="-302260" algn="l">
                <a:lnSpc>
                  <a:spcPts val="3919"/>
                </a:lnSpc>
                <a:buFont typeface="Arial"/>
                <a:buChar char="•"/>
              </a:pPr>
              <a:r>
                <a:rPr lang="en-US" sz="2799">
                  <a:solidFill>
                    <a:srgbClr val="00FFA8"/>
                  </a:solidFill>
                  <a:latin typeface="TT Fors"/>
                  <a:ea typeface="TT Fors"/>
                  <a:cs typeface="TT Fors"/>
                  <a:sym typeface="TT Fors"/>
                </a:rPr>
                <a:t>Domain and subdomain information</a:t>
              </a:r>
            </a:p>
            <a:p>
              <a:pPr marL="604519" lvl="1" indent="-302260" algn="l">
                <a:lnSpc>
                  <a:spcPts val="3919"/>
                </a:lnSpc>
                <a:buFont typeface="Arial"/>
                <a:buChar char="•"/>
              </a:pPr>
              <a:r>
                <a:rPr lang="en-US" sz="2799">
                  <a:solidFill>
                    <a:srgbClr val="00FFA8"/>
                  </a:solidFill>
                  <a:latin typeface="TT Fors"/>
                  <a:ea typeface="TT Fors"/>
                  <a:cs typeface="TT Fors"/>
                  <a:sym typeface="TT Fors"/>
                </a:rPr>
                <a:t>IP address ranges</a:t>
              </a:r>
            </a:p>
            <a:p>
              <a:pPr marL="604519" lvl="1" indent="-302260" algn="l">
                <a:lnSpc>
                  <a:spcPts val="3919"/>
                </a:lnSpc>
                <a:buFont typeface="Arial"/>
                <a:buChar char="•"/>
              </a:pPr>
              <a:r>
                <a:rPr lang="en-US" sz="2799">
                  <a:solidFill>
                    <a:srgbClr val="00FFA8"/>
                  </a:solidFill>
                  <a:latin typeface="TT Fors"/>
                  <a:ea typeface="TT Fors"/>
                  <a:cs typeface="TT Fors"/>
                  <a:sym typeface="TT Fors"/>
                </a:rPr>
                <a:t>Employee information</a:t>
              </a:r>
            </a:p>
            <a:p>
              <a:pPr marL="604519" lvl="1" indent="-302260" algn="l">
                <a:lnSpc>
                  <a:spcPts val="3919"/>
                </a:lnSpc>
                <a:buFont typeface="Arial"/>
                <a:buChar char="•"/>
              </a:pPr>
              <a:r>
                <a:rPr lang="en-US" sz="2799">
                  <a:solidFill>
                    <a:srgbClr val="00FFA8"/>
                  </a:solidFill>
                  <a:latin typeface="TT Fors"/>
                  <a:ea typeface="TT Fors"/>
                  <a:cs typeface="TT Fors"/>
                  <a:sym typeface="TT Fors"/>
                </a:rPr>
                <a:t>Technology stack (operating systems, applications)</a:t>
              </a:r>
            </a:p>
            <a:p>
              <a:pPr marL="604519" lvl="1" indent="-302260" algn="l">
                <a:lnSpc>
                  <a:spcPts val="3919"/>
                </a:lnSpc>
                <a:buFont typeface="Arial"/>
                <a:buChar char="•"/>
              </a:pPr>
              <a:r>
                <a:rPr lang="en-US" sz="2799">
                  <a:solidFill>
                    <a:srgbClr val="00FFA8"/>
                  </a:solidFill>
                  <a:latin typeface="TT Fors"/>
                  <a:ea typeface="TT Fors"/>
                  <a:cs typeface="TT Fors"/>
                  <a:sym typeface="TT Fors"/>
                </a:rPr>
                <a:t>Security mechanisms in place</a:t>
              </a:r>
            </a:p>
            <a:p>
              <a:pPr marL="604519" lvl="1" indent="-302260" algn="l">
                <a:lnSpc>
                  <a:spcPts val="3919"/>
                </a:lnSpc>
                <a:buFont typeface="Arial"/>
                <a:buChar char="•"/>
              </a:pPr>
              <a:r>
                <a:rPr lang="en-US" sz="2799">
                  <a:solidFill>
                    <a:srgbClr val="00FFA8"/>
                  </a:solidFill>
                  <a:latin typeface="TT Fors"/>
                  <a:ea typeface="TT Fors"/>
                  <a:cs typeface="TT Fors"/>
                  <a:sym typeface="TT Fors"/>
                </a:rPr>
                <a:t>Physical location details</a:t>
              </a:r>
            </a:p>
          </p:txBody>
        </p:sp>
        <p:sp>
          <p:nvSpPr>
            <p:cNvPr id="4" name="TextBox 4"/>
            <p:cNvSpPr txBox="1"/>
            <p:nvPr/>
          </p:nvSpPr>
          <p:spPr>
            <a:xfrm>
              <a:off x="0" y="-238125"/>
              <a:ext cx="12890337" cy="884132"/>
            </a:xfrm>
            <a:prstGeom prst="rect">
              <a:avLst/>
            </a:prstGeom>
          </p:spPr>
          <p:txBody>
            <a:bodyPr lIns="0" tIns="0" rIns="0" bIns="0" rtlCol="0" anchor="t">
              <a:spAutoFit/>
            </a:bodyPr>
            <a:lstStyle/>
            <a:p>
              <a:pPr algn="l">
                <a:lnSpc>
                  <a:spcPts val="6399"/>
                </a:lnSpc>
              </a:pPr>
              <a:r>
                <a:rPr lang="en-US" sz="3199" b="1" spc="-95">
                  <a:solidFill>
                    <a:srgbClr val="00FFA8"/>
                  </a:solidFill>
                  <a:latin typeface="TT Fors Bold"/>
                  <a:ea typeface="TT Fors Bold"/>
                  <a:cs typeface="TT Fors Bold"/>
                  <a:sym typeface="TT Fors Bold"/>
                </a:rPr>
                <a:t>What attackers look f</a:t>
              </a:r>
              <a:r>
                <a:rPr lang="en-US" sz="3199" b="1" u="none" strike="noStrike" spc="-95">
                  <a:solidFill>
                    <a:srgbClr val="00FFA8"/>
                  </a:solidFill>
                  <a:latin typeface="TT Fors Bold"/>
                  <a:ea typeface="TT Fors Bold"/>
                  <a:cs typeface="TT Fors Bold"/>
                  <a:sym typeface="TT Fors Bold"/>
                </a:rPr>
                <a:t>or:</a:t>
              </a:r>
            </a:p>
          </p:txBody>
        </p:sp>
      </p:grpSp>
      <p:sp>
        <p:nvSpPr>
          <p:cNvPr id="5" name="TextBox 5"/>
          <p:cNvSpPr txBox="1"/>
          <p:nvPr/>
        </p:nvSpPr>
        <p:spPr>
          <a:xfrm>
            <a:off x="666750" y="657225"/>
            <a:ext cx="13911071" cy="923925"/>
          </a:xfrm>
          <a:prstGeom prst="rect">
            <a:avLst/>
          </a:prstGeom>
        </p:spPr>
        <p:txBody>
          <a:bodyPr lIns="0" tIns="0" rIns="0" bIns="0" rtlCol="0" anchor="t">
            <a:spAutoFit/>
          </a:bodyPr>
          <a:lstStyle/>
          <a:p>
            <a:pPr marL="0" lvl="0" indent="0" algn="l">
              <a:lnSpc>
                <a:spcPts val="6000"/>
              </a:lnSpc>
              <a:spcBef>
                <a:spcPct val="0"/>
              </a:spcBef>
            </a:pPr>
            <a:r>
              <a:rPr lang="en-US" sz="6000" u="none" strike="noStrike" spc="-179">
                <a:solidFill>
                  <a:srgbClr val="00FFA8"/>
                </a:solidFill>
                <a:latin typeface="ITC Avant Garde Gothic"/>
                <a:ea typeface="ITC Avant Garde Gothic"/>
                <a:cs typeface="ITC Avant Garde Gothic"/>
                <a:sym typeface="ITC Avant Garde Gothic"/>
              </a:rPr>
              <a:t>What is Footprinting?</a:t>
            </a:r>
          </a:p>
        </p:txBody>
      </p:sp>
      <p:sp>
        <p:nvSpPr>
          <p:cNvPr id="6" name="TextBox 6"/>
          <p:cNvSpPr txBox="1"/>
          <p:nvPr/>
        </p:nvSpPr>
        <p:spPr>
          <a:xfrm>
            <a:off x="666750" y="2906139"/>
            <a:ext cx="16954500" cy="971550"/>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FFFFFF"/>
                </a:solidFill>
                <a:latin typeface="TT Fors Bold"/>
                <a:ea typeface="TT Fors Bold"/>
                <a:cs typeface="TT Fors Bold"/>
                <a:sym typeface="TT Fors Bold"/>
              </a:rPr>
              <a:t>Footprinting: </a:t>
            </a:r>
            <a:r>
              <a:rPr lang="en-US" sz="3199" spc="-95">
                <a:solidFill>
                  <a:srgbClr val="FFFFFF"/>
                </a:solidFill>
                <a:latin typeface="TT Fors"/>
                <a:ea typeface="TT Fors"/>
                <a:cs typeface="TT Fors"/>
                <a:sym typeface="TT Fors"/>
              </a:rPr>
              <a:t>Coll</a:t>
            </a:r>
            <a:r>
              <a:rPr lang="en-US" sz="3199" u="none" strike="noStrike" spc="-95">
                <a:solidFill>
                  <a:srgbClr val="FFFFFF"/>
                </a:solidFill>
                <a:latin typeface="TT Fors"/>
                <a:ea typeface="TT Fors"/>
                <a:cs typeface="TT Fors"/>
                <a:sym typeface="TT Fors"/>
              </a:rPr>
              <a:t>ecting information about a target to create a comprehensive profile or "footprint."</a:t>
            </a:r>
          </a:p>
        </p:txBody>
      </p:sp>
      <p:grpSp>
        <p:nvGrpSpPr>
          <p:cNvPr id="7" name="Group 7"/>
          <p:cNvGrpSpPr/>
          <p:nvPr/>
        </p:nvGrpSpPr>
        <p:grpSpPr>
          <a:xfrm>
            <a:off x="666750" y="8784590"/>
            <a:ext cx="16954500" cy="947421"/>
            <a:chOff x="0" y="0"/>
            <a:chExt cx="4465332" cy="249533"/>
          </a:xfrm>
        </p:grpSpPr>
        <p:sp>
          <p:nvSpPr>
            <p:cNvPr id="8" name="Freeform 8"/>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9" name="TextBox 9"/>
            <p:cNvSpPr txBox="1"/>
            <p:nvPr/>
          </p:nvSpPr>
          <p:spPr>
            <a:xfrm>
              <a:off x="0" y="0"/>
              <a:ext cx="4465332" cy="249533"/>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Outcome:</a:t>
              </a:r>
              <a:r>
                <a:rPr lang="en-US" sz="2800" spc="-84" dirty="0">
                  <a:solidFill>
                    <a:srgbClr val="FFFFFF"/>
                  </a:solidFill>
                  <a:latin typeface="TT Fors"/>
                  <a:ea typeface="TT Fors"/>
                  <a:cs typeface="TT Fors"/>
                  <a:sym typeface="TT Fors"/>
                </a:rPr>
                <a:t> A detailed blueprint of the target environment.</a:t>
              </a:r>
            </a:p>
          </p:txBody>
        </p:sp>
      </p:grpSp>
      <p:grpSp>
        <p:nvGrpSpPr>
          <p:cNvPr id="10" name="Group 10"/>
          <p:cNvGrpSpPr/>
          <p:nvPr/>
        </p:nvGrpSpPr>
        <p:grpSpPr>
          <a:xfrm>
            <a:off x="16115522" y="751544"/>
            <a:ext cx="1505728" cy="810556"/>
            <a:chOff x="0" y="0"/>
            <a:chExt cx="2007638" cy="1080741"/>
          </a:xfrm>
        </p:grpSpPr>
        <p:grpSp>
          <p:nvGrpSpPr>
            <p:cNvPr id="11" name="Group 11"/>
            <p:cNvGrpSpPr/>
            <p:nvPr/>
          </p:nvGrpSpPr>
          <p:grpSpPr>
            <a:xfrm>
              <a:off x="0" y="0"/>
              <a:ext cx="1080741" cy="108074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926897" y="0"/>
              <a:ext cx="1080741" cy="1080741"/>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7" name="Freeform 17"/>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Freeform 18"/>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9" name="TextBox 19"/>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The Foundation</a:t>
            </a:r>
            <a:r>
              <a:rPr lang="en-US" sz="3199" b="1" u="none" strike="noStrike" spc="-95">
                <a:solidFill>
                  <a:srgbClr val="00FFA8"/>
                </a:solidFill>
                <a:latin typeface="TT Fors Bold"/>
                <a:ea typeface="TT Fors Bold"/>
                <a:cs typeface="TT Fors Bold"/>
                <a:sym typeface="TT Fors Bold"/>
              </a:rPr>
              <a:t> of Reconnaissance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2960454"/>
            <a:ext cx="12080341" cy="2190748"/>
            <a:chOff x="0" y="0"/>
            <a:chExt cx="16107122" cy="2920998"/>
          </a:xfrm>
        </p:grpSpPr>
        <p:sp>
          <p:nvSpPr>
            <p:cNvPr id="3" name="TextBox 3"/>
            <p:cNvSpPr txBox="1"/>
            <p:nvPr/>
          </p:nvSpPr>
          <p:spPr>
            <a:xfrm>
              <a:off x="0" y="728978"/>
              <a:ext cx="16107122" cy="21920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FFA8"/>
                  </a:solidFill>
                  <a:latin typeface="TT Fors"/>
                  <a:ea typeface="TT Fors"/>
                  <a:cs typeface="TT Fors"/>
                  <a:sym typeface="TT Fors"/>
                </a:rPr>
                <a:t>Completely legal when using public sources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No logs left on target systems</a:t>
              </a:r>
            </a:p>
            <a:p>
              <a:pPr marL="518162" lvl="1" indent="-259081" algn="l">
                <a:lnSpc>
                  <a:spcPts val="3360"/>
                </a:lnSpc>
                <a:buFont typeface="Arial"/>
                <a:buChar char="•"/>
              </a:pPr>
              <a:r>
                <a:rPr lang="en-US" sz="2400">
                  <a:solidFill>
                    <a:srgbClr val="00FFA8"/>
                  </a:solidFill>
                  <a:latin typeface="TT Fors"/>
                  <a:ea typeface="TT Fors"/>
                  <a:cs typeface="TT Fors"/>
                  <a:sym typeface="TT Fors"/>
                </a:rPr>
                <a:t>Can be performed anonymously</a:t>
              </a:r>
            </a:p>
            <a:p>
              <a:pPr marL="518162" lvl="1" indent="-259081" algn="l">
                <a:lnSpc>
                  <a:spcPts val="3360"/>
                </a:lnSpc>
                <a:buFont typeface="Arial"/>
                <a:buChar char="•"/>
              </a:pPr>
              <a:r>
                <a:rPr lang="en-US" sz="2400">
                  <a:solidFill>
                    <a:srgbClr val="00FFA8"/>
                  </a:solidFill>
                  <a:latin typeface="TT Fors"/>
                  <a:ea typeface="TT Fors"/>
                  <a:cs typeface="TT Fors"/>
                  <a:sym typeface="TT Fors"/>
                </a:rPr>
                <a:t>Time-consuming but safe</a:t>
              </a:r>
            </a:p>
          </p:txBody>
        </p:sp>
        <p:sp>
          <p:nvSpPr>
            <p:cNvPr id="4" name="TextBox 4"/>
            <p:cNvSpPr txBox="1"/>
            <p:nvPr/>
          </p:nvSpPr>
          <p:spPr>
            <a:xfrm>
              <a:off x="0" y="-180975"/>
              <a:ext cx="16107122"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Characteristics:</a:t>
              </a:r>
            </a:p>
          </p:txBody>
        </p:sp>
      </p:grpSp>
      <p:grpSp>
        <p:nvGrpSpPr>
          <p:cNvPr id="5" name="Group 5"/>
          <p:cNvGrpSpPr/>
          <p:nvPr/>
        </p:nvGrpSpPr>
        <p:grpSpPr>
          <a:xfrm>
            <a:off x="666750" y="5460765"/>
            <a:ext cx="12080341" cy="3028948"/>
            <a:chOff x="0" y="0"/>
            <a:chExt cx="16107122" cy="4038598"/>
          </a:xfrm>
        </p:grpSpPr>
        <p:sp>
          <p:nvSpPr>
            <p:cNvPr id="6" name="TextBox 6"/>
            <p:cNvSpPr txBox="1"/>
            <p:nvPr/>
          </p:nvSpPr>
          <p:spPr>
            <a:xfrm>
              <a:off x="0" y="728978"/>
              <a:ext cx="16107122" cy="33096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FFA8"/>
                  </a:solidFill>
                  <a:latin typeface="TT Fors"/>
                  <a:ea typeface="TT Fors"/>
                  <a:cs typeface="TT Fors"/>
                  <a:sym typeface="TT Fors"/>
                </a:rPr>
                <a:t>Search engines (Google, Bing)</a:t>
              </a:r>
            </a:p>
            <a:p>
              <a:pPr marL="518162" lvl="1" indent="-259081" algn="l">
                <a:lnSpc>
                  <a:spcPts val="3360"/>
                </a:lnSpc>
                <a:buFont typeface="Arial"/>
                <a:buChar char="•"/>
              </a:pPr>
              <a:r>
                <a:rPr lang="en-US" sz="2400">
                  <a:solidFill>
                    <a:srgbClr val="00FFA8"/>
                  </a:solidFill>
                  <a:latin typeface="TT Fors"/>
                  <a:ea typeface="TT Fors"/>
                  <a:cs typeface="TT Fors"/>
                  <a:sym typeface="TT Fors"/>
                </a:rPr>
                <a:t>Social media platforms</a:t>
              </a:r>
            </a:p>
            <a:p>
              <a:pPr marL="518162" lvl="1" indent="-259081" algn="l">
                <a:lnSpc>
                  <a:spcPts val="3360"/>
                </a:lnSpc>
                <a:buFont typeface="Arial"/>
                <a:buChar char="•"/>
              </a:pPr>
              <a:r>
                <a:rPr lang="en-US" sz="2400">
                  <a:solidFill>
                    <a:srgbClr val="00FFA8"/>
                  </a:solidFill>
                  <a:latin typeface="TT Fors"/>
                  <a:ea typeface="TT Fors"/>
                  <a:cs typeface="TT Fors"/>
                  <a:sym typeface="TT Fors"/>
                </a:rPr>
                <a:t>Public databases (WHOIS, DNS records)</a:t>
              </a:r>
            </a:p>
            <a:p>
              <a:pPr marL="518162" lvl="1" indent="-259081" algn="l">
                <a:lnSpc>
                  <a:spcPts val="3360"/>
                </a:lnSpc>
                <a:buFont typeface="Arial"/>
                <a:buChar char="•"/>
              </a:pPr>
              <a:r>
                <a:rPr lang="en-US" sz="2400">
                  <a:solidFill>
                    <a:srgbClr val="00FFA8"/>
                  </a:solidFill>
                  <a:latin typeface="TT Fors"/>
                  <a:ea typeface="TT Fors"/>
                  <a:cs typeface="TT Fors"/>
                  <a:sym typeface="TT Fors"/>
                </a:rPr>
                <a:t>Company websites and documents</a:t>
              </a:r>
            </a:p>
            <a:p>
              <a:pPr marL="518162" lvl="1" indent="-259081" algn="l">
                <a:lnSpc>
                  <a:spcPts val="3360"/>
                </a:lnSpc>
                <a:buFont typeface="Arial"/>
                <a:buChar char="•"/>
              </a:pPr>
              <a:r>
                <a:rPr lang="en-US" sz="2400">
                  <a:solidFill>
                    <a:srgbClr val="00FFA8"/>
                  </a:solidFill>
                  <a:latin typeface="TT Fors"/>
                  <a:ea typeface="TT Fors"/>
                  <a:cs typeface="TT Fors"/>
                  <a:sym typeface="TT Fors"/>
                </a:rPr>
                <a:t>Job postings</a:t>
              </a:r>
            </a:p>
            <a:p>
              <a:pPr marL="518162" lvl="1" indent="-259081" algn="l">
                <a:lnSpc>
                  <a:spcPts val="3360"/>
                </a:lnSpc>
                <a:buFont typeface="Arial"/>
                <a:buChar char="•"/>
              </a:pPr>
              <a:r>
                <a:rPr lang="en-US" sz="2400">
                  <a:solidFill>
                    <a:srgbClr val="00FFA8"/>
                  </a:solidFill>
                  <a:latin typeface="TT Fors"/>
                  <a:ea typeface="TT Fors"/>
                  <a:cs typeface="TT Fors"/>
                  <a:sym typeface="TT Fors"/>
                </a:rPr>
                <a:t>Archive websites (Wayback Machine)</a:t>
              </a:r>
            </a:p>
          </p:txBody>
        </p:sp>
        <p:sp>
          <p:nvSpPr>
            <p:cNvPr id="7" name="TextBox 7"/>
            <p:cNvSpPr txBox="1"/>
            <p:nvPr/>
          </p:nvSpPr>
          <p:spPr>
            <a:xfrm>
              <a:off x="0" y="-180975"/>
              <a:ext cx="16107122"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Primary Sources:</a:t>
              </a:r>
            </a:p>
          </p:txBody>
        </p:sp>
      </p:grpSp>
      <p:sp>
        <p:nvSpPr>
          <p:cNvPr id="8" name="TextBox 8"/>
          <p:cNvSpPr txBox="1"/>
          <p:nvPr/>
        </p:nvSpPr>
        <p:spPr>
          <a:xfrm>
            <a:off x="666750" y="657225"/>
            <a:ext cx="15033595"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Pa</a:t>
            </a:r>
            <a:r>
              <a:rPr lang="en-US" sz="6000" u="none" strike="noStrike" spc="-179">
                <a:solidFill>
                  <a:srgbClr val="00FFA8"/>
                </a:solidFill>
                <a:latin typeface="ITC Avant Garde Gothic"/>
                <a:ea typeface="ITC Avant Garde Gothic"/>
                <a:cs typeface="ITC Avant Garde Gothic"/>
                <a:sym typeface="ITC Avant Garde Gothic"/>
              </a:rPr>
              <a:t>ssive Footprinting - Overview</a:t>
            </a:r>
          </a:p>
        </p:txBody>
      </p:sp>
      <p:grpSp>
        <p:nvGrpSpPr>
          <p:cNvPr id="9" name="Group 9"/>
          <p:cNvGrpSpPr/>
          <p:nvPr/>
        </p:nvGrpSpPr>
        <p:grpSpPr>
          <a:xfrm>
            <a:off x="16115522" y="751544"/>
            <a:ext cx="1505728" cy="810556"/>
            <a:chOff x="0" y="0"/>
            <a:chExt cx="2007638" cy="1080741"/>
          </a:xfrm>
        </p:grpSpPr>
        <p:grpSp>
          <p:nvGrpSpPr>
            <p:cNvPr id="10" name="Group 10"/>
            <p:cNvGrpSpPr/>
            <p:nvPr/>
          </p:nvGrpSpPr>
          <p:grpSpPr>
            <a:xfrm>
              <a:off x="0" y="0"/>
              <a:ext cx="1080741" cy="108074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926897" y="0"/>
              <a:ext cx="1080741" cy="108074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8" name="TextBox 18"/>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Non-Intrusive Information</a:t>
            </a:r>
            <a:r>
              <a:rPr lang="en-US" sz="3199" b="1" u="none" strike="noStrike" spc="-95">
                <a:solidFill>
                  <a:srgbClr val="00FFA8"/>
                </a:solidFill>
                <a:latin typeface="TT Fors Bold"/>
                <a:ea typeface="TT Fors Bold"/>
                <a:cs typeface="TT Fors Bold"/>
                <a:sym typeface="TT Fors Bold"/>
              </a:rPr>
              <a:t> Gathering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2960454"/>
            <a:ext cx="12080341" cy="2190748"/>
            <a:chOff x="0" y="0"/>
            <a:chExt cx="16107122" cy="2920998"/>
          </a:xfrm>
        </p:grpSpPr>
        <p:sp>
          <p:nvSpPr>
            <p:cNvPr id="3" name="TextBox 3"/>
            <p:cNvSpPr txBox="1"/>
            <p:nvPr/>
          </p:nvSpPr>
          <p:spPr>
            <a:xfrm>
              <a:off x="0" y="728978"/>
              <a:ext cx="16107122" cy="21920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FFA8"/>
                  </a:solidFill>
                  <a:latin typeface="TT Fors"/>
                  <a:ea typeface="TT Fors"/>
                  <a:cs typeface="TT Fors"/>
                  <a:sym typeface="TT Fors"/>
                </a:rPr>
                <a:t>Requires authorization in ethical hacking</a:t>
              </a:r>
            </a:p>
            <a:p>
              <a:pPr marL="518162" lvl="1" indent="-259081" algn="l">
                <a:lnSpc>
                  <a:spcPts val="3360"/>
                </a:lnSpc>
                <a:buFont typeface="Arial"/>
                <a:buChar char="•"/>
              </a:pPr>
              <a:r>
                <a:rPr lang="en-US" sz="2400">
                  <a:solidFill>
                    <a:srgbClr val="00FFA8"/>
                  </a:solidFill>
                  <a:latin typeface="TT Fors"/>
                  <a:ea typeface="TT Fors"/>
                  <a:cs typeface="TT Fors"/>
                  <a:sym typeface="TT Fors"/>
                </a:rPr>
                <a:t>Leaves traces in target logs</a:t>
              </a:r>
            </a:p>
            <a:p>
              <a:pPr marL="518162" lvl="1" indent="-259081" algn="l">
                <a:lnSpc>
                  <a:spcPts val="3360"/>
                </a:lnSpc>
                <a:buFont typeface="Arial"/>
                <a:buChar char="•"/>
              </a:pPr>
              <a:r>
                <a:rPr lang="en-US" sz="2400">
                  <a:solidFill>
                    <a:srgbClr val="00FFA8"/>
                  </a:solidFill>
                  <a:latin typeface="TT Fors"/>
                  <a:ea typeface="TT Fors"/>
                  <a:cs typeface="TT Fors"/>
                  <a:sym typeface="TT Fors"/>
                </a:rPr>
                <a:t>Provides more accurate and detailed data</a:t>
              </a:r>
            </a:p>
            <a:p>
              <a:pPr marL="518162" lvl="1" indent="-259081" algn="l">
                <a:lnSpc>
                  <a:spcPts val="3360"/>
                </a:lnSpc>
                <a:buFont typeface="Arial"/>
                <a:buChar char="•"/>
              </a:pPr>
              <a:r>
                <a:rPr lang="en-US" sz="2400">
                  <a:solidFill>
                    <a:srgbClr val="00FFA8"/>
                  </a:solidFill>
                  <a:latin typeface="TT Fors"/>
                  <a:ea typeface="TT Fors"/>
                  <a:cs typeface="TT Fors"/>
                  <a:sym typeface="TT Fors"/>
                </a:rPr>
                <a:t>Higher risk of triggering security alerts</a:t>
              </a:r>
            </a:p>
          </p:txBody>
        </p:sp>
        <p:sp>
          <p:nvSpPr>
            <p:cNvPr id="4" name="TextBox 4"/>
            <p:cNvSpPr txBox="1"/>
            <p:nvPr/>
          </p:nvSpPr>
          <p:spPr>
            <a:xfrm>
              <a:off x="0" y="-180975"/>
              <a:ext cx="16107122"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Characteristics:</a:t>
              </a:r>
            </a:p>
          </p:txBody>
        </p:sp>
      </p:grpSp>
      <p:grpSp>
        <p:nvGrpSpPr>
          <p:cNvPr id="5" name="Group 5"/>
          <p:cNvGrpSpPr/>
          <p:nvPr/>
        </p:nvGrpSpPr>
        <p:grpSpPr>
          <a:xfrm>
            <a:off x="666750" y="5460765"/>
            <a:ext cx="12080341" cy="3028948"/>
            <a:chOff x="0" y="0"/>
            <a:chExt cx="16107122" cy="4038598"/>
          </a:xfrm>
        </p:grpSpPr>
        <p:sp>
          <p:nvSpPr>
            <p:cNvPr id="6" name="TextBox 6"/>
            <p:cNvSpPr txBox="1"/>
            <p:nvPr/>
          </p:nvSpPr>
          <p:spPr>
            <a:xfrm>
              <a:off x="0" y="728978"/>
              <a:ext cx="16107122" cy="33096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FFA8"/>
                  </a:solidFill>
                  <a:latin typeface="TT Fors"/>
                  <a:ea typeface="TT Fors"/>
                  <a:cs typeface="TT Fors"/>
                  <a:sym typeface="TT Fors"/>
                </a:rPr>
                <a:t>Port scanning</a:t>
              </a:r>
            </a:p>
            <a:p>
              <a:pPr marL="518162" lvl="1" indent="-259081" algn="l">
                <a:lnSpc>
                  <a:spcPts val="3360"/>
                </a:lnSpc>
                <a:buFont typeface="Arial"/>
                <a:buChar char="•"/>
              </a:pPr>
              <a:r>
                <a:rPr lang="en-US" sz="2400">
                  <a:solidFill>
                    <a:srgbClr val="00FFA8"/>
                  </a:solidFill>
                  <a:latin typeface="TT Fors"/>
                  <a:ea typeface="TT Fors"/>
                  <a:cs typeface="TT Fors"/>
                  <a:sym typeface="TT Fors"/>
                </a:rPr>
                <a:t>Ping sweeps</a:t>
              </a:r>
            </a:p>
            <a:p>
              <a:pPr marL="518162" lvl="1" indent="-259081" algn="l">
                <a:lnSpc>
                  <a:spcPts val="3360"/>
                </a:lnSpc>
                <a:buFont typeface="Arial"/>
                <a:buChar char="•"/>
              </a:pPr>
              <a:r>
                <a:rPr lang="en-US" sz="2400">
                  <a:solidFill>
                    <a:srgbClr val="00FFA8"/>
                  </a:solidFill>
                  <a:latin typeface="TT Fors"/>
                  <a:ea typeface="TT Fors"/>
                  <a:cs typeface="TT Fors"/>
                  <a:sym typeface="TT Fors"/>
                </a:rPr>
                <a:t>Traceroute mapping</a:t>
              </a:r>
            </a:p>
            <a:p>
              <a:pPr marL="518162" lvl="1" indent="-259081" algn="l">
                <a:lnSpc>
                  <a:spcPts val="3360"/>
                </a:lnSpc>
                <a:buFont typeface="Arial"/>
                <a:buChar char="•"/>
              </a:pPr>
              <a:r>
                <a:rPr lang="en-US" sz="2400">
                  <a:solidFill>
                    <a:srgbClr val="00FFA8"/>
                  </a:solidFill>
                  <a:latin typeface="TT Fors"/>
                  <a:ea typeface="TT Fors"/>
                  <a:cs typeface="TT Fors"/>
                  <a:sym typeface="TT Fors"/>
                </a:rPr>
                <a:t>DNS zone transfer attempts</a:t>
              </a:r>
            </a:p>
            <a:p>
              <a:pPr marL="518162" lvl="1" indent="-259081" algn="l">
                <a:lnSpc>
                  <a:spcPts val="3360"/>
                </a:lnSpc>
                <a:buFont typeface="Arial"/>
                <a:buChar char="•"/>
              </a:pPr>
              <a:r>
                <a:rPr lang="en-US" sz="2400">
                  <a:solidFill>
                    <a:srgbClr val="00FFA8"/>
                  </a:solidFill>
                  <a:latin typeface="TT Fors"/>
                  <a:ea typeface="TT Fors"/>
                  <a:cs typeface="TT Fors"/>
                  <a:sym typeface="TT Fors"/>
                </a:rPr>
                <a:t>Banner grabbing</a:t>
              </a:r>
            </a:p>
            <a:p>
              <a:pPr marL="518162" lvl="1" indent="-259081" algn="l">
                <a:lnSpc>
                  <a:spcPts val="3360"/>
                </a:lnSpc>
                <a:buFont typeface="Arial"/>
                <a:buChar char="•"/>
              </a:pPr>
              <a:r>
                <a:rPr lang="en-US" sz="2400">
                  <a:solidFill>
                    <a:srgbClr val="00FFA8"/>
                  </a:solidFill>
                  <a:latin typeface="TT Fors"/>
                  <a:ea typeface="TT Fors"/>
                  <a:cs typeface="TT Fors"/>
                  <a:sym typeface="TT Fors"/>
                </a:rPr>
                <a:t>Social engineering calls</a:t>
              </a:r>
            </a:p>
          </p:txBody>
        </p:sp>
        <p:sp>
          <p:nvSpPr>
            <p:cNvPr id="7" name="TextBox 7"/>
            <p:cNvSpPr txBox="1"/>
            <p:nvPr/>
          </p:nvSpPr>
          <p:spPr>
            <a:xfrm>
              <a:off x="0" y="-180975"/>
              <a:ext cx="16107122"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Common Techniques:</a:t>
              </a:r>
            </a:p>
          </p:txBody>
        </p:sp>
      </p:grpSp>
      <p:sp>
        <p:nvSpPr>
          <p:cNvPr id="8" name="TextBox 8"/>
          <p:cNvSpPr txBox="1"/>
          <p:nvPr/>
        </p:nvSpPr>
        <p:spPr>
          <a:xfrm>
            <a:off x="666750" y="657225"/>
            <a:ext cx="15033595"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Act</a:t>
            </a:r>
            <a:r>
              <a:rPr lang="en-US" sz="6000" u="none" strike="noStrike" spc="-179">
                <a:solidFill>
                  <a:srgbClr val="00FFA8"/>
                </a:solidFill>
                <a:latin typeface="ITC Avant Garde Gothic"/>
                <a:ea typeface="ITC Avant Garde Gothic"/>
                <a:cs typeface="ITC Avant Garde Gothic"/>
                <a:sym typeface="ITC Avant Garde Gothic"/>
              </a:rPr>
              <a:t>ive Footprinting - Overview</a:t>
            </a:r>
          </a:p>
        </p:txBody>
      </p:sp>
      <p:grpSp>
        <p:nvGrpSpPr>
          <p:cNvPr id="9" name="Group 9"/>
          <p:cNvGrpSpPr/>
          <p:nvPr/>
        </p:nvGrpSpPr>
        <p:grpSpPr>
          <a:xfrm>
            <a:off x="16115522" y="751544"/>
            <a:ext cx="1505728" cy="810556"/>
            <a:chOff x="0" y="0"/>
            <a:chExt cx="2007638" cy="1080741"/>
          </a:xfrm>
        </p:grpSpPr>
        <p:grpSp>
          <p:nvGrpSpPr>
            <p:cNvPr id="10" name="Group 10"/>
            <p:cNvGrpSpPr/>
            <p:nvPr/>
          </p:nvGrpSpPr>
          <p:grpSpPr>
            <a:xfrm>
              <a:off x="0" y="0"/>
              <a:ext cx="1080741" cy="108074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926897" y="0"/>
              <a:ext cx="1080741" cy="108074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8" name="TextBox 18"/>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Direct Target Interaction</a:t>
            </a:r>
          </a:p>
        </p:txBody>
      </p:sp>
      <p:grpSp>
        <p:nvGrpSpPr>
          <p:cNvPr id="19" name="Group 19"/>
          <p:cNvGrpSpPr/>
          <p:nvPr/>
        </p:nvGrpSpPr>
        <p:grpSpPr>
          <a:xfrm>
            <a:off x="666750" y="8774188"/>
            <a:ext cx="16954500" cy="947421"/>
            <a:chOff x="0" y="0"/>
            <a:chExt cx="4465332" cy="249533"/>
          </a:xfrm>
        </p:grpSpPr>
        <p:sp>
          <p:nvSpPr>
            <p:cNvPr id="20" name="Freeform 20"/>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CC4E00"/>
            </a:solidFill>
            <a:ln cap="sq">
              <a:noFill/>
              <a:prstDash val="solid"/>
              <a:miter/>
            </a:ln>
          </p:spPr>
          <p:txBody>
            <a:bodyPr/>
            <a:lstStyle/>
            <a:p>
              <a:endParaRPr lang="en-US"/>
            </a:p>
          </p:txBody>
        </p:sp>
        <p:sp>
          <p:nvSpPr>
            <p:cNvPr id="21" name="TextBox 21"/>
            <p:cNvSpPr txBox="1"/>
            <p:nvPr/>
          </p:nvSpPr>
          <p:spPr>
            <a:xfrm>
              <a:off x="0" y="5017"/>
              <a:ext cx="4465332" cy="244516"/>
            </a:xfrm>
            <a:prstGeom prst="rect">
              <a:avLst/>
            </a:prstGeom>
          </p:spPr>
          <p:txBody>
            <a:bodyPr lIns="254000" tIns="254000" rIns="254000" bIns="254000" rtlCol="0" anchor="ctr"/>
            <a:lstStyle/>
            <a:p>
              <a:pPr marL="0" lvl="0" indent="0" algn="l">
                <a:lnSpc>
                  <a:spcPts val="3920"/>
                </a:lnSpc>
                <a:spcBef>
                  <a:spcPct val="0"/>
                </a:spcBef>
              </a:pPr>
              <a:r>
                <a:rPr lang="en-US" sz="2800" b="1" spc="-84" dirty="0">
                  <a:solidFill>
                    <a:srgbClr val="FFFFFF"/>
                  </a:solidFill>
                  <a:latin typeface="TT Fors Bold"/>
                  <a:ea typeface="TT Fors Bold"/>
                  <a:cs typeface="TT Fors Bold"/>
                  <a:sym typeface="TT Fors Bold"/>
                </a:rPr>
                <a:t>⚠️ </a:t>
              </a:r>
              <a:r>
                <a:rPr lang="en-US" sz="2800" b="1" u="none" strike="noStrike" spc="-84" dirty="0">
                  <a:solidFill>
                    <a:srgbClr val="FFFFFF"/>
                  </a:solidFill>
                  <a:latin typeface="TT Fors Bold"/>
                  <a:ea typeface="TT Fors Bold"/>
                  <a:cs typeface="TT Fors Bold"/>
                  <a:sym typeface="TT Fors Bold"/>
                </a:rPr>
                <a:t>Warning: </a:t>
              </a:r>
              <a:r>
                <a:rPr lang="en-US" sz="2800" u="none" strike="noStrike" spc="-84" dirty="0">
                  <a:solidFill>
                    <a:srgbClr val="FFFFFF"/>
                  </a:solidFill>
                  <a:latin typeface="TT Fors"/>
                  <a:ea typeface="TT Fors"/>
                  <a:cs typeface="TT Fors"/>
                  <a:sym typeface="TT Fors"/>
                </a:rPr>
                <a:t>Always obtain written permission before active </a:t>
              </a:r>
              <a:r>
                <a:rPr lang="en-US" sz="2800" u="none" strike="noStrike" spc="-84" dirty="0" err="1">
                  <a:solidFill>
                    <a:srgbClr val="FFFFFF"/>
                  </a:solidFill>
                  <a:latin typeface="TT Fors"/>
                  <a:ea typeface="TT Fors"/>
                  <a:cs typeface="TT Fors"/>
                  <a:sym typeface="TT Fors"/>
                </a:rPr>
                <a:t>footprinting</a:t>
              </a:r>
              <a:r>
                <a:rPr lang="en-US" sz="2800" u="none" strike="noStrike" spc="-84" dirty="0">
                  <a:solidFill>
                    <a:srgbClr val="FFFFFF"/>
                  </a:solidFill>
                  <a:latin typeface="TT Fors"/>
                  <a:ea typeface="TT Fors"/>
                  <a:cs typeface="TT Fors"/>
                  <a:sym typeface="TT Fors"/>
                </a:rPr>
                <a:t>.</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66750" y="2023110"/>
          <a:ext cx="16954500" cy="5676898"/>
        </p:xfrm>
        <a:graphic>
          <a:graphicData uri="http://schemas.openxmlformats.org/drawingml/2006/table">
            <a:tbl>
              <a:tblPr/>
              <a:tblGrid>
                <a:gridCol w="3513944">
                  <a:extLst>
                    <a:ext uri="{9D8B030D-6E8A-4147-A177-3AD203B41FA5}">
                      <a16:colId xmlns:a16="http://schemas.microsoft.com/office/drawing/2014/main" val="20000"/>
                    </a:ext>
                  </a:extLst>
                </a:gridCol>
                <a:gridCol w="6771665">
                  <a:extLst>
                    <a:ext uri="{9D8B030D-6E8A-4147-A177-3AD203B41FA5}">
                      <a16:colId xmlns:a16="http://schemas.microsoft.com/office/drawing/2014/main" val="20001"/>
                    </a:ext>
                  </a:extLst>
                </a:gridCol>
                <a:gridCol w="6668891">
                  <a:extLst>
                    <a:ext uri="{9D8B030D-6E8A-4147-A177-3AD203B41FA5}">
                      <a16:colId xmlns:a16="http://schemas.microsoft.com/office/drawing/2014/main" val="20002"/>
                    </a:ext>
                  </a:extLst>
                </a:gridCol>
              </a:tblGrid>
              <a:tr h="757559">
                <a:tc>
                  <a:txBody>
                    <a:bodyPr/>
                    <a:lstStyle/>
                    <a:p>
                      <a:pPr algn="l">
                        <a:lnSpc>
                          <a:spcPts val="2940"/>
                        </a:lnSpc>
                        <a:defRPr/>
                      </a:pPr>
                      <a:r>
                        <a:rPr lang="en-US" sz="2100" b="1">
                          <a:solidFill>
                            <a:srgbClr val="000000"/>
                          </a:solidFill>
                          <a:latin typeface="TT Fors Bold"/>
                          <a:ea typeface="TT Fors Bold"/>
                          <a:cs typeface="TT Fors Bold"/>
                          <a:sym typeface="TT Fors Bold"/>
                        </a:rPr>
                        <a:t>Aspect</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l">
                        <a:lnSpc>
                          <a:spcPts val="2940"/>
                        </a:lnSpc>
                        <a:defRPr/>
                      </a:pPr>
                      <a:r>
                        <a:rPr lang="en-US" sz="2100" b="1">
                          <a:solidFill>
                            <a:srgbClr val="000000"/>
                          </a:solidFill>
                          <a:latin typeface="TT Fors Bold"/>
                          <a:ea typeface="TT Fors Bold"/>
                          <a:cs typeface="TT Fors Bold"/>
                          <a:sym typeface="TT Fors Bold"/>
                        </a:rPr>
                        <a:t>Passive Footprinting</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l">
                        <a:lnSpc>
                          <a:spcPts val="2940"/>
                        </a:lnSpc>
                        <a:defRPr/>
                      </a:pPr>
                      <a:r>
                        <a:rPr lang="en-US" sz="2100" b="1">
                          <a:solidFill>
                            <a:srgbClr val="000000"/>
                          </a:solidFill>
                          <a:latin typeface="TT Fors Bold"/>
                          <a:ea typeface="TT Fors Bold"/>
                          <a:cs typeface="TT Fors Bold"/>
                          <a:sym typeface="TT Fors Bold"/>
                        </a:rPr>
                        <a:t>Active Footprinting</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extLst>
                  <a:ext uri="{0D108BD9-81ED-4DB2-BD59-A6C34878D82A}">
                    <a16:rowId xmlns:a16="http://schemas.microsoft.com/office/drawing/2014/main" val="10000"/>
                  </a:ext>
                </a:extLst>
              </a:tr>
              <a:tr h="757559">
                <a:tc>
                  <a:txBody>
                    <a:bodyPr/>
                    <a:lstStyle/>
                    <a:p>
                      <a:pPr algn="l">
                        <a:lnSpc>
                          <a:spcPts val="2940"/>
                        </a:lnSpc>
                        <a:defRPr/>
                      </a:pPr>
                      <a:r>
                        <a:rPr lang="en-US" sz="2100" b="1">
                          <a:solidFill>
                            <a:srgbClr val="FFFFFF"/>
                          </a:solidFill>
                          <a:latin typeface="TT Fors Bold"/>
                          <a:ea typeface="TT Fors Bold"/>
                          <a:cs typeface="TT Fors Bold"/>
                          <a:sym typeface="TT Fors Bold"/>
                        </a:rPr>
                        <a:t>Definition</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TT Fors"/>
                          <a:ea typeface="TT Fors"/>
                          <a:cs typeface="TT Fors"/>
                          <a:sym typeface="TT Fors"/>
                        </a:rPr>
                        <a:t>Simulate attacks on systems to find vulnerabilities</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TT Fors"/>
                          <a:ea typeface="TT Fors"/>
                          <a:cs typeface="TT Fors"/>
                          <a:sym typeface="TT Fors"/>
                        </a:rPr>
                        <a:t>Directly interacting with target systems</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1"/>
                  </a:ext>
                </a:extLst>
              </a:tr>
              <a:tr h="757559">
                <a:tc>
                  <a:txBody>
                    <a:bodyPr/>
                    <a:lstStyle/>
                    <a:p>
                      <a:pPr algn="l">
                        <a:lnSpc>
                          <a:spcPts val="2940"/>
                        </a:lnSpc>
                        <a:defRPr/>
                      </a:pPr>
                      <a:r>
                        <a:rPr lang="en-US" sz="2100" b="1">
                          <a:solidFill>
                            <a:srgbClr val="FFFFFF"/>
                          </a:solidFill>
                          <a:latin typeface="TT Fors Bold"/>
                          <a:ea typeface="TT Fors Bold"/>
                          <a:cs typeface="TT Fors Bold"/>
                          <a:sym typeface="TT Fors Bold"/>
                        </a:rPr>
                        <a:t>Detection Risk</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TT Fors"/>
                          <a:ea typeface="TT Fors"/>
                          <a:cs typeface="TT Fors"/>
                          <a:sym typeface="TT Fors"/>
                        </a:rPr>
                        <a:t>❌ Very Low / Undetectable</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TT Fors"/>
                          <a:ea typeface="TT Fors"/>
                          <a:cs typeface="TT Fors"/>
                          <a:sym typeface="TT Fors"/>
                        </a:rPr>
                        <a:t>⚠️ High / Easily detected</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2"/>
                  </a:ext>
                </a:extLst>
              </a:tr>
              <a:tr h="757559">
                <a:tc>
                  <a:txBody>
                    <a:bodyPr/>
                    <a:lstStyle/>
                    <a:p>
                      <a:pPr algn="l">
                        <a:lnSpc>
                          <a:spcPts val="2940"/>
                        </a:lnSpc>
                        <a:defRPr/>
                      </a:pPr>
                      <a:r>
                        <a:rPr lang="en-US" sz="2100" b="1">
                          <a:solidFill>
                            <a:srgbClr val="FFFFFF"/>
                          </a:solidFill>
                          <a:latin typeface="TT Fors Bold"/>
                          <a:ea typeface="TT Fors Bold"/>
                          <a:cs typeface="TT Fors Bold"/>
                          <a:sym typeface="TT Fors Bold"/>
                        </a:rPr>
                        <a:t>Legal Concerns</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TT Fors"/>
                          <a:ea typeface="TT Fors"/>
                          <a:cs typeface="TT Fors"/>
                          <a:sym typeface="TT Fors"/>
                        </a:rPr>
                        <a:t>✅ Generally legal (public info)</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TT Fors"/>
                          <a:ea typeface="TT Fors"/>
                          <a:cs typeface="TT Fors"/>
                          <a:sym typeface="TT Fors"/>
                        </a:rPr>
                        <a:t>⚠️ May require authorization</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3"/>
                  </a:ext>
                </a:extLst>
              </a:tr>
              <a:tr h="1131544">
                <a:tc>
                  <a:txBody>
                    <a:bodyPr/>
                    <a:lstStyle/>
                    <a:p>
                      <a:pPr algn="l">
                        <a:lnSpc>
                          <a:spcPts val="2940"/>
                        </a:lnSpc>
                        <a:defRPr/>
                      </a:pPr>
                      <a:r>
                        <a:rPr lang="en-US" sz="2100" b="1">
                          <a:solidFill>
                            <a:srgbClr val="FFFFFF"/>
                          </a:solidFill>
                          <a:latin typeface="TT Fors Bold"/>
                          <a:ea typeface="TT Fors Bold"/>
                          <a:cs typeface="TT Fors Bold"/>
                          <a:sym typeface="TT Fors Bold"/>
                        </a:rPr>
                        <a:t>Examples</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TT Fors"/>
                          <a:ea typeface="TT Fors"/>
                          <a:cs typeface="TT Fors"/>
                          <a:sym typeface="TT Fors"/>
                        </a:rPr>
                        <a:t>Google searches, WHOIS, Social media, public records</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TT Fors"/>
                          <a:ea typeface="TT Fors"/>
                          <a:cs typeface="TT Fors"/>
                          <a:sym typeface="TT Fors"/>
                        </a:rPr>
                        <a:t>Port scanning, Ping sweeps, DNS zone transfer attempts</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4"/>
                  </a:ext>
                </a:extLst>
              </a:tr>
              <a:tr h="757559">
                <a:tc>
                  <a:txBody>
                    <a:bodyPr/>
                    <a:lstStyle/>
                    <a:p>
                      <a:pPr algn="l">
                        <a:lnSpc>
                          <a:spcPts val="2940"/>
                        </a:lnSpc>
                        <a:defRPr/>
                      </a:pPr>
                      <a:r>
                        <a:rPr lang="en-US" sz="2100" b="1">
                          <a:solidFill>
                            <a:srgbClr val="FFFFFF"/>
                          </a:solidFill>
                          <a:latin typeface="TT Fors Bold"/>
                          <a:ea typeface="TT Fors Bold"/>
                          <a:cs typeface="TT Fors Bold"/>
                          <a:sym typeface="TT Fors Bold"/>
                        </a:rPr>
                        <a:t>Information Depth</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TT Fors"/>
                          <a:ea typeface="TT Fors"/>
                          <a:cs typeface="TT Fors"/>
                          <a:sym typeface="TT Fors"/>
                        </a:rPr>
                        <a:t>Moderate - Surface level</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TT Fors"/>
                          <a:ea typeface="TT Fors"/>
                          <a:cs typeface="TT Fors"/>
                          <a:sym typeface="TT Fors"/>
                        </a:rPr>
                        <a:t>Deep - Detailed technical info</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5"/>
                  </a:ext>
                </a:extLst>
              </a:tr>
              <a:tr h="757559">
                <a:tc>
                  <a:txBody>
                    <a:bodyPr/>
                    <a:lstStyle/>
                    <a:p>
                      <a:pPr algn="l">
                        <a:lnSpc>
                          <a:spcPts val="2940"/>
                        </a:lnSpc>
                        <a:defRPr/>
                      </a:pPr>
                      <a:r>
                        <a:rPr lang="en-US" sz="2100" b="1">
                          <a:solidFill>
                            <a:srgbClr val="FFFFFF"/>
                          </a:solidFill>
                          <a:latin typeface="TT Fors Bold"/>
                          <a:ea typeface="TT Fors Bold"/>
                          <a:cs typeface="TT Fors Bold"/>
                          <a:sym typeface="TT Fors Bold"/>
                        </a:rPr>
                        <a:t>Tools</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TT Fors"/>
                          <a:ea typeface="TT Fors"/>
                          <a:cs typeface="TT Fors"/>
                          <a:sym typeface="TT Fors"/>
                        </a:rPr>
                        <a:t>Search engines, Maltego, theHarvester</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940"/>
                        </a:lnSpc>
                        <a:defRPr/>
                      </a:pPr>
                      <a:r>
                        <a:rPr lang="en-US" sz="2100">
                          <a:solidFill>
                            <a:srgbClr val="FFFFFF"/>
                          </a:solidFill>
                          <a:latin typeface="TT Fors"/>
                          <a:ea typeface="TT Fors"/>
                          <a:cs typeface="TT Fors"/>
                          <a:sym typeface="TT Fors"/>
                        </a:rPr>
                        <a:t>Nmap, Netcat, traceroute</a:t>
                      </a:r>
                      <a:endParaRPr lang="en-US" sz="1100"/>
                    </a:p>
                  </a:txBody>
                  <a:tcPr marL="142875" marR="142875" marT="142875" marB="14287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TextBox 3"/>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P</a:t>
            </a:r>
            <a:r>
              <a:rPr lang="en-US" sz="6000" u="none" strike="noStrike" spc="-179">
                <a:solidFill>
                  <a:srgbClr val="00FFA8"/>
                </a:solidFill>
                <a:latin typeface="ITC Avant Garde Gothic"/>
                <a:ea typeface="ITC Avant Garde Gothic"/>
                <a:cs typeface="ITC Avant Garde Gothic"/>
                <a:sym typeface="ITC Avant Garde Gothic"/>
              </a:rPr>
              <a:t>assive vs Active Footprinting</a:t>
            </a:r>
          </a:p>
        </p:txBody>
      </p:sp>
      <p:grpSp>
        <p:nvGrpSpPr>
          <p:cNvPr id="4" name="Group 4"/>
          <p:cNvGrpSpPr/>
          <p:nvPr/>
        </p:nvGrpSpPr>
        <p:grpSpPr>
          <a:xfrm>
            <a:off x="666750" y="8774188"/>
            <a:ext cx="16954500" cy="947421"/>
            <a:chOff x="0" y="0"/>
            <a:chExt cx="4465332" cy="249533"/>
          </a:xfrm>
        </p:grpSpPr>
        <p:sp>
          <p:nvSpPr>
            <p:cNvPr id="5" name="Freeform 5"/>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6" name="TextBox 6"/>
            <p:cNvSpPr txBox="1"/>
            <p:nvPr/>
          </p:nvSpPr>
          <p:spPr>
            <a:xfrm>
              <a:off x="0" y="0"/>
              <a:ext cx="4465332" cy="249533"/>
            </a:xfrm>
            <a:prstGeom prst="rect">
              <a:avLst/>
            </a:prstGeom>
          </p:spPr>
          <p:txBody>
            <a:bodyPr lIns="254000" tIns="254000" rIns="254000" bIns="254000" rtlCol="0" anchor="ctr"/>
            <a:lstStyle/>
            <a:p>
              <a:pPr algn="l">
                <a:lnSpc>
                  <a:spcPts val="3640"/>
                </a:lnSpc>
              </a:pPr>
              <a:r>
                <a:rPr lang="en-US" sz="2600" b="1" spc="-78" dirty="0">
                  <a:solidFill>
                    <a:srgbClr val="FFFFFF"/>
                  </a:solidFill>
                  <a:latin typeface="TT Fors Bold"/>
                  <a:ea typeface="TT Fors Bold"/>
                  <a:cs typeface="TT Fors Bold"/>
                  <a:sym typeface="TT Fors Bold"/>
                </a:rPr>
                <a:t>Best Practice: </a:t>
              </a:r>
              <a:r>
                <a:rPr lang="en-US" sz="2600" spc="-78" dirty="0">
                  <a:solidFill>
                    <a:srgbClr val="FFFFFF"/>
                  </a:solidFill>
                  <a:latin typeface="TT Fors"/>
                  <a:ea typeface="TT Fors"/>
                  <a:cs typeface="TT Fors"/>
                  <a:sym typeface="TT Fors"/>
                </a:rPr>
                <a:t>Always start with passive reconnaissance. Only move to active when necessary and authorized!</a:t>
              </a:r>
            </a:p>
          </p:txBody>
        </p:sp>
      </p:grpSp>
      <p:grpSp>
        <p:nvGrpSpPr>
          <p:cNvPr id="7" name="Group 7"/>
          <p:cNvGrpSpPr/>
          <p:nvPr/>
        </p:nvGrpSpPr>
        <p:grpSpPr>
          <a:xfrm>
            <a:off x="16115522" y="751544"/>
            <a:ext cx="1505728" cy="810556"/>
            <a:chOff x="0" y="0"/>
            <a:chExt cx="2007638" cy="1080741"/>
          </a:xfrm>
        </p:grpSpPr>
        <p:grpSp>
          <p:nvGrpSpPr>
            <p:cNvPr id="8" name="Group 8"/>
            <p:cNvGrpSpPr/>
            <p:nvPr/>
          </p:nvGrpSpPr>
          <p:grpSpPr>
            <a:xfrm>
              <a:off x="0" y="0"/>
              <a:ext cx="1080741" cy="10807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926897" y="0"/>
              <a:ext cx="1080741" cy="108074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5" name="Freeform 15"/>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2960454"/>
            <a:ext cx="12080341" cy="2190748"/>
            <a:chOff x="0" y="0"/>
            <a:chExt cx="16107122" cy="2920998"/>
          </a:xfrm>
        </p:grpSpPr>
        <p:sp>
          <p:nvSpPr>
            <p:cNvPr id="3" name="TextBox 3"/>
            <p:cNvSpPr txBox="1"/>
            <p:nvPr/>
          </p:nvSpPr>
          <p:spPr>
            <a:xfrm>
              <a:off x="0" y="728978"/>
              <a:ext cx="16107122" cy="21920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FFA8"/>
                  </a:solidFill>
                  <a:latin typeface="TT Fors"/>
                  <a:ea typeface="TT Fors"/>
                  <a:cs typeface="TT Fors"/>
                  <a:sym typeface="TT Fors"/>
                </a:rPr>
                <a:t>Massive indexed information</a:t>
              </a:r>
            </a:p>
            <a:p>
              <a:pPr marL="518162" lvl="1" indent="-259081" algn="l">
                <a:lnSpc>
                  <a:spcPts val="3360"/>
                </a:lnSpc>
                <a:buFont typeface="Arial"/>
                <a:buChar char="•"/>
              </a:pPr>
              <a:r>
                <a:rPr lang="en-US" sz="2400">
                  <a:solidFill>
                    <a:srgbClr val="00FFA8"/>
                  </a:solidFill>
                  <a:latin typeface="TT Fors"/>
                  <a:ea typeface="TT Fors"/>
                  <a:cs typeface="TT Fors"/>
                  <a:sym typeface="TT Fors"/>
                </a:rPr>
                <a:t>Can reveal sensitive data unintentionally exposed</a:t>
              </a:r>
            </a:p>
            <a:p>
              <a:pPr marL="518162" lvl="1" indent="-259081" algn="l">
                <a:lnSpc>
                  <a:spcPts val="3360"/>
                </a:lnSpc>
                <a:buFont typeface="Arial"/>
                <a:buChar char="•"/>
              </a:pPr>
              <a:r>
                <a:rPr lang="en-US" sz="2400">
                  <a:solidFill>
                    <a:srgbClr val="00FFA8"/>
                  </a:solidFill>
                  <a:latin typeface="TT Fors"/>
                  <a:ea typeface="TT Fors"/>
                  <a:cs typeface="TT Fors"/>
                  <a:sym typeface="TT Fors"/>
                </a:rPr>
                <a:t>Free and easy to use</a:t>
              </a:r>
            </a:p>
            <a:p>
              <a:pPr marL="518162" lvl="1" indent="-259081" algn="l">
                <a:lnSpc>
                  <a:spcPts val="3360"/>
                </a:lnSpc>
                <a:buFont typeface="Arial"/>
                <a:buChar char="•"/>
              </a:pPr>
              <a:r>
                <a:rPr lang="en-US" sz="2400">
                  <a:solidFill>
                    <a:srgbClr val="00FFA8"/>
                  </a:solidFill>
                  <a:latin typeface="TT Fors"/>
                  <a:ea typeface="TT Fors"/>
                  <a:cs typeface="TT Fors"/>
                  <a:sym typeface="TT Fors"/>
                </a:rPr>
                <a:t>Multiple search engines provide different results</a:t>
              </a:r>
            </a:p>
          </p:txBody>
        </p:sp>
        <p:sp>
          <p:nvSpPr>
            <p:cNvPr id="4" name="TextBox 4"/>
            <p:cNvSpPr txBox="1"/>
            <p:nvPr/>
          </p:nvSpPr>
          <p:spPr>
            <a:xfrm>
              <a:off x="0" y="-180975"/>
              <a:ext cx="16107122"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Why Search Engines?</a:t>
              </a:r>
            </a:p>
          </p:txBody>
        </p:sp>
      </p:grpSp>
      <p:grpSp>
        <p:nvGrpSpPr>
          <p:cNvPr id="5" name="Group 5"/>
          <p:cNvGrpSpPr/>
          <p:nvPr/>
        </p:nvGrpSpPr>
        <p:grpSpPr>
          <a:xfrm>
            <a:off x="666750" y="5460765"/>
            <a:ext cx="12080341" cy="2609848"/>
            <a:chOff x="0" y="0"/>
            <a:chExt cx="16107122" cy="3479798"/>
          </a:xfrm>
        </p:grpSpPr>
        <p:sp>
          <p:nvSpPr>
            <p:cNvPr id="6" name="TextBox 6"/>
            <p:cNvSpPr txBox="1"/>
            <p:nvPr/>
          </p:nvSpPr>
          <p:spPr>
            <a:xfrm>
              <a:off x="0" y="728978"/>
              <a:ext cx="16107122" cy="27508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FFA8"/>
                  </a:solidFill>
                  <a:latin typeface="TT Fors"/>
                  <a:ea typeface="TT Fors"/>
                  <a:cs typeface="TT Fors"/>
                  <a:sym typeface="TT Fors"/>
                </a:rPr>
                <a:t>Google (most comprehensive)</a:t>
              </a:r>
            </a:p>
            <a:p>
              <a:pPr marL="518162" lvl="1" indent="-259081" algn="l">
                <a:lnSpc>
                  <a:spcPts val="3360"/>
                </a:lnSpc>
                <a:buFont typeface="Arial"/>
                <a:buChar char="•"/>
              </a:pPr>
              <a:r>
                <a:rPr lang="en-US" sz="2400">
                  <a:solidFill>
                    <a:srgbClr val="00FFA8"/>
                  </a:solidFill>
                  <a:latin typeface="TT Fors"/>
                  <a:ea typeface="TT Fors"/>
                  <a:cs typeface="TT Fors"/>
                  <a:sym typeface="TT Fors"/>
                </a:rPr>
                <a:t>Bing (Microsoft's alternative)</a:t>
              </a:r>
            </a:p>
            <a:p>
              <a:pPr marL="518162" lvl="1" indent="-259081" algn="l">
                <a:lnSpc>
                  <a:spcPts val="3360"/>
                </a:lnSpc>
                <a:buFont typeface="Arial"/>
                <a:buChar char="•"/>
              </a:pPr>
              <a:r>
                <a:rPr lang="en-US" sz="2400">
                  <a:solidFill>
                    <a:srgbClr val="00FFA8"/>
                  </a:solidFill>
                  <a:latin typeface="TT Fors"/>
                  <a:ea typeface="TT Fors"/>
                  <a:cs typeface="TT Fors"/>
                  <a:sym typeface="TT Fors"/>
                </a:rPr>
                <a:t>DuckDuckGo (privacy-focused)</a:t>
              </a:r>
            </a:p>
            <a:p>
              <a:pPr marL="518162" lvl="1" indent="-259081" algn="l">
                <a:lnSpc>
                  <a:spcPts val="3360"/>
                </a:lnSpc>
                <a:buFont typeface="Arial"/>
                <a:buChar char="•"/>
              </a:pPr>
              <a:r>
                <a:rPr lang="en-US" sz="2400">
                  <a:solidFill>
                    <a:srgbClr val="00FFA8"/>
                  </a:solidFill>
                  <a:latin typeface="TT Fors"/>
                  <a:ea typeface="TT Fors"/>
                  <a:cs typeface="TT Fors"/>
                  <a:sym typeface="TT Fors"/>
                </a:rPr>
                <a:t>Baidu (Chinese content)</a:t>
              </a:r>
            </a:p>
            <a:p>
              <a:pPr marL="518162" lvl="1" indent="-259081" algn="l">
                <a:lnSpc>
                  <a:spcPts val="3360"/>
                </a:lnSpc>
                <a:buFont typeface="Arial"/>
                <a:buChar char="•"/>
              </a:pPr>
              <a:r>
                <a:rPr lang="en-US" sz="2400">
                  <a:solidFill>
                    <a:srgbClr val="00FFA8"/>
                  </a:solidFill>
                  <a:latin typeface="TT Fors"/>
                  <a:ea typeface="TT Fors"/>
                  <a:cs typeface="TT Fors"/>
                  <a:sym typeface="TT Fors"/>
                </a:rPr>
                <a:t>Yandex (Russian content)</a:t>
              </a:r>
            </a:p>
          </p:txBody>
        </p:sp>
        <p:sp>
          <p:nvSpPr>
            <p:cNvPr id="7" name="TextBox 7"/>
            <p:cNvSpPr txBox="1"/>
            <p:nvPr/>
          </p:nvSpPr>
          <p:spPr>
            <a:xfrm>
              <a:off x="0" y="-180975"/>
              <a:ext cx="16107122"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Popular Search Engines:</a:t>
              </a:r>
            </a:p>
          </p:txBody>
        </p:sp>
      </p:grpSp>
      <p:sp>
        <p:nvSpPr>
          <p:cNvPr id="8" name="TextBox 8"/>
          <p:cNvSpPr txBox="1"/>
          <p:nvPr/>
        </p:nvSpPr>
        <p:spPr>
          <a:xfrm>
            <a:off x="666750" y="657225"/>
            <a:ext cx="15033595"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Search</a:t>
            </a:r>
            <a:r>
              <a:rPr lang="en-US" sz="6000" u="none" strike="noStrike" spc="-179">
                <a:solidFill>
                  <a:srgbClr val="00FFA8"/>
                </a:solidFill>
                <a:latin typeface="ITC Avant Garde Gothic"/>
                <a:ea typeface="ITC Avant Garde Gothic"/>
                <a:cs typeface="ITC Avant Garde Gothic"/>
                <a:sym typeface="ITC Avant Garde Gothic"/>
              </a:rPr>
              <a:t> Engines - The First Tool</a:t>
            </a:r>
          </a:p>
        </p:txBody>
      </p:sp>
      <p:grpSp>
        <p:nvGrpSpPr>
          <p:cNvPr id="9" name="Group 9"/>
          <p:cNvGrpSpPr/>
          <p:nvPr/>
        </p:nvGrpSpPr>
        <p:grpSpPr>
          <a:xfrm>
            <a:off x="16115522" y="751544"/>
            <a:ext cx="1505728" cy="810556"/>
            <a:chOff x="0" y="0"/>
            <a:chExt cx="2007638" cy="1080741"/>
          </a:xfrm>
        </p:grpSpPr>
        <p:grpSp>
          <p:nvGrpSpPr>
            <p:cNvPr id="10" name="Group 10"/>
            <p:cNvGrpSpPr/>
            <p:nvPr/>
          </p:nvGrpSpPr>
          <p:grpSpPr>
            <a:xfrm>
              <a:off x="0" y="0"/>
              <a:ext cx="1080741" cy="108074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926897" y="0"/>
              <a:ext cx="1080741" cy="108074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8" name="TextBox 18"/>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Leveraging Search Engines for Recon</a:t>
            </a:r>
          </a:p>
        </p:txBody>
      </p:sp>
      <p:grpSp>
        <p:nvGrpSpPr>
          <p:cNvPr id="19" name="Group 19"/>
          <p:cNvGrpSpPr/>
          <p:nvPr/>
        </p:nvGrpSpPr>
        <p:grpSpPr>
          <a:xfrm>
            <a:off x="666750" y="8774188"/>
            <a:ext cx="16954500" cy="947421"/>
            <a:chOff x="0" y="0"/>
            <a:chExt cx="4465332" cy="249533"/>
          </a:xfrm>
        </p:grpSpPr>
        <p:sp>
          <p:nvSpPr>
            <p:cNvPr id="20" name="Freeform 20"/>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1FBB7F"/>
            </a:solidFill>
            <a:ln cap="sq">
              <a:noFill/>
              <a:prstDash val="solid"/>
              <a:miter/>
            </a:ln>
          </p:spPr>
          <p:txBody>
            <a:bodyPr/>
            <a:lstStyle/>
            <a:p>
              <a:endParaRPr lang="en-US"/>
            </a:p>
          </p:txBody>
        </p:sp>
        <p:sp>
          <p:nvSpPr>
            <p:cNvPr id="21" name="TextBox 21"/>
            <p:cNvSpPr txBox="1"/>
            <p:nvPr/>
          </p:nvSpPr>
          <p:spPr>
            <a:xfrm>
              <a:off x="0" y="5017"/>
              <a:ext cx="4465332" cy="244516"/>
            </a:xfrm>
            <a:prstGeom prst="rect">
              <a:avLst/>
            </a:prstGeom>
          </p:spPr>
          <p:txBody>
            <a:bodyPr lIns="254000" tIns="254000" rIns="254000" bIns="254000" rtlCol="0" anchor="ctr"/>
            <a:lstStyle/>
            <a:p>
              <a:pPr algn="l">
                <a:lnSpc>
                  <a:spcPts val="3920"/>
                </a:lnSpc>
                <a:spcBef>
                  <a:spcPct val="0"/>
                </a:spcBef>
              </a:pPr>
              <a:r>
                <a:rPr lang="en-US" sz="2800" b="1" u="none" strike="noStrike" spc="-84" dirty="0">
                  <a:solidFill>
                    <a:srgbClr val="000000"/>
                  </a:solidFill>
                  <a:latin typeface="TT Fors Bold"/>
                  <a:ea typeface="TT Fors Bold"/>
                  <a:cs typeface="TT Fors Bold"/>
                  <a:sym typeface="TT Fors Bold"/>
                </a:rPr>
                <a:t>Tip: </a:t>
              </a:r>
              <a:r>
                <a:rPr lang="en-US" sz="2800" u="none" strike="noStrike" spc="-84" dirty="0">
                  <a:solidFill>
                    <a:srgbClr val="000000"/>
                  </a:solidFill>
                  <a:latin typeface="TT Fors"/>
                  <a:ea typeface="TT Fors"/>
                  <a:cs typeface="TT Fors"/>
                  <a:sym typeface="TT Fors"/>
                </a:rPr>
                <a:t>Use multiple search engines as each indexes content differently.</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4495192"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Googl</a:t>
            </a:r>
            <a:r>
              <a:rPr lang="en-US" sz="6000" u="none" strike="noStrike" spc="-179">
                <a:solidFill>
                  <a:srgbClr val="00FFA8"/>
                </a:solidFill>
                <a:latin typeface="ITC Avant Garde Gothic"/>
                <a:ea typeface="ITC Avant Garde Gothic"/>
                <a:cs typeface="ITC Avant Garde Gothic"/>
                <a:sym typeface="ITC Avant Garde Gothic"/>
              </a:rPr>
              <a:t>e Dorking - Introduction</a:t>
            </a:r>
          </a:p>
        </p:txBody>
      </p:sp>
      <p:grpSp>
        <p:nvGrpSpPr>
          <p:cNvPr id="3" name="Group 3"/>
          <p:cNvGrpSpPr/>
          <p:nvPr/>
        </p:nvGrpSpPr>
        <p:grpSpPr>
          <a:xfrm>
            <a:off x="16115522" y="751544"/>
            <a:ext cx="1505728" cy="810556"/>
            <a:chOff x="0" y="0"/>
            <a:chExt cx="2007638" cy="1080741"/>
          </a:xfrm>
        </p:grpSpPr>
        <p:grpSp>
          <p:nvGrpSpPr>
            <p:cNvPr id="4" name="Group 4"/>
            <p:cNvGrpSpPr/>
            <p:nvPr/>
          </p:nvGrpSpPr>
          <p:grpSpPr>
            <a:xfrm>
              <a:off x="0" y="0"/>
              <a:ext cx="1080741" cy="108074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926897" y="0"/>
              <a:ext cx="1080741" cy="108074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2" name="Group 12"/>
          <p:cNvGrpSpPr/>
          <p:nvPr/>
        </p:nvGrpSpPr>
        <p:grpSpPr>
          <a:xfrm>
            <a:off x="666750" y="4262815"/>
            <a:ext cx="8477250" cy="2190748"/>
            <a:chOff x="0" y="0"/>
            <a:chExt cx="11303000" cy="2920998"/>
          </a:xfrm>
        </p:grpSpPr>
        <p:sp>
          <p:nvSpPr>
            <p:cNvPr id="13" name="TextBox 13"/>
            <p:cNvSpPr txBox="1"/>
            <p:nvPr/>
          </p:nvSpPr>
          <p:spPr>
            <a:xfrm>
              <a:off x="0" y="728978"/>
              <a:ext cx="11303000" cy="21920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FFA8"/>
                  </a:solidFill>
                  <a:latin typeface="TT Fors"/>
                  <a:ea typeface="TT Fors"/>
                  <a:cs typeface="TT Fors"/>
                  <a:sym typeface="TT Fors"/>
                </a:rPr>
                <a:t>Exposes sensitive files and directories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Finds misconfigured websites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Discovers vulnerable systems</a:t>
              </a:r>
            </a:p>
            <a:p>
              <a:pPr marL="518162" lvl="1" indent="-259081" algn="l">
                <a:lnSpc>
                  <a:spcPts val="3360"/>
                </a:lnSpc>
                <a:buFont typeface="Arial"/>
                <a:buChar char="•"/>
              </a:pPr>
              <a:r>
                <a:rPr lang="en-US" sz="2400">
                  <a:solidFill>
                    <a:srgbClr val="00FFA8"/>
                  </a:solidFill>
                  <a:latin typeface="TT Fors"/>
                  <a:ea typeface="TT Fors"/>
                  <a:cs typeface="TT Fors"/>
                  <a:sym typeface="TT Fors"/>
                </a:rPr>
                <a:t>Locates confidential documents</a:t>
              </a:r>
            </a:p>
          </p:txBody>
        </p:sp>
        <p:sp>
          <p:nvSpPr>
            <p:cNvPr id="14" name="TextBox 14"/>
            <p:cNvSpPr txBox="1"/>
            <p:nvPr/>
          </p:nvSpPr>
          <p:spPr>
            <a:xfrm>
              <a:off x="0" y="-180975"/>
              <a:ext cx="11303000"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Why it matters:</a:t>
              </a:r>
            </a:p>
          </p:txBody>
        </p:sp>
      </p:grpSp>
      <p:grpSp>
        <p:nvGrpSpPr>
          <p:cNvPr id="15" name="Group 15"/>
          <p:cNvGrpSpPr/>
          <p:nvPr/>
        </p:nvGrpSpPr>
        <p:grpSpPr>
          <a:xfrm>
            <a:off x="9144000" y="4262815"/>
            <a:ext cx="8477250" cy="3028948"/>
            <a:chOff x="0" y="0"/>
            <a:chExt cx="11303000" cy="4038598"/>
          </a:xfrm>
        </p:grpSpPr>
        <p:sp>
          <p:nvSpPr>
            <p:cNvPr id="16" name="TextBox 16"/>
            <p:cNvSpPr txBox="1"/>
            <p:nvPr/>
          </p:nvSpPr>
          <p:spPr>
            <a:xfrm>
              <a:off x="0" y="728978"/>
              <a:ext cx="11303000" cy="33096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FFFFFF"/>
                  </a:solidFill>
                  <a:latin typeface="TT Fors"/>
                  <a:ea typeface="TT Fors"/>
                  <a:cs typeface="TT Fors"/>
                  <a:sym typeface="TT Fors"/>
                </a:rPr>
                <a:t>site: - Search within a specific domain</a:t>
              </a:r>
            </a:p>
            <a:p>
              <a:pPr marL="518162" lvl="1" indent="-259081" algn="l">
                <a:lnSpc>
                  <a:spcPts val="3360"/>
                </a:lnSpc>
                <a:buFont typeface="Arial"/>
                <a:buChar char="•"/>
              </a:pPr>
              <a:r>
                <a:rPr lang="en-US" sz="2400">
                  <a:solidFill>
                    <a:srgbClr val="FFFFFF"/>
                  </a:solidFill>
                  <a:latin typeface="TT Fors"/>
                  <a:ea typeface="TT Fors"/>
                  <a:cs typeface="TT Fors"/>
                  <a:sym typeface="TT Fors"/>
                </a:rPr>
                <a:t>filetype: - Find specific file types</a:t>
              </a:r>
            </a:p>
            <a:p>
              <a:pPr marL="518162" lvl="1" indent="-259081" algn="l">
                <a:lnSpc>
                  <a:spcPts val="3360"/>
                </a:lnSpc>
                <a:buFont typeface="Arial"/>
                <a:buChar char="•"/>
              </a:pPr>
              <a:r>
                <a:rPr lang="en-US" sz="2400">
                  <a:solidFill>
                    <a:srgbClr val="FFFFFF"/>
                  </a:solidFill>
                  <a:latin typeface="TT Fors"/>
                  <a:ea typeface="TT Fors"/>
                  <a:cs typeface="TT Fors"/>
                  <a:sym typeface="TT Fors"/>
                </a:rPr>
                <a:t>intitle: - Search in page titles</a:t>
              </a:r>
            </a:p>
            <a:p>
              <a:pPr marL="518162" lvl="1" indent="-259081" algn="l">
                <a:lnSpc>
                  <a:spcPts val="3360"/>
                </a:lnSpc>
                <a:buFont typeface="Arial"/>
                <a:buChar char="•"/>
              </a:pPr>
              <a:r>
                <a:rPr lang="en-US" sz="2400">
                  <a:solidFill>
                    <a:srgbClr val="FFFFFF"/>
                  </a:solidFill>
                  <a:latin typeface="TT Fors"/>
                  <a:ea typeface="TT Fors"/>
                  <a:cs typeface="TT Fors"/>
                  <a:sym typeface="TT Fors"/>
                </a:rPr>
                <a:t>inurl: - Search in URLs</a:t>
              </a:r>
            </a:p>
            <a:p>
              <a:pPr marL="518162" lvl="1" indent="-259081" algn="l">
                <a:lnSpc>
                  <a:spcPts val="3360"/>
                </a:lnSpc>
                <a:buFont typeface="Arial"/>
                <a:buChar char="•"/>
              </a:pPr>
              <a:r>
                <a:rPr lang="en-US" sz="2400">
                  <a:solidFill>
                    <a:srgbClr val="FFFFFF"/>
                  </a:solidFill>
                  <a:latin typeface="TT Fors"/>
                  <a:ea typeface="TT Fors"/>
                  <a:cs typeface="TT Fors"/>
                  <a:sym typeface="TT Fors"/>
                </a:rPr>
                <a:t>intext: - Search in page content</a:t>
              </a:r>
            </a:p>
            <a:p>
              <a:pPr marL="518162" lvl="1" indent="-259081" algn="l">
                <a:lnSpc>
                  <a:spcPts val="3360"/>
                </a:lnSpc>
                <a:buFont typeface="Arial"/>
                <a:buChar char="•"/>
              </a:pPr>
              <a:r>
                <a:rPr lang="en-US" sz="2400">
                  <a:solidFill>
                    <a:srgbClr val="FFFFFF"/>
                  </a:solidFill>
                  <a:latin typeface="TT Fors"/>
                  <a:ea typeface="TT Fors"/>
                  <a:cs typeface="TT Fors"/>
                  <a:sym typeface="TT Fors"/>
                </a:rPr>
                <a:t>cache: - Google's cached version</a:t>
              </a:r>
            </a:p>
          </p:txBody>
        </p:sp>
        <p:sp>
          <p:nvSpPr>
            <p:cNvPr id="17" name="TextBox 17"/>
            <p:cNvSpPr txBox="1"/>
            <p:nvPr/>
          </p:nvSpPr>
          <p:spPr>
            <a:xfrm>
              <a:off x="0" y="-180975"/>
              <a:ext cx="11303000" cy="668653"/>
            </a:xfrm>
            <a:prstGeom prst="rect">
              <a:avLst/>
            </a:prstGeom>
          </p:spPr>
          <p:txBody>
            <a:bodyPr lIns="0" tIns="0" rIns="0" bIns="0" rtlCol="0" anchor="t">
              <a:spAutoFit/>
            </a:bodyPr>
            <a:lstStyle/>
            <a:p>
              <a:pPr algn="l">
                <a:lnSpc>
                  <a:spcPts val="4800"/>
                </a:lnSpc>
              </a:pPr>
              <a:r>
                <a:rPr lang="en-US" sz="2400" b="1" spc="-72">
                  <a:solidFill>
                    <a:srgbClr val="FFFFFF"/>
                  </a:solidFill>
                  <a:latin typeface="TT Fors Bold"/>
                  <a:ea typeface="TT Fors Bold"/>
                  <a:cs typeface="TT Fors Bold"/>
                  <a:sym typeface="TT Fors Bold"/>
                </a:rPr>
                <a:t>Common Operators:</a:t>
              </a:r>
            </a:p>
          </p:txBody>
        </p:sp>
      </p:grpSp>
      <p:sp>
        <p:nvSpPr>
          <p:cNvPr id="18" name="TextBox 18"/>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Advanced Search Operators</a:t>
            </a:r>
          </a:p>
        </p:txBody>
      </p:sp>
      <p:sp>
        <p:nvSpPr>
          <p:cNvPr id="19" name="TextBox 19"/>
          <p:cNvSpPr txBox="1"/>
          <p:nvPr/>
        </p:nvSpPr>
        <p:spPr>
          <a:xfrm>
            <a:off x="666750" y="2906139"/>
            <a:ext cx="16954500" cy="971550"/>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FFFFFF"/>
                </a:solidFill>
                <a:latin typeface="TT Fors Bold"/>
                <a:ea typeface="TT Fors Bold"/>
                <a:cs typeface="TT Fors Bold"/>
                <a:sym typeface="TT Fors Bold"/>
              </a:rPr>
              <a:t>What is Google Dorking? </a:t>
            </a:r>
            <a:r>
              <a:rPr lang="en-US" sz="3199" spc="-95">
                <a:solidFill>
                  <a:srgbClr val="FFFFFF"/>
                </a:solidFill>
                <a:latin typeface="TT Fors"/>
                <a:ea typeface="TT Fors"/>
                <a:cs typeface="TT Fors"/>
                <a:sym typeface="TT Fors"/>
              </a:rPr>
              <a:t>Using advanced s</a:t>
            </a:r>
            <a:r>
              <a:rPr lang="en-US" sz="3199" u="none" strike="noStrike" spc="-95">
                <a:solidFill>
                  <a:srgbClr val="FFFFFF"/>
                </a:solidFill>
                <a:latin typeface="TT Fors"/>
                <a:ea typeface="TT Fors"/>
                <a:cs typeface="TT Fors"/>
                <a:sym typeface="TT Fors"/>
              </a:rPr>
              <a:t>earch operators to find specific information that regular searches might miss.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Googl</a:t>
            </a:r>
            <a:r>
              <a:rPr lang="en-US" sz="6000" u="none" strike="noStrike" spc="-179">
                <a:solidFill>
                  <a:srgbClr val="00FFA8"/>
                </a:solidFill>
                <a:latin typeface="ITC Avant Garde Gothic"/>
                <a:ea typeface="ITC Avant Garde Gothic"/>
                <a:cs typeface="ITC Avant Garde Gothic"/>
                <a:sym typeface="ITC Avant Garde Gothic"/>
              </a:rPr>
              <a:t>e Dorking - Practical Examples</a:t>
            </a:r>
          </a:p>
        </p:txBody>
      </p:sp>
      <p:grpSp>
        <p:nvGrpSpPr>
          <p:cNvPr id="3" name="Group 3"/>
          <p:cNvGrpSpPr/>
          <p:nvPr/>
        </p:nvGrpSpPr>
        <p:grpSpPr>
          <a:xfrm>
            <a:off x="666750" y="8753359"/>
            <a:ext cx="16954500" cy="947421"/>
            <a:chOff x="0" y="0"/>
            <a:chExt cx="4465332" cy="249533"/>
          </a:xfrm>
        </p:grpSpPr>
        <p:sp>
          <p:nvSpPr>
            <p:cNvPr id="4" name="Freeform 4"/>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5" name="TextBox 5"/>
            <p:cNvSpPr txBox="1"/>
            <p:nvPr/>
          </p:nvSpPr>
          <p:spPr>
            <a:xfrm>
              <a:off x="0" y="0"/>
              <a:ext cx="4465332" cy="249533"/>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Resource: </a:t>
              </a:r>
              <a:r>
                <a:rPr lang="en-US" sz="2800" spc="-84" dirty="0">
                  <a:solidFill>
                    <a:srgbClr val="FFFFFF"/>
                  </a:solidFill>
                  <a:latin typeface="TT Fors"/>
                  <a:ea typeface="TT Fors"/>
                  <a:cs typeface="TT Fors"/>
                  <a:sym typeface="TT Fors"/>
                </a:rPr>
                <a:t>Google Hacking Database (exploit-</a:t>
              </a:r>
              <a:r>
                <a:rPr lang="en-US" sz="2800" spc="-84" dirty="0" err="1">
                  <a:solidFill>
                    <a:srgbClr val="FFFFFF"/>
                  </a:solidFill>
                  <a:latin typeface="TT Fors"/>
                  <a:ea typeface="TT Fors"/>
                  <a:cs typeface="TT Fors"/>
                  <a:sym typeface="TT Fors"/>
                </a:rPr>
                <a:t>db.com</a:t>
              </a:r>
              <a:r>
                <a:rPr lang="en-US" sz="2800" spc="-84" dirty="0">
                  <a:solidFill>
                    <a:srgbClr val="FFFFFF"/>
                  </a:solidFill>
                  <a:latin typeface="TT Fors"/>
                  <a:ea typeface="TT Fors"/>
                  <a:cs typeface="TT Fors"/>
                  <a:sym typeface="TT Fors"/>
                </a:rPr>
                <a:t>/google-hacking-database)</a:t>
              </a:r>
            </a:p>
          </p:txBody>
        </p:sp>
      </p:grpSp>
      <p:grpSp>
        <p:nvGrpSpPr>
          <p:cNvPr id="6" name="Group 6"/>
          <p:cNvGrpSpPr/>
          <p:nvPr/>
        </p:nvGrpSpPr>
        <p:grpSpPr>
          <a:xfrm>
            <a:off x="666750" y="3178084"/>
            <a:ext cx="8477250" cy="1771648"/>
            <a:chOff x="0" y="0"/>
            <a:chExt cx="11303000" cy="2362198"/>
          </a:xfrm>
        </p:grpSpPr>
        <p:sp>
          <p:nvSpPr>
            <p:cNvPr id="7" name="TextBox 7"/>
            <p:cNvSpPr txBox="1"/>
            <p:nvPr/>
          </p:nvSpPr>
          <p:spPr>
            <a:xfrm>
              <a:off x="0" y="728978"/>
              <a:ext cx="11303000" cy="16332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FFFFFF"/>
                  </a:solidFill>
                  <a:latin typeface="TT Fors"/>
                  <a:ea typeface="TT Fors"/>
                  <a:cs typeface="TT Fors"/>
                  <a:sym typeface="TT Fors"/>
                </a:rPr>
                <a:t>site:mmu.edu.my filetype:pdf confidential</a:t>
              </a:r>
            </a:p>
            <a:p>
              <a:pPr marL="518162" lvl="1" indent="-259081" algn="l">
                <a:lnSpc>
                  <a:spcPts val="3360"/>
                </a:lnSpc>
                <a:buFont typeface="Arial"/>
                <a:buChar char="•"/>
              </a:pPr>
              <a:r>
                <a:rPr lang="en-US" sz="2400">
                  <a:solidFill>
                    <a:srgbClr val="FFFFFF"/>
                  </a:solidFill>
                  <a:latin typeface="TT Fors"/>
                  <a:ea typeface="TT Fors"/>
                  <a:cs typeface="TT Fors"/>
                  <a:sym typeface="TT Fors"/>
                </a:rPr>
                <a:t>intitle:"index of" backup</a:t>
              </a:r>
            </a:p>
            <a:p>
              <a:pPr marL="518162" lvl="1" indent="-259081" algn="l">
                <a:lnSpc>
                  <a:spcPts val="3360"/>
                </a:lnSpc>
                <a:buFont typeface="Arial"/>
                <a:buChar char="•"/>
              </a:pPr>
              <a:r>
                <a:rPr lang="en-US" sz="2400">
                  <a:solidFill>
                    <a:srgbClr val="FFFFFF"/>
                  </a:solidFill>
                  <a:latin typeface="TT Fors"/>
                  <a:ea typeface="TT Fors"/>
                  <a:cs typeface="TT Fors"/>
                  <a:sym typeface="TT Fors"/>
                </a:rPr>
                <a:t>filetype:xls username password</a:t>
              </a:r>
            </a:p>
          </p:txBody>
        </p:sp>
        <p:sp>
          <p:nvSpPr>
            <p:cNvPr id="8" name="TextBox 8"/>
            <p:cNvSpPr txBox="1"/>
            <p:nvPr/>
          </p:nvSpPr>
          <p:spPr>
            <a:xfrm>
              <a:off x="0" y="-180975"/>
              <a:ext cx="11303000" cy="668653"/>
            </a:xfrm>
            <a:prstGeom prst="rect">
              <a:avLst/>
            </a:prstGeom>
          </p:spPr>
          <p:txBody>
            <a:bodyPr lIns="0" tIns="0" rIns="0" bIns="0" rtlCol="0" anchor="t">
              <a:spAutoFit/>
            </a:bodyPr>
            <a:lstStyle/>
            <a:p>
              <a:pPr algn="l">
                <a:lnSpc>
                  <a:spcPts val="4800"/>
                </a:lnSpc>
              </a:pPr>
              <a:r>
                <a:rPr lang="en-US" sz="2400" b="1" spc="-72">
                  <a:solidFill>
                    <a:srgbClr val="FFFFFF"/>
                  </a:solidFill>
                  <a:latin typeface="TT Fors Bold"/>
                  <a:ea typeface="TT Fors Bold"/>
                  <a:cs typeface="TT Fors Bold"/>
                  <a:sym typeface="TT Fors Bold"/>
                </a:rPr>
                <a:t>Finding exposed files:</a:t>
              </a:r>
            </a:p>
          </p:txBody>
        </p:sp>
      </p:grpSp>
      <p:grpSp>
        <p:nvGrpSpPr>
          <p:cNvPr id="9" name="Group 9"/>
          <p:cNvGrpSpPr/>
          <p:nvPr/>
        </p:nvGrpSpPr>
        <p:grpSpPr>
          <a:xfrm>
            <a:off x="666750" y="5435601"/>
            <a:ext cx="8477250" cy="3028948"/>
            <a:chOff x="0" y="0"/>
            <a:chExt cx="11303000" cy="4038598"/>
          </a:xfrm>
        </p:grpSpPr>
        <p:sp>
          <p:nvSpPr>
            <p:cNvPr id="10" name="TextBox 10"/>
            <p:cNvSpPr txBox="1"/>
            <p:nvPr/>
          </p:nvSpPr>
          <p:spPr>
            <a:xfrm>
              <a:off x="0" y="728978"/>
              <a:ext cx="11303000" cy="33096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FFFFFF"/>
                  </a:solidFill>
                  <a:latin typeface="TT Fors"/>
                  <a:ea typeface="TT Fors"/>
                  <a:cs typeface="TT Fors"/>
                  <a:sym typeface="TT Fors"/>
                </a:rPr>
                <a:t>inurl:admin intitle:login</a:t>
              </a:r>
            </a:p>
            <a:p>
              <a:pPr marL="518162" lvl="1" indent="-259081" algn="l">
                <a:lnSpc>
                  <a:spcPts val="3360"/>
                </a:lnSpc>
                <a:buFont typeface="Arial"/>
                <a:buChar char="•"/>
              </a:pPr>
              <a:r>
                <a:rPr lang="en-US" sz="2400">
                  <a:solidFill>
                    <a:srgbClr val="FFFFFF"/>
                  </a:solidFill>
                  <a:latin typeface="TT Fors"/>
                  <a:ea typeface="TT Fors"/>
                  <a:cs typeface="TT Fors"/>
                  <a:sym typeface="TT Fors"/>
                </a:rPr>
                <a:t>intitle:"Apache Status" "Apache Server Status for"</a:t>
              </a:r>
            </a:p>
            <a:p>
              <a:pPr marL="518162" lvl="1" indent="-259081" algn="l">
                <a:lnSpc>
                  <a:spcPts val="3360"/>
                </a:lnSpc>
                <a:buFont typeface="Arial"/>
                <a:buChar char="•"/>
              </a:pPr>
              <a:r>
                <a:rPr lang="en-US" sz="2400">
                  <a:solidFill>
                    <a:srgbClr val="FFFFFF"/>
                  </a:solidFill>
                  <a:latin typeface="TT Fors"/>
                  <a:ea typeface="TT Fors"/>
                  <a:cs typeface="TT Fors"/>
                  <a:sym typeface="TT Fors"/>
                </a:rPr>
                <a:t>inurl:8080 -intext:8080</a:t>
              </a:r>
            </a:p>
            <a:p>
              <a:pPr marL="518162" lvl="1" indent="-259081" algn="l">
                <a:lnSpc>
                  <a:spcPts val="3360"/>
                </a:lnSpc>
                <a:buFont typeface="Arial"/>
                <a:buChar char="•"/>
              </a:pPr>
              <a:r>
                <a:rPr lang="en-US" sz="2400">
                  <a:solidFill>
                    <a:srgbClr val="FFFFFF"/>
                  </a:solidFill>
                  <a:latin typeface="TT Fors"/>
                  <a:ea typeface="TT Fors"/>
                  <a:cs typeface="TT Fors"/>
                  <a:sym typeface="TT Fors"/>
                </a:rPr>
                <a:t>cache:example.com</a:t>
              </a:r>
            </a:p>
            <a:p>
              <a:pPr marL="518162" lvl="1" indent="-259081" algn="l">
                <a:lnSpc>
                  <a:spcPts val="3360"/>
                </a:lnSpc>
                <a:buFont typeface="Arial"/>
                <a:buChar char="•"/>
              </a:pPr>
              <a:r>
                <a:rPr lang="en-US" sz="2400">
                  <a:solidFill>
                    <a:srgbClr val="FFFFFF"/>
                  </a:solidFill>
                  <a:latin typeface="TT Fors"/>
                  <a:ea typeface="TT Fors"/>
                  <a:cs typeface="TT Fors"/>
                  <a:sym typeface="TT Fors"/>
                </a:rPr>
                <a:t>intitle:"Apache Tomcat" "Error" inurl:phpinfo.php</a:t>
              </a:r>
            </a:p>
            <a:p>
              <a:pPr marL="518162" lvl="1" indent="-259081" algn="l">
                <a:lnSpc>
                  <a:spcPts val="3360"/>
                </a:lnSpc>
                <a:buFont typeface="Arial"/>
                <a:buChar char="•"/>
              </a:pPr>
              <a:r>
                <a:rPr lang="en-US" sz="2400">
                  <a:solidFill>
                    <a:srgbClr val="FFFFFF"/>
                  </a:solidFill>
                  <a:latin typeface="TT Fors"/>
                  <a:ea typeface="TT Fors"/>
                  <a:cs typeface="TT Fors"/>
                  <a:sym typeface="TT Fors"/>
                </a:rPr>
                <a:t>intitle:"phpMyAdmin" "Welcome to phpMyAdmin"</a:t>
              </a:r>
            </a:p>
          </p:txBody>
        </p:sp>
        <p:sp>
          <p:nvSpPr>
            <p:cNvPr id="11" name="TextBox 11"/>
            <p:cNvSpPr txBox="1"/>
            <p:nvPr/>
          </p:nvSpPr>
          <p:spPr>
            <a:xfrm>
              <a:off x="0" y="-180975"/>
              <a:ext cx="11303000" cy="668653"/>
            </a:xfrm>
            <a:prstGeom prst="rect">
              <a:avLst/>
            </a:prstGeom>
          </p:spPr>
          <p:txBody>
            <a:bodyPr lIns="0" tIns="0" rIns="0" bIns="0" rtlCol="0" anchor="t">
              <a:spAutoFit/>
            </a:bodyPr>
            <a:lstStyle/>
            <a:p>
              <a:pPr algn="l">
                <a:lnSpc>
                  <a:spcPts val="4800"/>
                </a:lnSpc>
              </a:pPr>
              <a:r>
                <a:rPr lang="en-US" sz="2400" b="1" spc="-72">
                  <a:solidFill>
                    <a:srgbClr val="FFFFFF"/>
                  </a:solidFill>
                  <a:latin typeface="TT Fors Bold"/>
                  <a:ea typeface="TT Fors Bold"/>
                  <a:cs typeface="TT Fors Bold"/>
                  <a:sym typeface="TT Fors Bold"/>
                </a:rPr>
                <a:t>Finding vulnerable systems:</a:t>
              </a:r>
            </a:p>
          </p:txBody>
        </p:sp>
      </p:grpSp>
      <p:grpSp>
        <p:nvGrpSpPr>
          <p:cNvPr id="12" name="Group 12"/>
          <p:cNvGrpSpPr/>
          <p:nvPr/>
        </p:nvGrpSpPr>
        <p:grpSpPr>
          <a:xfrm>
            <a:off x="9680448" y="3178084"/>
            <a:ext cx="4958892" cy="2190748"/>
            <a:chOff x="0" y="0"/>
            <a:chExt cx="6611856" cy="2920998"/>
          </a:xfrm>
        </p:grpSpPr>
        <p:sp>
          <p:nvSpPr>
            <p:cNvPr id="13" name="TextBox 13"/>
            <p:cNvSpPr txBox="1"/>
            <p:nvPr/>
          </p:nvSpPr>
          <p:spPr>
            <a:xfrm>
              <a:off x="0" y="728978"/>
              <a:ext cx="6611856" cy="21920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FFFFFF"/>
                  </a:solidFill>
                  <a:latin typeface="TT Fors"/>
                  <a:ea typeface="TT Fors"/>
                  <a:cs typeface="TT Fors"/>
                  <a:sym typeface="TT Fors"/>
                </a:rPr>
                <a:t>filetype:env DB_PASSWORD</a:t>
              </a:r>
            </a:p>
            <a:p>
              <a:pPr marL="518162" lvl="1" indent="-259081" algn="l">
                <a:lnSpc>
                  <a:spcPts val="3360"/>
                </a:lnSpc>
                <a:buFont typeface="Arial"/>
                <a:buChar char="•"/>
              </a:pPr>
              <a:r>
                <a:rPr lang="en-US" sz="2400">
                  <a:solidFill>
                    <a:srgbClr val="FFFFFF"/>
                  </a:solidFill>
                  <a:latin typeface="TT Fors"/>
                  <a:ea typeface="TT Fors"/>
                  <a:cs typeface="TT Fors"/>
                  <a:sym typeface="TT Fors"/>
                </a:rPr>
                <a:t>ext:conf intext:password</a:t>
              </a:r>
            </a:p>
            <a:p>
              <a:pPr marL="518162" lvl="1" indent="-259081" algn="l">
                <a:lnSpc>
                  <a:spcPts val="3360"/>
                </a:lnSpc>
                <a:buFont typeface="Arial"/>
                <a:buChar char="•"/>
              </a:pPr>
              <a:r>
                <a:rPr lang="en-US" sz="2400">
                  <a:solidFill>
                    <a:srgbClr val="FFFFFF"/>
                  </a:solidFill>
                  <a:latin typeface="TT Fors"/>
                  <a:ea typeface="TT Fors"/>
                  <a:cs typeface="TT Fors"/>
                  <a:sym typeface="TT Fors"/>
                </a:rPr>
                <a:t>filetype:ovpn</a:t>
              </a:r>
            </a:p>
            <a:p>
              <a:pPr algn="l">
                <a:lnSpc>
                  <a:spcPts val="3360"/>
                </a:lnSpc>
              </a:pPr>
              <a:endParaRPr lang="en-US" sz="2400">
                <a:solidFill>
                  <a:srgbClr val="FFFFFF"/>
                </a:solidFill>
                <a:latin typeface="TT Fors"/>
                <a:ea typeface="TT Fors"/>
                <a:cs typeface="TT Fors"/>
                <a:sym typeface="TT Fors"/>
              </a:endParaRPr>
            </a:p>
          </p:txBody>
        </p:sp>
        <p:sp>
          <p:nvSpPr>
            <p:cNvPr id="14" name="TextBox 14"/>
            <p:cNvSpPr txBox="1"/>
            <p:nvPr/>
          </p:nvSpPr>
          <p:spPr>
            <a:xfrm>
              <a:off x="0" y="-180975"/>
              <a:ext cx="6611856" cy="668653"/>
            </a:xfrm>
            <a:prstGeom prst="rect">
              <a:avLst/>
            </a:prstGeom>
          </p:spPr>
          <p:txBody>
            <a:bodyPr lIns="0" tIns="0" rIns="0" bIns="0" rtlCol="0" anchor="t">
              <a:spAutoFit/>
            </a:bodyPr>
            <a:lstStyle/>
            <a:p>
              <a:pPr algn="l">
                <a:lnSpc>
                  <a:spcPts val="4800"/>
                </a:lnSpc>
              </a:pPr>
              <a:r>
                <a:rPr lang="en-US" sz="2400" b="1" spc="-72">
                  <a:solidFill>
                    <a:srgbClr val="FFFFFF"/>
                  </a:solidFill>
                  <a:latin typeface="TT Fors Bold"/>
                  <a:ea typeface="TT Fors Bold"/>
                  <a:cs typeface="TT Fors Bold"/>
                  <a:sym typeface="TT Fors Bold"/>
                </a:rPr>
                <a:t>Finding configuration files:</a:t>
              </a:r>
            </a:p>
          </p:txBody>
        </p:sp>
      </p:grpSp>
      <p:sp>
        <p:nvSpPr>
          <p:cNvPr id="15" name="TextBox 15"/>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Real-World Search Queries</a:t>
            </a:r>
          </a:p>
        </p:txBody>
      </p:sp>
      <p:grpSp>
        <p:nvGrpSpPr>
          <p:cNvPr id="16" name="Group 16"/>
          <p:cNvGrpSpPr/>
          <p:nvPr/>
        </p:nvGrpSpPr>
        <p:grpSpPr>
          <a:xfrm>
            <a:off x="9680448" y="5435601"/>
            <a:ext cx="7940802" cy="1938021"/>
            <a:chOff x="0" y="0"/>
            <a:chExt cx="2091381" cy="510438"/>
          </a:xfrm>
        </p:grpSpPr>
        <p:sp>
          <p:nvSpPr>
            <p:cNvPr id="17" name="Freeform 17"/>
            <p:cNvSpPr/>
            <p:nvPr/>
          </p:nvSpPr>
          <p:spPr>
            <a:xfrm>
              <a:off x="0" y="0"/>
              <a:ext cx="2091381" cy="510438"/>
            </a:xfrm>
            <a:custGeom>
              <a:avLst/>
              <a:gdLst/>
              <a:ahLst/>
              <a:cxnLst/>
              <a:rect l="l" t="t" r="r" b="b"/>
              <a:pathLst>
                <a:path w="2091381" h="510438">
                  <a:moveTo>
                    <a:pt x="2091381" y="19499"/>
                  </a:moveTo>
                  <a:lnTo>
                    <a:pt x="2091381" y="490939"/>
                  </a:lnTo>
                  <a:cubicBezTo>
                    <a:pt x="2091381" y="501708"/>
                    <a:pt x="2082651" y="510438"/>
                    <a:pt x="2071882" y="510438"/>
                  </a:cubicBezTo>
                  <a:lnTo>
                    <a:pt x="19499" y="510438"/>
                  </a:lnTo>
                  <a:cubicBezTo>
                    <a:pt x="8730" y="510438"/>
                    <a:pt x="0" y="501708"/>
                    <a:pt x="0" y="490939"/>
                  </a:cubicBezTo>
                  <a:lnTo>
                    <a:pt x="0" y="19499"/>
                  </a:lnTo>
                  <a:cubicBezTo>
                    <a:pt x="0" y="8730"/>
                    <a:pt x="8730" y="0"/>
                    <a:pt x="19499" y="0"/>
                  </a:cubicBezTo>
                  <a:lnTo>
                    <a:pt x="2071882" y="0"/>
                  </a:lnTo>
                  <a:cubicBezTo>
                    <a:pt x="2082651" y="0"/>
                    <a:pt x="2091381" y="8730"/>
                    <a:pt x="2091381" y="19499"/>
                  </a:cubicBezTo>
                  <a:close/>
                </a:path>
              </a:pathLst>
            </a:custGeom>
            <a:solidFill>
              <a:srgbClr val="E10505"/>
            </a:solidFill>
            <a:ln cap="sq">
              <a:noFill/>
              <a:prstDash val="solid"/>
              <a:miter/>
            </a:ln>
          </p:spPr>
          <p:txBody>
            <a:bodyPr/>
            <a:lstStyle/>
            <a:p>
              <a:endParaRPr lang="en-US"/>
            </a:p>
          </p:txBody>
        </p:sp>
        <p:sp>
          <p:nvSpPr>
            <p:cNvPr id="18" name="TextBox 18"/>
            <p:cNvSpPr txBox="1"/>
            <p:nvPr/>
          </p:nvSpPr>
          <p:spPr>
            <a:xfrm>
              <a:off x="0" y="0"/>
              <a:ext cx="2091381" cy="510438"/>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 CRITICAL: </a:t>
              </a:r>
              <a:r>
                <a:rPr lang="en-US" sz="2800" spc="-84" dirty="0">
                  <a:solidFill>
                    <a:srgbClr val="FFFFFF"/>
                  </a:solidFill>
                  <a:latin typeface="TT Fors"/>
                  <a:ea typeface="TT Fors"/>
                  <a:cs typeface="TT Fors"/>
                  <a:sym typeface="TT Fors"/>
                </a:rPr>
                <a:t>Only use Google Dorking on domains you're authorized to test! Accessing exposed files without permission is illegal.</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Modern Tools -</a:t>
            </a:r>
            <a:r>
              <a:rPr lang="en-US" sz="6000" u="none" strike="noStrike" spc="-179">
                <a:solidFill>
                  <a:srgbClr val="00FFA8"/>
                </a:solidFill>
                <a:latin typeface="ITC Avant Garde Gothic"/>
                <a:ea typeface="ITC Avant Garde Gothic"/>
                <a:cs typeface="ITC Avant Garde Gothic"/>
                <a:sym typeface="ITC Avant Garde Gothic"/>
              </a:rPr>
              <a:t> DorkGPT</a:t>
            </a:r>
          </a:p>
        </p:txBody>
      </p:sp>
      <p:grpSp>
        <p:nvGrpSpPr>
          <p:cNvPr id="3" name="Group 3"/>
          <p:cNvGrpSpPr/>
          <p:nvPr/>
        </p:nvGrpSpPr>
        <p:grpSpPr>
          <a:xfrm>
            <a:off x="666750" y="8226424"/>
            <a:ext cx="16954500" cy="1442721"/>
            <a:chOff x="0" y="0"/>
            <a:chExt cx="4465332" cy="379985"/>
          </a:xfrm>
        </p:grpSpPr>
        <p:sp>
          <p:nvSpPr>
            <p:cNvPr id="4" name="Freeform 4"/>
            <p:cNvSpPr/>
            <p:nvPr/>
          </p:nvSpPr>
          <p:spPr>
            <a:xfrm>
              <a:off x="0" y="0"/>
              <a:ext cx="4465332" cy="379985"/>
            </a:xfrm>
            <a:custGeom>
              <a:avLst/>
              <a:gdLst/>
              <a:ahLst/>
              <a:cxnLst/>
              <a:rect l="l" t="t" r="r" b="b"/>
              <a:pathLst>
                <a:path w="4465332" h="379985">
                  <a:moveTo>
                    <a:pt x="4465332" y="9133"/>
                  </a:moveTo>
                  <a:lnTo>
                    <a:pt x="4465332" y="370853"/>
                  </a:lnTo>
                  <a:cubicBezTo>
                    <a:pt x="4465332" y="373275"/>
                    <a:pt x="4464370" y="375598"/>
                    <a:pt x="4462657" y="377310"/>
                  </a:cubicBezTo>
                  <a:cubicBezTo>
                    <a:pt x="4460944" y="379023"/>
                    <a:pt x="4458622" y="379985"/>
                    <a:pt x="4456200" y="379985"/>
                  </a:cubicBezTo>
                  <a:lnTo>
                    <a:pt x="9133" y="379985"/>
                  </a:lnTo>
                  <a:cubicBezTo>
                    <a:pt x="6710" y="379985"/>
                    <a:pt x="4388" y="379023"/>
                    <a:pt x="2675" y="377310"/>
                  </a:cubicBezTo>
                  <a:cubicBezTo>
                    <a:pt x="962" y="375598"/>
                    <a:pt x="0" y="373275"/>
                    <a:pt x="0" y="370853"/>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5" name="TextBox 5"/>
            <p:cNvSpPr txBox="1"/>
            <p:nvPr/>
          </p:nvSpPr>
          <p:spPr>
            <a:xfrm>
              <a:off x="0" y="0"/>
              <a:ext cx="4465332" cy="379985"/>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Example:</a:t>
              </a:r>
              <a:r>
                <a:rPr lang="en-US" sz="2800" spc="-84" dirty="0">
                  <a:solidFill>
                    <a:srgbClr val="FFFFFF"/>
                  </a:solidFill>
                  <a:latin typeface="TT Fors"/>
                  <a:ea typeface="TT Fors"/>
                  <a:cs typeface="TT Fors"/>
                  <a:sym typeface="TT Fors"/>
                </a:rPr>
                <a:t> "Find exposed database backup files on educational institutions" → Generates: </a:t>
              </a:r>
              <a:r>
                <a:rPr lang="en-US" sz="2800" spc="-84" dirty="0" err="1">
                  <a:solidFill>
                    <a:srgbClr val="FFFFFF"/>
                  </a:solidFill>
                  <a:latin typeface="TT Fors"/>
                  <a:ea typeface="TT Fors"/>
                  <a:cs typeface="TT Fors"/>
                  <a:sym typeface="TT Fors"/>
                </a:rPr>
                <a:t>site:edu</a:t>
              </a:r>
              <a:r>
                <a:rPr lang="en-US" sz="2800" spc="-84" dirty="0">
                  <a:solidFill>
                    <a:srgbClr val="FFFFFF"/>
                  </a:solidFill>
                  <a:latin typeface="TT Fors"/>
                  <a:ea typeface="TT Fors"/>
                  <a:cs typeface="TT Fors"/>
                  <a:sym typeface="TT Fors"/>
                </a:rPr>
                <a:t> </a:t>
              </a:r>
              <a:r>
                <a:rPr lang="en-US" sz="2800" spc="-84" dirty="0" err="1">
                  <a:solidFill>
                    <a:srgbClr val="FFFFFF"/>
                  </a:solidFill>
                  <a:latin typeface="TT Fors"/>
                  <a:ea typeface="TT Fors"/>
                  <a:cs typeface="TT Fors"/>
                  <a:sym typeface="TT Fors"/>
                </a:rPr>
                <a:t>filetype:sql</a:t>
              </a:r>
              <a:r>
                <a:rPr lang="en-US" sz="2800" spc="-84" dirty="0">
                  <a:solidFill>
                    <a:srgbClr val="FFFFFF"/>
                  </a:solidFill>
                  <a:latin typeface="TT Fors"/>
                  <a:ea typeface="TT Fors"/>
                  <a:cs typeface="TT Fors"/>
                  <a:sym typeface="TT Fors"/>
                </a:rPr>
                <a:t> "backup" OR "dump"</a:t>
              </a:r>
            </a:p>
          </p:txBody>
        </p:sp>
      </p:grpSp>
      <p:grpSp>
        <p:nvGrpSpPr>
          <p:cNvPr id="6" name="Group 6"/>
          <p:cNvGrpSpPr/>
          <p:nvPr/>
        </p:nvGrpSpPr>
        <p:grpSpPr>
          <a:xfrm>
            <a:off x="666750" y="3178084"/>
            <a:ext cx="8477250" cy="1771648"/>
            <a:chOff x="0" y="0"/>
            <a:chExt cx="11303000" cy="2362198"/>
          </a:xfrm>
        </p:grpSpPr>
        <p:sp>
          <p:nvSpPr>
            <p:cNvPr id="7" name="TextBox 7"/>
            <p:cNvSpPr txBox="1"/>
            <p:nvPr/>
          </p:nvSpPr>
          <p:spPr>
            <a:xfrm>
              <a:off x="0" y="728978"/>
              <a:ext cx="11303000" cy="16332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FFA8"/>
                  </a:solidFill>
                  <a:latin typeface="TT Fors"/>
                  <a:ea typeface="TT Fors"/>
                  <a:cs typeface="TT Fors"/>
                  <a:sym typeface="TT Fors"/>
                </a:rPr>
                <a:t>AI-powered tool for generating Google dorks</a:t>
              </a:r>
            </a:p>
            <a:p>
              <a:pPr marL="518162" lvl="1" indent="-259081" algn="l">
                <a:lnSpc>
                  <a:spcPts val="3360"/>
                </a:lnSpc>
                <a:buFont typeface="Arial"/>
                <a:buChar char="•"/>
              </a:pPr>
              <a:r>
                <a:rPr lang="en-US" sz="2400">
                  <a:solidFill>
                    <a:srgbClr val="00FFA8"/>
                  </a:solidFill>
                  <a:latin typeface="TT Fors"/>
                  <a:ea typeface="TT Fors"/>
                  <a:cs typeface="TT Fors"/>
                  <a:sym typeface="TT Fors"/>
                </a:rPr>
                <a:t>Simplifies complex query creation</a:t>
              </a:r>
            </a:p>
            <a:p>
              <a:pPr marL="518162" lvl="1" indent="-259081" algn="l">
                <a:lnSpc>
                  <a:spcPts val="3360"/>
                </a:lnSpc>
                <a:buFont typeface="Arial"/>
                <a:buChar char="•"/>
              </a:pPr>
              <a:r>
                <a:rPr lang="en-US" sz="2400">
                  <a:solidFill>
                    <a:srgbClr val="00FFA8"/>
                  </a:solidFill>
                  <a:latin typeface="TT Fors"/>
                  <a:ea typeface="TT Fors"/>
                  <a:cs typeface="TT Fors"/>
                  <a:sym typeface="TT Fors"/>
                </a:rPr>
                <a:t>Helps discover creative search patterns</a:t>
              </a:r>
            </a:p>
          </p:txBody>
        </p:sp>
        <p:sp>
          <p:nvSpPr>
            <p:cNvPr id="8" name="TextBox 8"/>
            <p:cNvSpPr txBox="1"/>
            <p:nvPr/>
          </p:nvSpPr>
          <p:spPr>
            <a:xfrm>
              <a:off x="0" y="-180975"/>
              <a:ext cx="11303000"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DorkGPT (dorkgpt.com):</a:t>
              </a:r>
            </a:p>
          </p:txBody>
        </p:sp>
      </p:grpSp>
      <p:grpSp>
        <p:nvGrpSpPr>
          <p:cNvPr id="9" name="Group 9"/>
          <p:cNvGrpSpPr/>
          <p:nvPr/>
        </p:nvGrpSpPr>
        <p:grpSpPr>
          <a:xfrm>
            <a:off x="666750" y="5435601"/>
            <a:ext cx="8477250" cy="2190748"/>
            <a:chOff x="0" y="0"/>
            <a:chExt cx="11303000" cy="2920998"/>
          </a:xfrm>
        </p:grpSpPr>
        <p:sp>
          <p:nvSpPr>
            <p:cNvPr id="10" name="TextBox 10"/>
            <p:cNvSpPr txBox="1"/>
            <p:nvPr/>
          </p:nvSpPr>
          <p:spPr>
            <a:xfrm>
              <a:off x="0" y="728978"/>
              <a:ext cx="11303000" cy="2192020"/>
            </a:xfrm>
            <a:prstGeom prst="rect">
              <a:avLst/>
            </a:prstGeom>
          </p:spPr>
          <p:txBody>
            <a:bodyPr lIns="0" tIns="0" rIns="0" bIns="0" rtlCol="0" anchor="t">
              <a:spAutoFit/>
            </a:bodyPr>
            <a:lstStyle/>
            <a:p>
              <a:pPr marL="518162" lvl="1" indent="-259081" algn="l">
                <a:lnSpc>
                  <a:spcPts val="3360"/>
                </a:lnSpc>
                <a:buAutoNum type="arabicPeriod"/>
              </a:pPr>
              <a:r>
                <a:rPr lang="en-US" sz="2400">
                  <a:solidFill>
                    <a:srgbClr val="00FFA8"/>
                  </a:solidFill>
                  <a:latin typeface="TT Fors"/>
                  <a:ea typeface="TT Fors"/>
                  <a:cs typeface="TT Fors"/>
                  <a:sym typeface="TT Fors"/>
                </a:rPr>
                <a:t>Describe what information you're looking for</a:t>
              </a:r>
            </a:p>
            <a:p>
              <a:pPr marL="518162" lvl="1" indent="-259081" algn="l">
                <a:lnSpc>
                  <a:spcPts val="3360"/>
                </a:lnSpc>
                <a:buAutoNum type="arabicPeriod"/>
              </a:pPr>
              <a:r>
                <a:rPr lang="en-US" sz="2400">
                  <a:solidFill>
                    <a:srgbClr val="00FFA8"/>
                  </a:solidFill>
                  <a:latin typeface="TT Fors"/>
                  <a:ea typeface="TT Fors"/>
                  <a:cs typeface="TT Fors"/>
                  <a:sym typeface="TT Fors"/>
                </a:rPr>
                <a:t>DorkGPT generates appropriate search queries</a:t>
              </a:r>
            </a:p>
            <a:p>
              <a:pPr marL="518162" lvl="1" indent="-259081" algn="l">
                <a:lnSpc>
                  <a:spcPts val="3360"/>
                </a:lnSpc>
                <a:buAutoNum type="arabicPeriod"/>
              </a:pPr>
              <a:r>
                <a:rPr lang="en-US" sz="2400">
                  <a:solidFill>
                    <a:srgbClr val="00FFA8"/>
                  </a:solidFill>
                  <a:latin typeface="TT Fors"/>
                  <a:ea typeface="TT Fors"/>
                  <a:cs typeface="TT Fors"/>
                  <a:sym typeface="TT Fors"/>
                </a:rPr>
                <a:t>Use generated queries in search engines</a:t>
              </a:r>
            </a:p>
            <a:p>
              <a:pPr marL="518162" lvl="1" indent="-259081" algn="l">
                <a:lnSpc>
                  <a:spcPts val="3360"/>
                </a:lnSpc>
                <a:buAutoNum type="arabicPeriod"/>
              </a:pPr>
              <a:r>
                <a:rPr lang="en-US" sz="2400">
                  <a:solidFill>
                    <a:srgbClr val="00FFA8"/>
                  </a:solidFill>
                  <a:latin typeface="TT Fors"/>
                  <a:ea typeface="TT Fors"/>
                  <a:cs typeface="TT Fors"/>
                  <a:sym typeface="TT Fors"/>
                </a:rPr>
                <a:t>Refine results based on findings</a:t>
              </a:r>
            </a:p>
          </p:txBody>
        </p:sp>
        <p:sp>
          <p:nvSpPr>
            <p:cNvPr id="11" name="TextBox 11"/>
            <p:cNvSpPr txBox="1"/>
            <p:nvPr/>
          </p:nvSpPr>
          <p:spPr>
            <a:xfrm>
              <a:off x="0" y="-180975"/>
              <a:ext cx="11303000"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How it works:</a:t>
              </a:r>
            </a:p>
          </p:txBody>
        </p:sp>
      </p:grpSp>
      <p:sp>
        <p:nvSpPr>
          <p:cNvPr id="12" name="TextBox 12"/>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AI-Assisted Reconnaissance</a:t>
            </a:r>
          </a:p>
        </p:txBody>
      </p:sp>
      <p:grpSp>
        <p:nvGrpSpPr>
          <p:cNvPr id="13" name="Group 13"/>
          <p:cNvGrpSpPr/>
          <p:nvPr/>
        </p:nvGrpSpPr>
        <p:grpSpPr>
          <a:xfrm>
            <a:off x="16115522" y="751544"/>
            <a:ext cx="1505728" cy="810556"/>
            <a:chOff x="0" y="0"/>
            <a:chExt cx="2007638" cy="1080741"/>
          </a:xfrm>
        </p:grpSpPr>
        <p:grpSp>
          <p:nvGrpSpPr>
            <p:cNvPr id="14" name="Group 14"/>
            <p:cNvGrpSpPr/>
            <p:nvPr/>
          </p:nvGrpSpPr>
          <p:grpSpPr>
            <a:xfrm>
              <a:off x="0" y="0"/>
              <a:ext cx="1080741" cy="1080741"/>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926897" y="0"/>
              <a:ext cx="1080741" cy="108074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0" name="Freeform 20"/>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Freeform 21"/>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WHOIS Lookups</a:t>
            </a:r>
          </a:p>
        </p:txBody>
      </p:sp>
      <p:grpSp>
        <p:nvGrpSpPr>
          <p:cNvPr id="3" name="Group 3"/>
          <p:cNvGrpSpPr/>
          <p:nvPr/>
        </p:nvGrpSpPr>
        <p:grpSpPr>
          <a:xfrm>
            <a:off x="666750" y="8278237"/>
            <a:ext cx="16954500" cy="1442721"/>
            <a:chOff x="0" y="0"/>
            <a:chExt cx="4465332" cy="379985"/>
          </a:xfrm>
        </p:grpSpPr>
        <p:sp>
          <p:nvSpPr>
            <p:cNvPr id="4" name="Freeform 4"/>
            <p:cNvSpPr/>
            <p:nvPr/>
          </p:nvSpPr>
          <p:spPr>
            <a:xfrm>
              <a:off x="0" y="0"/>
              <a:ext cx="4465332" cy="379985"/>
            </a:xfrm>
            <a:custGeom>
              <a:avLst/>
              <a:gdLst/>
              <a:ahLst/>
              <a:cxnLst/>
              <a:rect l="l" t="t" r="r" b="b"/>
              <a:pathLst>
                <a:path w="4465332" h="379985">
                  <a:moveTo>
                    <a:pt x="4465332" y="9133"/>
                  </a:moveTo>
                  <a:lnTo>
                    <a:pt x="4465332" y="370853"/>
                  </a:lnTo>
                  <a:cubicBezTo>
                    <a:pt x="4465332" y="373275"/>
                    <a:pt x="4464370" y="375598"/>
                    <a:pt x="4462657" y="377310"/>
                  </a:cubicBezTo>
                  <a:cubicBezTo>
                    <a:pt x="4460944" y="379023"/>
                    <a:pt x="4458622" y="379985"/>
                    <a:pt x="4456200" y="379985"/>
                  </a:cubicBezTo>
                  <a:lnTo>
                    <a:pt x="9133" y="379985"/>
                  </a:lnTo>
                  <a:cubicBezTo>
                    <a:pt x="6710" y="379985"/>
                    <a:pt x="4388" y="379023"/>
                    <a:pt x="2675" y="377310"/>
                  </a:cubicBezTo>
                  <a:cubicBezTo>
                    <a:pt x="962" y="375598"/>
                    <a:pt x="0" y="373275"/>
                    <a:pt x="0" y="370853"/>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5" name="TextBox 5"/>
            <p:cNvSpPr txBox="1"/>
            <p:nvPr/>
          </p:nvSpPr>
          <p:spPr>
            <a:xfrm>
              <a:off x="0" y="0"/>
              <a:ext cx="4465332" cy="379985"/>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Note:</a:t>
              </a:r>
              <a:r>
                <a:rPr lang="en-US" sz="2800" spc="-84" dirty="0">
                  <a:solidFill>
                    <a:srgbClr val="FFFFFF"/>
                  </a:solidFill>
                  <a:latin typeface="TT Fors"/>
                  <a:ea typeface="TT Fors"/>
                  <a:cs typeface="TT Fors"/>
                  <a:sym typeface="TT Fors"/>
                </a:rPr>
                <a:t> Privacy protection services may redact personal information, but organizational details often remain visible.</a:t>
              </a:r>
            </a:p>
          </p:txBody>
        </p:sp>
      </p:grpSp>
      <p:grpSp>
        <p:nvGrpSpPr>
          <p:cNvPr id="6" name="Group 6"/>
          <p:cNvGrpSpPr/>
          <p:nvPr/>
        </p:nvGrpSpPr>
        <p:grpSpPr>
          <a:xfrm>
            <a:off x="666750" y="3877689"/>
            <a:ext cx="8477250" cy="3867148"/>
            <a:chOff x="0" y="0"/>
            <a:chExt cx="11303000" cy="5156198"/>
          </a:xfrm>
        </p:grpSpPr>
        <p:sp>
          <p:nvSpPr>
            <p:cNvPr id="7" name="TextBox 7"/>
            <p:cNvSpPr txBox="1"/>
            <p:nvPr/>
          </p:nvSpPr>
          <p:spPr>
            <a:xfrm>
              <a:off x="0" y="728978"/>
              <a:ext cx="11303000" cy="4427220"/>
            </a:xfrm>
            <a:prstGeom prst="rect">
              <a:avLst/>
            </a:prstGeom>
          </p:spPr>
          <p:txBody>
            <a:bodyPr lIns="0" tIns="0" rIns="0" bIns="0" rtlCol="0" anchor="t">
              <a:spAutoFit/>
            </a:bodyPr>
            <a:lstStyle/>
            <a:p>
              <a:pPr marL="518162" lvl="1" indent="-259081" algn="l">
                <a:lnSpc>
                  <a:spcPts val="3360"/>
                </a:lnSpc>
                <a:buFont typeface="Arial"/>
                <a:buChar char="•"/>
              </a:pPr>
              <a:r>
                <a:rPr lang="en-US" sz="2400">
                  <a:solidFill>
                    <a:srgbClr val="00FFA8"/>
                  </a:solidFill>
                  <a:latin typeface="TT Fors"/>
                  <a:ea typeface="TT Fors"/>
                  <a:cs typeface="TT Fors"/>
                  <a:sym typeface="TT Fors"/>
                </a:rPr>
                <a:t>Domain owner (registrant name/organization)</a:t>
              </a:r>
            </a:p>
            <a:p>
              <a:pPr marL="518162" lvl="1" indent="-259081" algn="l">
                <a:lnSpc>
                  <a:spcPts val="3360"/>
                </a:lnSpc>
                <a:buFont typeface="Arial"/>
                <a:buChar char="•"/>
              </a:pPr>
              <a:r>
                <a:rPr lang="en-US" sz="2400">
                  <a:solidFill>
                    <a:srgbClr val="00FFA8"/>
                  </a:solidFill>
                  <a:latin typeface="TT Fors"/>
                  <a:ea typeface="TT Fors"/>
                  <a:cs typeface="TT Fors"/>
                  <a:sym typeface="TT Fors"/>
                </a:rPr>
                <a:t>Registration and expiration dates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Registrar information</a:t>
              </a:r>
            </a:p>
            <a:p>
              <a:pPr marL="518162" lvl="1" indent="-259081" algn="l">
                <a:lnSpc>
                  <a:spcPts val="3360"/>
                </a:lnSpc>
                <a:buFont typeface="Arial"/>
                <a:buChar char="•"/>
              </a:pPr>
              <a:r>
                <a:rPr lang="en-US" sz="2400">
                  <a:solidFill>
                    <a:srgbClr val="00FFA8"/>
                  </a:solidFill>
                  <a:latin typeface="TT Fors"/>
                  <a:ea typeface="TT Fors"/>
                  <a:cs typeface="TT Fors"/>
                  <a:sym typeface="TT Fors"/>
                </a:rPr>
                <a:t>Administrative and technical contacts</a:t>
              </a:r>
            </a:p>
            <a:p>
              <a:pPr marL="518162" lvl="1" indent="-259081" algn="l">
                <a:lnSpc>
                  <a:spcPts val="3360"/>
                </a:lnSpc>
                <a:buFont typeface="Arial"/>
                <a:buChar char="•"/>
              </a:pPr>
              <a:r>
                <a:rPr lang="en-US" sz="2400">
                  <a:solidFill>
                    <a:srgbClr val="00FFA8"/>
                  </a:solidFill>
                  <a:latin typeface="TT Fors"/>
                  <a:ea typeface="TT Fors"/>
                  <a:cs typeface="TT Fors"/>
                  <a:sym typeface="TT Fors"/>
                </a:rPr>
                <a:t>Email addresses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Phone numbers</a:t>
              </a:r>
            </a:p>
            <a:p>
              <a:pPr marL="518162" lvl="1" indent="-259081" algn="l">
                <a:lnSpc>
                  <a:spcPts val="3360"/>
                </a:lnSpc>
                <a:buFont typeface="Arial"/>
                <a:buChar char="•"/>
              </a:pPr>
              <a:r>
                <a:rPr lang="en-US" sz="2400">
                  <a:solidFill>
                    <a:srgbClr val="00FFA8"/>
                  </a:solidFill>
                  <a:latin typeface="TT Fors"/>
                  <a:ea typeface="TT Fors"/>
                  <a:cs typeface="TT Fors"/>
                  <a:sym typeface="TT Fors"/>
                </a:rPr>
                <a:t>Physical addresses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Name servers</a:t>
              </a:r>
            </a:p>
          </p:txBody>
        </p:sp>
        <p:sp>
          <p:nvSpPr>
            <p:cNvPr id="8" name="TextBox 8"/>
            <p:cNvSpPr txBox="1"/>
            <p:nvPr/>
          </p:nvSpPr>
          <p:spPr>
            <a:xfrm>
              <a:off x="0" y="-180975"/>
              <a:ext cx="11303000" cy="668653"/>
            </a:xfrm>
            <a:prstGeom prst="rect">
              <a:avLst/>
            </a:prstGeom>
          </p:spPr>
          <p:txBody>
            <a:bodyPr lIns="0" tIns="0" rIns="0" bIns="0" rtlCol="0" anchor="t">
              <a:spAutoFit/>
            </a:bodyPr>
            <a:lstStyle/>
            <a:p>
              <a:pPr algn="l">
                <a:lnSpc>
                  <a:spcPts val="4800"/>
                </a:lnSpc>
              </a:pPr>
              <a:r>
                <a:rPr lang="en-US" sz="2400" b="1" spc="-72">
                  <a:solidFill>
                    <a:srgbClr val="00FFA8"/>
                  </a:solidFill>
                  <a:latin typeface="TT Fors Bold"/>
                  <a:ea typeface="TT Fors Bold"/>
                  <a:cs typeface="TT Fors Bold"/>
                  <a:sym typeface="TT Fors Bold"/>
                </a:rPr>
                <a:t>Information You Can Find:</a:t>
              </a:r>
            </a:p>
          </p:txBody>
        </p:sp>
      </p:grpSp>
      <p:sp>
        <p:nvSpPr>
          <p:cNvPr id="9" name="TextBox 9"/>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Domain Registration Intelligence</a:t>
            </a:r>
          </a:p>
        </p:txBody>
      </p:sp>
      <p:sp>
        <p:nvSpPr>
          <p:cNvPr id="10" name="TextBox 10"/>
          <p:cNvSpPr txBox="1"/>
          <p:nvPr/>
        </p:nvSpPr>
        <p:spPr>
          <a:xfrm>
            <a:off x="666750" y="2906139"/>
            <a:ext cx="16954500"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FFFFFF"/>
                </a:solidFill>
                <a:latin typeface="TT Fors Bold"/>
                <a:ea typeface="TT Fors Bold"/>
                <a:cs typeface="TT Fors Bold"/>
                <a:sym typeface="TT Fors Bold"/>
              </a:rPr>
              <a:t>What is WHOIS? </a:t>
            </a:r>
            <a:r>
              <a:rPr lang="en-US" sz="3199" spc="-95">
                <a:solidFill>
                  <a:srgbClr val="FFFFFF"/>
                </a:solidFill>
                <a:latin typeface="TT Fors"/>
                <a:ea typeface="TT Fors"/>
                <a:cs typeface="TT Fors"/>
                <a:sym typeface="TT Fors"/>
              </a:rPr>
              <a:t>A public database containing domain </a:t>
            </a:r>
            <a:r>
              <a:rPr lang="en-US" sz="3199" u="none" strike="noStrike" spc="-95">
                <a:solidFill>
                  <a:srgbClr val="FFFFFF"/>
                </a:solidFill>
                <a:latin typeface="TT Fors"/>
                <a:ea typeface="TT Fors"/>
                <a:cs typeface="TT Fors"/>
                <a:sym typeface="TT Fors"/>
              </a:rPr>
              <a:t>registration information.</a:t>
            </a:r>
          </a:p>
        </p:txBody>
      </p:sp>
      <p:grpSp>
        <p:nvGrpSpPr>
          <p:cNvPr id="11" name="Group 11"/>
          <p:cNvGrpSpPr/>
          <p:nvPr/>
        </p:nvGrpSpPr>
        <p:grpSpPr>
          <a:xfrm>
            <a:off x="16115522" y="751544"/>
            <a:ext cx="1505728" cy="810556"/>
            <a:chOff x="0" y="0"/>
            <a:chExt cx="2007638" cy="1080741"/>
          </a:xfrm>
        </p:grpSpPr>
        <p:grpSp>
          <p:nvGrpSpPr>
            <p:cNvPr id="12" name="Group 12"/>
            <p:cNvGrpSpPr/>
            <p:nvPr/>
          </p:nvGrpSpPr>
          <p:grpSpPr>
            <a:xfrm>
              <a:off x="0" y="0"/>
              <a:ext cx="1080741" cy="108074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926897" y="0"/>
              <a:ext cx="1080741" cy="108074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Freeform 18"/>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9" name="Freeform 19"/>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WHOIS - Practical Use</a:t>
            </a:r>
          </a:p>
        </p:txBody>
      </p:sp>
      <p:grpSp>
        <p:nvGrpSpPr>
          <p:cNvPr id="3" name="Group 3"/>
          <p:cNvGrpSpPr/>
          <p:nvPr/>
        </p:nvGrpSpPr>
        <p:grpSpPr>
          <a:xfrm>
            <a:off x="16115522" y="751544"/>
            <a:ext cx="1505728" cy="810556"/>
            <a:chOff x="0" y="0"/>
            <a:chExt cx="2007638" cy="1080741"/>
          </a:xfrm>
        </p:grpSpPr>
        <p:grpSp>
          <p:nvGrpSpPr>
            <p:cNvPr id="4" name="Group 4"/>
            <p:cNvGrpSpPr/>
            <p:nvPr/>
          </p:nvGrpSpPr>
          <p:grpSpPr>
            <a:xfrm>
              <a:off x="0" y="0"/>
              <a:ext cx="1080741" cy="108074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926897" y="0"/>
              <a:ext cx="1080741" cy="108074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2" name="Freeform 12"/>
          <p:cNvSpPr/>
          <p:nvPr/>
        </p:nvSpPr>
        <p:spPr>
          <a:xfrm>
            <a:off x="10650842" y="3283801"/>
            <a:ext cx="5999379" cy="6356958"/>
          </a:xfrm>
          <a:custGeom>
            <a:avLst/>
            <a:gdLst/>
            <a:ahLst/>
            <a:cxnLst/>
            <a:rect l="l" t="t" r="r" b="b"/>
            <a:pathLst>
              <a:path w="5999379" h="6356958">
                <a:moveTo>
                  <a:pt x="0" y="0"/>
                </a:moveTo>
                <a:lnTo>
                  <a:pt x="5999379" y="0"/>
                </a:lnTo>
                <a:lnTo>
                  <a:pt x="5999379" y="6356958"/>
                </a:lnTo>
                <a:lnTo>
                  <a:pt x="0" y="6356958"/>
                </a:lnTo>
                <a:lnTo>
                  <a:pt x="0" y="0"/>
                </a:lnTo>
                <a:close/>
              </a:path>
            </a:pathLst>
          </a:custGeom>
          <a:blipFill>
            <a:blip r:embed="rId7"/>
            <a:stretch>
              <a:fillRect/>
            </a:stretch>
          </a:blipFill>
        </p:spPr>
        <p:txBody>
          <a:bodyPr/>
          <a:lstStyle/>
          <a:p>
            <a:endParaRPr lang="en-US"/>
          </a:p>
        </p:txBody>
      </p:sp>
      <p:sp>
        <p:nvSpPr>
          <p:cNvPr id="13" name="TextBox 13"/>
          <p:cNvSpPr txBox="1"/>
          <p:nvPr/>
        </p:nvSpPr>
        <p:spPr>
          <a:xfrm>
            <a:off x="666750" y="3101860"/>
            <a:ext cx="8477250" cy="66827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Online &amp; Desktop Tools:</a:t>
            </a:r>
          </a:p>
          <a:p>
            <a:pPr marL="518162" lvl="1" indent="-259081" algn="l">
              <a:lnSpc>
                <a:spcPts val="3360"/>
              </a:lnSpc>
              <a:buFont typeface="Arial"/>
              <a:buChar char="•"/>
            </a:pPr>
            <a:r>
              <a:rPr lang="en-US" sz="2400">
                <a:solidFill>
                  <a:srgbClr val="00FFA8"/>
                </a:solidFill>
                <a:latin typeface="TT Fors"/>
                <a:ea typeface="TT Fors"/>
                <a:cs typeface="TT Fors"/>
                <a:sym typeface="TT Fors"/>
              </a:rPr>
              <a:t>whois.domaintools.com</a:t>
            </a:r>
          </a:p>
          <a:p>
            <a:pPr marL="518162" lvl="1" indent="-259081" algn="l">
              <a:lnSpc>
                <a:spcPts val="3360"/>
              </a:lnSpc>
              <a:buFont typeface="Arial"/>
              <a:buChar char="•"/>
            </a:pPr>
            <a:r>
              <a:rPr lang="en-US" sz="2400">
                <a:solidFill>
                  <a:srgbClr val="00FFA8"/>
                </a:solidFill>
                <a:latin typeface="TT Fors"/>
                <a:ea typeface="TT Fors"/>
                <a:cs typeface="TT Fors"/>
                <a:sym typeface="TT Fors"/>
              </a:rPr>
              <a:t>who.is</a:t>
            </a:r>
          </a:p>
          <a:p>
            <a:pPr marL="518162" lvl="1" indent="-259081" algn="l">
              <a:lnSpc>
                <a:spcPts val="3360"/>
              </a:lnSpc>
              <a:buFont typeface="Arial"/>
              <a:buChar char="•"/>
            </a:pPr>
            <a:r>
              <a:rPr lang="en-US" sz="2400">
                <a:solidFill>
                  <a:srgbClr val="00FFA8"/>
                </a:solidFill>
                <a:latin typeface="TT Fors"/>
                <a:ea typeface="TT Fors"/>
                <a:cs typeface="TT Fors"/>
                <a:sym typeface="TT Fors"/>
              </a:rPr>
              <a:t>icann.org/whois</a:t>
            </a:r>
          </a:p>
          <a:p>
            <a:pPr marL="518162" lvl="1" indent="-259081" algn="l">
              <a:lnSpc>
                <a:spcPts val="3360"/>
              </a:lnSpc>
              <a:buFont typeface="Arial"/>
              <a:buChar char="•"/>
            </a:pPr>
            <a:r>
              <a:rPr lang="en-US" sz="2400">
                <a:solidFill>
                  <a:srgbClr val="00FFA8"/>
                </a:solidFill>
                <a:latin typeface="TT Fors"/>
                <a:ea typeface="TT Fors"/>
                <a:cs typeface="TT Fors"/>
                <a:sym typeface="TT Fors"/>
              </a:rPr>
              <a:t>Sam Spade (Windows and UNIX only)</a:t>
            </a:r>
          </a:p>
          <a:p>
            <a:pPr algn="l">
              <a:lnSpc>
                <a:spcPts val="3360"/>
              </a:lnSpc>
            </a:pPr>
            <a:endParaRPr lang="en-US" sz="2400">
              <a:solidFill>
                <a:srgbClr val="00FFA8"/>
              </a:solidFill>
              <a:latin typeface="TT Fors"/>
              <a:ea typeface="TT Fors"/>
              <a:cs typeface="TT Fors"/>
              <a:sym typeface="TT Fors"/>
            </a:endParaRPr>
          </a:p>
          <a:p>
            <a:pPr algn="l">
              <a:lnSpc>
                <a:spcPts val="3360"/>
              </a:lnSpc>
            </a:pPr>
            <a:r>
              <a:rPr lang="en-US" sz="2400" b="1">
                <a:solidFill>
                  <a:srgbClr val="00FFA8"/>
                </a:solidFill>
                <a:latin typeface="TT Fors Bold"/>
                <a:ea typeface="TT Fors Bold"/>
                <a:cs typeface="TT Fors Bold"/>
                <a:sym typeface="TT Fors Bold"/>
              </a:rPr>
              <a:t>Command Line:</a:t>
            </a:r>
          </a:p>
          <a:p>
            <a:pPr marL="518162" lvl="1" indent="-259081" algn="l">
              <a:lnSpc>
                <a:spcPts val="3360"/>
              </a:lnSpc>
              <a:buFont typeface="Arial"/>
              <a:buChar char="•"/>
            </a:pPr>
            <a:r>
              <a:rPr lang="en-US" sz="2400">
                <a:solidFill>
                  <a:srgbClr val="00FFA8"/>
                </a:solidFill>
                <a:latin typeface="TT Fors"/>
                <a:ea typeface="TT Fors"/>
                <a:cs typeface="TT Fors"/>
                <a:sym typeface="TT Fors"/>
              </a:rPr>
              <a:t>Linux/Mac: </a:t>
            </a:r>
            <a:r>
              <a:rPr lang="en-US" sz="2400">
                <a:solidFill>
                  <a:srgbClr val="FFFFFF"/>
                </a:solidFill>
                <a:latin typeface="TT Fors"/>
                <a:ea typeface="TT Fors"/>
                <a:cs typeface="TT Fors"/>
                <a:sym typeface="TT Fors"/>
              </a:rPr>
              <a:t>whois example.com</a:t>
            </a:r>
          </a:p>
          <a:p>
            <a:pPr marL="518162" lvl="1" indent="-259081" algn="l">
              <a:lnSpc>
                <a:spcPts val="3360"/>
              </a:lnSpc>
              <a:buFont typeface="Arial"/>
              <a:buChar char="•"/>
            </a:pPr>
            <a:r>
              <a:rPr lang="en-US" sz="2400">
                <a:solidFill>
                  <a:srgbClr val="00FFA8"/>
                </a:solidFill>
                <a:latin typeface="TT Fors"/>
                <a:ea typeface="TT Fors"/>
                <a:cs typeface="TT Fors"/>
                <a:sym typeface="TT Fors"/>
              </a:rPr>
              <a:t>Windows: Download Sysinternals WHOIS utility</a:t>
            </a:r>
          </a:p>
          <a:p>
            <a:pPr algn="l">
              <a:lnSpc>
                <a:spcPts val="3360"/>
              </a:lnSpc>
            </a:pPr>
            <a:endParaRPr lang="en-US" sz="2400">
              <a:solidFill>
                <a:srgbClr val="00FFA8"/>
              </a:solidFill>
              <a:latin typeface="TT Fors"/>
              <a:ea typeface="TT Fors"/>
              <a:cs typeface="TT Fors"/>
              <a:sym typeface="TT Fors"/>
            </a:endParaRPr>
          </a:p>
          <a:p>
            <a:pPr algn="l">
              <a:lnSpc>
                <a:spcPts val="3360"/>
              </a:lnSpc>
            </a:pPr>
            <a:r>
              <a:rPr lang="en-US" sz="2400" b="1">
                <a:solidFill>
                  <a:srgbClr val="00FFA8"/>
                </a:solidFill>
                <a:latin typeface="TT Fors Bold"/>
                <a:ea typeface="TT Fors Bold"/>
                <a:cs typeface="TT Fors Bold"/>
                <a:sym typeface="TT Fors Bold"/>
              </a:rPr>
              <a:t>What to Look For:</a:t>
            </a:r>
          </a:p>
          <a:p>
            <a:pPr marL="518162" lvl="1" indent="-259081" algn="l">
              <a:lnSpc>
                <a:spcPts val="3360"/>
              </a:lnSpc>
              <a:buFont typeface="Arial"/>
              <a:buChar char="•"/>
            </a:pPr>
            <a:r>
              <a:rPr lang="en-US" sz="2400">
                <a:solidFill>
                  <a:srgbClr val="00FFA8"/>
                </a:solidFill>
                <a:latin typeface="TT Fors"/>
                <a:ea typeface="TT Fors"/>
                <a:cs typeface="TT Fors"/>
                <a:sym typeface="TT Fors"/>
              </a:rPr>
              <a:t>Contact emails (for phishing campaigns)</a:t>
            </a:r>
          </a:p>
          <a:p>
            <a:pPr marL="518162" lvl="1" indent="-259081" algn="l">
              <a:lnSpc>
                <a:spcPts val="3360"/>
              </a:lnSpc>
              <a:buFont typeface="Arial"/>
              <a:buChar char="•"/>
            </a:pPr>
            <a:r>
              <a:rPr lang="en-US" sz="2400">
                <a:solidFill>
                  <a:srgbClr val="00FFA8"/>
                </a:solidFill>
                <a:latin typeface="TT Fors"/>
                <a:ea typeface="TT Fors"/>
                <a:cs typeface="TT Fors"/>
                <a:sym typeface="TT Fors"/>
              </a:rPr>
              <a:t>Associated domains owned by same entity</a:t>
            </a:r>
          </a:p>
          <a:p>
            <a:pPr marL="518162" lvl="1" indent="-259081" algn="l">
              <a:lnSpc>
                <a:spcPts val="3360"/>
              </a:lnSpc>
              <a:buFont typeface="Arial"/>
              <a:buChar char="•"/>
            </a:pPr>
            <a:r>
              <a:rPr lang="en-US" sz="2400">
                <a:solidFill>
                  <a:srgbClr val="00FFA8"/>
                </a:solidFill>
                <a:latin typeface="TT Fors"/>
                <a:ea typeface="TT Fors"/>
                <a:cs typeface="TT Fors"/>
                <a:sym typeface="TT Fors"/>
              </a:rPr>
              <a:t>Name server information (DNS infrastructure)</a:t>
            </a:r>
          </a:p>
          <a:p>
            <a:pPr marL="518162" lvl="1" indent="-259081" algn="l">
              <a:lnSpc>
                <a:spcPts val="3360"/>
              </a:lnSpc>
              <a:buFont typeface="Arial"/>
              <a:buChar char="•"/>
            </a:pPr>
            <a:r>
              <a:rPr lang="en-US" sz="2400">
                <a:solidFill>
                  <a:srgbClr val="00FFA8"/>
                </a:solidFill>
                <a:latin typeface="TT Fors"/>
                <a:ea typeface="TT Fors"/>
                <a:cs typeface="TT Fors"/>
                <a:sym typeface="TT Fors"/>
              </a:rPr>
              <a:t>Registration patterns (date ranges)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Organizational details</a:t>
            </a:r>
          </a:p>
        </p:txBody>
      </p:sp>
      <p:sp>
        <p:nvSpPr>
          <p:cNvPr id="14" name="TextBox 14"/>
          <p:cNvSpPr txBox="1"/>
          <p:nvPr/>
        </p:nvSpPr>
        <p:spPr>
          <a:xfrm>
            <a:off x="666750" y="1581150"/>
            <a:ext cx="12983782" cy="4191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00FFA8"/>
                </a:solidFill>
                <a:latin typeface="TT Fors Bold"/>
                <a:ea typeface="TT Fors Bold"/>
                <a:cs typeface="TT Fors Bold"/>
                <a:sym typeface="TT Fors Bold"/>
              </a:rPr>
              <a:t>Performing WHOIS Lookups</a:t>
            </a:r>
          </a:p>
        </p:txBody>
      </p:sp>
      <p:sp>
        <p:nvSpPr>
          <p:cNvPr id="15" name="TextBox 15"/>
          <p:cNvSpPr txBox="1"/>
          <p:nvPr/>
        </p:nvSpPr>
        <p:spPr>
          <a:xfrm>
            <a:off x="666750" y="2397010"/>
            <a:ext cx="16954500" cy="3524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What is WHOIS? </a:t>
            </a:r>
            <a:r>
              <a:rPr lang="en-US" sz="2400" spc="-72">
                <a:solidFill>
                  <a:srgbClr val="FFFFFF"/>
                </a:solidFill>
                <a:latin typeface="TT Fors"/>
                <a:ea typeface="TT Fors"/>
                <a:cs typeface="TT Fors"/>
                <a:sym typeface="TT Fors"/>
              </a:rPr>
              <a:t>A public database containing domain </a:t>
            </a:r>
            <a:r>
              <a:rPr lang="en-US" sz="2400" u="none" strike="noStrike" spc="-72">
                <a:solidFill>
                  <a:srgbClr val="FFFFFF"/>
                </a:solidFill>
                <a:latin typeface="TT Fors"/>
                <a:ea typeface="TT Fors"/>
                <a:cs typeface="TT Fors"/>
                <a:sym typeface="TT Fors"/>
              </a:rPr>
              <a:t>registration information.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DNS Fundamentals</a:t>
            </a:r>
          </a:p>
        </p:txBody>
      </p:sp>
      <p:sp>
        <p:nvSpPr>
          <p:cNvPr id="3" name="TextBox 3"/>
          <p:cNvSpPr txBox="1"/>
          <p:nvPr/>
        </p:nvSpPr>
        <p:spPr>
          <a:xfrm>
            <a:off x="666750" y="4163439"/>
            <a:ext cx="8477250" cy="45872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Key DNS Components:</a:t>
            </a:r>
          </a:p>
          <a:p>
            <a:pPr marL="518162" lvl="1" indent="-259081" algn="l">
              <a:lnSpc>
                <a:spcPts val="3360"/>
              </a:lnSpc>
              <a:buFont typeface="Arial"/>
              <a:buChar char="•"/>
            </a:pPr>
            <a:r>
              <a:rPr lang="en-US" sz="2400" b="1">
                <a:solidFill>
                  <a:srgbClr val="00FFA8"/>
                </a:solidFill>
                <a:latin typeface="TT Fors Bold"/>
                <a:ea typeface="TT Fors Bold"/>
                <a:cs typeface="TT Fors Bold"/>
                <a:sym typeface="TT Fors Bold"/>
              </a:rPr>
              <a:t>Domain Name:</a:t>
            </a:r>
            <a:r>
              <a:rPr lang="en-US" sz="2400">
                <a:solidFill>
                  <a:srgbClr val="00FFA8"/>
                </a:solidFill>
                <a:latin typeface="TT Fors"/>
                <a:ea typeface="TT Fors"/>
                <a:cs typeface="TT Fors"/>
                <a:sym typeface="TT Fors"/>
              </a:rPr>
              <a:t> </a:t>
            </a:r>
            <a:r>
              <a:rPr lang="en-US" sz="2400">
                <a:solidFill>
                  <a:srgbClr val="FFFFFF"/>
                </a:solidFill>
                <a:latin typeface="TT Fors"/>
                <a:ea typeface="TT Fors"/>
                <a:cs typeface="TT Fors"/>
                <a:sym typeface="TT Fors"/>
              </a:rPr>
              <a:t>example.com</a:t>
            </a:r>
          </a:p>
          <a:p>
            <a:pPr marL="518162" lvl="1" indent="-259081" algn="l">
              <a:lnSpc>
                <a:spcPts val="3360"/>
              </a:lnSpc>
              <a:buFont typeface="Arial"/>
              <a:buChar char="•"/>
            </a:pPr>
            <a:r>
              <a:rPr lang="en-US" sz="2400" b="1">
                <a:solidFill>
                  <a:srgbClr val="00FFA8"/>
                </a:solidFill>
                <a:latin typeface="TT Fors Bold"/>
                <a:ea typeface="TT Fors Bold"/>
                <a:cs typeface="TT Fors Bold"/>
                <a:sym typeface="TT Fors Bold"/>
              </a:rPr>
              <a:t>Name Server:</a:t>
            </a:r>
            <a:r>
              <a:rPr lang="en-US" sz="2400">
                <a:solidFill>
                  <a:srgbClr val="00FFA8"/>
                </a:solidFill>
                <a:latin typeface="TT Fors"/>
                <a:ea typeface="TT Fors"/>
                <a:cs typeface="TT Fors"/>
                <a:sym typeface="TT Fors"/>
              </a:rPr>
              <a:t> Server that answers DNS queries</a:t>
            </a:r>
          </a:p>
          <a:p>
            <a:pPr marL="518162" lvl="1" indent="-259081" algn="l">
              <a:lnSpc>
                <a:spcPts val="3360"/>
              </a:lnSpc>
              <a:buFont typeface="Arial"/>
              <a:buChar char="•"/>
            </a:pPr>
            <a:r>
              <a:rPr lang="en-US" sz="2400" b="1">
                <a:solidFill>
                  <a:srgbClr val="00FFA8"/>
                </a:solidFill>
                <a:latin typeface="TT Fors Bold"/>
                <a:ea typeface="TT Fors Bold"/>
                <a:cs typeface="TT Fors Bold"/>
                <a:sym typeface="TT Fors Bold"/>
              </a:rPr>
              <a:t>DNS Records:</a:t>
            </a:r>
            <a:r>
              <a:rPr lang="en-US" sz="2400">
                <a:solidFill>
                  <a:srgbClr val="00FFA8"/>
                </a:solidFill>
                <a:latin typeface="TT Fors"/>
                <a:ea typeface="TT Fors"/>
                <a:cs typeface="TT Fors"/>
                <a:sym typeface="TT Fors"/>
              </a:rPr>
              <a:t> Different types of information stored</a:t>
            </a:r>
          </a:p>
          <a:p>
            <a:pPr marL="518162" lvl="1" indent="-259081" algn="l">
              <a:lnSpc>
                <a:spcPts val="3360"/>
              </a:lnSpc>
              <a:buFont typeface="Arial"/>
              <a:buChar char="•"/>
            </a:pPr>
            <a:r>
              <a:rPr lang="en-US" sz="2400" b="1">
                <a:solidFill>
                  <a:srgbClr val="00FFA8"/>
                </a:solidFill>
                <a:latin typeface="TT Fors Bold"/>
                <a:ea typeface="TT Fors Bold"/>
                <a:cs typeface="TT Fors Bold"/>
                <a:sym typeface="TT Fors Bold"/>
              </a:rPr>
              <a:t>Zones:</a:t>
            </a:r>
            <a:r>
              <a:rPr lang="en-US" sz="2400">
                <a:solidFill>
                  <a:srgbClr val="00FFA8"/>
                </a:solidFill>
                <a:latin typeface="TT Fors"/>
                <a:ea typeface="TT Fors"/>
                <a:cs typeface="TT Fors"/>
                <a:sym typeface="TT Fors"/>
              </a:rPr>
              <a:t> Administrative divisions of DNS namespace</a:t>
            </a:r>
          </a:p>
          <a:p>
            <a:pPr algn="l">
              <a:lnSpc>
                <a:spcPts val="3360"/>
              </a:lnSpc>
            </a:pPr>
            <a:endParaRPr lang="en-US" sz="2400">
              <a:solidFill>
                <a:srgbClr val="00FFA8"/>
              </a:solidFill>
              <a:latin typeface="TT Fors"/>
              <a:ea typeface="TT Fors"/>
              <a:cs typeface="TT Fors"/>
              <a:sym typeface="TT Fors"/>
            </a:endParaRPr>
          </a:p>
          <a:p>
            <a:pPr marL="0" lvl="0" indent="0" algn="l">
              <a:lnSpc>
                <a:spcPts val="3360"/>
              </a:lnSpc>
            </a:pPr>
            <a:r>
              <a:rPr lang="en-US" sz="2400" b="1">
                <a:solidFill>
                  <a:srgbClr val="00FFA8"/>
                </a:solidFill>
                <a:latin typeface="TT Fors Bold"/>
                <a:ea typeface="TT Fors Bold"/>
                <a:cs typeface="TT Fors Bold"/>
                <a:sym typeface="TT Fors Bold"/>
              </a:rPr>
              <a:t>Why DNS Matters in Recon:</a:t>
            </a:r>
          </a:p>
          <a:p>
            <a:pPr marL="518162" lvl="1" indent="-259081" algn="l">
              <a:lnSpc>
                <a:spcPts val="3360"/>
              </a:lnSpc>
              <a:buFont typeface="Arial"/>
              <a:buChar char="•"/>
            </a:pPr>
            <a:r>
              <a:rPr lang="en-US" sz="2400">
                <a:solidFill>
                  <a:srgbClr val="00FFA8"/>
                </a:solidFill>
                <a:latin typeface="TT Fors"/>
                <a:ea typeface="TT Fors"/>
                <a:cs typeface="TT Fors"/>
                <a:sym typeface="TT Fors"/>
              </a:rPr>
              <a:t>Reveals network infrastructure</a:t>
            </a:r>
          </a:p>
          <a:p>
            <a:pPr marL="518162" lvl="1" indent="-259081" algn="l">
              <a:lnSpc>
                <a:spcPts val="3360"/>
              </a:lnSpc>
              <a:buFont typeface="Arial"/>
              <a:buChar char="•"/>
            </a:pPr>
            <a:r>
              <a:rPr lang="en-US" sz="2400">
                <a:solidFill>
                  <a:srgbClr val="00FFA8"/>
                </a:solidFill>
                <a:latin typeface="TT Fors"/>
                <a:ea typeface="TT Fors"/>
                <a:cs typeface="TT Fors"/>
                <a:sym typeface="TT Fors"/>
              </a:rPr>
              <a:t>Shows associated services (mail, web)</a:t>
            </a:r>
          </a:p>
          <a:p>
            <a:pPr marL="518162" lvl="1" indent="-259081" algn="l">
              <a:lnSpc>
                <a:spcPts val="3360"/>
              </a:lnSpc>
              <a:buFont typeface="Arial"/>
              <a:buChar char="•"/>
            </a:pPr>
            <a:r>
              <a:rPr lang="en-US" sz="2400">
                <a:solidFill>
                  <a:srgbClr val="00FFA8"/>
                </a:solidFill>
                <a:latin typeface="TT Fors"/>
                <a:ea typeface="TT Fors"/>
                <a:cs typeface="TT Fors"/>
                <a:sym typeface="TT Fors"/>
              </a:rPr>
              <a:t>Can expose internal systems</a:t>
            </a:r>
          </a:p>
          <a:p>
            <a:pPr marL="518162" lvl="1" indent="-259081" algn="l">
              <a:lnSpc>
                <a:spcPts val="3360"/>
              </a:lnSpc>
              <a:buFont typeface="Arial"/>
              <a:buChar char="•"/>
            </a:pPr>
            <a:r>
              <a:rPr lang="en-US" sz="2400">
                <a:solidFill>
                  <a:srgbClr val="00FFA8"/>
                </a:solidFill>
                <a:latin typeface="TT Fors"/>
                <a:ea typeface="TT Fors"/>
                <a:cs typeface="TT Fors"/>
                <a:sym typeface="TT Fors"/>
              </a:rPr>
              <a:t>May have security misconfigurations</a:t>
            </a:r>
          </a:p>
        </p:txBody>
      </p:sp>
      <p:sp>
        <p:nvSpPr>
          <p:cNvPr id="4" name="TextBox 4"/>
          <p:cNvSpPr txBox="1"/>
          <p:nvPr/>
        </p:nvSpPr>
        <p:spPr>
          <a:xfrm>
            <a:off x="666750" y="2095500"/>
            <a:ext cx="12983782" cy="48577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00FFA8"/>
                </a:solidFill>
                <a:latin typeface="TT Fors Bold"/>
                <a:ea typeface="TT Fors Bold"/>
                <a:cs typeface="TT Fors Bold"/>
                <a:sym typeface="TT Fors Bold"/>
              </a:rPr>
              <a:t>Domain Name System Basics</a:t>
            </a:r>
          </a:p>
        </p:txBody>
      </p:sp>
      <p:sp>
        <p:nvSpPr>
          <p:cNvPr id="5" name="TextBox 5"/>
          <p:cNvSpPr txBox="1"/>
          <p:nvPr/>
        </p:nvSpPr>
        <p:spPr>
          <a:xfrm>
            <a:off x="666750" y="2906139"/>
            <a:ext cx="16954500" cy="8382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FFFFFF"/>
                </a:solidFill>
                <a:latin typeface="TT Fors Bold"/>
                <a:ea typeface="TT Fors Bold"/>
                <a:cs typeface="TT Fors Bold"/>
                <a:sym typeface="TT Fors Bold"/>
              </a:rPr>
              <a:t>What is DNS (Domain Name System)? </a:t>
            </a:r>
            <a:r>
              <a:rPr lang="en-US" sz="2800" spc="-84">
                <a:solidFill>
                  <a:srgbClr val="FFFFFF"/>
                </a:solidFill>
                <a:latin typeface="TT Fors"/>
                <a:ea typeface="TT Fors"/>
                <a:cs typeface="TT Fors"/>
                <a:sym typeface="TT Fors"/>
              </a:rPr>
              <a:t>The "phonebook" of the Internet - translates human-readable domain nam</a:t>
            </a:r>
            <a:r>
              <a:rPr lang="en-US" sz="2800" u="none" strike="noStrike" spc="-84">
                <a:solidFill>
                  <a:srgbClr val="FFFFFF"/>
                </a:solidFill>
                <a:latin typeface="TT Fors"/>
                <a:ea typeface="TT Fors"/>
                <a:cs typeface="TT Fors"/>
                <a:sym typeface="TT Fors"/>
              </a:rPr>
              <a:t>es to IP addresses. It's a treasure trove of information for reconnaissance.</a:t>
            </a:r>
          </a:p>
        </p:txBody>
      </p:sp>
      <p:grpSp>
        <p:nvGrpSpPr>
          <p:cNvPr id="6" name="Group 6"/>
          <p:cNvGrpSpPr/>
          <p:nvPr/>
        </p:nvGrpSpPr>
        <p:grpSpPr>
          <a:xfrm>
            <a:off x="16115522" y="751544"/>
            <a:ext cx="1505728" cy="810556"/>
            <a:chOff x="0" y="0"/>
            <a:chExt cx="2007638" cy="1080741"/>
          </a:xfrm>
        </p:grpSpPr>
        <p:grpSp>
          <p:nvGrpSpPr>
            <p:cNvPr id="7" name="Group 7"/>
            <p:cNvGrpSpPr/>
            <p:nvPr/>
          </p:nvGrpSpPr>
          <p:grpSpPr>
            <a:xfrm>
              <a:off x="0" y="0"/>
              <a:ext cx="1080741" cy="108074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926897" y="0"/>
              <a:ext cx="1080741" cy="108074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Freeform 14"/>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DNS Record Types</a:t>
            </a:r>
          </a:p>
        </p:txBody>
      </p:sp>
      <p:sp>
        <p:nvSpPr>
          <p:cNvPr id="3" name="TextBox 3"/>
          <p:cNvSpPr txBox="1"/>
          <p:nvPr/>
        </p:nvSpPr>
        <p:spPr>
          <a:xfrm>
            <a:off x="666750" y="2095500"/>
            <a:ext cx="5947066" cy="4191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00FFA8"/>
                </a:solidFill>
                <a:latin typeface="TT Fors Bold"/>
                <a:ea typeface="TT Fors Bold"/>
                <a:cs typeface="TT Fors Bold"/>
                <a:sym typeface="TT Fors Bold"/>
              </a:rPr>
              <a:t>Common DNS Record Types:</a:t>
            </a:r>
          </a:p>
        </p:txBody>
      </p:sp>
      <p:graphicFrame>
        <p:nvGraphicFramePr>
          <p:cNvPr id="4" name="Table 4"/>
          <p:cNvGraphicFramePr>
            <a:graphicFrameLocks noGrp="1"/>
          </p:cNvGraphicFramePr>
          <p:nvPr/>
        </p:nvGraphicFramePr>
        <p:xfrm>
          <a:off x="666750" y="2733675"/>
          <a:ext cx="16954500" cy="6924673"/>
        </p:xfrm>
        <a:graphic>
          <a:graphicData uri="http://schemas.openxmlformats.org/drawingml/2006/table">
            <a:tbl>
              <a:tblPr/>
              <a:tblGrid>
                <a:gridCol w="2129628">
                  <a:extLst>
                    <a:ext uri="{9D8B030D-6E8A-4147-A177-3AD203B41FA5}">
                      <a16:colId xmlns:a16="http://schemas.microsoft.com/office/drawing/2014/main" val="20000"/>
                    </a:ext>
                  </a:extLst>
                </a:gridCol>
                <a:gridCol w="3279916">
                  <a:extLst>
                    <a:ext uri="{9D8B030D-6E8A-4147-A177-3AD203B41FA5}">
                      <a16:colId xmlns:a16="http://schemas.microsoft.com/office/drawing/2014/main" val="20001"/>
                    </a:ext>
                  </a:extLst>
                </a:gridCol>
                <a:gridCol w="4966471">
                  <a:extLst>
                    <a:ext uri="{9D8B030D-6E8A-4147-A177-3AD203B41FA5}">
                      <a16:colId xmlns:a16="http://schemas.microsoft.com/office/drawing/2014/main" val="20002"/>
                    </a:ext>
                  </a:extLst>
                </a:gridCol>
                <a:gridCol w="6578485">
                  <a:extLst>
                    <a:ext uri="{9D8B030D-6E8A-4147-A177-3AD203B41FA5}">
                      <a16:colId xmlns:a16="http://schemas.microsoft.com/office/drawing/2014/main" val="20003"/>
                    </a:ext>
                  </a:extLst>
                </a:gridCol>
              </a:tblGrid>
              <a:tr h="593817">
                <a:tc>
                  <a:txBody>
                    <a:bodyPr/>
                    <a:lstStyle/>
                    <a:p>
                      <a:pPr algn="l">
                        <a:lnSpc>
                          <a:spcPts val="2520"/>
                        </a:lnSpc>
                        <a:defRPr/>
                      </a:pPr>
                      <a:r>
                        <a:rPr lang="en-US" sz="1800" b="1">
                          <a:solidFill>
                            <a:srgbClr val="000000"/>
                          </a:solidFill>
                          <a:latin typeface="TT Fors Bold"/>
                          <a:ea typeface="TT Fors Bold"/>
                          <a:cs typeface="TT Fors Bold"/>
                          <a:sym typeface="TT Fors Bold"/>
                        </a:rPr>
                        <a:t>Record Type</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l">
                        <a:lnSpc>
                          <a:spcPts val="2520"/>
                        </a:lnSpc>
                        <a:defRPr/>
                      </a:pPr>
                      <a:r>
                        <a:rPr lang="en-US" sz="1800" b="1">
                          <a:solidFill>
                            <a:srgbClr val="000000"/>
                          </a:solidFill>
                          <a:latin typeface="TT Fors Bold"/>
                          <a:ea typeface="TT Fors Bold"/>
                          <a:cs typeface="TT Fors Bold"/>
                          <a:sym typeface="TT Fors Bold"/>
                        </a:rPr>
                        <a:t>Purpose</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l">
                        <a:lnSpc>
                          <a:spcPts val="2520"/>
                        </a:lnSpc>
                        <a:defRPr/>
                      </a:pPr>
                      <a:r>
                        <a:rPr lang="en-US" sz="1800" b="1">
                          <a:solidFill>
                            <a:srgbClr val="000000"/>
                          </a:solidFill>
                          <a:latin typeface="TT Fors Bold"/>
                          <a:ea typeface="TT Fors Bold"/>
                          <a:cs typeface="TT Fors Bold"/>
                          <a:sym typeface="TT Fors Bold"/>
                        </a:rPr>
                        <a:t>Recon Value</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l">
                        <a:lnSpc>
                          <a:spcPts val="2520"/>
                        </a:lnSpc>
                        <a:defRPr/>
                      </a:pPr>
                      <a:r>
                        <a:rPr lang="en-US" sz="1800" b="1">
                          <a:solidFill>
                            <a:srgbClr val="000000"/>
                          </a:solidFill>
                          <a:latin typeface="TT Fors Bold"/>
                          <a:ea typeface="TT Fors Bold"/>
                          <a:cs typeface="TT Fors Bold"/>
                          <a:sym typeface="TT Fors Bold"/>
                        </a:rPr>
                        <a:t>Examples:</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extLst>
                  <a:ext uri="{0D108BD9-81ED-4DB2-BD59-A6C34878D82A}">
                    <a16:rowId xmlns:a16="http://schemas.microsoft.com/office/drawing/2014/main" val="10000"/>
                  </a:ext>
                </a:extLst>
              </a:tr>
              <a:tr h="909881">
                <a:tc>
                  <a:txBody>
                    <a:bodyPr/>
                    <a:lstStyle/>
                    <a:p>
                      <a:pPr algn="l">
                        <a:lnSpc>
                          <a:spcPts val="2520"/>
                        </a:lnSpc>
                        <a:defRPr/>
                      </a:pPr>
                      <a:r>
                        <a:rPr lang="en-US" sz="1800" b="1">
                          <a:solidFill>
                            <a:srgbClr val="FFFFFF"/>
                          </a:solidFill>
                          <a:latin typeface="TT Fors Bold"/>
                          <a:ea typeface="TT Fors Bold"/>
                          <a:cs typeface="TT Fors Bold"/>
                          <a:sym typeface="TT Fors Bold"/>
                        </a:rPr>
                        <a:t>A</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Maps domain to IPv4 address</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Identify server IPs</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www.example.com → 192.168.1.100</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1"/>
                  </a:ext>
                </a:extLst>
              </a:tr>
              <a:tr h="909881">
                <a:tc>
                  <a:txBody>
                    <a:bodyPr/>
                    <a:lstStyle/>
                    <a:p>
                      <a:pPr algn="l">
                        <a:lnSpc>
                          <a:spcPts val="2520"/>
                        </a:lnSpc>
                        <a:defRPr/>
                      </a:pPr>
                      <a:r>
                        <a:rPr lang="en-US" sz="1800" b="1">
                          <a:solidFill>
                            <a:srgbClr val="FFFFFF"/>
                          </a:solidFill>
                          <a:latin typeface="TT Fors Bold"/>
                          <a:ea typeface="TT Fors Bold"/>
                          <a:cs typeface="TT Fors Bold"/>
                          <a:sym typeface="TT Fors Bold"/>
                        </a:rPr>
                        <a:t>AAAA</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Maps domain to IPv6 address</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IPv6 infrastructure discovery</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www.example.com → 2001:0db8:85a3::8a2e:0370:7334</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2"/>
                  </a:ext>
                </a:extLst>
              </a:tr>
              <a:tr h="909881">
                <a:tc>
                  <a:txBody>
                    <a:bodyPr/>
                    <a:lstStyle/>
                    <a:p>
                      <a:pPr algn="l">
                        <a:lnSpc>
                          <a:spcPts val="2520"/>
                        </a:lnSpc>
                        <a:defRPr/>
                      </a:pPr>
                      <a:r>
                        <a:rPr lang="en-US" sz="1800" b="1">
                          <a:solidFill>
                            <a:srgbClr val="FFFFFF"/>
                          </a:solidFill>
                          <a:latin typeface="TT Fors Bold"/>
                          <a:ea typeface="TT Fors Bold"/>
                          <a:cs typeface="TT Fors Bold"/>
                          <a:sym typeface="TT Fors Bold"/>
                        </a:rPr>
                        <a:t>MX</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Mail exchange servers</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Email server locations, potential phishing targets</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example.com → mail.example.com</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3"/>
                  </a:ext>
                </a:extLst>
              </a:tr>
              <a:tr h="593817">
                <a:tc>
                  <a:txBody>
                    <a:bodyPr/>
                    <a:lstStyle/>
                    <a:p>
                      <a:pPr algn="l">
                        <a:lnSpc>
                          <a:spcPts val="2520"/>
                        </a:lnSpc>
                        <a:defRPr/>
                      </a:pPr>
                      <a:r>
                        <a:rPr lang="en-US" sz="1800" b="1">
                          <a:solidFill>
                            <a:srgbClr val="FFFFFF"/>
                          </a:solidFill>
                          <a:latin typeface="TT Fors Bold"/>
                          <a:ea typeface="TT Fors Bold"/>
                          <a:cs typeface="TT Fors Bold"/>
                          <a:sym typeface="TT Fors Bold"/>
                        </a:rPr>
                        <a:t>NS</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Name servers for domain</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DNS infrastructure</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example.com → ns1.dns-provider.com</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4"/>
                  </a:ext>
                </a:extLst>
              </a:tr>
              <a:tr h="909881">
                <a:tc>
                  <a:txBody>
                    <a:bodyPr/>
                    <a:lstStyle/>
                    <a:p>
                      <a:pPr algn="l">
                        <a:lnSpc>
                          <a:spcPts val="2520"/>
                        </a:lnSpc>
                        <a:defRPr/>
                      </a:pPr>
                      <a:r>
                        <a:rPr lang="en-US" sz="1800" b="1">
                          <a:solidFill>
                            <a:srgbClr val="FFFFFF"/>
                          </a:solidFill>
                          <a:latin typeface="TT Fors Bold"/>
                          <a:ea typeface="TT Fors Bold"/>
                          <a:cs typeface="TT Fors Bold"/>
                          <a:sym typeface="TT Fors Bold"/>
                        </a:rPr>
                        <a:t>TXT</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Text information</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SPF records, verification codes, sometimes sensitive info</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v=spf1 ip4:192.0.2.1 include:_spf.example.com ~all</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5"/>
                  </a:ext>
                </a:extLst>
              </a:tr>
              <a:tr h="593817">
                <a:tc>
                  <a:txBody>
                    <a:bodyPr/>
                    <a:lstStyle/>
                    <a:p>
                      <a:pPr algn="l">
                        <a:lnSpc>
                          <a:spcPts val="2520"/>
                        </a:lnSpc>
                        <a:defRPr/>
                      </a:pPr>
                      <a:r>
                        <a:rPr lang="en-US" sz="1800" b="1">
                          <a:solidFill>
                            <a:srgbClr val="FFFFFF"/>
                          </a:solidFill>
                          <a:latin typeface="TT Fors Bold"/>
                          <a:ea typeface="TT Fors Bold"/>
                          <a:cs typeface="TT Fors Bold"/>
                          <a:sym typeface="TT Fors Bold"/>
                        </a:rPr>
                        <a:t>CNAME</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Canonical name (alias)</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Subdomain relationships</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blog.example.com → webserver.example.com</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6"/>
                  </a:ext>
                </a:extLst>
              </a:tr>
              <a:tr h="593817">
                <a:tc>
                  <a:txBody>
                    <a:bodyPr/>
                    <a:lstStyle/>
                    <a:p>
                      <a:pPr algn="l">
                        <a:lnSpc>
                          <a:spcPts val="2520"/>
                        </a:lnSpc>
                        <a:defRPr/>
                      </a:pPr>
                      <a:r>
                        <a:rPr lang="en-US" sz="1800" b="1">
                          <a:solidFill>
                            <a:srgbClr val="FFFFFF"/>
                          </a:solidFill>
                          <a:latin typeface="TT Fors Bold"/>
                          <a:ea typeface="TT Fors Bold"/>
                          <a:cs typeface="TT Fors Bold"/>
                          <a:sym typeface="TT Fors Bold"/>
                        </a:rPr>
                        <a:t>SOA</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Start of Authority</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Primary DNS server, admin email</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example.com. 900 IN SOA ns1.example.com.</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7"/>
                  </a:ext>
                </a:extLst>
              </a:tr>
              <a:tr h="909881">
                <a:tc>
                  <a:txBody>
                    <a:bodyPr/>
                    <a:lstStyle/>
                    <a:p>
                      <a:pPr algn="l">
                        <a:lnSpc>
                          <a:spcPts val="2520"/>
                        </a:lnSpc>
                        <a:defRPr/>
                      </a:pPr>
                      <a:r>
                        <a:rPr lang="en-US" sz="1800" b="1">
                          <a:solidFill>
                            <a:srgbClr val="FFFFFF"/>
                          </a:solidFill>
                          <a:latin typeface="TT Fors Bold"/>
                          <a:ea typeface="TT Fors Bold"/>
                          <a:cs typeface="TT Fors Bold"/>
                          <a:sym typeface="TT Fors Bold"/>
                        </a:rPr>
                        <a:t>SRV</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Service locator for specific services</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Provide significant value during network reconnaissance</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algn="l">
                        <a:lnSpc>
                          <a:spcPts val="2520"/>
                        </a:lnSpc>
                        <a:defRPr/>
                      </a:pPr>
                      <a:r>
                        <a:rPr lang="en-US" sz="1800">
                          <a:solidFill>
                            <a:srgbClr val="FFFFFF"/>
                          </a:solidFill>
                          <a:latin typeface="TT Fors"/>
                          <a:ea typeface="TT Fors"/>
                          <a:cs typeface="TT Fors"/>
                          <a:sym typeface="TT Fors"/>
                        </a:rPr>
                        <a:t>_service._proto.name. TTL class type priority weight port target.</a:t>
                      </a:r>
                      <a:endParaRPr lang="en-US" sz="1100"/>
                    </a:p>
                  </a:txBody>
                  <a:tcPr marL="95250" marR="95250" marT="95250" marB="95250"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grpSp>
        <p:nvGrpSpPr>
          <p:cNvPr id="5" name="Group 5"/>
          <p:cNvGrpSpPr/>
          <p:nvPr/>
        </p:nvGrpSpPr>
        <p:grpSpPr>
          <a:xfrm>
            <a:off x="16115522" y="751544"/>
            <a:ext cx="1505728" cy="810556"/>
            <a:chOff x="0" y="0"/>
            <a:chExt cx="2007638" cy="1080741"/>
          </a:xfrm>
        </p:grpSpPr>
        <p:grpSp>
          <p:nvGrpSpPr>
            <p:cNvPr id="6" name="Group 6"/>
            <p:cNvGrpSpPr/>
            <p:nvPr/>
          </p:nvGrpSpPr>
          <p:grpSpPr>
            <a:xfrm>
              <a:off x="0"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926897" y="0"/>
              <a:ext cx="1080741" cy="108074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DNS Query/Enumeration Tools</a:t>
            </a:r>
          </a:p>
        </p:txBody>
      </p:sp>
      <p:sp>
        <p:nvSpPr>
          <p:cNvPr id="3" name="TextBox 3"/>
          <p:cNvSpPr txBox="1"/>
          <p:nvPr/>
        </p:nvSpPr>
        <p:spPr>
          <a:xfrm>
            <a:off x="666750" y="2095500"/>
            <a:ext cx="5947066" cy="4191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00FFA8"/>
                </a:solidFill>
                <a:latin typeface="TT Fors Bold"/>
                <a:ea typeface="TT Fors Bold"/>
                <a:cs typeface="TT Fors Bold"/>
                <a:sym typeface="TT Fors Bold"/>
              </a:rPr>
              <a:t>Performing DNS Lookups</a:t>
            </a:r>
          </a:p>
        </p:txBody>
      </p:sp>
      <p:sp>
        <p:nvSpPr>
          <p:cNvPr id="4" name="TextBox 4"/>
          <p:cNvSpPr txBox="1"/>
          <p:nvPr/>
        </p:nvSpPr>
        <p:spPr>
          <a:xfrm>
            <a:off x="666750" y="3007407"/>
            <a:ext cx="5562039" cy="50063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Command Line Tools:</a:t>
            </a:r>
          </a:p>
          <a:p>
            <a:pPr algn="l">
              <a:lnSpc>
                <a:spcPts val="3360"/>
              </a:lnSpc>
            </a:pPr>
            <a:endParaRPr lang="en-US" sz="2400" b="1">
              <a:solidFill>
                <a:srgbClr val="00FFA8"/>
              </a:solidFill>
              <a:latin typeface="TT Fors Bold"/>
              <a:ea typeface="TT Fors Bold"/>
              <a:cs typeface="TT Fors Bold"/>
              <a:sym typeface="TT Fors Bold"/>
            </a:endParaRPr>
          </a:p>
          <a:p>
            <a:pPr algn="l">
              <a:lnSpc>
                <a:spcPts val="3360"/>
              </a:lnSpc>
            </a:pPr>
            <a:r>
              <a:rPr lang="en-US" sz="2400" b="1">
                <a:solidFill>
                  <a:srgbClr val="00FFA8"/>
                </a:solidFill>
                <a:latin typeface="TT Fors Bold"/>
                <a:ea typeface="TT Fors Bold"/>
                <a:cs typeface="TT Fors Bold"/>
                <a:sym typeface="TT Fors Bold"/>
              </a:rPr>
              <a:t>nslookup:</a:t>
            </a:r>
          </a:p>
          <a:p>
            <a:pPr marL="518162" lvl="1" indent="-259081" algn="l">
              <a:lnSpc>
                <a:spcPts val="3360"/>
              </a:lnSpc>
              <a:buFont typeface="Arial"/>
              <a:buChar char="•"/>
            </a:pPr>
            <a:r>
              <a:rPr lang="en-US" sz="2400">
                <a:solidFill>
                  <a:srgbClr val="FFFFFF"/>
                </a:solidFill>
                <a:latin typeface="TT Fors"/>
                <a:ea typeface="TT Fors"/>
                <a:cs typeface="TT Fors"/>
                <a:sym typeface="TT Fors"/>
              </a:rPr>
              <a:t>nslookup example.com</a:t>
            </a:r>
          </a:p>
          <a:p>
            <a:pPr marL="518162" lvl="1" indent="-259081" algn="l">
              <a:lnSpc>
                <a:spcPts val="3360"/>
              </a:lnSpc>
              <a:buFont typeface="Arial"/>
              <a:buChar char="•"/>
            </a:pPr>
            <a:r>
              <a:rPr lang="en-US" sz="2400">
                <a:solidFill>
                  <a:srgbClr val="FFFFFF"/>
                </a:solidFill>
                <a:latin typeface="TT Fors"/>
                <a:ea typeface="TT Fors"/>
                <a:cs typeface="TT Fors"/>
                <a:sym typeface="TT Fors"/>
              </a:rPr>
              <a:t>nslookup -type=mx example.com</a:t>
            </a:r>
          </a:p>
          <a:p>
            <a:pPr marL="0" lvl="0" indent="0" algn="l">
              <a:lnSpc>
                <a:spcPts val="3360"/>
              </a:lnSpc>
            </a:pPr>
            <a:r>
              <a:rPr lang="en-US" sz="2400" b="1">
                <a:solidFill>
                  <a:srgbClr val="00FFA8"/>
                </a:solidFill>
                <a:latin typeface="TT Fors Bold"/>
                <a:ea typeface="TT Fors Bold"/>
                <a:cs typeface="TT Fors Bold"/>
                <a:sym typeface="TT Fors Bold"/>
              </a:rPr>
              <a:t>dig (Linux/Mac):</a:t>
            </a:r>
          </a:p>
          <a:p>
            <a:pPr marL="518162" lvl="1" indent="-259081" algn="l">
              <a:lnSpc>
                <a:spcPts val="3360"/>
              </a:lnSpc>
              <a:buFont typeface="Arial"/>
              <a:buChar char="•"/>
            </a:pPr>
            <a:r>
              <a:rPr lang="en-US" sz="2400">
                <a:solidFill>
                  <a:srgbClr val="FFFFFF"/>
                </a:solidFill>
                <a:latin typeface="TT Fors"/>
                <a:ea typeface="TT Fors"/>
                <a:cs typeface="TT Fors"/>
                <a:sym typeface="TT Fors"/>
              </a:rPr>
              <a:t>dig example.com</a:t>
            </a:r>
          </a:p>
          <a:p>
            <a:pPr marL="518162" lvl="1" indent="-259081" algn="l">
              <a:lnSpc>
                <a:spcPts val="3360"/>
              </a:lnSpc>
              <a:buFont typeface="Arial"/>
              <a:buChar char="•"/>
            </a:pPr>
            <a:r>
              <a:rPr lang="en-US" sz="2400">
                <a:solidFill>
                  <a:srgbClr val="FFFFFF"/>
                </a:solidFill>
                <a:latin typeface="TT Fors"/>
                <a:ea typeface="TT Fors"/>
                <a:cs typeface="TT Fors"/>
                <a:sym typeface="TT Fors"/>
              </a:rPr>
              <a:t>dig example.com MX</a:t>
            </a:r>
          </a:p>
          <a:p>
            <a:pPr marL="518162" lvl="1" indent="-259081" algn="l">
              <a:lnSpc>
                <a:spcPts val="3360"/>
              </a:lnSpc>
              <a:buFont typeface="Arial"/>
              <a:buChar char="•"/>
            </a:pPr>
            <a:r>
              <a:rPr lang="en-US" sz="2400">
                <a:solidFill>
                  <a:srgbClr val="FFFFFF"/>
                </a:solidFill>
                <a:latin typeface="TT Fors"/>
                <a:ea typeface="TT Fors"/>
                <a:cs typeface="TT Fors"/>
                <a:sym typeface="TT Fors"/>
              </a:rPr>
              <a:t>dig example.com ANY</a:t>
            </a:r>
          </a:p>
          <a:p>
            <a:pPr algn="l">
              <a:lnSpc>
                <a:spcPts val="3360"/>
              </a:lnSpc>
            </a:pPr>
            <a:r>
              <a:rPr lang="en-US" sz="2400" b="1">
                <a:solidFill>
                  <a:srgbClr val="00FFA8"/>
                </a:solidFill>
                <a:latin typeface="TT Fors Bold"/>
                <a:ea typeface="TT Fors Bold"/>
                <a:cs typeface="TT Fors Bold"/>
                <a:sym typeface="TT Fors Bold"/>
              </a:rPr>
              <a:t>host (Linux):</a:t>
            </a:r>
          </a:p>
          <a:p>
            <a:pPr marL="518162" lvl="1" indent="-259081" algn="l">
              <a:lnSpc>
                <a:spcPts val="3360"/>
              </a:lnSpc>
              <a:buFont typeface="Arial"/>
              <a:buChar char="•"/>
            </a:pPr>
            <a:r>
              <a:rPr lang="en-US" sz="2400">
                <a:solidFill>
                  <a:srgbClr val="FFFFFF"/>
                </a:solidFill>
                <a:latin typeface="TT Fors"/>
                <a:ea typeface="TT Fors"/>
                <a:cs typeface="TT Fors"/>
                <a:sym typeface="TT Fors"/>
              </a:rPr>
              <a:t>host example.com</a:t>
            </a:r>
          </a:p>
          <a:p>
            <a:pPr marL="518162" lvl="1" indent="-259081" algn="l">
              <a:lnSpc>
                <a:spcPts val="3360"/>
              </a:lnSpc>
              <a:buFont typeface="Arial"/>
              <a:buChar char="•"/>
            </a:pPr>
            <a:r>
              <a:rPr lang="en-US" sz="2400">
                <a:solidFill>
                  <a:srgbClr val="FFFFFF"/>
                </a:solidFill>
                <a:latin typeface="TT Fors"/>
                <a:ea typeface="TT Fors"/>
                <a:cs typeface="TT Fors"/>
                <a:sym typeface="TT Fors"/>
              </a:rPr>
              <a:t>host -t mx example.com</a:t>
            </a:r>
          </a:p>
        </p:txBody>
      </p:sp>
      <p:sp>
        <p:nvSpPr>
          <p:cNvPr id="5" name="TextBox 5"/>
          <p:cNvSpPr txBox="1"/>
          <p:nvPr/>
        </p:nvSpPr>
        <p:spPr>
          <a:xfrm>
            <a:off x="7556935" y="4088130"/>
            <a:ext cx="5562039" cy="16535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Online Tools:</a:t>
            </a:r>
          </a:p>
          <a:p>
            <a:pPr marL="518162" lvl="1" indent="-259081" algn="l">
              <a:lnSpc>
                <a:spcPts val="3360"/>
              </a:lnSpc>
              <a:buFont typeface="Arial"/>
              <a:buChar char="•"/>
            </a:pPr>
            <a:r>
              <a:rPr lang="en-US" sz="2400">
                <a:solidFill>
                  <a:srgbClr val="FFFFFF"/>
                </a:solidFill>
                <a:latin typeface="TT Fors"/>
                <a:ea typeface="TT Fors"/>
                <a:cs typeface="TT Fors"/>
                <a:sym typeface="TT Fors"/>
              </a:rPr>
              <a:t>DNSDumpster.com</a:t>
            </a:r>
          </a:p>
          <a:p>
            <a:pPr marL="518162" lvl="1" indent="-259081" algn="l">
              <a:lnSpc>
                <a:spcPts val="3360"/>
              </a:lnSpc>
              <a:buFont typeface="Arial"/>
              <a:buChar char="•"/>
            </a:pPr>
            <a:r>
              <a:rPr lang="en-US" sz="2400">
                <a:solidFill>
                  <a:srgbClr val="FFFFFF"/>
                </a:solidFill>
                <a:latin typeface="TT Fors"/>
                <a:ea typeface="TT Fors"/>
                <a:cs typeface="TT Fors"/>
                <a:sym typeface="TT Fors"/>
              </a:rPr>
              <a:t>MXToolbox.com</a:t>
            </a:r>
          </a:p>
          <a:p>
            <a:pPr marL="518162" lvl="1" indent="-259081" algn="l">
              <a:lnSpc>
                <a:spcPts val="3360"/>
              </a:lnSpc>
              <a:buFont typeface="Arial"/>
              <a:buChar char="•"/>
            </a:pPr>
            <a:r>
              <a:rPr lang="en-US" sz="2400">
                <a:solidFill>
                  <a:srgbClr val="FFFFFF"/>
                </a:solidFill>
                <a:latin typeface="TT Fors"/>
                <a:ea typeface="TT Fors"/>
                <a:cs typeface="TT Fors"/>
                <a:sym typeface="TT Fors"/>
              </a:rPr>
              <a:t>ViewDNS.info</a:t>
            </a:r>
          </a:p>
        </p:txBody>
      </p:sp>
      <p:grpSp>
        <p:nvGrpSpPr>
          <p:cNvPr id="6" name="Group 6"/>
          <p:cNvGrpSpPr/>
          <p:nvPr/>
        </p:nvGrpSpPr>
        <p:grpSpPr>
          <a:xfrm>
            <a:off x="16115522" y="751544"/>
            <a:ext cx="1505728" cy="810556"/>
            <a:chOff x="0" y="0"/>
            <a:chExt cx="2007638" cy="1080741"/>
          </a:xfrm>
        </p:grpSpPr>
        <p:grpSp>
          <p:nvGrpSpPr>
            <p:cNvPr id="7" name="Group 7"/>
            <p:cNvGrpSpPr/>
            <p:nvPr/>
          </p:nvGrpSpPr>
          <p:grpSpPr>
            <a:xfrm>
              <a:off x="0" y="0"/>
              <a:ext cx="1080741" cy="108074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926897" y="0"/>
              <a:ext cx="1080741" cy="108074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Freeform 14"/>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4916316"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DNS Zone Tran</a:t>
            </a:r>
            <a:r>
              <a:rPr lang="en-US" sz="6000" u="none" strike="noStrike" spc="-179">
                <a:solidFill>
                  <a:srgbClr val="00FFA8"/>
                </a:solidFill>
                <a:latin typeface="ITC Avant Garde Gothic"/>
                <a:ea typeface="ITC Avant Garde Gothic"/>
                <a:cs typeface="ITC Avant Garde Gothic"/>
                <a:sym typeface="ITC Avant Garde Gothic"/>
              </a:rPr>
              <a:t>sfer Vulnerability</a:t>
            </a:r>
          </a:p>
        </p:txBody>
      </p:sp>
      <p:grpSp>
        <p:nvGrpSpPr>
          <p:cNvPr id="3" name="Group 3"/>
          <p:cNvGrpSpPr/>
          <p:nvPr/>
        </p:nvGrpSpPr>
        <p:grpSpPr>
          <a:xfrm>
            <a:off x="16115522" y="751544"/>
            <a:ext cx="1505728" cy="810556"/>
            <a:chOff x="0" y="0"/>
            <a:chExt cx="2007638" cy="1080741"/>
          </a:xfrm>
        </p:grpSpPr>
        <p:grpSp>
          <p:nvGrpSpPr>
            <p:cNvPr id="4" name="Group 4"/>
            <p:cNvGrpSpPr/>
            <p:nvPr/>
          </p:nvGrpSpPr>
          <p:grpSpPr>
            <a:xfrm>
              <a:off x="0" y="0"/>
              <a:ext cx="1080741" cy="108074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926897" y="0"/>
              <a:ext cx="1080741" cy="108074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2" name="Group 12"/>
          <p:cNvGrpSpPr/>
          <p:nvPr/>
        </p:nvGrpSpPr>
        <p:grpSpPr>
          <a:xfrm>
            <a:off x="10091071" y="4375151"/>
            <a:ext cx="7530179" cy="2293182"/>
            <a:chOff x="0" y="-386"/>
            <a:chExt cx="1983235" cy="603981"/>
          </a:xfrm>
        </p:grpSpPr>
        <p:sp>
          <p:nvSpPr>
            <p:cNvPr id="13" name="Freeform 13"/>
            <p:cNvSpPr/>
            <p:nvPr/>
          </p:nvSpPr>
          <p:spPr>
            <a:xfrm>
              <a:off x="0" y="0"/>
              <a:ext cx="1983235" cy="603595"/>
            </a:xfrm>
            <a:custGeom>
              <a:avLst/>
              <a:gdLst/>
              <a:ahLst/>
              <a:cxnLst/>
              <a:rect l="l" t="t" r="r" b="b"/>
              <a:pathLst>
                <a:path w="1983235" h="603595">
                  <a:moveTo>
                    <a:pt x="1983235" y="20562"/>
                  </a:moveTo>
                  <a:lnTo>
                    <a:pt x="1983235" y="583032"/>
                  </a:lnTo>
                  <a:cubicBezTo>
                    <a:pt x="1983235" y="588486"/>
                    <a:pt x="1981068" y="593716"/>
                    <a:pt x="1977212" y="597572"/>
                  </a:cubicBezTo>
                  <a:cubicBezTo>
                    <a:pt x="1973356" y="601428"/>
                    <a:pt x="1968126" y="603595"/>
                    <a:pt x="1962672" y="603595"/>
                  </a:cubicBezTo>
                  <a:lnTo>
                    <a:pt x="20562" y="603595"/>
                  </a:lnTo>
                  <a:cubicBezTo>
                    <a:pt x="15109" y="603595"/>
                    <a:pt x="9879" y="601428"/>
                    <a:pt x="6023" y="597572"/>
                  </a:cubicBezTo>
                  <a:cubicBezTo>
                    <a:pt x="2166" y="593716"/>
                    <a:pt x="0" y="588486"/>
                    <a:pt x="0" y="583032"/>
                  </a:cubicBezTo>
                  <a:lnTo>
                    <a:pt x="0" y="20562"/>
                  </a:lnTo>
                  <a:cubicBezTo>
                    <a:pt x="0" y="15109"/>
                    <a:pt x="2166" y="9879"/>
                    <a:pt x="6023" y="6023"/>
                  </a:cubicBezTo>
                  <a:cubicBezTo>
                    <a:pt x="9879" y="2166"/>
                    <a:pt x="15109" y="0"/>
                    <a:pt x="20562" y="0"/>
                  </a:cubicBezTo>
                  <a:lnTo>
                    <a:pt x="1962672" y="0"/>
                  </a:lnTo>
                  <a:cubicBezTo>
                    <a:pt x="1968126" y="0"/>
                    <a:pt x="1973356" y="2166"/>
                    <a:pt x="1977212" y="6023"/>
                  </a:cubicBezTo>
                  <a:cubicBezTo>
                    <a:pt x="1981068" y="9879"/>
                    <a:pt x="1983235" y="15109"/>
                    <a:pt x="1983235" y="20562"/>
                  </a:cubicBezTo>
                  <a:close/>
                </a:path>
              </a:pathLst>
            </a:custGeom>
            <a:solidFill>
              <a:srgbClr val="301445"/>
            </a:solidFill>
            <a:ln cap="sq">
              <a:noFill/>
              <a:prstDash val="solid"/>
              <a:miter/>
            </a:ln>
          </p:spPr>
          <p:txBody>
            <a:bodyPr/>
            <a:lstStyle/>
            <a:p>
              <a:endParaRPr lang="en-US"/>
            </a:p>
          </p:txBody>
        </p:sp>
        <p:sp>
          <p:nvSpPr>
            <p:cNvPr id="14" name="TextBox 14"/>
            <p:cNvSpPr txBox="1"/>
            <p:nvPr/>
          </p:nvSpPr>
          <p:spPr>
            <a:xfrm>
              <a:off x="0" y="-386"/>
              <a:ext cx="1983235" cy="603981"/>
            </a:xfrm>
            <a:prstGeom prst="rect">
              <a:avLst/>
            </a:prstGeom>
          </p:spPr>
          <p:txBody>
            <a:bodyPr lIns="254000" tIns="254000" rIns="254000" bIns="254000" rtlCol="0" anchor="t"/>
            <a:lstStyle/>
            <a:p>
              <a:pPr algn="l">
                <a:lnSpc>
                  <a:spcPts val="2940"/>
                </a:lnSpc>
              </a:pPr>
              <a:r>
                <a:rPr lang="en-US" sz="2100" b="1" spc="-63" dirty="0">
                  <a:solidFill>
                    <a:srgbClr val="FFFFFF"/>
                  </a:solidFill>
                  <a:latin typeface="TT Fors Bold"/>
                  <a:ea typeface="TT Fors Bold"/>
                  <a:cs typeface="TT Fors Bold"/>
                  <a:sym typeface="TT Fors Bold"/>
                </a:rPr>
                <a:t>How to Test for Zone Transfer:</a:t>
              </a:r>
            </a:p>
            <a:p>
              <a:pPr algn="l">
                <a:lnSpc>
                  <a:spcPts val="2940"/>
                </a:lnSpc>
              </a:pPr>
              <a:r>
                <a:rPr lang="en-US" sz="2100" spc="-63" dirty="0">
                  <a:solidFill>
                    <a:srgbClr val="FFFFFF"/>
                  </a:solidFill>
                  <a:latin typeface="TT Fors"/>
                  <a:ea typeface="TT Fors"/>
                  <a:cs typeface="TT Fors"/>
                  <a:sym typeface="TT Fors"/>
                </a:rPr>
                <a:t># Using dig dig </a:t>
              </a:r>
              <a:r>
                <a:rPr lang="en-US" sz="2100" spc="-63" dirty="0" err="1">
                  <a:solidFill>
                    <a:srgbClr val="FFFFFF"/>
                  </a:solidFill>
                  <a:latin typeface="TT Fors"/>
                  <a:ea typeface="TT Fors"/>
                  <a:cs typeface="TT Fors"/>
                  <a:sym typeface="TT Fors"/>
                </a:rPr>
                <a:t>axfr</a:t>
              </a:r>
              <a:r>
                <a:rPr lang="en-US" sz="2100" spc="-63" dirty="0">
                  <a:solidFill>
                    <a:srgbClr val="FFFFFF"/>
                  </a:solidFill>
                  <a:latin typeface="TT Fors"/>
                  <a:ea typeface="TT Fors"/>
                  <a:cs typeface="TT Fors"/>
                  <a:sym typeface="TT Fors"/>
                </a:rPr>
                <a:t> @nameserver </a:t>
              </a:r>
              <a:r>
                <a:rPr lang="en-US" sz="2100" spc="-63" dirty="0" err="1">
                  <a:solidFill>
                    <a:srgbClr val="FFFFFF"/>
                  </a:solidFill>
                  <a:latin typeface="TT Fors"/>
                  <a:ea typeface="TT Fors"/>
                  <a:cs typeface="TT Fors"/>
                  <a:sym typeface="TT Fors"/>
                </a:rPr>
                <a:t>example.com</a:t>
              </a:r>
              <a:r>
                <a:rPr lang="en-US" sz="2100" spc="-63" dirty="0">
                  <a:solidFill>
                    <a:srgbClr val="FFFFFF"/>
                  </a:solidFill>
                  <a:latin typeface="TT Fors"/>
                  <a:ea typeface="TT Fors"/>
                  <a:cs typeface="TT Fors"/>
                  <a:sym typeface="TT Fors"/>
                </a:rPr>
                <a:t> </a:t>
              </a:r>
            </a:p>
            <a:p>
              <a:pPr algn="l">
                <a:lnSpc>
                  <a:spcPts val="2940"/>
                </a:lnSpc>
              </a:pPr>
              <a:r>
                <a:rPr lang="en-US" sz="2100" spc="-63" dirty="0">
                  <a:solidFill>
                    <a:srgbClr val="FFFFFF"/>
                  </a:solidFill>
                  <a:latin typeface="TT Fors"/>
                  <a:ea typeface="TT Fors"/>
                  <a:cs typeface="TT Fors"/>
                  <a:sym typeface="TT Fors"/>
                </a:rPr>
                <a:t># Using host host -t </a:t>
              </a:r>
              <a:r>
                <a:rPr lang="en-US" sz="2100" spc="-63" dirty="0" err="1">
                  <a:solidFill>
                    <a:srgbClr val="FFFFFF"/>
                  </a:solidFill>
                  <a:latin typeface="TT Fors"/>
                  <a:ea typeface="TT Fors"/>
                  <a:cs typeface="TT Fors"/>
                  <a:sym typeface="TT Fors"/>
                </a:rPr>
                <a:t>axfr</a:t>
              </a:r>
              <a:r>
                <a:rPr lang="en-US" sz="2100" spc="-63" dirty="0">
                  <a:solidFill>
                    <a:srgbClr val="FFFFFF"/>
                  </a:solidFill>
                  <a:latin typeface="TT Fors"/>
                  <a:ea typeface="TT Fors"/>
                  <a:cs typeface="TT Fors"/>
                  <a:sym typeface="TT Fors"/>
                </a:rPr>
                <a:t> </a:t>
              </a:r>
              <a:r>
                <a:rPr lang="en-US" sz="2100" spc="-63" dirty="0" err="1">
                  <a:solidFill>
                    <a:srgbClr val="FFFFFF"/>
                  </a:solidFill>
                  <a:latin typeface="TT Fors"/>
                  <a:ea typeface="TT Fors"/>
                  <a:cs typeface="TT Fors"/>
                  <a:sym typeface="TT Fors"/>
                </a:rPr>
                <a:t>example.com</a:t>
              </a:r>
              <a:r>
                <a:rPr lang="en-US" sz="2100" spc="-63" dirty="0">
                  <a:solidFill>
                    <a:srgbClr val="FFFFFF"/>
                  </a:solidFill>
                  <a:latin typeface="TT Fors"/>
                  <a:ea typeface="TT Fors"/>
                  <a:cs typeface="TT Fors"/>
                  <a:sym typeface="TT Fors"/>
                </a:rPr>
                <a:t> nameserver </a:t>
              </a:r>
            </a:p>
            <a:p>
              <a:pPr algn="l">
                <a:lnSpc>
                  <a:spcPts val="2940"/>
                </a:lnSpc>
              </a:pPr>
              <a:r>
                <a:rPr lang="en-US" sz="2100" spc="-63" dirty="0">
                  <a:solidFill>
                    <a:srgbClr val="FFFFFF"/>
                  </a:solidFill>
                  <a:latin typeface="TT Fors"/>
                  <a:ea typeface="TT Fors"/>
                  <a:cs typeface="TT Fors"/>
                  <a:sym typeface="TT Fors"/>
                </a:rPr>
                <a:t># Using </a:t>
              </a:r>
              <a:r>
                <a:rPr lang="en-US" sz="2100" spc="-63" dirty="0" err="1">
                  <a:solidFill>
                    <a:srgbClr val="FFFFFF"/>
                  </a:solidFill>
                  <a:latin typeface="TT Fors"/>
                  <a:ea typeface="TT Fors"/>
                  <a:cs typeface="TT Fors"/>
                  <a:sym typeface="TT Fors"/>
                </a:rPr>
                <a:t>nslookup</a:t>
              </a:r>
              <a:r>
                <a:rPr lang="en-US" sz="2100" spc="-63" dirty="0">
                  <a:solidFill>
                    <a:srgbClr val="FFFFFF"/>
                  </a:solidFill>
                  <a:latin typeface="TT Fors"/>
                  <a:ea typeface="TT Fors"/>
                  <a:cs typeface="TT Fors"/>
                  <a:sym typeface="TT Fors"/>
                </a:rPr>
                <a:t> </a:t>
              </a:r>
              <a:r>
                <a:rPr lang="en-US" sz="2100" spc="-63" dirty="0" err="1">
                  <a:solidFill>
                    <a:srgbClr val="FFFFFF"/>
                  </a:solidFill>
                  <a:latin typeface="TT Fors"/>
                  <a:ea typeface="TT Fors"/>
                  <a:cs typeface="TT Fors"/>
                  <a:sym typeface="TT Fors"/>
                </a:rPr>
                <a:t>nslookup</a:t>
              </a:r>
              <a:r>
                <a:rPr lang="en-US" sz="2100" spc="-63" dirty="0">
                  <a:solidFill>
                    <a:srgbClr val="FFFFFF"/>
                  </a:solidFill>
                  <a:latin typeface="TT Fors"/>
                  <a:ea typeface="TT Fors"/>
                  <a:cs typeface="TT Fors"/>
                  <a:sym typeface="TT Fors"/>
                </a:rPr>
                <a:t> &gt; server nameserver &gt; set type=any &gt; ls -d </a:t>
              </a:r>
              <a:r>
                <a:rPr lang="en-US" sz="2100" spc="-63" dirty="0" err="1">
                  <a:solidFill>
                    <a:srgbClr val="FFFFFF"/>
                  </a:solidFill>
                  <a:latin typeface="TT Fors"/>
                  <a:ea typeface="TT Fors"/>
                  <a:cs typeface="TT Fors"/>
                  <a:sym typeface="TT Fors"/>
                </a:rPr>
                <a:t>example.com</a:t>
              </a:r>
              <a:endParaRPr lang="en-US" sz="2100" spc="-63" dirty="0">
                <a:solidFill>
                  <a:srgbClr val="FFFFFF"/>
                </a:solidFill>
                <a:latin typeface="TT Fors"/>
                <a:ea typeface="TT Fors"/>
                <a:cs typeface="TT Fors"/>
                <a:sym typeface="TT Fors"/>
              </a:endParaRPr>
            </a:p>
          </p:txBody>
        </p:sp>
      </p:grpSp>
      <p:grpSp>
        <p:nvGrpSpPr>
          <p:cNvPr id="15" name="Group 15"/>
          <p:cNvGrpSpPr/>
          <p:nvPr/>
        </p:nvGrpSpPr>
        <p:grpSpPr>
          <a:xfrm>
            <a:off x="666750" y="8316156"/>
            <a:ext cx="16954500" cy="1442721"/>
            <a:chOff x="0" y="0"/>
            <a:chExt cx="4465332" cy="379985"/>
          </a:xfrm>
        </p:grpSpPr>
        <p:sp>
          <p:nvSpPr>
            <p:cNvPr id="16" name="Freeform 16"/>
            <p:cNvSpPr/>
            <p:nvPr/>
          </p:nvSpPr>
          <p:spPr>
            <a:xfrm>
              <a:off x="0" y="0"/>
              <a:ext cx="4465332" cy="379985"/>
            </a:xfrm>
            <a:custGeom>
              <a:avLst/>
              <a:gdLst/>
              <a:ahLst/>
              <a:cxnLst/>
              <a:rect l="l" t="t" r="r" b="b"/>
              <a:pathLst>
                <a:path w="4465332" h="379985">
                  <a:moveTo>
                    <a:pt x="4465332" y="9133"/>
                  </a:moveTo>
                  <a:lnTo>
                    <a:pt x="4465332" y="370853"/>
                  </a:lnTo>
                  <a:cubicBezTo>
                    <a:pt x="4465332" y="373275"/>
                    <a:pt x="4464370" y="375598"/>
                    <a:pt x="4462657" y="377310"/>
                  </a:cubicBezTo>
                  <a:cubicBezTo>
                    <a:pt x="4460944" y="379023"/>
                    <a:pt x="4458622" y="379985"/>
                    <a:pt x="4456200" y="379985"/>
                  </a:cubicBezTo>
                  <a:lnTo>
                    <a:pt x="9133" y="379985"/>
                  </a:lnTo>
                  <a:cubicBezTo>
                    <a:pt x="6710" y="379985"/>
                    <a:pt x="4388" y="379023"/>
                    <a:pt x="2675" y="377310"/>
                  </a:cubicBezTo>
                  <a:cubicBezTo>
                    <a:pt x="962" y="375598"/>
                    <a:pt x="0" y="373275"/>
                    <a:pt x="0" y="370853"/>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E10505"/>
            </a:solidFill>
            <a:ln cap="sq">
              <a:noFill/>
              <a:prstDash val="solid"/>
              <a:miter/>
            </a:ln>
          </p:spPr>
          <p:txBody>
            <a:bodyPr/>
            <a:lstStyle/>
            <a:p>
              <a:endParaRPr lang="en-US"/>
            </a:p>
          </p:txBody>
        </p:sp>
        <p:sp>
          <p:nvSpPr>
            <p:cNvPr id="17" name="TextBox 17"/>
            <p:cNvSpPr txBox="1"/>
            <p:nvPr/>
          </p:nvSpPr>
          <p:spPr>
            <a:xfrm>
              <a:off x="0" y="0"/>
              <a:ext cx="4465332" cy="379985"/>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Security Issue:</a:t>
              </a:r>
              <a:r>
                <a:rPr lang="en-US" sz="2800" spc="-84" dirty="0">
                  <a:solidFill>
                    <a:srgbClr val="FFFFFF"/>
                  </a:solidFill>
                  <a:latin typeface="TT Fors"/>
                  <a:ea typeface="TT Fors"/>
                  <a:cs typeface="TT Fors"/>
                  <a:sym typeface="TT Fors"/>
                </a:rPr>
                <a:t> Zone transfers should only be allowed between trusted DNS servers, not from arbitrary internet hosts. This is a common misconfiguration!</a:t>
              </a:r>
            </a:p>
          </p:txBody>
        </p:sp>
      </p:grpSp>
      <p:sp>
        <p:nvSpPr>
          <p:cNvPr id="18" name="TextBox 18"/>
          <p:cNvSpPr txBox="1"/>
          <p:nvPr/>
        </p:nvSpPr>
        <p:spPr>
          <a:xfrm>
            <a:off x="666750" y="3062167"/>
            <a:ext cx="16954500" cy="71437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DNS Zone Transfer (AXFR) </a:t>
            </a:r>
            <a:r>
              <a:rPr lang="en-US" sz="2400" spc="-72">
                <a:solidFill>
                  <a:srgbClr val="FFFFFF"/>
                </a:solidFill>
                <a:latin typeface="TT Fors"/>
                <a:ea typeface="TT Fors"/>
                <a:cs typeface="TT Fors"/>
                <a:sym typeface="TT Fors"/>
              </a:rPr>
              <a:t>is a mechanism to replicate DNS databases between nam</a:t>
            </a:r>
            <a:r>
              <a:rPr lang="en-US" sz="2400" u="none" strike="noStrike" spc="-72">
                <a:solidFill>
                  <a:srgbClr val="FFFFFF"/>
                </a:solidFill>
                <a:latin typeface="TT Fors"/>
                <a:ea typeface="TT Fors"/>
                <a:cs typeface="TT Fors"/>
                <a:sym typeface="TT Fors"/>
              </a:rPr>
              <a:t>e servers. If misconfigured, it can leak the entire DNS zone file!</a:t>
            </a:r>
          </a:p>
        </p:txBody>
      </p:sp>
      <p:sp>
        <p:nvSpPr>
          <p:cNvPr id="19" name="TextBox 19"/>
          <p:cNvSpPr txBox="1"/>
          <p:nvPr/>
        </p:nvSpPr>
        <p:spPr>
          <a:xfrm>
            <a:off x="666750" y="2174876"/>
            <a:ext cx="16954500" cy="71437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What is a DNS Zone? </a:t>
            </a:r>
            <a:r>
              <a:rPr lang="en-US" sz="2400" spc="-72">
                <a:solidFill>
                  <a:srgbClr val="FFFFFF"/>
                </a:solidFill>
                <a:latin typeface="TT Fors"/>
                <a:ea typeface="TT Fors"/>
                <a:cs typeface="TT Fors"/>
                <a:sym typeface="TT Fors"/>
              </a:rPr>
              <a:t>A portion of the DNS nam</a:t>
            </a:r>
            <a:r>
              <a:rPr lang="en-US" sz="2400" u="none" strike="noStrike" spc="-72">
                <a:solidFill>
                  <a:srgbClr val="FFFFFF"/>
                </a:solidFill>
                <a:latin typeface="TT Fors"/>
                <a:ea typeface="TT Fors"/>
                <a:cs typeface="TT Fors"/>
                <a:sym typeface="TT Fors"/>
              </a:rPr>
              <a:t>espace managed by a specific name server.</a:t>
            </a:r>
          </a:p>
          <a:p>
            <a:pPr marL="0" lvl="0" indent="0" algn="l">
              <a:lnSpc>
                <a:spcPts val="2880"/>
              </a:lnSpc>
              <a:spcBef>
                <a:spcPct val="0"/>
              </a:spcBef>
            </a:pPr>
            <a:endParaRPr lang="en-US" sz="2400" u="none" strike="noStrike" spc="-72">
              <a:solidFill>
                <a:srgbClr val="FFFFFF"/>
              </a:solidFill>
              <a:latin typeface="TT Fors"/>
              <a:ea typeface="TT Fors"/>
              <a:cs typeface="TT Fors"/>
              <a:sym typeface="TT Fors"/>
            </a:endParaRPr>
          </a:p>
        </p:txBody>
      </p:sp>
      <p:sp>
        <p:nvSpPr>
          <p:cNvPr id="20" name="TextBox 20"/>
          <p:cNvSpPr txBox="1"/>
          <p:nvPr/>
        </p:nvSpPr>
        <p:spPr>
          <a:xfrm>
            <a:off x="666750" y="4338517"/>
            <a:ext cx="9046889" cy="24917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What Information is Leaked?</a:t>
            </a:r>
          </a:p>
          <a:p>
            <a:pPr marL="518162" lvl="1" indent="-259081" algn="l">
              <a:lnSpc>
                <a:spcPts val="3360"/>
              </a:lnSpc>
              <a:buFont typeface="Arial"/>
              <a:buChar char="•"/>
            </a:pPr>
            <a:r>
              <a:rPr lang="en-US" sz="2400">
                <a:solidFill>
                  <a:srgbClr val="00FFA8"/>
                </a:solidFill>
                <a:latin typeface="TT Fors"/>
                <a:ea typeface="TT Fors"/>
                <a:cs typeface="TT Fors"/>
                <a:sym typeface="TT Fors"/>
              </a:rPr>
              <a:t>Complete list of subdomains (mail.example.com, vpn.example.com, etc.)</a:t>
            </a:r>
          </a:p>
          <a:p>
            <a:pPr marL="518162" lvl="1" indent="-259081" algn="l">
              <a:lnSpc>
                <a:spcPts val="3360"/>
              </a:lnSpc>
              <a:buFont typeface="Arial"/>
              <a:buChar char="•"/>
            </a:pPr>
            <a:r>
              <a:rPr lang="en-US" sz="2400">
                <a:solidFill>
                  <a:srgbClr val="00FFA8"/>
                </a:solidFill>
                <a:latin typeface="TT Fors"/>
                <a:ea typeface="TT Fors"/>
                <a:cs typeface="TT Fors"/>
                <a:sym typeface="TT Fors"/>
              </a:rPr>
              <a:t>Internal server names (might reveal naming conventions)</a:t>
            </a:r>
          </a:p>
          <a:p>
            <a:pPr marL="518162" lvl="1" indent="-259081" algn="l">
              <a:lnSpc>
                <a:spcPts val="3360"/>
              </a:lnSpc>
              <a:buFont typeface="Arial"/>
              <a:buChar char="•"/>
            </a:pPr>
            <a:r>
              <a:rPr lang="en-US" sz="2400">
                <a:solidFill>
                  <a:srgbClr val="00FFA8"/>
                </a:solidFill>
                <a:latin typeface="TT Fors"/>
                <a:ea typeface="TT Fors"/>
                <a:cs typeface="TT Fors"/>
                <a:sym typeface="TT Fors"/>
              </a:rPr>
              <a:t>IP addresses of all systems</a:t>
            </a:r>
          </a:p>
          <a:p>
            <a:pPr marL="518162" lvl="1" indent="-259081" algn="l">
              <a:lnSpc>
                <a:spcPts val="3360"/>
              </a:lnSpc>
              <a:buFont typeface="Arial"/>
              <a:buChar char="•"/>
            </a:pPr>
            <a:r>
              <a:rPr lang="en-US" sz="2400">
                <a:solidFill>
                  <a:srgbClr val="00FFA8"/>
                </a:solidFill>
                <a:latin typeface="TT Fors"/>
                <a:ea typeface="TT Fors"/>
                <a:cs typeface="TT Fors"/>
                <a:sym typeface="TT Fors"/>
              </a:rPr>
              <a:t>Network topology insights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DNS Zone Transfer - Attack</a:t>
            </a:r>
          </a:p>
        </p:txBody>
      </p:sp>
      <p:sp>
        <p:nvSpPr>
          <p:cNvPr id="3" name="TextBox 3"/>
          <p:cNvSpPr txBox="1"/>
          <p:nvPr/>
        </p:nvSpPr>
        <p:spPr>
          <a:xfrm>
            <a:off x="666750" y="2095500"/>
            <a:ext cx="5947066" cy="4191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00FFA8"/>
                </a:solidFill>
                <a:latin typeface="TT Fors Bold"/>
                <a:ea typeface="TT Fors Bold"/>
                <a:cs typeface="TT Fors Bold"/>
                <a:sym typeface="TT Fors Bold"/>
              </a:rPr>
              <a:t>Attempting Zone Transfer</a:t>
            </a:r>
          </a:p>
        </p:txBody>
      </p:sp>
      <p:sp>
        <p:nvSpPr>
          <p:cNvPr id="4" name="TextBox 4"/>
          <p:cNvSpPr txBox="1"/>
          <p:nvPr/>
        </p:nvSpPr>
        <p:spPr>
          <a:xfrm>
            <a:off x="666750" y="3007407"/>
            <a:ext cx="6421995" cy="50063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Using dig command:</a:t>
            </a:r>
          </a:p>
          <a:p>
            <a:pPr algn="l">
              <a:lnSpc>
                <a:spcPts val="3360"/>
              </a:lnSpc>
            </a:pPr>
            <a:r>
              <a:rPr lang="en-US" sz="2400">
                <a:solidFill>
                  <a:srgbClr val="FFFFFF"/>
                </a:solidFill>
                <a:latin typeface="TT Fors"/>
                <a:ea typeface="TT Fors"/>
                <a:cs typeface="TT Fors"/>
                <a:sym typeface="TT Fors"/>
              </a:rPr>
              <a:t>dig @ns.example.com example.com axfr</a:t>
            </a:r>
          </a:p>
          <a:p>
            <a:pPr algn="l">
              <a:lnSpc>
                <a:spcPts val="3360"/>
              </a:lnSpc>
            </a:pPr>
            <a:endParaRPr lang="en-US" sz="2400">
              <a:solidFill>
                <a:srgbClr val="FFFFFF"/>
              </a:solidFill>
              <a:latin typeface="TT Fors"/>
              <a:ea typeface="TT Fors"/>
              <a:cs typeface="TT Fors"/>
              <a:sym typeface="TT Fors"/>
            </a:endParaRPr>
          </a:p>
          <a:p>
            <a:pPr marL="0" lvl="0" indent="0" algn="l">
              <a:lnSpc>
                <a:spcPts val="3360"/>
              </a:lnSpc>
            </a:pPr>
            <a:r>
              <a:rPr lang="en-US" sz="2400" b="1">
                <a:solidFill>
                  <a:srgbClr val="00FFA8"/>
                </a:solidFill>
                <a:latin typeface="TT Fors Bold"/>
                <a:ea typeface="TT Fors Bold"/>
                <a:cs typeface="TT Fors Bold"/>
                <a:sym typeface="TT Fors Bold"/>
              </a:rPr>
              <a:t>Using host command:</a:t>
            </a:r>
          </a:p>
          <a:p>
            <a:pPr marL="0" lvl="0" indent="0" algn="l">
              <a:lnSpc>
                <a:spcPts val="3360"/>
              </a:lnSpc>
            </a:pPr>
            <a:r>
              <a:rPr lang="en-US" sz="2400">
                <a:solidFill>
                  <a:srgbClr val="FFFFFF"/>
                </a:solidFill>
                <a:latin typeface="TT Fors"/>
                <a:ea typeface="TT Fors"/>
                <a:cs typeface="TT Fors"/>
                <a:sym typeface="TT Fors"/>
              </a:rPr>
              <a:t>host -l example.com ns.example.com</a:t>
            </a:r>
          </a:p>
          <a:p>
            <a:pPr algn="l">
              <a:lnSpc>
                <a:spcPts val="3360"/>
              </a:lnSpc>
            </a:pPr>
            <a:endParaRPr lang="en-US" sz="2400">
              <a:solidFill>
                <a:srgbClr val="FFFFFF"/>
              </a:solidFill>
              <a:latin typeface="TT Fors"/>
              <a:ea typeface="TT Fors"/>
              <a:cs typeface="TT Fors"/>
              <a:sym typeface="TT Fors"/>
            </a:endParaRPr>
          </a:p>
          <a:p>
            <a:pPr marL="0" lvl="0" indent="0" algn="l">
              <a:lnSpc>
                <a:spcPts val="3360"/>
              </a:lnSpc>
            </a:pPr>
            <a:r>
              <a:rPr lang="en-US" sz="2400" b="1">
                <a:solidFill>
                  <a:srgbClr val="00FFA8"/>
                </a:solidFill>
                <a:latin typeface="TT Fors Bold"/>
                <a:ea typeface="TT Fors Bold"/>
                <a:cs typeface="TT Fors Bold"/>
                <a:sym typeface="TT Fors Bold"/>
              </a:rPr>
              <a:t>What You Get (if successful):</a:t>
            </a:r>
          </a:p>
          <a:p>
            <a:pPr marL="518162" lvl="1" indent="-259081" algn="l">
              <a:lnSpc>
                <a:spcPts val="3360"/>
              </a:lnSpc>
              <a:buFont typeface="Arial"/>
              <a:buChar char="•"/>
            </a:pPr>
            <a:r>
              <a:rPr lang="en-US" sz="2400">
                <a:solidFill>
                  <a:srgbClr val="00FFA8"/>
                </a:solidFill>
                <a:latin typeface="TT Fors"/>
                <a:ea typeface="TT Fors"/>
                <a:cs typeface="TT Fors"/>
                <a:sym typeface="TT Fors"/>
              </a:rPr>
              <a:t>All A records (every server IP)</a:t>
            </a:r>
          </a:p>
          <a:p>
            <a:pPr marL="518162" lvl="1" indent="-259081" algn="l">
              <a:lnSpc>
                <a:spcPts val="3360"/>
              </a:lnSpc>
              <a:buFont typeface="Arial"/>
              <a:buChar char="•"/>
            </a:pPr>
            <a:r>
              <a:rPr lang="en-US" sz="2400">
                <a:solidFill>
                  <a:srgbClr val="00FFA8"/>
                </a:solidFill>
                <a:latin typeface="TT Fors"/>
                <a:ea typeface="TT Fors"/>
                <a:cs typeface="TT Fors"/>
                <a:sym typeface="TT Fors"/>
              </a:rPr>
              <a:t>All subdomains</a:t>
            </a:r>
          </a:p>
          <a:p>
            <a:pPr marL="518162" lvl="1" indent="-259081" algn="l">
              <a:lnSpc>
                <a:spcPts val="3360"/>
              </a:lnSpc>
              <a:buFont typeface="Arial"/>
              <a:buChar char="•"/>
            </a:pPr>
            <a:r>
              <a:rPr lang="en-US" sz="2400">
                <a:solidFill>
                  <a:srgbClr val="00FFA8"/>
                </a:solidFill>
                <a:latin typeface="TT Fors"/>
                <a:ea typeface="TT Fors"/>
                <a:cs typeface="TT Fors"/>
                <a:sym typeface="TT Fors"/>
              </a:rPr>
              <a:t>Internal naming conventions</a:t>
            </a:r>
          </a:p>
          <a:p>
            <a:pPr marL="518162" lvl="1" indent="-259081" algn="l">
              <a:lnSpc>
                <a:spcPts val="3360"/>
              </a:lnSpc>
              <a:buFont typeface="Arial"/>
              <a:buChar char="•"/>
            </a:pPr>
            <a:r>
              <a:rPr lang="en-US" sz="2400">
                <a:solidFill>
                  <a:srgbClr val="00FFA8"/>
                </a:solidFill>
                <a:latin typeface="TT Fors"/>
                <a:ea typeface="TT Fors"/>
                <a:cs typeface="TT Fors"/>
                <a:sym typeface="TT Fors"/>
              </a:rPr>
              <a:t>Network organization</a:t>
            </a:r>
          </a:p>
          <a:p>
            <a:pPr marL="518162" lvl="1" indent="-259081" algn="l">
              <a:lnSpc>
                <a:spcPts val="3360"/>
              </a:lnSpc>
              <a:buFont typeface="Arial"/>
              <a:buChar char="•"/>
            </a:pPr>
            <a:r>
              <a:rPr lang="en-US" sz="2400">
                <a:solidFill>
                  <a:srgbClr val="00FFA8"/>
                </a:solidFill>
                <a:latin typeface="TT Fors"/>
                <a:ea typeface="TT Fors"/>
                <a:cs typeface="TT Fors"/>
                <a:sym typeface="TT Fors"/>
              </a:rPr>
              <a:t>Service locations (mail, FTP, VPN, etc.)</a:t>
            </a:r>
          </a:p>
        </p:txBody>
      </p:sp>
      <p:sp>
        <p:nvSpPr>
          <p:cNvPr id="5" name="TextBox 5"/>
          <p:cNvSpPr txBox="1"/>
          <p:nvPr/>
        </p:nvSpPr>
        <p:spPr>
          <a:xfrm>
            <a:off x="9144000" y="3037887"/>
            <a:ext cx="5562039" cy="20726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Example Output:</a:t>
            </a:r>
          </a:p>
          <a:p>
            <a:pPr marL="518162" lvl="1" indent="-259081" algn="l">
              <a:lnSpc>
                <a:spcPts val="3360"/>
              </a:lnSpc>
              <a:buFont typeface="Arial"/>
              <a:buChar char="•"/>
            </a:pPr>
            <a:r>
              <a:rPr lang="en-US" sz="2400">
                <a:solidFill>
                  <a:srgbClr val="FFFFFF"/>
                </a:solidFill>
                <a:latin typeface="TT Fors"/>
                <a:ea typeface="TT Fors"/>
                <a:cs typeface="TT Fors"/>
                <a:sym typeface="TT Fors"/>
              </a:rPr>
              <a:t>www.example.com   → 192.168.1.10</a:t>
            </a:r>
          </a:p>
          <a:p>
            <a:pPr marL="518162" lvl="1" indent="-259081" algn="l">
              <a:lnSpc>
                <a:spcPts val="3360"/>
              </a:lnSpc>
              <a:buFont typeface="Arial"/>
              <a:buChar char="•"/>
            </a:pPr>
            <a:r>
              <a:rPr lang="en-US" sz="2400">
                <a:solidFill>
                  <a:srgbClr val="FFFFFF"/>
                </a:solidFill>
                <a:latin typeface="TT Fors"/>
                <a:ea typeface="TT Fors"/>
                <a:cs typeface="TT Fors"/>
                <a:sym typeface="TT Fors"/>
              </a:rPr>
              <a:t>mail.example.com  → 192.168.1.20</a:t>
            </a:r>
          </a:p>
          <a:p>
            <a:pPr marL="518162" lvl="1" indent="-259081" algn="l">
              <a:lnSpc>
                <a:spcPts val="3360"/>
              </a:lnSpc>
              <a:buFont typeface="Arial"/>
              <a:buChar char="•"/>
            </a:pPr>
            <a:r>
              <a:rPr lang="en-US" sz="2400">
                <a:solidFill>
                  <a:srgbClr val="FFFFFF"/>
                </a:solidFill>
                <a:latin typeface="TT Fors"/>
                <a:ea typeface="TT Fors"/>
                <a:cs typeface="TT Fors"/>
                <a:sym typeface="TT Fors"/>
              </a:rPr>
              <a:t>vpn.example.com   → 192.168.1.30</a:t>
            </a:r>
          </a:p>
          <a:p>
            <a:pPr marL="518162" lvl="1" indent="-259081" algn="l">
              <a:lnSpc>
                <a:spcPts val="3360"/>
              </a:lnSpc>
              <a:buFont typeface="Arial"/>
              <a:buChar char="•"/>
            </a:pPr>
            <a:r>
              <a:rPr lang="en-US" sz="2400">
                <a:solidFill>
                  <a:srgbClr val="FFFFFF"/>
                </a:solidFill>
                <a:latin typeface="TT Fors"/>
                <a:ea typeface="TT Fors"/>
                <a:cs typeface="TT Fors"/>
                <a:sym typeface="TT Fors"/>
              </a:rPr>
              <a:t>internal.example.com → 10.0.0.5</a:t>
            </a:r>
          </a:p>
        </p:txBody>
      </p:sp>
      <p:grpSp>
        <p:nvGrpSpPr>
          <p:cNvPr id="6" name="Group 6"/>
          <p:cNvGrpSpPr/>
          <p:nvPr/>
        </p:nvGrpSpPr>
        <p:grpSpPr>
          <a:xfrm>
            <a:off x="16115522" y="751544"/>
            <a:ext cx="1505728" cy="810556"/>
            <a:chOff x="0" y="0"/>
            <a:chExt cx="2007638" cy="1080741"/>
          </a:xfrm>
        </p:grpSpPr>
        <p:grpSp>
          <p:nvGrpSpPr>
            <p:cNvPr id="7" name="Group 7"/>
            <p:cNvGrpSpPr/>
            <p:nvPr/>
          </p:nvGrpSpPr>
          <p:grpSpPr>
            <a:xfrm>
              <a:off x="0" y="0"/>
              <a:ext cx="1080741" cy="108074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926897" y="0"/>
              <a:ext cx="1080741" cy="108074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Freeform 14"/>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DNS Zone Transfer - Prevention</a:t>
            </a:r>
          </a:p>
        </p:txBody>
      </p:sp>
      <p:sp>
        <p:nvSpPr>
          <p:cNvPr id="3" name="TextBox 3"/>
          <p:cNvSpPr txBox="1"/>
          <p:nvPr/>
        </p:nvSpPr>
        <p:spPr>
          <a:xfrm>
            <a:off x="666750" y="2095500"/>
            <a:ext cx="5947066" cy="4191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00FFA8"/>
                </a:solidFill>
                <a:latin typeface="TT Fors Bold"/>
                <a:ea typeface="TT Fors Bold"/>
                <a:cs typeface="TT Fors Bold"/>
                <a:sym typeface="TT Fors Bold"/>
              </a:rPr>
              <a:t>Securing DNS Servers</a:t>
            </a:r>
          </a:p>
        </p:txBody>
      </p:sp>
      <p:sp>
        <p:nvSpPr>
          <p:cNvPr id="4" name="TextBox 4"/>
          <p:cNvSpPr txBox="1"/>
          <p:nvPr/>
        </p:nvSpPr>
        <p:spPr>
          <a:xfrm>
            <a:off x="666750" y="3007407"/>
            <a:ext cx="10689322" cy="3749040"/>
          </a:xfrm>
          <a:prstGeom prst="rect">
            <a:avLst/>
          </a:prstGeom>
        </p:spPr>
        <p:txBody>
          <a:bodyPr lIns="0" tIns="0" rIns="0" bIns="0" rtlCol="0" anchor="t">
            <a:spAutoFit/>
          </a:bodyPr>
          <a:lstStyle/>
          <a:p>
            <a:pPr marL="0" lvl="0" indent="0" algn="l">
              <a:lnSpc>
                <a:spcPts val="3360"/>
              </a:lnSpc>
            </a:pPr>
            <a:r>
              <a:rPr lang="en-US" sz="2400" b="1">
                <a:solidFill>
                  <a:srgbClr val="00FFA8"/>
                </a:solidFill>
                <a:latin typeface="TT Fors Bold"/>
                <a:ea typeface="TT Fors Bold"/>
                <a:cs typeface="TT Fors Bold"/>
                <a:sym typeface="TT Fors Bold"/>
              </a:rPr>
              <a:t>Mitigation Strategies:</a:t>
            </a:r>
          </a:p>
          <a:p>
            <a:pPr marL="518162" lvl="1" indent="-259081" algn="l">
              <a:lnSpc>
                <a:spcPts val="3360"/>
              </a:lnSpc>
              <a:buAutoNum type="arabicPeriod"/>
            </a:pPr>
            <a:r>
              <a:rPr lang="en-US" sz="2400">
                <a:solidFill>
                  <a:srgbClr val="00FFA8"/>
                </a:solidFill>
                <a:latin typeface="TT Fors"/>
                <a:ea typeface="TT Fors"/>
                <a:cs typeface="TT Fors"/>
                <a:sym typeface="TT Fors"/>
              </a:rPr>
              <a:t>Configure DNS servers to allow zone transfers only from specific IPs</a:t>
            </a:r>
          </a:p>
          <a:p>
            <a:pPr marL="518162" lvl="1" indent="-259081" algn="l">
              <a:lnSpc>
                <a:spcPts val="3360"/>
              </a:lnSpc>
              <a:buAutoNum type="arabicPeriod"/>
            </a:pPr>
            <a:r>
              <a:rPr lang="en-US" sz="2400">
                <a:solidFill>
                  <a:srgbClr val="00FFA8"/>
                </a:solidFill>
                <a:latin typeface="TT Fors"/>
                <a:ea typeface="TT Fors"/>
                <a:cs typeface="TT Fors"/>
                <a:sym typeface="TT Fors"/>
              </a:rPr>
              <a:t>Use TSIG (Transaction Signatures) for authentication</a:t>
            </a:r>
          </a:p>
          <a:p>
            <a:pPr marL="518162" lvl="1" indent="-259081" algn="l">
              <a:lnSpc>
                <a:spcPts val="3360"/>
              </a:lnSpc>
              <a:buAutoNum type="arabicPeriod"/>
            </a:pPr>
            <a:r>
              <a:rPr lang="en-US" sz="2400">
                <a:solidFill>
                  <a:srgbClr val="00FFA8"/>
                </a:solidFill>
                <a:latin typeface="TT Fors"/>
                <a:ea typeface="TT Fors"/>
                <a:cs typeface="TT Fors"/>
                <a:sym typeface="TT Fors"/>
              </a:rPr>
              <a:t>Implement access control lists (ACLs)</a:t>
            </a:r>
          </a:p>
          <a:p>
            <a:pPr marL="518162" lvl="1" indent="-259081" algn="l">
              <a:lnSpc>
                <a:spcPts val="3360"/>
              </a:lnSpc>
              <a:buAutoNum type="arabicPeriod"/>
            </a:pPr>
            <a:r>
              <a:rPr lang="en-US" sz="2400">
                <a:solidFill>
                  <a:srgbClr val="00FFA8"/>
                </a:solidFill>
                <a:latin typeface="TT Fors"/>
                <a:ea typeface="TT Fors"/>
                <a:cs typeface="TT Fors"/>
                <a:sym typeface="TT Fors"/>
              </a:rPr>
              <a:t>Regular security audits of DNS configurations</a:t>
            </a:r>
          </a:p>
          <a:p>
            <a:pPr marL="518162" lvl="1" indent="-259081" algn="l">
              <a:lnSpc>
                <a:spcPts val="3360"/>
              </a:lnSpc>
              <a:buAutoNum type="arabicPeriod"/>
            </a:pPr>
            <a:r>
              <a:rPr lang="en-US" sz="2400">
                <a:solidFill>
                  <a:srgbClr val="00FFA8"/>
                </a:solidFill>
                <a:latin typeface="TT Fors"/>
                <a:ea typeface="TT Fors"/>
                <a:cs typeface="TT Fors"/>
                <a:sym typeface="TT Fors"/>
              </a:rPr>
              <a:t>Monitor DNS query logs for suspicious activities</a:t>
            </a:r>
          </a:p>
          <a:p>
            <a:pPr algn="l">
              <a:lnSpc>
                <a:spcPts val="3360"/>
              </a:lnSpc>
            </a:pPr>
            <a:endParaRPr lang="en-US" sz="2400">
              <a:solidFill>
                <a:srgbClr val="00FFA8"/>
              </a:solidFill>
              <a:latin typeface="TT Fors"/>
              <a:ea typeface="TT Fors"/>
              <a:cs typeface="TT Fors"/>
              <a:sym typeface="TT Fors"/>
            </a:endParaRPr>
          </a:p>
          <a:p>
            <a:pPr algn="l">
              <a:lnSpc>
                <a:spcPts val="3360"/>
              </a:lnSpc>
            </a:pPr>
            <a:r>
              <a:rPr lang="en-US" sz="2400" b="1">
                <a:solidFill>
                  <a:srgbClr val="00FFA8"/>
                </a:solidFill>
                <a:latin typeface="TT Fors Bold"/>
                <a:ea typeface="TT Fors Bold"/>
                <a:cs typeface="TT Fors Bold"/>
                <a:sym typeface="TT Fors Bold"/>
              </a:rPr>
              <a:t>Configuration Example (BIND):</a:t>
            </a:r>
          </a:p>
          <a:p>
            <a:pPr algn="l">
              <a:lnSpc>
                <a:spcPts val="3360"/>
              </a:lnSpc>
            </a:pPr>
            <a:r>
              <a:rPr lang="en-US" sz="2400">
                <a:solidFill>
                  <a:srgbClr val="FFFFFF"/>
                </a:solidFill>
                <a:latin typeface="TT Fors"/>
                <a:ea typeface="TT Fors"/>
                <a:cs typeface="TT Fors"/>
                <a:sym typeface="TT Fors"/>
              </a:rPr>
              <a:t>allow-transfer { 192.168.1.2; 192.168.1.3; };</a:t>
            </a:r>
          </a:p>
        </p:txBody>
      </p:sp>
      <p:grpSp>
        <p:nvGrpSpPr>
          <p:cNvPr id="5" name="Group 5"/>
          <p:cNvGrpSpPr/>
          <p:nvPr/>
        </p:nvGrpSpPr>
        <p:grpSpPr>
          <a:xfrm>
            <a:off x="16115522" y="751544"/>
            <a:ext cx="1505728" cy="810556"/>
            <a:chOff x="0" y="0"/>
            <a:chExt cx="2007638" cy="1080741"/>
          </a:xfrm>
        </p:grpSpPr>
        <p:grpSp>
          <p:nvGrpSpPr>
            <p:cNvPr id="6" name="Group 6"/>
            <p:cNvGrpSpPr/>
            <p:nvPr/>
          </p:nvGrpSpPr>
          <p:grpSpPr>
            <a:xfrm>
              <a:off x="0"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926897" y="0"/>
              <a:ext cx="1080741" cy="108074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4" name="Group 14"/>
          <p:cNvGrpSpPr/>
          <p:nvPr/>
        </p:nvGrpSpPr>
        <p:grpSpPr>
          <a:xfrm>
            <a:off x="666750" y="8994822"/>
            <a:ext cx="16954500" cy="947421"/>
            <a:chOff x="0" y="0"/>
            <a:chExt cx="4465332" cy="249533"/>
          </a:xfrm>
        </p:grpSpPr>
        <p:sp>
          <p:nvSpPr>
            <p:cNvPr id="15" name="Freeform 15"/>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E10505"/>
            </a:solidFill>
            <a:ln cap="sq">
              <a:noFill/>
              <a:prstDash val="solid"/>
              <a:miter/>
            </a:ln>
          </p:spPr>
          <p:txBody>
            <a:bodyPr/>
            <a:lstStyle/>
            <a:p>
              <a:endParaRPr lang="en-US"/>
            </a:p>
          </p:txBody>
        </p:sp>
        <p:sp>
          <p:nvSpPr>
            <p:cNvPr id="16" name="TextBox 16"/>
            <p:cNvSpPr txBox="1"/>
            <p:nvPr/>
          </p:nvSpPr>
          <p:spPr>
            <a:xfrm>
              <a:off x="0" y="0"/>
              <a:ext cx="4465332" cy="249533"/>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Testing Your Own DNS: </a:t>
              </a:r>
              <a:r>
                <a:rPr lang="en-US" sz="2800" spc="-84" dirty="0">
                  <a:solidFill>
                    <a:srgbClr val="FFFFFF"/>
                  </a:solidFill>
                  <a:latin typeface="TT Fors"/>
                  <a:ea typeface="TT Fors"/>
                  <a:cs typeface="TT Fors"/>
                  <a:sym typeface="TT Fors"/>
                </a:rPr>
                <a:t>Always test your organization's DNS servers for this vulnerability.</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Shodan - The IoT Search Engine</a:t>
            </a:r>
          </a:p>
        </p:txBody>
      </p:sp>
      <p:sp>
        <p:nvSpPr>
          <p:cNvPr id="3" name="TextBox 3"/>
          <p:cNvSpPr txBox="1"/>
          <p:nvPr/>
        </p:nvSpPr>
        <p:spPr>
          <a:xfrm>
            <a:off x="666750" y="2095500"/>
            <a:ext cx="5947066" cy="4191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00FFA8"/>
                </a:solidFill>
                <a:latin typeface="TT Fors Bold"/>
                <a:ea typeface="TT Fors Bold"/>
                <a:cs typeface="TT Fors Bold"/>
                <a:sym typeface="TT Fors Bold"/>
              </a:rPr>
              <a:t>Searching for Connected Devices</a:t>
            </a:r>
          </a:p>
        </p:txBody>
      </p:sp>
      <p:sp>
        <p:nvSpPr>
          <p:cNvPr id="4" name="TextBox 4"/>
          <p:cNvSpPr txBox="1"/>
          <p:nvPr/>
        </p:nvSpPr>
        <p:spPr>
          <a:xfrm>
            <a:off x="659716" y="3453587"/>
            <a:ext cx="10689322" cy="5006340"/>
          </a:xfrm>
          <a:prstGeom prst="rect">
            <a:avLst/>
          </a:prstGeom>
        </p:spPr>
        <p:txBody>
          <a:bodyPr lIns="0" tIns="0" rIns="0" bIns="0" rtlCol="0" anchor="t">
            <a:spAutoFit/>
          </a:bodyPr>
          <a:lstStyle/>
          <a:p>
            <a:pPr marL="0" lvl="0" indent="0" algn="l">
              <a:lnSpc>
                <a:spcPts val="3360"/>
              </a:lnSpc>
            </a:pPr>
            <a:r>
              <a:rPr lang="en-US" sz="2400" b="1" dirty="0">
                <a:solidFill>
                  <a:srgbClr val="00FFA8"/>
                </a:solidFill>
                <a:latin typeface="TT Fors Bold"/>
                <a:ea typeface="TT Fors Bold"/>
                <a:cs typeface="TT Fors Bold"/>
                <a:sym typeface="TT Fors Bold"/>
              </a:rPr>
              <a:t>What Shodan Reveals:</a:t>
            </a:r>
          </a:p>
          <a:p>
            <a:pPr marL="518162" lvl="1" indent="-259081" algn="l">
              <a:lnSpc>
                <a:spcPts val="3360"/>
              </a:lnSpc>
              <a:buFont typeface="Arial"/>
              <a:buChar char="•"/>
            </a:pPr>
            <a:r>
              <a:rPr lang="en-US" sz="2400" dirty="0">
                <a:solidFill>
                  <a:srgbClr val="00FFA8"/>
                </a:solidFill>
                <a:latin typeface="TT Fors"/>
                <a:ea typeface="TT Fors"/>
                <a:cs typeface="TT Fors"/>
                <a:sym typeface="TT Fors"/>
              </a:rPr>
              <a:t>Open ports on servers</a:t>
            </a:r>
          </a:p>
          <a:p>
            <a:pPr marL="518162" lvl="1" indent="-259081" algn="l">
              <a:lnSpc>
                <a:spcPts val="3360"/>
              </a:lnSpc>
              <a:buFont typeface="Arial"/>
              <a:buChar char="•"/>
            </a:pPr>
            <a:r>
              <a:rPr lang="en-US" sz="2400" dirty="0">
                <a:solidFill>
                  <a:srgbClr val="00FFA8"/>
                </a:solidFill>
                <a:latin typeface="TT Fors"/>
                <a:ea typeface="TT Fors"/>
                <a:cs typeface="TT Fors"/>
                <a:sym typeface="TT Fors"/>
              </a:rPr>
              <a:t>Running services and versions</a:t>
            </a:r>
          </a:p>
          <a:p>
            <a:pPr marL="518162" lvl="1" indent="-259081" algn="l">
              <a:lnSpc>
                <a:spcPts val="3360"/>
              </a:lnSpc>
              <a:buFont typeface="Arial"/>
              <a:buChar char="•"/>
            </a:pPr>
            <a:r>
              <a:rPr lang="en-US" sz="2400" dirty="0">
                <a:solidFill>
                  <a:srgbClr val="00FFA8"/>
                </a:solidFill>
                <a:latin typeface="TT Fors"/>
                <a:ea typeface="TT Fors"/>
                <a:cs typeface="TT Fors"/>
                <a:sym typeface="TT Fors"/>
              </a:rPr>
              <a:t>Software banners</a:t>
            </a:r>
          </a:p>
          <a:p>
            <a:pPr marL="518162" lvl="1" indent="-259081" algn="l">
              <a:lnSpc>
                <a:spcPts val="3360"/>
              </a:lnSpc>
              <a:buFont typeface="Arial"/>
              <a:buChar char="•"/>
            </a:pPr>
            <a:r>
              <a:rPr lang="en-US" sz="2400" dirty="0">
                <a:solidFill>
                  <a:srgbClr val="00FFA8"/>
                </a:solidFill>
                <a:latin typeface="TT Fors"/>
                <a:ea typeface="TT Fors"/>
                <a:cs typeface="TT Fors"/>
                <a:sym typeface="TT Fors"/>
              </a:rPr>
              <a:t>Default credentials</a:t>
            </a:r>
          </a:p>
          <a:p>
            <a:pPr marL="518162" lvl="1" indent="-259081" algn="l">
              <a:lnSpc>
                <a:spcPts val="3360"/>
              </a:lnSpc>
              <a:buFont typeface="Arial"/>
              <a:buChar char="•"/>
            </a:pPr>
            <a:r>
              <a:rPr lang="en-US" sz="2400" dirty="0">
                <a:solidFill>
                  <a:srgbClr val="00FFA8"/>
                </a:solidFill>
                <a:latin typeface="TT Fors"/>
                <a:ea typeface="TT Fors"/>
                <a:cs typeface="TT Fors"/>
                <a:sym typeface="TT Fors"/>
              </a:rPr>
              <a:t>Webcams, routers, industrial systems</a:t>
            </a:r>
          </a:p>
          <a:p>
            <a:pPr marL="518162" lvl="1" indent="-259081" algn="l">
              <a:lnSpc>
                <a:spcPts val="3360"/>
              </a:lnSpc>
              <a:buFont typeface="Arial"/>
              <a:buChar char="•"/>
            </a:pPr>
            <a:r>
              <a:rPr lang="en-US" sz="2400" dirty="0">
                <a:solidFill>
                  <a:srgbClr val="00FFA8"/>
                </a:solidFill>
                <a:latin typeface="TT Fors"/>
                <a:ea typeface="TT Fors"/>
                <a:cs typeface="TT Fors"/>
                <a:sym typeface="TT Fors"/>
              </a:rPr>
              <a:t>Vulnerabilities in exposed systems</a:t>
            </a:r>
          </a:p>
          <a:p>
            <a:pPr algn="l">
              <a:lnSpc>
                <a:spcPts val="3360"/>
              </a:lnSpc>
            </a:pPr>
            <a:endParaRPr lang="en-US" sz="2400" dirty="0">
              <a:solidFill>
                <a:srgbClr val="00FFA8"/>
              </a:solidFill>
              <a:latin typeface="TT Fors"/>
              <a:ea typeface="TT Fors"/>
              <a:cs typeface="TT Fors"/>
              <a:sym typeface="TT Fors"/>
            </a:endParaRPr>
          </a:p>
          <a:p>
            <a:pPr algn="l">
              <a:lnSpc>
                <a:spcPts val="3360"/>
              </a:lnSpc>
            </a:pPr>
            <a:r>
              <a:rPr lang="en-US" sz="2400" b="1" dirty="0">
                <a:solidFill>
                  <a:srgbClr val="00FFA8"/>
                </a:solidFill>
                <a:latin typeface="TT Fors Bold"/>
                <a:ea typeface="TT Fors Bold"/>
                <a:cs typeface="TT Fors Bold"/>
                <a:sym typeface="TT Fors Bold"/>
              </a:rPr>
              <a:t>Example Searches:</a:t>
            </a:r>
          </a:p>
          <a:p>
            <a:pPr marL="518162" lvl="1" indent="-259081" algn="l">
              <a:lnSpc>
                <a:spcPts val="3360"/>
              </a:lnSpc>
              <a:buFont typeface="Arial"/>
              <a:buChar char="•"/>
            </a:pPr>
            <a:r>
              <a:rPr lang="en-US" sz="2400" dirty="0">
                <a:solidFill>
                  <a:srgbClr val="FFFFFF"/>
                </a:solidFill>
                <a:latin typeface="TT Fors"/>
                <a:ea typeface="TT Fors"/>
                <a:cs typeface="TT Fors"/>
                <a:sym typeface="TT Fors"/>
              </a:rPr>
              <a:t>port:3389 </a:t>
            </a:r>
            <a:r>
              <a:rPr lang="en-US" sz="2400" dirty="0" err="1">
                <a:solidFill>
                  <a:srgbClr val="FFFFFF"/>
                </a:solidFill>
                <a:latin typeface="TT Fors"/>
                <a:ea typeface="TT Fors"/>
                <a:cs typeface="TT Fors"/>
                <a:sym typeface="TT Fors"/>
              </a:rPr>
              <a:t>country:MY</a:t>
            </a:r>
            <a:r>
              <a:rPr lang="en-US" sz="2400" dirty="0">
                <a:solidFill>
                  <a:srgbClr val="FFFFFF"/>
                </a:solidFill>
                <a:latin typeface="TT Fors"/>
                <a:ea typeface="TT Fors"/>
                <a:cs typeface="TT Fors"/>
                <a:sym typeface="TT Fors"/>
              </a:rPr>
              <a:t> (RDP servers in Malaysia)</a:t>
            </a:r>
          </a:p>
          <a:p>
            <a:pPr marL="518162" lvl="1" indent="-259081" algn="l">
              <a:lnSpc>
                <a:spcPts val="3360"/>
              </a:lnSpc>
              <a:buFont typeface="Arial"/>
              <a:buChar char="•"/>
            </a:pPr>
            <a:r>
              <a:rPr lang="en-US" sz="2400" dirty="0" err="1">
                <a:solidFill>
                  <a:srgbClr val="FFFFFF"/>
                </a:solidFill>
                <a:latin typeface="TT Fors"/>
                <a:ea typeface="TT Fors"/>
                <a:cs typeface="TT Fors"/>
                <a:sym typeface="TT Fors"/>
              </a:rPr>
              <a:t>apache</a:t>
            </a:r>
            <a:r>
              <a:rPr lang="en-US" sz="2400" dirty="0">
                <a:solidFill>
                  <a:srgbClr val="FFFFFF"/>
                </a:solidFill>
                <a:latin typeface="TT Fors"/>
                <a:ea typeface="TT Fors"/>
                <a:cs typeface="TT Fors"/>
                <a:sym typeface="TT Fors"/>
              </a:rPr>
              <a:t> 2.4.49 (specific Apache version)</a:t>
            </a:r>
          </a:p>
          <a:p>
            <a:pPr marL="518162" lvl="1" indent="-259081" algn="l">
              <a:lnSpc>
                <a:spcPts val="3360"/>
              </a:lnSpc>
              <a:buFont typeface="Arial"/>
              <a:buChar char="•"/>
            </a:pPr>
            <a:r>
              <a:rPr lang="en-US" sz="2400" dirty="0">
                <a:solidFill>
                  <a:srgbClr val="FFFFFF"/>
                </a:solidFill>
                <a:latin typeface="TT Fors"/>
                <a:ea typeface="TT Fors"/>
                <a:cs typeface="TT Fors"/>
                <a:sym typeface="TT Fors"/>
              </a:rPr>
              <a:t>"default password" (devices with default credentials)</a:t>
            </a:r>
          </a:p>
        </p:txBody>
      </p:sp>
      <p:grpSp>
        <p:nvGrpSpPr>
          <p:cNvPr id="5" name="Group 5"/>
          <p:cNvGrpSpPr/>
          <p:nvPr/>
        </p:nvGrpSpPr>
        <p:grpSpPr>
          <a:xfrm>
            <a:off x="16115522" y="751544"/>
            <a:ext cx="1505728" cy="810556"/>
            <a:chOff x="0" y="0"/>
            <a:chExt cx="2007638" cy="1080741"/>
          </a:xfrm>
        </p:grpSpPr>
        <p:grpSp>
          <p:nvGrpSpPr>
            <p:cNvPr id="6" name="Group 6"/>
            <p:cNvGrpSpPr/>
            <p:nvPr/>
          </p:nvGrpSpPr>
          <p:grpSpPr>
            <a:xfrm>
              <a:off x="0"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926897" y="0"/>
              <a:ext cx="1080741" cy="108074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4" name="Group 14"/>
          <p:cNvGrpSpPr/>
          <p:nvPr/>
        </p:nvGrpSpPr>
        <p:grpSpPr>
          <a:xfrm>
            <a:off x="666750" y="8994822"/>
            <a:ext cx="16954500" cy="947421"/>
            <a:chOff x="0" y="0"/>
            <a:chExt cx="4465332" cy="249533"/>
          </a:xfrm>
        </p:grpSpPr>
        <p:sp>
          <p:nvSpPr>
            <p:cNvPr id="15" name="Freeform 15"/>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16" name="TextBox 16"/>
            <p:cNvSpPr txBox="1"/>
            <p:nvPr/>
          </p:nvSpPr>
          <p:spPr>
            <a:xfrm>
              <a:off x="0" y="0"/>
              <a:ext cx="4465332" cy="249533"/>
            </a:xfrm>
            <a:prstGeom prst="rect">
              <a:avLst/>
            </a:prstGeom>
          </p:spPr>
          <p:txBody>
            <a:bodyPr lIns="254000" tIns="254000" rIns="254000" bIns="254000" rtlCol="0" anchor="ctr"/>
            <a:lstStyle/>
            <a:p>
              <a:pPr marL="0" lvl="0" indent="0" algn="l">
                <a:lnSpc>
                  <a:spcPts val="3920"/>
                </a:lnSpc>
                <a:spcBef>
                  <a:spcPct val="0"/>
                </a:spcBef>
              </a:pPr>
              <a:r>
                <a:rPr lang="en-US" sz="2800" b="1" u="none" strike="noStrike" spc="-84" dirty="0">
                  <a:solidFill>
                    <a:srgbClr val="FFFFFF"/>
                  </a:solidFill>
                  <a:latin typeface="TT Fors Bold"/>
                  <a:ea typeface="TT Fors Bold"/>
                  <a:cs typeface="TT Fors Bold"/>
                  <a:sym typeface="TT Fors Bold"/>
                </a:rPr>
                <a:t>Website: </a:t>
              </a:r>
              <a:r>
                <a:rPr lang="en-US" sz="2800" u="none" strike="noStrike" spc="-84" dirty="0" err="1">
                  <a:solidFill>
                    <a:srgbClr val="FFFFFF"/>
                  </a:solidFill>
                  <a:latin typeface="TT Fors"/>
                  <a:ea typeface="TT Fors"/>
                  <a:cs typeface="TT Fors"/>
                  <a:sym typeface="TT Fors"/>
                </a:rPr>
                <a:t>shodan.io</a:t>
              </a:r>
              <a:endParaRPr lang="en-US" sz="2800" u="none" strike="noStrike" spc="-84" dirty="0">
                <a:solidFill>
                  <a:srgbClr val="FFFFFF"/>
                </a:solidFill>
                <a:latin typeface="TT Fors"/>
                <a:ea typeface="TT Fors"/>
                <a:cs typeface="TT Fors"/>
                <a:sym typeface="TT Fors"/>
              </a:endParaRPr>
            </a:p>
          </p:txBody>
        </p:sp>
      </p:grpSp>
      <p:sp>
        <p:nvSpPr>
          <p:cNvPr id="17" name="TextBox 17"/>
          <p:cNvSpPr txBox="1"/>
          <p:nvPr/>
        </p:nvSpPr>
        <p:spPr>
          <a:xfrm>
            <a:off x="666750" y="2836008"/>
            <a:ext cx="16954500" cy="3524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What is Shodan? </a:t>
            </a:r>
            <a:r>
              <a:rPr lang="en-US" sz="2400" spc="-72">
                <a:solidFill>
                  <a:srgbClr val="FFFFFF"/>
                </a:solidFill>
                <a:latin typeface="TT Fors"/>
                <a:ea typeface="TT Fors"/>
                <a:cs typeface="TT Fors"/>
                <a:sym typeface="TT Fors"/>
              </a:rPr>
              <a:t>A search engine that scans the entire int</a:t>
            </a:r>
            <a:r>
              <a:rPr lang="en-US" sz="2400" u="none" strike="noStrike" spc="-72">
                <a:solidFill>
                  <a:srgbClr val="FFFFFF"/>
                </a:solidFill>
                <a:latin typeface="TT Fors"/>
                <a:ea typeface="TT Fors"/>
                <a:cs typeface="TT Fors"/>
                <a:sym typeface="TT Fors"/>
              </a:rPr>
              <a:t>ernet for connected devices and services.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Shodan - Use Cases</a:t>
            </a:r>
          </a:p>
        </p:txBody>
      </p:sp>
      <p:sp>
        <p:nvSpPr>
          <p:cNvPr id="3" name="TextBox 3"/>
          <p:cNvSpPr txBox="1"/>
          <p:nvPr/>
        </p:nvSpPr>
        <p:spPr>
          <a:xfrm>
            <a:off x="666750" y="2095500"/>
            <a:ext cx="5947066" cy="4191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00FFA8"/>
                </a:solidFill>
                <a:latin typeface="TT Fors Bold"/>
                <a:ea typeface="TT Fors Bold"/>
                <a:cs typeface="TT Fors Bold"/>
                <a:sym typeface="TT Fors Bold"/>
              </a:rPr>
              <a:t>Practical Applications</a:t>
            </a:r>
          </a:p>
        </p:txBody>
      </p:sp>
      <p:grpSp>
        <p:nvGrpSpPr>
          <p:cNvPr id="4" name="Group 4"/>
          <p:cNvGrpSpPr/>
          <p:nvPr/>
        </p:nvGrpSpPr>
        <p:grpSpPr>
          <a:xfrm>
            <a:off x="16115522" y="751544"/>
            <a:ext cx="1505728" cy="810556"/>
            <a:chOff x="0" y="0"/>
            <a:chExt cx="2007638" cy="1080741"/>
          </a:xfrm>
        </p:grpSpPr>
        <p:grpSp>
          <p:nvGrpSpPr>
            <p:cNvPr id="5" name="Group 5"/>
            <p:cNvGrpSpPr/>
            <p:nvPr/>
          </p:nvGrpSpPr>
          <p:grpSpPr>
            <a:xfrm>
              <a:off x="0" y="0"/>
              <a:ext cx="1080741" cy="10807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926897" y="0"/>
              <a:ext cx="1080741" cy="10807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3" name="TextBox 13"/>
          <p:cNvSpPr txBox="1"/>
          <p:nvPr/>
        </p:nvSpPr>
        <p:spPr>
          <a:xfrm>
            <a:off x="666750" y="3388360"/>
            <a:ext cx="7746826" cy="2957830"/>
          </a:xfrm>
          <a:prstGeom prst="rect">
            <a:avLst/>
          </a:prstGeom>
        </p:spPr>
        <p:txBody>
          <a:bodyPr lIns="0" tIns="0" rIns="0" bIns="0" rtlCol="0" anchor="t">
            <a:spAutoFit/>
          </a:bodyPr>
          <a:lstStyle/>
          <a:p>
            <a:pPr algn="l">
              <a:lnSpc>
                <a:spcPts val="3919"/>
              </a:lnSpc>
            </a:pPr>
            <a:r>
              <a:rPr lang="en-US" sz="2799" b="1">
                <a:solidFill>
                  <a:srgbClr val="00FFA8"/>
                </a:solidFill>
                <a:latin typeface="TT Fors Bold"/>
                <a:ea typeface="TT Fors Bold"/>
                <a:cs typeface="TT Fors Bold"/>
                <a:sym typeface="TT Fors Bold"/>
              </a:rPr>
              <a:t>For Security Professionals:</a:t>
            </a:r>
          </a:p>
          <a:p>
            <a:pPr marL="604519" lvl="1" indent="-302260" algn="l">
              <a:lnSpc>
                <a:spcPts val="3919"/>
              </a:lnSpc>
              <a:buFont typeface="Arial"/>
              <a:buChar char="•"/>
            </a:pPr>
            <a:r>
              <a:rPr lang="en-US" sz="2799">
                <a:solidFill>
                  <a:srgbClr val="00FFA8"/>
                </a:solidFill>
                <a:latin typeface="TT Fors"/>
                <a:ea typeface="TT Fors"/>
                <a:cs typeface="TT Fors"/>
                <a:sym typeface="TT Fors"/>
              </a:rPr>
              <a:t>Identify exposed organizational assets</a:t>
            </a:r>
          </a:p>
          <a:p>
            <a:pPr marL="604519" lvl="1" indent="-302260" algn="l">
              <a:lnSpc>
                <a:spcPts val="3919"/>
              </a:lnSpc>
              <a:buFont typeface="Arial"/>
              <a:buChar char="•"/>
            </a:pPr>
            <a:r>
              <a:rPr lang="en-US" sz="2799">
                <a:solidFill>
                  <a:srgbClr val="00FFA8"/>
                </a:solidFill>
                <a:latin typeface="TT Fors"/>
                <a:ea typeface="TT Fors"/>
                <a:cs typeface="TT Fors"/>
                <a:sym typeface="TT Fors"/>
              </a:rPr>
              <a:t>Find misconfigured devices</a:t>
            </a:r>
          </a:p>
          <a:p>
            <a:pPr marL="604519" lvl="1" indent="-302260" algn="l">
              <a:lnSpc>
                <a:spcPts val="3919"/>
              </a:lnSpc>
              <a:buFont typeface="Arial"/>
              <a:buChar char="•"/>
            </a:pPr>
            <a:r>
              <a:rPr lang="en-US" sz="2799">
                <a:solidFill>
                  <a:srgbClr val="00FFA8"/>
                </a:solidFill>
                <a:latin typeface="TT Fors"/>
                <a:ea typeface="TT Fors"/>
                <a:cs typeface="TT Fors"/>
                <a:sym typeface="TT Fors"/>
              </a:rPr>
              <a:t>Discover shadow IT</a:t>
            </a:r>
          </a:p>
          <a:p>
            <a:pPr marL="604519" lvl="1" indent="-302260" algn="l">
              <a:lnSpc>
                <a:spcPts val="3919"/>
              </a:lnSpc>
              <a:buFont typeface="Arial"/>
              <a:buChar char="•"/>
            </a:pPr>
            <a:r>
              <a:rPr lang="en-US" sz="2799">
                <a:solidFill>
                  <a:srgbClr val="00FFA8"/>
                </a:solidFill>
                <a:latin typeface="TT Fors"/>
                <a:ea typeface="TT Fors"/>
                <a:cs typeface="TT Fors"/>
                <a:sym typeface="TT Fors"/>
              </a:rPr>
              <a:t>Asset inventory verification</a:t>
            </a:r>
          </a:p>
          <a:p>
            <a:pPr marL="604519" lvl="1" indent="-302260" algn="l">
              <a:lnSpc>
                <a:spcPts val="3919"/>
              </a:lnSpc>
              <a:buFont typeface="Arial"/>
              <a:buChar char="•"/>
            </a:pPr>
            <a:r>
              <a:rPr lang="en-US" sz="2799">
                <a:solidFill>
                  <a:srgbClr val="00FFA8"/>
                </a:solidFill>
                <a:latin typeface="TT Fors"/>
                <a:ea typeface="TT Fors"/>
                <a:cs typeface="TT Fors"/>
                <a:sym typeface="TT Fors"/>
              </a:rPr>
              <a:t>Vulnerability assessment</a:t>
            </a:r>
          </a:p>
        </p:txBody>
      </p:sp>
      <p:sp>
        <p:nvSpPr>
          <p:cNvPr id="14" name="TextBox 14"/>
          <p:cNvSpPr txBox="1"/>
          <p:nvPr/>
        </p:nvSpPr>
        <p:spPr>
          <a:xfrm>
            <a:off x="8911360" y="3388360"/>
            <a:ext cx="7750277" cy="3453130"/>
          </a:xfrm>
          <a:prstGeom prst="rect">
            <a:avLst/>
          </a:prstGeom>
        </p:spPr>
        <p:txBody>
          <a:bodyPr lIns="0" tIns="0" rIns="0" bIns="0" rtlCol="0" anchor="t">
            <a:spAutoFit/>
          </a:bodyPr>
          <a:lstStyle/>
          <a:p>
            <a:pPr algn="l">
              <a:lnSpc>
                <a:spcPts val="3919"/>
              </a:lnSpc>
            </a:pPr>
            <a:r>
              <a:rPr lang="en-US" sz="2799" b="1">
                <a:solidFill>
                  <a:srgbClr val="00FFA8"/>
                </a:solidFill>
                <a:latin typeface="TT Fors Bold"/>
                <a:ea typeface="TT Fors Bold"/>
                <a:cs typeface="TT Fors Bold"/>
                <a:sym typeface="TT Fors Bold"/>
              </a:rPr>
              <a:t>Info</a:t>
            </a:r>
            <a:r>
              <a:rPr lang="en-US" sz="2799" b="1" u="none" strike="noStrike">
                <a:solidFill>
                  <a:srgbClr val="00FFA8"/>
                </a:solidFill>
                <a:latin typeface="TT Fors Bold"/>
                <a:ea typeface="TT Fors Bold"/>
                <a:cs typeface="TT Fors Bold"/>
                <a:sym typeface="TT Fors Bold"/>
              </a:rPr>
              <a:t>rmation You Can Extract:</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Server locations (geographical)</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Operating systems</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Software versions</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Open ports and services</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SSL certificate information</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Historical data on systems</a:t>
            </a:r>
          </a:p>
        </p:txBody>
      </p:sp>
      <p:grpSp>
        <p:nvGrpSpPr>
          <p:cNvPr id="15" name="Group 15"/>
          <p:cNvGrpSpPr/>
          <p:nvPr/>
        </p:nvGrpSpPr>
        <p:grpSpPr>
          <a:xfrm>
            <a:off x="666750" y="8774188"/>
            <a:ext cx="16954500" cy="947421"/>
            <a:chOff x="0" y="0"/>
            <a:chExt cx="4465332" cy="249533"/>
          </a:xfrm>
        </p:grpSpPr>
        <p:sp>
          <p:nvSpPr>
            <p:cNvPr id="16" name="Freeform 16"/>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CC4E00"/>
            </a:solidFill>
            <a:ln cap="sq">
              <a:noFill/>
              <a:prstDash val="solid"/>
              <a:miter/>
            </a:ln>
          </p:spPr>
          <p:txBody>
            <a:bodyPr/>
            <a:lstStyle/>
            <a:p>
              <a:endParaRPr lang="en-US"/>
            </a:p>
          </p:txBody>
        </p:sp>
        <p:sp>
          <p:nvSpPr>
            <p:cNvPr id="17" name="TextBox 17"/>
            <p:cNvSpPr txBox="1"/>
            <p:nvPr/>
          </p:nvSpPr>
          <p:spPr>
            <a:xfrm>
              <a:off x="0" y="0"/>
              <a:ext cx="4465332" cy="249533"/>
            </a:xfrm>
            <a:prstGeom prst="rect">
              <a:avLst/>
            </a:prstGeom>
          </p:spPr>
          <p:txBody>
            <a:bodyPr lIns="254000" tIns="254000" rIns="254000" bIns="254000" rtlCol="0" anchor="ctr"/>
            <a:lstStyle/>
            <a:p>
              <a:pPr marL="0" lvl="0" indent="0" algn="l">
                <a:lnSpc>
                  <a:spcPts val="3920"/>
                </a:lnSpc>
                <a:spcBef>
                  <a:spcPct val="0"/>
                </a:spcBef>
              </a:pPr>
              <a:r>
                <a:rPr lang="en-US" sz="2800" b="1" spc="-84" dirty="0">
                  <a:solidFill>
                    <a:srgbClr val="FFFFFF"/>
                  </a:solidFill>
                  <a:latin typeface="TT Fors Bold"/>
                  <a:ea typeface="TT Fors Bold"/>
                  <a:cs typeface="TT Fors Bold"/>
                  <a:sym typeface="TT Fors Bold"/>
                </a:rPr>
                <a:t>⚠️ </a:t>
              </a:r>
              <a:r>
                <a:rPr lang="en-US" sz="2800" b="1" u="none" strike="noStrike" spc="-84" dirty="0">
                  <a:solidFill>
                    <a:srgbClr val="FFFFFF"/>
                  </a:solidFill>
                  <a:latin typeface="TT Fors Bold"/>
                  <a:ea typeface="TT Fors Bold"/>
                  <a:cs typeface="TT Fors Bold"/>
                  <a:sym typeface="TT Fors Bold"/>
                </a:rPr>
                <a:t>Warning: </a:t>
              </a:r>
              <a:r>
                <a:rPr lang="en-US" sz="2800" u="none" strike="noStrike" spc="-84" dirty="0">
                  <a:solidFill>
                    <a:srgbClr val="FFFFFF"/>
                  </a:solidFill>
                  <a:latin typeface="TT Fors"/>
                  <a:ea typeface="TT Fors"/>
                  <a:cs typeface="TT Fors"/>
                  <a:sym typeface="TT Fors"/>
                </a:rPr>
                <a:t>Free accounts have limited searches. Paid accounts offer more features.</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Web Footprinting - robots.txt</a:t>
            </a:r>
          </a:p>
        </p:txBody>
      </p:sp>
      <p:sp>
        <p:nvSpPr>
          <p:cNvPr id="3" name="TextBox 3"/>
          <p:cNvSpPr txBox="1"/>
          <p:nvPr/>
        </p:nvSpPr>
        <p:spPr>
          <a:xfrm>
            <a:off x="666750" y="2095500"/>
            <a:ext cx="5947066" cy="4191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00FFA8"/>
                </a:solidFill>
                <a:latin typeface="TT Fors Bold"/>
                <a:ea typeface="TT Fors Bold"/>
                <a:cs typeface="TT Fors Bold"/>
                <a:sym typeface="TT Fors Bold"/>
              </a:rPr>
              <a:t>What Websites Try to Hide</a:t>
            </a:r>
          </a:p>
        </p:txBody>
      </p:sp>
      <p:sp>
        <p:nvSpPr>
          <p:cNvPr id="4" name="TextBox 4"/>
          <p:cNvSpPr txBox="1"/>
          <p:nvPr/>
        </p:nvSpPr>
        <p:spPr>
          <a:xfrm>
            <a:off x="666750" y="3824167"/>
            <a:ext cx="10689322" cy="3329940"/>
          </a:xfrm>
          <a:prstGeom prst="rect">
            <a:avLst/>
          </a:prstGeom>
        </p:spPr>
        <p:txBody>
          <a:bodyPr lIns="0" tIns="0" rIns="0" bIns="0" rtlCol="0" anchor="t">
            <a:spAutoFit/>
          </a:bodyPr>
          <a:lstStyle/>
          <a:p>
            <a:pPr marL="0" lvl="0" indent="0" algn="l">
              <a:lnSpc>
                <a:spcPts val="3360"/>
              </a:lnSpc>
            </a:pPr>
            <a:r>
              <a:rPr lang="en-US" sz="2400" b="1">
                <a:solidFill>
                  <a:srgbClr val="00FFA8"/>
                </a:solidFill>
                <a:latin typeface="TT Fors Bold"/>
                <a:ea typeface="TT Fors Bold"/>
                <a:cs typeface="TT Fors Bold"/>
                <a:sym typeface="TT Fors Bold"/>
              </a:rPr>
              <a:t>Why It Matters:</a:t>
            </a:r>
          </a:p>
          <a:p>
            <a:pPr marL="518162" lvl="1" indent="-259081" algn="l">
              <a:lnSpc>
                <a:spcPts val="3360"/>
              </a:lnSpc>
              <a:buFont typeface="Arial"/>
              <a:buChar char="•"/>
            </a:pPr>
            <a:r>
              <a:rPr lang="en-US" sz="2400">
                <a:solidFill>
                  <a:srgbClr val="00FFA8"/>
                </a:solidFill>
                <a:latin typeface="TT Fors"/>
                <a:ea typeface="TT Fors"/>
                <a:cs typeface="TT Fors"/>
                <a:sym typeface="TT Fors"/>
              </a:rPr>
              <a:t>Often reveals sensitive directories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Shows admin panels, backup locations</a:t>
            </a:r>
          </a:p>
          <a:p>
            <a:pPr marL="518162" lvl="1" indent="-259081" algn="l">
              <a:lnSpc>
                <a:spcPts val="3360"/>
              </a:lnSpc>
              <a:buFont typeface="Arial"/>
              <a:buChar char="•"/>
            </a:pPr>
            <a:r>
              <a:rPr lang="en-US" sz="2400">
                <a:solidFill>
                  <a:srgbClr val="00FFA8"/>
                </a:solidFill>
                <a:latin typeface="TT Fors"/>
                <a:ea typeface="TT Fors"/>
                <a:cs typeface="TT Fors"/>
                <a:sym typeface="TT Fors"/>
              </a:rPr>
              <a:t>Indicates areas of concern to administrators</a:t>
            </a:r>
          </a:p>
          <a:p>
            <a:pPr algn="l">
              <a:lnSpc>
                <a:spcPts val="3360"/>
              </a:lnSpc>
            </a:pPr>
            <a:endParaRPr lang="en-US" sz="2400">
              <a:solidFill>
                <a:srgbClr val="00FFA8"/>
              </a:solidFill>
              <a:latin typeface="TT Fors"/>
              <a:ea typeface="TT Fors"/>
              <a:cs typeface="TT Fors"/>
              <a:sym typeface="TT Fors"/>
            </a:endParaRPr>
          </a:p>
          <a:p>
            <a:pPr algn="l">
              <a:lnSpc>
                <a:spcPts val="3360"/>
              </a:lnSpc>
            </a:pPr>
            <a:r>
              <a:rPr lang="en-US" sz="2400" b="1">
                <a:solidFill>
                  <a:srgbClr val="00FFA8"/>
                </a:solidFill>
                <a:latin typeface="TT Fors Bold"/>
                <a:ea typeface="TT Fors Bold"/>
                <a:cs typeface="TT Fors Bold"/>
                <a:sym typeface="TT Fors Bold"/>
              </a:rPr>
              <a:t>How to Access: </a:t>
            </a:r>
          </a:p>
          <a:p>
            <a:pPr algn="l">
              <a:lnSpc>
                <a:spcPts val="3360"/>
              </a:lnSpc>
            </a:pPr>
            <a:r>
              <a:rPr lang="en-US" sz="2400" b="1">
                <a:solidFill>
                  <a:srgbClr val="00FFA8"/>
                </a:solidFill>
                <a:latin typeface="TT Fors Bold"/>
                <a:ea typeface="TT Fors Bold"/>
                <a:cs typeface="TT Fors Bold"/>
                <a:sym typeface="TT Fors Bold"/>
              </a:rPr>
              <a:t>Simply visit: </a:t>
            </a:r>
            <a:r>
              <a:rPr lang="en-US" sz="2400">
                <a:solidFill>
                  <a:srgbClr val="FFFFFF"/>
                </a:solidFill>
                <a:latin typeface="TT Fors"/>
                <a:ea typeface="TT Fors"/>
                <a:cs typeface="TT Fors"/>
                <a:sym typeface="TT Fors"/>
              </a:rPr>
              <a:t>http://example.com/robots.txt </a:t>
            </a:r>
          </a:p>
          <a:p>
            <a:pPr algn="l">
              <a:lnSpc>
                <a:spcPts val="3360"/>
              </a:lnSpc>
            </a:pPr>
            <a:r>
              <a:rPr lang="en-US" sz="2400">
                <a:solidFill>
                  <a:srgbClr val="FFFFFF"/>
                </a:solidFill>
                <a:latin typeface="TT Fors"/>
                <a:ea typeface="TT Fors"/>
                <a:cs typeface="TT Fors"/>
                <a:sym typeface="TT Fors"/>
              </a:rPr>
              <a:t>(Note: Replace example.com with the real website name)</a:t>
            </a:r>
          </a:p>
        </p:txBody>
      </p:sp>
      <p:grpSp>
        <p:nvGrpSpPr>
          <p:cNvPr id="5" name="Group 5"/>
          <p:cNvGrpSpPr/>
          <p:nvPr/>
        </p:nvGrpSpPr>
        <p:grpSpPr>
          <a:xfrm>
            <a:off x="16115522" y="751544"/>
            <a:ext cx="1505728" cy="810556"/>
            <a:chOff x="0" y="0"/>
            <a:chExt cx="2007638" cy="1080741"/>
          </a:xfrm>
        </p:grpSpPr>
        <p:grpSp>
          <p:nvGrpSpPr>
            <p:cNvPr id="6" name="Group 6"/>
            <p:cNvGrpSpPr/>
            <p:nvPr/>
          </p:nvGrpSpPr>
          <p:grpSpPr>
            <a:xfrm>
              <a:off x="0" y="0"/>
              <a:ext cx="1080741" cy="108074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926897" y="0"/>
              <a:ext cx="1080741" cy="108074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4" name="TextBox 14"/>
          <p:cNvSpPr txBox="1"/>
          <p:nvPr/>
        </p:nvSpPr>
        <p:spPr>
          <a:xfrm>
            <a:off x="666750" y="2836008"/>
            <a:ext cx="16954500" cy="3524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What is robots.txt? </a:t>
            </a:r>
            <a:r>
              <a:rPr lang="en-US" sz="2400" spc="-72">
                <a:solidFill>
                  <a:srgbClr val="FFFFFF"/>
                </a:solidFill>
                <a:latin typeface="TT Fors"/>
                <a:ea typeface="TT Fors"/>
                <a:cs typeface="TT Fors"/>
                <a:sym typeface="TT Fors"/>
              </a:rPr>
              <a:t>A file that tells search engine crawlers which pag</a:t>
            </a:r>
            <a:r>
              <a:rPr lang="en-US" sz="2400" u="none" strike="noStrike" spc="-72">
                <a:solidFill>
                  <a:srgbClr val="FFFFFF"/>
                </a:solidFill>
                <a:latin typeface="TT Fors"/>
                <a:ea typeface="TT Fors"/>
                <a:cs typeface="TT Fors"/>
                <a:sym typeface="TT Fors"/>
              </a:rPr>
              <a:t>es or directories NOT to index.</a:t>
            </a:r>
          </a:p>
        </p:txBody>
      </p:sp>
      <p:sp>
        <p:nvSpPr>
          <p:cNvPr id="15" name="TextBox 15"/>
          <p:cNvSpPr txBox="1"/>
          <p:nvPr/>
        </p:nvSpPr>
        <p:spPr>
          <a:xfrm>
            <a:off x="10377144" y="3824167"/>
            <a:ext cx="5562039" cy="29108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Example Content:</a:t>
            </a:r>
          </a:p>
          <a:p>
            <a:pPr algn="l">
              <a:lnSpc>
                <a:spcPts val="3360"/>
              </a:lnSpc>
            </a:pPr>
            <a:r>
              <a:rPr lang="en-US" sz="2400">
                <a:solidFill>
                  <a:srgbClr val="FFFFFF"/>
                </a:solidFill>
                <a:latin typeface="TT Fors"/>
                <a:ea typeface="TT Fors"/>
                <a:cs typeface="TT Fors"/>
                <a:sym typeface="TT Fors"/>
              </a:rPr>
              <a:t>User-agent: *</a:t>
            </a:r>
          </a:p>
          <a:p>
            <a:pPr algn="l">
              <a:lnSpc>
                <a:spcPts val="3360"/>
              </a:lnSpc>
            </a:pPr>
            <a:r>
              <a:rPr lang="en-US" sz="2400">
                <a:solidFill>
                  <a:srgbClr val="FFFFFF"/>
                </a:solidFill>
                <a:latin typeface="TT Fors"/>
                <a:ea typeface="TT Fors"/>
                <a:cs typeface="TT Fors"/>
                <a:sym typeface="TT Fors"/>
              </a:rPr>
              <a:t>Disallow: /admin/</a:t>
            </a:r>
          </a:p>
          <a:p>
            <a:pPr algn="l">
              <a:lnSpc>
                <a:spcPts val="3360"/>
              </a:lnSpc>
            </a:pPr>
            <a:r>
              <a:rPr lang="en-US" sz="2400">
                <a:solidFill>
                  <a:srgbClr val="FFFFFF"/>
                </a:solidFill>
                <a:latin typeface="TT Fors"/>
                <a:ea typeface="TT Fors"/>
                <a:cs typeface="TT Fors"/>
                <a:sym typeface="TT Fors"/>
              </a:rPr>
              <a:t>Disallow: /backup/</a:t>
            </a:r>
          </a:p>
          <a:p>
            <a:pPr algn="l">
              <a:lnSpc>
                <a:spcPts val="3360"/>
              </a:lnSpc>
            </a:pPr>
            <a:r>
              <a:rPr lang="en-US" sz="2400">
                <a:solidFill>
                  <a:srgbClr val="FFFFFF"/>
                </a:solidFill>
                <a:latin typeface="TT Fors"/>
                <a:ea typeface="TT Fors"/>
                <a:cs typeface="TT Fors"/>
                <a:sym typeface="TT Fors"/>
              </a:rPr>
              <a:t>Disallow: /private/</a:t>
            </a:r>
          </a:p>
          <a:p>
            <a:pPr algn="l">
              <a:lnSpc>
                <a:spcPts val="3360"/>
              </a:lnSpc>
            </a:pPr>
            <a:r>
              <a:rPr lang="en-US" sz="2400">
                <a:solidFill>
                  <a:srgbClr val="FFFFFF"/>
                </a:solidFill>
                <a:latin typeface="TT Fors"/>
                <a:ea typeface="TT Fors"/>
                <a:cs typeface="TT Fors"/>
                <a:sym typeface="TT Fors"/>
              </a:rPr>
              <a:t>Disallow: /logs/</a:t>
            </a:r>
          </a:p>
          <a:p>
            <a:pPr algn="l">
              <a:lnSpc>
                <a:spcPts val="3360"/>
              </a:lnSpc>
            </a:pPr>
            <a:r>
              <a:rPr lang="en-US" sz="2400">
                <a:solidFill>
                  <a:srgbClr val="FFFFFF"/>
                </a:solidFill>
                <a:latin typeface="TT Fors"/>
                <a:ea typeface="TT Fors"/>
                <a:cs typeface="TT Fors"/>
                <a:sym typeface="TT Fors"/>
              </a:rPr>
              <a:t>Disallow: /config/</a:t>
            </a:r>
          </a:p>
        </p:txBody>
      </p:sp>
      <p:grpSp>
        <p:nvGrpSpPr>
          <p:cNvPr id="16" name="Group 16"/>
          <p:cNvGrpSpPr/>
          <p:nvPr/>
        </p:nvGrpSpPr>
        <p:grpSpPr>
          <a:xfrm>
            <a:off x="666750" y="8784590"/>
            <a:ext cx="16954500" cy="947421"/>
            <a:chOff x="0" y="0"/>
            <a:chExt cx="4465332" cy="249533"/>
          </a:xfrm>
        </p:grpSpPr>
        <p:sp>
          <p:nvSpPr>
            <p:cNvPr id="17" name="Freeform 17"/>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E10505"/>
            </a:solidFill>
            <a:ln cap="sq">
              <a:noFill/>
              <a:prstDash val="solid"/>
              <a:miter/>
            </a:ln>
          </p:spPr>
          <p:txBody>
            <a:bodyPr/>
            <a:lstStyle/>
            <a:p>
              <a:endParaRPr lang="en-US"/>
            </a:p>
          </p:txBody>
        </p:sp>
        <p:sp>
          <p:nvSpPr>
            <p:cNvPr id="18" name="TextBox 18"/>
            <p:cNvSpPr txBox="1"/>
            <p:nvPr/>
          </p:nvSpPr>
          <p:spPr>
            <a:xfrm>
              <a:off x="0" y="0"/>
              <a:ext cx="4465332" cy="249533"/>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Red Flag: </a:t>
              </a:r>
              <a:r>
                <a:rPr lang="en-US" sz="2800" spc="-84" dirty="0">
                  <a:solidFill>
                    <a:srgbClr val="FFFFFF"/>
                  </a:solidFill>
                  <a:latin typeface="TT Fors"/>
                  <a:ea typeface="TT Fors"/>
                  <a:cs typeface="TT Fors"/>
                  <a:sym typeface="TT Fors"/>
                </a:rPr>
                <a:t>These "hidden" directories become prime targets for attackers.</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23930"/>
          </a:xfrm>
          <a:prstGeom prst="rect">
            <a:avLst/>
          </a:prstGeom>
        </p:spPr>
        <p:txBody>
          <a:bodyPr lIns="0" tIns="0" rIns="0" bIns="0" rtlCol="0" anchor="t">
            <a:spAutoFit/>
          </a:bodyPr>
          <a:lstStyle/>
          <a:p>
            <a:pPr marL="0" lvl="0" indent="0" algn="l">
              <a:lnSpc>
                <a:spcPts val="6000"/>
              </a:lnSpc>
              <a:spcBef>
                <a:spcPct val="0"/>
              </a:spcBef>
            </a:pPr>
            <a:r>
              <a:rPr lang="en-US" sz="6000" spc="-180">
                <a:solidFill>
                  <a:srgbClr val="00FFA8"/>
                </a:solidFill>
                <a:latin typeface="ITC Avant Garde Gothic"/>
                <a:ea typeface="ITC Avant Garde Gothic"/>
                <a:cs typeface="ITC Avant Garde Gothic"/>
                <a:sym typeface="ITC Avant Garde Gothic"/>
              </a:rPr>
              <a:t>Web Footprinting - Additional Techniques</a:t>
            </a:r>
          </a:p>
        </p:txBody>
      </p:sp>
      <p:sp>
        <p:nvSpPr>
          <p:cNvPr id="3" name="TextBox 3"/>
          <p:cNvSpPr txBox="1"/>
          <p:nvPr/>
        </p:nvSpPr>
        <p:spPr>
          <a:xfrm>
            <a:off x="666750" y="1581155"/>
            <a:ext cx="5947066" cy="4191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00FFA8"/>
                </a:solidFill>
                <a:latin typeface="TT Fors Bold"/>
                <a:ea typeface="TT Fors Bold"/>
                <a:cs typeface="TT Fors Bold"/>
                <a:sym typeface="TT Fors Bold"/>
              </a:rPr>
              <a:t>More Website Intelligence</a:t>
            </a:r>
          </a:p>
        </p:txBody>
      </p:sp>
      <p:sp>
        <p:nvSpPr>
          <p:cNvPr id="4" name="TextBox 4"/>
          <p:cNvSpPr txBox="1"/>
          <p:nvPr/>
        </p:nvSpPr>
        <p:spPr>
          <a:xfrm>
            <a:off x="666750" y="2266037"/>
            <a:ext cx="8477250" cy="7520940"/>
          </a:xfrm>
          <a:prstGeom prst="rect">
            <a:avLst/>
          </a:prstGeom>
        </p:spPr>
        <p:txBody>
          <a:bodyPr lIns="0" tIns="0" rIns="0" bIns="0" rtlCol="0" anchor="t">
            <a:spAutoFit/>
          </a:bodyPr>
          <a:lstStyle/>
          <a:p>
            <a:pPr marL="0" lvl="0" indent="0" algn="l">
              <a:lnSpc>
                <a:spcPts val="3360"/>
              </a:lnSpc>
            </a:pPr>
            <a:r>
              <a:rPr lang="en-US" sz="2400" b="1">
                <a:solidFill>
                  <a:srgbClr val="00FFA8"/>
                </a:solidFill>
                <a:latin typeface="TT Fors Bold"/>
                <a:ea typeface="TT Fors Bold"/>
                <a:cs typeface="TT Fors Bold"/>
                <a:sym typeface="TT Fors Bold"/>
              </a:rPr>
              <a:t>Examining HTTP Headers:</a:t>
            </a:r>
          </a:p>
          <a:p>
            <a:pPr marL="518162" lvl="1" indent="-259081" algn="l">
              <a:lnSpc>
                <a:spcPts val="3360"/>
              </a:lnSpc>
              <a:buFont typeface="Arial"/>
              <a:buChar char="•"/>
            </a:pPr>
            <a:r>
              <a:rPr lang="en-US" sz="2400">
                <a:solidFill>
                  <a:srgbClr val="00FFA8"/>
                </a:solidFill>
                <a:latin typeface="TT Fors"/>
                <a:ea typeface="TT Fors"/>
                <a:cs typeface="TT Fors"/>
                <a:sym typeface="TT Fors"/>
              </a:rPr>
              <a:t>Reveal web server type and version</a:t>
            </a:r>
          </a:p>
          <a:p>
            <a:pPr marL="518162" lvl="1" indent="-259081" algn="l">
              <a:lnSpc>
                <a:spcPts val="3360"/>
              </a:lnSpc>
              <a:buFont typeface="Arial"/>
              <a:buChar char="•"/>
            </a:pPr>
            <a:r>
              <a:rPr lang="en-US" sz="2400">
                <a:solidFill>
                  <a:srgbClr val="00FFA8"/>
                </a:solidFill>
                <a:latin typeface="TT Fors"/>
                <a:ea typeface="TT Fors"/>
                <a:cs typeface="TT Fors"/>
                <a:sym typeface="TT Fors"/>
              </a:rPr>
              <a:t>Show programming frameworks</a:t>
            </a:r>
          </a:p>
          <a:p>
            <a:pPr marL="518162" lvl="1" indent="-259081" algn="l">
              <a:lnSpc>
                <a:spcPts val="3360"/>
              </a:lnSpc>
              <a:buFont typeface="Arial"/>
              <a:buChar char="•"/>
            </a:pPr>
            <a:r>
              <a:rPr lang="en-US" sz="2400">
                <a:solidFill>
                  <a:srgbClr val="00FFA8"/>
                </a:solidFill>
                <a:latin typeface="TT Fors"/>
                <a:ea typeface="TT Fors"/>
                <a:cs typeface="TT Fors"/>
                <a:sym typeface="TT Fors"/>
              </a:rPr>
              <a:t>Expose security headers (or lack thereof)</a:t>
            </a:r>
          </a:p>
          <a:p>
            <a:pPr marL="518162" lvl="1" indent="-259081" algn="l">
              <a:lnSpc>
                <a:spcPts val="3360"/>
              </a:lnSpc>
              <a:buFont typeface="Arial"/>
              <a:buChar char="•"/>
            </a:pPr>
            <a:r>
              <a:rPr lang="en-US" sz="2400">
                <a:solidFill>
                  <a:srgbClr val="FFFFFF"/>
                </a:solidFill>
                <a:latin typeface="TT Fors"/>
                <a:ea typeface="TT Fors"/>
                <a:cs typeface="TT Fors"/>
                <a:sym typeface="TT Fors"/>
              </a:rPr>
              <a:t>Tool: Browser developer tools, curl, Netcat</a:t>
            </a:r>
          </a:p>
          <a:p>
            <a:pPr algn="l">
              <a:lnSpc>
                <a:spcPts val="3360"/>
              </a:lnSpc>
            </a:pPr>
            <a:endParaRPr lang="en-US" sz="2400">
              <a:solidFill>
                <a:srgbClr val="FFFFFF"/>
              </a:solidFill>
              <a:latin typeface="TT Fors"/>
              <a:ea typeface="TT Fors"/>
              <a:cs typeface="TT Fors"/>
              <a:sym typeface="TT Fors"/>
            </a:endParaRPr>
          </a:p>
          <a:p>
            <a:pPr algn="l">
              <a:lnSpc>
                <a:spcPts val="3360"/>
              </a:lnSpc>
            </a:pPr>
            <a:r>
              <a:rPr lang="en-US" sz="2400" b="1">
                <a:solidFill>
                  <a:srgbClr val="00FFA8"/>
                </a:solidFill>
                <a:latin typeface="TT Fors Bold"/>
                <a:ea typeface="TT Fors Bold"/>
                <a:cs typeface="TT Fors Bold"/>
                <a:sym typeface="TT Fors Bold"/>
              </a:rPr>
              <a:t>Analyzing Cookies: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Session management methods</a:t>
            </a:r>
          </a:p>
          <a:p>
            <a:pPr marL="518162" lvl="1" indent="-259081" algn="l">
              <a:lnSpc>
                <a:spcPts val="3360"/>
              </a:lnSpc>
              <a:buFont typeface="Arial"/>
              <a:buChar char="•"/>
            </a:pPr>
            <a:r>
              <a:rPr lang="en-US" sz="2400">
                <a:solidFill>
                  <a:srgbClr val="00FFA8"/>
                </a:solidFill>
                <a:latin typeface="TT Fors"/>
                <a:ea typeface="TT Fors"/>
                <a:cs typeface="TT Fors"/>
                <a:sym typeface="TT Fors"/>
              </a:rPr>
              <a:t>Third-party tracking</a:t>
            </a:r>
          </a:p>
          <a:p>
            <a:pPr marL="518162" lvl="1" indent="-259081" algn="l">
              <a:lnSpc>
                <a:spcPts val="3360"/>
              </a:lnSpc>
              <a:buFont typeface="Arial"/>
              <a:buChar char="•"/>
            </a:pPr>
            <a:r>
              <a:rPr lang="en-US" sz="2400">
                <a:solidFill>
                  <a:srgbClr val="00FFA8"/>
                </a:solidFill>
                <a:latin typeface="TT Fors"/>
                <a:ea typeface="TT Fors"/>
                <a:cs typeface="TT Fors"/>
                <a:sym typeface="TT Fors"/>
              </a:rPr>
              <a:t>Potential vulnerabilities</a:t>
            </a:r>
          </a:p>
          <a:p>
            <a:pPr marL="518162" lvl="1" indent="-259081" algn="l">
              <a:lnSpc>
                <a:spcPts val="3360"/>
              </a:lnSpc>
              <a:buFont typeface="Arial"/>
              <a:buChar char="•"/>
            </a:pPr>
            <a:r>
              <a:rPr lang="en-US" sz="2400">
                <a:solidFill>
                  <a:srgbClr val="FFFFFF"/>
                </a:solidFill>
                <a:latin typeface="TT Fors"/>
                <a:ea typeface="TT Fors"/>
                <a:cs typeface="TT Fors"/>
                <a:sym typeface="TT Fors"/>
              </a:rPr>
              <a:t>Tool: Browser developer tools, Cookie Editor extensions</a:t>
            </a:r>
          </a:p>
          <a:p>
            <a:pPr algn="l">
              <a:lnSpc>
                <a:spcPts val="3360"/>
              </a:lnSpc>
            </a:pPr>
            <a:endParaRPr lang="en-US" sz="2400">
              <a:solidFill>
                <a:srgbClr val="FFFFFF"/>
              </a:solidFill>
              <a:latin typeface="TT Fors"/>
              <a:ea typeface="TT Fors"/>
              <a:cs typeface="TT Fors"/>
              <a:sym typeface="TT Fors"/>
            </a:endParaRPr>
          </a:p>
          <a:p>
            <a:pPr algn="l">
              <a:lnSpc>
                <a:spcPts val="3360"/>
              </a:lnSpc>
            </a:pPr>
            <a:r>
              <a:rPr lang="en-US" sz="2400" b="1">
                <a:solidFill>
                  <a:srgbClr val="00FFA8"/>
                </a:solidFill>
                <a:latin typeface="TT Fors Bold"/>
                <a:ea typeface="TT Fors Bold"/>
                <a:cs typeface="TT Fors Bold"/>
                <a:sym typeface="TT Fors Bold"/>
              </a:rPr>
              <a:t>BuiltWith </a:t>
            </a:r>
            <a:r>
              <a:rPr lang="en-US" sz="2400" b="1">
                <a:solidFill>
                  <a:srgbClr val="FFFFFF"/>
                </a:solidFill>
                <a:latin typeface="TT Fors Bold"/>
                <a:ea typeface="TT Fors Bold"/>
                <a:cs typeface="TT Fors Bold"/>
                <a:sym typeface="TT Fors Bold"/>
              </a:rPr>
              <a:t>(builtwith.com)</a:t>
            </a:r>
            <a:r>
              <a:rPr lang="en-US" sz="2400" b="1">
                <a:solidFill>
                  <a:srgbClr val="00FFA8"/>
                </a:solidFill>
                <a:latin typeface="TT Fors Bold"/>
                <a:ea typeface="TT Fors Bold"/>
                <a:cs typeface="TT Fors Bold"/>
                <a:sym typeface="TT Fors Bold"/>
              </a:rPr>
              <a:t>:</a:t>
            </a:r>
            <a:r>
              <a:rPr lang="en-US" sz="2400" b="1">
                <a:solidFill>
                  <a:srgbClr val="FFFFFF"/>
                </a:solidFill>
                <a:latin typeface="TT Fors Bold"/>
                <a:ea typeface="TT Fors Bold"/>
                <a:cs typeface="TT Fors Bold"/>
                <a:sym typeface="TT Fors Bold"/>
              </a:rPr>
              <a:t> </a:t>
            </a:r>
            <a:r>
              <a:rPr lang="en-US" sz="2400">
                <a:solidFill>
                  <a:srgbClr val="00FFA8"/>
                </a:solidFill>
                <a:latin typeface="TT Fors"/>
                <a:ea typeface="TT Fors"/>
                <a:cs typeface="TT Fors"/>
                <a:sym typeface="TT Fors"/>
              </a:rPr>
              <a:t>Technology profiler for websites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CMS detection (WordPress, Drupal)</a:t>
            </a:r>
          </a:p>
          <a:p>
            <a:pPr marL="518162" lvl="1" indent="-259081" algn="l">
              <a:lnSpc>
                <a:spcPts val="3360"/>
              </a:lnSpc>
              <a:buFont typeface="Arial"/>
              <a:buChar char="•"/>
            </a:pPr>
            <a:r>
              <a:rPr lang="en-US" sz="2400">
                <a:solidFill>
                  <a:srgbClr val="00FFA8"/>
                </a:solidFill>
                <a:latin typeface="TT Fors"/>
                <a:ea typeface="TT Fors"/>
                <a:cs typeface="TT Fors"/>
                <a:sym typeface="TT Fors"/>
              </a:rPr>
              <a:t>JavaScript libraries and frameworks</a:t>
            </a:r>
          </a:p>
          <a:p>
            <a:pPr marL="518162" lvl="1" indent="-259081" algn="l">
              <a:lnSpc>
                <a:spcPts val="3360"/>
              </a:lnSpc>
              <a:buFont typeface="Arial"/>
              <a:buChar char="•"/>
            </a:pPr>
            <a:r>
              <a:rPr lang="en-US" sz="2400">
                <a:solidFill>
                  <a:srgbClr val="00FFA8"/>
                </a:solidFill>
                <a:latin typeface="TT Fors"/>
                <a:ea typeface="TT Fors"/>
                <a:cs typeface="TT Fors"/>
                <a:sym typeface="TT Fors"/>
              </a:rPr>
              <a:t>Analytics and tracking tools</a:t>
            </a:r>
          </a:p>
          <a:p>
            <a:pPr marL="518162" lvl="1" indent="-259081" algn="l">
              <a:lnSpc>
                <a:spcPts val="3360"/>
              </a:lnSpc>
              <a:buFont typeface="Arial"/>
              <a:buChar char="•"/>
            </a:pPr>
            <a:r>
              <a:rPr lang="en-US" sz="2400">
                <a:solidFill>
                  <a:srgbClr val="00FFA8"/>
                </a:solidFill>
                <a:latin typeface="TT Fors"/>
                <a:ea typeface="TT Fors"/>
                <a:cs typeface="TT Fors"/>
                <a:sym typeface="TT Fors"/>
              </a:rPr>
              <a:t>Hosting providers</a:t>
            </a:r>
          </a:p>
        </p:txBody>
      </p:sp>
      <p:sp>
        <p:nvSpPr>
          <p:cNvPr id="5" name="TextBox 5"/>
          <p:cNvSpPr txBox="1"/>
          <p:nvPr/>
        </p:nvSpPr>
        <p:spPr>
          <a:xfrm>
            <a:off x="9144000" y="2266037"/>
            <a:ext cx="8202544" cy="75209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Censys </a:t>
            </a:r>
            <a:r>
              <a:rPr lang="en-US" sz="2400" b="1">
                <a:solidFill>
                  <a:srgbClr val="FFFFFF"/>
                </a:solidFill>
                <a:latin typeface="TT Fors Bold"/>
                <a:ea typeface="TT Fors Bold"/>
                <a:cs typeface="TT Fors Bold"/>
                <a:sym typeface="TT Fors Bold"/>
              </a:rPr>
              <a:t>(censys.io)</a:t>
            </a:r>
            <a:r>
              <a:rPr lang="en-US" sz="2400" b="1">
                <a:solidFill>
                  <a:srgbClr val="00FFA8"/>
                </a:solidFill>
                <a:latin typeface="TT Fors Bold"/>
                <a:ea typeface="TT Fors Bold"/>
                <a:cs typeface="TT Fors Bold"/>
                <a:sym typeface="TT Fors Bold"/>
              </a:rPr>
              <a:t>: </a:t>
            </a:r>
            <a:r>
              <a:rPr lang="en-US" sz="2400">
                <a:solidFill>
                  <a:srgbClr val="00FFA8"/>
                </a:solidFill>
                <a:latin typeface="TT Fors"/>
                <a:ea typeface="TT Fors"/>
                <a:cs typeface="TT Fors"/>
                <a:sym typeface="TT Fors"/>
              </a:rPr>
              <a:t>Search engine for Internet assets and devices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Certificate transparency monitoring</a:t>
            </a:r>
          </a:p>
          <a:p>
            <a:pPr marL="518162" lvl="1" indent="-259081" algn="l">
              <a:lnSpc>
                <a:spcPts val="3360"/>
              </a:lnSpc>
              <a:buFont typeface="Arial"/>
              <a:buChar char="•"/>
            </a:pPr>
            <a:r>
              <a:rPr lang="en-US" sz="2400">
                <a:solidFill>
                  <a:srgbClr val="00FFA8"/>
                </a:solidFill>
                <a:latin typeface="TT Fors"/>
                <a:ea typeface="TT Fors"/>
                <a:cs typeface="TT Fors"/>
                <a:sym typeface="TT Fors"/>
              </a:rPr>
              <a:t>Subdomain discovery</a:t>
            </a:r>
          </a:p>
          <a:p>
            <a:pPr marL="518162" lvl="1" indent="-259081" algn="l">
              <a:lnSpc>
                <a:spcPts val="3360"/>
              </a:lnSpc>
              <a:buFont typeface="Arial"/>
              <a:buChar char="•"/>
            </a:pPr>
            <a:r>
              <a:rPr lang="en-US" sz="2400">
                <a:solidFill>
                  <a:srgbClr val="00FFA8"/>
                </a:solidFill>
                <a:latin typeface="TT Fors"/>
                <a:ea typeface="TT Fors"/>
                <a:cs typeface="TT Fors"/>
                <a:sym typeface="TT Fors"/>
              </a:rPr>
              <a:t>Similar to Shodan but with different data</a:t>
            </a:r>
          </a:p>
          <a:p>
            <a:pPr algn="l">
              <a:lnSpc>
                <a:spcPts val="3360"/>
              </a:lnSpc>
            </a:pPr>
            <a:endParaRPr lang="en-US" sz="2400">
              <a:solidFill>
                <a:srgbClr val="00FFA8"/>
              </a:solidFill>
              <a:latin typeface="TT Fors"/>
              <a:ea typeface="TT Fors"/>
              <a:cs typeface="TT Fors"/>
              <a:sym typeface="TT Fors"/>
            </a:endParaRPr>
          </a:p>
          <a:p>
            <a:pPr algn="l">
              <a:lnSpc>
                <a:spcPts val="3360"/>
              </a:lnSpc>
            </a:pPr>
            <a:r>
              <a:rPr lang="en-US" sz="2400" b="1">
                <a:solidFill>
                  <a:srgbClr val="00FFA8"/>
                </a:solidFill>
                <a:latin typeface="TT Fors Bold"/>
                <a:ea typeface="TT Fors Bold"/>
                <a:cs typeface="TT Fors Bold"/>
                <a:sym typeface="TT Fors Bold"/>
              </a:rPr>
              <a:t>Web Archives:</a:t>
            </a:r>
          </a:p>
          <a:p>
            <a:pPr marL="518162" lvl="1" indent="-259081" algn="l">
              <a:lnSpc>
                <a:spcPts val="3360"/>
              </a:lnSpc>
              <a:buFont typeface="Arial"/>
              <a:buChar char="•"/>
            </a:pPr>
            <a:r>
              <a:rPr lang="en-US" sz="2400">
                <a:solidFill>
                  <a:srgbClr val="FFFFFF"/>
                </a:solidFill>
                <a:latin typeface="TT Fors"/>
                <a:ea typeface="TT Fors"/>
                <a:cs typeface="TT Fors"/>
                <a:sym typeface="TT Fors"/>
              </a:rPr>
              <a:t>Wayback Machine (archive.org)</a:t>
            </a:r>
          </a:p>
          <a:p>
            <a:pPr marL="518162" lvl="1" indent="-259081" algn="l">
              <a:lnSpc>
                <a:spcPts val="3360"/>
              </a:lnSpc>
              <a:buFont typeface="Arial"/>
              <a:buChar char="•"/>
            </a:pPr>
            <a:r>
              <a:rPr lang="en-US" sz="2400">
                <a:solidFill>
                  <a:srgbClr val="00FFA8"/>
                </a:solidFill>
                <a:latin typeface="TT Fors"/>
                <a:ea typeface="TT Fors"/>
                <a:cs typeface="TT Fors"/>
                <a:sym typeface="TT Fors"/>
              </a:rPr>
              <a:t>See historical website versions</a:t>
            </a:r>
          </a:p>
          <a:p>
            <a:pPr marL="518162" lvl="1" indent="-259081" algn="l">
              <a:lnSpc>
                <a:spcPts val="3360"/>
              </a:lnSpc>
              <a:buFont typeface="Arial"/>
              <a:buChar char="•"/>
            </a:pPr>
            <a:r>
              <a:rPr lang="en-US" sz="2400">
                <a:solidFill>
                  <a:srgbClr val="00FFA8"/>
                </a:solidFill>
                <a:latin typeface="TT Fors"/>
                <a:ea typeface="TT Fors"/>
                <a:cs typeface="TT Fors"/>
                <a:sym typeface="TT Fors"/>
              </a:rPr>
              <a:t>Find removed content</a:t>
            </a:r>
          </a:p>
          <a:p>
            <a:pPr marL="518162" lvl="1" indent="-259081" algn="l">
              <a:lnSpc>
                <a:spcPts val="3360"/>
              </a:lnSpc>
              <a:buFont typeface="Arial"/>
              <a:buChar char="•"/>
            </a:pPr>
            <a:r>
              <a:rPr lang="en-US" sz="2400">
                <a:solidFill>
                  <a:srgbClr val="00FFA8"/>
                </a:solidFill>
                <a:latin typeface="TT Fors"/>
                <a:ea typeface="TT Fors"/>
                <a:cs typeface="TT Fors"/>
                <a:sym typeface="TT Fors"/>
              </a:rPr>
              <a:t>Discover old vulnerabilities or configurations</a:t>
            </a:r>
          </a:p>
          <a:p>
            <a:pPr algn="l">
              <a:lnSpc>
                <a:spcPts val="3360"/>
              </a:lnSpc>
            </a:pPr>
            <a:endParaRPr lang="en-US" sz="2400">
              <a:solidFill>
                <a:srgbClr val="00FFA8"/>
              </a:solidFill>
              <a:latin typeface="TT Fors"/>
              <a:ea typeface="TT Fors"/>
              <a:cs typeface="TT Fors"/>
              <a:sym typeface="TT Fors"/>
            </a:endParaRPr>
          </a:p>
          <a:p>
            <a:pPr algn="l">
              <a:lnSpc>
                <a:spcPts val="3360"/>
              </a:lnSpc>
            </a:pPr>
            <a:r>
              <a:rPr lang="en-US" sz="2400" b="1">
                <a:solidFill>
                  <a:srgbClr val="00FFA8"/>
                </a:solidFill>
                <a:latin typeface="TT Fors Bold"/>
                <a:ea typeface="TT Fors Bold"/>
                <a:cs typeface="TT Fors Bold"/>
                <a:sym typeface="TT Fors Bold"/>
              </a:rPr>
              <a:t>HTML Source Code:</a:t>
            </a:r>
          </a:p>
          <a:p>
            <a:pPr marL="518162" lvl="1" indent="-259081" algn="l">
              <a:lnSpc>
                <a:spcPts val="3360"/>
              </a:lnSpc>
              <a:buFont typeface="Arial"/>
              <a:buChar char="•"/>
            </a:pPr>
            <a:r>
              <a:rPr lang="en-US" sz="2400">
                <a:solidFill>
                  <a:srgbClr val="00FFA8"/>
                </a:solidFill>
                <a:latin typeface="TT Fors"/>
                <a:ea typeface="TT Fors"/>
                <a:cs typeface="TT Fors"/>
                <a:sym typeface="TT Fors"/>
              </a:rPr>
              <a:t>Hidden comments</a:t>
            </a:r>
          </a:p>
          <a:p>
            <a:pPr marL="518162" lvl="1" indent="-259081" algn="l">
              <a:lnSpc>
                <a:spcPts val="3360"/>
              </a:lnSpc>
              <a:buFont typeface="Arial"/>
              <a:buChar char="•"/>
            </a:pPr>
            <a:r>
              <a:rPr lang="en-US" sz="2400">
                <a:solidFill>
                  <a:srgbClr val="00FFA8"/>
                </a:solidFill>
                <a:latin typeface="TT Fors"/>
                <a:ea typeface="TT Fors"/>
                <a:cs typeface="TT Fors"/>
                <a:sym typeface="TT Fors"/>
              </a:rPr>
              <a:t>Developer notes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API endpoints</a:t>
            </a:r>
          </a:p>
          <a:p>
            <a:pPr marL="518162" lvl="1" indent="-259081" algn="l">
              <a:lnSpc>
                <a:spcPts val="3360"/>
              </a:lnSpc>
              <a:buFont typeface="Arial"/>
              <a:buChar char="•"/>
            </a:pPr>
            <a:r>
              <a:rPr lang="en-US" sz="2400">
                <a:solidFill>
                  <a:srgbClr val="00FFA8"/>
                </a:solidFill>
                <a:latin typeface="TT Fors"/>
                <a:ea typeface="TT Fors"/>
                <a:cs typeface="TT Fors"/>
                <a:sym typeface="TT Fors"/>
              </a:rPr>
              <a:t>Internal paths</a:t>
            </a:r>
          </a:p>
          <a:p>
            <a:pPr algn="l">
              <a:lnSpc>
                <a:spcPts val="3360"/>
              </a:lnSpc>
            </a:pPr>
            <a:endParaRPr lang="en-US" sz="2400">
              <a:solidFill>
                <a:srgbClr val="00FFA8"/>
              </a:solidFill>
              <a:latin typeface="TT Fors"/>
              <a:ea typeface="TT Fors"/>
              <a:cs typeface="TT Fors"/>
              <a:sym typeface="TT For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69650"/>
          </a:xfrm>
          <a:prstGeom prst="rect">
            <a:avLst/>
          </a:prstGeom>
        </p:spPr>
        <p:txBody>
          <a:bodyPr lIns="0" tIns="0" rIns="0" bIns="0" rtlCol="0" anchor="t">
            <a:spAutoFit/>
          </a:bodyPr>
          <a:lstStyle/>
          <a:p>
            <a:pPr marL="0" lvl="0" indent="0" algn="l">
              <a:lnSpc>
                <a:spcPts val="6300"/>
              </a:lnSpc>
              <a:spcBef>
                <a:spcPct val="0"/>
              </a:spcBef>
            </a:pPr>
            <a:r>
              <a:rPr lang="en-US" sz="6300" spc="-189">
                <a:solidFill>
                  <a:srgbClr val="00FFA8"/>
                </a:solidFill>
                <a:latin typeface="ITC Avant Garde Gothic"/>
                <a:ea typeface="ITC Avant Garde Gothic"/>
                <a:cs typeface="ITC Avant Garde Gothic"/>
                <a:sym typeface="ITC Avant Garde Gothic"/>
              </a:rPr>
              <a:t>Email Footprinting/Enumeration</a:t>
            </a:r>
          </a:p>
        </p:txBody>
      </p:sp>
      <p:sp>
        <p:nvSpPr>
          <p:cNvPr id="3" name="TextBox 3"/>
          <p:cNvSpPr txBox="1"/>
          <p:nvPr/>
        </p:nvSpPr>
        <p:spPr>
          <a:xfrm>
            <a:off x="666750" y="1626875"/>
            <a:ext cx="5947066" cy="4191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00FFA8"/>
                </a:solidFill>
                <a:latin typeface="TT Fors Bold"/>
                <a:ea typeface="TT Fors Bold"/>
                <a:cs typeface="TT Fors Bold"/>
                <a:sym typeface="TT Fors Bold"/>
              </a:rPr>
              <a:t>Email-Based Intelligence</a:t>
            </a:r>
          </a:p>
        </p:txBody>
      </p:sp>
      <p:sp>
        <p:nvSpPr>
          <p:cNvPr id="4" name="TextBox 4"/>
          <p:cNvSpPr txBox="1"/>
          <p:nvPr/>
        </p:nvSpPr>
        <p:spPr>
          <a:xfrm>
            <a:off x="666750" y="3336925"/>
            <a:ext cx="7323978" cy="5425440"/>
          </a:xfrm>
          <a:prstGeom prst="rect">
            <a:avLst/>
          </a:prstGeom>
        </p:spPr>
        <p:txBody>
          <a:bodyPr lIns="0" tIns="0" rIns="0" bIns="0" rtlCol="0" anchor="t">
            <a:spAutoFit/>
          </a:bodyPr>
          <a:lstStyle/>
          <a:p>
            <a:pPr marL="0" lvl="0" indent="0" algn="l">
              <a:lnSpc>
                <a:spcPts val="3360"/>
              </a:lnSpc>
            </a:pPr>
            <a:r>
              <a:rPr lang="en-US" sz="2400" b="1">
                <a:solidFill>
                  <a:srgbClr val="00FFA8"/>
                </a:solidFill>
                <a:latin typeface="TT Fors Bold"/>
                <a:ea typeface="TT Fors Bold"/>
                <a:cs typeface="TT Fors Bold"/>
                <a:sym typeface="TT Fors Bold"/>
              </a:rPr>
              <a:t>Finding Email Addresses: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Company websites (Contact Us pages)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WHOIS records</a:t>
            </a:r>
          </a:p>
          <a:p>
            <a:pPr marL="518162" lvl="1" indent="-259081" algn="l">
              <a:lnSpc>
                <a:spcPts val="3360"/>
              </a:lnSpc>
              <a:buFont typeface="Arial"/>
              <a:buChar char="•"/>
            </a:pPr>
            <a:r>
              <a:rPr lang="en-US" sz="2400">
                <a:solidFill>
                  <a:srgbClr val="00FFA8"/>
                </a:solidFill>
                <a:latin typeface="TT Fors"/>
                <a:ea typeface="TT Fors"/>
                <a:cs typeface="TT Fors"/>
                <a:sym typeface="TT Fors"/>
              </a:rPr>
              <a:t>Social media profiles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Public documents (PDFs often contain metadata)</a:t>
            </a:r>
          </a:p>
          <a:p>
            <a:pPr marL="518162" lvl="1" indent="-259081" algn="l">
              <a:lnSpc>
                <a:spcPts val="3360"/>
              </a:lnSpc>
              <a:buFont typeface="Arial"/>
              <a:buChar char="•"/>
            </a:pPr>
            <a:r>
              <a:rPr lang="en-US" sz="2400">
                <a:solidFill>
                  <a:srgbClr val="00FFA8"/>
                </a:solidFill>
                <a:latin typeface="TT Fors"/>
                <a:ea typeface="TT Fors"/>
                <a:cs typeface="TT Fors"/>
                <a:sym typeface="TT Fors"/>
              </a:rPr>
              <a:t>LinkedIn profiles</a:t>
            </a:r>
          </a:p>
          <a:p>
            <a:pPr algn="l">
              <a:lnSpc>
                <a:spcPts val="3360"/>
              </a:lnSpc>
            </a:pPr>
            <a:endParaRPr lang="en-US" sz="2400">
              <a:solidFill>
                <a:srgbClr val="00FFA8"/>
              </a:solidFill>
              <a:latin typeface="TT Fors"/>
              <a:ea typeface="TT Fors"/>
              <a:cs typeface="TT Fors"/>
              <a:sym typeface="TT Fors"/>
            </a:endParaRPr>
          </a:p>
          <a:p>
            <a:pPr marL="0" lvl="0" indent="0" algn="l">
              <a:lnSpc>
                <a:spcPts val="3360"/>
              </a:lnSpc>
            </a:pPr>
            <a:r>
              <a:rPr lang="en-US" sz="2400" b="1">
                <a:solidFill>
                  <a:srgbClr val="00FFA8"/>
                </a:solidFill>
                <a:latin typeface="TT Fors Bold"/>
                <a:ea typeface="TT Fors Bold"/>
                <a:cs typeface="TT Fors Bold"/>
                <a:sym typeface="TT Fors Bold"/>
              </a:rPr>
              <a:t>Why Email Addresses Matter:</a:t>
            </a:r>
          </a:p>
          <a:p>
            <a:pPr marL="518162" lvl="1" indent="-259081" algn="l">
              <a:lnSpc>
                <a:spcPts val="3360"/>
              </a:lnSpc>
              <a:buFont typeface="Arial"/>
              <a:buChar char="•"/>
            </a:pPr>
            <a:r>
              <a:rPr lang="en-US" sz="2400">
                <a:solidFill>
                  <a:srgbClr val="00FFA8"/>
                </a:solidFill>
                <a:latin typeface="TT Fors"/>
                <a:ea typeface="TT Fors"/>
                <a:cs typeface="TT Fors"/>
                <a:sym typeface="TT Fors"/>
              </a:rPr>
              <a:t>Enable targeted phishing attacks</a:t>
            </a:r>
          </a:p>
          <a:p>
            <a:pPr marL="518162" lvl="1" indent="-259081" algn="l">
              <a:lnSpc>
                <a:spcPts val="3360"/>
              </a:lnSpc>
              <a:buFont typeface="Arial"/>
              <a:buChar char="•"/>
            </a:pPr>
            <a:r>
              <a:rPr lang="en-US" sz="2400">
                <a:solidFill>
                  <a:srgbClr val="00FFA8"/>
                </a:solidFill>
                <a:latin typeface="TT Fors"/>
                <a:ea typeface="TT Fors"/>
                <a:cs typeface="TT Fors"/>
                <a:sym typeface="TT Fors"/>
              </a:rPr>
              <a:t>Potential usernames for systems</a:t>
            </a:r>
          </a:p>
          <a:p>
            <a:pPr marL="518162" lvl="1" indent="-259081" algn="l">
              <a:lnSpc>
                <a:spcPts val="3360"/>
              </a:lnSpc>
              <a:buFont typeface="Arial"/>
              <a:buChar char="•"/>
            </a:pPr>
            <a:r>
              <a:rPr lang="en-US" sz="2400">
                <a:solidFill>
                  <a:srgbClr val="00FFA8"/>
                </a:solidFill>
                <a:latin typeface="TT Fors"/>
                <a:ea typeface="TT Fors"/>
                <a:cs typeface="TT Fors"/>
                <a:sym typeface="TT Fors"/>
              </a:rPr>
              <a:t>Organizational structure insights</a:t>
            </a:r>
          </a:p>
          <a:p>
            <a:pPr marL="518162" lvl="1" indent="-259081" algn="l">
              <a:lnSpc>
                <a:spcPts val="3360"/>
              </a:lnSpc>
              <a:buFont typeface="Arial"/>
              <a:buChar char="•"/>
            </a:pPr>
            <a:r>
              <a:rPr lang="en-US" sz="2400">
                <a:solidFill>
                  <a:srgbClr val="00FFA8"/>
                </a:solidFill>
                <a:latin typeface="TT Fors"/>
                <a:ea typeface="TT Fors"/>
                <a:cs typeface="TT Fors"/>
                <a:sym typeface="TT Fors"/>
              </a:rPr>
              <a:t>Social engineering targets</a:t>
            </a:r>
          </a:p>
        </p:txBody>
      </p:sp>
      <p:sp>
        <p:nvSpPr>
          <p:cNvPr id="5" name="TextBox 5"/>
          <p:cNvSpPr txBox="1"/>
          <p:nvPr/>
        </p:nvSpPr>
        <p:spPr>
          <a:xfrm>
            <a:off x="7791161" y="3336925"/>
            <a:ext cx="9830089" cy="6087564"/>
          </a:xfrm>
          <a:prstGeom prst="rect">
            <a:avLst/>
          </a:prstGeom>
        </p:spPr>
        <p:txBody>
          <a:bodyPr lIns="0" tIns="0" rIns="0" bIns="0" rtlCol="0" anchor="t">
            <a:spAutoFit/>
          </a:bodyPr>
          <a:lstStyle/>
          <a:p>
            <a:pPr algn="l">
              <a:lnSpc>
                <a:spcPts val="3360"/>
              </a:lnSpc>
            </a:pPr>
            <a:r>
              <a:rPr lang="en-US" sz="2400" b="1" dirty="0">
                <a:solidFill>
                  <a:srgbClr val="00FFA8"/>
                </a:solidFill>
                <a:latin typeface="TT Fors Bold"/>
                <a:ea typeface="TT Fors Bold"/>
                <a:cs typeface="TT Fors Bold"/>
                <a:sym typeface="TT Fors Bold"/>
              </a:rPr>
              <a:t>Techniques for Finding Emails:</a:t>
            </a:r>
          </a:p>
          <a:p>
            <a:pPr marL="518162" lvl="1" indent="-259081" algn="l">
              <a:lnSpc>
                <a:spcPts val="3360"/>
              </a:lnSpc>
              <a:buFont typeface="Arial"/>
              <a:buChar char="•"/>
            </a:pPr>
            <a:r>
              <a:rPr lang="en-US" sz="2400" b="1" dirty="0" err="1">
                <a:solidFill>
                  <a:srgbClr val="00FFA8"/>
                </a:solidFill>
                <a:latin typeface="TT Fors Bold"/>
                <a:ea typeface="TT Fors Bold"/>
                <a:cs typeface="TT Fors Bold"/>
                <a:sym typeface="TT Fors Bold"/>
              </a:rPr>
              <a:t>theHarvester</a:t>
            </a:r>
            <a:r>
              <a:rPr lang="en-US" sz="2400" b="1" dirty="0">
                <a:solidFill>
                  <a:srgbClr val="00FFA8"/>
                </a:solidFill>
                <a:latin typeface="TT Fors Bold"/>
                <a:ea typeface="TT Fors Bold"/>
                <a:cs typeface="TT Fors Bold"/>
                <a:sym typeface="TT Fors Bold"/>
              </a:rPr>
              <a:t>:</a:t>
            </a:r>
            <a:r>
              <a:rPr lang="en-US" sz="2400" dirty="0">
                <a:solidFill>
                  <a:srgbClr val="00FFA8"/>
                </a:solidFill>
                <a:latin typeface="TT Fors"/>
                <a:ea typeface="TT Fors"/>
                <a:cs typeface="TT Fors"/>
                <a:sym typeface="TT Fors"/>
              </a:rPr>
              <a:t> Automated email scraping from multiple sources</a:t>
            </a:r>
          </a:p>
          <a:p>
            <a:pPr marL="518162" lvl="1" indent="-259081" algn="l">
              <a:lnSpc>
                <a:spcPts val="3360"/>
              </a:lnSpc>
              <a:buFont typeface="Arial"/>
              <a:buChar char="•"/>
            </a:pPr>
            <a:r>
              <a:rPr lang="en-US" sz="2400" b="1" dirty="0" err="1">
                <a:solidFill>
                  <a:srgbClr val="00FFA8"/>
                </a:solidFill>
                <a:latin typeface="TT Fors Bold"/>
                <a:ea typeface="TT Fors Bold"/>
                <a:cs typeface="TT Fors Bold"/>
                <a:sym typeface="TT Fors Bold"/>
              </a:rPr>
              <a:t>Hunter.io</a:t>
            </a:r>
            <a:r>
              <a:rPr lang="en-US" sz="2400" b="1" dirty="0">
                <a:solidFill>
                  <a:srgbClr val="00FFA8"/>
                </a:solidFill>
                <a:latin typeface="TT Fors Bold"/>
                <a:ea typeface="TT Fors Bold"/>
                <a:cs typeface="TT Fors Bold"/>
                <a:sym typeface="TT Fors Bold"/>
              </a:rPr>
              <a:t>:</a:t>
            </a:r>
            <a:r>
              <a:rPr lang="en-US" sz="2400" dirty="0">
                <a:solidFill>
                  <a:srgbClr val="00FFA8"/>
                </a:solidFill>
                <a:latin typeface="TT Fors"/>
                <a:ea typeface="TT Fors"/>
                <a:cs typeface="TT Fors"/>
                <a:sym typeface="TT Fors"/>
              </a:rPr>
              <a:t> Email finder and veri</a:t>
            </a:r>
            <a:r>
              <a:rPr lang="en-US" sz="2400" u="none" dirty="0">
                <a:solidFill>
                  <a:srgbClr val="00FFA8"/>
                </a:solidFill>
                <a:latin typeface="TT Fors"/>
                <a:ea typeface="TT Fors"/>
                <a:cs typeface="TT Fors"/>
                <a:sym typeface="TT Fors"/>
              </a:rPr>
              <a:t>fi</a:t>
            </a:r>
            <a:r>
              <a:rPr lang="en-US" sz="2400" dirty="0">
                <a:solidFill>
                  <a:srgbClr val="00FFA8"/>
                </a:solidFill>
                <a:latin typeface="TT Fors"/>
                <a:ea typeface="TT Fors"/>
                <a:cs typeface="TT Fors"/>
                <a:sym typeface="TT Fors"/>
              </a:rPr>
              <a:t>e</a:t>
            </a:r>
            <a:r>
              <a:rPr lang="en-US" sz="2400" u="none" dirty="0">
                <a:solidFill>
                  <a:srgbClr val="00FFA8"/>
                </a:solidFill>
                <a:latin typeface="TT Fors"/>
                <a:ea typeface="TT Fors"/>
                <a:cs typeface="TT Fors"/>
                <a:sym typeface="TT Fors"/>
              </a:rPr>
              <a:t>r</a:t>
            </a:r>
            <a:r>
              <a:rPr lang="en-US" sz="2400" dirty="0">
                <a:solidFill>
                  <a:srgbClr val="00FFA8"/>
                </a:solidFill>
                <a:latin typeface="TT Fors"/>
                <a:ea typeface="TT Fors"/>
                <a:cs typeface="TT Fors"/>
                <a:sym typeface="TT Fors"/>
              </a:rPr>
              <a:t> </a:t>
            </a:r>
            <a:r>
              <a:rPr lang="en-US" sz="2400" u="none" dirty="0">
                <a:solidFill>
                  <a:srgbClr val="00FFA8"/>
                </a:solidFill>
                <a:latin typeface="TT Fors"/>
                <a:ea typeface="TT Fors"/>
                <a:cs typeface="TT Fors"/>
                <a:sym typeface="TT Fors"/>
              </a:rPr>
              <a:t>s</a:t>
            </a:r>
            <a:r>
              <a:rPr lang="en-US" sz="2400" dirty="0">
                <a:solidFill>
                  <a:srgbClr val="00FFA8"/>
                </a:solidFill>
                <a:latin typeface="TT Fors"/>
                <a:ea typeface="TT Fors"/>
                <a:cs typeface="TT Fors"/>
                <a:sym typeface="TT Fors"/>
              </a:rPr>
              <a:t>ervice</a:t>
            </a:r>
          </a:p>
          <a:p>
            <a:pPr marL="518162" lvl="1" indent="-259081" algn="l">
              <a:lnSpc>
                <a:spcPts val="3360"/>
              </a:lnSpc>
              <a:buFont typeface="Arial"/>
              <a:buChar char="•"/>
            </a:pPr>
            <a:r>
              <a:rPr lang="en-US" sz="2400" b="1" dirty="0">
                <a:solidFill>
                  <a:srgbClr val="00FFA8"/>
                </a:solidFill>
                <a:latin typeface="TT Fors Bold"/>
                <a:ea typeface="TT Fors Bold"/>
                <a:cs typeface="TT Fors Bold"/>
                <a:sym typeface="TT Fors Bold"/>
              </a:rPr>
              <a:t>Li</a:t>
            </a:r>
            <a:r>
              <a:rPr lang="en-US" sz="2400" b="1" u="none" dirty="0">
                <a:solidFill>
                  <a:srgbClr val="00FFA8"/>
                </a:solidFill>
                <a:latin typeface="TT Fors Bold"/>
                <a:ea typeface="TT Fors Bold"/>
                <a:cs typeface="TT Fors Bold"/>
                <a:sym typeface="TT Fors Bold"/>
              </a:rPr>
              <a:t>n</a:t>
            </a:r>
            <a:r>
              <a:rPr lang="en-US" sz="2400" b="1" dirty="0">
                <a:solidFill>
                  <a:srgbClr val="00FFA8"/>
                </a:solidFill>
                <a:latin typeface="TT Fors Bold"/>
                <a:ea typeface="TT Fors Bold"/>
                <a:cs typeface="TT Fors Bold"/>
                <a:sym typeface="TT Fors Bold"/>
              </a:rPr>
              <a:t>kedIn:</a:t>
            </a:r>
            <a:r>
              <a:rPr lang="en-US" sz="2400" dirty="0">
                <a:solidFill>
                  <a:srgbClr val="00FFA8"/>
                </a:solidFill>
                <a:latin typeface="TT Fors"/>
                <a:ea typeface="TT Fors"/>
                <a:cs typeface="TT Fors"/>
                <a:sym typeface="TT Fors"/>
              </a:rPr>
              <a:t> M</a:t>
            </a:r>
            <a:r>
              <a:rPr lang="en-US" sz="2400" u="none" dirty="0">
                <a:solidFill>
                  <a:srgbClr val="00FFA8"/>
                </a:solidFill>
                <a:latin typeface="TT Fors"/>
                <a:ea typeface="TT Fors"/>
                <a:cs typeface="TT Fors"/>
                <a:sym typeface="TT Fors"/>
              </a:rPr>
              <a:t>a</a:t>
            </a:r>
            <a:r>
              <a:rPr lang="en-US" sz="2400" dirty="0">
                <a:solidFill>
                  <a:srgbClr val="00FFA8"/>
                </a:solidFill>
                <a:latin typeface="TT Fors"/>
                <a:ea typeface="TT Fors"/>
                <a:cs typeface="TT Fors"/>
                <a:sym typeface="TT Fors"/>
              </a:rPr>
              <a:t>nual enu</a:t>
            </a:r>
            <a:r>
              <a:rPr lang="en-US" sz="2400" u="none" dirty="0">
                <a:solidFill>
                  <a:srgbClr val="00FFA8"/>
                </a:solidFill>
                <a:latin typeface="TT Fors"/>
                <a:ea typeface="TT Fors"/>
                <a:cs typeface="TT Fors"/>
                <a:sym typeface="TT Fors"/>
              </a:rPr>
              <a:t>me</a:t>
            </a:r>
            <a:r>
              <a:rPr lang="en-US" sz="2400" dirty="0">
                <a:solidFill>
                  <a:srgbClr val="00FFA8"/>
                </a:solidFill>
                <a:latin typeface="TT Fors"/>
                <a:ea typeface="TT Fors"/>
                <a:cs typeface="TT Fors"/>
                <a:sym typeface="TT Fors"/>
              </a:rPr>
              <a:t>r</a:t>
            </a:r>
            <a:r>
              <a:rPr lang="en-US" sz="2400" u="none" dirty="0">
                <a:solidFill>
                  <a:srgbClr val="00FFA8"/>
                </a:solidFill>
                <a:latin typeface="TT Fors"/>
                <a:ea typeface="TT Fors"/>
                <a:cs typeface="TT Fors"/>
                <a:sym typeface="TT Fors"/>
              </a:rPr>
              <a:t>at</a:t>
            </a:r>
            <a:r>
              <a:rPr lang="en-US" sz="2400" dirty="0">
                <a:solidFill>
                  <a:srgbClr val="00FFA8"/>
                </a:solidFill>
                <a:latin typeface="TT Fors"/>
                <a:ea typeface="TT Fors"/>
                <a:cs typeface="TT Fors"/>
                <a:sym typeface="TT Fors"/>
              </a:rPr>
              <a:t>io</a:t>
            </a:r>
            <a:r>
              <a:rPr lang="en-US" sz="2400" u="none" dirty="0">
                <a:solidFill>
                  <a:srgbClr val="00FFA8"/>
                </a:solidFill>
                <a:latin typeface="TT Fors"/>
                <a:ea typeface="TT Fors"/>
                <a:cs typeface="TT Fors"/>
                <a:sym typeface="TT Fors"/>
              </a:rPr>
              <a:t>n</a:t>
            </a:r>
            <a:r>
              <a:rPr lang="en-US" sz="2400" dirty="0">
                <a:solidFill>
                  <a:srgbClr val="00FFA8"/>
                </a:solidFill>
                <a:latin typeface="TT Fors"/>
                <a:ea typeface="TT Fors"/>
                <a:cs typeface="TT Fors"/>
                <a:sym typeface="TT Fors"/>
              </a:rPr>
              <a:t> of e</a:t>
            </a:r>
            <a:r>
              <a:rPr lang="en-US" sz="2400" u="none" dirty="0">
                <a:solidFill>
                  <a:srgbClr val="00FFA8"/>
                </a:solidFill>
                <a:latin typeface="TT Fors"/>
                <a:ea typeface="TT Fors"/>
                <a:cs typeface="TT Fors"/>
                <a:sym typeface="TT Fors"/>
              </a:rPr>
              <a:t>m</a:t>
            </a:r>
            <a:r>
              <a:rPr lang="en-US" sz="2400" dirty="0">
                <a:solidFill>
                  <a:srgbClr val="00FFA8"/>
                </a:solidFill>
                <a:latin typeface="TT Fors"/>
                <a:ea typeface="TT Fors"/>
                <a:cs typeface="TT Fors"/>
                <a:sym typeface="TT Fors"/>
              </a:rPr>
              <a:t>ploy</a:t>
            </a:r>
            <a:r>
              <a:rPr lang="en-US" sz="2400" u="none" dirty="0">
                <a:solidFill>
                  <a:srgbClr val="00FFA8"/>
                </a:solidFill>
                <a:latin typeface="TT Fors"/>
                <a:ea typeface="TT Fors"/>
                <a:cs typeface="TT Fors"/>
                <a:sym typeface="TT Fors"/>
              </a:rPr>
              <a:t>e</a:t>
            </a:r>
            <a:r>
              <a:rPr lang="en-US" sz="2400" dirty="0">
                <a:solidFill>
                  <a:srgbClr val="00FFA8"/>
                </a:solidFill>
                <a:latin typeface="TT Fors"/>
                <a:ea typeface="TT Fors"/>
                <a:cs typeface="TT Fors"/>
                <a:sym typeface="TT Fors"/>
              </a:rPr>
              <a:t>es</a:t>
            </a:r>
          </a:p>
          <a:p>
            <a:pPr marL="518162" lvl="1" indent="-259081" algn="l">
              <a:lnSpc>
                <a:spcPts val="3360"/>
              </a:lnSpc>
              <a:buFont typeface="Arial"/>
              <a:buChar char="•"/>
            </a:pPr>
            <a:r>
              <a:rPr lang="en-US" sz="2400" b="1" dirty="0">
                <a:solidFill>
                  <a:srgbClr val="00FFA8"/>
                </a:solidFill>
                <a:latin typeface="TT Fors Bold"/>
                <a:ea typeface="TT Fors Bold"/>
                <a:cs typeface="TT Fors Bold"/>
                <a:sym typeface="TT Fors Bold"/>
              </a:rPr>
              <a:t>C</a:t>
            </a:r>
            <a:r>
              <a:rPr lang="en-US" sz="2400" b="1" u="none" dirty="0">
                <a:solidFill>
                  <a:srgbClr val="00FFA8"/>
                </a:solidFill>
                <a:latin typeface="TT Fors Bold"/>
                <a:ea typeface="TT Fors Bold"/>
                <a:cs typeface="TT Fors Bold"/>
                <a:sym typeface="TT Fors Bold"/>
              </a:rPr>
              <a:t>ompany</a:t>
            </a:r>
            <a:r>
              <a:rPr lang="en-US" sz="2400" b="1" dirty="0">
                <a:solidFill>
                  <a:srgbClr val="00FFA8"/>
                </a:solidFill>
                <a:latin typeface="TT Fors Bold"/>
                <a:ea typeface="TT Fors Bold"/>
                <a:cs typeface="TT Fors Bold"/>
                <a:sym typeface="TT Fors Bold"/>
              </a:rPr>
              <a:t> webs</a:t>
            </a:r>
            <a:r>
              <a:rPr lang="en-US" sz="2400" b="1" u="none" dirty="0">
                <a:solidFill>
                  <a:srgbClr val="00FFA8"/>
                </a:solidFill>
                <a:latin typeface="TT Fors Bold"/>
                <a:ea typeface="TT Fors Bold"/>
                <a:cs typeface="TT Fors Bold"/>
                <a:sym typeface="TT Fors Bold"/>
              </a:rPr>
              <a:t>i</a:t>
            </a:r>
            <a:r>
              <a:rPr lang="en-US" sz="2400" b="1" dirty="0">
                <a:solidFill>
                  <a:srgbClr val="00FFA8"/>
                </a:solidFill>
                <a:latin typeface="TT Fors Bold"/>
                <a:ea typeface="TT Fors Bold"/>
                <a:cs typeface="TT Fors Bold"/>
                <a:sym typeface="TT Fors Bold"/>
              </a:rPr>
              <a:t>te</a:t>
            </a:r>
            <a:r>
              <a:rPr lang="en-US" sz="2400" b="1" u="none" dirty="0">
                <a:solidFill>
                  <a:srgbClr val="00FFA8"/>
                </a:solidFill>
                <a:latin typeface="TT Fors Bold"/>
                <a:ea typeface="TT Fors Bold"/>
                <a:cs typeface="TT Fors Bold"/>
                <a:sym typeface="TT Fors Bold"/>
              </a:rPr>
              <a:t>s</a:t>
            </a:r>
            <a:r>
              <a:rPr lang="en-US" sz="2400" b="1" dirty="0">
                <a:solidFill>
                  <a:srgbClr val="00FFA8"/>
                </a:solidFill>
                <a:latin typeface="TT Fors Bold"/>
                <a:ea typeface="TT Fors Bold"/>
                <a:cs typeface="TT Fors Bold"/>
                <a:sym typeface="TT Fors Bold"/>
              </a:rPr>
              <a:t>:</a:t>
            </a:r>
            <a:r>
              <a:rPr lang="en-US" sz="2400" dirty="0">
                <a:solidFill>
                  <a:srgbClr val="00FFA8"/>
                </a:solidFill>
                <a:latin typeface="TT Fors"/>
                <a:ea typeface="TT Fors"/>
                <a:cs typeface="TT Fors"/>
                <a:sym typeface="TT Fors"/>
              </a:rPr>
              <a:t> Con</a:t>
            </a:r>
            <a:r>
              <a:rPr lang="en-US" sz="2400" u="none" dirty="0">
                <a:solidFill>
                  <a:srgbClr val="00FFA8"/>
                </a:solidFill>
                <a:latin typeface="TT Fors"/>
                <a:ea typeface="TT Fors"/>
                <a:cs typeface="TT Fors"/>
                <a:sym typeface="TT Fors"/>
              </a:rPr>
              <a:t>t</a:t>
            </a:r>
            <a:r>
              <a:rPr lang="en-US" sz="2400" dirty="0">
                <a:solidFill>
                  <a:srgbClr val="00FFA8"/>
                </a:solidFill>
                <a:latin typeface="TT Fors"/>
                <a:ea typeface="TT Fors"/>
                <a:cs typeface="TT Fors"/>
                <a:sym typeface="TT Fors"/>
              </a:rPr>
              <a:t>act p</a:t>
            </a:r>
            <a:r>
              <a:rPr lang="en-US" sz="2400" u="none" dirty="0">
                <a:solidFill>
                  <a:srgbClr val="00FFA8"/>
                </a:solidFill>
                <a:latin typeface="TT Fors"/>
                <a:ea typeface="TT Fors"/>
                <a:cs typeface="TT Fors"/>
                <a:sym typeface="TT Fors"/>
              </a:rPr>
              <a:t>a</a:t>
            </a:r>
            <a:r>
              <a:rPr lang="en-US" sz="2400" dirty="0">
                <a:solidFill>
                  <a:srgbClr val="00FFA8"/>
                </a:solidFill>
                <a:latin typeface="TT Fors"/>
                <a:ea typeface="TT Fors"/>
                <a:cs typeface="TT Fors"/>
                <a:sym typeface="TT Fors"/>
              </a:rPr>
              <a:t>g</a:t>
            </a:r>
            <a:r>
              <a:rPr lang="en-US" sz="2400" u="none" dirty="0">
                <a:solidFill>
                  <a:srgbClr val="00FFA8"/>
                </a:solidFill>
                <a:latin typeface="TT Fors"/>
                <a:ea typeface="TT Fors"/>
                <a:cs typeface="TT Fors"/>
                <a:sym typeface="TT Fors"/>
              </a:rPr>
              <a:t>e</a:t>
            </a:r>
            <a:r>
              <a:rPr lang="en-US" sz="2400" dirty="0">
                <a:solidFill>
                  <a:srgbClr val="00FFA8"/>
                </a:solidFill>
                <a:latin typeface="TT Fors"/>
                <a:ea typeface="TT Fors"/>
                <a:cs typeface="TT Fors"/>
                <a:sym typeface="TT Fors"/>
              </a:rPr>
              <a:t>s, tea</a:t>
            </a:r>
            <a:r>
              <a:rPr lang="en-US" sz="2400" u="none" dirty="0">
                <a:solidFill>
                  <a:srgbClr val="00FFA8"/>
                </a:solidFill>
                <a:latin typeface="TT Fors"/>
                <a:ea typeface="TT Fors"/>
                <a:cs typeface="TT Fors"/>
                <a:sym typeface="TT Fors"/>
              </a:rPr>
              <a:t>m</a:t>
            </a:r>
            <a:r>
              <a:rPr lang="en-US" sz="2400" dirty="0">
                <a:solidFill>
                  <a:srgbClr val="00FFA8"/>
                </a:solidFill>
                <a:latin typeface="TT Fors"/>
                <a:ea typeface="TT Fors"/>
                <a:cs typeface="TT Fors"/>
                <a:sym typeface="TT Fors"/>
              </a:rPr>
              <a:t> </a:t>
            </a:r>
            <a:r>
              <a:rPr lang="en-US" sz="2400" u="none" dirty="0">
                <a:solidFill>
                  <a:srgbClr val="00FFA8"/>
                </a:solidFill>
                <a:latin typeface="TT Fors"/>
                <a:ea typeface="TT Fors"/>
                <a:cs typeface="TT Fors"/>
                <a:sym typeface="TT Fors"/>
              </a:rPr>
              <a:t>pa</a:t>
            </a:r>
            <a:r>
              <a:rPr lang="en-US" sz="2400" dirty="0">
                <a:solidFill>
                  <a:srgbClr val="00FFA8"/>
                </a:solidFill>
                <a:latin typeface="TT Fors"/>
                <a:ea typeface="TT Fors"/>
                <a:cs typeface="TT Fors"/>
                <a:sym typeface="TT Fors"/>
              </a:rPr>
              <a:t>ges</a:t>
            </a:r>
          </a:p>
          <a:p>
            <a:pPr marL="518162" lvl="1" indent="-259081" algn="l">
              <a:lnSpc>
                <a:spcPts val="3360"/>
              </a:lnSpc>
              <a:buFont typeface="Arial"/>
              <a:buChar char="•"/>
            </a:pPr>
            <a:r>
              <a:rPr lang="en-US" sz="2400" b="1" dirty="0">
                <a:solidFill>
                  <a:srgbClr val="00FFA8"/>
                </a:solidFill>
                <a:latin typeface="TT Fors Bold"/>
                <a:ea typeface="TT Fors Bold"/>
                <a:cs typeface="TT Fors Bold"/>
                <a:sym typeface="TT Fors Bold"/>
              </a:rPr>
              <a:t>GitHub </a:t>
            </a:r>
            <a:r>
              <a:rPr lang="en-US" sz="2400" b="1" u="none" dirty="0">
                <a:solidFill>
                  <a:srgbClr val="00FFA8"/>
                </a:solidFill>
                <a:latin typeface="TT Fors Bold"/>
                <a:ea typeface="TT Fors Bold"/>
                <a:cs typeface="TT Fors Bold"/>
                <a:sym typeface="TT Fors Bold"/>
              </a:rPr>
              <a:t>com</a:t>
            </a:r>
            <a:r>
              <a:rPr lang="en-US" sz="2400" b="1" dirty="0">
                <a:solidFill>
                  <a:srgbClr val="00FFA8"/>
                </a:solidFill>
                <a:latin typeface="TT Fors Bold"/>
                <a:ea typeface="TT Fors Bold"/>
                <a:cs typeface="TT Fors Bold"/>
                <a:sym typeface="TT Fors Bold"/>
              </a:rPr>
              <a:t>m</a:t>
            </a:r>
            <a:r>
              <a:rPr lang="en-US" sz="2400" b="1" u="none" dirty="0">
                <a:solidFill>
                  <a:srgbClr val="00FFA8"/>
                </a:solidFill>
                <a:latin typeface="TT Fors Bold"/>
                <a:ea typeface="TT Fors Bold"/>
                <a:cs typeface="TT Fors Bold"/>
                <a:sym typeface="TT Fors Bold"/>
              </a:rPr>
              <a:t>i</a:t>
            </a:r>
            <a:r>
              <a:rPr lang="en-US" sz="2400" b="1" dirty="0">
                <a:solidFill>
                  <a:srgbClr val="00FFA8"/>
                </a:solidFill>
                <a:latin typeface="TT Fors Bold"/>
                <a:ea typeface="TT Fors Bold"/>
                <a:cs typeface="TT Fors Bold"/>
                <a:sym typeface="TT Fors Bold"/>
              </a:rPr>
              <a:t>t</a:t>
            </a:r>
            <a:r>
              <a:rPr lang="en-US" sz="2400" b="1" u="none" dirty="0">
                <a:solidFill>
                  <a:srgbClr val="00FFA8"/>
                </a:solidFill>
                <a:latin typeface="TT Fors Bold"/>
                <a:ea typeface="TT Fors Bold"/>
                <a:cs typeface="TT Fors Bold"/>
                <a:sym typeface="TT Fors Bold"/>
              </a:rPr>
              <a:t>s</a:t>
            </a:r>
            <a:r>
              <a:rPr lang="en-US" sz="2400" b="1" dirty="0">
                <a:solidFill>
                  <a:srgbClr val="00FFA8"/>
                </a:solidFill>
                <a:latin typeface="TT Fors Bold"/>
                <a:ea typeface="TT Fors Bold"/>
                <a:cs typeface="TT Fors Bold"/>
                <a:sym typeface="TT Fors Bold"/>
              </a:rPr>
              <a:t>:</a:t>
            </a:r>
            <a:r>
              <a:rPr lang="en-US" sz="2400" dirty="0">
                <a:solidFill>
                  <a:srgbClr val="00FFA8"/>
                </a:solidFill>
                <a:latin typeface="TT Fors"/>
                <a:ea typeface="TT Fors"/>
                <a:cs typeface="TT Fors"/>
                <a:sym typeface="TT Fors"/>
              </a:rPr>
              <a:t> Dev</a:t>
            </a:r>
            <a:r>
              <a:rPr lang="en-US" sz="2400" u="none" dirty="0">
                <a:solidFill>
                  <a:srgbClr val="00FFA8"/>
                </a:solidFill>
                <a:latin typeface="TT Fors"/>
                <a:ea typeface="TT Fors"/>
                <a:cs typeface="TT Fors"/>
                <a:sym typeface="TT Fors"/>
              </a:rPr>
              <a:t>el</a:t>
            </a:r>
            <a:r>
              <a:rPr lang="en-US" sz="2400" dirty="0">
                <a:solidFill>
                  <a:srgbClr val="00FFA8"/>
                </a:solidFill>
                <a:latin typeface="TT Fors"/>
                <a:ea typeface="TT Fors"/>
                <a:cs typeface="TT Fors"/>
                <a:sym typeface="TT Fors"/>
              </a:rPr>
              <a:t>oper</a:t>
            </a:r>
            <a:r>
              <a:rPr lang="en-US" sz="2400" u="none" dirty="0">
                <a:solidFill>
                  <a:srgbClr val="00FFA8"/>
                </a:solidFill>
                <a:latin typeface="TT Fors"/>
                <a:ea typeface="TT Fors"/>
                <a:cs typeface="TT Fors"/>
                <a:sym typeface="TT Fors"/>
              </a:rPr>
              <a:t>s</a:t>
            </a:r>
            <a:r>
              <a:rPr lang="en-US" sz="2400" dirty="0">
                <a:solidFill>
                  <a:srgbClr val="00FFA8"/>
                </a:solidFill>
                <a:latin typeface="TT Fors"/>
                <a:ea typeface="TT Fors"/>
                <a:cs typeface="TT Fors"/>
                <a:sym typeface="TT Fors"/>
              </a:rPr>
              <a:t> of</a:t>
            </a:r>
            <a:r>
              <a:rPr lang="en-US" sz="2400" u="none" dirty="0">
                <a:solidFill>
                  <a:srgbClr val="00FFA8"/>
                </a:solidFill>
                <a:latin typeface="TT Fors"/>
                <a:ea typeface="TT Fors"/>
                <a:cs typeface="TT Fors"/>
                <a:sym typeface="TT Fors"/>
              </a:rPr>
              <a:t>t</a:t>
            </a:r>
            <a:r>
              <a:rPr lang="en-US" sz="2400" dirty="0">
                <a:solidFill>
                  <a:srgbClr val="00FFA8"/>
                </a:solidFill>
                <a:latin typeface="TT Fors"/>
                <a:ea typeface="TT Fors"/>
                <a:cs typeface="TT Fors"/>
                <a:sym typeface="TT Fors"/>
              </a:rPr>
              <a:t>e</a:t>
            </a:r>
            <a:r>
              <a:rPr lang="en-US" sz="2400" u="none" dirty="0">
                <a:solidFill>
                  <a:srgbClr val="00FFA8"/>
                </a:solidFill>
                <a:latin typeface="TT Fors"/>
                <a:ea typeface="TT Fors"/>
                <a:cs typeface="TT Fors"/>
                <a:sym typeface="TT Fors"/>
              </a:rPr>
              <a:t>n</a:t>
            </a:r>
            <a:r>
              <a:rPr lang="en-US" sz="2400" dirty="0">
                <a:solidFill>
                  <a:srgbClr val="00FFA8"/>
                </a:solidFill>
                <a:latin typeface="TT Fors"/>
                <a:ea typeface="TT Fors"/>
                <a:cs typeface="TT Fors"/>
                <a:sym typeface="TT Fors"/>
              </a:rPr>
              <a:t> us</a:t>
            </a:r>
            <a:r>
              <a:rPr lang="en-US" sz="2400" u="none" dirty="0">
                <a:solidFill>
                  <a:srgbClr val="00FFA8"/>
                </a:solidFill>
                <a:latin typeface="TT Fors"/>
                <a:ea typeface="TT Fors"/>
                <a:cs typeface="TT Fors"/>
                <a:sym typeface="TT Fors"/>
              </a:rPr>
              <a:t>e</a:t>
            </a:r>
            <a:r>
              <a:rPr lang="en-US" sz="2400" dirty="0">
                <a:solidFill>
                  <a:srgbClr val="00FFA8"/>
                </a:solidFill>
                <a:latin typeface="TT Fors"/>
                <a:ea typeface="TT Fors"/>
                <a:cs typeface="TT Fors"/>
                <a:sym typeface="TT Fors"/>
              </a:rPr>
              <a:t> w</a:t>
            </a:r>
            <a:r>
              <a:rPr lang="en-US" sz="2400" u="none" dirty="0">
                <a:solidFill>
                  <a:srgbClr val="00FFA8"/>
                </a:solidFill>
                <a:latin typeface="TT Fors"/>
                <a:ea typeface="TT Fors"/>
                <a:cs typeface="TT Fors"/>
                <a:sym typeface="TT Fors"/>
              </a:rPr>
              <a:t>o</a:t>
            </a:r>
            <a:r>
              <a:rPr lang="en-US" sz="2400" dirty="0">
                <a:solidFill>
                  <a:srgbClr val="00FFA8"/>
                </a:solidFill>
                <a:latin typeface="TT Fors"/>
                <a:ea typeface="TT Fors"/>
                <a:cs typeface="TT Fors"/>
                <a:sym typeface="TT Fors"/>
              </a:rPr>
              <a:t>rk e</a:t>
            </a:r>
            <a:r>
              <a:rPr lang="en-US" sz="2400" u="none" dirty="0">
                <a:solidFill>
                  <a:srgbClr val="00FFA8"/>
                </a:solidFill>
                <a:latin typeface="TT Fors"/>
                <a:ea typeface="TT Fors"/>
                <a:cs typeface="TT Fors"/>
                <a:sym typeface="TT Fors"/>
              </a:rPr>
              <a:t>ma</a:t>
            </a:r>
            <a:r>
              <a:rPr lang="en-US" sz="2400" dirty="0">
                <a:solidFill>
                  <a:srgbClr val="00FFA8"/>
                </a:solidFill>
                <a:latin typeface="TT Fors"/>
                <a:ea typeface="TT Fors"/>
                <a:cs typeface="TT Fors"/>
                <a:sym typeface="TT Fors"/>
              </a:rPr>
              <a:t>ils</a:t>
            </a:r>
          </a:p>
          <a:p>
            <a:pPr marL="518162" lvl="1" indent="-259081" algn="l">
              <a:lnSpc>
                <a:spcPts val="3360"/>
              </a:lnSpc>
              <a:buFont typeface="Arial"/>
              <a:buChar char="•"/>
            </a:pPr>
            <a:r>
              <a:rPr lang="en-US" sz="2400" b="1" dirty="0">
                <a:solidFill>
                  <a:srgbClr val="00FFA8"/>
                </a:solidFill>
                <a:latin typeface="TT Fors Bold"/>
                <a:ea typeface="TT Fors Bold"/>
                <a:cs typeface="TT Fors Bold"/>
                <a:sym typeface="TT Fors Bold"/>
              </a:rPr>
              <a:t>WHOIS re</a:t>
            </a:r>
            <a:r>
              <a:rPr lang="en-US" sz="2400" b="1" u="none" dirty="0">
                <a:solidFill>
                  <a:srgbClr val="00FFA8"/>
                </a:solidFill>
                <a:latin typeface="TT Fors Bold"/>
                <a:ea typeface="TT Fors Bold"/>
                <a:cs typeface="TT Fors Bold"/>
                <a:sym typeface="TT Fors Bold"/>
              </a:rPr>
              <a:t>co</a:t>
            </a:r>
            <a:r>
              <a:rPr lang="en-US" sz="2400" b="1" dirty="0">
                <a:solidFill>
                  <a:srgbClr val="00FFA8"/>
                </a:solidFill>
                <a:latin typeface="TT Fors Bold"/>
                <a:ea typeface="TT Fors Bold"/>
                <a:cs typeface="TT Fors Bold"/>
                <a:sym typeface="TT Fors Bold"/>
              </a:rPr>
              <a:t>rds:</a:t>
            </a:r>
            <a:r>
              <a:rPr lang="en-US" sz="2400" dirty="0">
                <a:solidFill>
                  <a:srgbClr val="00FFA8"/>
                </a:solidFill>
                <a:latin typeface="TT Fors"/>
                <a:ea typeface="TT Fors"/>
                <a:cs typeface="TT Fors"/>
                <a:sym typeface="TT Fors"/>
              </a:rPr>
              <a:t> Ad</a:t>
            </a:r>
            <a:r>
              <a:rPr lang="en-US" sz="2400" u="none" dirty="0">
                <a:solidFill>
                  <a:srgbClr val="00FFA8"/>
                </a:solidFill>
                <a:latin typeface="TT Fors"/>
                <a:ea typeface="TT Fors"/>
                <a:cs typeface="TT Fors"/>
                <a:sym typeface="TT Fors"/>
              </a:rPr>
              <a:t>m</a:t>
            </a:r>
            <a:r>
              <a:rPr lang="en-US" sz="2400" dirty="0">
                <a:solidFill>
                  <a:srgbClr val="00FFA8"/>
                </a:solidFill>
                <a:latin typeface="TT Fors"/>
                <a:ea typeface="TT Fors"/>
                <a:cs typeface="TT Fors"/>
                <a:sym typeface="TT Fors"/>
              </a:rPr>
              <a:t>ini</a:t>
            </a:r>
            <a:r>
              <a:rPr lang="en-US" sz="2400" u="none" dirty="0">
                <a:solidFill>
                  <a:srgbClr val="00FFA8"/>
                </a:solidFill>
                <a:latin typeface="TT Fors"/>
                <a:ea typeface="TT Fors"/>
                <a:cs typeface="TT Fors"/>
                <a:sym typeface="TT Fors"/>
              </a:rPr>
              <a:t>st</a:t>
            </a:r>
            <a:r>
              <a:rPr lang="en-US" sz="2400" dirty="0">
                <a:solidFill>
                  <a:srgbClr val="00FFA8"/>
                </a:solidFill>
                <a:latin typeface="TT Fors"/>
                <a:ea typeface="TT Fors"/>
                <a:cs typeface="TT Fors"/>
                <a:sym typeface="TT Fors"/>
              </a:rPr>
              <a:t>r</a:t>
            </a:r>
            <a:r>
              <a:rPr lang="en-US" sz="2400" u="none" dirty="0">
                <a:solidFill>
                  <a:srgbClr val="00FFA8"/>
                </a:solidFill>
                <a:latin typeface="TT Fors"/>
                <a:ea typeface="TT Fors"/>
                <a:cs typeface="TT Fors"/>
                <a:sym typeface="TT Fors"/>
              </a:rPr>
              <a:t>a</a:t>
            </a:r>
            <a:r>
              <a:rPr lang="en-US" sz="2400" dirty="0">
                <a:solidFill>
                  <a:srgbClr val="00FFA8"/>
                </a:solidFill>
                <a:latin typeface="TT Fors"/>
                <a:ea typeface="TT Fors"/>
                <a:cs typeface="TT Fors"/>
                <a:sym typeface="TT Fors"/>
              </a:rPr>
              <a:t>tiv</a:t>
            </a:r>
            <a:r>
              <a:rPr lang="en-US" sz="2400" u="none" dirty="0">
                <a:solidFill>
                  <a:srgbClr val="00FFA8"/>
                </a:solidFill>
                <a:latin typeface="TT Fors"/>
                <a:ea typeface="TT Fors"/>
                <a:cs typeface="TT Fors"/>
                <a:sym typeface="TT Fors"/>
              </a:rPr>
              <a:t>e</a:t>
            </a:r>
            <a:r>
              <a:rPr lang="en-US" sz="2400" dirty="0">
                <a:solidFill>
                  <a:srgbClr val="00FFA8"/>
                </a:solidFill>
                <a:latin typeface="TT Fors"/>
                <a:ea typeface="TT Fors"/>
                <a:cs typeface="TT Fors"/>
                <a:sym typeface="TT Fors"/>
              </a:rPr>
              <a:t> </a:t>
            </a:r>
            <a:r>
              <a:rPr lang="en-US" sz="2400" u="none" dirty="0">
                <a:solidFill>
                  <a:srgbClr val="00FFA8"/>
                </a:solidFill>
                <a:latin typeface="TT Fors"/>
                <a:ea typeface="TT Fors"/>
                <a:cs typeface="TT Fors"/>
                <a:sym typeface="TT Fors"/>
              </a:rPr>
              <a:t>co</a:t>
            </a:r>
            <a:r>
              <a:rPr lang="en-US" sz="2400" dirty="0">
                <a:solidFill>
                  <a:srgbClr val="00FFA8"/>
                </a:solidFill>
                <a:latin typeface="TT Fors"/>
                <a:ea typeface="TT Fors"/>
                <a:cs typeface="TT Fors"/>
                <a:sym typeface="TT Fors"/>
              </a:rPr>
              <a:t>nt</a:t>
            </a:r>
            <a:r>
              <a:rPr lang="en-US" sz="2400" u="none" dirty="0">
                <a:solidFill>
                  <a:srgbClr val="00FFA8"/>
                </a:solidFill>
                <a:latin typeface="TT Fors"/>
                <a:ea typeface="TT Fors"/>
                <a:cs typeface="TT Fors"/>
                <a:sym typeface="TT Fors"/>
              </a:rPr>
              <a:t>ac</a:t>
            </a:r>
            <a:r>
              <a:rPr lang="en-US" sz="2400" dirty="0">
                <a:solidFill>
                  <a:srgbClr val="00FFA8"/>
                </a:solidFill>
                <a:latin typeface="TT Fors"/>
                <a:ea typeface="TT Fors"/>
                <a:cs typeface="TT Fors"/>
                <a:sym typeface="TT Fors"/>
              </a:rPr>
              <a:t>ts</a:t>
            </a:r>
          </a:p>
          <a:p>
            <a:pPr algn="l">
              <a:lnSpc>
                <a:spcPts val="3360"/>
              </a:lnSpc>
            </a:pPr>
            <a:endParaRPr lang="en-US" sz="2400" dirty="0">
              <a:solidFill>
                <a:srgbClr val="00FFA8"/>
              </a:solidFill>
              <a:latin typeface="TT Fors"/>
              <a:ea typeface="TT Fors"/>
              <a:cs typeface="TT Fors"/>
              <a:sym typeface="TT Fors"/>
            </a:endParaRPr>
          </a:p>
          <a:p>
            <a:pPr algn="l">
              <a:lnSpc>
                <a:spcPts val="3360"/>
              </a:lnSpc>
            </a:pPr>
            <a:r>
              <a:rPr lang="en-US" sz="2400" b="1" dirty="0">
                <a:solidFill>
                  <a:srgbClr val="00FFA8"/>
                </a:solidFill>
                <a:latin typeface="TT Fors Bold"/>
                <a:ea typeface="TT Fors Bold"/>
                <a:cs typeface="TT Fors Bold"/>
                <a:sym typeface="TT Fors Bold"/>
              </a:rPr>
              <a:t>Email Format Discovery (Common formats to test):</a:t>
            </a:r>
          </a:p>
          <a:p>
            <a:pPr marL="518162" lvl="1" indent="-259081" algn="l">
              <a:lnSpc>
                <a:spcPts val="3360"/>
              </a:lnSpc>
              <a:buFont typeface="Arial"/>
              <a:buChar char="•"/>
            </a:pPr>
            <a:r>
              <a:rPr lang="en-US" sz="2400" u="sng" dirty="0">
                <a:solidFill>
                  <a:schemeClr val="bg1"/>
                </a:solidFill>
                <a:latin typeface="TT Fors"/>
                <a:ea typeface="TT Fors"/>
                <a:cs typeface="TT Fors"/>
                <a:sym typeface="TT Fors"/>
                <a:hlinkClick r:id="rId3" tooltip="mailto:firstname.lastname@company.com">
                  <a:extLst>
                    <a:ext uri="{A12FA001-AC4F-418D-AE19-62706E023703}">
                      <ahyp:hlinkClr xmlns:ahyp="http://schemas.microsoft.com/office/drawing/2018/hyperlinkcolor" val="tx"/>
                    </a:ext>
                  </a:extLst>
                </a:hlinkClick>
              </a:rPr>
              <a:t>firstname.lastname@company.com</a:t>
            </a:r>
          </a:p>
          <a:p>
            <a:pPr marL="518162" lvl="1" indent="-259081" algn="l">
              <a:lnSpc>
                <a:spcPts val="3360"/>
              </a:lnSpc>
              <a:buFont typeface="Arial"/>
              <a:buChar char="•"/>
            </a:pPr>
            <a:r>
              <a:rPr lang="en-US" sz="2400" u="sng" dirty="0">
                <a:solidFill>
                  <a:schemeClr val="bg1"/>
                </a:solidFill>
                <a:latin typeface="TT Fors"/>
                <a:ea typeface="TT Fors"/>
                <a:cs typeface="TT Fors"/>
                <a:sym typeface="TT Fors"/>
                <a:hlinkClick r:id="rId4" tooltip="mailto:firstname@company.com">
                  <a:extLst>
                    <a:ext uri="{A12FA001-AC4F-418D-AE19-62706E023703}">
                      <ahyp:hlinkClr xmlns:ahyp="http://schemas.microsoft.com/office/drawing/2018/hyperlinkcolor" val="tx"/>
                    </a:ext>
                  </a:extLst>
                </a:hlinkClick>
              </a:rPr>
              <a:t>firstname@company.com</a:t>
            </a:r>
          </a:p>
          <a:p>
            <a:pPr marL="518162" lvl="1" indent="-259081" algn="l">
              <a:lnSpc>
                <a:spcPts val="3360"/>
              </a:lnSpc>
              <a:buFont typeface="Arial"/>
              <a:buChar char="•"/>
            </a:pPr>
            <a:r>
              <a:rPr lang="en-US" sz="2400" u="sng" dirty="0">
                <a:solidFill>
                  <a:schemeClr val="bg1"/>
                </a:solidFill>
                <a:latin typeface="TT Fors"/>
                <a:ea typeface="TT Fors"/>
                <a:cs typeface="TT Fors"/>
                <a:sym typeface="TT Fors"/>
                <a:hlinkClick r:id="rId5" tooltip="mailto:firstnamelastname@company.com">
                  <a:extLst>
                    <a:ext uri="{A12FA001-AC4F-418D-AE19-62706E023703}">
                      <ahyp:hlinkClr xmlns:ahyp="http://schemas.microsoft.com/office/drawing/2018/hyperlinkcolor" val="tx"/>
                    </a:ext>
                  </a:extLst>
                </a:hlinkClick>
              </a:rPr>
              <a:t>firstnamelastname@company.com</a:t>
            </a:r>
          </a:p>
          <a:p>
            <a:pPr marL="518162" lvl="1" indent="-259081" algn="l">
              <a:lnSpc>
                <a:spcPts val="3360"/>
              </a:lnSpc>
              <a:buFont typeface="Arial"/>
              <a:buChar char="•"/>
            </a:pPr>
            <a:r>
              <a:rPr lang="en-US" sz="2400" u="sng" dirty="0">
                <a:solidFill>
                  <a:schemeClr val="bg1"/>
                </a:solidFill>
                <a:latin typeface="TT Fors"/>
                <a:ea typeface="TT Fors"/>
                <a:cs typeface="TT Fors"/>
                <a:sym typeface="TT Fors"/>
                <a:hlinkClick r:id="rId6" tooltip="mailto:f.lastname@company.com">
                  <a:extLst>
                    <a:ext uri="{A12FA001-AC4F-418D-AE19-62706E023703}">
                      <ahyp:hlinkClr xmlns:ahyp="http://schemas.microsoft.com/office/drawing/2018/hyperlinkcolor" val="tx"/>
                    </a:ext>
                  </a:extLst>
                </a:hlinkClick>
              </a:rPr>
              <a:t>f.lastname@company.com</a:t>
            </a:r>
          </a:p>
          <a:p>
            <a:pPr marL="518162" lvl="1" indent="-259081" algn="l">
              <a:lnSpc>
                <a:spcPts val="3360"/>
              </a:lnSpc>
              <a:buFont typeface="Arial"/>
              <a:buChar char="•"/>
            </a:pPr>
            <a:r>
              <a:rPr lang="en-US" sz="2400" u="sng" dirty="0" err="1">
                <a:solidFill>
                  <a:srgbClr val="FFFFFF"/>
                </a:solidFill>
                <a:latin typeface="TT Fors"/>
                <a:ea typeface="TT Fors"/>
                <a:cs typeface="TT Fors"/>
                <a:sym typeface="TT Fors"/>
              </a:rPr>
              <a:t>firstname.l@company.com</a:t>
            </a:r>
            <a:endParaRPr lang="en-US" sz="2400" u="sng" dirty="0">
              <a:solidFill>
                <a:srgbClr val="FFFFFF"/>
              </a:solidFill>
              <a:latin typeface="TT Fors"/>
              <a:ea typeface="TT Fors"/>
              <a:cs typeface="TT Fors"/>
              <a:sym typeface="TT Fors"/>
            </a:endParaRPr>
          </a:p>
        </p:txBody>
      </p:sp>
      <p:grpSp>
        <p:nvGrpSpPr>
          <p:cNvPr id="6" name="Group 6"/>
          <p:cNvGrpSpPr/>
          <p:nvPr/>
        </p:nvGrpSpPr>
        <p:grpSpPr>
          <a:xfrm>
            <a:off x="16115522" y="751544"/>
            <a:ext cx="1505728" cy="810556"/>
            <a:chOff x="0" y="0"/>
            <a:chExt cx="2007638" cy="1080741"/>
          </a:xfrm>
        </p:grpSpPr>
        <p:grpSp>
          <p:nvGrpSpPr>
            <p:cNvPr id="7" name="Group 7"/>
            <p:cNvGrpSpPr/>
            <p:nvPr/>
          </p:nvGrpSpPr>
          <p:grpSpPr>
            <a:xfrm>
              <a:off x="0" y="0"/>
              <a:ext cx="1080741" cy="108074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0" name="Group 10"/>
            <p:cNvGrpSpPr/>
            <p:nvPr/>
          </p:nvGrpSpPr>
          <p:grpSpPr>
            <a:xfrm>
              <a:off x="926897" y="0"/>
              <a:ext cx="1080741" cy="108074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4" name="Freeform 14"/>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grpSp>
      <p:sp>
        <p:nvSpPr>
          <p:cNvPr id="15" name="TextBox 15"/>
          <p:cNvSpPr txBox="1"/>
          <p:nvPr/>
        </p:nvSpPr>
        <p:spPr>
          <a:xfrm>
            <a:off x="666750" y="2300925"/>
            <a:ext cx="16464001" cy="409575"/>
          </a:xfrm>
          <a:prstGeom prst="rect">
            <a:avLst/>
          </a:prstGeom>
        </p:spPr>
        <p:txBody>
          <a:bodyPr lIns="0" tIns="0" rIns="0" bIns="0" rtlCol="0" anchor="t">
            <a:spAutoFit/>
          </a:bodyPr>
          <a:lstStyle/>
          <a:p>
            <a:pPr marL="0" lvl="0" indent="0" algn="l">
              <a:lnSpc>
                <a:spcPts val="2880"/>
              </a:lnSpc>
              <a:spcBef>
                <a:spcPct val="0"/>
              </a:spcBef>
            </a:pPr>
            <a:r>
              <a:rPr lang="en-US" sz="2400" spc="-72">
                <a:solidFill>
                  <a:srgbClr val="FFFFFF"/>
                </a:solidFill>
                <a:latin typeface="ITC Avant Garde Gothic"/>
                <a:ea typeface="ITC Avant Garde Gothic"/>
                <a:cs typeface="ITC Avant Garde Gothic"/>
                <a:sym typeface="ITC Avant Garde Gothic"/>
              </a:rPr>
              <a:t>Ema</a:t>
            </a:r>
            <a:r>
              <a:rPr lang="en-US" sz="2400" u="none" strike="noStrike" spc="-72">
                <a:solidFill>
                  <a:srgbClr val="FFFFFF"/>
                </a:solidFill>
                <a:latin typeface="ITC Avant Garde Gothic"/>
                <a:ea typeface="ITC Avant Garde Gothic"/>
                <a:cs typeface="ITC Avant Garde Gothic"/>
                <a:sym typeface="ITC Avant Garde Gothic"/>
              </a:rPr>
              <a:t>il addresses are valuable for phishing attacks, password spraying, and social engineering.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69650"/>
          </a:xfrm>
          <a:prstGeom prst="rect">
            <a:avLst/>
          </a:prstGeom>
        </p:spPr>
        <p:txBody>
          <a:bodyPr lIns="0" tIns="0" rIns="0" bIns="0" rtlCol="0" anchor="t">
            <a:spAutoFit/>
          </a:bodyPr>
          <a:lstStyle/>
          <a:p>
            <a:pPr marL="0" lvl="0" indent="0" algn="l">
              <a:lnSpc>
                <a:spcPts val="6300"/>
              </a:lnSpc>
              <a:spcBef>
                <a:spcPct val="0"/>
              </a:spcBef>
            </a:pPr>
            <a:r>
              <a:rPr lang="en-US" sz="6300" spc="-189">
                <a:solidFill>
                  <a:srgbClr val="00FFA8"/>
                </a:solidFill>
                <a:latin typeface="ITC Avant Garde Gothic"/>
                <a:ea typeface="ITC Avant Garde Gothic"/>
                <a:cs typeface="ITC Avant Garde Gothic"/>
                <a:sym typeface="ITC Avant Garde Gothic"/>
              </a:rPr>
              <a:t>Using HTTP Basics</a:t>
            </a:r>
          </a:p>
        </p:txBody>
      </p:sp>
      <p:sp>
        <p:nvSpPr>
          <p:cNvPr id="3" name="Freeform 3"/>
          <p:cNvSpPr/>
          <p:nvPr/>
        </p:nvSpPr>
        <p:spPr>
          <a:xfrm>
            <a:off x="7874871" y="5100205"/>
            <a:ext cx="9746379" cy="2850816"/>
          </a:xfrm>
          <a:custGeom>
            <a:avLst/>
            <a:gdLst/>
            <a:ahLst/>
            <a:cxnLst/>
            <a:rect l="l" t="t" r="r" b="b"/>
            <a:pathLst>
              <a:path w="9746379" h="2850816">
                <a:moveTo>
                  <a:pt x="0" y="0"/>
                </a:moveTo>
                <a:lnTo>
                  <a:pt x="9746379" y="0"/>
                </a:lnTo>
                <a:lnTo>
                  <a:pt x="9746379" y="2850816"/>
                </a:lnTo>
                <a:lnTo>
                  <a:pt x="0" y="2850816"/>
                </a:lnTo>
                <a:lnTo>
                  <a:pt x="0" y="0"/>
                </a:lnTo>
                <a:close/>
              </a:path>
            </a:pathLst>
          </a:custGeom>
          <a:blipFill>
            <a:blip r:embed="rId3"/>
            <a:stretch>
              <a:fillRect/>
            </a:stretch>
          </a:blipFill>
        </p:spPr>
        <p:txBody>
          <a:bodyPr/>
          <a:lstStyle/>
          <a:p>
            <a:endParaRPr lang="en-US"/>
          </a:p>
        </p:txBody>
      </p:sp>
      <p:sp>
        <p:nvSpPr>
          <p:cNvPr id="4" name="Freeform 4"/>
          <p:cNvSpPr/>
          <p:nvPr/>
        </p:nvSpPr>
        <p:spPr>
          <a:xfrm>
            <a:off x="666750" y="4623955"/>
            <a:ext cx="7086893" cy="5146856"/>
          </a:xfrm>
          <a:custGeom>
            <a:avLst/>
            <a:gdLst/>
            <a:ahLst/>
            <a:cxnLst/>
            <a:rect l="l" t="t" r="r" b="b"/>
            <a:pathLst>
              <a:path w="7086893" h="5146856">
                <a:moveTo>
                  <a:pt x="0" y="0"/>
                </a:moveTo>
                <a:lnTo>
                  <a:pt x="7086893" y="0"/>
                </a:lnTo>
                <a:lnTo>
                  <a:pt x="7086893" y="5146856"/>
                </a:lnTo>
                <a:lnTo>
                  <a:pt x="0" y="5146856"/>
                </a:lnTo>
                <a:lnTo>
                  <a:pt x="0" y="0"/>
                </a:lnTo>
                <a:close/>
              </a:path>
            </a:pathLst>
          </a:custGeom>
          <a:blipFill>
            <a:blip r:embed="rId4"/>
            <a:stretch>
              <a:fillRect/>
            </a:stretch>
          </a:blipFill>
        </p:spPr>
        <p:txBody>
          <a:bodyPr/>
          <a:lstStyle/>
          <a:p>
            <a:endParaRPr lang="en-US"/>
          </a:p>
        </p:txBody>
      </p:sp>
      <p:sp>
        <p:nvSpPr>
          <p:cNvPr id="5" name="TextBox 5"/>
          <p:cNvSpPr txBox="1"/>
          <p:nvPr/>
        </p:nvSpPr>
        <p:spPr>
          <a:xfrm>
            <a:off x="666750" y="2600845"/>
            <a:ext cx="8051342" cy="1842135"/>
          </a:xfrm>
          <a:prstGeom prst="rect">
            <a:avLst/>
          </a:prstGeom>
        </p:spPr>
        <p:txBody>
          <a:bodyPr lIns="0" tIns="0" rIns="0" bIns="0" rtlCol="0" anchor="t">
            <a:spAutoFit/>
          </a:bodyPr>
          <a:lstStyle/>
          <a:p>
            <a:pPr marL="0" lvl="0" indent="0" algn="l">
              <a:lnSpc>
                <a:spcPts val="2940"/>
              </a:lnSpc>
            </a:pPr>
            <a:r>
              <a:rPr lang="en-US" sz="2100" b="1">
                <a:solidFill>
                  <a:srgbClr val="00FFA8"/>
                </a:solidFill>
                <a:latin typeface="TT Fors Bold"/>
                <a:ea typeface="TT Fors Bold"/>
                <a:cs typeface="TT Fors Bold"/>
                <a:sym typeface="TT Fors Bold"/>
              </a:rPr>
              <a:t>HTTP operates on port 80</a:t>
            </a:r>
          </a:p>
          <a:p>
            <a:pPr marL="453393" lvl="1" indent="-226697" algn="l">
              <a:lnSpc>
                <a:spcPts val="2940"/>
              </a:lnSpc>
              <a:buFont typeface="Arial"/>
              <a:buChar char="•"/>
            </a:pPr>
            <a:r>
              <a:rPr lang="en-US" sz="2100">
                <a:solidFill>
                  <a:srgbClr val="00FFA8"/>
                </a:solidFill>
                <a:latin typeface="TT Fors"/>
                <a:ea typeface="TT Fors"/>
                <a:cs typeface="TT Fors"/>
                <a:sym typeface="TT Fors"/>
              </a:rPr>
              <a:t>Use HTTP language to pull information from a Web server</a:t>
            </a:r>
          </a:p>
          <a:p>
            <a:pPr marL="453393" lvl="1" indent="-226697" algn="l">
              <a:lnSpc>
                <a:spcPts val="2940"/>
              </a:lnSpc>
              <a:buFont typeface="Arial"/>
              <a:buChar char="•"/>
            </a:pPr>
            <a:r>
              <a:rPr lang="en-US" sz="2100">
                <a:solidFill>
                  <a:srgbClr val="00FFA8"/>
                </a:solidFill>
                <a:latin typeface="TT Fors"/>
                <a:ea typeface="TT Fors"/>
                <a:cs typeface="TT Fors"/>
                <a:sym typeface="TT Fors"/>
              </a:rPr>
              <a:t>Basic understanding of HTTP is beneficial for security testers</a:t>
            </a:r>
          </a:p>
          <a:p>
            <a:pPr marL="453393" lvl="1" indent="-226697" algn="l">
              <a:lnSpc>
                <a:spcPts val="2940"/>
              </a:lnSpc>
              <a:buFont typeface="Arial"/>
              <a:buChar char="•"/>
            </a:pPr>
            <a:r>
              <a:rPr lang="en-US" sz="2100">
                <a:solidFill>
                  <a:srgbClr val="00FFA8"/>
                </a:solidFill>
                <a:latin typeface="TT Fors"/>
                <a:ea typeface="TT Fors"/>
                <a:cs typeface="TT Fors"/>
                <a:sym typeface="TT Fors"/>
              </a:rPr>
              <a:t>Return codes</a:t>
            </a:r>
          </a:p>
          <a:p>
            <a:pPr marL="906786" lvl="2" indent="-302262" algn="l">
              <a:lnSpc>
                <a:spcPts val="2940"/>
              </a:lnSpc>
              <a:buFont typeface="Arial"/>
              <a:buChar char="⚬"/>
            </a:pPr>
            <a:r>
              <a:rPr lang="en-US" sz="2100">
                <a:solidFill>
                  <a:srgbClr val="00FFA8"/>
                </a:solidFill>
                <a:latin typeface="TT Fors"/>
                <a:ea typeface="TT Fors"/>
                <a:cs typeface="TT Fors"/>
                <a:sym typeface="TT Fors"/>
              </a:rPr>
              <a:t>Reveal information about server OS</a:t>
            </a:r>
          </a:p>
        </p:txBody>
      </p:sp>
      <p:sp>
        <p:nvSpPr>
          <p:cNvPr id="6" name="TextBox 6"/>
          <p:cNvSpPr txBox="1"/>
          <p:nvPr/>
        </p:nvSpPr>
        <p:spPr>
          <a:xfrm>
            <a:off x="9144000" y="2600845"/>
            <a:ext cx="5988150" cy="2213610"/>
          </a:xfrm>
          <a:prstGeom prst="rect">
            <a:avLst/>
          </a:prstGeom>
        </p:spPr>
        <p:txBody>
          <a:bodyPr lIns="0" tIns="0" rIns="0" bIns="0" rtlCol="0" anchor="t">
            <a:spAutoFit/>
          </a:bodyPr>
          <a:lstStyle/>
          <a:p>
            <a:pPr marL="0" lvl="0" indent="0" algn="l">
              <a:lnSpc>
                <a:spcPts val="2940"/>
              </a:lnSpc>
            </a:pPr>
            <a:r>
              <a:rPr lang="en-US" sz="2100" b="1">
                <a:solidFill>
                  <a:srgbClr val="00FFA8"/>
                </a:solidFill>
                <a:latin typeface="TT Fors Bold"/>
                <a:ea typeface="TT Fors Bold"/>
                <a:cs typeface="TT Fors Bold"/>
                <a:sym typeface="TT Fors Bold"/>
              </a:rPr>
              <a:t>HTTP methods</a:t>
            </a:r>
          </a:p>
          <a:p>
            <a:pPr marL="453393" lvl="1" indent="-226697" algn="l">
              <a:lnSpc>
                <a:spcPts val="2940"/>
              </a:lnSpc>
              <a:buFont typeface="Arial"/>
              <a:buChar char="•"/>
            </a:pPr>
            <a:r>
              <a:rPr lang="en-US" sz="2100">
                <a:solidFill>
                  <a:srgbClr val="00FFA8"/>
                </a:solidFill>
                <a:latin typeface="TT Fors"/>
                <a:ea typeface="TT Fors"/>
                <a:cs typeface="TT Fors"/>
                <a:sym typeface="TT Fors"/>
              </a:rPr>
              <a:t>GET / HTTP/1.1. is the most basic method</a:t>
            </a:r>
          </a:p>
          <a:p>
            <a:pPr marL="453393" lvl="1" indent="-226697" algn="l">
              <a:lnSpc>
                <a:spcPts val="2940"/>
              </a:lnSpc>
              <a:buFont typeface="Arial"/>
              <a:buChar char="•"/>
            </a:pPr>
            <a:r>
              <a:rPr lang="en-US" sz="2100">
                <a:solidFill>
                  <a:srgbClr val="00FFA8"/>
                </a:solidFill>
                <a:latin typeface="TT Fors"/>
                <a:ea typeface="TT Fors"/>
                <a:cs typeface="TT Fors"/>
                <a:sym typeface="TT Fors"/>
              </a:rPr>
              <a:t>Can determine information about server OS from the server’s generated output </a:t>
            </a:r>
          </a:p>
          <a:p>
            <a:pPr marL="453393" lvl="1" indent="-226697" algn="l">
              <a:lnSpc>
                <a:spcPts val="2940"/>
              </a:lnSpc>
              <a:buFont typeface="Arial"/>
              <a:buChar char="•"/>
            </a:pPr>
            <a:r>
              <a:rPr lang="en-US" sz="2100">
                <a:solidFill>
                  <a:srgbClr val="00FFA8"/>
                </a:solidFill>
                <a:latin typeface="TT Fors"/>
                <a:ea typeface="TT Fors"/>
                <a:cs typeface="TT Fors"/>
                <a:sym typeface="TT Fors"/>
              </a:rPr>
              <a:t>Basic method to do banner grab with Telnet (Windows) and Netcat (Unix)</a:t>
            </a:r>
          </a:p>
        </p:txBody>
      </p:sp>
      <p:sp>
        <p:nvSpPr>
          <p:cNvPr id="7" name="TextBox 7"/>
          <p:cNvSpPr txBox="1"/>
          <p:nvPr/>
        </p:nvSpPr>
        <p:spPr>
          <a:xfrm>
            <a:off x="666750" y="1579250"/>
            <a:ext cx="16464001" cy="743793"/>
          </a:xfrm>
          <a:prstGeom prst="rect">
            <a:avLst/>
          </a:prstGeom>
        </p:spPr>
        <p:txBody>
          <a:bodyPr lIns="0" tIns="0" rIns="0" bIns="0" rtlCol="0" anchor="t">
            <a:spAutoFit/>
          </a:bodyPr>
          <a:lstStyle/>
          <a:p>
            <a:pPr>
              <a:lnSpc>
                <a:spcPts val="2880"/>
              </a:lnSpc>
              <a:spcBef>
                <a:spcPct val="0"/>
              </a:spcBef>
            </a:pPr>
            <a:r>
              <a:rPr lang="en-US" sz="2400" spc="-72" dirty="0">
                <a:solidFill>
                  <a:schemeClr val="bg1"/>
                </a:solidFill>
                <a:latin typeface="ITC Avant Garde Gothic"/>
                <a:sym typeface="ITC Avant Garde Gothic"/>
              </a:rPr>
              <a:t>HTTP, or Hypertext Transfer Protocol,</a:t>
            </a:r>
            <a:r>
              <a:rPr lang="en-MY" sz="2400" spc="-72" dirty="0">
                <a:solidFill>
                  <a:schemeClr val="bg1"/>
                </a:solidFill>
                <a:latin typeface="ITC Avant Garde Gothic"/>
              </a:rPr>
              <a:t> is</a:t>
            </a:r>
            <a:r>
              <a:rPr lang="en-US" sz="2400" spc="-72" dirty="0">
                <a:solidFill>
                  <a:schemeClr val="bg1"/>
                </a:solidFill>
                <a:latin typeface="ITC Avant Garde Gothic"/>
                <a:sym typeface="ITC Avant Garde Gothic"/>
              </a:rPr>
              <a:t> the </a:t>
            </a:r>
            <a:r>
              <a:rPr lang="en-US" sz="2400" spc="-72" dirty="0">
                <a:solidFill>
                  <a:schemeClr val="bg1"/>
                </a:solidFill>
                <a:latin typeface="ITC Avant Garde Gothic"/>
                <a:ea typeface="ITC Avant Garde Gothic"/>
                <a:cs typeface="ITC Avant Garde Gothic"/>
                <a:sym typeface="ITC Avant Garde Gothic"/>
              </a:rPr>
              <a:t>foundational set of rules that governs communication between web browsers and web servers for data exchange on the web.</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954500" cy="969650"/>
          </a:xfrm>
          <a:prstGeom prst="rect">
            <a:avLst/>
          </a:prstGeom>
        </p:spPr>
        <p:txBody>
          <a:bodyPr lIns="0" tIns="0" rIns="0" bIns="0" rtlCol="0" anchor="t">
            <a:spAutoFit/>
          </a:bodyPr>
          <a:lstStyle/>
          <a:p>
            <a:pPr marL="0" lvl="0" indent="0" algn="l">
              <a:lnSpc>
                <a:spcPts val="6300"/>
              </a:lnSpc>
              <a:spcBef>
                <a:spcPct val="0"/>
              </a:spcBef>
            </a:pPr>
            <a:r>
              <a:rPr lang="en-US" sz="6300" spc="-189">
                <a:solidFill>
                  <a:srgbClr val="00FFA8"/>
                </a:solidFill>
                <a:latin typeface="ITC Avant Garde Gothic"/>
                <a:ea typeface="ITC Avant Garde Gothic"/>
                <a:cs typeface="ITC Avant Garde Gothic"/>
                <a:sym typeface="ITC Avant Garde Gothic"/>
              </a:rPr>
              <a:t>Other Methods of Gathering Information</a:t>
            </a:r>
          </a:p>
        </p:txBody>
      </p:sp>
      <p:grpSp>
        <p:nvGrpSpPr>
          <p:cNvPr id="3" name="Group 3"/>
          <p:cNvGrpSpPr/>
          <p:nvPr/>
        </p:nvGrpSpPr>
        <p:grpSpPr>
          <a:xfrm>
            <a:off x="16115522" y="751544"/>
            <a:ext cx="1505728" cy="810556"/>
            <a:chOff x="0" y="0"/>
            <a:chExt cx="2007638" cy="1080741"/>
          </a:xfrm>
        </p:grpSpPr>
        <p:grpSp>
          <p:nvGrpSpPr>
            <p:cNvPr id="4" name="Group 4"/>
            <p:cNvGrpSpPr/>
            <p:nvPr/>
          </p:nvGrpSpPr>
          <p:grpSpPr>
            <a:xfrm>
              <a:off x="0" y="0"/>
              <a:ext cx="1080741" cy="108074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926897" y="0"/>
              <a:ext cx="1080741" cy="108074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12" name="Freeform 12"/>
          <p:cNvSpPr/>
          <p:nvPr/>
        </p:nvSpPr>
        <p:spPr>
          <a:xfrm>
            <a:off x="10306454" y="3165593"/>
            <a:ext cx="5809068" cy="6548949"/>
          </a:xfrm>
          <a:custGeom>
            <a:avLst/>
            <a:gdLst/>
            <a:ahLst/>
            <a:cxnLst/>
            <a:rect l="l" t="t" r="r" b="b"/>
            <a:pathLst>
              <a:path w="5809068" h="6548949">
                <a:moveTo>
                  <a:pt x="0" y="0"/>
                </a:moveTo>
                <a:lnTo>
                  <a:pt x="5809068" y="0"/>
                </a:lnTo>
                <a:lnTo>
                  <a:pt x="5809068" y="6548949"/>
                </a:lnTo>
                <a:lnTo>
                  <a:pt x="0" y="6548949"/>
                </a:lnTo>
                <a:lnTo>
                  <a:pt x="0" y="0"/>
                </a:lnTo>
                <a:close/>
              </a:path>
            </a:pathLst>
          </a:custGeom>
          <a:blipFill>
            <a:blip r:embed="rId7"/>
            <a:stretch>
              <a:fillRect/>
            </a:stretch>
          </a:blipFill>
        </p:spPr>
        <p:txBody>
          <a:bodyPr/>
          <a:lstStyle/>
          <a:p>
            <a:endParaRPr lang="en-US"/>
          </a:p>
        </p:txBody>
      </p:sp>
      <p:sp>
        <p:nvSpPr>
          <p:cNvPr id="13" name="TextBox 13"/>
          <p:cNvSpPr txBox="1"/>
          <p:nvPr/>
        </p:nvSpPr>
        <p:spPr>
          <a:xfrm>
            <a:off x="666750" y="1636400"/>
            <a:ext cx="5947066" cy="3524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00FFA8"/>
                </a:solidFill>
                <a:latin typeface="TT Fors Bold"/>
                <a:ea typeface="TT Fors Bold"/>
                <a:cs typeface="TT Fors Bold"/>
                <a:sym typeface="TT Fors Bold"/>
              </a:rPr>
              <a:t>Detecting Cookies and Web Bugs</a:t>
            </a:r>
          </a:p>
        </p:txBody>
      </p:sp>
      <p:sp>
        <p:nvSpPr>
          <p:cNvPr id="14" name="TextBox 14"/>
          <p:cNvSpPr txBox="1"/>
          <p:nvPr/>
        </p:nvSpPr>
        <p:spPr>
          <a:xfrm>
            <a:off x="666750" y="3213218"/>
            <a:ext cx="8232001" cy="6414135"/>
          </a:xfrm>
          <a:prstGeom prst="rect">
            <a:avLst/>
          </a:prstGeom>
        </p:spPr>
        <p:txBody>
          <a:bodyPr lIns="0" tIns="0" rIns="0" bIns="0" rtlCol="0" anchor="t">
            <a:spAutoFit/>
          </a:bodyPr>
          <a:lstStyle/>
          <a:p>
            <a:pPr algn="l">
              <a:lnSpc>
                <a:spcPts val="2400"/>
              </a:lnSpc>
            </a:pPr>
            <a:r>
              <a:rPr lang="en-US" sz="2400" b="1">
                <a:solidFill>
                  <a:srgbClr val="00FFA8"/>
                </a:solidFill>
                <a:latin typeface="TT Fors Bold"/>
                <a:ea typeface="TT Fors Bold"/>
                <a:cs typeface="TT Fors Bold"/>
                <a:sym typeface="TT Fors Bold"/>
              </a:rPr>
              <a:t>Cookies</a:t>
            </a:r>
          </a:p>
          <a:p>
            <a:pPr marL="518162" lvl="1" indent="-259081" algn="l">
              <a:lnSpc>
                <a:spcPts val="2400"/>
              </a:lnSpc>
              <a:buFont typeface="Arial"/>
              <a:buChar char="•"/>
            </a:pPr>
            <a:r>
              <a:rPr lang="en-US" sz="2400">
                <a:solidFill>
                  <a:srgbClr val="00FFA8"/>
                </a:solidFill>
                <a:latin typeface="TT Fors"/>
                <a:ea typeface="TT Fors"/>
                <a:cs typeface="TT Fors"/>
                <a:sym typeface="TT Fors"/>
              </a:rPr>
              <a:t>Text file generated by a Web server</a:t>
            </a:r>
          </a:p>
          <a:p>
            <a:pPr marL="518162" lvl="1" indent="-259081" algn="l">
              <a:lnSpc>
                <a:spcPts val="2400"/>
              </a:lnSpc>
              <a:buFont typeface="Arial"/>
              <a:buChar char="•"/>
            </a:pPr>
            <a:r>
              <a:rPr lang="en-US" sz="2400">
                <a:solidFill>
                  <a:srgbClr val="00FFA8"/>
                </a:solidFill>
                <a:latin typeface="TT Fors"/>
                <a:ea typeface="TT Fors"/>
                <a:cs typeface="TT Fors"/>
                <a:sym typeface="TT Fors"/>
              </a:rPr>
              <a:t>Stored on a user’s browser (make sure clear your cookies of your PC)</a:t>
            </a:r>
          </a:p>
          <a:p>
            <a:pPr marL="518162" lvl="1" indent="-259081" algn="l">
              <a:lnSpc>
                <a:spcPts val="2400"/>
              </a:lnSpc>
              <a:buFont typeface="Arial"/>
              <a:buChar char="•"/>
            </a:pPr>
            <a:r>
              <a:rPr lang="en-US" sz="2400">
                <a:solidFill>
                  <a:srgbClr val="00FFA8"/>
                </a:solidFill>
                <a:latin typeface="TT Fors"/>
                <a:ea typeface="TT Fors"/>
                <a:cs typeface="TT Fors"/>
                <a:sym typeface="TT Fors"/>
              </a:rPr>
              <a:t>Information sent back to Web server when user returns</a:t>
            </a:r>
          </a:p>
          <a:p>
            <a:pPr marL="518162" lvl="1" indent="-259081" algn="l">
              <a:lnSpc>
                <a:spcPts val="2400"/>
              </a:lnSpc>
              <a:buFont typeface="Arial"/>
              <a:buChar char="•"/>
            </a:pPr>
            <a:r>
              <a:rPr lang="en-US" sz="2400">
                <a:solidFill>
                  <a:srgbClr val="00FFA8"/>
                </a:solidFill>
                <a:latin typeface="TT Fors"/>
                <a:ea typeface="TT Fors"/>
                <a:cs typeface="TT Fors"/>
                <a:sym typeface="TT Fors"/>
              </a:rPr>
              <a:t>Some cookies store personal information</a:t>
            </a:r>
          </a:p>
          <a:p>
            <a:pPr marL="518162" lvl="1" indent="-259081" algn="l">
              <a:lnSpc>
                <a:spcPts val="2400"/>
              </a:lnSpc>
              <a:buFont typeface="Arial"/>
              <a:buChar char="•"/>
            </a:pPr>
            <a:r>
              <a:rPr lang="en-US" sz="2400">
                <a:solidFill>
                  <a:srgbClr val="00FFA8"/>
                </a:solidFill>
                <a:latin typeface="TT Fors"/>
                <a:ea typeface="TT Fors"/>
                <a:cs typeface="TT Fors"/>
                <a:sym typeface="TT Fors"/>
              </a:rPr>
              <a:t>Create security issue</a:t>
            </a:r>
          </a:p>
          <a:p>
            <a:pPr algn="l">
              <a:lnSpc>
                <a:spcPts val="2400"/>
              </a:lnSpc>
            </a:pPr>
            <a:endParaRPr lang="en-US" sz="2400">
              <a:solidFill>
                <a:srgbClr val="00FFA8"/>
              </a:solidFill>
              <a:latin typeface="TT Fors"/>
              <a:ea typeface="TT Fors"/>
              <a:cs typeface="TT Fors"/>
              <a:sym typeface="TT Fors"/>
            </a:endParaRPr>
          </a:p>
          <a:p>
            <a:pPr algn="l">
              <a:lnSpc>
                <a:spcPts val="2400"/>
              </a:lnSpc>
            </a:pPr>
            <a:r>
              <a:rPr lang="en-US" sz="2400" b="1">
                <a:solidFill>
                  <a:srgbClr val="00FFA8"/>
                </a:solidFill>
                <a:latin typeface="TT Fors Bold"/>
                <a:ea typeface="TT Fors Bold"/>
                <a:cs typeface="TT Fors Bold"/>
                <a:sym typeface="TT Fors Bold"/>
              </a:rPr>
              <a:t>Viewing Cookies</a:t>
            </a:r>
          </a:p>
          <a:p>
            <a:pPr marL="518162" lvl="1" indent="-259081" algn="l">
              <a:lnSpc>
                <a:spcPts val="2400"/>
              </a:lnSpc>
              <a:buFont typeface="Arial"/>
              <a:buChar char="•"/>
            </a:pPr>
            <a:r>
              <a:rPr lang="en-US" sz="2400">
                <a:solidFill>
                  <a:srgbClr val="00FFA8"/>
                </a:solidFill>
                <a:latin typeface="TT Fors"/>
                <a:ea typeface="TT Fors"/>
                <a:cs typeface="TT Fors"/>
                <a:sym typeface="TT Fors"/>
              </a:rPr>
              <a:t>In Firefox</a:t>
            </a:r>
          </a:p>
          <a:p>
            <a:pPr marL="518162" lvl="1" indent="-259081" algn="l">
              <a:lnSpc>
                <a:spcPts val="2400"/>
              </a:lnSpc>
              <a:buFont typeface="Arial"/>
              <a:buChar char="•"/>
            </a:pPr>
            <a:r>
              <a:rPr lang="en-US" sz="2400">
                <a:solidFill>
                  <a:srgbClr val="00FFA8"/>
                </a:solidFill>
                <a:latin typeface="TT Fors"/>
                <a:ea typeface="TT Fors"/>
                <a:cs typeface="TT Fors"/>
                <a:sym typeface="TT Fors"/>
              </a:rPr>
              <a:t>Tools, Options </a:t>
            </a:r>
          </a:p>
          <a:p>
            <a:pPr marL="518162" lvl="1" indent="-259081" algn="l">
              <a:lnSpc>
                <a:spcPts val="2400"/>
              </a:lnSpc>
              <a:buFont typeface="Arial"/>
              <a:buChar char="•"/>
            </a:pPr>
            <a:r>
              <a:rPr lang="en-US" sz="2400">
                <a:solidFill>
                  <a:srgbClr val="00FFA8"/>
                </a:solidFill>
                <a:latin typeface="TT Fors"/>
                <a:ea typeface="TT Fors"/>
                <a:cs typeface="TT Fors"/>
                <a:sym typeface="TT Fors"/>
              </a:rPr>
              <a:t>Privacy tab</a:t>
            </a:r>
          </a:p>
          <a:p>
            <a:pPr marL="518162" lvl="1" indent="-259081" algn="l">
              <a:lnSpc>
                <a:spcPts val="2400"/>
              </a:lnSpc>
              <a:buFont typeface="Arial"/>
              <a:buChar char="•"/>
            </a:pPr>
            <a:r>
              <a:rPr lang="en-US" sz="2400">
                <a:solidFill>
                  <a:srgbClr val="00FFA8"/>
                </a:solidFill>
                <a:latin typeface="TT Fors"/>
                <a:ea typeface="TT Fors"/>
                <a:cs typeface="TT Fors"/>
                <a:sym typeface="TT Fors"/>
              </a:rPr>
              <a:t>Show Cookies</a:t>
            </a:r>
          </a:p>
          <a:p>
            <a:pPr algn="l">
              <a:lnSpc>
                <a:spcPts val="2400"/>
              </a:lnSpc>
            </a:pPr>
            <a:endParaRPr lang="en-US" sz="2400">
              <a:solidFill>
                <a:srgbClr val="00FFA8"/>
              </a:solidFill>
              <a:latin typeface="TT Fors"/>
              <a:ea typeface="TT Fors"/>
              <a:cs typeface="TT Fors"/>
              <a:sym typeface="TT Fors"/>
            </a:endParaRPr>
          </a:p>
          <a:p>
            <a:pPr algn="l">
              <a:lnSpc>
                <a:spcPts val="2400"/>
              </a:lnSpc>
            </a:pPr>
            <a:r>
              <a:rPr lang="en-US" sz="2400" b="1">
                <a:solidFill>
                  <a:srgbClr val="00FFA8"/>
                </a:solidFill>
                <a:latin typeface="TT Fors Bold"/>
                <a:ea typeface="TT Fors Bold"/>
                <a:cs typeface="TT Fors Bold"/>
                <a:sym typeface="TT Fors Bold"/>
              </a:rPr>
              <a:t>Web bug</a:t>
            </a:r>
          </a:p>
          <a:p>
            <a:pPr marL="518162" lvl="1" indent="-259081" algn="l">
              <a:lnSpc>
                <a:spcPts val="2400"/>
              </a:lnSpc>
              <a:buFont typeface="Arial"/>
              <a:buChar char="•"/>
            </a:pPr>
            <a:r>
              <a:rPr lang="en-US" sz="2400">
                <a:solidFill>
                  <a:srgbClr val="00FFA8"/>
                </a:solidFill>
                <a:latin typeface="TT Fors"/>
                <a:ea typeface="TT Fors"/>
                <a:cs typeface="TT Fors"/>
                <a:sym typeface="TT Fors"/>
              </a:rPr>
              <a:t>1-pixel x 1-pixel image file (usually transparent)</a:t>
            </a:r>
          </a:p>
          <a:p>
            <a:pPr marL="518162" lvl="1" indent="-259081" algn="l">
              <a:lnSpc>
                <a:spcPts val="2400"/>
              </a:lnSpc>
              <a:buFont typeface="Arial"/>
              <a:buChar char="•"/>
            </a:pPr>
            <a:r>
              <a:rPr lang="en-US" sz="2400">
                <a:solidFill>
                  <a:srgbClr val="00FFA8"/>
                </a:solidFill>
                <a:latin typeface="TT Fors"/>
                <a:ea typeface="TT Fors"/>
                <a:cs typeface="TT Fors"/>
                <a:sym typeface="TT Fors"/>
              </a:rPr>
              <a:t>Referenced in an &lt;IMG&gt; tag</a:t>
            </a:r>
          </a:p>
          <a:p>
            <a:pPr marL="518162" lvl="1" indent="-259081" algn="l">
              <a:lnSpc>
                <a:spcPts val="2400"/>
              </a:lnSpc>
              <a:buFont typeface="Arial"/>
              <a:buChar char="•"/>
            </a:pPr>
            <a:r>
              <a:rPr lang="en-US" sz="2400">
                <a:solidFill>
                  <a:srgbClr val="00FFA8"/>
                </a:solidFill>
                <a:latin typeface="TT Fors"/>
                <a:ea typeface="TT Fors"/>
                <a:cs typeface="TT Fors"/>
                <a:sym typeface="TT Fors"/>
              </a:rPr>
              <a:t>Usually works with a cookie</a:t>
            </a:r>
          </a:p>
          <a:p>
            <a:pPr marL="518162" lvl="1" indent="-259081" algn="l">
              <a:lnSpc>
                <a:spcPts val="2400"/>
              </a:lnSpc>
              <a:buFont typeface="Arial"/>
              <a:buChar char="•"/>
            </a:pPr>
            <a:r>
              <a:rPr lang="en-US" sz="2400">
                <a:solidFill>
                  <a:srgbClr val="00FFA8"/>
                </a:solidFill>
                <a:latin typeface="TT Fors"/>
                <a:ea typeface="TT Fors"/>
                <a:cs typeface="TT Fors"/>
                <a:sym typeface="TT Fors"/>
              </a:rPr>
              <a:t>Purpose similar to that of spyware and adware</a:t>
            </a:r>
          </a:p>
          <a:p>
            <a:pPr marL="518162" lvl="1" indent="-259081" algn="l">
              <a:lnSpc>
                <a:spcPts val="2400"/>
              </a:lnSpc>
              <a:buFont typeface="Arial"/>
              <a:buChar char="•"/>
            </a:pPr>
            <a:r>
              <a:rPr lang="en-US" sz="2400">
                <a:solidFill>
                  <a:srgbClr val="00FFA8"/>
                </a:solidFill>
                <a:latin typeface="TT Fors"/>
                <a:ea typeface="TT Fors"/>
                <a:cs typeface="TT Fors"/>
                <a:sym typeface="TT Fors"/>
              </a:rPr>
              <a:t>Comes from third-party companies specializing in data collection</a:t>
            </a:r>
          </a:p>
        </p:txBody>
      </p:sp>
      <p:sp>
        <p:nvSpPr>
          <p:cNvPr id="15" name="TextBox 15"/>
          <p:cNvSpPr txBox="1"/>
          <p:nvPr/>
        </p:nvSpPr>
        <p:spPr>
          <a:xfrm>
            <a:off x="666750" y="2213093"/>
            <a:ext cx="16464001" cy="676275"/>
          </a:xfrm>
          <a:prstGeom prst="rect">
            <a:avLst/>
          </a:prstGeom>
        </p:spPr>
        <p:txBody>
          <a:bodyPr lIns="0" tIns="0" rIns="0" bIns="0" rtlCol="0" anchor="t">
            <a:spAutoFit/>
          </a:bodyPr>
          <a:lstStyle/>
          <a:p>
            <a:pPr marL="0" lvl="0" indent="0" algn="l">
              <a:lnSpc>
                <a:spcPts val="2520"/>
              </a:lnSpc>
              <a:spcBef>
                <a:spcPct val="0"/>
              </a:spcBef>
            </a:pPr>
            <a:r>
              <a:rPr lang="en-US" sz="2100" b="1">
                <a:solidFill>
                  <a:srgbClr val="FFFFFF"/>
                </a:solidFill>
                <a:latin typeface="ITC Avant Garde Gothic Bold"/>
                <a:ea typeface="ITC Avant Garde Gothic Bold"/>
                <a:cs typeface="ITC Avant Garde Gothic Bold"/>
                <a:sym typeface="ITC Avant Garde Gothic Bold"/>
              </a:rPr>
              <a:t>Cookies</a:t>
            </a:r>
            <a:r>
              <a:rPr lang="en-US" sz="2100">
                <a:solidFill>
                  <a:srgbClr val="FFFFFF"/>
                </a:solidFill>
                <a:latin typeface="ITC Avant Garde Gothic"/>
                <a:ea typeface="ITC Avant Garde Gothic"/>
                <a:cs typeface="ITC Avant Garde Gothic"/>
                <a:sym typeface="ITC Avant Garde Gothic"/>
              </a:rPr>
              <a:t> are small f</a:t>
            </a:r>
            <a:r>
              <a:rPr lang="en-US" sz="2100" u="none" strike="noStrike">
                <a:solidFill>
                  <a:srgbClr val="FFFFFF"/>
                </a:solidFill>
                <a:latin typeface="ITC Avant Garde Gothic"/>
                <a:ea typeface="ITC Avant Garde Gothic"/>
                <a:cs typeface="ITC Avant Garde Gothic"/>
                <a:sym typeface="ITC Avant Garde Gothic"/>
              </a:rPr>
              <a:t>iles that websites store on a user's browser to remember information about their visit, making the experience easier and more personalized, and helps to improve the performance on the subsequent visits.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OSINT</a:t>
            </a:r>
            <a:r>
              <a:rPr lang="en-US" sz="6000" u="none" strike="noStrike" spc="-179">
                <a:solidFill>
                  <a:srgbClr val="00FFA8"/>
                </a:solidFill>
                <a:latin typeface="ITC Avant Garde Gothic"/>
                <a:ea typeface="ITC Avant Garde Gothic"/>
                <a:cs typeface="ITC Avant Garde Gothic"/>
                <a:sym typeface="ITC Avant Garde Gothic"/>
              </a:rPr>
              <a:t> (Open-Source Intelligence)</a:t>
            </a:r>
          </a:p>
        </p:txBody>
      </p:sp>
      <p:sp>
        <p:nvSpPr>
          <p:cNvPr id="3" name="TextBox 3"/>
          <p:cNvSpPr txBox="1"/>
          <p:nvPr/>
        </p:nvSpPr>
        <p:spPr>
          <a:xfrm>
            <a:off x="666750" y="2028825"/>
            <a:ext cx="16464001" cy="1038225"/>
          </a:xfrm>
          <a:prstGeom prst="rect">
            <a:avLst/>
          </a:prstGeom>
        </p:spPr>
        <p:txBody>
          <a:bodyPr lIns="0" tIns="0" rIns="0" bIns="0" rtlCol="0" anchor="t">
            <a:spAutoFit/>
          </a:bodyPr>
          <a:lstStyle/>
          <a:p>
            <a:pPr marL="0" lvl="0" indent="0" algn="l">
              <a:lnSpc>
                <a:spcPts val="3839"/>
              </a:lnSpc>
              <a:spcBef>
                <a:spcPct val="0"/>
              </a:spcBef>
            </a:pPr>
            <a:r>
              <a:rPr lang="en-US" sz="3199" b="1" spc="-95">
                <a:solidFill>
                  <a:srgbClr val="FFFFFF"/>
                </a:solidFill>
                <a:latin typeface="ITC Avant Garde Gothic Bold"/>
                <a:ea typeface="ITC Avant Garde Gothic Bold"/>
                <a:cs typeface="ITC Avant Garde Gothic Bold"/>
                <a:sym typeface="ITC Avant Garde Gothic Bold"/>
              </a:rPr>
              <a:t>OS</a:t>
            </a:r>
            <a:r>
              <a:rPr lang="en-US" sz="3199" b="1" u="none" strike="noStrike" spc="-95">
                <a:solidFill>
                  <a:srgbClr val="FFFFFF"/>
                </a:solidFill>
                <a:latin typeface="ITC Avant Garde Gothic Bold"/>
                <a:ea typeface="ITC Avant Garde Gothic Bold"/>
                <a:cs typeface="ITC Avant Garde Gothic Bold"/>
                <a:sym typeface="ITC Avant Garde Gothic Bold"/>
              </a:rPr>
              <a:t>INT</a:t>
            </a:r>
            <a:r>
              <a:rPr lang="en-US" sz="3199" u="none" strike="noStrike" spc="-95">
                <a:solidFill>
                  <a:srgbClr val="FFFFFF"/>
                </a:solidFill>
                <a:latin typeface="ITC Avant Garde Gothic"/>
                <a:ea typeface="ITC Avant Garde Gothic"/>
                <a:cs typeface="ITC Avant Garde Gothic"/>
                <a:sym typeface="ITC Avant Garde Gothic"/>
              </a:rPr>
              <a:t> is intelligence collected from publicly available sources. In cybersecurity, it's used to gather information about targets from open sources.</a:t>
            </a:r>
          </a:p>
        </p:txBody>
      </p:sp>
      <p:grpSp>
        <p:nvGrpSpPr>
          <p:cNvPr id="4" name="Group 4"/>
          <p:cNvGrpSpPr/>
          <p:nvPr/>
        </p:nvGrpSpPr>
        <p:grpSpPr>
          <a:xfrm>
            <a:off x="666750" y="3513016"/>
            <a:ext cx="7746826" cy="4585336"/>
            <a:chOff x="0" y="0"/>
            <a:chExt cx="10329101" cy="6113781"/>
          </a:xfrm>
        </p:grpSpPr>
        <p:sp>
          <p:nvSpPr>
            <p:cNvPr id="5" name="TextBox 5"/>
            <p:cNvSpPr txBox="1"/>
            <p:nvPr/>
          </p:nvSpPr>
          <p:spPr>
            <a:xfrm>
              <a:off x="0" y="868257"/>
              <a:ext cx="10329101" cy="5245523"/>
            </a:xfrm>
            <a:prstGeom prst="rect">
              <a:avLst/>
            </a:prstGeom>
          </p:spPr>
          <p:txBody>
            <a:bodyPr lIns="0" tIns="0" rIns="0" bIns="0" rtlCol="0" anchor="t">
              <a:spAutoFit/>
            </a:bodyPr>
            <a:lstStyle/>
            <a:p>
              <a:pPr algn="l">
                <a:lnSpc>
                  <a:spcPts val="3919"/>
                </a:lnSpc>
              </a:pPr>
              <a:r>
                <a:rPr lang="en-US" sz="2799" b="1">
                  <a:solidFill>
                    <a:srgbClr val="00FFA8"/>
                  </a:solidFill>
                  <a:latin typeface="TT Fors Bold"/>
                  <a:ea typeface="TT Fors Bold"/>
                  <a:cs typeface="TT Fors Bold"/>
                  <a:sym typeface="TT Fors Bold"/>
                </a:rPr>
                <a:t>Traditional Sources:</a:t>
              </a:r>
            </a:p>
            <a:p>
              <a:pPr marL="604519" lvl="1" indent="-302260" algn="l">
                <a:lnSpc>
                  <a:spcPts val="3919"/>
                </a:lnSpc>
                <a:buFont typeface="Arial"/>
                <a:buChar char="•"/>
              </a:pPr>
              <a:r>
                <a:rPr lang="en-US" sz="2799">
                  <a:solidFill>
                    <a:srgbClr val="00FFA8"/>
                  </a:solidFill>
                  <a:latin typeface="TT Fors"/>
                  <a:ea typeface="TT Fors"/>
                  <a:cs typeface="TT Fors"/>
                  <a:sym typeface="TT Fors"/>
                </a:rPr>
                <a:t>Search engines (Google, Bing, Yandex)</a:t>
              </a:r>
            </a:p>
            <a:p>
              <a:pPr marL="604519" lvl="1" indent="-302260" algn="l">
                <a:lnSpc>
                  <a:spcPts val="3919"/>
                </a:lnSpc>
                <a:buFont typeface="Arial"/>
                <a:buChar char="•"/>
              </a:pPr>
              <a:r>
                <a:rPr lang="en-US" sz="2799">
                  <a:solidFill>
                    <a:srgbClr val="00FFA8"/>
                  </a:solidFill>
                  <a:latin typeface="TT Fors"/>
                  <a:ea typeface="TT Fors"/>
                  <a:cs typeface="TT Fors"/>
                  <a:sym typeface="TT Fors"/>
                </a:rPr>
                <a:t>Company websites</a:t>
              </a:r>
            </a:p>
            <a:p>
              <a:pPr marL="604519" lvl="1" indent="-302260" algn="l">
                <a:lnSpc>
                  <a:spcPts val="3919"/>
                </a:lnSpc>
                <a:buFont typeface="Arial"/>
                <a:buChar char="•"/>
              </a:pPr>
              <a:r>
                <a:rPr lang="en-US" sz="2799">
                  <a:solidFill>
                    <a:srgbClr val="00FFA8"/>
                  </a:solidFill>
                  <a:latin typeface="TT Fors"/>
                  <a:ea typeface="TT Fors"/>
                  <a:cs typeface="TT Fors"/>
                  <a:sym typeface="TT Fors"/>
                </a:rPr>
                <a:t>Public records, government, and court databases</a:t>
              </a:r>
            </a:p>
            <a:p>
              <a:pPr marL="604519" lvl="1" indent="-302260" algn="l">
                <a:lnSpc>
                  <a:spcPts val="3919"/>
                </a:lnSpc>
                <a:buFont typeface="Arial"/>
                <a:buChar char="•"/>
              </a:pPr>
              <a:r>
                <a:rPr lang="en-US" sz="2799">
                  <a:solidFill>
                    <a:srgbClr val="00FFA8"/>
                  </a:solidFill>
                  <a:latin typeface="TT Fors"/>
                  <a:ea typeface="TT Fors"/>
                  <a:cs typeface="TT Fors"/>
                  <a:sym typeface="TT Fors"/>
                </a:rPr>
                <a:t>Job postings (reveal tech stack!)</a:t>
              </a:r>
            </a:p>
            <a:p>
              <a:pPr marL="604519" lvl="1" indent="-302260" algn="l">
                <a:lnSpc>
                  <a:spcPts val="3919"/>
                </a:lnSpc>
                <a:buFont typeface="Arial"/>
                <a:buChar char="•"/>
              </a:pPr>
              <a:r>
                <a:rPr lang="en-US" sz="2799">
                  <a:solidFill>
                    <a:srgbClr val="00FFA8"/>
                  </a:solidFill>
                  <a:latin typeface="TT Fors"/>
                  <a:ea typeface="TT Fors"/>
                  <a:cs typeface="TT Fors"/>
                  <a:sym typeface="TT Fors"/>
                </a:rPr>
                <a:t>News articles and press releases</a:t>
              </a:r>
            </a:p>
            <a:p>
              <a:pPr marL="604519" lvl="1" indent="-302260" algn="l">
                <a:lnSpc>
                  <a:spcPts val="3919"/>
                </a:lnSpc>
                <a:buFont typeface="Arial"/>
                <a:buChar char="•"/>
              </a:pPr>
              <a:r>
                <a:rPr lang="en-US" sz="2799">
                  <a:solidFill>
                    <a:srgbClr val="00FFA8"/>
                  </a:solidFill>
                  <a:latin typeface="TT Fors"/>
                  <a:ea typeface="TT Fors"/>
                  <a:cs typeface="TT Fors"/>
                  <a:sym typeface="TT Fors"/>
                </a:rPr>
                <a:t>Financial reports (public companies)</a:t>
              </a:r>
            </a:p>
          </p:txBody>
        </p:sp>
        <p:sp>
          <p:nvSpPr>
            <p:cNvPr id="6" name="TextBox 6"/>
            <p:cNvSpPr txBox="1"/>
            <p:nvPr/>
          </p:nvSpPr>
          <p:spPr>
            <a:xfrm>
              <a:off x="0" y="-238125"/>
              <a:ext cx="10329101" cy="884132"/>
            </a:xfrm>
            <a:prstGeom prst="rect">
              <a:avLst/>
            </a:prstGeom>
          </p:spPr>
          <p:txBody>
            <a:bodyPr lIns="0" tIns="0" rIns="0" bIns="0" rtlCol="0" anchor="t">
              <a:spAutoFit/>
            </a:bodyPr>
            <a:lstStyle/>
            <a:p>
              <a:pPr algn="l">
                <a:lnSpc>
                  <a:spcPts val="6399"/>
                </a:lnSpc>
              </a:pPr>
              <a:r>
                <a:rPr lang="en-US" sz="3199" b="1" u="none" strike="noStrike" spc="-95">
                  <a:solidFill>
                    <a:srgbClr val="00FFA8"/>
                  </a:solidFill>
                  <a:latin typeface="TT Fors Bold"/>
                  <a:ea typeface="TT Fors Bold"/>
                  <a:cs typeface="TT Fors Bold"/>
                  <a:sym typeface="TT Fors Bold"/>
                </a:rPr>
                <a:t>OSINT Sources:</a:t>
              </a:r>
            </a:p>
          </p:txBody>
        </p:sp>
      </p:grpSp>
      <p:grpSp>
        <p:nvGrpSpPr>
          <p:cNvPr id="7" name="Group 7"/>
          <p:cNvGrpSpPr/>
          <p:nvPr/>
        </p:nvGrpSpPr>
        <p:grpSpPr>
          <a:xfrm>
            <a:off x="8911360" y="3513016"/>
            <a:ext cx="8496812" cy="4090036"/>
            <a:chOff x="0" y="0"/>
            <a:chExt cx="11329082" cy="5453381"/>
          </a:xfrm>
        </p:grpSpPr>
        <p:sp>
          <p:nvSpPr>
            <p:cNvPr id="8" name="TextBox 8"/>
            <p:cNvSpPr txBox="1"/>
            <p:nvPr/>
          </p:nvSpPr>
          <p:spPr>
            <a:xfrm>
              <a:off x="0" y="868257"/>
              <a:ext cx="11329082" cy="4585123"/>
            </a:xfrm>
            <a:prstGeom prst="rect">
              <a:avLst/>
            </a:prstGeom>
          </p:spPr>
          <p:txBody>
            <a:bodyPr lIns="0" tIns="0" rIns="0" bIns="0" rtlCol="0" anchor="t">
              <a:spAutoFit/>
            </a:bodyPr>
            <a:lstStyle/>
            <a:p>
              <a:pPr algn="l">
                <a:lnSpc>
                  <a:spcPts val="3919"/>
                </a:lnSpc>
              </a:pPr>
              <a:r>
                <a:rPr lang="en-US" sz="2799" b="1">
                  <a:solidFill>
                    <a:srgbClr val="00FFA8"/>
                  </a:solidFill>
                  <a:latin typeface="TT Fors Bold"/>
                  <a:ea typeface="TT Fors Bold"/>
                  <a:cs typeface="TT Fors Bold"/>
                  <a:sym typeface="TT Fors Bold"/>
                </a:rPr>
                <a:t>Mod</a:t>
              </a:r>
              <a:r>
                <a:rPr lang="en-US" sz="2799" b="1" u="none" strike="noStrike">
                  <a:solidFill>
                    <a:srgbClr val="00FFA8"/>
                  </a:solidFill>
                  <a:latin typeface="TT Fors Bold"/>
                  <a:ea typeface="TT Fors Bold"/>
                  <a:cs typeface="TT Fors Bold"/>
                  <a:sym typeface="TT Fors Bold"/>
                </a:rPr>
                <a:t>ern Sources:</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Social media (LinkedIn, X, Facebook, Instagram)</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GitHub repositories (leaked credentials!)</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Pastebin and similar sites</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Code repositories</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Forums and discussion boards</a:t>
              </a:r>
            </a:p>
            <a:p>
              <a:pPr marL="604519" lvl="1" indent="-302260" algn="l">
                <a:lnSpc>
                  <a:spcPts val="3919"/>
                </a:lnSpc>
                <a:buFont typeface="Arial"/>
                <a:buChar char="•"/>
              </a:pPr>
              <a:r>
                <a:rPr lang="en-US" sz="2799" u="none" strike="noStrike">
                  <a:solidFill>
                    <a:srgbClr val="00FFA8"/>
                  </a:solidFill>
                  <a:latin typeface="TT Fors"/>
                  <a:ea typeface="TT Fors"/>
                  <a:cs typeface="TT Fors"/>
                  <a:sym typeface="TT Fors"/>
                </a:rPr>
                <a:t>Dark web (for breach data)</a:t>
              </a:r>
            </a:p>
          </p:txBody>
        </p:sp>
        <p:sp>
          <p:nvSpPr>
            <p:cNvPr id="9" name="TextBox 9"/>
            <p:cNvSpPr txBox="1"/>
            <p:nvPr/>
          </p:nvSpPr>
          <p:spPr>
            <a:xfrm>
              <a:off x="0" y="-238125"/>
              <a:ext cx="11329082" cy="884132"/>
            </a:xfrm>
            <a:prstGeom prst="rect">
              <a:avLst/>
            </a:prstGeom>
          </p:spPr>
          <p:txBody>
            <a:bodyPr lIns="0" tIns="0" rIns="0" bIns="0" rtlCol="0" anchor="t">
              <a:spAutoFit/>
            </a:bodyPr>
            <a:lstStyle/>
            <a:p>
              <a:pPr marL="0" lvl="1" indent="0" algn="l">
                <a:lnSpc>
                  <a:spcPts val="6399"/>
                </a:lnSpc>
                <a:spcBef>
                  <a:spcPct val="0"/>
                </a:spcBef>
              </a:pPr>
              <a:endParaRPr/>
            </a:p>
          </p:txBody>
        </p:sp>
      </p:grpSp>
      <p:grpSp>
        <p:nvGrpSpPr>
          <p:cNvPr id="10" name="Group 10"/>
          <p:cNvGrpSpPr/>
          <p:nvPr/>
        </p:nvGrpSpPr>
        <p:grpSpPr>
          <a:xfrm>
            <a:off x="666750" y="8544317"/>
            <a:ext cx="16741422" cy="1177291"/>
            <a:chOff x="0" y="0"/>
            <a:chExt cx="4409213" cy="310076"/>
          </a:xfrm>
        </p:grpSpPr>
        <p:sp>
          <p:nvSpPr>
            <p:cNvPr id="11" name="Freeform 11"/>
            <p:cNvSpPr/>
            <p:nvPr/>
          </p:nvSpPr>
          <p:spPr>
            <a:xfrm>
              <a:off x="0" y="0"/>
              <a:ext cx="4409213" cy="310076"/>
            </a:xfrm>
            <a:custGeom>
              <a:avLst/>
              <a:gdLst/>
              <a:ahLst/>
              <a:cxnLst/>
              <a:rect l="l" t="t" r="r" b="b"/>
              <a:pathLst>
                <a:path w="4409213" h="310076">
                  <a:moveTo>
                    <a:pt x="4409213" y="9249"/>
                  </a:moveTo>
                  <a:lnTo>
                    <a:pt x="4409213" y="300827"/>
                  </a:lnTo>
                  <a:cubicBezTo>
                    <a:pt x="4409213" y="303280"/>
                    <a:pt x="4408239" y="305633"/>
                    <a:pt x="4406505" y="307367"/>
                  </a:cubicBezTo>
                  <a:cubicBezTo>
                    <a:pt x="4404770" y="309102"/>
                    <a:pt x="4402418" y="310076"/>
                    <a:pt x="4399965" y="310076"/>
                  </a:cubicBezTo>
                  <a:lnTo>
                    <a:pt x="9249" y="310076"/>
                  </a:lnTo>
                  <a:cubicBezTo>
                    <a:pt x="6796" y="310076"/>
                    <a:pt x="4443" y="309102"/>
                    <a:pt x="2709" y="307367"/>
                  </a:cubicBezTo>
                  <a:cubicBezTo>
                    <a:pt x="974" y="305633"/>
                    <a:pt x="0" y="303280"/>
                    <a:pt x="0" y="300827"/>
                  </a:cubicBezTo>
                  <a:lnTo>
                    <a:pt x="0" y="9249"/>
                  </a:lnTo>
                  <a:cubicBezTo>
                    <a:pt x="0" y="6796"/>
                    <a:pt x="974" y="4443"/>
                    <a:pt x="2709" y="2709"/>
                  </a:cubicBezTo>
                  <a:cubicBezTo>
                    <a:pt x="4443" y="974"/>
                    <a:pt x="6796" y="0"/>
                    <a:pt x="9249" y="0"/>
                  </a:cubicBezTo>
                  <a:lnTo>
                    <a:pt x="4399965" y="0"/>
                  </a:lnTo>
                  <a:cubicBezTo>
                    <a:pt x="4405073" y="0"/>
                    <a:pt x="4409213" y="4141"/>
                    <a:pt x="4409213" y="9249"/>
                  </a:cubicBezTo>
                  <a:close/>
                </a:path>
              </a:pathLst>
            </a:custGeom>
            <a:solidFill>
              <a:srgbClr val="1FBB7F"/>
            </a:solidFill>
            <a:ln cap="sq">
              <a:noFill/>
              <a:prstDash val="solid"/>
              <a:miter/>
            </a:ln>
          </p:spPr>
          <p:txBody>
            <a:bodyPr/>
            <a:lstStyle/>
            <a:p>
              <a:endParaRPr lang="en-US"/>
            </a:p>
          </p:txBody>
        </p:sp>
        <p:sp>
          <p:nvSpPr>
            <p:cNvPr id="12" name="TextBox 12"/>
            <p:cNvSpPr txBox="1"/>
            <p:nvPr/>
          </p:nvSpPr>
          <p:spPr>
            <a:xfrm>
              <a:off x="0" y="0"/>
              <a:ext cx="4409213" cy="310076"/>
            </a:xfrm>
            <a:prstGeom prst="rect">
              <a:avLst/>
            </a:prstGeom>
          </p:spPr>
          <p:txBody>
            <a:bodyPr lIns="254000" tIns="254000" rIns="254000" bIns="254000" rtlCol="0" anchor="ctr"/>
            <a:lstStyle/>
            <a:p>
              <a:pPr algn="l">
                <a:lnSpc>
                  <a:spcPts val="2940"/>
                </a:lnSpc>
              </a:pPr>
              <a:r>
                <a:rPr lang="en-US" sz="2100" b="1" spc="-63" dirty="0">
                  <a:solidFill>
                    <a:srgbClr val="000000"/>
                  </a:solidFill>
                  <a:latin typeface="TT Fors Bold"/>
                  <a:ea typeface="TT Fors Bold"/>
                  <a:cs typeface="TT Fors Bold"/>
                  <a:sym typeface="TT Fors Bold"/>
                </a:rPr>
                <a:t>OSINT Value: </a:t>
              </a:r>
              <a:r>
                <a:rPr lang="en-US" sz="2100" spc="-63" dirty="0">
                  <a:solidFill>
                    <a:srgbClr val="000000"/>
                  </a:solidFill>
                  <a:latin typeface="TT Fors"/>
                  <a:ea typeface="TT Fors"/>
                  <a:cs typeface="TT Fors"/>
                  <a:sym typeface="TT Fors"/>
                </a:rPr>
                <a:t>People unknowingly share massive amounts of information online. A skilled OSINT analyst can piece together a comprehensive picture of a target from public data alone. </a:t>
              </a:r>
              <a:r>
                <a:rPr lang="en-US" sz="2100" b="1" spc="-63" dirty="0">
                  <a:solidFill>
                    <a:srgbClr val="FFFFFF"/>
                  </a:solidFill>
                  <a:latin typeface="TT Fors Bold"/>
                  <a:ea typeface="TT Fors Bold"/>
                  <a:cs typeface="TT Fors Bold"/>
                  <a:sym typeface="TT Fors Bold"/>
                </a:rPr>
                <a:t>No hacking required and it’s generally legal.</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u="none" strike="noStrike" spc="-179">
                <a:solidFill>
                  <a:srgbClr val="00FFA8"/>
                </a:solidFill>
                <a:latin typeface="ITC Avant Garde Gothic"/>
                <a:ea typeface="ITC Avant Garde Gothic"/>
                <a:cs typeface="ITC Avant Garde Gothic"/>
                <a:sym typeface="ITC Avant Garde Gothic"/>
              </a:rPr>
              <a:t>Social Media OSINT</a:t>
            </a:r>
          </a:p>
        </p:txBody>
      </p:sp>
      <p:sp>
        <p:nvSpPr>
          <p:cNvPr id="3" name="TextBox 3"/>
          <p:cNvSpPr txBox="1"/>
          <p:nvPr/>
        </p:nvSpPr>
        <p:spPr>
          <a:xfrm>
            <a:off x="666750" y="3000368"/>
            <a:ext cx="7746826" cy="5059045"/>
          </a:xfrm>
          <a:prstGeom prst="rect">
            <a:avLst/>
          </a:prstGeom>
        </p:spPr>
        <p:txBody>
          <a:bodyPr lIns="0" tIns="0" rIns="0" bIns="0" rtlCol="0" anchor="t">
            <a:spAutoFit/>
          </a:bodyPr>
          <a:lstStyle/>
          <a:p>
            <a:pPr algn="l">
              <a:lnSpc>
                <a:spcPts val="3080"/>
              </a:lnSpc>
            </a:pPr>
            <a:r>
              <a:rPr lang="en-US" sz="2200" b="1">
                <a:solidFill>
                  <a:srgbClr val="00FFA8"/>
                </a:solidFill>
                <a:latin typeface="TT Fors Bold"/>
                <a:ea typeface="TT Fors Bold"/>
                <a:cs typeface="TT Fors Bold"/>
                <a:sym typeface="TT Fors Bold"/>
              </a:rPr>
              <a:t>LinkedIn:</a:t>
            </a:r>
          </a:p>
          <a:p>
            <a:pPr marL="474983" lvl="1" indent="-237491" algn="l">
              <a:lnSpc>
                <a:spcPts val="3080"/>
              </a:lnSpc>
              <a:buFont typeface="Arial"/>
              <a:buChar char="•"/>
            </a:pPr>
            <a:r>
              <a:rPr lang="en-US" sz="2200">
                <a:solidFill>
                  <a:srgbClr val="00FFA8"/>
                </a:solidFill>
                <a:latin typeface="TT Fors"/>
                <a:ea typeface="TT Fors"/>
                <a:cs typeface="TT Fors"/>
                <a:sym typeface="TT Fors"/>
              </a:rPr>
              <a:t>Employee roles and responsibilities</a:t>
            </a:r>
          </a:p>
          <a:p>
            <a:pPr marL="474983" lvl="1" indent="-237491" algn="l">
              <a:lnSpc>
                <a:spcPts val="3080"/>
              </a:lnSpc>
              <a:buFont typeface="Arial"/>
              <a:buChar char="•"/>
            </a:pPr>
            <a:r>
              <a:rPr lang="en-US" sz="2200">
                <a:solidFill>
                  <a:srgbClr val="00FFA8"/>
                </a:solidFill>
                <a:latin typeface="TT Fors"/>
                <a:ea typeface="TT Fors"/>
                <a:cs typeface="TT Fors"/>
                <a:sym typeface="TT Fors"/>
              </a:rPr>
              <a:t>Organizational structure</a:t>
            </a:r>
          </a:p>
          <a:p>
            <a:pPr marL="474983" lvl="1" indent="-237491" algn="l">
              <a:lnSpc>
                <a:spcPts val="3080"/>
              </a:lnSpc>
              <a:buFont typeface="Arial"/>
              <a:buChar char="•"/>
            </a:pPr>
            <a:r>
              <a:rPr lang="en-US" sz="2200">
                <a:solidFill>
                  <a:srgbClr val="00FFA8"/>
                </a:solidFill>
                <a:latin typeface="TT Fors"/>
                <a:ea typeface="TT Fors"/>
                <a:cs typeface="TT Fors"/>
                <a:sym typeface="TT Fors"/>
              </a:rPr>
              <a:t>Technology skills (indicates tech stack)</a:t>
            </a:r>
          </a:p>
          <a:p>
            <a:pPr marL="474983" lvl="1" indent="-237491" algn="l">
              <a:lnSpc>
                <a:spcPts val="3080"/>
              </a:lnSpc>
              <a:buFont typeface="Arial"/>
              <a:buChar char="•"/>
            </a:pPr>
            <a:r>
              <a:rPr lang="en-US" sz="2200">
                <a:solidFill>
                  <a:srgbClr val="00FFA8"/>
                </a:solidFill>
                <a:latin typeface="TT Fors"/>
                <a:ea typeface="TT Fors"/>
                <a:cs typeface="TT Fors"/>
                <a:sym typeface="TT Fors"/>
              </a:rPr>
              <a:t>Job postings (reveal systems used)</a:t>
            </a:r>
          </a:p>
          <a:p>
            <a:pPr marL="474983" lvl="1" indent="-237491" algn="l">
              <a:lnSpc>
                <a:spcPts val="3080"/>
              </a:lnSpc>
              <a:buFont typeface="Arial"/>
              <a:buChar char="•"/>
            </a:pPr>
            <a:r>
              <a:rPr lang="en-US" sz="2200">
                <a:solidFill>
                  <a:srgbClr val="00FFA8"/>
                </a:solidFill>
                <a:latin typeface="TT Fors"/>
                <a:ea typeface="TT Fors"/>
                <a:cs typeface="TT Fors"/>
                <a:sym typeface="TT Fors"/>
              </a:rPr>
              <a:t>Company size and growth</a:t>
            </a:r>
          </a:p>
          <a:p>
            <a:pPr algn="l">
              <a:lnSpc>
                <a:spcPts val="3080"/>
              </a:lnSpc>
            </a:pPr>
            <a:endParaRPr lang="en-US" sz="2200">
              <a:solidFill>
                <a:srgbClr val="00FFA8"/>
              </a:solidFill>
              <a:latin typeface="TT Fors"/>
              <a:ea typeface="TT Fors"/>
              <a:cs typeface="TT Fors"/>
              <a:sym typeface="TT Fors"/>
            </a:endParaRPr>
          </a:p>
          <a:p>
            <a:pPr marL="0" lvl="0" indent="0" algn="l">
              <a:lnSpc>
                <a:spcPts val="3080"/>
              </a:lnSpc>
            </a:pPr>
            <a:r>
              <a:rPr lang="en-US" sz="2200" b="1">
                <a:solidFill>
                  <a:srgbClr val="00FFA8"/>
                </a:solidFill>
                <a:latin typeface="TT Fors Bold"/>
                <a:ea typeface="TT Fors Bold"/>
                <a:cs typeface="TT Fors Bold"/>
                <a:sym typeface="TT Fors Bold"/>
              </a:rPr>
              <a:t>Facebook/Instagram:</a:t>
            </a:r>
          </a:p>
          <a:p>
            <a:pPr marL="474983" lvl="1" indent="-237491" algn="l">
              <a:lnSpc>
                <a:spcPts val="3080"/>
              </a:lnSpc>
              <a:buFont typeface="Arial"/>
              <a:buChar char="•"/>
            </a:pPr>
            <a:r>
              <a:rPr lang="en-US" sz="2200">
                <a:solidFill>
                  <a:srgbClr val="00FFA8"/>
                </a:solidFill>
                <a:latin typeface="TT Fors"/>
                <a:ea typeface="TT Fors"/>
                <a:cs typeface="TT Fors"/>
                <a:sym typeface="TT Fors"/>
              </a:rPr>
              <a:t>Personal information about employees</a:t>
            </a:r>
          </a:p>
          <a:p>
            <a:pPr marL="474983" lvl="1" indent="-237491" algn="l">
              <a:lnSpc>
                <a:spcPts val="3080"/>
              </a:lnSpc>
              <a:buFont typeface="Arial"/>
              <a:buChar char="•"/>
            </a:pPr>
            <a:r>
              <a:rPr lang="en-US" sz="2200">
                <a:solidFill>
                  <a:srgbClr val="00FFA8"/>
                </a:solidFill>
                <a:latin typeface="TT Fors"/>
                <a:ea typeface="TT Fors"/>
                <a:cs typeface="TT Fors"/>
                <a:sym typeface="TT Fors"/>
              </a:rPr>
              <a:t>Location data (geotagging)</a:t>
            </a:r>
          </a:p>
          <a:p>
            <a:pPr marL="474983" lvl="1" indent="-237491" algn="l">
              <a:lnSpc>
                <a:spcPts val="3080"/>
              </a:lnSpc>
              <a:buFont typeface="Arial"/>
              <a:buChar char="•"/>
            </a:pPr>
            <a:r>
              <a:rPr lang="en-US" sz="2200">
                <a:solidFill>
                  <a:srgbClr val="00FFA8"/>
                </a:solidFill>
                <a:latin typeface="TT Fors"/>
                <a:ea typeface="TT Fors"/>
                <a:cs typeface="TT Fors"/>
                <a:sym typeface="TT Fors"/>
              </a:rPr>
              <a:t>Relationships and connections</a:t>
            </a:r>
          </a:p>
          <a:p>
            <a:pPr marL="474983" lvl="1" indent="-237491" algn="l">
              <a:lnSpc>
                <a:spcPts val="3080"/>
              </a:lnSpc>
              <a:buFont typeface="Arial"/>
              <a:buChar char="•"/>
            </a:pPr>
            <a:r>
              <a:rPr lang="en-US" sz="2200">
                <a:solidFill>
                  <a:srgbClr val="00FFA8"/>
                </a:solidFill>
                <a:latin typeface="TT Fors"/>
                <a:ea typeface="TT Fors"/>
                <a:cs typeface="TT Fors"/>
                <a:sym typeface="TT Fors"/>
              </a:rPr>
              <a:t>Schedules and routines</a:t>
            </a:r>
          </a:p>
          <a:p>
            <a:pPr marL="474983" lvl="1" indent="-237491" algn="l">
              <a:lnSpc>
                <a:spcPts val="3080"/>
              </a:lnSpc>
              <a:buFont typeface="Arial"/>
              <a:buChar char="•"/>
            </a:pPr>
            <a:r>
              <a:rPr lang="en-US" sz="2200">
                <a:solidFill>
                  <a:srgbClr val="00FFA8"/>
                </a:solidFill>
                <a:latin typeface="TT Fors"/>
                <a:ea typeface="TT Fors"/>
                <a:cs typeface="TT Fors"/>
                <a:sym typeface="TT Fors"/>
              </a:rPr>
              <a:t>Photos revealing sensitive information</a:t>
            </a:r>
          </a:p>
        </p:txBody>
      </p:sp>
      <p:sp>
        <p:nvSpPr>
          <p:cNvPr id="4" name="TextBox 4"/>
          <p:cNvSpPr txBox="1"/>
          <p:nvPr/>
        </p:nvSpPr>
        <p:spPr>
          <a:xfrm>
            <a:off x="9144000" y="3000368"/>
            <a:ext cx="7986751" cy="4277995"/>
          </a:xfrm>
          <a:prstGeom prst="rect">
            <a:avLst/>
          </a:prstGeom>
        </p:spPr>
        <p:txBody>
          <a:bodyPr lIns="0" tIns="0" rIns="0" bIns="0" rtlCol="0" anchor="t">
            <a:spAutoFit/>
          </a:bodyPr>
          <a:lstStyle/>
          <a:p>
            <a:pPr algn="l">
              <a:lnSpc>
                <a:spcPts val="3080"/>
              </a:lnSpc>
            </a:pPr>
            <a:r>
              <a:rPr lang="en-US" sz="2200" b="1">
                <a:solidFill>
                  <a:srgbClr val="00FFA8"/>
                </a:solidFill>
                <a:latin typeface="TT Fors Bold"/>
                <a:ea typeface="TT Fors Bold"/>
                <a:cs typeface="TT Fors Bold"/>
                <a:sym typeface="TT Fors Bold"/>
              </a:rPr>
              <a:t>X:</a:t>
            </a:r>
          </a:p>
          <a:p>
            <a:pPr marL="474983" lvl="1" indent="-237491" algn="l">
              <a:lnSpc>
                <a:spcPts val="3080"/>
              </a:lnSpc>
              <a:buFont typeface="Arial"/>
              <a:buChar char="•"/>
            </a:pPr>
            <a:r>
              <a:rPr lang="en-US" sz="2200">
                <a:solidFill>
                  <a:srgbClr val="00FFA8"/>
                </a:solidFill>
                <a:latin typeface="TT Fors"/>
                <a:ea typeface="TT Fors"/>
                <a:cs typeface="TT Fors"/>
                <a:sym typeface="TT Fors"/>
              </a:rPr>
              <a:t>Real-time updates</a:t>
            </a:r>
          </a:p>
          <a:p>
            <a:pPr marL="474983" lvl="1" indent="-237491" algn="l">
              <a:lnSpc>
                <a:spcPts val="3080"/>
              </a:lnSpc>
              <a:buFont typeface="Arial"/>
              <a:buChar char="•"/>
            </a:pPr>
            <a:r>
              <a:rPr lang="en-US" sz="2200">
                <a:solidFill>
                  <a:srgbClr val="00FFA8"/>
                </a:solidFill>
                <a:latin typeface="TT Fors"/>
                <a:ea typeface="TT Fors"/>
                <a:cs typeface="TT Fors"/>
                <a:sym typeface="TT Fors"/>
              </a:rPr>
              <a:t>Employee complaints (security issues)</a:t>
            </a:r>
          </a:p>
          <a:p>
            <a:pPr marL="474983" lvl="1" indent="-237491" algn="l">
              <a:lnSpc>
                <a:spcPts val="3080"/>
              </a:lnSpc>
              <a:buFont typeface="Arial"/>
              <a:buChar char="•"/>
            </a:pPr>
            <a:r>
              <a:rPr lang="en-US" sz="2200">
                <a:solidFill>
                  <a:srgbClr val="00FFA8"/>
                </a:solidFill>
                <a:latin typeface="TT Fors"/>
                <a:ea typeface="TT Fors"/>
                <a:cs typeface="TT Fors"/>
                <a:sym typeface="TT Fors"/>
              </a:rPr>
              <a:t>Technology discussions</a:t>
            </a:r>
          </a:p>
          <a:p>
            <a:pPr marL="474983" lvl="1" indent="-237491" algn="l">
              <a:lnSpc>
                <a:spcPts val="3080"/>
              </a:lnSpc>
              <a:buFont typeface="Arial"/>
              <a:buChar char="•"/>
            </a:pPr>
            <a:r>
              <a:rPr lang="en-US" sz="2200">
                <a:solidFill>
                  <a:srgbClr val="00FFA8"/>
                </a:solidFill>
                <a:latin typeface="TT Fors"/>
                <a:ea typeface="TT Fors"/>
                <a:cs typeface="TT Fors"/>
                <a:sym typeface="TT Fors"/>
              </a:rPr>
              <a:t>Conference attendance</a:t>
            </a:r>
          </a:p>
          <a:p>
            <a:pPr algn="l">
              <a:lnSpc>
                <a:spcPts val="3080"/>
              </a:lnSpc>
            </a:pPr>
            <a:endParaRPr lang="en-US" sz="2200">
              <a:solidFill>
                <a:srgbClr val="00FFA8"/>
              </a:solidFill>
              <a:latin typeface="TT Fors"/>
              <a:ea typeface="TT Fors"/>
              <a:cs typeface="TT Fors"/>
              <a:sym typeface="TT Fors"/>
            </a:endParaRPr>
          </a:p>
          <a:p>
            <a:pPr algn="l">
              <a:lnSpc>
                <a:spcPts val="3080"/>
              </a:lnSpc>
            </a:pPr>
            <a:r>
              <a:rPr lang="en-US" sz="2200" b="1">
                <a:solidFill>
                  <a:srgbClr val="00FFA8"/>
                </a:solidFill>
                <a:latin typeface="TT Fors Bold"/>
                <a:ea typeface="TT Fors Bold"/>
                <a:cs typeface="TT Fors Bold"/>
                <a:sym typeface="TT Fors Bold"/>
              </a:rPr>
              <a:t>Red Flags Employees Share:</a:t>
            </a:r>
          </a:p>
          <a:p>
            <a:pPr marL="474983" lvl="1" indent="-237491" algn="l">
              <a:lnSpc>
                <a:spcPts val="3080"/>
              </a:lnSpc>
              <a:buFont typeface="Arial"/>
              <a:buChar char="•"/>
            </a:pPr>
            <a:r>
              <a:rPr lang="en-US" sz="2200">
                <a:solidFill>
                  <a:srgbClr val="00FFA8"/>
                </a:solidFill>
                <a:latin typeface="TT Fors"/>
                <a:ea typeface="TT Fors"/>
                <a:cs typeface="TT Fors"/>
                <a:sym typeface="TT Fors"/>
              </a:rPr>
              <a:t>Vacation announcements (physical security)</a:t>
            </a:r>
          </a:p>
          <a:p>
            <a:pPr marL="474983" lvl="1" indent="-237491" algn="l">
              <a:lnSpc>
                <a:spcPts val="3080"/>
              </a:lnSpc>
              <a:buFont typeface="Arial"/>
              <a:buChar char="•"/>
            </a:pPr>
            <a:r>
              <a:rPr lang="en-US" sz="2200">
                <a:solidFill>
                  <a:srgbClr val="00FFA8"/>
                </a:solidFill>
                <a:latin typeface="TT Fors"/>
                <a:ea typeface="TT Fors"/>
                <a:cs typeface="TT Fors"/>
                <a:sym typeface="TT Fors"/>
              </a:rPr>
              <a:t>Work-from-home setups (visible screens)</a:t>
            </a:r>
          </a:p>
          <a:p>
            <a:pPr marL="474983" lvl="1" indent="-237491" algn="l">
              <a:lnSpc>
                <a:spcPts val="3080"/>
              </a:lnSpc>
              <a:buFont typeface="Arial"/>
              <a:buChar char="•"/>
            </a:pPr>
            <a:r>
              <a:rPr lang="en-US" sz="2200">
                <a:solidFill>
                  <a:srgbClr val="00FFA8"/>
                </a:solidFill>
                <a:latin typeface="TT Fors"/>
                <a:ea typeface="TT Fors"/>
                <a:cs typeface="TT Fors"/>
                <a:sym typeface="TT Fors"/>
              </a:rPr>
              <a:t>Company badges in photos</a:t>
            </a:r>
          </a:p>
          <a:p>
            <a:pPr marL="474983" lvl="1" indent="-237491" algn="l">
              <a:lnSpc>
                <a:spcPts val="3080"/>
              </a:lnSpc>
              <a:buFont typeface="Arial"/>
              <a:buChar char="•"/>
            </a:pPr>
            <a:r>
              <a:rPr lang="en-US" sz="2200">
                <a:solidFill>
                  <a:srgbClr val="00FFA8"/>
                </a:solidFill>
                <a:latin typeface="TT Fors"/>
                <a:ea typeface="TT Fors"/>
                <a:cs typeface="TT Fors"/>
                <a:sym typeface="TT Fors"/>
              </a:rPr>
              <a:t>Internal documents in the backgrounds</a:t>
            </a:r>
          </a:p>
        </p:txBody>
      </p:sp>
      <p:sp>
        <p:nvSpPr>
          <p:cNvPr id="5" name="TextBox 5"/>
          <p:cNvSpPr txBox="1"/>
          <p:nvPr/>
        </p:nvSpPr>
        <p:spPr>
          <a:xfrm>
            <a:off x="666750" y="2095500"/>
            <a:ext cx="5947066" cy="4191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00FFA8"/>
                </a:solidFill>
                <a:latin typeface="TT Fors Bold"/>
                <a:ea typeface="TT Fors Bold"/>
                <a:cs typeface="TT Fors Bold"/>
                <a:sym typeface="TT Fors Bold"/>
              </a:rPr>
              <a:t>Mining Social Platforms</a:t>
            </a:r>
          </a:p>
        </p:txBody>
      </p:sp>
      <p:grpSp>
        <p:nvGrpSpPr>
          <p:cNvPr id="6" name="Group 6"/>
          <p:cNvGrpSpPr/>
          <p:nvPr/>
        </p:nvGrpSpPr>
        <p:grpSpPr>
          <a:xfrm>
            <a:off x="666750" y="8583288"/>
            <a:ext cx="16954500" cy="1177291"/>
            <a:chOff x="0" y="0"/>
            <a:chExt cx="4465332" cy="310076"/>
          </a:xfrm>
        </p:grpSpPr>
        <p:sp>
          <p:nvSpPr>
            <p:cNvPr id="7" name="Freeform 7"/>
            <p:cNvSpPr/>
            <p:nvPr/>
          </p:nvSpPr>
          <p:spPr>
            <a:xfrm>
              <a:off x="0" y="0"/>
              <a:ext cx="4465332" cy="310076"/>
            </a:xfrm>
            <a:custGeom>
              <a:avLst/>
              <a:gdLst/>
              <a:ahLst/>
              <a:cxnLst/>
              <a:rect l="l" t="t" r="r" b="b"/>
              <a:pathLst>
                <a:path w="4465332" h="310076">
                  <a:moveTo>
                    <a:pt x="4465332" y="9133"/>
                  </a:moveTo>
                  <a:lnTo>
                    <a:pt x="4465332" y="300944"/>
                  </a:lnTo>
                  <a:cubicBezTo>
                    <a:pt x="4465332" y="303366"/>
                    <a:pt x="4464370" y="305689"/>
                    <a:pt x="4462657" y="307401"/>
                  </a:cubicBezTo>
                  <a:cubicBezTo>
                    <a:pt x="4460944" y="309114"/>
                    <a:pt x="4458622" y="310076"/>
                    <a:pt x="4456200" y="310076"/>
                  </a:cubicBezTo>
                  <a:lnTo>
                    <a:pt x="9133" y="310076"/>
                  </a:lnTo>
                  <a:cubicBezTo>
                    <a:pt x="6710" y="310076"/>
                    <a:pt x="4388" y="309114"/>
                    <a:pt x="2675" y="307401"/>
                  </a:cubicBezTo>
                  <a:cubicBezTo>
                    <a:pt x="962" y="305689"/>
                    <a:pt x="0" y="303366"/>
                    <a:pt x="0" y="300944"/>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E10505"/>
            </a:solidFill>
            <a:ln cap="sq">
              <a:noFill/>
              <a:prstDash val="solid"/>
              <a:miter/>
            </a:ln>
          </p:spPr>
          <p:txBody>
            <a:bodyPr/>
            <a:lstStyle/>
            <a:p>
              <a:endParaRPr lang="en-US"/>
            </a:p>
          </p:txBody>
        </p:sp>
        <p:sp>
          <p:nvSpPr>
            <p:cNvPr id="8" name="TextBox 8"/>
            <p:cNvSpPr txBox="1"/>
            <p:nvPr/>
          </p:nvSpPr>
          <p:spPr>
            <a:xfrm>
              <a:off x="0" y="0"/>
              <a:ext cx="4465332" cy="310076"/>
            </a:xfrm>
            <a:prstGeom prst="rect">
              <a:avLst/>
            </a:prstGeom>
          </p:spPr>
          <p:txBody>
            <a:bodyPr lIns="254000" tIns="254000" rIns="254000" bIns="254000" rtlCol="0" anchor="ctr"/>
            <a:lstStyle/>
            <a:p>
              <a:pPr algn="l">
                <a:lnSpc>
                  <a:spcPts val="2940"/>
                </a:lnSpc>
              </a:pPr>
              <a:r>
                <a:rPr lang="en-US" sz="2100" b="1" spc="-63" dirty="0">
                  <a:solidFill>
                    <a:srgbClr val="FFFFFF"/>
                  </a:solidFill>
                  <a:latin typeface="TT Fors Bold"/>
                  <a:ea typeface="TT Fors Bold"/>
                  <a:cs typeface="TT Fors Bold"/>
                  <a:sym typeface="TT Fors Bold"/>
                </a:rPr>
                <a:t>Real Case: </a:t>
              </a:r>
              <a:r>
                <a:rPr lang="en-US" sz="2100" spc="-63" dirty="0">
                  <a:solidFill>
                    <a:srgbClr val="FFFFFF"/>
                  </a:solidFill>
                  <a:latin typeface="TT Fors"/>
                  <a:ea typeface="TT Fors"/>
                  <a:cs typeface="TT Fors"/>
                  <a:sym typeface="TT Fors"/>
                </a:rPr>
                <a:t>MGM Resorts breach (2023) started with LinkedIn OSINT. Attackers identified IT help desk employees and impersonated them via phone call to gain VPN access.</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30"/>
          </a:xfrm>
          <a:prstGeom prst="rect">
            <a:avLst/>
          </a:prstGeom>
        </p:spPr>
        <p:txBody>
          <a:bodyPr lIns="0" tIns="0" rIns="0" bIns="0" rtlCol="0" anchor="t">
            <a:spAutoFit/>
          </a:bodyPr>
          <a:lstStyle/>
          <a:p>
            <a:pPr marL="0" lvl="0" indent="0" algn="l">
              <a:lnSpc>
                <a:spcPts val="6000"/>
              </a:lnSpc>
              <a:spcBef>
                <a:spcPct val="0"/>
              </a:spcBef>
            </a:pPr>
            <a:r>
              <a:rPr lang="en-US" sz="6000" u="none" strike="noStrike" spc="-180">
                <a:solidFill>
                  <a:srgbClr val="00FFA8"/>
                </a:solidFill>
                <a:latin typeface="ITC Avant Garde Gothic"/>
                <a:ea typeface="ITC Avant Garde Gothic"/>
                <a:cs typeface="ITC Avant Garde Gothic"/>
                <a:sym typeface="ITC Avant Garde Gothic"/>
              </a:rPr>
              <a:t>Metadata in Documents</a:t>
            </a:r>
          </a:p>
        </p:txBody>
      </p:sp>
      <p:sp>
        <p:nvSpPr>
          <p:cNvPr id="3" name="TextBox 3"/>
          <p:cNvSpPr txBox="1"/>
          <p:nvPr/>
        </p:nvSpPr>
        <p:spPr>
          <a:xfrm>
            <a:off x="666750" y="2095500"/>
            <a:ext cx="5947066" cy="419100"/>
          </a:xfrm>
          <a:prstGeom prst="rect">
            <a:avLst/>
          </a:prstGeom>
        </p:spPr>
        <p:txBody>
          <a:bodyPr lIns="0" tIns="0" rIns="0" bIns="0" rtlCol="0" anchor="t">
            <a:spAutoFit/>
          </a:bodyPr>
          <a:lstStyle/>
          <a:p>
            <a:pPr marL="0" lvl="0" indent="0" algn="l">
              <a:lnSpc>
                <a:spcPts val="3360"/>
              </a:lnSpc>
              <a:spcBef>
                <a:spcPct val="0"/>
              </a:spcBef>
            </a:pPr>
            <a:r>
              <a:rPr lang="en-US" sz="2800" b="1" spc="-84">
                <a:solidFill>
                  <a:srgbClr val="00FFA8"/>
                </a:solidFill>
                <a:latin typeface="TT Fors Bold"/>
                <a:ea typeface="TT Fors Bold"/>
                <a:cs typeface="TT Fors Bold"/>
                <a:sym typeface="TT Fors Bold"/>
              </a:rPr>
              <a:t>Hidden Information in Files</a:t>
            </a:r>
          </a:p>
        </p:txBody>
      </p:sp>
      <p:sp>
        <p:nvSpPr>
          <p:cNvPr id="4" name="TextBox 4"/>
          <p:cNvSpPr txBox="1"/>
          <p:nvPr/>
        </p:nvSpPr>
        <p:spPr>
          <a:xfrm>
            <a:off x="666750" y="3564557"/>
            <a:ext cx="7379304" cy="6263640"/>
          </a:xfrm>
          <a:prstGeom prst="rect">
            <a:avLst/>
          </a:prstGeom>
        </p:spPr>
        <p:txBody>
          <a:bodyPr lIns="0" tIns="0" rIns="0" bIns="0" rtlCol="0" anchor="t">
            <a:spAutoFit/>
          </a:bodyPr>
          <a:lstStyle/>
          <a:p>
            <a:pPr marL="0" lvl="0" indent="0" algn="l">
              <a:lnSpc>
                <a:spcPts val="3360"/>
              </a:lnSpc>
            </a:pPr>
            <a:r>
              <a:rPr lang="en-US" sz="2400" b="1">
                <a:solidFill>
                  <a:srgbClr val="00FFA8"/>
                </a:solidFill>
                <a:latin typeface="TT Fors Bold"/>
                <a:ea typeface="TT Fors Bold"/>
                <a:cs typeface="TT Fors Bold"/>
                <a:sym typeface="TT Fors Bold"/>
              </a:rPr>
              <a:t>Metadata in Documents Can Reveal:</a:t>
            </a:r>
          </a:p>
          <a:p>
            <a:pPr marL="518162" lvl="1" indent="-259081" algn="l">
              <a:lnSpc>
                <a:spcPts val="3360"/>
              </a:lnSpc>
              <a:buFont typeface="Arial"/>
              <a:buChar char="•"/>
            </a:pPr>
            <a:r>
              <a:rPr lang="en-US" sz="2400">
                <a:solidFill>
                  <a:srgbClr val="00FFA8"/>
                </a:solidFill>
                <a:latin typeface="TT Fors"/>
                <a:ea typeface="TT Fors"/>
                <a:cs typeface="TT Fors"/>
                <a:sym typeface="TT Fors"/>
              </a:rPr>
              <a:t>Author names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Organization names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Computer/username used for creation</a:t>
            </a:r>
          </a:p>
          <a:p>
            <a:pPr marL="518162" lvl="1" indent="-259081" algn="l">
              <a:lnSpc>
                <a:spcPts val="3360"/>
              </a:lnSpc>
              <a:buFont typeface="Arial"/>
              <a:buChar char="•"/>
            </a:pPr>
            <a:r>
              <a:rPr lang="en-US" sz="2400">
                <a:solidFill>
                  <a:srgbClr val="00FFA8"/>
                </a:solidFill>
                <a:latin typeface="TT Fors"/>
                <a:ea typeface="TT Fors"/>
                <a:cs typeface="TT Fors"/>
                <a:sym typeface="TT Fors"/>
              </a:rPr>
              <a:t>Software versions</a:t>
            </a:r>
          </a:p>
          <a:p>
            <a:pPr marL="518162" lvl="1" indent="-259081" algn="l">
              <a:lnSpc>
                <a:spcPts val="3360"/>
              </a:lnSpc>
              <a:buFont typeface="Arial"/>
              <a:buChar char="•"/>
            </a:pPr>
            <a:r>
              <a:rPr lang="en-US" sz="2400">
                <a:solidFill>
                  <a:srgbClr val="00FFA8"/>
                </a:solidFill>
                <a:latin typeface="TT Fors"/>
                <a:ea typeface="TT Fors"/>
                <a:cs typeface="TT Fors"/>
                <a:sym typeface="TT Fors"/>
              </a:rPr>
              <a:t>Edit history and track changes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File creation and modification dates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Internal file paths</a:t>
            </a:r>
          </a:p>
          <a:p>
            <a:pPr marL="518162" lvl="1" indent="-259081" algn="l">
              <a:lnSpc>
                <a:spcPts val="3360"/>
              </a:lnSpc>
              <a:buFont typeface="Arial"/>
              <a:buChar char="•"/>
            </a:pPr>
            <a:r>
              <a:rPr lang="en-US" sz="2400">
                <a:solidFill>
                  <a:srgbClr val="00FFA8"/>
                </a:solidFill>
                <a:latin typeface="TT Fors"/>
                <a:ea typeface="TT Fors"/>
                <a:cs typeface="TT Fors"/>
                <a:sym typeface="TT Fors"/>
              </a:rPr>
              <a:t>GPS coordinates (in photos)</a:t>
            </a:r>
          </a:p>
          <a:p>
            <a:pPr algn="l">
              <a:lnSpc>
                <a:spcPts val="3360"/>
              </a:lnSpc>
            </a:pPr>
            <a:endParaRPr lang="en-US" sz="2400">
              <a:solidFill>
                <a:srgbClr val="00FFA8"/>
              </a:solidFill>
              <a:latin typeface="TT Fors"/>
              <a:ea typeface="TT Fors"/>
              <a:cs typeface="TT Fors"/>
              <a:sym typeface="TT Fors"/>
            </a:endParaRPr>
          </a:p>
          <a:p>
            <a:pPr algn="l">
              <a:lnSpc>
                <a:spcPts val="3360"/>
              </a:lnSpc>
            </a:pPr>
            <a:r>
              <a:rPr lang="en-US" sz="2400" b="1">
                <a:solidFill>
                  <a:srgbClr val="00FFA8"/>
                </a:solidFill>
                <a:latin typeface="TT Fors Bold"/>
                <a:ea typeface="TT Fors Bold"/>
                <a:cs typeface="TT Fors Bold"/>
                <a:sym typeface="TT Fors Bold"/>
              </a:rPr>
              <a:t>Common File Types: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Microsoft Office (.docx, .xlsx, .pptx)</a:t>
            </a:r>
          </a:p>
          <a:p>
            <a:pPr marL="518162" lvl="1" indent="-259081" algn="l">
              <a:lnSpc>
                <a:spcPts val="3360"/>
              </a:lnSpc>
              <a:buFont typeface="Arial"/>
              <a:buChar char="•"/>
            </a:pPr>
            <a:r>
              <a:rPr lang="en-US" sz="2400">
                <a:solidFill>
                  <a:srgbClr val="00FFA8"/>
                </a:solidFill>
                <a:latin typeface="TT Fors"/>
                <a:ea typeface="TT Fors"/>
                <a:cs typeface="TT Fors"/>
                <a:sym typeface="TT Fors"/>
              </a:rPr>
              <a:t>PDFs</a:t>
            </a:r>
          </a:p>
          <a:p>
            <a:pPr marL="518162" lvl="1" indent="-259081" algn="l">
              <a:lnSpc>
                <a:spcPts val="3360"/>
              </a:lnSpc>
              <a:buFont typeface="Arial"/>
              <a:buChar char="•"/>
            </a:pPr>
            <a:r>
              <a:rPr lang="en-US" sz="2400">
                <a:solidFill>
                  <a:srgbClr val="00FFA8"/>
                </a:solidFill>
                <a:latin typeface="TT Fors"/>
                <a:ea typeface="TT Fors"/>
                <a:cs typeface="TT Fors"/>
                <a:sym typeface="TT Fors"/>
              </a:rPr>
              <a:t>Images (JPEG, PNG)</a:t>
            </a:r>
          </a:p>
          <a:p>
            <a:pPr marL="518162" lvl="1" indent="-259081" algn="l">
              <a:lnSpc>
                <a:spcPts val="3360"/>
              </a:lnSpc>
              <a:buFont typeface="Arial"/>
              <a:buChar char="•"/>
            </a:pPr>
            <a:r>
              <a:rPr lang="en-US" sz="2400">
                <a:solidFill>
                  <a:srgbClr val="00FFA8"/>
                </a:solidFill>
                <a:latin typeface="TT Fors"/>
                <a:ea typeface="TT Fors"/>
                <a:cs typeface="TT Fors"/>
                <a:sym typeface="TT Fors"/>
              </a:rPr>
              <a:t>Audio/Video files</a:t>
            </a:r>
          </a:p>
        </p:txBody>
      </p:sp>
      <p:sp>
        <p:nvSpPr>
          <p:cNvPr id="5" name="TextBox 5"/>
          <p:cNvSpPr txBox="1"/>
          <p:nvPr/>
        </p:nvSpPr>
        <p:spPr>
          <a:xfrm>
            <a:off x="666750" y="2836008"/>
            <a:ext cx="16954500" cy="3524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What is Metadata? </a:t>
            </a:r>
            <a:r>
              <a:rPr lang="en-US" sz="2400" spc="-72">
                <a:solidFill>
                  <a:srgbClr val="FFFFFF"/>
                </a:solidFill>
                <a:latin typeface="TT Fors"/>
                <a:ea typeface="TT Fors"/>
                <a:cs typeface="TT Fors"/>
                <a:sym typeface="TT Fors"/>
              </a:rPr>
              <a:t>Data about data - information embedded in files that</a:t>
            </a:r>
            <a:r>
              <a:rPr lang="en-US" sz="2400" u="none" strike="noStrike" spc="-72">
                <a:solidFill>
                  <a:srgbClr val="FFFFFF"/>
                </a:solidFill>
                <a:latin typeface="TT Fors"/>
                <a:ea typeface="TT Fors"/>
                <a:cs typeface="TT Fors"/>
                <a:sym typeface="TT Fors"/>
              </a:rPr>
              <a:t> describes the file itself.</a:t>
            </a:r>
          </a:p>
        </p:txBody>
      </p:sp>
      <p:sp>
        <p:nvSpPr>
          <p:cNvPr id="6" name="TextBox 6"/>
          <p:cNvSpPr txBox="1"/>
          <p:nvPr/>
        </p:nvSpPr>
        <p:spPr>
          <a:xfrm>
            <a:off x="9303417" y="3564557"/>
            <a:ext cx="6808948" cy="20726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Tools to Extract Metadata:</a:t>
            </a:r>
          </a:p>
          <a:p>
            <a:pPr marL="518162" lvl="1" indent="-259081" algn="l">
              <a:lnSpc>
                <a:spcPts val="3360"/>
              </a:lnSpc>
              <a:buFont typeface="Arial"/>
              <a:buChar char="•"/>
            </a:pPr>
            <a:r>
              <a:rPr lang="en-US" sz="2400">
                <a:solidFill>
                  <a:srgbClr val="00FFA8"/>
                </a:solidFill>
                <a:latin typeface="TT Fors"/>
                <a:ea typeface="TT Fors"/>
                <a:cs typeface="TT Fors"/>
                <a:sym typeface="TT Fors"/>
              </a:rPr>
              <a:t>ExifTool</a:t>
            </a:r>
          </a:p>
          <a:p>
            <a:pPr marL="518162" lvl="1" indent="-259081" algn="l">
              <a:lnSpc>
                <a:spcPts val="3360"/>
              </a:lnSpc>
              <a:buFont typeface="Arial"/>
              <a:buChar char="•"/>
            </a:pPr>
            <a:r>
              <a:rPr lang="en-US" sz="2400">
                <a:solidFill>
                  <a:srgbClr val="00FFA8"/>
                </a:solidFill>
                <a:latin typeface="TT Fors"/>
                <a:ea typeface="TT Fors"/>
                <a:cs typeface="TT Fors"/>
                <a:sym typeface="TT Fors"/>
              </a:rPr>
              <a:t>FOCA (Fingerprinting Organizations with Collected Archives)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Metagoofil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u="none" strike="noStrike" spc="-179">
                <a:solidFill>
                  <a:srgbClr val="00FFA8"/>
                </a:solidFill>
                <a:latin typeface="ITC Avant Garde Gothic"/>
                <a:ea typeface="ITC Avant Garde Gothic"/>
                <a:cs typeface="ITC Avant Garde Gothic"/>
                <a:sym typeface="ITC Avant Garde Gothic"/>
              </a:rPr>
              <a:t>Maltego - Visual OSINT Framework</a:t>
            </a:r>
          </a:p>
        </p:txBody>
      </p:sp>
      <p:sp>
        <p:nvSpPr>
          <p:cNvPr id="3" name="TextBox 3"/>
          <p:cNvSpPr txBox="1"/>
          <p:nvPr/>
        </p:nvSpPr>
        <p:spPr>
          <a:xfrm>
            <a:off x="666750" y="2672151"/>
            <a:ext cx="16592550" cy="24917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Maltego Capabilities:</a:t>
            </a:r>
          </a:p>
          <a:p>
            <a:pPr marL="518162" lvl="1" indent="-259081" algn="l">
              <a:lnSpc>
                <a:spcPts val="3360"/>
              </a:lnSpc>
              <a:buFont typeface="Arial"/>
              <a:buChar char="•"/>
            </a:pPr>
            <a:r>
              <a:rPr lang="en-US" sz="2400" b="1">
                <a:solidFill>
                  <a:srgbClr val="00FFA8"/>
                </a:solidFill>
                <a:latin typeface="TT Fors Bold"/>
                <a:ea typeface="TT Fors Bold"/>
                <a:cs typeface="TT Fors Bold"/>
                <a:sym typeface="TT Fors Bold"/>
              </a:rPr>
              <a:t>Visual relationship mapping: </a:t>
            </a:r>
            <a:r>
              <a:rPr lang="en-US" sz="2400">
                <a:solidFill>
                  <a:srgbClr val="00FFA8"/>
                </a:solidFill>
                <a:latin typeface="TT Fors"/>
                <a:ea typeface="TT Fors"/>
                <a:cs typeface="TT Fors"/>
                <a:sym typeface="TT Fors"/>
              </a:rPr>
              <a:t>See connections between entities</a:t>
            </a:r>
          </a:p>
          <a:p>
            <a:pPr marL="518162" lvl="1" indent="-259081" algn="l">
              <a:lnSpc>
                <a:spcPts val="3360"/>
              </a:lnSpc>
              <a:buFont typeface="Arial"/>
              <a:buChar char="•"/>
            </a:pPr>
            <a:r>
              <a:rPr lang="en-US" sz="2400" b="1">
                <a:solidFill>
                  <a:srgbClr val="00FFA8"/>
                </a:solidFill>
                <a:latin typeface="TT Fors Bold"/>
                <a:ea typeface="TT Fors Bold"/>
                <a:cs typeface="TT Fors Bold"/>
                <a:sym typeface="TT Fors Bold"/>
              </a:rPr>
              <a:t>Transforms: </a:t>
            </a:r>
            <a:r>
              <a:rPr lang="en-US" sz="2400">
                <a:solidFill>
                  <a:srgbClr val="00FFA8"/>
                </a:solidFill>
                <a:latin typeface="TT Fors"/>
                <a:ea typeface="TT Fors"/>
                <a:cs typeface="TT Fors"/>
                <a:sym typeface="TT Fors"/>
              </a:rPr>
              <a:t>Automated queries that gather data from various sources</a:t>
            </a:r>
          </a:p>
          <a:p>
            <a:pPr marL="518162" lvl="1" indent="-259081" algn="l">
              <a:lnSpc>
                <a:spcPts val="3360"/>
              </a:lnSpc>
              <a:buFont typeface="Arial"/>
              <a:buChar char="•"/>
            </a:pPr>
            <a:r>
              <a:rPr lang="en-US" sz="2400" b="1">
                <a:solidFill>
                  <a:srgbClr val="00FFA8"/>
                </a:solidFill>
                <a:latin typeface="TT Fors Bold"/>
                <a:ea typeface="TT Fors Bold"/>
                <a:cs typeface="TT Fors Bold"/>
                <a:sym typeface="TT Fors Bold"/>
              </a:rPr>
              <a:t>Entity types: </a:t>
            </a:r>
            <a:r>
              <a:rPr lang="en-US" sz="2400">
                <a:solidFill>
                  <a:srgbClr val="00FFA8"/>
                </a:solidFill>
                <a:latin typeface="TT Fors"/>
                <a:ea typeface="TT Fors"/>
                <a:cs typeface="TT Fors"/>
                <a:sym typeface="TT Fors"/>
              </a:rPr>
              <a:t>Domains, IPs, emails, phone, social media, organizations connections, network infrastructure</a:t>
            </a:r>
          </a:p>
          <a:p>
            <a:pPr marL="518162" lvl="1" indent="-259081" algn="l">
              <a:lnSpc>
                <a:spcPts val="3360"/>
              </a:lnSpc>
              <a:buFont typeface="Arial"/>
              <a:buChar char="•"/>
            </a:pPr>
            <a:r>
              <a:rPr lang="en-US" sz="2400" b="1">
                <a:solidFill>
                  <a:srgbClr val="00FFA8"/>
                </a:solidFill>
                <a:latin typeface="TT Fors Bold"/>
                <a:ea typeface="TT Fors Bold"/>
                <a:cs typeface="TT Fors Bold"/>
                <a:sym typeface="TT Fors Bold"/>
              </a:rPr>
              <a:t>Data correlation: </a:t>
            </a:r>
            <a:r>
              <a:rPr lang="en-US" sz="2400">
                <a:solidFill>
                  <a:srgbClr val="00FFA8"/>
                </a:solidFill>
                <a:latin typeface="TT Fors"/>
                <a:ea typeface="TT Fors"/>
                <a:cs typeface="TT Fors"/>
                <a:sym typeface="TT Fors"/>
              </a:rPr>
              <a:t>Link disparate pieces of information</a:t>
            </a:r>
          </a:p>
          <a:p>
            <a:pPr marL="518162" lvl="1" indent="-259081" algn="l">
              <a:lnSpc>
                <a:spcPts val="3360"/>
              </a:lnSpc>
              <a:buFont typeface="Arial"/>
              <a:buChar char="•"/>
            </a:pPr>
            <a:r>
              <a:rPr lang="en-US" sz="2400" b="1">
                <a:solidFill>
                  <a:srgbClr val="00FFA8"/>
                </a:solidFill>
                <a:latin typeface="TT Fors Bold"/>
                <a:ea typeface="TT Fors Bold"/>
                <a:cs typeface="TT Fors Bold"/>
                <a:sym typeface="TT Fors Bold"/>
              </a:rPr>
              <a:t>Export options: </a:t>
            </a:r>
            <a:r>
              <a:rPr lang="en-US" sz="2400">
                <a:solidFill>
                  <a:srgbClr val="00FFA8"/>
                </a:solidFill>
                <a:latin typeface="TT Fors"/>
                <a:ea typeface="TT Fors"/>
                <a:cs typeface="TT Fors"/>
                <a:sym typeface="TT Fors"/>
              </a:rPr>
              <a:t>Save graphs and reports</a:t>
            </a:r>
          </a:p>
        </p:txBody>
      </p:sp>
      <p:sp>
        <p:nvSpPr>
          <p:cNvPr id="4" name="TextBox 4"/>
          <p:cNvSpPr txBox="1"/>
          <p:nvPr/>
        </p:nvSpPr>
        <p:spPr>
          <a:xfrm>
            <a:off x="666750" y="1889126"/>
            <a:ext cx="16954500" cy="3524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Maltego</a:t>
            </a:r>
            <a:r>
              <a:rPr lang="en-US" sz="2400" spc="-72">
                <a:solidFill>
                  <a:srgbClr val="FFFFFF"/>
                </a:solidFill>
                <a:latin typeface="TT Fors"/>
                <a:ea typeface="TT Fors"/>
                <a:cs typeface="TT Fors"/>
                <a:sym typeface="TT Fors"/>
              </a:rPr>
              <a:t> is a powerful OSINT and graphical link analysis tool used for gathering and connecting information about ta</a:t>
            </a:r>
            <a:r>
              <a:rPr lang="en-US" sz="2400" u="none" strike="noStrike" spc="-72">
                <a:solidFill>
                  <a:srgbClr val="FFFFFF"/>
                </a:solidFill>
                <a:latin typeface="TT Fors"/>
                <a:ea typeface="TT Fors"/>
                <a:cs typeface="TT Fors"/>
                <a:sym typeface="TT Fors"/>
              </a:rPr>
              <a:t>rgets.</a:t>
            </a:r>
          </a:p>
        </p:txBody>
      </p:sp>
      <p:sp>
        <p:nvSpPr>
          <p:cNvPr id="5" name="TextBox 5"/>
          <p:cNvSpPr txBox="1"/>
          <p:nvPr/>
        </p:nvSpPr>
        <p:spPr>
          <a:xfrm>
            <a:off x="666750" y="5592515"/>
            <a:ext cx="5562039" cy="3962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Common Maltego Transforms:</a:t>
            </a:r>
          </a:p>
        </p:txBody>
      </p:sp>
      <p:grpSp>
        <p:nvGrpSpPr>
          <p:cNvPr id="6" name="Group 6"/>
          <p:cNvGrpSpPr/>
          <p:nvPr/>
        </p:nvGrpSpPr>
        <p:grpSpPr>
          <a:xfrm>
            <a:off x="666750" y="6182213"/>
            <a:ext cx="5244838" cy="2439671"/>
            <a:chOff x="0" y="0"/>
            <a:chExt cx="1381341" cy="642563"/>
          </a:xfrm>
        </p:grpSpPr>
        <p:sp>
          <p:nvSpPr>
            <p:cNvPr id="7" name="Freeform 7"/>
            <p:cNvSpPr/>
            <p:nvPr/>
          </p:nvSpPr>
          <p:spPr>
            <a:xfrm>
              <a:off x="0" y="0"/>
              <a:ext cx="1381341" cy="642563"/>
            </a:xfrm>
            <a:custGeom>
              <a:avLst/>
              <a:gdLst/>
              <a:ahLst/>
              <a:cxnLst/>
              <a:rect l="l" t="t" r="r" b="b"/>
              <a:pathLst>
                <a:path w="1381341" h="642563">
                  <a:moveTo>
                    <a:pt x="1381341" y="29522"/>
                  </a:moveTo>
                  <a:lnTo>
                    <a:pt x="1381341" y="613041"/>
                  </a:lnTo>
                  <a:cubicBezTo>
                    <a:pt x="1381341" y="629346"/>
                    <a:pt x="1368123" y="642563"/>
                    <a:pt x="1351819" y="642563"/>
                  </a:cubicBezTo>
                  <a:lnTo>
                    <a:pt x="29522" y="642563"/>
                  </a:lnTo>
                  <a:cubicBezTo>
                    <a:pt x="13217" y="642563"/>
                    <a:pt x="0" y="629346"/>
                    <a:pt x="0" y="613041"/>
                  </a:cubicBezTo>
                  <a:lnTo>
                    <a:pt x="0" y="29522"/>
                  </a:lnTo>
                  <a:cubicBezTo>
                    <a:pt x="0" y="13217"/>
                    <a:pt x="13217" y="0"/>
                    <a:pt x="29522" y="0"/>
                  </a:cubicBezTo>
                  <a:lnTo>
                    <a:pt x="1351819" y="0"/>
                  </a:lnTo>
                  <a:cubicBezTo>
                    <a:pt x="1368123" y="0"/>
                    <a:pt x="1381341" y="13217"/>
                    <a:pt x="1381341" y="29522"/>
                  </a:cubicBezTo>
                  <a:close/>
                </a:path>
              </a:pathLst>
            </a:custGeom>
            <a:solidFill>
              <a:srgbClr val="1FBB7F"/>
            </a:solidFill>
            <a:ln cap="sq">
              <a:noFill/>
              <a:prstDash val="solid"/>
              <a:miter/>
            </a:ln>
          </p:spPr>
          <p:txBody>
            <a:bodyPr/>
            <a:lstStyle/>
            <a:p>
              <a:endParaRPr lang="en-US"/>
            </a:p>
          </p:txBody>
        </p:sp>
        <p:sp>
          <p:nvSpPr>
            <p:cNvPr id="8" name="TextBox 8"/>
            <p:cNvSpPr txBox="1"/>
            <p:nvPr/>
          </p:nvSpPr>
          <p:spPr>
            <a:xfrm>
              <a:off x="0" y="-38100"/>
              <a:ext cx="1381341" cy="680663"/>
            </a:xfrm>
            <a:prstGeom prst="rect">
              <a:avLst/>
            </a:prstGeom>
          </p:spPr>
          <p:txBody>
            <a:bodyPr lIns="254000" tIns="254000" rIns="254000" bIns="254000" rtlCol="0" anchor="ctr"/>
            <a:lstStyle/>
            <a:p>
              <a:pPr algn="l">
                <a:lnSpc>
                  <a:spcPts val="3220"/>
                </a:lnSpc>
              </a:pPr>
              <a:r>
                <a:rPr lang="en-US" sz="2300" b="1" spc="-69">
                  <a:solidFill>
                    <a:srgbClr val="000000"/>
                  </a:solidFill>
                  <a:latin typeface="TT Fors Bold"/>
                  <a:ea typeface="TT Fors Bold"/>
                  <a:cs typeface="TT Fors Bold"/>
                  <a:sym typeface="TT Fors Bold"/>
                </a:rPr>
                <a:t>Domain Transforms:</a:t>
              </a:r>
            </a:p>
            <a:p>
              <a:pPr marL="496577" lvl="1" indent="-248289" algn="l">
                <a:lnSpc>
                  <a:spcPts val="3220"/>
                </a:lnSpc>
                <a:buFont typeface="Arial"/>
                <a:buChar char="•"/>
              </a:pPr>
              <a:r>
                <a:rPr lang="en-US" sz="2300" spc="-69">
                  <a:solidFill>
                    <a:srgbClr val="000000"/>
                  </a:solidFill>
                  <a:latin typeface="TT Fors"/>
                  <a:ea typeface="TT Fors"/>
                  <a:cs typeface="TT Fors"/>
                  <a:sym typeface="TT Fors"/>
                </a:rPr>
                <a:t>DNS from domain</a:t>
              </a:r>
            </a:p>
            <a:p>
              <a:pPr marL="496577" lvl="1" indent="-248289" algn="l">
                <a:lnSpc>
                  <a:spcPts val="3220"/>
                </a:lnSpc>
                <a:buFont typeface="Arial"/>
                <a:buChar char="•"/>
              </a:pPr>
              <a:r>
                <a:rPr lang="en-US" sz="2300" spc="-69">
                  <a:solidFill>
                    <a:srgbClr val="000000"/>
                  </a:solidFill>
                  <a:latin typeface="TT Fors"/>
                  <a:ea typeface="TT Fors"/>
                  <a:cs typeface="TT Fors"/>
                  <a:sym typeface="TT Fors"/>
                </a:rPr>
                <a:t>Email from domain</a:t>
              </a:r>
            </a:p>
            <a:p>
              <a:pPr marL="496577" lvl="1" indent="-248289" algn="l">
                <a:lnSpc>
                  <a:spcPts val="3220"/>
                </a:lnSpc>
                <a:buFont typeface="Arial"/>
                <a:buChar char="•"/>
              </a:pPr>
              <a:r>
                <a:rPr lang="en-US" sz="2300" spc="-69">
                  <a:solidFill>
                    <a:srgbClr val="000000"/>
                  </a:solidFill>
                  <a:latin typeface="TT Fors"/>
                  <a:ea typeface="TT Fors"/>
                  <a:cs typeface="TT Fors"/>
                  <a:sym typeface="TT Fors"/>
                </a:rPr>
                <a:t>To IP addresses</a:t>
              </a:r>
            </a:p>
            <a:p>
              <a:pPr marL="496577" lvl="1" indent="-248289" algn="l">
                <a:lnSpc>
                  <a:spcPts val="3220"/>
                </a:lnSpc>
                <a:buFont typeface="Arial"/>
                <a:buChar char="•"/>
              </a:pPr>
              <a:r>
                <a:rPr lang="en-US" sz="2300" spc="-69">
                  <a:solidFill>
                    <a:srgbClr val="000000"/>
                  </a:solidFill>
                  <a:latin typeface="TT Fors"/>
                  <a:ea typeface="TT Fors"/>
                  <a:cs typeface="TT Fors"/>
                  <a:sym typeface="TT Fors"/>
                </a:rPr>
                <a:t>To netblocks</a:t>
              </a:r>
            </a:p>
          </p:txBody>
        </p:sp>
      </p:grpSp>
      <p:grpSp>
        <p:nvGrpSpPr>
          <p:cNvPr id="9" name="Group 9"/>
          <p:cNvGrpSpPr/>
          <p:nvPr/>
        </p:nvGrpSpPr>
        <p:grpSpPr>
          <a:xfrm>
            <a:off x="6278590" y="6182213"/>
            <a:ext cx="5244838" cy="2439671"/>
            <a:chOff x="0" y="0"/>
            <a:chExt cx="1381341" cy="642563"/>
          </a:xfrm>
        </p:grpSpPr>
        <p:sp>
          <p:nvSpPr>
            <p:cNvPr id="10" name="Freeform 10"/>
            <p:cNvSpPr/>
            <p:nvPr/>
          </p:nvSpPr>
          <p:spPr>
            <a:xfrm>
              <a:off x="0" y="0"/>
              <a:ext cx="1381341" cy="642563"/>
            </a:xfrm>
            <a:custGeom>
              <a:avLst/>
              <a:gdLst/>
              <a:ahLst/>
              <a:cxnLst/>
              <a:rect l="l" t="t" r="r" b="b"/>
              <a:pathLst>
                <a:path w="1381341" h="642563">
                  <a:moveTo>
                    <a:pt x="1381341" y="29522"/>
                  </a:moveTo>
                  <a:lnTo>
                    <a:pt x="1381341" y="613041"/>
                  </a:lnTo>
                  <a:cubicBezTo>
                    <a:pt x="1381341" y="629346"/>
                    <a:pt x="1368123" y="642563"/>
                    <a:pt x="1351819" y="642563"/>
                  </a:cubicBezTo>
                  <a:lnTo>
                    <a:pt x="29522" y="642563"/>
                  </a:lnTo>
                  <a:cubicBezTo>
                    <a:pt x="13217" y="642563"/>
                    <a:pt x="0" y="629346"/>
                    <a:pt x="0" y="613041"/>
                  </a:cubicBezTo>
                  <a:lnTo>
                    <a:pt x="0" y="29522"/>
                  </a:lnTo>
                  <a:cubicBezTo>
                    <a:pt x="0" y="13217"/>
                    <a:pt x="13217" y="0"/>
                    <a:pt x="29522" y="0"/>
                  </a:cubicBezTo>
                  <a:lnTo>
                    <a:pt x="1351819" y="0"/>
                  </a:lnTo>
                  <a:cubicBezTo>
                    <a:pt x="1368123" y="0"/>
                    <a:pt x="1381341" y="13217"/>
                    <a:pt x="1381341" y="29522"/>
                  </a:cubicBezTo>
                  <a:close/>
                </a:path>
              </a:pathLst>
            </a:custGeom>
            <a:solidFill>
              <a:srgbClr val="1FBB7F"/>
            </a:solidFill>
            <a:ln cap="sq">
              <a:noFill/>
              <a:prstDash val="solid"/>
              <a:miter/>
            </a:ln>
          </p:spPr>
          <p:txBody>
            <a:bodyPr/>
            <a:lstStyle/>
            <a:p>
              <a:endParaRPr lang="en-US"/>
            </a:p>
          </p:txBody>
        </p:sp>
        <p:sp>
          <p:nvSpPr>
            <p:cNvPr id="11" name="TextBox 11"/>
            <p:cNvSpPr txBox="1"/>
            <p:nvPr/>
          </p:nvSpPr>
          <p:spPr>
            <a:xfrm>
              <a:off x="0" y="-38100"/>
              <a:ext cx="1381341" cy="680663"/>
            </a:xfrm>
            <a:prstGeom prst="rect">
              <a:avLst/>
            </a:prstGeom>
          </p:spPr>
          <p:txBody>
            <a:bodyPr lIns="254000" tIns="254000" rIns="254000" bIns="254000" rtlCol="0" anchor="ctr"/>
            <a:lstStyle/>
            <a:p>
              <a:pPr algn="l">
                <a:lnSpc>
                  <a:spcPts val="3220"/>
                </a:lnSpc>
              </a:pPr>
              <a:r>
                <a:rPr lang="en-US" sz="2300" b="1" spc="-69">
                  <a:solidFill>
                    <a:srgbClr val="000000"/>
                  </a:solidFill>
                  <a:latin typeface="TT Fors Bold"/>
                  <a:ea typeface="TT Fors Bold"/>
                  <a:cs typeface="TT Fors Bold"/>
                  <a:sym typeface="TT Fors Bold"/>
                </a:rPr>
                <a:t>Person Transforms:</a:t>
              </a:r>
            </a:p>
            <a:p>
              <a:pPr marL="496577" lvl="1" indent="-248289" algn="l">
                <a:lnSpc>
                  <a:spcPts val="3220"/>
                </a:lnSpc>
                <a:buFont typeface="Arial"/>
                <a:buChar char="•"/>
              </a:pPr>
              <a:r>
                <a:rPr lang="en-US" sz="2300" spc="-69">
                  <a:solidFill>
                    <a:srgbClr val="000000"/>
                  </a:solidFill>
                  <a:latin typeface="TT Fors"/>
                  <a:ea typeface="TT Fors"/>
                  <a:cs typeface="TT Fors"/>
                  <a:sym typeface="TT Fors"/>
                </a:rPr>
                <a:t>To email addresses</a:t>
              </a:r>
            </a:p>
            <a:p>
              <a:pPr marL="496577" lvl="1" indent="-248289" algn="l">
                <a:lnSpc>
                  <a:spcPts val="3220"/>
                </a:lnSpc>
                <a:buFont typeface="Arial"/>
                <a:buChar char="•"/>
              </a:pPr>
              <a:r>
                <a:rPr lang="en-US" sz="2300" spc="-69">
                  <a:solidFill>
                    <a:srgbClr val="000000"/>
                  </a:solidFill>
                  <a:latin typeface="TT Fors"/>
                  <a:ea typeface="TT Fors"/>
                  <a:cs typeface="TT Fors"/>
                  <a:sym typeface="TT Fors"/>
                </a:rPr>
                <a:t>To phone numbers</a:t>
              </a:r>
            </a:p>
            <a:p>
              <a:pPr marL="496577" lvl="1" indent="-248289" algn="l">
                <a:lnSpc>
                  <a:spcPts val="3220"/>
                </a:lnSpc>
                <a:buFont typeface="Arial"/>
                <a:buChar char="•"/>
              </a:pPr>
              <a:r>
                <a:rPr lang="en-US" sz="2300" spc="-69">
                  <a:solidFill>
                    <a:srgbClr val="000000"/>
                  </a:solidFill>
                  <a:latin typeface="TT Fors"/>
                  <a:ea typeface="TT Fors"/>
                  <a:cs typeface="TT Fors"/>
                  <a:sym typeface="TT Fors"/>
                </a:rPr>
                <a:t>To social media profiles</a:t>
              </a:r>
            </a:p>
            <a:p>
              <a:pPr marL="496577" lvl="1" indent="-248289" algn="l">
                <a:lnSpc>
                  <a:spcPts val="3220"/>
                </a:lnSpc>
                <a:buFont typeface="Arial"/>
                <a:buChar char="•"/>
              </a:pPr>
              <a:r>
                <a:rPr lang="en-US" sz="2300" spc="-69">
                  <a:solidFill>
                    <a:srgbClr val="000000"/>
                  </a:solidFill>
                  <a:latin typeface="TT Fors"/>
                  <a:ea typeface="TT Fors"/>
                  <a:cs typeface="TT Fors"/>
                  <a:sym typeface="TT Fors"/>
                </a:rPr>
                <a:t>To documents</a:t>
              </a:r>
            </a:p>
          </p:txBody>
        </p:sp>
      </p:grpSp>
      <p:grpSp>
        <p:nvGrpSpPr>
          <p:cNvPr id="12" name="Group 12"/>
          <p:cNvGrpSpPr/>
          <p:nvPr/>
        </p:nvGrpSpPr>
        <p:grpSpPr>
          <a:xfrm>
            <a:off x="11885913" y="6182213"/>
            <a:ext cx="5244838" cy="2439671"/>
            <a:chOff x="0" y="0"/>
            <a:chExt cx="1381341" cy="642563"/>
          </a:xfrm>
        </p:grpSpPr>
        <p:sp>
          <p:nvSpPr>
            <p:cNvPr id="13" name="Freeform 13"/>
            <p:cNvSpPr/>
            <p:nvPr/>
          </p:nvSpPr>
          <p:spPr>
            <a:xfrm>
              <a:off x="0" y="0"/>
              <a:ext cx="1381341" cy="642563"/>
            </a:xfrm>
            <a:custGeom>
              <a:avLst/>
              <a:gdLst/>
              <a:ahLst/>
              <a:cxnLst/>
              <a:rect l="l" t="t" r="r" b="b"/>
              <a:pathLst>
                <a:path w="1381341" h="642563">
                  <a:moveTo>
                    <a:pt x="1381341" y="29522"/>
                  </a:moveTo>
                  <a:lnTo>
                    <a:pt x="1381341" y="613041"/>
                  </a:lnTo>
                  <a:cubicBezTo>
                    <a:pt x="1381341" y="629346"/>
                    <a:pt x="1368123" y="642563"/>
                    <a:pt x="1351819" y="642563"/>
                  </a:cubicBezTo>
                  <a:lnTo>
                    <a:pt x="29522" y="642563"/>
                  </a:lnTo>
                  <a:cubicBezTo>
                    <a:pt x="13217" y="642563"/>
                    <a:pt x="0" y="629346"/>
                    <a:pt x="0" y="613041"/>
                  </a:cubicBezTo>
                  <a:lnTo>
                    <a:pt x="0" y="29522"/>
                  </a:lnTo>
                  <a:cubicBezTo>
                    <a:pt x="0" y="13217"/>
                    <a:pt x="13217" y="0"/>
                    <a:pt x="29522" y="0"/>
                  </a:cubicBezTo>
                  <a:lnTo>
                    <a:pt x="1351819" y="0"/>
                  </a:lnTo>
                  <a:cubicBezTo>
                    <a:pt x="1368123" y="0"/>
                    <a:pt x="1381341" y="13217"/>
                    <a:pt x="1381341" y="29522"/>
                  </a:cubicBezTo>
                  <a:close/>
                </a:path>
              </a:pathLst>
            </a:custGeom>
            <a:solidFill>
              <a:srgbClr val="1FBB7F"/>
            </a:solidFill>
            <a:ln cap="sq">
              <a:noFill/>
              <a:prstDash val="solid"/>
              <a:miter/>
            </a:ln>
          </p:spPr>
          <p:txBody>
            <a:bodyPr/>
            <a:lstStyle/>
            <a:p>
              <a:endParaRPr lang="en-US"/>
            </a:p>
          </p:txBody>
        </p:sp>
        <p:sp>
          <p:nvSpPr>
            <p:cNvPr id="14" name="TextBox 14"/>
            <p:cNvSpPr txBox="1"/>
            <p:nvPr/>
          </p:nvSpPr>
          <p:spPr>
            <a:xfrm>
              <a:off x="0" y="-38100"/>
              <a:ext cx="1381341" cy="680663"/>
            </a:xfrm>
            <a:prstGeom prst="rect">
              <a:avLst/>
            </a:prstGeom>
          </p:spPr>
          <p:txBody>
            <a:bodyPr lIns="254000" tIns="254000" rIns="254000" bIns="254000" rtlCol="0" anchor="ctr"/>
            <a:lstStyle/>
            <a:p>
              <a:pPr algn="l">
                <a:lnSpc>
                  <a:spcPts val="3220"/>
                </a:lnSpc>
              </a:pPr>
              <a:r>
                <a:rPr lang="en-US" sz="2300" b="1" spc="-69">
                  <a:solidFill>
                    <a:srgbClr val="000000"/>
                  </a:solidFill>
                  <a:latin typeface="TT Fors Bold"/>
                  <a:ea typeface="TT Fors Bold"/>
                  <a:cs typeface="TT Fors Bold"/>
                  <a:sym typeface="TT Fors Bold"/>
                </a:rPr>
                <a:t>Organization Mapping:</a:t>
              </a:r>
            </a:p>
            <a:p>
              <a:pPr marL="496577" lvl="1" indent="-248289" algn="l">
                <a:lnSpc>
                  <a:spcPts val="3220"/>
                </a:lnSpc>
                <a:buFont typeface="Arial"/>
                <a:buChar char="•"/>
              </a:pPr>
              <a:r>
                <a:rPr lang="en-US" sz="2300" spc="-69">
                  <a:solidFill>
                    <a:srgbClr val="000000"/>
                  </a:solidFill>
                  <a:latin typeface="TT Fors"/>
                  <a:ea typeface="TT Fors"/>
                  <a:cs typeface="TT Fors"/>
                  <a:sym typeface="TT Fors"/>
                </a:rPr>
                <a:t>Company structure</a:t>
              </a:r>
            </a:p>
            <a:p>
              <a:pPr marL="496577" lvl="1" indent="-248289" algn="l">
                <a:lnSpc>
                  <a:spcPts val="3220"/>
                </a:lnSpc>
                <a:buFont typeface="Arial"/>
                <a:buChar char="•"/>
              </a:pPr>
              <a:r>
                <a:rPr lang="en-US" sz="2300" spc="-69">
                  <a:solidFill>
                    <a:srgbClr val="000000"/>
                  </a:solidFill>
                  <a:latin typeface="TT Fors"/>
                  <a:ea typeface="TT Fors"/>
                  <a:cs typeface="TT Fors"/>
                  <a:sym typeface="TT Fors"/>
                </a:rPr>
                <a:t>Employee connections</a:t>
              </a:r>
            </a:p>
            <a:p>
              <a:pPr marL="496577" lvl="1" indent="-248289" algn="l">
                <a:lnSpc>
                  <a:spcPts val="3220"/>
                </a:lnSpc>
                <a:buFont typeface="Arial"/>
                <a:buChar char="•"/>
              </a:pPr>
              <a:r>
                <a:rPr lang="en-US" sz="2300" spc="-69">
                  <a:solidFill>
                    <a:srgbClr val="000000"/>
                  </a:solidFill>
                  <a:latin typeface="TT Fors"/>
                  <a:ea typeface="TT Fors"/>
                  <a:cs typeface="TT Fors"/>
                  <a:sym typeface="TT Fors"/>
                </a:rPr>
                <a:t>Technology infrastructure</a:t>
              </a:r>
            </a:p>
            <a:p>
              <a:pPr marL="496577" lvl="1" indent="-248289" algn="l">
                <a:lnSpc>
                  <a:spcPts val="3220"/>
                </a:lnSpc>
                <a:buFont typeface="Arial"/>
                <a:buChar char="•"/>
              </a:pPr>
              <a:r>
                <a:rPr lang="en-US" sz="2300" spc="-69">
                  <a:solidFill>
                    <a:srgbClr val="000000"/>
                  </a:solidFill>
                  <a:latin typeface="TT Fors"/>
                  <a:ea typeface="TT Fors"/>
                  <a:cs typeface="TT Fors"/>
                  <a:sym typeface="TT Fors"/>
                </a:rPr>
                <a:t>Digital footprint</a:t>
              </a:r>
            </a:p>
          </p:txBody>
        </p:sp>
      </p:grpSp>
      <p:grpSp>
        <p:nvGrpSpPr>
          <p:cNvPr id="15" name="Group 15"/>
          <p:cNvGrpSpPr/>
          <p:nvPr/>
        </p:nvGrpSpPr>
        <p:grpSpPr>
          <a:xfrm>
            <a:off x="666750" y="8794624"/>
            <a:ext cx="16954500" cy="1177291"/>
            <a:chOff x="0" y="0"/>
            <a:chExt cx="4465332" cy="310076"/>
          </a:xfrm>
        </p:grpSpPr>
        <p:sp>
          <p:nvSpPr>
            <p:cNvPr id="16" name="Freeform 16"/>
            <p:cNvSpPr/>
            <p:nvPr/>
          </p:nvSpPr>
          <p:spPr>
            <a:xfrm>
              <a:off x="0" y="0"/>
              <a:ext cx="4465332" cy="310076"/>
            </a:xfrm>
            <a:custGeom>
              <a:avLst/>
              <a:gdLst/>
              <a:ahLst/>
              <a:cxnLst/>
              <a:rect l="l" t="t" r="r" b="b"/>
              <a:pathLst>
                <a:path w="4465332" h="310076">
                  <a:moveTo>
                    <a:pt x="4465332" y="9133"/>
                  </a:moveTo>
                  <a:lnTo>
                    <a:pt x="4465332" y="300944"/>
                  </a:lnTo>
                  <a:cubicBezTo>
                    <a:pt x="4465332" y="303366"/>
                    <a:pt x="4464370" y="305689"/>
                    <a:pt x="4462657" y="307401"/>
                  </a:cubicBezTo>
                  <a:cubicBezTo>
                    <a:pt x="4460944" y="309114"/>
                    <a:pt x="4458622" y="310076"/>
                    <a:pt x="4456200" y="310076"/>
                  </a:cubicBezTo>
                  <a:lnTo>
                    <a:pt x="9133" y="310076"/>
                  </a:lnTo>
                  <a:cubicBezTo>
                    <a:pt x="6710" y="310076"/>
                    <a:pt x="4388" y="309114"/>
                    <a:pt x="2675" y="307401"/>
                  </a:cubicBezTo>
                  <a:cubicBezTo>
                    <a:pt x="962" y="305689"/>
                    <a:pt x="0" y="303366"/>
                    <a:pt x="0" y="300944"/>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17" name="TextBox 17"/>
            <p:cNvSpPr txBox="1"/>
            <p:nvPr/>
          </p:nvSpPr>
          <p:spPr>
            <a:xfrm>
              <a:off x="0" y="0"/>
              <a:ext cx="4465332" cy="310076"/>
            </a:xfrm>
            <a:prstGeom prst="rect">
              <a:avLst/>
            </a:prstGeom>
          </p:spPr>
          <p:txBody>
            <a:bodyPr lIns="254000" tIns="254000" rIns="254000" bIns="254000" rtlCol="0" anchor="ctr"/>
            <a:lstStyle/>
            <a:p>
              <a:pPr algn="l">
                <a:lnSpc>
                  <a:spcPts val="2940"/>
                </a:lnSpc>
              </a:pPr>
              <a:r>
                <a:rPr lang="en-US" sz="2100" b="1" spc="-63" dirty="0">
                  <a:solidFill>
                    <a:srgbClr val="FFFFFF"/>
                  </a:solidFill>
                  <a:latin typeface="TT Fors Bold"/>
                  <a:ea typeface="TT Fors Bold"/>
                  <a:cs typeface="TT Fors Bold"/>
                  <a:sym typeface="TT Fors Bold"/>
                </a:rPr>
                <a:t>Output: </a:t>
              </a:r>
              <a:r>
                <a:rPr lang="en-US" sz="2100" spc="-63" dirty="0">
                  <a:solidFill>
                    <a:srgbClr val="FFFFFF"/>
                  </a:solidFill>
                  <a:latin typeface="TT Fors"/>
                  <a:ea typeface="TT Fors"/>
                  <a:cs typeface="TT Fors"/>
                  <a:sym typeface="TT Fors"/>
                </a:rPr>
                <a:t>Visual graph showing all connections and relationships.</a:t>
              </a:r>
            </a:p>
            <a:p>
              <a:pPr algn="l">
                <a:lnSpc>
                  <a:spcPts val="2940"/>
                </a:lnSpc>
              </a:pPr>
              <a:r>
                <a:rPr lang="en-US" sz="2100" b="1" spc="-63" dirty="0" err="1">
                  <a:solidFill>
                    <a:srgbClr val="FFFFFF"/>
                  </a:solidFill>
                  <a:latin typeface="TT Fors Bold"/>
                  <a:ea typeface="TT Fors Bold"/>
                  <a:cs typeface="TT Fors Bold"/>
                  <a:sym typeface="TT Fors Bold"/>
                </a:rPr>
                <a:t>Maltego</a:t>
              </a:r>
              <a:r>
                <a:rPr lang="en-US" sz="2100" b="1" spc="-63" dirty="0">
                  <a:solidFill>
                    <a:srgbClr val="FFFFFF"/>
                  </a:solidFill>
                  <a:latin typeface="TT Fors Bold"/>
                  <a:ea typeface="TT Fors Bold"/>
                  <a:cs typeface="TT Fors Bold"/>
                  <a:sym typeface="TT Fors Bold"/>
                </a:rPr>
                <a:t> CE (Community Edition): </a:t>
              </a:r>
              <a:r>
                <a:rPr lang="en-US" sz="2100" spc="-63" dirty="0">
                  <a:solidFill>
                    <a:srgbClr val="FFFFFF"/>
                  </a:solidFill>
                  <a:latin typeface="TT Fors"/>
                  <a:ea typeface="TT Fors"/>
                  <a:cs typeface="TT Fors"/>
                  <a:sym typeface="TT Fors"/>
                </a:rPr>
                <a:t>Free version with limited transforms. Sufficient for learning and basic OSINT work.</a:t>
              </a:r>
            </a:p>
          </p:txBody>
        </p:sp>
      </p:grpSp>
      <p:grpSp>
        <p:nvGrpSpPr>
          <p:cNvPr id="18" name="Group 18"/>
          <p:cNvGrpSpPr/>
          <p:nvPr/>
        </p:nvGrpSpPr>
        <p:grpSpPr>
          <a:xfrm>
            <a:off x="16115522" y="751544"/>
            <a:ext cx="1505728" cy="810556"/>
            <a:chOff x="0" y="0"/>
            <a:chExt cx="2007638" cy="1080741"/>
          </a:xfrm>
        </p:grpSpPr>
        <p:grpSp>
          <p:nvGrpSpPr>
            <p:cNvPr id="19" name="Group 19"/>
            <p:cNvGrpSpPr/>
            <p:nvPr/>
          </p:nvGrpSpPr>
          <p:grpSpPr>
            <a:xfrm>
              <a:off x="0" y="0"/>
              <a:ext cx="1080741" cy="1080741"/>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926897" y="0"/>
              <a:ext cx="1080741" cy="1080741"/>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5" name="Freeform 25"/>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6" name="Freeform 26"/>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theH</a:t>
            </a:r>
            <a:r>
              <a:rPr lang="en-US" sz="6000" u="none" strike="noStrike" spc="-179">
                <a:solidFill>
                  <a:srgbClr val="00FFA8"/>
                </a:solidFill>
                <a:latin typeface="ITC Avant Garde Gothic"/>
                <a:ea typeface="ITC Avant Garde Gothic"/>
                <a:cs typeface="ITC Avant Garde Gothic"/>
                <a:sym typeface="ITC Avant Garde Gothic"/>
              </a:rPr>
              <a:t>arvester Tool</a:t>
            </a:r>
          </a:p>
        </p:txBody>
      </p:sp>
      <p:sp>
        <p:nvSpPr>
          <p:cNvPr id="3" name="TextBox 3"/>
          <p:cNvSpPr txBox="1"/>
          <p:nvPr/>
        </p:nvSpPr>
        <p:spPr>
          <a:xfrm>
            <a:off x="666750" y="2672151"/>
            <a:ext cx="16592550" cy="1099185"/>
          </a:xfrm>
          <a:prstGeom prst="rect">
            <a:avLst/>
          </a:prstGeom>
        </p:spPr>
        <p:txBody>
          <a:bodyPr lIns="0" tIns="0" rIns="0" bIns="0" rtlCol="0" anchor="t">
            <a:spAutoFit/>
          </a:bodyPr>
          <a:lstStyle/>
          <a:p>
            <a:pPr algn="l">
              <a:lnSpc>
                <a:spcPts val="2940"/>
              </a:lnSpc>
            </a:pPr>
            <a:r>
              <a:rPr lang="en-US" sz="2100" b="1">
                <a:solidFill>
                  <a:srgbClr val="00FFA8"/>
                </a:solidFill>
                <a:latin typeface="TT Fors Bold"/>
                <a:ea typeface="TT Fors Bold"/>
                <a:cs typeface="TT Fors Bold"/>
                <a:sym typeface="TT Fors Bold"/>
              </a:rPr>
              <a:t>Data Sources Used by theHarvester:</a:t>
            </a:r>
          </a:p>
          <a:p>
            <a:pPr marL="453393" lvl="1" indent="-226697" algn="l">
              <a:lnSpc>
                <a:spcPts val="2940"/>
              </a:lnSpc>
              <a:buFont typeface="Arial"/>
              <a:buChar char="•"/>
            </a:pPr>
            <a:r>
              <a:rPr lang="en-US" sz="2100">
                <a:solidFill>
                  <a:srgbClr val="00FFA8"/>
                </a:solidFill>
                <a:latin typeface="TT Fors"/>
                <a:ea typeface="TT Fors"/>
                <a:cs typeface="TT Fors"/>
                <a:sym typeface="TT Fors"/>
              </a:rPr>
              <a:t>Search engines (Google, Bing, Baidu, DuckDuckGo), LinkedIn, X, Shodan, Certificate transparency logs, Threat intelligence platforms, PGP Key Servers, Github, VirusTotal, DNS enumeration, Netcraft etc.</a:t>
            </a:r>
          </a:p>
        </p:txBody>
      </p:sp>
      <p:sp>
        <p:nvSpPr>
          <p:cNvPr id="4" name="TextBox 4"/>
          <p:cNvSpPr txBox="1"/>
          <p:nvPr/>
        </p:nvSpPr>
        <p:spPr>
          <a:xfrm>
            <a:off x="666750" y="2186376"/>
            <a:ext cx="16954500" cy="3524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theHarvester </a:t>
            </a:r>
            <a:r>
              <a:rPr lang="en-US" sz="2400" spc="-72">
                <a:solidFill>
                  <a:srgbClr val="FFFFFF"/>
                </a:solidFill>
                <a:latin typeface="TT Fors"/>
                <a:ea typeface="TT Fors"/>
                <a:cs typeface="TT Fors"/>
                <a:sym typeface="TT Fors"/>
              </a:rPr>
              <a:t>is an OSINT command-line tool designed to gather emails, subdomains, IPs, and URLs from public sou</a:t>
            </a:r>
            <a:r>
              <a:rPr lang="en-US" sz="2400" u="none" strike="noStrike" spc="-72">
                <a:solidFill>
                  <a:srgbClr val="FFFFFF"/>
                </a:solidFill>
                <a:latin typeface="TT Fors"/>
                <a:ea typeface="TT Fors"/>
                <a:cs typeface="TT Fors"/>
                <a:sym typeface="TT Fors"/>
              </a:rPr>
              <a:t>rces.</a:t>
            </a:r>
          </a:p>
        </p:txBody>
      </p:sp>
      <p:sp>
        <p:nvSpPr>
          <p:cNvPr id="5" name="TextBox 5"/>
          <p:cNvSpPr txBox="1"/>
          <p:nvPr/>
        </p:nvSpPr>
        <p:spPr>
          <a:xfrm>
            <a:off x="666750" y="4123418"/>
            <a:ext cx="5562039" cy="3962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Common Maltego Transforms:</a:t>
            </a:r>
          </a:p>
        </p:txBody>
      </p:sp>
      <p:grpSp>
        <p:nvGrpSpPr>
          <p:cNvPr id="6" name="Group 6"/>
          <p:cNvGrpSpPr/>
          <p:nvPr/>
        </p:nvGrpSpPr>
        <p:grpSpPr>
          <a:xfrm>
            <a:off x="666750" y="4713116"/>
            <a:ext cx="5244838" cy="4149091"/>
            <a:chOff x="0" y="0"/>
            <a:chExt cx="1381341" cy="1092792"/>
          </a:xfrm>
        </p:grpSpPr>
        <p:sp>
          <p:nvSpPr>
            <p:cNvPr id="7" name="Freeform 7"/>
            <p:cNvSpPr/>
            <p:nvPr/>
          </p:nvSpPr>
          <p:spPr>
            <a:xfrm>
              <a:off x="0" y="0"/>
              <a:ext cx="1381341" cy="1092792"/>
            </a:xfrm>
            <a:custGeom>
              <a:avLst/>
              <a:gdLst/>
              <a:ahLst/>
              <a:cxnLst/>
              <a:rect l="l" t="t" r="r" b="b"/>
              <a:pathLst>
                <a:path w="1381341" h="1092792">
                  <a:moveTo>
                    <a:pt x="1381341" y="29522"/>
                  </a:moveTo>
                  <a:lnTo>
                    <a:pt x="1381341" y="1063270"/>
                  </a:lnTo>
                  <a:cubicBezTo>
                    <a:pt x="1381341" y="1079575"/>
                    <a:pt x="1368123" y="1092792"/>
                    <a:pt x="1351819" y="1092792"/>
                  </a:cubicBezTo>
                  <a:lnTo>
                    <a:pt x="29522" y="1092792"/>
                  </a:lnTo>
                  <a:cubicBezTo>
                    <a:pt x="13217" y="1092792"/>
                    <a:pt x="0" y="1079575"/>
                    <a:pt x="0" y="1063270"/>
                  </a:cubicBezTo>
                  <a:lnTo>
                    <a:pt x="0" y="29522"/>
                  </a:lnTo>
                  <a:cubicBezTo>
                    <a:pt x="0" y="13217"/>
                    <a:pt x="13217" y="0"/>
                    <a:pt x="29522" y="0"/>
                  </a:cubicBezTo>
                  <a:lnTo>
                    <a:pt x="1351819" y="0"/>
                  </a:lnTo>
                  <a:cubicBezTo>
                    <a:pt x="1368123" y="0"/>
                    <a:pt x="1381341" y="13217"/>
                    <a:pt x="1381341" y="29522"/>
                  </a:cubicBezTo>
                  <a:close/>
                </a:path>
              </a:pathLst>
            </a:custGeom>
            <a:solidFill>
              <a:srgbClr val="1FBB7F"/>
            </a:solidFill>
            <a:ln cap="sq">
              <a:noFill/>
              <a:prstDash val="solid"/>
              <a:miter/>
            </a:ln>
          </p:spPr>
          <p:txBody>
            <a:bodyPr/>
            <a:lstStyle/>
            <a:p>
              <a:endParaRPr lang="en-US"/>
            </a:p>
          </p:txBody>
        </p:sp>
        <p:sp>
          <p:nvSpPr>
            <p:cNvPr id="8" name="TextBox 8"/>
            <p:cNvSpPr txBox="1"/>
            <p:nvPr/>
          </p:nvSpPr>
          <p:spPr>
            <a:xfrm>
              <a:off x="0" y="-38100"/>
              <a:ext cx="1381341" cy="1130892"/>
            </a:xfrm>
            <a:prstGeom prst="rect">
              <a:avLst/>
            </a:prstGeom>
          </p:spPr>
          <p:txBody>
            <a:bodyPr lIns="254000" tIns="254000" rIns="254000" bIns="254000" rtlCol="0" anchor="ctr"/>
            <a:lstStyle/>
            <a:p>
              <a:pPr algn="l">
                <a:lnSpc>
                  <a:spcPts val="2940"/>
                </a:lnSpc>
              </a:pPr>
              <a:r>
                <a:rPr lang="en-US" sz="2100" b="1" spc="-63">
                  <a:solidFill>
                    <a:srgbClr val="000000"/>
                  </a:solidFill>
                  <a:latin typeface="TT Fors Bold"/>
                  <a:ea typeface="TT Fors Bold"/>
                  <a:cs typeface="TT Fors Bold"/>
                  <a:sym typeface="TT Fors Bold"/>
                </a:rPr>
                <a:t>Basic Usage:</a:t>
              </a:r>
            </a:p>
            <a:p>
              <a:pPr algn="l">
                <a:lnSpc>
                  <a:spcPts val="2940"/>
                </a:lnSpc>
              </a:pPr>
              <a:r>
                <a:rPr lang="en-US" sz="2100" spc="-63">
                  <a:solidFill>
                    <a:srgbClr val="000000"/>
                  </a:solidFill>
                  <a:latin typeface="TT Fors"/>
                  <a:ea typeface="TT Fors"/>
                  <a:cs typeface="TT Fors"/>
                  <a:sym typeface="TT Fors"/>
                </a:rPr>
                <a:t>theHarvester -d example.com -b google</a:t>
              </a:r>
            </a:p>
            <a:p>
              <a:pPr algn="l">
                <a:lnSpc>
                  <a:spcPts val="2940"/>
                </a:lnSpc>
              </a:pPr>
              <a:r>
                <a:rPr lang="en-US" sz="2100" spc="-63">
                  <a:solidFill>
                    <a:srgbClr val="000000"/>
                  </a:solidFill>
                  <a:latin typeface="TT Fors"/>
                  <a:ea typeface="TT Fors"/>
                  <a:cs typeface="TT Fors"/>
                  <a:sym typeface="TT Fors"/>
                </a:rPr>
                <a:t>theHarvester -d example.com -b all</a:t>
              </a:r>
            </a:p>
            <a:p>
              <a:pPr algn="l">
                <a:lnSpc>
                  <a:spcPts val="2940"/>
                </a:lnSpc>
              </a:pPr>
              <a:r>
                <a:rPr lang="en-US" sz="2100" spc="-63">
                  <a:solidFill>
                    <a:srgbClr val="000000"/>
                  </a:solidFill>
                  <a:latin typeface="TT Fors"/>
                  <a:ea typeface="TT Fors"/>
                  <a:cs typeface="TT Fors"/>
                  <a:sym typeface="TT Fors"/>
                </a:rPr>
                <a:t>theHarvester -d example.com -b linkedin</a:t>
              </a:r>
            </a:p>
            <a:p>
              <a:pPr algn="l">
                <a:lnSpc>
                  <a:spcPts val="2940"/>
                </a:lnSpc>
              </a:pPr>
              <a:endParaRPr lang="en-US" sz="2100" spc="-63">
                <a:solidFill>
                  <a:srgbClr val="000000"/>
                </a:solidFill>
                <a:latin typeface="TT Fors"/>
                <a:ea typeface="TT Fors"/>
                <a:cs typeface="TT Fors"/>
                <a:sym typeface="TT Fors"/>
              </a:endParaRPr>
            </a:p>
            <a:p>
              <a:pPr algn="l">
                <a:lnSpc>
                  <a:spcPts val="2940"/>
                </a:lnSpc>
              </a:pPr>
              <a:r>
                <a:rPr lang="en-US" sz="2100" b="1" spc="-63">
                  <a:solidFill>
                    <a:srgbClr val="000000"/>
                  </a:solidFill>
                  <a:latin typeface="TT Fors Bold"/>
                  <a:ea typeface="TT Fors Bold"/>
                  <a:cs typeface="TT Fors Bold"/>
                  <a:sym typeface="TT Fors Bold"/>
                </a:rPr>
                <a:t>Output:</a:t>
              </a:r>
            </a:p>
            <a:p>
              <a:pPr marL="453398" lvl="1" indent="-226699" algn="l">
                <a:lnSpc>
                  <a:spcPts val="2940"/>
                </a:lnSpc>
                <a:buFont typeface="Arial"/>
                <a:buChar char="•"/>
              </a:pPr>
              <a:r>
                <a:rPr lang="en-US" sz="2100" spc="-63">
                  <a:solidFill>
                    <a:srgbClr val="000000"/>
                  </a:solidFill>
                  <a:latin typeface="TT Fors"/>
                  <a:ea typeface="TT Fors"/>
                  <a:cs typeface="TT Fors"/>
                  <a:sym typeface="TT Fors"/>
                </a:rPr>
                <a:t>Email addresses found</a:t>
              </a:r>
            </a:p>
            <a:p>
              <a:pPr marL="453398" lvl="1" indent="-226699" algn="l">
                <a:lnSpc>
                  <a:spcPts val="2940"/>
                </a:lnSpc>
                <a:buFont typeface="Arial"/>
                <a:buChar char="•"/>
              </a:pPr>
              <a:r>
                <a:rPr lang="en-US" sz="2100" spc="-63">
                  <a:solidFill>
                    <a:srgbClr val="000000"/>
                  </a:solidFill>
                  <a:latin typeface="TT Fors"/>
                  <a:ea typeface="TT Fors"/>
                  <a:cs typeface="TT Fors"/>
                  <a:sym typeface="TT Fors"/>
                </a:rPr>
                <a:t>Subdomains discovered</a:t>
              </a:r>
            </a:p>
            <a:p>
              <a:pPr marL="453398" lvl="1" indent="-226699" algn="l">
                <a:lnSpc>
                  <a:spcPts val="2940"/>
                </a:lnSpc>
                <a:buFont typeface="Arial"/>
                <a:buChar char="•"/>
              </a:pPr>
              <a:r>
                <a:rPr lang="en-US" sz="2100" spc="-63">
                  <a:solidFill>
                    <a:srgbClr val="000000"/>
                  </a:solidFill>
                  <a:latin typeface="TT Fors"/>
                  <a:ea typeface="TT Fors"/>
                  <a:cs typeface="TT Fors"/>
                  <a:sym typeface="TT Fors"/>
                </a:rPr>
                <a:t>Associated hostnames</a:t>
              </a:r>
            </a:p>
            <a:p>
              <a:pPr marL="453398" lvl="1" indent="-226699" algn="l">
                <a:lnSpc>
                  <a:spcPts val="2940"/>
                </a:lnSpc>
                <a:buFont typeface="Arial"/>
                <a:buChar char="•"/>
              </a:pPr>
              <a:r>
                <a:rPr lang="en-US" sz="2100" spc="-63">
                  <a:solidFill>
                    <a:srgbClr val="000000"/>
                  </a:solidFill>
                  <a:latin typeface="TT Fors"/>
                  <a:ea typeface="TT Fors"/>
                  <a:cs typeface="TT Fors"/>
                  <a:sym typeface="TT Fors"/>
                </a:rPr>
                <a:t>IP addresses</a:t>
              </a:r>
            </a:p>
          </p:txBody>
        </p:sp>
      </p:grpSp>
      <p:grpSp>
        <p:nvGrpSpPr>
          <p:cNvPr id="9" name="Group 9"/>
          <p:cNvGrpSpPr/>
          <p:nvPr/>
        </p:nvGrpSpPr>
        <p:grpSpPr>
          <a:xfrm>
            <a:off x="6228789" y="4713116"/>
            <a:ext cx="11199625" cy="4149091"/>
            <a:chOff x="0" y="0"/>
            <a:chExt cx="2949662" cy="1092792"/>
          </a:xfrm>
        </p:grpSpPr>
        <p:sp>
          <p:nvSpPr>
            <p:cNvPr id="10" name="Freeform 10"/>
            <p:cNvSpPr/>
            <p:nvPr/>
          </p:nvSpPr>
          <p:spPr>
            <a:xfrm>
              <a:off x="0" y="0"/>
              <a:ext cx="2949662" cy="1092792"/>
            </a:xfrm>
            <a:custGeom>
              <a:avLst/>
              <a:gdLst/>
              <a:ahLst/>
              <a:cxnLst/>
              <a:rect l="l" t="t" r="r" b="b"/>
              <a:pathLst>
                <a:path w="2949662" h="1092792">
                  <a:moveTo>
                    <a:pt x="2949662" y="13825"/>
                  </a:moveTo>
                  <a:lnTo>
                    <a:pt x="2949662" y="1078967"/>
                  </a:lnTo>
                  <a:cubicBezTo>
                    <a:pt x="2949662" y="1086602"/>
                    <a:pt x="2943472" y="1092792"/>
                    <a:pt x="2935837" y="1092792"/>
                  </a:cubicBezTo>
                  <a:lnTo>
                    <a:pt x="13825" y="1092792"/>
                  </a:lnTo>
                  <a:cubicBezTo>
                    <a:pt x="6190" y="1092792"/>
                    <a:pt x="0" y="1086602"/>
                    <a:pt x="0" y="1078967"/>
                  </a:cubicBezTo>
                  <a:lnTo>
                    <a:pt x="0" y="13825"/>
                  </a:lnTo>
                  <a:cubicBezTo>
                    <a:pt x="0" y="6190"/>
                    <a:pt x="6190" y="0"/>
                    <a:pt x="13825" y="0"/>
                  </a:cubicBezTo>
                  <a:lnTo>
                    <a:pt x="2935837" y="0"/>
                  </a:lnTo>
                  <a:cubicBezTo>
                    <a:pt x="2939503" y="0"/>
                    <a:pt x="2943020" y="1457"/>
                    <a:pt x="2945613" y="4049"/>
                  </a:cubicBezTo>
                  <a:cubicBezTo>
                    <a:pt x="2948206" y="6642"/>
                    <a:pt x="2949662" y="10159"/>
                    <a:pt x="2949662" y="13825"/>
                  </a:cubicBezTo>
                  <a:close/>
                </a:path>
              </a:pathLst>
            </a:custGeom>
            <a:solidFill>
              <a:srgbClr val="1FBB7F"/>
            </a:solidFill>
            <a:ln cap="sq">
              <a:noFill/>
              <a:prstDash val="solid"/>
              <a:miter/>
            </a:ln>
          </p:spPr>
          <p:txBody>
            <a:bodyPr/>
            <a:lstStyle/>
            <a:p>
              <a:endParaRPr lang="en-US"/>
            </a:p>
          </p:txBody>
        </p:sp>
        <p:sp>
          <p:nvSpPr>
            <p:cNvPr id="11" name="TextBox 11"/>
            <p:cNvSpPr txBox="1"/>
            <p:nvPr/>
          </p:nvSpPr>
          <p:spPr>
            <a:xfrm>
              <a:off x="0" y="-38100"/>
              <a:ext cx="2949662" cy="1130892"/>
            </a:xfrm>
            <a:prstGeom prst="rect">
              <a:avLst/>
            </a:prstGeom>
          </p:spPr>
          <p:txBody>
            <a:bodyPr lIns="254000" tIns="254000" rIns="254000" bIns="254000" rtlCol="0" anchor="t"/>
            <a:lstStyle/>
            <a:p>
              <a:pPr algn="l">
                <a:lnSpc>
                  <a:spcPts val="3220"/>
                </a:lnSpc>
              </a:pPr>
              <a:r>
                <a:rPr lang="en-US" sz="2300" b="1" spc="-69">
                  <a:solidFill>
                    <a:srgbClr val="000000"/>
                  </a:solidFill>
                  <a:latin typeface="TT Fors Bold"/>
                  <a:ea typeface="TT Fors Bold"/>
                  <a:cs typeface="TT Fors Bold"/>
                  <a:sym typeface="TT Fors Bold"/>
                </a:rPr>
                <a:t>Running a Step-by-Step Scan:</a:t>
              </a:r>
            </a:p>
            <a:p>
              <a:pPr algn="l">
                <a:lnSpc>
                  <a:spcPts val="3220"/>
                </a:lnSpc>
              </a:pPr>
              <a:endParaRPr lang="en-US" sz="2300" b="1" spc="-69">
                <a:solidFill>
                  <a:srgbClr val="000000"/>
                </a:solidFill>
                <a:latin typeface="TT Fors Bold"/>
                <a:ea typeface="TT Fors Bold"/>
                <a:cs typeface="TT Fors Bold"/>
                <a:sym typeface="TT Fors Bold"/>
              </a:endParaRPr>
            </a:p>
            <a:p>
              <a:pPr marL="496577" lvl="1" indent="-248289" algn="l">
                <a:lnSpc>
                  <a:spcPts val="3220"/>
                </a:lnSpc>
                <a:buAutoNum type="arabicPeriod"/>
              </a:pPr>
              <a:r>
                <a:rPr lang="en-US" sz="2300" b="1" spc="-69">
                  <a:solidFill>
                    <a:srgbClr val="000000"/>
                  </a:solidFill>
                  <a:latin typeface="TT Fors Bold"/>
                  <a:ea typeface="TT Fors Bold"/>
                  <a:cs typeface="TT Fors Bold"/>
                  <a:sym typeface="TT Fors Bold"/>
                </a:rPr>
                <a:t>Install theHarvester</a:t>
              </a:r>
              <a:r>
                <a:rPr lang="en-US" sz="2300" spc="-69">
                  <a:solidFill>
                    <a:srgbClr val="000000"/>
                  </a:solidFill>
                  <a:latin typeface="TT Fors"/>
                  <a:ea typeface="TT Fors"/>
                  <a:cs typeface="TT Fors"/>
                  <a:sym typeface="TT Fors"/>
                </a:rPr>
                <a:t> (usually pre-installed in Kali Linux at: </a:t>
              </a:r>
              <a:r>
                <a:rPr lang="en-US" sz="2300" spc="-69">
                  <a:solidFill>
                    <a:srgbClr val="FFFFFF"/>
                  </a:solidFill>
                  <a:latin typeface="TT Fors"/>
                  <a:ea typeface="TT Fors"/>
                  <a:cs typeface="TT Fors"/>
                  <a:sym typeface="TT Fors"/>
                </a:rPr>
                <a:t>/usr/bin/theHarvester</a:t>
              </a:r>
              <a:r>
                <a:rPr lang="en-US" sz="2300" spc="-69">
                  <a:solidFill>
                    <a:srgbClr val="000000"/>
                  </a:solidFill>
                  <a:latin typeface="TT Fors"/>
                  <a:ea typeface="TT Fors"/>
                  <a:cs typeface="TT Fors"/>
                  <a:sym typeface="TT Fors"/>
                </a:rPr>
                <a:t>)</a:t>
              </a:r>
            </a:p>
            <a:p>
              <a:pPr marL="496577" lvl="1" indent="-248289" algn="l">
                <a:lnSpc>
                  <a:spcPts val="3220"/>
                </a:lnSpc>
                <a:buAutoNum type="arabicPeriod"/>
              </a:pPr>
              <a:r>
                <a:rPr lang="en-US" sz="2300" b="1" spc="-69">
                  <a:solidFill>
                    <a:srgbClr val="000000"/>
                  </a:solidFill>
                  <a:latin typeface="TT Fors Bold"/>
                  <a:ea typeface="TT Fors Bold"/>
                  <a:cs typeface="TT Fors Bold"/>
                  <a:sym typeface="TT Fors Bold"/>
                </a:rPr>
                <a:t>Basic scan with bash command:</a:t>
              </a:r>
              <a:r>
                <a:rPr lang="en-US" sz="2300" spc="-69">
                  <a:solidFill>
                    <a:srgbClr val="000000"/>
                  </a:solidFill>
                  <a:latin typeface="TT Fors"/>
                  <a:ea typeface="TT Fors"/>
                  <a:cs typeface="TT Fors"/>
                  <a:sym typeface="TT Fors"/>
                </a:rPr>
                <a:t> </a:t>
              </a:r>
            </a:p>
            <a:p>
              <a:pPr marL="496577" lvl="1" indent="-248289" algn="l">
                <a:lnSpc>
                  <a:spcPts val="3220"/>
                </a:lnSpc>
                <a:buFont typeface="Arial"/>
                <a:buChar char="•"/>
              </a:pPr>
              <a:r>
                <a:rPr lang="en-US" sz="2300" spc="-69">
                  <a:solidFill>
                    <a:srgbClr val="FFFFFF"/>
                  </a:solidFill>
                  <a:latin typeface="TT Fors"/>
                  <a:ea typeface="TT Fors"/>
                  <a:cs typeface="TT Fors"/>
                  <a:sym typeface="TT Fors"/>
                </a:rPr>
                <a:t>theHarvester -d mmu.edu.my -b google -l 200</a:t>
              </a:r>
            </a:p>
            <a:p>
              <a:pPr marL="993154" lvl="2" indent="-331051" algn="l">
                <a:lnSpc>
                  <a:spcPts val="3220"/>
                </a:lnSpc>
                <a:buFont typeface="Arial"/>
                <a:buChar char="⚬"/>
              </a:pPr>
              <a:r>
                <a:rPr lang="en-US" sz="2300" spc="-69">
                  <a:solidFill>
                    <a:srgbClr val="FFFFFF"/>
                  </a:solidFill>
                  <a:latin typeface="TT Fors"/>
                  <a:ea typeface="TT Fors"/>
                  <a:cs typeface="TT Fors"/>
                  <a:sym typeface="TT Fors"/>
                </a:rPr>
                <a:t>-d: target domain, -b: data source, -l: limit number of results</a:t>
              </a:r>
            </a:p>
            <a:p>
              <a:pPr marL="496577" lvl="1" indent="-248289" algn="l">
                <a:lnSpc>
                  <a:spcPts val="3220"/>
                </a:lnSpc>
                <a:buAutoNum type="arabicPeriod"/>
              </a:pPr>
              <a:r>
                <a:rPr lang="en-US" sz="2300" b="1" spc="-69">
                  <a:solidFill>
                    <a:srgbClr val="000000"/>
                  </a:solidFill>
                  <a:latin typeface="TT Fors Bold"/>
                  <a:ea typeface="TT Fors Bold"/>
                  <a:cs typeface="TT Fors Bold"/>
                  <a:sym typeface="TT Fors Bold"/>
                </a:rPr>
                <a:t>Comprehensive scan with bash command:</a:t>
              </a:r>
              <a:r>
                <a:rPr lang="en-US" sz="2300" spc="-69">
                  <a:solidFill>
                    <a:srgbClr val="000000"/>
                  </a:solidFill>
                  <a:latin typeface="TT Fors"/>
                  <a:ea typeface="TT Fors"/>
                  <a:cs typeface="TT Fors"/>
                  <a:sym typeface="TT Fors"/>
                </a:rPr>
                <a:t> </a:t>
              </a:r>
            </a:p>
            <a:p>
              <a:pPr marL="496577" lvl="1" indent="-248289" algn="l">
                <a:lnSpc>
                  <a:spcPts val="3220"/>
                </a:lnSpc>
                <a:buFont typeface="Arial"/>
                <a:buChar char="•"/>
              </a:pPr>
              <a:r>
                <a:rPr lang="en-US" sz="2300" spc="-69">
                  <a:solidFill>
                    <a:srgbClr val="FFFFFF"/>
                  </a:solidFill>
                  <a:latin typeface="TT Fors"/>
                  <a:ea typeface="TT Fors"/>
                  <a:cs typeface="TT Fors"/>
                  <a:sym typeface="TT Fors"/>
                </a:rPr>
                <a:t>theHarvester -d mmu.edu.my -b all -f output.html</a:t>
              </a:r>
            </a:p>
            <a:p>
              <a:pPr marL="993154" lvl="2" indent="-331051" algn="l">
                <a:lnSpc>
                  <a:spcPts val="3220"/>
                </a:lnSpc>
                <a:buFont typeface="Arial"/>
                <a:buChar char="⚬"/>
              </a:pPr>
              <a:r>
                <a:rPr lang="en-US" sz="2300" spc="-69">
                  <a:solidFill>
                    <a:srgbClr val="FFFFFF"/>
                  </a:solidFill>
                  <a:latin typeface="TT Fors"/>
                  <a:ea typeface="TT Fors"/>
                  <a:cs typeface="TT Fors"/>
                  <a:sym typeface="TT Fors"/>
                </a:rPr>
                <a:t>-b all: use all sources, -f: save output to file</a:t>
              </a:r>
            </a:p>
          </p:txBody>
        </p:sp>
      </p:grpSp>
      <p:grpSp>
        <p:nvGrpSpPr>
          <p:cNvPr id="12" name="Group 12"/>
          <p:cNvGrpSpPr/>
          <p:nvPr/>
        </p:nvGrpSpPr>
        <p:grpSpPr>
          <a:xfrm>
            <a:off x="666750" y="9033657"/>
            <a:ext cx="16954500" cy="947421"/>
            <a:chOff x="0" y="0"/>
            <a:chExt cx="4465332" cy="249533"/>
          </a:xfrm>
        </p:grpSpPr>
        <p:sp>
          <p:nvSpPr>
            <p:cNvPr id="13" name="Freeform 13"/>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14" name="TextBox 14"/>
            <p:cNvSpPr txBox="1"/>
            <p:nvPr/>
          </p:nvSpPr>
          <p:spPr>
            <a:xfrm>
              <a:off x="0" y="0"/>
              <a:ext cx="4465332" cy="249533"/>
            </a:xfrm>
            <a:prstGeom prst="rect">
              <a:avLst/>
            </a:prstGeom>
          </p:spPr>
          <p:txBody>
            <a:bodyPr lIns="254000" tIns="254000" rIns="254000" bIns="254000" rtlCol="0" anchor="ctr"/>
            <a:lstStyle/>
            <a:p>
              <a:pPr algn="l">
                <a:lnSpc>
                  <a:spcPts val="2940"/>
                </a:lnSpc>
              </a:pPr>
              <a:r>
                <a:rPr lang="en-US" sz="2100" b="1" spc="-63" dirty="0">
                  <a:solidFill>
                    <a:srgbClr val="FFFFFF"/>
                  </a:solidFill>
                  <a:latin typeface="TT Fors Bold"/>
                  <a:ea typeface="TT Fors Bold"/>
                  <a:cs typeface="TT Fors Bold"/>
                  <a:sym typeface="TT Fors Bold"/>
                </a:rPr>
                <a:t>Analysis: </a:t>
              </a:r>
              <a:r>
                <a:rPr lang="en-US" sz="2100" spc="-63" dirty="0">
                  <a:solidFill>
                    <a:srgbClr val="FFFFFF"/>
                  </a:solidFill>
                  <a:latin typeface="TT Fors"/>
                  <a:ea typeface="TT Fors"/>
                  <a:cs typeface="TT Fors"/>
                  <a:sym typeface="TT Fors"/>
                </a:rPr>
                <a:t>Review discovered emails for phishing targets, Map subdomains for further reconnaissance, Identify potential attack surfaces</a:t>
              </a:r>
            </a:p>
          </p:txBody>
        </p:sp>
      </p:grpSp>
      <p:sp>
        <p:nvSpPr>
          <p:cNvPr id="15" name="TextBox 15"/>
          <p:cNvSpPr txBox="1"/>
          <p:nvPr/>
        </p:nvSpPr>
        <p:spPr>
          <a:xfrm>
            <a:off x="666750" y="1590675"/>
            <a:ext cx="7196436" cy="3524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00FFA8"/>
                </a:solidFill>
                <a:latin typeface="TT Fors Bold"/>
                <a:ea typeface="TT Fors Bold"/>
                <a:cs typeface="TT Fors Bold"/>
                <a:sym typeface="TT Fors Bold"/>
              </a:rPr>
              <a:t>Email and Subdomain Enumeration</a:t>
            </a:r>
          </a:p>
        </p:txBody>
      </p:sp>
      <p:grpSp>
        <p:nvGrpSpPr>
          <p:cNvPr id="16" name="Group 16"/>
          <p:cNvGrpSpPr/>
          <p:nvPr/>
        </p:nvGrpSpPr>
        <p:grpSpPr>
          <a:xfrm>
            <a:off x="16115522" y="751544"/>
            <a:ext cx="1505728" cy="810556"/>
            <a:chOff x="0" y="0"/>
            <a:chExt cx="2007638" cy="1080741"/>
          </a:xfrm>
        </p:grpSpPr>
        <p:grpSp>
          <p:nvGrpSpPr>
            <p:cNvPr id="17" name="Group 17"/>
            <p:cNvGrpSpPr/>
            <p:nvPr/>
          </p:nvGrpSpPr>
          <p:grpSpPr>
            <a:xfrm>
              <a:off x="0" y="0"/>
              <a:ext cx="1080741" cy="108074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926897" y="0"/>
              <a:ext cx="1080741" cy="1080741"/>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23" name="Freeform 23"/>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4" name="Freeform 24"/>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spc="-179">
                <a:solidFill>
                  <a:srgbClr val="00FFA8"/>
                </a:solidFill>
                <a:latin typeface="ITC Avant Garde Gothic"/>
                <a:ea typeface="ITC Avant Garde Gothic"/>
                <a:cs typeface="ITC Avant Garde Gothic"/>
                <a:sym typeface="ITC Avant Garde Gothic"/>
              </a:rPr>
              <a:t>Addition</a:t>
            </a:r>
            <a:r>
              <a:rPr lang="en-US" sz="6000" u="none" strike="noStrike" spc="-179">
                <a:solidFill>
                  <a:srgbClr val="00FFA8"/>
                </a:solidFill>
                <a:latin typeface="ITC Avant Garde Gothic"/>
                <a:ea typeface="ITC Avant Garde Gothic"/>
                <a:cs typeface="ITC Avant Garde Gothic"/>
                <a:sym typeface="ITC Avant Garde Gothic"/>
              </a:rPr>
              <a:t>al OSINT Tools</a:t>
            </a:r>
          </a:p>
        </p:txBody>
      </p:sp>
      <p:grpSp>
        <p:nvGrpSpPr>
          <p:cNvPr id="3" name="Group 3"/>
          <p:cNvGrpSpPr/>
          <p:nvPr/>
        </p:nvGrpSpPr>
        <p:grpSpPr>
          <a:xfrm>
            <a:off x="666750" y="9033657"/>
            <a:ext cx="16954500" cy="947421"/>
            <a:chOff x="0" y="0"/>
            <a:chExt cx="4465332" cy="249533"/>
          </a:xfrm>
        </p:grpSpPr>
        <p:sp>
          <p:nvSpPr>
            <p:cNvPr id="4" name="Freeform 4"/>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5" name="TextBox 5"/>
            <p:cNvSpPr txBox="1"/>
            <p:nvPr/>
          </p:nvSpPr>
          <p:spPr>
            <a:xfrm>
              <a:off x="0" y="0"/>
              <a:ext cx="4465332" cy="249533"/>
            </a:xfrm>
            <a:prstGeom prst="rect">
              <a:avLst/>
            </a:prstGeom>
          </p:spPr>
          <p:txBody>
            <a:bodyPr lIns="254000" tIns="254000" rIns="254000" bIns="254000" rtlCol="0" anchor="ctr"/>
            <a:lstStyle/>
            <a:p>
              <a:pPr algn="l">
                <a:lnSpc>
                  <a:spcPts val="2940"/>
                </a:lnSpc>
              </a:pPr>
              <a:r>
                <a:rPr lang="en-US" sz="2100" b="1" spc="-63" dirty="0">
                  <a:solidFill>
                    <a:srgbClr val="FFFFFF"/>
                  </a:solidFill>
                  <a:latin typeface="TT Fors Bold"/>
                  <a:ea typeface="TT Fors Bold"/>
                  <a:cs typeface="TT Fors Bold"/>
                  <a:sym typeface="TT Fors Bold"/>
                </a:rPr>
                <a:t>Website: </a:t>
              </a:r>
              <a:r>
                <a:rPr lang="en-US" sz="2100" spc="-63" dirty="0">
                  <a:solidFill>
                    <a:srgbClr val="FFFFFF"/>
                  </a:solidFill>
                  <a:latin typeface="TT Fors"/>
                  <a:ea typeface="TT Fors"/>
                  <a:cs typeface="TT Fors"/>
                  <a:sym typeface="TT Fors"/>
                </a:rPr>
                <a:t>Each tool has official documentation and GitHub repositories.</a:t>
              </a:r>
            </a:p>
          </p:txBody>
        </p:sp>
      </p:grpSp>
      <p:sp>
        <p:nvSpPr>
          <p:cNvPr id="6" name="TextBox 6"/>
          <p:cNvSpPr txBox="1"/>
          <p:nvPr/>
        </p:nvSpPr>
        <p:spPr>
          <a:xfrm>
            <a:off x="666750" y="1590675"/>
            <a:ext cx="7196436" cy="3524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00FFA8"/>
                </a:solidFill>
                <a:latin typeface="TT Fors Bold"/>
                <a:ea typeface="TT Fors Bold"/>
                <a:cs typeface="TT Fors Bold"/>
                <a:sym typeface="TT Fors Bold"/>
              </a:rPr>
              <a:t>Expanding Your Toolkit</a:t>
            </a:r>
          </a:p>
        </p:txBody>
      </p:sp>
      <p:grpSp>
        <p:nvGrpSpPr>
          <p:cNvPr id="7" name="Group 7"/>
          <p:cNvGrpSpPr/>
          <p:nvPr/>
        </p:nvGrpSpPr>
        <p:grpSpPr>
          <a:xfrm>
            <a:off x="16115522" y="751544"/>
            <a:ext cx="1505728" cy="810556"/>
            <a:chOff x="0" y="0"/>
            <a:chExt cx="2007638" cy="1080741"/>
          </a:xfrm>
        </p:grpSpPr>
        <p:grpSp>
          <p:nvGrpSpPr>
            <p:cNvPr id="8" name="Group 8"/>
            <p:cNvGrpSpPr/>
            <p:nvPr/>
          </p:nvGrpSpPr>
          <p:grpSpPr>
            <a:xfrm>
              <a:off x="0" y="0"/>
              <a:ext cx="1080741" cy="10807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926897" y="0"/>
              <a:ext cx="1080741" cy="108074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5" name="Freeform 15"/>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graphicFrame>
        <p:nvGraphicFramePr>
          <p:cNvPr id="16" name="Table 16"/>
          <p:cNvGraphicFramePr>
            <a:graphicFrameLocks noGrp="1"/>
          </p:cNvGraphicFramePr>
          <p:nvPr/>
        </p:nvGraphicFramePr>
        <p:xfrm>
          <a:off x="666750" y="2261382"/>
          <a:ext cx="16954500" cy="6006464"/>
        </p:xfrm>
        <a:graphic>
          <a:graphicData uri="http://schemas.openxmlformats.org/drawingml/2006/table">
            <a:tbl>
              <a:tblPr/>
              <a:tblGrid>
                <a:gridCol w="4865342">
                  <a:extLst>
                    <a:ext uri="{9D8B030D-6E8A-4147-A177-3AD203B41FA5}">
                      <a16:colId xmlns:a16="http://schemas.microsoft.com/office/drawing/2014/main" val="20000"/>
                    </a:ext>
                  </a:extLst>
                </a:gridCol>
                <a:gridCol w="12089158">
                  <a:extLst>
                    <a:ext uri="{9D8B030D-6E8A-4147-A177-3AD203B41FA5}">
                      <a16:colId xmlns:a16="http://schemas.microsoft.com/office/drawing/2014/main" val="20001"/>
                    </a:ext>
                  </a:extLst>
                </a:gridCol>
              </a:tblGrid>
              <a:tr h="753444">
                <a:tc>
                  <a:txBody>
                    <a:bodyPr/>
                    <a:lstStyle/>
                    <a:p>
                      <a:pPr algn="l">
                        <a:lnSpc>
                          <a:spcPts val="2940"/>
                        </a:lnSpc>
                        <a:defRPr/>
                      </a:pPr>
                      <a:r>
                        <a:rPr lang="en-US" sz="2100" b="1">
                          <a:solidFill>
                            <a:srgbClr val="000000"/>
                          </a:solidFill>
                          <a:latin typeface="TT Fors Bold"/>
                          <a:ea typeface="TT Fors Bold"/>
                          <a:cs typeface="TT Fors Bold"/>
                          <a:sym typeface="TT Fors Bold"/>
                        </a:rPr>
                        <a:t>Tools</a:t>
                      </a:r>
                      <a:endParaRPr lang="en-US" sz="1100"/>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l">
                        <a:lnSpc>
                          <a:spcPts val="2940"/>
                        </a:lnSpc>
                        <a:defRPr/>
                      </a:pPr>
                      <a:r>
                        <a:rPr lang="en-US" sz="2100" b="1">
                          <a:solidFill>
                            <a:srgbClr val="000000"/>
                          </a:solidFill>
                          <a:latin typeface="TT Fors Bold"/>
                          <a:ea typeface="TT Fors Bold"/>
                          <a:cs typeface="TT Fors Bold"/>
                          <a:sym typeface="TT Fors Bold"/>
                        </a:rPr>
                        <a:t>Descriptions/Features</a:t>
                      </a:r>
                      <a:endParaRPr lang="en-US" sz="1100"/>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extLst>
                  <a:ext uri="{0D108BD9-81ED-4DB2-BD59-A6C34878D82A}">
                    <a16:rowId xmlns:a16="http://schemas.microsoft.com/office/drawing/2014/main" val="10000"/>
                  </a:ext>
                </a:extLst>
              </a:tr>
              <a:tr h="1313255">
                <a:tc>
                  <a:txBody>
                    <a:bodyPr/>
                    <a:lstStyle/>
                    <a:p>
                      <a:pPr algn="l">
                        <a:lnSpc>
                          <a:spcPts val="2940"/>
                        </a:lnSpc>
                        <a:defRPr/>
                      </a:pPr>
                      <a:r>
                        <a:rPr lang="en-US" sz="2100" b="1">
                          <a:solidFill>
                            <a:srgbClr val="FFFFFF"/>
                          </a:solidFill>
                          <a:latin typeface="TT Fors Bold"/>
                          <a:ea typeface="TT Fors Bold"/>
                          <a:cs typeface="TT Fors Bold"/>
                          <a:sym typeface="TT Fors Bold"/>
                        </a:rPr>
                        <a:t>Recon-ng</a:t>
                      </a:r>
                      <a:endParaRPr lang="en-US" sz="1100"/>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marL="453390" lvl="1" indent="-226695" algn="l">
                        <a:lnSpc>
                          <a:spcPts val="2940"/>
                        </a:lnSpc>
                        <a:buFont typeface="Arial"/>
                        <a:buChar char="•"/>
                        <a:defRPr/>
                      </a:pPr>
                      <a:r>
                        <a:rPr lang="en-US" sz="2100">
                          <a:solidFill>
                            <a:srgbClr val="FFFFFF"/>
                          </a:solidFill>
                          <a:latin typeface="TT Fors"/>
                          <a:ea typeface="TT Fors"/>
                          <a:cs typeface="TT Fors"/>
                          <a:sym typeface="TT Fors"/>
                        </a:rPr>
                        <a:t>Modular web reconnaissance framework</a:t>
                      </a:r>
                      <a:endParaRPr lang="en-US" sz="1100"/>
                    </a:p>
                    <a:p>
                      <a:pPr marL="453390" lvl="1" indent="-226695" algn="l">
                        <a:lnSpc>
                          <a:spcPts val="2940"/>
                        </a:lnSpc>
                        <a:buFont typeface="Arial"/>
                        <a:buChar char="•"/>
                      </a:pPr>
                      <a:r>
                        <a:rPr lang="en-US" sz="2100">
                          <a:solidFill>
                            <a:srgbClr val="FFFFFF"/>
                          </a:solidFill>
                          <a:latin typeface="TT Fors"/>
                          <a:ea typeface="TT Fors"/>
                          <a:cs typeface="TT Fors"/>
                          <a:sym typeface="TT Fors"/>
                        </a:rPr>
                        <a:t>Similar to Metasploit in structure</a:t>
                      </a:r>
                    </a:p>
                    <a:p>
                      <a:pPr marL="453390" lvl="1" indent="-226695" algn="l">
                        <a:lnSpc>
                          <a:spcPts val="2940"/>
                        </a:lnSpc>
                        <a:buFont typeface="Arial"/>
                        <a:buChar char="•"/>
                      </a:pPr>
                      <a:r>
                        <a:rPr lang="en-US" sz="2100">
                          <a:solidFill>
                            <a:srgbClr val="FFFFFF"/>
                          </a:solidFill>
                          <a:latin typeface="TT Fors"/>
                          <a:ea typeface="TT Fors"/>
                          <a:cs typeface="TT Fors"/>
                          <a:sym typeface="TT Fors"/>
                        </a:rPr>
                        <a:t>Automated information gathering</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1"/>
                  </a:ext>
                </a:extLst>
              </a:tr>
              <a:tr h="1313255">
                <a:tc>
                  <a:txBody>
                    <a:bodyPr/>
                    <a:lstStyle/>
                    <a:p>
                      <a:pPr algn="l">
                        <a:lnSpc>
                          <a:spcPts val="2940"/>
                        </a:lnSpc>
                        <a:defRPr/>
                      </a:pPr>
                      <a:r>
                        <a:rPr lang="en-US" sz="2100" b="1">
                          <a:solidFill>
                            <a:srgbClr val="FFFFFF"/>
                          </a:solidFill>
                          <a:latin typeface="TT Fors Bold"/>
                          <a:ea typeface="TT Fors Bold"/>
                          <a:cs typeface="TT Fors Bold"/>
                          <a:sym typeface="TT Fors Bold"/>
                        </a:rPr>
                        <a:t>Spiderfoot</a:t>
                      </a:r>
                      <a:endParaRPr lang="en-US" sz="1100"/>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marL="453390" lvl="1" indent="-226695" algn="l">
                        <a:lnSpc>
                          <a:spcPts val="2940"/>
                        </a:lnSpc>
                        <a:buFont typeface="Arial"/>
                        <a:buChar char="•"/>
                        <a:defRPr/>
                      </a:pPr>
                      <a:r>
                        <a:rPr lang="en-US" sz="2100">
                          <a:solidFill>
                            <a:srgbClr val="FFFFFF"/>
                          </a:solidFill>
                          <a:latin typeface="TT Fors"/>
                          <a:ea typeface="TT Fors"/>
                          <a:cs typeface="TT Fors"/>
                          <a:sym typeface="TT Fors"/>
                        </a:rPr>
                        <a:t>Automated OSINT tool</a:t>
                      </a:r>
                      <a:endParaRPr lang="en-US" sz="1100"/>
                    </a:p>
                    <a:p>
                      <a:pPr marL="453390" lvl="1" indent="-226695" algn="l">
                        <a:lnSpc>
                          <a:spcPts val="2940"/>
                        </a:lnSpc>
                        <a:buFont typeface="Arial"/>
                        <a:buChar char="•"/>
                      </a:pPr>
                      <a:r>
                        <a:rPr lang="en-US" sz="2100">
                          <a:solidFill>
                            <a:srgbClr val="FFFFFF"/>
                          </a:solidFill>
                          <a:latin typeface="TT Fors"/>
                          <a:ea typeface="TT Fors"/>
                          <a:cs typeface="TT Fors"/>
                          <a:sym typeface="TT Fors"/>
                        </a:rPr>
                        <a:t>200+ modules for data collection</a:t>
                      </a:r>
                    </a:p>
                    <a:p>
                      <a:pPr marL="453390" lvl="1" indent="-226695" algn="l">
                        <a:lnSpc>
                          <a:spcPts val="2940"/>
                        </a:lnSpc>
                        <a:buFont typeface="Arial"/>
                        <a:buChar char="•"/>
                      </a:pPr>
                      <a:r>
                        <a:rPr lang="en-US" sz="2100">
                          <a:solidFill>
                            <a:srgbClr val="FFFFFF"/>
                          </a:solidFill>
                          <a:latin typeface="TT Fors"/>
                          <a:ea typeface="TT Fors"/>
                          <a:cs typeface="TT Fors"/>
                          <a:sym typeface="TT Fors"/>
                        </a:rPr>
                        <a:t>Web-based interface</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2"/>
                  </a:ext>
                </a:extLst>
              </a:tr>
              <a:tr h="1313255">
                <a:tc>
                  <a:txBody>
                    <a:bodyPr/>
                    <a:lstStyle/>
                    <a:p>
                      <a:pPr algn="l">
                        <a:lnSpc>
                          <a:spcPts val="2940"/>
                        </a:lnSpc>
                        <a:defRPr/>
                      </a:pPr>
                      <a:r>
                        <a:rPr lang="en-US" sz="2100" b="1">
                          <a:solidFill>
                            <a:srgbClr val="FFFFFF"/>
                          </a:solidFill>
                          <a:latin typeface="TT Fors Bold"/>
                          <a:ea typeface="TT Fors Bold"/>
                          <a:cs typeface="TT Fors Bold"/>
                          <a:sym typeface="TT Fors Bold"/>
                        </a:rPr>
                        <a:t>FOCA (Windows)</a:t>
                      </a:r>
                      <a:endParaRPr lang="en-US" sz="1100"/>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marL="453390" lvl="1" indent="-226695" algn="l">
                        <a:lnSpc>
                          <a:spcPts val="2940"/>
                        </a:lnSpc>
                        <a:buFont typeface="Arial"/>
                        <a:buChar char="•"/>
                        <a:defRPr/>
                      </a:pPr>
                      <a:r>
                        <a:rPr lang="en-US" sz="2100">
                          <a:solidFill>
                            <a:srgbClr val="FFFFFF"/>
                          </a:solidFill>
                          <a:latin typeface="TT Fors"/>
                          <a:ea typeface="TT Fors"/>
                          <a:cs typeface="TT Fors"/>
                          <a:sym typeface="TT Fors"/>
                        </a:rPr>
                        <a:t>Metadata extraction</a:t>
                      </a:r>
                      <a:endParaRPr lang="en-US" sz="1100"/>
                    </a:p>
                    <a:p>
                      <a:pPr marL="453390" lvl="1" indent="-226695" algn="l">
                        <a:lnSpc>
                          <a:spcPts val="2940"/>
                        </a:lnSpc>
                        <a:buFont typeface="Arial"/>
                        <a:buChar char="•"/>
                      </a:pPr>
                      <a:r>
                        <a:rPr lang="en-US" sz="2100">
                          <a:solidFill>
                            <a:srgbClr val="FFFFFF"/>
                          </a:solidFill>
                          <a:latin typeface="TT Fors"/>
                          <a:ea typeface="TT Fors"/>
                          <a:cs typeface="TT Fors"/>
                          <a:sym typeface="TT Fors"/>
                        </a:rPr>
                        <a:t>Document fingerprinting</a:t>
                      </a:r>
                    </a:p>
                    <a:p>
                      <a:pPr marL="453390" lvl="1" indent="-226695" algn="l">
                        <a:lnSpc>
                          <a:spcPts val="2940"/>
                        </a:lnSpc>
                        <a:buFont typeface="Arial"/>
                        <a:buChar char="•"/>
                      </a:pPr>
                      <a:r>
                        <a:rPr lang="en-US" sz="2100">
                          <a:solidFill>
                            <a:srgbClr val="FFFFFF"/>
                          </a:solidFill>
                          <a:latin typeface="TT Fors"/>
                          <a:ea typeface="TT Fors"/>
                          <a:cs typeface="TT Fors"/>
                          <a:sym typeface="TT Fors"/>
                        </a:rPr>
                        <a:t>Network infrastructure discovery</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3"/>
                  </a:ext>
                </a:extLst>
              </a:tr>
              <a:tr h="1313255">
                <a:tc>
                  <a:txBody>
                    <a:bodyPr/>
                    <a:lstStyle/>
                    <a:p>
                      <a:pPr algn="l">
                        <a:lnSpc>
                          <a:spcPts val="2940"/>
                        </a:lnSpc>
                        <a:defRPr/>
                      </a:pPr>
                      <a:r>
                        <a:rPr lang="en-US" sz="2100" b="1">
                          <a:solidFill>
                            <a:srgbClr val="FFFFFF"/>
                          </a:solidFill>
                          <a:latin typeface="TT Fors Bold"/>
                          <a:ea typeface="TT Fors Bold"/>
                          <a:cs typeface="TT Fors Bold"/>
                          <a:sym typeface="TT Fors Bold"/>
                        </a:rPr>
                        <a:t>Sublist3r</a:t>
                      </a:r>
                      <a:endParaRPr lang="en-US" sz="1100"/>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marL="453390" lvl="1" indent="-226695" algn="l">
                        <a:lnSpc>
                          <a:spcPts val="2940"/>
                        </a:lnSpc>
                        <a:buFont typeface="Arial"/>
                        <a:buChar char="•"/>
                        <a:defRPr/>
                      </a:pPr>
                      <a:r>
                        <a:rPr lang="en-US" sz="2100">
                          <a:solidFill>
                            <a:srgbClr val="FFFFFF"/>
                          </a:solidFill>
                          <a:latin typeface="TT Fors"/>
                          <a:ea typeface="TT Fors"/>
                          <a:cs typeface="TT Fors"/>
                          <a:sym typeface="TT Fors"/>
                        </a:rPr>
                        <a:t>Fast subdomain enumeration</a:t>
                      </a:r>
                      <a:endParaRPr lang="en-US" sz="1100"/>
                    </a:p>
                    <a:p>
                      <a:pPr marL="453390" lvl="1" indent="-226695" algn="l">
                        <a:lnSpc>
                          <a:spcPts val="2940"/>
                        </a:lnSpc>
                        <a:buFont typeface="Arial"/>
                        <a:buChar char="•"/>
                      </a:pPr>
                      <a:r>
                        <a:rPr lang="en-US" sz="2100">
                          <a:solidFill>
                            <a:srgbClr val="FFFFFF"/>
                          </a:solidFill>
                          <a:latin typeface="TT Fors"/>
                          <a:ea typeface="TT Fors"/>
                          <a:cs typeface="TT Fors"/>
                          <a:sym typeface="TT Fors"/>
                        </a:rPr>
                        <a:t>Multiple source integration</a:t>
                      </a:r>
                    </a:p>
                    <a:p>
                      <a:pPr marL="453390" lvl="1" indent="-226695" algn="l">
                        <a:lnSpc>
                          <a:spcPts val="2940"/>
                        </a:lnSpc>
                        <a:buFont typeface="Arial"/>
                        <a:buChar char="•"/>
                      </a:pPr>
                      <a:r>
                        <a:rPr lang="en-US" sz="2100">
                          <a:solidFill>
                            <a:srgbClr val="FFFFFF"/>
                          </a:solidFill>
                          <a:latin typeface="TT Fors"/>
                          <a:ea typeface="TT Fors"/>
                          <a:cs typeface="TT Fors"/>
                          <a:sym typeface="TT Fors"/>
                        </a:rPr>
                        <a:t>Simple to use</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spc="-180">
                <a:solidFill>
                  <a:srgbClr val="00FFA8"/>
                </a:solidFill>
                <a:latin typeface="ITC Avant Garde Gothic"/>
                <a:ea typeface="ITC Avant Garde Gothic"/>
                <a:cs typeface="ITC Avant Garde Gothic"/>
                <a:sym typeface="ITC Avant Garde Gothic"/>
              </a:rPr>
              <a:t>N</a:t>
            </a:r>
            <a:r>
              <a:rPr lang="en-US" sz="6000" u="none" strike="noStrike" spc="-180">
                <a:solidFill>
                  <a:srgbClr val="00FFA8"/>
                </a:solidFill>
                <a:latin typeface="ITC Avant Garde Gothic"/>
                <a:ea typeface="ITC Avant Garde Gothic"/>
                <a:cs typeface="ITC Avant Garde Gothic"/>
                <a:sym typeface="ITC Avant Garde Gothic"/>
              </a:rPr>
              <a:t>etcraft Site Report - Web Server Intelligence</a:t>
            </a:r>
          </a:p>
        </p:txBody>
      </p:sp>
      <p:sp>
        <p:nvSpPr>
          <p:cNvPr id="3" name="TextBox 3"/>
          <p:cNvSpPr txBox="1"/>
          <p:nvPr/>
        </p:nvSpPr>
        <p:spPr>
          <a:xfrm>
            <a:off x="666750" y="3126467"/>
            <a:ext cx="8093229" cy="45872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Information Provided:</a:t>
            </a:r>
          </a:p>
          <a:p>
            <a:pPr marL="518162" lvl="1" indent="-259081" algn="l">
              <a:lnSpc>
                <a:spcPts val="3360"/>
              </a:lnSpc>
              <a:buFont typeface="Arial"/>
              <a:buChar char="•"/>
            </a:pPr>
            <a:r>
              <a:rPr lang="en-US" sz="2400">
                <a:solidFill>
                  <a:srgbClr val="00FFA8"/>
                </a:solidFill>
                <a:latin typeface="TT Fors"/>
                <a:ea typeface="TT Fors"/>
                <a:cs typeface="TT Fors"/>
                <a:sym typeface="TT Fors"/>
              </a:rPr>
              <a:t>Web server software and version (Apache, Nginx, IIS)</a:t>
            </a:r>
          </a:p>
          <a:p>
            <a:pPr marL="518162" lvl="1" indent="-259081" algn="l">
              <a:lnSpc>
                <a:spcPts val="3360"/>
              </a:lnSpc>
              <a:buFont typeface="Arial"/>
              <a:buChar char="•"/>
            </a:pPr>
            <a:r>
              <a:rPr lang="en-US" sz="2400">
                <a:solidFill>
                  <a:srgbClr val="00FFA8"/>
                </a:solidFill>
                <a:latin typeface="TT Fors"/>
                <a:ea typeface="TT Fors"/>
                <a:cs typeface="TT Fors"/>
                <a:sym typeface="TT Fors"/>
              </a:rPr>
              <a:t>Operating system</a:t>
            </a:r>
          </a:p>
          <a:p>
            <a:pPr marL="518162" lvl="1" indent="-259081" algn="l">
              <a:lnSpc>
                <a:spcPts val="3360"/>
              </a:lnSpc>
              <a:buFont typeface="Arial"/>
              <a:buChar char="•"/>
            </a:pPr>
            <a:r>
              <a:rPr lang="en-US" sz="2400">
                <a:solidFill>
                  <a:srgbClr val="00FFA8"/>
                </a:solidFill>
                <a:latin typeface="TT Fors"/>
                <a:ea typeface="TT Fors"/>
                <a:cs typeface="TT Fors"/>
                <a:sym typeface="TT Fors"/>
              </a:rPr>
              <a:t>Hosting provider</a:t>
            </a:r>
          </a:p>
          <a:p>
            <a:pPr marL="518162" lvl="1" indent="-259081" algn="l">
              <a:lnSpc>
                <a:spcPts val="3360"/>
              </a:lnSpc>
              <a:buFont typeface="Arial"/>
              <a:buChar char="•"/>
            </a:pPr>
            <a:r>
              <a:rPr lang="en-US" sz="2400">
                <a:solidFill>
                  <a:srgbClr val="00FFA8"/>
                </a:solidFill>
                <a:latin typeface="TT Fors"/>
                <a:ea typeface="TT Fors"/>
                <a:cs typeface="TT Fors"/>
                <a:sym typeface="TT Fors"/>
              </a:rPr>
              <a:t>Technology stack</a:t>
            </a:r>
          </a:p>
          <a:p>
            <a:pPr marL="518162" lvl="1" indent="-259081" algn="l">
              <a:lnSpc>
                <a:spcPts val="3360"/>
              </a:lnSpc>
              <a:buFont typeface="Arial"/>
              <a:buChar char="•"/>
            </a:pPr>
            <a:r>
              <a:rPr lang="en-US" sz="2400">
                <a:solidFill>
                  <a:srgbClr val="00FFA8"/>
                </a:solidFill>
                <a:latin typeface="TT Fors"/>
                <a:ea typeface="TT Fors"/>
                <a:cs typeface="TT Fors"/>
                <a:sym typeface="TT Fors"/>
              </a:rPr>
              <a:t>Site uptime history</a:t>
            </a:r>
          </a:p>
          <a:p>
            <a:pPr marL="518162" lvl="1" indent="-259081" algn="l">
              <a:lnSpc>
                <a:spcPts val="3360"/>
              </a:lnSpc>
              <a:buFont typeface="Arial"/>
              <a:buChar char="•"/>
            </a:pPr>
            <a:r>
              <a:rPr lang="en-US" sz="2400">
                <a:solidFill>
                  <a:srgbClr val="00FFA8"/>
                </a:solidFill>
                <a:latin typeface="TT Fors"/>
                <a:ea typeface="TT Fors"/>
                <a:cs typeface="TT Fors"/>
                <a:sym typeface="TT Fors"/>
              </a:rPr>
              <a:t>SSL/TLS certificate details</a:t>
            </a:r>
          </a:p>
          <a:p>
            <a:pPr marL="518162" lvl="1" indent="-259081" algn="l">
              <a:lnSpc>
                <a:spcPts val="3360"/>
              </a:lnSpc>
              <a:buFont typeface="Arial"/>
              <a:buChar char="•"/>
            </a:pPr>
            <a:r>
              <a:rPr lang="en-US" sz="2400">
                <a:solidFill>
                  <a:srgbClr val="00FFA8"/>
                </a:solidFill>
                <a:latin typeface="TT Fors"/>
                <a:ea typeface="TT Fors"/>
                <a:cs typeface="TT Fors"/>
                <a:sym typeface="TT Fors"/>
              </a:rPr>
              <a:t>Historical DNS records</a:t>
            </a:r>
          </a:p>
          <a:p>
            <a:pPr marL="518162" lvl="1" indent="-259081" algn="l">
              <a:lnSpc>
                <a:spcPts val="3360"/>
              </a:lnSpc>
              <a:buFont typeface="Arial"/>
              <a:buChar char="•"/>
            </a:pPr>
            <a:r>
              <a:rPr lang="en-US" sz="2400">
                <a:solidFill>
                  <a:srgbClr val="00FFA8"/>
                </a:solidFill>
                <a:latin typeface="TT Fors"/>
                <a:ea typeface="TT Fors"/>
                <a:cs typeface="TT Fors"/>
                <a:sym typeface="TT Fors"/>
              </a:rPr>
              <a:t>Hosting location</a:t>
            </a:r>
          </a:p>
          <a:p>
            <a:pPr marL="518162" lvl="1" indent="-259081" algn="l">
              <a:lnSpc>
                <a:spcPts val="3360"/>
              </a:lnSpc>
              <a:buFont typeface="Arial"/>
              <a:buChar char="•"/>
            </a:pPr>
            <a:r>
              <a:rPr lang="en-US" sz="2400">
                <a:solidFill>
                  <a:srgbClr val="00FFA8"/>
                </a:solidFill>
                <a:latin typeface="TT Fors"/>
                <a:ea typeface="TT Fors"/>
                <a:cs typeface="TT Fors"/>
                <a:sym typeface="TT Fors"/>
              </a:rPr>
              <a:t>Subdomain discovery</a:t>
            </a:r>
          </a:p>
          <a:p>
            <a:pPr marL="518162" lvl="1" indent="-259081" algn="l">
              <a:lnSpc>
                <a:spcPts val="3360"/>
              </a:lnSpc>
              <a:buFont typeface="Arial"/>
              <a:buChar char="•"/>
            </a:pPr>
            <a:r>
              <a:rPr lang="en-US" sz="2400">
                <a:solidFill>
                  <a:srgbClr val="00FFA8"/>
                </a:solidFill>
                <a:latin typeface="TT Fors"/>
                <a:ea typeface="TT Fors"/>
                <a:cs typeface="TT Fors"/>
                <a:sym typeface="TT Fors"/>
              </a:rPr>
              <a:t>IP address, netblock and changes</a:t>
            </a:r>
          </a:p>
        </p:txBody>
      </p:sp>
      <p:sp>
        <p:nvSpPr>
          <p:cNvPr id="4" name="TextBox 4"/>
          <p:cNvSpPr txBox="1"/>
          <p:nvPr/>
        </p:nvSpPr>
        <p:spPr>
          <a:xfrm>
            <a:off x="666750" y="1889126"/>
            <a:ext cx="16954500" cy="71437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Netcraft </a:t>
            </a:r>
            <a:r>
              <a:rPr lang="en-US" sz="2400" spc="-72">
                <a:solidFill>
                  <a:srgbClr val="FFFFFF"/>
                </a:solidFill>
                <a:latin typeface="TT Fors"/>
                <a:ea typeface="TT Fors"/>
                <a:cs typeface="TT Fors"/>
                <a:sym typeface="TT Fors"/>
              </a:rPr>
              <a:t>an online tool provides detailed information about</a:t>
            </a:r>
            <a:r>
              <a:rPr lang="en-US" sz="2400" u="none" strike="noStrike" spc="-72">
                <a:solidFill>
                  <a:srgbClr val="FFFFFF"/>
                </a:solidFill>
                <a:latin typeface="TT Fors"/>
                <a:ea typeface="TT Fors"/>
                <a:cs typeface="TT Fors"/>
                <a:sym typeface="TT Fors"/>
              </a:rPr>
              <a:t> websites including hosting history, technology stack, and security posture.</a:t>
            </a:r>
          </a:p>
        </p:txBody>
      </p:sp>
      <p:sp>
        <p:nvSpPr>
          <p:cNvPr id="5" name="TextBox 5"/>
          <p:cNvSpPr txBox="1"/>
          <p:nvPr/>
        </p:nvSpPr>
        <p:spPr>
          <a:xfrm>
            <a:off x="9711895" y="3126467"/>
            <a:ext cx="5562039" cy="2072640"/>
          </a:xfrm>
          <a:prstGeom prst="rect">
            <a:avLst/>
          </a:prstGeom>
        </p:spPr>
        <p:txBody>
          <a:bodyPr lIns="0" tIns="0" rIns="0" bIns="0" rtlCol="0" anchor="t">
            <a:spAutoFit/>
          </a:bodyPr>
          <a:lstStyle/>
          <a:p>
            <a:pPr algn="l">
              <a:lnSpc>
                <a:spcPts val="3360"/>
              </a:lnSpc>
            </a:pPr>
            <a:r>
              <a:rPr lang="en-US" sz="2400" b="1">
                <a:solidFill>
                  <a:srgbClr val="00FFA8"/>
                </a:solidFill>
                <a:latin typeface="TT Fors Bold"/>
                <a:ea typeface="TT Fors Bold"/>
                <a:cs typeface="TT Fors Bold"/>
                <a:sym typeface="TT Fors Bold"/>
              </a:rPr>
              <a:t>Use Cases: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Identify outdated software versions</a:t>
            </a:r>
          </a:p>
          <a:p>
            <a:pPr marL="518162" lvl="1" indent="-259081" algn="l">
              <a:lnSpc>
                <a:spcPts val="3360"/>
              </a:lnSpc>
              <a:buFont typeface="Arial"/>
              <a:buChar char="•"/>
            </a:pPr>
            <a:r>
              <a:rPr lang="en-US" sz="2400">
                <a:solidFill>
                  <a:srgbClr val="00FFA8"/>
                </a:solidFill>
                <a:latin typeface="TT Fors"/>
                <a:ea typeface="TT Fors"/>
                <a:cs typeface="TT Fors"/>
                <a:sym typeface="TT Fors"/>
              </a:rPr>
              <a:t>Find technology vulnerabilities</a:t>
            </a:r>
          </a:p>
          <a:p>
            <a:pPr marL="518162" lvl="1" indent="-259081" algn="l">
              <a:lnSpc>
                <a:spcPts val="3360"/>
              </a:lnSpc>
              <a:buFont typeface="Arial"/>
              <a:buChar char="•"/>
            </a:pPr>
            <a:r>
              <a:rPr lang="en-US" sz="2400">
                <a:solidFill>
                  <a:srgbClr val="00FFA8"/>
                </a:solidFill>
                <a:latin typeface="TT Fors"/>
                <a:ea typeface="TT Fors"/>
                <a:cs typeface="TT Fors"/>
                <a:sym typeface="TT Fors"/>
              </a:rPr>
              <a:t>Understand hosting infrastructure</a:t>
            </a:r>
          </a:p>
          <a:p>
            <a:pPr marL="518162" lvl="1" indent="-259081" algn="l">
              <a:lnSpc>
                <a:spcPts val="3360"/>
              </a:lnSpc>
              <a:buFont typeface="Arial"/>
              <a:buChar char="•"/>
            </a:pPr>
            <a:r>
              <a:rPr lang="en-US" sz="2400">
                <a:solidFill>
                  <a:srgbClr val="00FFA8"/>
                </a:solidFill>
                <a:latin typeface="TT Fors"/>
                <a:ea typeface="TT Fors"/>
                <a:cs typeface="TT Fors"/>
                <a:sym typeface="TT Fors"/>
              </a:rPr>
              <a:t>Track website changes over time</a:t>
            </a:r>
          </a:p>
        </p:txBody>
      </p:sp>
      <p:sp>
        <p:nvSpPr>
          <p:cNvPr id="6" name="TextBox 6"/>
          <p:cNvSpPr txBox="1"/>
          <p:nvPr/>
        </p:nvSpPr>
        <p:spPr>
          <a:xfrm>
            <a:off x="9711895" y="5641067"/>
            <a:ext cx="7909355" cy="2213610"/>
          </a:xfrm>
          <a:prstGeom prst="rect">
            <a:avLst/>
          </a:prstGeom>
        </p:spPr>
        <p:txBody>
          <a:bodyPr lIns="0" tIns="0" rIns="0" bIns="0" rtlCol="0" anchor="t">
            <a:spAutoFit/>
          </a:bodyPr>
          <a:lstStyle/>
          <a:p>
            <a:pPr algn="l">
              <a:lnSpc>
                <a:spcPts val="2940"/>
              </a:lnSpc>
            </a:pPr>
            <a:r>
              <a:rPr lang="en-US" sz="2100" b="1">
                <a:solidFill>
                  <a:srgbClr val="00FFA8"/>
                </a:solidFill>
                <a:latin typeface="TT Fors Bold"/>
                <a:ea typeface="TT Fors Bold"/>
                <a:cs typeface="TT Fors Bold"/>
                <a:sym typeface="TT Fors Bold"/>
              </a:rPr>
              <a:t>Usage:</a:t>
            </a:r>
          </a:p>
          <a:p>
            <a:pPr algn="l">
              <a:lnSpc>
                <a:spcPts val="2940"/>
              </a:lnSpc>
            </a:pPr>
            <a:r>
              <a:rPr lang="en-US" sz="2100">
                <a:solidFill>
                  <a:srgbClr val="FFFFFF"/>
                </a:solidFill>
                <a:latin typeface="TT Fors"/>
                <a:ea typeface="TT Fors"/>
                <a:cs typeface="TT Fors"/>
                <a:sym typeface="TT Fors"/>
              </a:rPr>
              <a:t># Web Interface https://sitereport.netcraft.com/?url=example.com </a:t>
            </a:r>
          </a:p>
          <a:p>
            <a:pPr algn="l">
              <a:lnSpc>
                <a:spcPts val="2940"/>
              </a:lnSpc>
            </a:pPr>
            <a:r>
              <a:rPr lang="en-US" sz="2100">
                <a:solidFill>
                  <a:srgbClr val="FFFFFF"/>
                </a:solidFill>
                <a:latin typeface="TT Fors"/>
                <a:ea typeface="TT Fors"/>
                <a:cs typeface="TT Fors"/>
                <a:sym typeface="TT Fors"/>
              </a:rPr>
              <a:t># Shows detailed site report including: - Background, Network, Hosting History - SSL/TLS configuration - Site technology - Subdomains found</a:t>
            </a:r>
          </a:p>
        </p:txBody>
      </p:sp>
      <p:grpSp>
        <p:nvGrpSpPr>
          <p:cNvPr id="7" name="Group 7"/>
          <p:cNvGrpSpPr/>
          <p:nvPr/>
        </p:nvGrpSpPr>
        <p:grpSpPr>
          <a:xfrm>
            <a:off x="666750" y="9033657"/>
            <a:ext cx="16954500" cy="1177291"/>
            <a:chOff x="0" y="0"/>
            <a:chExt cx="4465332" cy="310076"/>
          </a:xfrm>
        </p:grpSpPr>
        <p:sp>
          <p:nvSpPr>
            <p:cNvPr id="8" name="Freeform 8"/>
            <p:cNvSpPr/>
            <p:nvPr/>
          </p:nvSpPr>
          <p:spPr>
            <a:xfrm>
              <a:off x="0" y="0"/>
              <a:ext cx="4465332" cy="310076"/>
            </a:xfrm>
            <a:custGeom>
              <a:avLst/>
              <a:gdLst/>
              <a:ahLst/>
              <a:cxnLst/>
              <a:rect l="l" t="t" r="r" b="b"/>
              <a:pathLst>
                <a:path w="4465332" h="310076">
                  <a:moveTo>
                    <a:pt x="4465332" y="9133"/>
                  </a:moveTo>
                  <a:lnTo>
                    <a:pt x="4465332" y="300944"/>
                  </a:lnTo>
                  <a:cubicBezTo>
                    <a:pt x="4465332" y="303366"/>
                    <a:pt x="4464370" y="305689"/>
                    <a:pt x="4462657" y="307401"/>
                  </a:cubicBezTo>
                  <a:cubicBezTo>
                    <a:pt x="4460944" y="309114"/>
                    <a:pt x="4458622" y="310076"/>
                    <a:pt x="4456200" y="310076"/>
                  </a:cubicBezTo>
                  <a:lnTo>
                    <a:pt x="9133" y="310076"/>
                  </a:lnTo>
                  <a:cubicBezTo>
                    <a:pt x="6710" y="310076"/>
                    <a:pt x="4388" y="309114"/>
                    <a:pt x="2675" y="307401"/>
                  </a:cubicBezTo>
                  <a:cubicBezTo>
                    <a:pt x="962" y="305689"/>
                    <a:pt x="0" y="303366"/>
                    <a:pt x="0" y="300944"/>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9" name="TextBox 9"/>
            <p:cNvSpPr txBox="1"/>
            <p:nvPr/>
          </p:nvSpPr>
          <p:spPr>
            <a:xfrm>
              <a:off x="0" y="0"/>
              <a:ext cx="4465332" cy="310076"/>
            </a:xfrm>
            <a:prstGeom prst="rect">
              <a:avLst/>
            </a:prstGeom>
          </p:spPr>
          <p:txBody>
            <a:bodyPr lIns="254000" tIns="254000" rIns="254000" bIns="254000" rtlCol="0" anchor="ctr"/>
            <a:lstStyle/>
            <a:p>
              <a:pPr algn="l">
                <a:lnSpc>
                  <a:spcPts val="2940"/>
                </a:lnSpc>
              </a:pPr>
              <a:r>
                <a:rPr lang="en-US" sz="2100" b="1" spc="-63" dirty="0">
                  <a:solidFill>
                    <a:srgbClr val="FFFFFF"/>
                  </a:solidFill>
                  <a:latin typeface="TT Fors Bold"/>
                  <a:ea typeface="TT Fors Bold"/>
                  <a:cs typeface="TT Fors Bold"/>
                  <a:sym typeface="TT Fors Bold"/>
                </a:rPr>
                <a:t>Free Service: </a:t>
              </a:r>
              <a:r>
                <a:rPr lang="en-US" sz="2100" spc="-63" dirty="0" err="1">
                  <a:solidFill>
                    <a:srgbClr val="FFFFFF"/>
                  </a:solidFill>
                  <a:latin typeface="TT Fors"/>
                  <a:ea typeface="TT Fors"/>
                  <a:cs typeface="TT Fors"/>
                  <a:sym typeface="TT Fors"/>
                </a:rPr>
                <a:t>Netcraft</a:t>
              </a:r>
              <a:r>
                <a:rPr lang="en-US" sz="2100" spc="-63" dirty="0">
                  <a:solidFill>
                    <a:srgbClr val="FFFFFF"/>
                  </a:solidFill>
                  <a:latin typeface="TT Fors"/>
                  <a:ea typeface="TT Fors"/>
                  <a:cs typeface="TT Fors"/>
                  <a:sym typeface="TT Fors"/>
                </a:rPr>
                <a:t> Site Report is completely free and doesn't require registration. Excellent for quick reconnaissance.</a:t>
              </a:r>
              <a:r>
                <a:rPr lang="en-US" sz="2100" b="1" spc="-63" dirty="0">
                  <a:solidFill>
                    <a:srgbClr val="FFFFFF"/>
                  </a:solidFill>
                  <a:latin typeface="TT Fors Bold"/>
                  <a:ea typeface="TT Fors Bold"/>
                  <a:cs typeface="TT Fors Bold"/>
                  <a:sym typeface="TT Fors Bold"/>
                </a:rPr>
                <a:t> </a:t>
              </a:r>
            </a:p>
            <a:p>
              <a:pPr algn="l">
                <a:lnSpc>
                  <a:spcPts val="2940"/>
                </a:lnSpc>
              </a:pPr>
              <a:r>
                <a:rPr lang="en-US" sz="2100" b="1" spc="-63" dirty="0">
                  <a:solidFill>
                    <a:srgbClr val="FFFFFF"/>
                  </a:solidFill>
                  <a:latin typeface="TT Fors Bold"/>
                  <a:ea typeface="TT Fors Bold"/>
                  <a:cs typeface="TT Fors Bold"/>
                  <a:sym typeface="TT Fors Bold"/>
                </a:rPr>
                <a:t>Website: </a:t>
              </a:r>
              <a:r>
                <a:rPr lang="en-US" sz="2100" spc="-63" dirty="0" err="1">
                  <a:solidFill>
                    <a:srgbClr val="FFFFFF"/>
                  </a:solidFill>
                  <a:latin typeface="TT Fors"/>
                  <a:ea typeface="TT Fors"/>
                  <a:cs typeface="TT Fors"/>
                  <a:sym typeface="TT Fors"/>
                </a:rPr>
                <a:t>netcraft.com</a:t>
              </a:r>
              <a:endParaRPr lang="en-US" sz="2100" spc="-63" dirty="0">
                <a:solidFill>
                  <a:srgbClr val="FFFFFF"/>
                </a:solidFill>
                <a:latin typeface="TT Fors"/>
                <a:ea typeface="TT Fors"/>
                <a:cs typeface="TT Fors"/>
                <a:sym typeface="TT Fors"/>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spc="-180">
                <a:solidFill>
                  <a:srgbClr val="00FFA8"/>
                </a:solidFill>
                <a:latin typeface="ITC Avant Garde Gothic"/>
                <a:ea typeface="ITC Avant Garde Gothic"/>
                <a:cs typeface="ITC Avant Garde Gothic"/>
                <a:sym typeface="ITC Avant Garde Gothic"/>
              </a:rPr>
              <a:t>C</a:t>
            </a:r>
            <a:r>
              <a:rPr lang="en-US" sz="6000" u="none" strike="noStrike" spc="-180">
                <a:solidFill>
                  <a:srgbClr val="00FFA8"/>
                </a:solidFill>
                <a:latin typeface="ITC Avant Garde Gothic"/>
                <a:ea typeface="ITC Avant Garde Gothic"/>
                <a:cs typeface="ITC Avant Garde Gothic"/>
                <a:sym typeface="ITC Avant Garde Gothic"/>
              </a:rPr>
              <a:t>ertificate Transparency Logs</a:t>
            </a:r>
          </a:p>
        </p:txBody>
      </p:sp>
      <p:sp>
        <p:nvSpPr>
          <p:cNvPr id="3" name="TextBox 3"/>
          <p:cNvSpPr txBox="1"/>
          <p:nvPr/>
        </p:nvSpPr>
        <p:spPr>
          <a:xfrm>
            <a:off x="666750" y="2672151"/>
            <a:ext cx="9229020" cy="5928360"/>
          </a:xfrm>
          <a:prstGeom prst="rect">
            <a:avLst/>
          </a:prstGeom>
        </p:spPr>
        <p:txBody>
          <a:bodyPr lIns="0" tIns="0" rIns="0" bIns="0" rtlCol="0" anchor="t">
            <a:spAutoFit/>
          </a:bodyPr>
          <a:lstStyle/>
          <a:p>
            <a:pPr algn="l">
              <a:lnSpc>
                <a:spcPts val="2940"/>
              </a:lnSpc>
            </a:pPr>
            <a:r>
              <a:rPr lang="en-US" sz="2100" b="1">
                <a:solidFill>
                  <a:srgbClr val="00FFA8"/>
                </a:solidFill>
                <a:latin typeface="TT Fors Bold"/>
                <a:ea typeface="TT Fors Bold"/>
                <a:cs typeface="TT Fors Bold"/>
                <a:sym typeface="TT Fors Bold"/>
              </a:rPr>
              <a:t>Why They're Useful:</a:t>
            </a:r>
          </a:p>
          <a:p>
            <a:pPr marL="453390" lvl="1" indent="-226695" algn="l">
              <a:lnSpc>
                <a:spcPts val="2940"/>
              </a:lnSpc>
              <a:buFont typeface="Arial"/>
              <a:buChar char="•"/>
            </a:pPr>
            <a:r>
              <a:rPr lang="en-US" sz="2100">
                <a:solidFill>
                  <a:srgbClr val="00FFA8"/>
                </a:solidFill>
                <a:latin typeface="TT Fors"/>
                <a:ea typeface="TT Fors"/>
                <a:cs typeface="TT Fors"/>
                <a:sym typeface="TT Fors"/>
              </a:rPr>
              <a:t>Discover subdomains not found elsewhere</a:t>
            </a:r>
          </a:p>
          <a:p>
            <a:pPr marL="453390" lvl="1" indent="-226695" algn="l">
              <a:lnSpc>
                <a:spcPts val="2940"/>
              </a:lnSpc>
              <a:buFont typeface="Arial"/>
              <a:buChar char="•"/>
            </a:pPr>
            <a:r>
              <a:rPr lang="en-US" sz="2100">
                <a:solidFill>
                  <a:srgbClr val="00FFA8"/>
                </a:solidFill>
                <a:latin typeface="TT Fors"/>
                <a:ea typeface="TT Fors"/>
                <a:cs typeface="TT Fors"/>
                <a:sym typeface="TT Fors"/>
              </a:rPr>
              <a:t>Find internal hostnames</a:t>
            </a:r>
          </a:p>
          <a:p>
            <a:pPr marL="453390" lvl="1" indent="-226695" algn="l">
              <a:lnSpc>
                <a:spcPts val="2940"/>
              </a:lnSpc>
              <a:buFont typeface="Arial"/>
              <a:buChar char="•"/>
            </a:pPr>
            <a:r>
              <a:rPr lang="en-US" sz="2100">
                <a:solidFill>
                  <a:srgbClr val="00FFA8"/>
                </a:solidFill>
                <a:latin typeface="TT Fors"/>
                <a:ea typeface="TT Fors"/>
                <a:cs typeface="TT Fors"/>
                <a:sym typeface="TT Fors"/>
              </a:rPr>
              <a:t>Identify recently added infrastructure</a:t>
            </a:r>
          </a:p>
          <a:p>
            <a:pPr marL="453390" lvl="1" indent="-226695" algn="l">
              <a:lnSpc>
                <a:spcPts val="2940"/>
              </a:lnSpc>
              <a:buFont typeface="Arial"/>
              <a:buChar char="•"/>
            </a:pPr>
            <a:r>
              <a:rPr lang="en-US" sz="2100">
                <a:solidFill>
                  <a:srgbClr val="00FFA8"/>
                </a:solidFill>
                <a:latin typeface="TT Fors"/>
                <a:ea typeface="TT Fors"/>
                <a:cs typeface="TT Fors"/>
                <a:sym typeface="TT Fors"/>
              </a:rPr>
              <a:t>Track certificate history</a:t>
            </a:r>
          </a:p>
          <a:p>
            <a:pPr algn="l">
              <a:lnSpc>
                <a:spcPts val="2940"/>
              </a:lnSpc>
            </a:pPr>
            <a:endParaRPr lang="en-US" sz="2100">
              <a:solidFill>
                <a:srgbClr val="00FFA8"/>
              </a:solidFill>
              <a:latin typeface="TT Fors"/>
              <a:ea typeface="TT Fors"/>
              <a:cs typeface="TT Fors"/>
              <a:sym typeface="TT Fors"/>
            </a:endParaRPr>
          </a:p>
          <a:p>
            <a:pPr algn="l">
              <a:lnSpc>
                <a:spcPts val="2940"/>
              </a:lnSpc>
            </a:pPr>
            <a:r>
              <a:rPr lang="en-US" sz="2100" b="1">
                <a:solidFill>
                  <a:srgbClr val="00FFA8"/>
                </a:solidFill>
                <a:latin typeface="TT Fors Bold"/>
                <a:ea typeface="TT Fors Bold"/>
                <a:cs typeface="TT Fors Bold"/>
                <a:sym typeface="TT Fors Bold"/>
              </a:rPr>
              <a:t>Tools to Search CT Logs:</a:t>
            </a:r>
          </a:p>
          <a:p>
            <a:pPr marL="453390" lvl="1" indent="-226695" algn="l">
              <a:lnSpc>
                <a:spcPts val="2940"/>
              </a:lnSpc>
              <a:buFont typeface="Arial"/>
              <a:buChar char="•"/>
            </a:pPr>
            <a:r>
              <a:rPr lang="en-US" sz="2100">
                <a:solidFill>
                  <a:srgbClr val="00FFA8"/>
                </a:solidFill>
                <a:latin typeface="TT Fors"/>
                <a:ea typeface="TT Fors"/>
                <a:cs typeface="TT Fors"/>
                <a:sym typeface="TT Fors"/>
              </a:rPr>
              <a:t>crt.sh (most popular)</a:t>
            </a:r>
          </a:p>
          <a:p>
            <a:pPr marL="453390" lvl="1" indent="-226695" algn="l">
              <a:lnSpc>
                <a:spcPts val="2940"/>
              </a:lnSpc>
              <a:buFont typeface="Arial"/>
              <a:buChar char="•"/>
            </a:pPr>
            <a:r>
              <a:rPr lang="en-US" sz="2100">
                <a:solidFill>
                  <a:srgbClr val="00FFA8"/>
                </a:solidFill>
                <a:latin typeface="TT Fors"/>
                <a:ea typeface="TT Fors"/>
                <a:cs typeface="TT Fors"/>
                <a:sym typeface="TT Fors"/>
              </a:rPr>
              <a:t>censys.io</a:t>
            </a:r>
          </a:p>
          <a:p>
            <a:pPr marL="453390" lvl="1" indent="-226695" algn="l">
              <a:lnSpc>
                <a:spcPts val="2940"/>
              </a:lnSpc>
              <a:buFont typeface="Arial"/>
              <a:buChar char="•"/>
            </a:pPr>
            <a:r>
              <a:rPr lang="en-US" sz="2100">
                <a:solidFill>
                  <a:srgbClr val="00FFA8"/>
                </a:solidFill>
                <a:latin typeface="TT Fors"/>
                <a:ea typeface="TT Fors"/>
                <a:cs typeface="TT Fors"/>
                <a:sym typeface="TT Fors"/>
              </a:rPr>
              <a:t>Google Certificate Transparency</a:t>
            </a:r>
          </a:p>
          <a:p>
            <a:pPr algn="l">
              <a:lnSpc>
                <a:spcPts val="2940"/>
              </a:lnSpc>
            </a:pPr>
            <a:endParaRPr lang="en-US" sz="2100">
              <a:solidFill>
                <a:srgbClr val="00FFA8"/>
              </a:solidFill>
              <a:latin typeface="TT Fors"/>
              <a:ea typeface="TT Fors"/>
              <a:cs typeface="TT Fors"/>
              <a:sym typeface="TT Fors"/>
            </a:endParaRPr>
          </a:p>
          <a:p>
            <a:pPr algn="l">
              <a:lnSpc>
                <a:spcPts val="2940"/>
              </a:lnSpc>
            </a:pPr>
            <a:r>
              <a:rPr lang="en-US" sz="2100" b="1">
                <a:solidFill>
                  <a:srgbClr val="00FFA8"/>
                </a:solidFill>
                <a:latin typeface="TT Fors Bold"/>
                <a:ea typeface="TT Fors Bold"/>
                <a:cs typeface="TT Fors Bold"/>
                <a:sym typeface="TT Fors Bold"/>
              </a:rPr>
              <a:t>Example Search: </a:t>
            </a:r>
            <a:r>
              <a:rPr lang="en-US" sz="2100">
                <a:solidFill>
                  <a:srgbClr val="00FFA8"/>
                </a:solidFill>
                <a:latin typeface="TT Fors"/>
                <a:ea typeface="TT Fors"/>
                <a:cs typeface="TT Fors"/>
                <a:sym typeface="TT Fors"/>
              </a:rPr>
              <a:t>Search</a:t>
            </a:r>
            <a:r>
              <a:rPr lang="en-US" sz="2100">
                <a:solidFill>
                  <a:srgbClr val="FFFFFF"/>
                </a:solidFill>
                <a:latin typeface="TT Fors"/>
                <a:ea typeface="TT Fors"/>
                <a:cs typeface="TT Fors"/>
                <a:sym typeface="TT Fors"/>
              </a:rPr>
              <a:t> %.example.com </a:t>
            </a:r>
            <a:r>
              <a:rPr lang="en-US" sz="2100">
                <a:solidFill>
                  <a:srgbClr val="00FFA8"/>
                </a:solidFill>
                <a:latin typeface="TT Fors"/>
                <a:ea typeface="TT Fors"/>
                <a:cs typeface="TT Fors"/>
                <a:sym typeface="TT Fors"/>
              </a:rPr>
              <a:t>on </a:t>
            </a:r>
            <a:r>
              <a:rPr lang="en-US" sz="2100">
                <a:solidFill>
                  <a:srgbClr val="FFFFFF"/>
                </a:solidFill>
                <a:latin typeface="TT Fors"/>
                <a:ea typeface="TT Fors"/>
                <a:cs typeface="TT Fors"/>
                <a:sym typeface="TT Fors"/>
              </a:rPr>
              <a:t>crt.sh </a:t>
            </a:r>
            <a:r>
              <a:rPr lang="en-US" sz="2100">
                <a:solidFill>
                  <a:srgbClr val="00FFA8"/>
                </a:solidFill>
                <a:latin typeface="TT Fors"/>
                <a:ea typeface="TT Fors"/>
                <a:cs typeface="TT Fors"/>
                <a:sym typeface="TT Fors"/>
              </a:rPr>
              <a:t>to find</a:t>
            </a:r>
            <a:r>
              <a:rPr lang="en-US" sz="2100">
                <a:solidFill>
                  <a:srgbClr val="FFFFFF"/>
                </a:solidFill>
                <a:latin typeface="TT Fors"/>
                <a:ea typeface="TT Fors"/>
                <a:cs typeface="TT Fors"/>
                <a:sym typeface="TT Fors"/>
              </a:rPr>
              <a:t>:</a:t>
            </a:r>
          </a:p>
          <a:p>
            <a:pPr marL="453390" lvl="1" indent="-226695" algn="l">
              <a:lnSpc>
                <a:spcPts val="2940"/>
              </a:lnSpc>
              <a:buFont typeface="Arial"/>
              <a:buChar char="•"/>
            </a:pPr>
            <a:r>
              <a:rPr lang="en-US" sz="2100">
                <a:solidFill>
                  <a:srgbClr val="FFFFFF"/>
                </a:solidFill>
                <a:latin typeface="TT Fors"/>
                <a:ea typeface="TT Fors"/>
                <a:cs typeface="TT Fors"/>
                <a:sym typeface="TT Fors"/>
              </a:rPr>
              <a:t>api.example.com</a:t>
            </a:r>
          </a:p>
          <a:p>
            <a:pPr marL="453390" lvl="1" indent="-226695" algn="l">
              <a:lnSpc>
                <a:spcPts val="2940"/>
              </a:lnSpc>
              <a:buFont typeface="Arial"/>
              <a:buChar char="•"/>
            </a:pPr>
            <a:r>
              <a:rPr lang="en-US" sz="2100">
                <a:solidFill>
                  <a:srgbClr val="FFFFFF"/>
                </a:solidFill>
                <a:latin typeface="TT Fors"/>
                <a:ea typeface="TT Fors"/>
                <a:cs typeface="TT Fors"/>
                <a:sym typeface="TT Fors"/>
              </a:rPr>
              <a:t>staging.example.com</a:t>
            </a:r>
          </a:p>
          <a:p>
            <a:pPr marL="453390" lvl="1" indent="-226695" algn="l">
              <a:lnSpc>
                <a:spcPts val="2940"/>
              </a:lnSpc>
              <a:buFont typeface="Arial"/>
              <a:buChar char="•"/>
            </a:pPr>
            <a:r>
              <a:rPr lang="en-US" sz="2100">
                <a:solidFill>
                  <a:srgbClr val="FFFFFF"/>
                </a:solidFill>
                <a:latin typeface="TT Fors"/>
                <a:ea typeface="TT Fors"/>
                <a:cs typeface="TT Fors"/>
                <a:sym typeface="TT Fors"/>
              </a:rPr>
              <a:t>dev.example.com</a:t>
            </a:r>
          </a:p>
          <a:p>
            <a:pPr marL="453390" lvl="1" indent="-226695" algn="l">
              <a:lnSpc>
                <a:spcPts val="2940"/>
              </a:lnSpc>
              <a:buFont typeface="Arial"/>
              <a:buChar char="•"/>
            </a:pPr>
            <a:r>
              <a:rPr lang="en-US" sz="2100">
                <a:solidFill>
                  <a:srgbClr val="FFFFFF"/>
                </a:solidFill>
                <a:latin typeface="TT Fors"/>
                <a:ea typeface="TT Fors"/>
                <a:cs typeface="TT Fors"/>
                <a:sym typeface="TT Fors"/>
              </a:rPr>
              <a:t>internal.example.com</a:t>
            </a:r>
          </a:p>
        </p:txBody>
      </p:sp>
      <p:sp>
        <p:nvSpPr>
          <p:cNvPr id="4" name="TextBox 4"/>
          <p:cNvSpPr txBox="1"/>
          <p:nvPr/>
        </p:nvSpPr>
        <p:spPr>
          <a:xfrm>
            <a:off x="666750" y="1889126"/>
            <a:ext cx="16954500" cy="3524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What are CT Logs? </a:t>
            </a:r>
            <a:r>
              <a:rPr lang="en-US" sz="2400" spc="-72">
                <a:solidFill>
                  <a:srgbClr val="FFFFFF"/>
                </a:solidFill>
                <a:latin typeface="TT Fors"/>
                <a:ea typeface="TT Fors"/>
                <a:cs typeface="TT Fors"/>
                <a:sym typeface="TT Fors"/>
              </a:rPr>
              <a:t>Public logs of all SSL/TLS certif</a:t>
            </a:r>
            <a:r>
              <a:rPr lang="en-US" sz="2400" u="none" strike="noStrike" spc="-72">
                <a:solidFill>
                  <a:srgbClr val="FFFFFF"/>
                </a:solidFill>
                <a:latin typeface="TT Fors"/>
                <a:ea typeface="TT Fors"/>
                <a:cs typeface="TT Fors"/>
                <a:sym typeface="TT Fors"/>
              </a:rPr>
              <a:t>icates issued by Certificate Authorities.</a:t>
            </a:r>
          </a:p>
        </p:txBody>
      </p:sp>
      <p:grpSp>
        <p:nvGrpSpPr>
          <p:cNvPr id="5" name="Group 5"/>
          <p:cNvGrpSpPr/>
          <p:nvPr/>
        </p:nvGrpSpPr>
        <p:grpSpPr>
          <a:xfrm>
            <a:off x="666750" y="9031109"/>
            <a:ext cx="16954500" cy="949969"/>
            <a:chOff x="0" y="-671"/>
            <a:chExt cx="4465332" cy="250204"/>
          </a:xfrm>
        </p:grpSpPr>
        <p:sp>
          <p:nvSpPr>
            <p:cNvPr id="6" name="Freeform 6"/>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7" name="TextBox 7"/>
            <p:cNvSpPr txBox="1"/>
            <p:nvPr/>
          </p:nvSpPr>
          <p:spPr>
            <a:xfrm>
              <a:off x="0" y="-671"/>
              <a:ext cx="4465332" cy="250204"/>
            </a:xfrm>
            <a:prstGeom prst="rect">
              <a:avLst/>
            </a:prstGeom>
          </p:spPr>
          <p:txBody>
            <a:bodyPr lIns="254000" tIns="254000" rIns="254000" bIns="254000" rtlCol="0" anchor="ctr"/>
            <a:lstStyle/>
            <a:p>
              <a:pPr algn="l">
                <a:lnSpc>
                  <a:spcPts val="2940"/>
                </a:lnSpc>
              </a:pPr>
              <a:r>
                <a:rPr lang="en-US" sz="2100" b="1" spc="-63" dirty="0">
                  <a:solidFill>
                    <a:srgbClr val="FFFFFF"/>
                  </a:solidFill>
                  <a:latin typeface="TT Fors Bold"/>
                  <a:ea typeface="TT Fors Bold"/>
                  <a:cs typeface="TT Fors Bold"/>
                  <a:sym typeface="TT Fors Bold"/>
                </a:rPr>
                <a:t>Advantage: </a:t>
              </a:r>
              <a:r>
                <a:rPr lang="en-US" sz="2100" spc="-63" dirty="0">
                  <a:solidFill>
                    <a:srgbClr val="FFFFFF"/>
                  </a:solidFill>
                  <a:latin typeface="TT Fors"/>
                  <a:ea typeface="TT Fors"/>
                  <a:cs typeface="TT Fors"/>
                  <a:sym typeface="TT Fors"/>
                </a:rPr>
                <a:t>Cannot be hidden like DNS records can.</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u="none" strike="noStrike" spc="-180">
                <a:solidFill>
                  <a:srgbClr val="00FFA8"/>
                </a:solidFill>
                <a:latin typeface="ITC Avant Garde Gothic"/>
                <a:ea typeface="ITC Avant Garde Gothic"/>
                <a:cs typeface="ITC Avant Garde Gothic"/>
                <a:sym typeface="ITC Avant Garde Gothic"/>
              </a:rPr>
              <a:t>Subdomain Enumeration</a:t>
            </a:r>
          </a:p>
        </p:txBody>
      </p:sp>
      <p:sp>
        <p:nvSpPr>
          <p:cNvPr id="3" name="TextBox 3"/>
          <p:cNvSpPr txBox="1"/>
          <p:nvPr/>
        </p:nvSpPr>
        <p:spPr>
          <a:xfrm>
            <a:off x="666750" y="2797421"/>
            <a:ext cx="12636391" cy="1842135"/>
          </a:xfrm>
          <a:prstGeom prst="rect">
            <a:avLst/>
          </a:prstGeom>
        </p:spPr>
        <p:txBody>
          <a:bodyPr lIns="0" tIns="0" rIns="0" bIns="0" rtlCol="0" anchor="t">
            <a:spAutoFit/>
          </a:bodyPr>
          <a:lstStyle/>
          <a:p>
            <a:pPr algn="l">
              <a:lnSpc>
                <a:spcPts val="2940"/>
              </a:lnSpc>
            </a:pPr>
            <a:r>
              <a:rPr lang="en-US" sz="2100" b="1">
                <a:solidFill>
                  <a:srgbClr val="00FFA8"/>
                </a:solidFill>
                <a:latin typeface="TT Fors Bold"/>
                <a:ea typeface="TT Fors Bold"/>
                <a:cs typeface="TT Fors Bold"/>
                <a:sym typeface="TT Fors Bold"/>
              </a:rPr>
              <a:t>Why Subdomains Matter:</a:t>
            </a:r>
          </a:p>
          <a:p>
            <a:pPr marL="453393" lvl="1" indent="-226697" algn="l">
              <a:lnSpc>
                <a:spcPts val="2940"/>
              </a:lnSpc>
              <a:buFont typeface="Arial"/>
              <a:buChar char="•"/>
            </a:pPr>
            <a:r>
              <a:rPr lang="en-US" sz="2100" b="1">
                <a:solidFill>
                  <a:srgbClr val="00FFA8"/>
                </a:solidFill>
                <a:latin typeface="TT Fors Bold"/>
                <a:ea typeface="TT Fors Bold"/>
                <a:cs typeface="TT Fors Bold"/>
                <a:sym typeface="TT Fors Bold"/>
              </a:rPr>
              <a:t>Expanded attack surface: </a:t>
            </a:r>
            <a:r>
              <a:rPr lang="en-US" sz="2100">
                <a:solidFill>
                  <a:srgbClr val="00FFA8"/>
                </a:solidFill>
                <a:latin typeface="TT Fors"/>
                <a:ea typeface="TT Fors"/>
                <a:cs typeface="TT Fors"/>
                <a:sym typeface="TT Fors"/>
              </a:rPr>
              <a:t>More systems = more potential vulnerabilities</a:t>
            </a:r>
          </a:p>
          <a:p>
            <a:pPr marL="453393" lvl="1" indent="-226697" algn="l">
              <a:lnSpc>
                <a:spcPts val="2940"/>
              </a:lnSpc>
              <a:buFont typeface="Arial"/>
              <a:buChar char="•"/>
            </a:pPr>
            <a:r>
              <a:rPr lang="en-US" sz="2100" b="1">
                <a:solidFill>
                  <a:srgbClr val="00FFA8"/>
                </a:solidFill>
                <a:latin typeface="TT Fors Bold"/>
                <a:ea typeface="TT Fors Bold"/>
                <a:cs typeface="TT Fors Bold"/>
                <a:sym typeface="TT Fors Bold"/>
              </a:rPr>
              <a:t>Forgotten systems: </a:t>
            </a:r>
            <a:r>
              <a:rPr lang="en-US" sz="2100">
                <a:solidFill>
                  <a:srgbClr val="00FFA8"/>
                </a:solidFill>
                <a:latin typeface="TT Fors"/>
                <a:ea typeface="TT Fors"/>
                <a:cs typeface="TT Fors"/>
                <a:sym typeface="TT Fors"/>
              </a:rPr>
              <a:t>Old dev/staging servers may be unpatched</a:t>
            </a:r>
          </a:p>
          <a:p>
            <a:pPr marL="453393" lvl="1" indent="-226697" algn="l">
              <a:lnSpc>
                <a:spcPts val="2940"/>
              </a:lnSpc>
              <a:buFont typeface="Arial"/>
              <a:buChar char="•"/>
            </a:pPr>
            <a:r>
              <a:rPr lang="en-US" sz="2100" b="1">
                <a:solidFill>
                  <a:srgbClr val="00FFA8"/>
                </a:solidFill>
                <a:latin typeface="TT Fors Bold"/>
                <a:ea typeface="TT Fors Bold"/>
                <a:cs typeface="TT Fors Bold"/>
                <a:sym typeface="TT Fors Bold"/>
              </a:rPr>
              <a:t>Different security posture: </a:t>
            </a:r>
            <a:r>
              <a:rPr lang="en-US" sz="2100">
                <a:solidFill>
                  <a:srgbClr val="00FFA8"/>
                </a:solidFill>
                <a:latin typeface="TT Fors"/>
                <a:ea typeface="TT Fors"/>
                <a:cs typeface="TT Fors"/>
                <a:sym typeface="TT Fors"/>
              </a:rPr>
              <a:t>Main site secure, but dev.example.com is not</a:t>
            </a:r>
          </a:p>
          <a:p>
            <a:pPr marL="453393" lvl="1" indent="-226697" algn="l">
              <a:lnSpc>
                <a:spcPts val="2940"/>
              </a:lnSpc>
              <a:buFont typeface="Arial"/>
              <a:buChar char="•"/>
            </a:pPr>
            <a:r>
              <a:rPr lang="en-US" sz="2100" b="1">
                <a:solidFill>
                  <a:srgbClr val="00FFA8"/>
                </a:solidFill>
                <a:latin typeface="TT Fors Bold"/>
                <a:ea typeface="TT Fors Bold"/>
                <a:cs typeface="TT Fors Bold"/>
                <a:sym typeface="TT Fors Bold"/>
              </a:rPr>
              <a:t>Information disclosure: </a:t>
            </a:r>
            <a:r>
              <a:rPr lang="en-US" sz="2100">
                <a:solidFill>
                  <a:srgbClr val="00FFA8"/>
                </a:solidFill>
                <a:latin typeface="TT Fors"/>
                <a:ea typeface="TT Fors"/>
                <a:cs typeface="TT Fors"/>
                <a:sym typeface="TT Fors"/>
              </a:rPr>
              <a:t>Test/staging environments may leak data</a:t>
            </a:r>
          </a:p>
        </p:txBody>
      </p:sp>
      <p:sp>
        <p:nvSpPr>
          <p:cNvPr id="4" name="TextBox 4"/>
          <p:cNvSpPr txBox="1"/>
          <p:nvPr/>
        </p:nvSpPr>
        <p:spPr>
          <a:xfrm>
            <a:off x="666750" y="1889126"/>
            <a:ext cx="16954500" cy="352425"/>
          </a:xfrm>
          <a:prstGeom prst="rect">
            <a:avLst/>
          </a:prstGeom>
        </p:spPr>
        <p:txBody>
          <a:bodyPr lIns="0" tIns="0" rIns="0" bIns="0" rtlCol="0" anchor="t">
            <a:spAutoFit/>
          </a:bodyPr>
          <a:lstStyle/>
          <a:p>
            <a:pPr marL="0" lvl="0" indent="0" algn="l">
              <a:lnSpc>
                <a:spcPts val="2880"/>
              </a:lnSpc>
              <a:spcBef>
                <a:spcPct val="0"/>
              </a:spcBef>
            </a:pPr>
            <a:r>
              <a:rPr lang="en-US" sz="2400" spc="-72">
                <a:solidFill>
                  <a:srgbClr val="FFFFFF"/>
                </a:solidFill>
                <a:latin typeface="TT Fors"/>
                <a:ea typeface="TT Fors"/>
                <a:cs typeface="TT Fors"/>
                <a:sym typeface="TT Fors"/>
              </a:rPr>
              <a:t>Subdomains often host development servers, admin pan</a:t>
            </a:r>
            <a:r>
              <a:rPr lang="en-US" sz="2400" u="none" strike="noStrike" spc="-72">
                <a:solidFill>
                  <a:srgbClr val="FFFFFF"/>
                </a:solidFill>
                <a:latin typeface="TT Fors"/>
                <a:ea typeface="TT Fors"/>
                <a:cs typeface="TT Fors"/>
                <a:sym typeface="TT Fors"/>
              </a:rPr>
              <a:t>els, APIs, and other less-secured systems.</a:t>
            </a:r>
          </a:p>
        </p:txBody>
      </p:sp>
      <p:sp>
        <p:nvSpPr>
          <p:cNvPr id="5" name="TextBox 5"/>
          <p:cNvSpPr txBox="1"/>
          <p:nvPr/>
        </p:nvSpPr>
        <p:spPr>
          <a:xfrm>
            <a:off x="666750" y="4896731"/>
            <a:ext cx="16592550" cy="2213610"/>
          </a:xfrm>
          <a:prstGeom prst="rect">
            <a:avLst/>
          </a:prstGeom>
        </p:spPr>
        <p:txBody>
          <a:bodyPr lIns="0" tIns="0" rIns="0" bIns="0" rtlCol="0" anchor="t">
            <a:spAutoFit/>
          </a:bodyPr>
          <a:lstStyle/>
          <a:p>
            <a:pPr algn="l">
              <a:lnSpc>
                <a:spcPts val="2940"/>
              </a:lnSpc>
            </a:pPr>
            <a:r>
              <a:rPr lang="en-US" sz="2100" b="1">
                <a:solidFill>
                  <a:srgbClr val="00FFA8"/>
                </a:solidFill>
                <a:latin typeface="TT Fors Bold"/>
                <a:ea typeface="TT Fors Bold"/>
                <a:cs typeface="TT Fors Bold"/>
                <a:sym typeface="TT Fors Bold"/>
              </a:rPr>
              <a:t>Subdomain Discovery Tools:</a:t>
            </a:r>
          </a:p>
          <a:p>
            <a:pPr algn="l">
              <a:lnSpc>
                <a:spcPts val="2940"/>
              </a:lnSpc>
            </a:pPr>
            <a:r>
              <a:rPr lang="en-US" sz="2100">
                <a:solidFill>
                  <a:srgbClr val="FFFFFF"/>
                </a:solidFill>
                <a:latin typeface="TT Fors"/>
                <a:ea typeface="TT Fors"/>
                <a:cs typeface="TT Fors"/>
                <a:sym typeface="TT Fors"/>
              </a:rPr>
              <a:t># theHarvester theHarvester -d example.com -b all </a:t>
            </a:r>
          </a:p>
          <a:p>
            <a:pPr algn="l">
              <a:lnSpc>
                <a:spcPts val="2940"/>
              </a:lnSpc>
            </a:pPr>
            <a:r>
              <a:rPr lang="en-US" sz="2100">
                <a:solidFill>
                  <a:srgbClr val="FFFFFF"/>
                </a:solidFill>
                <a:latin typeface="TT Fors"/>
                <a:ea typeface="TT Fors"/>
                <a:cs typeface="TT Fors"/>
                <a:sym typeface="TT Fors"/>
              </a:rPr>
              <a:t># Sublist3r sublist3r -d example.com </a:t>
            </a:r>
          </a:p>
          <a:p>
            <a:pPr algn="l">
              <a:lnSpc>
                <a:spcPts val="2940"/>
              </a:lnSpc>
            </a:pPr>
            <a:r>
              <a:rPr lang="en-US" sz="2100">
                <a:solidFill>
                  <a:srgbClr val="FFFFFF"/>
                </a:solidFill>
                <a:latin typeface="TT Fors"/>
                <a:ea typeface="TT Fors"/>
                <a:cs typeface="TT Fors"/>
                <a:sym typeface="TT Fors"/>
              </a:rPr>
              <a:t># Amass (advanced) amass enum -d example.com </a:t>
            </a:r>
          </a:p>
          <a:p>
            <a:pPr algn="l">
              <a:lnSpc>
                <a:spcPts val="2940"/>
              </a:lnSpc>
            </a:pPr>
            <a:r>
              <a:rPr lang="en-US" sz="2100">
                <a:solidFill>
                  <a:srgbClr val="FFFFFF"/>
                </a:solidFill>
                <a:latin typeface="TT Fors"/>
                <a:ea typeface="TT Fors"/>
                <a:cs typeface="TT Fors"/>
                <a:sym typeface="TT Fors"/>
              </a:rPr>
              <a:t># Certificate Transparency (crt.sh) curl -s "https://crt.sh/?q=%.example.com&amp;output=json" | jq </a:t>
            </a:r>
          </a:p>
          <a:p>
            <a:pPr algn="l">
              <a:lnSpc>
                <a:spcPts val="2940"/>
              </a:lnSpc>
            </a:pPr>
            <a:r>
              <a:rPr lang="en-US" sz="2100">
                <a:solidFill>
                  <a:srgbClr val="FFFFFF"/>
                </a:solidFill>
                <a:latin typeface="TT Fors"/>
                <a:ea typeface="TT Fors"/>
                <a:cs typeface="TT Fors"/>
                <a:sym typeface="TT Fors"/>
              </a:rPr>
              <a:t># DNS Brute Force dnsrecon -d example.com -t brt -D /usr/share/wordlists/dnsmap.txt</a:t>
            </a:r>
          </a:p>
        </p:txBody>
      </p:sp>
      <p:grpSp>
        <p:nvGrpSpPr>
          <p:cNvPr id="6" name="Group 6"/>
          <p:cNvGrpSpPr/>
          <p:nvPr/>
        </p:nvGrpSpPr>
        <p:grpSpPr>
          <a:xfrm>
            <a:off x="666750" y="9033657"/>
            <a:ext cx="16954500" cy="947421"/>
            <a:chOff x="0" y="0"/>
            <a:chExt cx="4465332" cy="249533"/>
          </a:xfrm>
        </p:grpSpPr>
        <p:sp>
          <p:nvSpPr>
            <p:cNvPr id="7" name="Freeform 7"/>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8" name="TextBox 8"/>
            <p:cNvSpPr txBox="1"/>
            <p:nvPr/>
          </p:nvSpPr>
          <p:spPr>
            <a:xfrm>
              <a:off x="0" y="0"/>
              <a:ext cx="4465332" cy="249533"/>
            </a:xfrm>
            <a:prstGeom prst="rect">
              <a:avLst/>
            </a:prstGeom>
          </p:spPr>
          <p:txBody>
            <a:bodyPr lIns="254000" tIns="254000" rIns="254000" bIns="254000" rtlCol="0" anchor="ctr"/>
            <a:lstStyle/>
            <a:p>
              <a:pPr algn="l">
                <a:lnSpc>
                  <a:spcPts val="2940"/>
                </a:lnSpc>
              </a:pPr>
              <a:r>
                <a:rPr lang="en-US" sz="2100" b="1" spc="-63" dirty="0">
                  <a:solidFill>
                    <a:srgbClr val="FFFFFF"/>
                  </a:solidFill>
                  <a:latin typeface="TT Fors Bold"/>
                  <a:ea typeface="TT Fors Bold"/>
                  <a:cs typeface="TT Fors Bold"/>
                  <a:sym typeface="TT Fors Bold"/>
                </a:rPr>
                <a:t>Common Subdomain Patterns: </a:t>
              </a:r>
              <a:r>
                <a:rPr lang="en-US" sz="2100" spc="-63" dirty="0">
                  <a:solidFill>
                    <a:srgbClr val="FFFFFF"/>
                  </a:solidFill>
                  <a:latin typeface="TT Fors"/>
                  <a:ea typeface="TT Fors"/>
                  <a:cs typeface="TT Fors"/>
                  <a:sym typeface="TT Fors"/>
                </a:rPr>
                <a:t>www, mail, ftp, admin, dev, test, staging, </a:t>
              </a:r>
              <a:r>
                <a:rPr lang="en-US" sz="2100" spc="-63" dirty="0" err="1">
                  <a:solidFill>
                    <a:srgbClr val="FFFFFF"/>
                  </a:solidFill>
                  <a:latin typeface="TT Fors"/>
                  <a:ea typeface="TT Fors"/>
                  <a:cs typeface="TT Fors"/>
                  <a:sym typeface="TT Fors"/>
                </a:rPr>
                <a:t>api</a:t>
              </a:r>
              <a:r>
                <a:rPr lang="en-US" sz="2100" spc="-63" dirty="0">
                  <a:solidFill>
                    <a:srgbClr val="FFFFFF"/>
                  </a:solidFill>
                  <a:latin typeface="TT Fors"/>
                  <a:ea typeface="TT Fors"/>
                  <a:cs typeface="TT Fors"/>
                  <a:sym typeface="TT Fors"/>
                </a:rPr>
                <a:t>, </a:t>
              </a:r>
              <a:r>
                <a:rPr lang="en-US" sz="2100" spc="-63" dirty="0" err="1">
                  <a:solidFill>
                    <a:srgbClr val="FFFFFF"/>
                  </a:solidFill>
                  <a:latin typeface="TT Fors"/>
                  <a:ea typeface="TT Fors"/>
                  <a:cs typeface="TT Fors"/>
                  <a:sym typeface="TT Fors"/>
                </a:rPr>
                <a:t>vpn</a:t>
              </a:r>
              <a:r>
                <a:rPr lang="en-US" sz="2100" spc="-63" dirty="0">
                  <a:solidFill>
                    <a:srgbClr val="FFFFFF"/>
                  </a:solidFill>
                  <a:latin typeface="TT Fors"/>
                  <a:ea typeface="TT Fors"/>
                  <a:cs typeface="TT Fors"/>
                  <a:sym typeface="TT Fors"/>
                </a:rPr>
                <a:t>, remote, portal, blog, shop, support</a:t>
              </a:r>
            </a:p>
          </p:txBody>
        </p:sp>
      </p:grpSp>
      <p:grpSp>
        <p:nvGrpSpPr>
          <p:cNvPr id="9" name="Group 9"/>
          <p:cNvGrpSpPr/>
          <p:nvPr/>
        </p:nvGrpSpPr>
        <p:grpSpPr>
          <a:xfrm>
            <a:off x="16115522" y="751544"/>
            <a:ext cx="1505728" cy="810556"/>
            <a:chOff x="0" y="0"/>
            <a:chExt cx="2007638" cy="1080741"/>
          </a:xfrm>
        </p:grpSpPr>
        <p:grpSp>
          <p:nvGrpSpPr>
            <p:cNvPr id="10" name="Group 10"/>
            <p:cNvGrpSpPr/>
            <p:nvPr/>
          </p:nvGrpSpPr>
          <p:grpSpPr>
            <a:xfrm>
              <a:off x="0" y="0"/>
              <a:ext cx="1080741" cy="108074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926897" y="0"/>
              <a:ext cx="1080741" cy="1080741"/>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7" name="Freeform 17"/>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spc="-180">
                <a:solidFill>
                  <a:srgbClr val="00FFA8"/>
                </a:solidFill>
                <a:latin typeface="ITC Avant Garde Gothic"/>
                <a:ea typeface="ITC Avant Garde Gothic"/>
                <a:cs typeface="ITC Avant Garde Gothic"/>
                <a:sym typeface="ITC Avant Garde Gothic"/>
              </a:rPr>
              <a:t>Introduction to </a:t>
            </a:r>
            <a:r>
              <a:rPr lang="en-US" sz="6000" u="none" strike="noStrike" spc="-180">
                <a:solidFill>
                  <a:srgbClr val="00FFA8"/>
                </a:solidFill>
                <a:latin typeface="ITC Avant Garde Gothic"/>
                <a:ea typeface="ITC Avant Garde Gothic"/>
                <a:cs typeface="ITC Avant Garde Gothic"/>
                <a:sym typeface="ITC Avant Garde Gothic"/>
              </a:rPr>
              <a:t>Social Engineering</a:t>
            </a:r>
          </a:p>
        </p:txBody>
      </p:sp>
      <p:sp>
        <p:nvSpPr>
          <p:cNvPr id="3" name="TextBox 3"/>
          <p:cNvSpPr txBox="1"/>
          <p:nvPr/>
        </p:nvSpPr>
        <p:spPr>
          <a:xfrm>
            <a:off x="666750" y="2517776"/>
            <a:ext cx="16954500" cy="2956560"/>
          </a:xfrm>
          <a:prstGeom prst="rect">
            <a:avLst/>
          </a:prstGeom>
        </p:spPr>
        <p:txBody>
          <a:bodyPr lIns="0" tIns="0" rIns="0" bIns="0" rtlCol="0" anchor="t">
            <a:spAutoFit/>
          </a:bodyPr>
          <a:lstStyle/>
          <a:p>
            <a:pPr algn="l">
              <a:lnSpc>
                <a:spcPts val="2940"/>
              </a:lnSpc>
            </a:pPr>
            <a:r>
              <a:rPr lang="en-US" sz="2100" b="1">
                <a:solidFill>
                  <a:srgbClr val="00FFA8"/>
                </a:solidFill>
                <a:latin typeface="TT Fors Bold"/>
                <a:ea typeface="TT Fors Bold"/>
                <a:cs typeface="TT Fors Bold"/>
                <a:sym typeface="TT Fors Bold"/>
              </a:rPr>
              <a:t>Why Social Engineering is Effective:</a:t>
            </a:r>
          </a:p>
          <a:p>
            <a:pPr marL="453393" lvl="1" indent="-226697" algn="l">
              <a:lnSpc>
                <a:spcPts val="2940"/>
              </a:lnSpc>
              <a:buFont typeface="Arial"/>
              <a:buChar char="•"/>
            </a:pPr>
            <a:r>
              <a:rPr lang="en-US" sz="2100" b="1">
                <a:solidFill>
                  <a:srgbClr val="00FFA8"/>
                </a:solidFill>
                <a:latin typeface="TT Fors Bold"/>
                <a:ea typeface="TT Fors Bold"/>
                <a:cs typeface="TT Fors Bold"/>
                <a:sym typeface="TT Fors Bold"/>
              </a:rPr>
              <a:t>Human nature: </a:t>
            </a:r>
            <a:r>
              <a:rPr lang="en-US" sz="2100">
                <a:solidFill>
                  <a:srgbClr val="00FFA8"/>
                </a:solidFill>
                <a:latin typeface="TT Fors"/>
                <a:ea typeface="TT Fors"/>
                <a:cs typeface="TT Fors"/>
                <a:sym typeface="TT Fors"/>
              </a:rPr>
              <a:t>People want to be helpful</a:t>
            </a:r>
          </a:p>
          <a:p>
            <a:pPr marL="453393" lvl="1" indent="-226697" algn="l">
              <a:lnSpc>
                <a:spcPts val="2940"/>
              </a:lnSpc>
              <a:buFont typeface="Arial"/>
              <a:buChar char="•"/>
            </a:pPr>
            <a:r>
              <a:rPr lang="en-US" sz="2100" b="1">
                <a:solidFill>
                  <a:srgbClr val="00FFA8"/>
                </a:solidFill>
                <a:latin typeface="TT Fors Bold"/>
                <a:ea typeface="TT Fors Bold"/>
                <a:cs typeface="TT Fors Bold"/>
                <a:sym typeface="TT Fors Bold"/>
              </a:rPr>
              <a:t>Authority: </a:t>
            </a:r>
            <a:r>
              <a:rPr lang="en-US" sz="2100">
                <a:solidFill>
                  <a:srgbClr val="00FFA8"/>
                </a:solidFill>
                <a:latin typeface="TT Fors"/>
                <a:ea typeface="TT Fors"/>
                <a:cs typeface="TT Fors"/>
                <a:sym typeface="TT Fors"/>
              </a:rPr>
              <a:t>People follow instructions from perceived authority figures</a:t>
            </a:r>
          </a:p>
          <a:p>
            <a:pPr marL="453393" lvl="1" indent="-226697" algn="l">
              <a:lnSpc>
                <a:spcPts val="2940"/>
              </a:lnSpc>
              <a:buFont typeface="Arial"/>
              <a:buChar char="•"/>
            </a:pPr>
            <a:r>
              <a:rPr lang="en-US" sz="2100" b="1">
                <a:solidFill>
                  <a:srgbClr val="00FFA8"/>
                </a:solidFill>
                <a:latin typeface="TT Fors Bold"/>
                <a:ea typeface="TT Fors Bold"/>
                <a:cs typeface="TT Fors Bold"/>
                <a:sym typeface="TT Fors Bold"/>
              </a:rPr>
              <a:t>Urgency: </a:t>
            </a:r>
            <a:r>
              <a:rPr lang="en-US" sz="2100">
                <a:solidFill>
                  <a:srgbClr val="00FFA8"/>
                </a:solidFill>
                <a:latin typeface="TT Fors"/>
                <a:ea typeface="TT Fors"/>
                <a:cs typeface="TT Fors"/>
                <a:sym typeface="TT Fors"/>
              </a:rPr>
              <a:t>Time pressure bypasses critical thinking</a:t>
            </a:r>
          </a:p>
          <a:p>
            <a:pPr marL="453393" lvl="1" indent="-226697" algn="l">
              <a:lnSpc>
                <a:spcPts val="2940"/>
              </a:lnSpc>
              <a:buFont typeface="Arial"/>
              <a:buChar char="•"/>
            </a:pPr>
            <a:r>
              <a:rPr lang="en-US" sz="2100" b="1">
                <a:solidFill>
                  <a:srgbClr val="00FFA8"/>
                </a:solidFill>
                <a:latin typeface="TT Fors Bold"/>
                <a:ea typeface="TT Fors Bold"/>
                <a:cs typeface="TT Fors Bold"/>
                <a:sym typeface="TT Fors Bold"/>
              </a:rPr>
              <a:t>Trust: </a:t>
            </a:r>
            <a:r>
              <a:rPr lang="en-US" sz="2100">
                <a:solidFill>
                  <a:srgbClr val="00FFA8"/>
                </a:solidFill>
                <a:latin typeface="TT Fors"/>
                <a:ea typeface="TT Fors"/>
                <a:cs typeface="TT Fors"/>
                <a:sym typeface="TT Fors"/>
              </a:rPr>
              <a:t>People trust others by default</a:t>
            </a:r>
          </a:p>
          <a:p>
            <a:pPr marL="453393" lvl="1" indent="-226697" algn="l">
              <a:lnSpc>
                <a:spcPts val="2940"/>
              </a:lnSpc>
              <a:buFont typeface="Arial"/>
              <a:buChar char="•"/>
            </a:pPr>
            <a:r>
              <a:rPr lang="en-US" sz="2100" b="1">
                <a:solidFill>
                  <a:srgbClr val="00FFA8"/>
                </a:solidFill>
                <a:latin typeface="TT Fors Bold"/>
                <a:ea typeface="TT Fors Bold"/>
                <a:cs typeface="TT Fors Bold"/>
                <a:sym typeface="TT Fors Bold"/>
              </a:rPr>
              <a:t>Curiosity: </a:t>
            </a:r>
            <a:r>
              <a:rPr lang="en-US" sz="2100">
                <a:solidFill>
                  <a:srgbClr val="00FFA8"/>
                </a:solidFill>
                <a:latin typeface="TT Fors"/>
                <a:ea typeface="TT Fors"/>
                <a:cs typeface="TT Fors"/>
                <a:sym typeface="TT Fors"/>
              </a:rPr>
              <a:t>People want to know secrets</a:t>
            </a:r>
          </a:p>
          <a:p>
            <a:pPr algn="l">
              <a:lnSpc>
                <a:spcPts val="2940"/>
              </a:lnSpc>
            </a:pPr>
            <a:endParaRPr lang="en-US" sz="2100">
              <a:solidFill>
                <a:srgbClr val="00FFA8"/>
              </a:solidFill>
              <a:latin typeface="TT Fors"/>
              <a:ea typeface="TT Fors"/>
              <a:cs typeface="TT Fors"/>
              <a:sym typeface="TT Fors"/>
            </a:endParaRPr>
          </a:p>
          <a:p>
            <a:pPr algn="l">
              <a:lnSpc>
                <a:spcPts val="2940"/>
              </a:lnSpc>
            </a:pPr>
            <a:r>
              <a:rPr lang="en-US" sz="2100" b="1">
                <a:solidFill>
                  <a:srgbClr val="00FFA8"/>
                </a:solidFill>
                <a:latin typeface="TT Fors Bold"/>
                <a:ea typeface="TT Fors Bold"/>
                <a:cs typeface="TT Fors Bold"/>
                <a:sym typeface="TT Fors Bold"/>
              </a:rPr>
              <a:t>Connection to Footprinting: </a:t>
            </a:r>
            <a:r>
              <a:rPr lang="en-US" sz="2100">
                <a:solidFill>
                  <a:srgbClr val="00FFA8"/>
                </a:solidFill>
                <a:latin typeface="TT Fors"/>
                <a:ea typeface="TT Fors"/>
                <a:cs typeface="TT Fors"/>
                <a:sym typeface="TT Fors"/>
              </a:rPr>
              <a:t>Information gathered during footprinting makes social engineering attacks more convincing and effective.</a:t>
            </a:r>
          </a:p>
        </p:txBody>
      </p:sp>
      <p:sp>
        <p:nvSpPr>
          <p:cNvPr id="4" name="TextBox 4"/>
          <p:cNvSpPr txBox="1"/>
          <p:nvPr/>
        </p:nvSpPr>
        <p:spPr>
          <a:xfrm>
            <a:off x="666750" y="1889126"/>
            <a:ext cx="16954500" cy="3524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FFFFFF"/>
                </a:solidFill>
                <a:latin typeface="TT Fors Bold"/>
                <a:ea typeface="TT Fors Bold"/>
                <a:cs typeface="TT Fors Bold"/>
                <a:sym typeface="TT Fors Bold"/>
              </a:rPr>
              <a:t>Social Engineering</a:t>
            </a:r>
            <a:r>
              <a:rPr lang="en-US" sz="2400" spc="-72">
                <a:solidFill>
                  <a:srgbClr val="FFFFFF"/>
                </a:solidFill>
                <a:latin typeface="TT Fors"/>
                <a:ea typeface="TT Fors"/>
                <a:cs typeface="TT Fors"/>
                <a:sym typeface="TT Fors"/>
              </a:rPr>
              <a:t> is the psychological manipulation of people into performing action</a:t>
            </a:r>
            <a:r>
              <a:rPr lang="en-US" sz="2400" u="none" strike="noStrike" spc="-72">
                <a:solidFill>
                  <a:srgbClr val="FFFFFF"/>
                </a:solidFill>
                <a:latin typeface="TT Fors"/>
                <a:ea typeface="TT Fors"/>
                <a:cs typeface="TT Fors"/>
                <a:sym typeface="TT Fors"/>
              </a:rPr>
              <a:t>s or divulging confidential information.</a:t>
            </a:r>
          </a:p>
        </p:txBody>
      </p:sp>
      <p:grpSp>
        <p:nvGrpSpPr>
          <p:cNvPr id="5" name="Group 5"/>
          <p:cNvGrpSpPr/>
          <p:nvPr/>
        </p:nvGrpSpPr>
        <p:grpSpPr>
          <a:xfrm>
            <a:off x="666750" y="9025165"/>
            <a:ext cx="16954500" cy="947421"/>
            <a:chOff x="0" y="0"/>
            <a:chExt cx="4465332" cy="249533"/>
          </a:xfrm>
        </p:grpSpPr>
        <p:sp>
          <p:nvSpPr>
            <p:cNvPr id="6" name="Freeform 6"/>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301445"/>
            </a:solidFill>
            <a:ln cap="sq">
              <a:noFill/>
              <a:prstDash val="solid"/>
              <a:miter/>
            </a:ln>
          </p:spPr>
          <p:txBody>
            <a:bodyPr/>
            <a:lstStyle/>
            <a:p>
              <a:endParaRPr lang="en-US"/>
            </a:p>
          </p:txBody>
        </p:sp>
        <p:sp>
          <p:nvSpPr>
            <p:cNvPr id="7" name="TextBox 7"/>
            <p:cNvSpPr txBox="1"/>
            <p:nvPr/>
          </p:nvSpPr>
          <p:spPr>
            <a:xfrm>
              <a:off x="0" y="0"/>
              <a:ext cx="4465332" cy="249533"/>
            </a:xfrm>
            <a:prstGeom prst="rect">
              <a:avLst/>
            </a:prstGeom>
          </p:spPr>
          <p:txBody>
            <a:bodyPr lIns="254000" tIns="254000" rIns="254000" bIns="254000" rtlCol="0" anchor="ctr"/>
            <a:lstStyle/>
            <a:p>
              <a:pPr algn="l">
                <a:lnSpc>
                  <a:spcPts val="2940"/>
                </a:lnSpc>
              </a:pPr>
              <a:r>
                <a:rPr lang="en-US" sz="2100" b="1" spc="-63" dirty="0">
                  <a:solidFill>
                    <a:srgbClr val="FFFFFF"/>
                  </a:solidFill>
                  <a:latin typeface="TT Fors Bold"/>
                  <a:ea typeface="TT Fors Bold"/>
                  <a:cs typeface="TT Fors Bold"/>
                  <a:sym typeface="TT Fors Bold"/>
                </a:rPr>
                <a:t>Key Point: </a:t>
              </a:r>
              <a:r>
                <a:rPr lang="en-US" sz="2100" spc="-63" dirty="0">
                  <a:solidFill>
                    <a:srgbClr val="FFFFFF"/>
                  </a:solidFill>
                  <a:latin typeface="TT Fors"/>
                  <a:ea typeface="TT Fors"/>
                  <a:cs typeface="TT Fors"/>
                  <a:sym typeface="TT Fors"/>
                </a:rPr>
                <a:t>The best technical security is useless if humans can be manipulated to bypass it.</a:t>
              </a:r>
            </a:p>
          </p:txBody>
        </p:sp>
      </p:grpSp>
      <p:grpSp>
        <p:nvGrpSpPr>
          <p:cNvPr id="8" name="Group 8"/>
          <p:cNvGrpSpPr/>
          <p:nvPr/>
        </p:nvGrpSpPr>
        <p:grpSpPr>
          <a:xfrm>
            <a:off x="16115522" y="751544"/>
            <a:ext cx="1505728" cy="810556"/>
            <a:chOff x="0" y="0"/>
            <a:chExt cx="2007638" cy="1080741"/>
          </a:xfrm>
        </p:grpSpPr>
        <p:grpSp>
          <p:nvGrpSpPr>
            <p:cNvPr id="9" name="Group 9"/>
            <p:cNvGrpSpPr/>
            <p:nvPr/>
          </p:nvGrpSpPr>
          <p:grpSpPr>
            <a:xfrm>
              <a:off x="0" y="0"/>
              <a:ext cx="1080741" cy="108074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926897" y="0"/>
              <a:ext cx="1080741" cy="108074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Freeform 15"/>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6" name="Freeform 16"/>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7" name="Group 17"/>
          <p:cNvGrpSpPr/>
          <p:nvPr/>
        </p:nvGrpSpPr>
        <p:grpSpPr>
          <a:xfrm>
            <a:off x="666750" y="5695224"/>
            <a:ext cx="7227881" cy="3034666"/>
            <a:chOff x="0" y="0"/>
            <a:chExt cx="1903618" cy="799274"/>
          </a:xfrm>
        </p:grpSpPr>
        <p:sp>
          <p:nvSpPr>
            <p:cNvPr id="18" name="Freeform 18"/>
            <p:cNvSpPr/>
            <p:nvPr/>
          </p:nvSpPr>
          <p:spPr>
            <a:xfrm>
              <a:off x="0" y="0"/>
              <a:ext cx="1903618" cy="799274"/>
            </a:xfrm>
            <a:custGeom>
              <a:avLst/>
              <a:gdLst/>
              <a:ahLst/>
              <a:cxnLst/>
              <a:rect l="l" t="t" r="r" b="b"/>
              <a:pathLst>
                <a:path w="1903618" h="799274">
                  <a:moveTo>
                    <a:pt x="1903618" y="21422"/>
                  </a:moveTo>
                  <a:lnTo>
                    <a:pt x="1903618" y="777851"/>
                  </a:lnTo>
                  <a:cubicBezTo>
                    <a:pt x="1903618" y="789682"/>
                    <a:pt x="1894027" y="799274"/>
                    <a:pt x="1882195" y="799274"/>
                  </a:cubicBezTo>
                  <a:lnTo>
                    <a:pt x="21422" y="799274"/>
                  </a:lnTo>
                  <a:cubicBezTo>
                    <a:pt x="15741" y="799274"/>
                    <a:pt x="10292" y="797017"/>
                    <a:pt x="6274" y="792999"/>
                  </a:cubicBezTo>
                  <a:cubicBezTo>
                    <a:pt x="2257" y="788982"/>
                    <a:pt x="0" y="783533"/>
                    <a:pt x="0" y="777851"/>
                  </a:cubicBezTo>
                  <a:lnTo>
                    <a:pt x="0" y="21422"/>
                  </a:lnTo>
                  <a:cubicBezTo>
                    <a:pt x="0" y="9591"/>
                    <a:pt x="9591" y="0"/>
                    <a:pt x="21422" y="0"/>
                  </a:cubicBezTo>
                  <a:lnTo>
                    <a:pt x="1882195" y="0"/>
                  </a:lnTo>
                  <a:cubicBezTo>
                    <a:pt x="1887877" y="0"/>
                    <a:pt x="1893326" y="2257"/>
                    <a:pt x="1897343" y="6274"/>
                  </a:cubicBezTo>
                  <a:cubicBezTo>
                    <a:pt x="1901361" y="10292"/>
                    <a:pt x="1903618" y="15741"/>
                    <a:pt x="1903618" y="21422"/>
                  </a:cubicBezTo>
                  <a:close/>
                </a:path>
              </a:pathLst>
            </a:custGeom>
            <a:solidFill>
              <a:srgbClr val="1FBB7F"/>
            </a:solidFill>
            <a:ln cap="sq">
              <a:noFill/>
              <a:prstDash val="solid"/>
              <a:miter/>
            </a:ln>
          </p:spPr>
          <p:txBody>
            <a:bodyPr/>
            <a:lstStyle/>
            <a:p>
              <a:endParaRPr lang="en-US"/>
            </a:p>
          </p:txBody>
        </p:sp>
        <p:sp>
          <p:nvSpPr>
            <p:cNvPr id="19" name="TextBox 19"/>
            <p:cNvSpPr txBox="1"/>
            <p:nvPr/>
          </p:nvSpPr>
          <p:spPr>
            <a:xfrm>
              <a:off x="0" y="0"/>
              <a:ext cx="1903618" cy="799274"/>
            </a:xfrm>
            <a:prstGeom prst="rect">
              <a:avLst/>
            </a:prstGeom>
          </p:spPr>
          <p:txBody>
            <a:bodyPr lIns="254000" tIns="254000" rIns="254000" bIns="254000" rtlCol="0" anchor="ctr"/>
            <a:lstStyle/>
            <a:p>
              <a:pPr algn="l">
                <a:lnSpc>
                  <a:spcPts val="2940"/>
                </a:lnSpc>
              </a:pPr>
              <a:r>
                <a:rPr lang="en-US" sz="2100" b="1" spc="-63" dirty="0">
                  <a:solidFill>
                    <a:srgbClr val="000000"/>
                  </a:solidFill>
                  <a:latin typeface="TT Fors Bold"/>
                  <a:ea typeface="TT Fors Bold"/>
                  <a:cs typeface="TT Fors Bold"/>
                  <a:sym typeface="TT Fors Bold"/>
                </a:rPr>
                <a:t>Common Techniques:</a:t>
              </a:r>
            </a:p>
            <a:p>
              <a:pPr marL="453398" lvl="1" indent="-226699" algn="l">
                <a:lnSpc>
                  <a:spcPts val="2940"/>
                </a:lnSpc>
                <a:buFont typeface="Arial"/>
                <a:buChar char="•"/>
              </a:pPr>
              <a:r>
                <a:rPr lang="en-US" sz="2100" b="1" spc="-63" dirty="0">
                  <a:solidFill>
                    <a:srgbClr val="000000"/>
                  </a:solidFill>
                  <a:latin typeface="TT Fors Bold"/>
                  <a:ea typeface="TT Fors Bold"/>
                  <a:cs typeface="TT Fors Bold"/>
                  <a:sym typeface="TT Fors Bold"/>
                </a:rPr>
                <a:t>Phishing:</a:t>
              </a:r>
              <a:r>
                <a:rPr lang="en-US" sz="2100" spc="-63" dirty="0">
                  <a:solidFill>
                    <a:srgbClr val="000000"/>
                  </a:solidFill>
                  <a:latin typeface="TT Fors"/>
                  <a:ea typeface="TT Fors"/>
                  <a:cs typeface="TT Fors"/>
                  <a:sym typeface="TT Fors"/>
                </a:rPr>
                <a:t> Fake emails</a:t>
              </a:r>
            </a:p>
            <a:p>
              <a:pPr marL="453398" lvl="1" indent="-226699" algn="l">
                <a:lnSpc>
                  <a:spcPts val="2940"/>
                </a:lnSpc>
                <a:buFont typeface="Arial"/>
                <a:buChar char="•"/>
              </a:pPr>
              <a:r>
                <a:rPr lang="en-US" sz="2100" b="1" spc="-63" dirty="0">
                  <a:solidFill>
                    <a:srgbClr val="000000"/>
                  </a:solidFill>
                  <a:latin typeface="TT Fors Bold"/>
                  <a:ea typeface="TT Fors Bold"/>
                  <a:cs typeface="TT Fors Bold"/>
                  <a:sym typeface="TT Fors Bold"/>
                </a:rPr>
                <a:t>Vishing:</a:t>
              </a:r>
              <a:r>
                <a:rPr lang="en-US" sz="2100" spc="-63" dirty="0">
                  <a:solidFill>
                    <a:srgbClr val="000000"/>
                  </a:solidFill>
                  <a:latin typeface="TT Fors"/>
                  <a:ea typeface="TT Fors"/>
                  <a:cs typeface="TT Fors"/>
                  <a:sym typeface="TT Fors"/>
                </a:rPr>
                <a:t> Voice phishing (phone)</a:t>
              </a:r>
            </a:p>
            <a:p>
              <a:pPr marL="453398" lvl="1" indent="-226699" algn="l">
                <a:lnSpc>
                  <a:spcPts val="2940"/>
                </a:lnSpc>
                <a:buFont typeface="Arial"/>
                <a:buChar char="•"/>
              </a:pPr>
              <a:r>
                <a:rPr lang="en-US" sz="2100" b="1" spc="-63" dirty="0">
                  <a:solidFill>
                    <a:srgbClr val="000000"/>
                  </a:solidFill>
                  <a:latin typeface="TT Fors Bold"/>
                  <a:ea typeface="TT Fors Bold"/>
                  <a:cs typeface="TT Fors Bold"/>
                  <a:sym typeface="TT Fors Bold"/>
                </a:rPr>
                <a:t>Smishing:</a:t>
              </a:r>
              <a:r>
                <a:rPr lang="en-US" sz="2100" spc="-63" dirty="0">
                  <a:solidFill>
                    <a:srgbClr val="000000"/>
                  </a:solidFill>
                  <a:latin typeface="TT Fors"/>
                  <a:ea typeface="TT Fors"/>
                  <a:cs typeface="TT Fors"/>
                  <a:sym typeface="TT Fors"/>
                </a:rPr>
                <a:t> SMS phishing</a:t>
              </a:r>
            </a:p>
            <a:p>
              <a:pPr marL="453398" lvl="1" indent="-226699" algn="l">
                <a:lnSpc>
                  <a:spcPts val="2940"/>
                </a:lnSpc>
                <a:buFont typeface="Arial"/>
                <a:buChar char="•"/>
              </a:pPr>
              <a:r>
                <a:rPr lang="en-US" sz="2100" b="1" spc="-63" dirty="0">
                  <a:solidFill>
                    <a:srgbClr val="000000"/>
                  </a:solidFill>
                  <a:latin typeface="TT Fors Bold"/>
                  <a:ea typeface="TT Fors Bold"/>
                  <a:cs typeface="TT Fors Bold"/>
                  <a:sym typeface="TT Fors Bold"/>
                </a:rPr>
                <a:t>Pretexting:</a:t>
              </a:r>
              <a:r>
                <a:rPr lang="en-US" sz="2100" spc="-63" dirty="0">
                  <a:solidFill>
                    <a:srgbClr val="000000"/>
                  </a:solidFill>
                  <a:latin typeface="TT Fors"/>
                  <a:ea typeface="TT Fors"/>
                  <a:cs typeface="TT Fors"/>
                  <a:sym typeface="TT Fors"/>
                </a:rPr>
                <a:t> Creating false scenarios</a:t>
              </a:r>
            </a:p>
            <a:p>
              <a:pPr marL="453398" lvl="1" indent="-226699" algn="l">
                <a:lnSpc>
                  <a:spcPts val="2940"/>
                </a:lnSpc>
                <a:buFont typeface="Arial"/>
                <a:buChar char="•"/>
              </a:pPr>
              <a:r>
                <a:rPr lang="en-US" sz="2100" b="1" spc="-63" dirty="0">
                  <a:solidFill>
                    <a:srgbClr val="000000"/>
                  </a:solidFill>
                  <a:latin typeface="TT Fors Bold"/>
                  <a:ea typeface="TT Fors Bold"/>
                  <a:cs typeface="TT Fors Bold"/>
                  <a:sym typeface="TT Fors Bold"/>
                </a:rPr>
                <a:t>Baiting:</a:t>
              </a:r>
              <a:r>
                <a:rPr lang="en-US" sz="2100" spc="-63" dirty="0">
                  <a:solidFill>
                    <a:srgbClr val="000000"/>
                  </a:solidFill>
                  <a:latin typeface="TT Fors"/>
                  <a:ea typeface="TT Fors"/>
                  <a:cs typeface="TT Fors"/>
                  <a:sym typeface="TT Fors"/>
                </a:rPr>
                <a:t> Offering something enticing</a:t>
              </a:r>
            </a:p>
            <a:p>
              <a:pPr marL="453398" lvl="1" indent="-226699" algn="l">
                <a:lnSpc>
                  <a:spcPts val="2940"/>
                </a:lnSpc>
                <a:buFont typeface="Arial"/>
                <a:buChar char="•"/>
              </a:pPr>
              <a:r>
                <a:rPr lang="en-US" sz="2100" b="1" spc="-63" dirty="0">
                  <a:solidFill>
                    <a:srgbClr val="000000"/>
                  </a:solidFill>
                  <a:latin typeface="TT Fors Bold"/>
                  <a:ea typeface="TT Fors Bold"/>
                  <a:cs typeface="TT Fors Bold"/>
                  <a:sym typeface="TT Fors Bold"/>
                </a:rPr>
                <a:t>Tailgating:</a:t>
              </a:r>
              <a:r>
                <a:rPr lang="en-US" sz="2100" spc="-63" dirty="0">
                  <a:solidFill>
                    <a:srgbClr val="000000"/>
                  </a:solidFill>
                  <a:latin typeface="TT Fors"/>
                  <a:ea typeface="TT Fors"/>
                  <a:cs typeface="TT Fors"/>
                  <a:sym typeface="TT Fors"/>
                </a:rPr>
                <a:t> Physical access</a:t>
              </a:r>
            </a:p>
          </p:txBody>
        </p:sp>
      </p:grpSp>
      <p:grpSp>
        <p:nvGrpSpPr>
          <p:cNvPr id="20" name="Group 20"/>
          <p:cNvGrpSpPr/>
          <p:nvPr/>
        </p:nvGrpSpPr>
        <p:grpSpPr>
          <a:xfrm>
            <a:off x="8159633" y="5695224"/>
            <a:ext cx="9461617" cy="3034666"/>
            <a:chOff x="0" y="0"/>
            <a:chExt cx="2491920" cy="799274"/>
          </a:xfrm>
        </p:grpSpPr>
        <p:sp>
          <p:nvSpPr>
            <p:cNvPr id="21" name="Freeform 21"/>
            <p:cNvSpPr/>
            <p:nvPr/>
          </p:nvSpPr>
          <p:spPr>
            <a:xfrm>
              <a:off x="0" y="0"/>
              <a:ext cx="2491920" cy="799274"/>
            </a:xfrm>
            <a:custGeom>
              <a:avLst/>
              <a:gdLst/>
              <a:ahLst/>
              <a:cxnLst/>
              <a:rect l="l" t="t" r="r" b="b"/>
              <a:pathLst>
                <a:path w="2491920" h="799274">
                  <a:moveTo>
                    <a:pt x="2491920" y="16365"/>
                  </a:moveTo>
                  <a:lnTo>
                    <a:pt x="2491920" y="782909"/>
                  </a:lnTo>
                  <a:cubicBezTo>
                    <a:pt x="2491920" y="787249"/>
                    <a:pt x="2490196" y="791411"/>
                    <a:pt x="2487127" y="794480"/>
                  </a:cubicBezTo>
                  <a:cubicBezTo>
                    <a:pt x="2484058" y="797549"/>
                    <a:pt x="2479896" y="799274"/>
                    <a:pt x="2475555" y="799274"/>
                  </a:cubicBezTo>
                  <a:lnTo>
                    <a:pt x="16365" y="799274"/>
                  </a:lnTo>
                  <a:cubicBezTo>
                    <a:pt x="12025" y="799274"/>
                    <a:pt x="7862" y="797549"/>
                    <a:pt x="4793" y="794480"/>
                  </a:cubicBezTo>
                  <a:cubicBezTo>
                    <a:pt x="1724" y="791411"/>
                    <a:pt x="0" y="787249"/>
                    <a:pt x="0" y="782909"/>
                  </a:cubicBezTo>
                  <a:lnTo>
                    <a:pt x="0" y="16365"/>
                  </a:lnTo>
                  <a:cubicBezTo>
                    <a:pt x="0" y="12025"/>
                    <a:pt x="1724" y="7862"/>
                    <a:pt x="4793" y="4793"/>
                  </a:cubicBezTo>
                  <a:cubicBezTo>
                    <a:pt x="7862" y="1724"/>
                    <a:pt x="12025" y="0"/>
                    <a:pt x="16365" y="0"/>
                  </a:cubicBezTo>
                  <a:lnTo>
                    <a:pt x="2475555" y="0"/>
                  </a:lnTo>
                  <a:cubicBezTo>
                    <a:pt x="2479896" y="0"/>
                    <a:pt x="2484058" y="1724"/>
                    <a:pt x="2487127" y="4793"/>
                  </a:cubicBezTo>
                  <a:cubicBezTo>
                    <a:pt x="2490196" y="7862"/>
                    <a:pt x="2491920" y="12025"/>
                    <a:pt x="2491920" y="16365"/>
                  </a:cubicBezTo>
                  <a:close/>
                </a:path>
              </a:pathLst>
            </a:custGeom>
            <a:solidFill>
              <a:srgbClr val="1FBB7F"/>
            </a:solidFill>
            <a:ln cap="sq">
              <a:noFill/>
              <a:prstDash val="solid"/>
              <a:miter/>
            </a:ln>
          </p:spPr>
          <p:txBody>
            <a:bodyPr/>
            <a:lstStyle/>
            <a:p>
              <a:endParaRPr lang="en-US"/>
            </a:p>
          </p:txBody>
        </p:sp>
        <p:sp>
          <p:nvSpPr>
            <p:cNvPr id="22" name="TextBox 22"/>
            <p:cNvSpPr txBox="1"/>
            <p:nvPr/>
          </p:nvSpPr>
          <p:spPr>
            <a:xfrm>
              <a:off x="0" y="0"/>
              <a:ext cx="2491920" cy="799274"/>
            </a:xfrm>
            <a:prstGeom prst="rect">
              <a:avLst/>
            </a:prstGeom>
          </p:spPr>
          <p:txBody>
            <a:bodyPr lIns="254000" tIns="254000" rIns="254000" bIns="254000" rtlCol="0" anchor="ctr"/>
            <a:lstStyle/>
            <a:p>
              <a:pPr algn="l">
                <a:lnSpc>
                  <a:spcPts val="2940"/>
                </a:lnSpc>
              </a:pPr>
              <a:r>
                <a:rPr lang="en-US" sz="2100" b="1" spc="-63" dirty="0">
                  <a:solidFill>
                    <a:srgbClr val="000000"/>
                  </a:solidFill>
                  <a:latin typeface="TT Fors Bold"/>
                  <a:ea typeface="TT Fors Bold"/>
                  <a:cs typeface="TT Fors Bold"/>
                  <a:sym typeface="TT Fors Bold"/>
                </a:rPr>
                <a:t>Recon Connection: </a:t>
              </a:r>
              <a:r>
                <a:rPr lang="en-US" sz="2100" spc="-63" dirty="0">
                  <a:solidFill>
                    <a:srgbClr val="000000"/>
                  </a:solidFill>
                  <a:latin typeface="TT Fors"/>
                  <a:ea typeface="TT Fors"/>
                  <a:cs typeface="TT Fors"/>
                  <a:sym typeface="TT Fors"/>
                </a:rPr>
                <a:t>Information gathered during reconnaissance makes social engineering much more effective:</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Employee names and titles</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Email formats</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Company structure</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Technology used</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Recent news/events</a:t>
              </a: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u="none" strike="noStrike" spc="-180">
                <a:solidFill>
                  <a:srgbClr val="00FFA8"/>
                </a:solidFill>
                <a:latin typeface="ITC Avant Garde Gothic"/>
                <a:ea typeface="ITC Avant Garde Gothic"/>
                <a:cs typeface="ITC Avant Garde Gothic"/>
                <a:sym typeface="ITC Avant Garde Gothic"/>
              </a:rPr>
              <a:t>Social Engineering Psychological Principles</a:t>
            </a:r>
          </a:p>
        </p:txBody>
      </p:sp>
      <p:grpSp>
        <p:nvGrpSpPr>
          <p:cNvPr id="3" name="Group 3"/>
          <p:cNvGrpSpPr/>
          <p:nvPr/>
        </p:nvGrpSpPr>
        <p:grpSpPr>
          <a:xfrm>
            <a:off x="16115522" y="751544"/>
            <a:ext cx="1505728" cy="810556"/>
            <a:chOff x="0" y="0"/>
            <a:chExt cx="2007638" cy="1080741"/>
          </a:xfrm>
        </p:grpSpPr>
        <p:grpSp>
          <p:nvGrpSpPr>
            <p:cNvPr id="4" name="Group 4"/>
            <p:cNvGrpSpPr/>
            <p:nvPr/>
          </p:nvGrpSpPr>
          <p:grpSpPr>
            <a:xfrm>
              <a:off x="0" y="0"/>
              <a:ext cx="1080741" cy="108074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926897" y="0"/>
              <a:ext cx="1080741" cy="1080741"/>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graphicFrame>
        <p:nvGraphicFramePr>
          <p:cNvPr id="12" name="Table 12"/>
          <p:cNvGraphicFramePr>
            <a:graphicFrameLocks noGrp="1"/>
          </p:cNvGraphicFramePr>
          <p:nvPr/>
        </p:nvGraphicFramePr>
        <p:xfrm>
          <a:off x="666750" y="2126579"/>
          <a:ext cx="9559636" cy="5210176"/>
        </p:xfrm>
        <a:graphic>
          <a:graphicData uri="http://schemas.openxmlformats.org/drawingml/2006/table">
            <a:tbl>
              <a:tblPr/>
              <a:tblGrid>
                <a:gridCol w="4352209">
                  <a:extLst>
                    <a:ext uri="{9D8B030D-6E8A-4147-A177-3AD203B41FA5}">
                      <a16:colId xmlns:a16="http://schemas.microsoft.com/office/drawing/2014/main" val="20000"/>
                    </a:ext>
                  </a:extLst>
                </a:gridCol>
                <a:gridCol w="5207427">
                  <a:extLst>
                    <a:ext uri="{9D8B030D-6E8A-4147-A177-3AD203B41FA5}">
                      <a16:colId xmlns:a16="http://schemas.microsoft.com/office/drawing/2014/main" val="20001"/>
                    </a:ext>
                  </a:extLst>
                </a:gridCol>
              </a:tblGrid>
              <a:tr h="498949">
                <a:tc>
                  <a:txBody>
                    <a:bodyPr/>
                    <a:lstStyle/>
                    <a:p>
                      <a:pPr algn="l">
                        <a:lnSpc>
                          <a:spcPts val="2520"/>
                        </a:lnSpc>
                        <a:defRPr/>
                      </a:pPr>
                      <a:r>
                        <a:rPr lang="en-US" sz="1800" b="1">
                          <a:solidFill>
                            <a:srgbClr val="000000"/>
                          </a:solidFill>
                          <a:latin typeface="TT Fors Bold"/>
                          <a:ea typeface="TT Fors Bold"/>
                          <a:cs typeface="TT Fors Bold"/>
                          <a:sym typeface="TT Fors Bold"/>
                        </a:rPr>
                        <a:t>Key Techniques</a:t>
                      </a:r>
                      <a:endParaRPr lang="en-US" sz="1100"/>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tc>
                  <a:txBody>
                    <a:bodyPr/>
                    <a:lstStyle/>
                    <a:p>
                      <a:pPr algn="l">
                        <a:lnSpc>
                          <a:spcPts val="2520"/>
                        </a:lnSpc>
                        <a:defRPr/>
                      </a:pPr>
                      <a:r>
                        <a:rPr lang="en-US" sz="1800" b="1">
                          <a:solidFill>
                            <a:srgbClr val="000000"/>
                          </a:solidFill>
                          <a:latin typeface="TT Fors Bold"/>
                          <a:ea typeface="TT Fors Bold"/>
                          <a:cs typeface="TT Fors Bold"/>
                          <a:sym typeface="TT Fors Bold"/>
                        </a:rPr>
                        <a:t>Details</a:t>
                      </a:r>
                      <a:endParaRPr lang="en-US" sz="1100"/>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solidFill>
                      <a:srgbClr val="00FFA8"/>
                    </a:solidFill>
                  </a:tcPr>
                </a:tc>
                <a:extLst>
                  <a:ext uri="{0D108BD9-81ED-4DB2-BD59-A6C34878D82A}">
                    <a16:rowId xmlns:a16="http://schemas.microsoft.com/office/drawing/2014/main" val="10000"/>
                  </a:ext>
                </a:extLst>
              </a:tr>
              <a:tr h="1132230">
                <a:tc>
                  <a:txBody>
                    <a:bodyPr/>
                    <a:lstStyle/>
                    <a:p>
                      <a:pPr algn="l">
                        <a:lnSpc>
                          <a:spcPts val="2520"/>
                        </a:lnSpc>
                        <a:defRPr/>
                      </a:pPr>
                      <a:r>
                        <a:rPr lang="en-US" sz="1800" b="1">
                          <a:solidFill>
                            <a:srgbClr val="FFFFFF"/>
                          </a:solidFill>
                          <a:latin typeface="TT Fors Bold"/>
                          <a:ea typeface="TT Fors Bold"/>
                          <a:cs typeface="TT Fors Bold"/>
                          <a:sym typeface="TT Fors Bold"/>
                        </a:rPr>
                        <a:t>Authority</a:t>
                      </a:r>
                      <a:endParaRPr lang="en-US" sz="1100"/>
                    </a:p>
                    <a:p>
                      <a:pPr algn="l">
                        <a:lnSpc>
                          <a:spcPts val="2520"/>
                        </a:lnSpc>
                      </a:pPr>
                      <a:r>
                        <a:rPr lang="en-US" sz="1800">
                          <a:solidFill>
                            <a:srgbClr val="FFFFFF"/>
                          </a:solidFill>
                          <a:latin typeface="TT Fors"/>
                          <a:ea typeface="TT Fors"/>
                          <a:cs typeface="TT Fors"/>
                          <a:sym typeface="TT Fors"/>
                        </a:rPr>
                        <a:t>Impersonating figures of power</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marL="388622" lvl="1" indent="-194311" algn="l">
                        <a:lnSpc>
                          <a:spcPts val="2520"/>
                        </a:lnSpc>
                        <a:buFont typeface="Arial"/>
                        <a:buChar char="•"/>
                        <a:defRPr/>
                      </a:pPr>
                      <a:r>
                        <a:rPr lang="en-US" sz="1800">
                          <a:solidFill>
                            <a:srgbClr val="FFFFFF"/>
                          </a:solidFill>
                          <a:latin typeface="TT Fors"/>
                          <a:ea typeface="TT Fors"/>
                          <a:cs typeface="TT Fors"/>
                          <a:sym typeface="TT Fors"/>
                        </a:rPr>
                        <a:t>"This is IT Director calling..."</a:t>
                      </a:r>
                      <a:endParaRPr lang="en-US" sz="1100"/>
                    </a:p>
                    <a:p>
                      <a:pPr marL="388622" lvl="1" indent="-194311" algn="l">
                        <a:lnSpc>
                          <a:spcPts val="2520"/>
                        </a:lnSpc>
                        <a:buFont typeface="Arial"/>
                        <a:buChar char="•"/>
                      </a:pPr>
                      <a:r>
                        <a:rPr lang="en-US" sz="1800">
                          <a:solidFill>
                            <a:srgbClr val="FFFFFF"/>
                          </a:solidFill>
                          <a:latin typeface="TT Fors"/>
                          <a:ea typeface="TT Fors"/>
                          <a:cs typeface="TT Fors"/>
                          <a:sym typeface="TT Fors"/>
                        </a:rPr>
                        <a:t>Using company titles</a:t>
                      </a:r>
                    </a:p>
                    <a:p>
                      <a:pPr marL="388622" lvl="1" indent="-194311" algn="l">
                        <a:lnSpc>
                          <a:spcPts val="2520"/>
                        </a:lnSpc>
                        <a:buFont typeface="Arial"/>
                        <a:buChar char="•"/>
                      </a:pPr>
                      <a:r>
                        <a:rPr lang="en-US" sz="1800">
                          <a:solidFill>
                            <a:srgbClr val="FFFFFF"/>
                          </a:solidFill>
                          <a:latin typeface="TT Fors"/>
                          <a:ea typeface="TT Fors"/>
                          <a:cs typeface="TT Fors"/>
                          <a:sym typeface="TT Fors"/>
                        </a:rPr>
                        <a:t>Urgency from "management"</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1"/>
                  </a:ext>
                </a:extLst>
              </a:tr>
              <a:tr h="815589">
                <a:tc>
                  <a:txBody>
                    <a:bodyPr/>
                    <a:lstStyle/>
                    <a:p>
                      <a:pPr algn="l">
                        <a:lnSpc>
                          <a:spcPts val="2520"/>
                        </a:lnSpc>
                        <a:defRPr/>
                      </a:pPr>
                      <a:r>
                        <a:rPr lang="en-US" sz="1800" b="1">
                          <a:solidFill>
                            <a:srgbClr val="FFFFFF"/>
                          </a:solidFill>
                          <a:latin typeface="TT Fors Bold"/>
                          <a:ea typeface="TT Fors Bold"/>
                          <a:cs typeface="TT Fors Bold"/>
                          <a:sym typeface="TT Fors Bold"/>
                        </a:rPr>
                        <a:t>Reciprocity </a:t>
                      </a:r>
                      <a:endParaRPr lang="en-US" sz="1100"/>
                    </a:p>
                    <a:p>
                      <a:pPr algn="l">
                        <a:lnSpc>
                          <a:spcPts val="2520"/>
                        </a:lnSpc>
                      </a:pPr>
                      <a:r>
                        <a:rPr lang="en-US" sz="1800">
                          <a:solidFill>
                            <a:srgbClr val="FFFFFF"/>
                          </a:solidFill>
                          <a:latin typeface="TT Fors"/>
                          <a:ea typeface="TT Fors"/>
                          <a:cs typeface="TT Fors"/>
                          <a:sym typeface="TT Fors"/>
                        </a:rPr>
                        <a:t>Give something to get something</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marL="388622" lvl="1" indent="-194311" algn="l">
                        <a:lnSpc>
                          <a:spcPts val="2520"/>
                        </a:lnSpc>
                        <a:buFont typeface="Arial"/>
                        <a:buChar char="•"/>
                        <a:defRPr/>
                      </a:pPr>
                      <a:r>
                        <a:rPr lang="en-US" sz="1800">
                          <a:solidFill>
                            <a:srgbClr val="FFFFFF"/>
                          </a:solidFill>
                          <a:latin typeface="TT Fors"/>
                          <a:ea typeface="TT Fors"/>
                          <a:cs typeface="TT Fors"/>
                          <a:sym typeface="TT Fors"/>
                        </a:rPr>
                        <a:t>Offer help first</a:t>
                      </a:r>
                      <a:endParaRPr lang="en-US" sz="1100"/>
                    </a:p>
                    <a:p>
                      <a:pPr marL="388622" lvl="1" indent="-194311" algn="l">
                        <a:lnSpc>
                          <a:spcPts val="2520"/>
                        </a:lnSpc>
                        <a:buFont typeface="Arial"/>
                        <a:buChar char="•"/>
                      </a:pPr>
                      <a:r>
                        <a:rPr lang="en-US" sz="1800">
                          <a:solidFill>
                            <a:srgbClr val="FFFFFF"/>
                          </a:solidFill>
                          <a:latin typeface="TT Fors"/>
                          <a:ea typeface="TT Fors"/>
                          <a:cs typeface="TT Fors"/>
                          <a:sym typeface="TT Fors"/>
                        </a:rPr>
                        <a:t>Small favors create obligation</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2"/>
                  </a:ext>
                </a:extLst>
              </a:tr>
              <a:tr h="815589">
                <a:tc>
                  <a:txBody>
                    <a:bodyPr/>
                    <a:lstStyle/>
                    <a:p>
                      <a:pPr algn="l">
                        <a:lnSpc>
                          <a:spcPts val="2520"/>
                        </a:lnSpc>
                        <a:defRPr/>
                      </a:pPr>
                      <a:r>
                        <a:rPr lang="en-US" sz="1800" b="1">
                          <a:solidFill>
                            <a:srgbClr val="FFFFFF"/>
                          </a:solidFill>
                          <a:latin typeface="TT Fors Bold"/>
                          <a:ea typeface="TT Fors Bold"/>
                          <a:cs typeface="TT Fors Bold"/>
                          <a:sym typeface="TT Fors Bold"/>
                        </a:rPr>
                        <a:t>Social Proof</a:t>
                      </a:r>
                      <a:endParaRPr lang="en-US" sz="1100"/>
                    </a:p>
                    <a:p>
                      <a:pPr algn="l">
                        <a:lnSpc>
                          <a:spcPts val="2520"/>
                        </a:lnSpc>
                      </a:pPr>
                      <a:r>
                        <a:rPr lang="en-US" sz="1800">
                          <a:solidFill>
                            <a:srgbClr val="FFFFFF"/>
                          </a:solidFill>
                          <a:latin typeface="TT Fors"/>
                          <a:ea typeface="TT Fors"/>
                          <a:cs typeface="TT Fors"/>
                          <a:sym typeface="TT Fors"/>
                        </a:rPr>
                        <a:t>People follow others</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marL="388622" lvl="1" indent="-194311" algn="l">
                        <a:lnSpc>
                          <a:spcPts val="2520"/>
                        </a:lnSpc>
                        <a:buFont typeface="Arial"/>
                        <a:buChar char="•"/>
                        <a:defRPr/>
                      </a:pPr>
                      <a:r>
                        <a:rPr lang="en-US" sz="1800">
                          <a:solidFill>
                            <a:srgbClr val="FFFFFF"/>
                          </a:solidFill>
                          <a:latin typeface="TT Fors"/>
                          <a:ea typeface="TT Fors"/>
                          <a:cs typeface="TT Fors"/>
                          <a:sym typeface="TT Fors"/>
                        </a:rPr>
                        <a:t>Everyone else already submitted..."</a:t>
                      </a:r>
                      <a:endParaRPr lang="en-US" sz="1100"/>
                    </a:p>
                    <a:p>
                      <a:pPr marL="388622" lvl="1" indent="-194311" algn="l">
                        <a:lnSpc>
                          <a:spcPts val="2520"/>
                        </a:lnSpc>
                        <a:buFont typeface="Arial"/>
                        <a:buChar char="•"/>
                      </a:pPr>
                      <a:r>
                        <a:rPr lang="en-US" sz="1800">
                          <a:solidFill>
                            <a:srgbClr val="FFFFFF"/>
                          </a:solidFill>
                          <a:latin typeface="TT Fors"/>
                          <a:ea typeface="TT Fors"/>
                          <a:cs typeface="TT Fors"/>
                          <a:sym typeface="TT Fors"/>
                        </a:rPr>
                        <a:t>"Your colleagues have already..."</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3"/>
                  </a:ext>
                </a:extLst>
              </a:tr>
              <a:tr h="815589">
                <a:tc>
                  <a:txBody>
                    <a:bodyPr/>
                    <a:lstStyle/>
                    <a:p>
                      <a:pPr algn="l">
                        <a:lnSpc>
                          <a:spcPts val="2520"/>
                        </a:lnSpc>
                        <a:defRPr/>
                      </a:pPr>
                      <a:r>
                        <a:rPr lang="en-US" sz="1800" b="1">
                          <a:solidFill>
                            <a:srgbClr val="FFFFFF"/>
                          </a:solidFill>
                          <a:latin typeface="TT Fors Bold"/>
                          <a:ea typeface="TT Fors Bold"/>
                          <a:cs typeface="TT Fors Bold"/>
                          <a:sym typeface="TT Fors Bold"/>
                        </a:rPr>
                        <a:t>Scarcity</a:t>
                      </a:r>
                      <a:endParaRPr lang="en-US" sz="1100"/>
                    </a:p>
                    <a:p>
                      <a:pPr algn="l">
                        <a:lnSpc>
                          <a:spcPts val="2520"/>
                        </a:lnSpc>
                      </a:pPr>
                      <a:r>
                        <a:rPr lang="en-US" sz="1800">
                          <a:solidFill>
                            <a:srgbClr val="FFFFFF"/>
                          </a:solidFill>
                          <a:latin typeface="TT Fors"/>
                          <a:ea typeface="TT Fors"/>
                          <a:cs typeface="TT Fors"/>
                          <a:sym typeface="TT Fors"/>
                        </a:rPr>
                        <a:t>Creating urgency</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marL="388622" lvl="1" indent="-194311" algn="l">
                        <a:lnSpc>
                          <a:spcPts val="2520"/>
                        </a:lnSpc>
                        <a:buFont typeface="Arial"/>
                        <a:buChar char="•"/>
                        <a:defRPr/>
                      </a:pPr>
                      <a:r>
                        <a:rPr lang="en-US" sz="1800">
                          <a:solidFill>
                            <a:srgbClr val="FFFFFF"/>
                          </a:solidFill>
                          <a:latin typeface="TT Fors"/>
                          <a:ea typeface="TT Fors"/>
                          <a:cs typeface="TT Fors"/>
                          <a:sym typeface="TT Fors"/>
                        </a:rPr>
                        <a:t>"Limited time to respond"</a:t>
                      </a:r>
                      <a:endParaRPr lang="en-US" sz="1100"/>
                    </a:p>
                    <a:p>
                      <a:pPr marL="388622" lvl="1" indent="-194311" algn="l">
                        <a:lnSpc>
                          <a:spcPts val="2520"/>
                        </a:lnSpc>
                        <a:buFont typeface="Arial"/>
                        <a:buChar char="•"/>
                      </a:pPr>
                      <a:r>
                        <a:rPr lang="en-US" sz="1800">
                          <a:solidFill>
                            <a:srgbClr val="FFFFFF"/>
                          </a:solidFill>
                          <a:latin typeface="TT Fors"/>
                          <a:ea typeface="TT Fors"/>
                          <a:cs typeface="TT Fors"/>
                          <a:sym typeface="TT Fors"/>
                        </a:rPr>
                        <a:t>"Account will be closed"</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4"/>
                  </a:ext>
                </a:extLst>
              </a:tr>
              <a:tr h="1132230">
                <a:tc>
                  <a:txBody>
                    <a:bodyPr/>
                    <a:lstStyle/>
                    <a:p>
                      <a:pPr algn="l">
                        <a:lnSpc>
                          <a:spcPts val="2520"/>
                        </a:lnSpc>
                        <a:defRPr/>
                      </a:pPr>
                      <a:r>
                        <a:rPr lang="en-US" sz="1800" b="1">
                          <a:solidFill>
                            <a:srgbClr val="FFFFFF"/>
                          </a:solidFill>
                          <a:latin typeface="TT Fors Bold"/>
                          <a:ea typeface="TT Fors Bold"/>
                          <a:cs typeface="TT Fors Bold"/>
                          <a:sym typeface="TT Fors Bold"/>
                        </a:rPr>
                        <a:t>Liking/Friendship</a:t>
                      </a:r>
                      <a:endParaRPr lang="en-US" sz="1100"/>
                    </a:p>
                    <a:p>
                      <a:pPr algn="l">
                        <a:lnSpc>
                          <a:spcPts val="2520"/>
                        </a:lnSpc>
                      </a:pPr>
                      <a:r>
                        <a:rPr lang="en-US" sz="1800">
                          <a:solidFill>
                            <a:srgbClr val="FFFFFF"/>
                          </a:solidFill>
                          <a:latin typeface="TT Fors"/>
                          <a:ea typeface="TT Fors"/>
                          <a:cs typeface="TT Fors"/>
                          <a:sym typeface="TT Fors"/>
                        </a:rPr>
                        <a:t>Build rapport</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tc>
                  <a:txBody>
                    <a:bodyPr/>
                    <a:lstStyle/>
                    <a:p>
                      <a:pPr marL="388622" lvl="1" indent="-194311" algn="l">
                        <a:lnSpc>
                          <a:spcPts val="2520"/>
                        </a:lnSpc>
                        <a:buFont typeface="Arial"/>
                        <a:buChar char="•"/>
                        <a:defRPr/>
                      </a:pPr>
                      <a:r>
                        <a:rPr lang="en-US" sz="1800">
                          <a:solidFill>
                            <a:srgbClr val="FFFFFF"/>
                          </a:solidFill>
                          <a:latin typeface="TT Fors"/>
                          <a:ea typeface="TT Fors"/>
                          <a:cs typeface="TT Fors"/>
                          <a:sym typeface="TT Fors"/>
                        </a:rPr>
                        <a:t>Common interests</a:t>
                      </a:r>
                      <a:endParaRPr lang="en-US" sz="1100"/>
                    </a:p>
                    <a:p>
                      <a:pPr marL="388622" lvl="1" indent="-194311" algn="l">
                        <a:lnSpc>
                          <a:spcPts val="2520"/>
                        </a:lnSpc>
                        <a:buFont typeface="Arial"/>
                        <a:buChar char="•"/>
                      </a:pPr>
                      <a:r>
                        <a:rPr lang="en-US" sz="1800">
                          <a:solidFill>
                            <a:srgbClr val="FFFFFF"/>
                          </a:solidFill>
                          <a:latin typeface="TT Fors"/>
                          <a:ea typeface="TT Fors"/>
                          <a:cs typeface="TT Fors"/>
                          <a:sym typeface="TT Fors"/>
                        </a:rPr>
                        <a:t>Friendly conversation</a:t>
                      </a:r>
                    </a:p>
                    <a:p>
                      <a:pPr marL="388622" lvl="1" indent="-194311" algn="l">
                        <a:lnSpc>
                          <a:spcPts val="2520"/>
                        </a:lnSpc>
                        <a:buFont typeface="Arial"/>
                        <a:buChar char="•"/>
                      </a:pPr>
                      <a:r>
                        <a:rPr lang="en-US" sz="1800">
                          <a:solidFill>
                            <a:srgbClr val="FFFFFF"/>
                          </a:solidFill>
                          <a:latin typeface="TT Fors"/>
                          <a:ea typeface="TT Fors"/>
                          <a:cs typeface="TT Fors"/>
                          <a:sym typeface="TT Fors"/>
                        </a:rPr>
                        <a:t>Appear trustworthy</a:t>
                      </a:r>
                    </a:p>
                  </a:txBody>
                  <a:tcPr marL="47625" marR="47625" marT="47625" marB="47625" anchor="ctr">
                    <a:lnL w="38100" cap="flat" cmpd="sng" algn="ctr">
                      <a:solidFill>
                        <a:srgbClr val="08FFA7"/>
                      </a:solidFill>
                      <a:prstDash val="solid"/>
                      <a:round/>
                      <a:headEnd type="none" w="med" len="med"/>
                      <a:tailEnd type="none" w="med" len="med"/>
                    </a:lnL>
                    <a:lnR w="38100" cap="flat" cmpd="sng" algn="ctr">
                      <a:solidFill>
                        <a:srgbClr val="08FFA7"/>
                      </a:solidFill>
                      <a:prstDash val="solid"/>
                      <a:round/>
                      <a:headEnd type="none" w="med" len="med"/>
                      <a:tailEnd type="none" w="med" len="med"/>
                    </a:lnR>
                    <a:lnT w="38100" cap="flat" cmpd="sng" algn="ctr">
                      <a:solidFill>
                        <a:srgbClr val="08FFA7"/>
                      </a:solidFill>
                      <a:prstDash val="solid"/>
                      <a:round/>
                      <a:headEnd type="none" w="med" len="med"/>
                      <a:tailEnd type="none" w="med" len="med"/>
                    </a:lnT>
                    <a:lnB w="38100" cap="flat" cmpd="sng" algn="ctr">
                      <a:solidFill>
                        <a:srgbClr val="08FFA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3" name="Freeform 13"/>
          <p:cNvSpPr/>
          <p:nvPr/>
        </p:nvSpPr>
        <p:spPr>
          <a:xfrm>
            <a:off x="11007068" y="2126579"/>
            <a:ext cx="5616069" cy="3237775"/>
          </a:xfrm>
          <a:custGeom>
            <a:avLst/>
            <a:gdLst/>
            <a:ahLst/>
            <a:cxnLst/>
            <a:rect l="l" t="t" r="r" b="b"/>
            <a:pathLst>
              <a:path w="5616069" h="3237775">
                <a:moveTo>
                  <a:pt x="0" y="0"/>
                </a:moveTo>
                <a:lnTo>
                  <a:pt x="5616069" y="0"/>
                </a:lnTo>
                <a:lnTo>
                  <a:pt x="5616069" y="3237776"/>
                </a:lnTo>
                <a:lnTo>
                  <a:pt x="0" y="3237776"/>
                </a:lnTo>
                <a:lnTo>
                  <a:pt x="0" y="0"/>
                </a:lnTo>
                <a:close/>
              </a:path>
            </a:pathLst>
          </a:custGeom>
          <a:blipFill>
            <a:blip r:embed="rId7"/>
            <a:stretch>
              <a:fillRect/>
            </a:stretch>
          </a:blipFill>
        </p:spPr>
        <p:txBody>
          <a:bodyPr/>
          <a:lstStyle/>
          <a:p>
            <a:endParaRPr lang="en-US"/>
          </a:p>
        </p:txBody>
      </p:sp>
      <p:sp>
        <p:nvSpPr>
          <p:cNvPr id="14" name="Freeform 14"/>
          <p:cNvSpPr/>
          <p:nvPr/>
        </p:nvSpPr>
        <p:spPr>
          <a:xfrm>
            <a:off x="1896341" y="7517729"/>
            <a:ext cx="6869276" cy="2632349"/>
          </a:xfrm>
          <a:custGeom>
            <a:avLst/>
            <a:gdLst/>
            <a:ahLst/>
            <a:cxnLst/>
            <a:rect l="l" t="t" r="r" b="b"/>
            <a:pathLst>
              <a:path w="6869276" h="2632349">
                <a:moveTo>
                  <a:pt x="0" y="0"/>
                </a:moveTo>
                <a:lnTo>
                  <a:pt x="6869276" y="0"/>
                </a:lnTo>
                <a:lnTo>
                  <a:pt x="6869276" y="2632349"/>
                </a:lnTo>
                <a:lnTo>
                  <a:pt x="0" y="2632349"/>
                </a:lnTo>
                <a:lnTo>
                  <a:pt x="0" y="0"/>
                </a:lnTo>
                <a:close/>
              </a:path>
            </a:pathLst>
          </a:custGeom>
          <a:blipFill>
            <a:blip r:embed="rId8"/>
            <a:stretch>
              <a:fillRect/>
            </a:stretch>
          </a:blipFill>
        </p:spPr>
        <p:txBody>
          <a:bodyPr/>
          <a:lstStyle/>
          <a:p>
            <a:endParaRPr lang="en-US"/>
          </a:p>
        </p:txBody>
      </p:sp>
      <p:sp>
        <p:nvSpPr>
          <p:cNvPr id="15" name="Freeform 15"/>
          <p:cNvSpPr/>
          <p:nvPr/>
        </p:nvSpPr>
        <p:spPr>
          <a:xfrm>
            <a:off x="10499453" y="5565531"/>
            <a:ext cx="6631298" cy="4575336"/>
          </a:xfrm>
          <a:custGeom>
            <a:avLst/>
            <a:gdLst/>
            <a:ahLst/>
            <a:cxnLst/>
            <a:rect l="l" t="t" r="r" b="b"/>
            <a:pathLst>
              <a:path w="6631298" h="4575336">
                <a:moveTo>
                  <a:pt x="0" y="0"/>
                </a:moveTo>
                <a:lnTo>
                  <a:pt x="6631298" y="0"/>
                </a:lnTo>
                <a:lnTo>
                  <a:pt x="6631298" y="4575336"/>
                </a:lnTo>
                <a:lnTo>
                  <a:pt x="0" y="4575336"/>
                </a:lnTo>
                <a:lnTo>
                  <a:pt x="0" y="0"/>
                </a:lnTo>
                <a:close/>
              </a:path>
            </a:pathLst>
          </a:custGeom>
          <a:blipFill>
            <a:blip r:embed="rId9"/>
            <a:stretch>
              <a:fillRect l="-28551" t="-27193" r="-27463"/>
            </a:stretch>
          </a:blipFill>
        </p:spPr>
        <p:txBody>
          <a:bodyPr/>
          <a:lstStyle/>
          <a:p>
            <a:endParaRPr lang="en-US"/>
          </a:p>
        </p:txBody>
      </p:sp>
      <p:sp>
        <p:nvSpPr>
          <p:cNvPr id="16" name="TextBox 16"/>
          <p:cNvSpPr txBox="1"/>
          <p:nvPr/>
        </p:nvSpPr>
        <p:spPr>
          <a:xfrm>
            <a:off x="666750" y="1590675"/>
            <a:ext cx="7196436" cy="352425"/>
          </a:xfrm>
          <a:prstGeom prst="rect">
            <a:avLst/>
          </a:prstGeom>
        </p:spPr>
        <p:txBody>
          <a:bodyPr lIns="0" tIns="0" rIns="0" bIns="0" rtlCol="0" anchor="t">
            <a:spAutoFit/>
          </a:bodyPr>
          <a:lstStyle/>
          <a:p>
            <a:pPr marL="0" lvl="0" indent="0" algn="l">
              <a:lnSpc>
                <a:spcPts val="2880"/>
              </a:lnSpc>
              <a:spcBef>
                <a:spcPct val="0"/>
              </a:spcBef>
            </a:pPr>
            <a:r>
              <a:rPr lang="en-US" sz="2400" b="1" spc="-72">
                <a:solidFill>
                  <a:srgbClr val="00FFA8"/>
                </a:solidFill>
                <a:latin typeface="TT Fors Bold"/>
                <a:ea typeface="TT Fors Bold"/>
                <a:cs typeface="TT Fors Bold"/>
                <a:sym typeface="TT Fors Bold"/>
              </a:rPr>
              <a:t>How Attackers Manipulate and some Examples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spc="-180">
                <a:solidFill>
                  <a:srgbClr val="00FFA8"/>
                </a:solidFill>
                <a:latin typeface="ITC Avant Garde Gothic"/>
                <a:ea typeface="ITC Avant Garde Gothic"/>
                <a:cs typeface="ITC Avant Garde Gothic"/>
                <a:sym typeface="ITC Avant Garde Gothic"/>
              </a:rPr>
              <a:t>Systemati</a:t>
            </a:r>
            <a:r>
              <a:rPr lang="en-US" sz="6000" u="none" strike="noStrike" spc="-180">
                <a:solidFill>
                  <a:srgbClr val="00FFA8"/>
                </a:solidFill>
                <a:latin typeface="ITC Avant Garde Gothic"/>
                <a:ea typeface="ITC Avant Garde Gothic"/>
                <a:cs typeface="ITC Avant Garde Gothic"/>
                <a:sym typeface="ITC Avant Garde Gothic"/>
              </a:rPr>
              <a:t>c Reconnaissance Methodology</a:t>
            </a:r>
          </a:p>
        </p:txBody>
      </p:sp>
      <p:sp>
        <p:nvSpPr>
          <p:cNvPr id="3" name="TextBox 3"/>
          <p:cNvSpPr txBox="1"/>
          <p:nvPr/>
        </p:nvSpPr>
        <p:spPr>
          <a:xfrm>
            <a:off x="666750" y="1926908"/>
            <a:ext cx="16954500" cy="7162799"/>
          </a:xfrm>
          <a:prstGeom prst="rect">
            <a:avLst/>
          </a:prstGeom>
        </p:spPr>
        <p:txBody>
          <a:bodyPr lIns="0" tIns="0" rIns="0" bIns="0" rtlCol="0" anchor="t">
            <a:spAutoFit/>
          </a:bodyPr>
          <a:lstStyle/>
          <a:p>
            <a:pPr algn="l">
              <a:lnSpc>
                <a:spcPts val="3840"/>
              </a:lnSpc>
            </a:pPr>
            <a:r>
              <a:rPr lang="en-US" sz="2400" b="1">
                <a:solidFill>
                  <a:srgbClr val="00FFA8"/>
                </a:solidFill>
                <a:latin typeface="TT Fors Bold"/>
                <a:ea typeface="TT Fors Bold"/>
                <a:cs typeface="TT Fors Bold"/>
                <a:sym typeface="TT Fors Bold"/>
              </a:rPr>
              <a:t>Step-by-Step Recon Process:</a:t>
            </a:r>
          </a:p>
          <a:p>
            <a:pPr algn="l">
              <a:lnSpc>
                <a:spcPts val="3360"/>
              </a:lnSpc>
            </a:pPr>
            <a:endParaRPr lang="en-US" sz="2400" b="1">
              <a:solidFill>
                <a:srgbClr val="00FFA8"/>
              </a:solidFill>
              <a:latin typeface="TT Fors Bold"/>
              <a:ea typeface="TT Fors Bold"/>
              <a:cs typeface="TT Fors Bold"/>
              <a:sym typeface="TT Fors Bold"/>
            </a:endParaRPr>
          </a:p>
          <a:p>
            <a:pPr marL="453393" lvl="1" indent="-226697" algn="l">
              <a:lnSpc>
                <a:spcPts val="3360"/>
              </a:lnSpc>
              <a:buFont typeface="Arial"/>
              <a:buChar char="•"/>
            </a:pPr>
            <a:r>
              <a:rPr lang="en-US" sz="2100" b="1">
                <a:solidFill>
                  <a:srgbClr val="00FFA8"/>
                </a:solidFill>
                <a:latin typeface="TT Fors Bold"/>
                <a:ea typeface="TT Fors Bold"/>
                <a:cs typeface="TT Fors Bold"/>
                <a:sym typeface="TT Fors Bold"/>
              </a:rPr>
              <a:t>Step 1: Define Scope</a:t>
            </a:r>
          </a:p>
          <a:p>
            <a:pPr marL="906786" lvl="2" indent="-302262" algn="l">
              <a:lnSpc>
                <a:spcPts val="3360"/>
              </a:lnSpc>
              <a:buFont typeface="Arial"/>
              <a:buChar char="⚬"/>
            </a:pPr>
            <a:r>
              <a:rPr lang="en-US" sz="2100">
                <a:solidFill>
                  <a:srgbClr val="00FFA8"/>
                </a:solidFill>
                <a:latin typeface="TT Fors"/>
                <a:ea typeface="TT Fors"/>
                <a:cs typeface="TT Fors"/>
                <a:sym typeface="TT Fors"/>
              </a:rPr>
              <a:t>Clearly understand what you're authorized to investigate</a:t>
            </a:r>
          </a:p>
          <a:p>
            <a:pPr marL="453393" lvl="1" indent="-226697" algn="l">
              <a:lnSpc>
                <a:spcPts val="3360"/>
              </a:lnSpc>
              <a:buFont typeface="Arial"/>
              <a:buChar char="•"/>
            </a:pPr>
            <a:r>
              <a:rPr lang="en-US" sz="2100" b="1">
                <a:solidFill>
                  <a:srgbClr val="00FFA8"/>
                </a:solidFill>
                <a:latin typeface="TT Fors Bold"/>
                <a:ea typeface="TT Fors Bold"/>
                <a:cs typeface="TT Fors Bold"/>
                <a:sym typeface="TT Fors Bold"/>
              </a:rPr>
              <a:t>Step 2: Passive Reconnaissance</a:t>
            </a:r>
          </a:p>
          <a:p>
            <a:pPr marL="906786" lvl="2" indent="-302262" algn="l">
              <a:lnSpc>
                <a:spcPts val="3360"/>
              </a:lnSpc>
              <a:buFont typeface="Arial"/>
              <a:buChar char="⚬"/>
            </a:pPr>
            <a:r>
              <a:rPr lang="en-US" sz="2100">
                <a:solidFill>
                  <a:srgbClr val="00FFA8"/>
                </a:solidFill>
                <a:latin typeface="TT Fors"/>
                <a:ea typeface="TT Fors"/>
                <a:cs typeface="TT Fors"/>
                <a:sym typeface="TT Fors"/>
              </a:rPr>
              <a:t>WHOIS lookup → Domain registration info</a:t>
            </a:r>
          </a:p>
          <a:p>
            <a:pPr marL="906786" lvl="2" indent="-302262" algn="l">
              <a:lnSpc>
                <a:spcPts val="3360"/>
              </a:lnSpc>
              <a:buFont typeface="Arial"/>
              <a:buChar char="⚬"/>
            </a:pPr>
            <a:r>
              <a:rPr lang="en-US" sz="2100">
                <a:solidFill>
                  <a:srgbClr val="00FFA8"/>
                </a:solidFill>
                <a:latin typeface="TT Fors"/>
                <a:ea typeface="TT Fors"/>
                <a:cs typeface="TT Fors"/>
                <a:sym typeface="TT Fors"/>
              </a:rPr>
              <a:t>DNS enumeration → Subdomains, mail servers, name servers</a:t>
            </a:r>
          </a:p>
          <a:p>
            <a:pPr marL="906786" lvl="2" indent="-302262" algn="l">
              <a:lnSpc>
                <a:spcPts val="3360"/>
              </a:lnSpc>
              <a:buFont typeface="Arial"/>
              <a:buChar char="⚬"/>
            </a:pPr>
            <a:r>
              <a:rPr lang="en-US" sz="2100">
                <a:solidFill>
                  <a:srgbClr val="00FFA8"/>
                </a:solidFill>
                <a:latin typeface="TT Fors"/>
                <a:ea typeface="TT Fors"/>
                <a:cs typeface="TT Fors"/>
                <a:sym typeface="TT Fors"/>
              </a:rPr>
              <a:t>Google dorking → Exposed files, directories</a:t>
            </a:r>
          </a:p>
          <a:p>
            <a:pPr marL="906786" lvl="2" indent="-302262" algn="l">
              <a:lnSpc>
                <a:spcPts val="3360"/>
              </a:lnSpc>
              <a:buFont typeface="Arial"/>
              <a:buChar char="⚬"/>
            </a:pPr>
            <a:r>
              <a:rPr lang="en-US" sz="2100">
                <a:solidFill>
                  <a:srgbClr val="00FFA8"/>
                </a:solidFill>
                <a:latin typeface="TT Fors"/>
                <a:ea typeface="TT Fors"/>
                <a:cs typeface="TT Fors"/>
                <a:sym typeface="TT Fors"/>
              </a:rPr>
              <a:t>Social media → Employee info, company structure</a:t>
            </a:r>
          </a:p>
          <a:p>
            <a:pPr marL="906786" lvl="2" indent="-302262" algn="l">
              <a:lnSpc>
                <a:spcPts val="3360"/>
              </a:lnSpc>
              <a:buFont typeface="Arial"/>
              <a:buChar char="⚬"/>
            </a:pPr>
            <a:r>
              <a:rPr lang="en-US" sz="2100">
                <a:solidFill>
                  <a:srgbClr val="00FFA8"/>
                </a:solidFill>
                <a:latin typeface="TT Fors"/>
                <a:ea typeface="TT Fors"/>
                <a:cs typeface="TT Fors"/>
                <a:sym typeface="TT Fors"/>
              </a:rPr>
              <a:t>theHarvester → Emails, IPs, subdomains</a:t>
            </a:r>
          </a:p>
          <a:p>
            <a:pPr marL="906786" lvl="2" indent="-302262" algn="l">
              <a:lnSpc>
                <a:spcPts val="3360"/>
              </a:lnSpc>
              <a:buFont typeface="Arial"/>
              <a:buChar char="⚬"/>
            </a:pPr>
            <a:r>
              <a:rPr lang="en-US" sz="2100">
                <a:solidFill>
                  <a:srgbClr val="00FFA8"/>
                </a:solidFill>
                <a:latin typeface="TT Fors"/>
                <a:ea typeface="TT Fors"/>
                <a:cs typeface="TT Fors"/>
                <a:sym typeface="TT Fors"/>
              </a:rPr>
              <a:t>Netcraft → Technology stack, hosting info</a:t>
            </a:r>
          </a:p>
          <a:p>
            <a:pPr marL="453393" lvl="1" indent="-226697" algn="l">
              <a:lnSpc>
                <a:spcPts val="3360"/>
              </a:lnSpc>
              <a:buFont typeface="Arial"/>
              <a:buChar char="•"/>
            </a:pPr>
            <a:r>
              <a:rPr lang="en-US" sz="2100" b="1">
                <a:solidFill>
                  <a:srgbClr val="00FFA8"/>
                </a:solidFill>
                <a:latin typeface="TT Fors Bold"/>
                <a:ea typeface="TT Fors Bold"/>
                <a:cs typeface="TT Fors Bold"/>
                <a:sym typeface="TT Fors Bold"/>
              </a:rPr>
              <a:t>Step 3: Organize Information</a:t>
            </a:r>
          </a:p>
          <a:p>
            <a:pPr marL="906786" lvl="2" indent="-302262" algn="l">
              <a:lnSpc>
                <a:spcPts val="3360"/>
              </a:lnSpc>
              <a:buFont typeface="Arial"/>
              <a:buChar char="⚬"/>
            </a:pPr>
            <a:r>
              <a:rPr lang="en-US" sz="2100">
                <a:solidFill>
                  <a:srgbClr val="00FFA8"/>
                </a:solidFill>
                <a:latin typeface="TT Fors"/>
                <a:ea typeface="TT Fors"/>
                <a:cs typeface="TT Fors"/>
                <a:sym typeface="TT Fors"/>
              </a:rPr>
              <a:t>Use tools like Maltego to visualize relationships and connections</a:t>
            </a:r>
          </a:p>
          <a:p>
            <a:pPr marL="453393" lvl="1" indent="-226697" algn="l">
              <a:lnSpc>
                <a:spcPts val="3360"/>
              </a:lnSpc>
              <a:buFont typeface="Arial"/>
              <a:buChar char="•"/>
            </a:pPr>
            <a:r>
              <a:rPr lang="en-US" sz="2100" b="1">
                <a:solidFill>
                  <a:srgbClr val="00FFA8"/>
                </a:solidFill>
                <a:latin typeface="TT Fors Bold"/>
                <a:ea typeface="TT Fors Bold"/>
                <a:cs typeface="TT Fors Bold"/>
                <a:sym typeface="TT Fors Bold"/>
              </a:rPr>
              <a:t>Step 4: Validate Findings</a:t>
            </a:r>
          </a:p>
          <a:p>
            <a:pPr marL="906786" lvl="2" indent="-302262" algn="l">
              <a:lnSpc>
                <a:spcPts val="3360"/>
              </a:lnSpc>
              <a:buFont typeface="Arial"/>
              <a:buChar char="⚬"/>
            </a:pPr>
            <a:r>
              <a:rPr lang="en-US" sz="2100">
                <a:solidFill>
                  <a:srgbClr val="00FFA8"/>
                </a:solidFill>
                <a:latin typeface="TT Fors"/>
                <a:ea typeface="TT Fors"/>
                <a:cs typeface="TT Fors"/>
                <a:sym typeface="TT Fors"/>
              </a:rPr>
              <a:t>Cross-reference information from multiple sources</a:t>
            </a:r>
          </a:p>
          <a:p>
            <a:pPr marL="453393" lvl="1" indent="-226697" algn="l">
              <a:lnSpc>
                <a:spcPts val="3360"/>
              </a:lnSpc>
              <a:buFont typeface="Arial"/>
              <a:buChar char="•"/>
            </a:pPr>
            <a:r>
              <a:rPr lang="en-US" sz="2100" b="1">
                <a:solidFill>
                  <a:srgbClr val="00FFA8"/>
                </a:solidFill>
                <a:latin typeface="TT Fors Bold"/>
                <a:ea typeface="TT Fors Bold"/>
                <a:cs typeface="TT Fors Bold"/>
                <a:sym typeface="TT Fors Bold"/>
              </a:rPr>
              <a:t>Step 5: Document Everything</a:t>
            </a:r>
          </a:p>
          <a:p>
            <a:pPr marL="906786" lvl="2" indent="-302262" algn="l">
              <a:lnSpc>
                <a:spcPts val="3360"/>
              </a:lnSpc>
              <a:buFont typeface="Arial"/>
              <a:buChar char="⚬"/>
            </a:pPr>
            <a:r>
              <a:rPr lang="en-US" sz="2100">
                <a:solidFill>
                  <a:srgbClr val="00FFA8"/>
                </a:solidFill>
                <a:latin typeface="TT Fors"/>
                <a:ea typeface="TT Fors"/>
                <a:cs typeface="TT Fors"/>
                <a:sym typeface="TT Fors"/>
              </a:rPr>
              <a:t>Keep detailed notes for reporting and future reference</a:t>
            </a:r>
          </a:p>
        </p:txBody>
      </p:sp>
      <p:grpSp>
        <p:nvGrpSpPr>
          <p:cNvPr id="4" name="Group 4"/>
          <p:cNvGrpSpPr/>
          <p:nvPr/>
        </p:nvGrpSpPr>
        <p:grpSpPr>
          <a:xfrm>
            <a:off x="16115522" y="751544"/>
            <a:ext cx="1505728" cy="810556"/>
            <a:chOff x="0" y="0"/>
            <a:chExt cx="2007638" cy="1080741"/>
          </a:xfrm>
        </p:grpSpPr>
        <p:grpSp>
          <p:nvGrpSpPr>
            <p:cNvPr id="5" name="Group 5"/>
            <p:cNvGrpSpPr/>
            <p:nvPr/>
          </p:nvGrpSpPr>
          <p:grpSpPr>
            <a:xfrm>
              <a:off x="0" y="0"/>
              <a:ext cx="1080741" cy="10807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926897" y="0"/>
              <a:ext cx="1080741" cy="10807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FBB7F"/>
              </a:solidFill>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090769" y="145554"/>
              <a:ext cx="716893" cy="716893"/>
            </a:xfrm>
            <a:custGeom>
              <a:avLst/>
              <a:gdLst/>
              <a:ahLst/>
              <a:cxnLst/>
              <a:rect l="l" t="t" r="r" b="b"/>
              <a:pathLst>
                <a:path w="716893" h="716893">
                  <a:moveTo>
                    <a:pt x="0" y="0"/>
                  </a:moveTo>
                  <a:lnTo>
                    <a:pt x="716893" y="0"/>
                  </a:lnTo>
                  <a:lnTo>
                    <a:pt x="716893" y="716892"/>
                  </a:lnTo>
                  <a:lnTo>
                    <a:pt x="0" y="7168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flipV="1">
              <a:off x="282536" y="88108"/>
              <a:ext cx="1070690" cy="789634"/>
            </a:xfrm>
            <a:custGeom>
              <a:avLst/>
              <a:gdLst/>
              <a:ahLst/>
              <a:cxnLst/>
              <a:rect l="l" t="t" r="r" b="b"/>
              <a:pathLst>
                <a:path w="1070690" h="789634">
                  <a:moveTo>
                    <a:pt x="0" y="789633"/>
                  </a:moveTo>
                  <a:lnTo>
                    <a:pt x="1070690" y="789633"/>
                  </a:lnTo>
                  <a:lnTo>
                    <a:pt x="1070690" y="0"/>
                  </a:lnTo>
                  <a:lnTo>
                    <a:pt x="0" y="0"/>
                  </a:lnTo>
                  <a:lnTo>
                    <a:pt x="0" y="789633"/>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spc="-180">
                <a:solidFill>
                  <a:srgbClr val="00FFA8"/>
                </a:solidFill>
                <a:latin typeface="ITC Avant Garde Gothic"/>
                <a:ea typeface="ITC Avant Garde Gothic"/>
                <a:cs typeface="ITC Avant Garde Gothic"/>
                <a:sym typeface="ITC Avant Garde Gothic"/>
              </a:rPr>
              <a:t>Operational</a:t>
            </a:r>
            <a:r>
              <a:rPr lang="en-US" sz="6000" u="none" strike="noStrike" spc="-180">
                <a:solidFill>
                  <a:srgbClr val="00FFA8"/>
                </a:solidFill>
                <a:latin typeface="ITC Avant Garde Gothic"/>
                <a:ea typeface="ITC Avant Garde Gothic"/>
                <a:cs typeface="ITC Avant Garde Gothic"/>
                <a:sym typeface="ITC Avant Garde Gothic"/>
              </a:rPr>
              <a:t> Security (OPSEC) During Recon</a:t>
            </a:r>
          </a:p>
        </p:txBody>
      </p:sp>
      <p:sp>
        <p:nvSpPr>
          <p:cNvPr id="3" name="TextBox 3"/>
          <p:cNvSpPr txBox="1"/>
          <p:nvPr/>
        </p:nvSpPr>
        <p:spPr>
          <a:xfrm>
            <a:off x="666750" y="2498726"/>
            <a:ext cx="16954500" cy="356235"/>
          </a:xfrm>
          <a:prstGeom prst="rect">
            <a:avLst/>
          </a:prstGeom>
        </p:spPr>
        <p:txBody>
          <a:bodyPr lIns="0" tIns="0" rIns="0" bIns="0" rtlCol="0" anchor="t">
            <a:spAutoFit/>
          </a:bodyPr>
          <a:lstStyle/>
          <a:p>
            <a:pPr algn="l">
              <a:lnSpc>
                <a:spcPts val="2940"/>
              </a:lnSpc>
            </a:pPr>
            <a:r>
              <a:rPr lang="en-US" sz="2100" b="1">
                <a:solidFill>
                  <a:srgbClr val="00FFA8"/>
                </a:solidFill>
                <a:latin typeface="TT Fors Bold"/>
                <a:ea typeface="TT Fors Bold"/>
                <a:cs typeface="TT Fors Bold"/>
                <a:sym typeface="TT Fors Bold"/>
              </a:rPr>
              <a:t>OPSEC Considerations:</a:t>
            </a:r>
          </a:p>
        </p:txBody>
      </p:sp>
      <p:sp>
        <p:nvSpPr>
          <p:cNvPr id="4" name="TextBox 4"/>
          <p:cNvSpPr txBox="1"/>
          <p:nvPr/>
        </p:nvSpPr>
        <p:spPr>
          <a:xfrm>
            <a:off x="666750" y="1889126"/>
            <a:ext cx="16954500" cy="352425"/>
          </a:xfrm>
          <a:prstGeom prst="rect">
            <a:avLst/>
          </a:prstGeom>
        </p:spPr>
        <p:txBody>
          <a:bodyPr lIns="0" tIns="0" rIns="0" bIns="0" rtlCol="0" anchor="t">
            <a:spAutoFit/>
          </a:bodyPr>
          <a:lstStyle/>
          <a:p>
            <a:pPr marL="0" lvl="0" indent="0" algn="l">
              <a:lnSpc>
                <a:spcPts val="2880"/>
              </a:lnSpc>
              <a:spcBef>
                <a:spcPct val="0"/>
              </a:spcBef>
            </a:pPr>
            <a:r>
              <a:rPr lang="en-US" sz="2400" spc="-72">
                <a:solidFill>
                  <a:srgbClr val="FFFFFF"/>
                </a:solidFill>
                <a:latin typeface="TT Fors"/>
                <a:ea typeface="TT Fors"/>
                <a:cs typeface="TT Fors"/>
                <a:sym typeface="TT Fors"/>
              </a:rPr>
              <a:t>Even during passive reconnaissance, you leave traces. OPSEC i</a:t>
            </a:r>
            <a:r>
              <a:rPr lang="en-US" sz="2400" u="none" strike="noStrike" spc="-72">
                <a:solidFill>
                  <a:srgbClr val="FFFFFF"/>
                </a:solidFill>
                <a:latin typeface="TT Fors"/>
                <a:ea typeface="TT Fors"/>
                <a:cs typeface="TT Fors"/>
                <a:sym typeface="TT Fors"/>
              </a:rPr>
              <a:t>s about minimizing your digital footprint.</a:t>
            </a:r>
          </a:p>
        </p:txBody>
      </p:sp>
      <p:grpSp>
        <p:nvGrpSpPr>
          <p:cNvPr id="5" name="Group 5"/>
          <p:cNvGrpSpPr/>
          <p:nvPr/>
        </p:nvGrpSpPr>
        <p:grpSpPr>
          <a:xfrm>
            <a:off x="666750" y="3159760"/>
            <a:ext cx="4826495" cy="2663191"/>
            <a:chOff x="0" y="0"/>
            <a:chExt cx="1271161" cy="701434"/>
          </a:xfrm>
        </p:grpSpPr>
        <p:sp>
          <p:nvSpPr>
            <p:cNvPr id="6" name="Freeform 6"/>
            <p:cNvSpPr/>
            <p:nvPr/>
          </p:nvSpPr>
          <p:spPr>
            <a:xfrm>
              <a:off x="0" y="0"/>
              <a:ext cx="1271161" cy="701434"/>
            </a:xfrm>
            <a:custGeom>
              <a:avLst/>
              <a:gdLst/>
              <a:ahLst/>
              <a:cxnLst/>
              <a:rect l="l" t="t" r="r" b="b"/>
              <a:pathLst>
                <a:path w="1271161" h="701434">
                  <a:moveTo>
                    <a:pt x="1271161" y="32081"/>
                  </a:moveTo>
                  <a:lnTo>
                    <a:pt x="1271161" y="669353"/>
                  </a:lnTo>
                  <a:cubicBezTo>
                    <a:pt x="1271161" y="687071"/>
                    <a:pt x="1256798" y="701434"/>
                    <a:pt x="1239080" y="701434"/>
                  </a:cubicBezTo>
                  <a:lnTo>
                    <a:pt x="32081" y="701434"/>
                  </a:lnTo>
                  <a:cubicBezTo>
                    <a:pt x="14363" y="701434"/>
                    <a:pt x="0" y="687071"/>
                    <a:pt x="0" y="669353"/>
                  </a:cubicBezTo>
                  <a:lnTo>
                    <a:pt x="0" y="32081"/>
                  </a:lnTo>
                  <a:cubicBezTo>
                    <a:pt x="0" y="14363"/>
                    <a:pt x="14363" y="0"/>
                    <a:pt x="32081" y="0"/>
                  </a:cubicBezTo>
                  <a:lnTo>
                    <a:pt x="1239080" y="0"/>
                  </a:lnTo>
                  <a:cubicBezTo>
                    <a:pt x="1256798" y="0"/>
                    <a:pt x="1271161" y="14363"/>
                    <a:pt x="1271161" y="32081"/>
                  </a:cubicBezTo>
                  <a:close/>
                </a:path>
              </a:pathLst>
            </a:custGeom>
            <a:solidFill>
              <a:srgbClr val="1FBB7F"/>
            </a:solidFill>
            <a:ln cap="sq">
              <a:noFill/>
              <a:prstDash val="solid"/>
              <a:miter/>
            </a:ln>
          </p:spPr>
          <p:txBody>
            <a:bodyPr/>
            <a:lstStyle/>
            <a:p>
              <a:endParaRPr lang="en-US"/>
            </a:p>
          </p:txBody>
        </p:sp>
        <p:sp>
          <p:nvSpPr>
            <p:cNvPr id="7" name="TextBox 7"/>
            <p:cNvSpPr txBox="1"/>
            <p:nvPr/>
          </p:nvSpPr>
          <p:spPr>
            <a:xfrm>
              <a:off x="0" y="0"/>
              <a:ext cx="1271161" cy="701434"/>
            </a:xfrm>
            <a:prstGeom prst="rect">
              <a:avLst/>
            </a:prstGeom>
          </p:spPr>
          <p:txBody>
            <a:bodyPr lIns="254000" tIns="254000" rIns="254000" bIns="254000" rtlCol="0" anchor="ctr"/>
            <a:lstStyle/>
            <a:p>
              <a:pPr algn="l">
                <a:lnSpc>
                  <a:spcPts val="2940"/>
                </a:lnSpc>
              </a:pPr>
              <a:r>
                <a:rPr lang="en-US" sz="2100" b="1" spc="-63" dirty="0">
                  <a:solidFill>
                    <a:srgbClr val="000000"/>
                  </a:solidFill>
                  <a:latin typeface="TT Fors Bold"/>
                  <a:ea typeface="TT Fors Bold"/>
                  <a:cs typeface="TT Fors Bold"/>
                  <a:sym typeface="TT Fors Bold"/>
                </a:rPr>
                <a:t>What to Protect:</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Your real IP address</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Your identity/location</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Your tools and techniques</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Your client's identity</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Timing patterns</a:t>
              </a:r>
            </a:p>
          </p:txBody>
        </p:sp>
      </p:grpSp>
      <p:grpSp>
        <p:nvGrpSpPr>
          <p:cNvPr id="8" name="Group 8"/>
          <p:cNvGrpSpPr/>
          <p:nvPr/>
        </p:nvGrpSpPr>
        <p:grpSpPr>
          <a:xfrm>
            <a:off x="5895135" y="3159760"/>
            <a:ext cx="6497730" cy="2663191"/>
            <a:chOff x="0" y="0"/>
            <a:chExt cx="1711317" cy="701434"/>
          </a:xfrm>
        </p:grpSpPr>
        <p:sp>
          <p:nvSpPr>
            <p:cNvPr id="9" name="Freeform 9"/>
            <p:cNvSpPr/>
            <p:nvPr/>
          </p:nvSpPr>
          <p:spPr>
            <a:xfrm>
              <a:off x="0" y="0"/>
              <a:ext cx="1711317" cy="701434"/>
            </a:xfrm>
            <a:custGeom>
              <a:avLst/>
              <a:gdLst/>
              <a:ahLst/>
              <a:cxnLst/>
              <a:rect l="l" t="t" r="r" b="b"/>
              <a:pathLst>
                <a:path w="1711317" h="701434">
                  <a:moveTo>
                    <a:pt x="1711317" y="23830"/>
                  </a:moveTo>
                  <a:lnTo>
                    <a:pt x="1711317" y="677605"/>
                  </a:lnTo>
                  <a:cubicBezTo>
                    <a:pt x="1711317" y="683925"/>
                    <a:pt x="1708806" y="689986"/>
                    <a:pt x="1704337" y="694455"/>
                  </a:cubicBezTo>
                  <a:cubicBezTo>
                    <a:pt x="1699868" y="698924"/>
                    <a:pt x="1693807" y="701434"/>
                    <a:pt x="1687487" y="701434"/>
                  </a:cubicBezTo>
                  <a:lnTo>
                    <a:pt x="23830" y="701434"/>
                  </a:lnTo>
                  <a:cubicBezTo>
                    <a:pt x="17510" y="701434"/>
                    <a:pt x="11448" y="698924"/>
                    <a:pt x="6980" y="694455"/>
                  </a:cubicBezTo>
                  <a:cubicBezTo>
                    <a:pt x="2511" y="689986"/>
                    <a:pt x="0" y="683925"/>
                    <a:pt x="0" y="677605"/>
                  </a:cubicBezTo>
                  <a:lnTo>
                    <a:pt x="0" y="23830"/>
                  </a:lnTo>
                  <a:cubicBezTo>
                    <a:pt x="0" y="17510"/>
                    <a:pt x="2511" y="11448"/>
                    <a:pt x="6980" y="6980"/>
                  </a:cubicBezTo>
                  <a:cubicBezTo>
                    <a:pt x="11448" y="2511"/>
                    <a:pt x="17510" y="0"/>
                    <a:pt x="23830" y="0"/>
                  </a:cubicBezTo>
                  <a:lnTo>
                    <a:pt x="1687487" y="0"/>
                  </a:lnTo>
                  <a:cubicBezTo>
                    <a:pt x="1693807" y="0"/>
                    <a:pt x="1699868" y="2511"/>
                    <a:pt x="1704337" y="6980"/>
                  </a:cubicBezTo>
                  <a:cubicBezTo>
                    <a:pt x="1708806" y="11448"/>
                    <a:pt x="1711317" y="17510"/>
                    <a:pt x="1711317" y="23830"/>
                  </a:cubicBezTo>
                  <a:close/>
                </a:path>
              </a:pathLst>
            </a:custGeom>
            <a:solidFill>
              <a:srgbClr val="E10505"/>
            </a:solidFill>
            <a:ln cap="sq">
              <a:noFill/>
              <a:prstDash val="solid"/>
              <a:miter/>
            </a:ln>
          </p:spPr>
          <p:txBody>
            <a:bodyPr/>
            <a:lstStyle/>
            <a:p>
              <a:endParaRPr lang="en-US"/>
            </a:p>
          </p:txBody>
        </p:sp>
        <p:sp>
          <p:nvSpPr>
            <p:cNvPr id="10" name="TextBox 10"/>
            <p:cNvSpPr txBox="1"/>
            <p:nvPr/>
          </p:nvSpPr>
          <p:spPr>
            <a:xfrm>
              <a:off x="0" y="0"/>
              <a:ext cx="1711317" cy="701434"/>
            </a:xfrm>
            <a:prstGeom prst="rect">
              <a:avLst/>
            </a:prstGeom>
          </p:spPr>
          <p:txBody>
            <a:bodyPr lIns="254000" tIns="254000" rIns="254000" bIns="254000" rtlCol="0" anchor="ctr"/>
            <a:lstStyle/>
            <a:p>
              <a:pPr algn="l">
                <a:lnSpc>
                  <a:spcPts val="2940"/>
                </a:lnSpc>
              </a:pPr>
              <a:r>
                <a:rPr lang="en-US" sz="2100" b="1" spc="-63" dirty="0">
                  <a:solidFill>
                    <a:srgbClr val="FFFFFF"/>
                  </a:solidFill>
                  <a:latin typeface="TT Fors Bold"/>
                  <a:ea typeface="TT Fors Bold"/>
                  <a:cs typeface="TT Fors Bold"/>
                  <a:sym typeface="TT Fors Bold"/>
                </a:rPr>
                <a:t>Traces You Leave:</a:t>
              </a:r>
            </a:p>
            <a:p>
              <a:pPr marL="453398" lvl="1" indent="-226699" algn="l">
                <a:lnSpc>
                  <a:spcPts val="2940"/>
                </a:lnSpc>
                <a:buFont typeface="Arial"/>
                <a:buChar char="•"/>
              </a:pPr>
              <a:r>
                <a:rPr lang="en-US" sz="2100" spc="-63" dirty="0">
                  <a:solidFill>
                    <a:srgbClr val="FFFFFF"/>
                  </a:solidFill>
                  <a:latin typeface="TT Fors"/>
                  <a:ea typeface="TT Fors"/>
                  <a:cs typeface="TT Fors"/>
                  <a:sym typeface="TT Fors"/>
                </a:rPr>
                <a:t>Web server logs (if you visit target site)</a:t>
              </a:r>
            </a:p>
            <a:p>
              <a:pPr marL="453398" lvl="1" indent="-226699" algn="l">
                <a:lnSpc>
                  <a:spcPts val="2940"/>
                </a:lnSpc>
                <a:buFont typeface="Arial"/>
                <a:buChar char="•"/>
              </a:pPr>
              <a:r>
                <a:rPr lang="en-US" sz="2100" spc="-63" dirty="0">
                  <a:solidFill>
                    <a:srgbClr val="FFFFFF"/>
                  </a:solidFill>
                  <a:latin typeface="TT Fors"/>
                  <a:ea typeface="TT Fors"/>
                  <a:cs typeface="TT Fors"/>
                  <a:sym typeface="TT Fors"/>
                </a:rPr>
                <a:t>DNS query logs</a:t>
              </a:r>
            </a:p>
            <a:p>
              <a:pPr marL="453398" lvl="1" indent="-226699" algn="l">
                <a:lnSpc>
                  <a:spcPts val="2940"/>
                </a:lnSpc>
                <a:buFont typeface="Arial"/>
                <a:buChar char="•"/>
              </a:pPr>
              <a:r>
                <a:rPr lang="en-US" sz="2100" spc="-63" dirty="0">
                  <a:solidFill>
                    <a:srgbClr val="FFFFFF"/>
                  </a:solidFill>
                  <a:latin typeface="TT Fors"/>
                  <a:ea typeface="TT Fors"/>
                  <a:cs typeface="TT Fors"/>
                  <a:sym typeface="TT Fors"/>
                </a:rPr>
                <a:t>WHOIS lookup logs (some registrars)</a:t>
              </a:r>
            </a:p>
            <a:p>
              <a:pPr marL="453398" lvl="1" indent="-226699" algn="l">
                <a:lnSpc>
                  <a:spcPts val="2940"/>
                </a:lnSpc>
                <a:buFont typeface="Arial"/>
                <a:buChar char="•"/>
              </a:pPr>
              <a:r>
                <a:rPr lang="en-US" sz="2100" spc="-63" dirty="0">
                  <a:solidFill>
                    <a:srgbClr val="FFFFFF"/>
                  </a:solidFill>
                  <a:latin typeface="TT Fors"/>
                  <a:ea typeface="TT Fors"/>
                  <a:cs typeface="TT Fors"/>
                  <a:sym typeface="TT Fors"/>
                </a:rPr>
                <a:t>LinkedIn profile views</a:t>
              </a:r>
            </a:p>
            <a:p>
              <a:pPr marL="453398" lvl="1" indent="-226699" algn="l">
                <a:lnSpc>
                  <a:spcPts val="2940"/>
                </a:lnSpc>
                <a:buFont typeface="Arial"/>
                <a:buChar char="•"/>
              </a:pPr>
              <a:r>
                <a:rPr lang="en-US" sz="2100" spc="-63" dirty="0">
                  <a:solidFill>
                    <a:srgbClr val="FFFFFF"/>
                  </a:solidFill>
                  <a:latin typeface="TT Fors"/>
                  <a:ea typeface="TT Fors"/>
                  <a:cs typeface="TT Fors"/>
                  <a:sym typeface="TT Fors"/>
                </a:rPr>
                <a:t>Unique search patterns</a:t>
              </a:r>
            </a:p>
          </p:txBody>
        </p:sp>
      </p:grpSp>
      <p:grpSp>
        <p:nvGrpSpPr>
          <p:cNvPr id="11" name="Group 11"/>
          <p:cNvGrpSpPr/>
          <p:nvPr/>
        </p:nvGrpSpPr>
        <p:grpSpPr>
          <a:xfrm>
            <a:off x="12794755" y="3159760"/>
            <a:ext cx="4826495" cy="2663191"/>
            <a:chOff x="0" y="0"/>
            <a:chExt cx="1271161" cy="701434"/>
          </a:xfrm>
        </p:grpSpPr>
        <p:sp>
          <p:nvSpPr>
            <p:cNvPr id="12" name="Freeform 12"/>
            <p:cNvSpPr/>
            <p:nvPr/>
          </p:nvSpPr>
          <p:spPr>
            <a:xfrm>
              <a:off x="0" y="0"/>
              <a:ext cx="1271161" cy="701434"/>
            </a:xfrm>
            <a:custGeom>
              <a:avLst/>
              <a:gdLst/>
              <a:ahLst/>
              <a:cxnLst/>
              <a:rect l="l" t="t" r="r" b="b"/>
              <a:pathLst>
                <a:path w="1271161" h="701434">
                  <a:moveTo>
                    <a:pt x="1271161" y="32081"/>
                  </a:moveTo>
                  <a:lnTo>
                    <a:pt x="1271161" y="669353"/>
                  </a:lnTo>
                  <a:cubicBezTo>
                    <a:pt x="1271161" y="687071"/>
                    <a:pt x="1256798" y="701434"/>
                    <a:pt x="1239080" y="701434"/>
                  </a:cubicBezTo>
                  <a:lnTo>
                    <a:pt x="32081" y="701434"/>
                  </a:lnTo>
                  <a:cubicBezTo>
                    <a:pt x="14363" y="701434"/>
                    <a:pt x="0" y="687071"/>
                    <a:pt x="0" y="669353"/>
                  </a:cubicBezTo>
                  <a:lnTo>
                    <a:pt x="0" y="32081"/>
                  </a:lnTo>
                  <a:cubicBezTo>
                    <a:pt x="0" y="14363"/>
                    <a:pt x="14363" y="0"/>
                    <a:pt x="32081" y="0"/>
                  </a:cubicBezTo>
                  <a:lnTo>
                    <a:pt x="1239080" y="0"/>
                  </a:lnTo>
                  <a:cubicBezTo>
                    <a:pt x="1256798" y="0"/>
                    <a:pt x="1271161" y="14363"/>
                    <a:pt x="1271161" y="32081"/>
                  </a:cubicBezTo>
                  <a:close/>
                </a:path>
              </a:pathLst>
            </a:custGeom>
            <a:solidFill>
              <a:srgbClr val="1FBB7F"/>
            </a:solidFill>
            <a:ln cap="sq">
              <a:noFill/>
              <a:prstDash val="solid"/>
              <a:miter/>
            </a:ln>
          </p:spPr>
          <p:txBody>
            <a:bodyPr/>
            <a:lstStyle/>
            <a:p>
              <a:endParaRPr lang="en-US"/>
            </a:p>
          </p:txBody>
        </p:sp>
        <p:sp>
          <p:nvSpPr>
            <p:cNvPr id="13" name="TextBox 13"/>
            <p:cNvSpPr txBox="1"/>
            <p:nvPr/>
          </p:nvSpPr>
          <p:spPr>
            <a:xfrm>
              <a:off x="0" y="0"/>
              <a:ext cx="1271161" cy="701434"/>
            </a:xfrm>
            <a:prstGeom prst="rect">
              <a:avLst/>
            </a:prstGeom>
          </p:spPr>
          <p:txBody>
            <a:bodyPr lIns="254000" tIns="254000" rIns="254000" bIns="254000" rtlCol="0" anchor="ctr"/>
            <a:lstStyle/>
            <a:p>
              <a:pPr algn="l">
                <a:lnSpc>
                  <a:spcPts val="2940"/>
                </a:lnSpc>
              </a:pPr>
              <a:r>
                <a:rPr lang="en-US" sz="2100" b="1" spc="-63" dirty="0">
                  <a:solidFill>
                    <a:srgbClr val="000000"/>
                  </a:solidFill>
                  <a:latin typeface="TT Fors Bold"/>
                  <a:ea typeface="TT Fors Bold"/>
                  <a:cs typeface="TT Fors Bold"/>
                  <a:sym typeface="TT Fors Bold"/>
                </a:rPr>
                <a:t>Protection Methods:</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VPN services</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Tor network (for anonymity)</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VM snapshots</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Burner accounts</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Avoid direct queries to target</a:t>
              </a:r>
            </a:p>
          </p:txBody>
        </p:sp>
      </p:grpSp>
      <p:grpSp>
        <p:nvGrpSpPr>
          <p:cNvPr id="14" name="Group 14"/>
          <p:cNvGrpSpPr/>
          <p:nvPr/>
        </p:nvGrpSpPr>
        <p:grpSpPr>
          <a:xfrm>
            <a:off x="666750" y="9025165"/>
            <a:ext cx="16954500" cy="947421"/>
            <a:chOff x="0" y="0"/>
            <a:chExt cx="4465332" cy="249533"/>
          </a:xfrm>
        </p:grpSpPr>
        <p:sp>
          <p:nvSpPr>
            <p:cNvPr id="15" name="Freeform 15"/>
            <p:cNvSpPr/>
            <p:nvPr/>
          </p:nvSpPr>
          <p:spPr>
            <a:xfrm>
              <a:off x="0" y="0"/>
              <a:ext cx="4465332" cy="249533"/>
            </a:xfrm>
            <a:custGeom>
              <a:avLst/>
              <a:gdLst/>
              <a:ahLst/>
              <a:cxnLst/>
              <a:rect l="l" t="t" r="r" b="b"/>
              <a:pathLst>
                <a:path w="4465332" h="249533">
                  <a:moveTo>
                    <a:pt x="4465332" y="9133"/>
                  </a:moveTo>
                  <a:lnTo>
                    <a:pt x="4465332" y="240400"/>
                  </a:lnTo>
                  <a:cubicBezTo>
                    <a:pt x="4465332" y="242822"/>
                    <a:pt x="4464370" y="245145"/>
                    <a:pt x="4462657" y="246858"/>
                  </a:cubicBezTo>
                  <a:cubicBezTo>
                    <a:pt x="4460944" y="248570"/>
                    <a:pt x="4458622" y="249533"/>
                    <a:pt x="4456200" y="249533"/>
                  </a:cubicBezTo>
                  <a:lnTo>
                    <a:pt x="9133" y="249533"/>
                  </a:lnTo>
                  <a:cubicBezTo>
                    <a:pt x="6710" y="249533"/>
                    <a:pt x="4388" y="248570"/>
                    <a:pt x="2675" y="246858"/>
                  </a:cubicBezTo>
                  <a:cubicBezTo>
                    <a:pt x="962" y="245145"/>
                    <a:pt x="0" y="242822"/>
                    <a:pt x="0" y="240400"/>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1FBB7F"/>
            </a:solidFill>
            <a:ln cap="sq">
              <a:noFill/>
              <a:prstDash val="solid"/>
              <a:miter/>
            </a:ln>
          </p:spPr>
          <p:txBody>
            <a:bodyPr/>
            <a:lstStyle/>
            <a:p>
              <a:endParaRPr lang="en-US"/>
            </a:p>
          </p:txBody>
        </p:sp>
        <p:sp>
          <p:nvSpPr>
            <p:cNvPr id="16" name="TextBox 16"/>
            <p:cNvSpPr txBox="1"/>
            <p:nvPr/>
          </p:nvSpPr>
          <p:spPr>
            <a:xfrm>
              <a:off x="0" y="0"/>
              <a:ext cx="4465332" cy="249533"/>
            </a:xfrm>
            <a:prstGeom prst="rect">
              <a:avLst/>
            </a:prstGeom>
          </p:spPr>
          <p:txBody>
            <a:bodyPr lIns="254000" tIns="254000" rIns="254000" bIns="254000" rtlCol="0" anchor="ctr"/>
            <a:lstStyle/>
            <a:p>
              <a:pPr algn="l">
                <a:lnSpc>
                  <a:spcPts val="2940"/>
                </a:lnSpc>
              </a:pPr>
              <a:r>
                <a:rPr lang="en-US" sz="2100" b="1" spc="-63" dirty="0">
                  <a:solidFill>
                    <a:srgbClr val="000000"/>
                  </a:solidFill>
                  <a:latin typeface="TT Fors Bold"/>
                  <a:ea typeface="TT Fors Bold"/>
                  <a:cs typeface="TT Fors Bold"/>
                  <a:sym typeface="TT Fors Bold"/>
                </a:rPr>
                <a:t>Best Practice: </a:t>
              </a:r>
              <a:r>
                <a:rPr lang="en-US" sz="2100" spc="-63" dirty="0">
                  <a:solidFill>
                    <a:srgbClr val="000000"/>
                  </a:solidFill>
                  <a:latin typeface="TT Fors"/>
                  <a:ea typeface="TT Fors"/>
                  <a:cs typeface="TT Fors"/>
                  <a:sym typeface="TT Fors"/>
                </a:rPr>
                <a:t>For passive recon, use intermediary services (Google cache, Wayback Machine) instead of directly accessing target systems.</a:t>
              </a: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2"/>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spc="-180">
                <a:solidFill>
                  <a:srgbClr val="00FFA8"/>
                </a:solidFill>
                <a:latin typeface="ITC Avant Garde Gothic"/>
                <a:ea typeface="ITC Avant Garde Gothic"/>
                <a:cs typeface="ITC Avant Garde Gothic"/>
                <a:sym typeface="ITC Avant Garde Gothic"/>
              </a:rPr>
              <a:t>Ethical</a:t>
            </a:r>
            <a:r>
              <a:rPr lang="en-US" sz="6000" u="none" strike="noStrike" spc="-180">
                <a:solidFill>
                  <a:srgbClr val="00FFA8"/>
                </a:solidFill>
                <a:latin typeface="ITC Avant Garde Gothic"/>
                <a:ea typeface="ITC Avant Garde Gothic"/>
                <a:cs typeface="ITC Avant Garde Gothic"/>
                <a:sym typeface="ITC Avant Garde Gothic"/>
              </a:rPr>
              <a:t> and Legal Boundaries</a:t>
            </a:r>
          </a:p>
        </p:txBody>
      </p:sp>
      <p:sp>
        <p:nvSpPr>
          <p:cNvPr id="3" name="TextBox 3"/>
          <p:cNvSpPr txBox="1"/>
          <p:nvPr/>
        </p:nvSpPr>
        <p:spPr>
          <a:xfrm>
            <a:off x="666750" y="1683039"/>
            <a:ext cx="16954500" cy="481330"/>
          </a:xfrm>
          <a:prstGeom prst="rect">
            <a:avLst/>
          </a:prstGeom>
        </p:spPr>
        <p:txBody>
          <a:bodyPr lIns="0" tIns="0" rIns="0" bIns="0" rtlCol="0" anchor="t">
            <a:spAutoFit/>
          </a:bodyPr>
          <a:lstStyle/>
          <a:p>
            <a:pPr algn="l">
              <a:lnSpc>
                <a:spcPts val="3919"/>
              </a:lnSpc>
            </a:pPr>
            <a:r>
              <a:rPr lang="en-US" sz="2799" b="1">
                <a:solidFill>
                  <a:srgbClr val="00FFA8"/>
                </a:solidFill>
                <a:latin typeface="TT Fors Bold"/>
                <a:ea typeface="TT Fors Bold"/>
                <a:cs typeface="TT Fors Bold"/>
                <a:sym typeface="TT Fors Bold"/>
              </a:rPr>
              <a:t>⚠️ </a:t>
            </a:r>
            <a:r>
              <a:rPr lang="en-US" sz="2799" b="1">
                <a:solidFill>
                  <a:srgbClr val="FFDE59"/>
                </a:solidFill>
                <a:latin typeface="TT Fors Bold"/>
                <a:ea typeface="TT Fors Bold"/>
                <a:cs typeface="TT Fors Bold"/>
                <a:sym typeface="TT Fors Bold"/>
              </a:rPr>
              <a:t>CRITICAL REMINDERS:</a:t>
            </a:r>
          </a:p>
        </p:txBody>
      </p:sp>
      <p:grpSp>
        <p:nvGrpSpPr>
          <p:cNvPr id="4" name="Group 4"/>
          <p:cNvGrpSpPr/>
          <p:nvPr/>
        </p:nvGrpSpPr>
        <p:grpSpPr>
          <a:xfrm>
            <a:off x="4996295" y="2578285"/>
            <a:ext cx="8584541" cy="2663191"/>
            <a:chOff x="0" y="0"/>
            <a:chExt cx="2260923" cy="701434"/>
          </a:xfrm>
        </p:grpSpPr>
        <p:sp>
          <p:nvSpPr>
            <p:cNvPr id="5" name="Freeform 5"/>
            <p:cNvSpPr/>
            <p:nvPr/>
          </p:nvSpPr>
          <p:spPr>
            <a:xfrm>
              <a:off x="0" y="0"/>
              <a:ext cx="2260923" cy="701434"/>
            </a:xfrm>
            <a:custGeom>
              <a:avLst/>
              <a:gdLst/>
              <a:ahLst/>
              <a:cxnLst/>
              <a:rect l="l" t="t" r="r" b="b"/>
              <a:pathLst>
                <a:path w="2260923" h="701434">
                  <a:moveTo>
                    <a:pt x="2260923" y="18037"/>
                  </a:moveTo>
                  <a:lnTo>
                    <a:pt x="2260923" y="683397"/>
                  </a:lnTo>
                  <a:cubicBezTo>
                    <a:pt x="2260923" y="688181"/>
                    <a:pt x="2259023" y="692769"/>
                    <a:pt x="2255640" y="696151"/>
                  </a:cubicBezTo>
                  <a:cubicBezTo>
                    <a:pt x="2252258" y="699534"/>
                    <a:pt x="2247670" y="701434"/>
                    <a:pt x="2242886" y="701434"/>
                  </a:cubicBezTo>
                  <a:lnTo>
                    <a:pt x="18037" y="701434"/>
                  </a:lnTo>
                  <a:cubicBezTo>
                    <a:pt x="13253" y="701434"/>
                    <a:pt x="8665" y="699534"/>
                    <a:pt x="5283" y="696151"/>
                  </a:cubicBezTo>
                  <a:cubicBezTo>
                    <a:pt x="1900" y="692769"/>
                    <a:pt x="0" y="688181"/>
                    <a:pt x="0" y="683397"/>
                  </a:cubicBezTo>
                  <a:lnTo>
                    <a:pt x="0" y="18037"/>
                  </a:lnTo>
                  <a:cubicBezTo>
                    <a:pt x="0" y="13253"/>
                    <a:pt x="1900" y="8665"/>
                    <a:pt x="5283" y="5283"/>
                  </a:cubicBezTo>
                  <a:cubicBezTo>
                    <a:pt x="8665" y="1900"/>
                    <a:pt x="13253" y="0"/>
                    <a:pt x="18037" y="0"/>
                  </a:cubicBezTo>
                  <a:lnTo>
                    <a:pt x="2242886" y="0"/>
                  </a:lnTo>
                  <a:cubicBezTo>
                    <a:pt x="2247670" y="0"/>
                    <a:pt x="2252258" y="1900"/>
                    <a:pt x="2255640" y="5283"/>
                  </a:cubicBezTo>
                  <a:cubicBezTo>
                    <a:pt x="2259023" y="8665"/>
                    <a:pt x="2260923" y="13253"/>
                    <a:pt x="2260923" y="18037"/>
                  </a:cubicBezTo>
                  <a:close/>
                </a:path>
              </a:pathLst>
            </a:custGeom>
            <a:solidFill>
              <a:srgbClr val="1FBB7F"/>
            </a:solidFill>
            <a:ln cap="sq">
              <a:noFill/>
              <a:prstDash val="solid"/>
              <a:miter/>
            </a:ln>
          </p:spPr>
          <p:txBody>
            <a:bodyPr/>
            <a:lstStyle/>
            <a:p>
              <a:endParaRPr lang="en-US"/>
            </a:p>
          </p:txBody>
        </p:sp>
        <p:sp>
          <p:nvSpPr>
            <p:cNvPr id="6" name="TextBox 6"/>
            <p:cNvSpPr txBox="1"/>
            <p:nvPr/>
          </p:nvSpPr>
          <p:spPr>
            <a:xfrm>
              <a:off x="0" y="0"/>
              <a:ext cx="2260923" cy="701434"/>
            </a:xfrm>
            <a:prstGeom prst="rect">
              <a:avLst/>
            </a:prstGeom>
          </p:spPr>
          <p:txBody>
            <a:bodyPr lIns="254000" tIns="254000" rIns="254000" bIns="254000" rtlCol="0" anchor="t"/>
            <a:lstStyle/>
            <a:p>
              <a:pPr algn="l">
                <a:lnSpc>
                  <a:spcPts val="2940"/>
                </a:lnSpc>
              </a:pPr>
              <a:r>
                <a:rPr lang="en-US" sz="2100" b="1" spc="-63" dirty="0">
                  <a:solidFill>
                    <a:srgbClr val="000000"/>
                  </a:solidFill>
                  <a:latin typeface="TT Fors Bold"/>
                  <a:ea typeface="TT Fors Bold"/>
                  <a:cs typeface="TT Fors Bold"/>
                  <a:sym typeface="TT Fors Bold"/>
                </a:rPr>
                <a:t>Legal Reconnaissance:</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Public information gathering (Google, social media, WHOIS)</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Using publicly available databases</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DNS queries to public DNS servers</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Accessing publicly indexed web pages</a:t>
              </a:r>
            </a:p>
            <a:p>
              <a:pPr marL="453398" lvl="1" indent="-226699" algn="l">
                <a:lnSpc>
                  <a:spcPts val="2940"/>
                </a:lnSpc>
                <a:buFont typeface="Arial"/>
                <a:buChar char="•"/>
              </a:pPr>
              <a:r>
                <a:rPr lang="en-US" sz="2100" spc="-63" dirty="0">
                  <a:solidFill>
                    <a:srgbClr val="000000"/>
                  </a:solidFill>
                  <a:latin typeface="TT Fors"/>
                  <a:ea typeface="TT Fors"/>
                  <a:cs typeface="TT Fors"/>
                  <a:sym typeface="TT Fors"/>
                </a:rPr>
                <a:t>Reading job postings and company websites</a:t>
              </a:r>
            </a:p>
          </p:txBody>
        </p:sp>
      </p:grpSp>
      <p:grpSp>
        <p:nvGrpSpPr>
          <p:cNvPr id="7" name="Group 7"/>
          <p:cNvGrpSpPr/>
          <p:nvPr/>
        </p:nvGrpSpPr>
        <p:grpSpPr>
          <a:xfrm>
            <a:off x="4996295" y="5403401"/>
            <a:ext cx="8584541" cy="3034666"/>
            <a:chOff x="0" y="0"/>
            <a:chExt cx="2260923" cy="799274"/>
          </a:xfrm>
        </p:grpSpPr>
        <p:sp>
          <p:nvSpPr>
            <p:cNvPr id="8" name="Freeform 8"/>
            <p:cNvSpPr/>
            <p:nvPr/>
          </p:nvSpPr>
          <p:spPr>
            <a:xfrm>
              <a:off x="0" y="0"/>
              <a:ext cx="2260923" cy="799274"/>
            </a:xfrm>
            <a:custGeom>
              <a:avLst/>
              <a:gdLst/>
              <a:ahLst/>
              <a:cxnLst/>
              <a:rect l="l" t="t" r="r" b="b"/>
              <a:pathLst>
                <a:path w="2260923" h="799274">
                  <a:moveTo>
                    <a:pt x="2260923" y="18037"/>
                  </a:moveTo>
                  <a:lnTo>
                    <a:pt x="2260923" y="781237"/>
                  </a:lnTo>
                  <a:cubicBezTo>
                    <a:pt x="2260923" y="791198"/>
                    <a:pt x="2252848" y="799274"/>
                    <a:pt x="2242886" y="799274"/>
                  </a:cubicBezTo>
                  <a:lnTo>
                    <a:pt x="18037" y="799274"/>
                  </a:lnTo>
                  <a:cubicBezTo>
                    <a:pt x="13253" y="799274"/>
                    <a:pt x="8665" y="797373"/>
                    <a:pt x="5283" y="793991"/>
                  </a:cubicBezTo>
                  <a:cubicBezTo>
                    <a:pt x="1900" y="790608"/>
                    <a:pt x="0" y="786020"/>
                    <a:pt x="0" y="781237"/>
                  </a:cubicBezTo>
                  <a:lnTo>
                    <a:pt x="0" y="18037"/>
                  </a:lnTo>
                  <a:cubicBezTo>
                    <a:pt x="0" y="13253"/>
                    <a:pt x="1900" y="8665"/>
                    <a:pt x="5283" y="5283"/>
                  </a:cubicBezTo>
                  <a:cubicBezTo>
                    <a:pt x="8665" y="1900"/>
                    <a:pt x="13253" y="0"/>
                    <a:pt x="18037" y="0"/>
                  </a:cubicBezTo>
                  <a:lnTo>
                    <a:pt x="2242886" y="0"/>
                  </a:lnTo>
                  <a:cubicBezTo>
                    <a:pt x="2247670" y="0"/>
                    <a:pt x="2252258" y="1900"/>
                    <a:pt x="2255640" y="5283"/>
                  </a:cubicBezTo>
                  <a:cubicBezTo>
                    <a:pt x="2259023" y="8665"/>
                    <a:pt x="2260923" y="13253"/>
                    <a:pt x="2260923" y="18037"/>
                  </a:cubicBezTo>
                  <a:close/>
                </a:path>
              </a:pathLst>
            </a:custGeom>
            <a:solidFill>
              <a:srgbClr val="E10505"/>
            </a:solidFill>
            <a:ln cap="sq">
              <a:noFill/>
              <a:prstDash val="solid"/>
              <a:miter/>
            </a:ln>
          </p:spPr>
          <p:txBody>
            <a:bodyPr/>
            <a:lstStyle/>
            <a:p>
              <a:endParaRPr lang="en-US"/>
            </a:p>
          </p:txBody>
        </p:sp>
        <p:sp>
          <p:nvSpPr>
            <p:cNvPr id="9" name="TextBox 9"/>
            <p:cNvSpPr txBox="1"/>
            <p:nvPr/>
          </p:nvSpPr>
          <p:spPr>
            <a:xfrm>
              <a:off x="0" y="0"/>
              <a:ext cx="2260923" cy="799274"/>
            </a:xfrm>
            <a:prstGeom prst="rect">
              <a:avLst/>
            </a:prstGeom>
          </p:spPr>
          <p:txBody>
            <a:bodyPr lIns="254000" tIns="254000" rIns="254000" bIns="254000" rtlCol="0" anchor="ctr"/>
            <a:lstStyle/>
            <a:p>
              <a:pPr algn="l">
                <a:lnSpc>
                  <a:spcPts val="2940"/>
                </a:lnSpc>
              </a:pPr>
              <a:r>
                <a:rPr lang="en-US" sz="2100" b="1" spc="-63" dirty="0">
                  <a:solidFill>
                    <a:srgbClr val="FFFFFF"/>
                  </a:solidFill>
                  <a:latin typeface="TT Fors Bold"/>
                  <a:ea typeface="TT Fors Bold"/>
                  <a:cs typeface="TT Fors Bold"/>
                  <a:sym typeface="TT Fors Bold"/>
                </a:rPr>
                <a:t>Illegal/Grey Area Activities:</a:t>
              </a:r>
            </a:p>
            <a:p>
              <a:pPr marL="453398" lvl="1" indent="-226699" algn="l">
                <a:lnSpc>
                  <a:spcPts val="2940"/>
                </a:lnSpc>
                <a:buFont typeface="Arial"/>
                <a:buChar char="•"/>
              </a:pPr>
              <a:r>
                <a:rPr lang="en-US" sz="2100" spc="-63" dirty="0">
                  <a:solidFill>
                    <a:srgbClr val="FFFFFF"/>
                  </a:solidFill>
                  <a:latin typeface="TT Fors"/>
                  <a:ea typeface="TT Fors"/>
                  <a:cs typeface="TT Fors"/>
                  <a:sym typeface="TT Fors"/>
                </a:rPr>
                <a:t>Accessing non-public information without permission</a:t>
              </a:r>
            </a:p>
            <a:p>
              <a:pPr marL="453398" lvl="1" indent="-226699" algn="l">
                <a:lnSpc>
                  <a:spcPts val="2940"/>
                </a:lnSpc>
                <a:buFont typeface="Arial"/>
                <a:buChar char="•"/>
              </a:pPr>
              <a:r>
                <a:rPr lang="en-US" sz="2100" spc="-63" dirty="0">
                  <a:solidFill>
                    <a:srgbClr val="FFFFFF"/>
                  </a:solidFill>
                  <a:latin typeface="TT Fors"/>
                  <a:ea typeface="TT Fors"/>
                  <a:cs typeface="TT Fors"/>
                  <a:sym typeface="TT Fors"/>
                </a:rPr>
                <a:t>Creating fake profiles to gather information (impersonation)</a:t>
              </a:r>
            </a:p>
            <a:p>
              <a:pPr marL="453398" lvl="1" indent="-226699" algn="l">
                <a:lnSpc>
                  <a:spcPts val="2940"/>
                </a:lnSpc>
                <a:buFont typeface="Arial"/>
                <a:buChar char="•"/>
              </a:pPr>
              <a:r>
                <a:rPr lang="en-US" sz="2100" spc="-63" dirty="0">
                  <a:solidFill>
                    <a:srgbClr val="FFFFFF"/>
                  </a:solidFill>
                  <a:latin typeface="TT Fors"/>
                  <a:ea typeface="TT Fors"/>
                  <a:cs typeface="TT Fors"/>
                  <a:sym typeface="TT Fors"/>
                </a:rPr>
                <a:t>Social engineering without authorization</a:t>
              </a:r>
            </a:p>
            <a:p>
              <a:pPr marL="453398" lvl="1" indent="-226699" algn="l">
                <a:lnSpc>
                  <a:spcPts val="2940"/>
                </a:lnSpc>
                <a:buFont typeface="Arial"/>
                <a:buChar char="•"/>
              </a:pPr>
              <a:r>
                <a:rPr lang="en-US" sz="2100" spc="-63" dirty="0">
                  <a:solidFill>
                    <a:srgbClr val="FFFFFF"/>
                  </a:solidFill>
                  <a:latin typeface="TT Fors"/>
                  <a:ea typeface="TT Fors"/>
                  <a:cs typeface="TT Fors"/>
                  <a:sym typeface="TT Fors"/>
                </a:rPr>
                <a:t>Brute-forcing or password guessing</a:t>
              </a:r>
            </a:p>
            <a:p>
              <a:pPr marL="453398" lvl="1" indent="-226699" algn="l">
                <a:lnSpc>
                  <a:spcPts val="2940"/>
                </a:lnSpc>
                <a:buFont typeface="Arial"/>
                <a:buChar char="•"/>
              </a:pPr>
              <a:r>
                <a:rPr lang="en-US" sz="2100" spc="-63" dirty="0">
                  <a:solidFill>
                    <a:srgbClr val="FFFFFF"/>
                  </a:solidFill>
                  <a:latin typeface="TT Fors"/>
                  <a:ea typeface="TT Fors"/>
                  <a:cs typeface="TT Fors"/>
                  <a:sym typeface="TT Fors"/>
                </a:rPr>
                <a:t>Exploiting any vulnerabilities found</a:t>
              </a:r>
            </a:p>
            <a:p>
              <a:pPr marL="453398" lvl="1" indent="-226699" algn="l">
                <a:lnSpc>
                  <a:spcPts val="2940"/>
                </a:lnSpc>
                <a:buFont typeface="Arial"/>
                <a:buChar char="•"/>
              </a:pPr>
              <a:r>
                <a:rPr lang="en-US" sz="2100" spc="-63" dirty="0">
                  <a:solidFill>
                    <a:srgbClr val="FFFFFF"/>
                  </a:solidFill>
                  <a:latin typeface="TT Fors"/>
                  <a:ea typeface="TT Fors"/>
                  <a:cs typeface="TT Fors"/>
                  <a:sym typeface="TT Fors"/>
                </a:rPr>
                <a:t>Aggressive subdomain </a:t>
              </a:r>
              <a:r>
                <a:rPr lang="en-US" sz="2100" spc="-63" dirty="0" err="1">
                  <a:solidFill>
                    <a:srgbClr val="FFFFFF"/>
                  </a:solidFill>
                  <a:latin typeface="TT Fors"/>
                  <a:ea typeface="TT Fors"/>
                  <a:cs typeface="TT Fors"/>
                  <a:sym typeface="TT Fors"/>
                </a:rPr>
                <a:t>bruteforcing</a:t>
              </a:r>
              <a:r>
                <a:rPr lang="en-US" sz="2100" spc="-63" dirty="0">
                  <a:solidFill>
                    <a:srgbClr val="FFFFFF"/>
                  </a:solidFill>
                  <a:latin typeface="TT Fors"/>
                  <a:ea typeface="TT Fors"/>
                  <a:cs typeface="TT Fors"/>
                  <a:sym typeface="TT Fors"/>
                </a:rPr>
                <a:t> (may be detected as attack)</a:t>
              </a:r>
            </a:p>
          </p:txBody>
        </p:sp>
      </p:grpSp>
      <p:grpSp>
        <p:nvGrpSpPr>
          <p:cNvPr id="10" name="Group 10"/>
          <p:cNvGrpSpPr/>
          <p:nvPr/>
        </p:nvGrpSpPr>
        <p:grpSpPr>
          <a:xfrm>
            <a:off x="666750" y="8851983"/>
            <a:ext cx="16954500" cy="1177291"/>
            <a:chOff x="0" y="0"/>
            <a:chExt cx="4465332" cy="310076"/>
          </a:xfrm>
        </p:grpSpPr>
        <p:sp>
          <p:nvSpPr>
            <p:cNvPr id="11" name="Freeform 11"/>
            <p:cNvSpPr/>
            <p:nvPr/>
          </p:nvSpPr>
          <p:spPr>
            <a:xfrm>
              <a:off x="0" y="0"/>
              <a:ext cx="4465332" cy="310076"/>
            </a:xfrm>
            <a:custGeom>
              <a:avLst/>
              <a:gdLst/>
              <a:ahLst/>
              <a:cxnLst/>
              <a:rect l="l" t="t" r="r" b="b"/>
              <a:pathLst>
                <a:path w="4465332" h="310076">
                  <a:moveTo>
                    <a:pt x="4465332" y="9133"/>
                  </a:moveTo>
                  <a:lnTo>
                    <a:pt x="4465332" y="300944"/>
                  </a:lnTo>
                  <a:cubicBezTo>
                    <a:pt x="4465332" y="303366"/>
                    <a:pt x="4464370" y="305689"/>
                    <a:pt x="4462657" y="307401"/>
                  </a:cubicBezTo>
                  <a:cubicBezTo>
                    <a:pt x="4460944" y="309114"/>
                    <a:pt x="4458622" y="310076"/>
                    <a:pt x="4456200" y="310076"/>
                  </a:cubicBezTo>
                  <a:lnTo>
                    <a:pt x="9133" y="310076"/>
                  </a:lnTo>
                  <a:cubicBezTo>
                    <a:pt x="6710" y="310076"/>
                    <a:pt x="4388" y="309114"/>
                    <a:pt x="2675" y="307401"/>
                  </a:cubicBezTo>
                  <a:cubicBezTo>
                    <a:pt x="962" y="305689"/>
                    <a:pt x="0" y="303366"/>
                    <a:pt x="0" y="300944"/>
                  </a:cubicBezTo>
                  <a:lnTo>
                    <a:pt x="0" y="9133"/>
                  </a:lnTo>
                  <a:cubicBezTo>
                    <a:pt x="0" y="6710"/>
                    <a:pt x="962" y="4388"/>
                    <a:pt x="2675" y="2675"/>
                  </a:cubicBezTo>
                  <a:cubicBezTo>
                    <a:pt x="4388" y="962"/>
                    <a:pt x="6710" y="0"/>
                    <a:pt x="9133" y="0"/>
                  </a:cubicBezTo>
                  <a:lnTo>
                    <a:pt x="4456200" y="0"/>
                  </a:lnTo>
                  <a:cubicBezTo>
                    <a:pt x="4458622" y="0"/>
                    <a:pt x="4460944" y="962"/>
                    <a:pt x="4462657" y="2675"/>
                  </a:cubicBezTo>
                  <a:cubicBezTo>
                    <a:pt x="4464370" y="4388"/>
                    <a:pt x="4465332" y="6710"/>
                    <a:pt x="4465332" y="9133"/>
                  </a:cubicBezTo>
                  <a:close/>
                </a:path>
              </a:pathLst>
            </a:custGeom>
            <a:solidFill>
              <a:srgbClr val="1FBB7F"/>
            </a:solidFill>
            <a:ln cap="sq">
              <a:noFill/>
              <a:prstDash val="solid"/>
              <a:miter/>
            </a:ln>
          </p:spPr>
          <p:txBody>
            <a:bodyPr/>
            <a:lstStyle/>
            <a:p>
              <a:endParaRPr lang="en-US"/>
            </a:p>
          </p:txBody>
        </p:sp>
        <p:sp>
          <p:nvSpPr>
            <p:cNvPr id="12" name="TextBox 12"/>
            <p:cNvSpPr txBox="1"/>
            <p:nvPr/>
          </p:nvSpPr>
          <p:spPr>
            <a:xfrm>
              <a:off x="0" y="0"/>
              <a:ext cx="4465332" cy="310076"/>
            </a:xfrm>
            <a:prstGeom prst="rect">
              <a:avLst/>
            </a:prstGeom>
          </p:spPr>
          <p:txBody>
            <a:bodyPr lIns="254000" tIns="254000" rIns="254000" bIns="254000" rtlCol="0" anchor="ctr"/>
            <a:lstStyle/>
            <a:p>
              <a:pPr algn="l">
                <a:lnSpc>
                  <a:spcPts val="2940"/>
                </a:lnSpc>
              </a:pPr>
              <a:r>
                <a:rPr lang="en-US" sz="2100" b="1" spc="-63" dirty="0">
                  <a:solidFill>
                    <a:srgbClr val="000000"/>
                  </a:solidFill>
                  <a:latin typeface="TT Fors Bold"/>
                  <a:ea typeface="TT Fors Bold"/>
                  <a:cs typeface="TT Fors Bold"/>
                  <a:sym typeface="TT Fors Bold"/>
                </a:rPr>
                <a:t>Golden Rule: </a:t>
              </a:r>
              <a:r>
                <a:rPr lang="en-US" sz="2100" spc="-63" dirty="0">
                  <a:solidFill>
                    <a:srgbClr val="000000"/>
                  </a:solidFill>
                  <a:latin typeface="TT Fors"/>
                  <a:ea typeface="TT Fors"/>
                  <a:cs typeface="TT Fors"/>
                  <a:sym typeface="TT Fors"/>
                </a:rPr>
                <a:t>If you're unsure whether something is legal, ask your instructor or don't do it. For assignments, only use instructor-provided test domains.</a:t>
              </a: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666750" y="2508884"/>
            <a:ext cx="9519722" cy="6749416"/>
            <a:chOff x="0" y="0"/>
            <a:chExt cx="2507224" cy="1777668"/>
          </a:xfrm>
        </p:grpSpPr>
        <p:sp>
          <p:nvSpPr>
            <p:cNvPr id="3" name="Freeform 3"/>
            <p:cNvSpPr/>
            <p:nvPr/>
          </p:nvSpPr>
          <p:spPr>
            <a:xfrm>
              <a:off x="0" y="0"/>
              <a:ext cx="2507224" cy="1777668"/>
            </a:xfrm>
            <a:custGeom>
              <a:avLst/>
              <a:gdLst/>
              <a:ahLst/>
              <a:cxnLst/>
              <a:rect l="l" t="t" r="r" b="b"/>
              <a:pathLst>
                <a:path w="2507224" h="1777668">
                  <a:moveTo>
                    <a:pt x="2507224" y="16265"/>
                  </a:moveTo>
                  <a:lnTo>
                    <a:pt x="2507224" y="1761403"/>
                  </a:lnTo>
                  <a:cubicBezTo>
                    <a:pt x="2507224" y="1770386"/>
                    <a:pt x="2499941" y="1777668"/>
                    <a:pt x="2490958" y="1777668"/>
                  </a:cubicBezTo>
                  <a:lnTo>
                    <a:pt x="16265" y="1777668"/>
                  </a:lnTo>
                  <a:cubicBezTo>
                    <a:pt x="11951" y="1777668"/>
                    <a:pt x="7814" y="1775955"/>
                    <a:pt x="4764" y="1772905"/>
                  </a:cubicBezTo>
                  <a:cubicBezTo>
                    <a:pt x="1714" y="1769854"/>
                    <a:pt x="0" y="1765717"/>
                    <a:pt x="0" y="1761403"/>
                  </a:cubicBezTo>
                  <a:lnTo>
                    <a:pt x="0" y="16265"/>
                  </a:lnTo>
                  <a:cubicBezTo>
                    <a:pt x="0" y="7282"/>
                    <a:pt x="7282" y="0"/>
                    <a:pt x="16265" y="0"/>
                  </a:cubicBezTo>
                  <a:lnTo>
                    <a:pt x="2490958" y="0"/>
                  </a:lnTo>
                  <a:cubicBezTo>
                    <a:pt x="2499941" y="0"/>
                    <a:pt x="2507224" y="7282"/>
                    <a:pt x="2507224" y="16265"/>
                  </a:cubicBezTo>
                  <a:close/>
                </a:path>
              </a:pathLst>
            </a:custGeom>
            <a:solidFill>
              <a:srgbClr val="1FBB7F"/>
            </a:solidFill>
            <a:ln cap="sq">
              <a:noFill/>
              <a:prstDash val="solid"/>
              <a:miter/>
            </a:ln>
          </p:spPr>
          <p:txBody>
            <a:bodyPr/>
            <a:lstStyle/>
            <a:p>
              <a:endParaRPr lang="en-US"/>
            </a:p>
          </p:txBody>
        </p:sp>
        <p:sp>
          <p:nvSpPr>
            <p:cNvPr id="4" name="TextBox 4"/>
            <p:cNvSpPr txBox="1"/>
            <p:nvPr/>
          </p:nvSpPr>
          <p:spPr>
            <a:xfrm>
              <a:off x="0" y="0"/>
              <a:ext cx="2507224" cy="1777668"/>
            </a:xfrm>
            <a:prstGeom prst="rect">
              <a:avLst/>
            </a:prstGeom>
          </p:spPr>
          <p:txBody>
            <a:bodyPr lIns="254000" tIns="254000" rIns="254000" bIns="254000" rtlCol="0" anchor="t"/>
            <a:lstStyle/>
            <a:p>
              <a:pPr algn="l">
                <a:lnSpc>
                  <a:spcPts val="2940"/>
                </a:lnSpc>
              </a:pPr>
              <a:r>
                <a:rPr lang="en-US" sz="2100" b="1" spc="-63" dirty="0">
                  <a:solidFill>
                    <a:srgbClr val="000000"/>
                  </a:solidFill>
                  <a:latin typeface="TT Fors Bold"/>
                  <a:ea typeface="TT Fors Bold"/>
                  <a:cs typeface="TT Fors Bold"/>
                  <a:sym typeface="TT Fors Bold"/>
                </a:rPr>
                <a:t>Attack Timeline:</a:t>
              </a:r>
            </a:p>
            <a:p>
              <a:pPr marL="453398" lvl="1" indent="-226699" algn="l">
                <a:lnSpc>
                  <a:spcPts val="2940"/>
                </a:lnSpc>
                <a:buAutoNum type="arabicPeriod"/>
              </a:pPr>
              <a:r>
                <a:rPr lang="en-US" sz="2100" b="1" spc="-63" dirty="0">
                  <a:solidFill>
                    <a:srgbClr val="000000"/>
                  </a:solidFill>
                  <a:latin typeface="TT Fors Bold"/>
                  <a:ea typeface="TT Fors Bold"/>
                  <a:cs typeface="TT Fors Bold"/>
                  <a:sym typeface="TT Fors Bold"/>
                </a:rPr>
                <a:t>Phase 1 - OSINT (2 weeks):</a:t>
              </a:r>
            </a:p>
            <a:p>
              <a:pPr marL="906796" lvl="2" indent="-302265" algn="l">
                <a:lnSpc>
                  <a:spcPts val="2940"/>
                </a:lnSpc>
                <a:buFont typeface="Arial"/>
                <a:buChar char="⚬"/>
              </a:pPr>
              <a:r>
                <a:rPr lang="en-US" sz="2100" spc="-63" dirty="0">
                  <a:solidFill>
                    <a:srgbClr val="000000"/>
                  </a:solidFill>
                  <a:latin typeface="TT Fors"/>
                  <a:ea typeface="TT Fors"/>
                  <a:cs typeface="TT Fors"/>
                  <a:sym typeface="TT Fors"/>
                </a:rPr>
                <a:t>LinkedIn enumeration: Identified 200+ employees</a:t>
              </a:r>
            </a:p>
            <a:p>
              <a:pPr marL="906796" lvl="2" indent="-302265" algn="l">
                <a:lnSpc>
                  <a:spcPts val="2940"/>
                </a:lnSpc>
                <a:buFont typeface="Arial"/>
                <a:buChar char="⚬"/>
              </a:pPr>
              <a:r>
                <a:rPr lang="en-US" sz="2100" spc="-63" dirty="0">
                  <a:solidFill>
                    <a:srgbClr val="000000"/>
                  </a:solidFill>
                  <a:latin typeface="TT Fors"/>
                  <a:ea typeface="TT Fors"/>
                  <a:cs typeface="TT Fors"/>
                  <a:sym typeface="TT Fors"/>
                </a:rPr>
                <a:t>Job postings revealed Cisco VPN and Microsoft AD</a:t>
              </a:r>
            </a:p>
            <a:p>
              <a:pPr marL="906796" lvl="2" indent="-302265" algn="l">
                <a:lnSpc>
                  <a:spcPts val="2940"/>
                </a:lnSpc>
                <a:buFont typeface="Arial"/>
                <a:buChar char="⚬"/>
              </a:pPr>
              <a:r>
                <a:rPr lang="en-US" sz="2100" spc="-63" dirty="0">
                  <a:solidFill>
                    <a:srgbClr val="000000"/>
                  </a:solidFill>
                  <a:latin typeface="TT Fors"/>
                  <a:ea typeface="TT Fors"/>
                  <a:cs typeface="TT Fors"/>
                  <a:sym typeface="TT Fors"/>
                </a:rPr>
                <a:t>Email format confirmed: </a:t>
              </a:r>
              <a:r>
                <a:rPr lang="en-US" sz="2100" spc="-63" dirty="0" err="1">
                  <a:solidFill>
                    <a:srgbClr val="000000"/>
                  </a:solidFill>
                  <a:latin typeface="TT Fors"/>
                  <a:ea typeface="TT Fors"/>
                  <a:cs typeface="TT Fors"/>
                  <a:sym typeface="TT Fors"/>
                </a:rPr>
                <a:t>firstname.lastname@bank.com</a:t>
              </a:r>
              <a:endParaRPr lang="en-US" sz="2100" spc="-63" dirty="0">
                <a:solidFill>
                  <a:srgbClr val="000000"/>
                </a:solidFill>
                <a:latin typeface="TT Fors"/>
                <a:ea typeface="TT Fors"/>
                <a:cs typeface="TT Fors"/>
                <a:sym typeface="TT Fors"/>
              </a:endParaRPr>
            </a:p>
            <a:p>
              <a:pPr marL="906796" lvl="2" indent="-302265" algn="l">
                <a:lnSpc>
                  <a:spcPts val="2940"/>
                </a:lnSpc>
                <a:buFont typeface="Arial"/>
                <a:buChar char="⚬"/>
              </a:pPr>
              <a:r>
                <a:rPr lang="en-US" sz="2100" spc="-63" dirty="0">
                  <a:solidFill>
                    <a:srgbClr val="000000"/>
                  </a:solidFill>
                  <a:latin typeface="TT Fors"/>
                  <a:ea typeface="TT Fors"/>
                  <a:cs typeface="TT Fors"/>
                  <a:sym typeface="TT Fors"/>
                </a:rPr>
                <a:t>GitHub search found old config files with server naming convention</a:t>
              </a:r>
            </a:p>
            <a:p>
              <a:pPr marL="453398" lvl="1" indent="-226699" algn="l">
                <a:lnSpc>
                  <a:spcPts val="2940"/>
                </a:lnSpc>
                <a:buAutoNum type="arabicPeriod"/>
              </a:pPr>
              <a:r>
                <a:rPr lang="en-US" sz="2100" b="1" spc="-63" dirty="0">
                  <a:solidFill>
                    <a:srgbClr val="000000"/>
                  </a:solidFill>
                  <a:latin typeface="TT Fors Bold"/>
                  <a:ea typeface="TT Fors Bold"/>
                  <a:cs typeface="TT Fors Bold"/>
                  <a:sym typeface="TT Fors Bold"/>
                </a:rPr>
                <a:t>Phase 2 - Subdomain Discovery:</a:t>
              </a:r>
            </a:p>
            <a:p>
              <a:pPr marL="906796" lvl="2" indent="-302265" algn="l">
                <a:lnSpc>
                  <a:spcPts val="2940"/>
                </a:lnSpc>
                <a:buFont typeface="Arial"/>
                <a:buChar char="⚬"/>
              </a:pPr>
              <a:r>
                <a:rPr lang="en-US" sz="2100" spc="-63" dirty="0">
                  <a:solidFill>
                    <a:srgbClr val="000000"/>
                  </a:solidFill>
                  <a:latin typeface="TT Fors"/>
                  <a:ea typeface="TT Fors"/>
                  <a:cs typeface="TT Fors"/>
                  <a:sym typeface="TT Fors"/>
                </a:rPr>
                <a:t>Found forgotten subdomain: old-</a:t>
              </a:r>
              <a:r>
                <a:rPr lang="en-US" sz="2100" spc="-63" dirty="0" err="1">
                  <a:solidFill>
                    <a:srgbClr val="000000"/>
                  </a:solidFill>
                  <a:latin typeface="TT Fors"/>
                  <a:ea typeface="TT Fors"/>
                  <a:cs typeface="TT Fors"/>
                  <a:sym typeface="TT Fors"/>
                </a:rPr>
                <a:t>vpn.bank.com</a:t>
              </a:r>
              <a:endParaRPr lang="en-US" sz="2100" spc="-63" dirty="0">
                <a:solidFill>
                  <a:srgbClr val="000000"/>
                </a:solidFill>
                <a:latin typeface="TT Fors"/>
                <a:ea typeface="TT Fors"/>
                <a:cs typeface="TT Fors"/>
                <a:sym typeface="TT Fors"/>
              </a:endParaRPr>
            </a:p>
            <a:p>
              <a:pPr marL="906796" lvl="2" indent="-302265" algn="l">
                <a:lnSpc>
                  <a:spcPts val="2940"/>
                </a:lnSpc>
                <a:buFont typeface="Arial"/>
                <a:buChar char="⚬"/>
              </a:pPr>
              <a:r>
                <a:rPr lang="en-US" sz="2100" spc="-63" dirty="0">
                  <a:solidFill>
                    <a:srgbClr val="000000"/>
                  </a:solidFill>
                  <a:latin typeface="TT Fors"/>
                  <a:ea typeface="TT Fors"/>
                  <a:cs typeface="TT Fors"/>
                  <a:sym typeface="TT Fors"/>
                </a:rPr>
                <a:t>Running outdated Cisco VPN version with known CVE</a:t>
              </a:r>
            </a:p>
            <a:p>
              <a:pPr marL="453398" lvl="1" indent="-226699" algn="l">
                <a:lnSpc>
                  <a:spcPts val="2940"/>
                </a:lnSpc>
                <a:buAutoNum type="arabicPeriod"/>
              </a:pPr>
              <a:r>
                <a:rPr lang="en-US" sz="2100" b="1" spc="-63" dirty="0">
                  <a:solidFill>
                    <a:srgbClr val="000000"/>
                  </a:solidFill>
                  <a:latin typeface="TT Fors Bold"/>
                  <a:ea typeface="TT Fors Bold"/>
                  <a:cs typeface="TT Fors Bold"/>
                  <a:sym typeface="TT Fors Bold"/>
                </a:rPr>
                <a:t>Phase 3 - Social Engineering:</a:t>
              </a:r>
            </a:p>
            <a:p>
              <a:pPr marL="906796" lvl="2" indent="-302265" algn="l">
                <a:lnSpc>
                  <a:spcPts val="2940"/>
                </a:lnSpc>
                <a:buFont typeface="Arial"/>
                <a:buChar char="⚬"/>
              </a:pPr>
              <a:r>
                <a:rPr lang="en-US" sz="2100" spc="-63" dirty="0">
                  <a:solidFill>
                    <a:srgbClr val="000000"/>
                  </a:solidFill>
                  <a:latin typeface="TT Fors"/>
                  <a:ea typeface="TT Fors"/>
                  <a:cs typeface="TT Fors"/>
                  <a:sym typeface="TT Fors"/>
                </a:rPr>
                <a:t>Targeted IT help desk employee via LinkedIn info</a:t>
              </a:r>
            </a:p>
            <a:p>
              <a:pPr marL="906796" lvl="2" indent="-302265" algn="l">
                <a:lnSpc>
                  <a:spcPts val="2940"/>
                </a:lnSpc>
                <a:buFont typeface="Arial"/>
                <a:buChar char="⚬"/>
              </a:pPr>
              <a:r>
                <a:rPr lang="en-US" sz="2100" spc="-63" dirty="0">
                  <a:solidFill>
                    <a:srgbClr val="000000"/>
                  </a:solidFill>
                  <a:latin typeface="TT Fors"/>
                  <a:ea typeface="TT Fors"/>
                  <a:cs typeface="TT Fors"/>
                  <a:sym typeface="TT Fors"/>
                </a:rPr>
                <a:t>Crafted convincing pretext about VPN access issues</a:t>
              </a:r>
            </a:p>
            <a:p>
              <a:pPr marL="906796" lvl="2" indent="-302265" algn="l">
                <a:lnSpc>
                  <a:spcPts val="2940"/>
                </a:lnSpc>
                <a:buFont typeface="Arial"/>
                <a:buChar char="⚬"/>
              </a:pPr>
              <a:r>
                <a:rPr lang="en-US" sz="2100" spc="-63" dirty="0">
                  <a:solidFill>
                    <a:srgbClr val="000000"/>
                  </a:solidFill>
                  <a:latin typeface="TT Fors"/>
                  <a:ea typeface="TT Fors"/>
                  <a:cs typeface="TT Fors"/>
                  <a:sym typeface="TT Fors"/>
                </a:rPr>
                <a:t>Obtained valid credentials</a:t>
              </a:r>
            </a:p>
            <a:p>
              <a:pPr marL="453398" lvl="1" indent="-226699" algn="l">
                <a:lnSpc>
                  <a:spcPts val="2940"/>
                </a:lnSpc>
                <a:buAutoNum type="arabicPeriod"/>
              </a:pPr>
              <a:r>
                <a:rPr lang="en-US" sz="2100" b="1" spc="-63" dirty="0">
                  <a:solidFill>
                    <a:srgbClr val="000000"/>
                  </a:solidFill>
                  <a:latin typeface="TT Fors Bold"/>
                  <a:ea typeface="TT Fors Bold"/>
                  <a:cs typeface="TT Fors Bold"/>
                  <a:sym typeface="TT Fors Bold"/>
                </a:rPr>
                <a:t>Result:</a:t>
              </a:r>
            </a:p>
            <a:p>
              <a:pPr marL="906796" lvl="2" indent="-302265" algn="l">
                <a:lnSpc>
                  <a:spcPts val="2940"/>
                </a:lnSpc>
                <a:buFont typeface="Arial"/>
                <a:buChar char="⚬"/>
              </a:pPr>
              <a:r>
                <a:rPr lang="en-US" sz="2100" spc="-63" dirty="0">
                  <a:solidFill>
                    <a:srgbClr val="000000"/>
                  </a:solidFill>
                  <a:latin typeface="TT Fors"/>
                  <a:ea typeface="TT Fors"/>
                  <a:cs typeface="TT Fors"/>
                  <a:sym typeface="TT Fors"/>
                </a:rPr>
                <a:t>Initial access gained through reconnaissance findings</a:t>
              </a:r>
            </a:p>
            <a:p>
              <a:pPr marL="906796" lvl="2" indent="-302265" algn="l">
                <a:lnSpc>
                  <a:spcPts val="2940"/>
                </a:lnSpc>
                <a:buFont typeface="Arial"/>
                <a:buChar char="⚬"/>
              </a:pPr>
              <a:r>
                <a:rPr lang="en-US" sz="2100" spc="-63" dirty="0">
                  <a:solidFill>
                    <a:srgbClr val="000000"/>
                  </a:solidFill>
                  <a:latin typeface="TT Fors"/>
                  <a:ea typeface="TT Fors"/>
                  <a:cs typeface="TT Fors"/>
                  <a:sym typeface="TT Fors"/>
                </a:rPr>
                <a:t>$50M+ in losses</a:t>
              </a:r>
            </a:p>
            <a:p>
              <a:pPr marL="906796" lvl="2" indent="-302265" algn="l">
                <a:lnSpc>
                  <a:spcPts val="2940"/>
                </a:lnSpc>
                <a:buFont typeface="Arial"/>
                <a:buChar char="⚬"/>
              </a:pPr>
              <a:r>
                <a:rPr lang="en-US" sz="2100" spc="-63" dirty="0">
                  <a:solidFill>
                    <a:srgbClr val="000000"/>
                  </a:solidFill>
                  <a:latin typeface="TT Fors"/>
                  <a:ea typeface="TT Fors"/>
                  <a:cs typeface="TT Fors"/>
                  <a:sym typeface="TT Fors"/>
                </a:rPr>
                <a:t>Customer data compromised</a:t>
              </a:r>
            </a:p>
          </p:txBody>
        </p:sp>
      </p:grpSp>
      <p:grpSp>
        <p:nvGrpSpPr>
          <p:cNvPr id="5" name="Group 5"/>
          <p:cNvGrpSpPr/>
          <p:nvPr/>
        </p:nvGrpSpPr>
        <p:grpSpPr>
          <a:xfrm>
            <a:off x="10669338" y="4419282"/>
            <a:ext cx="6461414" cy="2928621"/>
            <a:chOff x="0" y="0"/>
            <a:chExt cx="1701752" cy="771343"/>
          </a:xfrm>
        </p:grpSpPr>
        <p:sp>
          <p:nvSpPr>
            <p:cNvPr id="6" name="Freeform 6"/>
            <p:cNvSpPr/>
            <p:nvPr/>
          </p:nvSpPr>
          <p:spPr>
            <a:xfrm>
              <a:off x="0" y="0"/>
              <a:ext cx="1701752" cy="771343"/>
            </a:xfrm>
            <a:custGeom>
              <a:avLst/>
              <a:gdLst/>
              <a:ahLst/>
              <a:cxnLst/>
              <a:rect l="l" t="t" r="r" b="b"/>
              <a:pathLst>
                <a:path w="1701752" h="771343">
                  <a:moveTo>
                    <a:pt x="1701752" y="23964"/>
                  </a:moveTo>
                  <a:lnTo>
                    <a:pt x="1701752" y="747380"/>
                  </a:lnTo>
                  <a:cubicBezTo>
                    <a:pt x="1701752" y="753735"/>
                    <a:pt x="1699227" y="759830"/>
                    <a:pt x="1694733" y="764324"/>
                  </a:cubicBezTo>
                  <a:cubicBezTo>
                    <a:pt x="1690239" y="768819"/>
                    <a:pt x="1684144" y="771343"/>
                    <a:pt x="1677789" y="771343"/>
                  </a:cubicBezTo>
                  <a:lnTo>
                    <a:pt x="23964" y="771343"/>
                  </a:lnTo>
                  <a:cubicBezTo>
                    <a:pt x="17608" y="771343"/>
                    <a:pt x="11513" y="768819"/>
                    <a:pt x="7019" y="764324"/>
                  </a:cubicBezTo>
                  <a:cubicBezTo>
                    <a:pt x="2525" y="759830"/>
                    <a:pt x="0" y="753735"/>
                    <a:pt x="0" y="747380"/>
                  </a:cubicBezTo>
                  <a:lnTo>
                    <a:pt x="0" y="23964"/>
                  </a:lnTo>
                  <a:cubicBezTo>
                    <a:pt x="0" y="17608"/>
                    <a:pt x="2525" y="11513"/>
                    <a:pt x="7019" y="7019"/>
                  </a:cubicBezTo>
                  <a:cubicBezTo>
                    <a:pt x="11513" y="2525"/>
                    <a:pt x="17608" y="0"/>
                    <a:pt x="23964" y="0"/>
                  </a:cubicBezTo>
                  <a:lnTo>
                    <a:pt x="1677789" y="0"/>
                  </a:lnTo>
                  <a:cubicBezTo>
                    <a:pt x="1684144" y="0"/>
                    <a:pt x="1690239" y="2525"/>
                    <a:pt x="1694733" y="7019"/>
                  </a:cubicBezTo>
                  <a:cubicBezTo>
                    <a:pt x="1699227" y="11513"/>
                    <a:pt x="1701752" y="17608"/>
                    <a:pt x="1701752" y="23964"/>
                  </a:cubicBezTo>
                  <a:close/>
                </a:path>
              </a:pathLst>
            </a:custGeom>
            <a:solidFill>
              <a:srgbClr val="301445"/>
            </a:solidFill>
            <a:ln cap="sq">
              <a:noFill/>
              <a:prstDash val="solid"/>
              <a:miter/>
            </a:ln>
          </p:spPr>
          <p:txBody>
            <a:bodyPr/>
            <a:lstStyle/>
            <a:p>
              <a:endParaRPr lang="en-US"/>
            </a:p>
          </p:txBody>
        </p:sp>
        <p:sp>
          <p:nvSpPr>
            <p:cNvPr id="7" name="TextBox 7"/>
            <p:cNvSpPr txBox="1"/>
            <p:nvPr/>
          </p:nvSpPr>
          <p:spPr>
            <a:xfrm>
              <a:off x="0" y="0"/>
              <a:ext cx="1701752" cy="771343"/>
            </a:xfrm>
            <a:prstGeom prst="rect">
              <a:avLst/>
            </a:prstGeom>
          </p:spPr>
          <p:txBody>
            <a:bodyPr lIns="254000" tIns="254000" rIns="254000" bIns="254000" rtlCol="0" anchor="ctr"/>
            <a:lstStyle/>
            <a:p>
              <a:pPr algn="l">
                <a:lnSpc>
                  <a:spcPts val="3920"/>
                </a:lnSpc>
              </a:pPr>
              <a:r>
                <a:rPr lang="en-US" sz="2800" b="1" spc="-84" dirty="0">
                  <a:solidFill>
                    <a:srgbClr val="FFFFFF"/>
                  </a:solidFill>
                  <a:latin typeface="TT Fors Bold"/>
                  <a:ea typeface="TT Fors Bold"/>
                  <a:cs typeface="TT Fors Bold"/>
                  <a:sym typeface="TT Fors Bold"/>
                </a:rPr>
                <a:t>Lesson: </a:t>
              </a:r>
              <a:r>
                <a:rPr lang="en-US" sz="2800" spc="-84" dirty="0">
                  <a:solidFill>
                    <a:srgbClr val="FFFFFF"/>
                  </a:solidFill>
                  <a:latin typeface="TT Fors"/>
                  <a:ea typeface="TT Fors"/>
                  <a:cs typeface="TT Fors"/>
                  <a:sym typeface="TT Fors"/>
                </a:rPr>
                <a:t>80% of the successful attack was due to thorough reconnaissance. No zero-day exploits needed - just publicly available information weaponized effectively.</a:t>
              </a:r>
            </a:p>
          </p:txBody>
        </p:sp>
      </p:grpSp>
      <p:sp>
        <p:nvSpPr>
          <p:cNvPr id="8" name="TextBox 8"/>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spc="-180">
                <a:solidFill>
                  <a:srgbClr val="00FFA8"/>
                </a:solidFill>
                <a:latin typeface="ITC Avant Garde Gothic"/>
                <a:ea typeface="ITC Avant Garde Gothic"/>
                <a:cs typeface="ITC Avant Garde Gothic"/>
                <a:sym typeface="ITC Avant Garde Gothic"/>
              </a:rPr>
              <a:t>Case</a:t>
            </a:r>
            <a:r>
              <a:rPr lang="en-US" sz="6000" u="none" strike="noStrike" spc="-180">
                <a:solidFill>
                  <a:srgbClr val="00FFA8"/>
                </a:solidFill>
                <a:latin typeface="ITC Avant Garde Gothic"/>
                <a:ea typeface="ITC Avant Garde Gothic"/>
                <a:cs typeface="ITC Avant Garde Gothic"/>
                <a:sym typeface="ITC Avant Garde Gothic"/>
              </a:rPr>
              <a:t> Study: Recon Leading to Breach</a:t>
            </a:r>
          </a:p>
        </p:txBody>
      </p:sp>
      <p:sp>
        <p:nvSpPr>
          <p:cNvPr id="9" name="TextBox 9"/>
          <p:cNvSpPr txBox="1"/>
          <p:nvPr/>
        </p:nvSpPr>
        <p:spPr>
          <a:xfrm>
            <a:off x="666750" y="1683039"/>
            <a:ext cx="16954500" cy="481330"/>
          </a:xfrm>
          <a:prstGeom prst="rect">
            <a:avLst/>
          </a:prstGeom>
        </p:spPr>
        <p:txBody>
          <a:bodyPr lIns="0" tIns="0" rIns="0" bIns="0" rtlCol="0" anchor="t">
            <a:spAutoFit/>
          </a:bodyPr>
          <a:lstStyle/>
          <a:p>
            <a:pPr algn="l">
              <a:lnSpc>
                <a:spcPts val="3919"/>
              </a:lnSpc>
            </a:pPr>
            <a:r>
              <a:rPr lang="en-US" sz="2799" b="1">
                <a:solidFill>
                  <a:srgbClr val="00FFA8"/>
                </a:solidFill>
                <a:latin typeface="TT Fors Bold"/>
                <a:ea typeface="TT Fors Bold"/>
                <a:cs typeface="TT Fors Bold"/>
                <a:sym typeface="TT Fors Bold"/>
              </a:rPr>
              <a:t>Target: Major Financial Institution (2023)</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2978571" y="2447054"/>
            <a:ext cx="11840359" cy="1177291"/>
            <a:chOff x="0" y="0"/>
            <a:chExt cx="3118413" cy="310076"/>
          </a:xfrm>
        </p:grpSpPr>
        <p:sp>
          <p:nvSpPr>
            <p:cNvPr id="3" name="Freeform 3"/>
            <p:cNvSpPr/>
            <p:nvPr/>
          </p:nvSpPr>
          <p:spPr>
            <a:xfrm>
              <a:off x="0" y="0"/>
              <a:ext cx="3118413" cy="310076"/>
            </a:xfrm>
            <a:custGeom>
              <a:avLst/>
              <a:gdLst/>
              <a:ahLst/>
              <a:cxnLst/>
              <a:rect l="l" t="t" r="r" b="b"/>
              <a:pathLst>
                <a:path w="3118413" h="310076">
                  <a:moveTo>
                    <a:pt x="3118413" y="13077"/>
                  </a:moveTo>
                  <a:lnTo>
                    <a:pt x="3118413" y="296999"/>
                  </a:lnTo>
                  <a:cubicBezTo>
                    <a:pt x="3118413" y="304221"/>
                    <a:pt x="3112558" y="310076"/>
                    <a:pt x="3105336" y="310076"/>
                  </a:cubicBezTo>
                  <a:lnTo>
                    <a:pt x="13077" y="310076"/>
                  </a:lnTo>
                  <a:cubicBezTo>
                    <a:pt x="5855" y="310076"/>
                    <a:pt x="0" y="304221"/>
                    <a:pt x="0" y="296999"/>
                  </a:cubicBezTo>
                  <a:lnTo>
                    <a:pt x="0" y="13077"/>
                  </a:lnTo>
                  <a:cubicBezTo>
                    <a:pt x="0" y="5855"/>
                    <a:pt x="5855" y="0"/>
                    <a:pt x="13077" y="0"/>
                  </a:cubicBezTo>
                  <a:lnTo>
                    <a:pt x="3105336" y="0"/>
                  </a:lnTo>
                  <a:cubicBezTo>
                    <a:pt x="3112558" y="0"/>
                    <a:pt x="3118413" y="5855"/>
                    <a:pt x="3118413" y="13077"/>
                  </a:cubicBezTo>
                  <a:close/>
                </a:path>
              </a:pathLst>
            </a:custGeom>
            <a:solidFill>
              <a:srgbClr val="7973F0"/>
            </a:solidFill>
            <a:ln cap="sq">
              <a:noFill/>
              <a:prstDash val="solid"/>
              <a:miter/>
            </a:ln>
          </p:spPr>
          <p:txBody>
            <a:bodyPr/>
            <a:lstStyle/>
            <a:p>
              <a:endParaRPr lang="en-US"/>
            </a:p>
          </p:txBody>
        </p:sp>
        <p:sp>
          <p:nvSpPr>
            <p:cNvPr id="4" name="TextBox 4"/>
            <p:cNvSpPr txBox="1"/>
            <p:nvPr/>
          </p:nvSpPr>
          <p:spPr>
            <a:xfrm>
              <a:off x="0" y="0"/>
              <a:ext cx="3118413" cy="310076"/>
            </a:xfrm>
            <a:prstGeom prst="rect">
              <a:avLst/>
            </a:prstGeom>
          </p:spPr>
          <p:txBody>
            <a:bodyPr lIns="254000" tIns="254000" rIns="254000" bIns="254000" rtlCol="0" anchor="t"/>
            <a:lstStyle/>
            <a:p>
              <a:pPr algn="l">
                <a:lnSpc>
                  <a:spcPts val="2940"/>
                </a:lnSpc>
              </a:pPr>
              <a:r>
                <a:rPr lang="en-US" sz="2100" b="1" spc="-63" dirty="0">
                  <a:solidFill>
                    <a:srgbClr val="FFFFFF"/>
                  </a:solidFill>
                  <a:latin typeface="TT Fors Bold"/>
                  <a:ea typeface="TT Fors Bold"/>
                  <a:cs typeface="TT Fors Bold"/>
                  <a:sym typeface="TT Fors Bold"/>
                </a:rPr>
                <a:t>1. Reconnaissance is the foundation</a:t>
              </a:r>
            </a:p>
            <a:p>
              <a:pPr algn="l">
                <a:lnSpc>
                  <a:spcPts val="2940"/>
                </a:lnSpc>
              </a:pPr>
              <a:r>
                <a:rPr lang="en-US" sz="2100" spc="-63" dirty="0">
                  <a:solidFill>
                    <a:srgbClr val="FFFFFF"/>
                  </a:solidFill>
                  <a:latin typeface="TT Fors"/>
                  <a:ea typeface="TT Fors"/>
                  <a:cs typeface="TT Fors"/>
                  <a:sym typeface="TT Fors"/>
                </a:rPr>
                <a:t>Spend 70-80% of time gathering information before attempting exploitation</a:t>
              </a:r>
            </a:p>
          </p:txBody>
        </p:sp>
      </p:grpSp>
      <p:sp>
        <p:nvSpPr>
          <p:cNvPr id="5" name="TextBox 5"/>
          <p:cNvSpPr txBox="1"/>
          <p:nvPr/>
        </p:nvSpPr>
        <p:spPr>
          <a:xfrm>
            <a:off x="666750" y="657225"/>
            <a:ext cx="16464001" cy="923925"/>
          </a:xfrm>
          <a:prstGeom prst="rect">
            <a:avLst/>
          </a:prstGeom>
        </p:spPr>
        <p:txBody>
          <a:bodyPr lIns="0" tIns="0" rIns="0" bIns="0" rtlCol="0" anchor="t">
            <a:spAutoFit/>
          </a:bodyPr>
          <a:lstStyle/>
          <a:p>
            <a:pPr marL="0" lvl="0" indent="0" algn="l">
              <a:lnSpc>
                <a:spcPts val="6000"/>
              </a:lnSpc>
              <a:spcBef>
                <a:spcPct val="0"/>
              </a:spcBef>
            </a:pPr>
            <a:r>
              <a:rPr lang="en-US" sz="6000" spc="-180">
                <a:solidFill>
                  <a:srgbClr val="00FFA8"/>
                </a:solidFill>
                <a:latin typeface="ITC Avant Garde Gothic"/>
                <a:ea typeface="ITC Avant Garde Gothic"/>
                <a:cs typeface="ITC Avant Garde Gothic"/>
                <a:sym typeface="ITC Avant Garde Gothic"/>
              </a:rPr>
              <a:t>Ke</a:t>
            </a:r>
            <a:r>
              <a:rPr lang="en-US" sz="6000" u="none" strike="noStrike" spc="-180">
                <a:solidFill>
                  <a:srgbClr val="00FFA8"/>
                </a:solidFill>
                <a:latin typeface="ITC Avant Garde Gothic"/>
                <a:ea typeface="ITC Avant Garde Gothic"/>
                <a:cs typeface="ITC Avant Garde Gothic"/>
                <a:sym typeface="ITC Avant Garde Gothic"/>
              </a:rPr>
              <a:t>y Takeaways from Week 2</a:t>
            </a:r>
          </a:p>
        </p:txBody>
      </p:sp>
      <p:grpSp>
        <p:nvGrpSpPr>
          <p:cNvPr id="6" name="Group 6"/>
          <p:cNvGrpSpPr/>
          <p:nvPr/>
        </p:nvGrpSpPr>
        <p:grpSpPr>
          <a:xfrm>
            <a:off x="2978571" y="3769002"/>
            <a:ext cx="11840359" cy="1194559"/>
            <a:chOff x="0" y="-4548"/>
            <a:chExt cx="3118413" cy="314624"/>
          </a:xfrm>
        </p:grpSpPr>
        <p:sp>
          <p:nvSpPr>
            <p:cNvPr id="7" name="Freeform 7"/>
            <p:cNvSpPr/>
            <p:nvPr/>
          </p:nvSpPr>
          <p:spPr>
            <a:xfrm>
              <a:off x="0" y="0"/>
              <a:ext cx="3118413" cy="310076"/>
            </a:xfrm>
            <a:custGeom>
              <a:avLst/>
              <a:gdLst/>
              <a:ahLst/>
              <a:cxnLst/>
              <a:rect l="l" t="t" r="r" b="b"/>
              <a:pathLst>
                <a:path w="3118413" h="310076">
                  <a:moveTo>
                    <a:pt x="3118413" y="13077"/>
                  </a:moveTo>
                  <a:lnTo>
                    <a:pt x="3118413" y="296999"/>
                  </a:lnTo>
                  <a:cubicBezTo>
                    <a:pt x="3118413" y="304221"/>
                    <a:pt x="3112558" y="310076"/>
                    <a:pt x="3105336" y="310076"/>
                  </a:cubicBezTo>
                  <a:lnTo>
                    <a:pt x="13077" y="310076"/>
                  </a:lnTo>
                  <a:cubicBezTo>
                    <a:pt x="5855" y="310076"/>
                    <a:pt x="0" y="304221"/>
                    <a:pt x="0" y="296999"/>
                  </a:cubicBezTo>
                  <a:lnTo>
                    <a:pt x="0" y="13077"/>
                  </a:lnTo>
                  <a:cubicBezTo>
                    <a:pt x="0" y="5855"/>
                    <a:pt x="5855" y="0"/>
                    <a:pt x="13077" y="0"/>
                  </a:cubicBezTo>
                  <a:lnTo>
                    <a:pt x="3105336" y="0"/>
                  </a:lnTo>
                  <a:cubicBezTo>
                    <a:pt x="3112558" y="0"/>
                    <a:pt x="3118413" y="5855"/>
                    <a:pt x="3118413" y="13077"/>
                  </a:cubicBezTo>
                  <a:close/>
                </a:path>
              </a:pathLst>
            </a:custGeom>
            <a:solidFill>
              <a:srgbClr val="D6888A"/>
            </a:solidFill>
            <a:ln cap="sq">
              <a:noFill/>
              <a:prstDash val="solid"/>
              <a:miter/>
            </a:ln>
          </p:spPr>
          <p:txBody>
            <a:bodyPr/>
            <a:lstStyle/>
            <a:p>
              <a:endParaRPr lang="en-US"/>
            </a:p>
          </p:txBody>
        </p:sp>
        <p:sp>
          <p:nvSpPr>
            <p:cNvPr id="8" name="TextBox 8"/>
            <p:cNvSpPr txBox="1"/>
            <p:nvPr/>
          </p:nvSpPr>
          <p:spPr>
            <a:xfrm>
              <a:off x="0" y="-4548"/>
              <a:ext cx="3118413" cy="314624"/>
            </a:xfrm>
            <a:prstGeom prst="rect">
              <a:avLst/>
            </a:prstGeom>
          </p:spPr>
          <p:txBody>
            <a:bodyPr lIns="254000" tIns="254000" rIns="254000" bIns="254000" rtlCol="0" anchor="t"/>
            <a:lstStyle/>
            <a:p>
              <a:pPr algn="l">
                <a:lnSpc>
                  <a:spcPts val="2940"/>
                </a:lnSpc>
              </a:pPr>
              <a:r>
                <a:rPr lang="en-US" sz="2100" b="1" spc="-63" dirty="0">
                  <a:solidFill>
                    <a:srgbClr val="FFFFFF"/>
                  </a:solidFill>
                  <a:latin typeface="TT Fors Bold"/>
                  <a:ea typeface="TT Fors Bold"/>
                  <a:cs typeface="TT Fors Bold"/>
                  <a:sym typeface="TT Fors Bold"/>
                </a:rPr>
                <a:t>2. Start passive, move to active carefully</a:t>
              </a:r>
            </a:p>
            <a:p>
              <a:pPr algn="l">
                <a:lnSpc>
                  <a:spcPts val="2940"/>
                </a:lnSpc>
              </a:pPr>
              <a:r>
                <a:rPr lang="en-US" sz="2100" spc="-63" dirty="0">
                  <a:solidFill>
                    <a:srgbClr val="FFFFFF"/>
                  </a:solidFill>
                  <a:latin typeface="TT Fors"/>
                  <a:ea typeface="TT Fors"/>
                  <a:cs typeface="TT Fors"/>
                  <a:sym typeface="TT Fors"/>
                </a:rPr>
                <a:t>Passive recon is safer and legal; active recon requires authorization</a:t>
              </a:r>
            </a:p>
          </p:txBody>
        </p:sp>
      </p:grpSp>
      <p:grpSp>
        <p:nvGrpSpPr>
          <p:cNvPr id="9" name="Group 9"/>
          <p:cNvGrpSpPr/>
          <p:nvPr/>
        </p:nvGrpSpPr>
        <p:grpSpPr>
          <a:xfrm>
            <a:off x="2978571" y="6464698"/>
            <a:ext cx="11840359" cy="1177295"/>
            <a:chOff x="0" y="-1"/>
            <a:chExt cx="3118413" cy="310077"/>
          </a:xfrm>
        </p:grpSpPr>
        <p:sp>
          <p:nvSpPr>
            <p:cNvPr id="10" name="Freeform 10"/>
            <p:cNvSpPr/>
            <p:nvPr/>
          </p:nvSpPr>
          <p:spPr>
            <a:xfrm>
              <a:off x="0" y="0"/>
              <a:ext cx="3118413" cy="310076"/>
            </a:xfrm>
            <a:custGeom>
              <a:avLst/>
              <a:gdLst/>
              <a:ahLst/>
              <a:cxnLst/>
              <a:rect l="l" t="t" r="r" b="b"/>
              <a:pathLst>
                <a:path w="3118413" h="310076">
                  <a:moveTo>
                    <a:pt x="3118413" y="13077"/>
                  </a:moveTo>
                  <a:lnTo>
                    <a:pt x="3118413" y="296999"/>
                  </a:lnTo>
                  <a:cubicBezTo>
                    <a:pt x="3118413" y="304221"/>
                    <a:pt x="3112558" y="310076"/>
                    <a:pt x="3105336" y="310076"/>
                  </a:cubicBezTo>
                  <a:lnTo>
                    <a:pt x="13077" y="310076"/>
                  </a:lnTo>
                  <a:cubicBezTo>
                    <a:pt x="5855" y="310076"/>
                    <a:pt x="0" y="304221"/>
                    <a:pt x="0" y="296999"/>
                  </a:cubicBezTo>
                  <a:lnTo>
                    <a:pt x="0" y="13077"/>
                  </a:lnTo>
                  <a:cubicBezTo>
                    <a:pt x="0" y="5855"/>
                    <a:pt x="5855" y="0"/>
                    <a:pt x="13077" y="0"/>
                  </a:cubicBezTo>
                  <a:lnTo>
                    <a:pt x="3105336" y="0"/>
                  </a:lnTo>
                  <a:cubicBezTo>
                    <a:pt x="3112558" y="0"/>
                    <a:pt x="3118413" y="5855"/>
                    <a:pt x="3118413" y="13077"/>
                  </a:cubicBezTo>
                  <a:close/>
                </a:path>
              </a:pathLst>
            </a:custGeom>
            <a:solidFill>
              <a:srgbClr val="FFDE59"/>
            </a:solidFill>
            <a:ln cap="sq">
              <a:noFill/>
              <a:prstDash val="solid"/>
              <a:miter/>
            </a:ln>
          </p:spPr>
          <p:txBody>
            <a:bodyPr/>
            <a:lstStyle/>
            <a:p>
              <a:endParaRPr lang="en-US"/>
            </a:p>
          </p:txBody>
        </p:sp>
        <p:sp>
          <p:nvSpPr>
            <p:cNvPr id="11" name="TextBox 11"/>
            <p:cNvSpPr txBox="1"/>
            <p:nvPr/>
          </p:nvSpPr>
          <p:spPr>
            <a:xfrm>
              <a:off x="0" y="-1"/>
              <a:ext cx="3118413" cy="310077"/>
            </a:xfrm>
            <a:prstGeom prst="rect">
              <a:avLst/>
            </a:prstGeom>
          </p:spPr>
          <p:txBody>
            <a:bodyPr lIns="254000" tIns="254000" rIns="254000" bIns="254000" rtlCol="0" anchor="t"/>
            <a:lstStyle/>
            <a:p>
              <a:pPr algn="l">
                <a:lnSpc>
                  <a:spcPts val="2940"/>
                </a:lnSpc>
              </a:pPr>
              <a:r>
                <a:rPr lang="en-US" sz="2100" b="1" spc="-63" dirty="0">
                  <a:solidFill>
                    <a:srgbClr val="000000"/>
                  </a:solidFill>
                  <a:latin typeface="TT Fors Bold"/>
                  <a:ea typeface="TT Fors Bold"/>
                  <a:cs typeface="TT Fors Bold"/>
                  <a:sym typeface="TT Fors Bold"/>
                </a:rPr>
                <a:t>4. Tools automate, but manual analysis is crucial</a:t>
              </a:r>
            </a:p>
            <a:p>
              <a:pPr algn="l">
                <a:lnSpc>
                  <a:spcPts val="2940"/>
                </a:lnSpc>
              </a:pPr>
              <a:r>
                <a:rPr lang="en-US" sz="2100" spc="-63" dirty="0">
                  <a:solidFill>
                    <a:srgbClr val="000000"/>
                  </a:solidFill>
                  <a:latin typeface="TT Fors"/>
                  <a:ea typeface="TT Fors"/>
                  <a:cs typeface="TT Fors"/>
                  <a:sym typeface="TT Fors"/>
                </a:rPr>
                <a:t>Use tools like </a:t>
              </a:r>
              <a:r>
                <a:rPr lang="en-US" sz="2100" spc="-63" dirty="0" err="1">
                  <a:solidFill>
                    <a:srgbClr val="000000"/>
                  </a:solidFill>
                  <a:latin typeface="TT Fors"/>
                  <a:ea typeface="TT Fors"/>
                  <a:cs typeface="TT Fors"/>
                  <a:sym typeface="TT Fors"/>
                </a:rPr>
                <a:t>theHarvester</a:t>
              </a:r>
              <a:r>
                <a:rPr lang="en-US" sz="2100" spc="-63" dirty="0">
                  <a:solidFill>
                    <a:srgbClr val="000000"/>
                  </a:solidFill>
                  <a:latin typeface="TT Fors"/>
                  <a:ea typeface="TT Fors"/>
                  <a:cs typeface="TT Fors"/>
                  <a:sym typeface="TT Fors"/>
                </a:rPr>
                <a:t> and </a:t>
              </a:r>
              <a:r>
                <a:rPr lang="en-US" sz="2100" spc="-63" dirty="0" err="1">
                  <a:solidFill>
                    <a:srgbClr val="000000"/>
                  </a:solidFill>
                  <a:latin typeface="TT Fors"/>
                  <a:ea typeface="TT Fors"/>
                  <a:cs typeface="TT Fors"/>
                  <a:sym typeface="TT Fors"/>
                </a:rPr>
                <a:t>Maltego</a:t>
              </a:r>
              <a:r>
                <a:rPr lang="en-US" sz="2100" spc="-63" dirty="0">
                  <a:solidFill>
                    <a:srgbClr val="000000"/>
                  </a:solidFill>
                  <a:latin typeface="TT Fors"/>
                  <a:ea typeface="TT Fors"/>
                  <a:cs typeface="TT Fors"/>
                  <a:sym typeface="TT Fors"/>
                </a:rPr>
                <a:t>, but manually verify and correlate findings</a:t>
              </a:r>
            </a:p>
          </p:txBody>
        </p:sp>
      </p:grpSp>
      <p:grpSp>
        <p:nvGrpSpPr>
          <p:cNvPr id="12" name="Group 12"/>
          <p:cNvGrpSpPr/>
          <p:nvPr/>
        </p:nvGrpSpPr>
        <p:grpSpPr>
          <a:xfrm>
            <a:off x="2978571" y="7803918"/>
            <a:ext cx="11840359" cy="1177291"/>
            <a:chOff x="0" y="0"/>
            <a:chExt cx="3118413" cy="310076"/>
          </a:xfrm>
        </p:grpSpPr>
        <p:sp>
          <p:nvSpPr>
            <p:cNvPr id="13" name="Freeform 13"/>
            <p:cNvSpPr/>
            <p:nvPr/>
          </p:nvSpPr>
          <p:spPr>
            <a:xfrm>
              <a:off x="0" y="0"/>
              <a:ext cx="3118413" cy="310076"/>
            </a:xfrm>
            <a:custGeom>
              <a:avLst/>
              <a:gdLst/>
              <a:ahLst/>
              <a:cxnLst/>
              <a:rect l="l" t="t" r="r" b="b"/>
              <a:pathLst>
                <a:path w="3118413" h="310076">
                  <a:moveTo>
                    <a:pt x="3118413" y="13077"/>
                  </a:moveTo>
                  <a:lnTo>
                    <a:pt x="3118413" y="296999"/>
                  </a:lnTo>
                  <a:cubicBezTo>
                    <a:pt x="3118413" y="304221"/>
                    <a:pt x="3112558" y="310076"/>
                    <a:pt x="3105336" y="310076"/>
                  </a:cubicBezTo>
                  <a:lnTo>
                    <a:pt x="13077" y="310076"/>
                  </a:lnTo>
                  <a:cubicBezTo>
                    <a:pt x="5855" y="310076"/>
                    <a:pt x="0" y="304221"/>
                    <a:pt x="0" y="296999"/>
                  </a:cubicBezTo>
                  <a:lnTo>
                    <a:pt x="0" y="13077"/>
                  </a:lnTo>
                  <a:cubicBezTo>
                    <a:pt x="0" y="5855"/>
                    <a:pt x="5855" y="0"/>
                    <a:pt x="13077" y="0"/>
                  </a:cubicBezTo>
                  <a:lnTo>
                    <a:pt x="3105336" y="0"/>
                  </a:lnTo>
                  <a:cubicBezTo>
                    <a:pt x="3112558" y="0"/>
                    <a:pt x="3118413" y="5855"/>
                    <a:pt x="3118413" y="13077"/>
                  </a:cubicBezTo>
                  <a:close/>
                </a:path>
              </a:pathLst>
            </a:custGeom>
            <a:solidFill>
              <a:srgbClr val="E10505"/>
            </a:solidFill>
            <a:ln cap="sq">
              <a:noFill/>
              <a:prstDash val="solid"/>
              <a:miter/>
            </a:ln>
          </p:spPr>
          <p:txBody>
            <a:bodyPr/>
            <a:lstStyle/>
            <a:p>
              <a:endParaRPr lang="en-US"/>
            </a:p>
          </p:txBody>
        </p:sp>
        <p:sp>
          <p:nvSpPr>
            <p:cNvPr id="14" name="TextBox 14"/>
            <p:cNvSpPr txBox="1"/>
            <p:nvPr/>
          </p:nvSpPr>
          <p:spPr>
            <a:xfrm>
              <a:off x="0" y="9489"/>
              <a:ext cx="3118413" cy="300587"/>
            </a:xfrm>
            <a:prstGeom prst="rect">
              <a:avLst/>
            </a:prstGeom>
          </p:spPr>
          <p:txBody>
            <a:bodyPr lIns="254000" tIns="254000" rIns="254000" bIns="254000" rtlCol="0" anchor="t"/>
            <a:lstStyle/>
            <a:p>
              <a:pPr algn="l">
                <a:lnSpc>
                  <a:spcPts val="2940"/>
                </a:lnSpc>
              </a:pPr>
              <a:r>
                <a:rPr lang="en-US" sz="2100" b="1" spc="-63" dirty="0">
                  <a:solidFill>
                    <a:srgbClr val="FFFFFF"/>
                  </a:solidFill>
                  <a:latin typeface="TT Fors Bold"/>
                  <a:ea typeface="TT Fors Bold"/>
                  <a:cs typeface="TT Fors Bold"/>
                  <a:sym typeface="TT Fors Bold"/>
                </a:rPr>
                <a:t>5. Ethics and legality are non-negotiable</a:t>
              </a:r>
            </a:p>
            <a:p>
              <a:pPr algn="l">
                <a:lnSpc>
                  <a:spcPts val="2940"/>
                </a:lnSpc>
              </a:pPr>
              <a:r>
                <a:rPr lang="en-US" sz="2100" spc="-63" dirty="0">
                  <a:solidFill>
                    <a:srgbClr val="FFFFFF"/>
                  </a:solidFill>
                  <a:latin typeface="TT Fors"/>
                  <a:ea typeface="TT Fors"/>
                  <a:cs typeface="TT Fors"/>
                  <a:sym typeface="TT Fors"/>
                </a:rPr>
                <a:t>Only gather information from public sources; respect privacy and authorization boundaries</a:t>
              </a:r>
            </a:p>
          </p:txBody>
        </p:sp>
      </p:grpSp>
      <p:grpSp>
        <p:nvGrpSpPr>
          <p:cNvPr id="15" name="Group 15"/>
          <p:cNvGrpSpPr/>
          <p:nvPr/>
        </p:nvGrpSpPr>
        <p:grpSpPr>
          <a:xfrm>
            <a:off x="2978571" y="5125486"/>
            <a:ext cx="11840359" cy="1177291"/>
            <a:chOff x="0" y="0"/>
            <a:chExt cx="3118413" cy="310076"/>
          </a:xfrm>
        </p:grpSpPr>
        <p:sp>
          <p:nvSpPr>
            <p:cNvPr id="16" name="Freeform 16"/>
            <p:cNvSpPr/>
            <p:nvPr/>
          </p:nvSpPr>
          <p:spPr>
            <a:xfrm>
              <a:off x="0" y="0"/>
              <a:ext cx="3118413" cy="310076"/>
            </a:xfrm>
            <a:custGeom>
              <a:avLst/>
              <a:gdLst/>
              <a:ahLst/>
              <a:cxnLst/>
              <a:rect l="l" t="t" r="r" b="b"/>
              <a:pathLst>
                <a:path w="3118413" h="310076">
                  <a:moveTo>
                    <a:pt x="3118413" y="13077"/>
                  </a:moveTo>
                  <a:lnTo>
                    <a:pt x="3118413" y="296999"/>
                  </a:lnTo>
                  <a:cubicBezTo>
                    <a:pt x="3118413" y="304221"/>
                    <a:pt x="3112558" y="310076"/>
                    <a:pt x="3105336" y="310076"/>
                  </a:cubicBezTo>
                  <a:lnTo>
                    <a:pt x="13077" y="310076"/>
                  </a:lnTo>
                  <a:cubicBezTo>
                    <a:pt x="5855" y="310076"/>
                    <a:pt x="0" y="304221"/>
                    <a:pt x="0" y="296999"/>
                  </a:cubicBezTo>
                  <a:lnTo>
                    <a:pt x="0" y="13077"/>
                  </a:lnTo>
                  <a:cubicBezTo>
                    <a:pt x="0" y="5855"/>
                    <a:pt x="5855" y="0"/>
                    <a:pt x="13077" y="0"/>
                  </a:cubicBezTo>
                  <a:lnTo>
                    <a:pt x="3105336" y="0"/>
                  </a:lnTo>
                  <a:cubicBezTo>
                    <a:pt x="3112558" y="0"/>
                    <a:pt x="3118413" y="5855"/>
                    <a:pt x="3118413" y="13077"/>
                  </a:cubicBezTo>
                  <a:close/>
                </a:path>
              </a:pathLst>
            </a:custGeom>
            <a:solidFill>
              <a:srgbClr val="1FBB7F"/>
            </a:solidFill>
            <a:ln cap="sq">
              <a:noFill/>
              <a:prstDash val="solid"/>
              <a:miter/>
            </a:ln>
          </p:spPr>
          <p:txBody>
            <a:bodyPr/>
            <a:lstStyle/>
            <a:p>
              <a:endParaRPr lang="en-US"/>
            </a:p>
          </p:txBody>
        </p:sp>
        <p:sp>
          <p:nvSpPr>
            <p:cNvPr id="17" name="TextBox 17"/>
            <p:cNvSpPr txBox="1"/>
            <p:nvPr/>
          </p:nvSpPr>
          <p:spPr>
            <a:xfrm>
              <a:off x="0" y="4744"/>
              <a:ext cx="3118413" cy="305331"/>
            </a:xfrm>
            <a:prstGeom prst="rect">
              <a:avLst/>
            </a:prstGeom>
          </p:spPr>
          <p:txBody>
            <a:bodyPr lIns="254000" tIns="254000" rIns="254000" bIns="254000" rtlCol="0" anchor="t"/>
            <a:lstStyle/>
            <a:p>
              <a:pPr algn="l">
                <a:lnSpc>
                  <a:spcPts val="2940"/>
                </a:lnSpc>
              </a:pPr>
              <a:r>
                <a:rPr lang="en-US" sz="2100" b="1" spc="-63" dirty="0">
                  <a:solidFill>
                    <a:srgbClr val="000000"/>
                  </a:solidFill>
                  <a:latin typeface="TT Fors Bold"/>
                  <a:ea typeface="TT Fors Bold"/>
                  <a:cs typeface="TT Fors Bold"/>
                  <a:sym typeface="TT Fors Bold"/>
                </a:rPr>
                <a:t>3. Information is everywhere</a:t>
              </a:r>
            </a:p>
            <a:p>
              <a:pPr algn="l">
                <a:lnSpc>
                  <a:spcPts val="2940"/>
                </a:lnSpc>
              </a:pPr>
              <a:r>
                <a:rPr lang="en-US" sz="2100" spc="-63" dirty="0">
                  <a:solidFill>
                    <a:srgbClr val="000000"/>
                  </a:solidFill>
                  <a:latin typeface="TT Fors"/>
                  <a:ea typeface="TT Fors"/>
                  <a:cs typeface="TT Fors"/>
                  <a:sym typeface="TT Fors"/>
                </a:rPr>
                <a:t>Social media, job postings, GitHub, and public records contain valuable data</a:t>
              </a: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grpSp>
        <p:nvGrpSpPr>
          <p:cNvPr id="2" name="Group 2"/>
          <p:cNvGrpSpPr/>
          <p:nvPr/>
        </p:nvGrpSpPr>
        <p:grpSpPr>
          <a:xfrm>
            <a:off x="10102596" y="0"/>
            <a:ext cx="8185404" cy="10287000"/>
            <a:chOff x="0" y="0"/>
            <a:chExt cx="2155827" cy="2709333"/>
          </a:xfrm>
        </p:grpSpPr>
        <p:sp>
          <p:nvSpPr>
            <p:cNvPr id="3" name="Freeform 3"/>
            <p:cNvSpPr/>
            <p:nvPr/>
          </p:nvSpPr>
          <p:spPr>
            <a:xfrm>
              <a:off x="0" y="0"/>
              <a:ext cx="2155827" cy="2709333"/>
            </a:xfrm>
            <a:custGeom>
              <a:avLst/>
              <a:gdLst/>
              <a:ahLst/>
              <a:cxnLst/>
              <a:rect l="l" t="t" r="r" b="b"/>
              <a:pathLst>
                <a:path w="2155827" h="2709333">
                  <a:moveTo>
                    <a:pt x="0" y="0"/>
                  </a:moveTo>
                  <a:lnTo>
                    <a:pt x="2155827" y="0"/>
                  </a:lnTo>
                  <a:lnTo>
                    <a:pt x="2155827" y="2709333"/>
                  </a:lnTo>
                  <a:lnTo>
                    <a:pt x="0" y="2709333"/>
                  </a:lnTo>
                  <a:close/>
                </a:path>
              </a:pathLst>
            </a:custGeom>
            <a:solidFill>
              <a:srgbClr val="301445"/>
            </a:solidFill>
          </p:spPr>
          <p:txBody>
            <a:bodyPr/>
            <a:lstStyle/>
            <a:p>
              <a:endParaRPr lang="en-US"/>
            </a:p>
          </p:txBody>
        </p:sp>
        <p:sp>
          <p:nvSpPr>
            <p:cNvPr id="4" name="TextBox 4"/>
            <p:cNvSpPr txBox="1"/>
            <p:nvPr/>
          </p:nvSpPr>
          <p:spPr>
            <a:xfrm>
              <a:off x="0" y="-38100"/>
              <a:ext cx="2155827" cy="2747433"/>
            </a:xfrm>
            <a:prstGeom prst="rect">
              <a:avLst/>
            </a:prstGeom>
          </p:spPr>
          <p:txBody>
            <a:bodyPr lIns="50800" tIns="50800" rIns="50800" bIns="50800" rtlCol="0" anchor="ctr"/>
            <a:lstStyle/>
            <a:p>
              <a:pPr marL="0" lvl="0" indent="0" algn="ctr">
                <a:lnSpc>
                  <a:spcPts val="2100"/>
                </a:lnSpc>
              </a:pPr>
              <a:endParaRPr/>
            </a:p>
          </p:txBody>
        </p:sp>
      </p:grpSp>
      <p:grpSp>
        <p:nvGrpSpPr>
          <p:cNvPr id="5" name="Group 5"/>
          <p:cNvGrpSpPr/>
          <p:nvPr/>
        </p:nvGrpSpPr>
        <p:grpSpPr>
          <a:xfrm>
            <a:off x="10708180" y="666750"/>
            <a:ext cx="6947741" cy="8953500"/>
            <a:chOff x="0" y="0"/>
            <a:chExt cx="812800" cy="1047449"/>
          </a:xfrm>
        </p:grpSpPr>
        <p:sp>
          <p:nvSpPr>
            <p:cNvPr id="6" name="Freeform 6"/>
            <p:cNvSpPr/>
            <p:nvPr/>
          </p:nvSpPr>
          <p:spPr>
            <a:xfrm>
              <a:off x="0" y="0"/>
              <a:ext cx="812800" cy="1047449"/>
            </a:xfrm>
            <a:custGeom>
              <a:avLst/>
              <a:gdLst/>
              <a:ahLst/>
              <a:cxnLst/>
              <a:rect l="l" t="t" r="r" b="b"/>
              <a:pathLst>
                <a:path w="812800" h="1047449">
                  <a:moveTo>
                    <a:pt x="44572" y="0"/>
                  </a:moveTo>
                  <a:lnTo>
                    <a:pt x="768228" y="0"/>
                  </a:lnTo>
                  <a:cubicBezTo>
                    <a:pt x="792844" y="0"/>
                    <a:pt x="812800" y="19956"/>
                    <a:pt x="812800" y="44572"/>
                  </a:cubicBezTo>
                  <a:lnTo>
                    <a:pt x="812800" y="1002877"/>
                  </a:lnTo>
                  <a:cubicBezTo>
                    <a:pt x="812800" y="1027493"/>
                    <a:pt x="792844" y="1047449"/>
                    <a:pt x="768228" y="1047449"/>
                  </a:cubicBezTo>
                  <a:lnTo>
                    <a:pt x="44572" y="1047449"/>
                  </a:lnTo>
                  <a:cubicBezTo>
                    <a:pt x="19956" y="1047449"/>
                    <a:pt x="0" y="1027493"/>
                    <a:pt x="0" y="1002877"/>
                  </a:cubicBezTo>
                  <a:lnTo>
                    <a:pt x="0" y="44572"/>
                  </a:lnTo>
                  <a:cubicBezTo>
                    <a:pt x="0" y="19956"/>
                    <a:pt x="19956" y="0"/>
                    <a:pt x="44572" y="0"/>
                  </a:cubicBezTo>
                  <a:close/>
                </a:path>
              </a:pathLst>
            </a:custGeom>
            <a:blipFill>
              <a:blip r:embed="rId2"/>
              <a:stretch>
                <a:fillRect t="-306" b="-306"/>
              </a:stretch>
            </a:blipFill>
          </p:spPr>
          <p:txBody>
            <a:bodyPr/>
            <a:lstStyle/>
            <a:p>
              <a:endParaRPr lang="en-US"/>
            </a:p>
          </p:txBody>
        </p:sp>
      </p:grpSp>
      <p:grpSp>
        <p:nvGrpSpPr>
          <p:cNvPr id="7" name="Group 7"/>
          <p:cNvGrpSpPr/>
          <p:nvPr/>
        </p:nvGrpSpPr>
        <p:grpSpPr>
          <a:xfrm>
            <a:off x="1126053" y="4096993"/>
            <a:ext cx="8324850" cy="2093014"/>
            <a:chOff x="0" y="0"/>
            <a:chExt cx="11099800" cy="2790686"/>
          </a:xfrm>
        </p:grpSpPr>
        <p:sp>
          <p:nvSpPr>
            <p:cNvPr id="8" name="TextBox 8"/>
            <p:cNvSpPr txBox="1"/>
            <p:nvPr/>
          </p:nvSpPr>
          <p:spPr>
            <a:xfrm>
              <a:off x="0" y="2051122"/>
              <a:ext cx="11099800" cy="739564"/>
            </a:xfrm>
            <a:prstGeom prst="rect">
              <a:avLst/>
            </a:prstGeom>
          </p:spPr>
          <p:txBody>
            <a:bodyPr lIns="0" tIns="0" rIns="0" bIns="0" rtlCol="0" anchor="t">
              <a:spAutoFit/>
            </a:bodyPr>
            <a:lstStyle/>
            <a:p>
              <a:pPr marL="0" lvl="0" indent="0" algn="ctr">
                <a:lnSpc>
                  <a:spcPts val="4159"/>
                </a:lnSpc>
                <a:spcBef>
                  <a:spcPct val="0"/>
                </a:spcBef>
              </a:pPr>
              <a:r>
                <a:rPr lang="en-US" sz="3199">
                  <a:solidFill>
                    <a:srgbClr val="00FFA8"/>
                  </a:solidFill>
                  <a:latin typeface="ITC Avant Garde Gothic"/>
                  <a:ea typeface="ITC Avant Garde Gothic"/>
                  <a:cs typeface="ITC Avant Garde Gothic"/>
                  <a:sym typeface="ITC Avant Garde Gothic"/>
                </a:rPr>
                <a:t>ANY QUESTIONS?</a:t>
              </a:r>
            </a:p>
          </p:txBody>
        </p:sp>
        <p:sp>
          <p:nvSpPr>
            <p:cNvPr id="9" name="TextBox 9"/>
            <p:cNvSpPr txBox="1"/>
            <p:nvPr/>
          </p:nvSpPr>
          <p:spPr>
            <a:xfrm>
              <a:off x="0" y="0"/>
              <a:ext cx="11099800" cy="1722963"/>
            </a:xfrm>
            <a:prstGeom prst="rect">
              <a:avLst/>
            </a:prstGeom>
          </p:spPr>
          <p:txBody>
            <a:bodyPr lIns="0" tIns="0" rIns="0" bIns="0" rtlCol="0" anchor="t">
              <a:spAutoFit/>
            </a:bodyPr>
            <a:lstStyle/>
            <a:p>
              <a:pPr marL="0" lvl="0" indent="0" algn="ctr">
                <a:lnSpc>
                  <a:spcPts val="8499"/>
                </a:lnSpc>
                <a:spcBef>
                  <a:spcPct val="0"/>
                </a:spcBef>
              </a:pPr>
              <a:r>
                <a:rPr lang="en-US" sz="8499" u="none" strike="noStrike" spc="-254">
                  <a:solidFill>
                    <a:srgbClr val="00FFA8"/>
                  </a:solidFill>
                  <a:latin typeface="ITC Avant Garde Gothic"/>
                  <a:ea typeface="ITC Avant Garde Gothic"/>
                  <a:cs typeface="ITC Avant Garde Gothic"/>
                  <a:sym typeface="ITC Avant Garde Gothic"/>
                </a:rPr>
                <a:t>Thank You</a:t>
              </a:r>
            </a:p>
          </p:txBody>
        </p:sp>
      </p:grpSp>
      <p:sp>
        <p:nvSpPr>
          <p:cNvPr id="10" name="Freeform 10"/>
          <p:cNvSpPr/>
          <p:nvPr/>
        </p:nvSpPr>
        <p:spPr>
          <a:xfrm rot="5400000" flipH="1">
            <a:off x="16106389" y="8352937"/>
            <a:ext cx="1792448" cy="1639275"/>
          </a:xfrm>
          <a:custGeom>
            <a:avLst/>
            <a:gdLst/>
            <a:ahLst/>
            <a:cxnLst/>
            <a:rect l="l" t="t" r="r" b="b"/>
            <a:pathLst>
              <a:path w="1792448" h="1639275">
                <a:moveTo>
                  <a:pt x="1792448" y="0"/>
                </a:moveTo>
                <a:lnTo>
                  <a:pt x="0" y="0"/>
                </a:lnTo>
                <a:lnTo>
                  <a:pt x="0" y="1639276"/>
                </a:lnTo>
                <a:lnTo>
                  <a:pt x="1792448" y="1639276"/>
                </a:lnTo>
                <a:lnTo>
                  <a:pt x="1792448"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13141</Words>
  <Application>Microsoft Macintosh PowerPoint</Application>
  <PresentationFormat>Custom</PresentationFormat>
  <Paragraphs>1471</Paragraphs>
  <Slides>46</Slides>
  <Notes>44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TT Fors Bold</vt:lpstr>
      <vt:lpstr>ITC Avant Garde Gothic</vt:lpstr>
      <vt:lpstr>Calibri</vt:lpstr>
      <vt:lpstr>ITC Avant Garde Gothic Bold</vt:lpstr>
      <vt:lpstr>TT Fors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Lecture-02-CCS6324 -  Footprinting and Reconnaissance</dc:title>
  <dc:description>Presentation - Ethical Hacking Overview</dc:description>
  <cp:lastModifiedBy>Hussain Hafiz Adnan</cp:lastModifiedBy>
  <cp:revision>37</cp:revision>
  <dcterms:created xsi:type="dcterms:W3CDTF">2006-08-16T00:00:00Z</dcterms:created>
  <dcterms:modified xsi:type="dcterms:W3CDTF">2025-11-18T00:08:25Z</dcterms:modified>
  <dc:identifier>DAG4SgJao1I</dc:identifier>
</cp:coreProperties>
</file>