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8288000" cy="10287000"/>
  <p:notesSz cx="6858000" cy="9144000"/>
  <p:embeddedFontLst>
    <p:embeddedFont>
      <p:font typeface="ITC Avant Garde Gothic" panose="020B0502020202020204" pitchFamily="34" charset="77"/>
      <p:regular r:id="rId37"/>
    </p:embeddedFont>
    <p:embeddedFont>
      <p:font typeface="ITC Avant Garde Gothic Bold" panose="020B0802020202020204" pitchFamily="34" charset="77"/>
      <p:regular r:id="rId38"/>
      <p:bold r:id="rId39"/>
    </p:embeddedFont>
    <p:embeddedFont>
      <p:font typeface="TT Fors" panose="020B0003030001020000" pitchFamily="34" charset="0"/>
      <p:regular r:id="rId40"/>
    </p:embeddedFont>
    <p:embeddedFont>
      <p:font typeface="TT Fors Bold" panose="020B0003030001020000" pitchFamily="34" charset="0"/>
      <p:regular r:id="rId41"/>
      <p:bold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65" autoAdjust="0"/>
    <p:restoredTop sz="94588" autoAdjust="0"/>
  </p:normalViewPr>
  <p:slideViewPr>
    <p:cSldViewPr>
      <p:cViewPr varScale="1">
        <p:scale>
          <a:sx n="91" d="100"/>
          <a:sy n="91" d="100"/>
        </p:scale>
        <p:origin x="856"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1877675" y="0"/>
            <a:ext cx="6419850" cy="10287000"/>
            <a:chOff x="0" y="0"/>
            <a:chExt cx="994603" cy="1593725"/>
          </a:xfrm>
        </p:grpSpPr>
        <p:sp>
          <p:nvSpPr>
            <p:cNvPr id="3" name="Freeform 3"/>
            <p:cNvSpPr/>
            <p:nvPr/>
          </p:nvSpPr>
          <p:spPr>
            <a:xfrm>
              <a:off x="0" y="0"/>
              <a:ext cx="994603" cy="1593725"/>
            </a:xfrm>
            <a:custGeom>
              <a:avLst/>
              <a:gdLst/>
              <a:ahLst/>
              <a:cxnLst/>
              <a:rect l="l" t="t" r="r" b="b"/>
              <a:pathLst>
                <a:path w="994603" h="1593725">
                  <a:moveTo>
                    <a:pt x="0" y="0"/>
                  </a:moveTo>
                  <a:lnTo>
                    <a:pt x="994603" y="0"/>
                  </a:lnTo>
                  <a:lnTo>
                    <a:pt x="994603" y="1593725"/>
                  </a:lnTo>
                  <a:lnTo>
                    <a:pt x="0" y="1593725"/>
                  </a:lnTo>
                  <a:close/>
                </a:path>
              </a:pathLst>
            </a:custGeom>
            <a:blipFill>
              <a:blip r:embed="rId2"/>
              <a:stretch>
                <a:fillRect l="-91964" r="-91964"/>
              </a:stretch>
            </a:blipFill>
          </p:spPr>
          <p:txBody>
            <a:bodyPr/>
            <a:lstStyle/>
            <a:p>
              <a:endParaRPr lang="en-US"/>
            </a:p>
          </p:txBody>
        </p:sp>
      </p:grpSp>
      <p:grpSp>
        <p:nvGrpSpPr>
          <p:cNvPr id="4" name="Group 4"/>
          <p:cNvGrpSpPr/>
          <p:nvPr/>
        </p:nvGrpSpPr>
        <p:grpSpPr>
          <a:xfrm>
            <a:off x="10962648" y="7828295"/>
            <a:ext cx="3328824" cy="1791955"/>
            <a:chOff x="0" y="0"/>
            <a:chExt cx="4438432" cy="2389273"/>
          </a:xfrm>
        </p:grpSpPr>
        <p:grpSp>
          <p:nvGrpSpPr>
            <p:cNvPr id="5" name="Group 5"/>
            <p:cNvGrpSpPr/>
            <p:nvPr/>
          </p:nvGrpSpPr>
          <p:grpSpPr>
            <a:xfrm>
              <a:off x="0" y="0"/>
              <a:ext cx="2389273" cy="23892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049159" y="0"/>
              <a:ext cx="2389273" cy="238927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2485524" y="369798"/>
              <a:ext cx="1516542" cy="1516542"/>
            </a:xfrm>
            <a:custGeom>
              <a:avLst/>
              <a:gdLst/>
              <a:ahLst/>
              <a:cxnLst/>
              <a:rect l="l" t="t" r="r" b="b"/>
              <a:pathLst>
                <a:path w="1516542" h="1516542">
                  <a:moveTo>
                    <a:pt x="0" y="0"/>
                  </a:moveTo>
                  <a:lnTo>
                    <a:pt x="1516542" y="0"/>
                  </a:lnTo>
                  <a:lnTo>
                    <a:pt x="1516542" y="1516542"/>
                  </a:lnTo>
                  <a:lnTo>
                    <a:pt x="0" y="15165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346473" y="369798"/>
              <a:ext cx="1696326" cy="1649677"/>
            </a:xfrm>
            <a:custGeom>
              <a:avLst/>
              <a:gdLst/>
              <a:ahLst/>
              <a:cxnLst/>
              <a:rect l="l" t="t" r="r" b="b"/>
              <a:pathLst>
                <a:path w="1696326" h="1649677">
                  <a:moveTo>
                    <a:pt x="0" y="0"/>
                  </a:moveTo>
                  <a:lnTo>
                    <a:pt x="1696327" y="0"/>
                  </a:lnTo>
                  <a:lnTo>
                    <a:pt x="1696327" y="1649677"/>
                  </a:lnTo>
                  <a:lnTo>
                    <a:pt x="0" y="16496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3" name="TextBox 13"/>
          <p:cNvSpPr txBox="1"/>
          <p:nvPr/>
        </p:nvSpPr>
        <p:spPr>
          <a:xfrm>
            <a:off x="666750" y="1552575"/>
            <a:ext cx="11210925" cy="2797174"/>
          </a:xfrm>
          <a:prstGeom prst="rect">
            <a:avLst/>
          </a:prstGeom>
        </p:spPr>
        <p:txBody>
          <a:bodyPr lIns="0" tIns="0" rIns="0" bIns="0" rtlCol="0" anchor="t">
            <a:spAutoFit/>
          </a:bodyPr>
          <a:lstStyle/>
          <a:p>
            <a:pPr marL="0" lvl="0" indent="0" algn="l">
              <a:lnSpc>
                <a:spcPts val="9999"/>
              </a:lnSpc>
            </a:pPr>
            <a:r>
              <a:rPr lang="en-US" sz="9999" spc="-299">
                <a:solidFill>
                  <a:srgbClr val="00FFA8"/>
                </a:solidFill>
                <a:latin typeface="ITC Avant Garde Gothic"/>
                <a:ea typeface="ITC Avant Garde Gothic"/>
                <a:cs typeface="ITC Avant Garde Gothic"/>
                <a:sym typeface="ITC Avant Garde Gothic"/>
              </a:rPr>
              <a:t>Network and Computer Attacks</a:t>
            </a:r>
          </a:p>
        </p:txBody>
      </p:sp>
      <p:sp>
        <p:nvSpPr>
          <p:cNvPr id="14" name="TextBox 14"/>
          <p:cNvSpPr txBox="1"/>
          <p:nvPr/>
        </p:nvSpPr>
        <p:spPr>
          <a:xfrm>
            <a:off x="666750" y="561975"/>
            <a:ext cx="9763125" cy="495935"/>
          </a:xfrm>
          <a:prstGeom prst="rect">
            <a:avLst/>
          </a:prstGeom>
        </p:spPr>
        <p:txBody>
          <a:bodyPr lIns="0" tIns="0" rIns="0" bIns="0" rtlCol="0" anchor="t">
            <a:spAutoFit/>
          </a:bodyPr>
          <a:lstStyle/>
          <a:p>
            <a:pPr marL="0" lvl="0" indent="0" algn="l">
              <a:lnSpc>
                <a:spcPts val="3640"/>
              </a:lnSpc>
              <a:spcBef>
                <a:spcPct val="0"/>
              </a:spcBef>
            </a:pPr>
            <a:r>
              <a:rPr lang="en-US" sz="2600">
                <a:solidFill>
                  <a:srgbClr val="00FFA8"/>
                </a:solidFill>
                <a:latin typeface="ITC Avant Garde Gothic"/>
                <a:ea typeface="ITC Avant Garde Gothic"/>
                <a:cs typeface="ITC Avant Garde Gothic"/>
                <a:sym typeface="ITC Avant Garde Gothic"/>
              </a:rPr>
              <a:t>MULTIMEDIA UNIVERSITY, MALAYSIA</a:t>
            </a:r>
          </a:p>
        </p:txBody>
      </p:sp>
      <p:sp>
        <p:nvSpPr>
          <p:cNvPr id="15" name="TextBox 15"/>
          <p:cNvSpPr txBox="1"/>
          <p:nvPr/>
        </p:nvSpPr>
        <p:spPr>
          <a:xfrm>
            <a:off x="666750" y="5019675"/>
            <a:ext cx="9763125" cy="604520"/>
          </a:xfrm>
          <a:prstGeom prst="rect">
            <a:avLst/>
          </a:prstGeom>
        </p:spPr>
        <p:txBody>
          <a:bodyPr lIns="0" tIns="0" rIns="0" bIns="0" rtlCol="0" anchor="t">
            <a:spAutoFit/>
          </a:bodyPr>
          <a:lstStyle/>
          <a:p>
            <a:pPr marL="0" lvl="0" indent="0" algn="l">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CCS6324 - 2530</a:t>
            </a:r>
          </a:p>
        </p:txBody>
      </p:sp>
      <p:sp>
        <p:nvSpPr>
          <p:cNvPr id="16" name="TextBox 16"/>
          <p:cNvSpPr txBox="1"/>
          <p:nvPr/>
        </p:nvSpPr>
        <p:spPr>
          <a:xfrm>
            <a:off x="666750" y="4538980"/>
            <a:ext cx="9763125" cy="604520"/>
          </a:xfrm>
          <a:prstGeom prst="rect">
            <a:avLst/>
          </a:prstGeom>
        </p:spPr>
        <p:txBody>
          <a:bodyPr lIns="0" tIns="0" rIns="0" bIns="0" rtlCol="0" anchor="t">
            <a:spAutoFit/>
          </a:bodyPr>
          <a:lstStyle/>
          <a:p>
            <a:pPr marL="0" lvl="0" indent="0" algn="l">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ETHICAL HACKING AND PENETRATION TESTING</a:t>
            </a:r>
          </a:p>
        </p:txBody>
      </p:sp>
      <p:sp>
        <p:nvSpPr>
          <p:cNvPr id="17" name="TextBox 17"/>
          <p:cNvSpPr txBox="1"/>
          <p:nvPr/>
        </p:nvSpPr>
        <p:spPr>
          <a:xfrm>
            <a:off x="663474" y="9181465"/>
            <a:ext cx="7194651" cy="438785"/>
          </a:xfrm>
          <a:prstGeom prst="rect">
            <a:avLst/>
          </a:prstGeom>
        </p:spPr>
        <p:txBody>
          <a:bodyPr lIns="0" tIns="0" rIns="0" bIns="0" rtlCol="0" anchor="t">
            <a:spAutoFit/>
          </a:bodyPr>
          <a:lstStyle/>
          <a:p>
            <a:pPr marL="0" lvl="0" indent="0" algn="l">
              <a:lnSpc>
                <a:spcPts val="3640"/>
              </a:lnSpc>
            </a:pPr>
            <a:r>
              <a:rPr lang="en-US" sz="2600">
                <a:solidFill>
                  <a:srgbClr val="00FFA8"/>
                </a:solidFill>
                <a:latin typeface="TT Fors"/>
                <a:ea typeface="TT Fors"/>
                <a:cs typeface="TT Fors"/>
                <a:sym typeface="TT Fors"/>
              </a:rPr>
              <a:t>Dr. Hafiz Adnan Hussain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2533260"/>
            <a:ext cx="16592550" cy="6564630"/>
          </a:xfrm>
          <a:prstGeom prst="rect">
            <a:avLst/>
          </a:prstGeom>
        </p:spPr>
        <p:txBody>
          <a:bodyPr lIns="0" tIns="0" rIns="0" bIns="0" rtlCol="0" anchor="t">
            <a:spAutoFit/>
          </a:bodyPr>
          <a:lstStyle/>
          <a:p>
            <a:pPr marL="690879" lvl="1" indent="-345439" algn="l">
              <a:lnSpc>
                <a:spcPts val="4799"/>
              </a:lnSpc>
              <a:buFont typeface="Arial"/>
              <a:buChar char="•"/>
            </a:pPr>
            <a:r>
              <a:rPr lang="en-US" sz="3199" spc="-95">
                <a:solidFill>
                  <a:srgbClr val="00FFA8"/>
                </a:solidFill>
                <a:latin typeface="TT Fors"/>
                <a:ea typeface="TT Fors"/>
                <a:cs typeface="TT Fors"/>
                <a:sym typeface="TT Fors"/>
              </a:rPr>
              <a:t>This course is designed to educate students on ethical hacking p</a:t>
            </a:r>
            <a:r>
              <a:rPr lang="en-US" sz="3199" u="none" strike="noStrike" spc="-95">
                <a:solidFill>
                  <a:srgbClr val="00FFA8"/>
                </a:solidFill>
                <a:latin typeface="TT Fors"/>
                <a:ea typeface="TT Fors"/>
                <a:cs typeface="TT Fors"/>
                <a:sym typeface="TT Fors"/>
              </a:rPr>
              <a:t>rinciples. The knowledge and techniques acquired must be used responsibly and not for any illegal or unauthorized activities.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Each student is solely responsible for their actions.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Do not investigate individuals, websites, servers or conduct any illegal activities on any system you do not have permission to analyze.</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The course content has been developed in good faith, drawing from the author’s experience and reputable sources. While every effort has been made to ensure accuracy, the author does not guarantee absolute correctness. Students are encouraged to exercise discretion and actively engage in discussions by raising any questions or concerns during the course.</a:t>
            </a:r>
          </a:p>
        </p:txBody>
      </p:sp>
      <p:sp>
        <p:nvSpPr>
          <p:cNvPr id="3" name="TextBox 3"/>
          <p:cNvSpPr txBox="1"/>
          <p:nvPr/>
        </p:nvSpPr>
        <p:spPr>
          <a:xfrm>
            <a:off x="666750" y="657225"/>
            <a:ext cx="112014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DISC</a:t>
            </a:r>
            <a:r>
              <a:rPr lang="en-US" sz="6000" u="none" strike="noStrike" spc="-179">
                <a:solidFill>
                  <a:srgbClr val="00FFA8"/>
                </a:solidFill>
                <a:latin typeface="ITC Avant Garde Gothic"/>
                <a:ea typeface="ITC Avant Garde Gothic"/>
                <a:cs typeface="ITC Avant Garde Gothic"/>
                <a:sym typeface="ITC Avant Garde Gothic"/>
              </a:rPr>
              <a:t>LAIMER</a:t>
            </a:r>
          </a:p>
        </p:txBody>
      </p:sp>
      <p:grpSp>
        <p:nvGrpSpPr>
          <p:cNvPr id="4" name="Group 4"/>
          <p:cNvGrpSpPr/>
          <p:nvPr/>
        </p:nvGrpSpPr>
        <p:grpSpPr>
          <a:xfrm>
            <a:off x="16115522" y="751544"/>
            <a:ext cx="1505728" cy="810556"/>
            <a:chOff x="0" y="0"/>
            <a:chExt cx="2007638" cy="1080741"/>
          </a:xfrm>
        </p:grpSpPr>
        <p:grpSp>
          <p:nvGrpSpPr>
            <p:cNvPr id="5" name="Group 5"/>
            <p:cNvGrpSpPr/>
            <p:nvPr/>
          </p:nvGrpSpPr>
          <p:grpSpPr>
            <a:xfrm>
              <a:off x="0" y="0"/>
              <a:ext cx="1080741" cy="10807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926897" y="0"/>
              <a:ext cx="1080741" cy="10807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124278" y="167271"/>
              <a:ext cx="685978" cy="685978"/>
            </a:xfrm>
            <a:custGeom>
              <a:avLst/>
              <a:gdLst/>
              <a:ahLst/>
              <a:cxnLst/>
              <a:rect l="l" t="t" r="r" b="b"/>
              <a:pathLst>
                <a:path w="685978" h="685978">
                  <a:moveTo>
                    <a:pt x="0" y="0"/>
                  </a:moveTo>
                  <a:lnTo>
                    <a:pt x="685978" y="0"/>
                  </a:lnTo>
                  <a:lnTo>
                    <a:pt x="685978" y="685978"/>
                  </a:lnTo>
                  <a:lnTo>
                    <a:pt x="0" y="68597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56720" y="167271"/>
              <a:ext cx="767300" cy="746199"/>
            </a:xfrm>
            <a:custGeom>
              <a:avLst/>
              <a:gdLst/>
              <a:ahLst/>
              <a:cxnLst/>
              <a:rect l="l" t="t" r="r" b="b"/>
              <a:pathLst>
                <a:path w="767300" h="746199">
                  <a:moveTo>
                    <a:pt x="0" y="0"/>
                  </a:moveTo>
                  <a:lnTo>
                    <a:pt x="767301" y="0"/>
                  </a:lnTo>
                  <a:lnTo>
                    <a:pt x="767301" y="746199"/>
                  </a:lnTo>
                  <a:lnTo>
                    <a:pt x="0" y="74619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8208890"/>
            <a:ext cx="16954500" cy="1512718"/>
            <a:chOff x="0" y="0"/>
            <a:chExt cx="4465332" cy="398421"/>
          </a:xfrm>
        </p:grpSpPr>
        <p:sp>
          <p:nvSpPr>
            <p:cNvPr id="3" name="Freeform 3"/>
            <p:cNvSpPr/>
            <p:nvPr/>
          </p:nvSpPr>
          <p:spPr>
            <a:xfrm>
              <a:off x="0" y="0"/>
              <a:ext cx="4465332" cy="398421"/>
            </a:xfrm>
            <a:custGeom>
              <a:avLst/>
              <a:gdLst/>
              <a:ahLst/>
              <a:cxnLst/>
              <a:rect l="l" t="t" r="r" b="b"/>
              <a:pathLst>
                <a:path w="4465332" h="398421">
                  <a:moveTo>
                    <a:pt x="4465332" y="9133"/>
                  </a:moveTo>
                  <a:lnTo>
                    <a:pt x="4465332" y="389289"/>
                  </a:lnTo>
                  <a:cubicBezTo>
                    <a:pt x="4465332" y="391711"/>
                    <a:pt x="4464370" y="394034"/>
                    <a:pt x="4462657" y="395746"/>
                  </a:cubicBezTo>
                  <a:cubicBezTo>
                    <a:pt x="4460944" y="397459"/>
                    <a:pt x="4458622" y="398421"/>
                    <a:pt x="4456200" y="398421"/>
                  </a:cubicBezTo>
                  <a:lnTo>
                    <a:pt x="9133" y="398421"/>
                  </a:lnTo>
                  <a:cubicBezTo>
                    <a:pt x="6710" y="398421"/>
                    <a:pt x="4388" y="397459"/>
                    <a:pt x="2675" y="395746"/>
                  </a:cubicBezTo>
                  <a:cubicBezTo>
                    <a:pt x="962" y="394034"/>
                    <a:pt x="0" y="391711"/>
                    <a:pt x="0" y="389289"/>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4" name="TextBox 4"/>
            <p:cNvSpPr txBox="1"/>
            <p:nvPr/>
          </p:nvSpPr>
          <p:spPr>
            <a:xfrm>
              <a:off x="0" y="-57150"/>
              <a:ext cx="4465332" cy="455571"/>
            </a:xfrm>
            <a:prstGeom prst="rect">
              <a:avLst/>
            </a:prstGeom>
          </p:spPr>
          <p:txBody>
            <a:bodyPr lIns="254000" tIns="254000" rIns="254000" bIns="254000" rtlCol="0" anchor="ctr"/>
            <a:lstStyle/>
            <a:p>
              <a:pPr algn="l">
                <a:lnSpc>
                  <a:spcPts val="3920"/>
                </a:lnSpc>
              </a:pPr>
              <a:r>
                <a:rPr lang="en-US" sz="2800" b="1" spc="-84">
                  <a:solidFill>
                    <a:srgbClr val="FFFFFF"/>
                  </a:solidFill>
                  <a:latin typeface="TT Fors Bold"/>
                  <a:ea typeface="TT Fors Bold"/>
                  <a:cs typeface="TT Fors Bold"/>
                  <a:sym typeface="TT Fors Bold"/>
                </a:rPr>
                <a:t>Learning Outcomes:</a:t>
              </a:r>
              <a:r>
                <a:rPr lang="en-US" sz="2800" spc="-84">
                  <a:solidFill>
                    <a:srgbClr val="FFFFFF"/>
                  </a:solidFill>
                  <a:latin typeface="TT Fors"/>
                  <a:ea typeface="TT Fors"/>
                  <a:cs typeface="TT Fors"/>
                  <a:sym typeface="TT Fors"/>
                </a:rPr>
                <a:t> Identify different types of malware, understand attack vectors and defense mechanisms, analyze malware behavior safely.</a:t>
              </a:r>
            </a:p>
          </p:txBody>
        </p:sp>
      </p:grpSp>
      <p:sp>
        <p:nvSpPr>
          <p:cNvPr id="5" name="TextBox 5"/>
          <p:cNvSpPr txBox="1"/>
          <p:nvPr/>
        </p:nvSpPr>
        <p:spPr>
          <a:xfrm>
            <a:off x="666750" y="3219255"/>
            <a:ext cx="10074587" cy="4164330"/>
          </a:xfrm>
          <a:prstGeom prst="rect">
            <a:avLst/>
          </a:prstGeom>
        </p:spPr>
        <p:txBody>
          <a:bodyPr lIns="0" tIns="0" rIns="0" bIns="0" rtlCol="0" anchor="t">
            <a:spAutoFit/>
          </a:bodyPr>
          <a:lstStyle/>
          <a:p>
            <a:pPr marL="690879" lvl="1" indent="-345439" algn="l">
              <a:lnSpc>
                <a:spcPts val="4799"/>
              </a:lnSpc>
              <a:buFont typeface="Arial"/>
              <a:buChar char="•"/>
            </a:pPr>
            <a:r>
              <a:rPr lang="en-US" sz="3199" spc="-95">
                <a:solidFill>
                  <a:srgbClr val="00FFA8"/>
                </a:solidFill>
                <a:latin typeface="TT Fors"/>
                <a:ea typeface="TT Fors"/>
                <a:cs typeface="TT Fors"/>
                <a:sym typeface="TT Fors"/>
              </a:rPr>
              <a:t>Introduction to Network and Computer Attacks</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Types of Malicious Software (Malware)</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Malware Attack Vectors and Lifecycle</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Protection Against Malware</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Network-Based Attacks (DoS, DDoS, MitM)</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Physical Security Threats</a:t>
            </a:r>
          </a:p>
          <a:p>
            <a:pPr marL="690879" lvl="1" indent="-345439" algn="l">
              <a:lnSpc>
                <a:spcPts val="4799"/>
              </a:lnSpc>
              <a:buFont typeface="Arial"/>
              <a:buChar char="•"/>
            </a:pPr>
            <a:r>
              <a:rPr lang="en-US" sz="3199" spc="-95">
                <a:solidFill>
                  <a:srgbClr val="00FFA8"/>
                </a:solidFill>
                <a:latin typeface="TT Fors"/>
                <a:ea typeface="TT Fors"/>
                <a:cs typeface="TT Fors"/>
                <a:sym typeface="TT Fors"/>
              </a:rPr>
              <a:t>Defense in Depth Strategy</a:t>
            </a:r>
          </a:p>
        </p:txBody>
      </p:sp>
      <p:sp>
        <p:nvSpPr>
          <p:cNvPr id="6" name="TextBox 6"/>
          <p:cNvSpPr txBox="1"/>
          <p:nvPr/>
        </p:nvSpPr>
        <p:spPr>
          <a:xfrm>
            <a:off x="666750" y="657225"/>
            <a:ext cx="11201400" cy="923925"/>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79">
                <a:solidFill>
                  <a:srgbClr val="00FFA8"/>
                </a:solidFill>
                <a:latin typeface="ITC Avant Garde Gothic"/>
                <a:ea typeface="ITC Avant Garde Gothic"/>
                <a:cs typeface="ITC Avant Garde Gothic"/>
                <a:sym typeface="ITC Avant Garde Gothic"/>
              </a:rPr>
              <a:t>Learning Objectives</a:t>
            </a:r>
          </a:p>
        </p:txBody>
      </p:sp>
      <p:sp>
        <p:nvSpPr>
          <p:cNvPr id="7" name="TextBox 7"/>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What</a:t>
            </a:r>
            <a:r>
              <a:rPr lang="en-US" sz="3199" b="1" u="none" strike="noStrike" spc="-95">
                <a:solidFill>
                  <a:srgbClr val="00FFA8"/>
                </a:solidFill>
                <a:latin typeface="TT Fors Bold"/>
                <a:ea typeface="TT Fors Bold"/>
                <a:cs typeface="TT Fors Bold"/>
                <a:sym typeface="TT Fors Bold"/>
              </a:rPr>
              <a:t> You Will Learn?</a:t>
            </a:r>
          </a:p>
        </p:txBody>
      </p:sp>
      <p:grpSp>
        <p:nvGrpSpPr>
          <p:cNvPr id="8" name="Group 8"/>
          <p:cNvGrpSpPr/>
          <p:nvPr/>
        </p:nvGrpSpPr>
        <p:grpSpPr>
          <a:xfrm>
            <a:off x="10741337" y="4121332"/>
            <a:ext cx="6782559" cy="2547501"/>
            <a:chOff x="0" y="0"/>
            <a:chExt cx="9043412" cy="3396667"/>
          </a:xfrm>
        </p:grpSpPr>
        <p:grpSp>
          <p:nvGrpSpPr>
            <p:cNvPr id="9" name="Group 9"/>
            <p:cNvGrpSpPr/>
            <p:nvPr/>
          </p:nvGrpSpPr>
          <p:grpSpPr>
            <a:xfrm>
              <a:off x="0" y="0"/>
              <a:ext cx="9043412" cy="3396667"/>
              <a:chOff x="0" y="0"/>
              <a:chExt cx="1786333" cy="670963"/>
            </a:xfrm>
          </p:grpSpPr>
          <p:sp>
            <p:nvSpPr>
              <p:cNvPr id="10" name="Freeform 10"/>
              <p:cNvSpPr/>
              <p:nvPr/>
            </p:nvSpPr>
            <p:spPr>
              <a:xfrm>
                <a:off x="0" y="0"/>
                <a:ext cx="1786333" cy="670963"/>
              </a:xfrm>
              <a:custGeom>
                <a:avLst/>
                <a:gdLst/>
                <a:ahLst/>
                <a:cxnLst/>
                <a:rect l="l" t="t" r="r" b="b"/>
                <a:pathLst>
                  <a:path w="1786333" h="670963">
                    <a:moveTo>
                      <a:pt x="1786333" y="22829"/>
                    </a:moveTo>
                    <a:lnTo>
                      <a:pt x="1786333" y="648135"/>
                    </a:lnTo>
                    <a:cubicBezTo>
                      <a:pt x="1786333" y="654189"/>
                      <a:pt x="1783928" y="659996"/>
                      <a:pt x="1779646" y="664277"/>
                    </a:cubicBezTo>
                    <a:cubicBezTo>
                      <a:pt x="1775365" y="668558"/>
                      <a:pt x="1769558" y="670963"/>
                      <a:pt x="1763504" y="670963"/>
                    </a:cubicBezTo>
                    <a:lnTo>
                      <a:pt x="22829" y="670963"/>
                    </a:lnTo>
                    <a:cubicBezTo>
                      <a:pt x="10221" y="670963"/>
                      <a:pt x="0" y="660743"/>
                      <a:pt x="0" y="648135"/>
                    </a:cubicBezTo>
                    <a:lnTo>
                      <a:pt x="0" y="22829"/>
                    </a:lnTo>
                    <a:cubicBezTo>
                      <a:pt x="0" y="16774"/>
                      <a:pt x="2405" y="10968"/>
                      <a:pt x="6686" y="6686"/>
                    </a:cubicBezTo>
                    <a:cubicBezTo>
                      <a:pt x="10968" y="2405"/>
                      <a:pt x="16774" y="0"/>
                      <a:pt x="22829" y="0"/>
                    </a:cubicBezTo>
                    <a:lnTo>
                      <a:pt x="1763504" y="0"/>
                    </a:lnTo>
                    <a:cubicBezTo>
                      <a:pt x="1769558" y="0"/>
                      <a:pt x="1775365" y="2405"/>
                      <a:pt x="1779646" y="6686"/>
                    </a:cubicBezTo>
                    <a:cubicBezTo>
                      <a:pt x="1783928" y="10968"/>
                      <a:pt x="1786333" y="16774"/>
                      <a:pt x="1786333" y="22829"/>
                    </a:cubicBezTo>
                    <a:close/>
                  </a:path>
                </a:pathLst>
              </a:custGeom>
              <a:solidFill>
                <a:srgbClr val="E10505"/>
              </a:solidFill>
              <a:ln cap="sq">
                <a:noFill/>
                <a:prstDash val="solid"/>
                <a:miter/>
              </a:ln>
            </p:spPr>
            <p:txBody>
              <a:bodyPr/>
              <a:lstStyle/>
              <a:p>
                <a:endParaRPr lang="en-US"/>
              </a:p>
            </p:txBody>
          </p:sp>
          <p:sp>
            <p:nvSpPr>
              <p:cNvPr id="11" name="TextBox 11"/>
              <p:cNvSpPr txBox="1"/>
              <p:nvPr/>
            </p:nvSpPr>
            <p:spPr>
              <a:xfrm>
                <a:off x="0" y="-57150"/>
                <a:ext cx="1786333" cy="728113"/>
              </a:xfrm>
              <a:prstGeom prst="rect">
                <a:avLst/>
              </a:prstGeom>
            </p:spPr>
            <p:txBody>
              <a:bodyPr lIns="254000" tIns="254000" rIns="254000" bIns="254000" rtlCol="0" anchor="ctr"/>
              <a:lstStyle/>
              <a:p>
                <a:pPr algn="l">
                  <a:lnSpc>
                    <a:spcPts val="3920"/>
                  </a:lnSpc>
                </a:pPr>
                <a:endParaRPr/>
              </a:p>
            </p:txBody>
          </p:sp>
        </p:grpSp>
        <p:sp>
          <p:nvSpPr>
            <p:cNvPr id="12" name="TextBox 12"/>
            <p:cNvSpPr txBox="1"/>
            <p:nvPr/>
          </p:nvSpPr>
          <p:spPr>
            <a:xfrm>
              <a:off x="389414" y="219692"/>
              <a:ext cx="8264585" cy="2835063"/>
            </a:xfrm>
            <a:prstGeom prst="rect">
              <a:avLst/>
            </a:prstGeom>
          </p:spPr>
          <p:txBody>
            <a:bodyPr lIns="0" tIns="0" rIns="0" bIns="0" rtlCol="0" anchor="t">
              <a:spAutoFit/>
            </a:bodyPr>
            <a:lstStyle/>
            <a:p>
              <a:pPr marL="0" lvl="0" indent="0" algn="l">
                <a:lnSpc>
                  <a:spcPts val="4160"/>
                </a:lnSpc>
              </a:pPr>
              <a:r>
                <a:rPr lang="en-US" sz="3200" spc="-96" dirty="0">
                  <a:solidFill>
                    <a:srgbClr val="FFFFFF"/>
                  </a:solidFill>
                  <a:latin typeface="ITC Avant Garde Gothic"/>
                  <a:ea typeface="ITC Avant Garde Gothic"/>
                  <a:cs typeface="ITC Avant Garde Gothic"/>
                  <a:sym typeface="ITC Avant Garde Gothic"/>
                </a:rPr>
                <a:t>⚠️</a:t>
              </a:r>
              <a:r>
                <a:rPr lang="en-US" sz="3200" u="none" strike="noStrike" spc="-96" dirty="0">
                  <a:solidFill>
                    <a:srgbClr val="FFFFFF"/>
                  </a:solidFill>
                  <a:latin typeface="ITC Avant Garde Gothic"/>
                  <a:ea typeface="ITC Avant Garde Gothic"/>
                  <a:cs typeface="ITC Avant Garde Gothic"/>
                  <a:sym typeface="ITC Avant Garde Gothic"/>
                </a:rPr>
                <a:t> </a:t>
              </a:r>
              <a:r>
                <a:rPr lang="en-US" sz="3200" b="1" u="none" strike="noStrike" spc="-96" dirty="0">
                  <a:solidFill>
                    <a:srgbClr val="FFFFFF"/>
                  </a:solidFill>
                  <a:latin typeface="ITC Avant Garde Gothic Bold"/>
                  <a:ea typeface="ITC Avant Garde Gothic Bold"/>
                  <a:cs typeface="ITC Avant Garde Gothic Bold"/>
                  <a:sym typeface="ITC Avant Garde Gothic Bold"/>
                </a:rPr>
                <a:t>Lab Safety:</a:t>
              </a:r>
              <a:r>
                <a:rPr lang="en-US" sz="3200" u="none" strike="noStrike" spc="-96" dirty="0">
                  <a:solidFill>
                    <a:srgbClr val="FFFFFF"/>
                  </a:solidFill>
                  <a:latin typeface="ITC Avant Garde Gothic"/>
                  <a:ea typeface="ITC Avant Garde Gothic"/>
                  <a:cs typeface="ITC Avant Garde Gothic"/>
                  <a:sym typeface="ITC Avant Garde Gothic"/>
                </a:rPr>
                <a:t>  All malware analysis will be conducted in isolated, controlled environments only!</a:t>
              </a:r>
            </a:p>
          </p:txBody>
        </p:sp>
      </p:grpSp>
      <p:grpSp>
        <p:nvGrpSpPr>
          <p:cNvPr id="13" name="Group 13"/>
          <p:cNvGrpSpPr/>
          <p:nvPr/>
        </p:nvGrpSpPr>
        <p:grpSpPr>
          <a:xfrm>
            <a:off x="16115522" y="751544"/>
            <a:ext cx="1505728" cy="810556"/>
            <a:chOff x="0" y="0"/>
            <a:chExt cx="2007638" cy="1080741"/>
          </a:xfrm>
        </p:grpSpPr>
        <p:grpSp>
          <p:nvGrpSpPr>
            <p:cNvPr id="14" name="Group 14"/>
            <p:cNvGrpSpPr/>
            <p:nvPr/>
          </p:nvGrpSpPr>
          <p:grpSpPr>
            <a:xfrm>
              <a:off x="0" y="0"/>
              <a:ext cx="1080741" cy="108074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926897" y="0"/>
              <a:ext cx="1080741" cy="108074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124278" y="167271"/>
              <a:ext cx="685978" cy="685978"/>
            </a:xfrm>
            <a:custGeom>
              <a:avLst/>
              <a:gdLst/>
              <a:ahLst/>
              <a:cxnLst/>
              <a:rect l="l" t="t" r="r" b="b"/>
              <a:pathLst>
                <a:path w="685978" h="685978">
                  <a:moveTo>
                    <a:pt x="0" y="0"/>
                  </a:moveTo>
                  <a:lnTo>
                    <a:pt x="685978" y="0"/>
                  </a:lnTo>
                  <a:lnTo>
                    <a:pt x="685978" y="685978"/>
                  </a:lnTo>
                  <a:lnTo>
                    <a:pt x="0" y="68597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Freeform 21"/>
            <p:cNvSpPr/>
            <p:nvPr/>
          </p:nvSpPr>
          <p:spPr>
            <a:xfrm>
              <a:off x="156720" y="167271"/>
              <a:ext cx="767300" cy="746199"/>
            </a:xfrm>
            <a:custGeom>
              <a:avLst/>
              <a:gdLst/>
              <a:ahLst/>
              <a:cxnLst/>
              <a:rect l="l" t="t" r="r" b="b"/>
              <a:pathLst>
                <a:path w="767300" h="746199">
                  <a:moveTo>
                    <a:pt x="0" y="0"/>
                  </a:moveTo>
                  <a:lnTo>
                    <a:pt x="767301" y="0"/>
                  </a:lnTo>
                  <a:lnTo>
                    <a:pt x="767301" y="746199"/>
                  </a:lnTo>
                  <a:lnTo>
                    <a:pt x="0" y="74619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3722432"/>
            <a:ext cx="8153307" cy="4547235"/>
          </a:xfrm>
          <a:prstGeom prst="rect">
            <a:avLst/>
          </a:prstGeom>
        </p:spPr>
        <p:txBody>
          <a:bodyPr lIns="0" tIns="0" rIns="0" bIns="0" rtlCol="0" anchor="t">
            <a:spAutoFit/>
          </a:bodyPr>
          <a:lstStyle/>
          <a:p>
            <a:pPr algn="l">
              <a:lnSpc>
                <a:spcPts val="3600"/>
              </a:lnSpc>
            </a:pPr>
            <a:r>
              <a:rPr lang="en-US" sz="2400" b="1" spc="-72">
                <a:solidFill>
                  <a:srgbClr val="00FFA8"/>
                </a:solidFill>
                <a:latin typeface="TT Fors Bold"/>
                <a:ea typeface="TT Fors Bold"/>
                <a:cs typeface="TT Fors Bold"/>
                <a:sym typeface="TT Fors Bold"/>
              </a:rPr>
              <a:t>K</a:t>
            </a:r>
            <a:r>
              <a:rPr lang="en-US" sz="2400" b="1" u="none" strike="noStrike" spc="-72">
                <a:solidFill>
                  <a:srgbClr val="00FFA8"/>
                </a:solidFill>
                <a:latin typeface="TT Fors Bold"/>
                <a:ea typeface="TT Fors Bold"/>
                <a:cs typeface="TT Fors Bold"/>
                <a:sym typeface="TT Fors Bold"/>
              </a:rPr>
              <a:t>ey Concepts:</a:t>
            </a:r>
          </a:p>
          <a:p>
            <a:pPr marL="518160" lvl="1" indent="-259080" algn="l">
              <a:lnSpc>
                <a:spcPts val="3600"/>
              </a:lnSpc>
              <a:buFont typeface="Arial"/>
              <a:buChar char="•"/>
            </a:pPr>
            <a:r>
              <a:rPr lang="en-US" sz="2400" b="1" u="none" strike="noStrike" spc="-72">
                <a:solidFill>
                  <a:srgbClr val="00FFA8"/>
                </a:solidFill>
                <a:latin typeface="TT Fors Bold"/>
                <a:ea typeface="TT Fors Bold"/>
                <a:cs typeface="TT Fors Bold"/>
                <a:sym typeface="TT Fors Bold"/>
              </a:rPr>
              <a:t>Attack:</a:t>
            </a:r>
            <a:r>
              <a:rPr lang="en-US" sz="2400" u="none" strike="noStrike" spc="-72">
                <a:solidFill>
                  <a:srgbClr val="00FFA8"/>
                </a:solidFill>
                <a:latin typeface="TT Fors"/>
                <a:ea typeface="TT Fors"/>
                <a:cs typeface="TT Fors"/>
                <a:sym typeface="TT Fors"/>
              </a:rPr>
              <a:t> Unauthorized attempt to access, modify, or disrupt network resources or computer systems</a:t>
            </a:r>
          </a:p>
          <a:p>
            <a:pPr marL="518160" lvl="1" indent="-259080" algn="l">
              <a:lnSpc>
                <a:spcPts val="3600"/>
              </a:lnSpc>
              <a:buFont typeface="Arial"/>
              <a:buChar char="•"/>
            </a:pPr>
            <a:r>
              <a:rPr lang="en-US" sz="2400" b="1" u="none" strike="noStrike" spc="-72">
                <a:solidFill>
                  <a:srgbClr val="00FFA8"/>
                </a:solidFill>
                <a:latin typeface="TT Fors Bold"/>
                <a:ea typeface="TT Fors Bold"/>
                <a:cs typeface="TT Fors Bold"/>
                <a:sym typeface="TT Fors Bold"/>
              </a:rPr>
              <a:t>Network Security: </a:t>
            </a:r>
            <a:r>
              <a:rPr lang="en-US" sz="2400" u="none" strike="noStrike" spc="-72">
                <a:solidFill>
                  <a:srgbClr val="00FFA8"/>
                </a:solidFill>
                <a:latin typeface="TT Fors"/>
                <a:ea typeface="TT Fors"/>
                <a:cs typeface="TT Fors"/>
                <a:sym typeface="TT Fors"/>
              </a:rPr>
              <a:t>Protection of interconnected devices and infrastructure from unauthorized access and malicious activities</a:t>
            </a:r>
          </a:p>
          <a:p>
            <a:pPr marL="518160" lvl="1" indent="-259080" algn="l">
              <a:lnSpc>
                <a:spcPts val="3600"/>
              </a:lnSpc>
              <a:buFont typeface="Arial"/>
              <a:buChar char="•"/>
            </a:pPr>
            <a:r>
              <a:rPr lang="en-US" sz="2400" b="1" u="none" strike="noStrike" spc="-72">
                <a:solidFill>
                  <a:srgbClr val="00FFA8"/>
                </a:solidFill>
                <a:latin typeface="TT Fors Bold"/>
                <a:ea typeface="TT Fors Bold"/>
                <a:cs typeface="TT Fors Bold"/>
                <a:sym typeface="TT Fors Bold"/>
              </a:rPr>
              <a:t>Computer Security:</a:t>
            </a:r>
            <a:r>
              <a:rPr lang="en-US" sz="2400" u="none" strike="noStrike" spc="-72">
                <a:solidFill>
                  <a:srgbClr val="00FFA8"/>
                </a:solidFill>
                <a:latin typeface="TT Fors"/>
                <a:ea typeface="TT Fors"/>
                <a:cs typeface="TT Fors"/>
                <a:sym typeface="TT Fors"/>
              </a:rPr>
              <a:t> Safeguarding standalone or networked computers from threats</a:t>
            </a:r>
          </a:p>
          <a:p>
            <a:pPr marL="518160" lvl="1" indent="-259080" algn="l">
              <a:lnSpc>
                <a:spcPts val="3600"/>
              </a:lnSpc>
              <a:buFont typeface="Arial"/>
              <a:buChar char="•"/>
            </a:pPr>
            <a:r>
              <a:rPr lang="en-US" sz="2400" b="1" u="none" strike="noStrike" spc="-72">
                <a:solidFill>
                  <a:srgbClr val="00FFA8"/>
                </a:solidFill>
                <a:latin typeface="TT Fors Bold"/>
                <a:ea typeface="TT Fors Bold"/>
                <a:cs typeface="TT Fors Bold"/>
                <a:sym typeface="TT Fors Bold"/>
              </a:rPr>
              <a:t>Attack Surface:</a:t>
            </a:r>
            <a:r>
              <a:rPr lang="en-US" sz="2400" u="none" strike="noStrike" spc="-72">
                <a:solidFill>
                  <a:srgbClr val="00FFA8"/>
                </a:solidFill>
                <a:latin typeface="TT Fors"/>
                <a:ea typeface="TT Fors"/>
                <a:cs typeface="TT Fors"/>
                <a:sym typeface="TT Fors"/>
              </a:rPr>
              <a:t> Total sum of vulnerabilities and entry points available to attackers</a:t>
            </a:r>
          </a:p>
        </p:txBody>
      </p:sp>
      <p:sp>
        <p:nvSpPr>
          <p:cNvPr id="3" name="TextBox 3"/>
          <p:cNvSpPr txBox="1"/>
          <p:nvPr/>
        </p:nvSpPr>
        <p:spPr>
          <a:xfrm>
            <a:off x="9314983" y="3722432"/>
            <a:ext cx="8306267" cy="2718435"/>
          </a:xfrm>
          <a:prstGeom prst="rect">
            <a:avLst/>
          </a:prstGeom>
        </p:spPr>
        <p:txBody>
          <a:bodyPr lIns="0" tIns="0" rIns="0" bIns="0" rtlCol="0" anchor="t">
            <a:spAutoFit/>
          </a:bodyPr>
          <a:lstStyle/>
          <a:p>
            <a:pPr algn="l">
              <a:lnSpc>
                <a:spcPts val="3600"/>
              </a:lnSpc>
            </a:pPr>
            <a:r>
              <a:rPr lang="en-US" sz="2400" b="1" spc="-72">
                <a:solidFill>
                  <a:srgbClr val="00FFA8"/>
                </a:solidFill>
                <a:latin typeface="TT Fors Bold"/>
                <a:ea typeface="TT Fors Bold"/>
                <a:cs typeface="TT Fors Bold"/>
                <a:sym typeface="TT Fors Bold"/>
              </a:rPr>
              <a:t>Current Thr</a:t>
            </a:r>
            <a:r>
              <a:rPr lang="en-US" sz="2400" b="1" u="none" strike="noStrike" spc="-72">
                <a:solidFill>
                  <a:srgbClr val="00FFA8"/>
                </a:solidFill>
                <a:latin typeface="TT Fors Bold"/>
                <a:ea typeface="TT Fors Bold"/>
                <a:cs typeface="TT Fors Bold"/>
                <a:sym typeface="TT Fors Bold"/>
              </a:rPr>
              <a:t>eat Landscape (2024-2025):</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Ransomware attacks increasing by 150% year-over-year</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Average cost of data breach: $4.45 million USD</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Cybercrime projected to cost $10.5 trillion globally by 2025</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Supply chain attacks targeting third-party vendors</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AI-powered attacks becoming more sophisticated</a:t>
            </a:r>
          </a:p>
        </p:txBody>
      </p:sp>
      <p:sp>
        <p:nvSpPr>
          <p:cNvPr id="4" name="TextBox 4"/>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INTRODUCTION TO NETWORK</a:t>
            </a:r>
            <a:r>
              <a:rPr lang="en-US" sz="4800" u="none" strike="noStrike" spc="-144">
                <a:solidFill>
                  <a:srgbClr val="00FFA8"/>
                </a:solidFill>
                <a:latin typeface="ITC Avant Garde Gothic"/>
                <a:ea typeface="ITC Avant Garde Gothic"/>
                <a:cs typeface="ITC Avant Garde Gothic"/>
                <a:sym typeface="ITC Avant Garde Gothic"/>
              </a:rPr>
              <a:t> AND COMPUTER ATTACKS</a:t>
            </a:r>
          </a:p>
        </p:txBody>
      </p:sp>
      <p:sp>
        <p:nvSpPr>
          <p:cNvPr id="5" name="TextBox 5"/>
          <p:cNvSpPr txBox="1"/>
          <p:nvPr/>
        </p:nvSpPr>
        <p:spPr>
          <a:xfrm>
            <a:off x="666750" y="1597785"/>
            <a:ext cx="16954500" cy="16764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FFFFFF"/>
                </a:solidFill>
                <a:latin typeface="TT Fors Bold"/>
                <a:ea typeface="TT Fors Bold"/>
                <a:cs typeface="TT Fors Bold"/>
                <a:sym typeface="TT Fors Bold"/>
              </a:rPr>
              <a:t>Overview: </a:t>
            </a:r>
            <a:r>
              <a:rPr lang="en-US" sz="2800" spc="-84">
                <a:solidFill>
                  <a:srgbClr val="FFFFFF"/>
                </a:solidFill>
                <a:latin typeface="TT Fors"/>
                <a:ea typeface="TT Fors"/>
                <a:cs typeface="TT Fors"/>
                <a:sym typeface="TT Fors"/>
              </a:rPr>
              <a:t>Network and computer attacks represent intentional attempts to comprom</a:t>
            </a:r>
            <a:r>
              <a:rPr lang="en-US" sz="2800" u="none" strike="noStrike" spc="-84">
                <a:solidFill>
                  <a:srgbClr val="FFFFFF"/>
                </a:solidFill>
                <a:latin typeface="TT Fors"/>
                <a:ea typeface="TT Fors"/>
                <a:cs typeface="TT Fors"/>
                <a:sym typeface="TT Fors"/>
              </a:rPr>
              <a:t>ise the confidentiality, integrity, or availability of information systems. Modern cyber attacks have evolved significantly, with attackers leveraging sophisticated techniques, automation, and artificial intelligence to bypass traditional security measures.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3722432"/>
            <a:ext cx="8153307" cy="3175635"/>
          </a:xfrm>
          <a:prstGeom prst="rect">
            <a:avLst/>
          </a:prstGeom>
        </p:spPr>
        <p:txBody>
          <a:bodyPr lIns="0" tIns="0" rIns="0" bIns="0" rtlCol="0" anchor="t">
            <a:spAutoFit/>
          </a:bodyPr>
          <a:lstStyle/>
          <a:p>
            <a:pPr algn="l">
              <a:lnSpc>
                <a:spcPts val="3600"/>
              </a:lnSpc>
            </a:pPr>
            <a:r>
              <a:rPr lang="en-US" sz="2400" b="1" spc="-72">
                <a:solidFill>
                  <a:srgbClr val="00FFA8"/>
                </a:solidFill>
                <a:latin typeface="TT Fors Bold"/>
                <a:ea typeface="TT Fors Bold"/>
                <a:cs typeface="TT Fors Bold"/>
                <a:sym typeface="TT Fors Bold"/>
              </a:rPr>
              <a:t>Goals</a:t>
            </a:r>
            <a:r>
              <a:rPr lang="en-US" sz="2400" b="1" u="none" strike="noStrike" spc="-72">
                <a:solidFill>
                  <a:srgbClr val="00FFA8"/>
                </a:solidFill>
                <a:latin typeface="TT Fors Bold"/>
                <a:ea typeface="TT Fors Bold"/>
                <a:cs typeface="TT Fors Bold"/>
                <a:sym typeface="TT Fors Bold"/>
              </a:rPr>
              <a:t> of Malware:</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Data exfiltration (stealing sensitive information)</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Financial gain (ransomware, cryptominers)</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System disruption (destructive attacks)</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Espionage and surveillance</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Establishing persistent backdoors</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Creating botnets for distributed attacks</a:t>
            </a:r>
          </a:p>
        </p:txBody>
      </p:sp>
      <p:sp>
        <p:nvSpPr>
          <p:cNvPr id="3" name="TextBox 3"/>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MALICIOUS SOFTW</a:t>
            </a:r>
            <a:r>
              <a:rPr lang="en-US" sz="4800" u="none" strike="noStrike" spc="-144">
                <a:solidFill>
                  <a:srgbClr val="00FFA8"/>
                </a:solidFill>
                <a:latin typeface="ITC Avant Garde Gothic"/>
                <a:ea typeface="ITC Avant Garde Gothic"/>
                <a:cs typeface="ITC Avant Garde Gothic"/>
                <a:sym typeface="ITC Avant Garde Gothic"/>
              </a:rPr>
              <a:t>ARE (MALWARE)</a:t>
            </a:r>
          </a:p>
        </p:txBody>
      </p:sp>
      <p:sp>
        <p:nvSpPr>
          <p:cNvPr id="4" name="TextBox 4"/>
          <p:cNvSpPr txBox="1"/>
          <p:nvPr/>
        </p:nvSpPr>
        <p:spPr>
          <a:xfrm>
            <a:off x="666750" y="1597785"/>
            <a:ext cx="16954500" cy="20955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FFFFFF"/>
                </a:solidFill>
                <a:latin typeface="TT Fors Bold"/>
                <a:ea typeface="TT Fors Bold"/>
                <a:cs typeface="TT Fors Bold"/>
                <a:sym typeface="TT Fors Bold"/>
              </a:rPr>
              <a:t>Understa</a:t>
            </a:r>
            <a:r>
              <a:rPr lang="en-US" sz="2800" b="1" u="none" strike="noStrike" spc="-84">
                <a:solidFill>
                  <a:srgbClr val="FFFFFF"/>
                </a:solidFill>
                <a:latin typeface="TT Fors Bold"/>
                <a:ea typeface="TT Fors Bold"/>
                <a:cs typeface="TT Fors Bold"/>
                <a:sym typeface="TT Fors Bold"/>
              </a:rPr>
              <a:t>nding Modern Malware: </a:t>
            </a:r>
            <a:r>
              <a:rPr lang="en-US" sz="2800" u="none" strike="noStrike" spc="-84">
                <a:solidFill>
                  <a:srgbClr val="FFFFFF"/>
                </a:solidFill>
                <a:latin typeface="TT Fors"/>
                <a:ea typeface="TT Fors"/>
                <a:cs typeface="TT Fors"/>
                <a:sym typeface="TT Fors"/>
              </a:rPr>
              <a:t>Malware, short for malicious software, encompasses any program designed to harm, exploit, or compromise computer systems and networks. Modern malware has evolved from simple viruses to complex, multi-stage attacks that can evade detection and persist in systems for extended periods.</a:t>
            </a:r>
          </a:p>
          <a:p>
            <a:pPr marL="0" lvl="0" indent="0" algn="l">
              <a:lnSpc>
                <a:spcPts val="3360"/>
              </a:lnSpc>
              <a:spcBef>
                <a:spcPct val="0"/>
              </a:spcBef>
            </a:pPr>
            <a:endParaRPr lang="en-US" sz="2800" u="none" strike="noStrike" spc="-84">
              <a:solidFill>
                <a:srgbClr val="FFFFFF"/>
              </a:solidFill>
              <a:latin typeface="TT Fors"/>
              <a:ea typeface="TT Fors"/>
              <a:cs typeface="TT Fors"/>
              <a:sym typeface="TT Fors"/>
            </a:endParaRPr>
          </a:p>
        </p:txBody>
      </p:sp>
      <p:sp>
        <p:nvSpPr>
          <p:cNvPr id="5" name="TextBox 5"/>
          <p:cNvSpPr txBox="1"/>
          <p:nvPr/>
        </p:nvSpPr>
        <p:spPr>
          <a:xfrm>
            <a:off x="8820057" y="3722432"/>
            <a:ext cx="8153307" cy="3175635"/>
          </a:xfrm>
          <a:prstGeom prst="rect">
            <a:avLst/>
          </a:prstGeom>
        </p:spPr>
        <p:txBody>
          <a:bodyPr lIns="0" tIns="0" rIns="0" bIns="0" rtlCol="0" anchor="t">
            <a:spAutoFit/>
          </a:bodyPr>
          <a:lstStyle/>
          <a:p>
            <a:pPr algn="l">
              <a:lnSpc>
                <a:spcPts val="3600"/>
              </a:lnSpc>
            </a:pPr>
            <a:r>
              <a:rPr lang="en-US" sz="2400" b="1" spc="-72">
                <a:solidFill>
                  <a:srgbClr val="00FFA8"/>
                </a:solidFill>
                <a:latin typeface="TT Fors Bold"/>
                <a:ea typeface="TT Fors Bold"/>
                <a:cs typeface="TT Fors Bold"/>
                <a:sym typeface="TT Fors Bold"/>
              </a:rPr>
              <a:t>Types of</a:t>
            </a:r>
            <a:r>
              <a:rPr lang="en-US" sz="2400" b="1" u="none" strike="noStrike" spc="-72">
                <a:solidFill>
                  <a:srgbClr val="00FFA8"/>
                </a:solidFill>
                <a:latin typeface="TT Fors Bold"/>
                <a:ea typeface="TT Fors Bold"/>
                <a:cs typeface="TT Fors Bold"/>
                <a:sym typeface="TT Fors Bold"/>
              </a:rPr>
              <a:t> Malware:</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Viruses</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Worms</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Trojan Horses (Trojans)</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Ransomware</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Spyware and Adware</a:t>
            </a:r>
          </a:p>
          <a:p>
            <a:pPr marL="518160" lvl="1" indent="-259080" algn="l">
              <a:lnSpc>
                <a:spcPts val="3600"/>
              </a:lnSpc>
              <a:buFont typeface="Arial"/>
              <a:buChar char="•"/>
            </a:pPr>
            <a:r>
              <a:rPr lang="en-US" sz="2400" u="none" strike="noStrike" spc="-72">
                <a:solidFill>
                  <a:srgbClr val="00FFA8"/>
                </a:solidFill>
                <a:latin typeface="TT Fors"/>
                <a:ea typeface="TT Fors"/>
                <a:cs typeface="TT Fors"/>
                <a:sym typeface="TT Fors"/>
              </a:rPr>
              <a:t>Rootkits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1547515"/>
            <a:ext cx="16136291" cy="8225790"/>
          </a:xfrm>
          <a:prstGeom prst="rect">
            <a:avLst/>
          </a:prstGeom>
        </p:spPr>
        <p:txBody>
          <a:bodyPr lIns="0" tIns="0" rIns="0" bIns="0" rtlCol="0" anchor="t">
            <a:spAutoFit/>
          </a:bodyPr>
          <a:lstStyle/>
          <a:p>
            <a:pPr algn="l">
              <a:lnSpc>
                <a:spcPts val="3899"/>
              </a:lnSpc>
            </a:pPr>
            <a:r>
              <a:rPr lang="en-US" sz="2599" spc="-77">
                <a:solidFill>
                  <a:srgbClr val="FFFFFF"/>
                </a:solidFill>
                <a:latin typeface="TT Fors"/>
                <a:ea typeface="TT Fors"/>
                <a:cs typeface="TT Fors"/>
                <a:sym typeface="TT Fors"/>
              </a:rPr>
              <a:t>A </a:t>
            </a:r>
            <a:r>
              <a:rPr lang="en-US" sz="2599" b="1" spc="-77">
                <a:solidFill>
                  <a:srgbClr val="FFFFFF"/>
                </a:solidFill>
                <a:latin typeface="TT Fors Bold"/>
                <a:ea typeface="TT Fors Bold"/>
                <a:cs typeface="TT Fors Bold"/>
                <a:sym typeface="TT Fors Bold"/>
              </a:rPr>
              <a:t>virus</a:t>
            </a:r>
            <a:r>
              <a:rPr lang="en-US" sz="2599" spc="-77">
                <a:solidFill>
                  <a:srgbClr val="FFFFFF"/>
                </a:solidFill>
                <a:latin typeface="TT Fors"/>
                <a:ea typeface="TT Fors"/>
                <a:cs typeface="TT Fors"/>
                <a:sym typeface="TT Fors"/>
              </a:rPr>
              <a:t> is self-replicating malicious code that attaches itself to legitimate executable files or programs, requiring human action to spread.</a:t>
            </a:r>
          </a:p>
          <a:p>
            <a:pPr algn="l">
              <a:lnSpc>
                <a:spcPts val="3899"/>
              </a:lnSpc>
            </a:pPr>
            <a:endParaRPr lang="en-US" sz="2599" spc="-77">
              <a:solidFill>
                <a:srgbClr val="FFFFFF"/>
              </a:solidFill>
              <a:latin typeface="TT Fors"/>
              <a:ea typeface="TT Fors"/>
              <a:cs typeface="TT Fors"/>
              <a:sym typeface="TT Fors"/>
            </a:endParaRPr>
          </a:p>
          <a:p>
            <a:pPr algn="l">
              <a:lnSpc>
                <a:spcPts val="3899"/>
              </a:lnSpc>
            </a:pPr>
            <a:r>
              <a:rPr lang="en-US" sz="2599" b="1" spc="-77">
                <a:solidFill>
                  <a:srgbClr val="00FFA8"/>
                </a:solidFill>
                <a:latin typeface="TT Fors Bold"/>
                <a:ea typeface="TT Fors Bold"/>
                <a:cs typeface="TT Fors Bold"/>
                <a:sym typeface="TT Fors Bold"/>
              </a:rPr>
              <a:t>Characteristics: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Requires a host program to replicate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Spreads through file sharing, email attachments, infected media</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Can modify, corrupt, or delete files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May remain dormant until triggered by specific conditions</a:t>
            </a:r>
          </a:p>
          <a:p>
            <a:pPr algn="l">
              <a:lnSpc>
                <a:spcPts val="3899"/>
              </a:lnSpc>
            </a:pPr>
            <a:endParaRPr lang="en-US" sz="2599" spc="-77">
              <a:solidFill>
                <a:srgbClr val="00FFA8"/>
              </a:solidFill>
              <a:latin typeface="TT Fors"/>
              <a:ea typeface="TT Fors"/>
              <a:cs typeface="TT Fors"/>
              <a:sym typeface="TT Fors"/>
            </a:endParaRPr>
          </a:p>
          <a:p>
            <a:pPr algn="l">
              <a:lnSpc>
                <a:spcPts val="3899"/>
              </a:lnSpc>
            </a:pPr>
            <a:r>
              <a:rPr lang="en-US" sz="2599" b="1" spc="-77">
                <a:solidFill>
                  <a:srgbClr val="00FFA8"/>
                </a:solidFill>
                <a:latin typeface="TT Fors Bold"/>
                <a:ea typeface="TT Fors Bold"/>
                <a:cs typeface="TT Fors Bold"/>
                <a:sym typeface="TT Fors Bold"/>
              </a:rPr>
              <a:t>Modern Examples: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Macro Viruses: Embedded in Office documents (Word, Excel)</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Boot Sector Viruses: Infect the master boot record (less common now due to UEFI Secure Boot)</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File Infector Viruses: Attach to executable files (.exe, .dll)</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Polymorphic Viruses: Change their code to evade detection</a:t>
            </a:r>
          </a:p>
          <a:p>
            <a:pPr algn="l">
              <a:lnSpc>
                <a:spcPts val="3899"/>
              </a:lnSpc>
            </a:pPr>
            <a:endParaRPr lang="en-US" sz="2599" spc="-77">
              <a:solidFill>
                <a:srgbClr val="00FFA8"/>
              </a:solidFill>
              <a:latin typeface="TT Fors"/>
              <a:ea typeface="TT Fors"/>
              <a:cs typeface="TT Fors"/>
              <a:sym typeface="TT Fors"/>
            </a:endParaRPr>
          </a:p>
          <a:p>
            <a:pPr algn="l">
              <a:lnSpc>
                <a:spcPts val="3899"/>
              </a:lnSpc>
            </a:pPr>
            <a:r>
              <a:rPr lang="en-US" sz="2599" b="1" spc="-77">
                <a:solidFill>
                  <a:srgbClr val="00FFA8"/>
                </a:solidFill>
                <a:latin typeface="TT Fors Bold"/>
                <a:ea typeface="TT Fors Bold"/>
                <a:cs typeface="TT Fors Bold"/>
                <a:sym typeface="TT Fors Bold"/>
              </a:rPr>
              <a:t>Historical Note:</a:t>
            </a:r>
            <a:r>
              <a:rPr lang="en-US" sz="2599" spc="-77">
                <a:solidFill>
                  <a:srgbClr val="00FFA8"/>
                </a:solidFill>
                <a:latin typeface="TT Fors"/>
                <a:ea typeface="TT Fors"/>
                <a:cs typeface="TT Fors"/>
                <a:sym typeface="TT Fors"/>
              </a:rPr>
              <a:t> The Melissa virus (1999) was a macro virus that spread via email, causing $80 million in damages. While outdated, it demonstrated the power of social engineering combined with technical exploits.</a:t>
            </a:r>
          </a:p>
        </p:txBody>
      </p:sp>
      <p:sp>
        <p:nvSpPr>
          <p:cNvPr id="3" name="TextBox 3"/>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Types of Malware - Viruses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1547515"/>
            <a:ext cx="16766773" cy="939165"/>
          </a:xfrm>
          <a:prstGeom prst="rect">
            <a:avLst/>
          </a:prstGeom>
        </p:spPr>
        <p:txBody>
          <a:bodyPr lIns="0" tIns="0" rIns="0" bIns="0" rtlCol="0" anchor="t">
            <a:spAutoFit/>
          </a:bodyPr>
          <a:lstStyle/>
          <a:p>
            <a:pPr algn="l">
              <a:lnSpc>
                <a:spcPts val="3899"/>
              </a:lnSpc>
            </a:pPr>
            <a:r>
              <a:rPr lang="en-US" sz="2599" spc="-77">
                <a:solidFill>
                  <a:srgbClr val="FFFFFF"/>
                </a:solidFill>
                <a:latin typeface="TT Fors"/>
                <a:ea typeface="TT Fors"/>
                <a:cs typeface="TT Fors"/>
                <a:sym typeface="TT Fors"/>
              </a:rPr>
              <a:t>A </a:t>
            </a:r>
            <a:r>
              <a:rPr lang="en-US" sz="2599" b="1" spc="-77">
                <a:solidFill>
                  <a:srgbClr val="FFFFFF"/>
                </a:solidFill>
                <a:latin typeface="TT Fors Bold"/>
                <a:ea typeface="TT Fors Bold"/>
                <a:cs typeface="TT Fors Bold"/>
                <a:sym typeface="TT Fors Bold"/>
              </a:rPr>
              <a:t>worm</a:t>
            </a:r>
            <a:r>
              <a:rPr lang="en-US" sz="2599" spc="-77">
                <a:solidFill>
                  <a:srgbClr val="FFFFFF"/>
                </a:solidFill>
                <a:latin typeface="TT Fors"/>
                <a:ea typeface="TT Fors"/>
                <a:cs typeface="TT Fors"/>
                <a:sym typeface="TT Fors"/>
              </a:rPr>
              <a:t> is self-replicating malware that spreads automatically across networks without requiring a host program or human intervention.</a:t>
            </a:r>
          </a:p>
        </p:txBody>
      </p:sp>
      <p:sp>
        <p:nvSpPr>
          <p:cNvPr id="3" name="TextBox 3"/>
          <p:cNvSpPr txBox="1"/>
          <p:nvPr/>
        </p:nvSpPr>
        <p:spPr>
          <a:xfrm>
            <a:off x="9809817" y="2926689"/>
            <a:ext cx="7623706" cy="62826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Notable Examples: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Code Red (2001): Exploited IIS web server vulnerability, infected 359,000 systems in 14 hours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Nimda (2001): Multi-vector worm (email, network shares, web servers)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Conficker (2008-2009): Infected 9+ million computers, created massive botnet</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WannaCry (2017): Ransomware worm exploiting EternalBlue vulnerability, affected 200,000+ systems in 150 countries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NotPetya (2017): Disguised as ransomware but actually designed for destruction, caused $10 billion in damages</a:t>
            </a:r>
          </a:p>
        </p:txBody>
      </p:sp>
      <p:sp>
        <p:nvSpPr>
          <p:cNvPr id="4" name="TextBox 4"/>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Types of Malware - W</a:t>
            </a:r>
            <a:r>
              <a:rPr lang="en-US" sz="4800" u="none" strike="noStrike" spc="-144">
                <a:solidFill>
                  <a:srgbClr val="00FFA8"/>
                </a:solidFill>
                <a:latin typeface="ITC Avant Garde Gothic"/>
                <a:ea typeface="ITC Avant Garde Gothic"/>
                <a:cs typeface="ITC Avant Garde Gothic"/>
                <a:sym typeface="ITC Avant Garde Gothic"/>
              </a:rPr>
              <a:t>orms</a:t>
            </a:r>
          </a:p>
        </p:txBody>
      </p:sp>
      <p:sp>
        <p:nvSpPr>
          <p:cNvPr id="5" name="TextBox 5"/>
          <p:cNvSpPr txBox="1"/>
          <p:nvPr/>
        </p:nvSpPr>
        <p:spPr>
          <a:xfrm>
            <a:off x="666750" y="2926689"/>
            <a:ext cx="8932135" cy="579691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Characteristics: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Autonomous propagation through network vulnerabilities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Consumes bandwidth and system resources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Can carry payloads (additional malware)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Spreads exponentially, potentially infecting millions of systems rapidly</a:t>
            </a:r>
          </a:p>
          <a:p>
            <a:pPr algn="l">
              <a:lnSpc>
                <a:spcPts val="3899"/>
              </a:lnSpc>
            </a:pPr>
            <a:endParaRPr lang="en-US" sz="2599" spc="-77">
              <a:solidFill>
                <a:srgbClr val="00FFA8"/>
              </a:solidFill>
              <a:latin typeface="TT Fors"/>
              <a:ea typeface="TT Fors"/>
              <a:cs typeface="TT Fors"/>
              <a:sym typeface="TT Fors"/>
            </a:endParaRPr>
          </a:p>
          <a:p>
            <a:pPr algn="l">
              <a:lnSpc>
                <a:spcPts val="3899"/>
              </a:lnSpc>
            </a:pPr>
            <a:r>
              <a:rPr lang="en-US" sz="2599" b="1" spc="-77">
                <a:solidFill>
                  <a:srgbClr val="00FFA8"/>
                </a:solidFill>
                <a:latin typeface="TT Fors Bold"/>
                <a:ea typeface="TT Fors Bold"/>
                <a:cs typeface="TT Fors Bold"/>
                <a:sym typeface="TT Fors Bold"/>
              </a:rPr>
              <a:t>Modern Worm Techniques: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Exploiting zero-day vulnerabilities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Using stolen credentials for lateral movement</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Fileless propagation (living-off-the-land techniques)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IoT device exploitation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1547515"/>
            <a:ext cx="16766773" cy="939165"/>
          </a:xfrm>
          <a:prstGeom prst="rect">
            <a:avLst/>
          </a:prstGeom>
        </p:spPr>
        <p:txBody>
          <a:bodyPr lIns="0" tIns="0" rIns="0" bIns="0" rtlCol="0" anchor="t">
            <a:spAutoFit/>
          </a:bodyPr>
          <a:lstStyle/>
          <a:p>
            <a:pPr algn="l">
              <a:lnSpc>
                <a:spcPts val="3899"/>
              </a:lnSpc>
            </a:pPr>
            <a:r>
              <a:rPr lang="en-US" sz="2599" spc="-77">
                <a:solidFill>
                  <a:srgbClr val="FFFFFF"/>
                </a:solidFill>
                <a:latin typeface="TT Fors"/>
                <a:ea typeface="TT Fors"/>
                <a:cs typeface="TT Fors"/>
                <a:sym typeface="TT Fors"/>
              </a:rPr>
              <a:t>A </a:t>
            </a:r>
            <a:r>
              <a:rPr lang="en-US" sz="2599" b="1" spc="-77">
                <a:solidFill>
                  <a:srgbClr val="FFFFFF"/>
                </a:solidFill>
                <a:latin typeface="TT Fors Bold"/>
                <a:ea typeface="TT Fors Bold"/>
                <a:cs typeface="TT Fors Bold"/>
                <a:sym typeface="TT Fors Bold"/>
              </a:rPr>
              <a:t>Trojan</a:t>
            </a:r>
            <a:r>
              <a:rPr lang="en-US" sz="2599" spc="-77">
                <a:solidFill>
                  <a:srgbClr val="FFFFFF"/>
                </a:solidFill>
                <a:latin typeface="TT Fors"/>
                <a:ea typeface="TT Fors"/>
                <a:cs typeface="TT Fors"/>
                <a:sym typeface="TT Fors"/>
              </a:rPr>
              <a:t> disguises itself as legitimate software while containing malicious functionality. Unlike viruses and worms, Trojans do not self-replicate.</a:t>
            </a:r>
          </a:p>
        </p:txBody>
      </p:sp>
      <p:sp>
        <p:nvSpPr>
          <p:cNvPr id="3" name="TextBox 3"/>
          <p:cNvSpPr txBox="1"/>
          <p:nvPr/>
        </p:nvSpPr>
        <p:spPr>
          <a:xfrm>
            <a:off x="9809817" y="2926689"/>
            <a:ext cx="7623706" cy="288226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Real-World Example: </a:t>
            </a:r>
          </a:p>
          <a:p>
            <a:pPr algn="l">
              <a:lnSpc>
                <a:spcPts val="3899"/>
              </a:lnSpc>
            </a:pPr>
            <a:r>
              <a:rPr lang="en-US" sz="2599" spc="-77">
                <a:solidFill>
                  <a:srgbClr val="00FFA8"/>
                </a:solidFill>
                <a:latin typeface="TT Fors"/>
                <a:ea typeface="TT Fors"/>
                <a:cs typeface="TT Fors"/>
                <a:sym typeface="TT Fors"/>
              </a:rPr>
              <a:t>Backdoor.Ploutus (2013) - ATM Trojan that allowed criminals to send SMS commands to compromised ATMs to dispense cash. This demonstrated how Trojans can target non-traditional computing devices.</a:t>
            </a:r>
          </a:p>
        </p:txBody>
      </p:sp>
      <p:sp>
        <p:nvSpPr>
          <p:cNvPr id="4" name="TextBox 4"/>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Types of Malware - Trojan H</a:t>
            </a:r>
            <a:r>
              <a:rPr lang="en-US" sz="4800" u="none" strike="noStrike" spc="-144">
                <a:solidFill>
                  <a:srgbClr val="00FFA8"/>
                </a:solidFill>
                <a:latin typeface="ITC Avant Garde Gothic"/>
                <a:ea typeface="ITC Avant Garde Gothic"/>
                <a:cs typeface="ITC Avant Garde Gothic"/>
                <a:sym typeface="ITC Avant Garde Gothic"/>
              </a:rPr>
              <a:t>orses (Trojans)</a:t>
            </a:r>
          </a:p>
        </p:txBody>
      </p:sp>
      <p:sp>
        <p:nvSpPr>
          <p:cNvPr id="5" name="TextBox 5"/>
          <p:cNvSpPr txBox="1"/>
          <p:nvPr/>
        </p:nvSpPr>
        <p:spPr>
          <a:xfrm>
            <a:off x="666750" y="2926689"/>
            <a:ext cx="8932135" cy="676846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Characteristics: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Masquerades as useful or harmless software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Requires user interaction to install</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Creates backdoors for remote access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Often delivers additional malware payloads</a:t>
            </a:r>
          </a:p>
          <a:p>
            <a:pPr algn="l">
              <a:lnSpc>
                <a:spcPts val="3899"/>
              </a:lnSpc>
            </a:pPr>
            <a:r>
              <a:rPr lang="en-US" sz="2599" b="1" spc="-77">
                <a:solidFill>
                  <a:srgbClr val="00FFA8"/>
                </a:solidFill>
                <a:latin typeface="TT Fors Bold"/>
                <a:ea typeface="TT Fors Bold"/>
                <a:cs typeface="TT Fors Bold"/>
                <a:sym typeface="TT Fors Bold"/>
              </a:rPr>
              <a:t>Types of Trojans: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Remote Access Trojans (RATs): Allow complete remote control (e.g., DarkComet, njRAT, Quasar)</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Banking Trojans: Steal financial credentials (e.g., Zeus, Emotet, TrickBot)</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Backdoor Trojans: Provide hidden access points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Rootkit Trojans: Hide malware presence at kernel level</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Trojanized Applications: Legitimate apps infected with malware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1547515"/>
            <a:ext cx="16766773" cy="939165"/>
          </a:xfrm>
          <a:prstGeom prst="rect">
            <a:avLst/>
          </a:prstGeom>
        </p:spPr>
        <p:txBody>
          <a:bodyPr lIns="0" tIns="0" rIns="0" bIns="0" rtlCol="0" anchor="t">
            <a:spAutoFit/>
          </a:bodyPr>
          <a:lstStyle/>
          <a:p>
            <a:pPr algn="l">
              <a:lnSpc>
                <a:spcPts val="3899"/>
              </a:lnSpc>
            </a:pPr>
            <a:r>
              <a:rPr lang="en-US" sz="2599" b="1" spc="-77">
                <a:solidFill>
                  <a:srgbClr val="FFFFFF"/>
                </a:solidFill>
                <a:latin typeface="TT Fors Bold"/>
                <a:ea typeface="TT Fors Bold"/>
                <a:cs typeface="TT Fors Bold"/>
                <a:sym typeface="TT Fors Bold"/>
              </a:rPr>
              <a:t>Ransomware</a:t>
            </a:r>
            <a:r>
              <a:rPr lang="en-US" sz="2599" spc="-77">
                <a:solidFill>
                  <a:srgbClr val="FFFFFF"/>
                </a:solidFill>
                <a:latin typeface="TT Fors"/>
                <a:ea typeface="TT Fors"/>
                <a:cs typeface="TT Fors"/>
                <a:sym typeface="TT Fors"/>
              </a:rPr>
              <a:t> encrypts victim's files and demands payment for decryption keys, representing one of the most profitable and damaging cybercrimes today.</a:t>
            </a:r>
          </a:p>
        </p:txBody>
      </p:sp>
      <p:sp>
        <p:nvSpPr>
          <p:cNvPr id="3" name="TextBox 3"/>
          <p:cNvSpPr txBox="1"/>
          <p:nvPr/>
        </p:nvSpPr>
        <p:spPr>
          <a:xfrm>
            <a:off x="9144000" y="2926689"/>
            <a:ext cx="8532338" cy="62693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Major Ransomware Families: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REvil/Sodinokibi: Targeted supply chains, demanded $70M from Kaseya</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Ryuk: Targets healthcare and enterprises, often deployed after initial compromise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LockBit: RaaS operation, fastest encryption speeds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BlackCat/ALPHV: Rust-based, cross-platform capabilities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Conti: Russian-speaking group, leaked internal communications</a:t>
            </a:r>
          </a:p>
          <a:p>
            <a:pPr algn="l">
              <a:lnSpc>
                <a:spcPts val="3300"/>
              </a:lnSpc>
            </a:pPr>
            <a:r>
              <a:rPr lang="en-US" sz="2200" b="1" spc="-66">
                <a:solidFill>
                  <a:srgbClr val="00FFA8"/>
                </a:solidFill>
                <a:latin typeface="TT Fors Bold"/>
                <a:ea typeface="TT Fors Bold"/>
                <a:cs typeface="TT Fors Bold"/>
                <a:sym typeface="TT Fors Bold"/>
              </a:rPr>
              <a:t>Prevention Strategies: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Regular offline backups (3-2-1 rule)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Network segmentation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Endpoint Detection and Response (EDR)</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Security awareness training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Patch management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Email filtering and web protection</a:t>
            </a:r>
          </a:p>
        </p:txBody>
      </p:sp>
      <p:sp>
        <p:nvSpPr>
          <p:cNvPr id="4" name="TextBox 4"/>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Types of Malware - Ransomware</a:t>
            </a:r>
          </a:p>
        </p:txBody>
      </p:sp>
      <p:sp>
        <p:nvSpPr>
          <p:cNvPr id="5" name="TextBox 5"/>
          <p:cNvSpPr txBox="1"/>
          <p:nvPr/>
        </p:nvSpPr>
        <p:spPr>
          <a:xfrm>
            <a:off x="666750" y="2926689"/>
            <a:ext cx="8234435" cy="50120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Characteristics: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Encrypts files using strong cryptography (AES, RSA)</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Demands payment in cryptocurrency (Bitcoin, Monero)</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Often includes data exfiltration (double extortion)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Targets individuals, businesses, healthcare, government</a:t>
            </a:r>
          </a:p>
          <a:p>
            <a:pPr algn="l">
              <a:lnSpc>
                <a:spcPts val="3300"/>
              </a:lnSpc>
            </a:pPr>
            <a:r>
              <a:rPr lang="en-US" sz="2200" b="1" spc="-66">
                <a:solidFill>
                  <a:srgbClr val="00FFA8"/>
                </a:solidFill>
                <a:latin typeface="TT Fors Bold"/>
                <a:ea typeface="TT Fors Bold"/>
                <a:cs typeface="TT Fors Bold"/>
                <a:sym typeface="TT Fors Bold"/>
              </a:rPr>
              <a:t>Evolution of Ransomware: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First Generation (2013-2016): Simple encryption (e.g., CryptoLocker)</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Second Generation (2017-2020): Worm capabilities (WannaCry, NotPetya)</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Third Generation (2021-Present): Ransomware-as-a-Service (RaaS), double/triple extortion, targeted attacks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1547515"/>
            <a:ext cx="16766773" cy="453390"/>
          </a:xfrm>
          <a:prstGeom prst="rect">
            <a:avLst/>
          </a:prstGeom>
        </p:spPr>
        <p:txBody>
          <a:bodyPr lIns="0" tIns="0" rIns="0" bIns="0" rtlCol="0" anchor="t">
            <a:spAutoFit/>
          </a:bodyPr>
          <a:lstStyle/>
          <a:p>
            <a:pPr algn="l">
              <a:lnSpc>
                <a:spcPts val="3899"/>
              </a:lnSpc>
            </a:pPr>
            <a:r>
              <a:rPr lang="en-US" sz="2599" b="1" spc="-77">
                <a:solidFill>
                  <a:srgbClr val="FFFFFF"/>
                </a:solidFill>
                <a:latin typeface="TT Fors Bold"/>
                <a:ea typeface="TT Fors Bold"/>
                <a:cs typeface="TT Fors Bold"/>
                <a:sym typeface="TT Fors Bold"/>
              </a:rPr>
              <a:t>Spyware </a:t>
            </a:r>
            <a:r>
              <a:rPr lang="en-US" sz="2599" spc="-77">
                <a:solidFill>
                  <a:srgbClr val="FFFFFF"/>
                </a:solidFill>
                <a:latin typeface="TT Fors"/>
                <a:ea typeface="TT Fors"/>
                <a:cs typeface="TT Fors"/>
                <a:sym typeface="TT Fors"/>
              </a:rPr>
              <a:t>secretly monitors user activities and sends collected information to attackers without consent.</a:t>
            </a:r>
          </a:p>
        </p:txBody>
      </p:sp>
      <p:sp>
        <p:nvSpPr>
          <p:cNvPr id="3" name="TextBox 3"/>
          <p:cNvSpPr txBox="1"/>
          <p:nvPr/>
        </p:nvSpPr>
        <p:spPr>
          <a:xfrm>
            <a:off x="9144000" y="2926689"/>
            <a:ext cx="8532338" cy="24974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Protection Measures: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Anti-malware software (Malwarebytes, Windows Defender)</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Browser privacy extensions (uBlock Origin, Privacy Badger)</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Regular privacy audits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Minimal software installation principle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Review app permissions on mobile devices</a:t>
            </a:r>
          </a:p>
        </p:txBody>
      </p:sp>
      <p:sp>
        <p:nvSpPr>
          <p:cNvPr id="4" name="TextBox 4"/>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Types of Malware - Spyware and Adware</a:t>
            </a:r>
          </a:p>
        </p:txBody>
      </p:sp>
      <p:sp>
        <p:nvSpPr>
          <p:cNvPr id="5" name="TextBox 5"/>
          <p:cNvSpPr txBox="1"/>
          <p:nvPr/>
        </p:nvSpPr>
        <p:spPr>
          <a:xfrm>
            <a:off x="666750" y="2926689"/>
            <a:ext cx="8234435" cy="66884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Types of Spyware: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Keyloggers: Record keystrokes to capture passwords and sensitive data</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Screen scrapers: Capture screenshots at intervals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Infostealers: Extract saved passwords, cookies, cryptocurrency wallets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Monitoring software: Track browsing history, emails, messages</a:t>
            </a:r>
          </a:p>
          <a:p>
            <a:pPr algn="l">
              <a:lnSpc>
                <a:spcPts val="3300"/>
              </a:lnSpc>
            </a:pPr>
            <a:r>
              <a:rPr lang="en-US" sz="2200" b="1" spc="-66">
                <a:solidFill>
                  <a:srgbClr val="FFFFFF"/>
                </a:solidFill>
                <a:latin typeface="TT Fors Bold"/>
                <a:ea typeface="TT Fors Bold"/>
                <a:cs typeface="TT Fors Bold"/>
                <a:sym typeface="TT Fors Bold"/>
              </a:rPr>
              <a:t>Adware displays unwanted advertisements and tracks user behavior for marketing purposes.</a:t>
            </a:r>
          </a:p>
          <a:p>
            <a:pPr algn="l">
              <a:lnSpc>
                <a:spcPts val="3300"/>
              </a:lnSpc>
            </a:pPr>
            <a:endParaRPr lang="en-US" sz="2200" b="1" spc="-66">
              <a:solidFill>
                <a:srgbClr val="FFFFFF"/>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Modern Concerns: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Legitimate software with excessive data collection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Mobile spyware (e.g., Pegasus targeting journalists and activists)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Stalkerware in domestic abuse situations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Browser extensions with hidden tracking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1547515"/>
            <a:ext cx="16766773" cy="939165"/>
          </a:xfrm>
          <a:prstGeom prst="rect">
            <a:avLst/>
          </a:prstGeom>
        </p:spPr>
        <p:txBody>
          <a:bodyPr lIns="0" tIns="0" rIns="0" bIns="0" rtlCol="0" anchor="t">
            <a:spAutoFit/>
          </a:bodyPr>
          <a:lstStyle/>
          <a:p>
            <a:pPr algn="l">
              <a:lnSpc>
                <a:spcPts val="3899"/>
              </a:lnSpc>
            </a:pPr>
            <a:r>
              <a:rPr lang="en-US" sz="2599" b="1" spc="-77">
                <a:solidFill>
                  <a:srgbClr val="FFFFFF"/>
                </a:solidFill>
                <a:latin typeface="TT Fors Bold"/>
                <a:ea typeface="TT Fors Bold"/>
                <a:cs typeface="TT Fors Bold"/>
                <a:sym typeface="TT Fors Bold"/>
              </a:rPr>
              <a:t>Rootkits </a:t>
            </a:r>
            <a:r>
              <a:rPr lang="en-US" sz="2599" spc="-77">
                <a:solidFill>
                  <a:srgbClr val="FFFFFF"/>
                </a:solidFill>
                <a:latin typeface="TT Fors"/>
                <a:ea typeface="TT Fors"/>
                <a:cs typeface="TT Fors"/>
                <a:sym typeface="TT Fors"/>
              </a:rPr>
              <a:t>are sophisticated malware designed to hide their presence and maintain persistent, privileged access to systems.</a:t>
            </a:r>
          </a:p>
        </p:txBody>
      </p:sp>
      <p:sp>
        <p:nvSpPr>
          <p:cNvPr id="3" name="TextBox 3"/>
          <p:cNvSpPr txBox="1"/>
          <p:nvPr/>
        </p:nvSpPr>
        <p:spPr>
          <a:xfrm>
            <a:off x="9144000" y="2926689"/>
            <a:ext cx="8532338" cy="20783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Detection and Removal:</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Memory analysis tools (Volatility, Rekall)</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Rootkit scanners (GMER, TDSSKiller)</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Behavioral analysis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Often requires complete system reinstallation</a:t>
            </a:r>
          </a:p>
        </p:txBody>
      </p:sp>
      <p:sp>
        <p:nvSpPr>
          <p:cNvPr id="4" name="TextBox 4"/>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Types of Malware - Rootkits </a:t>
            </a:r>
          </a:p>
        </p:txBody>
      </p:sp>
      <p:sp>
        <p:nvSpPr>
          <p:cNvPr id="5" name="TextBox 5"/>
          <p:cNvSpPr txBox="1"/>
          <p:nvPr/>
        </p:nvSpPr>
        <p:spPr>
          <a:xfrm>
            <a:off x="666750" y="2926689"/>
            <a:ext cx="8234435" cy="50120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Characteristics: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Operates at kernel level (Ring 0)</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Hides processes, files, network connections, and registry keys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Extremely difficult to detect and remove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Often installed via other malware or exploits</a:t>
            </a:r>
          </a:p>
          <a:p>
            <a:pPr algn="l">
              <a:lnSpc>
                <a:spcPts val="3300"/>
              </a:lnSpc>
            </a:pPr>
            <a:r>
              <a:rPr lang="en-US" sz="2200" b="1" spc="-66">
                <a:solidFill>
                  <a:srgbClr val="00FFA8"/>
                </a:solidFill>
                <a:latin typeface="TT Fors Bold"/>
                <a:ea typeface="TT Fors Bold"/>
                <a:cs typeface="TT Fors Bold"/>
                <a:sym typeface="TT Fors Bold"/>
              </a:rPr>
              <a:t>Types of Rootkits: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User-mode Rootkits: Run in application space (easier to detect)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Kernel-mode Rootkits: Run in kernel space (very stealthy)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Bootkit/Bootkits: Infect boot process (Master Boot Record or UEFI)</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Firmware Rootkits: Embed in hardware firmware (nearly impossible to remove)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9144000" y="1742222"/>
            <a:ext cx="8532338" cy="71075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Malware Lifecycle (Cyber Kill Chain)</a:t>
            </a:r>
          </a:p>
          <a:p>
            <a:pPr algn="l">
              <a:lnSpc>
                <a:spcPts val="3300"/>
              </a:lnSpc>
            </a:pPr>
            <a:r>
              <a:rPr lang="en-US" sz="2200" b="1" spc="-66">
                <a:solidFill>
                  <a:srgbClr val="00FFA8"/>
                </a:solidFill>
                <a:latin typeface="TT Fors Bold"/>
                <a:ea typeface="TT Fors Bold"/>
                <a:cs typeface="TT Fors Bold"/>
                <a:sym typeface="TT Fors Bold"/>
              </a:rPr>
              <a:t>Developed by Lockheed Martin, the Cyber Kill Chain describes malware attack phases:</a:t>
            </a:r>
          </a:p>
          <a:p>
            <a:pPr marL="474981" lvl="1" indent="-237491" algn="l">
              <a:lnSpc>
                <a:spcPts val="3300"/>
              </a:lnSpc>
              <a:buAutoNum type="arabicPeriod"/>
            </a:pPr>
            <a:r>
              <a:rPr lang="en-US" sz="2200" spc="-66">
                <a:solidFill>
                  <a:srgbClr val="00FFA8"/>
                </a:solidFill>
                <a:latin typeface="TT Fors"/>
                <a:ea typeface="TT Fors"/>
                <a:cs typeface="TT Fors"/>
                <a:sym typeface="TT Fors"/>
              </a:rPr>
              <a:t>Reconnaissance: Attacker researches target</a:t>
            </a:r>
          </a:p>
          <a:p>
            <a:pPr marL="474981" lvl="1" indent="-237491" algn="l">
              <a:lnSpc>
                <a:spcPts val="3300"/>
              </a:lnSpc>
              <a:buAutoNum type="arabicPeriod"/>
            </a:pPr>
            <a:r>
              <a:rPr lang="en-US" sz="2200" spc="-66">
                <a:solidFill>
                  <a:srgbClr val="00FFA8"/>
                </a:solidFill>
                <a:latin typeface="TT Fors"/>
                <a:ea typeface="TT Fors"/>
                <a:cs typeface="TT Fors"/>
                <a:sym typeface="TT Fors"/>
              </a:rPr>
              <a:t>Weaponization: Creating malware payload</a:t>
            </a:r>
          </a:p>
          <a:p>
            <a:pPr marL="474981" lvl="1" indent="-237491" algn="l">
              <a:lnSpc>
                <a:spcPts val="3300"/>
              </a:lnSpc>
              <a:buAutoNum type="arabicPeriod"/>
            </a:pPr>
            <a:r>
              <a:rPr lang="en-US" sz="2200" spc="-66">
                <a:solidFill>
                  <a:srgbClr val="00FFA8"/>
                </a:solidFill>
                <a:latin typeface="TT Fors"/>
                <a:ea typeface="TT Fors"/>
                <a:cs typeface="TT Fors"/>
                <a:sym typeface="TT Fors"/>
              </a:rPr>
              <a:t>Delivery: Transmitting malware to target (email, web, USB)</a:t>
            </a:r>
          </a:p>
          <a:p>
            <a:pPr marL="474981" lvl="1" indent="-237491" algn="l">
              <a:lnSpc>
                <a:spcPts val="3300"/>
              </a:lnSpc>
              <a:buAutoNum type="arabicPeriod"/>
            </a:pPr>
            <a:r>
              <a:rPr lang="en-US" sz="2200" spc="-66">
                <a:solidFill>
                  <a:srgbClr val="00FFA8"/>
                </a:solidFill>
                <a:latin typeface="TT Fors"/>
                <a:ea typeface="TT Fors"/>
                <a:cs typeface="TT Fors"/>
                <a:sym typeface="TT Fors"/>
              </a:rPr>
              <a:t>Exploitation: Triggering vulnerability to execute code</a:t>
            </a:r>
          </a:p>
          <a:p>
            <a:pPr marL="474981" lvl="1" indent="-237491" algn="l">
              <a:lnSpc>
                <a:spcPts val="3300"/>
              </a:lnSpc>
              <a:buAutoNum type="arabicPeriod"/>
            </a:pPr>
            <a:r>
              <a:rPr lang="en-US" sz="2200" spc="-66">
                <a:solidFill>
                  <a:srgbClr val="00FFA8"/>
                </a:solidFill>
                <a:latin typeface="TT Fors"/>
                <a:ea typeface="TT Fors"/>
                <a:cs typeface="TT Fors"/>
                <a:sym typeface="TT Fors"/>
              </a:rPr>
              <a:t>Installation: Installing persistent backdoor</a:t>
            </a:r>
          </a:p>
          <a:p>
            <a:pPr marL="474981" lvl="1" indent="-237491" algn="l">
              <a:lnSpc>
                <a:spcPts val="3300"/>
              </a:lnSpc>
              <a:buAutoNum type="arabicPeriod"/>
            </a:pPr>
            <a:r>
              <a:rPr lang="en-US" sz="2200" spc="-66">
                <a:solidFill>
                  <a:srgbClr val="00FFA8"/>
                </a:solidFill>
                <a:latin typeface="TT Fors"/>
                <a:ea typeface="TT Fors"/>
                <a:cs typeface="TT Fors"/>
                <a:sym typeface="TT Fors"/>
              </a:rPr>
              <a:t>Command and Control (C2): Establishing remote communication channel</a:t>
            </a:r>
          </a:p>
          <a:p>
            <a:pPr marL="474981" lvl="1" indent="-237491" algn="l">
              <a:lnSpc>
                <a:spcPts val="3300"/>
              </a:lnSpc>
              <a:buAutoNum type="arabicPeriod"/>
            </a:pPr>
            <a:r>
              <a:rPr lang="en-US" sz="2200" spc="-66">
                <a:solidFill>
                  <a:srgbClr val="00FFA8"/>
                </a:solidFill>
                <a:latin typeface="TT Fors"/>
                <a:ea typeface="TT Fors"/>
                <a:cs typeface="TT Fors"/>
                <a:sym typeface="TT Fors"/>
              </a:rPr>
              <a:t>Actions on Objectives: Achieving attacker's goal (data theft, encryption, etc.)</a:t>
            </a:r>
          </a:p>
          <a:p>
            <a:pPr algn="l">
              <a:lnSpc>
                <a:spcPts val="3300"/>
              </a:lnSpc>
            </a:pPr>
            <a:r>
              <a:rPr lang="en-US" sz="2200" b="1" spc="-66">
                <a:solidFill>
                  <a:srgbClr val="00FFA8"/>
                </a:solidFill>
                <a:latin typeface="TT Fors Bold"/>
                <a:ea typeface="TT Fors Bold"/>
                <a:cs typeface="TT Fors Bold"/>
                <a:sym typeface="TT Fors Bold"/>
              </a:rPr>
              <a:t>Modern Addition - MITRE ATT&amp;CK Framework: More detailed framework covering: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Initial Access → Execution → Persistence → Privilege Escalation → Defense Evasion → Credential Access → Discovery → Lateral Movement → Collection → Exfiltration → Impact</a:t>
            </a:r>
          </a:p>
        </p:txBody>
      </p:sp>
      <p:sp>
        <p:nvSpPr>
          <p:cNvPr id="3" name="TextBox 3"/>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Malware Attack Vectors and Lifecycle </a:t>
            </a:r>
          </a:p>
        </p:txBody>
      </p:sp>
      <p:sp>
        <p:nvSpPr>
          <p:cNvPr id="4" name="TextBox 4"/>
          <p:cNvSpPr txBox="1"/>
          <p:nvPr/>
        </p:nvSpPr>
        <p:spPr>
          <a:xfrm>
            <a:off x="666750" y="1742222"/>
            <a:ext cx="8234435" cy="50120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Common Attack Vectors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Email Attachments: Malicious documents, executables disguised as PDFs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Phishing Links: Drive-by downloads from compromised websites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Software Vulnerabilities: Exploiting unpatched systems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Social Engineering: Tricking users into installing malware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Removable Media: USB drives, external hard drives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Supply Chain Attacks: Compromising legitimate software updates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Malvertising: Malicious advertisements on legitimate websites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Watering Hole Attacks: Compromising frequently visited websites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9144000" y="2205546"/>
            <a:ext cx="8532338" cy="33356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2. Endpoint Detection and Response (EDR) Modern replacement for traditional antivirus: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Continuous monitoring and recording of endpoint activities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Behavioral analysis and anomaly detection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Automated threat response and remediation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Forensic capabilities for incident investigation</a:t>
            </a:r>
          </a:p>
          <a:p>
            <a:pPr algn="l">
              <a:lnSpc>
                <a:spcPts val="3300"/>
              </a:lnSpc>
            </a:pPr>
            <a:r>
              <a:rPr lang="en-US" sz="2200" b="1" spc="-66">
                <a:solidFill>
                  <a:srgbClr val="FFFFFF"/>
                </a:solidFill>
                <a:latin typeface="TT Fors Bold"/>
                <a:ea typeface="TT Fors Bold"/>
                <a:cs typeface="TT Fors Bold"/>
                <a:sym typeface="TT Fors Bold"/>
              </a:rPr>
              <a:t>Leading EDR Solutions: CrowdStrike Falcon, Microsoft Defender for Endpoint, SentinelOne, Carbon Black</a:t>
            </a:r>
          </a:p>
        </p:txBody>
      </p:sp>
      <p:sp>
        <p:nvSpPr>
          <p:cNvPr id="3" name="TextBox 3"/>
          <p:cNvSpPr txBox="1"/>
          <p:nvPr/>
        </p:nvSpPr>
        <p:spPr>
          <a:xfrm>
            <a:off x="9144000" y="5694045"/>
            <a:ext cx="8532338" cy="41738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3. Firewalls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Network Firewalls: Control traffic between networks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Host-based Firewalls: Protect individual devices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Next-Generation Firewalls (NGFW): Deep packet inspection, application awareness, intrusion prevention</a:t>
            </a:r>
          </a:p>
          <a:p>
            <a:pPr algn="l">
              <a:lnSpc>
                <a:spcPts val="3300"/>
              </a:lnSpc>
            </a:pPr>
            <a:r>
              <a:rPr lang="en-US" sz="2200" b="1" spc="-66">
                <a:solidFill>
                  <a:srgbClr val="00FFA8"/>
                </a:solidFill>
                <a:latin typeface="TT Fors Bold"/>
                <a:ea typeface="TT Fors Bold"/>
                <a:cs typeface="TT Fors Bold"/>
                <a:sym typeface="TT Fors Bold"/>
              </a:rPr>
              <a:t>Configuration Best Practices: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Default-deny policy (whitelist approach)</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Filter both incoming and outgoing traffic</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Block unnecessary ports and services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Monitor for unusual outbound connections (C2 communication)</a:t>
            </a:r>
          </a:p>
        </p:txBody>
      </p:sp>
      <p:sp>
        <p:nvSpPr>
          <p:cNvPr id="4" name="TextBox 4"/>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Protection Against Malware Attacks</a:t>
            </a:r>
          </a:p>
        </p:txBody>
      </p:sp>
      <p:sp>
        <p:nvSpPr>
          <p:cNvPr id="5" name="TextBox 5"/>
          <p:cNvSpPr txBox="1"/>
          <p:nvPr/>
        </p:nvSpPr>
        <p:spPr>
          <a:xfrm>
            <a:off x="666750" y="2205546"/>
            <a:ext cx="8234435" cy="62693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1. Antivirus/Anti-Malware Solutions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Signature-based Detection: Identifies known malware patterns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Heuristic Analysis: Detects suspicious behavior</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Sandboxing: Executes suspicious files in isolated environment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Machine Learning: Identifies new/unknown threats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Cloud-based Threat Intelligence: Real-time updates from global threat data</a:t>
            </a:r>
          </a:p>
          <a:p>
            <a:pPr algn="l">
              <a:lnSpc>
                <a:spcPts val="3300"/>
              </a:lnSpc>
            </a:pPr>
            <a:r>
              <a:rPr lang="en-US" sz="2200" b="1" spc="-66">
                <a:solidFill>
                  <a:srgbClr val="00FFA8"/>
                </a:solidFill>
                <a:latin typeface="TT Fors Bold"/>
                <a:ea typeface="TT Fors Bold"/>
                <a:cs typeface="TT Fors Bold"/>
                <a:sym typeface="TT Fors Bold"/>
              </a:rPr>
              <a:t>Limitations: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Zero-day exploits evade signature detection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Polymorphic malware changes signatures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Advanced threats use evasion techniques</a:t>
            </a:r>
          </a:p>
          <a:p>
            <a:pPr algn="l">
              <a:lnSpc>
                <a:spcPts val="3300"/>
              </a:lnSpc>
            </a:pPr>
            <a:r>
              <a:rPr lang="en-US" sz="2200" b="1" spc="-66">
                <a:solidFill>
                  <a:srgbClr val="00FFA8"/>
                </a:solidFill>
                <a:latin typeface="TT Fors Bold"/>
                <a:ea typeface="TT Fors Bold"/>
                <a:cs typeface="TT Fors Bold"/>
                <a:sym typeface="TT Fors Bold"/>
              </a:rPr>
              <a:t>Best Practices: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Keep signatures updated automatically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Use reputable vendors (Kaspersky, Bitdefender, ESET, Sophos)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Combine with other security layers</a:t>
            </a:r>
          </a:p>
        </p:txBody>
      </p:sp>
      <p:sp>
        <p:nvSpPr>
          <p:cNvPr id="6" name="TextBox 6"/>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Technical Defenses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Protection Against Malware Attacks (Continued)</a:t>
            </a:r>
          </a:p>
        </p:txBody>
      </p:sp>
      <p:sp>
        <p:nvSpPr>
          <p:cNvPr id="3" name="TextBox 3"/>
          <p:cNvSpPr txBox="1"/>
          <p:nvPr/>
        </p:nvSpPr>
        <p:spPr>
          <a:xfrm>
            <a:off x="666750" y="2131636"/>
            <a:ext cx="8234435" cy="79457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4. Intrusion Detection/Prevention Systems (IDS/IPS)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IDS: Monitors and alerts on suspicious activity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IPS: Actively blocks detected threats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Network-based (NIDS/NIPS): Monitors network traffic</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Host-based (HIDS/HIPS): Monitors system activities</a:t>
            </a:r>
          </a:p>
          <a:p>
            <a:pPr algn="l">
              <a:lnSpc>
                <a:spcPts val="3300"/>
              </a:lnSpc>
            </a:pPr>
            <a:r>
              <a:rPr lang="en-US" sz="2200" b="1" spc="-66">
                <a:solidFill>
                  <a:srgbClr val="00FFA8"/>
                </a:solidFill>
                <a:latin typeface="TT Fors Bold"/>
                <a:ea typeface="TT Fors Bold"/>
                <a:cs typeface="TT Fors Bold"/>
                <a:sym typeface="TT Fors Bold"/>
              </a:rPr>
              <a:t>5. Email Security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Spam filters with malware scanning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Attachment sandboxing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Link analysis and URL rewriting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SPF, DKIM, DMARC authentication</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User-reported phishing analysis</a:t>
            </a:r>
          </a:p>
          <a:p>
            <a:pPr algn="l">
              <a:lnSpc>
                <a:spcPts val="3300"/>
              </a:lnSpc>
            </a:pPr>
            <a:r>
              <a:rPr lang="en-US" sz="2200" b="1" spc="-66">
                <a:solidFill>
                  <a:srgbClr val="00FFA8"/>
                </a:solidFill>
                <a:latin typeface="TT Fors Bold"/>
                <a:ea typeface="TT Fors Bold"/>
                <a:cs typeface="TT Fors Bold"/>
                <a:sym typeface="TT Fors Bold"/>
              </a:rPr>
              <a:t>6. Application Whitelisting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Only approved applications can execute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Highly effective against unknown malware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Requires careful management and user training</a:t>
            </a:r>
          </a:p>
          <a:p>
            <a:pPr algn="l">
              <a:lnSpc>
                <a:spcPts val="3300"/>
              </a:lnSpc>
            </a:pPr>
            <a:r>
              <a:rPr lang="en-US" sz="2200" b="1" spc="-66">
                <a:solidFill>
                  <a:srgbClr val="00FFA8"/>
                </a:solidFill>
                <a:latin typeface="TT Fors Bold"/>
                <a:ea typeface="TT Fors Bold"/>
                <a:cs typeface="TT Fors Bold"/>
                <a:sym typeface="TT Fors Bold"/>
              </a:rPr>
              <a:t>7. Network Segmentation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Divide network into isolated segments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Limit lateral movement of malware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Implement Zero Trust architecture</a:t>
            </a:r>
          </a:p>
        </p:txBody>
      </p:sp>
      <p:sp>
        <p:nvSpPr>
          <p:cNvPr id="4" name="TextBox 4"/>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Technical Defenses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Protection Against Malware Attacks (Continued)</a:t>
            </a:r>
          </a:p>
        </p:txBody>
      </p:sp>
      <p:sp>
        <p:nvSpPr>
          <p:cNvPr id="3" name="TextBox 3"/>
          <p:cNvSpPr txBox="1"/>
          <p:nvPr/>
        </p:nvSpPr>
        <p:spPr>
          <a:xfrm>
            <a:off x="666750" y="2131636"/>
            <a:ext cx="8234435" cy="50120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1. Security Awareness Training Most effective long-term defense against malware:</a:t>
            </a:r>
          </a:p>
          <a:p>
            <a:pPr algn="l">
              <a:lnSpc>
                <a:spcPts val="3300"/>
              </a:lnSpc>
            </a:pPr>
            <a:endParaRPr lang="en-US" sz="2200" b="1" spc="-66">
              <a:solidFill>
                <a:srgbClr val="00FFA8"/>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Training Components: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Initial Training: Comprehensive security orientation for all employees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Regular Updates: Monthly security newsletters, tips, and alerts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Simulated Phishing: Test and educate users with fake phishing campaigns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Role-specific Training: Tailored content for IT, finance, executives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Incident Reporting: Teach users how to report suspicious activities</a:t>
            </a:r>
          </a:p>
        </p:txBody>
      </p:sp>
      <p:sp>
        <p:nvSpPr>
          <p:cNvPr id="4" name="TextBox 4"/>
          <p:cNvSpPr txBox="1"/>
          <p:nvPr/>
        </p:nvSpPr>
        <p:spPr>
          <a:xfrm>
            <a:off x="9314983" y="2131636"/>
            <a:ext cx="8234435" cy="54311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Key Topics: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Recognizing phishing emails and malicious links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Safe browsing habits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Password security and multi-factor authentication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Social engineering awareness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Proper handling of sensitive data</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Mobile device security</a:t>
            </a:r>
          </a:p>
          <a:p>
            <a:pPr algn="l">
              <a:lnSpc>
                <a:spcPts val="3300"/>
              </a:lnSpc>
            </a:pPr>
            <a:r>
              <a:rPr lang="en-US" sz="2200" b="1" spc="-66">
                <a:solidFill>
                  <a:srgbClr val="00FFA8"/>
                </a:solidFill>
                <a:latin typeface="TT Fors Bold"/>
                <a:ea typeface="TT Fors Bold"/>
                <a:cs typeface="TT Fors Bold"/>
                <a:sym typeface="TT Fors Bold"/>
              </a:rPr>
              <a:t>Avoid FUD (Fear, Uncertainty, Doubt):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Don't scare users into compliance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Build awareness through education, not intimidation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Create a culture where reporting mistakes is encouraged</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Focus on empowerment rather than punishment</a:t>
            </a:r>
          </a:p>
          <a:p>
            <a:pPr algn="l">
              <a:lnSpc>
                <a:spcPts val="3300"/>
              </a:lnSpc>
            </a:pPr>
            <a:endParaRPr lang="en-US" sz="2200" spc="-66">
              <a:solidFill>
                <a:srgbClr val="00FFA8"/>
              </a:solidFill>
              <a:latin typeface="TT Fors"/>
              <a:ea typeface="TT Fors"/>
              <a:cs typeface="TT Fors"/>
              <a:sym typeface="TT Fors"/>
            </a:endParaRPr>
          </a:p>
        </p:txBody>
      </p:sp>
      <p:sp>
        <p:nvSpPr>
          <p:cNvPr id="5" name="TextBox 5"/>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Organizational Defenses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Protection Against Malware Attacks (Continued)</a:t>
            </a:r>
          </a:p>
        </p:txBody>
      </p:sp>
      <p:sp>
        <p:nvSpPr>
          <p:cNvPr id="3" name="TextBox 3"/>
          <p:cNvSpPr txBox="1"/>
          <p:nvPr/>
        </p:nvSpPr>
        <p:spPr>
          <a:xfrm>
            <a:off x="666750" y="2131636"/>
            <a:ext cx="8234435" cy="45929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2. Patch Management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Regularly update operating systems and applications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Prioritize critical security patches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Test patches in non-production environment first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Automate patching where possible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Maintain inventory of all systems and software</a:t>
            </a:r>
          </a:p>
          <a:p>
            <a:pPr algn="l">
              <a:lnSpc>
                <a:spcPts val="3300"/>
              </a:lnSpc>
            </a:pPr>
            <a:r>
              <a:rPr lang="en-US" sz="2200" b="1" spc="-66">
                <a:solidFill>
                  <a:srgbClr val="00FFA8"/>
                </a:solidFill>
                <a:latin typeface="TT Fors Bold"/>
                <a:ea typeface="TT Fors Bold"/>
                <a:cs typeface="TT Fors Bold"/>
                <a:sym typeface="TT Fors Bold"/>
              </a:rPr>
              <a:t>3. Principle of Least Privilege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Grant minimum necessary permissions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Use standard user accounts for daily work</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Require approval for administrative access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Regularly audit permissions</a:t>
            </a:r>
          </a:p>
        </p:txBody>
      </p:sp>
      <p:sp>
        <p:nvSpPr>
          <p:cNvPr id="4" name="TextBox 4"/>
          <p:cNvSpPr txBox="1"/>
          <p:nvPr/>
        </p:nvSpPr>
        <p:spPr>
          <a:xfrm>
            <a:off x="9314983" y="2131636"/>
            <a:ext cx="8234435" cy="45929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4. Backup and Recovery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3-2-1 Rule: 3 copies, 2 different media types, 1 offsite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Test restoration procedures regularly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Keep backups offline and immutable (ransomware protection)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Document recovery procedures</a:t>
            </a:r>
          </a:p>
          <a:p>
            <a:pPr algn="l">
              <a:lnSpc>
                <a:spcPts val="3300"/>
              </a:lnSpc>
            </a:pPr>
            <a:r>
              <a:rPr lang="en-US" sz="2200" b="1" spc="-66">
                <a:solidFill>
                  <a:srgbClr val="00FFA8"/>
                </a:solidFill>
                <a:latin typeface="TT Fors Bold"/>
                <a:ea typeface="TT Fors Bold"/>
                <a:cs typeface="TT Fors Bold"/>
                <a:sym typeface="TT Fors Bold"/>
              </a:rPr>
              <a:t>5. Incident Response Plan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Define roles and responsibilities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Establish communication procedures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Document escalation paths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Conduct regular tabletop exercises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Include malware-specific scenarios</a:t>
            </a:r>
          </a:p>
        </p:txBody>
      </p:sp>
      <p:sp>
        <p:nvSpPr>
          <p:cNvPr id="5" name="TextBox 5"/>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Organizational Defenses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INTRUDER ATTACKS ON NETWORKS</a:t>
            </a:r>
          </a:p>
        </p:txBody>
      </p:sp>
      <p:sp>
        <p:nvSpPr>
          <p:cNvPr id="3" name="TextBox 3"/>
          <p:cNvSpPr txBox="1"/>
          <p:nvPr/>
        </p:nvSpPr>
        <p:spPr>
          <a:xfrm>
            <a:off x="666750" y="3462133"/>
            <a:ext cx="8234435" cy="20783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Characteristics: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Does NOT attempt to steal information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Goal is disruption, not data access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Causes loss of availability (CIA triad)</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Can target bandwidth, processing power, or memory</a:t>
            </a:r>
          </a:p>
        </p:txBody>
      </p:sp>
      <p:sp>
        <p:nvSpPr>
          <p:cNvPr id="4" name="TextBox 4"/>
          <p:cNvSpPr txBox="1"/>
          <p:nvPr/>
        </p:nvSpPr>
        <p:spPr>
          <a:xfrm>
            <a:off x="9314983" y="3462133"/>
            <a:ext cx="8234435" cy="58502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Types of DoS Attacks:</a:t>
            </a:r>
          </a:p>
          <a:p>
            <a:pPr algn="l">
              <a:lnSpc>
                <a:spcPts val="3300"/>
              </a:lnSpc>
            </a:pPr>
            <a:endParaRPr lang="en-US" sz="2200" b="1" spc="-66">
              <a:solidFill>
                <a:srgbClr val="00FFA8"/>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1. Volume-Based Attacks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Flood target with massive amounts of traffic</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Consumes all available bandwidth</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Examples: UDP flood, ICMP flood, DNS amplification</a:t>
            </a:r>
          </a:p>
          <a:p>
            <a:pPr algn="l">
              <a:lnSpc>
                <a:spcPts val="3300"/>
              </a:lnSpc>
            </a:pPr>
            <a:r>
              <a:rPr lang="en-US" sz="2200" b="1" spc="-66">
                <a:solidFill>
                  <a:srgbClr val="00FFA8"/>
                </a:solidFill>
                <a:latin typeface="TT Fors Bold"/>
                <a:ea typeface="TT Fors Bold"/>
                <a:cs typeface="TT Fors Bold"/>
                <a:sym typeface="TT Fors Bold"/>
              </a:rPr>
              <a:t>2. Protocol Attacks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Exploit weaknesses in network protocols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Consume server resources (CPU, memory, connection tables)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Examples: SYN flood, Ping of Death, Smurf attack</a:t>
            </a:r>
          </a:p>
          <a:p>
            <a:pPr algn="l">
              <a:lnSpc>
                <a:spcPts val="3300"/>
              </a:lnSpc>
            </a:pPr>
            <a:r>
              <a:rPr lang="en-US" sz="2200" b="1" spc="-66">
                <a:solidFill>
                  <a:srgbClr val="00FFA8"/>
                </a:solidFill>
                <a:latin typeface="TT Fors Bold"/>
                <a:ea typeface="TT Fors Bold"/>
                <a:cs typeface="TT Fors Bold"/>
                <a:sym typeface="TT Fors Bold"/>
              </a:rPr>
              <a:t>3. Application Layer Attacks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Target web applications and services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Appear as legitimate traffic (harder to detect)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Examples: HTTP flood, Slowloris, RUDY (R-U-Dead-Yet)</a:t>
            </a:r>
          </a:p>
        </p:txBody>
      </p:sp>
      <p:sp>
        <p:nvSpPr>
          <p:cNvPr id="5" name="TextBox 5"/>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Denial-of-Service (DoS) Attacks</a:t>
            </a:r>
          </a:p>
        </p:txBody>
      </p:sp>
      <p:sp>
        <p:nvSpPr>
          <p:cNvPr id="6" name="TextBox 6"/>
          <p:cNvSpPr txBox="1"/>
          <p:nvPr/>
        </p:nvSpPr>
        <p:spPr>
          <a:xfrm>
            <a:off x="666750" y="1987319"/>
            <a:ext cx="16882667" cy="1017270"/>
          </a:xfrm>
          <a:prstGeom prst="rect">
            <a:avLst/>
          </a:prstGeom>
        </p:spPr>
        <p:txBody>
          <a:bodyPr lIns="0" tIns="0" rIns="0" bIns="0" rtlCol="0" anchor="t">
            <a:spAutoFit/>
          </a:bodyPr>
          <a:lstStyle/>
          <a:p>
            <a:pPr algn="l">
              <a:lnSpc>
                <a:spcPts val="4199"/>
              </a:lnSpc>
            </a:pPr>
            <a:r>
              <a:rPr lang="en-US" sz="2799" spc="-83">
                <a:solidFill>
                  <a:srgbClr val="FFFFFF"/>
                </a:solidFill>
                <a:latin typeface="TT Fors"/>
                <a:ea typeface="TT Fors"/>
                <a:cs typeface="TT Fors"/>
                <a:sym typeface="TT Fors"/>
              </a:rPr>
              <a:t>A Denial-of-Service attack attempts to make network resources unavailable to legitimate users by overwhelming the target with traffic or exploiting vulnerabilities.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INTRUDER ATTACKS ON NETWORKS (Continued)</a:t>
            </a:r>
          </a:p>
        </p:txBody>
      </p:sp>
      <p:sp>
        <p:nvSpPr>
          <p:cNvPr id="3" name="TextBox 3"/>
          <p:cNvSpPr txBox="1"/>
          <p:nvPr/>
        </p:nvSpPr>
        <p:spPr>
          <a:xfrm>
            <a:off x="666750" y="3316103"/>
            <a:ext cx="7374479" cy="45929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Attack Architecture: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Attacker: Controls the attack</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Handlers/Masters: Coordinate zombie computers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Zombies/Bots: Compromised computers performing the attack</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Target: Victim system or network</a:t>
            </a:r>
          </a:p>
          <a:p>
            <a:pPr algn="l">
              <a:lnSpc>
                <a:spcPts val="3300"/>
              </a:lnSpc>
            </a:pPr>
            <a:r>
              <a:rPr lang="en-US" sz="2200" b="1" spc="-66">
                <a:solidFill>
                  <a:srgbClr val="00FFA8"/>
                </a:solidFill>
                <a:latin typeface="TT Fors Bold"/>
                <a:ea typeface="TT Fors Bold"/>
                <a:cs typeface="TT Fors Bold"/>
                <a:sym typeface="TT Fors Bold"/>
              </a:rPr>
              <a:t>Botnet Creation: Attackers build botnets through:</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Malware infections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Exploitation of vulnerabilities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Credential stuffing attacks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IoT device compromises (weak default passwords)</a:t>
            </a:r>
          </a:p>
        </p:txBody>
      </p:sp>
      <p:sp>
        <p:nvSpPr>
          <p:cNvPr id="4" name="TextBox 4"/>
          <p:cNvSpPr txBox="1"/>
          <p:nvPr/>
        </p:nvSpPr>
        <p:spPr>
          <a:xfrm>
            <a:off x="8536155" y="3316103"/>
            <a:ext cx="9013262" cy="54311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Modern DDoS Trends: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IoT Botnets: Mirai botnet (2016) enslaved 600,000+ IoT devices, launched 1.2 Tbps attack</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DDoS-for-Hire: "Booter" or "stresser" services available on dark web</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Reflection/Amplification: Using third-party servers to amplify attacks (DNS, NTP, memcached)</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Multi-Vector Attacks: Combining multiple attack types simultaneously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Ransom DDoS: Threatening DDoS unless payment made</a:t>
            </a:r>
          </a:p>
          <a:p>
            <a:pPr algn="l">
              <a:lnSpc>
                <a:spcPts val="3300"/>
              </a:lnSpc>
            </a:pPr>
            <a:r>
              <a:rPr lang="en-US" sz="2200" b="1" spc="-66">
                <a:solidFill>
                  <a:srgbClr val="00FFA8"/>
                </a:solidFill>
                <a:latin typeface="TT Fors Bold"/>
                <a:ea typeface="TT Fors Bold"/>
                <a:cs typeface="TT Fors Bold"/>
                <a:sym typeface="TT Fors Bold"/>
              </a:rPr>
              <a:t>Notable DDoS Attacks: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Dyn DNS Attack (2016): Mirai botnet disrupted Twitter, Netflix, Reddit, GitHub</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GitHub Attack (2018): 1.35 Tbps memcached amplification attack</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Amazon AWS Attack (2020): 2.3 Tbps, largest recorded DDoS attack</a:t>
            </a:r>
          </a:p>
        </p:txBody>
      </p:sp>
      <p:sp>
        <p:nvSpPr>
          <p:cNvPr id="5" name="TextBox 5"/>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Distributed Denial-of-Service (DDoS) Attacks</a:t>
            </a:r>
          </a:p>
        </p:txBody>
      </p:sp>
      <p:sp>
        <p:nvSpPr>
          <p:cNvPr id="6" name="TextBox 6"/>
          <p:cNvSpPr txBox="1"/>
          <p:nvPr/>
        </p:nvSpPr>
        <p:spPr>
          <a:xfrm>
            <a:off x="666750" y="1987319"/>
            <a:ext cx="16882667" cy="1017270"/>
          </a:xfrm>
          <a:prstGeom prst="rect">
            <a:avLst/>
          </a:prstGeom>
        </p:spPr>
        <p:txBody>
          <a:bodyPr lIns="0" tIns="0" rIns="0" bIns="0" rtlCol="0" anchor="t">
            <a:spAutoFit/>
          </a:bodyPr>
          <a:lstStyle/>
          <a:p>
            <a:pPr algn="l">
              <a:lnSpc>
                <a:spcPts val="4199"/>
              </a:lnSpc>
            </a:pPr>
            <a:r>
              <a:rPr lang="en-US" sz="2799" spc="-83">
                <a:solidFill>
                  <a:srgbClr val="FFFFFF"/>
                </a:solidFill>
                <a:latin typeface="TT Fors"/>
                <a:ea typeface="TT Fors"/>
                <a:cs typeface="TT Fors"/>
                <a:sym typeface="TT Fors"/>
              </a:rPr>
              <a:t>DDoS attacks originate from multiple sources simultaneously, making them more powerful and harder to mitigate than single-source DoS attacks.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INTRUDER ATTACKS ON NETWORKS (Continued)</a:t>
            </a:r>
          </a:p>
        </p:txBody>
      </p:sp>
      <p:sp>
        <p:nvSpPr>
          <p:cNvPr id="3" name="TextBox 3"/>
          <p:cNvSpPr txBox="1"/>
          <p:nvPr/>
        </p:nvSpPr>
        <p:spPr>
          <a:xfrm>
            <a:off x="666750" y="3316103"/>
            <a:ext cx="7374479" cy="54311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Types: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ARP Spoofing: Redirect traffic on local network</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DNS Spoofing: Redirect domain lookups to malicious servers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SSL Stripping: Downgrade HTTPS to HTTP</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Session Hijacking: Steal or manipulate active sessions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Evil Twin: Fake WiFi access point</a:t>
            </a:r>
          </a:p>
          <a:p>
            <a:pPr algn="l">
              <a:lnSpc>
                <a:spcPts val="3300"/>
              </a:lnSpc>
            </a:pPr>
            <a:r>
              <a:rPr lang="en-US" sz="2200" b="1" spc="-66">
                <a:solidFill>
                  <a:srgbClr val="00FFA8"/>
                </a:solidFill>
                <a:latin typeface="TT Fors Bold"/>
                <a:ea typeface="TT Fors Bold"/>
                <a:cs typeface="TT Fors Bold"/>
                <a:sym typeface="TT Fors Bold"/>
              </a:rPr>
              <a:t>Countermeasures: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HTTPS Everywhere browser extension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VPN usage on untrusted networks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Certificate pinning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HSTS (HTTP Strict Transport Security)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Network segmentation</a:t>
            </a:r>
          </a:p>
        </p:txBody>
      </p:sp>
      <p:sp>
        <p:nvSpPr>
          <p:cNvPr id="4" name="TextBox 4"/>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Other Network Attack Types</a:t>
            </a:r>
          </a:p>
        </p:txBody>
      </p:sp>
      <p:sp>
        <p:nvSpPr>
          <p:cNvPr id="5" name="TextBox 5"/>
          <p:cNvSpPr txBox="1"/>
          <p:nvPr/>
        </p:nvSpPr>
        <p:spPr>
          <a:xfrm>
            <a:off x="666750" y="1987319"/>
            <a:ext cx="16882667" cy="1017270"/>
          </a:xfrm>
          <a:prstGeom prst="rect">
            <a:avLst/>
          </a:prstGeom>
        </p:spPr>
        <p:txBody>
          <a:bodyPr lIns="0" tIns="0" rIns="0" bIns="0" rtlCol="0" anchor="t">
            <a:spAutoFit/>
          </a:bodyPr>
          <a:lstStyle/>
          <a:p>
            <a:pPr algn="l">
              <a:lnSpc>
                <a:spcPts val="4199"/>
              </a:lnSpc>
            </a:pPr>
            <a:r>
              <a:rPr lang="en-US" sz="2799" b="1" spc="-83">
                <a:solidFill>
                  <a:srgbClr val="FFFFFF"/>
                </a:solidFill>
                <a:latin typeface="TT Fors Bold"/>
                <a:ea typeface="TT Fors Bold"/>
                <a:cs typeface="TT Fors Bold"/>
                <a:sym typeface="TT Fors Bold"/>
              </a:rPr>
              <a:t>Man-in-the-Middle (MitM) Attacks: </a:t>
            </a:r>
            <a:r>
              <a:rPr lang="en-US" sz="2799" spc="-83">
                <a:solidFill>
                  <a:srgbClr val="FFFFFF"/>
                </a:solidFill>
                <a:latin typeface="TT Fors"/>
                <a:ea typeface="TT Fors"/>
                <a:cs typeface="TT Fors"/>
                <a:sym typeface="TT Fors"/>
              </a:rPr>
              <a:t> Attacker intercepts communication between two parties without their knowledge.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INTRUDER ATTACKS ON NETWORKS (Continued)</a:t>
            </a:r>
          </a:p>
        </p:txBody>
      </p:sp>
      <p:sp>
        <p:nvSpPr>
          <p:cNvPr id="3" name="TextBox 3"/>
          <p:cNvSpPr txBox="1"/>
          <p:nvPr/>
        </p:nvSpPr>
        <p:spPr>
          <a:xfrm>
            <a:off x="666750" y="2661689"/>
            <a:ext cx="10927881" cy="66884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How It Works:</a:t>
            </a:r>
          </a:p>
          <a:p>
            <a:pPr marL="474981" lvl="1" indent="-237491" algn="l">
              <a:lnSpc>
                <a:spcPts val="3300"/>
              </a:lnSpc>
              <a:buAutoNum type="arabicPeriod"/>
            </a:pPr>
            <a:r>
              <a:rPr lang="en-US" sz="2200" spc="-66">
                <a:solidFill>
                  <a:srgbClr val="00FFA8"/>
                </a:solidFill>
                <a:latin typeface="TT Fors"/>
                <a:ea typeface="TT Fors"/>
                <a:cs typeface="TT Fors"/>
                <a:sym typeface="TT Fors"/>
              </a:rPr>
              <a:t>Attacker sends input larger than allocated buffer</a:t>
            </a:r>
          </a:p>
          <a:p>
            <a:pPr marL="474981" lvl="1" indent="-237491" algn="l">
              <a:lnSpc>
                <a:spcPts val="3300"/>
              </a:lnSpc>
              <a:buAutoNum type="arabicPeriod"/>
            </a:pPr>
            <a:r>
              <a:rPr lang="en-US" sz="2200" spc="-66">
                <a:solidFill>
                  <a:srgbClr val="00FFA8"/>
                </a:solidFill>
                <a:latin typeface="TT Fors"/>
                <a:ea typeface="TT Fors"/>
                <a:cs typeface="TT Fors"/>
                <a:sym typeface="TT Fors"/>
              </a:rPr>
              <a:t>Extra data overflows into adjacent memory</a:t>
            </a:r>
          </a:p>
          <a:p>
            <a:pPr marL="474981" lvl="1" indent="-237491" algn="l">
              <a:lnSpc>
                <a:spcPts val="3300"/>
              </a:lnSpc>
              <a:buAutoNum type="arabicPeriod"/>
            </a:pPr>
            <a:r>
              <a:rPr lang="en-US" sz="2200" spc="-66">
                <a:solidFill>
                  <a:srgbClr val="00FFA8"/>
                </a:solidFill>
                <a:latin typeface="TT Fors"/>
                <a:ea typeface="TT Fors"/>
                <a:cs typeface="TT Fors"/>
                <a:sym typeface="TT Fors"/>
              </a:rPr>
              <a:t>Can overwrite return addresses, function pointers</a:t>
            </a:r>
          </a:p>
          <a:p>
            <a:pPr marL="474981" lvl="1" indent="-237491" algn="l">
              <a:lnSpc>
                <a:spcPts val="3300"/>
              </a:lnSpc>
              <a:buAutoNum type="arabicPeriod"/>
            </a:pPr>
            <a:r>
              <a:rPr lang="en-US" sz="2200" spc="-66">
                <a:solidFill>
                  <a:srgbClr val="00FFA8"/>
                </a:solidFill>
                <a:latin typeface="TT Fors"/>
                <a:ea typeface="TT Fors"/>
                <a:cs typeface="TT Fors"/>
                <a:sym typeface="TT Fors"/>
              </a:rPr>
              <a:t>Attacker gains code execution, often with elevated privileges</a:t>
            </a:r>
          </a:p>
          <a:p>
            <a:pPr algn="l">
              <a:lnSpc>
                <a:spcPts val="3300"/>
              </a:lnSpc>
            </a:pPr>
            <a:r>
              <a:rPr lang="en-US" sz="2200" b="1" spc="-66">
                <a:solidFill>
                  <a:srgbClr val="00FFA8"/>
                </a:solidFill>
                <a:latin typeface="TT Fors Bold"/>
                <a:ea typeface="TT Fors Bold"/>
                <a:cs typeface="TT Fors Bold"/>
                <a:sym typeface="TT Fors Bold"/>
              </a:rPr>
              <a:t>Modern Protections: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DEP (Data Execution Prevention): Marks memory regions as non-executable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ASLR (Address Space Layout Randomization): Randomizes memory addresses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Stack Canaries: Detects stack corruption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Safe Programming Practices: Input validation, bounds checking</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Memory-safe Languages: Rust, Go (instead of C/C++)</a:t>
            </a:r>
          </a:p>
          <a:p>
            <a:pPr algn="l">
              <a:lnSpc>
                <a:spcPts val="3300"/>
              </a:lnSpc>
            </a:pPr>
            <a:r>
              <a:rPr lang="en-US" sz="2200" b="1" spc="-66">
                <a:solidFill>
                  <a:srgbClr val="00FFA8"/>
                </a:solidFill>
                <a:latin typeface="TT Fors Bold"/>
                <a:ea typeface="TT Fors Bold"/>
                <a:cs typeface="TT Fors Bold"/>
                <a:sym typeface="TT Fors Bold"/>
              </a:rPr>
              <a:t>Real-World Impact: Buffer overflows remain common in: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Legacy applications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IoT firmware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Network device software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Industrial control systems</a:t>
            </a:r>
          </a:p>
        </p:txBody>
      </p:sp>
      <p:sp>
        <p:nvSpPr>
          <p:cNvPr id="4" name="TextBox 4"/>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Other Network Attack Types</a:t>
            </a:r>
          </a:p>
        </p:txBody>
      </p:sp>
      <p:sp>
        <p:nvSpPr>
          <p:cNvPr id="5" name="TextBox 5"/>
          <p:cNvSpPr txBox="1"/>
          <p:nvPr/>
        </p:nvSpPr>
        <p:spPr>
          <a:xfrm>
            <a:off x="666750" y="1987319"/>
            <a:ext cx="16882667" cy="493395"/>
          </a:xfrm>
          <a:prstGeom prst="rect">
            <a:avLst/>
          </a:prstGeom>
        </p:spPr>
        <p:txBody>
          <a:bodyPr lIns="0" tIns="0" rIns="0" bIns="0" rtlCol="0" anchor="t">
            <a:spAutoFit/>
          </a:bodyPr>
          <a:lstStyle/>
          <a:p>
            <a:pPr algn="l">
              <a:lnSpc>
                <a:spcPts val="4199"/>
              </a:lnSpc>
            </a:pPr>
            <a:r>
              <a:rPr lang="en-US" sz="2799" b="1" spc="-83">
                <a:solidFill>
                  <a:srgbClr val="FFFFFF"/>
                </a:solidFill>
                <a:latin typeface="TT Fors Bold"/>
                <a:ea typeface="TT Fors Bold"/>
                <a:cs typeface="TT Fors Bold"/>
                <a:sym typeface="TT Fors Bold"/>
              </a:rPr>
              <a:t>Buffer Overflow Attacks: </a:t>
            </a:r>
            <a:r>
              <a:rPr lang="en-US" sz="2799" spc="-83">
                <a:solidFill>
                  <a:srgbClr val="FFFFFF"/>
                </a:solidFill>
                <a:latin typeface="TT Fors"/>
                <a:ea typeface="TT Fors"/>
                <a:cs typeface="TT Fors"/>
                <a:sym typeface="TT Fors"/>
              </a:rPr>
              <a:t>Exploiting poorly written code that doesn't validate input size.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INTRUDER ATTACKS ON NETWORKS (Continued)</a:t>
            </a:r>
          </a:p>
        </p:txBody>
      </p:sp>
      <p:sp>
        <p:nvSpPr>
          <p:cNvPr id="3" name="TextBox 3"/>
          <p:cNvSpPr txBox="1"/>
          <p:nvPr/>
        </p:nvSpPr>
        <p:spPr>
          <a:xfrm>
            <a:off x="666750" y="2661689"/>
            <a:ext cx="10927881" cy="45929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Methods: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Session Sniffing: Capturing session cookies/tokens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Session Fixation: Forcing victim to use attacker-controlled session ID</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Cross-Site Scripting (XSS): Stealing session cookies via JavaScript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Session Side-jacking: Tools like Firesheep (2010) automated this on unencrypted WiFi</a:t>
            </a:r>
          </a:p>
          <a:p>
            <a:pPr algn="l">
              <a:lnSpc>
                <a:spcPts val="3300"/>
              </a:lnSpc>
            </a:pPr>
            <a:r>
              <a:rPr lang="en-US" sz="2200" b="1" spc="-66">
                <a:solidFill>
                  <a:srgbClr val="00FFA8"/>
                </a:solidFill>
                <a:latin typeface="TT Fors Bold"/>
                <a:ea typeface="TT Fors Bold"/>
                <a:cs typeface="TT Fors Bold"/>
                <a:sym typeface="TT Fors Bold"/>
              </a:rPr>
              <a:t>Protection: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HTTPS for all authenticated pages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Secure and HttpOnly cookie flags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Session timeout and regeneration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Bind sessions to IP addresses (with caution)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Multi-factor authentication</a:t>
            </a:r>
          </a:p>
        </p:txBody>
      </p:sp>
      <p:sp>
        <p:nvSpPr>
          <p:cNvPr id="4" name="TextBox 4"/>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Other Network Attack Types</a:t>
            </a:r>
          </a:p>
        </p:txBody>
      </p:sp>
      <p:sp>
        <p:nvSpPr>
          <p:cNvPr id="5" name="TextBox 5"/>
          <p:cNvSpPr txBox="1"/>
          <p:nvPr/>
        </p:nvSpPr>
        <p:spPr>
          <a:xfrm>
            <a:off x="666750" y="1987319"/>
            <a:ext cx="16882667" cy="493395"/>
          </a:xfrm>
          <a:prstGeom prst="rect">
            <a:avLst/>
          </a:prstGeom>
        </p:spPr>
        <p:txBody>
          <a:bodyPr lIns="0" tIns="0" rIns="0" bIns="0" rtlCol="0" anchor="t">
            <a:spAutoFit/>
          </a:bodyPr>
          <a:lstStyle/>
          <a:p>
            <a:pPr algn="l">
              <a:lnSpc>
                <a:spcPts val="4199"/>
              </a:lnSpc>
            </a:pPr>
            <a:r>
              <a:rPr lang="en-US" sz="2799" b="1" spc="-83">
                <a:solidFill>
                  <a:srgbClr val="FFFFFF"/>
                </a:solidFill>
                <a:latin typeface="TT Fors Bold"/>
                <a:ea typeface="TT Fors Bold"/>
                <a:cs typeface="TT Fors Bold"/>
                <a:sym typeface="TT Fors Bold"/>
              </a:rPr>
              <a:t>Session Hijacking: </a:t>
            </a:r>
            <a:r>
              <a:rPr lang="en-US" sz="2799" spc="-83">
                <a:solidFill>
                  <a:srgbClr val="FFFFFF"/>
                </a:solidFill>
                <a:latin typeface="TT Fors"/>
                <a:ea typeface="TT Fors"/>
                <a:cs typeface="TT Fors"/>
                <a:sym typeface="TT Fors"/>
              </a:rPr>
              <a:t>Attacker takes over an authenticated user's session.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INTRUDER ATTACKS ON NETWORKS (Continued)</a:t>
            </a:r>
          </a:p>
        </p:txBody>
      </p:sp>
      <p:sp>
        <p:nvSpPr>
          <p:cNvPr id="3" name="TextBox 3"/>
          <p:cNvSpPr txBox="1"/>
          <p:nvPr/>
        </p:nvSpPr>
        <p:spPr>
          <a:xfrm>
            <a:off x="666750" y="2661689"/>
            <a:ext cx="10927881" cy="54311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Historical Attack (1990s):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Attacker sends oversized ICMP ping packet (&gt;65,535 bytes)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Packet fragmented during transmission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Target system crashes when reassembling oversized packet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Caused buffer overflow in network stack</a:t>
            </a:r>
          </a:p>
          <a:p>
            <a:pPr algn="l">
              <a:lnSpc>
                <a:spcPts val="3300"/>
              </a:lnSpc>
            </a:pPr>
            <a:r>
              <a:rPr lang="en-US" sz="2200" b="1" spc="-66">
                <a:solidFill>
                  <a:srgbClr val="00FFA8"/>
                </a:solidFill>
                <a:latin typeface="TT Fors Bold"/>
                <a:ea typeface="TT Fors Bold"/>
                <a:cs typeface="TT Fors Bold"/>
                <a:sym typeface="TT Fors Bold"/>
              </a:rPr>
              <a:t>Modern Relevance: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Largely Mitigated: Modern operating systems validate packet sizes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Educational Value: Demonstrates importance of input validation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Lesson Learned: Led to improved network stack implementations</a:t>
            </a:r>
          </a:p>
          <a:p>
            <a:pPr algn="l">
              <a:lnSpc>
                <a:spcPts val="3300"/>
              </a:lnSpc>
            </a:pPr>
            <a:r>
              <a:rPr lang="en-US" sz="2200" b="1" spc="-66">
                <a:solidFill>
                  <a:srgbClr val="00FFA8"/>
                </a:solidFill>
                <a:latin typeface="TT Fors Bold"/>
                <a:ea typeface="TT Fors Bold"/>
                <a:cs typeface="TT Fors Bold"/>
                <a:sym typeface="TT Fors Bold"/>
              </a:rPr>
              <a:t>Why Still Discussed:</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Illustrates protocol-level vulnerabilities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Shows evolution of attack mitigation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Teaches defensive programming principles</a:t>
            </a:r>
          </a:p>
        </p:txBody>
      </p:sp>
      <p:sp>
        <p:nvSpPr>
          <p:cNvPr id="4" name="TextBox 4"/>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Other Network Attack Types</a:t>
            </a:r>
          </a:p>
        </p:txBody>
      </p:sp>
      <p:sp>
        <p:nvSpPr>
          <p:cNvPr id="5" name="TextBox 5"/>
          <p:cNvSpPr txBox="1"/>
          <p:nvPr/>
        </p:nvSpPr>
        <p:spPr>
          <a:xfrm>
            <a:off x="666750" y="1987319"/>
            <a:ext cx="16882667" cy="493395"/>
          </a:xfrm>
          <a:prstGeom prst="rect">
            <a:avLst/>
          </a:prstGeom>
        </p:spPr>
        <p:txBody>
          <a:bodyPr lIns="0" tIns="0" rIns="0" bIns="0" rtlCol="0" anchor="t">
            <a:spAutoFit/>
          </a:bodyPr>
          <a:lstStyle/>
          <a:p>
            <a:pPr algn="l">
              <a:lnSpc>
                <a:spcPts val="4199"/>
              </a:lnSpc>
            </a:pPr>
            <a:r>
              <a:rPr lang="en-US" sz="2799" b="1" spc="-83">
                <a:solidFill>
                  <a:srgbClr val="FFFFFF"/>
                </a:solidFill>
                <a:latin typeface="TT Fors Bold"/>
                <a:ea typeface="TT Fors Bold"/>
                <a:cs typeface="TT Fors Bold"/>
                <a:sym typeface="TT Fors Bold"/>
              </a:rPr>
              <a:t>Ping of Death Attack (Historical Context)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PHYSICAL SECURITY ATTACKS</a:t>
            </a:r>
          </a:p>
        </p:txBody>
      </p:sp>
      <p:sp>
        <p:nvSpPr>
          <p:cNvPr id="3" name="TextBox 3"/>
          <p:cNvSpPr txBox="1"/>
          <p:nvPr/>
        </p:nvSpPr>
        <p:spPr>
          <a:xfrm>
            <a:off x="666750" y="2661689"/>
            <a:ext cx="8769879" cy="33356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Statistics: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70% of security breaches involve insider threats or physical access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Average cost of insider threat: $15.38 million per incident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Physical security is often the weakest link in the security chain</a:t>
            </a:r>
          </a:p>
          <a:p>
            <a:pPr algn="l">
              <a:lnSpc>
                <a:spcPts val="3300"/>
              </a:lnSpc>
            </a:pPr>
            <a:r>
              <a:rPr lang="en-US" sz="2200" b="1" spc="-66">
                <a:solidFill>
                  <a:srgbClr val="00FFA8"/>
                </a:solidFill>
                <a:latin typeface="TT Fors Bold"/>
                <a:ea typeface="TT Fors Bold"/>
                <a:cs typeface="TT Fors Bold"/>
                <a:sym typeface="TT Fors Bold"/>
              </a:rPr>
              <a:t>Common Misconceptions: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"Our building is secure, so we don't need to worry."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"All threats come from the internet."</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"Only IT equipment needs physical protection"</a:t>
            </a:r>
          </a:p>
        </p:txBody>
      </p:sp>
      <p:sp>
        <p:nvSpPr>
          <p:cNvPr id="4" name="TextBox 4"/>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The Importance of Physical Security</a:t>
            </a:r>
          </a:p>
        </p:txBody>
      </p:sp>
      <p:sp>
        <p:nvSpPr>
          <p:cNvPr id="5" name="TextBox 5"/>
          <p:cNvSpPr txBox="1"/>
          <p:nvPr/>
        </p:nvSpPr>
        <p:spPr>
          <a:xfrm>
            <a:off x="666750" y="1987319"/>
            <a:ext cx="16882667" cy="493395"/>
          </a:xfrm>
          <a:prstGeom prst="rect">
            <a:avLst/>
          </a:prstGeom>
        </p:spPr>
        <p:txBody>
          <a:bodyPr lIns="0" tIns="0" rIns="0" bIns="0" rtlCol="0" anchor="t">
            <a:spAutoFit/>
          </a:bodyPr>
          <a:lstStyle/>
          <a:p>
            <a:pPr algn="l">
              <a:lnSpc>
                <a:spcPts val="4199"/>
              </a:lnSpc>
            </a:pPr>
            <a:r>
              <a:rPr lang="en-US" sz="2799" b="1" spc="-83">
                <a:solidFill>
                  <a:srgbClr val="FFFFFF"/>
                </a:solidFill>
                <a:latin typeface="TT Fors Bold"/>
                <a:ea typeface="TT Fors Bold"/>
                <a:cs typeface="TT Fors Bold"/>
                <a:sym typeface="TT Fors Bold"/>
              </a:rPr>
              <a:t>Key Principle: </a:t>
            </a:r>
            <a:r>
              <a:rPr lang="en-US" sz="2799" spc="-83">
                <a:solidFill>
                  <a:srgbClr val="FFFFFF"/>
                </a:solidFill>
                <a:latin typeface="TT Fors"/>
                <a:ea typeface="TT Fors"/>
                <a:cs typeface="TT Fors"/>
                <a:sym typeface="TT Fors"/>
              </a:rPr>
              <a:t>Physical access defeats nearly all security controls.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PHYSICAL SECURITY ATTACKS (Continued)</a:t>
            </a:r>
          </a:p>
        </p:txBody>
      </p:sp>
      <p:sp>
        <p:nvSpPr>
          <p:cNvPr id="3" name="TextBox 3"/>
          <p:cNvSpPr txBox="1"/>
          <p:nvPr/>
        </p:nvSpPr>
        <p:spPr>
          <a:xfrm>
            <a:off x="666750" y="2661689"/>
            <a:ext cx="7423156" cy="590931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Types:</a:t>
            </a:r>
          </a:p>
          <a:p>
            <a:pPr algn="l">
              <a:lnSpc>
                <a:spcPts val="3300"/>
              </a:lnSpc>
            </a:pPr>
            <a:endParaRPr lang="en-US" sz="2599" b="1" spc="-77">
              <a:solidFill>
                <a:srgbClr val="00FFA8"/>
              </a:solidFill>
              <a:latin typeface="TT Fors Bold"/>
              <a:ea typeface="TT Fors Bold"/>
              <a:cs typeface="TT Fors Bold"/>
              <a:sym typeface="TT Fors Bold"/>
            </a:endParaRPr>
          </a:p>
          <a:p>
            <a:pPr algn="l">
              <a:lnSpc>
                <a:spcPts val="3300"/>
              </a:lnSpc>
            </a:pPr>
            <a:r>
              <a:rPr lang="en-US" sz="2200" b="1" spc="-66">
                <a:solidFill>
                  <a:srgbClr val="00FFA8"/>
                </a:solidFill>
                <a:latin typeface="TT Fors Bold"/>
                <a:ea typeface="TT Fors Bold"/>
                <a:cs typeface="TT Fors Bold"/>
                <a:sym typeface="TT Fors Bold"/>
              </a:rPr>
              <a:t>1. Keyboard Keyloggers</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Inline devices between the keyboard and the computer</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Products: KeyGhost, KeyKatcher, KeyGrabber</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Store thousands to millions of keystrokes</a:t>
            </a:r>
          </a:p>
          <a:p>
            <a:pPr marL="474981" lvl="1" indent="-237491" algn="l">
              <a:lnSpc>
                <a:spcPts val="3300"/>
              </a:lnSpc>
              <a:buFont typeface="Arial"/>
              <a:buChar char="•"/>
            </a:pPr>
            <a:r>
              <a:rPr lang="en-US" sz="2200" b="1" spc="-66">
                <a:solidFill>
                  <a:srgbClr val="00FFA8"/>
                </a:solidFill>
                <a:latin typeface="TT Fors Bold"/>
                <a:ea typeface="TT Fors Bold"/>
                <a:cs typeface="TT Fors Bold"/>
                <a:sym typeface="TT Fors Bold"/>
              </a:rPr>
              <a:t>Retrieve data via a special key sequence or removal</a:t>
            </a:r>
          </a:p>
          <a:p>
            <a:pPr algn="l">
              <a:lnSpc>
                <a:spcPts val="3300"/>
              </a:lnSpc>
            </a:pPr>
            <a:r>
              <a:rPr lang="en-US" sz="2200" b="1" spc="-66">
                <a:solidFill>
                  <a:srgbClr val="00FFA8"/>
                </a:solidFill>
                <a:latin typeface="TT Fors Bold"/>
                <a:ea typeface="TT Fors Bold"/>
                <a:cs typeface="TT Fors Bold"/>
                <a:sym typeface="TT Fors Bold"/>
              </a:rPr>
              <a:t>Characteristics: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No software installation required</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Undetectable by antivirus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Works on any operating system</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Requires physical access to install and retrieve</a:t>
            </a:r>
          </a:p>
        </p:txBody>
      </p:sp>
      <p:sp>
        <p:nvSpPr>
          <p:cNvPr id="4" name="TextBox 4"/>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The Importance of Physical Security</a:t>
            </a:r>
          </a:p>
        </p:txBody>
      </p:sp>
      <p:sp>
        <p:nvSpPr>
          <p:cNvPr id="5" name="TextBox 5"/>
          <p:cNvSpPr txBox="1"/>
          <p:nvPr/>
        </p:nvSpPr>
        <p:spPr>
          <a:xfrm>
            <a:off x="666750" y="1987319"/>
            <a:ext cx="16882667" cy="493395"/>
          </a:xfrm>
          <a:prstGeom prst="rect">
            <a:avLst/>
          </a:prstGeom>
        </p:spPr>
        <p:txBody>
          <a:bodyPr lIns="0" tIns="0" rIns="0" bIns="0" rtlCol="0" anchor="t">
            <a:spAutoFit/>
          </a:bodyPr>
          <a:lstStyle/>
          <a:p>
            <a:pPr algn="l">
              <a:lnSpc>
                <a:spcPts val="4199"/>
              </a:lnSpc>
            </a:pPr>
            <a:r>
              <a:rPr lang="en-US" sz="2799" b="1" spc="-83">
                <a:solidFill>
                  <a:srgbClr val="FFFFFF"/>
                </a:solidFill>
                <a:latin typeface="TT Fors Bold"/>
                <a:ea typeface="TT Fors Bold"/>
                <a:cs typeface="TT Fors Bold"/>
                <a:sym typeface="TT Fors Bold"/>
              </a:rPr>
              <a:t>Hardware Keyloggers</a:t>
            </a:r>
          </a:p>
        </p:txBody>
      </p:sp>
      <p:sp>
        <p:nvSpPr>
          <p:cNvPr id="6" name="TextBox 6"/>
          <p:cNvSpPr txBox="1"/>
          <p:nvPr/>
        </p:nvSpPr>
        <p:spPr>
          <a:xfrm>
            <a:off x="8405417" y="2661689"/>
            <a:ext cx="9144000" cy="7107555"/>
          </a:xfrm>
          <a:prstGeom prst="rect">
            <a:avLst/>
          </a:prstGeom>
        </p:spPr>
        <p:txBody>
          <a:bodyPr lIns="0" tIns="0" rIns="0" bIns="0" rtlCol="0" anchor="t">
            <a:spAutoFit/>
          </a:bodyPr>
          <a:lstStyle/>
          <a:p>
            <a:pPr algn="l">
              <a:lnSpc>
                <a:spcPts val="3300"/>
              </a:lnSpc>
            </a:pPr>
            <a:r>
              <a:rPr lang="en-US" sz="2200" b="1" spc="-66">
                <a:solidFill>
                  <a:srgbClr val="00FFA8"/>
                </a:solidFill>
                <a:latin typeface="TT Fors Bold"/>
                <a:ea typeface="TT Fors Bold"/>
                <a:cs typeface="TT Fors Bold"/>
                <a:sym typeface="TT Fors Bold"/>
              </a:rPr>
              <a:t>USB Keyloggers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Disguised as USB thumb drives or adapters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Can include WiFi transmission capabilities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Some models support remote data exfiltration</a:t>
            </a:r>
          </a:p>
          <a:p>
            <a:pPr algn="l">
              <a:lnSpc>
                <a:spcPts val="3300"/>
              </a:lnSpc>
            </a:pPr>
            <a:r>
              <a:rPr lang="en-US" sz="2200" b="1" spc="-66">
                <a:solidFill>
                  <a:srgbClr val="00FFA8"/>
                </a:solidFill>
                <a:latin typeface="TT Fors Bold"/>
                <a:ea typeface="TT Fors Bold"/>
                <a:cs typeface="TT Fors Bold"/>
                <a:sym typeface="TT Fors Bold"/>
              </a:rPr>
              <a:t>3. PS/2 Keyloggers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Older connector type, still common in enterprises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Often overlooked during security inspections</a:t>
            </a:r>
          </a:p>
          <a:p>
            <a:pPr algn="l">
              <a:lnSpc>
                <a:spcPts val="3300"/>
              </a:lnSpc>
            </a:pPr>
            <a:r>
              <a:rPr lang="en-US" sz="2200" b="1" spc="-66">
                <a:solidFill>
                  <a:srgbClr val="00FFA8"/>
                </a:solidFill>
                <a:latin typeface="TT Fors Bold"/>
                <a:ea typeface="TT Fors Bold"/>
                <a:cs typeface="TT Fors Bold"/>
                <a:sym typeface="TT Fors Bold"/>
              </a:rPr>
              <a:t>Detection and Prevention: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Visual Inspections: Regularly check for added hardware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Physical Security: Lock server rooms and workstations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Tamper-Evident Seals: On critical systems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Cable Management: Organized cables make additions obvious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Superglue Connectors: Prevent easy insertion of devices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Wireless Keyboards: Encrypted wireless keyboards (with caution - can also be vulnerable)</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Software Detection: Some tools can detect hardware keyloggers by monitoring keystroke timing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PHYSICAL SECURITY ATTACKS (Continued)</a:t>
            </a:r>
          </a:p>
        </p:txBody>
      </p:sp>
      <p:sp>
        <p:nvSpPr>
          <p:cNvPr id="3" name="TextBox 3"/>
          <p:cNvSpPr txBox="1"/>
          <p:nvPr/>
        </p:nvSpPr>
        <p:spPr>
          <a:xfrm>
            <a:off x="666750" y="2661689"/>
            <a:ext cx="10230181" cy="632841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Server Room Security</a:t>
            </a:r>
          </a:p>
          <a:p>
            <a:pPr algn="l">
              <a:lnSpc>
                <a:spcPts val="3300"/>
              </a:lnSpc>
            </a:pPr>
            <a:r>
              <a:rPr lang="en-US" sz="2200" b="1" spc="-66">
                <a:solidFill>
                  <a:srgbClr val="00FFA8"/>
                </a:solidFill>
                <a:latin typeface="TT Fors Bold"/>
                <a:ea typeface="TT Fors Bold"/>
                <a:cs typeface="TT Fors Bold"/>
                <a:sym typeface="TT Fors Bold"/>
              </a:rPr>
              <a:t>Best Practices: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Dedicated, locked server rooms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Limited access lists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Sign-in/sign-out logs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Video surveillance (24/7 recording with 90-day retention)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Environmental controls (temperature, humidity, fire suppression)</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Redundant power supplies and UPS systems</a:t>
            </a:r>
          </a:p>
          <a:p>
            <a:pPr algn="l">
              <a:lnSpc>
                <a:spcPts val="3300"/>
              </a:lnSpc>
            </a:pPr>
            <a:r>
              <a:rPr lang="en-US" sz="2200" b="1" spc="-66">
                <a:solidFill>
                  <a:srgbClr val="00FFA8"/>
                </a:solidFill>
                <a:latin typeface="TT Fors Bold"/>
                <a:ea typeface="TT Fors Bold"/>
                <a:cs typeface="TT Fors Bold"/>
                <a:sym typeface="TT Fors Bold"/>
              </a:rPr>
              <a:t>Why It Matters: Physical access to servers allows attackers to:</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Boot from external media (bypassing OS security)</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Extract hard drives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Install hardware keyloggers or network taps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Modify BIOS/UEFI settings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Plant backdoors</a:t>
            </a:r>
          </a:p>
          <a:p>
            <a:pPr marL="474981" lvl="1" indent="-237491" algn="l">
              <a:lnSpc>
                <a:spcPts val="3300"/>
              </a:lnSpc>
              <a:buFont typeface="Arial"/>
              <a:buChar char="•"/>
            </a:pPr>
            <a:r>
              <a:rPr lang="en-US" sz="2200" spc="-66">
                <a:solidFill>
                  <a:srgbClr val="00FFA8"/>
                </a:solidFill>
                <a:latin typeface="TT Fors"/>
                <a:ea typeface="TT Fors"/>
                <a:cs typeface="TT Fors"/>
                <a:sym typeface="TT Fors"/>
              </a:rPr>
              <a:t>Steal sensitive documents</a:t>
            </a:r>
          </a:p>
        </p:txBody>
      </p:sp>
      <p:sp>
        <p:nvSpPr>
          <p:cNvPr id="4" name="TextBox 4"/>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The Importance of Physical Security</a:t>
            </a:r>
          </a:p>
        </p:txBody>
      </p:sp>
      <p:sp>
        <p:nvSpPr>
          <p:cNvPr id="5" name="TextBox 5"/>
          <p:cNvSpPr txBox="1"/>
          <p:nvPr/>
        </p:nvSpPr>
        <p:spPr>
          <a:xfrm>
            <a:off x="666750" y="1987319"/>
            <a:ext cx="16882667" cy="493395"/>
          </a:xfrm>
          <a:prstGeom prst="rect">
            <a:avLst/>
          </a:prstGeom>
        </p:spPr>
        <p:txBody>
          <a:bodyPr lIns="0" tIns="0" rIns="0" bIns="0" rtlCol="0" anchor="t">
            <a:spAutoFit/>
          </a:bodyPr>
          <a:lstStyle/>
          <a:p>
            <a:pPr algn="l">
              <a:lnSpc>
                <a:spcPts val="4199"/>
              </a:lnSpc>
            </a:pPr>
            <a:r>
              <a:rPr lang="en-US" sz="2799" b="1" spc="-83">
                <a:solidFill>
                  <a:srgbClr val="FFFFFF"/>
                </a:solidFill>
                <a:latin typeface="TT Fors Bold"/>
                <a:ea typeface="TT Fors Bold"/>
                <a:cs typeface="TT Fors Bold"/>
                <a:sym typeface="TT Fors Bold"/>
              </a:rPr>
              <a:t>Physical Access Control</a:t>
            </a:r>
          </a:p>
        </p:txBody>
      </p:sp>
      <p:grpSp>
        <p:nvGrpSpPr>
          <p:cNvPr id="6" name="Group 6"/>
          <p:cNvGrpSpPr/>
          <p:nvPr/>
        </p:nvGrpSpPr>
        <p:grpSpPr>
          <a:xfrm>
            <a:off x="10038203" y="4365394"/>
            <a:ext cx="7511214" cy="2928621"/>
            <a:chOff x="0" y="0"/>
            <a:chExt cx="1978240" cy="771343"/>
          </a:xfrm>
        </p:grpSpPr>
        <p:sp>
          <p:nvSpPr>
            <p:cNvPr id="7" name="Freeform 7"/>
            <p:cNvSpPr/>
            <p:nvPr/>
          </p:nvSpPr>
          <p:spPr>
            <a:xfrm>
              <a:off x="0" y="0"/>
              <a:ext cx="1978240" cy="771343"/>
            </a:xfrm>
            <a:custGeom>
              <a:avLst/>
              <a:gdLst/>
              <a:ahLst/>
              <a:cxnLst/>
              <a:rect l="l" t="t" r="r" b="b"/>
              <a:pathLst>
                <a:path w="1978240" h="771343">
                  <a:moveTo>
                    <a:pt x="1978240" y="20614"/>
                  </a:moveTo>
                  <a:lnTo>
                    <a:pt x="1978240" y="750729"/>
                  </a:lnTo>
                  <a:cubicBezTo>
                    <a:pt x="1978240" y="762114"/>
                    <a:pt x="1969010" y="771343"/>
                    <a:pt x="1957625" y="771343"/>
                  </a:cubicBezTo>
                  <a:lnTo>
                    <a:pt x="20614" y="771343"/>
                  </a:lnTo>
                  <a:cubicBezTo>
                    <a:pt x="9229" y="771343"/>
                    <a:pt x="0" y="762114"/>
                    <a:pt x="0" y="750729"/>
                  </a:cubicBezTo>
                  <a:lnTo>
                    <a:pt x="0" y="20614"/>
                  </a:lnTo>
                  <a:cubicBezTo>
                    <a:pt x="0" y="9229"/>
                    <a:pt x="9229" y="0"/>
                    <a:pt x="20614" y="0"/>
                  </a:cubicBezTo>
                  <a:lnTo>
                    <a:pt x="1957625" y="0"/>
                  </a:lnTo>
                  <a:cubicBezTo>
                    <a:pt x="1969010" y="0"/>
                    <a:pt x="1978240" y="9229"/>
                    <a:pt x="1978240" y="20614"/>
                  </a:cubicBezTo>
                  <a:close/>
                </a:path>
              </a:pathLst>
            </a:custGeom>
            <a:solidFill>
              <a:srgbClr val="301445"/>
            </a:solidFill>
            <a:ln cap="sq">
              <a:noFill/>
              <a:prstDash val="solid"/>
              <a:miter/>
            </a:ln>
          </p:spPr>
          <p:txBody>
            <a:bodyPr/>
            <a:lstStyle/>
            <a:p>
              <a:endParaRPr lang="en-US"/>
            </a:p>
          </p:txBody>
        </p:sp>
        <p:sp>
          <p:nvSpPr>
            <p:cNvPr id="8" name="TextBox 8"/>
            <p:cNvSpPr txBox="1"/>
            <p:nvPr/>
          </p:nvSpPr>
          <p:spPr>
            <a:xfrm>
              <a:off x="0" y="0"/>
              <a:ext cx="1978240" cy="771343"/>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Real-World Example: </a:t>
              </a:r>
              <a:r>
                <a:rPr lang="en-US" sz="2800" b="1" spc="-84" dirty="0" err="1">
                  <a:solidFill>
                    <a:srgbClr val="FFFFFF"/>
                  </a:solidFill>
                  <a:latin typeface="TT Fors Bold"/>
                  <a:ea typeface="TT Fors Bold"/>
                  <a:cs typeface="TT Fors Bold"/>
                  <a:sym typeface="TT Fors Bold"/>
                </a:rPr>
                <a:t>Ophcrack</a:t>
              </a:r>
              <a:r>
                <a:rPr lang="en-US" sz="2800" spc="-84" dirty="0">
                  <a:solidFill>
                    <a:srgbClr val="FFFFFF"/>
                  </a:solidFill>
                  <a:latin typeface="TT Fors"/>
                  <a:ea typeface="TT Fors"/>
                  <a:cs typeface="TT Fors"/>
                  <a:sym typeface="TT Fors"/>
                </a:rPr>
                <a:t> - Linux-based boot CD that can crack Windows passwords in minutes by accessing the hard drive directly. Physical access renders most software security controls useless.</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PHYSICAL SECURITY ATTACKS (Continued)</a:t>
            </a:r>
          </a:p>
        </p:txBody>
      </p:sp>
      <p:sp>
        <p:nvSpPr>
          <p:cNvPr id="3" name="TextBox 3"/>
          <p:cNvSpPr txBox="1"/>
          <p:nvPr/>
        </p:nvSpPr>
        <p:spPr>
          <a:xfrm>
            <a:off x="666750" y="2661689"/>
            <a:ext cx="7942374" cy="62826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Traditional Locks: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Deadbolt Locks: Can be picked in under 5 minutes by an average person with basic practice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Master Keyed Systems: Single key opens multiple locks (convenient but less secure)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Padlocks: Vulnerable to shimming, cutting, and picking</a:t>
            </a:r>
          </a:p>
          <a:p>
            <a:pPr algn="l">
              <a:lnSpc>
                <a:spcPts val="3899"/>
              </a:lnSpc>
            </a:pPr>
            <a:r>
              <a:rPr lang="en-US" sz="2599" b="1" spc="-77">
                <a:solidFill>
                  <a:srgbClr val="00FFA8"/>
                </a:solidFill>
                <a:latin typeface="TT Fors Bold"/>
                <a:ea typeface="TT Fors Bold"/>
                <a:cs typeface="TT Fors Bold"/>
                <a:sym typeface="TT Fors Bold"/>
              </a:rPr>
              <a:t>Lock Picking Reality:</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Basic lockpicking skills learned in days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Experienced individuals can pick deadbolts in 30 seconds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Lock Sport Community provides extensive tutorials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Legally available lockpick sets and practice locks</a:t>
            </a:r>
          </a:p>
        </p:txBody>
      </p:sp>
      <p:sp>
        <p:nvSpPr>
          <p:cNvPr id="4" name="TextBox 4"/>
          <p:cNvSpPr txBox="1"/>
          <p:nvPr/>
        </p:nvSpPr>
        <p:spPr>
          <a:xfrm>
            <a:off x="9381828" y="1996844"/>
            <a:ext cx="7877472" cy="774001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Improved Physical Access Control:</a:t>
            </a:r>
          </a:p>
          <a:p>
            <a:pPr algn="l">
              <a:lnSpc>
                <a:spcPts val="3899"/>
              </a:lnSpc>
            </a:pPr>
            <a:r>
              <a:rPr lang="en-US" sz="2599" b="1" spc="-77">
                <a:solidFill>
                  <a:srgbClr val="00FFA8"/>
                </a:solidFill>
                <a:latin typeface="TT Fors Bold"/>
                <a:ea typeface="TT Fors Bold"/>
                <a:cs typeface="TT Fors Bold"/>
                <a:sym typeface="TT Fors Bold"/>
              </a:rPr>
              <a:t>1. Card Reader Systems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Proximity Cards: RFID-based, no contact needed</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Smart Cards: Chip-based, more secure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Magnetic Stripe: Older technology, easily cloned</a:t>
            </a:r>
          </a:p>
          <a:p>
            <a:pPr algn="l">
              <a:lnSpc>
                <a:spcPts val="3899"/>
              </a:lnSpc>
            </a:pPr>
            <a:r>
              <a:rPr lang="en-US" sz="2599" b="1" spc="-77">
                <a:solidFill>
                  <a:srgbClr val="00FFA8"/>
                </a:solidFill>
                <a:latin typeface="TT Fors Bold"/>
                <a:ea typeface="TT Fors Bold"/>
                <a:cs typeface="TT Fors Bold"/>
                <a:sym typeface="TT Fors Bold"/>
              </a:rPr>
              <a:t>Advantages: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Access logging (who entered when)</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Easily revoke access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Time-based restrictions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Integration with video surveillance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Audit trails for compliance</a:t>
            </a:r>
          </a:p>
          <a:p>
            <a:pPr algn="l">
              <a:lnSpc>
                <a:spcPts val="3899"/>
              </a:lnSpc>
            </a:pPr>
            <a:r>
              <a:rPr lang="en-US" sz="2599" b="1" spc="-77">
                <a:solidFill>
                  <a:srgbClr val="00FFA8"/>
                </a:solidFill>
                <a:latin typeface="TT Fors Bold"/>
                <a:ea typeface="TT Fors Bold"/>
                <a:cs typeface="TT Fors Bold"/>
                <a:sym typeface="TT Fors Bold"/>
              </a:rPr>
              <a:t>Vulnerabilities: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Card cloning attacks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Tailgating (following authorized person)</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Lost or stolen cards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Default administrator credentials</a:t>
            </a:r>
          </a:p>
        </p:txBody>
      </p:sp>
      <p:sp>
        <p:nvSpPr>
          <p:cNvPr id="5" name="TextBox 5"/>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The Importance of Physical Security</a:t>
            </a:r>
          </a:p>
        </p:txBody>
      </p:sp>
      <p:sp>
        <p:nvSpPr>
          <p:cNvPr id="6" name="TextBox 6"/>
          <p:cNvSpPr txBox="1"/>
          <p:nvPr/>
        </p:nvSpPr>
        <p:spPr>
          <a:xfrm>
            <a:off x="666750" y="1987319"/>
            <a:ext cx="16882667" cy="493395"/>
          </a:xfrm>
          <a:prstGeom prst="rect">
            <a:avLst/>
          </a:prstGeom>
        </p:spPr>
        <p:txBody>
          <a:bodyPr lIns="0" tIns="0" rIns="0" bIns="0" rtlCol="0" anchor="t">
            <a:spAutoFit/>
          </a:bodyPr>
          <a:lstStyle/>
          <a:p>
            <a:pPr algn="l">
              <a:lnSpc>
                <a:spcPts val="4199"/>
              </a:lnSpc>
            </a:pPr>
            <a:r>
              <a:rPr lang="en-US" sz="2799" b="1" spc="-83">
                <a:solidFill>
                  <a:srgbClr val="FFFFFF"/>
                </a:solidFill>
                <a:latin typeface="TT Fors Bold"/>
                <a:ea typeface="TT Fors Bold"/>
                <a:cs typeface="TT Fors Bold"/>
                <a:sym typeface="TT Fors Bold"/>
              </a:rPr>
              <a:t>Lock Security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PHYSICAL SECURITY ATTACKS (Continued)</a:t>
            </a:r>
          </a:p>
        </p:txBody>
      </p:sp>
      <p:sp>
        <p:nvSpPr>
          <p:cNvPr id="3" name="TextBox 3"/>
          <p:cNvSpPr txBox="1"/>
          <p:nvPr/>
        </p:nvSpPr>
        <p:spPr>
          <a:xfrm>
            <a:off x="666750" y="2661689"/>
            <a:ext cx="10149053" cy="676846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2. Biometric Access Control</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Fingerprint scanners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Facial recognition</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Iris/retinal scans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Voice recognition</a:t>
            </a:r>
          </a:p>
          <a:p>
            <a:pPr algn="l">
              <a:lnSpc>
                <a:spcPts val="3899"/>
              </a:lnSpc>
            </a:pPr>
            <a:r>
              <a:rPr lang="en-US" sz="2599" b="1" spc="-77">
                <a:solidFill>
                  <a:srgbClr val="00FFA8"/>
                </a:solidFill>
                <a:latin typeface="TT Fors Bold"/>
                <a:ea typeface="TT Fors Bold"/>
                <a:cs typeface="TT Fors Bold"/>
                <a:sym typeface="TT Fors Bold"/>
              </a:rPr>
              <a:t>Considerations: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False acceptance rate (FAR) vs. False rejection rate (FRR)</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Privacy concerns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Cannot be "changed" like passwords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Spoofing attacks (fake fingerprints, photos)</a:t>
            </a:r>
          </a:p>
          <a:p>
            <a:pPr algn="l">
              <a:lnSpc>
                <a:spcPts val="3899"/>
              </a:lnSpc>
            </a:pPr>
            <a:r>
              <a:rPr lang="en-US" sz="2599" b="1" spc="-77">
                <a:solidFill>
                  <a:srgbClr val="00FFA8"/>
                </a:solidFill>
                <a:latin typeface="TT Fors Bold"/>
                <a:ea typeface="TT Fors Bold"/>
                <a:cs typeface="TT Fors Bold"/>
                <a:sym typeface="TT Fors Bold"/>
              </a:rPr>
              <a:t>3. Multi-Factor Physical Access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Card + PIN</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Biometric + Card</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Mantrap/airlock entry systems</a:t>
            </a:r>
          </a:p>
        </p:txBody>
      </p:sp>
      <p:sp>
        <p:nvSpPr>
          <p:cNvPr id="4" name="TextBox 4"/>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The Importance of Physical Security</a:t>
            </a:r>
          </a:p>
        </p:txBody>
      </p:sp>
      <p:sp>
        <p:nvSpPr>
          <p:cNvPr id="5" name="TextBox 5"/>
          <p:cNvSpPr txBox="1"/>
          <p:nvPr/>
        </p:nvSpPr>
        <p:spPr>
          <a:xfrm>
            <a:off x="666750" y="1987319"/>
            <a:ext cx="16882667" cy="493395"/>
          </a:xfrm>
          <a:prstGeom prst="rect">
            <a:avLst/>
          </a:prstGeom>
        </p:spPr>
        <p:txBody>
          <a:bodyPr lIns="0" tIns="0" rIns="0" bIns="0" rtlCol="0" anchor="t">
            <a:spAutoFit/>
          </a:bodyPr>
          <a:lstStyle/>
          <a:p>
            <a:pPr algn="l">
              <a:lnSpc>
                <a:spcPts val="4199"/>
              </a:lnSpc>
            </a:pPr>
            <a:r>
              <a:rPr lang="en-US" sz="2799" b="1" spc="-83">
                <a:solidFill>
                  <a:srgbClr val="FFFFFF"/>
                </a:solidFill>
                <a:latin typeface="TT Fors Bold"/>
                <a:ea typeface="TT Fors Bold"/>
                <a:cs typeface="TT Fors Bold"/>
                <a:sym typeface="TT Fors Bold"/>
              </a:rPr>
              <a:t>Lock Security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PHYSICAL SECURITY ATTACKS (Continued)</a:t>
            </a:r>
          </a:p>
        </p:txBody>
      </p:sp>
      <p:sp>
        <p:nvSpPr>
          <p:cNvPr id="3" name="TextBox 3"/>
          <p:cNvSpPr txBox="1"/>
          <p:nvPr/>
        </p:nvSpPr>
        <p:spPr>
          <a:xfrm>
            <a:off x="666750" y="2661689"/>
            <a:ext cx="8899683" cy="579691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Tailgating/Piggybacking: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Following the authorized person through the secured door</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Social engineering technique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Prevention: Security awareness, mantraps, guards</a:t>
            </a:r>
          </a:p>
          <a:p>
            <a:pPr algn="l">
              <a:lnSpc>
                <a:spcPts val="3899"/>
              </a:lnSpc>
            </a:pPr>
            <a:r>
              <a:rPr lang="en-US" sz="2599" b="1" spc="-77">
                <a:solidFill>
                  <a:srgbClr val="00FFA8"/>
                </a:solidFill>
                <a:latin typeface="TT Fors Bold"/>
                <a:ea typeface="TT Fors Bold"/>
                <a:cs typeface="TT Fors Bold"/>
                <a:sym typeface="TT Fors Bold"/>
              </a:rPr>
              <a:t>Dumpster Diving: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Searching trash for sensitive documents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Obtaining organizational information</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Prevention: Shredding policies, secure disposal</a:t>
            </a:r>
          </a:p>
          <a:p>
            <a:pPr algn="l">
              <a:lnSpc>
                <a:spcPts val="3899"/>
              </a:lnSpc>
            </a:pPr>
            <a:r>
              <a:rPr lang="en-US" sz="2599" b="1" spc="-77">
                <a:solidFill>
                  <a:srgbClr val="00FFA8"/>
                </a:solidFill>
                <a:latin typeface="TT Fors Bold"/>
                <a:ea typeface="TT Fors Bold"/>
                <a:cs typeface="TT Fors Bold"/>
                <a:sym typeface="TT Fors Bold"/>
              </a:rPr>
              <a:t>Shoulder Surfing: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Observing screens, keyboards, or documents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Common in public spaces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Prevention: Privacy screens, awareness training</a:t>
            </a:r>
          </a:p>
        </p:txBody>
      </p:sp>
      <p:sp>
        <p:nvSpPr>
          <p:cNvPr id="4" name="TextBox 4"/>
          <p:cNvSpPr txBox="1"/>
          <p:nvPr/>
        </p:nvSpPr>
        <p:spPr>
          <a:xfrm>
            <a:off x="9753073" y="2661689"/>
            <a:ext cx="7974826" cy="62826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USB Drop Attacks: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Leaving infected USB drives in parking lots and common areas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Relies on curiosity and helpfulness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Prevention: User training, disabling AutoRun, and blocking the USB port blocking</a:t>
            </a:r>
          </a:p>
          <a:p>
            <a:pPr algn="l">
              <a:lnSpc>
                <a:spcPts val="3899"/>
              </a:lnSpc>
            </a:pPr>
            <a:r>
              <a:rPr lang="en-US" sz="2599" b="1" spc="-77">
                <a:solidFill>
                  <a:srgbClr val="00FFA8"/>
                </a:solidFill>
                <a:latin typeface="TT Fors Bold"/>
                <a:ea typeface="TT Fors Bold"/>
                <a:cs typeface="TT Fors Bold"/>
                <a:sym typeface="TT Fors Bold"/>
              </a:rPr>
              <a:t>Rogue Devices: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Raspberry Pi or similar devices plugged into the network</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WiFi pineapples for wireless attacks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Network taps for traffic interception</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Prevention: Network Access Control (NAC), port security, regular physical audits</a:t>
            </a:r>
          </a:p>
        </p:txBody>
      </p:sp>
      <p:sp>
        <p:nvSpPr>
          <p:cNvPr id="5" name="TextBox 5"/>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The Importance of Physical Security</a:t>
            </a:r>
          </a:p>
        </p:txBody>
      </p:sp>
      <p:sp>
        <p:nvSpPr>
          <p:cNvPr id="6" name="TextBox 6"/>
          <p:cNvSpPr txBox="1"/>
          <p:nvPr/>
        </p:nvSpPr>
        <p:spPr>
          <a:xfrm>
            <a:off x="666750" y="1987319"/>
            <a:ext cx="16882667" cy="493395"/>
          </a:xfrm>
          <a:prstGeom prst="rect">
            <a:avLst/>
          </a:prstGeom>
        </p:spPr>
        <p:txBody>
          <a:bodyPr lIns="0" tIns="0" rIns="0" bIns="0" rtlCol="0" anchor="t">
            <a:spAutoFit/>
          </a:bodyPr>
          <a:lstStyle/>
          <a:p>
            <a:pPr algn="l">
              <a:lnSpc>
                <a:spcPts val="4199"/>
              </a:lnSpc>
            </a:pPr>
            <a:r>
              <a:rPr lang="en-US" sz="2799" b="1" spc="-83">
                <a:solidFill>
                  <a:srgbClr val="FFFFFF"/>
                </a:solidFill>
                <a:latin typeface="TT Fors Bold"/>
                <a:ea typeface="TT Fors Bold"/>
                <a:cs typeface="TT Fors Bold"/>
                <a:sym typeface="TT Fors Bold"/>
              </a:rPr>
              <a:t>Additional Physical Threats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DEFENSE IN DEPTH STRATEGY</a:t>
            </a:r>
          </a:p>
        </p:txBody>
      </p:sp>
      <p:sp>
        <p:nvSpPr>
          <p:cNvPr id="3" name="TextBox 3"/>
          <p:cNvSpPr txBox="1"/>
          <p:nvPr/>
        </p:nvSpPr>
        <p:spPr>
          <a:xfrm>
            <a:off x="666750" y="2661689"/>
            <a:ext cx="8007277" cy="579691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Layer 1: Perimeter Security</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Firewalls, IPS, email gateways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Physical barriers, guards, surveillance</a:t>
            </a:r>
          </a:p>
          <a:p>
            <a:pPr algn="l">
              <a:lnSpc>
                <a:spcPts val="3899"/>
              </a:lnSpc>
            </a:pPr>
            <a:r>
              <a:rPr lang="en-US" sz="2599" b="1" spc="-77">
                <a:solidFill>
                  <a:srgbClr val="00FFA8"/>
                </a:solidFill>
                <a:latin typeface="TT Fors Bold"/>
                <a:ea typeface="TT Fors Bold"/>
                <a:cs typeface="TT Fors Bold"/>
                <a:sym typeface="TT Fors Bold"/>
              </a:rPr>
              <a:t>Layer 2: Network Security</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Network segmentation (VLANs)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Internal firewalls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Network monitoring (SIEM)</a:t>
            </a:r>
          </a:p>
          <a:p>
            <a:pPr algn="l">
              <a:lnSpc>
                <a:spcPts val="3899"/>
              </a:lnSpc>
            </a:pPr>
            <a:r>
              <a:rPr lang="en-US" sz="2599" b="1" spc="-77">
                <a:solidFill>
                  <a:srgbClr val="00FFA8"/>
                </a:solidFill>
                <a:latin typeface="TT Fors Bold"/>
                <a:ea typeface="TT Fors Bold"/>
                <a:cs typeface="TT Fors Bold"/>
                <a:sym typeface="TT Fors Bold"/>
              </a:rPr>
              <a:t>Layer 3: Endpoint Security</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Antivirus/EDR</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Host-based firewalls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Application whitelisting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Disk encryption</a:t>
            </a:r>
          </a:p>
        </p:txBody>
      </p:sp>
      <p:sp>
        <p:nvSpPr>
          <p:cNvPr id="4" name="TextBox 4"/>
          <p:cNvSpPr txBox="1"/>
          <p:nvPr/>
        </p:nvSpPr>
        <p:spPr>
          <a:xfrm>
            <a:off x="8674027" y="2661689"/>
            <a:ext cx="7974826" cy="676846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Layer 4: Application Security</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Secure coding practices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Regular patching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Web Application Firewalls (WAF)</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Input validation</a:t>
            </a:r>
          </a:p>
          <a:p>
            <a:pPr algn="l">
              <a:lnSpc>
                <a:spcPts val="3899"/>
              </a:lnSpc>
            </a:pPr>
            <a:r>
              <a:rPr lang="en-US" sz="2599" b="1" spc="-77">
                <a:solidFill>
                  <a:srgbClr val="00FFA8"/>
                </a:solidFill>
                <a:latin typeface="TT Fors Bold"/>
                <a:ea typeface="TT Fors Bold"/>
                <a:cs typeface="TT Fors Bold"/>
                <a:sym typeface="TT Fors Bold"/>
              </a:rPr>
              <a:t>Layer 5: Data Security</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Encryption at rest and in transit</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Data Loss Prevention (DLP)</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Access controls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Backup and recovery</a:t>
            </a:r>
          </a:p>
          <a:p>
            <a:pPr algn="l">
              <a:lnSpc>
                <a:spcPts val="3899"/>
              </a:lnSpc>
            </a:pPr>
            <a:r>
              <a:rPr lang="en-US" sz="2599" b="1" spc="-77">
                <a:solidFill>
                  <a:srgbClr val="00FFA8"/>
                </a:solidFill>
                <a:latin typeface="TT Fors Bold"/>
                <a:ea typeface="TT Fors Bold"/>
                <a:cs typeface="TT Fors Bold"/>
                <a:sym typeface="TT Fors Bold"/>
              </a:rPr>
              <a:t>Layer 6: User Awareness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Security training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Phishing simulations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Incident reporting culture</a:t>
            </a:r>
          </a:p>
        </p:txBody>
      </p:sp>
      <p:sp>
        <p:nvSpPr>
          <p:cNvPr id="5" name="TextBox 5"/>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Layered Security Approach</a:t>
            </a:r>
          </a:p>
        </p:txBody>
      </p:sp>
      <p:sp>
        <p:nvSpPr>
          <p:cNvPr id="6" name="TextBox 6"/>
          <p:cNvSpPr txBox="1"/>
          <p:nvPr/>
        </p:nvSpPr>
        <p:spPr>
          <a:xfrm>
            <a:off x="666750" y="1987319"/>
            <a:ext cx="16882667" cy="493395"/>
          </a:xfrm>
          <a:prstGeom prst="rect">
            <a:avLst/>
          </a:prstGeom>
        </p:spPr>
        <p:txBody>
          <a:bodyPr lIns="0" tIns="0" rIns="0" bIns="0" rtlCol="0" anchor="t">
            <a:spAutoFit/>
          </a:bodyPr>
          <a:lstStyle/>
          <a:p>
            <a:pPr algn="l">
              <a:lnSpc>
                <a:spcPts val="4199"/>
              </a:lnSpc>
            </a:pPr>
            <a:r>
              <a:rPr lang="en-US" sz="2799" spc="-83">
                <a:solidFill>
                  <a:srgbClr val="FFFFFF"/>
                </a:solidFill>
                <a:latin typeface="TT Fors"/>
                <a:ea typeface="TT Fors"/>
                <a:cs typeface="TT Fors"/>
                <a:sym typeface="TT Fors"/>
              </a:rPr>
              <a:t>No single security control is perfect. Defense in depth implements multiple layers: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DEFENSE IN DEPTH STRATEGY (Continued)</a:t>
            </a:r>
          </a:p>
        </p:txBody>
      </p:sp>
      <p:sp>
        <p:nvSpPr>
          <p:cNvPr id="3" name="TextBox 3"/>
          <p:cNvSpPr txBox="1"/>
          <p:nvPr/>
        </p:nvSpPr>
        <p:spPr>
          <a:xfrm>
            <a:off x="666750" y="2661689"/>
            <a:ext cx="7488058" cy="288226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Continuous Monitoring: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SIEM (Security Information and Event Management)</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Log aggregation and analysis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Threat intelligence feeds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Behavioral analytics</a:t>
            </a:r>
          </a:p>
        </p:txBody>
      </p:sp>
      <p:sp>
        <p:nvSpPr>
          <p:cNvPr id="4" name="TextBox 4"/>
          <p:cNvSpPr txBox="1"/>
          <p:nvPr/>
        </p:nvSpPr>
        <p:spPr>
          <a:xfrm>
            <a:off x="9050136" y="2661689"/>
            <a:ext cx="7974826" cy="385381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Incident Response Process: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Preparation: Plans, tools, training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Detection and Analysis: Identify security incidents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Containment: Isolate affected systems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Eradication: Remove malware, close vulnerabilities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Recovery: Restore normal operations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Lessons Learned: Post-incident review and improvement</a:t>
            </a:r>
          </a:p>
        </p:txBody>
      </p:sp>
      <p:sp>
        <p:nvSpPr>
          <p:cNvPr id="5" name="TextBox 5"/>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Security Monitoring and Incident Response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EMERGING THREATS AND FUTURE CONSIDERATIONS</a:t>
            </a:r>
          </a:p>
        </p:txBody>
      </p:sp>
      <p:sp>
        <p:nvSpPr>
          <p:cNvPr id="3" name="TextBox 3"/>
          <p:cNvSpPr txBox="1"/>
          <p:nvPr/>
        </p:nvSpPr>
        <p:spPr>
          <a:xfrm>
            <a:off x="666750" y="2256050"/>
            <a:ext cx="7488058" cy="725424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AI-Powered Attacks: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Automated vulnerability discovery</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AI-generated phishing content</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Deepfake social engineering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Polymorphic malware using machine learning</a:t>
            </a:r>
          </a:p>
          <a:p>
            <a:pPr algn="l">
              <a:lnSpc>
                <a:spcPts val="3899"/>
              </a:lnSpc>
            </a:pPr>
            <a:r>
              <a:rPr lang="en-US" sz="2599" b="1" spc="-77">
                <a:solidFill>
                  <a:srgbClr val="00FFA8"/>
                </a:solidFill>
                <a:latin typeface="TT Fors Bold"/>
                <a:ea typeface="TT Fors Bold"/>
                <a:cs typeface="TT Fors Bold"/>
                <a:sym typeface="TT Fors Bold"/>
              </a:rPr>
              <a:t>Supply Chain Attacks: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Targeting software vendors and service providers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SolarWinds-style attacks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Malicious packages in open-source repositories</a:t>
            </a:r>
          </a:p>
          <a:p>
            <a:pPr algn="l">
              <a:lnSpc>
                <a:spcPts val="3899"/>
              </a:lnSpc>
            </a:pPr>
            <a:r>
              <a:rPr lang="en-US" sz="2599" b="1" spc="-77">
                <a:solidFill>
                  <a:srgbClr val="00FFA8"/>
                </a:solidFill>
                <a:latin typeface="TT Fors Bold"/>
                <a:ea typeface="TT Fors Bold"/>
                <a:cs typeface="TT Fors Bold"/>
                <a:sym typeface="TT Fors Bold"/>
              </a:rPr>
              <a:t>Cloud-Specific Threats: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Misconfigured cloud storage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Compromised credentials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Insecure APIs</a:t>
            </a:r>
          </a:p>
          <a:p>
            <a:pPr marL="561339" lvl="1" indent="-280669" algn="l">
              <a:lnSpc>
                <a:spcPts val="3899"/>
              </a:lnSpc>
              <a:buFont typeface="Arial"/>
              <a:buChar char="•"/>
            </a:pPr>
            <a:r>
              <a:rPr lang="en-US" sz="2599" u="none" strike="noStrike" spc="-77">
                <a:solidFill>
                  <a:srgbClr val="00FFA8"/>
                </a:solidFill>
                <a:latin typeface="TT Fors"/>
                <a:ea typeface="TT Fors"/>
                <a:cs typeface="TT Fors"/>
                <a:sym typeface="TT Fors"/>
              </a:rPr>
              <a:t>Lack of visibility</a:t>
            </a:r>
          </a:p>
        </p:txBody>
      </p:sp>
      <p:sp>
        <p:nvSpPr>
          <p:cNvPr id="4" name="TextBox 4"/>
          <p:cNvSpPr txBox="1"/>
          <p:nvPr/>
        </p:nvSpPr>
        <p:spPr>
          <a:xfrm>
            <a:off x="9050136" y="2256050"/>
            <a:ext cx="7974826" cy="385381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IoT and Operational Technology (OT):</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Insecure IoT devices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Industrial control system attacks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Smart building vulnerabilities</a:t>
            </a:r>
          </a:p>
          <a:p>
            <a:pPr algn="l">
              <a:lnSpc>
                <a:spcPts val="3899"/>
              </a:lnSpc>
            </a:pPr>
            <a:r>
              <a:rPr lang="en-US" sz="2599" b="1" spc="-77">
                <a:solidFill>
                  <a:srgbClr val="00FFA8"/>
                </a:solidFill>
                <a:latin typeface="TT Fors Bold"/>
                <a:ea typeface="TT Fors Bold"/>
                <a:cs typeface="TT Fors Bold"/>
                <a:sym typeface="TT Fors Bold"/>
              </a:rPr>
              <a:t>Quantum Computing: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Future threat to current encryption</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"Harvest now, decrypt later" attacks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Post-quantum cryptography development</a:t>
            </a:r>
          </a:p>
        </p:txBody>
      </p:sp>
      <p:sp>
        <p:nvSpPr>
          <p:cNvPr id="5" name="TextBox 5"/>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Current Trends (2024-2025)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SUMMARY AND KEY TAKEAWAYS</a:t>
            </a:r>
          </a:p>
        </p:txBody>
      </p:sp>
      <p:sp>
        <p:nvSpPr>
          <p:cNvPr id="3" name="TextBox 3"/>
          <p:cNvSpPr txBox="1"/>
          <p:nvPr/>
        </p:nvSpPr>
        <p:spPr>
          <a:xfrm>
            <a:off x="666750" y="2256050"/>
            <a:ext cx="8997037" cy="725424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Key Points:</a:t>
            </a:r>
          </a:p>
          <a:p>
            <a:pPr marL="561339" lvl="1" indent="-280669" algn="l">
              <a:lnSpc>
                <a:spcPts val="3899"/>
              </a:lnSpc>
              <a:buAutoNum type="arabicPeriod"/>
            </a:pPr>
            <a:r>
              <a:rPr lang="en-US" sz="2599" spc="-77">
                <a:solidFill>
                  <a:srgbClr val="00FFA8"/>
                </a:solidFill>
                <a:latin typeface="TT Fors"/>
                <a:ea typeface="TT Fors"/>
                <a:cs typeface="TT Fors"/>
                <a:sym typeface="TT Fors"/>
              </a:rPr>
              <a:t>Malware is Evolving: From simple viruses to sophisticated, AI-powered, multi-stage attacks.</a:t>
            </a:r>
          </a:p>
          <a:p>
            <a:pPr marL="561339" lvl="1" indent="-280669" algn="l">
              <a:lnSpc>
                <a:spcPts val="3899"/>
              </a:lnSpc>
              <a:buAutoNum type="arabicPeriod"/>
            </a:pPr>
            <a:r>
              <a:rPr lang="en-US" sz="2599" spc="-77">
                <a:solidFill>
                  <a:srgbClr val="00FFA8"/>
                </a:solidFill>
                <a:latin typeface="TT Fors"/>
                <a:ea typeface="TT Fors"/>
                <a:cs typeface="TT Fors"/>
                <a:sym typeface="TT Fors"/>
              </a:rPr>
              <a:t>Ransomware is a Critical Threat: Double extortion, RaaS models, targeting critical infrastructure.</a:t>
            </a:r>
          </a:p>
          <a:p>
            <a:pPr marL="561339" lvl="1" indent="-280669" algn="l">
              <a:lnSpc>
                <a:spcPts val="3899"/>
              </a:lnSpc>
              <a:buAutoNum type="arabicPeriod"/>
            </a:pPr>
            <a:r>
              <a:rPr lang="en-US" sz="2599" spc="-77">
                <a:solidFill>
                  <a:srgbClr val="00FFA8"/>
                </a:solidFill>
                <a:latin typeface="TT Fors"/>
                <a:ea typeface="TT Fors"/>
                <a:cs typeface="TT Fors"/>
                <a:sym typeface="TT Fors"/>
              </a:rPr>
              <a:t>User Education is Essential: Humans remain the weakest link; training is the most cost-effective defense.</a:t>
            </a:r>
          </a:p>
          <a:p>
            <a:pPr marL="561339" lvl="1" indent="-280669" algn="l">
              <a:lnSpc>
                <a:spcPts val="3899"/>
              </a:lnSpc>
              <a:buAutoNum type="arabicPeriod"/>
            </a:pPr>
            <a:r>
              <a:rPr lang="en-US" sz="2599" spc="-77">
                <a:solidFill>
                  <a:srgbClr val="00FFA8"/>
                </a:solidFill>
                <a:latin typeface="TT Fors"/>
                <a:ea typeface="TT Fors"/>
                <a:cs typeface="TT Fors"/>
                <a:sym typeface="TT Fors"/>
              </a:rPr>
              <a:t>Layered Defense Required: No single tool provides complete protection</a:t>
            </a:r>
          </a:p>
          <a:p>
            <a:pPr marL="561339" lvl="1" indent="-280669" algn="l">
              <a:lnSpc>
                <a:spcPts val="3899"/>
              </a:lnSpc>
              <a:buAutoNum type="arabicPeriod"/>
            </a:pPr>
            <a:r>
              <a:rPr lang="en-US" sz="2599" spc="-77">
                <a:solidFill>
                  <a:srgbClr val="00FFA8"/>
                </a:solidFill>
                <a:latin typeface="TT Fors"/>
                <a:ea typeface="TT Fors"/>
                <a:cs typeface="TT Fors"/>
                <a:sym typeface="TT Fors"/>
              </a:rPr>
              <a:t>Physical Security Matters: Physical access can bypass almost any technical control</a:t>
            </a:r>
          </a:p>
          <a:p>
            <a:pPr marL="561339" lvl="1" indent="-280669" algn="l">
              <a:lnSpc>
                <a:spcPts val="3899"/>
              </a:lnSpc>
              <a:buAutoNum type="arabicPeriod"/>
            </a:pPr>
            <a:r>
              <a:rPr lang="en-US" sz="2599" spc="-77">
                <a:solidFill>
                  <a:srgbClr val="00FFA8"/>
                </a:solidFill>
                <a:latin typeface="TT Fors"/>
                <a:ea typeface="TT Fors"/>
                <a:cs typeface="TT Fors"/>
                <a:sym typeface="TT Fors"/>
              </a:rPr>
              <a:t>Incident Response is Crucial: Preparation determines recovery success</a:t>
            </a:r>
          </a:p>
          <a:p>
            <a:pPr marL="561339" lvl="1" indent="-280669" algn="l">
              <a:lnSpc>
                <a:spcPts val="3899"/>
              </a:lnSpc>
              <a:buAutoNum type="arabicPeriod"/>
            </a:pPr>
            <a:r>
              <a:rPr lang="en-US" sz="2599" spc="-77">
                <a:solidFill>
                  <a:srgbClr val="00FFA8"/>
                </a:solidFill>
                <a:latin typeface="TT Fors"/>
                <a:ea typeface="TT Fors"/>
                <a:cs typeface="TT Fors"/>
                <a:sym typeface="TT Fors"/>
              </a:rPr>
              <a:t>Stay Updated: Threat landscape changes rapidly; continuous learning required</a:t>
            </a:r>
          </a:p>
        </p:txBody>
      </p:sp>
      <p:sp>
        <p:nvSpPr>
          <p:cNvPr id="4" name="TextBox 4"/>
          <p:cNvSpPr txBox="1"/>
          <p:nvPr/>
        </p:nvSpPr>
        <p:spPr>
          <a:xfrm>
            <a:off x="9974994" y="2256050"/>
            <a:ext cx="7049968" cy="4339590"/>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Action Items for Security Professionals: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Implement defense in depth</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Maintain current threat intelligence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Test incident response plans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Conduct regular security awareness training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Perform vulnerability assessments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Keep all systems patched and updated</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Monitor for indicators of compromise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Practice the principle of least privilege</a:t>
            </a:r>
          </a:p>
        </p:txBody>
      </p:sp>
      <p:sp>
        <p:nvSpPr>
          <p:cNvPr id="5" name="TextBox 5"/>
          <p:cNvSpPr txBox="1"/>
          <p:nvPr/>
        </p:nvSpPr>
        <p:spPr>
          <a:xfrm>
            <a:off x="666750" y="1322070"/>
            <a:ext cx="8234435" cy="493395"/>
          </a:xfrm>
          <a:prstGeom prst="rect">
            <a:avLst/>
          </a:prstGeom>
        </p:spPr>
        <p:txBody>
          <a:bodyPr lIns="0" tIns="0" rIns="0" bIns="0" rtlCol="0" anchor="t">
            <a:spAutoFit/>
          </a:bodyPr>
          <a:lstStyle/>
          <a:p>
            <a:pPr algn="l">
              <a:lnSpc>
                <a:spcPts val="4199"/>
              </a:lnSpc>
            </a:pPr>
            <a:r>
              <a:rPr lang="en-US" sz="2799" b="1" spc="-83">
                <a:solidFill>
                  <a:srgbClr val="00FFA8"/>
                </a:solidFill>
                <a:latin typeface="TT Fors Bold"/>
                <a:ea typeface="TT Fors Bold"/>
                <a:cs typeface="TT Fors Bold"/>
                <a:sym typeface="TT Fors Bold"/>
              </a:rPr>
              <a:t>Current Trends (2024-2025)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766773" cy="741045"/>
          </a:xfrm>
          <a:prstGeom prst="rect">
            <a:avLst/>
          </a:prstGeom>
        </p:spPr>
        <p:txBody>
          <a:bodyPr lIns="0" tIns="0" rIns="0" bIns="0" rtlCol="0" anchor="t">
            <a:spAutoFit/>
          </a:bodyPr>
          <a:lstStyle/>
          <a:p>
            <a:pPr marL="0" lvl="0" indent="0" algn="l">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REFERENCES AND FURTHER READING</a:t>
            </a:r>
          </a:p>
        </p:txBody>
      </p:sp>
      <p:sp>
        <p:nvSpPr>
          <p:cNvPr id="3" name="TextBox 3"/>
          <p:cNvSpPr txBox="1"/>
          <p:nvPr/>
        </p:nvSpPr>
        <p:spPr>
          <a:xfrm>
            <a:off x="666750" y="1769282"/>
            <a:ext cx="8997037" cy="7740015"/>
          </a:xfrm>
          <a:prstGeom prst="rect">
            <a:avLst/>
          </a:prstGeom>
        </p:spPr>
        <p:txBody>
          <a:bodyPr lIns="0" tIns="0" rIns="0" bIns="0" rtlCol="0" anchor="t">
            <a:spAutoFit/>
          </a:bodyPr>
          <a:lstStyle/>
          <a:p>
            <a:pPr algn="l">
              <a:lnSpc>
                <a:spcPts val="3899"/>
              </a:lnSpc>
            </a:pPr>
            <a:r>
              <a:rPr lang="en-US" sz="2599" b="1" spc="-77">
                <a:solidFill>
                  <a:srgbClr val="00FFA8"/>
                </a:solidFill>
                <a:latin typeface="TT Fors Bold"/>
                <a:ea typeface="TT Fors Bold"/>
                <a:cs typeface="TT Fors Bold"/>
                <a:sym typeface="TT Fors Bold"/>
              </a:rPr>
              <a:t>Standards and Frameworks: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MITRE ATT&amp;CK Framework </a:t>
            </a:r>
            <a:r>
              <a:rPr lang="en-US" sz="2599" spc="-77">
                <a:solidFill>
                  <a:srgbClr val="FFFFFF"/>
                </a:solidFill>
                <a:latin typeface="TT Fors"/>
                <a:ea typeface="TT Fors"/>
                <a:cs typeface="TT Fors"/>
                <a:sym typeface="TT Fors"/>
              </a:rPr>
              <a:t>(attack.mitre.org)</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NIST Cybersecurity Framework</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OWASP Top 10</a:t>
            </a:r>
          </a:p>
          <a:p>
            <a:pPr algn="l">
              <a:lnSpc>
                <a:spcPts val="3899"/>
              </a:lnSpc>
            </a:pPr>
            <a:r>
              <a:rPr lang="en-US" sz="2599" b="1" spc="-77">
                <a:solidFill>
                  <a:srgbClr val="00FFA8"/>
                </a:solidFill>
                <a:latin typeface="TT Fors Bold"/>
                <a:ea typeface="TT Fors Bold"/>
                <a:cs typeface="TT Fors Bold"/>
                <a:sym typeface="TT Fors Bold"/>
              </a:rPr>
              <a:t>Malware Analysis: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"Practical Malware Analysis" by Michael Sikorski</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"The Art of Memory Forensics" by Michael Hale Ligh</a:t>
            </a:r>
          </a:p>
          <a:p>
            <a:pPr marL="561339" lvl="1" indent="-280669" algn="l">
              <a:lnSpc>
                <a:spcPts val="3899"/>
              </a:lnSpc>
              <a:buFont typeface="Arial"/>
              <a:buChar char="•"/>
            </a:pPr>
            <a:r>
              <a:rPr lang="en-US" sz="2599" spc="-77">
                <a:solidFill>
                  <a:srgbClr val="FFFFFF"/>
                </a:solidFill>
                <a:latin typeface="TT Fors"/>
                <a:ea typeface="TT Fors"/>
                <a:cs typeface="TT Fors"/>
                <a:sym typeface="TT Fors"/>
              </a:rPr>
              <a:t>VirusTotal, Hybrid Analysis (online sandboxes)</a:t>
            </a:r>
          </a:p>
          <a:p>
            <a:pPr algn="l">
              <a:lnSpc>
                <a:spcPts val="3899"/>
              </a:lnSpc>
            </a:pPr>
            <a:r>
              <a:rPr lang="en-US" sz="2599" b="1" spc="-77">
                <a:solidFill>
                  <a:srgbClr val="00FFA8"/>
                </a:solidFill>
                <a:latin typeface="TT Fors Bold"/>
                <a:ea typeface="TT Fors Bold"/>
                <a:cs typeface="TT Fors Bold"/>
                <a:sym typeface="TT Fors Bold"/>
              </a:rPr>
              <a:t>Incident Response:</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SANS Incident Handler's Handbook</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NIST SP 800-61 Rev. 2</a:t>
            </a:r>
          </a:p>
          <a:p>
            <a:pPr algn="l">
              <a:lnSpc>
                <a:spcPts val="3899"/>
              </a:lnSpc>
            </a:pPr>
            <a:r>
              <a:rPr lang="en-US" sz="2599" b="1" spc="-77">
                <a:solidFill>
                  <a:srgbClr val="00FFA8"/>
                </a:solidFill>
                <a:latin typeface="TT Fors Bold"/>
                <a:ea typeface="TT Fors Bold"/>
                <a:cs typeface="TT Fors Bold"/>
                <a:sym typeface="TT Fors Bold"/>
              </a:rPr>
              <a:t>Security News and Research:</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Krebs on Security</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Bleeping Computer</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The Hacker News</a:t>
            </a:r>
          </a:p>
          <a:p>
            <a:pPr marL="561339" lvl="1" indent="-280669" algn="l">
              <a:lnSpc>
                <a:spcPts val="3899"/>
              </a:lnSpc>
              <a:buFont typeface="Arial"/>
              <a:buChar char="•"/>
            </a:pPr>
            <a:r>
              <a:rPr lang="en-US" sz="2599" spc="-77">
                <a:solidFill>
                  <a:srgbClr val="00FFA8"/>
                </a:solidFill>
                <a:latin typeface="TT Fors"/>
                <a:ea typeface="TT Fors"/>
                <a:cs typeface="TT Fors"/>
                <a:sym typeface="TT Fors"/>
              </a:rPr>
              <a:t>Threat Post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0102596" y="0"/>
            <a:ext cx="8185404" cy="10287000"/>
            <a:chOff x="0" y="0"/>
            <a:chExt cx="2155827" cy="2709333"/>
          </a:xfrm>
        </p:grpSpPr>
        <p:sp>
          <p:nvSpPr>
            <p:cNvPr id="3" name="Freeform 3"/>
            <p:cNvSpPr/>
            <p:nvPr/>
          </p:nvSpPr>
          <p:spPr>
            <a:xfrm>
              <a:off x="0" y="0"/>
              <a:ext cx="2155827" cy="2709333"/>
            </a:xfrm>
            <a:custGeom>
              <a:avLst/>
              <a:gdLst/>
              <a:ahLst/>
              <a:cxnLst/>
              <a:rect l="l" t="t" r="r" b="b"/>
              <a:pathLst>
                <a:path w="2155827" h="2709333">
                  <a:moveTo>
                    <a:pt x="0" y="0"/>
                  </a:moveTo>
                  <a:lnTo>
                    <a:pt x="2155827" y="0"/>
                  </a:lnTo>
                  <a:lnTo>
                    <a:pt x="2155827" y="2709333"/>
                  </a:lnTo>
                  <a:lnTo>
                    <a:pt x="0" y="2709333"/>
                  </a:lnTo>
                  <a:close/>
                </a:path>
              </a:pathLst>
            </a:custGeom>
            <a:solidFill>
              <a:srgbClr val="301445"/>
            </a:solidFill>
          </p:spPr>
          <p:txBody>
            <a:bodyPr/>
            <a:lstStyle/>
            <a:p>
              <a:endParaRPr lang="en-US"/>
            </a:p>
          </p:txBody>
        </p:sp>
        <p:sp>
          <p:nvSpPr>
            <p:cNvPr id="4" name="TextBox 4"/>
            <p:cNvSpPr txBox="1"/>
            <p:nvPr/>
          </p:nvSpPr>
          <p:spPr>
            <a:xfrm>
              <a:off x="0" y="-38100"/>
              <a:ext cx="2155827" cy="2747433"/>
            </a:xfrm>
            <a:prstGeom prst="rect">
              <a:avLst/>
            </a:prstGeom>
          </p:spPr>
          <p:txBody>
            <a:bodyPr lIns="50800" tIns="50800" rIns="50800" bIns="50800" rtlCol="0" anchor="ctr"/>
            <a:lstStyle/>
            <a:p>
              <a:pPr marL="0" lvl="0" indent="0" algn="ctr">
                <a:lnSpc>
                  <a:spcPts val="2100"/>
                </a:lnSpc>
              </a:pPr>
              <a:endParaRPr/>
            </a:p>
          </p:txBody>
        </p:sp>
      </p:grpSp>
      <p:grpSp>
        <p:nvGrpSpPr>
          <p:cNvPr id="5" name="Group 5"/>
          <p:cNvGrpSpPr/>
          <p:nvPr/>
        </p:nvGrpSpPr>
        <p:grpSpPr>
          <a:xfrm>
            <a:off x="10708180" y="666750"/>
            <a:ext cx="6947741" cy="8953500"/>
            <a:chOff x="0" y="0"/>
            <a:chExt cx="812800" cy="1047449"/>
          </a:xfrm>
        </p:grpSpPr>
        <p:sp>
          <p:nvSpPr>
            <p:cNvPr id="6" name="Freeform 6"/>
            <p:cNvSpPr/>
            <p:nvPr/>
          </p:nvSpPr>
          <p:spPr>
            <a:xfrm>
              <a:off x="0" y="0"/>
              <a:ext cx="812800" cy="1047449"/>
            </a:xfrm>
            <a:custGeom>
              <a:avLst/>
              <a:gdLst/>
              <a:ahLst/>
              <a:cxnLst/>
              <a:rect l="l" t="t" r="r" b="b"/>
              <a:pathLst>
                <a:path w="812800" h="1047449">
                  <a:moveTo>
                    <a:pt x="44572" y="0"/>
                  </a:moveTo>
                  <a:lnTo>
                    <a:pt x="768228" y="0"/>
                  </a:lnTo>
                  <a:cubicBezTo>
                    <a:pt x="792844" y="0"/>
                    <a:pt x="812800" y="19956"/>
                    <a:pt x="812800" y="44572"/>
                  </a:cubicBezTo>
                  <a:lnTo>
                    <a:pt x="812800" y="1002877"/>
                  </a:lnTo>
                  <a:cubicBezTo>
                    <a:pt x="812800" y="1027493"/>
                    <a:pt x="792844" y="1047449"/>
                    <a:pt x="768228" y="1047449"/>
                  </a:cubicBezTo>
                  <a:lnTo>
                    <a:pt x="44572" y="1047449"/>
                  </a:lnTo>
                  <a:cubicBezTo>
                    <a:pt x="19956" y="1047449"/>
                    <a:pt x="0" y="1027493"/>
                    <a:pt x="0" y="1002877"/>
                  </a:cubicBezTo>
                  <a:lnTo>
                    <a:pt x="0" y="44572"/>
                  </a:lnTo>
                  <a:cubicBezTo>
                    <a:pt x="0" y="19956"/>
                    <a:pt x="19956" y="0"/>
                    <a:pt x="44572" y="0"/>
                  </a:cubicBezTo>
                  <a:close/>
                </a:path>
              </a:pathLst>
            </a:custGeom>
            <a:blipFill>
              <a:blip r:embed="rId2"/>
              <a:stretch>
                <a:fillRect t="-306" b="-306"/>
              </a:stretch>
            </a:blipFill>
          </p:spPr>
          <p:txBody>
            <a:bodyPr/>
            <a:lstStyle/>
            <a:p>
              <a:endParaRPr lang="en-US"/>
            </a:p>
          </p:txBody>
        </p:sp>
      </p:grpSp>
      <p:grpSp>
        <p:nvGrpSpPr>
          <p:cNvPr id="7" name="Group 7"/>
          <p:cNvGrpSpPr/>
          <p:nvPr/>
        </p:nvGrpSpPr>
        <p:grpSpPr>
          <a:xfrm>
            <a:off x="1126053" y="4096993"/>
            <a:ext cx="8324850" cy="2093014"/>
            <a:chOff x="0" y="0"/>
            <a:chExt cx="11099800" cy="2790686"/>
          </a:xfrm>
        </p:grpSpPr>
        <p:sp>
          <p:nvSpPr>
            <p:cNvPr id="8" name="TextBox 8"/>
            <p:cNvSpPr txBox="1"/>
            <p:nvPr/>
          </p:nvSpPr>
          <p:spPr>
            <a:xfrm>
              <a:off x="0" y="2051122"/>
              <a:ext cx="11099800" cy="739564"/>
            </a:xfrm>
            <a:prstGeom prst="rect">
              <a:avLst/>
            </a:prstGeom>
          </p:spPr>
          <p:txBody>
            <a:bodyPr lIns="0" tIns="0" rIns="0" bIns="0" rtlCol="0" anchor="t">
              <a:spAutoFit/>
            </a:bodyPr>
            <a:lstStyle/>
            <a:p>
              <a:pPr marL="0" lvl="0" indent="0" algn="ctr">
                <a:lnSpc>
                  <a:spcPts val="4159"/>
                </a:lnSpc>
                <a:spcBef>
                  <a:spcPct val="0"/>
                </a:spcBef>
              </a:pPr>
              <a:r>
                <a:rPr lang="en-US" sz="3199">
                  <a:solidFill>
                    <a:srgbClr val="00FFA8"/>
                  </a:solidFill>
                  <a:latin typeface="ITC Avant Garde Gothic"/>
                  <a:ea typeface="ITC Avant Garde Gothic"/>
                  <a:cs typeface="ITC Avant Garde Gothic"/>
                  <a:sym typeface="ITC Avant Garde Gothic"/>
                </a:rPr>
                <a:t>ANY QUESTIONS?</a:t>
              </a:r>
            </a:p>
          </p:txBody>
        </p:sp>
        <p:sp>
          <p:nvSpPr>
            <p:cNvPr id="9" name="TextBox 9"/>
            <p:cNvSpPr txBox="1"/>
            <p:nvPr/>
          </p:nvSpPr>
          <p:spPr>
            <a:xfrm>
              <a:off x="0" y="0"/>
              <a:ext cx="11099800" cy="1722963"/>
            </a:xfrm>
            <a:prstGeom prst="rect">
              <a:avLst/>
            </a:prstGeom>
          </p:spPr>
          <p:txBody>
            <a:bodyPr lIns="0" tIns="0" rIns="0" bIns="0" rtlCol="0" anchor="t">
              <a:spAutoFit/>
            </a:bodyPr>
            <a:lstStyle/>
            <a:p>
              <a:pPr marL="0" lvl="0" indent="0" algn="ctr">
                <a:lnSpc>
                  <a:spcPts val="8499"/>
                </a:lnSpc>
                <a:spcBef>
                  <a:spcPct val="0"/>
                </a:spcBef>
              </a:pPr>
              <a:r>
                <a:rPr lang="en-US" sz="8499" u="none" strike="noStrike" spc="-254">
                  <a:solidFill>
                    <a:srgbClr val="00FFA8"/>
                  </a:solidFill>
                  <a:latin typeface="ITC Avant Garde Gothic"/>
                  <a:ea typeface="ITC Avant Garde Gothic"/>
                  <a:cs typeface="ITC Avant Garde Gothic"/>
                  <a:sym typeface="ITC Avant Garde Gothic"/>
                </a:rPr>
                <a:t>Thank You</a:t>
              </a:r>
            </a:p>
          </p:txBody>
        </p:sp>
      </p:grpSp>
      <p:sp>
        <p:nvSpPr>
          <p:cNvPr id="10" name="Freeform 10"/>
          <p:cNvSpPr/>
          <p:nvPr/>
        </p:nvSpPr>
        <p:spPr>
          <a:xfrm rot="5400000" flipH="1">
            <a:off x="16106389" y="8352937"/>
            <a:ext cx="1792448" cy="1639275"/>
          </a:xfrm>
          <a:custGeom>
            <a:avLst/>
            <a:gdLst/>
            <a:ahLst/>
            <a:cxnLst/>
            <a:rect l="l" t="t" r="r" b="b"/>
            <a:pathLst>
              <a:path w="1792448" h="1639275">
                <a:moveTo>
                  <a:pt x="1792448" y="0"/>
                </a:moveTo>
                <a:lnTo>
                  <a:pt x="0" y="0"/>
                </a:lnTo>
                <a:lnTo>
                  <a:pt x="0" y="1639276"/>
                </a:lnTo>
                <a:lnTo>
                  <a:pt x="1792448" y="1639276"/>
                </a:lnTo>
                <a:lnTo>
                  <a:pt x="1792448"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11141</Words>
  <Application>Microsoft Macintosh PowerPoint</Application>
  <PresentationFormat>Custom</PresentationFormat>
  <Paragraphs>1231</Paragraphs>
  <Slides>34</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ITC Avant Garde Gothic</vt:lpstr>
      <vt:lpstr>ITC Avant Garde Gothic Bold</vt:lpstr>
      <vt:lpstr>Arial</vt:lpstr>
      <vt:lpstr>TT Fors Bold</vt:lpstr>
      <vt:lpstr>TT Fors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Lecture-03-CCS6324 -  Network and Computer Attacks</dc:title>
  <dc:description>Presentation - Ethical Hacking Overview</dc:description>
  <cp:lastModifiedBy>Hussain Hafiz Adnan</cp:lastModifiedBy>
  <cp:revision>2</cp:revision>
  <dcterms:created xsi:type="dcterms:W3CDTF">2006-08-16T00:00:00Z</dcterms:created>
  <dcterms:modified xsi:type="dcterms:W3CDTF">2025-11-24T04:22:53Z</dcterms:modified>
  <dc:identifier>DAG5BKMx3q4</dc:identifier>
</cp:coreProperties>
</file>