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ITC Avant Garde Gothic" charset="1" panose="020B0502020202020204"/>
      <p:regular r:id="rId39"/>
    </p:embeddedFont>
    <p:embeddedFont>
      <p:font typeface="TT Fors" charset="1" panose="020B0003030001020000"/>
      <p:regular r:id="rId40"/>
    </p:embeddedFont>
    <p:embeddedFont>
      <p:font typeface="TT Fors Bold" charset="1" panose="020B0003030001020000"/>
      <p:regular r:id="rId45"/>
    </p:embeddedFont>
    <p:embeddedFont>
      <p:font typeface="Canva Sans Bold" charset="1" panose="020B0803030501040103"/>
      <p:regular r:id="rId49"/>
    </p:embeddedFont>
    <p:embeddedFont>
      <p:font typeface="Canva Sans" charset="1" panose="020B0503030501040103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Masters/notesMaster1.xml" Type="http://schemas.openxmlformats.org/officeDocument/2006/relationships/notesMaster"/><Relationship Id="rId42" Target="theme/theme2.xml" Type="http://schemas.openxmlformats.org/officeDocument/2006/relationships/theme"/><Relationship Id="rId43" Target="notesSlides/notesSlide1.xml" Type="http://schemas.openxmlformats.org/officeDocument/2006/relationships/notesSlide"/><Relationship Id="rId44" Target="notesSlides/notesSlide2.xml" Type="http://schemas.openxmlformats.org/officeDocument/2006/relationships/notesSlide"/><Relationship Id="rId45" Target="fonts/font45.fntdata" Type="http://schemas.openxmlformats.org/officeDocument/2006/relationships/font"/><Relationship Id="rId46" Target="notesSlides/notesSlide3.xml" Type="http://schemas.openxmlformats.org/officeDocument/2006/relationships/notesSlide"/><Relationship Id="rId47" Target="notesSlides/notesSlide4.xml" Type="http://schemas.openxmlformats.org/officeDocument/2006/relationships/notesSlide"/><Relationship Id="rId48" Target="notesSlides/notesSlide5.xml" Type="http://schemas.openxmlformats.org/officeDocument/2006/relationships/notes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notesSlides/notesSlide6.xml" Type="http://schemas.openxmlformats.org/officeDocument/2006/relationships/notesSlide"/><Relationship Id="rId52" Target="notesSlides/notesSlide7.xml" Type="http://schemas.openxmlformats.org/officeDocument/2006/relationships/notesSlide"/><Relationship Id="rId53" Target="notesSlides/notesSlide8.xml" Type="http://schemas.openxmlformats.org/officeDocument/2006/relationships/notesSlide"/><Relationship Id="rId54" Target="notesSlides/notesSlide9.xml" Type="http://schemas.openxmlformats.org/officeDocument/2006/relationships/notesSlide"/><Relationship Id="rId55" Target="notesSlides/notesSlide10.xml" Type="http://schemas.openxmlformats.org/officeDocument/2006/relationships/notesSlide"/><Relationship Id="rId56" Target="notesSlides/notesSlide11.xml" Type="http://schemas.openxmlformats.org/officeDocument/2006/relationships/notesSlide"/><Relationship Id="rId57" Target="notesSlides/notesSlide12.xml" Type="http://schemas.openxmlformats.org/officeDocument/2006/relationships/notesSlide"/><Relationship Id="rId58" Target="notesSlides/notesSlide13.xml" Type="http://schemas.openxmlformats.org/officeDocument/2006/relationships/notesSlide"/><Relationship Id="rId59" Target="notesSlides/notesSlide14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5.xml" Type="http://schemas.openxmlformats.org/officeDocument/2006/relationships/notesSlide"/><Relationship Id="rId61" Target="notesSlides/notesSlide16.xml" Type="http://schemas.openxmlformats.org/officeDocument/2006/relationships/notesSlide"/><Relationship Id="rId62" Target="notesSlides/notesSlide17.xml" Type="http://schemas.openxmlformats.org/officeDocument/2006/relationships/notesSlide"/><Relationship Id="rId63" Target="notesSlides/notesSlide18.xml" Type="http://schemas.openxmlformats.org/officeDocument/2006/relationships/notesSlide"/><Relationship Id="rId64" Target="notesSlides/notesSlide19.xml" Type="http://schemas.openxmlformats.org/officeDocument/2006/relationships/notesSlide"/><Relationship Id="rId65" Target="notesSlides/notesSlide20.xml" Type="http://schemas.openxmlformats.org/officeDocument/2006/relationships/notesSlide"/><Relationship Id="rId66" Target="notesSlides/notesSlide21.xml" Type="http://schemas.openxmlformats.org/officeDocument/2006/relationships/notesSlide"/><Relationship Id="rId67" Target="notesSlides/notesSlide22.xml" Type="http://schemas.openxmlformats.org/officeDocument/2006/relationships/notesSlide"/><Relationship Id="rId68" Target="notesSlides/notesSlide23.xml" Type="http://schemas.openxmlformats.org/officeDocument/2006/relationships/notesSlide"/><Relationship Id="rId69" Target="notesSlides/notesSlide24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5.xml" Type="http://schemas.openxmlformats.org/officeDocument/2006/relationships/notesSlide"/><Relationship Id="rId71" Target="notesSlides/notesSlide26.xml" Type="http://schemas.openxmlformats.org/officeDocument/2006/relationships/notesSlide"/><Relationship Id="rId72" Target="notesSlides/notesSlide27.xml" Type="http://schemas.openxmlformats.org/officeDocument/2006/relationships/notesSlide"/><Relationship Id="rId73" Target="notesSlides/notesSlide28.xml" Type="http://schemas.openxmlformats.org/officeDocument/2006/relationships/notesSlide"/><Relationship Id="rId74" Target="notesSlides/notesSlide29.xml" Type="http://schemas.openxmlformats.org/officeDocument/2006/relationships/notesSlide"/><Relationship Id="rId75" Target="notesSlides/notesSlide30.xml" Type="http://schemas.openxmlformats.org/officeDocument/2006/relationships/notesSlide"/><Relationship Id="rId76" Target="notesSlides/notesSlide31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Role of Security:</a:t>
            </a:r>
          </a:p>
          <a:p>
            <a:r>
              <a:rPr lang="en-US"/>
              <a:t>Security professionals play a crucial role in protecting systems and data. They employ ethical hacking techniques to identify vulnerabilities, ensuring that organizations can defend against potential threats and attacks.</a:t>
            </a:r>
          </a:p>
          <a:p>
            <a:r>
              <a:rPr lang="en-US"/>
              <a:t/>
            </a:r>
          </a:p>
          <a:p>
            <a:r>
              <a:rPr lang="en-US"/>
              <a:t>Penetration Testing Methodologies:</a:t>
            </a:r>
          </a:p>
          <a:p>
            <a:r>
              <a:rPr lang="en-US"/>
              <a:t>Various methodologies guide penetration testing, including PTES, OWASP, and NIST. These frameworks provide structured approaches that enhance security assessments, helping organizations establish effective defenses against cyber threats.</a:t>
            </a:r>
          </a:p>
          <a:p>
            <a:r>
              <a:rPr lang="en-US"/>
              <a:t/>
            </a:r>
          </a:p>
          <a:p>
            <a:r>
              <a:rPr lang="en-US"/>
              <a:t>Categories of Penetration Tests:</a:t>
            </a:r>
          </a:p>
          <a:p>
            <a:r>
              <a:rPr lang="en-US"/>
              <a:t>Penetration tests can be categorized based on scope, such as black-box, white-box, and grey-box testing. Each category serves a unique purpose, ensuring comprehensive evaluation of security measures and vulnerabilities.</a:t>
            </a:r>
          </a:p>
          <a:p>
            <a:r>
              <a:rPr lang="en-US"/>
              <a:t/>
            </a:r>
          </a:p>
          <a:p>
            <a:r>
              <a:rPr lang="en-US"/>
              <a:t>Legal Framework:</a:t>
            </a:r>
          </a:p>
          <a:p>
            <a:r>
              <a:rPr lang="en-US"/>
              <a:t>Ethical hackers must navigate a complex legal framework, ensuring compliance with laws and regulations to avoid legal repercussions while conducting penetration tests and vulnerability assessments.</a:t>
            </a:r>
          </a:p>
          <a:p>
            <a:r>
              <a:rPr lang="en-US"/>
              <a:t/>
            </a:r>
          </a:p>
          <a:p>
            <a:r>
              <a:rPr lang="en-US"/>
              <a:t>Ethical Concerns:</a:t>
            </a:r>
          </a:p>
          <a:p>
            <a:r>
              <a:rPr lang="en-US"/>
              <a:t>Ethical considerations are paramount for penetration testers, as they must balance security practices with respect for privacy and integrity, ensuring that their actions do not harm individuals or organizations.</a:t>
            </a:r>
          </a:p>
          <a:p>
            <a:r>
              <a:rPr lang="en-US"/>
              <a:t/>
            </a:r>
          </a:p>
          <a:p>
            <a:r>
              <a:rPr lang="en-US"/>
              <a:t>Learning Outcomes:</a:t>
            </a:r>
          </a:p>
          <a:p>
            <a:r>
              <a:rPr lang="en-US"/>
              <a:t>By the end of this week, students will grasp the fundamentals of ethical hacking, legal boundaries, and frameworks, empowering them to engage confidently in ethical hacking practices.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77675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90559" t="0" r="-9055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62648" y="7828295"/>
            <a:ext cx="3328824" cy="1791955"/>
            <a:chOff x="0" y="0"/>
            <a:chExt cx="4438432" cy="238927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389273" cy="2389273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049159" y="0"/>
              <a:ext cx="2389273" cy="2389273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2049562" y="403"/>
              <a:ext cx="2388870" cy="2388870"/>
            </a:xfrm>
            <a:custGeom>
              <a:avLst/>
              <a:gdLst/>
              <a:ahLst/>
              <a:cxnLst/>
              <a:rect r="r" b="b" t="t" l="l"/>
              <a:pathLst>
                <a:path h="2388870" w="2388870">
                  <a:moveTo>
                    <a:pt x="0" y="0"/>
                  </a:moveTo>
                  <a:lnTo>
                    <a:pt x="2388870" y="0"/>
                  </a:lnTo>
                  <a:lnTo>
                    <a:pt x="2388870" y="2388870"/>
                  </a:lnTo>
                  <a:lnTo>
                    <a:pt x="0" y="2388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03" y="403"/>
              <a:ext cx="2388870" cy="2388870"/>
            </a:xfrm>
            <a:custGeom>
              <a:avLst/>
              <a:gdLst/>
              <a:ahLst/>
              <a:cxnLst/>
              <a:rect r="r" b="b" t="t" l="l"/>
              <a:pathLst>
                <a:path h="2388870" w="2388870">
                  <a:moveTo>
                    <a:pt x="0" y="0"/>
                  </a:moveTo>
                  <a:lnTo>
                    <a:pt x="2388870" y="0"/>
                  </a:lnTo>
                  <a:lnTo>
                    <a:pt x="2388870" y="2388870"/>
                  </a:lnTo>
                  <a:lnTo>
                    <a:pt x="0" y="2388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66750" y="1552575"/>
            <a:ext cx="11210925" cy="1530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 spc="-29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Port Scanning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561975"/>
            <a:ext cx="976312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MULTIMEDIA UNIVERSITY, MALAYSIA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3439795"/>
            <a:ext cx="9763125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CCS6324 - 2530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2959099"/>
            <a:ext cx="9763125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ETHICAL HACKING AND PENETRATION TESTING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Dr. Hafiz Adnan Hussain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2533260"/>
            <a:ext cx="16592550" cy="656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This course is designed to educate students on ethical hacking p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rinc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ples. The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kn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w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dge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and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echniques acqu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ed must be used respons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 and 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ny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llegal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 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authorized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activiti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Each 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nt is solely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sibl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for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hei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tion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Do not inv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estig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in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ividua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s, webs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es,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servers or conduct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ny ill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eg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al activit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ies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on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y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you do not have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p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miss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ion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 analyze.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cour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conten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ha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been deve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oped in good f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ait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h, 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awing from th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auth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r’s 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x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rience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and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repu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table so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urce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. Wh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 every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ffo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 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 been made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ure accuracy,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the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uthor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guarante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abso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ute correctness. Students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 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courage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to ex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discretio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and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actively engage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dis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ns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by 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isi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g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a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ny que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tions or conc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rns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d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ng th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cour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</a:t>
            </a:r>
            <a:r>
              <a:rPr lang="en-US" sz="3199" spc="-95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657225"/>
            <a:ext cx="112014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179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DISC</a:t>
            </a:r>
            <a:r>
              <a:rPr lang="en-US" sz="6000" spc="-179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</a:t>
            </a:r>
            <a:r>
              <a:rPr lang="en-US" sz="6000" spc="-179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AIMER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219255"/>
            <a:ext cx="10074587" cy="476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Introduction to Port Scanning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TCP/IP Fundamentals Review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Understanding Ports and Services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Types of Port Scanning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Port Scanning Tools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Ping Sweep Techniques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Evasion Techniques</a:t>
            </a:r>
          </a:p>
          <a:p>
            <a:pPr algn="l" marL="690879" indent="-345439" lvl="1">
              <a:lnSpc>
                <a:spcPts val="4799"/>
              </a:lnSpc>
              <a:buFont typeface="Arial"/>
              <a:buChar char="•"/>
            </a:pPr>
            <a:r>
              <a:rPr lang="en-US" sz="3199" spc="-95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Legal and Ethical Considerations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657225"/>
            <a:ext cx="1120140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179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Learning Objectives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2095500"/>
            <a:ext cx="1298378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39"/>
              </a:lnSpc>
              <a:spcBef>
                <a:spcPct val="0"/>
              </a:spcBef>
            </a:pPr>
            <a:r>
              <a:rPr lang="en-US" b="true" sz="3199" spc="-95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What</a:t>
            </a:r>
            <a:r>
              <a:rPr lang="en-US" b="true" sz="3199" spc="-95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b="true" sz="3199" spc="-95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Y</a:t>
            </a:r>
            <a:r>
              <a:rPr lang="en-US" b="true" sz="3199" spc="-95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ou </a:t>
            </a:r>
            <a:r>
              <a:rPr lang="en-US" b="true" sz="3199" spc="-95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</a:t>
            </a:r>
            <a:r>
              <a:rPr lang="en-US" b="true" sz="3199" spc="-95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</a:t>
            </a:r>
            <a:r>
              <a:rPr lang="en-US" b="true" sz="3199" spc="-95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ll</a:t>
            </a:r>
            <a:r>
              <a:rPr lang="en-US" b="true" sz="3199" spc="-95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b="true" sz="3199" spc="-95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</a:t>
            </a:r>
            <a:r>
              <a:rPr lang="en-US" b="true" sz="3199" spc="-95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ea</a:t>
            </a:r>
            <a:r>
              <a:rPr lang="en-US" b="true" sz="3199" spc="-95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</a:t>
            </a:r>
            <a:r>
              <a:rPr lang="en-US" b="true" sz="3199" spc="-95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2464787"/>
            <a:ext cx="8153307" cy="363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2400" spc="-72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</a:t>
            </a: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eal-Life Analogy:</a:t>
            </a:r>
          </a:p>
          <a:p>
            <a:pPr algn="l">
              <a:lnSpc>
                <a:spcPts val="3600"/>
              </a:lnSpc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Im</a:t>
            </a: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agine a huge apartment building with 65,535 doors (apartments):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Some doors are </a:t>
            </a: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OPEN</a:t>
            </a: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(services running)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Some doors are </a:t>
            </a: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CLOSED</a:t>
            </a: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(nothing there)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Some doors are </a:t>
            </a: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LOCKED</a:t>
            </a: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(firewall blocking)</a:t>
            </a:r>
          </a:p>
          <a:p>
            <a:pPr algn="l">
              <a:lnSpc>
                <a:spcPts val="3600"/>
              </a:lnSpc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ort scanning is like walking around and checking which doors you can knock on!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6832016"/>
            <a:ext cx="10632661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72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b="true" sz="2400" spc="-72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he R</a:t>
            </a: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econnaissance Process</a:t>
            </a:r>
          </a:p>
          <a:p>
            <a:pPr algn="l">
              <a:lnSpc>
                <a:spcPts val="3600"/>
              </a:lnSpc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Port scanning</a:t>
            </a: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is </a:t>
            </a: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Step 3</a:t>
            </a: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 in the hacking process:</a:t>
            </a:r>
          </a:p>
          <a:p>
            <a:pPr algn="l">
              <a:lnSpc>
                <a:spcPts val="3600"/>
              </a:lnSpc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Step 1: Footprinting → "Who is the target?"</a:t>
            </a:r>
          </a:p>
          <a:p>
            <a:pPr algn="l">
              <a:lnSpc>
                <a:spcPts val="3600"/>
              </a:lnSpc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Step 2: Reconnaissance → "What domains do they own?"</a:t>
            </a:r>
          </a:p>
          <a:p>
            <a:pPr algn="l">
              <a:lnSpc>
                <a:spcPts val="3600"/>
              </a:lnSpc>
            </a:pP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Step 3: </a:t>
            </a: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</a:t>
            </a: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ort Scanning → "What services are running?" </a:t>
            </a: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← </a:t>
            </a: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WE ARE HERE</a:t>
            </a:r>
          </a:p>
          <a:p>
            <a:pPr algn="l">
              <a:lnSpc>
                <a:spcPts val="3600"/>
              </a:lnSpc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Step 4: Enumeration → "What versions? What users?"</a:t>
            </a:r>
          </a:p>
          <a:p>
            <a:pPr algn="l">
              <a:lnSpc>
                <a:spcPts val="3600"/>
              </a:lnSpc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Step 5: Exploitation → "Attack the vulnerable service"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50136" y="2464787"/>
            <a:ext cx="8306267" cy="500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2400" spc="-72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</a:t>
            </a: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y Do We Port Scan?</a:t>
            </a:r>
          </a:p>
          <a:p>
            <a:pPr algn="l">
              <a:lnSpc>
                <a:spcPts val="3600"/>
              </a:lnSpc>
            </a:pP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For Security Professionals (Good Guys):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Find vulnerable services before hackers do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Check if unnecessary ports are exposed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Audit network security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Verify firewall configurations</a:t>
            </a:r>
          </a:p>
          <a:p>
            <a:pPr algn="l">
              <a:lnSpc>
                <a:spcPts val="3600"/>
              </a:lnSpc>
            </a:pP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For Hackers (Bad Guys):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Find entry points to attack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Identify vulnerable services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Map out network infrastructure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Plan targeted attacks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INTRODUCTION TO PORT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SCAN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1894256"/>
            <a:ext cx="16954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Port </a:t>
            </a:r>
            <a:r>
              <a:rPr lang="en-US" b="true" sz="2600" spc="-78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scanning </a:t>
            </a: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is the proc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ess of checking which "doors" (ports) are open on a computer or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s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rve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1322070"/>
            <a:ext cx="8306267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What is Port Scanning</a:t>
            </a:r>
            <a:r>
              <a:rPr lang="en-US" b="true" sz="2799" spc="-83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10763" y="666750"/>
            <a:ext cx="7653756" cy="8504173"/>
          </a:xfrm>
          <a:custGeom>
            <a:avLst/>
            <a:gdLst/>
            <a:ahLst/>
            <a:cxnLst/>
            <a:rect r="r" b="b" t="t" l="l"/>
            <a:pathLst>
              <a:path h="8504173" w="7653756">
                <a:moveTo>
                  <a:pt x="0" y="0"/>
                </a:moveTo>
                <a:lnTo>
                  <a:pt x="7653756" y="0"/>
                </a:lnTo>
                <a:lnTo>
                  <a:pt x="7653756" y="8504173"/>
                </a:lnTo>
                <a:lnTo>
                  <a:pt x="0" y="85041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010763" y="9258300"/>
            <a:ext cx="7653756" cy="827406"/>
            <a:chOff x="0" y="0"/>
            <a:chExt cx="2015781" cy="2179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5781" cy="217923"/>
            </a:xfrm>
            <a:custGeom>
              <a:avLst/>
              <a:gdLst/>
              <a:ahLst/>
              <a:cxnLst/>
              <a:rect r="r" b="b" t="t" l="l"/>
              <a:pathLst>
                <a:path h="217923" w="2015781">
                  <a:moveTo>
                    <a:pt x="2015781" y="20230"/>
                  </a:moveTo>
                  <a:lnTo>
                    <a:pt x="2015781" y="197693"/>
                  </a:lnTo>
                  <a:cubicBezTo>
                    <a:pt x="2015781" y="208866"/>
                    <a:pt x="2006724" y="217923"/>
                    <a:pt x="1995551" y="217923"/>
                  </a:cubicBezTo>
                  <a:lnTo>
                    <a:pt x="20230" y="217923"/>
                  </a:lnTo>
                  <a:cubicBezTo>
                    <a:pt x="9057" y="217923"/>
                    <a:pt x="0" y="208866"/>
                    <a:pt x="0" y="197693"/>
                  </a:cubicBezTo>
                  <a:lnTo>
                    <a:pt x="0" y="20230"/>
                  </a:lnTo>
                  <a:cubicBezTo>
                    <a:pt x="0" y="9057"/>
                    <a:pt x="9057" y="0"/>
                    <a:pt x="20230" y="0"/>
                  </a:cubicBezTo>
                  <a:lnTo>
                    <a:pt x="1995551" y="0"/>
                  </a:lnTo>
                  <a:cubicBezTo>
                    <a:pt x="2006724" y="0"/>
                    <a:pt x="2015781" y="9057"/>
                    <a:pt x="2015781" y="20230"/>
                  </a:cubicBezTo>
                  <a:close/>
                </a:path>
              </a:pathLst>
            </a:custGeom>
            <a:solidFill>
              <a:srgbClr val="30144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15781" cy="25602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b="true" sz="2200" spc="-66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For port scanning, we care about Layer 4 (Transport)!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TCP/IP FUNDAMENTALS REV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1894256"/>
            <a:ext cx="925161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TCP/IP </a:t>
            </a: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= Tr</a:t>
            </a: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ansmi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ssion Control Protocol /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Int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rnet P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rotocol. Think of it as the "language" computers use to talk to each other on the internet.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1322070"/>
            <a:ext cx="8306267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What is TCP/IP</a:t>
            </a:r>
            <a:r>
              <a:rPr lang="en-US" b="true" sz="2799" spc="-83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750" y="3252471"/>
            <a:ext cx="8977449" cy="637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TCP vs UDP</a:t>
            </a:r>
          </a:p>
          <a:p>
            <a:pPr algn="l">
              <a:lnSpc>
                <a:spcPts val="3600"/>
              </a:lnSpc>
            </a:pPr>
            <a:r>
              <a:rPr lang="en-US" b="true" sz="2400" spc="-72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TCP </a:t>
            </a: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Ch</a:t>
            </a: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aracteristics: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Connection-oriented (like a phone call)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Reliable (guarantees delivery)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Ord</a:t>
            </a: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ered (packets arrive in sequence)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Slower (overhead from reliability)</a:t>
            </a:r>
          </a:p>
          <a:p>
            <a:pPr algn="l">
              <a:lnSpc>
                <a:spcPts val="3600"/>
              </a:lnSpc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Uses: Web browsing (HTTP/HTTPS), Email (SMTP), File transfer (FTP)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UDP (User Datagram Protocol) </a:t>
            </a: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Cha</a:t>
            </a:r>
            <a:r>
              <a:rPr lang="en-US" b="true" sz="2400" spc="-72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racteristics: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Connectionless (like sending a postcard)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Unreliable (may not arrive)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No order (packets can arrive out of sequence)</a:t>
            </a:r>
          </a:p>
          <a:p>
            <a:pPr algn="l" marL="518160" indent="-259080" lvl="1">
              <a:lnSpc>
                <a:spcPts val="360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Faster (no reliability overhead)</a:t>
            </a:r>
          </a:p>
          <a:p>
            <a:pPr algn="l">
              <a:lnSpc>
                <a:spcPts val="3600"/>
              </a:lnSpc>
            </a:pPr>
            <a:r>
              <a:rPr lang="en-US" sz="2400" spc="-72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Uses: Video streaming, Gaming, DNS queries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6750" y="2127787"/>
            <a:ext cx="16592550" cy="1182219"/>
          </a:xfrm>
          <a:custGeom>
            <a:avLst/>
            <a:gdLst/>
            <a:ahLst/>
            <a:cxnLst/>
            <a:rect r="r" b="b" t="t" l="l"/>
            <a:pathLst>
              <a:path h="1182219" w="16592550">
                <a:moveTo>
                  <a:pt x="0" y="0"/>
                </a:moveTo>
                <a:lnTo>
                  <a:pt x="16592550" y="0"/>
                </a:lnTo>
                <a:lnTo>
                  <a:pt x="16592550" y="1182219"/>
                </a:lnTo>
                <a:lnTo>
                  <a:pt x="0" y="1182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41275" y="3607624"/>
            <a:ext cx="6318025" cy="3983505"/>
          </a:xfrm>
          <a:custGeom>
            <a:avLst/>
            <a:gdLst/>
            <a:ahLst/>
            <a:cxnLst/>
            <a:rect r="r" b="b" t="t" l="l"/>
            <a:pathLst>
              <a:path h="3983505" w="6318025">
                <a:moveTo>
                  <a:pt x="0" y="0"/>
                </a:moveTo>
                <a:lnTo>
                  <a:pt x="6318025" y="0"/>
                </a:lnTo>
                <a:lnTo>
                  <a:pt x="6318025" y="3983505"/>
                </a:lnTo>
                <a:lnTo>
                  <a:pt x="0" y="39835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TCP Three-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W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ay Handshake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66750" y="8030377"/>
          <a:ext cx="9446179" cy="1804171"/>
        </p:xfrm>
        <a:graphic>
          <a:graphicData uri="http://schemas.openxmlformats.org/drawingml/2006/table">
            <a:tbl>
              <a:tblPr/>
              <a:tblGrid>
                <a:gridCol w="2336856"/>
                <a:gridCol w="4602899"/>
                <a:gridCol w="2506424"/>
              </a:tblGrid>
              <a:tr h="46920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State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Meaning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What Server Sends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8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OPEN - 8000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Service is running and accepting connections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SYN-ACK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74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CLOSED - 8001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Nothing running on this port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RST (Reset)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36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FILTERED - 8002-3...n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Firewall is blocking (no response)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Nothing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41275" y="9001110"/>
            <a:ext cx="6318025" cy="833438"/>
            <a:chOff x="0" y="0"/>
            <a:chExt cx="1663988" cy="2195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63988" cy="219512"/>
            </a:xfrm>
            <a:custGeom>
              <a:avLst/>
              <a:gdLst/>
              <a:ahLst/>
              <a:cxnLst/>
              <a:rect r="r" b="b" t="t" l="l"/>
              <a:pathLst>
                <a:path h="219512" w="1663988">
                  <a:moveTo>
                    <a:pt x="1663988" y="24507"/>
                  </a:moveTo>
                  <a:lnTo>
                    <a:pt x="1663988" y="195004"/>
                  </a:lnTo>
                  <a:cubicBezTo>
                    <a:pt x="1663988" y="208539"/>
                    <a:pt x="1653015" y="219512"/>
                    <a:pt x="1639480" y="219512"/>
                  </a:cubicBezTo>
                  <a:lnTo>
                    <a:pt x="24507" y="219512"/>
                  </a:lnTo>
                  <a:cubicBezTo>
                    <a:pt x="18008" y="219512"/>
                    <a:pt x="11774" y="216930"/>
                    <a:pt x="7178" y="212334"/>
                  </a:cubicBezTo>
                  <a:cubicBezTo>
                    <a:pt x="2582" y="207738"/>
                    <a:pt x="0" y="201504"/>
                    <a:pt x="0" y="195004"/>
                  </a:cubicBezTo>
                  <a:lnTo>
                    <a:pt x="0" y="24507"/>
                  </a:lnTo>
                  <a:cubicBezTo>
                    <a:pt x="0" y="10972"/>
                    <a:pt x="10972" y="0"/>
                    <a:pt x="24507" y="0"/>
                  </a:cubicBezTo>
                  <a:lnTo>
                    <a:pt x="1639480" y="0"/>
                  </a:lnTo>
                  <a:cubicBezTo>
                    <a:pt x="1653015" y="0"/>
                    <a:pt x="1663988" y="10972"/>
                    <a:pt x="1663988" y="24507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663988" cy="26713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800"/>
                </a:lnSpc>
              </a:pPr>
              <a:r>
                <a:rPr lang="en-US" b="true" sz="2000" spc="-6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After this, you are ready to send data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1904927" y="7819296"/>
            <a:ext cx="4077665" cy="953648"/>
          </a:xfrm>
          <a:custGeom>
            <a:avLst/>
            <a:gdLst/>
            <a:ahLst/>
            <a:cxnLst/>
            <a:rect r="r" b="b" t="t" l="l"/>
            <a:pathLst>
              <a:path h="953648" w="4077665">
                <a:moveTo>
                  <a:pt x="0" y="0"/>
                </a:moveTo>
                <a:lnTo>
                  <a:pt x="4077666" y="0"/>
                </a:lnTo>
                <a:lnTo>
                  <a:pt x="4077666" y="953647"/>
                </a:lnTo>
                <a:lnTo>
                  <a:pt x="0" y="9536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It is CRITICAL for understanding port scanning!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6750" y="7039777"/>
            <a:ext cx="996000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000" spc="-60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Port States - When we scan a port using nmap, it can be in one of these states: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6750" y="7465978"/>
            <a:ext cx="925161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6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sudo nmap -p 8000, 8001, 8002, 8003 -sS 192.168.122.145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6750" y="3550474"/>
            <a:ext cx="8907189" cy="323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b="true" sz="2311" spc="-69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</a:t>
            </a:r>
            <a:r>
              <a:rPr lang="en-US" b="true" sz="2311" spc="-69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ormal TCP Handshake/Connection:</a:t>
            </a:r>
          </a:p>
          <a:p>
            <a:pPr algn="l">
              <a:lnSpc>
                <a:spcPts val="2836"/>
              </a:lnSpc>
            </a:pPr>
            <a:r>
              <a:rPr lang="en-US" b="true" sz="1891" spc="-56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Step-by-Step:</a:t>
            </a:r>
          </a:p>
          <a:p>
            <a:pPr algn="l" marL="408333" indent="-204166" lvl="1">
              <a:lnSpc>
                <a:spcPts val="2836"/>
              </a:lnSpc>
              <a:buAutoNum type="arabicPeriod" startAt="1"/>
            </a:pPr>
            <a:r>
              <a:rPr lang="en-US" b="true" sz="1891" spc="-56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SYN (Synchronize): Client says, "Can we talk?"</a:t>
            </a:r>
          </a:p>
          <a:p>
            <a:pPr algn="l" marL="408333" indent="-204166" lvl="1">
              <a:lnSpc>
                <a:spcPts val="2836"/>
              </a:lnSpc>
              <a:buAutoNum type="arabicPeriod" startAt="1"/>
            </a:pPr>
            <a:r>
              <a:rPr lang="en-US" b="true" sz="1891" spc="-56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SYN-ACK (Synchronize-Acknowledge): Server say,s "Yes, let's talk!"</a:t>
            </a:r>
          </a:p>
          <a:p>
            <a:pPr algn="l" marL="408333" indent="-204166" lvl="1">
              <a:lnSpc>
                <a:spcPts val="2836"/>
              </a:lnSpc>
              <a:buAutoNum type="arabicPeriod" startAt="1"/>
            </a:pPr>
            <a:r>
              <a:rPr lang="en-US" b="true" sz="1891" spc="-56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ACK (Acknowledge): Client says, "Great, here we go!"</a:t>
            </a:r>
          </a:p>
          <a:p>
            <a:pPr algn="l">
              <a:lnSpc>
                <a:spcPts val="2836"/>
              </a:lnSpc>
            </a:pPr>
            <a:r>
              <a:rPr lang="en-US" b="true" sz="1891" spc="-56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Real-Life Analogy:</a:t>
            </a:r>
          </a:p>
          <a:p>
            <a:pPr algn="l" marL="408333" indent="-204166" lvl="1">
              <a:lnSpc>
                <a:spcPts val="2836"/>
              </a:lnSpc>
              <a:buAutoNum type="arabicPeriod" startAt="1"/>
            </a:pPr>
            <a:r>
              <a:rPr lang="en-US" b="true" sz="1891" spc="-56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You: "Hey, got a minute?" 👋</a:t>
            </a:r>
          </a:p>
          <a:p>
            <a:pPr algn="l" marL="408333" indent="-204166" lvl="1">
              <a:lnSpc>
                <a:spcPts val="2836"/>
              </a:lnSpc>
              <a:buAutoNum type="arabicPeriod" startAt="1"/>
            </a:pPr>
            <a:r>
              <a:rPr lang="en-US" b="true" sz="1891" spc="-56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Friend: "Sure, what's up?" 👋</a:t>
            </a:r>
          </a:p>
          <a:p>
            <a:pPr algn="l" marL="408333" indent="-204166" lvl="1">
              <a:lnSpc>
                <a:spcPts val="2836"/>
              </a:lnSpc>
              <a:buAutoNum type="arabicPeriod" startAt="1"/>
            </a:pPr>
            <a:r>
              <a:rPr lang="en-US" b="true" sz="1891" spc="-56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You: "I wanted to ask about..." 💬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UND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ERSTANDING PORTS AND SERVICES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5575935"/>
            <a:ext cx="8153307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P</a:t>
            </a:r>
            <a:r>
              <a:rPr lang="en-US" b="true" sz="2200" spc="-66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ort Number Ranges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958340"/>
            <a:ext cx="12088191" cy="273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What i</a:t>
            </a:r>
            <a:r>
              <a:rPr lang="en-US" b="true" sz="2600" spc="-78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s a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 Port?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 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port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is a virtual "door" that allows different services to run on the same computer.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How It Works: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Your computer's IP address is like a 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building address: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192.168.1.100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Ports are like 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apartment numbers: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:80, :443, :22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Full address: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192.168.1.100:80 = "Building 192.168.1.100, Apartment 80"</a:t>
            </a:r>
          </a:p>
        </p:txBody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666750" y="6177915"/>
          <a:ext cx="8702055" cy="2514600"/>
        </p:xfrm>
        <a:graphic>
          <a:graphicData uri="http://schemas.openxmlformats.org/drawingml/2006/table">
            <a:tbl>
              <a:tblPr/>
              <a:tblGrid>
                <a:gridCol w="1379286"/>
                <a:gridCol w="1885633"/>
                <a:gridCol w="1645608"/>
                <a:gridCol w="3791528"/>
              </a:tblGrid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Range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Category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Who Uses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Examples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0-1023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Well-Known Ports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System services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80 (HTTP), 443 (HTTPS), 22 (SSH)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1024-49151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Registered Ports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Applications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3306 (MySQL), 8080 (Alternative HTTP)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49152-65535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Dynamic/Private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Temporary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Random high ports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666750" y="8825865"/>
            <a:ext cx="598194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60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Total P</a:t>
            </a:r>
            <a:r>
              <a:rPr lang="en-US" sz="2000" spc="-60" strike="noStrike" u="none">
                <a:solidFill>
                  <a:srgbClr val="00FFA8"/>
                </a:solidFill>
                <a:latin typeface="TT Fors"/>
                <a:ea typeface="TT Fors"/>
                <a:cs typeface="TT Fors"/>
                <a:sym typeface="TT Fors"/>
              </a:rPr>
              <a:t>orts: 65,535 per protocol (TCP and UDP)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74728" y="2229887"/>
            <a:ext cx="4184572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b="true" sz="2200" spc="-66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Common P</a:t>
            </a:r>
            <a:r>
              <a:rPr lang="en-US" b="true" sz="2200" spc="-66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orts and Services</a:t>
            </a:r>
          </a:p>
        </p:txBody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13074728" y="2769310"/>
          <a:ext cx="4184572" cy="5673498"/>
        </p:xfrm>
        <a:graphic>
          <a:graphicData uri="http://schemas.openxmlformats.org/drawingml/2006/table">
            <a:tbl>
              <a:tblPr/>
              <a:tblGrid>
                <a:gridCol w="597491"/>
                <a:gridCol w="877106"/>
                <a:gridCol w="2709975"/>
              </a:tblGrid>
              <a:tr h="5881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Port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Service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What It Does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1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20/21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FTP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File Transfer Protocol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1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22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SSH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Secure remote login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1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23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Telnet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Insecure remote login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1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25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SMTP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Sending email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1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53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DNS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Domain name lookups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1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80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HTTP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Websites (unencrypted)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1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110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POP3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Receiving email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1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143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IMAP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Email access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1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443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HTTPS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Websites (encrypted)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1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445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SMB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Windows file sharing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1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3306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MySQL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Database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1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3389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RDP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Windows remote desktop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1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3"/>
                        </a:lnSpc>
                        <a:defRPr/>
                      </a:pPr>
                      <a:r>
                        <a:rPr lang="en-US" b="true" sz="1402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8080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HTTP-Alt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63"/>
                        </a:lnSpc>
                        <a:defRPr/>
                      </a:pPr>
                      <a:r>
                        <a:rPr lang="en-US" sz="1402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Alternative web server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8" id="18"/>
          <p:cNvGrpSpPr/>
          <p:nvPr/>
        </p:nvGrpSpPr>
        <p:grpSpPr>
          <a:xfrm rot="0">
            <a:off x="7711380" y="8892540"/>
            <a:ext cx="9547920" cy="833438"/>
            <a:chOff x="0" y="0"/>
            <a:chExt cx="2514650" cy="2195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14650" cy="219512"/>
            </a:xfrm>
            <a:custGeom>
              <a:avLst/>
              <a:gdLst/>
              <a:ahLst/>
              <a:cxnLst/>
              <a:rect r="r" b="b" t="t" l="l"/>
              <a:pathLst>
                <a:path h="219512" w="2514650">
                  <a:moveTo>
                    <a:pt x="2514650" y="16217"/>
                  </a:moveTo>
                  <a:lnTo>
                    <a:pt x="2514650" y="203295"/>
                  </a:lnTo>
                  <a:cubicBezTo>
                    <a:pt x="2514650" y="207596"/>
                    <a:pt x="2512941" y="211721"/>
                    <a:pt x="2509900" y="214762"/>
                  </a:cubicBezTo>
                  <a:cubicBezTo>
                    <a:pt x="2506859" y="217803"/>
                    <a:pt x="2502734" y="219512"/>
                    <a:pt x="2498433" y="219512"/>
                  </a:cubicBezTo>
                  <a:lnTo>
                    <a:pt x="16217" y="219512"/>
                  </a:lnTo>
                  <a:cubicBezTo>
                    <a:pt x="11916" y="219512"/>
                    <a:pt x="7791" y="217803"/>
                    <a:pt x="4750" y="214762"/>
                  </a:cubicBezTo>
                  <a:cubicBezTo>
                    <a:pt x="1709" y="211721"/>
                    <a:pt x="0" y="207596"/>
                    <a:pt x="0" y="203295"/>
                  </a:cubicBezTo>
                  <a:lnTo>
                    <a:pt x="0" y="16217"/>
                  </a:lnTo>
                  <a:cubicBezTo>
                    <a:pt x="0" y="11916"/>
                    <a:pt x="1709" y="7791"/>
                    <a:pt x="4750" y="4750"/>
                  </a:cubicBezTo>
                  <a:cubicBezTo>
                    <a:pt x="7791" y="1709"/>
                    <a:pt x="11916" y="0"/>
                    <a:pt x="16217" y="0"/>
                  </a:cubicBezTo>
                  <a:lnTo>
                    <a:pt x="2498433" y="0"/>
                  </a:lnTo>
                  <a:cubicBezTo>
                    <a:pt x="2502734" y="0"/>
                    <a:pt x="2506859" y="1709"/>
                    <a:pt x="2509900" y="4750"/>
                  </a:cubicBezTo>
                  <a:cubicBezTo>
                    <a:pt x="2512941" y="7791"/>
                    <a:pt x="2514650" y="11916"/>
                    <a:pt x="2514650" y="16217"/>
                  </a:cubicBezTo>
                  <a:close/>
                </a:path>
              </a:pathLst>
            </a:custGeom>
            <a:solidFill>
              <a:srgbClr val="301445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514650" cy="26713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800"/>
                </a:lnSpc>
              </a:pPr>
              <a:r>
                <a:rPr lang="en-US" sz="2000" spc="-6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💡 Tip: Memorize the top 10 ports - they appear on exams and in real security work!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TYP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 OF PORT SCANNING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958340"/>
            <a:ext cx="12503983" cy="624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H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ow it works: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Completes the full three-way handshake.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Client → SYN → Server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Client ← SYN-ACK ← Server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Client → ACK → Server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Client → RST → Server (closes connection)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Characteristics: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Most reliable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Works without special permissions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 Easily detected (logs show full connection)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 Slowest method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Nmap command: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-sT target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Real-Life Analogy: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Like knocking on every door, waiting for an answer, then leaving.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407643" y="2883821"/>
            <a:ext cx="6025880" cy="1129002"/>
          </a:xfrm>
          <a:custGeom>
            <a:avLst/>
            <a:gdLst/>
            <a:ahLst/>
            <a:cxnLst/>
            <a:rect r="r" b="b" t="t" l="l"/>
            <a:pathLst>
              <a:path h="1129002" w="6025880">
                <a:moveTo>
                  <a:pt x="0" y="0"/>
                </a:moveTo>
                <a:lnTo>
                  <a:pt x="6025880" y="0"/>
                </a:lnTo>
                <a:lnTo>
                  <a:pt x="6025880" y="1129002"/>
                </a:lnTo>
                <a:lnTo>
                  <a:pt x="0" y="11290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1. TCP Connect Scan (Full Connection)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407643" y="4310062"/>
            <a:ext cx="6025880" cy="1136651"/>
            <a:chOff x="0" y="0"/>
            <a:chExt cx="1374891" cy="2593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4891" cy="259353"/>
            </a:xfrm>
            <a:custGeom>
              <a:avLst/>
              <a:gdLst/>
              <a:ahLst/>
              <a:cxnLst/>
              <a:rect r="r" b="b" t="t" l="l"/>
              <a:pathLst>
                <a:path h="259353" w="1374891">
                  <a:moveTo>
                    <a:pt x="1374891" y="25696"/>
                  </a:moveTo>
                  <a:lnTo>
                    <a:pt x="1374891" y="233657"/>
                  </a:lnTo>
                  <a:cubicBezTo>
                    <a:pt x="1374891" y="240472"/>
                    <a:pt x="1372184" y="247008"/>
                    <a:pt x="1367365" y="251827"/>
                  </a:cubicBezTo>
                  <a:cubicBezTo>
                    <a:pt x="1362547" y="256646"/>
                    <a:pt x="1356011" y="259353"/>
                    <a:pt x="1349196" y="259353"/>
                  </a:cubicBezTo>
                  <a:lnTo>
                    <a:pt x="25696" y="259353"/>
                  </a:lnTo>
                  <a:cubicBezTo>
                    <a:pt x="18881" y="259353"/>
                    <a:pt x="12345" y="256646"/>
                    <a:pt x="7526" y="251827"/>
                  </a:cubicBezTo>
                  <a:cubicBezTo>
                    <a:pt x="2707" y="247008"/>
                    <a:pt x="0" y="240472"/>
                    <a:pt x="0" y="233657"/>
                  </a:cubicBezTo>
                  <a:lnTo>
                    <a:pt x="0" y="25696"/>
                  </a:lnTo>
                  <a:cubicBezTo>
                    <a:pt x="0" y="18881"/>
                    <a:pt x="2707" y="12345"/>
                    <a:pt x="7526" y="7526"/>
                  </a:cubicBezTo>
                  <a:cubicBezTo>
                    <a:pt x="12345" y="2707"/>
                    <a:pt x="18881" y="0"/>
                    <a:pt x="25696" y="0"/>
                  </a:cubicBezTo>
                  <a:lnTo>
                    <a:pt x="1349196" y="0"/>
                  </a:lnTo>
                  <a:cubicBezTo>
                    <a:pt x="1363387" y="0"/>
                    <a:pt x="1374891" y="11504"/>
                    <a:pt x="1374891" y="25696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374891" cy="30697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2800"/>
                </a:lnSpc>
              </a:pPr>
              <a:r>
                <a:rPr lang="en-US" sz="2000" spc="-60" b="true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The serv</a:t>
              </a:r>
              <a:r>
                <a:rPr lang="en-US" b="true" sz="2000" spc="-60">
                  <a:solidFill>
                    <a:srgbClr val="00000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er is ready, but the client decided not to complete the handshake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TYP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 OF PORT SCANNING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958340"/>
            <a:ext cx="16766773" cy="624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H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ow it works: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Only sends SYN, never completes handshake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Scanner → SYN → Target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Scanner ← SYN-ACK ← Target (port is OPEN!)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Scanner → RST → Target (abort! abort!)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Characteristics: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Fast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Stealthier (some systems don't log incomplete connections)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Most popular scan type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 Requires root/admin privileges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 Still detected by modern IDS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Nmap command: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sudo nmap -sS target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Real-Life Analogy: </a:t>
            </a: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Knocking on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the </a:t>
            </a: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door, hearing "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W</a:t>
            </a: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ho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'</a:t>
            </a: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 t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here</a:t>
            </a: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?", then running away before they open the door!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2. SYN Scan (Stealth/Half-Open Scan)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TYP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 OF PORT SCANNING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958340"/>
            <a:ext cx="12088191" cy="624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H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ow it works: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Sends FIN (finish) packet.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Scanner → FIN → Target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Response interpretation: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No response = Port is OPEN (server confused, ignores weird packet)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RST response = Port is CLOSED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Characteristics: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Very stealthy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Can bypass some firewalls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Doesn't work on Windows (responds differently)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 Unreliable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Nmap command: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sudo nmap -sF target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Real-Life Analogy: </a:t>
            </a: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Saying "goodbye"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to s</a:t>
            </a: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omeone you n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ev</a:t>
            </a: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er said "hello" to!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3. FIN Scan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TYP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 OF PORT SCANNING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958340"/>
            <a:ext cx="12088191" cy="546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H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ow it works: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Sends a packet with NO flags set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Scanner → (empty packet) → Target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Response interpretation: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No response = Port is OPEN or FILTERED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RST response = Port is CLOSED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Characteristics: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Very stealthy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Can evade some IDS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Doesn't work on Windows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 Less accurate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Nmap command: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sudo nmap -sN target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4. NULL Scan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TYP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 OF PORT SCANNING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958340"/>
            <a:ext cx="12088191" cy="58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H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ow it works: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Sends packet with FIN, PSH, and URG flags set (like a Christmas tree lit up! 🎄)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Scanner → FIN+PSH+URG → Target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Response interpretation: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No response = Port is OPEN or FILTERED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RST response = Port is CLOSED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Characteristics: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Stealthy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Fun name!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Doesn't work on Windows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 Easily detected by modern systems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Nmap command: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sudo nmap -sX target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5. XMAS Scan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TYP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 OF PORT SCANNING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958340"/>
            <a:ext cx="12088191" cy="624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H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ow it works: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Sends UDP packets to ports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Scanner → UDP packet → Target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Response interpretation: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No response = Port is OPEN or FILTERED (can't tell!)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ICMP Port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Unreachable = Port is CLOSED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Characteristics: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The only way to find UDP services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 VERY slow (UDP is stateless)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 Often rate-limited by target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 Results are uncertain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Nmap command: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sudo nmap -sU target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Note: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UDP scans can take HOURS for 65,535 ports!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6. UDP Scan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TYP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ES OF PORT SCANNING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Scan Type Comparison Table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666750" y="2296437"/>
          <a:ext cx="13552006" cy="4400550"/>
        </p:xfrm>
        <a:graphic>
          <a:graphicData uri="http://schemas.openxmlformats.org/drawingml/2006/table">
            <a:tbl>
              <a:tblPr/>
              <a:tblGrid>
                <a:gridCol w="1930914"/>
                <a:gridCol w="1956158"/>
                <a:gridCol w="2201604"/>
                <a:gridCol w="2201604"/>
                <a:gridCol w="2201604"/>
                <a:gridCol w="3060122"/>
              </a:tblGrid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Scan Type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Stealth Level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Accuracy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Requires Root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Windows Compatible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TCP Connect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Low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Slow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SYN Scan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FIN Scan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NULL Scan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XMAS Scan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b="true" sz="22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UDP Scan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Low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Very Slow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Low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PORT SCANNING TOOLS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Nmap (Network Mapper)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2064541"/>
            <a:ext cx="12088191" cy="419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 spc="-8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 spc="-8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Z</a:t>
            </a:r>
            <a:r>
              <a:rPr lang="en-US" sz="2800" spc="-8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800" spc="-84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(Nmap with GUI)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 spc="-84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Masscan (Fast)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 spc="-84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Unicornscan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 spc="-84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Rustscan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 spc="-84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hping3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800" spc="-84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In</a:t>
            </a:r>
            <a:r>
              <a:rPr lang="en-US" sz="2800" spc="-84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the absence of tools, sometimes roll your own?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 spc="-84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2800" spc="-84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ython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 spc="-84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PowerShell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PORT SCANNING TOOLS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Nmap (Network Mapper)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2074066"/>
            <a:ext cx="7083285" cy="650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The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 King of Port Scanners! 👑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What it is: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Most popular and powerful port scanner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Free and open-s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our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ce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Works on Windows, Linux, macOS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re-installed on Kali Linux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Key Features: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Multiple scan types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Service version detection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Operating system detection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Scri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pting engine (NSE)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Output in multiple formats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Basic Syntax: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bash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[Scan Type] [Options] [Target]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PORT SCANNING TOOLS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Zenmap (Nmap with GUI)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2074066"/>
            <a:ext cx="12242188" cy="759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The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 Click-and-Scan Nmap! 🖱️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What it is: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Official GUI frontend for Nmap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ross-platf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orm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(Windows, Linux, macOS)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G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reat for beginners who don’t like pure CLI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Let's you save and reuse scan profiles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Key Features: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Predefined scan profiles (Intense scan, Quick scan, etc.)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Visual network topology maps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Scan results organized by host, port, service, OS guess, etc.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Built-in Nmap command preview (shows the exact CLI command 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t’s running)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Can compare scan results over time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Basic Usage (Workflow):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AutoNum type="arabicPeriod" startAt="1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Open Zenmap.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AutoNum type="arabicPeriod" startAt="1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Type your Target (e.g., 192.168.1.10 or example.com).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AutoNum type="arabicPeriod" startAt="1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Choose a Profile (e.g., “Intense scan”, “Quick scan”).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AutoNum type="arabicPeriod" startAt="1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Click Scan.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AutoNum type="arabicPeriod" startAt="1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Review results in tabs: Ports/Hosts, Topology, Host Details, Scans.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PORT SCANNING TOOLS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Masscan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2074066"/>
            <a:ext cx="12088191" cy="578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The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 Speed Demon! 🏎️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What it is: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Fastest port scanner in the w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orld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Ca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 scan the entire internet in 6 minutes (theoretically!)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Designed for speed over stealth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Charact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eristics: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Incredibly fast (millions of packets per second)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Sim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ilar syntax to Nmap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 Fewer fea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tures than Nmap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 Can overwhelm networks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Ex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ample: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bash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masscan -p80,443 192.168.1.0/24 --rate=1000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PORT SCANNING TOOLS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Unicornscan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2074066"/>
            <a:ext cx="12088191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The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 Network Specialist! 🦄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What it is: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Advanced information gathering to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ol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Corr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elates stimulus and response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Charact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eristics: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Very fast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Detailed response analysis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 Steeper learn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ng curve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❌ Less popula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 than Nmap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PORT SCANNING TOOLS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Rustscan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2074066"/>
            <a:ext cx="15214333" cy="686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The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 Smart &amp; Snappy Scanner ⚡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What it is: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Modern port scanner written in Rust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Designed f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or sp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eed + smart scanning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Often used alongside Nmap (Rustscan finds open ports, Nmap does deep analysis)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Key 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Charact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eristics: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Very fast port discovery (async I/O, parallelism)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utomatically opens ports to Nmap for service detection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Simple, Nmap-like command-l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ne experience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Not as feature-rich as Nmap alone (scripts, OS detection, etc., still Nmap’s job)</a:t>
            </a:r>
          </a:p>
          <a:p>
            <a:pPr algn="l">
              <a:lnSpc>
                <a:spcPts val="2880"/>
              </a:lnSpc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 (fast scan + handoff to Nmap): 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rustscan -a 192.168.1.10 -r 1-1000 -- -sV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-a 192.168.1.10 → target host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-r 1-1000 → port range to scan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-- → everything after this is passed to Nmap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-sV → Nmap’s service version detection on the discovered open ports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PORT SCANNING TOOLS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hping3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2074066"/>
            <a:ext cx="15214333" cy="759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The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 Packet Ninja Tool 🥷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What it is: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Command-line TCP/IP packet crafter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Like ping on steroids (TCP/UDP/RAW-IP, not just ICMP)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U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sed f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or fir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ewall testing, advanced port scanning, and network research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Key Uses / Features: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Cu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stom TCP/UDP/ICMP packets (set flags, ports, TTL, etc.)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SYN s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cans to test if ports are open/filtered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Traceroute-like functionality us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ng TCP instead of ICMP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Firewall/IDS evasion and testing (timing, fragmentation, flags)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Bandwidth and packet-loss tests</a:t>
            </a:r>
          </a:p>
          <a:p>
            <a:pPr algn="l">
              <a:lnSpc>
                <a:spcPts val="2880"/>
              </a:lnSpc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 simple TCP SYN port probe: 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sudo hping3 -S -p 80 -c 3 192.168.1.10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-S → set SYN flag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-p 80 → destination port 80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-c 3 → send 3 packets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Reply flags indicate whether the port is open (SA), closed (RA), or filtered/no response.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 “stealthy” style scan over a small port range: 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sudo hping3 -S 192.168.1.10 -p 20-25 --scan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PORT SCANNING TOOLS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15026507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Rolling Your Own Port Scanner (When tools like Nmap/Masscan aren’t available) 🛠️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2074066"/>
            <a:ext cx="1521433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Python - Tiny TCP P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or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 Scanner 🐍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Id</a:t>
            </a:r>
            <a:r>
              <a:rPr lang="en-US" b="true" sz="2400" spc="-7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ea:</a:t>
            </a:r>
            <a:r>
              <a:rPr lang="en-US" b="true" sz="2400" spc="-7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Try to connect to a set of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ports; if 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the 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connect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ion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succeeds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,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→ the port is open.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2951850"/>
            <a:ext cx="15214333" cy="614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import socket</a:t>
            </a:r>
          </a:p>
          <a:p>
            <a:pPr algn="l">
              <a:lnSpc>
                <a:spcPts val="2880"/>
              </a:lnSpc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target = "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192.168.1.10"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# change to your target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or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ts = [22, 80, 443, 3389]  # small demo list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print(f"Scanning {target}...")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for port in ports:</a:t>
            </a:r>
          </a:p>
          <a:p>
            <a:pPr algn="l">
              <a:lnSpc>
                <a:spcPts val="2880"/>
              </a:lnSpc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s = socket.socket(sock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et.AF_INET,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socket.SOCK_STREAM)</a:t>
            </a:r>
          </a:p>
          <a:p>
            <a:pPr algn="l">
              <a:lnSpc>
                <a:spcPts val="2880"/>
              </a:lnSpc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s.settimeout(0.5)  # half-second timeout</a:t>
            </a:r>
          </a:p>
          <a:p>
            <a:pPr algn="l">
              <a:lnSpc>
                <a:spcPts val="2880"/>
              </a:lnSpc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try: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    result = s.connect_ex((target,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port))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    if result == 0: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        print(f"[+] Port {por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t} open")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ex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cept Except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ion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as e: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    pass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finally: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    s.close()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PORT SCANNING TOOLS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15026507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Rolling Your Own Port Scanner (When tools like Nmap/Masscan aren’t available) 🛠️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2074066"/>
            <a:ext cx="1521433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PowerShell – Quick P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or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 Check 🔌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Usi</a:t>
            </a:r>
            <a:r>
              <a:rPr lang="en-US" b="true" sz="2400" spc="-7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ng .NET’s</a:t>
            </a:r>
            <a:r>
              <a:rPr lang="en-US" b="true" sz="2400" spc="-7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 TcpCli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e</a:t>
            </a:r>
            <a:r>
              <a:rPr lang="en-US" b="true" sz="2400" spc="-7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nt </a:t>
            </a:r>
            <a:r>
              <a:rPr lang="en-US" b="true" sz="2400" spc="-72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in</a:t>
            </a:r>
            <a:r>
              <a:rPr lang="en-US" b="true" sz="2400" spc="-72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 a loop: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2951850"/>
            <a:ext cx="15214333" cy="650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$T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arget = "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192.168.1.10"    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# change to your target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$P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or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ts  = 22,80,443,3389      # demo ports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Write-Host "Scanning $Target ..."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foreach ($Port in $Ports) {</a:t>
            </a:r>
          </a:p>
          <a:p>
            <a:pPr algn="l">
              <a:lnSpc>
                <a:spcPts val="2880"/>
              </a:lnSpc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$tcp = New-Object System.Net.Sockets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.T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cpClient</a:t>
            </a:r>
          </a:p>
          <a:p>
            <a:pPr algn="l">
              <a:lnSpc>
                <a:spcPts val="2880"/>
              </a:lnSpc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try {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    $iar = $tcp.BeginConnect($Target,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$Port, $null, $null)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    $success = $iar.AsyncWaitHandle.WaitOne(500)  # 500 ms timeout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    if ($success -and $tcp.Connected) {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        Write-Host "[+] Port $Por</a:t>
            </a: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 open"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}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} catch {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    # ignore errors for closed/filtered ports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} finally {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    $tcp.Close()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   }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400" spc="-72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PORT SCANNING TOOLS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66750" y="9067238"/>
            <a:ext cx="16954500" cy="947421"/>
            <a:chOff x="0" y="0"/>
            <a:chExt cx="4465332" cy="2495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65332" cy="249533"/>
            </a:xfrm>
            <a:custGeom>
              <a:avLst/>
              <a:gdLst/>
              <a:ahLst/>
              <a:cxnLst/>
              <a:rect r="r" b="b" t="t" l="l"/>
              <a:pathLst>
                <a:path h="249533" w="4465332">
                  <a:moveTo>
                    <a:pt x="4465332" y="9133"/>
                  </a:moveTo>
                  <a:lnTo>
                    <a:pt x="4465332" y="240400"/>
                  </a:lnTo>
                  <a:cubicBezTo>
                    <a:pt x="4465332" y="242822"/>
                    <a:pt x="4464370" y="245145"/>
                    <a:pt x="4462657" y="246858"/>
                  </a:cubicBezTo>
                  <a:cubicBezTo>
                    <a:pt x="4460944" y="248570"/>
                    <a:pt x="4458622" y="249533"/>
                    <a:pt x="4456200" y="249533"/>
                  </a:cubicBezTo>
                  <a:lnTo>
                    <a:pt x="9133" y="249533"/>
                  </a:lnTo>
                  <a:cubicBezTo>
                    <a:pt x="6710" y="249533"/>
                    <a:pt x="4388" y="248570"/>
                    <a:pt x="2675" y="246858"/>
                  </a:cubicBezTo>
                  <a:cubicBezTo>
                    <a:pt x="962" y="245145"/>
                    <a:pt x="0" y="242822"/>
                    <a:pt x="0" y="240400"/>
                  </a:cubicBezTo>
                  <a:lnTo>
                    <a:pt x="0" y="9133"/>
                  </a:lnTo>
                  <a:cubicBezTo>
                    <a:pt x="0" y="6710"/>
                    <a:pt x="962" y="4388"/>
                    <a:pt x="2675" y="2675"/>
                  </a:cubicBezTo>
                  <a:cubicBezTo>
                    <a:pt x="4388" y="962"/>
                    <a:pt x="6710" y="0"/>
                    <a:pt x="9133" y="0"/>
                  </a:cubicBezTo>
                  <a:lnTo>
                    <a:pt x="4456200" y="0"/>
                  </a:lnTo>
                  <a:cubicBezTo>
                    <a:pt x="4458622" y="0"/>
                    <a:pt x="4460944" y="962"/>
                    <a:pt x="4462657" y="2675"/>
                  </a:cubicBezTo>
                  <a:cubicBezTo>
                    <a:pt x="4464370" y="4388"/>
                    <a:pt x="4465332" y="6710"/>
                    <a:pt x="4465332" y="9133"/>
                  </a:cubicBezTo>
                  <a:close/>
                </a:path>
              </a:pathLst>
            </a:custGeom>
            <a:solidFill>
              <a:srgbClr val="301445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465332" cy="306683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920"/>
                </a:lnSpc>
              </a:pPr>
              <a:r>
                <a:rPr lang="en-US" sz="2800" spc="-84" b="true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Recommendation:</a:t>
              </a:r>
              <a:r>
                <a:rPr lang="en-US" sz="2800" spc="-84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 Start with Nmap, use Masscan for large scans.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Tool Comparison</a:t>
            </a:r>
          </a:p>
        </p:txBody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666750" y="2083579"/>
          <a:ext cx="15592808" cy="5657850"/>
        </p:xfrm>
        <a:graphic>
          <a:graphicData uri="http://schemas.openxmlformats.org/drawingml/2006/table">
            <a:tbl>
              <a:tblPr/>
              <a:tblGrid>
                <a:gridCol w="2738399"/>
                <a:gridCol w="1717186"/>
                <a:gridCol w="1856947"/>
                <a:gridCol w="1058219"/>
                <a:gridCol w="8222057"/>
              </a:tblGrid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Tool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Speed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Features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Stealth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Best For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Nmap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Extensive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Good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"General purpose, detailed scans"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Masscan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Very Fast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Basic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"Large networks, quick sweeps"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Unicornscan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Advanced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"Network analysis, research"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Zenmap (Nmap GUI)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Extensive + GUI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Good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"Visual Nmap usage, beginners, reporting &amp; topology views"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Rustscan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Very Fast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Intermediate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"Fast port discovery, then handing off to Nmap for details"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hping3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Fast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Advanced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"Firewall testing, custom packets, research-style scans"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Python (DIY script)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Slow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Basic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Good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"Learning, demos, small ad-hoc scans on known hosts"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PowerShell (DIY script)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Slow–Medium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Basic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Good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"Quick checks from Windows hosts, admin scripting workflows"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PING SWEEP TECHNIQUES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What is a Ping Sweep?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2064541"/>
            <a:ext cx="1335096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Ping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 sweep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= Checking which IP addresses are "alive" (responding) on a network.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Think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of i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 like calling every phone number in a list to see wh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ch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ones answe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3093241"/>
            <a:ext cx="15784122" cy="669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800" spc="-84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Why Ping</a:t>
            </a:r>
            <a:r>
              <a:rPr lang="en-US" b="true" sz="2800" spc="-84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 First?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Problem: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Scanning all 65,535 ports on 254 hosts = 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16,711,170 checks! ⏰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Solution: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Ping sweep to find live hosts first, then scan only those.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Time saved: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Can reduce scan time from hours to minutes!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800" spc="-84" strike="noStrike" u="non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ICMP Echo (Ping)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How it works: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You → ICMP Ech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 Reques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 → Target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You ← ICMP Echo Reply ← Target (Host is UP!)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Nmap command: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bash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-sn 192.168.1.0/24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Translation: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"Scan network 192.168.1.0-255, but only check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if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h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osts are up (-sn = no po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rt scan)"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PING SWEEP TECHNIQUES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Network Ranges Explained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2064541"/>
            <a:ext cx="1335096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CIDR N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o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tat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i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on: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5637889"/>
            <a:ext cx="15784122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800" spc="-84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Wi</a:t>
            </a:r>
            <a:r>
              <a:rPr lang="en-US" b="true" sz="2800" spc="-84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ldcard Notation:</a:t>
            </a: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800" spc="-84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bash</a:t>
            </a: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800" spc="-84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192.168.1.*           # Same as 192.168.1.0/24</a:t>
            </a: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800" spc="-84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192.168.1.1-50      # Only IPs 1 through 50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800" spc="-84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192.168.1.1,2,3,4   # Specific IPs</a:t>
            </a:r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666750" y="2629894"/>
          <a:ext cx="8673926" cy="2503170"/>
        </p:xfrm>
        <a:graphic>
          <a:graphicData uri="http://schemas.openxmlformats.org/drawingml/2006/table">
            <a:tbl>
              <a:tblPr/>
              <a:tblGrid>
                <a:gridCol w="1885639"/>
                <a:gridCol w="2112554"/>
                <a:gridCol w="1885639"/>
                <a:gridCol w="2790094"/>
              </a:tblGrid>
              <a:tr h="62913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Notation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Range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Number of IPs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Use Case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5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192.168.1.1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Single IP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Scan one computer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5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192.168.1.0/24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192.168.1.0-255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256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Typical home/office network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5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192.168.0.0/16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192.168.0.0-255.255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65,536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Large organization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5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10.0.0.0/8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10.0.0.0-255.255.255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16,777,216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Entire private network class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PING SWEEP TECHNIQUES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Alternative Discovery Methods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2064541"/>
            <a:ext cx="13350967" cy="546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1. ARP Scan (Local Netw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ork Only)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bash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-PR 192.168.1.0/24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Bes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 for: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Same network segment (fastest!)</a:t>
            </a:r>
          </a:p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2. TCP SYN P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ing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bash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-PS80,443 192.168.1.0/24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Best f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or: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When ICMP is blocked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3. UDP Ping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bash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-PU 192.168.1.0/24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Best for: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Finding hosts that block TCP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IREWALL AND IDS EVASION TECHNIQUES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What are Firewalls and IDS?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5750716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Why Evade Detection?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2064541"/>
            <a:ext cx="13350967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600" spc="-78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Firew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all 🧱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Blocks unwanted netw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ork traffic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Like 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 security guard at a building entrance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Rul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es: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"Allow web traffic, block everything else"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IDS (Intrus</a:t>
            </a:r>
            <a:r>
              <a:rPr lang="en-US" b="true" sz="2600" spc="-78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ion Detection System) 🚨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Monitors the n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etwork f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or suspicious activity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Like a security camera system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Al</a:t>
            </a:r>
            <a:r>
              <a:rPr lang="en-US" sz="2600" spc="-78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erts: "Someone is port scanning!"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6493187"/>
            <a:ext cx="13350967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spc="-78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As Ethical Hackers: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Test if security controls can be bypassed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Validate security investments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Improve defenses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600" spc="-78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Real Attackers:</a:t>
            </a:r>
          </a:p>
          <a:p>
            <a:pPr algn="l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Avoid getting caught</a:t>
            </a:r>
          </a:p>
          <a:p>
            <a:pPr algn="l" marL="561342" indent="-280671" lvl="1">
              <a:lnSpc>
                <a:spcPts val="312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spc="-78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Complete reconnaissance undetected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IREWALL AND IDS EVASION TECHNIQUES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Evasion Technique 1: Slow Scans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36385" y="1322070"/>
            <a:ext cx="6957058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Evasion Technique 2: Fragmentation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36385" y="4693441"/>
            <a:ext cx="6957058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Evasion Technique 3: Decoys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2064541"/>
            <a:ext cx="7650045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-63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Prob</a:t>
            </a:r>
            <a:r>
              <a:rPr lang="en-US" b="true" sz="2100" spc="-63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lem: 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Fast scans trigger alerts (1000s 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of pac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kets per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second)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-63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Solution: 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Scan slowly!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-63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bash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# T0 = Paranoid (insane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ly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slow, 5 minutes per port!)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-T0 target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# T1 = 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Sneaky (very sl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ow)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-T1 target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# T2 = Polite (sl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ow)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-T2 target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# T3 = N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ormal (defa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ult)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-T3 target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# T4 = Aggressive (fast)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-T4 target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# T5 = Insane (very fast, may miss resu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l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ts)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-T5 target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50136" y="2064541"/>
            <a:ext cx="8892859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What it does: 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Breaks packets in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to tiny pieces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Why it works: 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Some firewalls/IDS can't reassemble fragments properly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bash</a:t>
            </a:r>
          </a:p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-f target         # Fragment packets</a:t>
            </a:r>
          </a:p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map -ff target        # Fragment even more (8 bytes)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ap --mtu 16 target   # Set custom fragment size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50136" y="5435912"/>
            <a:ext cx="8892859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What it does: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Makes the scan appear to come fr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om multiple sources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Why it works: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Hard to tell which IP is the real attacker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bash</a:t>
            </a:r>
          </a:p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#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Use random decoys</a:t>
            </a:r>
          </a:p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map -D RND:10 target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# Use specific decoys</a:t>
            </a:r>
          </a:p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ap -D decoy1,decoy2,ME,decoy3 target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-63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Result: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Firewall logs show scans from 10 different IPs!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IREWALL AND IDS EVASION TECHNIQUES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322070"/>
            <a:ext cx="92516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Evasion Technique 4: Source Port Manipulation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4148851"/>
            <a:ext cx="6957058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Evasion Technique 5: Randomize Targets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6634397"/>
            <a:ext cx="82229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Evasion Technique 6: Spoof MAC Address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73360" y="1322070"/>
            <a:ext cx="8222915" cy="49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799" spc="-8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Combining Evasion Techniques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2064541"/>
            <a:ext cx="7650045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100" spc="-63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</a:t>
            </a:r>
            <a:r>
              <a:rPr lang="en-US" b="true" sz="2100" spc="-63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at it d</a:t>
            </a:r>
            <a:r>
              <a:rPr lang="en-US" b="true" sz="2100" spc="-63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o</a:t>
            </a:r>
            <a:r>
              <a:rPr lang="en-US" b="true" sz="2100" spc="-63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es</a:t>
            </a:r>
            <a:r>
              <a:rPr lang="en-US" b="true" sz="2100" spc="-63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: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Scan from a trusted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port (like 53 for DNS)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-63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Why it</a:t>
            </a:r>
            <a:r>
              <a:rPr lang="en-US" b="true" sz="2100" spc="-63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 works: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Some firewalls all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ow traffic from certain ports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-63" strike="noStrike" u="non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bash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--source-p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or</a:t>
            </a: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 53 target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 strike="noStrike" u="none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-g 53 target       # Same thing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0501" y="4891322"/>
            <a:ext cx="8892859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What it does: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Scan IPs in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random order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Why it works: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Doesn't trigger "sequential scan" alerts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bash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 --randomize-hosts 192.168.1.0/24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501" y="7376868"/>
            <a:ext cx="8892859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What it does: 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Change your MAC addr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ess</a:t>
            </a: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Why it works: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Bypass MAC filtering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bash</a:t>
            </a:r>
          </a:p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--spoof-mac 0 target     # Random MAC</a:t>
            </a:r>
          </a:p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map --spoof-mac Apple target # Apple device MAC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ap --spoof-mac 00:11:22:33:44:55 target # Specific MAC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87111" y="2064541"/>
            <a:ext cx="8892859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Maximum stealt</a:t>
            </a: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h scan: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bash</a:t>
            </a:r>
          </a:p>
          <a:p>
            <a:pPr algn="l">
              <a:lnSpc>
                <a:spcPts val="2520"/>
              </a:lnSpc>
            </a:pP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sudo nmap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-sS -T1 -f --randomize-hosts -D RND:10 --source-port 53 192.168.1.100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spc="-63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Translation: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SYN scan, very slow, fragmented, random host order, 10 decoys, fro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port 53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 spc="-63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Tradeoff: </a:t>
            </a:r>
            <a:r>
              <a:rPr lang="en-US" sz="2100" spc="-63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Will take MUCH longer to complete!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EGAL AND ETHICAL CONSIDERATIONS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66750" y="9095243"/>
            <a:ext cx="7930269" cy="861061"/>
            <a:chOff x="0" y="0"/>
            <a:chExt cx="2088607" cy="2267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8607" cy="226787"/>
            </a:xfrm>
            <a:custGeom>
              <a:avLst/>
              <a:gdLst/>
              <a:ahLst/>
              <a:cxnLst/>
              <a:rect r="r" b="b" t="t" l="l"/>
              <a:pathLst>
                <a:path h="226787" w="2088607">
                  <a:moveTo>
                    <a:pt x="2088607" y="19525"/>
                  </a:moveTo>
                  <a:lnTo>
                    <a:pt x="2088607" y="207262"/>
                  </a:lnTo>
                  <a:cubicBezTo>
                    <a:pt x="2088607" y="218045"/>
                    <a:pt x="2079865" y="226787"/>
                    <a:pt x="2069082" y="226787"/>
                  </a:cubicBezTo>
                  <a:lnTo>
                    <a:pt x="19525" y="226787"/>
                  </a:lnTo>
                  <a:cubicBezTo>
                    <a:pt x="8742" y="226787"/>
                    <a:pt x="0" y="218045"/>
                    <a:pt x="0" y="207262"/>
                  </a:cubicBezTo>
                  <a:lnTo>
                    <a:pt x="0" y="19525"/>
                  </a:lnTo>
                  <a:cubicBezTo>
                    <a:pt x="0" y="8742"/>
                    <a:pt x="8742" y="0"/>
                    <a:pt x="19525" y="0"/>
                  </a:cubicBezTo>
                  <a:lnTo>
                    <a:pt x="2069082" y="0"/>
                  </a:lnTo>
                  <a:cubicBezTo>
                    <a:pt x="2079865" y="0"/>
                    <a:pt x="2088607" y="8742"/>
                    <a:pt x="2088607" y="19525"/>
                  </a:cubicBezTo>
                  <a:close/>
                </a:path>
              </a:pathLst>
            </a:custGeom>
            <a:solidFill>
              <a:srgbClr val="301445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88607" cy="26488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360"/>
                </a:lnSpc>
              </a:pPr>
              <a:r>
                <a:rPr lang="en-US" b="true" sz="2400" spc="-72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⚠️ Port Scanning Without Permission is ILLEGAL! ⚠️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6750" y="1341120"/>
            <a:ext cx="9251615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The Law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18365" y="1341120"/>
            <a:ext cx="6197157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Best Practices for Ethical Hackers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18365" y="7228344"/>
            <a:ext cx="7172718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Safe Practice Targets (Officially Authorized for Testing)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6750" y="4264164"/>
            <a:ext cx="8222915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b="true" sz="2100" spc="-63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When Port Scanning is Legal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1877854"/>
            <a:ext cx="8892859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Malaysia: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Computer Crimes Act 1997 -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Up to 10 years imprisonment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Unauthorized access includes reconnaissance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USA: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Computer Fraud and Abuse Act - Federal crime</a:t>
            </a:r>
          </a:p>
          <a:p>
            <a:pPr algn="l" marL="388626" indent="-194313" lvl="1">
              <a:lnSpc>
                <a:spcPts val="2160"/>
              </a:lnSpc>
              <a:buFont typeface="Arial"/>
              <a:buChar char="•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an result in 5-20 years in prison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UK: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Computer Misuse Act 1990 - Up to 10 years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18365" y="1970544"/>
            <a:ext cx="7702885" cy="506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The Rules: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b="true" sz="1800" spc="-54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Always get written authorization </a:t>
            </a:r>
          </a:p>
          <a:p>
            <a:pPr algn="l" marL="777253" indent="-259084" lvl="2">
              <a:lnSpc>
                <a:spcPts val="2160"/>
              </a:lnSpc>
              <a:buFont typeface="Arial"/>
              <a:buChar char="⚬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Email is NOT enough!</a:t>
            </a:r>
          </a:p>
          <a:p>
            <a:pPr algn="l" marL="777253" indent="-259084" lvl="2">
              <a:lnSpc>
                <a:spcPts val="2160"/>
              </a:lnSpc>
              <a:buFont typeface="Arial"/>
              <a:buChar char="⚬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Need a formal engagement letter/contract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b="true" sz="1800" spc="-54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Define the scope clearly </a:t>
            </a:r>
          </a:p>
          <a:p>
            <a:pPr algn="l" marL="777253" indent="-259084" lvl="2">
              <a:lnSpc>
                <a:spcPts val="2160"/>
              </a:lnSpc>
              <a:buFont typeface="Arial"/>
              <a:buChar char="⚬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Which IPs/domains are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allowed?</a:t>
            </a:r>
          </a:p>
          <a:p>
            <a:pPr algn="l" marL="777253" indent="-259084" lvl="2">
              <a:lnSpc>
                <a:spcPts val="2160"/>
              </a:lnSpc>
              <a:buFont typeface="Arial"/>
              <a:buChar char="⚬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What times can you scan?</a:t>
            </a:r>
          </a:p>
          <a:p>
            <a:pPr algn="l" marL="777253" indent="-259084" lvl="2">
              <a:lnSpc>
                <a:spcPts val="2160"/>
              </a:lnSpc>
              <a:buFont typeface="Arial"/>
              <a:buChar char="⚬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What techniques are permitted?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b="true" sz="1800" spc="-54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Document everything </a:t>
            </a:r>
          </a:p>
          <a:p>
            <a:pPr algn="l" marL="777253" indent="-259084" lvl="2">
              <a:lnSpc>
                <a:spcPts val="2160"/>
              </a:lnSpc>
              <a:buFont typeface="Arial"/>
              <a:buChar char="⚬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Commands run</a:t>
            </a:r>
          </a:p>
          <a:p>
            <a:pPr algn="l" marL="777253" indent="-259084" lvl="2">
              <a:lnSpc>
                <a:spcPts val="2160"/>
              </a:lnSpc>
              <a:buFont typeface="Arial"/>
              <a:buChar char="⚬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Results obtained</a:t>
            </a:r>
          </a:p>
          <a:p>
            <a:pPr algn="l" marL="777253" indent="-259084" lvl="2">
              <a:lnSpc>
                <a:spcPts val="2160"/>
              </a:lnSpc>
              <a:buFont typeface="Arial"/>
              <a:buChar char="⚬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Date and time stamps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b="true" sz="1800" spc="-54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Report responsibly </a:t>
            </a:r>
          </a:p>
          <a:p>
            <a:pPr algn="l" marL="777253" indent="-259084" lvl="2">
              <a:lnSpc>
                <a:spcPts val="2160"/>
              </a:lnSpc>
              <a:buFont typeface="Arial"/>
              <a:buChar char="⚬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Don't share vulnerabilities publicly</a:t>
            </a:r>
          </a:p>
          <a:p>
            <a:pPr algn="l" marL="777253" indent="-259084" lvl="2">
              <a:lnSpc>
                <a:spcPts val="2160"/>
              </a:lnSpc>
              <a:buFont typeface="Arial"/>
              <a:buChar char="⚬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Give the organization time to fix</a:t>
            </a:r>
          </a:p>
          <a:p>
            <a:pPr algn="l" marL="777253" indent="-259084" lvl="2">
              <a:lnSpc>
                <a:spcPts val="2160"/>
              </a:lnSpc>
              <a:buFont typeface="Arial"/>
              <a:buChar char="⚬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Follow disclosure policies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b="true" sz="1800" spc="-54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Respect</a:t>
            </a:r>
            <a:r>
              <a:rPr lang="en-US" b="true" sz="1800" spc="-54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 rate limits </a:t>
            </a:r>
          </a:p>
          <a:p>
            <a:pPr algn="l" marL="777253" indent="-259084" lvl="2">
              <a:lnSpc>
                <a:spcPts val="2160"/>
              </a:lnSpc>
              <a:buFont typeface="Arial"/>
              <a:buChar char="⚬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Don't crash systems with aggressive scans</a:t>
            </a:r>
          </a:p>
          <a:p>
            <a:pPr algn="l" marL="777253" indent="-259084" lvl="2">
              <a:lnSpc>
                <a:spcPts val="2160"/>
              </a:lnSpc>
              <a:spcBef>
                <a:spcPct val="0"/>
              </a:spcBef>
              <a:buFont typeface="Arial"/>
              <a:buChar char="⚬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Use appropriate timing templates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6750" y="4801374"/>
            <a:ext cx="8892859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✅ Allowed: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Your own systems - Scan what you own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With written permission - Signed authorization from the owner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Pu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blished test systems - scanme.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nmap.org,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testphp.vulnweb.com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Educational labs - Controlled environment with proper authorization</a:t>
            </a:r>
          </a:p>
          <a:p>
            <a:pPr algn="l">
              <a:lnSpc>
                <a:spcPts val="2160"/>
              </a:lnSpc>
            </a:pPr>
            <a:r>
              <a:rPr lang="en-US" sz="1800" spc="-54" b="true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❌ NOT Allowed: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Your school/university network - Eve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 though you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use it!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Your employer's network - Unless specifically authorized</a:t>
            </a:r>
          </a:p>
          <a:p>
            <a:pPr algn="l" marL="388626" indent="-194313" lvl="1">
              <a:lnSpc>
                <a:spcPts val="2160"/>
              </a:lnSpc>
              <a:buAutoNum type="arabicPeriod" startAt="1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ny</a:t>
            </a: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website - Even if it's "just to check"</a:t>
            </a:r>
          </a:p>
          <a:p>
            <a:pPr algn="l" marL="388626" indent="-194313" lvl="1">
              <a:lnSpc>
                <a:spcPts val="2160"/>
              </a:lnSpc>
              <a:spcBef>
                <a:spcPct val="0"/>
              </a:spcBef>
              <a:buAutoNum type="arabicPeriod" startAt="1"/>
            </a:pPr>
            <a:r>
              <a:rPr lang="en-US" sz="1800" spc="-54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Your neighbor's WiFi - Even if it's open!</a:t>
            </a:r>
          </a:p>
        </p:txBody>
      </p: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9918365" y="7853184"/>
          <a:ext cx="7172718" cy="2057400"/>
        </p:xfrm>
        <a:graphic>
          <a:graphicData uri="http://schemas.openxmlformats.org/drawingml/2006/table">
            <a:tbl>
              <a:tblPr/>
              <a:tblGrid>
                <a:gridCol w="2110358"/>
                <a:gridCol w="1727584"/>
                <a:gridCol w="3334776"/>
              </a:tblGrid>
              <a:tr h="4114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Target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Purpose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Notes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scanme.nmap.org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Nmap test server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Maintained by Nmap project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testphp.vulnweb.com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Web app testing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Acunetix test site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demo.testfire.net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Banking app test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IBM AppScan demo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Your own VMs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Complete control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Best option!</a:t>
                      </a:r>
                      <a:endParaRPr lang="en-US" sz="1100"/>
                    </a:p>
                  </a:txBody>
                  <a:tcPr marL="47625" marR="47625" marT="47625" marB="47625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6766773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44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Summary:</a:t>
            </a:r>
            <a:r>
              <a:rPr lang="en-US" sz="4800" spc="-144" strike="noStrike" u="none">
                <a:solidFill>
                  <a:srgbClr val="00FFA8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Key Takeaways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115522" y="751544"/>
            <a:ext cx="1505728" cy="810556"/>
            <a:chOff x="0" y="0"/>
            <a:chExt cx="2007638" cy="108074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80741" cy="108074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926897" y="0"/>
              <a:ext cx="1080741" cy="108074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BB7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27079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2" y="182"/>
              <a:ext cx="1080559" cy="1080559"/>
            </a:xfrm>
            <a:custGeom>
              <a:avLst/>
              <a:gdLst/>
              <a:ahLst/>
              <a:cxnLst/>
              <a:rect r="r" b="b" t="t" l="l"/>
              <a:pathLst>
                <a:path h="1080559" w="1080559">
                  <a:moveTo>
                    <a:pt x="0" y="0"/>
                  </a:moveTo>
                  <a:lnTo>
                    <a:pt x="1080559" y="0"/>
                  </a:lnTo>
                  <a:lnTo>
                    <a:pt x="1080559" y="1080559"/>
                  </a:lnTo>
                  <a:lnTo>
                    <a:pt x="0" y="108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1571625"/>
            <a:ext cx="8477250" cy="831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TCP/IP Essentials: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Three-way handshake: SYN → SYN-ACK → ACK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Port states: OPEN, CLOSED, FILTERED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TCP = reliable, UDP = fast but unreliable</a:t>
            </a:r>
          </a:p>
          <a:p>
            <a:pPr algn="l">
              <a:lnSpc>
                <a:spcPts val="2880"/>
              </a:lnSpc>
            </a:pPr>
          </a:p>
          <a:p>
            <a:pPr algn="l">
              <a:lnSpc>
                <a:spcPts val="288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Scan Types: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TCP Connect = Most re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liable, easily detected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SYN Scan = Best balance (fast, fairly stealthy)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FIN/NULL/XMAS = Very stealthy, unreliable</a:t>
            </a:r>
          </a:p>
          <a:p>
            <a:pPr algn="l">
              <a:lnSpc>
                <a:spcPts val="2880"/>
              </a:lnSpc>
            </a:pPr>
          </a:p>
          <a:p>
            <a:pPr algn="l">
              <a:lnSpc>
                <a:spcPts val="288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T</a:t>
            </a: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ools: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Nmap = Swiss Army knife (use this 95% of the time)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Masscan = Speed demon (large networks)</a:t>
            </a:r>
          </a:p>
          <a:p>
            <a:pPr algn="l">
              <a:lnSpc>
                <a:spcPts val="2880"/>
              </a:lnSpc>
            </a:pPr>
          </a:p>
          <a:p>
            <a:pPr algn="l">
              <a:lnSpc>
                <a:spcPts val="288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Evasion: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Timing templates (-T0 to -T5)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Fragmentation (-f)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Decoys (-D)</a:t>
            </a:r>
          </a:p>
          <a:p>
            <a:pPr algn="l">
              <a:lnSpc>
                <a:spcPts val="2880"/>
              </a:lnSpc>
            </a:pPr>
          </a:p>
          <a:p>
            <a:pPr algn="l">
              <a:lnSpc>
                <a:spcPts val="2880"/>
              </a:lnSpc>
            </a:pPr>
            <a:r>
              <a:rPr lang="en-US" sz="2400" spc="-72" b="true">
                <a:solidFill>
                  <a:srgbClr val="00FFA8"/>
                </a:solidFill>
                <a:latin typeface="TT Fors Bold"/>
                <a:ea typeface="TT Fors Bold"/>
                <a:cs typeface="TT Fors Bold"/>
                <a:sym typeface="TT Fors Bold"/>
              </a:rPr>
              <a:t>Ethics: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ALWAYS g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et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permission</a:t>
            </a:r>
          </a:p>
          <a:p>
            <a:pPr algn="l" marL="518163" indent="-259082" lvl="1">
              <a:lnSpc>
                <a:spcPts val="2880"/>
              </a:lnSpc>
              <a:buFont typeface="Arial"/>
              <a:buChar char="•"/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 Only scan authorized targets</a:t>
            </a:r>
          </a:p>
          <a:p>
            <a:pPr algn="l" marL="518163" indent="-259082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✅</a:t>
            </a:r>
            <a:r>
              <a:rPr lang="en-US" sz="2400" spc="-72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Port scanning without permission = CRIME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02596" y="0"/>
            <a:ext cx="8185404" cy="10287000"/>
            <a:chOff x="0" y="0"/>
            <a:chExt cx="215582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582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55827">
                  <a:moveTo>
                    <a:pt x="0" y="0"/>
                  </a:moveTo>
                  <a:lnTo>
                    <a:pt x="2155827" y="0"/>
                  </a:lnTo>
                  <a:lnTo>
                    <a:pt x="215582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0144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5582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8180" y="666750"/>
            <a:ext cx="6947741" cy="8953500"/>
            <a:chOff x="0" y="0"/>
            <a:chExt cx="812800" cy="1047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47449"/>
            </a:xfrm>
            <a:custGeom>
              <a:avLst/>
              <a:gdLst/>
              <a:ahLst/>
              <a:cxnLst/>
              <a:rect r="r" b="b" t="t" l="l"/>
              <a:pathLst>
                <a:path h="1047449" w="812800">
                  <a:moveTo>
                    <a:pt x="44572" y="0"/>
                  </a:moveTo>
                  <a:lnTo>
                    <a:pt x="768228" y="0"/>
                  </a:lnTo>
                  <a:cubicBezTo>
                    <a:pt x="792844" y="0"/>
                    <a:pt x="812800" y="19956"/>
                    <a:pt x="812800" y="44572"/>
                  </a:cubicBezTo>
                  <a:lnTo>
                    <a:pt x="812800" y="1002877"/>
                  </a:lnTo>
                  <a:cubicBezTo>
                    <a:pt x="812800" y="1027493"/>
                    <a:pt x="792844" y="1047449"/>
                    <a:pt x="768228" y="1047449"/>
                  </a:cubicBezTo>
                  <a:lnTo>
                    <a:pt x="44572" y="1047449"/>
                  </a:lnTo>
                  <a:cubicBezTo>
                    <a:pt x="19956" y="1047449"/>
                    <a:pt x="0" y="1027493"/>
                    <a:pt x="0" y="1002877"/>
                  </a:cubicBezTo>
                  <a:lnTo>
                    <a:pt x="0" y="44572"/>
                  </a:lnTo>
                  <a:cubicBezTo>
                    <a:pt x="0" y="19956"/>
                    <a:pt x="19956" y="0"/>
                    <a:pt x="4457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6" r="0" b="-30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26053" y="4096993"/>
            <a:ext cx="8324850" cy="2093014"/>
            <a:chOff x="0" y="0"/>
            <a:chExt cx="11099800" cy="279068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51122"/>
              <a:ext cx="11099800" cy="7395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5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00FFA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ANY QUESTIONS?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0"/>
              <a:ext cx="11099800" cy="1722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254" strike="noStrike" u="none">
                  <a:solidFill>
                    <a:srgbClr val="00FFA8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Thank You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5400000">
            <a:off x="16106389" y="8352937"/>
            <a:ext cx="1792448" cy="1639275"/>
          </a:xfrm>
          <a:custGeom>
            <a:avLst/>
            <a:gdLst/>
            <a:ahLst/>
            <a:cxnLst/>
            <a:rect r="r" b="b" t="t" l="l"/>
            <a:pathLst>
              <a:path h="1639275" w="1792448">
                <a:moveTo>
                  <a:pt x="1792448" y="0"/>
                </a:moveTo>
                <a:lnTo>
                  <a:pt x="0" y="0"/>
                </a:lnTo>
                <a:lnTo>
                  <a:pt x="0" y="1639276"/>
                </a:lnTo>
                <a:lnTo>
                  <a:pt x="1792448" y="1639276"/>
                </a:lnTo>
                <a:lnTo>
                  <a:pt x="179244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Ethical Hacking Overview</dc:description>
  <dc:identifier>DAG5l1MmoW8</dc:identifier>
  <dcterms:modified xsi:type="dcterms:W3CDTF">2011-08-01T06:04:30Z</dcterms:modified>
  <cp:revision>1</cp:revision>
  <dc:title>Lecture-04-CCS6324 -  Port Scanning</dc:title>
</cp:coreProperties>
</file>