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ITC Avant Garde Gothic" charset="1" panose="020B0502020202020204"/>
      <p:regular r:id="rId26"/>
    </p:embeddedFont>
    <p:embeddedFont>
      <p:font typeface="TT Fors" charset="1" panose="020B0003030001020000"/>
      <p:regular r:id="rId27"/>
    </p:embeddedFont>
    <p:embeddedFont>
      <p:font typeface="TT Fors Bold" charset="1" panose="020B0003030001020000"/>
      <p:regular r:id="rId32"/>
    </p:embeddedFont>
    <p:embeddedFont>
      <p:font typeface="Canva Sans Bold" charset="1" panose="020B0803030501040103"/>
      <p:regular r:id="rId34"/>
    </p:embeddedFont>
    <p:embeddedFont>
      <p:font typeface="Canva Sans" charset="1" panose="020B0503030501040103"/>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notesMasters/notesMaster1.xml" Type="http://schemas.openxmlformats.org/officeDocument/2006/relationships/notesMaster"/><Relationship Id="rId29" Target="theme/theme2.xml" Type="http://schemas.openxmlformats.org/officeDocument/2006/relationships/theme"/><Relationship Id="rId3" Target="viewProps.xml" Type="http://schemas.openxmlformats.org/officeDocument/2006/relationships/viewProps"/><Relationship Id="rId30" Target="notesSlides/notesSlide1.xml" Type="http://schemas.openxmlformats.org/officeDocument/2006/relationships/notesSlide"/><Relationship Id="rId31" Target="notesSlides/notesSlide2.xml" Type="http://schemas.openxmlformats.org/officeDocument/2006/relationships/notesSlide"/><Relationship Id="rId32" Target="fonts/font32.fntdata" Type="http://schemas.openxmlformats.org/officeDocument/2006/relationships/font"/><Relationship Id="rId33" Target="notesSlides/notesSlide3.xml" Type="http://schemas.openxmlformats.org/officeDocument/2006/relationships/notesSlide"/><Relationship Id="rId34" Target="fonts/font34.fntdata" Type="http://schemas.openxmlformats.org/officeDocument/2006/relationships/font"/><Relationship Id="rId35" Target="fonts/font35.fntdata" Type="http://schemas.openxmlformats.org/officeDocument/2006/relationships/font"/><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notesSlides/notesSlide17.xml" Type="http://schemas.openxmlformats.org/officeDocument/2006/relationships/notesSlide"/><Relationship Id="rId5" Target="tableStyles.xml" Type="http://schemas.openxmlformats.org/officeDocument/2006/relationships/tableStyles"/><Relationship Id="rId50" Target="notesSlides/notesSlide18.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1877675" y="0"/>
            <a:ext cx="6419850" cy="10287000"/>
            <a:chOff x="0" y="0"/>
            <a:chExt cx="994603" cy="1593725"/>
          </a:xfrm>
        </p:grpSpPr>
        <p:sp>
          <p:nvSpPr>
            <p:cNvPr name="Freeform 3" id="3"/>
            <p:cNvSpPr/>
            <p:nvPr/>
          </p:nvSpPr>
          <p:spPr>
            <a:xfrm flipH="false" flipV="false" rot="0">
              <a:off x="0" y="0"/>
              <a:ext cx="994603" cy="1593725"/>
            </a:xfrm>
            <a:custGeom>
              <a:avLst/>
              <a:gdLst/>
              <a:ahLst/>
              <a:cxnLst/>
              <a:rect r="r" b="b" t="t" l="l"/>
              <a:pathLst>
                <a:path h="1593725" w="994603">
                  <a:moveTo>
                    <a:pt x="0" y="0"/>
                  </a:moveTo>
                  <a:lnTo>
                    <a:pt x="994603" y="0"/>
                  </a:lnTo>
                  <a:lnTo>
                    <a:pt x="994603" y="1593725"/>
                  </a:lnTo>
                  <a:lnTo>
                    <a:pt x="0" y="1593725"/>
                  </a:lnTo>
                  <a:close/>
                </a:path>
              </a:pathLst>
            </a:custGeom>
            <a:blipFill>
              <a:blip r:embed="rId2"/>
              <a:stretch>
                <a:fillRect l="-90559" t="0" r="-90559" b="0"/>
              </a:stretch>
            </a:blipFill>
          </p:spPr>
        </p:sp>
      </p:grpSp>
      <p:grpSp>
        <p:nvGrpSpPr>
          <p:cNvPr name="Group 4" id="4"/>
          <p:cNvGrpSpPr/>
          <p:nvPr/>
        </p:nvGrpSpPr>
        <p:grpSpPr>
          <a:xfrm rot="0">
            <a:off x="10962648" y="7828295"/>
            <a:ext cx="3328824" cy="1791955"/>
            <a:chOff x="0" y="0"/>
            <a:chExt cx="4438432" cy="2389273"/>
          </a:xfrm>
        </p:grpSpPr>
        <p:grpSp>
          <p:nvGrpSpPr>
            <p:cNvPr name="Group 5" id="5"/>
            <p:cNvGrpSpPr/>
            <p:nvPr/>
          </p:nvGrpSpPr>
          <p:grpSpPr>
            <a:xfrm rot="0">
              <a:off x="0" y="0"/>
              <a:ext cx="2389273" cy="23892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049159" y="0"/>
              <a:ext cx="2389273" cy="238927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20491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417570" y="423265"/>
              <a:ext cx="1604934" cy="1542743"/>
            </a:xfrm>
            <a:custGeom>
              <a:avLst/>
              <a:gdLst/>
              <a:ahLst/>
              <a:cxnLst/>
              <a:rect r="r" b="b" t="t" l="l"/>
              <a:pathLst>
                <a:path h="1542743" w="1604934">
                  <a:moveTo>
                    <a:pt x="0" y="0"/>
                  </a:moveTo>
                  <a:lnTo>
                    <a:pt x="1604933" y="0"/>
                  </a:lnTo>
                  <a:lnTo>
                    <a:pt x="1604933" y="1542743"/>
                  </a:lnTo>
                  <a:lnTo>
                    <a:pt x="0" y="15427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3" id="13"/>
          <p:cNvSpPr txBox="true"/>
          <p:nvPr/>
        </p:nvSpPr>
        <p:spPr>
          <a:xfrm rot="0">
            <a:off x="666750" y="1552575"/>
            <a:ext cx="11210925" cy="1530349"/>
          </a:xfrm>
          <a:prstGeom prst="rect">
            <a:avLst/>
          </a:prstGeom>
        </p:spPr>
        <p:txBody>
          <a:bodyPr anchor="t" rtlCol="false" tIns="0" lIns="0" bIns="0" rIns="0">
            <a:spAutoFit/>
          </a:bodyPr>
          <a:lstStyle/>
          <a:p>
            <a:pPr algn="l" marL="0" indent="0" lvl="0">
              <a:lnSpc>
                <a:spcPts val="9999"/>
              </a:lnSpc>
            </a:pPr>
            <a:r>
              <a:rPr lang="en-US" sz="9999" spc="-299">
                <a:solidFill>
                  <a:srgbClr val="00FFA8"/>
                </a:solidFill>
                <a:latin typeface="ITC Avant Garde Gothic"/>
                <a:ea typeface="ITC Avant Garde Gothic"/>
                <a:cs typeface="ITC Avant Garde Gothic"/>
                <a:sym typeface="ITC Avant Garde Gothic"/>
              </a:rPr>
              <a:t>Enume</a:t>
            </a:r>
            <a:r>
              <a:rPr lang="en-US" sz="9999" spc="-299">
                <a:solidFill>
                  <a:srgbClr val="00FFA8"/>
                </a:solidFill>
                <a:latin typeface="ITC Avant Garde Gothic"/>
                <a:ea typeface="ITC Avant Garde Gothic"/>
                <a:cs typeface="ITC Avant Garde Gothic"/>
                <a:sym typeface="ITC Avant Garde Gothic"/>
              </a:rPr>
              <a:t>ration</a:t>
            </a:r>
          </a:p>
        </p:txBody>
      </p:sp>
      <p:sp>
        <p:nvSpPr>
          <p:cNvPr name="TextBox 14" id="14"/>
          <p:cNvSpPr txBox="true"/>
          <p:nvPr/>
        </p:nvSpPr>
        <p:spPr>
          <a:xfrm rot="0">
            <a:off x="666750" y="561975"/>
            <a:ext cx="9763125" cy="495935"/>
          </a:xfrm>
          <a:prstGeom prst="rect">
            <a:avLst/>
          </a:prstGeom>
        </p:spPr>
        <p:txBody>
          <a:bodyPr anchor="t" rtlCol="false" tIns="0" lIns="0" bIns="0" rIns="0">
            <a:spAutoFit/>
          </a:bodyPr>
          <a:lstStyle/>
          <a:p>
            <a:pPr algn="l" marL="0" indent="0" lvl="0">
              <a:lnSpc>
                <a:spcPts val="3640"/>
              </a:lnSpc>
              <a:spcBef>
                <a:spcPct val="0"/>
              </a:spcBef>
            </a:pPr>
            <a:r>
              <a:rPr lang="en-US" sz="2600">
                <a:solidFill>
                  <a:srgbClr val="00FFA8"/>
                </a:solidFill>
                <a:latin typeface="ITC Avant Garde Gothic"/>
                <a:ea typeface="ITC Avant Garde Gothic"/>
                <a:cs typeface="ITC Avant Garde Gothic"/>
                <a:sym typeface="ITC Avant Garde Gothic"/>
              </a:rPr>
              <a:t>MULTIMEDIA UNIVERSITY, MALAYSIA</a:t>
            </a:r>
          </a:p>
        </p:txBody>
      </p:sp>
      <p:sp>
        <p:nvSpPr>
          <p:cNvPr name="TextBox 15" id="15"/>
          <p:cNvSpPr txBox="true"/>
          <p:nvPr/>
        </p:nvSpPr>
        <p:spPr>
          <a:xfrm rot="0">
            <a:off x="666750" y="3439795"/>
            <a:ext cx="9763125" cy="604520"/>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CCS6324 - 2530</a:t>
            </a:r>
          </a:p>
        </p:txBody>
      </p:sp>
      <p:sp>
        <p:nvSpPr>
          <p:cNvPr name="TextBox 16" id="16"/>
          <p:cNvSpPr txBox="true"/>
          <p:nvPr/>
        </p:nvSpPr>
        <p:spPr>
          <a:xfrm rot="0">
            <a:off x="666750" y="2959099"/>
            <a:ext cx="9763125" cy="604520"/>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ETHICAL HACKING AND PENETRATION TESTING</a:t>
            </a:r>
          </a:p>
        </p:txBody>
      </p:sp>
      <p:sp>
        <p:nvSpPr>
          <p:cNvPr name="TextBox 17" id="17"/>
          <p:cNvSpPr txBox="true"/>
          <p:nvPr/>
        </p:nvSpPr>
        <p:spPr>
          <a:xfrm rot="0">
            <a:off x="663474" y="9181465"/>
            <a:ext cx="7194651" cy="438785"/>
          </a:xfrm>
          <a:prstGeom prst="rect">
            <a:avLst/>
          </a:prstGeom>
        </p:spPr>
        <p:txBody>
          <a:bodyPr anchor="t" rtlCol="false" tIns="0" lIns="0" bIns="0" rIns="0">
            <a:spAutoFit/>
          </a:bodyPr>
          <a:lstStyle/>
          <a:p>
            <a:pPr algn="l" marL="0" indent="0" lvl="0">
              <a:lnSpc>
                <a:spcPts val="3640"/>
              </a:lnSpc>
            </a:pPr>
            <a:r>
              <a:rPr lang="en-US" sz="2600">
                <a:solidFill>
                  <a:srgbClr val="00FFA8"/>
                </a:solidFill>
                <a:latin typeface="TT Fors"/>
                <a:ea typeface="TT Fors"/>
                <a:cs typeface="TT Fors"/>
                <a:sym typeface="TT Fors"/>
              </a:rPr>
              <a:t>Dr. Hafiz Adnan Hussain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2132867"/>
            <a:ext cx="16592550" cy="6564630"/>
          </a:xfrm>
          <a:prstGeom prst="rect">
            <a:avLst/>
          </a:prstGeom>
        </p:spPr>
        <p:txBody>
          <a:bodyPr anchor="t" rtlCol="false" tIns="0" lIns="0" bIns="0" rIns="0">
            <a:spAutoFit/>
          </a:bodyPr>
          <a:lstStyle/>
          <a:p>
            <a:pPr algn="l" marL="690879" indent="-345439" lvl="1">
              <a:lnSpc>
                <a:spcPts val="4799"/>
              </a:lnSpc>
              <a:buFont typeface="Arial"/>
              <a:buChar char="•"/>
            </a:pPr>
            <a:r>
              <a:rPr lang="en-US" sz="3199" spc="-95">
                <a:solidFill>
                  <a:srgbClr val="00FFA8"/>
                </a:solidFill>
                <a:latin typeface="TT Fors"/>
                <a:ea typeface="TT Fors"/>
                <a:cs typeface="TT Fors"/>
                <a:sym typeface="TT Fors"/>
              </a:rPr>
              <a:t>This course is designed to educate students on ethical hacking p</a:t>
            </a:r>
            <a:r>
              <a:rPr lang="en-US" sz="3199" spc="-95" strike="noStrike" u="none">
                <a:solidFill>
                  <a:srgbClr val="00FFA8"/>
                </a:solidFill>
                <a:latin typeface="TT Fors"/>
                <a:ea typeface="TT Fors"/>
                <a:cs typeface="TT Fors"/>
                <a:sym typeface="TT Fors"/>
              </a:rPr>
              <a:t>rinc</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ples. The </a:t>
            </a:r>
            <a:r>
              <a:rPr lang="en-US" sz="3199" spc="-95" strike="noStrike" u="none">
                <a:solidFill>
                  <a:srgbClr val="00FFA8"/>
                </a:solidFill>
                <a:latin typeface="TT Fors"/>
                <a:ea typeface="TT Fors"/>
                <a:cs typeface="TT Fors"/>
                <a:sym typeface="TT Fors"/>
              </a:rPr>
              <a:t>kn</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w</a:t>
            </a:r>
            <a:r>
              <a:rPr lang="en-US" sz="3199" spc="-95" strike="noStrike" u="none">
                <a:solidFill>
                  <a:srgbClr val="00FFA8"/>
                </a:solidFill>
                <a:latin typeface="TT Fors"/>
                <a:ea typeface="TT Fors"/>
                <a:cs typeface="TT Fors"/>
                <a:sym typeface="TT Fors"/>
              </a:rPr>
              <a:t>le</a:t>
            </a:r>
            <a:r>
              <a:rPr lang="en-US" sz="3199" spc="-95" strike="noStrike" u="none">
                <a:solidFill>
                  <a:srgbClr val="00FFA8"/>
                </a:solidFill>
                <a:latin typeface="TT Fors"/>
                <a:ea typeface="TT Fors"/>
                <a:cs typeface="TT Fors"/>
                <a:sym typeface="TT Fors"/>
              </a:rPr>
              <a:t>dge</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and</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echniques acqu</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ed must be used respons</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bl</a:t>
            </a:r>
            <a:r>
              <a:rPr lang="en-US" sz="3199" spc="-95" strike="noStrike" u="none">
                <a:solidFill>
                  <a:srgbClr val="00FFA8"/>
                </a:solidFill>
                <a:latin typeface="TT Fors"/>
                <a:ea typeface="TT Fors"/>
                <a:cs typeface="TT Fors"/>
                <a:sym typeface="TT Fors"/>
              </a:rPr>
              <a:t>y and n</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 fo</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ny </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llegal </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r u</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authorized</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activiti</a:t>
            </a:r>
            <a:r>
              <a:rPr lang="en-US" sz="3199" spc="-95" strike="noStrike" u="none">
                <a:solidFill>
                  <a:srgbClr val="00FFA8"/>
                </a:solidFill>
                <a:latin typeface="TT Fors"/>
                <a:ea typeface="TT Fors"/>
                <a:cs typeface="TT Fors"/>
                <a:sym typeface="TT Fors"/>
              </a:rPr>
              <a:t>es</a:t>
            </a:r>
            <a:r>
              <a:rPr lang="en-US" sz="3199" spc="-95" strike="noStrike" u="none">
                <a:solidFill>
                  <a:srgbClr val="00FFA8"/>
                </a:solidFill>
                <a:latin typeface="TT Fors"/>
                <a:ea typeface="TT Fors"/>
                <a:cs typeface="TT Fors"/>
                <a:sym typeface="TT Fors"/>
              </a:rPr>
              <a:t>.</a:t>
            </a:r>
          </a:p>
          <a:p>
            <a:pPr algn="l" marL="690879" indent="-345439" lvl="1">
              <a:lnSpc>
                <a:spcPts val="4799"/>
              </a:lnSpc>
              <a:buFont typeface="Arial"/>
              <a:buChar char="•"/>
            </a:pPr>
            <a:r>
              <a:rPr lang="en-US" sz="3199" spc="-95" strike="noStrike" u="none">
                <a:solidFill>
                  <a:srgbClr val="00FFA8"/>
                </a:solidFill>
                <a:latin typeface="TT Fors"/>
                <a:ea typeface="TT Fors"/>
                <a:cs typeface="TT Fors"/>
                <a:sym typeface="TT Fors"/>
              </a:rPr>
              <a:t>Each s</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ud</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nt is solely </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po</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sibl</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 for </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hei</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c</a:t>
            </a:r>
            <a:r>
              <a:rPr lang="en-US" sz="3199" spc="-95" strike="noStrike" u="none">
                <a:solidFill>
                  <a:srgbClr val="00FFA8"/>
                </a:solidFill>
                <a:latin typeface="TT Fors"/>
                <a:ea typeface="TT Fors"/>
                <a:cs typeface="TT Fors"/>
                <a:sym typeface="TT Fors"/>
              </a:rPr>
              <a:t>tion</a:t>
            </a:r>
            <a:r>
              <a:rPr lang="en-US" sz="3199" spc="-95" strike="noStrike" u="none">
                <a:solidFill>
                  <a:srgbClr val="00FFA8"/>
                </a:solidFill>
                <a:latin typeface="TT Fors"/>
                <a:ea typeface="TT Fors"/>
                <a:cs typeface="TT Fors"/>
                <a:sym typeface="TT Fors"/>
              </a:rPr>
              <a:t>s.</a:t>
            </a:r>
          </a:p>
          <a:p>
            <a:pPr algn="l" marL="690879" indent="-345439" lvl="1">
              <a:lnSpc>
                <a:spcPts val="4799"/>
              </a:lnSpc>
              <a:buFont typeface="Arial"/>
              <a:buChar char="•"/>
            </a:pPr>
            <a:r>
              <a:rPr lang="en-US" sz="3199" spc="-95" strike="noStrike" u="none">
                <a:solidFill>
                  <a:srgbClr val="00FFA8"/>
                </a:solidFill>
                <a:latin typeface="TT Fors"/>
                <a:ea typeface="TT Fors"/>
                <a:cs typeface="TT Fors"/>
                <a:sym typeface="TT Fors"/>
              </a:rPr>
              <a:t>Do not inv</a:t>
            </a:r>
            <a:r>
              <a:rPr lang="en-US" sz="3199" spc="-95" strike="noStrike" u="none">
                <a:solidFill>
                  <a:srgbClr val="00FFA8"/>
                </a:solidFill>
                <a:latin typeface="TT Fors"/>
                <a:ea typeface="TT Fors"/>
                <a:cs typeface="TT Fors"/>
                <a:sym typeface="TT Fors"/>
              </a:rPr>
              <a:t>estig</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e in</a:t>
            </a:r>
            <a:r>
              <a:rPr lang="en-US" sz="3199" spc="-95" strike="noStrike" u="none">
                <a:solidFill>
                  <a:srgbClr val="00FFA8"/>
                </a:solidFill>
                <a:latin typeface="TT Fors"/>
                <a:ea typeface="TT Fors"/>
                <a:cs typeface="TT Fors"/>
                <a:sym typeface="TT Fors"/>
              </a:rPr>
              <a:t>d</a:t>
            </a:r>
            <a:r>
              <a:rPr lang="en-US" sz="3199" spc="-95" strike="noStrike" u="none">
                <a:solidFill>
                  <a:srgbClr val="00FFA8"/>
                </a:solidFill>
                <a:latin typeface="TT Fors"/>
                <a:ea typeface="TT Fors"/>
                <a:cs typeface="TT Fors"/>
                <a:sym typeface="TT Fors"/>
              </a:rPr>
              <a:t>ividua</a:t>
            </a:r>
            <a:r>
              <a:rPr lang="en-US" sz="3199" spc="-95" strike="noStrike" u="none">
                <a:solidFill>
                  <a:srgbClr val="00FFA8"/>
                </a:solidFill>
                <a:latin typeface="TT Fors"/>
                <a:ea typeface="TT Fors"/>
                <a:cs typeface="TT Fors"/>
                <a:sym typeface="TT Fors"/>
              </a:rPr>
              <a:t>l</a:t>
            </a:r>
            <a:r>
              <a:rPr lang="en-US" sz="3199" spc="-95" strike="noStrike" u="none">
                <a:solidFill>
                  <a:srgbClr val="00FFA8"/>
                </a:solidFill>
                <a:latin typeface="TT Fors"/>
                <a:ea typeface="TT Fors"/>
                <a:cs typeface="TT Fors"/>
                <a:sym typeface="TT Fors"/>
              </a:rPr>
              <a:t>s, webs</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es, </a:t>
            </a:r>
            <a:r>
              <a:rPr lang="en-US" sz="3199" spc="-95" strike="noStrike" u="none">
                <a:solidFill>
                  <a:srgbClr val="00FFA8"/>
                </a:solidFill>
                <a:latin typeface="TT Fors"/>
                <a:ea typeface="TT Fors"/>
                <a:cs typeface="TT Fors"/>
                <a:sym typeface="TT Fors"/>
              </a:rPr>
              <a:t>servers or conduct</a:t>
            </a:r>
            <a:r>
              <a:rPr lang="en-US" sz="3199" spc="-95" strike="noStrike" u="none">
                <a:solidFill>
                  <a:srgbClr val="00FFA8"/>
                </a:solidFill>
                <a:latin typeface="TT Fors"/>
                <a:ea typeface="TT Fors"/>
                <a:cs typeface="TT Fors"/>
                <a:sym typeface="TT Fors"/>
              </a:rPr>
              <a:t> a</a:t>
            </a:r>
            <a:r>
              <a:rPr lang="en-US" sz="3199" spc="-95" strike="noStrike" u="none">
                <a:solidFill>
                  <a:srgbClr val="00FFA8"/>
                </a:solidFill>
                <a:latin typeface="TT Fors"/>
                <a:ea typeface="TT Fors"/>
                <a:cs typeface="TT Fors"/>
                <a:sym typeface="TT Fors"/>
              </a:rPr>
              <a:t>ny ill</a:t>
            </a:r>
            <a:r>
              <a:rPr lang="en-US" sz="3199" spc="-95" strike="noStrike" u="none">
                <a:solidFill>
                  <a:srgbClr val="00FFA8"/>
                </a:solidFill>
                <a:latin typeface="TT Fors"/>
                <a:ea typeface="TT Fors"/>
                <a:cs typeface="TT Fors"/>
                <a:sym typeface="TT Fors"/>
              </a:rPr>
              <a:t>eg</a:t>
            </a:r>
            <a:r>
              <a:rPr lang="en-US" sz="3199" spc="-95" strike="noStrike" u="none">
                <a:solidFill>
                  <a:srgbClr val="00FFA8"/>
                </a:solidFill>
                <a:latin typeface="TT Fors"/>
                <a:ea typeface="TT Fors"/>
                <a:cs typeface="TT Fors"/>
                <a:sym typeface="TT Fors"/>
              </a:rPr>
              <a:t>al activit</a:t>
            </a:r>
            <a:r>
              <a:rPr lang="en-US" sz="3199" spc="-95" strike="noStrike" u="none">
                <a:solidFill>
                  <a:srgbClr val="00FFA8"/>
                </a:solidFill>
                <a:latin typeface="TT Fors"/>
                <a:ea typeface="TT Fors"/>
                <a:cs typeface="TT Fors"/>
                <a:sym typeface="TT Fors"/>
              </a:rPr>
              <a:t>ies</a:t>
            </a:r>
            <a:r>
              <a:rPr lang="en-US" sz="3199" spc="-95" strike="noStrike" u="none">
                <a:solidFill>
                  <a:srgbClr val="00FFA8"/>
                </a:solidFill>
                <a:latin typeface="TT Fors"/>
                <a:ea typeface="TT Fors"/>
                <a:cs typeface="TT Fors"/>
                <a:sym typeface="TT Fors"/>
              </a:rPr>
              <a:t> on</a:t>
            </a:r>
            <a:r>
              <a:rPr lang="en-US" sz="3199" spc="-95" strike="noStrike" u="none">
                <a:solidFill>
                  <a:srgbClr val="00FFA8"/>
                </a:solidFill>
                <a:latin typeface="TT Fors"/>
                <a:ea typeface="TT Fors"/>
                <a:cs typeface="TT Fors"/>
                <a:sym typeface="TT Fors"/>
              </a:rPr>
              <a:t> an</a:t>
            </a:r>
            <a:r>
              <a:rPr lang="en-US" sz="3199" spc="-95" strike="noStrike" u="none">
                <a:solidFill>
                  <a:srgbClr val="00FFA8"/>
                </a:solidFill>
                <a:latin typeface="TT Fors"/>
                <a:ea typeface="TT Fors"/>
                <a:cs typeface="TT Fors"/>
                <a:sym typeface="TT Fors"/>
              </a:rPr>
              <a:t>y</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y</a:t>
            </a:r>
            <a:r>
              <a:rPr lang="en-US" sz="3199" spc="-95" strike="noStrike" u="none">
                <a:solidFill>
                  <a:srgbClr val="00FFA8"/>
                </a:solidFill>
                <a:latin typeface="TT Fors"/>
                <a:ea typeface="TT Fors"/>
                <a:cs typeface="TT Fors"/>
                <a:sym typeface="TT Fors"/>
              </a:rPr>
              <a:t>st</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m</a:t>
            </a:r>
            <a:r>
              <a:rPr lang="en-US" sz="3199" spc="-95" strike="noStrike" u="none">
                <a:solidFill>
                  <a:srgbClr val="00FFA8"/>
                </a:solidFill>
                <a:latin typeface="TT Fors"/>
                <a:ea typeface="TT Fors"/>
                <a:cs typeface="TT Fors"/>
                <a:sym typeface="TT Fors"/>
              </a:rPr>
              <a:t> you do not have</a:t>
            </a:r>
            <a:r>
              <a:rPr lang="en-US" sz="3199" spc="-95" strike="noStrike" u="none">
                <a:solidFill>
                  <a:srgbClr val="00FFA8"/>
                </a:solidFill>
                <a:latin typeface="TT Fors"/>
                <a:ea typeface="TT Fors"/>
                <a:cs typeface="TT Fors"/>
                <a:sym typeface="TT Fors"/>
              </a:rPr>
              <a:t> p</a:t>
            </a:r>
            <a:r>
              <a:rPr lang="en-US" sz="3199" spc="-95" strike="noStrike" u="none">
                <a:solidFill>
                  <a:srgbClr val="00FFA8"/>
                </a:solidFill>
                <a:latin typeface="TT Fors"/>
                <a:ea typeface="TT Fors"/>
                <a:cs typeface="TT Fors"/>
                <a:sym typeface="TT Fors"/>
              </a:rPr>
              <a:t>er</a:t>
            </a:r>
            <a:r>
              <a:rPr lang="en-US" sz="3199" spc="-95" strike="noStrike" u="none">
                <a:solidFill>
                  <a:srgbClr val="00FFA8"/>
                </a:solidFill>
                <a:latin typeface="TT Fors"/>
                <a:ea typeface="TT Fors"/>
                <a:cs typeface="TT Fors"/>
                <a:sym typeface="TT Fors"/>
              </a:rPr>
              <a:t>miss</a:t>
            </a:r>
            <a:r>
              <a:rPr lang="en-US" sz="3199" spc="-95" strike="noStrike" u="none">
                <a:solidFill>
                  <a:srgbClr val="00FFA8"/>
                </a:solidFill>
                <a:latin typeface="TT Fors"/>
                <a:ea typeface="TT Fors"/>
                <a:cs typeface="TT Fors"/>
                <a:sym typeface="TT Fors"/>
              </a:rPr>
              <a:t>ion </a:t>
            </a:r>
            <a:r>
              <a:rPr lang="en-US" sz="3199" spc="-95" strike="noStrike" u="none">
                <a:solidFill>
                  <a:srgbClr val="00FFA8"/>
                </a:solidFill>
                <a:latin typeface="TT Fors"/>
                <a:ea typeface="TT Fors"/>
                <a:cs typeface="TT Fors"/>
                <a:sym typeface="TT Fors"/>
              </a:rPr>
              <a:t>to analyze.</a:t>
            </a:r>
          </a:p>
          <a:p>
            <a:pPr algn="l" marL="690879" indent="-345439" lvl="1">
              <a:lnSpc>
                <a:spcPts val="4799"/>
              </a:lnSpc>
              <a:buFont typeface="Arial"/>
              <a:buChar char="•"/>
            </a:pP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h</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 cour</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e conten</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 ha</a:t>
            </a:r>
            <a:r>
              <a:rPr lang="en-US" sz="3199" spc="-95" strike="noStrike" u="none">
                <a:solidFill>
                  <a:srgbClr val="00FFA8"/>
                </a:solidFill>
                <a:latin typeface="TT Fors"/>
                <a:ea typeface="TT Fors"/>
                <a:cs typeface="TT Fors"/>
                <a:sym typeface="TT Fors"/>
              </a:rPr>
              <a:t>s </a:t>
            </a:r>
            <a:r>
              <a:rPr lang="en-US" sz="3199" spc="-95" strike="noStrike" u="none">
                <a:solidFill>
                  <a:srgbClr val="00FFA8"/>
                </a:solidFill>
                <a:latin typeface="TT Fors"/>
                <a:ea typeface="TT Fors"/>
                <a:cs typeface="TT Fors"/>
                <a:sym typeface="TT Fors"/>
              </a:rPr>
              <a:t>been deve</a:t>
            </a:r>
            <a:r>
              <a:rPr lang="en-US" sz="3199" spc="-95" strike="noStrike" u="none">
                <a:solidFill>
                  <a:srgbClr val="00FFA8"/>
                </a:solidFill>
                <a:latin typeface="TT Fors"/>
                <a:ea typeface="TT Fors"/>
                <a:cs typeface="TT Fors"/>
                <a:sym typeface="TT Fors"/>
              </a:rPr>
              <a:t>l</a:t>
            </a:r>
            <a:r>
              <a:rPr lang="en-US" sz="3199" spc="-95" strike="noStrike" u="none">
                <a:solidFill>
                  <a:srgbClr val="00FFA8"/>
                </a:solidFill>
                <a:latin typeface="TT Fors"/>
                <a:ea typeface="TT Fors"/>
                <a:cs typeface="TT Fors"/>
                <a:sym typeface="TT Fors"/>
              </a:rPr>
              <a:t>oped in good f</a:t>
            </a:r>
            <a:r>
              <a:rPr lang="en-US" sz="3199" spc="-95" strike="noStrike" u="none">
                <a:solidFill>
                  <a:srgbClr val="00FFA8"/>
                </a:solidFill>
                <a:latin typeface="TT Fors"/>
                <a:ea typeface="TT Fors"/>
                <a:cs typeface="TT Fors"/>
                <a:sym typeface="TT Fors"/>
              </a:rPr>
              <a:t>ait</a:t>
            </a:r>
            <a:r>
              <a:rPr lang="en-US" sz="3199" spc="-95" strike="noStrike" u="none">
                <a:solidFill>
                  <a:srgbClr val="00FFA8"/>
                </a:solidFill>
                <a:latin typeface="TT Fors"/>
                <a:ea typeface="TT Fors"/>
                <a:cs typeface="TT Fors"/>
                <a:sym typeface="TT Fors"/>
              </a:rPr>
              <a:t>h, d</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awing from th</a:t>
            </a:r>
            <a:r>
              <a:rPr lang="en-US" sz="3199" spc="-95" strike="noStrike" u="none">
                <a:solidFill>
                  <a:srgbClr val="00FFA8"/>
                </a:solidFill>
                <a:latin typeface="TT Fors"/>
                <a:ea typeface="TT Fors"/>
                <a:cs typeface="TT Fors"/>
                <a:sym typeface="TT Fors"/>
              </a:rPr>
              <a:t>e </a:t>
            </a:r>
            <a:r>
              <a:rPr lang="en-US" sz="3199" spc="-95" strike="noStrike" u="none">
                <a:solidFill>
                  <a:srgbClr val="00FFA8"/>
                </a:solidFill>
                <a:latin typeface="TT Fors"/>
                <a:ea typeface="TT Fors"/>
                <a:cs typeface="TT Fors"/>
                <a:sym typeface="TT Fors"/>
              </a:rPr>
              <a:t>auth</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r’s e</a:t>
            </a:r>
            <a:r>
              <a:rPr lang="en-US" sz="3199" spc="-95" strike="noStrike" u="none">
                <a:solidFill>
                  <a:srgbClr val="00FFA8"/>
                </a:solidFill>
                <a:latin typeface="TT Fors"/>
                <a:ea typeface="TT Fors"/>
                <a:cs typeface="TT Fors"/>
                <a:sym typeface="TT Fors"/>
              </a:rPr>
              <a:t>x</a:t>
            </a:r>
            <a:r>
              <a:rPr lang="en-US" sz="3199" spc="-95" strike="noStrike" u="none">
                <a:solidFill>
                  <a:srgbClr val="00FFA8"/>
                </a:solidFill>
                <a:latin typeface="TT Fors"/>
                <a:ea typeface="TT Fors"/>
                <a:cs typeface="TT Fors"/>
                <a:sym typeface="TT Fors"/>
              </a:rPr>
              <a:t>p</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rience</a:t>
            </a:r>
            <a:r>
              <a:rPr lang="en-US" sz="3199" spc="-95" strike="noStrike" u="none">
                <a:solidFill>
                  <a:srgbClr val="00FFA8"/>
                </a:solidFill>
                <a:latin typeface="TT Fors"/>
                <a:ea typeface="TT Fors"/>
                <a:cs typeface="TT Fors"/>
                <a:sym typeface="TT Fors"/>
              </a:rPr>
              <a:t> and </a:t>
            </a:r>
            <a:r>
              <a:rPr lang="en-US" sz="3199" spc="-95" strike="noStrike" u="none">
                <a:solidFill>
                  <a:srgbClr val="00FFA8"/>
                </a:solidFill>
                <a:latin typeface="TT Fors"/>
                <a:ea typeface="TT Fors"/>
                <a:cs typeface="TT Fors"/>
                <a:sym typeface="TT Fors"/>
              </a:rPr>
              <a:t>repu</a:t>
            </a:r>
            <a:r>
              <a:rPr lang="en-US" sz="3199" spc="-95" strike="noStrike" u="none">
                <a:solidFill>
                  <a:srgbClr val="00FFA8"/>
                </a:solidFill>
                <a:latin typeface="TT Fors"/>
                <a:ea typeface="TT Fors"/>
                <a:cs typeface="TT Fors"/>
                <a:sym typeface="TT Fors"/>
              </a:rPr>
              <a:t>table so</a:t>
            </a:r>
            <a:r>
              <a:rPr lang="en-US" sz="3199" spc="-95" strike="noStrike" u="none">
                <a:solidFill>
                  <a:srgbClr val="00FFA8"/>
                </a:solidFill>
                <a:latin typeface="TT Fors"/>
                <a:ea typeface="TT Fors"/>
                <a:cs typeface="TT Fors"/>
                <a:sym typeface="TT Fors"/>
              </a:rPr>
              <a:t>urce</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 Wh</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le every </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ffo</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t h</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s been made </a:t>
            </a:r>
            <a:r>
              <a:rPr lang="en-US" sz="3199" spc="-95" strike="noStrike" u="none">
                <a:solidFill>
                  <a:srgbClr val="00FFA8"/>
                </a:solidFill>
                <a:latin typeface="TT Fors"/>
                <a:ea typeface="TT Fors"/>
                <a:cs typeface="TT Fors"/>
                <a:sym typeface="TT Fors"/>
              </a:rPr>
              <a:t>to</a:t>
            </a:r>
            <a:r>
              <a:rPr lang="en-US" sz="3199" spc="-95" strike="noStrike" u="none">
                <a:solidFill>
                  <a:srgbClr val="00FFA8"/>
                </a:solidFill>
                <a:latin typeface="TT Fors"/>
                <a:ea typeface="TT Fors"/>
                <a:cs typeface="TT Fors"/>
                <a:sym typeface="TT Fors"/>
              </a:rPr>
              <a:t> e</a:t>
            </a:r>
            <a:r>
              <a:rPr lang="en-US" sz="3199" spc="-95" strike="noStrike" u="none">
                <a:solidFill>
                  <a:srgbClr val="00FFA8"/>
                </a:solidFill>
                <a:latin typeface="TT Fors"/>
                <a:ea typeface="TT Fors"/>
                <a:cs typeface="TT Fors"/>
                <a:sym typeface="TT Fors"/>
              </a:rPr>
              <a:t>ns</a:t>
            </a:r>
            <a:r>
              <a:rPr lang="en-US" sz="3199" spc="-95" strike="noStrike" u="none">
                <a:solidFill>
                  <a:srgbClr val="00FFA8"/>
                </a:solidFill>
                <a:latin typeface="TT Fors"/>
                <a:ea typeface="TT Fors"/>
                <a:cs typeface="TT Fors"/>
                <a:sym typeface="TT Fors"/>
              </a:rPr>
              <a:t>ure accuracy,</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the</a:t>
            </a:r>
            <a:r>
              <a:rPr lang="en-US" sz="3199" spc="-95" strike="noStrike" u="none">
                <a:solidFill>
                  <a:srgbClr val="00FFA8"/>
                </a:solidFill>
                <a:latin typeface="TT Fors"/>
                <a:ea typeface="TT Fors"/>
                <a:cs typeface="TT Fors"/>
                <a:sym typeface="TT Fors"/>
              </a:rPr>
              <a:t> a</a:t>
            </a:r>
            <a:r>
              <a:rPr lang="en-US" sz="3199" spc="-95" strike="noStrike" u="none">
                <a:solidFill>
                  <a:srgbClr val="00FFA8"/>
                </a:solidFill>
                <a:latin typeface="TT Fors"/>
                <a:ea typeface="TT Fors"/>
                <a:cs typeface="TT Fors"/>
                <a:sym typeface="TT Fors"/>
              </a:rPr>
              <a:t>uthor</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d</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es</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no</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 guarante</a:t>
            </a:r>
            <a:r>
              <a:rPr lang="en-US" sz="3199" spc="-95" strike="noStrike" u="none">
                <a:solidFill>
                  <a:srgbClr val="00FFA8"/>
                </a:solidFill>
                <a:latin typeface="TT Fors"/>
                <a:ea typeface="TT Fors"/>
                <a:cs typeface="TT Fors"/>
                <a:sym typeface="TT Fors"/>
              </a:rPr>
              <a:t>e </a:t>
            </a:r>
            <a:r>
              <a:rPr lang="en-US" sz="3199" spc="-95" strike="noStrike" u="none">
                <a:solidFill>
                  <a:srgbClr val="00FFA8"/>
                </a:solidFill>
                <a:latin typeface="TT Fors"/>
                <a:ea typeface="TT Fors"/>
                <a:cs typeface="TT Fors"/>
                <a:sym typeface="TT Fors"/>
              </a:rPr>
              <a:t>abso</a:t>
            </a:r>
            <a:r>
              <a:rPr lang="en-US" sz="3199" spc="-95" strike="noStrike" u="none">
                <a:solidFill>
                  <a:srgbClr val="00FFA8"/>
                </a:solidFill>
                <a:latin typeface="TT Fors"/>
                <a:ea typeface="TT Fors"/>
                <a:cs typeface="TT Fors"/>
                <a:sym typeface="TT Fors"/>
              </a:rPr>
              <a:t>l</a:t>
            </a:r>
            <a:r>
              <a:rPr lang="en-US" sz="3199" spc="-95" strike="noStrike" u="none">
                <a:solidFill>
                  <a:srgbClr val="00FFA8"/>
                </a:solidFill>
                <a:latin typeface="TT Fors"/>
                <a:ea typeface="TT Fors"/>
                <a:cs typeface="TT Fors"/>
                <a:sym typeface="TT Fors"/>
              </a:rPr>
              <a:t>ute correctness. Students </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re e</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courage</a:t>
            </a:r>
            <a:r>
              <a:rPr lang="en-US" sz="3199" spc="-95" strike="noStrike" u="none">
                <a:solidFill>
                  <a:srgbClr val="00FFA8"/>
                </a:solidFill>
                <a:latin typeface="TT Fors"/>
                <a:ea typeface="TT Fors"/>
                <a:cs typeface="TT Fors"/>
                <a:sym typeface="TT Fors"/>
              </a:rPr>
              <a:t>d</a:t>
            </a:r>
            <a:r>
              <a:rPr lang="en-US" sz="3199" spc="-95" strike="noStrike" u="none">
                <a:solidFill>
                  <a:srgbClr val="00FFA8"/>
                </a:solidFill>
                <a:latin typeface="TT Fors"/>
                <a:ea typeface="TT Fors"/>
                <a:cs typeface="TT Fors"/>
                <a:sym typeface="TT Fors"/>
              </a:rPr>
              <a:t> to ex</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c</a:t>
            </a:r>
            <a:r>
              <a:rPr lang="en-US" sz="3199" spc="-95" strike="noStrike" u="none">
                <a:solidFill>
                  <a:srgbClr val="00FFA8"/>
                </a:solidFill>
                <a:latin typeface="TT Fors"/>
                <a:ea typeface="TT Fors"/>
                <a:cs typeface="TT Fors"/>
                <a:sym typeface="TT Fors"/>
              </a:rPr>
              <a:t>is</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 discretio</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 and</a:t>
            </a:r>
            <a:r>
              <a:rPr lang="en-US" sz="3199" spc="-95" strike="noStrike" u="none">
                <a:solidFill>
                  <a:srgbClr val="00FFA8"/>
                </a:solidFill>
                <a:latin typeface="TT Fors"/>
                <a:ea typeface="TT Fors"/>
                <a:cs typeface="TT Fors"/>
                <a:sym typeface="TT Fors"/>
              </a:rPr>
              <a:t> actively engage </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 dis</a:t>
            </a:r>
            <a:r>
              <a:rPr lang="en-US" sz="3199" spc="-95" strike="noStrike" u="none">
                <a:solidFill>
                  <a:srgbClr val="00FFA8"/>
                </a:solidFill>
                <a:latin typeface="TT Fors"/>
                <a:ea typeface="TT Fors"/>
                <a:cs typeface="TT Fors"/>
                <a:sym typeface="TT Fors"/>
              </a:rPr>
              <a:t>c</a:t>
            </a:r>
            <a:r>
              <a:rPr lang="en-US" sz="3199" spc="-95" strike="noStrike" u="none">
                <a:solidFill>
                  <a:srgbClr val="00FFA8"/>
                </a:solidFill>
                <a:latin typeface="TT Fors"/>
                <a:ea typeface="TT Fors"/>
                <a:cs typeface="TT Fors"/>
                <a:sym typeface="TT Fors"/>
              </a:rPr>
              <a:t>uss</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ns </a:t>
            </a:r>
            <a:r>
              <a:rPr lang="en-US" sz="3199" spc="-95" strike="noStrike" u="none">
                <a:solidFill>
                  <a:srgbClr val="00FFA8"/>
                </a:solidFill>
                <a:latin typeface="TT Fors"/>
                <a:ea typeface="TT Fors"/>
                <a:cs typeface="TT Fors"/>
                <a:sym typeface="TT Fors"/>
              </a:rPr>
              <a:t>by r</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isi</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g</a:t>
            </a:r>
            <a:r>
              <a:rPr lang="en-US" sz="3199" spc="-95" strike="noStrike" u="none">
                <a:solidFill>
                  <a:srgbClr val="00FFA8"/>
                </a:solidFill>
                <a:latin typeface="TT Fors"/>
                <a:ea typeface="TT Fors"/>
                <a:cs typeface="TT Fors"/>
                <a:sym typeface="TT Fors"/>
              </a:rPr>
              <a:t> a</a:t>
            </a:r>
            <a:r>
              <a:rPr lang="en-US" sz="3199" spc="-95" strike="noStrike" u="none">
                <a:solidFill>
                  <a:srgbClr val="00FFA8"/>
                </a:solidFill>
                <a:latin typeface="TT Fors"/>
                <a:ea typeface="TT Fors"/>
                <a:cs typeface="TT Fors"/>
                <a:sym typeface="TT Fors"/>
              </a:rPr>
              <a:t>ny que</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tions or conc</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rns</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d</a:t>
            </a:r>
            <a:r>
              <a:rPr lang="en-US" sz="3199" spc="-95" strike="noStrike" u="none">
                <a:solidFill>
                  <a:srgbClr val="00FFA8"/>
                </a:solidFill>
                <a:latin typeface="TT Fors"/>
                <a:ea typeface="TT Fors"/>
                <a:cs typeface="TT Fors"/>
                <a:sym typeface="TT Fors"/>
              </a:rPr>
              <a:t>u</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ng th</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 cour</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e.</a:t>
            </a:r>
          </a:p>
        </p:txBody>
      </p:sp>
      <p:sp>
        <p:nvSpPr>
          <p:cNvPr name="TextBox 3" id="3"/>
          <p:cNvSpPr txBox="true"/>
          <p:nvPr/>
        </p:nvSpPr>
        <p:spPr>
          <a:xfrm rot="0">
            <a:off x="666750" y="657225"/>
            <a:ext cx="11201400" cy="923925"/>
          </a:xfrm>
          <a:prstGeom prst="rect">
            <a:avLst/>
          </a:prstGeom>
        </p:spPr>
        <p:txBody>
          <a:bodyPr anchor="t" rtlCol="false" tIns="0" lIns="0" bIns="0" rIns="0">
            <a:spAutoFit/>
          </a:bodyPr>
          <a:lstStyle/>
          <a:p>
            <a:pPr algn="l" marL="0" indent="0" lvl="0">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DISC</a:t>
            </a:r>
            <a:r>
              <a:rPr lang="en-US" sz="6000" spc="-179" strike="noStrike" u="none">
                <a:solidFill>
                  <a:srgbClr val="00FFA8"/>
                </a:solidFill>
                <a:latin typeface="ITC Avant Garde Gothic"/>
                <a:ea typeface="ITC Avant Garde Gothic"/>
                <a:cs typeface="ITC Avant Garde Gothic"/>
                <a:sym typeface="ITC Avant Garde Gothic"/>
              </a:rPr>
              <a:t>L</a:t>
            </a:r>
            <a:r>
              <a:rPr lang="en-US" sz="6000" spc="-179" strike="noStrike" u="none">
                <a:solidFill>
                  <a:srgbClr val="00FFA8"/>
                </a:solidFill>
                <a:latin typeface="ITC Avant Garde Gothic"/>
                <a:ea typeface="ITC Avant Garde Gothic"/>
                <a:cs typeface="ITC Avant Garde Gothic"/>
                <a:sym typeface="ITC Avant Garde Gothic"/>
              </a:rPr>
              <a:t>AIMER</a:t>
            </a:r>
          </a:p>
        </p:txBody>
      </p:sp>
      <p:grpSp>
        <p:nvGrpSpPr>
          <p:cNvPr name="Group 4" id="4"/>
          <p:cNvGrpSpPr/>
          <p:nvPr/>
        </p:nvGrpSpPr>
        <p:grpSpPr>
          <a:xfrm rot="0">
            <a:off x="16115522" y="751544"/>
            <a:ext cx="1505728" cy="810556"/>
            <a:chOff x="0" y="0"/>
            <a:chExt cx="2007638" cy="1080741"/>
          </a:xfrm>
        </p:grpSpPr>
        <p:grpSp>
          <p:nvGrpSpPr>
            <p:cNvPr name="Group 5" id="5"/>
            <p:cNvGrpSpPr/>
            <p:nvPr/>
          </p:nvGrpSpPr>
          <p:grpSpPr>
            <a:xfrm rot="0">
              <a:off x="0" y="0"/>
              <a:ext cx="1080741" cy="108074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8" id="8"/>
            <p:cNvGrpSpPr/>
            <p:nvPr/>
          </p:nvGrpSpPr>
          <p:grpSpPr>
            <a:xfrm rot="0">
              <a:off x="926897" y="0"/>
              <a:ext cx="1080741" cy="108074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1" id="11"/>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374154" y="3009900"/>
            <a:ext cx="17106900" cy="4764405"/>
          </a:xfrm>
          <a:prstGeom prst="rect">
            <a:avLst/>
          </a:prstGeom>
        </p:spPr>
        <p:txBody>
          <a:bodyPr anchor="t" rtlCol="false" tIns="0" lIns="0" bIns="0" rIns="0">
            <a:spAutoFit/>
          </a:bodyPr>
          <a:lstStyle/>
          <a:p>
            <a:pPr algn="l" marL="690879" indent="-345439" lvl="1">
              <a:lnSpc>
                <a:spcPts val="4799"/>
              </a:lnSpc>
              <a:buFont typeface="Arial"/>
              <a:buChar char="•"/>
            </a:pPr>
            <a:r>
              <a:rPr lang="en-US" sz="3199" spc="-95">
                <a:solidFill>
                  <a:srgbClr val="00FFA8"/>
                </a:solidFill>
                <a:latin typeface="TT Fors"/>
                <a:ea typeface="TT Fors"/>
                <a:cs typeface="TT Fors"/>
                <a:sym typeface="TT Fors"/>
              </a:rPr>
              <a:t>Understand enumeration as an active information-gathering phase</a:t>
            </a:r>
          </a:p>
          <a:p>
            <a:pPr algn="l" marL="690879" indent="-345439" lvl="1">
              <a:lnSpc>
                <a:spcPts val="4799"/>
              </a:lnSpc>
              <a:buFont typeface="Arial"/>
              <a:buChar char="•"/>
            </a:pPr>
            <a:r>
              <a:rPr lang="en-US" sz="3199" spc="-95">
                <a:solidFill>
                  <a:srgbClr val="00FFA8"/>
                </a:solidFill>
                <a:latin typeface="TT Fors"/>
                <a:ea typeface="TT Fors"/>
                <a:cs typeface="TT Fors"/>
                <a:sym typeface="TT Fors"/>
              </a:rPr>
              <a:t>Extract detailed information from target systems using various enumeration techniques</a:t>
            </a:r>
          </a:p>
          <a:p>
            <a:pPr algn="l" marL="690879" indent="-345439" lvl="1">
              <a:lnSpc>
                <a:spcPts val="4799"/>
              </a:lnSpc>
              <a:buFont typeface="Arial"/>
              <a:buChar char="•"/>
            </a:pPr>
            <a:r>
              <a:rPr lang="en-US" sz="3199" spc="-95">
                <a:solidFill>
                  <a:srgbClr val="00FFA8"/>
                </a:solidFill>
                <a:latin typeface="TT Fors"/>
                <a:ea typeface="TT Fors"/>
                <a:cs typeface="TT Fors"/>
                <a:sym typeface="TT Fors"/>
              </a:rPr>
              <a:t>Distinguish between scanning and enumeration techniques</a:t>
            </a:r>
          </a:p>
          <a:p>
            <a:pPr algn="l" marL="690879" indent="-345439" lvl="1">
              <a:lnSpc>
                <a:spcPts val="4799"/>
              </a:lnSpc>
              <a:buFont typeface="Arial"/>
              <a:buChar char="•"/>
            </a:pPr>
            <a:r>
              <a:rPr lang="en-US" sz="3199" spc="-95">
                <a:solidFill>
                  <a:srgbClr val="00FFA8"/>
                </a:solidFill>
                <a:latin typeface="TT Fors"/>
                <a:ea typeface="TT Fors"/>
                <a:cs typeface="TT Fors"/>
                <a:sym typeface="TT Fors"/>
              </a:rPr>
              <a:t>Enumerate different operating systems (Windows, Linux, NetWare) and identify their network services</a:t>
            </a:r>
          </a:p>
          <a:p>
            <a:pPr algn="l" marL="690879" indent="-345439" lvl="1">
              <a:lnSpc>
                <a:spcPts val="4799"/>
              </a:lnSpc>
              <a:buFont typeface="Arial"/>
              <a:buChar char="•"/>
            </a:pPr>
            <a:r>
              <a:rPr lang="en-US" sz="3199" spc="-95">
                <a:solidFill>
                  <a:srgbClr val="00FFA8"/>
                </a:solidFill>
                <a:latin typeface="TT Fors"/>
                <a:ea typeface="TT Fors"/>
                <a:cs typeface="TT Fors"/>
                <a:sym typeface="TT Fors"/>
              </a:rPr>
              <a:t>Exploit NULL sessions and NetBIOS vulnerabilities</a:t>
            </a:r>
          </a:p>
          <a:p>
            <a:pPr algn="l" marL="690879" indent="-345439" lvl="1">
              <a:lnSpc>
                <a:spcPts val="4799"/>
              </a:lnSpc>
              <a:buFont typeface="Arial"/>
              <a:buChar char="•"/>
            </a:pPr>
            <a:r>
              <a:rPr lang="en-US" sz="3199" spc="-95" strike="noStrike" u="none">
                <a:solidFill>
                  <a:srgbClr val="00FFA8"/>
                </a:solidFill>
                <a:latin typeface="TT Fors"/>
                <a:ea typeface="TT Fors"/>
                <a:cs typeface="TT Fors"/>
                <a:sym typeface="TT Fors"/>
              </a:rPr>
              <a:t>Identify security misconfigurations that could lead to unauthorized access</a:t>
            </a:r>
          </a:p>
          <a:p>
            <a:pPr algn="l" marL="690879" indent="-345439" lvl="1">
              <a:lnSpc>
                <a:spcPts val="4799"/>
              </a:lnSpc>
              <a:buFont typeface="Arial"/>
              <a:buChar char="•"/>
            </a:pPr>
            <a:r>
              <a:rPr lang="en-US" sz="3199" spc="-95" strike="noStrike" u="none">
                <a:solidFill>
                  <a:srgbClr val="00FFA8"/>
                </a:solidFill>
                <a:latin typeface="TT Fors"/>
                <a:ea typeface="TT Fors"/>
                <a:cs typeface="TT Fors"/>
                <a:sym typeface="TT Fors"/>
              </a:rPr>
              <a:t>Apply enumeration tools effectively in authorized penetration testing scenarios</a:t>
            </a:r>
          </a:p>
        </p:txBody>
      </p:sp>
      <p:sp>
        <p:nvSpPr>
          <p:cNvPr name="TextBox 3" id="3"/>
          <p:cNvSpPr txBox="true"/>
          <p:nvPr/>
        </p:nvSpPr>
        <p:spPr>
          <a:xfrm rot="0">
            <a:off x="666750" y="657225"/>
            <a:ext cx="11201400" cy="923925"/>
          </a:xfrm>
          <a:prstGeom prst="rect">
            <a:avLst/>
          </a:prstGeom>
        </p:spPr>
        <p:txBody>
          <a:bodyPr anchor="t" rtlCol="false" tIns="0" lIns="0" bIns="0" rIns="0">
            <a:spAutoFit/>
          </a:bodyPr>
          <a:lstStyle/>
          <a:p>
            <a:pPr algn="l" marL="0" indent="0" lvl="0">
              <a:lnSpc>
                <a:spcPts val="6000"/>
              </a:lnSpc>
              <a:spcBef>
                <a:spcPct val="0"/>
              </a:spcBef>
            </a:pPr>
            <a:r>
              <a:rPr lang="en-US" sz="6000" spc="-179" strike="noStrike" u="none">
                <a:solidFill>
                  <a:srgbClr val="00FFA8"/>
                </a:solidFill>
                <a:latin typeface="ITC Avant Garde Gothic"/>
                <a:ea typeface="ITC Avant Garde Gothic"/>
                <a:cs typeface="ITC Avant Garde Gothic"/>
                <a:sym typeface="ITC Avant Garde Gothic"/>
              </a:rPr>
              <a:t>Learning Objectives</a:t>
            </a:r>
          </a:p>
        </p:txBody>
      </p:sp>
      <p:sp>
        <p:nvSpPr>
          <p:cNvPr name="TextBox 4" id="4"/>
          <p:cNvSpPr txBox="true"/>
          <p:nvPr/>
        </p:nvSpPr>
        <p:spPr>
          <a:xfrm rot="0">
            <a:off x="666750" y="2095500"/>
            <a:ext cx="12983782" cy="485775"/>
          </a:xfrm>
          <a:prstGeom prst="rect">
            <a:avLst/>
          </a:prstGeom>
        </p:spPr>
        <p:txBody>
          <a:bodyPr anchor="t" rtlCol="false" tIns="0" lIns="0" bIns="0" rIns="0">
            <a:spAutoFit/>
          </a:bodyPr>
          <a:lstStyle/>
          <a:p>
            <a:pPr algn="l" marL="0" indent="0" lvl="0">
              <a:lnSpc>
                <a:spcPts val="3839"/>
              </a:lnSpc>
              <a:spcBef>
                <a:spcPct val="0"/>
              </a:spcBef>
            </a:pPr>
            <a:r>
              <a:rPr lang="en-US" b="true" sz="3199" spc="-95">
                <a:solidFill>
                  <a:srgbClr val="00FFA8"/>
                </a:solidFill>
                <a:latin typeface="TT Fors Bold"/>
                <a:ea typeface="TT Fors Bold"/>
                <a:cs typeface="TT Fors Bold"/>
                <a:sym typeface="TT Fors Bold"/>
              </a:rPr>
              <a:t>What</a:t>
            </a:r>
            <a:r>
              <a:rPr lang="en-US" b="true" sz="3199" spc="-95" strike="noStrike" u="none">
                <a:solidFill>
                  <a:srgbClr val="00FFA8"/>
                </a:solidFill>
                <a:latin typeface="TT Fors Bold"/>
                <a:ea typeface="TT Fors Bold"/>
                <a:cs typeface="TT Fors Bold"/>
                <a:sym typeface="TT Fors Bold"/>
              </a:rPr>
              <a:t> </a:t>
            </a:r>
            <a:r>
              <a:rPr lang="en-US" b="true" sz="3199" spc="-95" strike="noStrike" u="none">
                <a:solidFill>
                  <a:srgbClr val="00FFA8"/>
                </a:solidFill>
                <a:latin typeface="TT Fors Bold"/>
                <a:ea typeface="TT Fors Bold"/>
                <a:cs typeface="TT Fors Bold"/>
                <a:sym typeface="TT Fors Bold"/>
              </a:rPr>
              <a:t>Y</a:t>
            </a:r>
            <a:r>
              <a:rPr lang="en-US" b="true" sz="3199" spc="-95" strike="noStrike" u="none">
                <a:solidFill>
                  <a:srgbClr val="00FFA8"/>
                </a:solidFill>
                <a:latin typeface="TT Fors Bold"/>
                <a:ea typeface="TT Fors Bold"/>
                <a:cs typeface="TT Fors Bold"/>
                <a:sym typeface="TT Fors Bold"/>
              </a:rPr>
              <a:t>ou </a:t>
            </a:r>
            <a:r>
              <a:rPr lang="en-US" b="true" sz="3199" spc="-95" strike="noStrike" u="none">
                <a:solidFill>
                  <a:srgbClr val="00FFA8"/>
                </a:solidFill>
                <a:latin typeface="TT Fors Bold"/>
                <a:ea typeface="TT Fors Bold"/>
                <a:cs typeface="TT Fors Bold"/>
                <a:sym typeface="TT Fors Bold"/>
              </a:rPr>
              <a:t>W</a:t>
            </a:r>
            <a:r>
              <a:rPr lang="en-US" b="true" sz="3199" spc="-95" strike="noStrike" u="none">
                <a:solidFill>
                  <a:srgbClr val="00FFA8"/>
                </a:solidFill>
                <a:latin typeface="TT Fors Bold"/>
                <a:ea typeface="TT Fors Bold"/>
                <a:cs typeface="TT Fors Bold"/>
                <a:sym typeface="TT Fors Bold"/>
              </a:rPr>
              <a:t>i</a:t>
            </a:r>
            <a:r>
              <a:rPr lang="en-US" b="true" sz="3199" spc="-95" strike="noStrike" u="none">
                <a:solidFill>
                  <a:srgbClr val="00FFA8"/>
                </a:solidFill>
                <a:latin typeface="TT Fors Bold"/>
                <a:ea typeface="TT Fors Bold"/>
                <a:cs typeface="TT Fors Bold"/>
                <a:sym typeface="TT Fors Bold"/>
              </a:rPr>
              <a:t>ll</a:t>
            </a:r>
            <a:r>
              <a:rPr lang="en-US" b="true" sz="3199" spc="-95" strike="noStrike" u="none">
                <a:solidFill>
                  <a:srgbClr val="00FFA8"/>
                </a:solidFill>
                <a:latin typeface="TT Fors Bold"/>
                <a:ea typeface="TT Fors Bold"/>
                <a:cs typeface="TT Fors Bold"/>
                <a:sym typeface="TT Fors Bold"/>
              </a:rPr>
              <a:t> </a:t>
            </a:r>
            <a:r>
              <a:rPr lang="en-US" b="true" sz="3199" spc="-95" strike="noStrike" u="none">
                <a:solidFill>
                  <a:srgbClr val="00FFA8"/>
                </a:solidFill>
                <a:latin typeface="TT Fors Bold"/>
                <a:ea typeface="TT Fors Bold"/>
                <a:cs typeface="TT Fors Bold"/>
                <a:sym typeface="TT Fors Bold"/>
              </a:rPr>
              <a:t>L</a:t>
            </a:r>
            <a:r>
              <a:rPr lang="en-US" b="true" sz="3199" spc="-95" strike="noStrike" u="none">
                <a:solidFill>
                  <a:srgbClr val="00FFA8"/>
                </a:solidFill>
                <a:latin typeface="TT Fors Bold"/>
                <a:ea typeface="TT Fors Bold"/>
                <a:cs typeface="TT Fors Bold"/>
                <a:sym typeface="TT Fors Bold"/>
              </a:rPr>
              <a:t>ea</a:t>
            </a:r>
            <a:r>
              <a:rPr lang="en-US" b="true" sz="3199" spc="-95" strike="noStrike" u="none">
                <a:solidFill>
                  <a:srgbClr val="00FFA8"/>
                </a:solidFill>
                <a:latin typeface="TT Fors Bold"/>
                <a:ea typeface="TT Fors Bold"/>
                <a:cs typeface="TT Fors Bold"/>
                <a:sym typeface="TT Fors Bold"/>
              </a:rPr>
              <a:t>r</a:t>
            </a:r>
            <a:r>
              <a:rPr lang="en-US" b="true" sz="3199" spc="-95" strike="noStrike" u="none">
                <a:solidFill>
                  <a:srgbClr val="00FFA8"/>
                </a:solidFill>
                <a:latin typeface="TT Fors Bold"/>
                <a:ea typeface="TT Fors Bold"/>
                <a:cs typeface="TT Fors Bold"/>
                <a:sym typeface="TT Fors Bold"/>
              </a:rPr>
              <a:t>n?</a:t>
            </a:r>
          </a:p>
        </p:txBody>
      </p:sp>
      <p:grpSp>
        <p:nvGrpSpPr>
          <p:cNvPr name="Group 5" id="5"/>
          <p:cNvGrpSpPr/>
          <p:nvPr/>
        </p:nvGrpSpPr>
        <p:grpSpPr>
          <a:xfrm rot="0">
            <a:off x="16115522" y="751544"/>
            <a:ext cx="1505728" cy="810556"/>
            <a:chOff x="0" y="0"/>
            <a:chExt cx="2007638" cy="1080741"/>
          </a:xfrm>
        </p:grpSpPr>
        <p:grpSp>
          <p:nvGrpSpPr>
            <p:cNvPr name="Group 6" id="6"/>
            <p:cNvGrpSpPr/>
            <p:nvPr/>
          </p:nvGrpSpPr>
          <p:grpSpPr>
            <a:xfrm rot="0">
              <a:off x="0"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9" id="9"/>
            <p:cNvGrpSpPr/>
            <p:nvPr/>
          </p:nvGrpSpPr>
          <p:grpSpPr>
            <a:xfrm rot="0">
              <a:off x="926897" y="0"/>
              <a:ext cx="1080741" cy="108074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2" id="12"/>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INTRODUCTION TO ENUMERATION</a:t>
            </a:r>
          </a:p>
        </p:txBody>
      </p:sp>
      <p:sp>
        <p:nvSpPr>
          <p:cNvPr name="TextBox 3" id="3"/>
          <p:cNvSpPr txBox="true"/>
          <p:nvPr/>
        </p:nvSpPr>
        <p:spPr>
          <a:xfrm rot="0">
            <a:off x="9562238" y="2713406"/>
            <a:ext cx="7871285" cy="3038475"/>
          </a:xfrm>
          <a:prstGeom prst="rect">
            <a:avLst/>
          </a:prstGeom>
        </p:spPr>
        <p:txBody>
          <a:bodyPr anchor="t" rtlCol="false" tIns="0" lIns="0" bIns="0" rIns="0">
            <a:spAutoFit/>
          </a:bodyPr>
          <a:lstStyle/>
          <a:p>
            <a:pPr algn="l">
              <a:lnSpc>
                <a:spcPts val="3000"/>
              </a:lnSpc>
            </a:pPr>
            <a:r>
              <a:rPr lang="en-US" b="true" sz="2000" spc="-60">
                <a:solidFill>
                  <a:srgbClr val="00FFA8"/>
                </a:solidFill>
                <a:latin typeface="TT Fors Bold"/>
                <a:ea typeface="TT Fors Bold"/>
                <a:cs typeface="TT Fors Bold"/>
                <a:sym typeface="TT Fors Bold"/>
              </a:rPr>
              <a:t>Information </a:t>
            </a:r>
            <a:r>
              <a:rPr lang="en-US" b="true" sz="2000" spc="-60" strike="noStrike" u="none">
                <a:solidFill>
                  <a:srgbClr val="00FFA8"/>
                </a:solidFill>
                <a:latin typeface="TT Fors Bold"/>
                <a:ea typeface="TT Fors Bold"/>
                <a:cs typeface="TT Fors Bold"/>
                <a:sym typeface="TT Fors Bold"/>
              </a:rPr>
              <a:t>extracted through enumeration includes: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System and OS info (names, versions, patch level, drivers, NetBIOS)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User accounts and group memberships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Shared resources (folders, printers, files) and their permissions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Running services and processes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Network configuration (routes, DNS, gateways)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Secu</a:t>
            </a:r>
            <a:r>
              <a:rPr lang="en-US" sz="2000" spc="-60" strike="noStrike" u="none">
                <a:solidFill>
                  <a:srgbClr val="00FFA8"/>
                </a:solidFill>
                <a:latin typeface="TT Fors"/>
                <a:ea typeface="TT Fors"/>
                <a:cs typeface="TT Fors"/>
                <a:sym typeface="TT Fors"/>
              </a:rPr>
              <a:t>rity controls (firewall rules, antivirus)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NULL session vulnerabilities (if present)</a:t>
            </a:r>
          </a:p>
        </p:txBody>
      </p:sp>
      <p:sp>
        <p:nvSpPr>
          <p:cNvPr name="TextBox 4" id="4"/>
          <p:cNvSpPr txBox="true"/>
          <p:nvPr/>
        </p:nvSpPr>
        <p:spPr>
          <a:xfrm rot="0">
            <a:off x="9562238" y="6018581"/>
            <a:ext cx="7871285" cy="401955"/>
          </a:xfrm>
          <a:prstGeom prst="rect">
            <a:avLst/>
          </a:prstGeom>
        </p:spPr>
        <p:txBody>
          <a:bodyPr anchor="t" rtlCol="false" tIns="0" lIns="0" bIns="0" rIns="0">
            <a:spAutoFit/>
          </a:bodyPr>
          <a:lstStyle/>
          <a:p>
            <a:pPr algn="l">
              <a:lnSpc>
                <a:spcPts val="3300"/>
              </a:lnSpc>
            </a:pPr>
            <a:r>
              <a:rPr lang="en-US" b="true" sz="2200" spc="-66">
                <a:solidFill>
                  <a:srgbClr val="00FFA8"/>
                </a:solidFill>
                <a:latin typeface="TT Fors Bold"/>
                <a:ea typeface="TT Fors Bold"/>
                <a:cs typeface="TT Fors Bold"/>
                <a:sym typeface="TT Fors Bold"/>
              </a:rPr>
              <a:t>Scanning vs Enumeration:</a:t>
            </a:r>
          </a:p>
        </p:txBody>
      </p:sp>
      <p:sp>
        <p:nvSpPr>
          <p:cNvPr name="TextBox 5" id="5"/>
          <p:cNvSpPr txBox="true"/>
          <p:nvPr/>
        </p:nvSpPr>
        <p:spPr>
          <a:xfrm rot="0">
            <a:off x="666750" y="6018581"/>
            <a:ext cx="10632661" cy="2657475"/>
          </a:xfrm>
          <a:prstGeom prst="rect">
            <a:avLst/>
          </a:prstGeom>
        </p:spPr>
        <p:txBody>
          <a:bodyPr anchor="t" rtlCol="false" tIns="0" lIns="0" bIns="0" rIns="0">
            <a:spAutoFit/>
          </a:bodyPr>
          <a:lstStyle/>
          <a:p>
            <a:pPr algn="l">
              <a:lnSpc>
                <a:spcPts val="3000"/>
              </a:lnSpc>
            </a:pPr>
            <a:r>
              <a:rPr lang="en-US" sz="2000" spc="-60">
                <a:solidFill>
                  <a:srgbClr val="00FFA8"/>
                </a:solidFill>
                <a:latin typeface="TT Fors"/>
                <a:ea typeface="TT Fors"/>
                <a:cs typeface="TT Fors"/>
                <a:sym typeface="TT Fors"/>
              </a:rPr>
              <a:t>T</a:t>
            </a:r>
            <a:r>
              <a:rPr lang="en-US" b="true" sz="2000" spc="-60">
                <a:solidFill>
                  <a:srgbClr val="00FFA8"/>
                </a:solidFill>
                <a:latin typeface="TT Fors Bold"/>
                <a:ea typeface="TT Fors Bold"/>
                <a:cs typeface="TT Fors Bold"/>
                <a:sym typeface="TT Fors Bold"/>
              </a:rPr>
              <a:t>he R</a:t>
            </a:r>
            <a:r>
              <a:rPr lang="en-US" b="true" sz="2000" spc="-60" strike="noStrike" u="none">
                <a:solidFill>
                  <a:srgbClr val="00FFA8"/>
                </a:solidFill>
                <a:latin typeface="TT Fors Bold"/>
                <a:ea typeface="TT Fors Bold"/>
                <a:cs typeface="TT Fors Bold"/>
                <a:sym typeface="TT Fors Bold"/>
              </a:rPr>
              <a:t>econnaissance Process</a:t>
            </a:r>
          </a:p>
          <a:p>
            <a:pPr algn="l">
              <a:lnSpc>
                <a:spcPts val="3000"/>
              </a:lnSpc>
            </a:pPr>
            <a:r>
              <a:rPr lang="en-US" sz="2000" spc="-60" strike="noStrike" u="none">
                <a:solidFill>
                  <a:srgbClr val="00FFA8"/>
                </a:solidFill>
                <a:latin typeface="TT Fors"/>
                <a:ea typeface="TT Fors"/>
                <a:cs typeface="TT Fors"/>
                <a:sym typeface="TT Fors"/>
              </a:rPr>
              <a:t>Port scanning</a:t>
            </a:r>
            <a:r>
              <a:rPr lang="en-US" b="true" sz="2000" spc="-60" strike="noStrike" u="none">
                <a:solidFill>
                  <a:srgbClr val="00FFA8"/>
                </a:solidFill>
                <a:latin typeface="TT Fors Bold"/>
                <a:ea typeface="TT Fors Bold"/>
                <a:cs typeface="TT Fors Bold"/>
                <a:sym typeface="TT Fors Bold"/>
              </a:rPr>
              <a:t> </a:t>
            </a:r>
            <a:r>
              <a:rPr lang="en-US" sz="2000" spc="-60" strike="noStrike" u="none">
                <a:solidFill>
                  <a:srgbClr val="00FFA8"/>
                </a:solidFill>
                <a:latin typeface="TT Fors"/>
                <a:ea typeface="TT Fors"/>
                <a:cs typeface="TT Fors"/>
                <a:sym typeface="TT Fors"/>
              </a:rPr>
              <a:t>is </a:t>
            </a:r>
            <a:r>
              <a:rPr lang="en-US" b="true" sz="2000" spc="-60" strike="noStrike" u="none">
                <a:solidFill>
                  <a:srgbClr val="00FFA8"/>
                </a:solidFill>
                <a:latin typeface="TT Fors Bold"/>
                <a:ea typeface="TT Fors Bold"/>
                <a:cs typeface="TT Fors Bold"/>
                <a:sym typeface="TT Fors Bold"/>
              </a:rPr>
              <a:t>Step 4</a:t>
            </a:r>
            <a:r>
              <a:rPr lang="en-US" sz="2000" spc="-60" strike="noStrike" u="none">
                <a:solidFill>
                  <a:srgbClr val="00FFA8"/>
                </a:solidFill>
                <a:latin typeface="TT Fors"/>
                <a:ea typeface="TT Fors"/>
                <a:cs typeface="TT Fors"/>
                <a:sym typeface="TT Fors"/>
              </a:rPr>
              <a:t> in the hacking process:</a:t>
            </a:r>
          </a:p>
          <a:p>
            <a:pPr algn="l">
              <a:lnSpc>
                <a:spcPts val="3000"/>
              </a:lnSpc>
            </a:pPr>
            <a:r>
              <a:rPr lang="en-US" sz="2000" spc="-60" strike="noStrike" u="none">
                <a:solidFill>
                  <a:srgbClr val="00FFA8"/>
                </a:solidFill>
                <a:latin typeface="TT Fors"/>
                <a:ea typeface="TT Fors"/>
                <a:cs typeface="TT Fors"/>
                <a:sym typeface="TT Fors"/>
              </a:rPr>
              <a:t>Step 1: Footprinting → "Who is the target?"</a:t>
            </a:r>
          </a:p>
          <a:p>
            <a:pPr algn="l">
              <a:lnSpc>
                <a:spcPts val="3000"/>
              </a:lnSpc>
            </a:pPr>
            <a:r>
              <a:rPr lang="en-US" sz="2000" spc="-60" strike="noStrike" u="none">
                <a:solidFill>
                  <a:srgbClr val="00FFA8"/>
                </a:solidFill>
                <a:latin typeface="TT Fors"/>
                <a:ea typeface="TT Fors"/>
                <a:cs typeface="TT Fors"/>
                <a:sym typeface="TT Fors"/>
              </a:rPr>
              <a:t>Step 2: Reconnaissance → "What domains do they own?"</a:t>
            </a:r>
          </a:p>
          <a:p>
            <a:pPr algn="l">
              <a:lnSpc>
                <a:spcPts val="3000"/>
              </a:lnSpc>
            </a:pPr>
            <a:r>
              <a:rPr lang="en-US" sz="2000" spc="-60" strike="noStrike" u="none">
                <a:solidFill>
                  <a:srgbClr val="00FFA8"/>
                </a:solidFill>
                <a:latin typeface="TT Fors"/>
                <a:ea typeface="TT Fors"/>
                <a:cs typeface="TT Fors"/>
                <a:sym typeface="TT Fors"/>
              </a:rPr>
              <a:t>Step 3: </a:t>
            </a:r>
            <a:r>
              <a:rPr lang="en-US" sz="2000" spc="-60" strike="noStrike" u="none">
                <a:solidFill>
                  <a:srgbClr val="00FFA8"/>
                </a:solidFill>
                <a:latin typeface="TT Fors"/>
                <a:ea typeface="TT Fors"/>
                <a:cs typeface="TT Fors"/>
                <a:sym typeface="TT Fors"/>
              </a:rPr>
              <a:t>P</a:t>
            </a:r>
            <a:r>
              <a:rPr lang="en-US" sz="2000" spc="-60" strike="noStrike" u="none">
                <a:solidFill>
                  <a:srgbClr val="00FFA8"/>
                </a:solidFill>
                <a:latin typeface="TT Fors"/>
                <a:ea typeface="TT Fors"/>
                <a:cs typeface="TT Fors"/>
                <a:sym typeface="TT Fors"/>
              </a:rPr>
              <a:t>ort Scanning → "What services are running?"</a:t>
            </a:r>
          </a:p>
          <a:p>
            <a:pPr algn="l">
              <a:lnSpc>
                <a:spcPts val="3000"/>
              </a:lnSpc>
            </a:pPr>
            <a:r>
              <a:rPr lang="en-US" b="true" sz="2000" spc="-60" strike="noStrike" u="none">
                <a:solidFill>
                  <a:srgbClr val="00FFA8"/>
                </a:solidFill>
                <a:latin typeface="TT Fors Bold"/>
                <a:ea typeface="TT Fors Bold"/>
                <a:cs typeface="TT Fors Bold"/>
                <a:sym typeface="TT Fors Bold"/>
              </a:rPr>
              <a:t>Step 4: Enumeration → "What versions? What users?" ← WE ARE HERE</a:t>
            </a:r>
          </a:p>
          <a:p>
            <a:pPr algn="l">
              <a:lnSpc>
                <a:spcPts val="3000"/>
              </a:lnSpc>
            </a:pPr>
            <a:r>
              <a:rPr lang="en-US" sz="2000" spc="-60" strike="noStrike" u="none">
                <a:solidFill>
                  <a:srgbClr val="00FFA8"/>
                </a:solidFill>
                <a:latin typeface="TT Fors"/>
                <a:ea typeface="TT Fors"/>
                <a:cs typeface="TT Fors"/>
                <a:sym typeface="TT Fors"/>
              </a:rPr>
              <a:t>Step 5: Exploitation → "Attack the vulnerable service"</a:t>
            </a:r>
          </a:p>
        </p:txBody>
      </p:sp>
      <p:sp>
        <p:nvSpPr>
          <p:cNvPr name="TextBox 6" id="6"/>
          <p:cNvSpPr txBox="true"/>
          <p:nvPr/>
        </p:nvSpPr>
        <p:spPr>
          <a:xfrm rot="0">
            <a:off x="666750" y="1894256"/>
            <a:ext cx="16954500" cy="390525"/>
          </a:xfrm>
          <a:prstGeom prst="rect">
            <a:avLst/>
          </a:prstGeom>
        </p:spPr>
        <p:txBody>
          <a:bodyPr anchor="t" rtlCol="false" tIns="0" lIns="0" bIns="0" rIns="0">
            <a:spAutoFit/>
          </a:bodyPr>
          <a:lstStyle/>
          <a:p>
            <a:pPr algn="l" marL="0" indent="0" lvl="0">
              <a:lnSpc>
                <a:spcPts val="3120"/>
              </a:lnSpc>
              <a:spcBef>
                <a:spcPct val="0"/>
              </a:spcBef>
            </a:pPr>
            <a:r>
              <a:rPr lang="en-US" b="true" sz="2600" spc="-78">
                <a:solidFill>
                  <a:srgbClr val="FFFFFF"/>
                </a:solidFill>
                <a:latin typeface="TT Fors Bold"/>
                <a:ea typeface="TT Fors Bold"/>
                <a:cs typeface="TT Fors Bold"/>
                <a:sym typeface="TT Fors Bold"/>
              </a:rPr>
              <a:t>Enumeration</a:t>
            </a:r>
            <a:r>
              <a:rPr lang="en-US" sz="2600" spc="-78">
                <a:solidFill>
                  <a:srgbClr val="FFFFFF"/>
                </a:solidFill>
                <a:latin typeface="TT Fors"/>
                <a:ea typeface="TT Fors"/>
                <a:cs typeface="TT Fors"/>
                <a:sym typeface="TT Fors"/>
              </a:rPr>
              <a:t> is the process of extracting detailed information from target systems on a network.</a:t>
            </a:r>
          </a:p>
        </p:txBody>
      </p:sp>
      <p:sp>
        <p:nvSpPr>
          <p:cNvPr name="TextBox 7" id="7"/>
          <p:cNvSpPr txBox="true"/>
          <p:nvPr/>
        </p:nvSpPr>
        <p:spPr>
          <a:xfrm rot="0">
            <a:off x="666750" y="1322070"/>
            <a:ext cx="8306267" cy="493395"/>
          </a:xfrm>
          <a:prstGeom prst="rect">
            <a:avLst/>
          </a:prstGeom>
        </p:spPr>
        <p:txBody>
          <a:bodyPr anchor="t" rtlCol="false" tIns="0" lIns="0" bIns="0" rIns="0">
            <a:spAutoFit/>
          </a:bodyPr>
          <a:lstStyle/>
          <a:p>
            <a:pPr algn="l">
              <a:lnSpc>
                <a:spcPts val="4199"/>
              </a:lnSpc>
            </a:pPr>
            <a:r>
              <a:rPr lang="en-US" b="true" sz="2799" spc="-83">
                <a:solidFill>
                  <a:srgbClr val="00FFA8"/>
                </a:solidFill>
                <a:latin typeface="TT Fors Bold"/>
                <a:ea typeface="TT Fors Bold"/>
                <a:cs typeface="TT Fors Bold"/>
                <a:sym typeface="TT Fors Bold"/>
              </a:rPr>
              <a:t>What is Enumeration</a:t>
            </a:r>
            <a:r>
              <a:rPr lang="en-US" b="true" sz="2799" spc="-83" strike="noStrike" u="none">
                <a:solidFill>
                  <a:srgbClr val="00FFA8"/>
                </a:solidFill>
                <a:latin typeface="TT Fors Bold"/>
                <a:ea typeface="TT Fors Bold"/>
                <a:cs typeface="TT Fors Bold"/>
                <a:sym typeface="TT Fors Bold"/>
              </a:rPr>
              <a:t>?</a:t>
            </a:r>
          </a:p>
        </p:txBody>
      </p:sp>
      <p:graphicFrame>
        <p:nvGraphicFramePr>
          <p:cNvPr name="Table 8" id="8"/>
          <p:cNvGraphicFramePr>
            <a:graphicFrameLocks noGrp="true"/>
          </p:cNvGraphicFramePr>
          <p:nvPr/>
        </p:nvGraphicFramePr>
        <p:xfrm>
          <a:off x="9562238" y="6591986"/>
          <a:ext cx="7871285" cy="1885950"/>
        </p:xfrm>
        <a:graphic>
          <a:graphicData uri="http://schemas.openxmlformats.org/drawingml/2006/table">
            <a:tbl>
              <a:tblPr/>
              <a:tblGrid>
                <a:gridCol w="1607433"/>
                <a:gridCol w="2933952"/>
                <a:gridCol w="3329900"/>
              </a:tblGrid>
              <a:tr h="628650">
                <a:tc>
                  <a:txBody>
                    <a:bodyPr anchor="t" rtlCol="false"/>
                    <a:lstStyle/>
                    <a:p>
                      <a:pPr algn="just">
                        <a:lnSpc>
                          <a:spcPts val="2520"/>
                        </a:lnSpc>
                        <a:defRPr/>
                      </a:pPr>
                      <a:r>
                        <a:rPr lang="en-US" b="true" sz="1800">
                          <a:solidFill>
                            <a:srgbClr val="000000"/>
                          </a:solidFill>
                          <a:latin typeface="Canva Sans Bold"/>
                          <a:ea typeface="Canva Sans Bold"/>
                          <a:cs typeface="Canva Sans Bold"/>
                          <a:sym typeface="Canva Sans Bold"/>
                        </a:rPr>
                        <a:t>Aspect</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solidFill>
                      <a:srgbClr val="1FBB7F"/>
                    </a:solidFill>
                  </a:tcPr>
                </a:tc>
                <a:tc>
                  <a:txBody>
                    <a:bodyPr anchor="t" rtlCol="false"/>
                    <a:lstStyle/>
                    <a:p>
                      <a:pPr algn="l">
                        <a:lnSpc>
                          <a:spcPts val="2520"/>
                        </a:lnSpc>
                        <a:defRPr/>
                      </a:pPr>
                      <a:r>
                        <a:rPr lang="en-US" b="true" sz="1800">
                          <a:solidFill>
                            <a:srgbClr val="000000"/>
                          </a:solidFill>
                          <a:latin typeface="Canva Sans Bold"/>
                          <a:ea typeface="Canva Sans Bold"/>
                          <a:cs typeface="Canva Sans Bold"/>
                          <a:sym typeface="Canva Sans Bold"/>
                        </a:rPr>
                        <a:t>Scanning</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solidFill>
                      <a:srgbClr val="1FBB7F"/>
                    </a:solidFill>
                  </a:tcPr>
                </a:tc>
                <a:tc>
                  <a:txBody>
                    <a:bodyPr anchor="t" rtlCol="false"/>
                    <a:lstStyle/>
                    <a:p>
                      <a:pPr algn="l">
                        <a:lnSpc>
                          <a:spcPts val="2520"/>
                        </a:lnSpc>
                        <a:defRPr/>
                      </a:pPr>
                      <a:r>
                        <a:rPr lang="en-US" b="true" sz="1800">
                          <a:solidFill>
                            <a:srgbClr val="000000"/>
                          </a:solidFill>
                          <a:latin typeface="Canva Sans Bold"/>
                          <a:ea typeface="Canva Sans Bold"/>
                          <a:cs typeface="Canva Sans Bold"/>
                          <a:sym typeface="Canva Sans Bold"/>
                        </a:rPr>
                        <a:t>Enumeration</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solidFill>
                      <a:srgbClr val="1FBB7F"/>
                    </a:solidFill>
                  </a:tcPr>
                </a:tc>
              </a:tr>
              <a:tr h="628650">
                <a:tc>
                  <a:txBody>
                    <a:bodyPr anchor="t" rtlCol="false"/>
                    <a:lstStyle/>
                    <a:p>
                      <a:pPr algn="just">
                        <a:lnSpc>
                          <a:spcPts val="2520"/>
                        </a:lnSpc>
                        <a:defRPr/>
                      </a:pPr>
                      <a:r>
                        <a:rPr lang="en-US" b="true" sz="1800">
                          <a:solidFill>
                            <a:srgbClr val="FFFFFF"/>
                          </a:solidFill>
                          <a:latin typeface="Canva Sans Bold"/>
                          <a:ea typeface="Canva Sans Bold"/>
                          <a:cs typeface="Canva Sans Bold"/>
                          <a:sym typeface="Canva Sans Bold"/>
                        </a:rPr>
                        <a:t>Goal</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Canva Sans"/>
                          <a:ea typeface="Canva Sans"/>
                          <a:cs typeface="Canva Sans"/>
                          <a:sym typeface="Canva Sans"/>
                        </a:rPr>
                        <a:t>Find open ports</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Canva Sans"/>
                          <a:ea typeface="Canva Sans"/>
                          <a:cs typeface="Canva Sans"/>
                          <a:sym typeface="Canva Sans"/>
                        </a:rPr>
                        <a:t>Extract service details</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r>
              <a:tr h="628650">
                <a:tc>
                  <a:txBody>
                    <a:bodyPr anchor="t" rtlCol="false"/>
                    <a:lstStyle/>
                    <a:p>
                      <a:pPr algn="just">
                        <a:lnSpc>
                          <a:spcPts val="2520"/>
                        </a:lnSpc>
                        <a:defRPr/>
                      </a:pPr>
                      <a:r>
                        <a:rPr lang="en-US" b="true" sz="1800">
                          <a:solidFill>
                            <a:srgbClr val="FFFFFF"/>
                          </a:solidFill>
                          <a:latin typeface="Canva Sans Bold"/>
                          <a:ea typeface="Canva Sans Bold"/>
                          <a:cs typeface="Canva Sans Bold"/>
                          <a:sym typeface="Canva Sans Bold"/>
                        </a:rPr>
                        <a:t>Scope</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Canva Sans"/>
                          <a:ea typeface="Canva Sans"/>
                          <a:cs typeface="Canva Sans"/>
                          <a:sym typeface="Canva Sans"/>
                        </a:rPr>
                        <a:t>Network-wide</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c>
                  <a:txBody>
                    <a:bodyPr anchor="t" rtlCol="false"/>
                    <a:lstStyle/>
                    <a:p>
                      <a:pPr algn="l">
                        <a:lnSpc>
                          <a:spcPts val="2520"/>
                        </a:lnSpc>
                        <a:defRPr/>
                      </a:pPr>
                      <a:r>
                        <a:rPr lang="en-US" sz="1800">
                          <a:solidFill>
                            <a:srgbClr val="FFFFFF"/>
                          </a:solidFill>
                          <a:latin typeface="Canva Sans"/>
                          <a:ea typeface="Canva Sans"/>
                          <a:cs typeface="Canva Sans"/>
                          <a:sym typeface="Canva Sans"/>
                        </a:rPr>
                        <a:t>Service-specific</a:t>
                      </a:r>
                      <a:endParaRPr lang="en-US" sz="1100"/>
                    </a:p>
                  </a:txBody>
                  <a:tcPr marL="76200" marR="76200" marT="76200" marB="76200" anchor="ctr">
                    <a:lnL cmpd="sng" algn="ctr" cap="flat" w="12668">
                      <a:solidFill>
                        <a:srgbClr val="999999"/>
                      </a:solidFill>
                      <a:prstDash val="solid"/>
                      <a:round/>
                      <a:headEnd type="none" w="med" len="med"/>
                      <a:tailEnd type="none" w="med" len="med"/>
                    </a:lnL>
                    <a:lnR cmpd="sng" algn="ctr" cap="flat" w="12668">
                      <a:solidFill>
                        <a:srgbClr val="999999"/>
                      </a:solidFill>
                      <a:prstDash val="solid"/>
                      <a:round/>
                      <a:headEnd type="none" w="med" len="med"/>
                      <a:tailEnd type="none" w="med" len="med"/>
                    </a:lnR>
                    <a:lnT cmpd="sng" algn="ctr" cap="flat" w="12668">
                      <a:solidFill>
                        <a:srgbClr val="999999"/>
                      </a:solidFill>
                      <a:prstDash val="solid"/>
                      <a:round/>
                      <a:headEnd type="none" w="med" len="med"/>
                      <a:tailEnd type="none" w="med" len="med"/>
                    </a:lnT>
                    <a:lnB cmpd="sng" algn="ctr" cap="flat" w="12668">
                      <a:solidFill>
                        <a:srgbClr val="999999"/>
                      </a:solidFill>
                      <a:prstDash val="solid"/>
                      <a:round/>
                      <a:headEnd type="none" w="med" len="med"/>
                      <a:tailEnd type="none" w="med" len="med"/>
                    </a:lnB>
                  </a:tcPr>
                </a:tc>
              </a:tr>
            </a:tbl>
          </a:graphicData>
        </a:graphic>
      </p:graphicFrame>
      <p:sp>
        <p:nvSpPr>
          <p:cNvPr name="TextBox 9" id="9"/>
          <p:cNvSpPr txBox="true"/>
          <p:nvPr/>
        </p:nvSpPr>
        <p:spPr>
          <a:xfrm rot="0">
            <a:off x="666750" y="2713406"/>
            <a:ext cx="8407458" cy="2916555"/>
          </a:xfrm>
          <a:prstGeom prst="rect">
            <a:avLst/>
          </a:prstGeom>
        </p:spPr>
        <p:txBody>
          <a:bodyPr anchor="t" rtlCol="false" tIns="0" lIns="0" bIns="0" rIns="0">
            <a:spAutoFit/>
          </a:bodyPr>
          <a:lstStyle/>
          <a:p>
            <a:pPr algn="l">
              <a:lnSpc>
                <a:spcPts val="3300"/>
              </a:lnSpc>
            </a:pPr>
            <a:r>
              <a:rPr lang="en-US" b="true" sz="2200" spc="-66">
                <a:solidFill>
                  <a:srgbClr val="00FFA8"/>
                </a:solidFill>
                <a:latin typeface="TT Fors Bold"/>
                <a:ea typeface="TT Fors Bold"/>
                <a:cs typeface="TT Fors Bold"/>
                <a:sym typeface="TT Fors Bold"/>
              </a:rPr>
              <a:t>K</a:t>
            </a:r>
            <a:r>
              <a:rPr lang="en-US" b="true" sz="2200" spc="-66" strike="noStrike" u="none">
                <a:solidFill>
                  <a:srgbClr val="00FFA8"/>
                </a:solidFill>
                <a:latin typeface="TT Fors Bold"/>
                <a:ea typeface="TT Fors Bold"/>
                <a:cs typeface="TT Fors Bold"/>
                <a:sym typeface="TT Fors Bold"/>
              </a:rPr>
              <a:t>ey Characteristics:</a:t>
            </a:r>
          </a:p>
          <a:p>
            <a:pPr algn="l" marL="474981" indent="-237491" lvl="1">
              <a:lnSpc>
                <a:spcPts val="3300"/>
              </a:lnSpc>
              <a:buFont typeface="Arial"/>
              <a:buChar char="•"/>
            </a:pPr>
            <a:r>
              <a:rPr lang="en-US" sz="2200" spc="-66" strike="noStrike" u="none">
                <a:solidFill>
                  <a:srgbClr val="00FFA8"/>
                </a:solidFill>
                <a:latin typeface="TT Fors"/>
                <a:ea typeface="TT Fors"/>
                <a:cs typeface="TT Fors"/>
                <a:sym typeface="TT Fors"/>
              </a:rPr>
              <a:t>Ac</a:t>
            </a:r>
            <a:r>
              <a:rPr lang="en-US" sz="2200" spc="-66" strike="noStrike" u="none">
                <a:solidFill>
                  <a:srgbClr val="00FFA8"/>
                </a:solidFill>
                <a:latin typeface="TT Fors"/>
                <a:ea typeface="TT Fors"/>
                <a:cs typeface="TT Fors"/>
                <a:sym typeface="TT Fors"/>
              </a:rPr>
              <a:t>tive probing - sends traffic to targets and receives responses</a:t>
            </a:r>
          </a:p>
          <a:p>
            <a:pPr algn="l" marL="474981" indent="-237491" lvl="1">
              <a:lnSpc>
                <a:spcPts val="3300"/>
              </a:lnSpc>
              <a:buFont typeface="Arial"/>
              <a:buChar char="•"/>
            </a:pPr>
            <a:r>
              <a:rPr lang="en-US" sz="2200" spc="-66" strike="noStrike" u="none">
                <a:solidFill>
                  <a:srgbClr val="00FFA8"/>
                </a:solidFill>
                <a:latin typeface="TT Fors"/>
                <a:ea typeface="TT Fors"/>
                <a:cs typeface="TT Fors"/>
                <a:sym typeface="TT Fors"/>
              </a:rPr>
              <a:t>Targeted information gathering - focuses on specific services and accounts</a:t>
            </a:r>
          </a:p>
          <a:p>
            <a:pPr algn="l" marL="474981" indent="-237491" lvl="1">
              <a:lnSpc>
                <a:spcPts val="3300"/>
              </a:lnSpc>
              <a:buFont typeface="Arial"/>
              <a:buChar char="•"/>
            </a:pPr>
            <a:r>
              <a:rPr lang="en-US" sz="2200" spc="-66" strike="noStrike" u="none">
                <a:solidFill>
                  <a:srgbClr val="00FFA8"/>
                </a:solidFill>
                <a:latin typeface="TT Fors"/>
                <a:ea typeface="TT Fors"/>
                <a:cs typeface="TT Fors"/>
                <a:sym typeface="TT Fors"/>
              </a:rPr>
              <a:t>Can be detected by s</a:t>
            </a:r>
            <a:r>
              <a:rPr lang="en-US" sz="2200" spc="-66" strike="noStrike" u="none">
                <a:solidFill>
                  <a:srgbClr val="00FFA8"/>
                </a:solidFill>
                <a:latin typeface="TT Fors"/>
                <a:ea typeface="TT Fors"/>
                <a:cs typeface="TT Fors"/>
                <a:sym typeface="TT Fors"/>
              </a:rPr>
              <a:t>ecu</a:t>
            </a:r>
            <a:r>
              <a:rPr lang="en-US" sz="2200" spc="-66" strike="noStrike" u="none">
                <a:solidFill>
                  <a:srgbClr val="00FFA8"/>
                </a:solidFill>
                <a:latin typeface="TT Fors"/>
                <a:ea typeface="TT Fors"/>
                <a:cs typeface="TT Fors"/>
                <a:sym typeface="TT Fors"/>
              </a:rPr>
              <a:t>rity monitoring systems</a:t>
            </a:r>
          </a:p>
          <a:p>
            <a:pPr algn="l" marL="474981" indent="-237491" lvl="1">
              <a:lnSpc>
                <a:spcPts val="3300"/>
              </a:lnSpc>
              <a:buFont typeface="Arial"/>
              <a:buChar char="•"/>
            </a:pPr>
            <a:r>
              <a:rPr lang="en-US" sz="2200" spc="-66" strike="noStrike" u="none">
                <a:solidFill>
                  <a:srgbClr val="00FFA8"/>
                </a:solidFill>
                <a:latin typeface="TT Fors"/>
                <a:ea typeface="TT Fors"/>
                <a:cs typeface="TT Fors"/>
                <a:sym typeface="TT Fors"/>
              </a:rPr>
              <a:t>More intrusive than reconnaissance but less obvious than vulnerability scanning</a:t>
            </a:r>
          </a:p>
        </p:txBody>
      </p:sp>
      <p:grpSp>
        <p:nvGrpSpPr>
          <p:cNvPr name="Group 10" id="10"/>
          <p:cNvGrpSpPr/>
          <p:nvPr/>
        </p:nvGrpSpPr>
        <p:grpSpPr>
          <a:xfrm rot="0">
            <a:off x="16115522" y="751544"/>
            <a:ext cx="1505728" cy="810556"/>
            <a:chOff x="0" y="0"/>
            <a:chExt cx="2007638" cy="1080741"/>
          </a:xfrm>
        </p:grpSpPr>
        <p:grpSp>
          <p:nvGrpSpPr>
            <p:cNvPr name="Group 11" id="11"/>
            <p:cNvGrpSpPr/>
            <p:nvPr/>
          </p:nvGrpSpPr>
          <p:grpSpPr>
            <a:xfrm rot="0">
              <a:off x="0" y="0"/>
              <a:ext cx="1080741" cy="108074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14" id="14"/>
            <p:cNvGrpSpPr/>
            <p:nvPr/>
          </p:nvGrpSpPr>
          <p:grpSpPr>
            <a:xfrm rot="0">
              <a:off x="926897" y="0"/>
              <a:ext cx="1080741" cy="108074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7" id="17"/>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Enumeration of Different Operating Systems (OS)</a:t>
            </a:r>
          </a:p>
        </p:txBody>
      </p:sp>
      <p:sp>
        <p:nvSpPr>
          <p:cNvPr name="TextBox 3" id="3"/>
          <p:cNvSpPr txBox="true"/>
          <p:nvPr/>
        </p:nvSpPr>
        <p:spPr>
          <a:xfrm rot="0">
            <a:off x="666750" y="1322070"/>
            <a:ext cx="8306267" cy="493395"/>
          </a:xfrm>
          <a:prstGeom prst="rect">
            <a:avLst/>
          </a:prstGeom>
        </p:spPr>
        <p:txBody>
          <a:bodyPr anchor="t" rtlCol="false" tIns="0" lIns="0" bIns="0" rIns="0">
            <a:spAutoFit/>
          </a:bodyPr>
          <a:lstStyle/>
          <a:p>
            <a:pPr algn="l">
              <a:lnSpc>
                <a:spcPts val="4199"/>
              </a:lnSpc>
            </a:pPr>
            <a:r>
              <a:rPr lang="en-US" b="true" sz="2799" spc="-83">
                <a:solidFill>
                  <a:srgbClr val="00FFA8"/>
                </a:solidFill>
                <a:latin typeface="TT Fors Bold"/>
                <a:ea typeface="TT Fors Bold"/>
                <a:cs typeface="TT Fors Bold"/>
                <a:sym typeface="TT Fors Bold"/>
              </a:rPr>
              <a:t>Windows OS Enumeration</a:t>
            </a:r>
          </a:p>
        </p:txBody>
      </p:sp>
      <p:sp>
        <p:nvSpPr>
          <p:cNvPr name="TextBox 4" id="4"/>
          <p:cNvSpPr txBox="true"/>
          <p:nvPr/>
        </p:nvSpPr>
        <p:spPr>
          <a:xfrm rot="0">
            <a:off x="666750" y="2109166"/>
            <a:ext cx="16592550" cy="5461635"/>
          </a:xfrm>
          <a:prstGeom prst="rect">
            <a:avLst/>
          </a:prstGeom>
        </p:spPr>
        <p:txBody>
          <a:bodyPr anchor="t" rtlCol="false" tIns="0" lIns="0" bIns="0" rIns="0">
            <a:spAutoFit/>
          </a:bodyPr>
          <a:lstStyle/>
          <a:p>
            <a:pPr algn="l">
              <a:lnSpc>
                <a:spcPts val="3600"/>
              </a:lnSpc>
            </a:pPr>
            <a:r>
              <a:rPr lang="en-US" b="true" sz="2400" spc="-72">
                <a:solidFill>
                  <a:srgbClr val="00FFA8"/>
                </a:solidFill>
                <a:latin typeface="TT Fors Bold"/>
                <a:ea typeface="TT Fors Bold"/>
                <a:cs typeface="TT Fors Bold"/>
                <a:sym typeface="TT Fors Bold"/>
              </a:rPr>
              <a:t>Common Windows Se</a:t>
            </a:r>
            <a:r>
              <a:rPr lang="en-US" b="true" sz="2400" spc="-72" strike="noStrike" u="none">
                <a:solidFill>
                  <a:srgbClr val="00FFA8"/>
                </a:solidFill>
                <a:latin typeface="TT Fors Bold"/>
                <a:ea typeface="TT Fors Bold"/>
                <a:cs typeface="TT Fors Bold"/>
                <a:sym typeface="TT Fors Bold"/>
              </a:rPr>
              <a:t>rvices and Protocols:</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NetBIOS (Port 139): </a:t>
            </a:r>
            <a:r>
              <a:rPr lang="en-US" sz="2400" spc="-72" strike="noStrike" u="none">
                <a:solidFill>
                  <a:srgbClr val="00FFA8"/>
                </a:solidFill>
                <a:latin typeface="TT Fors"/>
                <a:ea typeface="TT Fors"/>
                <a:cs typeface="TT Fors"/>
                <a:sym typeface="TT Fors"/>
              </a:rPr>
              <a:t>Legacy name resolution service. Allows discovery of Windows computers on the local network.</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SMB/CIFS (Port 445): </a:t>
            </a:r>
            <a:r>
              <a:rPr lang="en-US" sz="2400" spc="-72" strike="noStrike" u="none">
                <a:solidFill>
                  <a:srgbClr val="00FFA8"/>
                </a:solidFill>
                <a:latin typeface="TT Fors"/>
                <a:ea typeface="TT Fors"/>
                <a:cs typeface="TT Fors"/>
                <a:sym typeface="TT Fors"/>
              </a:rPr>
              <a:t>File sharing and printer sharing protocol. Contains valuable information about shares and users.</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RPC</a:t>
            </a:r>
            <a:r>
              <a:rPr lang="en-US" b="true" sz="2400" spc="-72" strike="noStrike" u="none">
                <a:solidFill>
                  <a:srgbClr val="00FFA8"/>
                </a:solidFill>
                <a:latin typeface="TT Fors Bold"/>
                <a:ea typeface="TT Fors Bold"/>
                <a:cs typeface="TT Fors Bold"/>
                <a:sym typeface="TT Fors Bold"/>
              </a:rPr>
              <a:t> (Port 135): Remote Procedure Call</a:t>
            </a:r>
            <a:r>
              <a:rPr lang="en-US" sz="2400" spc="-72" strike="noStrike" u="none">
                <a:solidFill>
                  <a:srgbClr val="00FFA8"/>
                </a:solidFill>
                <a:latin typeface="TT Fors"/>
                <a:ea typeface="TT Fors"/>
                <a:cs typeface="TT Fors"/>
                <a:sym typeface="TT Fors"/>
              </a:rPr>
              <a:t>. Used for remote management and service queries.</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L</a:t>
            </a:r>
            <a:r>
              <a:rPr lang="en-US" b="true" sz="2400" spc="-72" strike="noStrike" u="none">
                <a:solidFill>
                  <a:srgbClr val="00FFA8"/>
                </a:solidFill>
                <a:latin typeface="TT Fors Bold"/>
                <a:ea typeface="TT Fors Bold"/>
                <a:cs typeface="TT Fors Bold"/>
                <a:sym typeface="TT Fors Bold"/>
              </a:rPr>
              <a:t>DAP (Port 389):</a:t>
            </a:r>
            <a:r>
              <a:rPr lang="en-US" sz="2400" spc="-72" strike="noStrike" u="none">
                <a:solidFill>
                  <a:srgbClr val="00FFA8"/>
                </a:solidFill>
                <a:latin typeface="TT Fors"/>
                <a:ea typeface="TT Fors"/>
                <a:cs typeface="TT Fors"/>
                <a:sym typeface="TT Fors"/>
              </a:rPr>
              <a:t> </a:t>
            </a:r>
            <a:r>
              <a:rPr lang="en-US" b="true" sz="2400" spc="-72" strike="noStrike" u="none">
                <a:solidFill>
                  <a:srgbClr val="00FFA8"/>
                </a:solidFill>
                <a:latin typeface="TT Fors Bold"/>
                <a:ea typeface="TT Fors Bold"/>
                <a:cs typeface="TT Fors Bold"/>
                <a:sym typeface="TT Fors Bold"/>
              </a:rPr>
              <a:t>Lightweight Directory Access Protocol</a:t>
            </a:r>
            <a:r>
              <a:rPr lang="en-US" sz="2400" spc="-72" strike="noStrike" u="none">
                <a:solidFill>
                  <a:srgbClr val="00FFA8"/>
                </a:solidFill>
                <a:latin typeface="TT Fors"/>
                <a:ea typeface="TT Fors"/>
                <a:cs typeface="TT Fors"/>
                <a:sym typeface="TT Fors"/>
              </a:rPr>
              <a:t>. Queries Active Directory for users and groups.</a:t>
            </a:r>
          </a:p>
          <a:p>
            <a:pPr algn="l">
              <a:lnSpc>
                <a:spcPts val="3600"/>
              </a:lnSpc>
            </a:pPr>
          </a:p>
          <a:p>
            <a:pPr algn="l">
              <a:lnSpc>
                <a:spcPts val="3600"/>
              </a:lnSpc>
            </a:pPr>
            <a:r>
              <a:rPr lang="en-US" b="true" sz="2400" spc="-72" strike="noStrike" u="none">
                <a:solidFill>
                  <a:srgbClr val="00FFA8"/>
                </a:solidFill>
                <a:latin typeface="TT Fors Bold"/>
                <a:ea typeface="TT Fors Bold"/>
                <a:cs typeface="TT Fors Bold"/>
                <a:sym typeface="TT Fors Bold"/>
              </a:rPr>
              <a:t>Why Command-Line Tools?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Faster than GUI navigation in penetration testing scenarios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Can be automated and scripted</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Often available even on restricted systems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Can be executed remotely</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Output can be piped and filtered for specific information</a:t>
            </a:r>
          </a:p>
        </p:txBody>
      </p:sp>
      <p:grpSp>
        <p:nvGrpSpPr>
          <p:cNvPr name="Group 5" id="5"/>
          <p:cNvGrpSpPr/>
          <p:nvPr/>
        </p:nvGrpSpPr>
        <p:grpSpPr>
          <a:xfrm rot="0">
            <a:off x="16115522" y="751544"/>
            <a:ext cx="1505728" cy="810556"/>
            <a:chOff x="0" y="0"/>
            <a:chExt cx="2007638" cy="1080741"/>
          </a:xfrm>
        </p:grpSpPr>
        <p:grpSp>
          <p:nvGrpSpPr>
            <p:cNvPr name="Group 6" id="6"/>
            <p:cNvGrpSpPr/>
            <p:nvPr/>
          </p:nvGrpSpPr>
          <p:grpSpPr>
            <a:xfrm rot="0">
              <a:off x="0"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9" id="9"/>
            <p:cNvGrpSpPr/>
            <p:nvPr/>
          </p:nvGrpSpPr>
          <p:grpSpPr>
            <a:xfrm rot="0">
              <a:off x="926897" y="0"/>
              <a:ext cx="1080741" cy="108074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2" id="12"/>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Enumeration of Different Operating Systems (Cont’d)</a:t>
            </a:r>
          </a:p>
        </p:txBody>
      </p:sp>
      <p:sp>
        <p:nvSpPr>
          <p:cNvPr name="TextBox 3" id="3"/>
          <p:cNvSpPr txBox="true"/>
          <p:nvPr/>
        </p:nvSpPr>
        <p:spPr>
          <a:xfrm rot="0">
            <a:off x="666750" y="1322070"/>
            <a:ext cx="8306267" cy="493395"/>
          </a:xfrm>
          <a:prstGeom prst="rect">
            <a:avLst/>
          </a:prstGeom>
        </p:spPr>
        <p:txBody>
          <a:bodyPr anchor="t" rtlCol="false" tIns="0" lIns="0" bIns="0" rIns="0">
            <a:spAutoFit/>
          </a:bodyPr>
          <a:lstStyle/>
          <a:p>
            <a:pPr algn="l">
              <a:lnSpc>
                <a:spcPts val="4199"/>
              </a:lnSpc>
            </a:pPr>
            <a:r>
              <a:rPr lang="en-US" b="true" sz="2799" spc="-83">
                <a:solidFill>
                  <a:srgbClr val="00FFA8"/>
                </a:solidFill>
                <a:latin typeface="TT Fors Bold"/>
                <a:ea typeface="TT Fors Bold"/>
                <a:cs typeface="TT Fors Bold"/>
                <a:sym typeface="TT Fors Bold"/>
              </a:rPr>
              <a:t>Windows Version and Patch Information</a:t>
            </a:r>
          </a:p>
        </p:txBody>
      </p:sp>
      <p:sp>
        <p:nvSpPr>
          <p:cNvPr name="TextBox 4" id="4"/>
          <p:cNvSpPr txBox="true"/>
          <p:nvPr/>
        </p:nvSpPr>
        <p:spPr>
          <a:xfrm rot="0">
            <a:off x="666750" y="2551481"/>
            <a:ext cx="17223942" cy="7290435"/>
          </a:xfrm>
          <a:prstGeom prst="rect">
            <a:avLst/>
          </a:prstGeom>
        </p:spPr>
        <p:txBody>
          <a:bodyPr anchor="t" rtlCol="false" tIns="0" lIns="0" bIns="0" rIns="0">
            <a:spAutoFit/>
          </a:bodyPr>
          <a:lstStyle/>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Windows 95/98/ME: </a:t>
            </a:r>
            <a:r>
              <a:rPr lang="en-US" sz="2400" spc="-72" strike="noStrike" u="none">
                <a:solidFill>
                  <a:srgbClr val="00FFA8"/>
                </a:solidFill>
                <a:latin typeface="TT Fors"/>
                <a:ea typeface="TT Fors"/>
                <a:cs typeface="TT Fors"/>
                <a:sym typeface="TT Fors"/>
              </a:rPr>
              <a:t>No native security, DOS-based, no real user separation</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Windows NT: </a:t>
            </a:r>
            <a:r>
              <a:rPr lang="en-US" sz="2400" spc="-72" strike="noStrike" u="none">
                <a:solidFill>
                  <a:srgbClr val="00FFA8"/>
                </a:solidFill>
                <a:latin typeface="TT Fors"/>
                <a:ea typeface="TT Fors"/>
                <a:cs typeface="TT Fors"/>
                <a:sym typeface="TT Fors"/>
              </a:rPr>
              <a:t>Introduced NTFS (New Technology File System) permissions, domains, and basic user authentication</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Windows 2000: </a:t>
            </a:r>
            <a:r>
              <a:rPr lang="en-US" sz="2400" spc="-72" strike="noStrike" u="none">
                <a:solidFill>
                  <a:srgbClr val="00FFA8"/>
                </a:solidFill>
                <a:latin typeface="TT Fors"/>
                <a:ea typeface="TT Fors"/>
                <a:cs typeface="TT Fors"/>
                <a:sym typeface="TT Fors"/>
              </a:rPr>
              <a:t>Added Active Directory, Kerberos authentication, and Group Policies</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Windows XP SP2+: </a:t>
            </a:r>
            <a:r>
              <a:rPr lang="en-US" sz="2400" spc="-72" strike="noStrike" u="none">
                <a:solidFill>
                  <a:srgbClr val="00FFA8"/>
                </a:solidFill>
                <a:latin typeface="TT Fors"/>
                <a:ea typeface="TT Fors"/>
                <a:cs typeface="TT Fors"/>
                <a:sym typeface="TT Fors"/>
              </a:rPr>
              <a:t>Built-in Firewall enabled by default, DEP (Data Execution Prevention), early UAC (User Access Control) concepts, Security Center</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Windows Vista/7+: </a:t>
            </a:r>
            <a:r>
              <a:rPr lang="en-US" sz="2400" spc="-72" strike="noStrike" u="none">
                <a:solidFill>
                  <a:srgbClr val="00FFA8"/>
                </a:solidFill>
                <a:latin typeface="TT Fors"/>
                <a:ea typeface="TT Fors"/>
                <a:cs typeface="TT Fors"/>
                <a:sym typeface="TT Fors"/>
              </a:rPr>
              <a:t>UAC fully implemented, ASLR (Address Space Layout Randomization), BitLocker full-disk encryption, Secure Boot groundwork</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Windows 10: </a:t>
            </a:r>
            <a:r>
              <a:rPr lang="en-US" sz="2400" spc="-72" strike="noStrike" u="none">
                <a:solidFill>
                  <a:srgbClr val="00FFA8"/>
                </a:solidFill>
                <a:latin typeface="TT Fors"/>
                <a:ea typeface="TT Fors"/>
                <a:cs typeface="TT Fors"/>
                <a:sym typeface="TT Fors"/>
              </a:rPr>
              <a:t>Device Guard, Credential Guard, Windows Hello biometric login, improved Defender ATP (Advanced Threat Protection), sandboxing improvements</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Windows 11 (Modern Security): </a:t>
            </a:r>
            <a:r>
              <a:rPr lang="en-US" sz="2400" spc="-72" strike="noStrike" u="none">
                <a:solidFill>
                  <a:srgbClr val="00FFA8"/>
                </a:solidFill>
                <a:latin typeface="TT Fors"/>
                <a:ea typeface="TT Fors"/>
                <a:cs typeface="TT Fors"/>
                <a:sym typeface="TT Fors"/>
              </a:rPr>
              <a:t>Trusted Platform Module (TPM) 2.0 requirement, Secure Boot enforcement, VBS/HVCI default-on, Smart App Control, Pluton chip support, enhanced Windows Hello, improved ransomware protection</a:t>
            </a:r>
          </a:p>
          <a:p>
            <a:pPr algn="l">
              <a:lnSpc>
                <a:spcPts val="3600"/>
              </a:lnSpc>
            </a:pPr>
          </a:p>
          <a:p>
            <a:pPr algn="l">
              <a:lnSpc>
                <a:spcPts val="3600"/>
              </a:lnSpc>
            </a:pPr>
            <a:r>
              <a:rPr lang="en-US" b="true" sz="2400" spc="-72" strike="noStrike" u="none">
                <a:solidFill>
                  <a:srgbClr val="00FFA8"/>
                </a:solidFill>
                <a:latin typeface="TT Fors Bold"/>
                <a:ea typeface="TT Fors Bold"/>
                <a:cs typeface="TT Fors Bold"/>
                <a:sym typeface="TT Fors Bold"/>
              </a:rPr>
              <a:t>Knowing the version helps identify:</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Available exploits and known vulnerabilities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Security mechanisms likely to be present</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Legacy protocols that might be enabled</a:t>
            </a:r>
          </a:p>
        </p:txBody>
      </p:sp>
      <p:grpSp>
        <p:nvGrpSpPr>
          <p:cNvPr name="Group 5" id="5"/>
          <p:cNvGrpSpPr/>
          <p:nvPr/>
        </p:nvGrpSpPr>
        <p:grpSpPr>
          <a:xfrm rot="0">
            <a:off x="16115522" y="751544"/>
            <a:ext cx="1505728" cy="810556"/>
            <a:chOff x="0" y="0"/>
            <a:chExt cx="2007638" cy="1080741"/>
          </a:xfrm>
        </p:grpSpPr>
        <p:grpSp>
          <p:nvGrpSpPr>
            <p:cNvPr name="Group 6" id="6"/>
            <p:cNvGrpSpPr/>
            <p:nvPr/>
          </p:nvGrpSpPr>
          <p:grpSpPr>
            <a:xfrm rot="0">
              <a:off x="0"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9" id="9"/>
            <p:cNvGrpSpPr/>
            <p:nvPr/>
          </p:nvGrpSpPr>
          <p:grpSpPr>
            <a:xfrm rot="0">
              <a:off x="926897" y="0"/>
              <a:ext cx="1080741" cy="108074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2" id="12"/>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4" id="14"/>
          <p:cNvSpPr txBox="true"/>
          <p:nvPr/>
        </p:nvSpPr>
        <p:spPr>
          <a:xfrm rot="0">
            <a:off x="666750" y="1894256"/>
            <a:ext cx="16954500" cy="390525"/>
          </a:xfrm>
          <a:prstGeom prst="rect">
            <a:avLst/>
          </a:prstGeom>
        </p:spPr>
        <p:txBody>
          <a:bodyPr anchor="t" rtlCol="false" tIns="0" lIns="0" bIns="0" rIns="0">
            <a:spAutoFit/>
          </a:bodyPr>
          <a:lstStyle/>
          <a:p>
            <a:pPr algn="l" marL="0" indent="0" lvl="0">
              <a:lnSpc>
                <a:spcPts val="3120"/>
              </a:lnSpc>
              <a:spcBef>
                <a:spcPct val="0"/>
              </a:spcBef>
            </a:pPr>
            <a:r>
              <a:rPr lang="en-US" b="true" sz="2600" spc="-78">
                <a:solidFill>
                  <a:srgbClr val="FFFFFF"/>
                </a:solidFill>
                <a:latin typeface="TT Fors Bold"/>
                <a:ea typeface="TT Fors Bold"/>
                <a:cs typeface="TT Fors Bold"/>
                <a:sym typeface="TT Fors Bold"/>
              </a:rPr>
              <a:t>Why Version History Matters:</a:t>
            </a:r>
            <a:r>
              <a:rPr lang="en-US" sz="2600" spc="-78">
                <a:solidFill>
                  <a:srgbClr val="FFFFFF"/>
                </a:solidFill>
                <a:latin typeface="TT Fors"/>
                <a:ea typeface="TT Fors"/>
                <a:cs typeface="TT Fors"/>
                <a:sym typeface="TT Fors"/>
              </a:rPr>
              <a:t> </a:t>
            </a:r>
            <a:r>
              <a:rPr lang="en-US" sz="2600" spc="-78">
                <a:solidFill>
                  <a:srgbClr val="FFFFFF"/>
                </a:solidFill>
                <a:latin typeface="TT Fors"/>
                <a:ea typeface="TT Fors"/>
                <a:cs typeface="TT Fors"/>
                <a:sym typeface="TT Fors"/>
              </a:rPr>
              <a:t>Each </a:t>
            </a:r>
            <a:r>
              <a:rPr lang="en-US" sz="2600" spc="-78">
                <a:solidFill>
                  <a:srgbClr val="FFFFFF"/>
                </a:solidFill>
                <a:latin typeface="TT Fors"/>
                <a:ea typeface="TT Fors"/>
                <a:cs typeface="TT Fors"/>
                <a:sym typeface="TT Fors"/>
              </a:rPr>
              <a:t>Windows version introduced new security features: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Enumeration of Different Operating Systems (Cont’d)</a:t>
            </a:r>
          </a:p>
        </p:txBody>
      </p:sp>
      <p:sp>
        <p:nvSpPr>
          <p:cNvPr name="TextBox 3" id="3"/>
          <p:cNvSpPr txBox="true"/>
          <p:nvPr/>
        </p:nvSpPr>
        <p:spPr>
          <a:xfrm rot="0">
            <a:off x="666750" y="1322070"/>
            <a:ext cx="12864612" cy="493395"/>
          </a:xfrm>
          <a:prstGeom prst="rect">
            <a:avLst/>
          </a:prstGeom>
        </p:spPr>
        <p:txBody>
          <a:bodyPr anchor="t" rtlCol="false" tIns="0" lIns="0" bIns="0" rIns="0">
            <a:spAutoFit/>
          </a:bodyPr>
          <a:lstStyle/>
          <a:p>
            <a:pPr algn="l">
              <a:lnSpc>
                <a:spcPts val="4199"/>
              </a:lnSpc>
            </a:pPr>
            <a:r>
              <a:rPr lang="en-US" b="true" sz="2799" spc="-83">
                <a:solidFill>
                  <a:srgbClr val="00FFA8"/>
                </a:solidFill>
                <a:latin typeface="TT Fors Bold"/>
                <a:ea typeface="TT Fors Bold"/>
                <a:cs typeface="TT Fors Bold"/>
                <a:sym typeface="TT Fors Bold"/>
              </a:rPr>
              <a:t>Windows 11: Modern Security, Zero-Trust, and Hardware Enforcement</a:t>
            </a:r>
          </a:p>
        </p:txBody>
      </p:sp>
      <p:sp>
        <p:nvSpPr>
          <p:cNvPr name="TextBox 4" id="4"/>
          <p:cNvSpPr txBox="true"/>
          <p:nvPr/>
        </p:nvSpPr>
        <p:spPr>
          <a:xfrm rot="0">
            <a:off x="676742" y="2551481"/>
            <a:ext cx="8373394" cy="6467475"/>
          </a:xfrm>
          <a:prstGeom prst="rect">
            <a:avLst/>
          </a:prstGeom>
        </p:spPr>
        <p:txBody>
          <a:bodyPr anchor="t" rtlCol="false" tIns="0" lIns="0" bIns="0" rIns="0">
            <a:spAutoFit/>
          </a:bodyPr>
          <a:lstStyle/>
          <a:p>
            <a:pPr algn="l">
              <a:lnSpc>
                <a:spcPts val="3000"/>
              </a:lnSpc>
            </a:pPr>
            <a:r>
              <a:rPr lang="en-US" b="true" sz="2000" spc="-60">
                <a:solidFill>
                  <a:srgbClr val="00FFA8"/>
                </a:solidFill>
                <a:latin typeface="TT Fors Bold"/>
                <a:ea typeface="TT Fors Bold"/>
                <a:cs typeface="TT Fors Bold"/>
                <a:sym typeface="TT Fors Bold"/>
              </a:rPr>
              <a:t>1. </a:t>
            </a:r>
            <a:r>
              <a:rPr lang="en-US" b="true" sz="2000" spc="-60" strike="noStrike" u="none">
                <a:solidFill>
                  <a:srgbClr val="00FFA8"/>
                </a:solidFill>
                <a:latin typeface="TT Fors Bold"/>
                <a:ea typeface="TT Fors Bold"/>
                <a:cs typeface="TT Fors Bold"/>
                <a:sym typeface="TT Fors Bold"/>
              </a:rPr>
              <a:t>Mandatory Hardware-Based Security (TPM 2.0 &amp; Secure Boot)</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Requires TPM 2.0 for all devices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Enforces UEFI Secure Boot</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Ensures cryptographic root-of-trust</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Protects against boot-level malware and firmware attacks</a:t>
            </a:r>
          </a:p>
          <a:p>
            <a:pPr algn="l">
              <a:lnSpc>
                <a:spcPts val="3000"/>
              </a:lnSpc>
            </a:pPr>
            <a:r>
              <a:rPr lang="en-US" b="true" sz="2000" spc="-60" strike="noStrike" u="none">
                <a:solidFill>
                  <a:srgbClr val="00FFA8"/>
                </a:solidFill>
                <a:latin typeface="TT Fors Bold"/>
                <a:ea typeface="TT Fors Bold"/>
                <a:cs typeface="TT Fors Bold"/>
                <a:sym typeface="TT Fors Bold"/>
              </a:rPr>
              <a:t>2. Virtualization-Based Security (VBS) On by Default</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Memory integrity (HVCI)</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Enforces Hyper-V isolation</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Prevents kernel-level exploits, driver attacks, and credential theft</a:t>
            </a:r>
          </a:p>
          <a:p>
            <a:pPr algn="l">
              <a:lnSpc>
                <a:spcPts val="3000"/>
              </a:lnSpc>
            </a:pPr>
            <a:r>
              <a:rPr lang="en-US" b="true" sz="2000" spc="-60" strike="noStrike" u="none">
                <a:solidFill>
                  <a:srgbClr val="00FFA8"/>
                </a:solidFill>
                <a:latin typeface="TT Fors Bold"/>
                <a:ea typeface="TT Fors Bold"/>
                <a:cs typeface="TT Fors Bold"/>
                <a:sym typeface="TT Fors Bold"/>
              </a:rPr>
              <a:t>3. Enhanced Windows Hello &amp; Passwordless Security</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Facial recognition, fingerprint, PIN stored in TPM</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Push for passwordless Microsoft accounts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Phishing-resistant authentication</a:t>
            </a:r>
          </a:p>
          <a:p>
            <a:pPr algn="l">
              <a:lnSpc>
                <a:spcPts val="3000"/>
              </a:lnSpc>
            </a:pPr>
            <a:r>
              <a:rPr lang="en-US" b="true" sz="2000" spc="-60" strike="noStrike" u="none">
                <a:solidFill>
                  <a:srgbClr val="00FFA8"/>
                </a:solidFill>
                <a:latin typeface="TT Fors Bold"/>
                <a:ea typeface="TT Fors Bold"/>
                <a:cs typeface="TT Fors Bold"/>
                <a:sym typeface="TT Fors Bold"/>
              </a:rPr>
              <a:t>4. Pluton Security Processor Support</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Integration with CPU (AMD/Intel/Qualcomm, depending on model)</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Protects</a:t>
            </a:r>
            <a:r>
              <a:rPr lang="en-US" sz="2000" spc="-60" strike="noStrike" u="none">
                <a:solidFill>
                  <a:srgbClr val="00FFA8"/>
                </a:solidFill>
                <a:latin typeface="TT Fors"/>
                <a:ea typeface="TT Fors"/>
                <a:cs typeface="TT Fors"/>
                <a:sym typeface="TT Fors"/>
              </a:rPr>
              <a:t> encryption keys against phys</a:t>
            </a:r>
            <a:r>
              <a:rPr lang="en-US" sz="2000" spc="-60" strike="noStrike" u="none">
                <a:solidFill>
                  <a:srgbClr val="00FFA8"/>
                </a:solidFill>
                <a:latin typeface="TT Fors"/>
                <a:ea typeface="TT Fors"/>
                <a:cs typeface="TT Fors"/>
                <a:sym typeface="TT Fors"/>
              </a:rPr>
              <a:t>ical attacks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Designed for Zero-Trust endpoint security</a:t>
            </a:r>
          </a:p>
        </p:txBody>
      </p:sp>
      <p:sp>
        <p:nvSpPr>
          <p:cNvPr name="TextBox 5" id="5"/>
          <p:cNvSpPr txBox="true"/>
          <p:nvPr/>
        </p:nvSpPr>
        <p:spPr>
          <a:xfrm rot="0">
            <a:off x="9610954" y="2551481"/>
            <a:ext cx="8010296" cy="6848475"/>
          </a:xfrm>
          <a:prstGeom prst="rect">
            <a:avLst/>
          </a:prstGeom>
        </p:spPr>
        <p:txBody>
          <a:bodyPr anchor="t" rtlCol="false" tIns="0" lIns="0" bIns="0" rIns="0">
            <a:spAutoFit/>
          </a:bodyPr>
          <a:lstStyle/>
          <a:p>
            <a:pPr algn="l">
              <a:lnSpc>
                <a:spcPts val="3000"/>
              </a:lnSpc>
            </a:pPr>
            <a:r>
              <a:rPr lang="en-US" b="true" sz="2000" spc="-60">
                <a:solidFill>
                  <a:srgbClr val="00FFA8"/>
                </a:solidFill>
                <a:latin typeface="TT Fors Bold"/>
                <a:ea typeface="TT Fors Bold"/>
                <a:cs typeface="TT Fors Bold"/>
                <a:sym typeface="TT Fors Bold"/>
              </a:rPr>
              <a:t>5.</a:t>
            </a:r>
            <a:r>
              <a:rPr lang="en-US" b="true" sz="2000" spc="-60" strike="noStrike" u="none">
                <a:solidFill>
                  <a:srgbClr val="00FFA8"/>
                </a:solidFill>
                <a:latin typeface="TT Fors Bold"/>
                <a:ea typeface="TT Fors Bold"/>
                <a:cs typeface="TT Fors Bold"/>
                <a:sym typeface="TT Fors Bold"/>
              </a:rPr>
              <a:t> Improved Smart App Cont</a:t>
            </a:r>
            <a:r>
              <a:rPr lang="en-US" b="true" sz="2000" spc="-60" strike="noStrike" u="none">
                <a:solidFill>
                  <a:srgbClr val="00FFA8"/>
                </a:solidFill>
                <a:latin typeface="TT Fors Bold"/>
                <a:ea typeface="TT Fors Bold"/>
                <a:cs typeface="TT Fors Bold"/>
                <a:sym typeface="TT Fors Bold"/>
              </a:rPr>
              <a:t>rol</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Uses AI + code integrity policies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Blocks untrusted or unsigned apps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Helps prevent ransomware execution</a:t>
            </a:r>
          </a:p>
          <a:p>
            <a:pPr algn="l">
              <a:lnSpc>
                <a:spcPts val="3000"/>
              </a:lnSpc>
            </a:pPr>
            <a:r>
              <a:rPr lang="en-US" b="true" sz="2000" spc="-60" strike="noStrike" u="none">
                <a:solidFill>
                  <a:srgbClr val="00FFA8"/>
                </a:solidFill>
                <a:latin typeface="TT Fors Bold"/>
                <a:ea typeface="TT Fors Bold"/>
                <a:cs typeface="TT Fors Bold"/>
                <a:sym typeface="TT Fors Bold"/>
              </a:rPr>
              <a:t>6. Better Secure Kernel &amp; Memory Protections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Hardware-enforced stack protection</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Improved ASLR</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Control-flow integrity (CFI)</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Kernel-mode driver signing policies are stricter than Windows 10</a:t>
            </a:r>
          </a:p>
          <a:p>
            <a:pPr algn="l">
              <a:lnSpc>
                <a:spcPts val="3000"/>
              </a:lnSpc>
            </a:pPr>
            <a:r>
              <a:rPr lang="en-US" b="true" sz="2000" spc="-60" strike="noStrike" u="none">
                <a:solidFill>
                  <a:srgbClr val="00FFA8"/>
                </a:solidFill>
                <a:latin typeface="TT Fors Bold"/>
                <a:ea typeface="TT Fors Bold"/>
                <a:cs typeface="TT Fors Bold"/>
                <a:sym typeface="TT Fors Bold"/>
              </a:rPr>
              <a:t>7. Built-in Ransomware Protection</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Controlled Folder Access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Cloud-based ML detection</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OneDrive recovery integration</a:t>
            </a:r>
          </a:p>
          <a:p>
            <a:pPr algn="l">
              <a:lnSpc>
                <a:spcPts val="3000"/>
              </a:lnSpc>
            </a:pPr>
            <a:r>
              <a:rPr lang="en-US" b="true" sz="2000" spc="-60" strike="noStrike" u="none">
                <a:solidFill>
                  <a:srgbClr val="00FFA8"/>
                </a:solidFill>
                <a:latin typeface="TT Fors Bold"/>
                <a:ea typeface="TT Fors Bold"/>
                <a:cs typeface="TT Fors Bold"/>
                <a:sym typeface="TT Fors Bold"/>
              </a:rPr>
              <a:t>8. Enhanced Microsoft Defender</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Defender SmartScreen anti-phishing</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Defender for Endpoint onboarding</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Automatic</a:t>
            </a:r>
            <a:r>
              <a:rPr lang="en-US" sz="2000" spc="-60" strike="noStrike" u="none">
                <a:solidFill>
                  <a:srgbClr val="00FFA8"/>
                </a:solidFill>
                <a:latin typeface="TT Fors"/>
                <a:ea typeface="TT Fors"/>
                <a:cs typeface="TT Fors"/>
                <a:sym typeface="TT Fors"/>
              </a:rPr>
              <a:t> isolation of susp</a:t>
            </a:r>
            <a:r>
              <a:rPr lang="en-US" sz="2000" spc="-60" strike="noStrike" u="none">
                <a:solidFill>
                  <a:srgbClr val="00FFA8"/>
                </a:solidFill>
                <a:latin typeface="TT Fors"/>
                <a:ea typeface="TT Fors"/>
                <a:cs typeface="TT Fors"/>
                <a:sym typeface="TT Fors"/>
              </a:rPr>
              <a:t>icious processes</a:t>
            </a:r>
          </a:p>
          <a:p>
            <a:pPr algn="l" marL="431802" indent="-215901" lvl="1">
              <a:lnSpc>
                <a:spcPts val="3000"/>
              </a:lnSpc>
              <a:buFont typeface="Arial"/>
              <a:buChar char="•"/>
            </a:pPr>
            <a:r>
              <a:rPr lang="en-US" sz="2000" spc="-60" strike="noStrike" u="none">
                <a:solidFill>
                  <a:srgbClr val="00FFA8"/>
                </a:solidFill>
                <a:latin typeface="TT Fors"/>
                <a:ea typeface="TT Fors"/>
                <a:cs typeface="TT Fors"/>
                <a:sym typeface="TT Fors"/>
              </a:rPr>
              <a:t>Firmware-level scanning</a:t>
            </a:r>
          </a:p>
        </p:txBody>
      </p:sp>
      <p:grpSp>
        <p:nvGrpSpPr>
          <p:cNvPr name="Group 6" id="6"/>
          <p:cNvGrpSpPr/>
          <p:nvPr/>
        </p:nvGrpSpPr>
        <p:grpSpPr>
          <a:xfrm rot="0">
            <a:off x="16115522" y="751544"/>
            <a:ext cx="1505728" cy="810556"/>
            <a:chOff x="0" y="0"/>
            <a:chExt cx="2007638" cy="1080741"/>
          </a:xfrm>
        </p:grpSpPr>
        <p:grpSp>
          <p:nvGrpSpPr>
            <p:cNvPr name="Group 7" id="7"/>
            <p:cNvGrpSpPr/>
            <p:nvPr/>
          </p:nvGrpSpPr>
          <p:grpSpPr>
            <a:xfrm rot="0">
              <a:off x="0"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10" id="10"/>
            <p:cNvGrpSpPr/>
            <p:nvPr/>
          </p:nvGrpSpPr>
          <p:grpSpPr>
            <a:xfrm rot="0">
              <a:off x="926897" y="0"/>
              <a:ext cx="1080741" cy="108074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3" id="13"/>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5" id="15"/>
          <p:cNvSpPr txBox="true"/>
          <p:nvPr/>
        </p:nvSpPr>
        <p:spPr>
          <a:xfrm rot="0">
            <a:off x="666750" y="2021548"/>
            <a:ext cx="16954500" cy="390525"/>
          </a:xfrm>
          <a:prstGeom prst="rect">
            <a:avLst/>
          </a:prstGeom>
        </p:spPr>
        <p:txBody>
          <a:bodyPr anchor="t" rtlCol="false" tIns="0" lIns="0" bIns="0" rIns="0">
            <a:spAutoFit/>
          </a:bodyPr>
          <a:lstStyle/>
          <a:p>
            <a:pPr algn="l" marL="0" indent="0" lvl="0">
              <a:lnSpc>
                <a:spcPts val="3120"/>
              </a:lnSpc>
              <a:spcBef>
                <a:spcPct val="0"/>
              </a:spcBef>
            </a:pPr>
            <a:r>
              <a:rPr lang="en-US" sz="2600" spc="-78">
                <a:solidFill>
                  <a:srgbClr val="FFFFFF"/>
                </a:solidFill>
                <a:latin typeface="TT Fors"/>
                <a:ea typeface="TT Fors"/>
                <a:cs typeface="TT Fors"/>
                <a:sym typeface="TT Fors"/>
              </a:rPr>
              <a:t>Here are the key se</a:t>
            </a:r>
            <a:r>
              <a:rPr lang="en-US" sz="2600" spc="-78">
                <a:solidFill>
                  <a:srgbClr val="FFFFFF"/>
                </a:solidFill>
                <a:latin typeface="TT Fors"/>
                <a:ea typeface="TT Fors"/>
                <a:cs typeface="TT Fors"/>
                <a:sym typeface="TT Fors"/>
              </a:rPr>
              <a:t>curity </a:t>
            </a:r>
            <a:r>
              <a:rPr lang="en-US" sz="2600" spc="-78">
                <a:solidFill>
                  <a:srgbClr val="FFFFFF"/>
                </a:solidFill>
                <a:latin typeface="TT Fors"/>
                <a:ea typeface="TT Fors"/>
                <a:cs typeface="TT Fors"/>
                <a:sym typeface="TT Fors"/>
              </a:rPr>
              <a:t>innovations in </a:t>
            </a:r>
            <a:r>
              <a:rPr lang="en-US" b="true" sz="2600" spc="-78">
                <a:solidFill>
                  <a:srgbClr val="FFFFFF"/>
                </a:solidFill>
                <a:latin typeface="TT Fors Bold"/>
                <a:ea typeface="TT Fors Bold"/>
                <a:cs typeface="TT Fors Bold"/>
                <a:sym typeface="TT Fors Bold"/>
              </a:rPr>
              <a:t>Windows 11</a:t>
            </a:r>
            <a:r>
              <a:rPr lang="en-US" sz="2600" spc="-78">
                <a:solidFill>
                  <a:srgbClr val="FFFFFF"/>
                </a:solidFill>
                <a:latin typeface="TT Fors"/>
                <a:ea typeface="TT Fors"/>
                <a:cs typeface="TT Fors"/>
                <a:sym typeface="TT Fors"/>
              </a:rPr>
              <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Enumeration of Different Operating Systems (Cont’d)</a:t>
            </a:r>
          </a:p>
        </p:txBody>
      </p:sp>
      <p:sp>
        <p:nvSpPr>
          <p:cNvPr name="TextBox 3" id="3"/>
          <p:cNvSpPr txBox="true"/>
          <p:nvPr/>
        </p:nvSpPr>
        <p:spPr>
          <a:xfrm rot="0">
            <a:off x="666750" y="1322070"/>
            <a:ext cx="12864612" cy="493395"/>
          </a:xfrm>
          <a:prstGeom prst="rect">
            <a:avLst/>
          </a:prstGeom>
        </p:spPr>
        <p:txBody>
          <a:bodyPr anchor="t" rtlCol="false" tIns="0" lIns="0" bIns="0" rIns="0">
            <a:spAutoFit/>
          </a:bodyPr>
          <a:lstStyle/>
          <a:p>
            <a:pPr algn="l">
              <a:lnSpc>
                <a:spcPts val="4199"/>
              </a:lnSpc>
            </a:pPr>
            <a:r>
              <a:rPr lang="en-US" b="true" sz="2799" spc="-83">
                <a:solidFill>
                  <a:srgbClr val="00FFA8"/>
                </a:solidFill>
                <a:latin typeface="TT Fors Bold"/>
                <a:ea typeface="TT Fors Bold"/>
                <a:cs typeface="TT Fors Bold"/>
                <a:sym typeface="TT Fors Bold"/>
              </a:rPr>
              <a:t>Windows OS Enumeration</a:t>
            </a:r>
          </a:p>
        </p:txBody>
      </p:sp>
      <p:sp>
        <p:nvSpPr>
          <p:cNvPr name="TextBox 4" id="4"/>
          <p:cNvSpPr txBox="true"/>
          <p:nvPr/>
        </p:nvSpPr>
        <p:spPr>
          <a:xfrm rot="0">
            <a:off x="666750" y="2565421"/>
            <a:ext cx="9759377" cy="5705475"/>
          </a:xfrm>
          <a:prstGeom prst="rect">
            <a:avLst/>
          </a:prstGeom>
        </p:spPr>
        <p:txBody>
          <a:bodyPr anchor="t" rtlCol="false" tIns="0" lIns="0" bIns="0" rIns="0">
            <a:spAutoFit/>
          </a:bodyPr>
          <a:lstStyle/>
          <a:p>
            <a:pPr algn="l">
              <a:lnSpc>
                <a:spcPts val="3000"/>
              </a:lnSpc>
            </a:pPr>
            <a:r>
              <a:rPr lang="en-US" b="true" sz="2000" spc="-60" strike="noStrike" u="none">
                <a:solidFill>
                  <a:srgbClr val="00FFA8"/>
                </a:solidFill>
                <a:latin typeface="TT Fors Bold"/>
                <a:ea typeface="TT Fors Bold"/>
                <a:cs typeface="TT Fors Bold"/>
                <a:sym typeface="TT Fors Bold"/>
              </a:rPr>
              <a:t>Method 1: syst</a:t>
            </a:r>
            <a:r>
              <a:rPr lang="en-US" b="true" sz="2000" spc="-60" strike="noStrike" u="none">
                <a:solidFill>
                  <a:srgbClr val="00FFA8"/>
                </a:solidFill>
                <a:latin typeface="TT Fors Bold"/>
                <a:ea typeface="TT Fors Bold"/>
                <a:cs typeface="TT Fors Bold"/>
                <a:sym typeface="TT Fors Bold"/>
              </a:rPr>
              <a:t>eminfo</a:t>
            </a:r>
          </a:p>
          <a:p>
            <a:pPr algn="l">
              <a:lnSpc>
                <a:spcPts val="3000"/>
              </a:lnSpc>
            </a:pPr>
            <a:r>
              <a:rPr lang="en-US" sz="2000" spc="-60" strike="noStrike" u="none">
                <a:solidFill>
                  <a:srgbClr val="FFFFFF"/>
                </a:solidFill>
                <a:latin typeface="TT Fors"/>
                <a:ea typeface="TT Fors"/>
                <a:cs typeface="TT Fors"/>
                <a:sym typeface="TT Fors"/>
              </a:rPr>
              <a:t>C:\&gt; systeminfo</a:t>
            </a:r>
          </a:p>
          <a:p>
            <a:pPr algn="l">
              <a:lnSpc>
                <a:spcPts val="3000"/>
              </a:lnSpc>
            </a:pPr>
            <a:r>
              <a:rPr lang="en-US" sz="2000" spc="-60" strike="noStrike" u="none">
                <a:solidFill>
                  <a:srgbClr val="00FFA8"/>
                </a:solidFill>
                <a:latin typeface="TT Fors"/>
                <a:ea typeface="TT Fors"/>
                <a:cs typeface="TT Fors"/>
                <a:sym typeface="TT Fors"/>
              </a:rPr>
              <a:t>Shows: OS Name, OS Version, System Boot Time, Processor(s), Hotfix(s), KB numbers</a:t>
            </a:r>
          </a:p>
          <a:p>
            <a:pPr algn="l">
              <a:lnSpc>
                <a:spcPts val="3000"/>
              </a:lnSpc>
            </a:pPr>
          </a:p>
          <a:p>
            <a:pPr algn="l">
              <a:lnSpc>
                <a:spcPts val="3000"/>
              </a:lnSpc>
            </a:pPr>
            <a:r>
              <a:rPr lang="en-US" b="true" sz="2000" spc="-60" strike="noStrike" u="none">
                <a:solidFill>
                  <a:srgbClr val="00FFA8"/>
                </a:solidFill>
                <a:latin typeface="TT Fors Bold"/>
                <a:ea typeface="TT Fors Bold"/>
                <a:cs typeface="TT Fors Bold"/>
                <a:sym typeface="TT Fors Bold"/>
              </a:rPr>
              <a:t>Method 2: Using WMI (Windows Management Instrumentation) - Deprecated</a:t>
            </a:r>
          </a:p>
          <a:p>
            <a:pPr algn="l">
              <a:lnSpc>
                <a:spcPts val="3000"/>
              </a:lnSpc>
            </a:pPr>
            <a:r>
              <a:rPr lang="en-US" sz="2000" spc="-60" strike="noStrike" u="none">
                <a:solidFill>
                  <a:srgbClr val="FFFFFF"/>
                </a:solidFill>
                <a:latin typeface="TT Fors"/>
                <a:ea typeface="TT Fors"/>
                <a:cs typeface="TT Fors"/>
                <a:sym typeface="TT Fors"/>
              </a:rPr>
              <a:t>C:\&gt; w</a:t>
            </a:r>
            <a:r>
              <a:rPr lang="en-US" sz="2000" spc="-60" strike="noStrike" u="none">
                <a:solidFill>
                  <a:srgbClr val="FFFFFF"/>
                </a:solidFill>
                <a:latin typeface="TT Fors"/>
                <a:ea typeface="TT Fors"/>
                <a:cs typeface="TT Fors"/>
                <a:sym typeface="TT Fors"/>
              </a:rPr>
              <a:t>mic qfe list</a:t>
            </a:r>
          </a:p>
          <a:p>
            <a:pPr algn="l">
              <a:lnSpc>
                <a:spcPts val="3000"/>
              </a:lnSpc>
            </a:pPr>
            <a:r>
              <a:rPr lang="en-US" sz="2000" spc="-60" strike="noStrike" u="none">
                <a:solidFill>
                  <a:srgbClr val="00FFA8"/>
                </a:solidFill>
                <a:latin typeface="TT Fors"/>
                <a:ea typeface="TT Fors"/>
                <a:cs typeface="TT Fors"/>
                <a:sym typeface="TT Fors"/>
              </a:rPr>
              <a:t>Shows: Installed patches/hotfixes in a detailed table</a:t>
            </a:r>
          </a:p>
          <a:p>
            <a:pPr algn="l">
              <a:lnSpc>
                <a:spcPts val="3000"/>
              </a:lnSpc>
            </a:pPr>
            <a:r>
              <a:rPr lang="en-US" sz="2000" spc="-60" strike="noStrike" u="none">
                <a:solidFill>
                  <a:srgbClr val="FFFFFF"/>
                </a:solidFill>
                <a:latin typeface="TT Fors"/>
                <a:ea typeface="TT Fors"/>
                <a:cs typeface="TT Fors"/>
                <a:sym typeface="TT Fors"/>
              </a:rPr>
              <a:t>C:\&gt; wmic os get version</a:t>
            </a:r>
          </a:p>
          <a:p>
            <a:pPr algn="l">
              <a:lnSpc>
                <a:spcPts val="3000"/>
              </a:lnSpc>
            </a:pPr>
            <a:r>
              <a:rPr lang="en-US" sz="2000" spc="-60" strike="noStrike" u="none">
                <a:solidFill>
                  <a:srgbClr val="00FFA8"/>
                </a:solidFill>
                <a:latin typeface="TT Fors"/>
                <a:ea typeface="TT Fors"/>
                <a:cs typeface="TT Fors"/>
                <a:sym typeface="TT Fors"/>
              </a:rPr>
              <a:t>Shows: OS version number</a:t>
            </a:r>
          </a:p>
          <a:p>
            <a:pPr algn="l">
              <a:lnSpc>
                <a:spcPts val="3000"/>
              </a:lnSpc>
            </a:pPr>
          </a:p>
          <a:p>
            <a:pPr algn="l">
              <a:lnSpc>
                <a:spcPts val="3000"/>
              </a:lnSpc>
            </a:pPr>
            <a:r>
              <a:rPr lang="en-US" b="true" sz="2000" spc="-60" strike="noStrike" u="none">
                <a:solidFill>
                  <a:srgbClr val="00FFA8"/>
                </a:solidFill>
                <a:latin typeface="TT Fors Bold"/>
                <a:ea typeface="TT Fors Bold"/>
                <a:cs typeface="TT Fors Bold"/>
                <a:sym typeface="TT Fors Bold"/>
              </a:rPr>
              <a:t>Method 3: PowerShell (Modern Windows)</a:t>
            </a:r>
          </a:p>
          <a:p>
            <a:pPr algn="l">
              <a:lnSpc>
                <a:spcPts val="3000"/>
              </a:lnSpc>
            </a:pPr>
            <a:r>
              <a:rPr lang="en-US" b="true" sz="2000" spc="-60" strike="noStrike" u="none">
                <a:solidFill>
                  <a:srgbClr val="00FFA8"/>
                </a:solidFill>
                <a:latin typeface="TT Fors Bold"/>
                <a:ea typeface="TT Fors Bold"/>
                <a:cs typeface="TT Fors Bold"/>
                <a:sym typeface="TT Fors Bold"/>
              </a:rPr>
              <a:t>PS </a:t>
            </a:r>
            <a:r>
              <a:rPr lang="en-US" sz="2000" spc="-60" strike="noStrike" u="none">
                <a:solidFill>
                  <a:srgbClr val="FFFFFF"/>
                </a:solidFill>
                <a:latin typeface="TT Fors"/>
                <a:ea typeface="TT Fors"/>
                <a:cs typeface="TT Fors"/>
                <a:sym typeface="TT Fors"/>
              </a:rPr>
              <a:t>C:\&gt; Get-Hotfix | Select-Object HotFixID, InstalledOn</a:t>
            </a:r>
          </a:p>
          <a:p>
            <a:pPr algn="l">
              <a:lnSpc>
                <a:spcPts val="3000"/>
              </a:lnSpc>
            </a:pPr>
            <a:r>
              <a:rPr lang="en-US" sz="2000" spc="-60" strike="noStrike" u="none">
                <a:solidFill>
                  <a:srgbClr val="00FFA8"/>
                </a:solidFill>
                <a:latin typeface="TT Fors"/>
                <a:ea typeface="TT Fors"/>
                <a:cs typeface="TT Fors"/>
                <a:sym typeface="TT Fors"/>
              </a:rPr>
              <a:t>Shows: Patches with installation dates</a:t>
            </a:r>
          </a:p>
          <a:p>
            <a:pPr algn="l">
              <a:lnSpc>
                <a:spcPts val="3000"/>
              </a:lnSpc>
            </a:pPr>
            <a:r>
              <a:rPr lang="en-US" b="true" sz="2000" spc="-60" strike="noStrike" u="none">
                <a:solidFill>
                  <a:srgbClr val="00FFA8"/>
                </a:solidFill>
                <a:latin typeface="TT Fors Bold"/>
                <a:ea typeface="TT Fors Bold"/>
                <a:cs typeface="TT Fors Bold"/>
                <a:sym typeface="TT Fors Bold"/>
              </a:rPr>
              <a:t>PS </a:t>
            </a:r>
            <a:r>
              <a:rPr lang="en-US" sz="2000" spc="-60" strike="noStrike" u="none">
                <a:solidFill>
                  <a:srgbClr val="FFFFFF"/>
                </a:solidFill>
                <a:latin typeface="TT Fors"/>
                <a:ea typeface="TT Fors"/>
                <a:cs typeface="TT Fors"/>
                <a:sym typeface="TT Fors"/>
              </a:rPr>
              <a:t>C:\&gt; [System.Environment]::OSVers</a:t>
            </a:r>
            <a:r>
              <a:rPr lang="en-US" sz="2000" spc="-60" strike="noStrike" u="none">
                <a:solidFill>
                  <a:srgbClr val="FFFFFF"/>
                </a:solidFill>
                <a:latin typeface="TT Fors"/>
                <a:ea typeface="TT Fors"/>
                <a:cs typeface="TT Fors"/>
                <a:sym typeface="TT Fors"/>
              </a:rPr>
              <a:t>ion.Version</a:t>
            </a:r>
          </a:p>
          <a:p>
            <a:pPr algn="l">
              <a:lnSpc>
                <a:spcPts val="3000"/>
              </a:lnSpc>
            </a:pPr>
            <a:r>
              <a:rPr lang="en-US" sz="2000" spc="-60" strike="noStrike" u="none">
                <a:solidFill>
                  <a:srgbClr val="00FFA8"/>
                </a:solidFill>
                <a:latin typeface="TT Fors"/>
                <a:ea typeface="TT Fors"/>
                <a:cs typeface="TT Fors"/>
                <a:sym typeface="TT Fors"/>
              </a:rPr>
              <a:t>Shows: Ful</a:t>
            </a:r>
            <a:r>
              <a:rPr lang="en-US" sz="2000" spc="-60" strike="noStrike" u="none">
                <a:solidFill>
                  <a:srgbClr val="00FFA8"/>
                </a:solidFill>
                <a:latin typeface="TT Fors"/>
                <a:ea typeface="TT Fors"/>
                <a:cs typeface="TT Fors"/>
                <a:sym typeface="TT Fors"/>
              </a:rPr>
              <a:t>l OS version information</a:t>
            </a:r>
          </a:p>
        </p:txBody>
      </p:sp>
      <p:grpSp>
        <p:nvGrpSpPr>
          <p:cNvPr name="Group 5" id="5"/>
          <p:cNvGrpSpPr/>
          <p:nvPr/>
        </p:nvGrpSpPr>
        <p:grpSpPr>
          <a:xfrm rot="0">
            <a:off x="16115522" y="751544"/>
            <a:ext cx="1505728" cy="810556"/>
            <a:chOff x="0" y="0"/>
            <a:chExt cx="2007638" cy="1080741"/>
          </a:xfrm>
        </p:grpSpPr>
        <p:grpSp>
          <p:nvGrpSpPr>
            <p:cNvPr name="Group 6" id="6"/>
            <p:cNvGrpSpPr/>
            <p:nvPr/>
          </p:nvGrpSpPr>
          <p:grpSpPr>
            <a:xfrm rot="0">
              <a:off x="0"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9" id="9"/>
            <p:cNvGrpSpPr/>
            <p:nvPr/>
          </p:nvGrpSpPr>
          <p:grpSpPr>
            <a:xfrm rot="0">
              <a:off x="926897" y="0"/>
              <a:ext cx="1080741" cy="108074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2" id="12"/>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4" id="14"/>
          <p:cNvSpPr txBox="true"/>
          <p:nvPr/>
        </p:nvSpPr>
        <p:spPr>
          <a:xfrm rot="0">
            <a:off x="666750" y="2021548"/>
            <a:ext cx="16954500" cy="390525"/>
          </a:xfrm>
          <a:prstGeom prst="rect">
            <a:avLst/>
          </a:prstGeom>
        </p:spPr>
        <p:txBody>
          <a:bodyPr anchor="t" rtlCol="false" tIns="0" lIns="0" bIns="0" rIns="0">
            <a:spAutoFit/>
          </a:bodyPr>
          <a:lstStyle/>
          <a:p>
            <a:pPr algn="l" marL="0" indent="0" lvl="0">
              <a:lnSpc>
                <a:spcPts val="3120"/>
              </a:lnSpc>
              <a:spcBef>
                <a:spcPct val="0"/>
              </a:spcBef>
            </a:pPr>
            <a:r>
              <a:rPr lang="en-US" sz="2600" spc="-78">
                <a:solidFill>
                  <a:srgbClr val="FFFFFF"/>
                </a:solidFill>
                <a:latin typeface="TT Fors"/>
                <a:ea typeface="TT Fors"/>
                <a:cs typeface="TT Fors"/>
                <a:sym typeface="TT Fors"/>
              </a:rPr>
              <a:t>Commands to Enume</a:t>
            </a:r>
            <a:r>
              <a:rPr lang="en-US" sz="2600" spc="-78">
                <a:solidFill>
                  <a:srgbClr val="FFFFFF"/>
                </a:solidFill>
                <a:latin typeface="TT Fors"/>
                <a:ea typeface="TT Fors"/>
                <a:cs typeface="TT Fors"/>
                <a:sym typeface="TT Fors"/>
              </a:rPr>
              <a:t>r</a:t>
            </a:r>
            <a:r>
              <a:rPr lang="en-US" sz="2600" spc="-78">
                <a:solidFill>
                  <a:srgbClr val="FFFFFF"/>
                </a:solidFill>
                <a:latin typeface="TT Fors"/>
                <a:ea typeface="TT Fors"/>
                <a:cs typeface="TT Fors"/>
                <a:sym typeface="TT Fors"/>
              </a:rPr>
              <a:t>ate </a:t>
            </a:r>
            <a:r>
              <a:rPr lang="en-US" sz="2600" spc="-78">
                <a:solidFill>
                  <a:srgbClr val="FFFFFF"/>
                </a:solidFill>
                <a:latin typeface="TT Fors"/>
                <a:ea typeface="TT Fors"/>
                <a:cs typeface="TT Fors"/>
                <a:sym typeface="TT Fors"/>
              </a:rPr>
              <a:t>Windows </a:t>
            </a:r>
            <a:r>
              <a:rPr lang="en-US" sz="2600" spc="-78">
                <a:solidFill>
                  <a:srgbClr val="FFFFFF"/>
                </a:solidFill>
                <a:latin typeface="TT Fors"/>
                <a:ea typeface="TT Fors"/>
                <a:cs typeface="TT Fors"/>
                <a:sym typeface="TT Fors"/>
              </a:rPr>
              <a:t>Version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Enumeration of Different Operating Systems (Cont’d)</a:t>
            </a:r>
          </a:p>
        </p:txBody>
      </p:sp>
      <p:sp>
        <p:nvSpPr>
          <p:cNvPr name="TextBox 3" id="3"/>
          <p:cNvSpPr txBox="true"/>
          <p:nvPr/>
        </p:nvSpPr>
        <p:spPr>
          <a:xfrm rot="0">
            <a:off x="666750" y="1322070"/>
            <a:ext cx="12864612" cy="493395"/>
          </a:xfrm>
          <a:prstGeom prst="rect">
            <a:avLst/>
          </a:prstGeom>
        </p:spPr>
        <p:txBody>
          <a:bodyPr anchor="t" rtlCol="false" tIns="0" lIns="0" bIns="0" rIns="0">
            <a:spAutoFit/>
          </a:bodyPr>
          <a:lstStyle/>
          <a:p>
            <a:pPr algn="l">
              <a:lnSpc>
                <a:spcPts val="4199"/>
              </a:lnSpc>
            </a:pPr>
            <a:r>
              <a:rPr lang="en-US" b="true" sz="2799" spc="-83">
                <a:solidFill>
                  <a:srgbClr val="00FFA8"/>
                </a:solidFill>
                <a:latin typeface="TT Fors Bold"/>
                <a:ea typeface="TT Fors Bold"/>
                <a:cs typeface="TT Fors Bold"/>
                <a:sym typeface="TT Fors Bold"/>
              </a:rPr>
              <a:t>Windows Services Enumeration</a:t>
            </a:r>
          </a:p>
        </p:txBody>
      </p:sp>
      <p:sp>
        <p:nvSpPr>
          <p:cNvPr name="TextBox 4" id="4"/>
          <p:cNvSpPr txBox="true"/>
          <p:nvPr/>
        </p:nvSpPr>
        <p:spPr>
          <a:xfrm rot="0">
            <a:off x="666750" y="2565421"/>
            <a:ext cx="7603403" cy="6848475"/>
          </a:xfrm>
          <a:prstGeom prst="rect">
            <a:avLst/>
          </a:prstGeom>
        </p:spPr>
        <p:txBody>
          <a:bodyPr anchor="t" rtlCol="false" tIns="0" lIns="0" bIns="0" rIns="0">
            <a:spAutoFit/>
          </a:bodyPr>
          <a:lstStyle/>
          <a:p>
            <a:pPr algn="l">
              <a:lnSpc>
                <a:spcPts val="3000"/>
              </a:lnSpc>
            </a:pPr>
            <a:r>
              <a:rPr lang="en-US" sz="2000" spc="-60" b="true">
                <a:solidFill>
                  <a:srgbClr val="FFFFFF"/>
                </a:solidFill>
                <a:latin typeface="TT Fors Bold"/>
                <a:ea typeface="TT Fors Bold"/>
                <a:cs typeface="TT Fors Bold"/>
                <a:sym typeface="TT Fors Bold"/>
              </a:rPr>
              <a:t>Commands to Enumerate Services</a:t>
            </a:r>
          </a:p>
          <a:p>
            <a:pPr algn="l">
              <a:lnSpc>
                <a:spcPts val="3000"/>
              </a:lnSpc>
            </a:pPr>
            <a:r>
              <a:rPr lang="en-US" b="true" sz="2000" spc="-60" strike="noStrike" u="none">
                <a:solidFill>
                  <a:srgbClr val="00FFA8"/>
                </a:solidFill>
                <a:latin typeface="TT Fors Bold"/>
                <a:ea typeface="TT Fors Bold"/>
                <a:cs typeface="TT Fors Bold"/>
                <a:sym typeface="TT Fors Bold"/>
              </a:rPr>
              <a:t>Method 1: SC co</a:t>
            </a:r>
            <a:r>
              <a:rPr lang="en-US" b="true" sz="2000" spc="-60" strike="noStrike" u="none">
                <a:solidFill>
                  <a:srgbClr val="00FFA8"/>
                </a:solidFill>
                <a:latin typeface="TT Fors Bold"/>
                <a:ea typeface="TT Fors Bold"/>
                <a:cs typeface="TT Fors Bold"/>
                <a:sym typeface="TT Fors Bold"/>
              </a:rPr>
              <a:t>mmand (Service Control)</a:t>
            </a:r>
          </a:p>
          <a:p>
            <a:pPr algn="l">
              <a:lnSpc>
                <a:spcPts val="3000"/>
              </a:lnSpc>
            </a:pPr>
            <a:r>
              <a:rPr lang="en-US" sz="2000" spc="-60" strike="noStrike" u="none">
                <a:solidFill>
                  <a:srgbClr val="FFFFFF"/>
                </a:solidFill>
                <a:latin typeface="TT Fors"/>
                <a:ea typeface="TT Fors"/>
                <a:cs typeface="TT Fors"/>
                <a:sym typeface="TT Fors"/>
              </a:rPr>
              <a:t>C:\&gt; sc query</a:t>
            </a:r>
          </a:p>
          <a:p>
            <a:pPr algn="l">
              <a:lnSpc>
                <a:spcPts val="3000"/>
              </a:lnSpc>
            </a:pPr>
            <a:r>
              <a:rPr lang="en-US" sz="2000" spc="-60" strike="noStrike" u="none">
                <a:solidFill>
                  <a:srgbClr val="00FFA8"/>
                </a:solidFill>
                <a:latin typeface="TT Fors"/>
                <a:ea typeface="TT Fors"/>
                <a:cs typeface="TT Fors"/>
                <a:sym typeface="TT Fors"/>
              </a:rPr>
              <a:t>List</a:t>
            </a:r>
            <a:r>
              <a:rPr lang="en-US" sz="2000" spc="-60" strike="noStrike" u="none">
                <a:solidFill>
                  <a:srgbClr val="00FFA8"/>
                </a:solidFill>
                <a:latin typeface="TT Fors"/>
                <a:ea typeface="TT Fors"/>
                <a:cs typeface="TT Fors"/>
                <a:sym typeface="TT Fors"/>
              </a:rPr>
              <a:t>s all services and their states (RUNNING, STOPPED, etc.)</a:t>
            </a:r>
          </a:p>
          <a:p>
            <a:pPr algn="l">
              <a:lnSpc>
                <a:spcPts val="3000"/>
              </a:lnSpc>
            </a:pPr>
          </a:p>
          <a:p>
            <a:pPr algn="l">
              <a:lnSpc>
                <a:spcPts val="3000"/>
              </a:lnSpc>
            </a:pPr>
            <a:r>
              <a:rPr lang="en-US" b="true" sz="2000" spc="-60" strike="noStrike" u="none">
                <a:solidFill>
                  <a:srgbClr val="00FFA8"/>
                </a:solidFill>
                <a:latin typeface="TT Fors Bold"/>
                <a:ea typeface="TT Fors Bold"/>
                <a:cs typeface="TT Fors Bold"/>
                <a:sym typeface="TT Fors Bold"/>
              </a:rPr>
              <a:t>Method 2: Net command</a:t>
            </a:r>
          </a:p>
          <a:p>
            <a:pPr algn="l">
              <a:lnSpc>
                <a:spcPts val="3000"/>
              </a:lnSpc>
            </a:pPr>
            <a:r>
              <a:rPr lang="en-US" sz="2000" spc="-60" strike="noStrike" u="none">
                <a:solidFill>
                  <a:srgbClr val="FFFFFF"/>
                </a:solidFill>
                <a:latin typeface="TT Fors"/>
                <a:ea typeface="TT Fors"/>
                <a:cs typeface="TT Fors"/>
                <a:sym typeface="TT Fors"/>
              </a:rPr>
              <a:t>C:\&gt; net start</a:t>
            </a:r>
          </a:p>
          <a:p>
            <a:pPr algn="l">
              <a:lnSpc>
                <a:spcPts val="3000"/>
              </a:lnSpc>
            </a:pPr>
            <a:r>
              <a:rPr lang="en-US" sz="2000" spc="-60" strike="noStrike" u="none">
                <a:solidFill>
                  <a:srgbClr val="00FFA8"/>
                </a:solidFill>
                <a:latin typeface="TT Fors"/>
                <a:ea typeface="TT Fors"/>
                <a:cs typeface="TT Fors"/>
                <a:sym typeface="TT Fors"/>
              </a:rPr>
              <a:t>Shows: Running services only</a:t>
            </a:r>
          </a:p>
          <a:p>
            <a:pPr algn="l">
              <a:lnSpc>
                <a:spcPts val="3000"/>
              </a:lnSpc>
            </a:pPr>
          </a:p>
          <a:p>
            <a:pPr algn="l">
              <a:lnSpc>
                <a:spcPts val="3000"/>
              </a:lnSpc>
            </a:pPr>
            <a:r>
              <a:rPr lang="en-US" b="true" sz="2000" spc="-60" strike="noStrike" u="none">
                <a:solidFill>
                  <a:srgbClr val="00FFA8"/>
                </a:solidFill>
                <a:latin typeface="TT Fors Bold"/>
                <a:ea typeface="TT Fors Bold"/>
                <a:cs typeface="TT Fors Bold"/>
                <a:sym typeface="TT Fors Bold"/>
              </a:rPr>
              <a:t>Method 3: WMI</a:t>
            </a:r>
          </a:p>
          <a:p>
            <a:pPr algn="l">
              <a:lnSpc>
                <a:spcPts val="3000"/>
              </a:lnSpc>
            </a:pPr>
            <a:r>
              <a:rPr lang="en-US" sz="2000" spc="-60" strike="noStrike" u="none">
                <a:solidFill>
                  <a:srgbClr val="FFFFFF"/>
                </a:solidFill>
                <a:latin typeface="TT Fors"/>
                <a:ea typeface="TT Fors"/>
                <a:cs typeface="TT Fors"/>
                <a:sym typeface="TT Fors"/>
              </a:rPr>
              <a:t>C:\&gt; w</a:t>
            </a:r>
            <a:r>
              <a:rPr lang="en-US" sz="2000" spc="-60" strike="noStrike" u="none">
                <a:solidFill>
                  <a:srgbClr val="FFFFFF"/>
                </a:solidFill>
                <a:latin typeface="TT Fors"/>
                <a:ea typeface="TT Fors"/>
                <a:cs typeface="TT Fors"/>
                <a:sym typeface="TT Fors"/>
              </a:rPr>
              <a:t>mic service list brief</a:t>
            </a:r>
          </a:p>
          <a:p>
            <a:pPr algn="l">
              <a:lnSpc>
                <a:spcPts val="3000"/>
              </a:lnSpc>
            </a:pPr>
            <a:r>
              <a:rPr lang="en-US" sz="2000" spc="-60" strike="noStrike" u="none">
                <a:solidFill>
                  <a:srgbClr val="00FFA8"/>
                </a:solidFill>
                <a:latin typeface="TT Fors"/>
                <a:ea typeface="TT Fors"/>
                <a:cs typeface="TT Fors"/>
                <a:sym typeface="TT Fors"/>
              </a:rPr>
              <a:t>Shows: Service name, display name, state</a:t>
            </a:r>
          </a:p>
          <a:p>
            <a:pPr algn="l">
              <a:lnSpc>
                <a:spcPts val="3000"/>
              </a:lnSpc>
            </a:pPr>
            <a:r>
              <a:rPr lang="en-US" sz="2000" spc="-60" strike="noStrike" u="none">
                <a:solidFill>
                  <a:srgbClr val="FFFFFF"/>
                </a:solidFill>
                <a:latin typeface="TT Fors"/>
                <a:ea typeface="TT Fors"/>
                <a:cs typeface="TT Fors"/>
                <a:sym typeface="TT Fors"/>
              </a:rPr>
              <a:t>C:\&gt; wmic service get name,state,pathname</a:t>
            </a:r>
          </a:p>
          <a:p>
            <a:pPr algn="l">
              <a:lnSpc>
                <a:spcPts val="3000"/>
              </a:lnSpc>
            </a:pPr>
            <a:r>
              <a:rPr lang="en-US" sz="2000" spc="-60" strike="noStrike" u="none">
                <a:solidFill>
                  <a:srgbClr val="00FFA8"/>
                </a:solidFill>
                <a:latin typeface="TT Fors"/>
                <a:ea typeface="TT Fors"/>
                <a:cs typeface="TT Fors"/>
                <a:sym typeface="TT Fors"/>
              </a:rPr>
              <a:t>Shows: Service executable path (critical for privilege escalation)</a:t>
            </a:r>
          </a:p>
          <a:p>
            <a:pPr algn="l">
              <a:lnSpc>
                <a:spcPts val="3000"/>
              </a:lnSpc>
            </a:pPr>
          </a:p>
          <a:p>
            <a:pPr algn="l">
              <a:lnSpc>
                <a:spcPts val="3000"/>
              </a:lnSpc>
            </a:pPr>
            <a:r>
              <a:rPr lang="en-US" b="true" sz="2000" spc="-60" strike="noStrike" u="none">
                <a:solidFill>
                  <a:srgbClr val="00FFA8"/>
                </a:solidFill>
                <a:latin typeface="TT Fors Bold"/>
                <a:ea typeface="TT Fors Bold"/>
                <a:cs typeface="TT Fors Bold"/>
                <a:sym typeface="TT Fors Bold"/>
              </a:rPr>
              <a:t>Method 4: PowerShell</a:t>
            </a:r>
          </a:p>
          <a:p>
            <a:pPr algn="l">
              <a:lnSpc>
                <a:spcPts val="3000"/>
              </a:lnSpc>
            </a:pPr>
            <a:r>
              <a:rPr lang="en-US" sz="2000" spc="-60" strike="noStrike" u="none">
                <a:solidFill>
                  <a:srgbClr val="00FFA8"/>
                </a:solidFill>
                <a:latin typeface="TT Fors"/>
                <a:ea typeface="TT Fors"/>
                <a:cs typeface="TT Fors"/>
                <a:sym typeface="TT Fors"/>
              </a:rPr>
              <a:t>PS </a:t>
            </a:r>
            <a:r>
              <a:rPr lang="en-US" sz="2000" spc="-60" strike="noStrike" u="none">
                <a:solidFill>
                  <a:srgbClr val="FFFFFF"/>
                </a:solidFill>
                <a:latin typeface="TT Fors"/>
                <a:ea typeface="TT Fors"/>
                <a:cs typeface="TT Fors"/>
                <a:sym typeface="TT Fors"/>
              </a:rPr>
              <a:t>C:\&gt; Get-Service</a:t>
            </a:r>
          </a:p>
          <a:p>
            <a:pPr algn="l">
              <a:lnSpc>
                <a:spcPts val="3000"/>
              </a:lnSpc>
            </a:pPr>
            <a:r>
              <a:rPr lang="en-US" sz="2000" spc="-60" strike="noStrike" u="none">
                <a:solidFill>
                  <a:srgbClr val="00FFA8"/>
                </a:solidFill>
                <a:latin typeface="TT Fors"/>
                <a:ea typeface="TT Fors"/>
                <a:cs typeface="TT Fors"/>
                <a:sym typeface="TT Fors"/>
              </a:rPr>
              <a:t>Shows: Service status </a:t>
            </a:r>
            <a:r>
              <a:rPr lang="en-US" sz="2000" spc="-60" strike="noStrike" u="none">
                <a:solidFill>
                  <a:srgbClr val="00FFA8"/>
                </a:solidFill>
                <a:latin typeface="TT Fors"/>
                <a:ea typeface="TT Fors"/>
                <a:cs typeface="TT Fors"/>
                <a:sym typeface="TT Fors"/>
              </a:rPr>
              <a:t>in tab</a:t>
            </a:r>
            <a:r>
              <a:rPr lang="en-US" sz="2000" spc="-60" strike="noStrike" u="none">
                <a:solidFill>
                  <a:srgbClr val="00FFA8"/>
                </a:solidFill>
                <a:latin typeface="TT Fors"/>
                <a:ea typeface="TT Fors"/>
                <a:cs typeface="TT Fors"/>
                <a:sym typeface="TT Fors"/>
              </a:rPr>
              <a:t>l</a:t>
            </a:r>
            <a:r>
              <a:rPr lang="en-US" sz="2000" spc="-60" strike="noStrike" u="none">
                <a:solidFill>
                  <a:srgbClr val="00FFA8"/>
                </a:solidFill>
                <a:latin typeface="TT Fors"/>
                <a:ea typeface="TT Fors"/>
                <a:cs typeface="TT Fors"/>
                <a:sym typeface="TT Fors"/>
              </a:rPr>
              <a:t>e format</a:t>
            </a:r>
          </a:p>
        </p:txBody>
      </p:sp>
      <p:sp>
        <p:nvSpPr>
          <p:cNvPr name="TextBox 5" id="5"/>
          <p:cNvSpPr txBox="true"/>
          <p:nvPr/>
        </p:nvSpPr>
        <p:spPr>
          <a:xfrm rot="0">
            <a:off x="9144000" y="2565421"/>
            <a:ext cx="7603403" cy="7229475"/>
          </a:xfrm>
          <a:prstGeom prst="rect">
            <a:avLst/>
          </a:prstGeom>
        </p:spPr>
        <p:txBody>
          <a:bodyPr anchor="t" rtlCol="false" tIns="0" lIns="0" bIns="0" rIns="0">
            <a:spAutoFit/>
          </a:bodyPr>
          <a:lstStyle/>
          <a:p>
            <a:pPr algn="l">
              <a:lnSpc>
                <a:spcPts val="3000"/>
              </a:lnSpc>
            </a:pPr>
            <a:r>
              <a:rPr lang="en-US" sz="2000" spc="-60" b="true">
                <a:solidFill>
                  <a:srgbClr val="FFFFFF"/>
                </a:solidFill>
                <a:latin typeface="TT Fors Bold"/>
                <a:ea typeface="TT Fors Bold"/>
                <a:cs typeface="TT Fors Bold"/>
                <a:sym typeface="TT Fors Bold"/>
              </a:rPr>
              <a:t>Service Privilege Escalation Vectors</a:t>
            </a:r>
          </a:p>
          <a:p>
            <a:pPr algn="l">
              <a:lnSpc>
                <a:spcPts val="3000"/>
              </a:lnSpc>
            </a:pPr>
            <a:r>
              <a:rPr lang="en-US" sz="2000" spc="-60" b="true">
                <a:solidFill>
                  <a:srgbClr val="00FFA8"/>
                </a:solidFill>
                <a:latin typeface="TT Fors Bold"/>
                <a:ea typeface="TT Fors Bold"/>
                <a:cs typeface="TT Fors Bold"/>
                <a:sym typeface="TT Fors Bold"/>
              </a:rPr>
              <a:t>Unquoted Service Paths</a:t>
            </a:r>
          </a:p>
          <a:p>
            <a:pPr algn="l">
              <a:lnSpc>
                <a:spcPts val="3000"/>
              </a:lnSpc>
            </a:pPr>
            <a:r>
              <a:rPr lang="en-US" sz="2000" spc="-60">
                <a:solidFill>
                  <a:srgbClr val="00FFA8"/>
                </a:solidFill>
                <a:latin typeface="TT Fors"/>
                <a:ea typeface="TT Fors"/>
                <a:cs typeface="TT Fors"/>
                <a:sym typeface="TT Fors"/>
              </a:rPr>
              <a:t>If the service path is not quoted and contains spaces, Windows will try to execute intermediate paths.</a:t>
            </a:r>
          </a:p>
          <a:p>
            <a:pPr algn="l">
              <a:lnSpc>
                <a:spcPts val="3000"/>
              </a:lnSpc>
            </a:pPr>
            <a:r>
              <a:rPr lang="en-US" sz="2000" spc="-60" b="true">
                <a:solidFill>
                  <a:srgbClr val="00FFA8"/>
                </a:solidFill>
                <a:latin typeface="TT Fors Bold"/>
                <a:ea typeface="TT Fors Bold"/>
                <a:cs typeface="TT Fors Bold"/>
                <a:sym typeface="TT Fors Bold"/>
              </a:rPr>
              <a:t>Example:</a:t>
            </a:r>
            <a:r>
              <a:rPr lang="en-US" sz="2000" spc="-60">
                <a:solidFill>
                  <a:srgbClr val="00FFA8"/>
                </a:solidFill>
                <a:latin typeface="TT Fors"/>
                <a:ea typeface="TT Fors"/>
                <a:cs typeface="TT Fors"/>
                <a:sym typeface="TT Fors"/>
              </a:rPr>
              <a:t> </a:t>
            </a:r>
            <a:r>
              <a:rPr lang="en-US" sz="2000" spc="-60">
                <a:solidFill>
                  <a:srgbClr val="FFFFFF"/>
                </a:solidFill>
                <a:latin typeface="TT Fors"/>
                <a:ea typeface="TT Fors"/>
                <a:cs typeface="TT Fors"/>
                <a:sym typeface="TT Fors"/>
              </a:rPr>
              <a:t>C:\Program Files\My Service\service.exe</a:t>
            </a:r>
          </a:p>
          <a:p>
            <a:pPr algn="l">
              <a:lnSpc>
                <a:spcPts val="3000"/>
              </a:lnSpc>
            </a:pPr>
            <a:r>
              <a:rPr lang="en-US" sz="2000" spc="-60" b="true">
                <a:solidFill>
                  <a:srgbClr val="00FFA8"/>
                </a:solidFill>
                <a:latin typeface="TT Fors Bold"/>
                <a:ea typeface="TT Fors Bold"/>
                <a:cs typeface="TT Fors Bold"/>
                <a:sym typeface="TT Fors Bold"/>
              </a:rPr>
              <a:t>Windows tries:</a:t>
            </a:r>
            <a:r>
              <a:rPr lang="en-US" sz="2000" spc="-60">
                <a:solidFill>
                  <a:srgbClr val="00FFA8"/>
                </a:solidFill>
                <a:latin typeface="TT Fors"/>
                <a:ea typeface="TT Fors"/>
                <a:cs typeface="TT Fors"/>
                <a:sym typeface="TT Fors"/>
              </a:rPr>
              <a:t> </a:t>
            </a:r>
            <a:r>
              <a:rPr lang="en-US" sz="2000" spc="-60">
                <a:solidFill>
                  <a:srgbClr val="FFFFFF"/>
                </a:solidFill>
                <a:latin typeface="TT Fors"/>
                <a:ea typeface="TT Fors"/>
                <a:cs typeface="TT Fors"/>
                <a:sym typeface="TT Fors"/>
              </a:rPr>
              <a:t>C:\Program.exe, C:\Program Files\My.exe, then correct path</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Find unquoted paths:</a:t>
            </a:r>
          </a:p>
          <a:p>
            <a:pPr algn="l">
              <a:lnSpc>
                <a:spcPts val="3000"/>
              </a:lnSpc>
            </a:pPr>
            <a:r>
              <a:rPr lang="en-US" sz="2000" spc="-60">
                <a:solidFill>
                  <a:srgbClr val="FFFFFF"/>
                </a:solidFill>
                <a:latin typeface="TT Fors"/>
                <a:ea typeface="TT Fors"/>
                <a:cs typeface="TT Fors"/>
                <a:sym typeface="TT Fors"/>
              </a:rPr>
              <a:t>C:\&gt; wmic service get name,pathname | findstr /i /v "C:\Windows\\" | findstr /i /v "\"</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Insecure Service Permissions</a:t>
            </a:r>
          </a:p>
          <a:p>
            <a:pPr algn="l">
              <a:lnSpc>
                <a:spcPts val="3000"/>
              </a:lnSpc>
            </a:pPr>
            <a:r>
              <a:rPr lang="en-US" sz="2000" spc="-60">
                <a:solidFill>
                  <a:srgbClr val="00FFA8"/>
                </a:solidFill>
                <a:latin typeface="TT Fors"/>
                <a:ea typeface="TT Fors"/>
                <a:cs typeface="TT Fors"/>
                <a:sym typeface="TT Fors"/>
              </a:rPr>
              <a:t>Services with weak permissions can have their executable or configuration modified by non-admin users.</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Check with Sysinternals accesschk:</a:t>
            </a:r>
          </a:p>
          <a:p>
            <a:pPr algn="l">
              <a:lnSpc>
                <a:spcPts val="3000"/>
              </a:lnSpc>
            </a:pPr>
            <a:r>
              <a:rPr lang="en-US" sz="2000" spc="-60">
                <a:solidFill>
                  <a:srgbClr val="FFFFFF"/>
                </a:solidFill>
                <a:latin typeface="TT Fors"/>
                <a:ea typeface="TT Fors"/>
                <a:cs typeface="TT Fors"/>
                <a:sym typeface="TT Fors"/>
              </a:rPr>
              <a:t>C:\&gt; accesschk -ucqw * </a:t>
            </a:r>
          </a:p>
          <a:p>
            <a:pPr algn="l">
              <a:lnSpc>
                <a:spcPts val="3000"/>
              </a:lnSpc>
            </a:pPr>
            <a:r>
              <a:rPr lang="en-US" sz="2000" spc="-60">
                <a:solidFill>
                  <a:srgbClr val="00FFA8"/>
                </a:solidFill>
                <a:latin typeface="TT Fors"/>
                <a:ea typeface="TT Fors"/>
                <a:cs typeface="TT Fors"/>
                <a:sym typeface="TT Fors"/>
              </a:rPr>
              <a:t>Shows: Services with weak permissions (look for WRITE access)</a:t>
            </a:r>
          </a:p>
        </p:txBody>
      </p:sp>
      <p:grpSp>
        <p:nvGrpSpPr>
          <p:cNvPr name="Group 6" id="6"/>
          <p:cNvGrpSpPr/>
          <p:nvPr/>
        </p:nvGrpSpPr>
        <p:grpSpPr>
          <a:xfrm rot="0">
            <a:off x="16115522" y="751544"/>
            <a:ext cx="1505728" cy="810556"/>
            <a:chOff x="0" y="0"/>
            <a:chExt cx="2007638" cy="1080741"/>
          </a:xfrm>
        </p:grpSpPr>
        <p:grpSp>
          <p:nvGrpSpPr>
            <p:cNvPr name="Group 7" id="7"/>
            <p:cNvGrpSpPr/>
            <p:nvPr/>
          </p:nvGrpSpPr>
          <p:grpSpPr>
            <a:xfrm rot="0">
              <a:off x="0"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10" id="10"/>
            <p:cNvGrpSpPr/>
            <p:nvPr/>
          </p:nvGrpSpPr>
          <p:grpSpPr>
            <a:xfrm rot="0">
              <a:off x="926897" y="0"/>
              <a:ext cx="1080741" cy="108074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3" id="13"/>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5" id="15"/>
          <p:cNvSpPr txBox="true"/>
          <p:nvPr/>
        </p:nvSpPr>
        <p:spPr>
          <a:xfrm rot="0">
            <a:off x="666750" y="2021548"/>
            <a:ext cx="16954500" cy="390525"/>
          </a:xfrm>
          <a:prstGeom prst="rect">
            <a:avLst/>
          </a:prstGeom>
        </p:spPr>
        <p:txBody>
          <a:bodyPr anchor="t" rtlCol="false" tIns="0" lIns="0" bIns="0" rIns="0">
            <a:spAutoFit/>
          </a:bodyPr>
          <a:lstStyle/>
          <a:p>
            <a:pPr algn="l" marL="0" indent="0" lvl="0">
              <a:lnSpc>
                <a:spcPts val="3120"/>
              </a:lnSpc>
              <a:spcBef>
                <a:spcPct val="0"/>
              </a:spcBef>
            </a:pPr>
            <a:r>
              <a:rPr lang="en-US" sz="2600" spc="-78">
                <a:solidFill>
                  <a:srgbClr val="FFFFFF"/>
                </a:solidFill>
                <a:latin typeface="TT Fors"/>
                <a:ea typeface="TT Fors"/>
                <a:cs typeface="TT Fors"/>
                <a:sym typeface="TT Fors"/>
              </a:rPr>
              <a:t>Services run with SYSTEM or high privileges. M</a:t>
            </a:r>
            <a:r>
              <a:rPr lang="en-US" sz="2600" spc="-78">
                <a:solidFill>
                  <a:srgbClr val="FFFFFF"/>
                </a:solidFill>
                <a:latin typeface="TT Fors"/>
                <a:ea typeface="TT Fors"/>
                <a:cs typeface="TT Fors"/>
                <a:sym typeface="TT Fors"/>
              </a:rPr>
              <a:t>isconfigured services ar</a:t>
            </a:r>
            <a:r>
              <a:rPr lang="en-US" sz="2600" spc="-78">
                <a:solidFill>
                  <a:srgbClr val="FFFFFF"/>
                </a:solidFill>
                <a:latin typeface="TT Fors"/>
                <a:ea typeface="TT Fors"/>
                <a:cs typeface="TT Fors"/>
                <a:sym typeface="TT Fors"/>
              </a:rPr>
              <a:t>e common privilege escalation vectors.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Enumeration of Different Operating Systems (Cont’d)</a:t>
            </a:r>
          </a:p>
        </p:txBody>
      </p:sp>
      <p:sp>
        <p:nvSpPr>
          <p:cNvPr name="TextBox 3" id="3"/>
          <p:cNvSpPr txBox="true"/>
          <p:nvPr/>
        </p:nvSpPr>
        <p:spPr>
          <a:xfrm rot="0">
            <a:off x="666750" y="1322070"/>
            <a:ext cx="12864612" cy="493395"/>
          </a:xfrm>
          <a:prstGeom prst="rect">
            <a:avLst/>
          </a:prstGeom>
        </p:spPr>
        <p:txBody>
          <a:bodyPr anchor="t" rtlCol="false" tIns="0" lIns="0" bIns="0" rIns="0">
            <a:spAutoFit/>
          </a:bodyPr>
          <a:lstStyle/>
          <a:p>
            <a:pPr algn="l">
              <a:lnSpc>
                <a:spcPts val="4199"/>
              </a:lnSpc>
            </a:pPr>
            <a:r>
              <a:rPr lang="en-US" b="true" sz="2799" spc="-83">
                <a:solidFill>
                  <a:srgbClr val="00FFA8"/>
                </a:solidFill>
                <a:latin typeface="TT Fors Bold"/>
                <a:ea typeface="TT Fors Bold"/>
                <a:cs typeface="TT Fors Bold"/>
                <a:sym typeface="TT Fors Bold"/>
              </a:rPr>
              <a:t>Windows Accounts and Groups</a:t>
            </a:r>
          </a:p>
        </p:txBody>
      </p:sp>
      <p:sp>
        <p:nvSpPr>
          <p:cNvPr name="TextBox 4" id="4"/>
          <p:cNvSpPr txBox="true"/>
          <p:nvPr/>
        </p:nvSpPr>
        <p:spPr>
          <a:xfrm rot="0">
            <a:off x="666750" y="1916750"/>
            <a:ext cx="7603403" cy="6846569"/>
          </a:xfrm>
          <a:prstGeom prst="rect">
            <a:avLst/>
          </a:prstGeom>
        </p:spPr>
        <p:txBody>
          <a:bodyPr anchor="t" rtlCol="false" tIns="0" lIns="0" bIns="0" rIns="0">
            <a:spAutoFit/>
          </a:bodyPr>
          <a:lstStyle/>
          <a:p>
            <a:pPr algn="l">
              <a:lnSpc>
                <a:spcPts val="2700"/>
              </a:lnSpc>
            </a:pPr>
            <a:r>
              <a:rPr lang="en-US" b="true" sz="1800" spc="-54">
                <a:solidFill>
                  <a:srgbClr val="00FFA8"/>
                </a:solidFill>
                <a:latin typeface="TT Fors Bold"/>
                <a:ea typeface="TT Fors Bold"/>
                <a:cs typeface="TT Fors Bold"/>
                <a:sym typeface="TT Fors Bold"/>
              </a:rPr>
              <a:t>Enum</a:t>
            </a:r>
            <a:r>
              <a:rPr lang="en-US" b="true" sz="1800" spc="-54" strike="noStrike" u="none">
                <a:solidFill>
                  <a:srgbClr val="00FFA8"/>
                </a:solidFill>
                <a:latin typeface="TT Fors Bold"/>
                <a:ea typeface="TT Fors Bold"/>
                <a:cs typeface="TT Fors Bold"/>
                <a:sym typeface="TT Fors Bold"/>
              </a:rPr>
              <a:t>erate cu</a:t>
            </a:r>
            <a:r>
              <a:rPr lang="en-US" b="true" sz="1800" spc="-54" strike="noStrike" u="none">
                <a:solidFill>
                  <a:srgbClr val="00FFA8"/>
                </a:solidFill>
                <a:latin typeface="TT Fors Bold"/>
                <a:ea typeface="TT Fors Bold"/>
                <a:cs typeface="TT Fors Bold"/>
                <a:sym typeface="TT Fors Bold"/>
              </a:rPr>
              <a:t>rrent user:</a:t>
            </a:r>
          </a:p>
          <a:p>
            <a:pPr algn="l">
              <a:lnSpc>
                <a:spcPts val="2700"/>
              </a:lnSpc>
            </a:pPr>
            <a:r>
              <a:rPr lang="en-US" sz="1800" spc="-54" strike="noStrike" u="none">
                <a:solidFill>
                  <a:srgbClr val="FFFFFF"/>
                </a:solidFill>
                <a:latin typeface="TT Fors"/>
                <a:ea typeface="TT Fors"/>
                <a:cs typeface="TT Fors"/>
                <a:sym typeface="TT Fors"/>
              </a:rPr>
              <a:t>C:\&gt; whoami</a:t>
            </a:r>
          </a:p>
          <a:p>
            <a:pPr algn="l">
              <a:lnSpc>
                <a:spcPts val="2700"/>
              </a:lnSpc>
            </a:pPr>
            <a:r>
              <a:rPr lang="en-US" sz="1800" spc="-54" strike="noStrike" u="none">
                <a:solidFill>
                  <a:srgbClr val="FFFFFF"/>
                </a:solidFill>
                <a:latin typeface="TT Fors"/>
                <a:ea typeface="TT Fors"/>
                <a:cs typeface="TT Fors"/>
                <a:sym typeface="TT Fors"/>
              </a:rPr>
              <a:t>C:\&gt; whoam</a:t>
            </a:r>
            <a:r>
              <a:rPr lang="en-US" sz="1800" spc="-54" strike="noStrike" u="none">
                <a:solidFill>
                  <a:srgbClr val="FFFFFF"/>
                </a:solidFill>
                <a:latin typeface="TT Fors"/>
                <a:ea typeface="TT Fors"/>
                <a:cs typeface="TT Fors"/>
                <a:sym typeface="TT Fors"/>
              </a:rPr>
              <a:t>i /all</a:t>
            </a:r>
          </a:p>
          <a:p>
            <a:pPr algn="l">
              <a:lnSpc>
                <a:spcPts val="2700"/>
              </a:lnSpc>
            </a:pPr>
            <a:r>
              <a:rPr lang="en-US" sz="1800" spc="-54" strike="noStrike" u="none">
                <a:solidFill>
                  <a:srgbClr val="00FFA8"/>
                </a:solidFill>
                <a:latin typeface="TT Fors"/>
                <a:ea typeface="TT Fors"/>
                <a:cs typeface="TT Fors"/>
                <a:sym typeface="TT Fors"/>
              </a:rPr>
              <a:t>Shows: Current user and group membership with SIDs</a:t>
            </a:r>
          </a:p>
          <a:p>
            <a:pPr algn="l">
              <a:lnSpc>
                <a:spcPts val="2700"/>
              </a:lnSpc>
            </a:pPr>
          </a:p>
          <a:p>
            <a:pPr algn="l">
              <a:lnSpc>
                <a:spcPts val="2700"/>
              </a:lnSpc>
            </a:pPr>
            <a:r>
              <a:rPr lang="en-US" b="true" sz="1800" spc="-54" strike="noStrike" u="none">
                <a:solidFill>
                  <a:srgbClr val="00FFA8"/>
                </a:solidFill>
                <a:latin typeface="TT Fors Bold"/>
                <a:ea typeface="TT Fors Bold"/>
                <a:cs typeface="TT Fors Bold"/>
                <a:sym typeface="TT Fors Bold"/>
              </a:rPr>
              <a:t>Enum</a:t>
            </a:r>
            <a:r>
              <a:rPr lang="en-US" b="true" sz="1800" spc="-54" strike="noStrike" u="none">
                <a:solidFill>
                  <a:srgbClr val="00FFA8"/>
                </a:solidFill>
                <a:latin typeface="TT Fors Bold"/>
                <a:ea typeface="TT Fors Bold"/>
                <a:cs typeface="TT Fors Bold"/>
                <a:sym typeface="TT Fors Bold"/>
              </a:rPr>
              <a:t>erate local users and groups:</a:t>
            </a:r>
          </a:p>
          <a:p>
            <a:pPr algn="l">
              <a:lnSpc>
                <a:spcPts val="2700"/>
              </a:lnSpc>
            </a:pPr>
            <a:r>
              <a:rPr lang="en-US" sz="1800" spc="-54" strike="noStrike" u="none">
                <a:solidFill>
                  <a:srgbClr val="FFFFFF"/>
                </a:solidFill>
                <a:latin typeface="TT Fors"/>
                <a:ea typeface="TT Fors"/>
                <a:cs typeface="TT Fors"/>
                <a:sym typeface="TT Fors"/>
              </a:rPr>
              <a:t>C:\&gt; net user</a:t>
            </a:r>
          </a:p>
          <a:p>
            <a:pPr algn="l">
              <a:lnSpc>
                <a:spcPts val="2700"/>
              </a:lnSpc>
            </a:pPr>
            <a:r>
              <a:rPr lang="en-US" sz="1800" spc="-54" strike="noStrike" u="none">
                <a:solidFill>
                  <a:srgbClr val="00FFA8"/>
                </a:solidFill>
                <a:latin typeface="TT Fors"/>
                <a:ea typeface="TT Fors"/>
                <a:cs typeface="TT Fors"/>
                <a:sym typeface="TT Fors"/>
              </a:rPr>
              <a:t>Li</a:t>
            </a:r>
            <a:r>
              <a:rPr lang="en-US" sz="1800" spc="-54" strike="noStrike" u="none">
                <a:solidFill>
                  <a:srgbClr val="00FFA8"/>
                </a:solidFill>
                <a:latin typeface="TT Fors"/>
                <a:ea typeface="TT Fors"/>
                <a:cs typeface="TT Fors"/>
                <a:sym typeface="TT Fors"/>
              </a:rPr>
              <a:t>sts all local user accounts</a:t>
            </a:r>
          </a:p>
          <a:p>
            <a:pPr algn="l">
              <a:lnSpc>
                <a:spcPts val="2700"/>
              </a:lnSpc>
            </a:pPr>
            <a:r>
              <a:rPr lang="en-US" sz="1800" spc="-54" strike="noStrike" u="none">
                <a:solidFill>
                  <a:srgbClr val="FFFFFF"/>
                </a:solidFill>
                <a:latin typeface="TT Fors"/>
                <a:ea typeface="TT Fors"/>
                <a:cs typeface="TT Fors"/>
                <a:sym typeface="TT Fors"/>
              </a:rPr>
              <a:t>C:\&gt; net</a:t>
            </a:r>
            <a:r>
              <a:rPr lang="en-US" sz="1800" spc="-54" strike="noStrike" u="none">
                <a:solidFill>
                  <a:srgbClr val="FFFFFF"/>
                </a:solidFill>
                <a:latin typeface="TT Fors"/>
                <a:ea typeface="TT Fors"/>
                <a:cs typeface="TT Fors"/>
                <a:sym typeface="TT Fors"/>
              </a:rPr>
              <a:t> user username</a:t>
            </a:r>
          </a:p>
          <a:p>
            <a:pPr algn="l">
              <a:lnSpc>
                <a:spcPts val="2700"/>
              </a:lnSpc>
            </a:pPr>
            <a:r>
              <a:rPr lang="en-US" sz="1800" spc="-54" strike="noStrike" u="none">
                <a:solidFill>
                  <a:srgbClr val="00FFA8"/>
                </a:solidFill>
                <a:latin typeface="TT Fors"/>
                <a:ea typeface="TT Fors"/>
                <a:cs typeface="TT Fors"/>
                <a:sym typeface="TT Fors"/>
              </a:rPr>
              <a:t>Shows: Account details (last login, password requirements, groups)</a:t>
            </a:r>
          </a:p>
          <a:p>
            <a:pPr algn="l">
              <a:lnSpc>
                <a:spcPts val="2700"/>
              </a:lnSpc>
            </a:pPr>
            <a:r>
              <a:rPr lang="en-US" sz="1800" spc="-54" strike="noStrike" u="none">
                <a:solidFill>
                  <a:srgbClr val="FFFFFF"/>
                </a:solidFill>
                <a:latin typeface="TT Fors"/>
                <a:ea typeface="TT Fors"/>
                <a:cs typeface="TT Fors"/>
                <a:sym typeface="TT Fors"/>
              </a:rPr>
              <a:t>C:\&gt; net localgroup</a:t>
            </a:r>
          </a:p>
          <a:p>
            <a:pPr algn="l">
              <a:lnSpc>
                <a:spcPts val="2700"/>
              </a:lnSpc>
            </a:pPr>
            <a:r>
              <a:rPr lang="en-US" sz="1800" spc="-54" strike="noStrike" u="none">
                <a:solidFill>
                  <a:srgbClr val="00FFA8"/>
                </a:solidFill>
                <a:latin typeface="TT Fors"/>
                <a:ea typeface="TT Fors"/>
                <a:cs typeface="TT Fors"/>
                <a:sym typeface="TT Fors"/>
              </a:rPr>
              <a:t>Lists all local groups</a:t>
            </a:r>
          </a:p>
          <a:p>
            <a:pPr algn="l">
              <a:lnSpc>
                <a:spcPts val="2700"/>
              </a:lnSpc>
            </a:pPr>
            <a:r>
              <a:rPr lang="en-US" sz="1800" spc="-54" strike="noStrike" u="none">
                <a:solidFill>
                  <a:srgbClr val="FFFFFF"/>
                </a:solidFill>
                <a:latin typeface="TT Fors"/>
                <a:ea typeface="TT Fors"/>
                <a:cs typeface="TT Fors"/>
                <a:sym typeface="TT Fors"/>
              </a:rPr>
              <a:t>C:\&gt; net localgroup Administrators</a:t>
            </a:r>
          </a:p>
          <a:p>
            <a:pPr algn="l">
              <a:lnSpc>
                <a:spcPts val="2700"/>
              </a:lnSpc>
            </a:pPr>
            <a:r>
              <a:rPr lang="en-US" sz="1800" spc="-54" strike="noStrike" u="none">
                <a:solidFill>
                  <a:srgbClr val="00FFA8"/>
                </a:solidFill>
                <a:latin typeface="TT Fors"/>
                <a:ea typeface="TT Fors"/>
                <a:cs typeface="TT Fors"/>
                <a:sym typeface="TT Fors"/>
              </a:rPr>
              <a:t>Shows members of the Administrators group (high-value targets)</a:t>
            </a:r>
          </a:p>
          <a:p>
            <a:pPr algn="l">
              <a:lnSpc>
                <a:spcPts val="2700"/>
              </a:lnSpc>
            </a:pPr>
          </a:p>
          <a:p>
            <a:pPr algn="l">
              <a:lnSpc>
                <a:spcPts val="2700"/>
              </a:lnSpc>
            </a:pPr>
            <a:r>
              <a:rPr lang="en-US" b="true" sz="1800" spc="-54" strike="noStrike" u="none">
                <a:solidFill>
                  <a:srgbClr val="00FFA8"/>
                </a:solidFill>
                <a:latin typeface="TT Fors Bold"/>
                <a:ea typeface="TT Fors Bold"/>
                <a:cs typeface="TT Fors Bold"/>
                <a:sym typeface="TT Fors Bold"/>
              </a:rPr>
              <a:t>Enumerate Active Directory (domain environments):</a:t>
            </a:r>
          </a:p>
          <a:p>
            <a:pPr algn="l">
              <a:lnSpc>
                <a:spcPts val="2700"/>
              </a:lnSpc>
            </a:pPr>
            <a:r>
              <a:rPr lang="en-US" sz="1800" spc="-54" strike="noStrike" u="none">
                <a:solidFill>
                  <a:srgbClr val="FFFFFF"/>
                </a:solidFill>
                <a:latin typeface="TT Fors"/>
                <a:ea typeface="TT Fors"/>
                <a:cs typeface="TT Fors"/>
                <a:sym typeface="TT Fors"/>
              </a:rPr>
              <a:t>C:\&gt; n</a:t>
            </a:r>
            <a:r>
              <a:rPr lang="en-US" sz="1800" spc="-54" strike="noStrike" u="none">
                <a:solidFill>
                  <a:srgbClr val="FFFFFF"/>
                </a:solidFill>
                <a:latin typeface="TT Fors"/>
                <a:ea typeface="TT Fors"/>
                <a:cs typeface="TT Fors"/>
                <a:sym typeface="TT Fors"/>
              </a:rPr>
              <a:t>et group "Domain Admins" /domain</a:t>
            </a:r>
          </a:p>
          <a:p>
            <a:pPr algn="l">
              <a:lnSpc>
                <a:spcPts val="2700"/>
              </a:lnSpc>
            </a:pPr>
            <a:r>
              <a:rPr lang="en-US" sz="1800" spc="-54" strike="noStrike" u="none">
                <a:solidFill>
                  <a:srgbClr val="00FFA8"/>
                </a:solidFill>
                <a:latin typeface="TT Fors"/>
                <a:ea typeface="TT Fors"/>
                <a:cs typeface="TT Fors"/>
                <a:sym typeface="TT Fors"/>
              </a:rPr>
              <a:t>Shows: All domain</a:t>
            </a:r>
            <a:r>
              <a:rPr lang="en-US" sz="1800" spc="-54" strike="noStrike" u="none">
                <a:solidFill>
                  <a:srgbClr val="00FFA8"/>
                </a:solidFill>
                <a:latin typeface="TT Fors"/>
                <a:ea typeface="TT Fors"/>
                <a:cs typeface="TT Fors"/>
                <a:sym typeface="TT Fors"/>
              </a:rPr>
              <a:t> admin accounts</a:t>
            </a:r>
          </a:p>
          <a:p>
            <a:pPr algn="l">
              <a:lnSpc>
                <a:spcPts val="2700"/>
              </a:lnSpc>
            </a:pPr>
            <a:r>
              <a:rPr lang="en-US" sz="1800" spc="-54" strike="noStrike" u="none">
                <a:solidFill>
                  <a:srgbClr val="FFFFFF"/>
                </a:solidFill>
                <a:latin typeface="TT Fors"/>
                <a:ea typeface="TT Fors"/>
                <a:cs typeface="TT Fors"/>
                <a:sym typeface="TT Fors"/>
              </a:rPr>
              <a:t>C:\&gt; net user /domain</a:t>
            </a:r>
          </a:p>
          <a:p>
            <a:pPr algn="l">
              <a:lnSpc>
                <a:spcPts val="2700"/>
              </a:lnSpc>
            </a:pPr>
            <a:r>
              <a:rPr lang="en-US" sz="1800" spc="-54" strike="noStrike" u="none">
                <a:solidFill>
                  <a:srgbClr val="00FFA8"/>
                </a:solidFill>
                <a:latin typeface="TT Fors"/>
                <a:ea typeface="TT Fors"/>
                <a:cs typeface="TT Fors"/>
                <a:sym typeface="TT Fors"/>
              </a:rPr>
              <a:t>Shows: Domain users (</a:t>
            </a:r>
            <a:r>
              <a:rPr lang="en-US" sz="1800" spc="-54" strike="noStrike" u="none">
                <a:solidFill>
                  <a:srgbClr val="00FFA8"/>
                </a:solidFill>
                <a:latin typeface="TT Fors"/>
                <a:ea typeface="TT Fors"/>
                <a:cs typeface="TT Fors"/>
                <a:sym typeface="TT Fors"/>
              </a:rPr>
              <a:t>if not</a:t>
            </a:r>
            <a:r>
              <a:rPr lang="en-US" sz="1800" spc="-54" strike="noStrike" u="none">
                <a:solidFill>
                  <a:srgbClr val="00FFA8"/>
                </a:solidFill>
                <a:latin typeface="TT Fors"/>
                <a:ea typeface="TT Fors"/>
                <a:cs typeface="TT Fors"/>
                <a:sym typeface="TT Fors"/>
              </a:rPr>
              <a:t> restricted)</a:t>
            </a:r>
          </a:p>
        </p:txBody>
      </p:sp>
      <p:sp>
        <p:nvSpPr>
          <p:cNvPr name="TextBox 5" id="5"/>
          <p:cNvSpPr txBox="true"/>
          <p:nvPr/>
        </p:nvSpPr>
        <p:spPr>
          <a:xfrm rot="0">
            <a:off x="7923021" y="1916750"/>
            <a:ext cx="9698229" cy="6846569"/>
          </a:xfrm>
          <a:prstGeom prst="rect">
            <a:avLst/>
          </a:prstGeom>
        </p:spPr>
        <p:txBody>
          <a:bodyPr anchor="t" rtlCol="false" tIns="0" lIns="0" bIns="0" rIns="0">
            <a:spAutoFit/>
          </a:bodyPr>
          <a:lstStyle/>
          <a:p>
            <a:pPr algn="l">
              <a:lnSpc>
                <a:spcPts val="2700"/>
              </a:lnSpc>
            </a:pPr>
            <a:r>
              <a:rPr lang="en-US" sz="1800" spc="-54" b="true">
                <a:solidFill>
                  <a:srgbClr val="00FFA8"/>
                </a:solidFill>
                <a:latin typeface="TT Fors Bold"/>
                <a:ea typeface="TT Fors Bold"/>
                <a:cs typeface="TT Fors Bold"/>
                <a:sym typeface="TT Fors Bold"/>
              </a:rPr>
              <a:t>Network Configuration</a:t>
            </a:r>
          </a:p>
          <a:p>
            <a:pPr algn="l">
              <a:lnSpc>
                <a:spcPts val="2700"/>
              </a:lnSpc>
            </a:pPr>
            <a:r>
              <a:rPr lang="en-US" sz="1800" spc="-54">
                <a:solidFill>
                  <a:srgbClr val="FFFFFF"/>
                </a:solidFill>
                <a:latin typeface="TT Fors"/>
                <a:ea typeface="TT Fors"/>
                <a:cs typeface="TT Fors"/>
                <a:sym typeface="TT Fors"/>
              </a:rPr>
              <a:t>C:\&gt; ipco</a:t>
            </a:r>
            <a:r>
              <a:rPr lang="en-US" sz="1800" spc="-54">
                <a:solidFill>
                  <a:srgbClr val="FFFFFF"/>
                </a:solidFill>
                <a:latin typeface="TT Fors"/>
                <a:ea typeface="TT Fors"/>
                <a:cs typeface="TT Fors"/>
                <a:sym typeface="TT Fors"/>
              </a:rPr>
              <a:t>nfig /all </a:t>
            </a:r>
            <a:r>
              <a:rPr lang="en-US" sz="1800" spc="-54">
                <a:solidFill>
                  <a:srgbClr val="00FFA8"/>
                </a:solidFill>
                <a:latin typeface="TT Fors"/>
                <a:ea typeface="TT Fors"/>
                <a:cs typeface="TT Fors"/>
                <a:sym typeface="TT Fors"/>
              </a:rPr>
              <a:t>(</a:t>
            </a:r>
            <a:r>
              <a:rPr lang="en-US" sz="1800" spc="-54">
                <a:solidFill>
                  <a:srgbClr val="00FFA8"/>
                </a:solidFill>
                <a:latin typeface="TT Fors"/>
                <a:ea typeface="TT Fors"/>
                <a:cs typeface="TT Fors"/>
                <a:sym typeface="TT Fors"/>
              </a:rPr>
              <a:t>Shows: All network adapters, DHCP, DNS servers, IP configuration)</a:t>
            </a:r>
          </a:p>
          <a:p>
            <a:pPr algn="l">
              <a:lnSpc>
                <a:spcPts val="2700"/>
              </a:lnSpc>
            </a:pPr>
            <a:r>
              <a:rPr lang="en-US" sz="1800" spc="-54">
                <a:solidFill>
                  <a:srgbClr val="FFFFFF"/>
                </a:solidFill>
                <a:latin typeface="TT Fors"/>
                <a:ea typeface="TT Fors"/>
                <a:cs typeface="TT Fors"/>
                <a:sym typeface="TT Fors"/>
              </a:rPr>
              <a:t>C:\&gt; route print </a:t>
            </a:r>
            <a:r>
              <a:rPr lang="en-US" sz="1800" spc="-54">
                <a:solidFill>
                  <a:srgbClr val="00FFA8"/>
                </a:solidFill>
                <a:latin typeface="TT Fors"/>
                <a:ea typeface="TT Fors"/>
                <a:cs typeface="TT Fors"/>
                <a:sym typeface="TT Fors"/>
              </a:rPr>
              <a:t>(</a:t>
            </a:r>
            <a:r>
              <a:rPr lang="en-US" sz="1800" spc="-54">
                <a:solidFill>
                  <a:srgbClr val="00FFA8"/>
                </a:solidFill>
                <a:latin typeface="TT Fors"/>
                <a:ea typeface="TT Fors"/>
                <a:cs typeface="TT Fors"/>
                <a:sym typeface="TT Fors"/>
              </a:rPr>
              <a:t>Sh</a:t>
            </a:r>
            <a:r>
              <a:rPr lang="en-US" sz="1800" spc="-54">
                <a:solidFill>
                  <a:srgbClr val="00FFA8"/>
                </a:solidFill>
                <a:latin typeface="TT Fors"/>
                <a:ea typeface="TT Fors"/>
                <a:cs typeface="TT Fors"/>
                <a:sym typeface="TT Fors"/>
              </a:rPr>
              <a:t>ows: Routing table, available networks, and gateways)</a:t>
            </a:r>
          </a:p>
          <a:p>
            <a:pPr algn="l">
              <a:lnSpc>
                <a:spcPts val="2700"/>
              </a:lnSpc>
            </a:pPr>
            <a:r>
              <a:rPr lang="en-US" sz="1800" spc="-54">
                <a:solidFill>
                  <a:srgbClr val="FFFFFF"/>
                </a:solidFill>
                <a:latin typeface="TT Fors"/>
                <a:ea typeface="TT Fors"/>
                <a:cs typeface="TT Fors"/>
                <a:sym typeface="TT Fors"/>
              </a:rPr>
              <a:t>C:\&gt; arp -a </a:t>
            </a:r>
            <a:r>
              <a:rPr lang="en-US" sz="1800" spc="-54">
                <a:solidFill>
                  <a:srgbClr val="00FFA8"/>
                </a:solidFill>
                <a:latin typeface="TT Fors"/>
                <a:ea typeface="TT Fors"/>
                <a:cs typeface="TT Fors"/>
                <a:sym typeface="TT Fors"/>
              </a:rPr>
              <a:t>(Shows: ARP cache, recently accessed IP addresses, and MAC addresses)</a:t>
            </a:r>
          </a:p>
          <a:p>
            <a:pPr algn="l">
              <a:lnSpc>
                <a:spcPts val="2700"/>
              </a:lnSpc>
            </a:pPr>
            <a:r>
              <a:rPr lang="en-US" sz="1800" spc="-54">
                <a:solidFill>
                  <a:srgbClr val="FFFFFF"/>
                </a:solidFill>
                <a:latin typeface="TT Fors"/>
                <a:ea typeface="TT Fors"/>
                <a:cs typeface="TT Fors"/>
                <a:sym typeface="TT Fors"/>
              </a:rPr>
              <a:t>C:\&gt; netstat -ano </a:t>
            </a:r>
            <a:r>
              <a:rPr lang="en-US" sz="1800" spc="-54">
                <a:solidFill>
                  <a:srgbClr val="00FFA8"/>
                </a:solidFill>
                <a:latin typeface="TT Fors"/>
                <a:ea typeface="TT Fors"/>
                <a:cs typeface="TT Fors"/>
                <a:sym typeface="TT Fors"/>
              </a:rPr>
              <a:t>(Shows: Active connections, listening ports, Process IDs)</a:t>
            </a:r>
          </a:p>
          <a:p>
            <a:pPr algn="l">
              <a:lnSpc>
                <a:spcPts val="2700"/>
              </a:lnSpc>
            </a:pPr>
            <a:r>
              <a:rPr lang="en-US" sz="1800" spc="-54">
                <a:solidFill>
                  <a:srgbClr val="FFFFFF"/>
                </a:solidFill>
                <a:latin typeface="TT Fors"/>
                <a:ea typeface="TT Fors"/>
                <a:cs typeface="TT Fors"/>
                <a:sym typeface="TT Fors"/>
              </a:rPr>
              <a:t>C:\&gt; net share </a:t>
            </a:r>
            <a:r>
              <a:rPr lang="en-US" sz="1800" spc="-54">
                <a:solidFill>
                  <a:srgbClr val="00FFA8"/>
                </a:solidFill>
                <a:latin typeface="TT Fors"/>
                <a:ea typeface="TT Fors"/>
                <a:cs typeface="TT Fors"/>
                <a:sym typeface="TT Fors"/>
              </a:rPr>
              <a:t>(Shows: Shared folders and printers</a:t>
            </a:r>
            <a:r>
              <a:rPr lang="en-US" sz="1800" spc="-54">
                <a:solidFill>
                  <a:srgbClr val="00FFA8"/>
                </a:solidFill>
                <a:latin typeface="TT Fors"/>
                <a:ea typeface="TT Fors"/>
                <a:cs typeface="TT Fors"/>
                <a:sym typeface="TT Fors"/>
              </a:rPr>
              <a:t>)</a:t>
            </a:r>
          </a:p>
          <a:p>
            <a:pPr algn="l">
              <a:lnSpc>
                <a:spcPts val="2700"/>
              </a:lnSpc>
            </a:pPr>
          </a:p>
          <a:p>
            <a:pPr algn="l">
              <a:lnSpc>
                <a:spcPts val="2700"/>
              </a:lnSpc>
            </a:pPr>
            <a:r>
              <a:rPr lang="en-US" sz="1800" spc="-54" b="true">
                <a:solidFill>
                  <a:srgbClr val="00FFA8"/>
                </a:solidFill>
                <a:latin typeface="TT Fors Bold"/>
                <a:ea typeface="TT Fors Bold"/>
                <a:cs typeface="TT Fors Bold"/>
                <a:sym typeface="TT Fors Bold"/>
              </a:rPr>
              <a:t>Security Software Detection</a:t>
            </a:r>
          </a:p>
          <a:p>
            <a:pPr algn="l">
              <a:lnSpc>
                <a:spcPts val="2700"/>
              </a:lnSpc>
            </a:pPr>
          </a:p>
          <a:p>
            <a:pPr algn="l">
              <a:lnSpc>
                <a:spcPts val="2700"/>
              </a:lnSpc>
            </a:pPr>
            <a:r>
              <a:rPr lang="en-US" sz="1800" spc="-54" b="true">
                <a:solidFill>
                  <a:srgbClr val="00FFA8"/>
                </a:solidFill>
                <a:latin typeface="TT Fors Bold"/>
                <a:ea typeface="TT Fors Bold"/>
                <a:cs typeface="TT Fors Bold"/>
                <a:sym typeface="TT Fors Bold"/>
              </a:rPr>
              <a:t>Antivirus Detection</a:t>
            </a:r>
          </a:p>
          <a:p>
            <a:pPr algn="l">
              <a:lnSpc>
                <a:spcPts val="2700"/>
              </a:lnSpc>
            </a:pPr>
            <a:r>
              <a:rPr lang="en-US" sz="1800" spc="-54">
                <a:solidFill>
                  <a:srgbClr val="FFFFFF"/>
                </a:solidFill>
                <a:latin typeface="TT Fors"/>
                <a:ea typeface="TT Fors"/>
                <a:cs typeface="TT Fors"/>
                <a:sym typeface="TT Fors"/>
              </a:rPr>
              <a:t>C:\&gt; sc query windefend</a:t>
            </a:r>
          </a:p>
          <a:p>
            <a:pPr algn="l">
              <a:lnSpc>
                <a:spcPts val="2700"/>
              </a:lnSpc>
            </a:pPr>
          </a:p>
          <a:p>
            <a:pPr algn="l">
              <a:lnSpc>
                <a:spcPts val="2700"/>
              </a:lnSpc>
            </a:pPr>
            <a:r>
              <a:rPr lang="en-US" sz="1800" spc="-54" b="true">
                <a:solidFill>
                  <a:srgbClr val="00FFA8"/>
                </a:solidFill>
                <a:latin typeface="TT Fors Bold"/>
                <a:ea typeface="TT Fors Bold"/>
                <a:cs typeface="TT Fors Bold"/>
                <a:sym typeface="TT Fors Bold"/>
              </a:rPr>
              <a:t>Checks Windows Defender status</a:t>
            </a:r>
          </a:p>
          <a:p>
            <a:pPr algn="l">
              <a:lnSpc>
                <a:spcPts val="2700"/>
              </a:lnSpc>
            </a:pPr>
            <a:r>
              <a:rPr lang="en-US" sz="1800" spc="-54">
                <a:solidFill>
                  <a:srgbClr val="FFFFFF"/>
                </a:solidFill>
                <a:latin typeface="TT Fors"/>
                <a:ea typeface="TT Fors"/>
                <a:cs typeface="TT Fors"/>
                <a:sym typeface="TT Fors"/>
              </a:rPr>
              <a:t>C:\&gt; wmic /namespace:\\root\securitycenter2 path antivirusproduct</a:t>
            </a:r>
          </a:p>
          <a:p>
            <a:pPr algn="l">
              <a:lnSpc>
                <a:spcPts val="2700"/>
              </a:lnSpc>
            </a:pPr>
            <a:r>
              <a:rPr lang="en-US" sz="1800" spc="-54">
                <a:solidFill>
                  <a:srgbClr val="00FFA8"/>
                </a:solidFill>
                <a:latin typeface="TT Fors"/>
                <a:ea typeface="TT Fors"/>
                <a:cs typeface="TT Fors"/>
                <a:sym typeface="TT Fors"/>
              </a:rPr>
              <a:t>Lists all antivirus products on the system</a:t>
            </a:r>
          </a:p>
          <a:p>
            <a:pPr algn="l">
              <a:lnSpc>
                <a:spcPts val="2700"/>
              </a:lnSpc>
            </a:pPr>
            <a:r>
              <a:rPr lang="en-US" sz="1800" spc="-54">
                <a:solidFill>
                  <a:srgbClr val="00FFA8"/>
                </a:solidFill>
                <a:latin typeface="TT Fors"/>
                <a:ea typeface="TT Fors"/>
                <a:cs typeface="TT Fors"/>
                <a:sym typeface="TT Fors"/>
              </a:rPr>
              <a:t>PS </a:t>
            </a:r>
            <a:r>
              <a:rPr lang="en-US" sz="1800" spc="-54">
                <a:solidFill>
                  <a:srgbClr val="FFFFFF"/>
                </a:solidFill>
                <a:latin typeface="TT Fors"/>
                <a:ea typeface="TT Fors"/>
                <a:cs typeface="TT Fors"/>
                <a:sym typeface="TT Fors"/>
              </a:rPr>
              <a:t>C:\&gt; Get-MpComputerStatus </a:t>
            </a:r>
            <a:r>
              <a:rPr lang="en-US" sz="1800" spc="-54">
                <a:solidFill>
                  <a:srgbClr val="00FFA8"/>
                </a:solidFill>
                <a:latin typeface="TT Fors"/>
                <a:ea typeface="TT Fors"/>
                <a:cs typeface="TT Fors"/>
                <a:sym typeface="TT Fors"/>
              </a:rPr>
              <a:t>(PowerShell: Detailed Windows Defender status)</a:t>
            </a:r>
          </a:p>
          <a:p>
            <a:pPr algn="l">
              <a:lnSpc>
                <a:spcPts val="2700"/>
              </a:lnSpc>
            </a:pPr>
          </a:p>
          <a:p>
            <a:pPr algn="l">
              <a:lnSpc>
                <a:spcPts val="2700"/>
              </a:lnSpc>
            </a:pPr>
            <a:r>
              <a:rPr lang="en-US" sz="1800" spc="-54" b="true">
                <a:solidFill>
                  <a:srgbClr val="00FFA8"/>
                </a:solidFill>
                <a:latin typeface="TT Fors Bold"/>
                <a:ea typeface="TT Fors Bold"/>
                <a:cs typeface="TT Fors Bold"/>
                <a:sym typeface="TT Fors Bold"/>
              </a:rPr>
              <a:t>Firewall Detection</a:t>
            </a:r>
          </a:p>
          <a:p>
            <a:pPr algn="l">
              <a:lnSpc>
                <a:spcPts val="2700"/>
              </a:lnSpc>
            </a:pPr>
            <a:r>
              <a:rPr lang="en-US" sz="1800" spc="-54">
                <a:solidFill>
                  <a:srgbClr val="FFFFFF"/>
                </a:solidFill>
                <a:latin typeface="TT Fors"/>
                <a:ea typeface="TT Fors"/>
                <a:cs typeface="TT Fors"/>
                <a:sym typeface="TT Fors"/>
              </a:rPr>
              <a:t>C:\&gt; netsh advfirewall firewall show rule name=all </a:t>
            </a:r>
            <a:r>
              <a:rPr lang="en-US" sz="1800" spc="-54">
                <a:solidFill>
                  <a:srgbClr val="00FFA8"/>
                </a:solidFill>
                <a:latin typeface="TT Fors"/>
                <a:ea typeface="TT Fors"/>
                <a:cs typeface="TT Fors"/>
                <a:sym typeface="TT Fors"/>
              </a:rPr>
              <a:t>(Shows: All firewall rules in detail)</a:t>
            </a:r>
          </a:p>
          <a:p>
            <a:pPr algn="l">
              <a:lnSpc>
                <a:spcPts val="2700"/>
              </a:lnSpc>
            </a:pPr>
            <a:r>
              <a:rPr lang="en-US" sz="1800" spc="-54">
                <a:solidFill>
                  <a:srgbClr val="FFFFFF"/>
                </a:solidFill>
                <a:latin typeface="TT Fors"/>
                <a:ea typeface="TT Fors"/>
                <a:cs typeface="TT Fors"/>
                <a:sym typeface="TT Fors"/>
              </a:rPr>
              <a:t>C:\&gt; netsh advfirewall show currentprofile </a:t>
            </a:r>
            <a:r>
              <a:rPr lang="en-US" sz="1800" spc="-54">
                <a:solidFill>
                  <a:srgbClr val="00FFA8"/>
                </a:solidFill>
                <a:latin typeface="TT Fors"/>
                <a:ea typeface="TT Fors"/>
                <a:cs typeface="TT Fors"/>
                <a:sym typeface="TT Fors"/>
              </a:rPr>
              <a:t>(Shows: Current firewall profile (Domain, Private, Public)</a:t>
            </a:r>
          </a:p>
        </p:txBody>
      </p:sp>
      <p:grpSp>
        <p:nvGrpSpPr>
          <p:cNvPr name="Group 6" id="6"/>
          <p:cNvGrpSpPr/>
          <p:nvPr/>
        </p:nvGrpSpPr>
        <p:grpSpPr>
          <a:xfrm rot="0">
            <a:off x="16115522" y="751544"/>
            <a:ext cx="1505728" cy="810556"/>
            <a:chOff x="0" y="0"/>
            <a:chExt cx="2007638" cy="1080741"/>
          </a:xfrm>
        </p:grpSpPr>
        <p:grpSp>
          <p:nvGrpSpPr>
            <p:cNvPr name="Group 7" id="7"/>
            <p:cNvGrpSpPr/>
            <p:nvPr/>
          </p:nvGrpSpPr>
          <p:grpSpPr>
            <a:xfrm rot="0">
              <a:off x="0"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10" id="10"/>
            <p:cNvGrpSpPr/>
            <p:nvPr/>
          </p:nvGrpSpPr>
          <p:grpSpPr>
            <a:xfrm rot="0">
              <a:off x="926897" y="0"/>
              <a:ext cx="1080741" cy="108074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3" id="13"/>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Enumeration of Different Operating Systems (Cont’d)</a:t>
            </a:r>
          </a:p>
        </p:txBody>
      </p:sp>
      <p:sp>
        <p:nvSpPr>
          <p:cNvPr name="TextBox 3" id="3"/>
          <p:cNvSpPr txBox="true"/>
          <p:nvPr/>
        </p:nvSpPr>
        <p:spPr>
          <a:xfrm rot="0">
            <a:off x="666750" y="1322070"/>
            <a:ext cx="12864612" cy="493395"/>
          </a:xfrm>
          <a:prstGeom prst="rect">
            <a:avLst/>
          </a:prstGeom>
        </p:spPr>
        <p:txBody>
          <a:bodyPr anchor="t" rtlCol="false" tIns="0" lIns="0" bIns="0" rIns="0">
            <a:spAutoFit/>
          </a:bodyPr>
          <a:lstStyle/>
          <a:p>
            <a:pPr algn="l">
              <a:lnSpc>
                <a:spcPts val="4199"/>
              </a:lnSpc>
            </a:pPr>
            <a:r>
              <a:rPr lang="en-US" b="true" sz="2799" spc="-83">
                <a:solidFill>
                  <a:srgbClr val="00FFA8"/>
                </a:solidFill>
                <a:latin typeface="TT Fors Bold"/>
                <a:ea typeface="TT Fors Bold"/>
                <a:cs typeface="TT Fors Bold"/>
                <a:sym typeface="TT Fors Bold"/>
              </a:rPr>
              <a:t>NetBIOS Enumeration</a:t>
            </a:r>
          </a:p>
        </p:txBody>
      </p:sp>
      <p:sp>
        <p:nvSpPr>
          <p:cNvPr name="TextBox 4" id="4"/>
          <p:cNvSpPr txBox="true"/>
          <p:nvPr/>
        </p:nvSpPr>
        <p:spPr>
          <a:xfrm rot="0">
            <a:off x="666750" y="3400903"/>
            <a:ext cx="8789189" cy="6503669"/>
          </a:xfrm>
          <a:prstGeom prst="rect">
            <a:avLst/>
          </a:prstGeom>
        </p:spPr>
        <p:txBody>
          <a:bodyPr anchor="t" rtlCol="false" tIns="0" lIns="0" bIns="0" rIns="0">
            <a:spAutoFit/>
          </a:bodyPr>
          <a:lstStyle/>
          <a:p>
            <a:pPr algn="l">
              <a:lnSpc>
                <a:spcPts val="2700"/>
              </a:lnSpc>
            </a:pPr>
            <a:r>
              <a:rPr lang="en-US" b="true" sz="1800" spc="-54">
                <a:solidFill>
                  <a:srgbClr val="00FFA8"/>
                </a:solidFill>
                <a:latin typeface="TT Fors Bold"/>
                <a:ea typeface="TT Fors Bold"/>
                <a:cs typeface="TT Fors Bold"/>
                <a:sym typeface="TT Fors Bold"/>
              </a:rPr>
              <a:t>NetBIOS Nam</a:t>
            </a:r>
            <a:r>
              <a:rPr lang="en-US" b="true" sz="1800" spc="-54" strike="noStrike" u="none">
                <a:solidFill>
                  <a:srgbClr val="00FFA8"/>
                </a:solidFill>
                <a:latin typeface="TT Fors Bold"/>
                <a:ea typeface="TT Fors Bold"/>
                <a:cs typeface="TT Fors Bold"/>
                <a:sym typeface="TT Fors Bold"/>
              </a:rPr>
              <a:t>e Format</a:t>
            </a:r>
          </a:p>
          <a:p>
            <a:pPr algn="l">
              <a:lnSpc>
                <a:spcPts val="2700"/>
              </a:lnSpc>
            </a:pPr>
            <a:r>
              <a:rPr lang="en-US" b="true" sz="1800" spc="-54" strike="noStrike" u="none">
                <a:solidFill>
                  <a:srgbClr val="00FFA8"/>
                </a:solidFill>
                <a:latin typeface="TT Fors Bold"/>
                <a:ea typeface="TT Fors Bold"/>
                <a:cs typeface="TT Fors Bold"/>
                <a:sym typeface="TT Fors Bold"/>
              </a:rPr>
              <a:t>Limit:</a:t>
            </a:r>
            <a:r>
              <a:rPr lang="en-US" sz="1800" spc="-54" strike="noStrike" u="none">
                <a:solidFill>
                  <a:srgbClr val="00FFA8"/>
                </a:solidFill>
                <a:latin typeface="TT Fors"/>
                <a:ea typeface="TT Fors"/>
                <a:cs typeface="TT Fors"/>
                <a:sym typeface="TT Fors"/>
              </a:rPr>
              <a:t> 15 cha</a:t>
            </a:r>
            <a:r>
              <a:rPr lang="en-US" sz="1800" spc="-54" strike="noStrike" u="none">
                <a:solidFill>
                  <a:srgbClr val="00FFA8"/>
                </a:solidFill>
                <a:latin typeface="TT Fors"/>
                <a:ea typeface="TT Fors"/>
                <a:cs typeface="TT Fors"/>
                <a:sym typeface="TT Fors"/>
              </a:rPr>
              <a:t>racters + 1 service identifier =</a:t>
            </a:r>
            <a:r>
              <a:rPr lang="en-US" sz="1800" spc="-54" strike="noStrike" u="none">
                <a:solidFill>
                  <a:srgbClr val="00FFA8"/>
                </a:solidFill>
                <a:latin typeface="TT Fors"/>
                <a:ea typeface="TT Fors"/>
                <a:cs typeface="TT Fors"/>
                <a:sym typeface="TT Fors"/>
              </a:rPr>
              <a:t> 16 characters total</a:t>
            </a:r>
          </a:p>
          <a:p>
            <a:pPr algn="l">
              <a:lnSpc>
                <a:spcPts val="2700"/>
              </a:lnSpc>
            </a:pPr>
            <a:r>
              <a:rPr lang="en-US" b="true" sz="1800" spc="-54" strike="noStrike" u="none">
                <a:solidFill>
                  <a:srgbClr val="00FFA8"/>
                </a:solidFill>
                <a:latin typeface="TT Fors Bold"/>
                <a:ea typeface="TT Fors Bold"/>
                <a:cs typeface="TT Fors Bold"/>
                <a:sym typeface="TT Fors Bold"/>
              </a:rPr>
              <a:t>Example</a:t>
            </a:r>
            <a:r>
              <a:rPr lang="en-US" b="true" sz="1800" spc="-54" strike="noStrike" u="none">
                <a:solidFill>
                  <a:srgbClr val="00FFA8"/>
                </a:solidFill>
                <a:latin typeface="TT Fors Bold"/>
                <a:ea typeface="TT Fors Bold"/>
                <a:cs typeface="TT Fors Bold"/>
                <a:sym typeface="TT Fors Bold"/>
              </a:rPr>
              <a:t>:</a:t>
            </a:r>
            <a:r>
              <a:rPr lang="en-US" sz="1800" spc="-54" strike="noStrike" u="none">
                <a:solidFill>
                  <a:srgbClr val="00FFA8"/>
                </a:solidFill>
                <a:latin typeface="TT Fors"/>
                <a:ea typeface="TT Fors"/>
                <a:cs typeface="TT Fors"/>
                <a:sym typeface="TT Fors"/>
              </a:rPr>
              <a:t> </a:t>
            </a:r>
            <a:r>
              <a:rPr lang="en-US" sz="1800" spc="-54" strike="noStrike" u="none">
                <a:solidFill>
                  <a:srgbClr val="FFFFFF"/>
                </a:solidFill>
                <a:latin typeface="TT Fors"/>
                <a:ea typeface="TT Fors"/>
                <a:cs typeface="TT Fors"/>
                <a:sym typeface="TT Fors"/>
              </a:rPr>
              <a:t>MYCOMPUTER____&lt;20&gt;</a:t>
            </a:r>
            <a:r>
              <a:rPr lang="en-US" sz="1800" spc="-54" strike="noStrike" u="none">
                <a:solidFill>
                  <a:srgbClr val="00FFA8"/>
                </a:solidFill>
                <a:latin typeface="TT Fors"/>
                <a:ea typeface="TT Fors"/>
                <a:cs typeface="TT Fors"/>
                <a:sym typeface="TT Fors"/>
              </a:rPr>
              <a:t> where &lt;20&gt; indicates FILE</a:t>
            </a:r>
            <a:r>
              <a:rPr lang="en-US" sz="1800" spc="-54" strike="noStrike" u="none">
                <a:solidFill>
                  <a:srgbClr val="00FFA8"/>
                </a:solidFill>
                <a:latin typeface="TT Fors"/>
                <a:ea typeface="TT Fors"/>
                <a:cs typeface="TT Fors"/>
                <a:sym typeface="TT Fors"/>
              </a:rPr>
              <a:t> SERVER service</a:t>
            </a:r>
          </a:p>
          <a:p>
            <a:pPr algn="l">
              <a:lnSpc>
                <a:spcPts val="2700"/>
              </a:lnSpc>
            </a:pPr>
          </a:p>
          <a:p>
            <a:pPr algn="l">
              <a:lnSpc>
                <a:spcPts val="2700"/>
              </a:lnSpc>
            </a:pPr>
            <a:r>
              <a:rPr lang="en-US" b="true" sz="1800" spc="-54" strike="noStrike" u="none">
                <a:solidFill>
                  <a:srgbClr val="00FFA8"/>
                </a:solidFill>
                <a:latin typeface="TT Fors Bold"/>
                <a:ea typeface="TT Fors Bold"/>
                <a:cs typeface="TT Fors Bold"/>
                <a:sym typeface="TT Fors Bold"/>
              </a:rPr>
              <a:t>NetBIO</a:t>
            </a:r>
            <a:r>
              <a:rPr lang="en-US" b="true" sz="1800" spc="-54" strike="noStrike" u="none">
                <a:solidFill>
                  <a:srgbClr val="00FFA8"/>
                </a:solidFill>
                <a:latin typeface="TT Fors Bold"/>
                <a:ea typeface="TT Fors Bold"/>
                <a:cs typeface="TT Fors Bold"/>
                <a:sym typeface="TT Fors Bold"/>
              </a:rPr>
              <a:t>S Service Suffixes</a:t>
            </a:r>
          </a:p>
          <a:p>
            <a:pPr algn="l">
              <a:lnSpc>
                <a:spcPts val="2700"/>
              </a:lnSpc>
            </a:pPr>
            <a:r>
              <a:rPr lang="en-US" sz="1800" spc="-54" strike="noStrike" u="none">
                <a:solidFill>
                  <a:srgbClr val="00FFA8"/>
                </a:solidFill>
                <a:latin typeface="TT Fors"/>
                <a:ea typeface="TT Fors"/>
                <a:cs typeface="TT Fors"/>
                <a:sym typeface="TT Fors"/>
              </a:rPr>
              <a:t>The last character of a NetBIOS name i</a:t>
            </a:r>
            <a:r>
              <a:rPr lang="en-US" sz="1800" spc="-54" strike="noStrike" u="none">
                <a:solidFill>
                  <a:srgbClr val="00FFA8"/>
                </a:solidFill>
                <a:latin typeface="TT Fors"/>
                <a:ea typeface="TT Fors"/>
                <a:cs typeface="TT Fors"/>
                <a:sym typeface="TT Fors"/>
              </a:rPr>
              <a:t>ndic</a:t>
            </a:r>
            <a:r>
              <a:rPr lang="en-US" sz="1800" spc="-54" strike="noStrike" u="none">
                <a:solidFill>
                  <a:srgbClr val="00FFA8"/>
                </a:solidFill>
                <a:latin typeface="TT Fors"/>
                <a:ea typeface="TT Fors"/>
                <a:cs typeface="TT Fors"/>
                <a:sym typeface="TT Fors"/>
              </a:rPr>
              <a:t>ates what service is running:</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&lt;00</a:t>
            </a:r>
            <a:r>
              <a:rPr lang="en-US" sz="1800" spc="-54" strike="noStrike" u="none">
                <a:solidFill>
                  <a:srgbClr val="00FFA8"/>
                </a:solidFill>
                <a:latin typeface="TT Fors"/>
                <a:ea typeface="TT Fors"/>
                <a:cs typeface="TT Fors"/>
                <a:sym typeface="TT Fors"/>
              </a:rPr>
              <a:t>&gt; = Work</a:t>
            </a:r>
            <a:r>
              <a:rPr lang="en-US" sz="1800" spc="-54" strike="noStrike" u="none">
                <a:solidFill>
                  <a:srgbClr val="00FFA8"/>
                </a:solidFill>
                <a:latin typeface="TT Fors"/>
                <a:ea typeface="TT Fors"/>
                <a:cs typeface="TT Fors"/>
                <a:sym typeface="TT Fors"/>
              </a:rPr>
              <a:t>station service (general computer)</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&lt;01</a:t>
            </a:r>
            <a:r>
              <a:rPr lang="en-US" sz="1800" spc="-54" strike="noStrike" u="none">
                <a:solidFill>
                  <a:srgbClr val="00FFA8"/>
                </a:solidFill>
                <a:latin typeface="TT Fors"/>
                <a:ea typeface="TT Fors"/>
                <a:cs typeface="TT Fors"/>
                <a:sym typeface="TT Fors"/>
              </a:rPr>
              <a:t>&gt; =</a:t>
            </a:r>
            <a:r>
              <a:rPr lang="en-US" sz="1800" spc="-54" strike="noStrike" u="none">
                <a:solidFill>
                  <a:srgbClr val="00FFA8"/>
                </a:solidFill>
                <a:latin typeface="TT Fors"/>
                <a:ea typeface="TT Fors"/>
                <a:cs typeface="TT Fors"/>
                <a:sym typeface="TT Fors"/>
              </a:rPr>
              <a:t> Master br</a:t>
            </a:r>
            <a:r>
              <a:rPr lang="en-US" sz="1800" spc="-54" strike="noStrike" u="none">
                <a:solidFill>
                  <a:srgbClr val="00FFA8"/>
                </a:solidFill>
                <a:latin typeface="TT Fors"/>
                <a:ea typeface="TT Fors"/>
                <a:cs typeface="TT Fors"/>
                <a:sym typeface="TT Fors"/>
              </a:rPr>
              <a:t>owser (network discovery)</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&lt;03&gt; = Messenger service (network messages)</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&lt;06</a:t>
            </a:r>
            <a:r>
              <a:rPr lang="en-US" sz="1800" spc="-54" strike="noStrike" u="none">
                <a:solidFill>
                  <a:srgbClr val="00FFA8"/>
                </a:solidFill>
                <a:latin typeface="TT Fors"/>
                <a:ea typeface="TT Fors"/>
                <a:cs typeface="TT Fors"/>
                <a:sym typeface="TT Fors"/>
              </a:rPr>
              <a:t>&gt; = RAS server (remote access)</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&lt;1F&gt; = NetDDE (Network Dynamic Data Exchange)</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&lt;20&gt; = Server service (file/print sharing)</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&lt;21&gt; = RAS client</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&lt;22&gt; = Exchange Interchange</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&lt;23</a:t>
            </a:r>
            <a:r>
              <a:rPr lang="en-US" sz="1800" spc="-54" strike="noStrike" u="none">
                <a:solidFill>
                  <a:srgbClr val="00FFA8"/>
                </a:solidFill>
                <a:latin typeface="TT Fors"/>
                <a:ea typeface="TT Fors"/>
                <a:cs typeface="TT Fors"/>
                <a:sym typeface="TT Fors"/>
              </a:rPr>
              <a:t>&gt; = Exchange Store</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&lt;1B&gt; = Domain Master Br</a:t>
            </a:r>
            <a:r>
              <a:rPr lang="en-US" sz="1800" spc="-54" strike="noStrike" u="none">
                <a:solidFill>
                  <a:srgbClr val="00FFA8"/>
                </a:solidFill>
                <a:latin typeface="TT Fors"/>
                <a:ea typeface="TT Fors"/>
                <a:cs typeface="TT Fors"/>
                <a:sym typeface="TT Fors"/>
              </a:rPr>
              <a:t>owser</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&lt;1C&gt; = Domain</a:t>
            </a:r>
            <a:r>
              <a:rPr lang="en-US" sz="1800" spc="-54" strike="noStrike" u="none">
                <a:solidFill>
                  <a:srgbClr val="00FFA8"/>
                </a:solidFill>
                <a:latin typeface="TT Fors"/>
                <a:ea typeface="TT Fors"/>
                <a:cs typeface="TT Fors"/>
                <a:sym typeface="TT Fors"/>
              </a:rPr>
              <a:t> Controllers</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&lt;1D&gt; = Master Br</a:t>
            </a:r>
            <a:r>
              <a:rPr lang="en-US" sz="1800" spc="-54" strike="noStrike" u="none">
                <a:solidFill>
                  <a:srgbClr val="00FFA8"/>
                </a:solidFill>
                <a:latin typeface="TT Fors"/>
                <a:ea typeface="TT Fors"/>
                <a:cs typeface="TT Fors"/>
                <a:sym typeface="TT Fors"/>
              </a:rPr>
              <a:t>owser</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&lt;1E&gt;</a:t>
            </a:r>
            <a:r>
              <a:rPr lang="en-US" sz="1800" spc="-54" strike="noStrike" u="none">
                <a:solidFill>
                  <a:srgbClr val="00FFA8"/>
                </a:solidFill>
                <a:latin typeface="TT Fors"/>
                <a:ea typeface="TT Fors"/>
                <a:cs typeface="TT Fors"/>
                <a:sym typeface="TT Fors"/>
              </a:rPr>
              <a:t> =</a:t>
            </a:r>
            <a:r>
              <a:rPr lang="en-US" sz="1800" spc="-54" strike="noStrike" u="none">
                <a:solidFill>
                  <a:srgbClr val="00FFA8"/>
                </a:solidFill>
                <a:latin typeface="TT Fors"/>
                <a:ea typeface="TT Fors"/>
                <a:cs typeface="TT Fors"/>
                <a:sym typeface="TT Fors"/>
              </a:rPr>
              <a:t> Browser Election</a:t>
            </a:r>
          </a:p>
        </p:txBody>
      </p:sp>
      <p:sp>
        <p:nvSpPr>
          <p:cNvPr name="TextBox 5" id="5"/>
          <p:cNvSpPr txBox="true"/>
          <p:nvPr/>
        </p:nvSpPr>
        <p:spPr>
          <a:xfrm rot="0">
            <a:off x="9144000" y="3400903"/>
            <a:ext cx="7603403" cy="1360169"/>
          </a:xfrm>
          <a:prstGeom prst="rect">
            <a:avLst/>
          </a:prstGeom>
        </p:spPr>
        <p:txBody>
          <a:bodyPr anchor="t" rtlCol="false" tIns="0" lIns="0" bIns="0" rIns="0">
            <a:spAutoFit/>
          </a:bodyPr>
          <a:lstStyle/>
          <a:p>
            <a:pPr algn="l">
              <a:lnSpc>
                <a:spcPts val="2700"/>
              </a:lnSpc>
            </a:pPr>
            <a:r>
              <a:rPr lang="en-US" b="true" sz="1800" spc="-54">
                <a:solidFill>
                  <a:srgbClr val="00FFA8"/>
                </a:solidFill>
                <a:latin typeface="TT Fors Bold"/>
                <a:ea typeface="TT Fors Bold"/>
                <a:cs typeface="TT Fors Bold"/>
                <a:sym typeface="TT Fors Bold"/>
              </a:rPr>
              <a:t>Why This</a:t>
            </a:r>
            <a:r>
              <a:rPr lang="en-US" b="true" sz="1800" spc="-54" strike="noStrike" u="none">
                <a:solidFill>
                  <a:srgbClr val="00FFA8"/>
                </a:solidFill>
                <a:latin typeface="TT Fors Bold"/>
                <a:ea typeface="TT Fors Bold"/>
                <a:cs typeface="TT Fors Bold"/>
                <a:sym typeface="TT Fors Bold"/>
              </a:rPr>
              <a:t> Mat</a:t>
            </a:r>
            <a:r>
              <a:rPr lang="en-US" b="true" sz="1800" spc="-54" strike="noStrike" u="none">
                <a:solidFill>
                  <a:srgbClr val="00FFA8"/>
                </a:solidFill>
                <a:latin typeface="TT Fors Bold"/>
                <a:ea typeface="TT Fors Bold"/>
                <a:cs typeface="TT Fors Bold"/>
                <a:sym typeface="TT Fors Bold"/>
              </a:rPr>
              <a:t>ters:</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Finding</a:t>
            </a:r>
            <a:r>
              <a:rPr lang="en-US" sz="1800" spc="-54" strike="noStrike" u="none">
                <a:solidFill>
                  <a:srgbClr val="00FFA8"/>
                </a:solidFill>
                <a:latin typeface="TT Fors"/>
                <a:ea typeface="TT Fors"/>
                <a:cs typeface="TT Fors"/>
                <a:sym typeface="TT Fors"/>
              </a:rPr>
              <a:t> &lt;20&gt; indicates a syst</a:t>
            </a:r>
            <a:r>
              <a:rPr lang="en-US" sz="1800" spc="-54" strike="noStrike" u="none">
                <a:solidFill>
                  <a:srgbClr val="00FFA8"/>
                </a:solidFill>
                <a:latin typeface="TT Fors"/>
                <a:ea typeface="TT Fors"/>
                <a:cs typeface="TT Fors"/>
                <a:sym typeface="TT Fors"/>
              </a:rPr>
              <a:t>em with file sharing</a:t>
            </a:r>
            <a:r>
              <a:rPr lang="en-US" sz="1800" spc="-54" strike="noStrike" u="none">
                <a:solidFill>
                  <a:srgbClr val="00FFA8"/>
                </a:solidFill>
                <a:latin typeface="TT Fors"/>
                <a:ea typeface="TT Fors"/>
                <a:cs typeface="TT Fors"/>
                <a:sym typeface="TT Fors"/>
              </a:rPr>
              <a:t> </a:t>
            </a:r>
            <a:r>
              <a:rPr lang="en-US" sz="1800" spc="-54" strike="noStrike" u="none">
                <a:solidFill>
                  <a:srgbClr val="00FFA8"/>
                </a:solidFill>
                <a:latin typeface="TT Fors"/>
                <a:ea typeface="TT Fors"/>
                <a:cs typeface="TT Fors"/>
                <a:sym typeface="TT Fors"/>
              </a:rPr>
              <a:t>enabled</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Mul</a:t>
            </a:r>
            <a:r>
              <a:rPr lang="en-US" sz="1800" spc="-54" strike="noStrike" u="none">
                <a:solidFill>
                  <a:srgbClr val="00FFA8"/>
                </a:solidFill>
                <a:latin typeface="TT Fors"/>
                <a:ea typeface="TT Fors"/>
                <a:cs typeface="TT Fors"/>
                <a:sym typeface="TT Fors"/>
              </a:rPr>
              <a:t>tiple &lt;1C&gt; entries indicate</a:t>
            </a:r>
            <a:r>
              <a:rPr lang="en-US" sz="1800" spc="-54" strike="noStrike" u="none">
                <a:solidFill>
                  <a:srgbClr val="00FFA8"/>
                </a:solidFill>
                <a:latin typeface="TT Fors"/>
                <a:ea typeface="TT Fors"/>
                <a:cs typeface="TT Fors"/>
                <a:sym typeface="TT Fors"/>
              </a:rPr>
              <a:t> multiple domain controllers</a:t>
            </a:r>
          </a:p>
          <a:p>
            <a:pPr algn="l" marL="388623" indent="-194312" lvl="1">
              <a:lnSpc>
                <a:spcPts val="2700"/>
              </a:lnSpc>
              <a:buFont typeface="Arial"/>
              <a:buChar char="•"/>
            </a:pPr>
            <a:r>
              <a:rPr lang="en-US" sz="1800" spc="-54" strike="noStrike" u="none">
                <a:solidFill>
                  <a:srgbClr val="00FFA8"/>
                </a:solidFill>
                <a:latin typeface="TT Fors"/>
                <a:ea typeface="TT Fors"/>
                <a:cs typeface="TT Fors"/>
                <a:sym typeface="TT Fors"/>
              </a:rPr>
              <a:t>Presence of</a:t>
            </a:r>
            <a:r>
              <a:rPr lang="en-US" sz="1800" spc="-54" strike="noStrike" u="none">
                <a:solidFill>
                  <a:srgbClr val="00FFA8"/>
                </a:solidFill>
                <a:latin typeface="TT Fors"/>
                <a:ea typeface="TT Fors"/>
                <a:cs typeface="TT Fors"/>
                <a:sym typeface="TT Fors"/>
              </a:rPr>
              <a:t> RAS (&lt;06</a:t>
            </a:r>
            <a:r>
              <a:rPr lang="en-US" sz="1800" spc="-54" strike="noStrike" u="none">
                <a:solidFill>
                  <a:srgbClr val="00FFA8"/>
                </a:solidFill>
                <a:latin typeface="TT Fors"/>
                <a:ea typeface="TT Fors"/>
                <a:cs typeface="TT Fors"/>
                <a:sym typeface="TT Fors"/>
              </a:rPr>
              <a:t>&gt;) shows r</a:t>
            </a:r>
            <a:r>
              <a:rPr lang="en-US" sz="1800" spc="-54" strike="noStrike" u="none">
                <a:solidFill>
                  <a:srgbClr val="00FFA8"/>
                </a:solidFill>
                <a:latin typeface="TT Fors"/>
                <a:ea typeface="TT Fors"/>
                <a:cs typeface="TT Fors"/>
                <a:sym typeface="TT Fors"/>
              </a:rPr>
              <a:t>em</a:t>
            </a:r>
            <a:r>
              <a:rPr lang="en-US" sz="1800" spc="-54" strike="noStrike" u="none">
                <a:solidFill>
                  <a:srgbClr val="00FFA8"/>
                </a:solidFill>
                <a:latin typeface="TT Fors"/>
                <a:ea typeface="TT Fors"/>
                <a:cs typeface="TT Fors"/>
                <a:sym typeface="TT Fors"/>
              </a:rPr>
              <a:t>ote acce</a:t>
            </a:r>
            <a:r>
              <a:rPr lang="en-US" sz="1800" spc="-54" strike="noStrike" u="none">
                <a:solidFill>
                  <a:srgbClr val="00FFA8"/>
                </a:solidFill>
                <a:latin typeface="TT Fors"/>
                <a:ea typeface="TT Fors"/>
                <a:cs typeface="TT Fors"/>
                <a:sym typeface="TT Fors"/>
              </a:rPr>
              <a:t>ss configured</a:t>
            </a:r>
          </a:p>
        </p:txBody>
      </p:sp>
      <p:grpSp>
        <p:nvGrpSpPr>
          <p:cNvPr name="Group 6" id="6"/>
          <p:cNvGrpSpPr/>
          <p:nvPr/>
        </p:nvGrpSpPr>
        <p:grpSpPr>
          <a:xfrm rot="0">
            <a:off x="16115522" y="751544"/>
            <a:ext cx="1505728" cy="810556"/>
            <a:chOff x="0" y="0"/>
            <a:chExt cx="2007638" cy="1080741"/>
          </a:xfrm>
        </p:grpSpPr>
        <p:grpSp>
          <p:nvGrpSpPr>
            <p:cNvPr name="Group 7" id="7"/>
            <p:cNvGrpSpPr/>
            <p:nvPr/>
          </p:nvGrpSpPr>
          <p:grpSpPr>
            <a:xfrm rot="0">
              <a:off x="0"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10" id="10"/>
            <p:cNvGrpSpPr/>
            <p:nvPr/>
          </p:nvGrpSpPr>
          <p:grpSpPr>
            <a:xfrm rot="0">
              <a:off x="926897" y="0"/>
              <a:ext cx="1080741" cy="108074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3" id="13"/>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5" id="15"/>
          <p:cNvSpPr txBox="true"/>
          <p:nvPr/>
        </p:nvSpPr>
        <p:spPr>
          <a:xfrm rot="0">
            <a:off x="666750" y="2031073"/>
            <a:ext cx="16954500" cy="1076325"/>
          </a:xfrm>
          <a:prstGeom prst="rect">
            <a:avLst/>
          </a:prstGeom>
        </p:spPr>
        <p:txBody>
          <a:bodyPr anchor="t" rtlCol="false" tIns="0" lIns="0" bIns="0" rIns="0">
            <a:spAutoFit/>
          </a:bodyPr>
          <a:lstStyle/>
          <a:p>
            <a:pPr algn="l" marL="0" indent="0" lvl="0">
              <a:lnSpc>
                <a:spcPts val="2880"/>
              </a:lnSpc>
              <a:spcBef>
                <a:spcPct val="0"/>
              </a:spcBef>
            </a:pPr>
            <a:r>
              <a:rPr lang="en-US" b="true" sz="2400" spc="-72">
                <a:solidFill>
                  <a:srgbClr val="FFFFFF"/>
                </a:solidFill>
                <a:latin typeface="TT Fors Bold"/>
                <a:ea typeface="TT Fors Bold"/>
                <a:cs typeface="TT Fors Bold"/>
                <a:sym typeface="TT Fors Bold"/>
              </a:rPr>
              <a:t>NetBIOS Basics:</a:t>
            </a:r>
            <a:r>
              <a:rPr lang="en-US" sz="2400" spc="-72">
                <a:solidFill>
                  <a:srgbClr val="FFFFFF"/>
                </a:solidFill>
                <a:latin typeface="TT Fors"/>
                <a:ea typeface="TT Fors"/>
                <a:cs typeface="TT Fors"/>
                <a:sym typeface="TT Fors"/>
              </a:rPr>
              <a:t> NetBIOS (Network Basic Input/Output System) is a legacy W</a:t>
            </a:r>
            <a:r>
              <a:rPr lang="en-US" sz="2400" spc="-72">
                <a:solidFill>
                  <a:srgbClr val="FFFFFF"/>
                </a:solidFill>
                <a:latin typeface="TT Fors"/>
                <a:ea typeface="TT Fors"/>
                <a:cs typeface="TT Fors"/>
                <a:sym typeface="TT Fors"/>
              </a:rPr>
              <a:t>indows naming and</a:t>
            </a:r>
            <a:r>
              <a:rPr lang="en-US" sz="2400" spc="-72">
                <a:solidFill>
                  <a:srgbClr val="FFFFFF"/>
                </a:solidFill>
                <a:latin typeface="TT Fors"/>
                <a:ea typeface="TT Fors"/>
                <a:cs typeface="TT Fors"/>
                <a:sym typeface="TT Fors"/>
              </a:rPr>
              <a:t> communication protocol. </a:t>
            </a:r>
            <a:r>
              <a:rPr lang="en-US" b="true" sz="2400" spc="-72">
                <a:solidFill>
                  <a:srgbClr val="FFFFFF"/>
                </a:solidFill>
                <a:latin typeface="TT Fors Bold"/>
                <a:ea typeface="TT Fors Bold"/>
                <a:cs typeface="TT Fors Bold"/>
                <a:sym typeface="TT Fors Bold"/>
              </a:rPr>
              <a:t>Used for:</a:t>
            </a:r>
            <a:r>
              <a:rPr lang="en-US" sz="2400" spc="-72">
                <a:solidFill>
                  <a:srgbClr val="FFFFFF"/>
                </a:solidFill>
                <a:latin typeface="TT Fors"/>
                <a:ea typeface="TT Fors"/>
                <a:cs typeface="TT Fors"/>
                <a:sym typeface="TT Fors"/>
              </a:rPr>
              <a:t> File and printer sharing, network browsing, and name resolution. </a:t>
            </a:r>
            <a:r>
              <a:rPr lang="en-US" b="true" sz="2400" spc="-72">
                <a:solidFill>
                  <a:srgbClr val="FFFFFF"/>
                </a:solidFill>
                <a:latin typeface="TT Fors Bold"/>
                <a:ea typeface="TT Fors Bold"/>
                <a:cs typeface="TT Fors Bold"/>
                <a:sym typeface="TT Fors Bold"/>
              </a:rPr>
              <a:t>Ports: 137</a:t>
            </a:r>
            <a:r>
              <a:rPr lang="en-US" sz="2400" spc="-72">
                <a:solidFill>
                  <a:srgbClr val="FFFFFF"/>
                </a:solidFill>
                <a:latin typeface="TT Fors"/>
                <a:ea typeface="TT Fors"/>
                <a:cs typeface="TT Fors"/>
                <a:sym typeface="TT Fors"/>
              </a:rPr>
              <a:t> (UDP name service), 138 (UDP datagram), 139 (TCP session)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Enumeration of Different Operating Systems (Cont’d)</a:t>
            </a:r>
          </a:p>
        </p:txBody>
      </p:sp>
      <p:sp>
        <p:nvSpPr>
          <p:cNvPr name="TextBox 3" id="3"/>
          <p:cNvSpPr txBox="true"/>
          <p:nvPr/>
        </p:nvSpPr>
        <p:spPr>
          <a:xfrm rot="0">
            <a:off x="666750" y="1322070"/>
            <a:ext cx="8306267" cy="493395"/>
          </a:xfrm>
          <a:prstGeom prst="rect">
            <a:avLst/>
          </a:prstGeom>
        </p:spPr>
        <p:txBody>
          <a:bodyPr anchor="t" rtlCol="false" tIns="0" lIns="0" bIns="0" rIns="0">
            <a:spAutoFit/>
          </a:bodyPr>
          <a:lstStyle/>
          <a:p>
            <a:pPr algn="l">
              <a:lnSpc>
                <a:spcPts val="4199"/>
              </a:lnSpc>
            </a:pPr>
            <a:r>
              <a:rPr lang="en-US" b="true" sz="2799" spc="-83">
                <a:solidFill>
                  <a:srgbClr val="00FFA8"/>
                </a:solidFill>
                <a:latin typeface="TT Fors Bold"/>
                <a:ea typeface="TT Fors Bold"/>
                <a:cs typeface="TT Fors Bold"/>
                <a:sym typeface="TT Fors Bold"/>
              </a:rPr>
              <a:t>Linux/Unix OS Enumeration</a:t>
            </a:r>
          </a:p>
        </p:txBody>
      </p:sp>
      <p:sp>
        <p:nvSpPr>
          <p:cNvPr name="TextBox 4" id="4"/>
          <p:cNvSpPr txBox="true"/>
          <p:nvPr/>
        </p:nvSpPr>
        <p:spPr>
          <a:xfrm rot="0">
            <a:off x="666750" y="2109166"/>
            <a:ext cx="16201636" cy="5461635"/>
          </a:xfrm>
          <a:prstGeom prst="rect">
            <a:avLst/>
          </a:prstGeom>
        </p:spPr>
        <p:txBody>
          <a:bodyPr anchor="t" rtlCol="false" tIns="0" lIns="0" bIns="0" rIns="0">
            <a:spAutoFit/>
          </a:bodyPr>
          <a:lstStyle/>
          <a:p>
            <a:pPr algn="l">
              <a:lnSpc>
                <a:spcPts val="3600"/>
              </a:lnSpc>
            </a:pPr>
            <a:r>
              <a:rPr lang="en-US" b="true" sz="2400" spc="-72">
                <a:solidFill>
                  <a:srgbClr val="00FFA8"/>
                </a:solidFill>
                <a:latin typeface="TT Fors Bold"/>
                <a:ea typeface="TT Fors Bold"/>
                <a:cs typeface="TT Fors Bold"/>
                <a:sym typeface="TT Fors Bold"/>
              </a:rPr>
              <a:t>Common Linux Se</a:t>
            </a:r>
            <a:r>
              <a:rPr lang="en-US" b="true" sz="2400" spc="-72" strike="noStrike" u="none">
                <a:solidFill>
                  <a:srgbClr val="00FFA8"/>
                </a:solidFill>
                <a:latin typeface="TT Fors Bold"/>
                <a:ea typeface="TT Fors Bold"/>
                <a:cs typeface="TT Fors Bold"/>
                <a:sym typeface="TT Fors Bold"/>
              </a:rPr>
              <a:t>rvices and Protocols:</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NFS (Port 2049):</a:t>
            </a:r>
            <a:r>
              <a:rPr lang="en-US" sz="2400" spc="-72" strike="noStrike" u="none">
                <a:solidFill>
                  <a:srgbClr val="00FFA8"/>
                </a:solidFill>
                <a:latin typeface="TT Fors"/>
                <a:ea typeface="TT Fors"/>
                <a:cs typeface="TT Fors"/>
                <a:sym typeface="TT Fors"/>
              </a:rPr>
              <a:t> Network File System. Shares files across the network. Often misconfigured.</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SNMP (Port 161):</a:t>
            </a:r>
            <a:r>
              <a:rPr lang="en-US" sz="2400" spc="-72" strike="noStrike" u="none">
                <a:solidFill>
                  <a:srgbClr val="00FFA8"/>
                </a:solidFill>
                <a:latin typeface="TT Fors"/>
                <a:ea typeface="TT Fors"/>
                <a:cs typeface="TT Fors"/>
                <a:sym typeface="TT Fors"/>
              </a:rPr>
              <a:t> Simple Network Management Protocol. Reveals system information, users, running processes.</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SMT</a:t>
            </a:r>
            <a:r>
              <a:rPr lang="en-US" b="true" sz="2400" spc="-72" strike="noStrike" u="none">
                <a:solidFill>
                  <a:srgbClr val="00FFA8"/>
                </a:solidFill>
                <a:latin typeface="TT Fors Bold"/>
                <a:ea typeface="TT Fors Bold"/>
                <a:cs typeface="TT Fors Bold"/>
                <a:sym typeface="TT Fors Bold"/>
              </a:rPr>
              <a:t>P</a:t>
            </a:r>
            <a:r>
              <a:rPr lang="en-US" b="true" sz="2400" spc="-72" strike="noStrike" u="none">
                <a:solidFill>
                  <a:srgbClr val="00FFA8"/>
                </a:solidFill>
                <a:latin typeface="TT Fors Bold"/>
                <a:ea typeface="TT Fors Bold"/>
                <a:cs typeface="TT Fors Bold"/>
                <a:sym typeface="TT Fors Bold"/>
              </a:rPr>
              <a:t> (Port 25):</a:t>
            </a:r>
            <a:r>
              <a:rPr lang="en-US" sz="2400" spc="-72" strike="noStrike" u="none">
                <a:solidFill>
                  <a:srgbClr val="00FFA8"/>
                </a:solidFill>
                <a:latin typeface="TT Fors"/>
                <a:ea typeface="TT Fors"/>
                <a:cs typeface="TT Fors"/>
                <a:sym typeface="TT Fors"/>
              </a:rPr>
              <a:t> Simple Mail Transfer Protocol. Can enumerate valid user accounts through mail server.</a:t>
            </a:r>
          </a:p>
          <a:p>
            <a:pPr algn="l" marL="518160" indent="-259080" lvl="1">
              <a:lnSpc>
                <a:spcPts val="3600"/>
              </a:lnSpc>
              <a:buFont typeface="Arial"/>
              <a:buChar char="•"/>
            </a:pPr>
            <a:r>
              <a:rPr lang="en-US" b="true" sz="2400" spc="-72" strike="noStrike" u="none">
                <a:solidFill>
                  <a:srgbClr val="00FFA8"/>
                </a:solidFill>
                <a:latin typeface="TT Fors Bold"/>
                <a:ea typeface="TT Fors Bold"/>
                <a:cs typeface="TT Fors Bold"/>
                <a:sym typeface="TT Fors Bold"/>
              </a:rPr>
              <a:t>SSH (Port 22):</a:t>
            </a:r>
            <a:r>
              <a:rPr lang="en-US" sz="2400" spc="-72" strike="noStrike" u="none">
                <a:solidFill>
                  <a:srgbClr val="00FFA8"/>
                </a:solidFill>
                <a:latin typeface="TT Fors"/>
                <a:ea typeface="TT Fors"/>
                <a:cs typeface="TT Fors"/>
                <a:sym typeface="TT Fors"/>
              </a:rPr>
              <a:t> Secure Shell. Version enumeration reveals OS and SSH version.</a:t>
            </a:r>
          </a:p>
          <a:p>
            <a:pPr algn="l">
              <a:lnSpc>
                <a:spcPts val="3600"/>
              </a:lnSpc>
            </a:pPr>
          </a:p>
          <a:p>
            <a:pPr algn="l">
              <a:lnSpc>
                <a:spcPts val="3600"/>
              </a:lnSpc>
            </a:pPr>
            <a:r>
              <a:rPr lang="en-US" b="true" sz="2400" spc="-72" strike="noStrike" u="none">
                <a:solidFill>
                  <a:srgbClr val="00FFA8"/>
                </a:solidFill>
                <a:latin typeface="TT Fors Bold"/>
                <a:ea typeface="TT Fors Bold"/>
                <a:cs typeface="TT Fors Bold"/>
                <a:sym typeface="TT Fors Bold"/>
              </a:rPr>
              <a:t>What Linux Enumeration Reveals: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System uptime and load averages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System users and groups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Running processes and services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Available NFS shares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System hardware and network configuration</a:t>
            </a:r>
          </a:p>
        </p:txBody>
      </p:sp>
      <p:grpSp>
        <p:nvGrpSpPr>
          <p:cNvPr name="Group 5" id="5"/>
          <p:cNvGrpSpPr/>
          <p:nvPr/>
        </p:nvGrpSpPr>
        <p:grpSpPr>
          <a:xfrm rot="0">
            <a:off x="16115522" y="751544"/>
            <a:ext cx="1505728" cy="810556"/>
            <a:chOff x="0" y="0"/>
            <a:chExt cx="2007638" cy="1080741"/>
          </a:xfrm>
        </p:grpSpPr>
        <p:grpSp>
          <p:nvGrpSpPr>
            <p:cNvPr name="Group 6" id="6"/>
            <p:cNvGrpSpPr/>
            <p:nvPr/>
          </p:nvGrpSpPr>
          <p:grpSpPr>
            <a:xfrm rot="0">
              <a:off x="0"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9" id="9"/>
            <p:cNvGrpSpPr/>
            <p:nvPr/>
          </p:nvGrpSpPr>
          <p:grpSpPr>
            <a:xfrm rot="0">
              <a:off x="926897" y="0"/>
              <a:ext cx="1080741" cy="108074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2" id="12"/>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Enumeration of Different Operating Systems (Cont’d)</a:t>
            </a:r>
          </a:p>
        </p:txBody>
      </p:sp>
      <p:sp>
        <p:nvSpPr>
          <p:cNvPr name="TextBox 3" id="3"/>
          <p:cNvSpPr txBox="true"/>
          <p:nvPr/>
        </p:nvSpPr>
        <p:spPr>
          <a:xfrm rot="0">
            <a:off x="666750" y="1322070"/>
            <a:ext cx="8306267" cy="493395"/>
          </a:xfrm>
          <a:prstGeom prst="rect">
            <a:avLst/>
          </a:prstGeom>
        </p:spPr>
        <p:txBody>
          <a:bodyPr anchor="t" rtlCol="false" tIns="0" lIns="0" bIns="0" rIns="0">
            <a:spAutoFit/>
          </a:bodyPr>
          <a:lstStyle/>
          <a:p>
            <a:pPr algn="l">
              <a:lnSpc>
                <a:spcPts val="4199"/>
              </a:lnSpc>
            </a:pPr>
            <a:r>
              <a:rPr lang="en-US" b="true" sz="2799" spc="-83">
                <a:solidFill>
                  <a:srgbClr val="00FFA8"/>
                </a:solidFill>
                <a:latin typeface="TT Fors Bold"/>
                <a:ea typeface="TT Fors Bold"/>
                <a:cs typeface="TT Fors Bold"/>
                <a:sym typeface="TT Fors Bold"/>
              </a:rPr>
              <a:t>Linux/Unix OS Enumeration (Cont’d)</a:t>
            </a:r>
          </a:p>
        </p:txBody>
      </p:sp>
      <p:sp>
        <p:nvSpPr>
          <p:cNvPr name="TextBox 4" id="4"/>
          <p:cNvSpPr txBox="true"/>
          <p:nvPr/>
        </p:nvSpPr>
        <p:spPr>
          <a:xfrm rot="0">
            <a:off x="666750" y="2109166"/>
            <a:ext cx="8116787" cy="6833235"/>
          </a:xfrm>
          <a:prstGeom prst="rect">
            <a:avLst/>
          </a:prstGeom>
        </p:spPr>
        <p:txBody>
          <a:bodyPr anchor="t" rtlCol="false" tIns="0" lIns="0" bIns="0" rIns="0">
            <a:spAutoFit/>
          </a:bodyPr>
          <a:lstStyle/>
          <a:p>
            <a:pPr algn="l">
              <a:lnSpc>
                <a:spcPts val="3600"/>
              </a:lnSpc>
            </a:pPr>
            <a:r>
              <a:rPr lang="en-US" b="true" sz="2400" spc="-72">
                <a:solidFill>
                  <a:srgbClr val="00FFA8"/>
                </a:solidFill>
                <a:latin typeface="TT Fors Bold"/>
                <a:ea typeface="TT Fors Bold"/>
                <a:cs typeface="TT Fors Bold"/>
                <a:sym typeface="TT Fors Bold"/>
              </a:rPr>
              <a:t>Why Knowing the D</a:t>
            </a:r>
            <a:r>
              <a:rPr lang="en-US" b="true" sz="2400" spc="-72" strike="noStrike" u="none">
                <a:solidFill>
                  <a:srgbClr val="00FFA8"/>
                </a:solidFill>
                <a:latin typeface="TT Fors Bold"/>
                <a:ea typeface="TT Fors Bold"/>
                <a:cs typeface="TT Fors Bold"/>
                <a:sym typeface="TT Fors Bold"/>
              </a:rPr>
              <a:t>istribution Matters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Different distributions have different default packages and configurations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Various *NIX flavors: Solaris, HP-UX, AIX, FreeBSD, OpenBSD, NetBSD, Darwin/macOS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Each has unique enumeration approaches and vulnerable services</a:t>
            </a:r>
          </a:p>
          <a:p>
            <a:pPr algn="l">
              <a:lnSpc>
                <a:spcPts val="3600"/>
              </a:lnSpc>
            </a:pPr>
          </a:p>
          <a:p>
            <a:pPr algn="l">
              <a:lnSpc>
                <a:spcPts val="3600"/>
              </a:lnSpc>
            </a:pPr>
            <a:r>
              <a:rPr lang="en-US" b="true" sz="2400" spc="-72" strike="noStrike" u="none">
                <a:solidFill>
                  <a:srgbClr val="00FFA8"/>
                </a:solidFill>
                <a:latin typeface="TT Fors Bold"/>
                <a:ea typeface="TT Fors Bold"/>
                <a:cs typeface="TT Fors Bold"/>
                <a:sym typeface="TT Fors Bold"/>
              </a:rPr>
              <a:t>Check Linux distribution:</a:t>
            </a:r>
          </a:p>
          <a:p>
            <a:pPr algn="l">
              <a:lnSpc>
                <a:spcPts val="3600"/>
              </a:lnSpc>
            </a:pPr>
            <a:r>
              <a:rPr lang="en-US" sz="2400" spc="-72" strike="noStrike" u="none">
                <a:solidFill>
                  <a:srgbClr val="FFFFFF"/>
                </a:solidFill>
                <a:latin typeface="TT Fors"/>
                <a:ea typeface="TT Fors"/>
                <a:cs typeface="TT Fors"/>
                <a:sym typeface="TT Fors"/>
              </a:rPr>
              <a:t>$ cat /etc/lsb-release</a:t>
            </a:r>
          </a:p>
          <a:p>
            <a:pPr algn="l">
              <a:lnSpc>
                <a:spcPts val="3600"/>
              </a:lnSpc>
            </a:pPr>
            <a:r>
              <a:rPr lang="en-US" sz="2400" spc="-72" strike="noStrike" u="none">
                <a:solidFill>
                  <a:srgbClr val="FFFFFF"/>
                </a:solidFill>
                <a:latin typeface="TT Fors"/>
                <a:ea typeface="TT Fors"/>
                <a:cs typeface="TT Fors"/>
                <a:sym typeface="TT Fors"/>
              </a:rPr>
              <a:t>$ lsb_release -a</a:t>
            </a:r>
          </a:p>
          <a:p>
            <a:pPr algn="l">
              <a:lnSpc>
                <a:spcPts val="3600"/>
              </a:lnSpc>
            </a:pPr>
          </a:p>
          <a:p>
            <a:pPr algn="l">
              <a:lnSpc>
                <a:spcPts val="3600"/>
              </a:lnSpc>
            </a:pPr>
            <a:r>
              <a:rPr lang="en-US" b="true" sz="2400" spc="-72" strike="noStrike" u="none">
                <a:solidFill>
                  <a:srgbClr val="00FFA8"/>
                </a:solidFill>
                <a:latin typeface="TT Fors Bold"/>
                <a:ea typeface="TT Fors Bold"/>
                <a:cs typeface="TT Fors Bold"/>
                <a:sym typeface="TT Fors Bold"/>
              </a:rPr>
              <a:t>Check kernel version:</a:t>
            </a:r>
          </a:p>
          <a:p>
            <a:pPr algn="l">
              <a:lnSpc>
                <a:spcPts val="3600"/>
              </a:lnSpc>
            </a:pPr>
            <a:r>
              <a:rPr lang="en-US" sz="2400" spc="-72" strike="noStrike" u="none">
                <a:solidFill>
                  <a:srgbClr val="FFFFFF"/>
                </a:solidFill>
                <a:latin typeface="TT Fors"/>
                <a:ea typeface="TT Fors"/>
                <a:cs typeface="TT Fors"/>
                <a:sym typeface="TT Fors"/>
              </a:rPr>
              <a:t>$ uname -a</a:t>
            </a:r>
          </a:p>
          <a:p>
            <a:pPr algn="l">
              <a:lnSpc>
                <a:spcPts val="3600"/>
              </a:lnSpc>
            </a:pPr>
            <a:r>
              <a:rPr lang="en-US" sz="2400" spc="-72" strike="noStrike" u="none">
                <a:solidFill>
                  <a:srgbClr val="00FFA8"/>
                </a:solidFill>
                <a:latin typeface="TT Fors"/>
                <a:ea typeface="TT Fors"/>
                <a:cs typeface="TT Fors"/>
                <a:sym typeface="TT Fors"/>
              </a:rPr>
              <a:t>Shows: Kernel version (critical for kernel exploits)</a:t>
            </a:r>
          </a:p>
        </p:txBody>
      </p:sp>
      <p:sp>
        <p:nvSpPr>
          <p:cNvPr name="TextBox 5" id="5"/>
          <p:cNvSpPr txBox="true"/>
          <p:nvPr/>
        </p:nvSpPr>
        <p:spPr>
          <a:xfrm rot="0">
            <a:off x="8798795" y="2109166"/>
            <a:ext cx="8634728" cy="7747635"/>
          </a:xfrm>
          <a:prstGeom prst="rect">
            <a:avLst/>
          </a:prstGeom>
        </p:spPr>
        <p:txBody>
          <a:bodyPr anchor="t" rtlCol="false" tIns="0" lIns="0" bIns="0" rIns="0">
            <a:spAutoFit/>
          </a:bodyPr>
          <a:lstStyle/>
          <a:p>
            <a:pPr algn="l">
              <a:lnSpc>
                <a:spcPts val="3600"/>
              </a:lnSpc>
            </a:pPr>
            <a:r>
              <a:rPr lang="en-US" sz="2400" spc="-72" b="true">
                <a:solidFill>
                  <a:srgbClr val="00FFA8"/>
                </a:solidFill>
                <a:latin typeface="TT Fors Bold"/>
                <a:ea typeface="TT Fors Bold"/>
                <a:cs typeface="TT Fors Bold"/>
                <a:sym typeface="TT Fors Bold"/>
              </a:rPr>
              <a:t>Linux Services and Processes</a:t>
            </a:r>
          </a:p>
          <a:p>
            <a:pPr algn="l">
              <a:lnSpc>
                <a:spcPts val="3600"/>
              </a:lnSpc>
            </a:pPr>
            <a:r>
              <a:rPr lang="en-US" b="true" sz="2400" spc="-72">
                <a:solidFill>
                  <a:srgbClr val="00FFA8"/>
                </a:solidFill>
                <a:latin typeface="TT Fors Bold"/>
                <a:ea typeface="TT Fors Bold"/>
                <a:cs typeface="TT Fors Bold"/>
                <a:sym typeface="TT Fors Bold"/>
              </a:rPr>
              <a:t>If systemd </a:t>
            </a:r>
            <a:r>
              <a:rPr lang="en-US" b="true" sz="2400" spc="-72" strike="noStrike" u="none">
                <a:solidFill>
                  <a:srgbClr val="00FFA8"/>
                </a:solidFill>
                <a:latin typeface="TT Fors Bold"/>
                <a:ea typeface="TT Fors Bold"/>
                <a:cs typeface="TT Fors Bold"/>
                <a:sym typeface="TT Fors Bold"/>
              </a:rPr>
              <a:t>is used (modern Linux):</a:t>
            </a:r>
          </a:p>
          <a:p>
            <a:pPr algn="l">
              <a:lnSpc>
                <a:spcPts val="3600"/>
              </a:lnSpc>
            </a:pPr>
            <a:r>
              <a:rPr lang="en-US" sz="2400" spc="-72" strike="noStrike" u="none">
                <a:solidFill>
                  <a:srgbClr val="FFFFFF"/>
                </a:solidFill>
                <a:latin typeface="TT Fors"/>
                <a:ea typeface="TT Fors"/>
                <a:cs typeface="TT Fors"/>
                <a:sym typeface="TT Fors"/>
              </a:rPr>
              <a:t>$ systemctl --type=service </a:t>
            </a:r>
            <a:r>
              <a:rPr lang="en-US" sz="2400" spc="-72" strike="noStrike" u="none">
                <a:solidFill>
                  <a:srgbClr val="00FFA8"/>
                </a:solidFill>
                <a:latin typeface="TT Fors"/>
                <a:ea typeface="TT Fors"/>
                <a:cs typeface="TT Fors"/>
                <a:sym typeface="TT Fors"/>
              </a:rPr>
              <a:t>(Lists all services)</a:t>
            </a:r>
          </a:p>
          <a:p>
            <a:pPr algn="l">
              <a:lnSpc>
                <a:spcPts val="3600"/>
              </a:lnSpc>
            </a:pPr>
            <a:r>
              <a:rPr lang="en-US" sz="2400" spc="-72" strike="noStrike" u="none">
                <a:solidFill>
                  <a:srgbClr val="FFFFFF"/>
                </a:solidFill>
                <a:latin typeface="TT Fors"/>
                <a:ea typeface="TT Fors"/>
                <a:cs typeface="TT Fors"/>
                <a:sym typeface="TT Fors"/>
              </a:rPr>
              <a:t>$ systemctl --type=service --all</a:t>
            </a:r>
            <a:r>
              <a:rPr lang="en-US" sz="2400" spc="-72" strike="noStrike" u="none">
                <a:solidFill>
                  <a:srgbClr val="00FFA8"/>
                </a:solidFill>
                <a:latin typeface="TT Fors"/>
                <a:ea typeface="TT Fors"/>
                <a:cs typeface="TT Fors"/>
                <a:sym typeface="TT Fors"/>
              </a:rPr>
              <a:t> (</a:t>
            </a:r>
            <a:r>
              <a:rPr lang="en-US" sz="2400" spc="-72" strike="noStrike" u="none">
                <a:solidFill>
                  <a:srgbClr val="00FFA8"/>
                </a:solidFill>
                <a:latin typeface="TT Fors"/>
                <a:ea typeface="TT Fors"/>
                <a:cs typeface="TT Fors"/>
                <a:sym typeface="TT Fors"/>
              </a:rPr>
              <a:t>Lists all services, including disabled ones)</a:t>
            </a:r>
          </a:p>
          <a:p>
            <a:pPr algn="l">
              <a:lnSpc>
                <a:spcPts val="3600"/>
              </a:lnSpc>
            </a:pPr>
          </a:p>
          <a:p>
            <a:pPr algn="l">
              <a:lnSpc>
                <a:spcPts val="3600"/>
              </a:lnSpc>
            </a:pPr>
            <a:r>
              <a:rPr lang="en-US" b="true" sz="2400" spc="-72" strike="noStrike" u="none">
                <a:solidFill>
                  <a:srgbClr val="00FFA8"/>
                </a:solidFill>
                <a:latin typeface="TT Fors Bold"/>
                <a:ea typeface="TT Fors Bold"/>
                <a:cs typeface="TT Fors Bold"/>
                <a:sym typeface="TT Fors Bold"/>
              </a:rPr>
              <a:t>View running processes:</a:t>
            </a:r>
          </a:p>
          <a:p>
            <a:pPr algn="l">
              <a:lnSpc>
                <a:spcPts val="3600"/>
              </a:lnSpc>
            </a:pPr>
            <a:r>
              <a:rPr lang="en-US" sz="2400" spc="-72" strike="noStrike" u="none">
                <a:solidFill>
                  <a:srgbClr val="FFFFFF"/>
                </a:solidFill>
                <a:latin typeface="TT Fors"/>
                <a:ea typeface="TT Fors"/>
                <a:cs typeface="TT Fors"/>
                <a:sym typeface="TT Fors"/>
              </a:rPr>
              <a:t>$ ps aux</a:t>
            </a:r>
            <a:r>
              <a:rPr lang="en-US" sz="2400" spc="-72" strike="noStrike" u="none">
                <a:solidFill>
                  <a:srgbClr val="00FFA8"/>
                </a:solidFill>
                <a:latin typeface="TT Fors"/>
                <a:ea typeface="TT Fors"/>
                <a:cs typeface="TT Fors"/>
                <a:sym typeface="TT Fors"/>
              </a:rPr>
              <a:t> (Shows: All running processes with full details)</a:t>
            </a:r>
          </a:p>
          <a:p>
            <a:pPr algn="l">
              <a:lnSpc>
                <a:spcPts val="3600"/>
              </a:lnSpc>
            </a:pPr>
            <a:r>
              <a:rPr lang="en-US" sz="2400" spc="-72" strike="noStrike" u="none">
                <a:solidFill>
                  <a:srgbClr val="FFFFFF"/>
                </a:solidFill>
                <a:latin typeface="TT Fors"/>
                <a:ea typeface="TT Fors"/>
                <a:cs typeface="TT Fors"/>
                <a:sym typeface="TT Fors"/>
              </a:rPr>
              <a:t>$ ps aux --forest</a:t>
            </a:r>
            <a:r>
              <a:rPr lang="en-US" sz="2400" spc="-72" strike="noStrike" u="none">
                <a:solidFill>
                  <a:srgbClr val="00FFA8"/>
                </a:solidFill>
                <a:latin typeface="TT Fors"/>
                <a:ea typeface="TT Fors"/>
                <a:cs typeface="TT Fors"/>
                <a:sym typeface="TT Fors"/>
              </a:rPr>
              <a:t> (Shows: Process tree with parent/child relationships</a:t>
            </a:r>
          </a:p>
          <a:p>
            <a:pPr algn="l">
              <a:lnSpc>
                <a:spcPts val="3600"/>
              </a:lnSpc>
            </a:pPr>
            <a:r>
              <a:rPr lang="en-US" b="true" sz="2400" spc="-72" strike="noStrike" u="none">
                <a:solidFill>
                  <a:srgbClr val="00FFA8"/>
                </a:solidFill>
                <a:latin typeface="TT Fors Bold"/>
                <a:ea typeface="TT Fors Bold"/>
                <a:cs typeface="TT Fors Bold"/>
                <a:sym typeface="TT Fors Bold"/>
              </a:rPr>
              <a:t>Linux User and Group Enumeration</a:t>
            </a:r>
          </a:p>
          <a:p>
            <a:pPr algn="l">
              <a:lnSpc>
                <a:spcPts val="3600"/>
              </a:lnSpc>
            </a:pPr>
            <a:r>
              <a:rPr lang="en-US" sz="2400" spc="-72" strike="noStrike" u="none">
                <a:solidFill>
                  <a:srgbClr val="FFFFFF"/>
                </a:solidFill>
                <a:latin typeface="TT Fors"/>
                <a:ea typeface="TT Fors"/>
                <a:cs typeface="TT Fors"/>
                <a:sym typeface="TT Fors"/>
              </a:rPr>
              <a:t>$ cat /etc/passwd </a:t>
            </a:r>
            <a:r>
              <a:rPr lang="en-US" sz="2400" spc="-72" strike="noStrike" u="none">
                <a:solidFill>
                  <a:srgbClr val="00FFA8"/>
                </a:solidFill>
                <a:latin typeface="TT Fors"/>
                <a:ea typeface="TT Fors"/>
                <a:cs typeface="TT Fors"/>
                <a:sym typeface="TT Fors"/>
              </a:rPr>
              <a:t>(Shows: All user accounts (format:</a:t>
            </a:r>
            <a:r>
              <a:rPr lang="en-US" sz="2400" spc="-72" strike="noStrike" u="none">
                <a:solidFill>
                  <a:srgbClr val="00FFA8"/>
                </a:solidFill>
                <a:latin typeface="TT Fors"/>
                <a:ea typeface="TT Fors"/>
                <a:cs typeface="TT Fors"/>
                <a:sym typeface="TT Fors"/>
              </a:rPr>
              <a:t> username:password:UID:GID:comment:home:shell)</a:t>
            </a:r>
          </a:p>
          <a:p>
            <a:pPr algn="l">
              <a:lnSpc>
                <a:spcPts val="3600"/>
              </a:lnSpc>
            </a:pPr>
            <a:r>
              <a:rPr lang="en-US" sz="2400" spc="-72" strike="noStrike" u="none">
                <a:solidFill>
                  <a:srgbClr val="FFFFFF"/>
                </a:solidFill>
                <a:latin typeface="TT Fors"/>
                <a:ea typeface="TT Fors"/>
                <a:cs typeface="TT Fors"/>
                <a:sym typeface="TT Fors"/>
              </a:rPr>
              <a:t>$ cat /etc/group</a:t>
            </a:r>
          </a:p>
          <a:p>
            <a:pPr algn="l">
              <a:lnSpc>
                <a:spcPts val="3600"/>
              </a:lnSpc>
            </a:pPr>
            <a:r>
              <a:rPr lang="en-US" sz="2400" spc="-72" strike="noStrike" u="none">
                <a:solidFill>
                  <a:srgbClr val="00FFA8"/>
                </a:solidFill>
                <a:latin typeface="TT Fors"/>
                <a:ea typeface="TT Fors"/>
                <a:cs typeface="TT Fors"/>
                <a:sym typeface="TT Fors"/>
              </a:rPr>
              <a:t>Shows: All groups and their members</a:t>
            </a:r>
          </a:p>
          <a:p>
            <a:pPr algn="l">
              <a:lnSpc>
                <a:spcPts val="3600"/>
              </a:lnSpc>
            </a:pPr>
            <a:r>
              <a:rPr lang="en-US" sz="2400" spc="-72" strike="noStrike" u="none">
                <a:solidFill>
                  <a:srgbClr val="FFFFFF"/>
                </a:solidFill>
                <a:latin typeface="TT Fors"/>
                <a:ea typeface="TT Fors"/>
                <a:cs typeface="TT Fors"/>
                <a:sym typeface="TT Fors"/>
              </a:rPr>
              <a:t>$ cat /etc/shadow</a:t>
            </a:r>
          </a:p>
          <a:p>
            <a:pPr algn="l">
              <a:lnSpc>
                <a:spcPts val="3600"/>
              </a:lnSpc>
            </a:pPr>
            <a:r>
              <a:rPr lang="en-US" sz="2400" spc="-72" strike="noStrike" u="none">
                <a:solidFill>
                  <a:srgbClr val="00FFA8"/>
                </a:solidFill>
                <a:latin typeface="TT Fors"/>
                <a:ea typeface="TT Fors"/>
                <a:cs typeface="TT Fors"/>
                <a:sym typeface="TT Fors"/>
              </a:rPr>
              <a:t>Shows: Password hashes (requires root access)</a:t>
            </a:r>
          </a:p>
        </p:txBody>
      </p:sp>
      <p:grpSp>
        <p:nvGrpSpPr>
          <p:cNvPr name="Group 6" id="6"/>
          <p:cNvGrpSpPr/>
          <p:nvPr/>
        </p:nvGrpSpPr>
        <p:grpSpPr>
          <a:xfrm rot="0">
            <a:off x="16115522" y="751544"/>
            <a:ext cx="1505728" cy="810556"/>
            <a:chOff x="0" y="0"/>
            <a:chExt cx="2007638" cy="1080741"/>
          </a:xfrm>
        </p:grpSpPr>
        <p:grpSp>
          <p:nvGrpSpPr>
            <p:cNvPr name="Group 7" id="7"/>
            <p:cNvGrpSpPr/>
            <p:nvPr/>
          </p:nvGrpSpPr>
          <p:grpSpPr>
            <a:xfrm rot="0">
              <a:off x="0"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10" id="10"/>
            <p:cNvGrpSpPr/>
            <p:nvPr/>
          </p:nvGrpSpPr>
          <p:grpSpPr>
            <a:xfrm rot="0">
              <a:off x="926897" y="0"/>
              <a:ext cx="1080741" cy="108074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3" id="13"/>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Enumeration of Different Operating Systems (Cont’d)</a:t>
            </a:r>
          </a:p>
        </p:txBody>
      </p:sp>
      <p:sp>
        <p:nvSpPr>
          <p:cNvPr name="TextBox 3" id="3"/>
          <p:cNvSpPr txBox="true"/>
          <p:nvPr/>
        </p:nvSpPr>
        <p:spPr>
          <a:xfrm rot="0">
            <a:off x="666750" y="1322070"/>
            <a:ext cx="8306267" cy="493395"/>
          </a:xfrm>
          <a:prstGeom prst="rect">
            <a:avLst/>
          </a:prstGeom>
        </p:spPr>
        <p:txBody>
          <a:bodyPr anchor="t" rtlCol="false" tIns="0" lIns="0" bIns="0" rIns="0">
            <a:spAutoFit/>
          </a:bodyPr>
          <a:lstStyle/>
          <a:p>
            <a:pPr algn="l">
              <a:lnSpc>
                <a:spcPts val="4199"/>
              </a:lnSpc>
            </a:pPr>
            <a:r>
              <a:rPr lang="en-US" b="true" sz="2799" spc="-83">
                <a:solidFill>
                  <a:srgbClr val="00FFA8"/>
                </a:solidFill>
                <a:latin typeface="TT Fors Bold"/>
                <a:ea typeface="TT Fors Bold"/>
                <a:cs typeface="TT Fors Bold"/>
                <a:sym typeface="TT Fors Bold"/>
              </a:rPr>
              <a:t>Linux/Unix OS Enumeration (Cont’d)</a:t>
            </a:r>
          </a:p>
        </p:txBody>
      </p:sp>
      <p:sp>
        <p:nvSpPr>
          <p:cNvPr name="TextBox 4" id="4"/>
          <p:cNvSpPr txBox="true"/>
          <p:nvPr/>
        </p:nvSpPr>
        <p:spPr>
          <a:xfrm rot="0">
            <a:off x="666750" y="2109166"/>
            <a:ext cx="11427725" cy="5461635"/>
          </a:xfrm>
          <a:prstGeom prst="rect">
            <a:avLst/>
          </a:prstGeom>
        </p:spPr>
        <p:txBody>
          <a:bodyPr anchor="t" rtlCol="false" tIns="0" lIns="0" bIns="0" rIns="0">
            <a:spAutoFit/>
          </a:bodyPr>
          <a:lstStyle/>
          <a:p>
            <a:pPr algn="l">
              <a:lnSpc>
                <a:spcPts val="3600"/>
              </a:lnSpc>
            </a:pPr>
            <a:r>
              <a:rPr lang="en-US" b="true" sz="2400" spc="-72">
                <a:solidFill>
                  <a:srgbClr val="00FFA8"/>
                </a:solidFill>
                <a:latin typeface="TT Fors Bold"/>
                <a:ea typeface="TT Fors Bold"/>
                <a:cs typeface="TT Fors Bold"/>
                <a:sym typeface="TT Fors Bold"/>
              </a:rPr>
              <a:t>SUID/SGID Binarie</a:t>
            </a:r>
            <a:r>
              <a:rPr lang="en-US" b="true" sz="2400" spc="-72" strike="noStrike" u="none">
                <a:solidFill>
                  <a:srgbClr val="00FFA8"/>
                </a:solidFill>
                <a:latin typeface="TT Fors Bold"/>
                <a:ea typeface="TT Fors Bold"/>
                <a:cs typeface="TT Fors Bold"/>
                <a:sym typeface="TT Fors Bold"/>
              </a:rPr>
              <a:t>s (Privilege Escalation)</a:t>
            </a:r>
          </a:p>
          <a:p>
            <a:pPr algn="l">
              <a:lnSpc>
                <a:spcPts val="3600"/>
              </a:lnSpc>
            </a:pPr>
            <a:r>
              <a:rPr lang="en-US" b="true" sz="2400" spc="-72" strike="noStrike" u="none">
                <a:solidFill>
                  <a:srgbClr val="00FFA8"/>
                </a:solidFill>
                <a:latin typeface="TT Fors Bold"/>
                <a:ea typeface="TT Fors Bold"/>
                <a:cs typeface="TT Fors Bold"/>
                <a:sym typeface="TT Fors Bold"/>
              </a:rPr>
              <a:t>SUID binaries run with the owner's privileges, often with escalation vectors</a:t>
            </a:r>
          </a:p>
          <a:p>
            <a:pPr algn="l">
              <a:lnSpc>
                <a:spcPts val="3600"/>
              </a:lnSpc>
            </a:pPr>
            <a:r>
              <a:rPr lang="en-US" sz="2400" spc="-72" strike="noStrike" u="none">
                <a:solidFill>
                  <a:srgbClr val="FFFFFF"/>
                </a:solidFill>
                <a:latin typeface="TT Fors"/>
                <a:ea typeface="TT Fors"/>
                <a:cs typeface="TT Fors"/>
                <a:sym typeface="TT Fors"/>
              </a:rPr>
              <a:t>$ find / -perm -u=s -type f</a:t>
            </a:r>
            <a:r>
              <a:rPr lang="en-US" sz="2400" spc="-72" strike="noStrike" u="none">
                <a:solidFill>
                  <a:srgbClr val="00FFA8"/>
                </a:solidFill>
                <a:latin typeface="TT Fors"/>
                <a:ea typeface="TT Fors"/>
                <a:cs typeface="TT Fors"/>
                <a:sym typeface="TT Fors"/>
              </a:rPr>
              <a:t> </a:t>
            </a:r>
            <a:r>
              <a:rPr lang="en-US" sz="2400" spc="-72" strike="noStrike" u="none">
                <a:solidFill>
                  <a:srgbClr val="00FFA8"/>
                </a:solidFill>
                <a:latin typeface="TT Fors"/>
                <a:ea typeface="TT Fors"/>
                <a:cs typeface="TT Fors"/>
                <a:sym typeface="TT Fors"/>
              </a:rPr>
              <a:t>(</a:t>
            </a:r>
            <a:r>
              <a:rPr lang="en-US" sz="2400" spc="-72" strike="noStrike" u="none">
                <a:solidFill>
                  <a:srgbClr val="00FFA8"/>
                </a:solidFill>
                <a:latin typeface="TT Fors"/>
                <a:ea typeface="TT Fors"/>
                <a:cs typeface="TT Fors"/>
                <a:sym typeface="TT Fors"/>
              </a:rPr>
              <a:t>Finds all SUID binaries on system)</a:t>
            </a:r>
          </a:p>
          <a:p>
            <a:pPr algn="l">
              <a:lnSpc>
                <a:spcPts val="3600"/>
              </a:lnSpc>
            </a:pPr>
            <a:r>
              <a:rPr lang="en-US" sz="2400" spc="-72" strike="noStrike" u="none">
                <a:solidFill>
                  <a:srgbClr val="FFFFFF"/>
                </a:solidFill>
                <a:latin typeface="TT Fors"/>
                <a:ea typeface="TT Fors"/>
                <a:cs typeface="TT Fors"/>
                <a:sym typeface="TT Fors"/>
              </a:rPr>
              <a:t>$ find / -perm -4000</a:t>
            </a:r>
            <a:r>
              <a:rPr lang="en-US" sz="2400" spc="-72" strike="noStrike" u="none">
                <a:solidFill>
                  <a:srgbClr val="00FFA8"/>
                </a:solidFill>
                <a:latin typeface="TT Fors"/>
                <a:ea typeface="TT Fors"/>
                <a:cs typeface="TT Fors"/>
                <a:sym typeface="TT Fors"/>
              </a:rPr>
              <a:t> (Alternative: finds SUID files (octal 4000))</a:t>
            </a:r>
          </a:p>
          <a:p>
            <a:pPr algn="l">
              <a:lnSpc>
                <a:spcPts val="3600"/>
              </a:lnSpc>
            </a:pPr>
            <a:r>
              <a:rPr lang="en-US" sz="2400" spc="-72" strike="noStrike" u="none">
                <a:solidFill>
                  <a:srgbClr val="FFFFFF"/>
                </a:solidFill>
                <a:latin typeface="TT Fors"/>
                <a:ea typeface="TT Fors"/>
                <a:cs typeface="TT Fors"/>
                <a:sym typeface="TT Fors"/>
              </a:rPr>
              <a:t>$ find / -perm -2000</a:t>
            </a:r>
            <a:r>
              <a:rPr lang="en-US" sz="2400" spc="-72" strike="noStrike" u="none">
                <a:solidFill>
                  <a:srgbClr val="00FFA8"/>
                </a:solidFill>
                <a:latin typeface="TT Fors"/>
                <a:ea typeface="TT Fors"/>
                <a:cs typeface="TT Fors"/>
                <a:sym typeface="TT Fors"/>
              </a:rPr>
              <a:t> (Finds SGID files (octal 2000))</a:t>
            </a:r>
          </a:p>
          <a:p>
            <a:pPr algn="l">
              <a:lnSpc>
                <a:spcPts val="3600"/>
              </a:lnSpc>
            </a:pPr>
          </a:p>
          <a:p>
            <a:pPr algn="l">
              <a:lnSpc>
                <a:spcPts val="3600"/>
              </a:lnSpc>
            </a:pPr>
            <a:r>
              <a:rPr lang="en-US" b="true" sz="2400" spc="-72" strike="noStrike" u="none">
                <a:solidFill>
                  <a:srgbClr val="00FFA8"/>
                </a:solidFill>
                <a:latin typeface="TT Fors Bold"/>
                <a:ea typeface="TT Fors Bold"/>
                <a:cs typeface="TT Fors Bold"/>
                <a:sym typeface="TT Fors Bold"/>
              </a:rPr>
              <a:t>Linux Network Enumeration</a:t>
            </a:r>
          </a:p>
          <a:p>
            <a:pPr algn="l">
              <a:lnSpc>
                <a:spcPts val="3600"/>
              </a:lnSpc>
            </a:pPr>
            <a:r>
              <a:rPr lang="en-US" sz="2400" spc="-72" strike="noStrike" u="none">
                <a:solidFill>
                  <a:srgbClr val="FFFFFF"/>
                </a:solidFill>
                <a:latin typeface="TT Fors"/>
                <a:ea typeface="TT Fors"/>
                <a:cs typeface="TT Fors"/>
                <a:sym typeface="TT Fors"/>
              </a:rPr>
              <a:t>$ ip addr</a:t>
            </a:r>
            <a:r>
              <a:rPr lang="en-US" sz="2400" spc="-72" strike="noStrike" u="none">
                <a:solidFill>
                  <a:srgbClr val="00FFA8"/>
                </a:solidFill>
                <a:latin typeface="TT Fors"/>
                <a:ea typeface="TT Fors"/>
                <a:cs typeface="TT Fors"/>
                <a:sym typeface="TT Fors"/>
              </a:rPr>
              <a:t> (Shows: All network interfaces</a:t>
            </a:r>
            <a:r>
              <a:rPr lang="en-US" sz="2400" spc="-72" strike="noStrike" u="none">
                <a:solidFill>
                  <a:srgbClr val="00FFA8"/>
                </a:solidFill>
                <a:latin typeface="TT Fors"/>
                <a:ea typeface="TT Fors"/>
                <a:cs typeface="TT Fors"/>
                <a:sym typeface="TT Fors"/>
              </a:rPr>
              <a:t> and IP addresses (modern))</a:t>
            </a:r>
          </a:p>
          <a:p>
            <a:pPr algn="l">
              <a:lnSpc>
                <a:spcPts val="3600"/>
              </a:lnSpc>
            </a:pPr>
            <a:r>
              <a:rPr lang="en-US" sz="2400" spc="-72" strike="noStrike" u="none">
                <a:solidFill>
                  <a:srgbClr val="FFFFFF"/>
                </a:solidFill>
                <a:latin typeface="TT Fors"/>
                <a:ea typeface="TT Fors"/>
                <a:cs typeface="TT Fors"/>
                <a:sym typeface="TT Fors"/>
              </a:rPr>
              <a:t>$ ip route</a:t>
            </a:r>
            <a:r>
              <a:rPr lang="en-US" sz="2400" spc="-72" strike="noStrike" u="none">
                <a:solidFill>
                  <a:srgbClr val="00FFA8"/>
                </a:solidFill>
                <a:latin typeface="TT Fors"/>
                <a:ea typeface="TT Fors"/>
                <a:cs typeface="TT Fors"/>
                <a:sym typeface="TT Fors"/>
              </a:rPr>
              <a:t> (Shows:</a:t>
            </a:r>
            <a:r>
              <a:rPr lang="en-US" sz="2400" spc="-72" strike="noStrike" u="none">
                <a:solidFill>
                  <a:srgbClr val="00FFA8"/>
                </a:solidFill>
                <a:latin typeface="TT Fors"/>
                <a:ea typeface="TT Fors"/>
                <a:cs typeface="TT Fors"/>
                <a:sym typeface="TT Fors"/>
              </a:rPr>
              <a:t> Routing table and available n</a:t>
            </a:r>
            <a:r>
              <a:rPr lang="en-US" sz="2400" spc="-72" strike="noStrike" u="none">
                <a:solidFill>
                  <a:srgbClr val="00FFA8"/>
                </a:solidFill>
                <a:latin typeface="TT Fors"/>
                <a:ea typeface="TT Fors"/>
                <a:cs typeface="TT Fors"/>
                <a:sym typeface="TT Fors"/>
              </a:rPr>
              <a:t>etworks)</a:t>
            </a:r>
          </a:p>
          <a:p>
            <a:pPr algn="l">
              <a:lnSpc>
                <a:spcPts val="3600"/>
              </a:lnSpc>
            </a:pPr>
            <a:r>
              <a:rPr lang="en-US" sz="2400" spc="-72" strike="noStrike" u="none">
                <a:solidFill>
                  <a:srgbClr val="FFFFFF"/>
                </a:solidFill>
                <a:latin typeface="TT Fors"/>
                <a:ea typeface="TT Fors"/>
                <a:cs typeface="TT Fors"/>
                <a:sym typeface="TT Fors"/>
              </a:rPr>
              <a:t>$ ip link</a:t>
            </a:r>
            <a:r>
              <a:rPr lang="en-US" sz="2400" spc="-72" strike="noStrike" u="none">
                <a:solidFill>
                  <a:srgbClr val="00FFA8"/>
                </a:solidFill>
                <a:latin typeface="TT Fors"/>
                <a:ea typeface="TT Fors"/>
                <a:cs typeface="TT Fors"/>
                <a:sym typeface="TT Fors"/>
              </a:rPr>
              <a:t> (Shows: Network interfaces and status)</a:t>
            </a:r>
          </a:p>
          <a:p>
            <a:pPr algn="l">
              <a:lnSpc>
                <a:spcPts val="3600"/>
              </a:lnSpc>
            </a:pPr>
            <a:r>
              <a:rPr lang="en-US" sz="2400" spc="-72" strike="noStrike" u="none">
                <a:solidFill>
                  <a:srgbClr val="FFFFFF"/>
                </a:solidFill>
                <a:latin typeface="TT Fors"/>
                <a:ea typeface="TT Fors"/>
                <a:cs typeface="TT Fors"/>
                <a:sym typeface="TT Fors"/>
              </a:rPr>
              <a:t>$ ss -ltpn</a:t>
            </a:r>
            <a:r>
              <a:rPr lang="en-US" sz="2400" spc="-72" strike="noStrike" u="none">
                <a:solidFill>
                  <a:srgbClr val="00FFA8"/>
                </a:solidFill>
                <a:latin typeface="TT Fors"/>
                <a:ea typeface="TT Fors"/>
                <a:cs typeface="TT Fors"/>
                <a:sym typeface="TT Fors"/>
              </a:rPr>
              <a:t> (</a:t>
            </a:r>
            <a:r>
              <a:rPr lang="en-US" sz="2400" spc="-72" strike="noStrike" u="none">
                <a:solidFill>
                  <a:srgbClr val="00FFA8"/>
                </a:solidFill>
                <a:latin typeface="TT Fors"/>
                <a:ea typeface="TT Fors"/>
                <a:cs typeface="TT Fors"/>
                <a:sym typeface="TT Fors"/>
              </a:rPr>
              <a:t>Shows: Listening ports with associated programs (modern netstat))</a:t>
            </a:r>
          </a:p>
          <a:p>
            <a:pPr algn="l">
              <a:lnSpc>
                <a:spcPts val="3600"/>
              </a:lnSpc>
            </a:pPr>
            <a:r>
              <a:rPr lang="en-US" sz="2400" spc="-72" strike="noStrike" u="none">
                <a:solidFill>
                  <a:srgbClr val="FFFFFF"/>
                </a:solidFill>
                <a:latin typeface="TT Fors"/>
                <a:ea typeface="TT Fors"/>
                <a:cs typeface="TT Fors"/>
                <a:sym typeface="TT Fors"/>
              </a:rPr>
              <a:t>$ netstat -tulpn</a:t>
            </a:r>
            <a:r>
              <a:rPr lang="en-US" sz="2400" spc="-72" strike="noStrike" u="none">
                <a:solidFill>
                  <a:srgbClr val="00FFA8"/>
                </a:solidFill>
                <a:latin typeface="TT Fors"/>
                <a:ea typeface="TT Fors"/>
                <a:cs typeface="TT Fors"/>
                <a:sym typeface="TT Fors"/>
              </a:rPr>
              <a:t> (Shows: Listening ports (older Linux systems))</a:t>
            </a:r>
          </a:p>
        </p:txBody>
      </p:sp>
      <p:sp>
        <p:nvSpPr>
          <p:cNvPr name="TextBox 5" id="5"/>
          <p:cNvSpPr txBox="true"/>
          <p:nvPr/>
        </p:nvSpPr>
        <p:spPr>
          <a:xfrm rot="0">
            <a:off x="12659123" y="2109166"/>
            <a:ext cx="4774400" cy="4547235"/>
          </a:xfrm>
          <a:prstGeom prst="rect">
            <a:avLst/>
          </a:prstGeom>
        </p:spPr>
        <p:txBody>
          <a:bodyPr anchor="t" rtlCol="false" tIns="0" lIns="0" bIns="0" rIns="0">
            <a:spAutoFit/>
          </a:bodyPr>
          <a:lstStyle/>
          <a:p>
            <a:pPr algn="l">
              <a:lnSpc>
                <a:spcPts val="3600"/>
              </a:lnSpc>
            </a:pPr>
            <a:r>
              <a:rPr lang="en-US" sz="2400" spc="-72" b="true">
                <a:solidFill>
                  <a:srgbClr val="00FFA8"/>
                </a:solidFill>
                <a:latin typeface="TT Fors Bold"/>
                <a:ea typeface="TT Fors Bold"/>
                <a:cs typeface="TT Fors Bold"/>
                <a:sym typeface="TT Fors Bold"/>
              </a:rPr>
              <a:t>Linux Firewall Enumeration</a:t>
            </a:r>
          </a:p>
          <a:p>
            <a:pPr algn="l">
              <a:lnSpc>
                <a:spcPts val="3600"/>
              </a:lnSpc>
            </a:pPr>
            <a:r>
              <a:rPr lang="en-US" sz="2400" spc="-72" b="true">
                <a:solidFill>
                  <a:srgbClr val="00FFA8"/>
                </a:solidFill>
                <a:latin typeface="TT Fors Bold"/>
                <a:ea typeface="TT Fors Bold"/>
                <a:cs typeface="TT Fors Bold"/>
                <a:sym typeface="TT Fors Bold"/>
              </a:rPr>
              <a:t>If using iptables:</a:t>
            </a:r>
          </a:p>
          <a:p>
            <a:pPr algn="l">
              <a:lnSpc>
                <a:spcPts val="3600"/>
              </a:lnSpc>
            </a:pPr>
            <a:r>
              <a:rPr lang="en-US" sz="2400" spc="-72">
                <a:solidFill>
                  <a:srgbClr val="FFFFFF"/>
                </a:solidFill>
                <a:latin typeface="TT Fors"/>
                <a:ea typeface="TT Fors"/>
                <a:cs typeface="TT Fors"/>
                <a:sym typeface="TT Fors"/>
              </a:rPr>
              <a:t>$ iptables -L -n</a:t>
            </a:r>
          </a:p>
          <a:p>
            <a:pPr algn="l">
              <a:lnSpc>
                <a:spcPts val="3600"/>
              </a:lnSpc>
            </a:pPr>
            <a:r>
              <a:rPr lang="en-US" sz="2400" spc="-72">
                <a:solidFill>
                  <a:srgbClr val="00FFA8"/>
                </a:solidFill>
                <a:latin typeface="TT Fors"/>
                <a:ea typeface="TT Fors"/>
                <a:cs typeface="TT Fors"/>
                <a:sym typeface="TT Fors"/>
              </a:rPr>
              <a:t>Shows: Current firewall rules</a:t>
            </a:r>
          </a:p>
          <a:p>
            <a:pPr algn="l">
              <a:lnSpc>
                <a:spcPts val="3600"/>
              </a:lnSpc>
            </a:pPr>
          </a:p>
          <a:p>
            <a:pPr algn="l">
              <a:lnSpc>
                <a:spcPts val="3600"/>
              </a:lnSpc>
            </a:pPr>
            <a:r>
              <a:rPr lang="en-US" sz="2400" spc="-72" b="true">
                <a:solidFill>
                  <a:srgbClr val="00FFA8"/>
                </a:solidFill>
                <a:latin typeface="TT Fors Bold"/>
                <a:ea typeface="TT Fors Bold"/>
                <a:cs typeface="TT Fors Bold"/>
                <a:sym typeface="TT Fors Bold"/>
              </a:rPr>
              <a:t>If using nftables (newer):</a:t>
            </a:r>
          </a:p>
          <a:p>
            <a:pPr algn="l">
              <a:lnSpc>
                <a:spcPts val="3600"/>
              </a:lnSpc>
            </a:pPr>
            <a:r>
              <a:rPr lang="en-US" sz="2400" spc="-72">
                <a:solidFill>
                  <a:srgbClr val="00FFA8"/>
                </a:solidFill>
                <a:latin typeface="TT Fors"/>
                <a:ea typeface="TT Fors"/>
                <a:cs typeface="TT Fors"/>
                <a:sym typeface="TT Fors"/>
              </a:rPr>
              <a:t>$ nft list ruleset</a:t>
            </a:r>
          </a:p>
          <a:p>
            <a:pPr algn="l">
              <a:lnSpc>
                <a:spcPts val="3600"/>
              </a:lnSpc>
            </a:pPr>
          </a:p>
          <a:p>
            <a:pPr algn="l">
              <a:lnSpc>
                <a:spcPts val="3600"/>
              </a:lnSpc>
            </a:pPr>
            <a:r>
              <a:rPr lang="en-US" sz="2400" spc="-72" b="true">
                <a:solidFill>
                  <a:srgbClr val="00FFA8"/>
                </a:solidFill>
                <a:latin typeface="TT Fors Bold"/>
                <a:ea typeface="TT Fors Bold"/>
                <a:cs typeface="TT Fors Bold"/>
                <a:sym typeface="TT Fors Bold"/>
              </a:rPr>
              <a:t>If using firewalld:</a:t>
            </a:r>
          </a:p>
          <a:p>
            <a:pPr algn="l">
              <a:lnSpc>
                <a:spcPts val="3600"/>
              </a:lnSpc>
            </a:pPr>
            <a:r>
              <a:rPr lang="en-US" sz="2400" spc="-72">
                <a:solidFill>
                  <a:srgbClr val="00FFA8"/>
                </a:solidFill>
                <a:latin typeface="TT Fors"/>
                <a:ea typeface="TT Fors"/>
                <a:cs typeface="TT Fors"/>
                <a:sym typeface="TT Fors"/>
              </a:rPr>
              <a:t>$ firewall-cmd --list-all</a:t>
            </a:r>
          </a:p>
        </p:txBody>
      </p:sp>
      <p:grpSp>
        <p:nvGrpSpPr>
          <p:cNvPr name="Group 6" id="6"/>
          <p:cNvGrpSpPr/>
          <p:nvPr/>
        </p:nvGrpSpPr>
        <p:grpSpPr>
          <a:xfrm rot="0">
            <a:off x="16115522" y="751544"/>
            <a:ext cx="1505728" cy="810556"/>
            <a:chOff x="0" y="0"/>
            <a:chExt cx="2007638" cy="1080741"/>
          </a:xfrm>
        </p:grpSpPr>
        <p:grpSp>
          <p:nvGrpSpPr>
            <p:cNvPr name="Group 7" id="7"/>
            <p:cNvGrpSpPr/>
            <p:nvPr/>
          </p:nvGrpSpPr>
          <p:grpSpPr>
            <a:xfrm rot="0">
              <a:off x="0" y="0"/>
              <a:ext cx="1080741" cy="10807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10" id="10"/>
            <p:cNvGrpSpPr/>
            <p:nvPr/>
          </p:nvGrpSpPr>
          <p:grpSpPr>
            <a:xfrm rot="0">
              <a:off x="926897" y="0"/>
              <a:ext cx="1080741" cy="108074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3" id="13"/>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Remote Enumeration Tools</a:t>
            </a:r>
          </a:p>
        </p:txBody>
      </p:sp>
      <p:sp>
        <p:nvSpPr>
          <p:cNvPr name="TextBox 3" id="3"/>
          <p:cNvSpPr txBox="true"/>
          <p:nvPr/>
        </p:nvSpPr>
        <p:spPr>
          <a:xfrm rot="0">
            <a:off x="666750" y="1617129"/>
            <a:ext cx="16201636" cy="8204835"/>
          </a:xfrm>
          <a:prstGeom prst="rect">
            <a:avLst/>
          </a:prstGeom>
        </p:spPr>
        <p:txBody>
          <a:bodyPr anchor="t" rtlCol="false" tIns="0" lIns="0" bIns="0" rIns="0">
            <a:spAutoFit/>
          </a:bodyPr>
          <a:lstStyle/>
          <a:p>
            <a:pPr algn="l">
              <a:lnSpc>
                <a:spcPts val="3600"/>
              </a:lnSpc>
            </a:pPr>
            <a:r>
              <a:rPr lang="en-US" sz="2400" spc="-72" b="true">
                <a:solidFill>
                  <a:srgbClr val="00FFA8"/>
                </a:solidFill>
                <a:latin typeface="TT Fors Bold"/>
                <a:ea typeface="TT Fors Bold"/>
                <a:cs typeface="TT Fors Bold"/>
                <a:sym typeface="TT Fors Bold"/>
              </a:rPr>
              <a:t>SNMP (Simple Network Management Protocol)</a:t>
            </a:r>
          </a:p>
          <a:p>
            <a:pPr algn="l">
              <a:lnSpc>
                <a:spcPts val="3600"/>
              </a:lnSpc>
            </a:pPr>
            <a:r>
              <a:rPr lang="en-US" sz="2400" spc="-72" b="true">
                <a:solidFill>
                  <a:srgbClr val="00FFA8"/>
                </a:solidFill>
                <a:latin typeface="TT Fors Bold"/>
                <a:ea typeface="TT Fors Bold"/>
                <a:cs typeface="TT Fors Bold"/>
                <a:sym typeface="TT Fors Bold"/>
              </a:rPr>
              <a:t>Port: </a:t>
            </a:r>
            <a:r>
              <a:rPr lang="en-US" sz="2400" spc="-72">
                <a:solidFill>
                  <a:srgbClr val="00FFA8"/>
                </a:solidFill>
                <a:latin typeface="TT Fors"/>
                <a:ea typeface="TT Fors"/>
                <a:cs typeface="TT Fors"/>
                <a:sym typeface="TT Fors"/>
              </a:rPr>
              <a:t>161 (UDP)</a:t>
            </a:r>
          </a:p>
          <a:p>
            <a:pPr algn="l">
              <a:lnSpc>
                <a:spcPts val="3600"/>
              </a:lnSpc>
            </a:pPr>
            <a:r>
              <a:rPr lang="en-US" b="true" sz="2400" spc="-72">
                <a:solidFill>
                  <a:srgbClr val="00FFA8"/>
                </a:solidFill>
                <a:latin typeface="TT Fors Bold"/>
                <a:ea typeface="TT Fors Bold"/>
                <a:cs typeface="TT Fors Bold"/>
                <a:sym typeface="TT Fors Bold"/>
              </a:rPr>
              <a:t>Purpose: </a:t>
            </a:r>
            <a:r>
              <a:rPr lang="en-US" sz="2400" spc="-72">
                <a:solidFill>
                  <a:srgbClr val="00FFA8"/>
                </a:solidFill>
                <a:latin typeface="TT Fors"/>
                <a:ea typeface="TT Fors"/>
                <a:cs typeface="TT Fors"/>
                <a:sym typeface="TT Fors"/>
              </a:rPr>
              <a:t>Remote</a:t>
            </a:r>
            <a:r>
              <a:rPr lang="en-US" sz="2400" spc="-72" strike="noStrike" u="none">
                <a:solidFill>
                  <a:srgbClr val="00FFA8"/>
                </a:solidFill>
                <a:latin typeface="TT Fors"/>
                <a:ea typeface="TT Fors"/>
                <a:cs typeface="TT Fors"/>
                <a:sym typeface="TT Fors"/>
              </a:rPr>
              <a:t> monitoring and management of network devices</a:t>
            </a:r>
          </a:p>
          <a:p>
            <a:pPr algn="l">
              <a:lnSpc>
                <a:spcPts val="3600"/>
              </a:lnSpc>
            </a:pPr>
            <a:r>
              <a:rPr lang="en-US" b="true" sz="2400" spc="-72" strike="noStrike" u="none">
                <a:solidFill>
                  <a:srgbClr val="00FFA8"/>
                </a:solidFill>
                <a:latin typeface="TT Fors Bold"/>
                <a:ea typeface="TT Fors Bold"/>
                <a:cs typeface="TT Fors Bold"/>
                <a:sym typeface="TT Fors Bold"/>
              </a:rPr>
              <a:t>Reveals:</a:t>
            </a:r>
            <a:r>
              <a:rPr lang="en-US" sz="2400" spc="-72" strike="noStrike" u="none">
                <a:solidFill>
                  <a:srgbClr val="00FFA8"/>
                </a:solidFill>
                <a:latin typeface="TT Fors"/>
                <a:ea typeface="TT Fors"/>
                <a:cs typeface="TT Fors"/>
                <a:sym typeface="TT Fors"/>
              </a:rPr>
              <a:t> System info, running processes, installed software, network config</a:t>
            </a:r>
          </a:p>
          <a:p>
            <a:pPr algn="l">
              <a:lnSpc>
                <a:spcPts val="3600"/>
              </a:lnSpc>
            </a:pPr>
            <a:r>
              <a:rPr lang="en-US" sz="2400" spc="-72" strike="noStrike" u="none">
                <a:solidFill>
                  <a:srgbClr val="00FFA8"/>
                </a:solidFill>
                <a:latin typeface="TT Fors"/>
                <a:ea typeface="TT Fors"/>
                <a:cs typeface="TT Fors"/>
                <a:sym typeface="TT Fors"/>
              </a:rPr>
              <a:t>D</a:t>
            </a:r>
            <a:r>
              <a:rPr lang="en-US" sz="2400" spc="-72" strike="noStrike" u="none">
                <a:solidFill>
                  <a:srgbClr val="00FFA8"/>
                </a:solidFill>
                <a:latin typeface="TT Fors"/>
                <a:ea typeface="TT Fors"/>
                <a:cs typeface="TT Fors"/>
                <a:sym typeface="TT Fors"/>
              </a:rPr>
              <a:t>efault commu</a:t>
            </a:r>
            <a:r>
              <a:rPr lang="en-US" sz="2400" spc="-72" strike="noStrike" u="none">
                <a:solidFill>
                  <a:srgbClr val="00FFA8"/>
                </a:solidFill>
                <a:latin typeface="TT Fors"/>
                <a:ea typeface="TT Fors"/>
                <a:cs typeface="TT Fors"/>
                <a:sym typeface="TT Fors"/>
              </a:rPr>
              <a:t>nity stri</a:t>
            </a:r>
            <a:r>
              <a:rPr lang="en-US" sz="2400" spc="-72" strike="noStrike" u="none">
                <a:solidFill>
                  <a:srgbClr val="00FFA8"/>
                </a:solidFill>
                <a:latin typeface="TT Fors"/>
                <a:ea typeface="TT Fors"/>
                <a:cs typeface="TT Fors"/>
                <a:sym typeface="TT Fors"/>
              </a:rPr>
              <a:t>ngs: "public" (</a:t>
            </a:r>
            <a:r>
              <a:rPr lang="en-US" sz="2400" spc="-72" strike="noStrike" u="none">
                <a:solidFill>
                  <a:srgbClr val="00FFA8"/>
                </a:solidFill>
                <a:latin typeface="TT Fors"/>
                <a:ea typeface="TT Fors"/>
                <a:cs typeface="TT Fors"/>
                <a:sym typeface="TT Fors"/>
              </a:rPr>
              <a:t>read), "pr</a:t>
            </a:r>
            <a:r>
              <a:rPr lang="en-US" sz="2400" spc="-72" strike="noStrike" u="none">
                <a:solidFill>
                  <a:srgbClr val="00FFA8"/>
                </a:solidFill>
                <a:latin typeface="TT Fors"/>
                <a:ea typeface="TT Fors"/>
                <a:cs typeface="TT Fors"/>
                <a:sym typeface="TT Fors"/>
              </a:rPr>
              <a:t>ivate" (write)</a:t>
            </a:r>
          </a:p>
          <a:p>
            <a:pPr algn="l">
              <a:lnSpc>
                <a:spcPts val="3600"/>
              </a:lnSpc>
            </a:pPr>
            <a:r>
              <a:rPr lang="en-US" sz="2400" spc="-72" strike="noStrike" u="none">
                <a:solidFill>
                  <a:srgbClr val="FFFFFF"/>
                </a:solidFill>
                <a:latin typeface="TT Fors"/>
                <a:ea typeface="TT Fors"/>
                <a:cs typeface="TT Fors"/>
                <a:sym typeface="TT Fors"/>
              </a:rPr>
              <a:t>$ snmpwalk -c public -v 1 TARGET_IP </a:t>
            </a:r>
            <a:r>
              <a:rPr lang="en-US" sz="2400" spc="-72" strike="noStrike" u="none">
                <a:solidFill>
                  <a:srgbClr val="00FFA8"/>
                </a:solidFill>
                <a:latin typeface="TT Fors"/>
                <a:ea typeface="TT Fors"/>
                <a:cs typeface="TT Fors"/>
                <a:sym typeface="TT Fors"/>
              </a:rPr>
              <a:t>(</a:t>
            </a:r>
            <a:r>
              <a:rPr lang="en-US" sz="2400" spc="-72" strike="noStrike" u="none">
                <a:solidFill>
                  <a:srgbClr val="00FFA8"/>
                </a:solidFill>
                <a:latin typeface="TT Fors"/>
                <a:ea typeface="TT Fors"/>
                <a:cs typeface="TT Fors"/>
                <a:sym typeface="TT Fors"/>
              </a:rPr>
              <a:t>Walks the entire SNMP tree with "public" community string)</a:t>
            </a:r>
          </a:p>
          <a:p>
            <a:pPr algn="l">
              <a:lnSpc>
                <a:spcPts val="3600"/>
              </a:lnSpc>
            </a:pPr>
          </a:p>
          <a:p>
            <a:pPr algn="l">
              <a:lnSpc>
                <a:spcPts val="3600"/>
              </a:lnSpc>
            </a:pPr>
            <a:r>
              <a:rPr lang="en-US" b="true" sz="2400" spc="-72" strike="noStrike" u="none">
                <a:solidFill>
                  <a:srgbClr val="00FFA8"/>
                </a:solidFill>
                <a:latin typeface="TT Fors Bold"/>
                <a:ea typeface="TT Fors Bold"/>
                <a:cs typeface="TT Fors Bold"/>
                <a:sym typeface="TT Fors Bold"/>
              </a:rPr>
              <a:t>Finger Service</a:t>
            </a:r>
          </a:p>
          <a:p>
            <a:pPr algn="l">
              <a:lnSpc>
                <a:spcPts val="3600"/>
              </a:lnSpc>
            </a:pPr>
            <a:r>
              <a:rPr lang="en-US" b="true" sz="2400" spc="-72" strike="noStrike" u="none">
                <a:solidFill>
                  <a:srgbClr val="00FFA8"/>
                </a:solidFill>
                <a:latin typeface="TT Fors Bold"/>
                <a:ea typeface="TT Fors Bold"/>
                <a:cs typeface="TT Fors Bold"/>
                <a:sym typeface="TT Fors Bold"/>
              </a:rPr>
              <a:t>Port:</a:t>
            </a:r>
            <a:r>
              <a:rPr lang="en-US" sz="2400" spc="-72" strike="noStrike" u="none">
                <a:solidFill>
                  <a:srgbClr val="00FFA8"/>
                </a:solidFill>
                <a:latin typeface="TT Fors"/>
                <a:ea typeface="TT Fors"/>
                <a:cs typeface="TT Fors"/>
                <a:sym typeface="TT Fors"/>
              </a:rPr>
              <a:t> 79 (TCP)</a:t>
            </a:r>
          </a:p>
          <a:p>
            <a:pPr algn="l">
              <a:lnSpc>
                <a:spcPts val="3600"/>
              </a:lnSpc>
            </a:pPr>
            <a:r>
              <a:rPr lang="en-US" b="true" sz="2400" spc="-72" strike="noStrike" u="none">
                <a:solidFill>
                  <a:srgbClr val="00FFA8"/>
                </a:solidFill>
                <a:latin typeface="TT Fors Bold"/>
                <a:ea typeface="TT Fors Bold"/>
                <a:cs typeface="TT Fors Bold"/>
                <a:sym typeface="TT Fors Bold"/>
              </a:rPr>
              <a:t>Purpose:</a:t>
            </a:r>
            <a:r>
              <a:rPr lang="en-US" sz="2400" spc="-72" strike="noStrike" u="none">
                <a:solidFill>
                  <a:srgbClr val="00FFA8"/>
                </a:solidFill>
                <a:latin typeface="TT Fors"/>
                <a:ea typeface="TT Fors"/>
                <a:cs typeface="TT Fors"/>
                <a:sym typeface="TT Fors"/>
              </a:rPr>
              <a:t> Display information about system users</a:t>
            </a:r>
          </a:p>
          <a:p>
            <a:pPr algn="l">
              <a:lnSpc>
                <a:spcPts val="3600"/>
              </a:lnSpc>
            </a:pPr>
            <a:r>
              <a:rPr lang="en-US" b="true" sz="2400" spc="-72" strike="noStrike" u="none">
                <a:solidFill>
                  <a:srgbClr val="00FFA8"/>
                </a:solidFill>
                <a:latin typeface="TT Fors Bold"/>
                <a:ea typeface="TT Fors Bold"/>
                <a:cs typeface="TT Fors Bold"/>
                <a:sym typeface="TT Fors Bold"/>
              </a:rPr>
              <a:t>Shows:</a:t>
            </a:r>
            <a:r>
              <a:rPr lang="en-US" sz="2400" spc="-72" strike="noStrike" u="none">
                <a:solidFill>
                  <a:srgbClr val="00FFA8"/>
                </a:solidFill>
                <a:latin typeface="TT Fors"/>
                <a:ea typeface="TT Fors"/>
                <a:cs typeface="TT Fors"/>
                <a:sym typeface="TT Fors"/>
              </a:rPr>
              <a:t> Logged-in users, login times, idle time</a:t>
            </a:r>
          </a:p>
          <a:p>
            <a:pPr algn="l">
              <a:lnSpc>
                <a:spcPts val="3600"/>
              </a:lnSpc>
            </a:pPr>
            <a:r>
              <a:rPr lang="en-US" sz="2400" spc="-72" strike="noStrike" u="none">
                <a:solidFill>
                  <a:srgbClr val="FFFFFF"/>
                </a:solidFill>
                <a:latin typeface="TT Fors"/>
                <a:ea typeface="TT Fors"/>
                <a:cs typeface="TT Fors"/>
                <a:sym typeface="TT Fors"/>
              </a:rPr>
              <a:t>$ finger @TARGET_IP </a:t>
            </a:r>
            <a:r>
              <a:rPr lang="en-US" sz="2400" spc="-72" strike="noStrike" u="none">
                <a:solidFill>
                  <a:srgbClr val="00FFA8"/>
                </a:solidFill>
                <a:latin typeface="TT Fors"/>
                <a:ea typeface="TT Fors"/>
                <a:cs typeface="TT Fors"/>
                <a:sym typeface="TT Fors"/>
              </a:rPr>
              <a:t>(</a:t>
            </a:r>
            <a:r>
              <a:rPr lang="en-US" sz="2400" spc="-72" strike="noStrike" u="none">
                <a:solidFill>
                  <a:srgbClr val="00FFA8"/>
                </a:solidFill>
                <a:latin typeface="TT Fors"/>
                <a:ea typeface="TT Fors"/>
                <a:cs typeface="TT Fors"/>
                <a:sym typeface="TT Fors"/>
              </a:rPr>
              <a:t>Gets info about all logged-in users)</a:t>
            </a:r>
          </a:p>
          <a:p>
            <a:pPr algn="l">
              <a:lnSpc>
                <a:spcPts val="3600"/>
              </a:lnSpc>
            </a:pPr>
            <a:r>
              <a:rPr lang="en-US" sz="2400" spc="-72" strike="noStrike" u="none">
                <a:solidFill>
                  <a:srgbClr val="FFFFFF"/>
                </a:solidFill>
                <a:latin typeface="TT Fors"/>
                <a:ea typeface="TT Fors"/>
                <a:cs typeface="TT Fors"/>
                <a:sym typeface="TT Fors"/>
              </a:rPr>
              <a:t>$ finger username@TARGET_IP</a:t>
            </a:r>
            <a:r>
              <a:rPr lang="en-US" sz="2400" spc="-72" strike="noStrike" u="none">
                <a:solidFill>
                  <a:srgbClr val="00FFA8"/>
                </a:solidFill>
                <a:latin typeface="TT Fors"/>
                <a:ea typeface="TT Fors"/>
                <a:cs typeface="TT Fors"/>
                <a:sym typeface="TT Fors"/>
              </a:rPr>
              <a:t> (Gets specific user information)</a:t>
            </a:r>
          </a:p>
          <a:p>
            <a:pPr algn="l">
              <a:lnSpc>
                <a:spcPts val="3600"/>
              </a:lnSpc>
            </a:pPr>
          </a:p>
          <a:p>
            <a:pPr algn="l">
              <a:lnSpc>
                <a:spcPts val="3600"/>
              </a:lnSpc>
            </a:pPr>
            <a:r>
              <a:rPr lang="en-US" b="true" sz="2400" spc="-72" strike="noStrike" u="none">
                <a:solidFill>
                  <a:srgbClr val="00FFA8"/>
                </a:solidFill>
                <a:latin typeface="TT Fors Bold"/>
                <a:ea typeface="TT Fors Bold"/>
                <a:cs typeface="TT Fors Bold"/>
                <a:sym typeface="TT Fors Bold"/>
              </a:rPr>
              <a:t>Nessus / OpenVAS</a:t>
            </a:r>
          </a:p>
          <a:p>
            <a:pPr algn="l">
              <a:lnSpc>
                <a:spcPts val="3600"/>
              </a:lnSpc>
            </a:pPr>
            <a:r>
              <a:rPr lang="en-US" sz="2400" spc="-72" strike="noStrike" u="none">
                <a:solidFill>
                  <a:srgbClr val="00FFA8"/>
                </a:solidFill>
                <a:latin typeface="TT Fors"/>
                <a:ea typeface="TT Fors"/>
                <a:cs typeface="TT Fors"/>
                <a:sym typeface="TT Fors"/>
              </a:rPr>
              <a:t>Comprehensive vulnerability assessment tools</a:t>
            </a:r>
          </a:p>
          <a:p>
            <a:pPr algn="l">
              <a:lnSpc>
                <a:spcPts val="3600"/>
              </a:lnSpc>
            </a:pPr>
            <a:r>
              <a:rPr lang="en-US" sz="2400" spc="-72" strike="noStrike" u="none">
                <a:solidFill>
                  <a:srgbClr val="00FFA8"/>
                </a:solidFill>
                <a:latin typeface="TT Fors"/>
                <a:ea typeface="TT Fors"/>
                <a:cs typeface="TT Fors"/>
                <a:sym typeface="TT Fors"/>
              </a:rPr>
              <a:t>Combines enumeration with vulnerability scanning</a:t>
            </a:r>
          </a:p>
          <a:p>
            <a:pPr algn="l">
              <a:lnSpc>
                <a:spcPts val="3600"/>
              </a:lnSpc>
            </a:pPr>
            <a:r>
              <a:rPr lang="en-US" sz="2400" spc="-72" strike="noStrike" u="none">
                <a:solidFill>
                  <a:srgbClr val="00FFA8"/>
                </a:solidFill>
                <a:latin typeface="TT Fors"/>
                <a:ea typeface="TT Fors"/>
                <a:cs typeface="TT Fors"/>
                <a:sym typeface="TT Fors"/>
              </a:rPr>
              <a:t>Provides detailed reports on systems found</a:t>
            </a:r>
          </a:p>
        </p:txBody>
      </p:sp>
      <p:grpSp>
        <p:nvGrpSpPr>
          <p:cNvPr name="Group 4" id="4"/>
          <p:cNvGrpSpPr/>
          <p:nvPr/>
        </p:nvGrpSpPr>
        <p:grpSpPr>
          <a:xfrm rot="0">
            <a:off x="16115522" y="751544"/>
            <a:ext cx="1505728" cy="810556"/>
            <a:chOff x="0" y="0"/>
            <a:chExt cx="2007638" cy="1080741"/>
          </a:xfrm>
        </p:grpSpPr>
        <p:grpSp>
          <p:nvGrpSpPr>
            <p:cNvPr name="Group 5" id="5"/>
            <p:cNvGrpSpPr/>
            <p:nvPr/>
          </p:nvGrpSpPr>
          <p:grpSpPr>
            <a:xfrm rot="0">
              <a:off x="0" y="0"/>
              <a:ext cx="1080741" cy="108074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8" id="8"/>
            <p:cNvGrpSpPr/>
            <p:nvPr/>
          </p:nvGrpSpPr>
          <p:grpSpPr>
            <a:xfrm rot="0">
              <a:off x="926897" y="0"/>
              <a:ext cx="1080741" cy="108074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1" id="11"/>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Banner Grabbing Techniques</a:t>
            </a:r>
          </a:p>
        </p:txBody>
      </p:sp>
      <p:sp>
        <p:nvSpPr>
          <p:cNvPr name="TextBox 3" id="3"/>
          <p:cNvSpPr txBox="true"/>
          <p:nvPr/>
        </p:nvSpPr>
        <p:spPr>
          <a:xfrm rot="0">
            <a:off x="666750" y="2941504"/>
            <a:ext cx="16201636" cy="5004435"/>
          </a:xfrm>
          <a:prstGeom prst="rect">
            <a:avLst/>
          </a:prstGeom>
        </p:spPr>
        <p:txBody>
          <a:bodyPr anchor="t" rtlCol="false" tIns="0" lIns="0" bIns="0" rIns="0">
            <a:spAutoFit/>
          </a:bodyPr>
          <a:lstStyle/>
          <a:p>
            <a:pPr algn="l">
              <a:lnSpc>
                <a:spcPts val="3600"/>
              </a:lnSpc>
            </a:pPr>
            <a:r>
              <a:rPr lang="en-US" b="true" sz="2400" spc="-72">
                <a:solidFill>
                  <a:srgbClr val="00FFA8"/>
                </a:solidFill>
                <a:latin typeface="TT Fors Bold"/>
                <a:ea typeface="TT Fors Bold"/>
                <a:cs typeface="TT Fors Bold"/>
                <a:sym typeface="TT Fors Bold"/>
              </a:rPr>
              <a:t>Why Banne</a:t>
            </a:r>
            <a:r>
              <a:rPr lang="en-US" b="true" sz="2400" spc="-72" strike="noStrike" u="none">
                <a:solidFill>
                  <a:srgbClr val="00FFA8"/>
                </a:solidFill>
                <a:latin typeface="TT Fors Bold"/>
                <a:ea typeface="TT Fors Bold"/>
                <a:cs typeface="TT Fors Bold"/>
                <a:sym typeface="TT Fors Bold"/>
              </a:rPr>
              <a:t>r Grabbing is Important:</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Identifies specific service versions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Reveals known vulnerabilities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Helps in attack planning</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Can be done passively or actively</a:t>
            </a:r>
          </a:p>
          <a:p>
            <a:pPr algn="l">
              <a:lnSpc>
                <a:spcPts val="3600"/>
              </a:lnSpc>
            </a:pPr>
          </a:p>
          <a:p>
            <a:pPr algn="l">
              <a:lnSpc>
                <a:spcPts val="3600"/>
              </a:lnSpc>
            </a:pPr>
            <a:r>
              <a:rPr lang="en-US" b="true" sz="2400" spc="-72" strike="noStrike" u="none">
                <a:solidFill>
                  <a:srgbClr val="00FFA8"/>
                </a:solidFill>
                <a:latin typeface="TT Fors Bold"/>
                <a:ea typeface="TT Fors Bold"/>
                <a:cs typeface="TT Fors Bold"/>
                <a:sym typeface="TT Fors Bold"/>
              </a:rPr>
              <a:t>Common Banner Grabbing Methods:</a:t>
            </a:r>
          </a:p>
          <a:p>
            <a:pPr algn="l" marL="518160" indent="-259080" lvl="1">
              <a:lnSpc>
                <a:spcPts val="3600"/>
              </a:lnSpc>
              <a:buAutoNum type="arabicPeriod" startAt="1"/>
            </a:pPr>
            <a:r>
              <a:rPr lang="en-US" b="true" sz="2400" spc="-72" strike="noStrike" u="none">
                <a:solidFill>
                  <a:srgbClr val="00FFA8"/>
                </a:solidFill>
                <a:latin typeface="TT Fors Bold"/>
                <a:ea typeface="TT Fors Bold"/>
                <a:cs typeface="TT Fors Bold"/>
                <a:sym typeface="TT Fors Bold"/>
              </a:rPr>
              <a:t>Telnet Connection: </a:t>
            </a:r>
            <a:r>
              <a:rPr lang="en-US" sz="2400" spc="-72" strike="noStrike" u="none">
                <a:solidFill>
                  <a:srgbClr val="FFFFFF"/>
                </a:solidFill>
                <a:latin typeface="TT Fors"/>
                <a:ea typeface="TT Fors"/>
                <a:cs typeface="TT Fors"/>
                <a:sym typeface="TT Fors"/>
              </a:rPr>
              <a:t>telnet target_ip port </a:t>
            </a:r>
            <a:r>
              <a:rPr lang="en-US" sz="2400" spc="-72" strike="noStrike" u="none">
                <a:solidFill>
                  <a:srgbClr val="00FFA8"/>
                </a:solidFill>
                <a:latin typeface="TT Fors"/>
                <a:ea typeface="TT Fors"/>
                <a:cs typeface="TT Fors"/>
                <a:sym typeface="TT Fors"/>
              </a:rPr>
              <a:t>- connects and captures banner</a:t>
            </a:r>
          </a:p>
          <a:p>
            <a:pPr algn="l" marL="518160" indent="-259080" lvl="1">
              <a:lnSpc>
                <a:spcPts val="3600"/>
              </a:lnSpc>
              <a:buAutoNum type="arabicPeriod" startAt="1"/>
            </a:pPr>
            <a:r>
              <a:rPr lang="en-US" b="true" sz="2400" spc="-72" strike="noStrike" u="none">
                <a:solidFill>
                  <a:srgbClr val="00FFA8"/>
                </a:solidFill>
                <a:latin typeface="TT Fors Bold"/>
                <a:ea typeface="TT Fors Bold"/>
                <a:cs typeface="TT Fors Bold"/>
                <a:sym typeface="TT Fors Bold"/>
              </a:rPr>
              <a:t>Netcat: </a:t>
            </a:r>
            <a:r>
              <a:rPr lang="en-US" sz="2400" spc="-72" strike="noStrike" u="none">
                <a:solidFill>
                  <a:srgbClr val="FFFFFF"/>
                </a:solidFill>
                <a:latin typeface="TT Fors"/>
                <a:ea typeface="TT Fors"/>
                <a:cs typeface="TT Fors"/>
                <a:sym typeface="TT Fors"/>
              </a:rPr>
              <a:t>nc target_ip port </a:t>
            </a:r>
            <a:r>
              <a:rPr lang="en-US" sz="2400" spc="-72" strike="noStrike" u="none">
                <a:solidFill>
                  <a:srgbClr val="00FFA8"/>
                </a:solidFill>
                <a:latin typeface="TT Fors"/>
                <a:ea typeface="TT Fors"/>
                <a:cs typeface="TT Fors"/>
                <a:sym typeface="TT Fors"/>
              </a:rPr>
              <a:t>- lightweight banner grabbing</a:t>
            </a:r>
          </a:p>
          <a:p>
            <a:pPr algn="l" marL="518160" indent="-259080" lvl="1">
              <a:lnSpc>
                <a:spcPts val="3600"/>
              </a:lnSpc>
              <a:buAutoNum type="arabicPeriod" startAt="1"/>
            </a:pPr>
            <a:r>
              <a:rPr lang="en-US" b="true" sz="2400" spc="-72" strike="noStrike" u="none">
                <a:solidFill>
                  <a:srgbClr val="00FFA8"/>
                </a:solidFill>
                <a:latin typeface="TT Fors Bold"/>
                <a:ea typeface="TT Fors Bold"/>
                <a:cs typeface="TT Fors Bold"/>
                <a:sym typeface="TT Fors Bold"/>
              </a:rPr>
              <a:t>Nmap Scripts:</a:t>
            </a:r>
            <a:r>
              <a:rPr lang="en-US" sz="2400" spc="-72" strike="noStrike" u="none">
                <a:solidFill>
                  <a:srgbClr val="00FFA8"/>
                </a:solidFill>
                <a:latin typeface="TT Fors"/>
                <a:ea typeface="TT Fors"/>
                <a:cs typeface="TT Fors"/>
                <a:sym typeface="TT Fors"/>
              </a:rPr>
              <a:t> </a:t>
            </a:r>
            <a:r>
              <a:rPr lang="en-US" sz="2400" spc="-72" strike="noStrike" u="none">
                <a:solidFill>
                  <a:srgbClr val="FFFFFF"/>
                </a:solidFill>
                <a:latin typeface="TT Fors"/>
                <a:ea typeface="TT Fors"/>
                <a:cs typeface="TT Fors"/>
                <a:sym typeface="TT Fors"/>
              </a:rPr>
              <a:t>nmap -sV target_ip</a:t>
            </a:r>
            <a:r>
              <a:rPr lang="en-US" sz="2400" spc="-72" strike="noStrike" u="none">
                <a:solidFill>
                  <a:srgbClr val="00FFA8"/>
                </a:solidFill>
                <a:latin typeface="TT Fors"/>
                <a:ea typeface="TT Fors"/>
                <a:cs typeface="TT Fors"/>
                <a:sym typeface="TT Fors"/>
              </a:rPr>
              <a:t> - service version detection</a:t>
            </a:r>
          </a:p>
          <a:p>
            <a:pPr algn="l" marL="518160" indent="-259080" lvl="1">
              <a:lnSpc>
                <a:spcPts val="3600"/>
              </a:lnSpc>
              <a:buAutoNum type="arabicPeriod" startAt="1"/>
            </a:pPr>
            <a:r>
              <a:rPr lang="en-US" b="true" sz="2400" spc="-72" strike="noStrike" u="none">
                <a:solidFill>
                  <a:srgbClr val="00FFA8"/>
                </a:solidFill>
                <a:latin typeface="TT Fors Bold"/>
                <a:ea typeface="TT Fors Bold"/>
                <a:cs typeface="TT Fors Bold"/>
                <a:sym typeface="TT Fors Bold"/>
              </a:rPr>
              <a:t>Curl/Wget: </a:t>
            </a:r>
            <a:r>
              <a:rPr lang="en-US" sz="2400" spc="-72" strike="noStrike" u="none">
                <a:solidFill>
                  <a:srgbClr val="00FFA8"/>
                </a:solidFill>
                <a:latin typeface="TT Fors"/>
                <a:ea typeface="TT Fors"/>
                <a:cs typeface="TT Fors"/>
                <a:sym typeface="TT Fors"/>
              </a:rPr>
              <a:t>Web server banner grabbing</a:t>
            </a:r>
          </a:p>
        </p:txBody>
      </p:sp>
      <p:grpSp>
        <p:nvGrpSpPr>
          <p:cNvPr name="Group 4" id="4"/>
          <p:cNvGrpSpPr/>
          <p:nvPr/>
        </p:nvGrpSpPr>
        <p:grpSpPr>
          <a:xfrm rot="0">
            <a:off x="16115522" y="751544"/>
            <a:ext cx="1505728" cy="810556"/>
            <a:chOff x="0" y="0"/>
            <a:chExt cx="2007638" cy="1080741"/>
          </a:xfrm>
        </p:grpSpPr>
        <p:grpSp>
          <p:nvGrpSpPr>
            <p:cNvPr name="Group 5" id="5"/>
            <p:cNvGrpSpPr/>
            <p:nvPr/>
          </p:nvGrpSpPr>
          <p:grpSpPr>
            <a:xfrm rot="0">
              <a:off x="0" y="0"/>
              <a:ext cx="1080741" cy="108074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8" id="8"/>
            <p:cNvGrpSpPr/>
            <p:nvPr/>
          </p:nvGrpSpPr>
          <p:grpSpPr>
            <a:xfrm rot="0">
              <a:off x="926897" y="0"/>
              <a:ext cx="1080741" cy="108074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1" id="11"/>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3" id="13"/>
          <p:cNvSpPr txBox="true"/>
          <p:nvPr/>
        </p:nvSpPr>
        <p:spPr>
          <a:xfrm rot="0">
            <a:off x="666750" y="1756016"/>
            <a:ext cx="16954500" cy="781050"/>
          </a:xfrm>
          <a:prstGeom prst="rect">
            <a:avLst/>
          </a:prstGeom>
        </p:spPr>
        <p:txBody>
          <a:bodyPr anchor="t" rtlCol="false" tIns="0" lIns="0" bIns="0" rIns="0">
            <a:spAutoFit/>
          </a:bodyPr>
          <a:lstStyle/>
          <a:p>
            <a:pPr algn="l" marL="0" indent="0" lvl="0">
              <a:lnSpc>
                <a:spcPts val="3120"/>
              </a:lnSpc>
              <a:spcBef>
                <a:spcPct val="0"/>
              </a:spcBef>
            </a:pPr>
            <a:r>
              <a:rPr lang="en-US" sz="2600" spc="-78">
                <a:solidFill>
                  <a:srgbClr val="FFFFFF"/>
                </a:solidFill>
                <a:latin typeface="TT Fors"/>
                <a:ea typeface="TT Fors"/>
                <a:cs typeface="TT Fors"/>
                <a:sym typeface="TT Fors"/>
              </a:rPr>
              <a:t>Banner grabbing is extracting version information from services. Services often display information about themselves when you connect to them.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NULL Session Attacks - A Critical Windows Vulnerability</a:t>
            </a:r>
          </a:p>
        </p:txBody>
      </p:sp>
      <p:sp>
        <p:nvSpPr>
          <p:cNvPr name="TextBox 3" id="3"/>
          <p:cNvSpPr txBox="true"/>
          <p:nvPr/>
        </p:nvSpPr>
        <p:spPr>
          <a:xfrm rot="0">
            <a:off x="666750" y="2660891"/>
            <a:ext cx="16766773" cy="2261235"/>
          </a:xfrm>
          <a:prstGeom prst="rect">
            <a:avLst/>
          </a:prstGeom>
        </p:spPr>
        <p:txBody>
          <a:bodyPr anchor="t" rtlCol="false" tIns="0" lIns="0" bIns="0" rIns="0">
            <a:spAutoFit/>
          </a:bodyPr>
          <a:lstStyle/>
          <a:p>
            <a:pPr algn="l">
              <a:lnSpc>
                <a:spcPts val="3600"/>
              </a:lnSpc>
            </a:pPr>
            <a:r>
              <a:rPr lang="en-US" b="true" sz="2400" spc="-72">
                <a:solidFill>
                  <a:srgbClr val="00FFA8"/>
                </a:solidFill>
                <a:latin typeface="TT Fors Bold"/>
                <a:ea typeface="TT Fors Bold"/>
                <a:cs typeface="TT Fors Bold"/>
                <a:sym typeface="TT Fors Bold"/>
              </a:rPr>
              <a:t>Why NULL Sess</a:t>
            </a:r>
            <a:r>
              <a:rPr lang="en-US" b="true" sz="2400" spc="-72" strike="noStrike" u="none">
                <a:solidFill>
                  <a:srgbClr val="00FFA8"/>
                </a:solidFill>
                <a:latin typeface="TT Fors Bold"/>
                <a:ea typeface="TT Fors Bold"/>
                <a:cs typeface="TT Fors Bold"/>
                <a:sym typeface="TT Fors Bold"/>
              </a:rPr>
              <a:t>ions Are Dangerous: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No authentication is required, so it can reveal information (system policies and configurations) for further attacks to enumerate user and group accounts (with details, disabled, password policies, Security Identifiers), shared resources, access rights, and network structure </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Older Windows OS (before Windows Server 2003, e.g., NT, 2000, XP (before SP2 in some cases)) are vulnerable </a:t>
            </a:r>
          </a:p>
        </p:txBody>
      </p:sp>
      <p:sp>
        <p:nvSpPr>
          <p:cNvPr name="TextBox 4" id="4"/>
          <p:cNvSpPr txBox="true"/>
          <p:nvPr/>
        </p:nvSpPr>
        <p:spPr>
          <a:xfrm rot="0">
            <a:off x="666750" y="5217401"/>
            <a:ext cx="16954500" cy="4547235"/>
          </a:xfrm>
          <a:prstGeom prst="rect">
            <a:avLst/>
          </a:prstGeom>
        </p:spPr>
        <p:txBody>
          <a:bodyPr anchor="t" rtlCol="false" tIns="0" lIns="0" bIns="0" rIns="0">
            <a:spAutoFit/>
          </a:bodyPr>
          <a:lstStyle/>
          <a:p>
            <a:pPr algn="l">
              <a:lnSpc>
                <a:spcPts val="3600"/>
              </a:lnSpc>
            </a:pPr>
            <a:r>
              <a:rPr lang="en-US" b="true" sz="2400" spc="-72">
                <a:solidFill>
                  <a:srgbClr val="00FFA8"/>
                </a:solidFill>
                <a:latin typeface="TT Fors Bold"/>
                <a:ea typeface="TT Fors Bold"/>
                <a:cs typeface="TT Fors Bold"/>
                <a:sym typeface="TT Fors Bold"/>
              </a:rPr>
              <a:t>Exploiting NULL Sess</a:t>
            </a:r>
            <a:r>
              <a:rPr lang="en-US" b="true" sz="2400" spc="-72" strike="noStrike" u="none">
                <a:solidFill>
                  <a:srgbClr val="00FFA8"/>
                </a:solidFill>
                <a:latin typeface="TT Fors Bold"/>
                <a:ea typeface="TT Fors Bold"/>
                <a:cs typeface="TT Fors Bold"/>
                <a:sym typeface="TT Fors Bold"/>
              </a:rPr>
              <a:t>ions:</a:t>
            </a:r>
          </a:p>
          <a:p>
            <a:pPr algn="l">
              <a:lnSpc>
                <a:spcPts val="3600"/>
              </a:lnSpc>
            </a:pPr>
            <a:r>
              <a:rPr lang="en-US" b="true" sz="2400" spc="-72" strike="noStrike" u="none">
                <a:solidFill>
                  <a:srgbClr val="00FFA8"/>
                </a:solidFill>
                <a:latin typeface="TT Fors Bold"/>
                <a:ea typeface="TT Fors Bold"/>
                <a:cs typeface="TT Fors Bold"/>
                <a:sym typeface="TT Fors Bold"/>
              </a:rPr>
              <a:t>Step 1: Create NULL Session</a:t>
            </a:r>
          </a:p>
          <a:p>
            <a:pPr algn="l">
              <a:lnSpc>
                <a:spcPts val="3600"/>
              </a:lnSpc>
            </a:pPr>
            <a:r>
              <a:rPr lang="en-US" sz="2400" spc="-72" strike="noStrike" u="none">
                <a:solidFill>
                  <a:srgbClr val="FFFFFF"/>
                </a:solidFill>
                <a:latin typeface="TT Fors"/>
                <a:ea typeface="TT Fors"/>
                <a:cs typeface="TT Fors"/>
                <a:sym typeface="TT Fors"/>
              </a:rPr>
              <a:t>C:\&gt; net use \\\\TARGET_IP\\IPC$ "" /u:"" </a:t>
            </a:r>
            <a:r>
              <a:rPr lang="en-US" sz="2400" spc="-72" strike="noStrike" u="none">
                <a:solidFill>
                  <a:srgbClr val="00FFA8"/>
                </a:solidFill>
                <a:latin typeface="TT Fors"/>
                <a:ea typeface="TT Fors"/>
                <a:cs typeface="TT Fors"/>
                <a:sym typeface="TT Fors"/>
              </a:rPr>
              <a:t>(</a:t>
            </a:r>
            <a:r>
              <a:rPr lang="en-US" sz="2400" spc="-72" strike="noStrike" u="none">
                <a:solidFill>
                  <a:srgbClr val="00FFA8"/>
                </a:solidFill>
                <a:latin typeface="TT Fors"/>
                <a:ea typeface="TT Fors"/>
                <a:cs typeface="TT Fors"/>
                <a:sym typeface="TT Fors"/>
              </a:rPr>
              <a:t>It</a:t>
            </a:r>
            <a:r>
              <a:rPr lang="en-US" sz="2400" spc="-72" strike="noStrike" u="none">
                <a:solidFill>
                  <a:srgbClr val="00FFA8"/>
                </a:solidFill>
                <a:latin typeface="TT Fors"/>
                <a:ea typeface="TT Fors"/>
                <a:cs typeface="TT Fors"/>
                <a:sym typeface="TT Fors"/>
              </a:rPr>
              <a:t> creates an unauthenticated connection to IPC$ share (Inter-Process Communication))</a:t>
            </a:r>
          </a:p>
          <a:p>
            <a:pPr algn="l">
              <a:lnSpc>
                <a:spcPts val="3600"/>
              </a:lnSpc>
            </a:pPr>
            <a:r>
              <a:rPr lang="en-US" b="true" sz="2400" spc="-72" strike="noStrike" u="none">
                <a:solidFill>
                  <a:srgbClr val="00FFA8"/>
                </a:solidFill>
                <a:latin typeface="TT Fors Bold"/>
                <a:ea typeface="TT Fors Bold"/>
                <a:cs typeface="TT Fors Bold"/>
                <a:sym typeface="TT Fors Bold"/>
              </a:rPr>
              <a:t>Step 2: Enumerate Resources</a:t>
            </a:r>
          </a:p>
          <a:p>
            <a:pPr algn="l">
              <a:lnSpc>
                <a:spcPts val="3600"/>
              </a:lnSpc>
            </a:pPr>
            <a:r>
              <a:rPr lang="en-US" sz="2400" spc="-72" strike="noStrike" u="none">
                <a:solidFill>
                  <a:srgbClr val="FFFFFF"/>
                </a:solidFill>
                <a:latin typeface="TT Fors"/>
                <a:ea typeface="TT Fors"/>
                <a:cs typeface="TT Fors"/>
                <a:sym typeface="TT Fors"/>
              </a:rPr>
              <a:t>C:\&gt; net view \\\\TARGET_IP</a:t>
            </a:r>
          </a:p>
          <a:p>
            <a:pPr algn="l">
              <a:lnSpc>
                <a:spcPts val="3600"/>
              </a:lnSpc>
            </a:pPr>
            <a:r>
              <a:rPr lang="en-US" sz="2400" spc="-72" strike="noStrike" u="none">
                <a:solidFill>
                  <a:srgbClr val="00FFA8"/>
                </a:solidFill>
                <a:latin typeface="TT Fors"/>
                <a:ea typeface="TT Fors"/>
                <a:cs typeface="TT Fors"/>
                <a:sym typeface="TT Fors"/>
              </a:rPr>
              <a:t>After establishing a NULL session, this now works (without it, it would fail)</a:t>
            </a:r>
          </a:p>
          <a:p>
            <a:pPr algn="l">
              <a:lnSpc>
                <a:spcPts val="3600"/>
              </a:lnSpc>
            </a:pPr>
            <a:r>
              <a:rPr lang="en-US" b="true" sz="2400" spc="-72" strike="noStrike" u="none">
                <a:solidFill>
                  <a:srgbClr val="00FFA8"/>
                </a:solidFill>
                <a:latin typeface="TT Fors Bold"/>
                <a:ea typeface="TT Fors Bold"/>
                <a:cs typeface="TT Fors Bold"/>
                <a:sym typeface="TT Fors Bold"/>
              </a:rPr>
              <a:t>Step 3: Get User Information</a:t>
            </a:r>
          </a:p>
          <a:p>
            <a:pPr algn="l">
              <a:lnSpc>
                <a:spcPts val="3600"/>
              </a:lnSpc>
            </a:pPr>
            <a:r>
              <a:rPr lang="en-US" sz="2400" spc="-72" strike="noStrike" u="none">
                <a:solidFill>
                  <a:srgbClr val="FFFFFF"/>
                </a:solidFill>
                <a:latin typeface="TT Fors"/>
                <a:ea typeface="TT Fors"/>
                <a:cs typeface="TT Fors"/>
                <a:sym typeface="TT Fors"/>
              </a:rPr>
              <a:t>C:\&gt; RID enum 4 TARGET_IP</a:t>
            </a:r>
          </a:p>
          <a:p>
            <a:pPr algn="l">
              <a:lnSpc>
                <a:spcPts val="3600"/>
              </a:lnSpc>
            </a:pPr>
            <a:r>
              <a:rPr lang="en-US" sz="2400" spc="-72" strike="noStrike" u="none">
                <a:solidFill>
                  <a:srgbClr val="00FFA8"/>
                </a:solidFill>
                <a:latin typeface="TT Fors"/>
                <a:ea typeface="TT Fors"/>
                <a:cs typeface="TT Fors"/>
                <a:sym typeface="TT Fors"/>
              </a:rPr>
              <a:t>Enumerates all users and their RIDs (Relative IDs)</a:t>
            </a:r>
          </a:p>
          <a:p>
            <a:pPr algn="l">
              <a:lnSpc>
                <a:spcPts val="3600"/>
              </a:lnSpc>
            </a:pPr>
            <a:r>
              <a:rPr lang="en-US" sz="2400" spc="-72" strike="noStrike" u="none">
                <a:solidFill>
                  <a:srgbClr val="00FFA8"/>
                </a:solidFill>
                <a:latin typeface="TT Fors"/>
                <a:ea typeface="TT Fors"/>
                <a:cs typeface="TT Fors"/>
                <a:sym typeface="TT Fors"/>
              </a:rPr>
              <a:t>Modern tool in Kali: enum4linux automatically attempts NULL sessions</a:t>
            </a:r>
          </a:p>
        </p:txBody>
      </p:sp>
      <p:grpSp>
        <p:nvGrpSpPr>
          <p:cNvPr name="Group 5" id="5"/>
          <p:cNvGrpSpPr/>
          <p:nvPr/>
        </p:nvGrpSpPr>
        <p:grpSpPr>
          <a:xfrm rot="0">
            <a:off x="16115522" y="751544"/>
            <a:ext cx="1505728" cy="810556"/>
            <a:chOff x="0" y="0"/>
            <a:chExt cx="2007638" cy="1080741"/>
          </a:xfrm>
        </p:grpSpPr>
        <p:grpSp>
          <p:nvGrpSpPr>
            <p:cNvPr name="Group 6" id="6"/>
            <p:cNvGrpSpPr/>
            <p:nvPr/>
          </p:nvGrpSpPr>
          <p:grpSpPr>
            <a:xfrm rot="0">
              <a:off x="0"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9" id="9"/>
            <p:cNvGrpSpPr/>
            <p:nvPr/>
          </p:nvGrpSpPr>
          <p:grpSpPr>
            <a:xfrm rot="0">
              <a:off x="926897" y="0"/>
              <a:ext cx="1080741" cy="108074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2" id="12"/>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4" id="14"/>
          <p:cNvSpPr txBox="true"/>
          <p:nvPr/>
        </p:nvSpPr>
        <p:spPr>
          <a:xfrm rot="0">
            <a:off x="666750" y="1756016"/>
            <a:ext cx="16954500" cy="781050"/>
          </a:xfrm>
          <a:prstGeom prst="rect">
            <a:avLst/>
          </a:prstGeom>
        </p:spPr>
        <p:txBody>
          <a:bodyPr anchor="t" rtlCol="false" tIns="0" lIns="0" bIns="0" rIns="0">
            <a:spAutoFit/>
          </a:bodyPr>
          <a:lstStyle/>
          <a:p>
            <a:pPr algn="l" marL="0" indent="0" lvl="0">
              <a:lnSpc>
                <a:spcPts val="3120"/>
              </a:lnSpc>
              <a:spcBef>
                <a:spcPct val="0"/>
              </a:spcBef>
            </a:pPr>
            <a:r>
              <a:rPr lang="en-US" sz="2600" spc="-78">
                <a:solidFill>
                  <a:srgbClr val="FFFFFF"/>
                </a:solidFill>
                <a:latin typeface="TT Fors"/>
                <a:ea typeface="TT Fors"/>
                <a:cs typeface="TT Fors"/>
                <a:sym typeface="TT Fors"/>
              </a:rPr>
              <a:t>A NULL session is an unauthenticated connection to a Windows system that can be used to extract information without providing credentials (by using empty username and password).</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Security Implications &amp; Defense</a:t>
            </a:r>
          </a:p>
        </p:txBody>
      </p:sp>
      <p:sp>
        <p:nvSpPr>
          <p:cNvPr name="TextBox 3" id="3"/>
          <p:cNvSpPr txBox="true"/>
          <p:nvPr/>
        </p:nvSpPr>
        <p:spPr>
          <a:xfrm rot="0">
            <a:off x="666750" y="1674495"/>
            <a:ext cx="9256366" cy="7290435"/>
          </a:xfrm>
          <a:prstGeom prst="rect">
            <a:avLst/>
          </a:prstGeom>
        </p:spPr>
        <p:txBody>
          <a:bodyPr anchor="t" rtlCol="false" tIns="0" lIns="0" bIns="0" rIns="0">
            <a:spAutoFit/>
          </a:bodyPr>
          <a:lstStyle/>
          <a:p>
            <a:pPr algn="l">
              <a:lnSpc>
                <a:spcPts val="3600"/>
              </a:lnSpc>
            </a:pPr>
            <a:r>
              <a:rPr lang="en-US" b="true" sz="2400" spc="-72">
                <a:solidFill>
                  <a:srgbClr val="00FFA8"/>
                </a:solidFill>
                <a:latin typeface="TT Fors Bold"/>
                <a:ea typeface="TT Fors Bold"/>
                <a:cs typeface="TT Fors Bold"/>
                <a:sym typeface="TT Fors Bold"/>
              </a:rPr>
              <a:t>Why Enumerat</a:t>
            </a:r>
            <a:r>
              <a:rPr lang="en-US" b="true" sz="2400" spc="-72" strike="noStrike" u="none">
                <a:solidFill>
                  <a:srgbClr val="00FFA8"/>
                </a:solidFill>
                <a:latin typeface="TT Fors Bold"/>
                <a:ea typeface="TT Fors Bold"/>
                <a:cs typeface="TT Fors Bold"/>
                <a:sym typeface="TT Fors Bold"/>
              </a:rPr>
              <a:t>ion Matters: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Information disclosure - reveals system details that aid attackers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Privilege escalation planning - helps identify targets for escalation</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Lateral movement - shows available shares and systems to target</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Credential harvesting - identifies valid user accounts to attack</a:t>
            </a:r>
          </a:p>
          <a:p>
            <a:pPr algn="l">
              <a:lnSpc>
                <a:spcPts val="3600"/>
              </a:lnSpc>
            </a:pPr>
          </a:p>
          <a:p>
            <a:pPr algn="l">
              <a:lnSpc>
                <a:spcPts val="3600"/>
              </a:lnSpc>
            </a:pPr>
            <a:r>
              <a:rPr lang="en-US" b="true" sz="2400" spc="-72" strike="noStrike" u="none">
                <a:solidFill>
                  <a:srgbClr val="00FFA8"/>
                </a:solidFill>
                <a:latin typeface="TT Fors Bold"/>
                <a:ea typeface="TT Fors Bold"/>
                <a:cs typeface="TT Fors Bold"/>
                <a:sym typeface="TT Fors Bold"/>
              </a:rPr>
              <a:t>Defense Against Enumeration</a:t>
            </a:r>
          </a:p>
          <a:p>
            <a:pPr algn="l">
              <a:lnSpc>
                <a:spcPts val="3600"/>
              </a:lnSpc>
            </a:pPr>
          </a:p>
          <a:p>
            <a:pPr algn="l">
              <a:lnSpc>
                <a:spcPts val="3600"/>
              </a:lnSpc>
            </a:pPr>
            <a:r>
              <a:rPr lang="en-US" b="true" sz="2400" spc="-72" strike="noStrike" u="none">
                <a:solidFill>
                  <a:srgbClr val="00FFA8"/>
                </a:solidFill>
                <a:latin typeface="TT Fors Bold"/>
                <a:ea typeface="TT Fors Bold"/>
                <a:cs typeface="TT Fors Bold"/>
                <a:sym typeface="TT Fors Bold"/>
              </a:rPr>
              <a:t>Windows: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Disable NetBIOS on systems that don't require it</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Restrict NULL session conn</a:t>
            </a:r>
            <a:r>
              <a:rPr lang="en-US" sz="2400" spc="-72" strike="noStrike" u="none">
                <a:solidFill>
                  <a:srgbClr val="00FFA8"/>
                </a:solidFill>
                <a:latin typeface="TT Fors"/>
                <a:ea typeface="TT Fors"/>
                <a:cs typeface="TT Fors"/>
                <a:sym typeface="TT Fors"/>
              </a:rPr>
              <a:t>ections via registry</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Remove default shares (C$, IPC$, ADMIN$)</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C</a:t>
            </a:r>
            <a:r>
              <a:rPr lang="en-US" sz="2400" spc="-72" strike="noStrike" u="none">
                <a:solidFill>
                  <a:srgbClr val="00FFA8"/>
                </a:solidFill>
                <a:latin typeface="TT Fors"/>
                <a:ea typeface="TT Fors"/>
                <a:cs typeface="TT Fors"/>
                <a:sym typeface="TT Fors"/>
              </a:rPr>
              <a:t>onfigure firewalls to block unnecessary ports 137-139 and 445</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Implement strong SNMP community stri</a:t>
            </a:r>
            <a:r>
              <a:rPr lang="en-US" sz="2400" spc="-72" strike="noStrike" u="none">
                <a:solidFill>
                  <a:srgbClr val="00FFA8"/>
                </a:solidFill>
                <a:latin typeface="TT Fors"/>
                <a:ea typeface="TT Fors"/>
                <a:cs typeface="TT Fors"/>
                <a:sym typeface="TT Fors"/>
              </a:rPr>
              <a:t>ngs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Disable unnecessar</a:t>
            </a:r>
            <a:r>
              <a:rPr lang="en-US" sz="2400" spc="-72" strike="noStrike" u="none">
                <a:solidFill>
                  <a:srgbClr val="00FFA8"/>
                </a:solidFill>
                <a:latin typeface="TT Fors"/>
                <a:ea typeface="TT Fors"/>
                <a:cs typeface="TT Fors"/>
                <a:sym typeface="TT Fors"/>
              </a:rPr>
              <a:t>y services (NFS, SMTP, SNMP if not needed)</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Monitor enume</a:t>
            </a:r>
            <a:r>
              <a:rPr lang="en-US" sz="2400" spc="-72" strike="noStrike" u="none">
                <a:solidFill>
                  <a:srgbClr val="00FFA8"/>
                </a:solidFill>
                <a:latin typeface="TT Fors"/>
                <a:ea typeface="TT Fors"/>
                <a:cs typeface="TT Fors"/>
                <a:sym typeface="TT Fors"/>
              </a:rPr>
              <a:t>ration at</a:t>
            </a:r>
            <a:r>
              <a:rPr lang="en-US" sz="2400" spc="-72" strike="noStrike" u="none">
                <a:solidFill>
                  <a:srgbClr val="00FFA8"/>
                </a:solidFill>
                <a:latin typeface="TT Fors"/>
                <a:ea typeface="TT Fors"/>
                <a:cs typeface="TT Fors"/>
                <a:sym typeface="TT Fors"/>
              </a:rPr>
              <a:t>tempts in security logs</a:t>
            </a:r>
          </a:p>
        </p:txBody>
      </p:sp>
      <p:sp>
        <p:nvSpPr>
          <p:cNvPr name="TextBox 4" id="4"/>
          <p:cNvSpPr txBox="true"/>
          <p:nvPr/>
        </p:nvSpPr>
        <p:spPr>
          <a:xfrm rot="0">
            <a:off x="10186613" y="1674495"/>
            <a:ext cx="7246910" cy="7747635"/>
          </a:xfrm>
          <a:prstGeom prst="rect">
            <a:avLst/>
          </a:prstGeom>
        </p:spPr>
        <p:txBody>
          <a:bodyPr anchor="t" rtlCol="false" tIns="0" lIns="0" bIns="0" rIns="0">
            <a:spAutoFit/>
          </a:bodyPr>
          <a:lstStyle/>
          <a:p>
            <a:pPr algn="l">
              <a:lnSpc>
                <a:spcPts val="3600"/>
              </a:lnSpc>
            </a:pPr>
            <a:r>
              <a:rPr lang="en-US" b="true" sz="2400" spc="-72">
                <a:solidFill>
                  <a:srgbClr val="00FFA8"/>
                </a:solidFill>
                <a:latin typeface="TT Fors Bold"/>
                <a:ea typeface="TT Fors Bold"/>
                <a:cs typeface="TT Fors Bold"/>
                <a:sym typeface="TT Fors Bold"/>
              </a:rPr>
              <a:t>L</a:t>
            </a:r>
            <a:r>
              <a:rPr lang="en-US" b="true" sz="2400" spc="-72" strike="noStrike" u="none">
                <a:solidFill>
                  <a:srgbClr val="00FFA8"/>
                </a:solidFill>
                <a:latin typeface="TT Fors Bold"/>
                <a:ea typeface="TT Fors Bold"/>
                <a:cs typeface="TT Fors Bold"/>
                <a:sym typeface="TT Fors Bold"/>
              </a:rPr>
              <a:t>inux/UNIX:</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Disable or restrict SNMP (or use SNMPv3 with authentication)</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Disable Finger service (port 79)</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Configure the host firewall to block unnecessary ports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Limit file permissions on sensitive files (/etc/passwd, /etc/shadow)</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Disable SUID on unnecessary binaries</a:t>
            </a:r>
          </a:p>
          <a:p>
            <a:pPr algn="l">
              <a:lnSpc>
                <a:spcPts val="3600"/>
              </a:lnSpc>
            </a:pPr>
          </a:p>
          <a:p>
            <a:pPr algn="l">
              <a:lnSpc>
                <a:spcPts val="3600"/>
              </a:lnSpc>
            </a:pPr>
            <a:r>
              <a:rPr lang="en-US" b="true" sz="2400" spc="-72" strike="noStrike" u="none">
                <a:solidFill>
                  <a:srgbClr val="00FFA8"/>
                </a:solidFill>
                <a:latin typeface="TT Fors Bold"/>
                <a:ea typeface="TT Fors Bold"/>
                <a:cs typeface="TT Fors Bold"/>
                <a:sym typeface="TT Fors Bold"/>
              </a:rPr>
              <a:t>General:</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Monitor and log enumeration attempts (port scanning, service probing)</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Implement network segmentation</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Use IDS/IPS to detect suspicious scanning behavior</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Keep systems patched and updated</a:t>
            </a:r>
          </a:p>
        </p:txBody>
      </p:sp>
      <p:grpSp>
        <p:nvGrpSpPr>
          <p:cNvPr name="Group 5" id="5"/>
          <p:cNvGrpSpPr/>
          <p:nvPr/>
        </p:nvGrpSpPr>
        <p:grpSpPr>
          <a:xfrm rot="0">
            <a:off x="16115522" y="751544"/>
            <a:ext cx="1505728" cy="810556"/>
            <a:chOff x="0" y="0"/>
            <a:chExt cx="2007638" cy="1080741"/>
          </a:xfrm>
        </p:grpSpPr>
        <p:grpSp>
          <p:nvGrpSpPr>
            <p:cNvPr name="Group 6" id="6"/>
            <p:cNvGrpSpPr/>
            <p:nvPr/>
          </p:nvGrpSpPr>
          <p:grpSpPr>
            <a:xfrm rot="0">
              <a:off x="0" y="0"/>
              <a:ext cx="1080741" cy="10807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9" id="9"/>
            <p:cNvGrpSpPr/>
            <p:nvPr/>
          </p:nvGrpSpPr>
          <p:grpSpPr>
            <a:xfrm rot="0">
              <a:off x="926897" y="0"/>
              <a:ext cx="1080741" cy="108074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2" id="12"/>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Key Concepts Summary</a:t>
            </a:r>
          </a:p>
        </p:txBody>
      </p:sp>
      <p:sp>
        <p:nvSpPr>
          <p:cNvPr name="TextBox 3" id="3"/>
          <p:cNvSpPr txBox="true"/>
          <p:nvPr/>
        </p:nvSpPr>
        <p:spPr>
          <a:xfrm rot="0">
            <a:off x="666750" y="2186914"/>
            <a:ext cx="16201636" cy="3175635"/>
          </a:xfrm>
          <a:prstGeom prst="rect">
            <a:avLst/>
          </a:prstGeom>
        </p:spPr>
        <p:txBody>
          <a:bodyPr anchor="t" rtlCol="false" tIns="0" lIns="0" bIns="0" rIns="0">
            <a:spAutoFit/>
          </a:bodyPr>
          <a:lstStyle/>
          <a:p>
            <a:pPr algn="l">
              <a:lnSpc>
                <a:spcPts val="3600"/>
              </a:lnSpc>
            </a:pPr>
            <a:r>
              <a:rPr lang="en-US" b="true" sz="2400" spc="-72">
                <a:solidFill>
                  <a:srgbClr val="00FFA8"/>
                </a:solidFill>
                <a:latin typeface="TT Fors Bold"/>
                <a:ea typeface="TT Fors Bold"/>
                <a:cs typeface="TT Fors Bold"/>
                <a:sym typeface="TT Fors Bold"/>
              </a:rPr>
              <a:t>Remember these key p</a:t>
            </a:r>
            <a:r>
              <a:rPr lang="en-US" b="true" sz="2400" spc="-72" strike="noStrike" u="none">
                <a:solidFill>
                  <a:srgbClr val="00FFA8"/>
                </a:solidFill>
                <a:latin typeface="TT Fors Bold"/>
                <a:ea typeface="TT Fors Bold"/>
                <a:cs typeface="TT Fors Bold"/>
                <a:sym typeface="TT Fors Bold"/>
              </a:rPr>
              <a:t>oints: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Enumeration is an active probing that can be detected</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Command-line tools are faster and more efficient than GUI tools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Different OS require different tools: Windows (NBTscan, SMB), Linux (SNMP, NFS)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Information extracted through enumeration directly enables further attacks</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NULL session</a:t>
            </a:r>
            <a:r>
              <a:rPr lang="en-US" sz="2400" spc="-72" strike="noStrike" u="none">
                <a:solidFill>
                  <a:srgbClr val="00FFA8"/>
                </a:solidFill>
                <a:latin typeface="TT Fors"/>
                <a:ea typeface="TT Fors"/>
                <a:cs typeface="TT Fors"/>
                <a:sym typeface="TT Fors"/>
              </a:rPr>
              <a:t>s are u</a:t>
            </a:r>
            <a:r>
              <a:rPr lang="en-US" sz="2400" spc="-72" strike="noStrike" u="none">
                <a:solidFill>
                  <a:srgbClr val="00FFA8"/>
                </a:solidFill>
                <a:latin typeface="TT Fors"/>
                <a:ea typeface="TT Fors"/>
                <a:cs typeface="TT Fors"/>
                <a:sym typeface="TT Fors"/>
              </a:rPr>
              <a:t>nauthenticated access to Windows systems - a crit</a:t>
            </a:r>
            <a:r>
              <a:rPr lang="en-US" sz="2400" spc="-72" strike="noStrike" u="none">
                <a:solidFill>
                  <a:srgbClr val="00FFA8"/>
                </a:solidFill>
                <a:latin typeface="TT Fors"/>
                <a:ea typeface="TT Fors"/>
                <a:cs typeface="TT Fors"/>
                <a:sym typeface="TT Fors"/>
              </a:rPr>
              <a:t>ical vulnerab</a:t>
            </a:r>
            <a:r>
              <a:rPr lang="en-US" sz="2400" spc="-72" strike="noStrike" u="none">
                <a:solidFill>
                  <a:srgbClr val="00FFA8"/>
                </a:solidFill>
                <a:latin typeface="TT Fors"/>
                <a:ea typeface="TT Fors"/>
                <a:cs typeface="TT Fors"/>
                <a:sym typeface="TT Fors"/>
              </a:rPr>
              <a:t>ility</a:t>
            </a:r>
          </a:p>
          <a:p>
            <a:pPr algn="l" marL="518160" indent="-259080" lvl="1">
              <a:lnSpc>
                <a:spcPts val="3600"/>
              </a:lnSpc>
              <a:buFont typeface="Arial"/>
              <a:buChar char="•"/>
            </a:pPr>
            <a:r>
              <a:rPr lang="en-US" sz="2400" spc="-72" strike="noStrike" u="none">
                <a:solidFill>
                  <a:srgbClr val="00FFA8"/>
                </a:solidFill>
                <a:latin typeface="TT Fors"/>
                <a:ea typeface="TT Fors"/>
                <a:cs typeface="TT Fors"/>
                <a:sym typeface="TT Fors"/>
              </a:rPr>
              <a:t>Proper enume</a:t>
            </a:r>
            <a:r>
              <a:rPr lang="en-US" sz="2400" spc="-72" strike="noStrike" u="none">
                <a:solidFill>
                  <a:srgbClr val="00FFA8"/>
                </a:solidFill>
                <a:latin typeface="TT Fors"/>
                <a:ea typeface="TT Fors"/>
                <a:cs typeface="TT Fors"/>
                <a:sym typeface="TT Fors"/>
              </a:rPr>
              <a:t>ration r</a:t>
            </a:r>
            <a:r>
              <a:rPr lang="en-US" sz="2400" spc="-72" strike="noStrike" u="none">
                <a:solidFill>
                  <a:srgbClr val="00FFA8"/>
                </a:solidFill>
                <a:latin typeface="TT Fors"/>
                <a:ea typeface="TT Fors"/>
                <a:cs typeface="TT Fors"/>
                <a:sym typeface="TT Fors"/>
              </a:rPr>
              <a:t>equires authorization and documentation</a:t>
            </a:r>
          </a:p>
        </p:txBody>
      </p:sp>
      <p:grpSp>
        <p:nvGrpSpPr>
          <p:cNvPr name="Group 4" id="4"/>
          <p:cNvGrpSpPr/>
          <p:nvPr/>
        </p:nvGrpSpPr>
        <p:grpSpPr>
          <a:xfrm rot="0">
            <a:off x="16115522" y="751544"/>
            <a:ext cx="1505728" cy="810556"/>
            <a:chOff x="0" y="0"/>
            <a:chExt cx="2007638" cy="1080741"/>
          </a:xfrm>
        </p:grpSpPr>
        <p:grpSp>
          <p:nvGrpSpPr>
            <p:cNvPr name="Group 5" id="5"/>
            <p:cNvGrpSpPr/>
            <p:nvPr/>
          </p:nvGrpSpPr>
          <p:grpSpPr>
            <a:xfrm rot="0">
              <a:off x="0" y="0"/>
              <a:ext cx="1080741" cy="108074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8" id="8"/>
            <p:cNvGrpSpPr/>
            <p:nvPr/>
          </p:nvGrpSpPr>
          <p:grpSpPr>
            <a:xfrm rot="0">
              <a:off x="926897" y="0"/>
              <a:ext cx="1080741" cy="108074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1" id="11"/>
            <p:cNvSpPr/>
            <p:nvPr/>
          </p:nvSpPr>
          <p:spPr>
            <a:xfrm flipH="false" flipV="false" rot="0">
              <a:off x="926897" y="0"/>
              <a:ext cx="1080741" cy="1080741"/>
            </a:xfrm>
            <a:custGeom>
              <a:avLst/>
              <a:gdLst/>
              <a:ahLst/>
              <a:cxnLst/>
              <a:rect r="r" b="b" t="t" l="l"/>
              <a:pathLst>
                <a:path h="1080741" w="1080741">
                  <a:moveTo>
                    <a:pt x="0" y="0"/>
                  </a:moveTo>
                  <a:lnTo>
                    <a:pt x="1080741" y="0"/>
                  </a:lnTo>
                  <a:lnTo>
                    <a:pt x="1080741" y="1080741"/>
                  </a:lnTo>
                  <a:lnTo>
                    <a:pt x="0" y="1080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88879" y="191456"/>
              <a:ext cx="725960" cy="697829"/>
            </a:xfrm>
            <a:custGeom>
              <a:avLst/>
              <a:gdLst/>
              <a:ahLst/>
              <a:cxnLst/>
              <a:rect r="r" b="b" t="t" l="l"/>
              <a:pathLst>
                <a:path h="697829" w="725960">
                  <a:moveTo>
                    <a:pt x="0" y="0"/>
                  </a:moveTo>
                  <a:lnTo>
                    <a:pt x="725961" y="0"/>
                  </a:lnTo>
                  <a:lnTo>
                    <a:pt x="725961" y="697829"/>
                  </a:lnTo>
                  <a:lnTo>
                    <a:pt x="0" y="697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0102596" y="0"/>
            <a:ext cx="8185404" cy="10287000"/>
            <a:chOff x="0" y="0"/>
            <a:chExt cx="2155827" cy="2709333"/>
          </a:xfrm>
        </p:grpSpPr>
        <p:sp>
          <p:nvSpPr>
            <p:cNvPr name="Freeform 3" id="3"/>
            <p:cNvSpPr/>
            <p:nvPr/>
          </p:nvSpPr>
          <p:spPr>
            <a:xfrm flipH="false" flipV="false" rot="0">
              <a:off x="0" y="0"/>
              <a:ext cx="2155827" cy="2709333"/>
            </a:xfrm>
            <a:custGeom>
              <a:avLst/>
              <a:gdLst/>
              <a:ahLst/>
              <a:cxnLst/>
              <a:rect r="r" b="b" t="t" l="l"/>
              <a:pathLst>
                <a:path h="2709333" w="2155827">
                  <a:moveTo>
                    <a:pt x="0" y="0"/>
                  </a:moveTo>
                  <a:lnTo>
                    <a:pt x="2155827" y="0"/>
                  </a:lnTo>
                  <a:lnTo>
                    <a:pt x="2155827" y="2709333"/>
                  </a:lnTo>
                  <a:lnTo>
                    <a:pt x="0" y="2709333"/>
                  </a:lnTo>
                  <a:close/>
                </a:path>
              </a:pathLst>
            </a:custGeom>
            <a:solidFill>
              <a:srgbClr val="301445"/>
            </a:solidFill>
          </p:spPr>
        </p:sp>
        <p:sp>
          <p:nvSpPr>
            <p:cNvPr name="TextBox 4" id="4"/>
            <p:cNvSpPr txBox="true"/>
            <p:nvPr/>
          </p:nvSpPr>
          <p:spPr>
            <a:xfrm>
              <a:off x="0" y="-38100"/>
              <a:ext cx="2155827" cy="2747433"/>
            </a:xfrm>
            <a:prstGeom prst="rect">
              <a:avLst/>
            </a:prstGeom>
          </p:spPr>
          <p:txBody>
            <a:bodyPr anchor="ctr" rtlCol="false" tIns="50800" lIns="50800" bIns="50800" rIns="50800"/>
            <a:lstStyle/>
            <a:p>
              <a:pPr algn="ctr" marL="0" indent="0" lvl="0">
                <a:lnSpc>
                  <a:spcPts val="2100"/>
                </a:lnSpc>
              </a:pPr>
            </a:p>
          </p:txBody>
        </p:sp>
      </p:grpSp>
      <p:grpSp>
        <p:nvGrpSpPr>
          <p:cNvPr name="Group 5" id="5"/>
          <p:cNvGrpSpPr/>
          <p:nvPr/>
        </p:nvGrpSpPr>
        <p:grpSpPr>
          <a:xfrm rot="0">
            <a:off x="10708180" y="666750"/>
            <a:ext cx="6947741" cy="8953500"/>
            <a:chOff x="0" y="0"/>
            <a:chExt cx="812800" cy="1047449"/>
          </a:xfrm>
        </p:grpSpPr>
        <p:sp>
          <p:nvSpPr>
            <p:cNvPr name="Freeform 6" id="6"/>
            <p:cNvSpPr/>
            <p:nvPr/>
          </p:nvSpPr>
          <p:spPr>
            <a:xfrm flipH="false" flipV="false" rot="0">
              <a:off x="0" y="0"/>
              <a:ext cx="812800" cy="1047449"/>
            </a:xfrm>
            <a:custGeom>
              <a:avLst/>
              <a:gdLst/>
              <a:ahLst/>
              <a:cxnLst/>
              <a:rect r="r" b="b" t="t" l="l"/>
              <a:pathLst>
                <a:path h="1047449" w="812800">
                  <a:moveTo>
                    <a:pt x="44572" y="0"/>
                  </a:moveTo>
                  <a:lnTo>
                    <a:pt x="768228" y="0"/>
                  </a:lnTo>
                  <a:cubicBezTo>
                    <a:pt x="792844" y="0"/>
                    <a:pt x="812800" y="19956"/>
                    <a:pt x="812800" y="44572"/>
                  </a:cubicBezTo>
                  <a:lnTo>
                    <a:pt x="812800" y="1002877"/>
                  </a:lnTo>
                  <a:cubicBezTo>
                    <a:pt x="812800" y="1027493"/>
                    <a:pt x="792844" y="1047449"/>
                    <a:pt x="768228" y="1047449"/>
                  </a:cubicBezTo>
                  <a:lnTo>
                    <a:pt x="44572" y="1047449"/>
                  </a:lnTo>
                  <a:cubicBezTo>
                    <a:pt x="19956" y="1047449"/>
                    <a:pt x="0" y="1027493"/>
                    <a:pt x="0" y="1002877"/>
                  </a:cubicBezTo>
                  <a:lnTo>
                    <a:pt x="0" y="44572"/>
                  </a:lnTo>
                  <a:cubicBezTo>
                    <a:pt x="0" y="19956"/>
                    <a:pt x="19956" y="0"/>
                    <a:pt x="44572" y="0"/>
                  </a:cubicBezTo>
                  <a:close/>
                </a:path>
              </a:pathLst>
            </a:custGeom>
            <a:blipFill>
              <a:blip r:embed="rId2"/>
              <a:stretch>
                <a:fillRect l="0" t="-306" r="0" b="-306"/>
              </a:stretch>
            </a:blipFill>
          </p:spPr>
        </p:sp>
      </p:grpSp>
      <p:grpSp>
        <p:nvGrpSpPr>
          <p:cNvPr name="Group 7" id="7"/>
          <p:cNvGrpSpPr/>
          <p:nvPr/>
        </p:nvGrpSpPr>
        <p:grpSpPr>
          <a:xfrm rot="0">
            <a:off x="1126053" y="4096993"/>
            <a:ext cx="8324850" cy="2093014"/>
            <a:chOff x="0" y="0"/>
            <a:chExt cx="11099800" cy="2790686"/>
          </a:xfrm>
        </p:grpSpPr>
        <p:sp>
          <p:nvSpPr>
            <p:cNvPr name="TextBox 8" id="8"/>
            <p:cNvSpPr txBox="true"/>
            <p:nvPr/>
          </p:nvSpPr>
          <p:spPr>
            <a:xfrm rot="0">
              <a:off x="0" y="2051122"/>
              <a:ext cx="11099800" cy="739564"/>
            </a:xfrm>
            <a:prstGeom prst="rect">
              <a:avLst/>
            </a:prstGeom>
          </p:spPr>
          <p:txBody>
            <a:bodyPr anchor="t" rtlCol="false" tIns="0" lIns="0" bIns="0" rIns="0">
              <a:spAutoFit/>
            </a:bodyPr>
            <a:lstStyle/>
            <a:p>
              <a:pPr algn="ctr" marL="0" indent="0" lvl="0">
                <a:lnSpc>
                  <a:spcPts val="4159"/>
                </a:lnSpc>
                <a:spcBef>
                  <a:spcPct val="0"/>
                </a:spcBef>
              </a:pPr>
              <a:r>
                <a:rPr lang="en-US" sz="3199">
                  <a:solidFill>
                    <a:srgbClr val="00FFA8"/>
                  </a:solidFill>
                  <a:latin typeface="ITC Avant Garde Gothic"/>
                  <a:ea typeface="ITC Avant Garde Gothic"/>
                  <a:cs typeface="ITC Avant Garde Gothic"/>
                  <a:sym typeface="ITC Avant Garde Gothic"/>
                </a:rPr>
                <a:t>ANY QUESTIONS?</a:t>
              </a:r>
            </a:p>
          </p:txBody>
        </p:sp>
        <p:sp>
          <p:nvSpPr>
            <p:cNvPr name="TextBox 9" id="9"/>
            <p:cNvSpPr txBox="true"/>
            <p:nvPr/>
          </p:nvSpPr>
          <p:spPr>
            <a:xfrm rot="0">
              <a:off x="0" y="0"/>
              <a:ext cx="11099800" cy="1722963"/>
            </a:xfrm>
            <a:prstGeom prst="rect">
              <a:avLst/>
            </a:prstGeom>
          </p:spPr>
          <p:txBody>
            <a:bodyPr anchor="t" rtlCol="false" tIns="0" lIns="0" bIns="0" rIns="0">
              <a:spAutoFit/>
            </a:bodyPr>
            <a:lstStyle/>
            <a:p>
              <a:pPr algn="ctr" marL="0" indent="0" lvl="0">
                <a:lnSpc>
                  <a:spcPts val="8499"/>
                </a:lnSpc>
                <a:spcBef>
                  <a:spcPct val="0"/>
                </a:spcBef>
              </a:pPr>
              <a:r>
                <a:rPr lang="en-US" sz="8499" spc="-254" strike="noStrike" u="none">
                  <a:solidFill>
                    <a:srgbClr val="00FFA8"/>
                  </a:solidFill>
                  <a:latin typeface="ITC Avant Garde Gothic"/>
                  <a:ea typeface="ITC Avant Garde Gothic"/>
                  <a:cs typeface="ITC Avant Garde Gothic"/>
                  <a:sym typeface="ITC Avant Garde Gothic"/>
                </a:rPr>
                <a:t>Thank You</a:t>
              </a:r>
            </a:p>
          </p:txBody>
        </p:sp>
      </p:grpSp>
      <p:sp>
        <p:nvSpPr>
          <p:cNvPr name="Freeform 10" id="10"/>
          <p:cNvSpPr/>
          <p:nvPr/>
        </p:nvSpPr>
        <p:spPr>
          <a:xfrm flipH="true" flipV="false" rot="5400000">
            <a:off x="16106389" y="8352937"/>
            <a:ext cx="1792448" cy="1639275"/>
          </a:xfrm>
          <a:custGeom>
            <a:avLst/>
            <a:gdLst/>
            <a:ahLst/>
            <a:cxnLst/>
            <a:rect r="r" b="b" t="t" l="l"/>
            <a:pathLst>
              <a:path h="1639275" w="1792448">
                <a:moveTo>
                  <a:pt x="1792448" y="0"/>
                </a:moveTo>
                <a:lnTo>
                  <a:pt x="0" y="0"/>
                </a:lnTo>
                <a:lnTo>
                  <a:pt x="0" y="1639276"/>
                </a:lnTo>
                <a:lnTo>
                  <a:pt x="1792448" y="1639276"/>
                </a:lnTo>
                <a:lnTo>
                  <a:pt x="179244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Ethical Hacking Overview</dc:description>
  <dc:identifier>DAG6RIsvOgU</dc:identifier>
  <dcterms:modified xsi:type="dcterms:W3CDTF">2011-08-01T06:04:30Z</dcterms:modified>
  <cp:revision>1</cp:revision>
  <dc:title>Lecture-05-CCS6324 -  Enumeration</dc:title>
</cp:coreProperties>
</file>