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ITC Avant Garde Gothic" charset="1" panose="020B0502020202020204"/>
      <p:regular r:id="rId28"/>
    </p:embeddedFont>
    <p:embeddedFont>
      <p:font typeface="TT Fors" charset="1" panose="020B0003030001020000"/>
      <p:regular r:id="rId29"/>
    </p:embeddedFont>
    <p:embeddedFont>
      <p:font typeface="TT Fors Bold" charset="1" panose="020B0003030001020000"/>
      <p:regular r:id="rId34"/>
    </p:embeddedFont>
    <p:embeddedFont>
      <p:font typeface="Canva Sans Bold" charset="1" panose="020B0803030501040103"/>
      <p:regular r:id="rId39"/>
    </p:embeddedFont>
    <p:embeddedFont>
      <p:font typeface="Canva Sans" charset="1" panose="020B0503030501040103"/>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Masters/notesMaster1.xml" Type="http://schemas.openxmlformats.org/officeDocument/2006/relationships/notesMaster"/><Relationship Id="rId31" Target="theme/theme2.xml" Type="http://schemas.openxmlformats.org/officeDocument/2006/relationships/theme"/><Relationship Id="rId32" Target="notesSlides/notesSlide1.xml" Type="http://schemas.openxmlformats.org/officeDocument/2006/relationships/notesSlide"/><Relationship Id="rId33" Target="notesSlides/notesSlide2.xml" Type="http://schemas.openxmlformats.org/officeDocument/2006/relationships/notesSlide"/><Relationship Id="rId34" Target="fonts/font34.fntdata" Type="http://schemas.openxmlformats.org/officeDocument/2006/relationships/font"/><Relationship Id="rId35" Target="notesSlides/notesSlide3.xml" Type="http://schemas.openxmlformats.org/officeDocument/2006/relationships/notesSlide"/><Relationship Id="rId36" Target="notesSlides/notesSlide4.xml" Type="http://schemas.openxmlformats.org/officeDocument/2006/relationships/notesSlide"/><Relationship Id="rId37" Target="notesSlides/notesSlide5.xml" Type="http://schemas.openxmlformats.org/officeDocument/2006/relationships/notesSlide"/><Relationship Id="rId38" Target="notesSlides/notesSlide6.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notesSlides/notesSlide7.xml" Type="http://schemas.openxmlformats.org/officeDocument/2006/relationships/notesSlide"/><Relationship Id="rId42" Target="notesSlides/notesSlide8.xml" Type="http://schemas.openxmlformats.org/officeDocument/2006/relationships/notesSlide"/><Relationship Id="rId43" Target="notesSlides/notesSlide9.xml" Type="http://schemas.openxmlformats.org/officeDocument/2006/relationships/notesSlide"/><Relationship Id="rId44" Target="notesSlides/notesSlide10.xml" Type="http://schemas.openxmlformats.org/officeDocument/2006/relationships/notesSlide"/><Relationship Id="rId45" Target="notesSlides/notesSlide11.xml" Type="http://schemas.openxmlformats.org/officeDocument/2006/relationships/notesSlide"/><Relationship Id="rId46" Target="notesSlides/notesSlide12.xml" Type="http://schemas.openxmlformats.org/officeDocument/2006/relationships/notesSlide"/><Relationship Id="rId47" Target="notesSlides/notesSlide13.xml" Type="http://schemas.openxmlformats.org/officeDocument/2006/relationships/notesSlide"/><Relationship Id="rId48" Target="notesSlides/notesSlide14.xml" Type="http://schemas.openxmlformats.org/officeDocument/2006/relationships/notesSlide"/><Relationship Id="rId49" Target="notesSlides/notesSlide15.xml" Type="http://schemas.openxmlformats.org/officeDocument/2006/relationships/notesSlide"/><Relationship Id="rId5" Target="tableStyles.xml" Type="http://schemas.openxmlformats.org/officeDocument/2006/relationships/tableStyles"/><Relationship Id="rId50" Target="notesSlides/notesSlide16.xml" Type="http://schemas.openxmlformats.org/officeDocument/2006/relationships/notesSlide"/><Relationship Id="rId51" Target="notesSlides/notesSlide17.xml" Type="http://schemas.openxmlformats.org/officeDocument/2006/relationships/notesSlide"/><Relationship Id="rId52" Target="notesSlides/notesSlide18.xml" Type="http://schemas.openxmlformats.org/officeDocument/2006/relationships/notesSlide"/><Relationship Id="rId53" Target="notesSlides/notesSlide19.xml" Type="http://schemas.openxmlformats.org/officeDocument/2006/relationships/notesSlide"/><Relationship Id="rId54" Target="notesSlides/notesSlide20.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png" Type="http://schemas.openxmlformats.org/officeDocument/2006/relationships/image"/><Relationship Id="rId6"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png" Type="http://schemas.openxmlformats.org/officeDocument/2006/relationships/image"/><Relationship Id="rId6" Target="../media/image1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png" Type="http://schemas.openxmlformats.org/officeDocument/2006/relationships/image"/><Relationship Id="rId6" Target="../media/image1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png" Type="http://schemas.openxmlformats.org/officeDocument/2006/relationships/image"/><Relationship Id="rId6" Target="../media/image1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grpSp>
        <p:nvGrpSpPr>
          <p:cNvPr name="Group 2" id="2"/>
          <p:cNvGrpSpPr/>
          <p:nvPr/>
        </p:nvGrpSpPr>
        <p:grpSpPr>
          <a:xfrm rot="0">
            <a:off x="11877675" y="0"/>
            <a:ext cx="6419850" cy="10287000"/>
            <a:chOff x="0" y="0"/>
            <a:chExt cx="994603" cy="1593725"/>
          </a:xfrm>
        </p:grpSpPr>
        <p:sp>
          <p:nvSpPr>
            <p:cNvPr name="Freeform 3" id="3"/>
            <p:cNvSpPr/>
            <p:nvPr/>
          </p:nvSpPr>
          <p:spPr>
            <a:xfrm flipH="false" flipV="false" rot="0">
              <a:off x="0" y="0"/>
              <a:ext cx="994603" cy="1593725"/>
            </a:xfrm>
            <a:custGeom>
              <a:avLst/>
              <a:gdLst/>
              <a:ahLst/>
              <a:cxnLst/>
              <a:rect r="r" b="b" t="t" l="l"/>
              <a:pathLst>
                <a:path h="1593725" w="994603">
                  <a:moveTo>
                    <a:pt x="0" y="0"/>
                  </a:moveTo>
                  <a:lnTo>
                    <a:pt x="994603" y="0"/>
                  </a:lnTo>
                  <a:lnTo>
                    <a:pt x="994603" y="1593725"/>
                  </a:lnTo>
                  <a:lnTo>
                    <a:pt x="0" y="1593725"/>
                  </a:lnTo>
                  <a:close/>
                </a:path>
              </a:pathLst>
            </a:custGeom>
            <a:blipFill>
              <a:blip r:embed="rId2"/>
              <a:stretch>
                <a:fillRect l="-90559" t="0" r="-90559" b="0"/>
              </a:stretch>
            </a:blipFill>
          </p:spPr>
        </p:sp>
      </p:grpSp>
      <p:sp>
        <p:nvSpPr>
          <p:cNvPr name="Freeform 4" id="4"/>
          <p:cNvSpPr/>
          <p:nvPr/>
        </p:nvSpPr>
        <p:spPr>
          <a:xfrm flipH="false" flipV="false" rot="0">
            <a:off x="11351170" y="7995787"/>
            <a:ext cx="1622754" cy="1173176"/>
          </a:xfrm>
          <a:custGeom>
            <a:avLst/>
            <a:gdLst/>
            <a:ahLst/>
            <a:cxnLst/>
            <a:rect r="r" b="b" t="t" l="l"/>
            <a:pathLst>
              <a:path h="1173176" w="1622754">
                <a:moveTo>
                  <a:pt x="0" y="0"/>
                </a:moveTo>
                <a:lnTo>
                  <a:pt x="1622754" y="0"/>
                </a:lnTo>
                <a:lnTo>
                  <a:pt x="1622754" y="1173176"/>
                </a:lnTo>
                <a:lnTo>
                  <a:pt x="0" y="1173176"/>
                </a:lnTo>
                <a:lnTo>
                  <a:pt x="0" y="0"/>
                </a:lnTo>
                <a:close/>
              </a:path>
            </a:pathLst>
          </a:custGeom>
          <a:blipFill>
            <a:blip r:embed="rId3"/>
            <a:stretch>
              <a:fillRect l="0" t="0" r="-14982" b="0"/>
            </a:stretch>
          </a:blipFill>
        </p:spPr>
      </p:sp>
      <p:grpSp>
        <p:nvGrpSpPr>
          <p:cNvPr name="Group 5" id="5"/>
          <p:cNvGrpSpPr/>
          <p:nvPr/>
        </p:nvGrpSpPr>
        <p:grpSpPr>
          <a:xfrm rot="0">
            <a:off x="10962648" y="7828295"/>
            <a:ext cx="3328824" cy="1791955"/>
            <a:chOff x="0" y="0"/>
            <a:chExt cx="4438432" cy="2389273"/>
          </a:xfrm>
        </p:grpSpPr>
        <p:grpSp>
          <p:nvGrpSpPr>
            <p:cNvPr name="Group 6" id="6"/>
            <p:cNvGrpSpPr/>
            <p:nvPr/>
          </p:nvGrpSpPr>
          <p:grpSpPr>
            <a:xfrm rot="0">
              <a:off x="0" y="0"/>
              <a:ext cx="2389273" cy="238927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2049159" y="0"/>
              <a:ext cx="2389273" cy="238927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2450611" y="423265"/>
              <a:ext cx="1586368" cy="1542743"/>
            </a:xfrm>
            <a:custGeom>
              <a:avLst/>
              <a:gdLst/>
              <a:ahLst/>
              <a:cxnLst/>
              <a:rect r="r" b="b" t="t" l="l"/>
              <a:pathLst>
                <a:path h="1542743" w="1586368">
                  <a:moveTo>
                    <a:pt x="0" y="0"/>
                  </a:moveTo>
                  <a:lnTo>
                    <a:pt x="1586368" y="0"/>
                  </a:lnTo>
                  <a:lnTo>
                    <a:pt x="1586368" y="1542743"/>
                  </a:lnTo>
                  <a:lnTo>
                    <a:pt x="0" y="15427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251505" y="158327"/>
              <a:ext cx="1967710" cy="1970173"/>
            </a:xfrm>
            <a:custGeom>
              <a:avLst/>
              <a:gdLst/>
              <a:ahLst/>
              <a:cxnLst/>
              <a:rect r="r" b="b" t="t" l="l"/>
              <a:pathLst>
                <a:path h="1970173" w="1967710">
                  <a:moveTo>
                    <a:pt x="0" y="0"/>
                  </a:moveTo>
                  <a:lnTo>
                    <a:pt x="1967711" y="0"/>
                  </a:lnTo>
                  <a:lnTo>
                    <a:pt x="1967711" y="1970173"/>
                  </a:lnTo>
                  <a:lnTo>
                    <a:pt x="0" y="1970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TextBox 14" id="14"/>
          <p:cNvSpPr txBox="true"/>
          <p:nvPr/>
        </p:nvSpPr>
        <p:spPr>
          <a:xfrm rot="0">
            <a:off x="666750" y="1552575"/>
            <a:ext cx="11210925" cy="1530349"/>
          </a:xfrm>
          <a:prstGeom prst="rect">
            <a:avLst/>
          </a:prstGeom>
        </p:spPr>
        <p:txBody>
          <a:bodyPr anchor="t" rtlCol="false" tIns="0" lIns="0" bIns="0" rIns="0">
            <a:spAutoFit/>
          </a:bodyPr>
          <a:lstStyle/>
          <a:p>
            <a:pPr algn="l" marL="0" indent="0" lvl="0">
              <a:lnSpc>
                <a:spcPts val="9999"/>
              </a:lnSpc>
            </a:pPr>
            <a:r>
              <a:rPr lang="en-US" sz="9999" spc="-299">
                <a:solidFill>
                  <a:srgbClr val="00FFA8"/>
                </a:solidFill>
                <a:latin typeface="ITC Avant Garde Gothic"/>
                <a:ea typeface="ITC Avant Garde Gothic"/>
                <a:cs typeface="ITC Avant Garde Gothic"/>
                <a:sym typeface="ITC Avant Garde Gothic"/>
              </a:rPr>
              <a:t>Network Sniffing</a:t>
            </a:r>
          </a:p>
        </p:txBody>
      </p:sp>
      <p:sp>
        <p:nvSpPr>
          <p:cNvPr name="TextBox 15" id="15"/>
          <p:cNvSpPr txBox="true"/>
          <p:nvPr/>
        </p:nvSpPr>
        <p:spPr>
          <a:xfrm rot="0">
            <a:off x="666750" y="561975"/>
            <a:ext cx="9763125" cy="495935"/>
          </a:xfrm>
          <a:prstGeom prst="rect">
            <a:avLst/>
          </a:prstGeom>
        </p:spPr>
        <p:txBody>
          <a:bodyPr anchor="t" rtlCol="false" tIns="0" lIns="0" bIns="0" rIns="0">
            <a:spAutoFit/>
          </a:bodyPr>
          <a:lstStyle/>
          <a:p>
            <a:pPr algn="l" marL="0" indent="0" lvl="0">
              <a:lnSpc>
                <a:spcPts val="3640"/>
              </a:lnSpc>
              <a:spcBef>
                <a:spcPct val="0"/>
              </a:spcBef>
            </a:pPr>
            <a:r>
              <a:rPr lang="en-US" sz="2600">
                <a:solidFill>
                  <a:srgbClr val="00FFA8"/>
                </a:solidFill>
                <a:latin typeface="ITC Avant Garde Gothic"/>
                <a:ea typeface="ITC Avant Garde Gothic"/>
                <a:cs typeface="ITC Avant Garde Gothic"/>
                <a:sym typeface="ITC Avant Garde Gothic"/>
              </a:rPr>
              <a:t>MULTIMEDIA UNIVERSITY, MALAYSIA</a:t>
            </a:r>
          </a:p>
        </p:txBody>
      </p:sp>
      <p:sp>
        <p:nvSpPr>
          <p:cNvPr name="TextBox 16" id="16"/>
          <p:cNvSpPr txBox="true"/>
          <p:nvPr/>
        </p:nvSpPr>
        <p:spPr>
          <a:xfrm rot="0">
            <a:off x="666750" y="3439795"/>
            <a:ext cx="9763125" cy="604520"/>
          </a:xfrm>
          <a:prstGeom prst="rect">
            <a:avLst/>
          </a:prstGeom>
        </p:spPr>
        <p:txBody>
          <a:bodyPr anchor="t" rtlCol="false" tIns="0" lIns="0" bIns="0" rIns="0">
            <a:spAutoFit/>
          </a:bodyPr>
          <a:lstStyle/>
          <a:p>
            <a:pPr algn="l" marL="0" indent="0" lvl="0">
              <a:lnSpc>
                <a:spcPts val="4479"/>
              </a:lnSpc>
              <a:spcBef>
                <a:spcPct val="0"/>
              </a:spcBef>
            </a:pPr>
            <a:r>
              <a:rPr lang="en-US" sz="3199">
                <a:solidFill>
                  <a:srgbClr val="00FFA8"/>
                </a:solidFill>
                <a:latin typeface="ITC Avant Garde Gothic"/>
                <a:ea typeface="ITC Avant Garde Gothic"/>
                <a:cs typeface="ITC Avant Garde Gothic"/>
                <a:sym typeface="ITC Avant Garde Gothic"/>
              </a:rPr>
              <a:t>CCS6324 - 2530</a:t>
            </a:r>
          </a:p>
        </p:txBody>
      </p:sp>
      <p:sp>
        <p:nvSpPr>
          <p:cNvPr name="TextBox 17" id="17"/>
          <p:cNvSpPr txBox="true"/>
          <p:nvPr/>
        </p:nvSpPr>
        <p:spPr>
          <a:xfrm rot="0">
            <a:off x="666750" y="2959099"/>
            <a:ext cx="9763125" cy="604520"/>
          </a:xfrm>
          <a:prstGeom prst="rect">
            <a:avLst/>
          </a:prstGeom>
        </p:spPr>
        <p:txBody>
          <a:bodyPr anchor="t" rtlCol="false" tIns="0" lIns="0" bIns="0" rIns="0">
            <a:spAutoFit/>
          </a:bodyPr>
          <a:lstStyle/>
          <a:p>
            <a:pPr algn="l" marL="0" indent="0" lvl="0">
              <a:lnSpc>
                <a:spcPts val="4479"/>
              </a:lnSpc>
              <a:spcBef>
                <a:spcPct val="0"/>
              </a:spcBef>
            </a:pPr>
            <a:r>
              <a:rPr lang="en-US" sz="3199">
                <a:solidFill>
                  <a:srgbClr val="00FFA8"/>
                </a:solidFill>
                <a:latin typeface="ITC Avant Garde Gothic"/>
                <a:ea typeface="ITC Avant Garde Gothic"/>
                <a:cs typeface="ITC Avant Garde Gothic"/>
                <a:sym typeface="ITC Avant Garde Gothic"/>
              </a:rPr>
              <a:t>ETHICAL HACKING AND PENETRATION TESTING</a:t>
            </a:r>
          </a:p>
        </p:txBody>
      </p:sp>
      <p:sp>
        <p:nvSpPr>
          <p:cNvPr name="TextBox 18" id="18"/>
          <p:cNvSpPr txBox="true"/>
          <p:nvPr/>
        </p:nvSpPr>
        <p:spPr>
          <a:xfrm rot="0">
            <a:off x="663474" y="9181465"/>
            <a:ext cx="7194651" cy="438785"/>
          </a:xfrm>
          <a:prstGeom prst="rect">
            <a:avLst/>
          </a:prstGeom>
        </p:spPr>
        <p:txBody>
          <a:bodyPr anchor="t" rtlCol="false" tIns="0" lIns="0" bIns="0" rIns="0">
            <a:spAutoFit/>
          </a:bodyPr>
          <a:lstStyle/>
          <a:p>
            <a:pPr algn="l" marL="0" indent="0" lvl="0">
              <a:lnSpc>
                <a:spcPts val="3640"/>
              </a:lnSpc>
            </a:pPr>
            <a:r>
              <a:rPr lang="en-US" sz="2600">
                <a:solidFill>
                  <a:srgbClr val="00FFA8"/>
                </a:solidFill>
                <a:latin typeface="TT Fors"/>
                <a:ea typeface="TT Fors"/>
                <a:cs typeface="TT Fors"/>
                <a:sym typeface="TT Fors"/>
              </a:rPr>
              <a:t>Dr. Hafiz Adnan Hussain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grpSp>
        <p:nvGrpSpPr>
          <p:cNvPr name="Group 2" id="2"/>
          <p:cNvGrpSpPr/>
          <p:nvPr/>
        </p:nvGrpSpPr>
        <p:grpSpPr>
          <a:xfrm rot="0">
            <a:off x="16115522" y="751544"/>
            <a:ext cx="1505728" cy="810556"/>
            <a:chOff x="0" y="0"/>
            <a:chExt cx="2007638" cy="1080741"/>
          </a:xfrm>
        </p:grpSpPr>
        <p:grpSp>
          <p:nvGrpSpPr>
            <p:cNvPr name="Group 3" id="3"/>
            <p:cNvGrpSpPr/>
            <p:nvPr/>
          </p:nvGrpSpPr>
          <p:grpSpPr>
            <a:xfrm rot="0">
              <a:off x="0" y="0"/>
              <a:ext cx="1080741" cy="108074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926897" y="0"/>
              <a:ext cx="1080741" cy="108074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108486" y="191456"/>
              <a:ext cx="717562" cy="697829"/>
            </a:xfrm>
            <a:custGeom>
              <a:avLst/>
              <a:gdLst/>
              <a:ahLst/>
              <a:cxnLst/>
              <a:rect r="r" b="b" t="t" l="l"/>
              <a:pathLst>
                <a:path h="697829" w="717562">
                  <a:moveTo>
                    <a:pt x="0" y="0"/>
                  </a:moveTo>
                  <a:lnTo>
                    <a:pt x="717563" y="0"/>
                  </a:lnTo>
                  <a:lnTo>
                    <a:pt x="717563" y="697829"/>
                  </a:lnTo>
                  <a:lnTo>
                    <a:pt x="0" y="6978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234320" y="101015"/>
              <a:ext cx="978695" cy="707551"/>
            </a:xfrm>
            <a:custGeom>
              <a:avLst/>
              <a:gdLst/>
              <a:ahLst/>
              <a:cxnLst/>
              <a:rect r="r" b="b" t="t" l="l"/>
              <a:pathLst>
                <a:path h="707551" w="978695">
                  <a:moveTo>
                    <a:pt x="0" y="0"/>
                  </a:moveTo>
                  <a:lnTo>
                    <a:pt x="978695" y="0"/>
                  </a:lnTo>
                  <a:lnTo>
                    <a:pt x="978695" y="707551"/>
                  </a:lnTo>
                  <a:lnTo>
                    <a:pt x="0" y="707551"/>
                  </a:lnTo>
                  <a:lnTo>
                    <a:pt x="0" y="0"/>
                  </a:lnTo>
                  <a:close/>
                </a:path>
              </a:pathLst>
            </a:custGeom>
            <a:blipFill>
              <a:blip r:embed="rId5"/>
              <a:stretch>
                <a:fillRect l="0" t="0" r="-14982" b="0"/>
              </a:stretch>
            </a:blipFill>
          </p:spPr>
        </p:sp>
      </p:grpSp>
      <p:sp>
        <p:nvSpPr>
          <p:cNvPr name="TextBox 11" id="11"/>
          <p:cNvSpPr txBox="true"/>
          <p:nvPr/>
        </p:nvSpPr>
        <p:spPr>
          <a:xfrm rot="0">
            <a:off x="666750" y="2132867"/>
            <a:ext cx="16592550" cy="6564630"/>
          </a:xfrm>
          <a:prstGeom prst="rect">
            <a:avLst/>
          </a:prstGeom>
        </p:spPr>
        <p:txBody>
          <a:bodyPr anchor="t" rtlCol="false" tIns="0" lIns="0" bIns="0" rIns="0">
            <a:spAutoFit/>
          </a:bodyPr>
          <a:lstStyle/>
          <a:p>
            <a:pPr algn="l" marL="690879" indent="-345439" lvl="1">
              <a:lnSpc>
                <a:spcPts val="4799"/>
              </a:lnSpc>
              <a:buFont typeface="Arial"/>
              <a:buChar char="•"/>
            </a:pPr>
            <a:r>
              <a:rPr lang="en-US" sz="3199" spc="-95">
                <a:solidFill>
                  <a:srgbClr val="00FFA8"/>
                </a:solidFill>
                <a:latin typeface="TT Fors"/>
                <a:ea typeface="TT Fors"/>
                <a:cs typeface="TT Fors"/>
                <a:sym typeface="TT Fors"/>
              </a:rPr>
              <a:t>This course is designed to educate students on ethical hacking p</a:t>
            </a:r>
            <a:r>
              <a:rPr lang="en-US" sz="3199" spc="-95" strike="noStrike" u="none">
                <a:solidFill>
                  <a:srgbClr val="00FFA8"/>
                </a:solidFill>
                <a:latin typeface="TT Fors"/>
                <a:ea typeface="TT Fors"/>
                <a:cs typeface="TT Fors"/>
                <a:sym typeface="TT Fors"/>
              </a:rPr>
              <a:t>rinc</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ples. The </a:t>
            </a:r>
            <a:r>
              <a:rPr lang="en-US" sz="3199" spc="-95" strike="noStrike" u="none">
                <a:solidFill>
                  <a:srgbClr val="00FFA8"/>
                </a:solidFill>
                <a:latin typeface="TT Fors"/>
                <a:ea typeface="TT Fors"/>
                <a:cs typeface="TT Fors"/>
                <a:sym typeface="TT Fors"/>
              </a:rPr>
              <a:t>kn</a:t>
            </a:r>
            <a:r>
              <a:rPr lang="en-US" sz="3199" spc="-95" strike="noStrike" u="none">
                <a:solidFill>
                  <a:srgbClr val="00FFA8"/>
                </a:solidFill>
                <a:latin typeface="TT Fors"/>
                <a:ea typeface="TT Fors"/>
                <a:cs typeface="TT Fors"/>
                <a:sym typeface="TT Fors"/>
              </a:rPr>
              <a:t>o</a:t>
            </a:r>
            <a:r>
              <a:rPr lang="en-US" sz="3199" spc="-95" strike="noStrike" u="none">
                <a:solidFill>
                  <a:srgbClr val="00FFA8"/>
                </a:solidFill>
                <a:latin typeface="TT Fors"/>
                <a:ea typeface="TT Fors"/>
                <a:cs typeface="TT Fors"/>
                <a:sym typeface="TT Fors"/>
              </a:rPr>
              <a:t>w</a:t>
            </a:r>
            <a:r>
              <a:rPr lang="en-US" sz="3199" spc="-95" strike="noStrike" u="none">
                <a:solidFill>
                  <a:srgbClr val="00FFA8"/>
                </a:solidFill>
                <a:latin typeface="TT Fors"/>
                <a:ea typeface="TT Fors"/>
                <a:cs typeface="TT Fors"/>
                <a:sym typeface="TT Fors"/>
              </a:rPr>
              <a:t>le</a:t>
            </a:r>
            <a:r>
              <a:rPr lang="en-US" sz="3199" spc="-95" strike="noStrike" u="none">
                <a:solidFill>
                  <a:srgbClr val="00FFA8"/>
                </a:solidFill>
                <a:latin typeface="TT Fors"/>
                <a:ea typeface="TT Fors"/>
                <a:cs typeface="TT Fors"/>
                <a:sym typeface="TT Fors"/>
              </a:rPr>
              <a:t>dge</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and</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echniques acqu</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ed must be used respons</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bl</a:t>
            </a:r>
            <a:r>
              <a:rPr lang="en-US" sz="3199" spc="-95" strike="noStrike" u="none">
                <a:solidFill>
                  <a:srgbClr val="00FFA8"/>
                </a:solidFill>
                <a:latin typeface="TT Fors"/>
                <a:ea typeface="TT Fors"/>
                <a:cs typeface="TT Fors"/>
                <a:sym typeface="TT Fors"/>
              </a:rPr>
              <a:t>y and n</a:t>
            </a:r>
            <a:r>
              <a:rPr lang="en-US" sz="3199" spc="-95" strike="noStrike" u="none">
                <a:solidFill>
                  <a:srgbClr val="00FFA8"/>
                </a:solidFill>
                <a:latin typeface="TT Fors"/>
                <a:ea typeface="TT Fors"/>
                <a:cs typeface="TT Fors"/>
                <a:sym typeface="TT Fors"/>
              </a:rPr>
              <a:t>o</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 fo</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a</a:t>
            </a:r>
            <a:r>
              <a:rPr lang="en-US" sz="3199" spc="-95" strike="noStrike" u="none">
                <a:solidFill>
                  <a:srgbClr val="00FFA8"/>
                </a:solidFill>
                <a:latin typeface="TT Fors"/>
                <a:ea typeface="TT Fors"/>
                <a:cs typeface="TT Fors"/>
                <a:sym typeface="TT Fors"/>
              </a:rPr>
              <a:t>ny </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llegal </a:t>
            </a:r>
            <a:r>
              <a:rPr lang="en-US" sz="3199" spc="-95" strike="noStrike" u="none">
                <a:solidFill>
                  <a:srgbClr val="00FFA8"/>
                </a:solidFill>
                <a:latin typeface="TT Fors"/>
                <a:ea typeface="TT Fors"/>
                <a:cs typeface="TT Fors"/>
                <a:sym typeface="TT Fors"/>
              </a:rPr>
              <a:t>o</a:t>
            </a:r>
            <a:r>
              <a:rPr lang="en-US" sz="3199" spc="-95" strike="noStrike" u="none">
                <a:solidFill>
                  <a:srgbClr val="00FFA8"/>
                </a:solidFill>
                <a:latin typeface="TT Fors"/>
                <a:ea typeface="TT Fors"/>
                <a:cs typeface="TT Fors"/>
                <a:sym typeface="TT Fors"/>
              </a:rPr>
              <a:t>r u</a:t>
            </a:r>
            <a:r>
              <a:rPr lang="en-US" sz="3199" spc="-95" strike="noStrike" u="none">
                <a:solidFill>
                  <a:srgbClr val="00FFA8"/>
                </a:solidFill>
                <a:latin typeface="TT Fors"/>
                <a:ea typeface="TT Fors"/>
                <a:cs typeface="TT Fors"/>
                <a:sym typeface="TT Fors"/>
              </a:rPr>
              <a:t>n</a:t>
            </a:r>
            <a:r>
              <a:rPr lang="en-US" sz="3199" spc="-95" strike="noStrike" u="none">
                <a:solidFill>
                  <a:srgbClr val="00FFA8"/>
                </a:solidFill>
                <a:latin typeface="TT Fors"/>
                <a:ea typeface="TT Fors"/>
                <a:cs typeface="TT Fors"/>
                <a:sym typeface="TT Fors"/>
              </a:rPr>
              <a:t>authorized</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activiti</a:t>
            </a:r>
            <a:r>
              <a:rPr lang="en-US" sz="3199" spc="-95" strike="noStrike" u="none">
                <a:solidFill>
                  <a:srgbClr val="00FFA8"/>
                </a:solidFill>
                <a:latin typeface="TT Fors"/>
                <a:ea typeface="TT Fors"/>
                <a:cs typeface="TT Fors"/>
                <a:sym typeface="TT Fors"/>
              </a:rPr>
              <a:t>es</a:t>
            </a:r>
            <a:r>
              <a:rPr lang="en-US" sz="3199" spc="-95" strike="noStrike" u="none">
                <a:solidFill>
                  <a:srgbClr val="00FFA8"/>
                </a:solidFill>
                <a:latin typeface="TT Fors"/>
                <a:ea typeface="TT Fors"/>
                <a:cs typeface="TT Fors"/>
                <a:sym typeface="TT Fors"/>
              </a:rPr>
              <a:t>.</a:t>
            </a:r>
          </a:p>
          <a:p>
            <a:pPr algn="l" marL="690879" indent="-345439" lvl="1">
              <a:lnSpc>
                <a:spcPts val="4799"/>
              </a:lnSpc>
              <a:buFont typeface="Arial"/>
              <a:buChar char="•"/>
            </a:pPr>
            <a:r>
              <a:rPr lang="en-US" sz="3199" spc="-95" strike="noStrike" u="none">
                <a:solidFill>
                  <a:srgbClr val="00FFA8"/>
                </a:solidFill>
                <a:latin typeface="TT Fors"/>
                <a:ea typeface="TT Fors"/>
                <a:cs typeface="TT Fors"/>
                <a:sym typeface="TT Fors"/>
              </a:rPr>
              <a:t>Each s</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ud</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nt is solely </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s</a:t>
            </a:r>
            <a:r>
              <a:rPr lang="en-US" sz="3199" spc="-95" strike="noStrike" u="none">
                <a:solidFill>
                  <a:srgbClr val="00FFA8"/>
                </a:solidFill>
                <a:latin typeface="TT Fors"/>
                <a:ea typeface="TT Fors"/>
                <a:cs typeface="TT Fors"/>
                <a:sym typeface="TT Fors"/>
              </a:rPr>
              <a:t>po</a:t>
            </a:r>
            <a:r>
              <a:rPr lang="en-US" sz="3199" spc="-95" strike="noStrike" u="none">
                <a:solidFill>
                  <a:srgbClr val="00FFA8"/>
                </a:solidFill>
                <a:latin typeface="TT Fors"/>
                <a:ea typeface="TT Fors"/>
                <a:cs typeface="TT Fors"/>
                <a:sym typeface="TT Fors"/>
              </a:rPr>
              <a:t>n</a:t>
            </a:r>
            <a:r>
              <a:rPr lang="en-US" sz="3199" spc="-95" strike="noStrike" u="none">
                <a:solidFill>
                  <a:srgbClr val="00FFA8"/>
                </a:solidFill>
                <a:latin typeface="TT Fors"/>
                <a:ea typeface="TT Fors"/>
                <a:cs typeface="TT Fors"/>
                <a:sym typeface="TT Fors"/>
              </a:rPr>
              <a:t>sibl</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 for </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hei</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a</a:t>
            </a:r>
            <a:r>
              <a:rPr lang="en-US" sz="3199" spc="-95" strike="noStrike" u="none">
                <a:solidFill>
                  <a:srgbClr val="00FFA8"/>
                </a:solidFill>
                <a:latin typeface="TT Fors"/>
                <a:ea typeface="TT Fors"/>
                <a:cs typeface="TT Fors"/>
                <a:sym typeface="TT Fors"/>
              </a:rPr>
              <a:t>c</a:t>
            </a:r>
            <a:r>
              <a:rPr lang="en-US" sz="3199" spc="-95" strike="noStrike" u="none">
                <a:solidFill>
                  <a:srgbClr val="00FFA8"/>
                </a:solidFill>
                <a:latin typeface="TT Fors"/>
                <a:ea typeface="TT Fors"/>
                <a:cs typeface="TT Fors"/>
                <a:sym typeface="TT Fors"/>
              </a:rPr>
              <a:t>tion</a:t>
            </a:r>
            <a:r>
              <a:rPr lang="en-US" sz="3199" spc="-95" strike="noStrike" u="none">
                <a:solidFill>
                  <a:srgbClr val="00FFA8"/>
                </a:solidFill>
                <a:latin typeface="TT Fors"/>
                <a:ea typeface="TT Fors"/>
                <a:cs typeface="TT Fors"/>
                <a:sym typeface="TT Fors"/>
              </a:rPr>
              <a:t>s.</a:t>
            </a:r>
          </a:p>
          <a:p>
            <a:pPr algn="l" marL="690879" indent="-345439" lvl="1">
              <a:lnSpc>
                <a:spcPts val="4799"/>
              </a:lnSpc>
              <a:buFont typeface="Arial"/>
              <a:buChar char="•"/>
            </a:pPr>
            <a:r>
              <a:rPr lang="en-US" sz="3199" spc="-95" strike="noStrike" u="none">
                <a:solidFill>
                  <a:srgbClr val="00FFA8"/>
                </a:solidFill>
                <a:latin typeface="TT Fors"/>
                <a:ea typeface="TT Fors"/>
                <a:cs typeface="TT Fors"/>
                <a:sym typeface="TT Fors"/>
              </a:rPr>
              <a:t>Do not inv</a:t>
            </a:r>
            <a:r>
              <a:rPr lang="en-US" sz="3199" spc="-95" strike="noStrike" u="none">
                <a:solidFill>
                  <a:srgbClr val="00FFA8"/>
                </a:solidFill>
                <a:latin typeface="TT Fors"/>
                <a:ea typeface="TT Fors"/>
                <a:cs typeface="TT Fors"/>
                <a:sym typeface="TT Fors"/>
              </a:rPr>
              <a:t>estig</a:t>
            </a:r>
            <a:r>
              <a:rPr lang="en-US" sz="3199" spc="-95" strike="noStrike" u="none">
                <a:solidFill>
                  <a:srgbClr val="00FFA8"/>
                </a:solidFill>
                <a:latin typeface="TT Fors"/>
                <a:ea typeface="TT Fors"/>
                <a:cs typeface="TT Fors"/>
                <a:sym typeface="TT Fors"/>
              </a:rPr>
              <a:t>a</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e in</a:t>
            </a:r>
            <a:r>
              <a:rPr lang="en-US" sz="3199" spc="-95" strike="noStrike" u="none">
                <a:solidFill>
                  <a:srgbClr val="00FFA8"/>
                </a:solidFill>
                <a:latin typeface="TT Fors"/>
                <a:ea typeface="TT Fors"/>
                <a:cs typeface="TT Fors"/>
                <a:sym typeface="TT Fors"/>
              </a:rPr>
              <a:t>d</a:t>
            </a:r>
            <a:r>
              <a:rPr lang="en-US" sz="3199" spc="-95" strike="noStrike" u="none">
                <a:solidFill>
                  <a:srgbClr val="00FFA8"/>
                </a:solidFill>
                <a:latin typeface="TT Fors"/>
                <a:ea typeface="TT Fors"/>
                <a:cs typeface="TT Fors"/>
                <a:sym typeface="TT Fors"/>
              </a:rPr>
              <a:t>ividua</a:t>
            </a:r>
            <a:r>
              <a:rPr lang="en-US" sz="3199" spc="-95" strike="noStrike" u="none">
                <a:solidFill>
                  <a:srgbClr val="00FFA8"/>
                </a:solidFill>
                <a:latin typeface="TT Fors"/>
                <a:ea typeface="TT Fors"/>
                <a:cs typeface="TT Fors"/>
                <a:sym typeface="TT Fors"/>
              </a:rPr>
              <a:t>l</a:t>
            </a:r>
            <a:r>
              <a:rPr lang="en-US" sz="3199" spc="-95" strike="noStrike" u="none">
                <a:solidFill>
                  <a:srgbClr val="00FFA8"/>
                </a:solidFill>
                <a:latin typeface="TT Fors"/>
                <a:ea typeface="TT Fors"/>
                <a:cs typeface="TT Fors"/>
                <a:sym typeface="TT Fors"/>
              </a:rPr>
              <a:t>s, webs</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es, </a:t>
            </a:r>
            <a:r>
              <a:rPr lang="en-US" sz="3199" spc="-95" strike="noStrike" u="none">
                <a:solidFill>
                  <a:srgbClr val="00FFA8"/>
                </a:solidFill>
                <a:latin typeface="TT Fors"/>
                <a:ea typeface="TT Fors"/>
                <a:cs typeface="TT Fors"/>
                <a:sym typeface="TT Fors"/>
              </a:rPr>
              <a:t>servers or conduct</a:t>
            </a:r>
            <a:r>
              <a:rPr lang="en-US" sz="3199" spc="-95" strike="noStrike" u="none">
                <a:solidFill>
                  <a:srgbClr val="00FFA8"/>
                </a:solidFill>
                <a:latin typeface="TT Fors"/>
                <a:ea typeface="TT Fors"/>
                <a:cs typeface="TT Fors"/>
                <a:sym typeface="TT Fors"/>
              </a:rPr>
              <a:t> a</a:t>
            </a:r>
            <a:r>
              <a:rPr lang="en-US" sz="3199" spc="-95" strike="noStrike" u="none">
                <a:solidFill>
                  <a:srgbClr val="00FFA8"/>
                </a:solidFill>
                <a:latin typeface="TT Fors"/>
                <a:ea typeface="TT Fors"/>
                <a:cs typeface="TT Fors"/>
                <a:sym typeface="TT Fors"/>
              </a:rPr>
              <a:t>ny ill</a:t>
            </a:r>
            <a:r>
              <a:rPr lang="en-US" sz="3199" spc="-95" strike="noStrike" u="none">
                <a:solidFill>
                  <a:srgbClr val="00FFA8"/>
                </a:solidFill>
                <a:latin typeface="TT Fors"/>
                <a:ea typeface="TT Fors"/>
                <a:cs typeface="TT Fors"/>
                <a:sym typeface="TT Fors"/>
              </a:rPr>
              <a:t>eg</a:t>
            </a:r>
            <a:r>
              <a:rPr lang="en-US" sz="3199" spc="-95" strike="noStrike" u="none">
                <a:solidFill>
                  <a:srgbClr val="00FFA8"/>
                </a:solidFill>
                <a:latin typeface="TT Fors"/>
                <a:ea typeface="TT Fors"/>
                <a:cs typeface="TT Fors"/>
                <a:sym typeface="TT Fors"/>
              </a:rPr>
              <a:t>al activit</a:t>
            </a:r>
            <a:r>
              <a:rPr lang="en-US" sz="3199" spc="-95" strike="noStrike" u="none">
                <a:solidFill>
                  <a:srgbClr val="00FFA8"/>
                </a:solidFill>
                <a:latin typeface="TT Fors"/>
                <a:ea typeface="TT Fors"/>
                <a:cs typeface="TT Fors"/>
                <a:sym typeface="TT Fors"/>
              </a:rPr>
              <a:t>ies</a:t>
            </a:r>
            <a:r>
              <a:rPr lang="en-US" sz="3199" spc="-95" strike="noStrike" u="none">
                <a:solidFill>
                  <a:srgbClr val="00FFA8"/>
                </a:solidFill>
                <a:latin typeface="TT Fors"/>
                <a:ea typeface="TT Fors"/>
                <a:cs typeface="TT Fors"/>
                <a:sym typeface="TT Fors"/>
              </a:rPr>
              <a:t> on</a:t>
            </a:r>
            <a:r>
              <a:rPr lang="en-US" sz="3199" spc="-95" strike="noStrike" u="none">
                <a:solidFill>
                  <a:srgbClr val="00FFA8"/>
                </a:solidFill>
                <a:latin typeface="TT Fors"/>
                <a:ea typeface="TT Fors"/>
                <a:cs typeface="TT Fors"/>
                <a:sym typeface="TT Fors"/>
              </a:rPr>
              <a:t> an</a:t>
            </a:r>
            <a:r>
              <a:rPr lang="en-US" sz="3199" spc="-95" strike="noStrike" u="none">
                <a:solidFill>
                  <a:srgbClr val="00FFA8"/>
                </a:solidFill>
                <a:latin typeface="TT Fors"/>
                <a:ea typeface="TT Fors"/>
                <a:cs typeface="TT Fors"/>
                <a:sym typeface="TT Fors"/>
              </a:rPr>
              <a:t>y</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s</a:t>
            </a:r>
            <a:r>
              <a:rPr lang="en-US" sz="3199" spc="-95" strike="noStrike" u="none">
                <a:solidFill>
                  <a:srgbClr val="00FFA8"/>
                </a:solidFill>
                <a:latin typeface="TT Fors"/>
                <a:ea typeface="TT Fors"/>
                <a:cs typeface="TT Fors"/>
                <a:sym typeface="TT Fors"/>
              </a:rPr>
              <a:t>y</a:t>
            </a:r>
            <a:r>
              <a:rPr lang="en-US" sz="3199" spc="-95" strike="noStrike" u="none">
                <a:solidFill>
                  <a:srgbClr val="00FFA8"/>
                </a:solidFill>
                <a:latin typeface="TT Fors"/>
                <a:ea typeface="TT Fors"/>
                <a:cs typeface="TT Fors"/>
                <a:sym typeface="TT Fors"/>
              </a:rPr>
              <a:t>st</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m</a:t>
            </a:r>
            <a:r>
              <a:rPr lang="en-US" sz="3199" spc="-95" strike="noStrike" u="none">
                <a:solidFill>
                  <a:srgbClr val="00FFA8"/>
                </a:solidFill>
                <a:latin typeface="TT Fors"/>
                <a:ea typeface="TT Fors"/>
                <a:cs typeface="TT Fors"/>
                <a:sym typeface="TT Fors"/>
              </a:rPr>
              <a:t> you do not have</a:t>
            </a:r>
            <a:r>
              <a:rPr lang="en-US" sz="3199" spc="-95" strike="noStrike" u="none">
                <a:solidFill>
                  <a:srgbClr val="00FFA8"/>
                </a:solidFill>
                <a:latin typeface="TT Fors"/>
                <a:ea typeface="TT Fors"/>
                <a:cs typeface="TT Fors"/>
                <a:sym typeface="TT Fors"/>
              </a:rPr>
              <a:t> p</a:t>
            </a:r>
            <a:r>
              <a:rPr lang="en-US" sz="3199" spc="-95" strike="noStrike" u="none">
                <a:solidFill>
                  <a:srgbClr val="00FFA8"/>
                </a:solidFill>
                <a:latin typeface="TT Fors"/>
                <a:ea typeface="TT Fors"/>
                <a:cs typeface="TT Fors"/>
                <a:sym typeface="TT Fors"/>
              </a:rPr>
              <a:t>er</a:t>
            </a:r>
            <a:r>
              <a:rPr lang="en-US" sz="3199" spc="-95" strike="noStrike" u="none">
                <a:solidFill>
                  <a:srgbClr val="00FFA8"/>
                </a:solidFill>
                <a:latin typeface="TT Fors"/>
                <a:ea typeface="TT Fors"/>
                <a:cs typeface="TT Fors"/>
                <a:sym typeface="TT Fors"/>
              </a:rPr>
              <a:t>miss</a:t>
            </a:r>
            <a:r>
              <a:rPr lang="en-US" sz="3199" spc="-95" strike="noStrike" u="none">
                <a:solidFill>
                  <a:srgbClr val="00FFA8"/>
                </a:solidFill>
                <a:latin typeface="TT Fors"/>
                <a:ea typeface="TT Fors"/>
                <a:cs typeface="TT Fors"/>
                <a:sym typeface="TT Fors"/>
              </a:rPr>
              <a:t>ion </a:t>
            </a:r>
            <a:r>
              <a:rPr lang="en-US" sz="3199" spc="-95" strike="noStrike" u="none">
                <a:solidFill>
                  <a:srgbClr val="00FFA8"/>
                </a:solidFill>
                <a:latin typeface="TT Fors"/>
                <a:ea typeface="TT Fors"/>
                <a:cs typeface="TT Fors"/>
                <a:sym typeface="TT Fors"/>
              </a:rPr>
              <a:t>to analyze.</a:t>
            </a:r>
          </a:p>
          <a:p>
            <a:pPr algn="l" marL="690879" indent="-345439" lvl="1">
              <a:lnSpc>
                <a:spcPts val="4799"/>
              </a:lnSpc>
              <a:buFont typeface="Arial"/>
              <a:buChar char="•"/>
            </a:pP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h</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 cour</a:t>
            </a:r>
            <a:r>
              <a:rPr lang="en-US" sz="3199" spc="-95" strike="noStrike" u="none">
                <a:solidFill>
                  <a:srgbClr val="00FFA8"/>
                </a:solidFill>
                <a:latin typeface="TT Fors"/>
                <a:ea typeface="TT Fors"/>
                <a:cs typeface="TT Fors"/>
                <a:sym typeface="TT Fors"/>
              </a:rPr>
              <a:t>s</a:t>
            </a:r>
            <a:r>
              <a:rPr lang="en-US" sz="3199" spc="-95" strike="noStrike" u="none">
                <a:solidFill>
                  <a:srgbClr val="00FFA8"/>
                </a:solidFill>
                <a:latin typeface="TT Fors"/>
                <a:ea typeface="TT Fors"/>
                <a:cs typeface="TT Fors"/>
                <a:sym typeface="TT Fors"/>
              </a:rPr>
              <a:t>e conten</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 ha</a:t>
            </a:r>
            <a:r>
              <a:rPr lang="en-US" sz="3199" spc="-95" strike="noStrike" u="none">
                <a:solidFill>
                  <a:srgbClr val="00FFA8"/>
                </a:solidFill>
                <a:latin typeface="TT Fors"/>
                <a:ea typeface="TT Fors"/>
                <a:cs typeface="TT Fors"/>
                <a:sym typeface="TT Fors"/>
              </a:rPr>
              <a:t>s </a:t>
            </a:r>
            <a:r>
              <a:rPr lang="en-US" sz="3199" spc="-95" strike="noStrike" u="none">
                <a:solidFill>
                  <a:srgbClr val="00FFA8"/>
                </a:solidFill>
                <a:latin typeface="TT Fors"/>
                <a:ea typeface="TT Fors"/>
                <a:cs typeface="TT Fors"/>
                <a:sym typeface="TT Fors"/>
              </a:rPr>
              <a:t>been deve</a:t>
            </a:r>
            <a:r>
              <a:rPr lang="en-US" sz="3199" spc="-95" strike="noStrike" u="none">
                <a:solidFill>
                  <a:srgbClr val="00FFA8"/>
                </a:solidFill>
                <a:latin typeface="TT Fors"/>
                <a:ea typeface="TT Fors"/>
                <a:cs typeface="TT Fors"/>
                <a:sym typeface="TT Fors"/>
              </a:rPr>
              <a:t>l</a:t>
            </a:r>
            <a:r>
              <a:rPr lang="en-US" sz="3199" spc="-95" strike="noStrike" u="none">
                <a:solidFill>
                  <a:srgbClr val="00FFA8"/>
                </a:solidFill>
                <a:latin typeface="TT Fors"/>
                <a:ea typeface="TT Fors"/>
                <a:cs typeface="TT Fors"/>
                <a:sym typeface="TT Fors"/>
              </a:rPr>
              <a:t>oped in good f</a:t>
            </a:r>
            <a:r>
              <a:rPr lang="en-US" sz="3199" spc="-95" strike="noStrike" u="none">
                <a:solidFill>
                  <a:srgbClr val="00FFA8"/>
                </a:solidFill>
                <a:latin typeface="TT Fors"/>
                <a:ea typeface="TT Fors"/>
                <a:cs typeface="TT Fors"/>
                <a:sym typeface="TT Fors"/>
              </a:rPr>
              <a:t>ait</a:t>
            </a:r>
            <a:r>
              <a:rPr lang="en-US" sz="3199" spc="-95" strike="noStrike" u="none">
                <a:solidFill>
                  <a:srgbClr val="00FFA8"/>
                </a:solidFill>
                <a:latin typeface="TT Fors"/>
                <a:ea typeface="TT Fors"/>
                <a:cs typeface="TT Fors"/>
                <a:sym typeface="TT Fors"/>
              </a:rPr>
              <a:t>h, d</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awing from th</a:t>
            </a:r>
            <a:r>
              <a:rPr lang="en-US" sz="3199" spc="-95" strike="noStrike" u="none">
                <a:solidFill>
                  <a:srgbClr val="00FFA8"/>
                </a:solidFill>
                <a:latin typeface="TT Fors"/>
                <a:ea typeface="TT Fors"/>
                <a:cs typeface="TT Fors"/>
                <a:sym typeface="TT Fors"/>
              </a:rPr>
              <a:t>e </a:t>
            </a:r>
            <a:r>
              <a:rPr lang="en-US" sz="3199" spc="-95" strike="noStrike" u="none">
                <a:solidFill>
                  <a:srgbClr val="00FFA8"/>
                </a:solidFill>
                <a:latin typeface="TT Fors"/>
                <a:ea typeface="TT Fors"/>
                <a:cs typeface="TT Fors"/>
                <a:sym typeface="TT Fors"/>
              </a:rPr>
              <a:t>auth</a:t>
            </a:r>
            <a:r>
              <a:rPr lang="en-US" sz="3199" spc="-95" strike="noStrike" u="none">
                <a:solidFill>
                  <a:srgbClr val="00FFA8"/>
                </a:solidFill>
                <a:latin typeface="TT Fors"/>
                <a:ea typeface="TT Fors"/>
                <a:cs typeface="TT Fors"/>
                <a:sym typeface="TT Fors"/>
              </a:rPr>
              <a:t>o</a:t>
            </a:r>
            <a:r>
              <a:rPr lang="en-US" sz="3199" spc="-95" strike="noStrike" u="none">
                <a:solidFill>
                  <a:srgbClr val="00FFA8"/>
                </a:solidFill>
                <a:latin typeface="TT Fors"/>
                <a:ea typeface="TT Fors"/>
                <a:cs typeface="TT Fors"/>
                <a:sym typeface="TT Fors"/>
              </a:rPr>
              <a:t>r’s e</a:t>
            </a:r>
            <a:r>
              <a:rPr lang="en-US" sz="3199" spc="-95" strike="noStrike" u="none">
                <a:solidFill>
                  <a:srgbClr val="00FFA8"/>
                </a:solidFill>
                <a:latin typeface="TT Fors"/>
                <a:ea typeface="TT Fors"/>
                <a:cs typeface="TT Fors"/>
                <a:sym typeface="TT Fors"/>
              </a:rPr>
              <a:t>x</a:t>
            </a:r>
            <a:r>
              <a:rPr lang="en-US" sz="3199" spc="-95" strike="noStrike" u="none">
                <a:solidFill>
                  <a:srgbClr val="00FFA8"/>
                </a:solidFill>
                <a:latin typeface="TT Fors"/>
                <a:ea typeface="TT Fors"/>
                <a:cs typeface="TT Fors"/>
                <a:sym typeface="TT Fors"/>
              </a:rPr>
              <a:t>p</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rience</a:t>
            </a:r>
            <a:r>
              <a:rPr lang="en-US" sz="3199" spc="-95" strike="noStrike" u="none">
                <a:solidFill>
                  <a:srgbClr val="00FFA8"/>
                </a:solidFill>
                <a:latin typeface="TT Fors"/>
                <a:ea typeface="TT Fors"/>
                <a:cs typeface="TT Fors"/>
                <a:sym typeface="TT Fors"/>
              </a:rPr>
              <a:t> and </a:t>
            </a:r>
            <a:r>
              <a:rPr lang="en-US" sz="3199" spc="-95" strike="noStrike" u="none">
                <a:solidFill>
                  <a:srgbClr val="00FFA8"/>
                </a:solidFill>
                <a:latin typeface="TT Fors"/>
                <a:ea typeface="TT Fors"/>
                <a:cs typeface="TT Fors"/>
                <a:sym typeface="TT Fors"/>
              </a:rPr>
              <a:t>repu</a:t>
            </a:r>
            <a:r>
              <a:rPr lang="en-US" sz="3199" spc="-95" strike="noStrike" u="none">
                <a:solidFill>
                  <a:srgbClr val="00FFA8"/>
                </a:solidFill>
                <a:latin typeface="TT Fors"/>
                <a:ea typeface="TT Fors"/>
                <a:cs typeface="TT Fors"/>
                <a:sym typeface="TT Fors"/>
              </a:rPr>
              <a:t>table so</a:t>
            </a:r>
            <a:r>
              <a:rPr lang="en-US" sz="3199" spc="-95" strike="noStrike" u="none">
                <a:solidFill>
                  <a:srgbClr val="00FFA8"/>
                </a:solidFill>
                <a:latin typeface="TT Fors"/>
                <a:ea typeface="TT Fors"/>
                <a:cs typeface="TT Fors"/>
                <a:sym typeface="TT Fors"/>
              </a:rPr>
              <a:t>urce</a:t>
            </a:r>
            <a:r>
              <a:rPr lang="en-US" sz="3199" spc="-95" strike="noStrike" u="none">
                <a:solidFill>
                  <a:srgbClr val="00FFA8"/>
                </a:solidFill>
                <a:latin typeface="TT Fors"/>
                <a:ea typeface="TT Fors"/>
                <a:cs typeface="TT Fors"/>
                <a:sym typeface="TT Fors"/>
              </a:rPr>
              <a:t>s</a:t>
            </a:r>
            <a:r>
              <a:rPr lang="en-US" sz="3199" spc="-95" strike="noStrike" u="none">
                <a:solidFill>
                  <a:srgbClr val="00FFA8"/>
                </a:solidFill>
                <a:latin typeface="TT Fors"/>
                <a:ea typeface="TT Fors"/>
                <a:cs typeface="TT Fors"/>
                <a:sym typeface="TT Fors"/>
              </a:rPr>
              <a:t>. Wh</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le every </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ffo</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t h</a:t>
            </a:r>
            <a:r>
              <a:rPr lang="en-US" sz="3199" spc="-95" strike="noStrike" u="none">
                <a:solidFill>
                  <a:srgbClr val="00FFA8"/>
                </a:solidFill>
                <a:latin typeface="TT Fors"/>
                <a:ea typeface="TT Fors"/>
                <a:cs typeface="TT Fors"/>
                <a:sym typeface="TT Fors"/>
              </a:rPr>
              <a:t>a</a:t>
            </a:r>
            <a:r>
              <a:rPr lang="en-US" sz="3199" spc="-95" strike="noStrike" u="none">
                <a:solidFill>
                  <a:srgbClr val="00FFA8"/>
                </a:solidFill>
                <a:latin typeface="TT Fors"/>
                <a:ea typeface="TT Fors"/>
                <a:cs typeface="TT Fors"/>
                <a:sym typeface="TT Fors"/>
              </a:rPr>
              <a:t>s been made </a:t>
            </a:r>
            <a:r>
              <a:rPr lang="en-US" sz="3199" spc="-95" strike="noStrike" u="none">
                <a:solidFill>
                  <a:srgbClr val="00FFA8"/>
                </a:solidFill>
                <a:latin typeface="TT Fors"/>
                <a:ea typeface="TT Fors"/>
                <a:cs typeface="TT Fors"/>
                <a:sym typeface="TT Fors"/>
              </a:rPr>
              <a:t>to</a:t>
            </a:r>
            <a:r>
              <a:rPr lang="en-US" sz="3199" spc="-95" strike="noStrike" u="none">
                <a:solidFill>
                  <a:srgbClr val="00FFA8"/>
                </a:solidFill>
                <a:latin typeface="TT Fors"/>
                <a:ea typeface="TT Fors"/>
                <a:cs typeface="TT Fors"/>
                <a:sym typeface="TT Fors"/>
              </a:rPr>
              <a:t> e</a:t>
            </a:r>
            <a:r>
              <a:rPr lang="en-US" sz="3199" spc="-95" strike="noStrike" u="none">
                <a:solidFill>
                  <a:srgbClr val="00FFA8"/>
                </a:solidFill>
                <a:latin typeface="TT Fors"/>
                <a:ea typeface="TT Fors"/>
                <a:cs typeface="TT Fors"/>
                <a:sym typeface="TT Fors"/>
              </a:rPr>
              <a:t>ns</a:t>
            </a:r>
            <a:r>
              <a:rPr lang="en-US" sz="3199" spc="-95" strike="noStrike" u="none">
                <a:solidFill>
                  <a:srgbClr val="00FFA8"/>
                </a:solidFill>
                <a:latin typeface="TT Fors"/>
                <a:ea typeface="TT Fors"/>
                <a:cs typeface="TT Fors"/>
                <a:sym typeface="TT Fors"/>
              </a:rPr>
              <a:t>ure accuracy,</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the</a:t>
            </a:r>
            <a:r>
              <a:rPr lang="en-US" sz="3199" spc="-95" strike="noStrike" u="none">
                <a:solidFill>
                  <a:srgbClr val="00FFA8"/>
                </a:solidFill>
                <a:latin typeface="TT Fors"/>
                <a:ea typeface="TT Fors"/>
                <a:cs typeface="TT Fors"/>
                <a:sym typeface="TT Fors"/>
              </a:rPr>
              <a:t> a</a:t>
            </a:r>
            <a:r>
              <a:rPr lang="en-US" sz="3199" spc="-95" strike="noStrike" u="none">
                <a:solidFill>
                  <a:srgbClr val="00FFA8"/>
                </a:solidFill>
                <a:latin typeface="TT Fors"/>
                <a:ea typeface="TT Fors"/>
                <a:cs typeface="TT Fors"/>
                <a:sym typeface="TT Fors"/>
              </a:rPr>
              <a:t>uthor</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d</a:t>
            </a:r>
            <a:r>
              <a:rPr lang="en-US" sz="3199" spc="-95" strike="noStrike" u="none">
                <a:solidFill>
                  <a:srgbClr val="00FFA8"/>
                </a:solidFill>
                <a:latin typeface="TT Fors"/>
                <a:ea typeface="TT Fors"/>
                <a:cs typeface="TT Fors"/>
                <a:sym typeface="TT Fors"/>
              </a:rPr>
              <a:t>o</a:t>
            </a:r>
            <a:r>
              <a:rPr lang="en-US" sz="3199" spc="-95" strike="noStrike" u="none">
                <a:solidFill>
                  <a:srgbClr val="00FFA8"/>
                </a:solidFill>
                <a:latin typeface="TT Fors"/>
                <a:ea typeface="TT Fors"/>
                <a:cs typeface="TT Fors"/>
                <a:sym typeface="TT Fors"/>
              </a:rPr>
              <a:t>es</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no</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 guarante</a:t>
            </a:r>
            <a:r>
              <a:rPr lang="en-US" sz="3199" spc="-95" strike="noStrike" u="none">
                <a:solidFill>
                  <a:srgbClr val="00FFA8"/>
                </a:solidFill>
                <a:latin typeface="TT Fors"/>
                <a:ea typeface="TT Fors"/>
                <a:cs typeface="TT Fors"/>
                <a:sym typeface="TT Fors"/>
              </a:rPr>
              <a:t>e </a:t>
            </a:r>
            <a:r>
              <a:rPr lang="en-US" sz="3199" spc="-95" strike="noStrike" u="none">
                <a:solidFill>
                  <a:srgbClr val="00FFA8"/>
                </a:solidFill>
                <a:latin typeface="TT Fors"/>
                <a:ea typeface="TT Fors"/>
                <a:cs typeface="TT Fors"/>
                <a:sym typeface="TT Fors"/>
              </a:rPr>
              <a:t>abso</a:t>
            </a:r>
            <a:r>
              <a:rPr lang="en-US" sz="3199" spc="-95" strike="noStrike" u="none">
                <a:solidFill>
                  <a:srgbClr val="00FFA8"/>
                </a:solidFill>
                <a:latin typeface="TT Fors"/>
                <a:ea typeface="TT Fors"/>
                <a:cs typeface="TT Fors"/>
                <a:sym typeface="TT Fors"/>
              </a:rPr>
              <a:t>l</a:t>
            </a:r>
            <a:r>
              <a:rPr lang="en-US" sz="3199" spc="-95" strike="noStrike" u="none">
                <a:solidFill>
                  <a:srgbClr val="00FFA8"/>
                </a:solidFill>
                <a:latin typeface="TT Fors"/>
                <a:ea typeface="TT Fors"/>
                <a:cs typeface="TT Fors"/>
                <a:sym typeface="TT Fors"/>
              </a:rPr>
              <a:t>ute correctness. Students </a:t>
            </a:r>
            <a:r>
              <a:rPr lang="en-US" sz="3199" spc="-95" strike="noStrike" u="none">
                <a:solidFill>
                  <a:srgbClr val="00FFA8"/>
                </a:solidFill>
                <a:latin typeface="TT Fors"/>
                <a:ea typeface="TT Fors"/>
                <a:cs typeface="TT Fors"/>
                <a:sym typeface="TT Fors"/>
              </a:rPr>
              <a:t>a</a:t>
            </a:r>
            <a:r>
              <a:rPr lang="en-US" sz="3199" spc="-95" strike="noStrike" u="none">
                <a:solidFill>
                  <a:srgbClr val="00FFA8"/>
                </a:solidFill>
                <a:latin typeface="TT Fors"/>
                <a:ea typeface="TT Fors"/>
                <a:cs typeface="TT Fors"/>
                <a:sym typeface="TT Fors"/>
              </a:rPr>
              <a:t>re e</a:t>
            </a:r>
            <a:r>
              <a:rPr lang="en-US" sz="3199" spc="-95" strike="noStrike" u="none">
                <a:solidFill>
                  <a:srgbClr val="00FFA8"/>
                </a:solidFill>
                <a:latin typeface="TT Fors"/>
                <a:ea typeface="TT Fors"/>
                <a:cs typeface="TT Fors"/>
                <a:sym typeface="TT Fors"/>
              </a:rPr>
              <a:t>n</a:t>
            </a:r>
            <a:r>
              <a:rPr lang="en-US" sz="3199" spc="-95" strike="noStrike" u="none">
                <a:solidFill>
                  <a:srgbClr val="00FFA8"/>
                </a:solidFill>
                <a:latin typeface="TT Fors"/>
                <a:ea typeface="TT Fors"/>
                <a:cs typeface="TT Fors"/>
                <a:sym typeface="TT Fors"/>
              </a:rPr>
              <a:t>courage</a:t>
            </a:r>
            <a:r>
              <a:rPr lang="en-US" sz="3199" spc="-95" strike="noStrike" u="none">
                <a:solidFill>
                  <a:srgbClr val="00FFA8"/>
                </a:solidFill>
                <a:latin typeface="TT Fors"/>
                <a:ea typeface="TT Fors"/>
                <a:cs typeface="TT Fors"/>
                <a:sym typeface="TT Fors"/>
              </a:rPr>
              <a:t>d</a:t>
            </a:r>
            <a:r>
              <a:rPr lang="en-US" sz="3199" spc="-95" strike="noStrike" u="none">
                <a:solidFill>
                  <a:srgbClr val="00FFA8"/>
                </a:solidFill>
                <a:latin typeface="TT Fors"/>
                <a:ea typeface="TT Fors"/>
                <a:cs typeface="TT Fors"/>
                <a:sym typeface="TT Fors"/>
              </a:rPr>
              <a:t> to ex</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c</a:t>
            </a:r>
            <a:r>
              <a:rPr lang="en-US" sz="3199" spc="-95" strike="noStrike" u="none">
                <a:solidFill>
                  <a:srgbClr val="00FFA8"/>
                </a:solidFill>
                <a:latin typeface="TT Fors"/>
                <a:ea typeface="TT Fors"/>
                <a:cs typeface="TT Fors"/>
                <a:sym typeface="TT Fors"/>
              </a:rPr>
              <a:t>is</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 discretio</a:t>
            </a:r>
            <a:r>
              <a:rPr lang="en-US" sz="3199" spc="-95" strike="noStrike" u="none">
                <a:solidFill>
                  <a:srgbClr val="00FFA8"/>
                </a:solidFill>
                <a:latin typeface="TT Fors"/>
                <a:ea typeface="TT Fors"/>
                <a:cs typeface="TT Fors"/>
                <a:sym typeface="TT Fors"/>
              </a:rPr>
              <a:t>n</a:t>
            </a:r>
            <a:r>
              <a:rPr lang="en-US" sz="3199" spc="-95" strike="noStrike" u="none">
                <a:solidFill>
                  <a:srgbClr val="00FFA8"/>
                </a:solidFill>
                <a:latin typeface="TT Fors"/>
                <a:ea typeface="TT Fors"/>
                <a:cs typeface="TT Fors"/>
                <a:sym typeface="TT Fors"/>
              </a:rPr>
              <a:t> and</a:t>
            </a:r>
            <a:r>
              <a:rPr lang="en-US" sz="3199" spc="-95" strike="noStrike" u="none">
                <a:solidFill>
                  <a:srgbClr val="00FFA8"/>
                </a:solidFill>
                <a:latin typeface="TT Fors"/>
                <a:ea typeface="TT Fors"/>
                <a:cs typeface="TT Fors"/>
                <a:sym typeface="TT Fors"/>
              </a:rPr>
              <a:t> actively engage </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n</a:t>
            </a:r>
            <a:r>
              <a:rPr lang="en-US" sz="3199" spc="-95" strike="noStrike" u="none">
                <a:solidFill>
                  <a:srgbClr val="00FFA8"/>
                </a:solidFill>
                <a:latin typeface="TT Fors"/>
                <a:ea typeface="TT Fors"/>
                <a:cs typeface="TT Fors"/>
                <a:sym typeface="TT Fors"/>
              </a:rPr>
              <a:t> dis</a:t>
            </a:r>
            <a:r>
              <a:rPr lang="en-US" sz="3199" spc="-95" strike="noStrike" u="none">
                <a:solidFill>
                  <a:srgbClr val="00FFA8"/>
                </a:solidFill>
                <a:latin typeface="TT Fors"/>
                <a:ea typeface="TT Fors"/>
                <a:cs typeface="TT Fors"/>
                <a:sym typeface="TT Fors"/>
              </a:rPr>
              <a:t>c</a:t>
            </a:r>
            <a:r>
              <a:rPr lang="en-US" sz="3199" spc="-95" strike="noStrike" u="none">
                <a:solidFill>
                  <a:srgbClr val="00FFA8"/>
                </a:solidFill>
                <a:latin typeface="TT Fors"/>
                <a:ea typeface="TT Fors"/>
                <a:cs typeface="TT Fors"/>
                <a:sym typeface="TT Fors"/>
              </a:rPr>
              <a:t>uss</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o</a:t>
            </a:r>
            <a:r>
              <a:rPr lang="en-US" sz="3199" spc="-95" strike="noStrike" u="none">
                <a:solidFill>
                  <a:srgbClr val="00FFA8"/>
                </a:solidFill>
                <a:latin typeface="TT Fors"/>
                <a:ea typeface="TT Fors"/>
                <a:cs typeface="TT Fors"/>
                <a:sym typeface="TT Fors"/>
              </a:rPr>
              <a:t>ns </a:t>
            </a:r>
            <a:r>
              <a:rPr lang="en-US" sz="3199" spc="-95" strike="noStrike" u="none">
                <a:solidFill>
                  <a:srgbClr val="00FFA8"/>
                </a:solidFill>
                <a:latin typeface="TT Fors"/>
                <a:ea typeface="TT Fors"/>
                <a:cs typeface="TT Fors"/>
                <a:sym typeface="TT Fors"/>
              </a:rPr>
              <a:t>by r</a:t>
            </a:r>
            <a:r>
              <a:rPr lang="en-US" sz="3199" spc="-95" strike="noStrike" u="none">
                <a:solidFill>
                  <a:srgbClr val="00FFA8"/>
                </a:solidFill>
                <a:latin typeface="TT Fors"/>
                <a:ea typeface="TT Fors"/>
                <a:cs typeface="TT Fors"/>
                <a:sym typeface="TT Fors"/>
              </a:rPr>
              <a:t>a</a:t>
            </a:r>
            <a:r>
              <a:rPr lang="en-US" sz="3199" spc="-95" strike="noStrike" u="none">
                <a:solidFill>
                  <a:srgbClr val="00FFA8"/>
                </a:solidFill>
                <a:latin typeface="TT Fors"/>
                <a:ea typeface="TT Fors"/>
                <a:cs typeface="TT Fors"/>
                <a:sym typeface="TT Fors"/>
              </a:rPr>
              <a:t>isi</a:t>
            </a:r>
            <a:r>
              <a:rPr lang="en-US" sz="3199" spc="-95" strike="noStrike" u="none">
                <a:solidFill>
                  <a:srgbClr val="00FFA8"/>
                </a:solidFill>
                <a:latin typeface="TT Fors"/>
                <a:ea typeface="TT Fors"/>
                <a:cs typeface="TT Fors"/>
                <a:sym typeface="TT Fors"/>
              </a:rPr>
              <a:t>n</a:t>
            </a:r>
            <a:r>
              <a:rPr lang="en-US" sz="3199" spc="-95" strike="noStrike" u="none">
                <a:solidFill>
                  <a:srgbClr val="00FFA8"/>
                </a:solidFill>
                <a:latin typeface="TT Fors"/>
                <a:ea typeface="TT Fors"/>
                <a:cs typeface="TT Fors"/>
                <a:sym typeface="TT Fors"/>
              </a:rPr>
              <a:t>g</a:t>
            </a:r>
            <a:r>
              <a:rPr lang="en-US" sz="3199" spc="-95" strike="noStrike" u="none">
                <a:solidFill>
                  <a:srgbClr val="00FFA8"/>
                </a:solidFill>
                <a:latin typeface="TT Fors"/>
                <a:ea typeface="TT Fors"/>
                <a:cs typeface="TT Fors"/>
                <a:sym typeface="TT Fors"/>
              </a:rPr>
              <a:t> a</a:t>
            </a:r>
            <a:r>
              <a:rPr lang="en-US" sz="3199" spc="-95" strike="noStrike" u="none">
                <a:solidFill>
                  <a:srgbClr val="00FFA8"/>
                </a:solidFill>
                <a:latin typeface="TT Fors"/>
                <a:ea typeface="TT Fors"/>
                <a:cs typeface="TT Fors"/>
                <a:sym typeface="TT Fors"/>
              </a:rPr>
              <a:t>ny que</a:t>
            </a:r>
            <a:r>
              <a:rPr lang="en-US" sz="3199" spc="-95" strike="noStrike" u="none">
                <a:solidFill>
                  <a:srgbClr val="00FFA8"/>
                </a:solidFill>
                <a:latin typeface="TT Fors"/>
                <a:ea typeface="TT Fors"/>
                <a:cs typeface="TT Fors"/>
                <a:sym typeface="TT Fors"/>
              </a:rPr>
              <a:t>s</a:t>
            </a:r>
            <a:r>
              <a:rPr lang="en-US" sz="3199" spc="-95" strike="noStrike" u="none">
                <a:solidFill>
                  <a:srgbClr val="00FFA8"/>
                </a:solidFill>
                <a:latin typeface="TT Fors"/>
                <a:ea typeface="TT Fors"/>
                <a:cs typeface="TT Fors"/>
                <a:sym typeface="TT Fors"/>
              </a:rPr>
              <a:t>tions or conc</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rns</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d</a:t>
            </a:r>
            <a:r>
              <a:rPr lang="en-US" sz="3199" spc="-95" strike="noStrike" u="none">
                <a:solidFill>
                  <a:srgbClr val="00FFA8"/>
                </a:solidFill>
                <a:latin typeface="TT Fors"/>
                <a:ea typeface="TT Fors"/>
                <a:cs typeface="TT Fors"/>
                <a:sym typeface="TT Fors"/>
              </a:rPr>
              <a:t>u</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ng th</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 cour</a:t>
            </a:r>
            <a:r>
              <a:rPr lang="en-US" sz="3199" spc="-95" strike="noStrike" u="none">
                <a:solidFill>
                  <a:srgbClr val="00FFA8"/>
                </a:solidFill>
                <a:latin typeface="TT Fors"/>
                <a:ea typeface="TT Fors"/>
                <a:cs typeface="TT Fors"/>
                <a:sym typeface="TT Fors"/>
              </a:rPr>
              <a:t>s</a:t>
            </a:r>
            <a:r>
              <a:rPr lang="en-US" sz="3199" spc="-95" strike="noStrike" u="none">
                <a:solidFill>
                  <a:srgbClr val="00FFA8"/>
                </a:solidFill>
                <a:latin typeface="TT Fors"/>
                <a:ea typeface="TT Fors"/>
                <a:cs typeface="TT Fors"/>
                <a:sym typeface="TT Fors"/>
              </a:rPr>
              <a:t>e.</a:t>
            </a:r>
          </a:p>
        </p:txBody>
      </p:sp>
      <p:sp>
        <p:nvSpPr>
          <p:cNvPr name="TextBox 12" id="12"/>
          <p:cNvSpPr txBox="true"/>
          <p:nvPr/>
        </p:nvSpPr>
        <p:spPr>
          <a:xfrm rot="0">
            <a:off x="666750" y="657225"/>
            <a:ext cx="11201400" cy="923925"/>
          </a:xfrm>
          <a:prstGeom prst="rect">
            <a:avLst/>
          </a:prstGeom>
        </p:spPr>
        <p:txBody>
          <a:bodyPr anchor="t" rtlCol="false" tIns="0" lIns="0" bIns="0" rIns="0">
            <a:spAutoFit/>
          </a:bodyPr>
          <a:lstStyle/>
          <a:p>
            <a:pPr algn="l" marL="0" indent="0" lvl="0">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DISC</a:t>
            </a:r>
            <a:r>
              <a:rPr lang="en-US" sz="6000" spc="-179" strike="noStrike" u="none">
                <a:solidFill>
                  <a:srgbClr val="00FFA8"/>
                </a:solidFill>
                <a:latin typeface="ITC Avant Garde Gothic"/>
                <a:ea typeface="ITC Avant Garde Gothic"/>
                <a:cs typeface="ITC Avant Garde Gothic"/>
                <a:sym typeface="ITC Avant Garde Gothic"/>
              </a:rPr>
              <a:t>L</a:t>
            </a:r>
            <a:r>
              <a:rPr lang="en-US" sz="6000" spc="-179" strike="noStrike" u="none">
                <a:solidFill>
                  <a:srgbClr val="00FFA8"/>
                </a:solidFill>
                <a:latin typeface="ITC Avant Garde Gothic"/>
                <a:ea typeface="ITC Avant Garde Gothic"/>
                <a:cs typeface="ITC Avant Garde Gothic"/>
                <a:sym typeface="ITC Avant Garde Gothic"/>
              </a:rPr>
              <a:t>AIMER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grpSp>
        <p:nvGrpSpPr>
          <p:cNvPr name="Group 2" id="2"/>
          <p:cNvGrpSpPr/>
          <p:nvPr/>
        </p:nvGrpSpPr>
        <p:grpSpPr>
          <a:xfrm rot="0">
            <a:off x="16115522" y="770594"/>
            <a:ext cx="1505728" cy="810556"/>
            <a:chOff x="0" y="0"/>
            <a:chExt cx="2007638" cy="1080741"/>
          </a:xfrm>
        </p:grpSpPr>
        <p:grpSp>
          <p:nvGrpSpPr>
            <p:cNvPr name="Group 3" id="3"/>
            <p:cNvGrpSpPr/>
            <p:nvPr/>
          </p:nvGrpSpPr>
          <p:grpSpPr>
            <a:xfrm rot="0">
              <a:off x="0" y="0"/>
              <a:ext cx="1080741" cy="108074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926897" y="0"/>
              <a:ext cx="1080741" cy="108074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108486" y="191456"/>
              <a:ext cx="717562" cy="697829"/>
            </a:xfrm>
            <a:custGeom>
              <a:avLst/>
              <a:gdLst/>
              <a:ahLst/>
              <a:cxnLst/>
              <a:rect r="r" b="b" t="t" l="l"/>
              <a:pathLst>
                <a:path h="697829" w="717562">
                  <a:moveTo>
                    <a:pt x="0" y="0"/>
                  </a:moveTo>
                  <a:lnTo>
                    <a:pt x="717563" y="0"/>
                  </a:lnTo>
                  <a:lnTo>
                    <a:pt x="717563" y="697829"/>
                  </a:lnTo>
                  <a:lnTo>
                    <a:pt x="0" y="6978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234320" y="101015"/>
              <a:ext cx="978695" cy="707551"/>
            </a:xfrm>
            <a:custGeom>
              <a:avLst/>
              <a:gdLst/>
              <a:ahLst/>
              <a:cxnLst/>
              <a:rect r="r" b="b" t="t" l="l"/>
              <a:pathLst>
                <a:path h="707551" w="978695">
                  <a:moveTo>
                    <a:pt x="0" y="0"/>
                  </a:moveTo>
                  <a:lnTo>
                    <a:pt x="978695" y="0"/>
                  </a:lnTo>
                  <a:lnTo>
                    <a:pt x="978695" y="707551"/>
                  </a:lnTo>
                  <a:lnTo>
                    <a:pt x="0" y="707551"/>
                  </a:lnTo>
                  <a:lnTo>
                    <a:pt x="0" y="0"/>
                  </a:lnTo>
                  <a:close/>
                </a:path>
              </a:pathLst>
            </a:custGeom>
            <a:blipFill>
              <a:blip r:embed="rId5"/>
              <a:stretch>
                <a:fillRect l="0" t="0" r="-14982" b="0"/>
              </a:stretch>
            </a:blipFill>
          </p:spPr>
        </p:sp>
      </p:grpSp>
      <p:sp>
        <p:nvSpPr>
          <p:cNvPr name="TextBox 11" id="11"/>
          <p:cNvSpPr txBox="true"/>
          <p:nvPr/>
        </p:nvSpPr>
        <p:spPr>
          <a:xfrm rot="0">
            <a:off x="666750" y="2551174"/>
            <a:ext cx="16954500" cy="4547234"/>
          </a:xfrm>
          <a:prstGeom prst="rect">
            <a:avLst/>
          </a:prstGeom>
        </p:spPr>
        <p:txBody>
          <a:bodyPr anchor="t" rtlCol="false" tIns="0" lIns="0" bIns="0" rIns="0">
            <a:spAutoFit/>
          </a:bodyPr>
          <a:lstStyle/>
          <a:p>
            <a:pPr algn="l" marL="518163" indent="-259082" lvl="1">
              <a:lnSpc>
                <a:spcPts val="3600"/>
              </a:lnSpc>
              <a:buFont typeface="Arial"/>
              <a:buChar char="•"/>
            </a:pPr>
            <a:r>
              <a:rPr lang="en-US" sz="2400" spc="-72">
                <a:solidFill>
                  <a:srgbClr val="00FFA8"/>
                </a:solidFill>
                <a:latin typeface="TT Fors"/>
                <a:ea typeface="TT Fors"/>
                <a:cs typeface="TT Fors"/>
                <a:sym typeface="TT Fors"/>
              </a:rPr>
              <a:t>Understand network sniffing as an active reconnaissance and attack technique for intercepting network traffic.</a:t>
            </a:r>
          </a:p>
          <a:p>
            <a:pPr algn="l" marL="518163" indent="-259082" lvl="1">
              <a:lnSpc>
                <a:spcPts val="3600"/>
              </a:lnSpc>
              <a:buFont typeface="Arial"/>
              <a:buChar char="•"/>
            </a:pPr>
            <a:r>
              <a:rPr lang="en-US" sz="2400" spc="-72">
                <a:solidFill>
                  <a:srgbClr val="00FFA8"/>
                </a:solidFill>
                <a:latin typeface="TT Fors"/>
                <a:ea typeface="TT Fors"/>
                <a:cs typeface="TT Fors"/>
                <a:sym typeface="TT Fors"/>
              </a:rPr>
              <a:t>Distinguish between passive sniffing and active sniffing techniques, and identify appropriate network environments for each.</a:t>
            </a:r>
          </a:p>
          <a:p>
            <a:pPr algn="l" marL="518163" indent="-259082" lvl="1">
              <a:lnSpc>
                <a:spcPts val="3600"/>
              </a:lnSpc>
              <a:buFont typeface="Arial"/>
              <a:buChar char="•"/>
            </a:pPr>
            <a:r>
              <a:rPr lang="en-US" sz="2400" spc="-72">
                <a:solidFill>
                  <a:srgbClr val="00FFA8"/>
                </a:solidFill>
                <a:latin typeface="TT Fors"/>
                <a:ea typeface="TT Fors"/>
                <a:cs typeface="TT Fors"/>
                <a:sym typeface="TT Fors"/>
              </a:rPr>
              <a:t>Analyze the TCP/IP model layers to understand how data is encapsulated and transmitted across networks.</a:t>
            </a:r>
          </a:p>
          <a:p>
            <a:pPr algn="l" marL="518163" indent="-259082" lvl="1">
              <a:lnSpc>
                <a:spcPts val="3600"/>
              </a:lnSpc>
              <a:buFont typeface="Arial"/>
              <a:buChar char="•"/>
            </a:pPr>
            <a:r>
              <a:rPr lang="en-US" sz="2400" spc="-72">
                <a:solidFill>
                  <a:srgbClr val="00FFA8"/>
                </a:solidFill>
                <a:latin typeface="TT Fors"/>
                <a:ea typeface="TT Fors"/>
                <a:cs typeface="TT Fors"/>
                <a:sym typeface="TT Fors"/>
              </a:rPr>
              <a:t>Execute Man-in-the-Middle (MITM) attacks using ARP poisoning and DNS spoofing techniques in controlled lab environments.</a:t>
            </a:r>
          </a:p>
          <a:p>
            <a:pPr algn="l" marL="518163" indent="-259082" lvl="1">
              <a:lnSpc>
                <a:spcPts val="3600"/>
              </a:lnSpc>
              <a:buFont typeface="Arial"/>
              <a:buChar char="•"/>
            </a:pPr>
            <a:r>
              <a:rPr lang="en-US" sz="2400" spc="-72" strike="noStrike" u="none">
                <a:solidFill>
                  <a:srgbClr val="00FFA8"/>
                </a:solidFill>
                <a:latin typeface="TT Fors"/>
                <a:ea typeface="TT Fors"/>
                <a:cs typeface="TT Fors"/>
                <a:sym typeface="TT Fors"/>
              </a:rPr>
              <a:t>Identify </a:t>
            </a:r>
            <a:r>
              <a:rPr lang="en-US" sz="2400" spc="-72" strike="noStrike" u="none">
                <a:solidFill>
                  <a:srgbClr val="00FFA8"/>
                </a:solidFill>
                <a:latin typeface="TT Fors"/>
                <a:ea typeface="TT Fors"/>
                <a:cs typeface="TT Fors"/>
                <a:sym typeface="TT Fors"/>
              </a:rPr>
              <a:t>n</a:t>
            </a:r>
            <a:r>
              <a:rPr lang="en-US" sz="2400" spc="-72" strike="noStrike" u="none">
                <a:solidFill>
                  <a:srgbClr val="00FFA8"/>
                </a:solidFill>
                <a:latin typeface="TT Fors"/>
                <a:ea typeface="TT Fors"/>
                <a:cs typeface="TT Fors"/>
                <a:sym typeface="TT Fors"/>
              </a:rPr>
              <a:t>e</a:t>
            </a:r>
            <a:r>
              <a:rPr lang="en-US" sz="2400" spc="-72" strike="noStrike" u="none">
                <a:solidFill>
                  <a:srgbClr val="00FFA8"/>
                </a:solidFill>
                <a:latin typeface="TT Fors"/>
                <a:ea typeface="TT Fors"/>
                <a:cs typeface="TT Fors"/>
                <a:sym typeface="TT Fors"/>
              </a:rPr>
              <a:t>twork v</a:t>
            </a:r>
            <a:r>
              <a:rPr lang="en-US" sz="2400" spc="-72" strike="noStrike" u="none">
                <a:solidFill>
                  <a:srgbClr val="00FFA8"/>
                </a:solidFill>
                <a:latin typeface="TT Fors"/>
                <a:ea typeface="TT Fors"/>
                <a:cs typeface="TT Fors"/>
                <a:sym typeface="TT Fors"/>
              </a:rPr>
              <a:t>u</a:t>
            </a:r>
            <a:r>
              <a:rPr lang="en-US" sz="2400" spc="-72" strike="noStrike" u="none">
                <a:solidFill>
                  <a:srgbClr val="00FFA8"/>
                </a:solidFill>
                <a:latin typeface="TT Fors"/>
                <a:ea typeface="TT Fors"/>
                <a:cs typeface="TT Fors"/>
                <a:sym typeface="TT Fors"/>
              </a:rPr>
              <a:t>lne</a:t>
            </a:r>
            <a:r>
              <a:rPr lang="en-US" sz="2400" spc="-72" strike="noStrike" u="none">
                <a:solidFill>
                  <a:srgbClr val="00FFA8"/>
                </a:solidFill>
                <a:latin typeface="TT Fors"/>
                <a:ea typeface="TT Fors"/>
                <a:cs typeface="TT Fors"/>
                <a:sym typeface="TT Fors"/>
              </a:rPr>
              <a:t>r</a:t>
            </a:r>
            <a:r>
              <a:rPr lang="en-US" sz="2400" spc="-72" strike="noStrike" u="none">
                <a:solidFill>
                  <a:srgbClr val="00FFA8"/>
                </a:solidFill>
                <a:latin typeface="TT Fors"/>
                <a:ea typeface="TT Fors"/>
                <a:cs typeface="TT Fors"/>
                <a:sym typeface="TT Fors"/>
              </a:rPr>
              <a:t>abil</a:t>
            </a:r>
            <a:r>
              <a:rPr lang="en-US" sz="2400" spc="-72" strike="noStrike" u="none">
                <a:solidFill>
                  <a:srgbClr val="00FFA8"/>
                </a:solidFill>
                <a:latin typeface="TT Fors"/>
                <a:ea typeface="TT Fors"/>
                <a:cs typeface="TT Fors"/>
                <a:sym typeface="TT Fors"/>
              </a:rPr>
              <a:t>iti</a:t>
            </a:r>
            <a:r>
              <a:rPr lang="en-US" sz="2400" spc="-72" strike="noStrike" u="none">
                <a:solidFill>
                  <a:srgbClr val="00FFA8"/>
                </a:solidFill>
                <a:latin typeface="TT Fors"/>
                <a:ea typeface="TT Fors"/>
                <a:cs typeface="TT Fors"/>
                <a:sym typeface="TT Fors"/>
              </a:rPr>
              <a:t>e</a:t>
            </a:r>
            <a:r>
              <a:rPr lang="en-US" sz="2400" spc="-72" strike="noStrike" u="none">
                <a:solidFill>
                  <a:srgbClr val="00FFA8"/>
                </a:solidFill>
                <a:latin typeface="TT Fors"/>
                <a:ea typeface="TT Fors"/>
                <a:cs typeface="TT Fors"/>
                <a:sym typeface="TT Fors"/>
              </a:rPr>
              <a:t>s,</a:t>
            </a:r>
            <a:r>
              <a:rPr lang="en-US" sz="2400" spc="-72" strike="noStrike" u="none">
                <a:solidFill>
                  <a:srgbClr val="00FFA8"/>
                </a:solidFill>
                <a:latin typeface="TT Fors"/>
                <a:ea typeface="TT Fors"/>
                <a:cs typeface="TT Fors"/>
                <a:sym typeface="TT Fors"/>
              </a:rPr>
              <a:t> i</a:t>
            </a:r>
            <a:r>
              <a:rPr lang="en-US" sz="2400" spc="-72" strike="noStrike" u="none">
                <a:solidFill>
                  <a:srgbClr val="00FFA8"/>
                </a:solidFill>
                <a:latin typeface="TT Fors"/>
                <a:ea typeface="TT Fors"/>
                <a:cs typeface="TT Fors"/>
                <a:sym typeface="TT Fors"/>
              </a:rPr>
              <a:t>n</a:t>
            </a:r>
            <a:r>
              <a:rPr lang="en-US" sz="2400" spc="-72" strike="noStrike" u="none">
                <a:solidFill>
                  <a:srgbClr val="00FFA8"/>
                </a:solidFill>
                <a:latin typeface="TT Fors"/>
                <a:ea typeface="TT Fors"/>
                <a:cs typeface="TT Fors"/>
                <a:sym typeface="TT Fors"/>
              </a:rPr>
              <a:t>clud</a:t>
            </a:r>
            <a:r>
              <a:rPr lang="en-US" sz="2400" spc="-72" strike="noStrike" u="none">
                <a:solidFill>
                  <a:srgbClr val="00FFA8"/>
                </a:solidFill>
                <a:latin typeface="TT Fors"/>
                <a:ea typeface="TT Fors"/>
                <a:cs typeface="TT Fors"/>
                <a:sym typeface="TT Fors"/>
              </a:rPr>
              <a:t>i</a:t>
            </a:r>
            <a:r>
              <a:rPr lang="en-US" sz="2400" spc="-72" strike="noStrike" u="none">
                <a:solidFill>
                  <a:srgbClr val="00FFA8"/>
                </a:solidFill>
                <a:latin typeface="TT Fors"/>
                <a:ea typeface="TT Fors"/>
                <a:cs typeface="TT Fors"/>
                <a:sym typeface="TT Fors"/>
              </a:rPr>
              <a:t>n</a:t>
            </a:r>
            <a:r>
              <a:rPr lang="en-US" sz="2400" spc="-72" strike="noStrike" u="none">
                <a:solidFill>
                  <a:srgbClr val="00FFA8"/>
                </a:solidFill>
                <a:latin typeface="TT Fors"/>
                <a:ea typeface="TT Fors"/>
                <a:cs typeface="TT Fors"/>
                <a:sym typeface="TT Fors"/>
              </a:rPr>
              <a:t>g</a:t>
            </a:r>
            <a:r>
              <a:rPr lang="en-US" sz="2400" spc="-72" strike="noStrike" u="none">
                <a:solidFill>
                  <a:srgbClr val="00FFA8"/>
                </a:solidFill>
                <a:latin typeface="TT Fors"/>
                <a:ea typeface="TT Fors"/>
                <a:cs typeface="TT Fors"/>
                <a:sym typeface="TT Fors"/>
              </a:rPr>
              <a:t> </a:t>
            </a:r>
            <a:r>
              <a:rPr lang="en-US" sz="2400" spc="-72" strike="noStrike" u="none">
                <a:solidFill>
                  <a:srgbClr val="00FFA8"/>
                </a:solidFill>
                <a:latin typeface="TT Fors"/>
                <a:ea typeface="TT Fors"/>
                <a:cs typeface="TT Fors"/>
                <a:sym typeface="TT Fors"/>
              </a:rPr>
              <a:t>u</a:t>
            </a:r>
            <a:r>
              <a:rPr lang="en-US" sz="2400" spc="-72" strike="noStrike" u="none">
                <a:solidFill>
                  <a:srgbClr val="00FFA8"/>
                </a:solidFill>
                <a:latin typeface="TT Fors"/>
                <a:ea typeface="TT Fors"/>
                <a:cs typeface="TT Fors"/>
                <a:sym typeface="TT Fors"/>
              </a:rPr>
              <a:t>nenc</a:t>
            </a:r>
            <a:r>
              <a:rPr lang="en-US" sz="2400" spc="-72" strike="noStrike" u="none">
                <a:solidFill>
                  <a:srgbClr val="00FFA8"/>
                </a:solidFill>
                <a:latin typeface="TT Fors"/>
                <a:ea typeface="TT Fors"/>
                <a:cs typeface="TT Fors"/>
                <a:sym typeface="TT Fors"/>
              </a:rPr>
              <a:t>r</a:t>
            </a:r>
            <a:r>
              <a:rPr lang="en-US" sz="2400" spc="-72" strike="noStrike" u="none">
                <a:solidFill>
                  <a:srgbClr val="00FFA8"/>
                </a:solidFill>
                <a:latin typeface="TT Fors"/>
                <a:ea typeface="TT Fors"/>
                <a:cs typeface="TT Fors"/>
                <a:sym typeface="TT Fors"/>
              </a:rPr>
              <a:t>yp</a:t>
            </a:r>
            <a:r>
              <a:rPr lang="en-US" sz="2400" spc="-72" strike="noStrike" u="none">
                <a:solidFill>
                  <a:srgbClr val="00FFA8"/>
                </a:solidFill>
                <a:latin typeface="TT Fors"/>
                <a:ea typeface="TT Fors"/>
                <a:cs typeface="TT Fors"/>
                <a:sym typeface="TT Fors"/>
              </a:rPr>
              <a:t>t</a:t>
            </a:r>
            <a:r>
              <a:rPr lang="en-US" sz="2400" spc="-72" strike="noStrike" u="none">
                <a:solidFill>
                  <a:srgbClr val="00FFA8"/>
                </a:solidFill>
                <a:latin typeface="TT Fors"/>
                <a:ea typeface="TT Fors"/>
                <a:cs typeface="TT Fors"/>
                <a:sym typeface="TT Fors"/>
              </a:rPr>
              <a:t>ed</a:t>
            </a:r>
            <a:r>
              <a:rPr lang="en-US" sz="2400" spc="-72" strike="noStrike" u="none">
                <a:solidFill>
                  <a:srgbClr val="00FFA8"/>
                </a:solidFill>
                <a:latin typeface="TT Fors"/>
                <a:ea typeface="TT Fors"/>
                <a:cs typeface="TT Fors"/>
                <a:sym typeface="TT Fors"/>
              </a:rPr>
              <a:t> </a:t>
            </a:r>
            <a:r>
              <a:rPr lang="en-US" sz="2400" spc="-72" strike="noStrike" u="none">
                <a:solidFill>
                  <a:srgbClr val="00FFA8"/>
                </a:solidFill>
                <a:latin typeface="TT Fors"/>
                <a:ea typeface="TT Fors"/>
                <a:cs typeface="TT Fors"/>
                <a:sym typeface="TT Fors"/>
              </a:rPr>
              <a:t>pro</a:t>
            </a:r>
            <a:r>
              <a:rPr lang="en-US" sz="2400" spc="-72" strike="noStrike" u="none">
                <a:solidFill>
                  <a:srgbClr val="00FFA8"/>
                </a:solidFill>
                <a:latin typeface="TT Fors"/>
                <a:ea typeface="TT Fors"/>
                <a:cs typeface="TT Fors"/>
                <a:sym typeface="TT Fors"/>
              </a:rPr>
              <a:t>t</a:t>
            </a:r>
            <a:r>
              <a:rPr lang="en-US" sz="2400" spc="-72" strike="noStrike" u="none">
                <a:solidFill>
                  <a:srgbClr val="00FFA8"/>
                </a:solidFill>
                <a:latin typeface="TT Fors"/>
                <a:ea typeface="TT Fors"/>
                <a:cs typeface="TT Fors"/>
                <a:sym typeface="TT Fors"/>
              </a:rPr>
              <a:t>o</a:t>
            </a:r>
            <a:r>
              <a:rPr lang="en-US" sz="2400" spc="-72" strike="noStrike" u="none">
                <a:solidFill>
                  <a:srgbClr val="00FFA8"/>
                </a:solidFill>
                <a:latin typeface="TT Fors"/>
                <a:ea typeface="TT Fors"/>
                <a:cs typeface="TT Fors"/>
                <a:sym typeface="TT Fors"/>
              </a:rPr>
              <a:t>col</a:t>
            </a:r>
            <a:r>
              <a:rPr lang="en-US" sz="2400" spc="-72" strike="noStrike" u="none">
                <a:solidFill>
                  <a:srgbClr val="00FFA8"/>
                </a:solidFill>
                <a:latin typeface="TT Fors"/>
                <a:ea typeface="TT Fors"/>
                <a:cs typeface="TT Fors"/>
                <a:sym typeface="TT Fors"/>
              </a:rPr>
              <a:t>s,</a:t>
            </a:r>
            <a:r>
              <a:rPr lang="en-US" sz="2400" spc="-72" strike="noStrike" u="none">
                <a:solidFill>
                  <a:srgbClr val="00FFA8"/>
                </a:solidFill>
                <a:latin typeface="TT Fors"/>
                <a:ea typeface="TT Fors"/>
                <a:cs typeface="TT Fors"/>
                <a:sym typeface="TT Fors"/>
              </a:rPr>
              <a:t> </a:t>
            </a:r>
            <a:r>
              <a:rPr lang="en-US" sz="2400" spc="-72" strike="noStrike" u="none">
                <a:solidFill>
                  <a:srgbClr val="00FFA8"/>
                </a:solidFill>
                <a:latin typeface="TT Fors"/>
                <a:ea typeface="TT Fors"/>
                <a:cs typeface="TT Fors"/>
                <a:sym typeface="TT Fors"/>
              </a:rPr>
              <a:t>w</a:t>
            </a:r>
            <a:r>
              <a:rPr lang="en-US" sz="2400" spc="-72" strike="noStrike" u="none">
                <a:solidFill>
                  <a:srgbClr val="00FFA8"/>
                </a:solidFill>
                <a:latin typeface="TT Fors"/>
                <a:ea typeface="TT Fors"/>
                <a:cs typeface="TT Fors"/>
                <a:sym typeface="TT Fors"/>
              </a:rPr>
              <a:t>ea</a:t>
            </a:r>
            <a:r>
              <a:rPr lang="en-US" sz="2400" spc="-72" strike="noStrike" u="none">
                <a:solidFill>
                  <a:srgbClr val="00FFA8"/>
                </a:solidFill>
                <a:latin typeface="TT Fors"/>
                <a:ea typeface="TT Fors"/>
                <a:cs typeface="TT Fors"/>
                <a:sym typeface="TT Fors"/>
              </a:rPr>
              <a:t>k</a:t>
            </a:r>
            <a:r>
              <a:rPr lang="en-US" sz="2400" spc="-72" strike="noStrike" u="none">
                <a:solidFill>
                  <a:srgbClr val="00FFA8"/>
                </a:solidFill>
                <a:latin typeface="TT Fors"/>
                <a:ea typeface="TT Fors"/>
                <a:cs typeface="TT Fors"/>
                <a:sym typeface="TT Fors"/>
              </a:rPr>
              <a:t> </a:t>
            </a:r>
            <a:r>
              <a:rPr lang="en-US" sz="2400" spc="-72" strike="noStrike" u="none">
                <a:solidFill>
                  <a:srgbClr val="00FFA8"/>
                </a:solidFill>
                <a:latin typeface="TT Fors"/>
                <a:ea typeface="TT Fors"/>
                <a:cs typeface="TT Fors"/>
                <a:sym typeface="TT Fors"/>
              </a:rPr>
              <a:t>ARP</a:t>
            </a:r>
            <a:r>
              <a:rPr lang="en-US" sz="2400" spc="-72" strike="noStrike" u="none">
                <a:solidFill>
                  <a:srgbClr val="00FFA8"/>
                </a:solidFill>
                <a:latin typeface="TT Fors"/>
                <a:ea typeface="TT Fors"/>
                <a:cs typeface="TT Fors"/>
                <a:sym typeface="TT Fors"/>
              </a:rPr>
              <a:t> auth</a:t>
            </a:r>
            <a:r>
              <a:rPr lang="en-US" sz="2400" spc="-72" strike="noStrike" u="none">
                <a:solidFill>
                  <a:srgbClr val="00FFA8"/>
                </a:solidFill>
                <a:latin typeface="TT Fors"/>
                <a:ea typeface="TT Fors"/>
                <a:cs typeface="TT Fors"/>
                <a:sym typeface="TT Fors"/>
              </a:rPr>
              <a:t>enticati</a:t>
            </a:r>
            <a:r>
              <a:rPr lang="en-US" sz="2400" spc="-72" strike="noStrike" u="none">
                <a:solidFill>
                  <a:srgbClr val="00FFA8"/>
                </a:solidFill>
                <a:latin typeface="TT Fors"/>
                <a:ea typeface="TT Fors"/>
                <a:cs typeface="TT Fors"/>
                <a:sym typeface="TT Fors"/>
              </a:rPr>
              <a:t>o</a:t>
            </a:r>
            <a:r>
              <a:rPr lang="en-US" sz="2400" spc="-72" strike="noStrike" u="none">
                <a:solidFill>
                  <a:srgbClr val="00FFA8"/>
                </a:solidFill>
                <a:latin typeface="TT Fors"/>
                <a:ea typeface="TT Fors"/>
                <a:cs typeface="TT Fors"/>
                <a:sym typeface="TT Fors"/>
              </a:rPr>
              <a:t>n, and </a:t>
            </a:r>
            <a:r>
              <a:rPr lang="en-US" sz="2400" spc="-72" strike="noStrike" u="none">
                <a:solidFill>
                  <a:srgbClr val="00FFA8"/>
                </a:solidFill>
                <a:latin typeface="TT Fors"/>
                <a:ea typeface="TT Fors"/>
                <a:cs typeface="TT Fors"/>
                <a:sym typeface="TT Fors"/>
              </a:rPr>
              <a:t>r</a:t>
            </a:r>
            <a:r>
              <a:rPr lang="en-US" sz="2400" spc="-72" strike="noStrike" u="none">
                <a:solidFill>
                  <a:srgbClr val="00FFA8"/>
                </a:solidFill>
                <a:latin typeface="TT Fors"/>
                <a:ea typeface="TT Fors"/>
                <a:cs typeface="TT Fors"/>
                <a:sym typeface="TT Fors"/>
              </a:rPr>
              <a:t>ogu</a:t>
            </a:r>
            <a:r>
              <a:rPr lang="en-US" sz="2400" spc="-72" strike="noStrike" u="none">
                <a:solidFill>
                  <a:srgbClr val="00FFA8"/>
                </a:solidFill>
                <a:latin typeface="TT Fors"/>
                <a:ea typeface="TT Fors"/>
                <a:cs typeface="TT Fors"/>
                <a:sym typeface="TT Fors"/>
              </a:rPr>
              <a:t>e </a:t>
            </a:r>
            <a:r>
              <a:rPr lang="en-US" sz="2400" spc="-72" strike="noStrike" u="none">
                <a:solidFill>
                  <a:srgbClr val="00FFA8"/>
                </a:solidFill>
                <a:latin typeface="TT Fors"/>
                <a:ea typeface="TT Fors"/>
                <a:cs typeface="TT Fors"/>
                <a:sym typeface="TT Fors"/>
              </a:rPr>
              <a:t>DHCP serv</a:t>
            </a:r>
            <a:r>
              <a:rPr lang="en-US" sz="2400" spc="-72" strike="noStrike" u="none">
                <a:solidFill>
                  <a:srgbClr val="00FFA8"/>
                </a:solidFill>
                <a:latin typeface="TT Fors"/>
                <a:ea typeface="TT Fors"/>
                <a:cs typeface="TT Fors"/>
                <a:sym typeface="TT Fors"/>
              </a:rPr>
              <a:t>e</a:t>
            </a:r>
            <a:r>
              <a:rPr lang="en-US" sz="2400" spc="-72" strike="noStrike" u="none">
                <a:solidFill>
                  <a:srgbClr val="00FFA8"/>
                </a:solidFill>
                <a:latin typeface="TT Fors"/>
                <a:ea typeface="TT Fors"/>
                <a:cs typeface="TT Fors"/>
                <a:sym typeface="TT Fors"/>
              </a:rPr>
              <a:t>r</a:t>
            </a:r>
            <a:r>
              <a:rPr lang="en-US" sz="2400" spc="-72" strike="noStrike" u="none">
                <a:solidFill>
                  <a:srgbClr val="00FFA8"/>
                </a:solidFill>
                <a:latin typeface="TT Fors"/>
                <a:ea typeface="TT Fors"/>
                <a:cs typeface="TT Fors"/>
                <a:sym typeface="TT Fors"/>
              </a:rPr>
              <a:t>s.</a:t>
            </a:r>
          </a:p>
          <a:p>
            <a:pPr algn="l" marL="518163" indent="-259082" lvl="1">
              <a:lnSpc>
                <a:spcPts val="3600"/>
              </a:lnSpc>
              <a:buFont typeface="Arial"/>
              <a:buChar char="•"/>
            </a:pPr>
            <a:r>
              <a:rPr lang="en-US" sz="2400" spc="-72" strike="noStrike" u="none">
                <a:solidFill>
                  <a:srgbClr val="00FFA8"/>
                </a:solidFill>
                <a:latin typeface="TT Fors"/>
                <a:ea typeface="TT Fors"/>
                <a:cs typeface="TT Fors"/>
                <a:sym typeface="TT Fors"/>
              </a:rPr>
              <a:t>Apply </a:t>
            </a:r>
            <a:r>
              <a:rPr lang="en-US" sz="2400" spc="-72" strike="noStrike" u="none">
                <a:solidFill>
                  <a:srgbClr val="00FFA8"/>
                </a:solidFill>
                <a:latin typeface="TT Fors"/>
                <a:ea typeface="TT Fors"/>
                <a:cs typeface="TT Fors"/>
                <a:sym typeface="TT Fors"/>
              </a:rPr>
              <a:t>def</a:t>
            </a:r>
            <a:r>
              <a:rPr lang="en-US" sz="2400" spc="-72" strike="noStrike" u="none">
                <a:solidFill>
                  <a:srgbClr val="00FFA8"/>
                </a:solidFill>
                <a:latin typeface="TT Fors"/>
                <a:ea typeface="TT Fors"/>
                <a:cs typeface="TT Fors"/>
                <a:sym typeface="TT Fors"/>
              </a:rPr>
              <a:t>en</a:t>
            </a:r>
            <a:r>
              <a:rPr lang="en-US" sz="2400" spc="-72" strike="noStrike" u="none">
                <a:solidFill>
                  <a:srgbClr val="00FFA8"/>
                </a:solidFill>
                <a:latin typeface="TT Fors"/>
                <a:ea typeface="TT Fors"/>
                <a:cs typeface="TT Fors"/>
                <a:sym typeface="TT Fors"/>
              </a:rPr>
              <a:t>sive co</a:t>
            </a:r>
            <a:r>
              <a:rPr lang="en-US" sz="2400" spc="-72" strike="noStrike" u="none">
                <a:solidFill>
                  <a:srgbClr val="00FFA8"/>
                </a:solidFill>
                <a:latin typeface="TT Fors"/>
                <a:ea typeface="TT Fors"/>
                <a:cs typeface="TT Fors"/>
                <a:sym typeface="TT Fors"/>
              </a:rPr>
              <a:t>u</a:t>
            </a:r>
            <a:r>
              <a:rPr lang="en-US" sz="2400" spc="-72" strike="noStrike" u="none">
                <a:solidFill>
                  <a:srgbClr val="00FFA8"/>
                </a:solidFill>
                <a:latin typeface="TT Fors"/>
                <a:ea typeface="TT Fors"/>
                <a:cs typeface="TT Fors"/>
                <a:sym typeface="TT Fors"/>
              </a:rPr>
              <a:t>nter</a:t>
            </a:r>
            <a:r>
              <a:rPr lang="en-US" sz="2400" spc="-72" strike="noStrike" u="none">
                <a:solidFill>
                  <a:srgbClr val="00FFA8"/>
                </a:solidFill>
                <a:latin typeface="TT Fors"/>
                <a:ea typeface="TT Fors"/>
                <a:cs typeface="TT Fors"/>
                <a:sym typeface="TT Fors"/>
              </a:rPr>
              <a:t>me</a:t>
            </a:r>
            <a:r>
              <a:rPr lang="en-US" sz="2400" spc="-72" strike="noStrike" u="none">
                <a:solidFill>
                  <a:srgbClr val="00FFA8"/>
                </a:solidFill>
                <a:latin typeface="TT Fors"/>
                <a:ea typeface="TT Fors"/>
                <a:cs typeface="TT Fors"/>
                <a:sym typeface="TT Fors"/>
              </a:rPr>
              <a:t>asu</a:t>
            </a:r>
            <a:r>
              <a:rPr lang="en-US" sz="2400" spc="-72" strike="noStrike" u="none">
                <a:solidFill>
                  <a:srgbClr val="00FFA8"/>
                </a:solidFill>
                <a:latin typeface="TT Fors"/>
                <a:ea typeface="TT Fors"/>
                <a:cs typeface="TT Fors"/>
                <a:sym typeface="TT Fors"/>
              </a:rPr>
              <a:t>r</a:t>
            </a:r>
            <a:r>
              <a:rPr lang="en-US" sz="2400" spc="-72" strike="noStrike" u="none">
                <a:solidFill>
                  <a:srgbClr val="00FFA8"/>
                </a:solidFill>
                <a:latin typeface="TT Fors"/>
                <a:ea typeface="TT Fors"/>
                <a:cs typeface="TT Fors"/>
                <a:sym typeface="TT Fors"/>
              </a:rPr>
              <a:t>es such </a:t>
            </a:r>
            <a:r>
              <a:rPr lang="en-US" sz="2400" spc="-72" strike="noStrike" u="none">
                <a:solidFill>
                  <a:srgbClr val="00FFA8"/>
                </a:solidFill>
                <a:latin typeface="TT Fors"/>
                <a:ea typeface="TT Fors"/>
                <a:cs typeface="TT Fors"/>
                <a:sym typeface="TT Fors"/>
              </a:rPr>
              <a:t>a</a:t>
            </a:r>
            <a:r>
              <a:rPr lang="en-US" sz="2400" spc="-72" strike="noStrike" u="none">
                <a:solidFill>
                  <a:srgbClr val="00FFA8"/>
                </a:solidFill>
                <a:latin typeface="TT Fors"/>
                <a:ea typeface="TT Fors"/>
                <a:cs typeface="TT Fors"/>
                <a:sym typeface="TT Fors"/>
              </a:rPr>
              <a:t>s encryp</a:t>
            </a:r>
            <a:r>
              <a:rPr lang="en-US" sz="2400" spc="-72" strike="noStrike" u="none">
                <a:solidFill>
                  <a:srgbClr val="00FFA8"/>
                </a:solidFill>
                <a:latin typeface="TT Fors"/>
                <a:ea typeface="TT Fors"/>
                <a:cs typeface="TT Fors"/>
                <a:sym typeface="TT Fors"/>
              </a:rPr>
              <a:t>tion </a:t>
            </a:r>
            <a:r>
              <a:rPr lang="en-US" sz="2400" spc="-72" strike="noStrike" u="none">
                <a:solidFill>
                  <a:srgbClr val="00FFA8"/>
                </a:solidFill>
                <a:latin typeface="TT Fors"/>
                <a:ea typeface="TT Fors"/>
                <a:cs typeface="TT Fors"/>
                <a:sym typeface="TT Fors"/>
              </a:rPr>
              <a:t>(HTTPS/TLS/VPN), ne</a:t>
            </a:r>
            <a:r>
              <a:rPr lang="en-US" sz="2400" spc="-72" strike="noStrike" u="none">
                <a:solidFill>
                  <a:srgbClr val="00FFA8"/>
                </a:solidFill>
                <a:latin typeface="TT Fors"/>
                <a:ea typeface="TT Fors"/>
                <a:cs typeface="TT Fors"/>
                <a:sym typeface="TT Fors"/>
              </a:rPr>
              <a:t>t</a:t>
            </a:r>
            <a:r>
              <a:rPr lang="en-US" sz="2400" spc="-72" strike="noStrike" u="none">
                <a:solidFill>
                  <a:srgbClr val="00FFA8"/>
                </a:solidFill>
                <a:latin typeface="TT Fors"/>
                <a:ea typeface="TT Fors"/>
                <a:cs typeface="TT Fors"/>
                <a:sym typeface="TT Fors"/>
              </a:rPr>
              <a:t>w</a:t>
            </a:r>
            <a:r>
              <a:rPr lang="en-US" sz="2400" spc="-72" strike="noStrike" u="none">
                <a:solidFill>
                  <a:srgbClr val="00FFA8"/>
                </a:solidFill>
                <a:latin typeface="TT Fors"/>
                <a:ea typeface="TT Fors"/>
                <a:cs typeface="TT Fors"/>
                <a:sym typeface="TT Fors"/>
              </a:rPr>
              <a:t>o</a:t>
            </a:r>
            <a:r>
              <a:rPr lang="en-US" sz="2400" spc="-72" strike="noStrike" u="none">
                <a:solidFill>
                  <a:srgbClr val="00FFA8"/>
                </a:solidFill>
                <a:latin typeface="TT Fors"/>
                <a:ea typeface="TT Fors"/>
                <a:cs typeface="TT Fors"/>
                <a:sym typeface="TT Fors"/>
              </a:rPr>
              <a:t>rk m</a:t>
            </a:r>
            <a:r>
              <a:rPr lang="en-US" sz="2400" spc="-72" strike="noStrike" u="none">
                <a:solidFill>
                  <a:srgbClr val="00FFA8"/>
                </a:solidFill>
                <a:latin typeface="TT Fors"/>
                <a:ea typeface="TT Fors"/>
                <a:cs typeface="TT Fors"/>
                <a:sym typeface="TT Fors"/>
              </a:rPr>
              <a:t>o</a:t>
            </a:r>
            <a:r>
              <a:rPr lang="en-US" sz="2400" spc="-72" strike="noStrike" u="none">
                <a:solidFill>
                  <a:srgbClr val="00FFA8"/>
                </a:solidFill>
                <a:latin typeface="TT Fors"/>
                <a:ea typeface="TT Fors"/>
                <a:cs typeface="TT Fors"/>
                <a:sym typeface="TT Fors"/>
              </a:rPr>
              <a:t>nitoring</a:t>
            </a:r>
            <a:r>
              <a:rPr lang="en-US" sz="2400" spc="-72" strike="noStrike" u="none">
                <a:solidFill>
                  <a:srgbClr val="00FFA8"/>
                </a:solidFill>
                <a:latin typeface="TT Fors"/>
                <a:ea typeface="TT Fors"/>
                <a:cs typeface="TT Fors"/>
                <a:sym typeface="TT Fors"/>
              </a:rPr>
              <a:t> </a:t>
            </a:r>
            <a:r>
              <a:rPr lang="en-US" sz="2400" spc="-72" strike="noStrike" u="none">
                <a:solidFill>
                  <a:srgbClr val="00FFA8"/>
                </a:solidFill>
                <a:latin typeface="TT Fors"/>
                <a:ea typeface="TT Fors"/>
                <a:cs typeface="TT Fors"/>
                <a:sym typeface="TT Fors"/>
              </a:rPr>
              <a:t>(IDS/IPS), and ARP insp</a:t>
            </a:r>
            <a:r>
              <a:rPr lang="en-US" sz="2400" spc="-72" strike="noStrike" u="none">
                <a:solidFill>
                  <a:srgbClr val="00FFA8"/>
                </a:solidFill>
                <a:latin typeface="TT Fors"/>
                <a:ea typeface="TT Fors"/>
                <a:cs typeface="TT Fors"/>
                <a:sym typeface="TT Fors"/>
              </a:rPr>
              <a:t>ecti</a:t>
            </a:r>
            <a:r>
              <a:rPr lang="en-US" sz="2400" spc="-72" strike="noStrike" u="none">
                <a:solidFill>
                  <a:srgbClr val="00FFA8"/>
                </a:solidFill>
                <a:latin typeface="TT Fors"/>
                <a:ea typeface="TT Fors"/>
                <a:cs typeface="TT Fors"/>
                <a:sym typeface="TT Fors"/>
              </a:rPr>
              <a:t>on to pre</a:t>
            </a:r>
            <a:r>
              <a:rPr lang="en-US" sz="2400" spc="-72" strike="noStrike" u="none">
                <a:solidFill>
                  <a:srgbClr val="00FFA8"/>
                </a:solidFill>
                <a:latin typeface="TT Fors"/>
                <a:ea typeface="TT Fors"/>
                <a:cs typeface="TT Fors"/>
                <a:sym typeface="TT Fors"/>
              </a:rPr>
              <a:t>ve</a:t>
            </a:r>
            <a:r>
              <a:rPr lang="en-US" sz="2400" spc="-72" strike="noStrike" u="none">
                <a:solidFill>
                  <a:srgbClr val="00FFA8"/>
                </a:solidFill>
                <a:latin typeface="TT Fors"/>
                <a:ea typeface="TT Fors"/>
                <a:cs typeface="TT Fors"/>
                <a:sym typeface="TT Fors"/>
              </a:rPr>
              <a:t>nt</a:t>
            </a:r>
            <a:r>
              <a:rPr lang="en-US" sz="2400" spc="-72" strike="noStrike" u="none">
                <a:solidFill>
                  <a:srgbClr val="00FFA8"/>
                </a:solidFill>
                <a:latin typeface="TT Fors"/>
                <a:ea typeface="TT Fors"/>
                <a:cs typeface="TT Fors"/>
                <a:sym typeface="TT Fors"/>
              </a:rPr>
              <a:t> </a:t>
            </a:r>
            <a:r>
              <a:rPr lang="en-US" sz="2400" spc="-72" strike="noStrike" u="none">
                <a:solidFill>
                  <a:srgbClr val="00FFA8"/>
                </a:solidFill>
                <a:latin typeface="TT Fors"/>
                <a:ea typeface="TT Fors"/>
                <a:cs typeface="TT Fors"/>
                <a:sym typeface="TT Fors"/>
              </a:rPr>
              <a:t>sniff</a:t>
            </a:r>
            <a:r>
              <a:rPr lang="en-US" sz="2400" spc="-72" strike="noStrike" u="none">
                <a:solidFill>
                  <a:srgbClr val="00FFA8"/>
                </a:solidFill>
                <a:latin typeface="TT Fors"/>
                <a:ea typeface="TT Fors"/>
                <a:cs typeface="TT Fors"/>
                <a:sym typeface="TT Fors"/>
              </a:rPr>
              <a:t>in</a:t>
            </a:r>
            <a:r>
              <a:rPr lang="en-US" sz="2400" spc="-72" strike="noStrike" u="none">
                <a:solidFill>
                  <a:srgbClr val="00FFA8"/>
                </a:solidFill>
                <a:latin typeface="TT Fors"/>
                <a:ea typeface="TT Fors"/>
                <a:cs typeface="TT Fors"/>
                <a:sym typeface="TT Fors"/>
              </a:rPr>
              <a:t>g</a:t>
            </a:r>
            <a:r>
              <a:rPr lang="en-US" sz="2400" spc="-72" strike="noStrike" u="none">
                <a:solidFill>
                  <a:srgbClr val="00FFA8"/>
                </a:solidFill>
                <a:latin typeface="TT Fors"/>
                <a:ea typeface="TT Fors"/>
                <a:cs typeface="TT Fors"/>
                <a:sym typeface="TT Fors"/>
              </a:rPr>
              <a:t> a</a:t>
            </a:r>
            <a:r>
              <a:rPr lang="en-US" sz="2400" spc="-72" strike="noStrike" u="none">
                <a:solidFill>
                  <a:srgbClr val="00FFA8"/>
                </a:solidFill>
                <a:latin typeface="TT Fors"/>
                <a:ea typeface="TT Fors"/>
                <a:cs typeface="TT Fors"/>
                <a:sym typeface="TT Fors"/>
              </a:rPr>
              <a:t>ttacks.</a:t>
            </a:r>
          </a:p>
          <a:p>
            <a:pPr algn="l" marL="518163" indent="-259082" lvl="1">
              <a:lnSpc>
                <a:spcPts val="3600"/>
              </a:lnSpc>
              <a:buFont typeface="Arial"/>
              <a:buChar char="•"/>
            </a:pPr>
            <a:r>
              <a:rPr lang="en-US" sz="2400" spc="-72" strike="noStrike" u="none">
                <a:solidFill>
                  <a:srgbClr val="00FFA8"/>
                </a:solidFill>
                <a:latin typeface="TT Fors"/>
                <a:ea typeface="TT Fors"/>
                <a:cs typeface="TT Fors"/>
                <a:sym typeface="TT Fors"/>
              </a:rPr>
              <a:t>Eval</a:t>
            </a:r>
            <a:r>
              <a:rPr lang="en-US" sz="2400" spc="-72" strike="noStrike" u="none">
                <a:solidFill>
                  <a:srgbClr val="00FFA8"/>
                </a:solidFill>
                <a:latin typeface="TT Fors"/>
                <a:ea typeface="TT Fors"/>
                <a:cs typeface="TT Fors"/>
                <a:sym typeface="TT Fors"/>
              </a:rPr>
              <a:t>u</a:t>
            </a:r>
            <a:r>
              <a:rPr lang="en-US" sz="2400" spc="-72" strike="noStrike" u="none">
                <a:solidFill>
                  <a:srgbClr val="00FFA8"/>
                </a:solidFill>
                <a:latin typeface="TT Fors"/>
                <a:ea typeface="TT Fors"/>
                <a:cs typeface="TT Fors"/>
                <a:sym typeface="TT Fors"/>
              </a:rPr>
              <a:t>a</a:t>
            </a:r>
            <a:r>
              <a:rPr lang="en-US" sz="2400" spc="-72" strike="noStrike" u="none">
                <a:solidFill>
                  <a:srgbClr val="00FFA8"/>
                </a:solidFill>
                <a:latin typeface="TT Fors"/>
                <a:ea typeface="TT Fors"/>
                <a:cs typeface="TT Fors"/>
                <a:sym typeface="TT Fors"/>
              </a:rPr>
              <a:t>t</a:t>
            </a:r>
            <a:r>
              <a:rPr lang="en-US" sz="2400" spc="-72" strike="noStrike" u="none">
                <a:solidFill>
                  <a:srgbClr val="00FFA8"/>
                </a:solidFill>
                <a:latin typeface="TT Fors"/>
                <a:ea typeface="TT Fors"/>
                <a:cs typeface="TT Fors"/>
                <a:sym typeface="TT Fors"/>
              </a:rPr>
              <a:t>e real-w</a:t>
            </a:r>
            <a:r>
              <a:rPr lang="en-US" sz="2400" spc="-72" strike="noStrike" u="none">
                <a:solidFill>
                  <a:srgbClr val="00FFA8"/>
                </a:solidFill>
                <a:latin typeface="TT Fors"/>
                <a:ea typeface="TT Fors"/>
                <a:cs typeface="TT Fors"/>
                <a:sym typeface="TT Fors"/>
              </a:rPr>
              <a:t>or</a:t>
            </a:r>
            <a:r>
              <a:rPr lang="en-US" sz="2400" spc="-72" strike="noStrike" u="none">
                <a:solidFill>
                  <a:srgbClr val="00FFA8"/>
                </a:solidFill>
                <a:latin typeface="TT Fors"/>
                <a:ea typeface="TT Fors"/>
                <a:cs typeface="TT Fors"/>
                <a:sym typeface="TT Fors"/>
              </a:rPr>
              <a:t>ld attack scenar</a:t>
            </a:r>
            <a:r>
              <a:rPr lang="en-US" sz="2400" spc="-72" strike="noStrike" u="none">
                <a:solidFill>
                  <a:srgbClr val="00FFA8"/>
                </a:solidFill>
                <a:latin typeface="TT Fors"/>
                <a:ea typeface="TT Fors"/>
                <a:cs typeface="TT Fors"/>
                <a:sym typeface="TT Fors"/>
              </a:rPr>
              <a:t>i</a:t>
            </a:r>
            <a:r>
              <a:rPr lang="en-US" sz="2400" spc="-72" strike="noStrike" u="none">
                <a:solidFill>
                  <a:srgbClr val="00FFA8"/>
                </a:solidFill>
                <a:latin typeface="TT Fors"/>
                <a:ea typeface="TT Fors"/>
                <a:cs typeface="TT Fors"/>
                <a:sym typeface="TT Fors"/>
              </a:rPr>
              <a:t>os and r</a:t>
            </a:r>
            <a:r>
              <a:rPr lang="en-US" sz="2400" spc="-72" strike="noStrike" u="none">
                <a:solidFill>
                  <a:srgbClr val="00FFA8"/>
                </a:solidFill>
                <a:latin typeface="TT Fors"/>
                <a:ea typeface="TT Fors"/>
                <a:cs typeface="TT Fors"/>
                <a:sym typeface="TT Fors"/>
              </a:rPr>
              <a:t>e</a:t>
            </a:r>
            <a:r>
              <a:rPr lang="en-US" sz="2400" spc="-72" strike="noStrike" u="none">
                <a:solidFill>
                  <a:srgbClr val="00FFA8"/>
                </a:solidFill>
                <a:latin typeface="TT Fors"/>
                <a:ea typeface="TT Fors"/>
                <a:cs typeface="TT Fors"/>
                <a:sym typeface="TT Fors"/>
              </a:rPr>
              <a:t>commen</a:t>
            </a:r>
            <a:r>
              <a:rPr lang="en-US" sz="2400" spc="-72" strike="noStrike" u="none">
                <a:solidFill>
                  <a:srgbClr val="00FFA8"/>
                </a:solidFill>
                <a:latin typeface="TT Fors"/>
                <a:ea typeface="TT Fors"/>
                <a:cs typeface="TT Fors"/>
                <a:sym typeface="TT Fors"/>
              </a:rPr>
              <a:t>d </a:t>
            </a:r>
            <a:r>
              <a:rPr lang="en-US" sz="2400" spc="-72" strike="noStrike" u="none">
                <a:solidFill>
                  <a:srgbClr val="00FFA8"/>
                </a:solidFill>
                <a:latin typeface="TT Fors"/>
                <a:ea typeface="TT Fors"/>
                <a:cs typeface="TT Fors"/>
                <a:sym typeface="TT Fors"/>
              </a:rPr>
              <a:t>a</a:t>
            </a:r>
            <a:r>
              <a:rPr lang="en-US" sz="2400" spc="-72" strike="noStrike" u="none">
                <a:solidFill>
                  <a:srgbClr val="00FFA8"/>
                </a:solidFill>
                <a:latin typeface="TT Fors"/>
                <a:ea typeface="TT Fors"/>
                <a:cs typeface="TT Fors"/>
                <a:sym typeface="TT Fors"/>
              </a:rPr>
              <a:t>p</a:t>
            </a:r>
            <a:r>
              <a:rPr lang="en-US" sz="2400" spc="-72" strike="noStrike" u="none">
                <a:solidFill>
                  <a:srgbClr val="00FFA8"/>
                </a:solidFill>
                <a:latin typeface="TT Fors"/>
                <a:ea typeface="TT Fors"/>
                <a:cs typeface="TT Fors"/>
                <a:sym typeface="TT Fors"/>
              </a:rPr>
              <a:t>propriat</a:t>
            </a:r>
            <a:r>
              <a:rPr lang="en-US" sz="2400" spc="-72" strike="noStrike" u="none">
                <a:solidFill>
                  <a:srgbClr val="00FFA8"/>
                </a:solidFill>
                <a:latin typeface="TT Fors"/>
                <a:ea typeface="TT Fors"/>
                <a:cs typeface="TT Fors"/>
                <a:sym typeface="TT Fors"/>
              </a:rPr>
              <a:t>e</a:t>
            </a:r>
            <a:r>
              <a:rPr lang="en-US" sz="2400" spc="-72" strike="noStrike" u="none">
                <a:solidFill>
                  <a:srgbClr val="00FFA8"/>
                </a:solidFill>
                <a:latin typeface="TT Fors"/>
                <a:ea typeface="TT Fors"/>
                <a:cs typeface="TT Fors"/>
                <a:sym typeface="TT Fors"/>
              </a:rPr>
              <a:t> s</a:t>
            </a:r>
            <a:r>
              <a:rPr lang="en-US" sz="2400" spc="-72" strike="noStrike" u="none">
                <a:solidFill>
                  <a:srgbClr val="00FFA8"/>
                </a:solidFill>
                <a:latin typeface="TT Fors"/>
                <a:ea typeface="TT Fors"/>
                <a:cs typeface="TT Fors"/>
                <a:sym typeface="TT Fors"/>
              </a:rPr>
              <a:t>e</a:t>
            </a:r>
            <a:r>
              <a:rPr lang="en-US" sz="2400" spc="-72" strike="noStrike" u="none">
                <a:solidFill>
                  <a:srgbClr val="00FFA8"/>
                </a:solidFill>
                <a:latin typeface="TT Fors"/>
                <a:ea typeface="TT Fors"/>
                <a:cs typeface="TT Fors"/>
                <a:sym typeface="TT Fors"/>
              </a:rPr>
              <a:t>curity con</a:t>
            </a:r>
            <a:r>
              <a:rPr lang="en-US" sz="2400" spc="-72" strike="noStrike" u="none">
                <a:solidFill>
                  <a:srgbClr val="00FFA8"/>
                </a:solidFill>
                <a:latin typeface="TT Fors"/>
                <a:ea typeface="TT Fors"/>
                <a:cs typeface="TT Fors"/>
                <a:sym typeface="TT Fors"/>
              </a:rPr>
              <a:t>tr</a:t>
            </a:r>
            <a:r>
              <a:rPr lang="en-US" sz="2400" spc="-72" strike="noStrike" u="none">
                <a:solidFill>
                  <a:srgbClr val="00FFA8"/>
                </a:solidFill>
                <a:latin typeface="TT Fors"/>
                <a:ea typeface="TT Fors"/>
                <a:cs typeface="TT Fors"/>
                <a:sym typeface="TT Fors"/>
              </a:rPr>
              <a:t>ols b</a:t>
            </a:r>
            <a:r>
              <a:rPr lang="en-US" sz="2400" spc="-72" strike="noStrike" u="none">
                <a:solidFill>
                  <a:srgbClr val="00FFA8"/>
                </a:solidFill>
                <a:latin typeface="TT Fors"/>
                <a:ea typeface="TT Fors"/>
                <a:cs typeface="TT Fors"/>
                <a:sym typeface="TT Fors"/>
              </a:rPr>
              <a:t>a</a:t>
            </a:r>
            <a:r>
              <a:rPr lang="en-US" sz="2400" spc="-72" strike="noStrike" u="none">
                <a:solidFill>
                  <a:srgbClr val="00FFA8"/>
                </a:solidFill>
                <a:latin typeface="TT Fors"/>
                <a:ea typeface="TT Fors"/>
                <a:cs typeface="TT Fors"/>
                <a:sym typeface="TT Fors"/>
              </a:rPr>
              <a:t>sed </a:t>
            </a:r>
            <a:r>
              <a:rPr lang="en-US" sz="2400" spc="-72" strike="noStrike" u="none">
                <a:solidFill>
                  <a:srgbClr val="00FFA8"/>
                </a:solidFill>
                <a:latin typeface="TT Fors"/>
                <a:ea typeface="TT Fors"/>
                <a:cs typeface="TT Fors"/>
                <a:sym typeface="TT Fors"/>
              </a:rPr>
              <a:t>on </a:t>
            </a:r>
            <a:r>
              <a:rPr lang="en-US" sz="2400" spc="-72" strike="noStrike" u="none">
                <a:solidFill>
                  <a:srgbClr val="00FFA8"/>
                </a:solidFill>
                <a:latin typeface="TT Fors"/>
                <a:ea typeface="TT Fors"/>
                <a:cs typeface="TT Fors"/>
                <a:sym typeface="TT Fors"/>
              </a:rPr>
              <a:t>network archi</a:t>
            </a:r>
            <a:r>
              <a:rPr lang="en-US" sz="2400" spc="-72" strike="noStrike" u="none">
                <a:solidFill>
                  <a:srgbClr val="00FFA8"/>
                </a:solidFill>
                <a:latin typeface="TT Fors"/>
                <a:ea typeface="TT Fors"/>
                <a:cs typeface="TT Fors"/>
                <a:sym typeface="TT Fors"/>
              </a:rPr>
              <a:t>te</a:t>
            </a:r>
            <a:r>
              <a:rPr lang="en-US" sz="2400" spc="-72" strike="noStrike" u="none">
                <a:solidFill>
                  <a:srgbClr val="00FFA8"/>
                </a:solidFill>
                <a:latin typeface="TT Fors"/>
                <a:ea typeface="TT Fors"/>
                <a:cs typeface="TT Fors"/>
                <a:sym typeface="TT Fors"/>
              </a:rPr>
              <a:t>c</a:t>
            </a:r>
            <a:r>
              <a:rPr lang="en-US" sz="2400" spc="-72" strike="noStrike" u="none">
                <a:solidFill>
                  <a:srgbClr val="00FFA8"/>
                </a:solidFill>
                <a:latin typeface="TT Fors"/>
                <a:ea typeface="TT Fors"/>
                <a:cs typeface="TT Fors"/>
                <a:sym typeface="TT Fors"/>
              </a:rPr>
              <a:t>t</a:t>
            </a:r>
            <a:r>
              <a:rPr lang="en-US" sz="2400" spc="-72" strike="noStrike" u="none">
                <a:solidFill>
                  <a:srgbClr val="00FFA8"/>
                </a:solidFill>
                <a:latin typeface="TT Fors"/>
                <a:ea typeface="TT Fors"/>
                <a:cs typeface="TT Fors"/>
                <a:sym typeface="TT Fors"/>
              </a:rPr>
              <a:t>ure a</a:t>
            </a:r>
            <a:r>
              <a:rPr lang="en-US" sz="2400" spc="-72" strike="noStrike" u="none">
                <a:solidFill>
                  <a:srgbClr val="00FFA8"/>
                </a:solidFill>
                <a:latin typeface="TT Fors"/>
                <a:ea typeface="TT Fors"/>
                <a:cs typeface="TT Fors"/>
                <a:sym typeface="TT Fors"/>
              </a:rPr>
              <a:t>n</a:t>
            </a:r>
            <a:r>
              <a:rPr lang="en-US" sz="2400" spc="-72" strike="noStrike" u="none">
                <a:solidFill>
                  <a:srgbClr val="00FFA8"/>
                </a:solidFill>
                <a:latin typeface="TT Fors"/>
                <a:ea typeface="TT Fors"/>
                <a:cs typeface="TT Fors"/>
                <a:sym typeface="TT Fors"/>
              </a:rPr>
              <a:t>d</a:t>
            </a:r>
            <a:r>
              <a:rPr lang="en-US" sz="2400" spc="-72" strike="noStrike" u="none">
                <a:solidFill>
                  <a:srgbClr val="00FFA8"/>
                </a:solidFill>
                <a:latin typeface="TT Fors"/>
                <a:ea typeface="TT Fors"/>
                <a:cs typeface="TT Fors"/>
                <a:sym typeface="TT Fors"/>
              </a:rPr>
              <a:t> </a:t>
            </a:r>
            <a:r>
              <a:rPr lang="en-US" sz="2400" spc="-72" strike="noStrike" u="none">
                <a:solidFill>
                  <a:srgbClr val="00FFA8"/>
                </a:solidFill>
                <a:latin typeface="TT Fors"/>
                <a:ea typeface="TT Fors"/>
                <a:cs typeface="TT Fors"/>
                <a:sym typeface="TT Fors"/>
              </a:rPr>
              <a:t>thr</a:t>
            </a:r>
            <a:r>
              <a:rPr lang="en-US" sz="2400" spc="-72" strike="noStrike" u="none">
                <a:solidFill>
                  <a:srgbClr val="00FFA8"/>
                </a:solidFill>
                <a:latin typeface="TT Fors"/>
                <a:ea typeface="TT Fors"/>
                <a:cs typeface="TT Fors"/>
                <a:sym typeface="TT Fors"/>
              </a:rPr>
              <a:t>e</a:t>
            </a:r>
            <a:r>
              <a:rPr lang="en-US" sz="2400" spc="-72" strike="noStrike" u="none">
                <a:solidFill>
                  <a:srgbClr val="00FFA8"/>
                </a:solidFill>
                <a:latin typeface="TT Fors"/>
                <a:ea typeface="TT Fors"/>
                <a:cs typeface="TT Fors"/>
                <a:sym typeface="TT Fors"/>
              </a:rPr>
              <a:t>at a</a:t>
            </a:r>
            <a:r>
              <a:rPr lang="en-US" sz="2400" spc="-72" strike="noStrike" u="none">
                <a:solidFill>
                  <a:srgbClr val="00FFA8"/>
                </a:solidFill>
                <a:latin typeface="TT Fors"/>
                <a:ea typeface="TT Fors"/>
                <a:cs typeface="TT Fors"/>
                <a:sym typeface="TT Fors"/>
              </a:rPr>
              <a:t>na</a:t>
            </a:r>
            <a:r>
              <a:rPr lang="en-US" sz="2400" spc="-72" strike="noStrike" u="none">
                <a:solidFill>
                  <a:srgbClr val="00FFA8"/>
                </a:solidFill>
                <a:latin typeface="TT Fors"/>
                <a:ea typeface="TT Fors"/>
                <a:cs typeface="TT Fors"/>
                <a:sym typeface="TT Fors"/>
              </a:rPr>
              <a:t>lys</a:t>
            </a:r>
            <a:r>
              <a:rPr lang="en-US" sz="2400" spc="-72" strike="noStrike" u="none">
                <a:solidFill>
                  <a:srgbClr val="00FFA8"/>
                </a:solidFill>
                <a:latin typeface="TT Fors"/>
                <a:ea typeface="TT Fors"/>
                <a:cs typeface="TT Fors"/>
                <a:sym typeface="TT Fors"/>
              </a:rPr>
              <a:t>is</a:t>
            </a:r>
          </a:p>
        </p:txBody>
      </p:sp>
      <p:sp>
        <p:nvSpPr>
          <p:cNvPr name="TextBox 12" id="12"/>
          <p:cNvSpPr txBox="true"/>
          <p:nvPr/>
        </p:nvSpPr>
        <p:spPr>
          <a:xfrm rot="0">
            <a:off x="666750" y="657225"/>
            <a:ext cx="11201400" cy="923925"/>
          </a:xfrm>
          <a:prstGeom prst="rect">
            <a:avLst/>
          </a:prstGeom>
        </p:spPr>
        <p:txBody>
          <a:bodyPr anchor="t" rtlCol="false" tIns="0" lIns="0" bIns="0" rIns="0">
            <a:spAutoFit/>
          </a:bodyPr>
          <a:lstStyle/>
          <a:p>
            <a:pPr algn="l" marL="0" indent="0" lvl="0">
              <a:lnSpc>
                <a:spcPts val="6000"/>
              </a:lnSpc>
              <a:spcBef>
                <a:spcPct val="0"/>
              </a:spcBef>
            </a:pPr>
            <a:r>
              <a:rPr lang="en-US" sz="6000" spc="-179" strike="noStrike" u="none">
                <a:solidFill>
                  <a:srgbClr val="00FFA8"/>
                </a:solidFill>
                <a:latin typeface="ITC Avant Garde Gothic"/>
                <a:ea typeface="ITC Avant Garde Gothic"/>
                <a:cs typeface="ITC Avant Garde Gothic"/>
                <a:sym typeface="ITC Avant Garde Gothic"/>
              </a:rPr>
              <a:t>Learning Objectives</a:t>
            </a:r>
          </a:p>
        </p:txBody>
      </p:sp>
      <p:sp>
        <p:nvSpPr>
          <p:cNvPr name="TextBox 13" id="13"/>
          <p:cNvSpPr txBox="true"/>
          <p:nvPr/>
        </p:nvSpPr>
        <p:spPr>
          <a:xfrm rot="0">
            <a:off x="666750" y="2095500"/>
            <a:ext cx="12983782" cy="390525"/>
          </a:xfrm>
          <a:prstGeom prst="rect">
            <a:avLst/>
          </a:prstGeom>
        </p:spPr>
        <p:txBody>
          <a:bodyPr anchor="t" rtlCol="false" tIns="0" lIns="0" bIns="0" rIns="0">
            <a:spAutoFit/>
          </a:bodyPr>
          <a:lstStyle/>
          <a:p>
            <a:pPr algn="l" marL="0" indent="0" lvl="0">
              <a:lnSpc>
                <a:spcPts val="3120"/>
              </a:lnSpc>
              <a:spcBef>
                <a:spcPct val="0"/>
              </a:spcBef>
            </a:pPr>
            <a:r>
              <a:rPr lang="en-US" b="true" sz="2600" spc="-78">
                <a:solidFill>
                  <a:srgbClr val="00FFA8"/>
                </a:solidFill>
                <a:latin typeface="TT Fors Bold"/>
                <a:ea typeface="TT Fors Bold"/>
                <a:cs typeface="TT Fors Bold"/>
                <a:sym typeface="TT Fors Bold"/>
              </a:rPr>
              <a:t>What</a:t>
            </a:r>
            <a:r>
              <a:rPr lang="en-US" b="true" sz="2600" spc="-78" strike="noStrike" u="none">
                <a:solidFill>
                  <a:srgbClr val="00FFA8"/>
                </a:solidFill>
                <a:latin typeface="TT Fors Bold"/>
                <a:ea typeface="TT Fors Bold"/>
                <a:cs typeface="TT Fors Bold"/>
                <a:sym typeface="TT Fors Bold"/>
              </a:rPr>
              <a:t> </a:t>
            </a:r>
            <a:r>
              <a:rPr lang="en-US" b="true" sz="2600" spc="-78" strike="noStrike" u="none">
                <a:solidFill>
                  <a:srgbClr val="00FFA8"/>
                </a:solidFill>
                <a:latin typeface="TT Fors Bold"/>
                <a:ea typeface="TT Fors Bold"/>
                <a:cs typeface="TT Fors Bold"/>
                <a:sym typeface="TT Fors Bold"/>
              </a:rPr>
              <a:t>Y</a:t>
            </a:r>
            <a:r>
              <a:rPr lang="en-US" b="true" sz="2600" spc="-78" strike="noStrike" u="none">
                <a:solidFill>
                  <a:srgbClr val="00FFA8"/>
                </a:solidFill>
                <a:latin typeface="TT Fors Bold"/>
                <a:ea typeface="TT Fors Bold"/>
                <a:cs typeface="TT Fors Bold"/>
                <a:sym typeface="TT Fors Bold"/>
              </a:rPr>
              <a:t>ou </a:t>
            </a:r>
            <a:r>
              <a:rPr lang="en-US" b="true" sz="2600" spc="-78" strike="noStrike" u="none">
                <a:solidFill>
                  <a:srgbClr val="00FFA8"/>
                </a:solidFill>
                <a:latin typeface="TT Fors Bold"/>
                <a:ea typeface="TT Fors Bold"/>
                <a:cs typeface="TT Fors Bold"/>
                <a:sym typeface="TT Fors Bold"/>
              </a:rPr>
              <a:t>W</a:t>
            </a:r>
            <a:r>
              <a:rPr lang="en-US" b="true" sz="2600" spc="-78" strike="noStrike" u="none">
                <a:solidFill>
                  <a:srgbClr val="00FFA8"/>
                </a:solidFill>
                <a:latin typeface="TT Fors Bold"/>
                <a:ea typeface="TT Fors Bold"/>
                <a:cs typeface="TT Fors Bold"/>
                <a:sym typeface="TT Fors Bold"/>
              </a:rPr>
              <a:t>i</a:t>
            </a:r>
            <a:r>
              <a:rPr lang="en-US" b="true" sz="2600" spc="-78" strike="noStrike" u="none">
                <a:solidFill>
                  <a:srgbClr val="00FFA8"/>
                </a:solidFill>
                <a:latin typeface="TT Fors Bold"/>
                <a:ea typeface="TT Fors Bold"/>
                <a:cs typeface="TT Fors Bold"/>
                <a:sym typeface="TT Fors Bold"/>
              </a:rPr>
              <a:t>ll</a:t>
            </a:r>
            <a:r>
              <a:rPr lang="en-US" b="true" sz="2600" spc="-78" strike="noStrike" u="none">
                <a:solidFill>
                  <a:srgbClr val="00FFA8"/>
                </a:solidFill>
                <a:latin typeface="TT Fors Bold"/>
                <a:ea typeface="TT Fors Bold"/>
                <a:cs typeface="TT Fors Bold"/>
                <a:sym typeface="TT Fors Bold"/>
              </a:rPr>
              <a:t> </a:t>
            </a:r>
            <a:r>
              <a:rPr lang="en-US" b="true" sz="2600" spc="-78" strike="noStrike" u="none">
                <a:solidFill>
                  <a:srgbClr val="00FFA8"/>
                </a:solidFill>
                <a:latin typeface="TT Fors Bold"/>
                <a:ea typeface="TT Fors Bold"/>
                <a:cs typeface="TT Fors Bold"/>
                <a:sym typeface="TT Fors Bold"/>
              </a:rPr>
              <a:t>L</a:t>
            </a:r>
            <a:r>
              <a:rPr lang="en-US" b="true" sz="2600" spc="-78" strike="noStrike" u="none">
                <a:solidFill>
                  <a:srgbClr val="00FFA8"/>
                </a:solidFill>
                <a:latin typeface="TT Fors Bold"/>
                <a:ea typeface="TT Fors Bold"/>
                <a:cs typeface="TT Fors Bold"/>
                <a:sym typeface="TT Fors Bold"/>
              </a:rPr>
              <a:t>ea</a:t>
            </a:r>
            <a:r>
              <a:rPr lang="en-US" b="true" sz="2600" spc="-78" strike="noStrike" u="none">
                <a:solidFill>
                  <a:srgbClr val="00FFA8"/>
                </a:solidFill>
                <a:latin typeface="TT Fors Bold"/>
                <a:ea typeface="TT Fors Bold"/>
                <a:cs typeface="TT Fors Bold"/>
                <a:sym typeface="TT Fors Bold"/>
              </a:rPr>
              <a:t>r</a:t>
            </a:r>
            <a:r>
              <a:rPr lang="en-US" b="true" sz="2600" spc="-78" strike="noStrike" u="none">
                <a:solidFill>
                  <a:srgbClr val="00FFA8"/>
                </a:solidFill>
                <a:latin typeface="TT Fors Bold"/>
                <a:ea typeface="TT Fors Bold"/>
                <a:cs typeface="TT Fors Bold"/>
                <a:sym typeface="TT Fors Bold"/>
              </a:rPr>
              <a:t>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grpSp>
        <p:nvGrpSpPr>
          <p:cNvPr name="Group 2" id="2"/>
          <p:cNvGrpSpPr/>
          <p:nvPr/>
        </p:nvGrpSpPr>
        <p:grpSpPr>
          <a:xfrm rot="0">
            <a:off x="16115522" y="751544"/>
            <a:ext cx="1505728" cy="810556"/>
            <a:chOff x="0" y="0"/>
            <a:chExt cx="2007638" cy="1080741"/>
          </a:xfrm>
        </p:grpSpPr>
        <p:grpSp>
          <p:nvGrpSpPr>
            <p:cNvPr name="Group 3" id="3"/>
            <p:cNvGrpSpPr/>
            <p:nvPr/>
          </p:nvGrpSpPr>
          <p:grpSpPr>
            <a:xfrm rot="0">
              <a:off x="0" y="0"/>
              <a:ext cx="1080741" cy="108074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926897" y="0"/>
              <a:ext cx="1080741" cy="108074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108486" y="191456"/>
              <a:ext cx="717562" cy="697829"/>
            </a:xfrm>
            <a:custGeom>
              <a:avLst/>
              <a:gdLst/>
              <a:ahLst/>
              <a:cxnLst/>
              <a:rect r="r" b="b" t="t" l="l"/>
              <a:pathLst>
                <a:path h="697829" w="717562">
                  <a:moveTo>
                    <a:pt x="0" y="0"/>
                  </a:moveTo>
                  <a:lnTo>
                    <a:pt x="717563" y="0"/>
                  </a:lnTo>
                  <a:lnTo>
                    <a:pt x="717563" y="697829"/>
                  </a:lnTo>
                  <a:lnTo>
                    <a:pt x="0" y="6978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234320" y="101015"/>
              <a:ext cx="978695" cy="707551"/>
            </a:xfrm>
            <a:custGeom>
              <a:avLst/>
              <a:gdLst/>
              <a:ahLst/>
              <a:cxnLst/>
              <a:rect r="r" b="b" t="t" l="l"/>
              <a:pathLst>
                <a:path h="707551" w="978695">
                  <a:moveTo>
                    <a:pt x="0" y="0"/>
                  </a:moveTo>
                  <a:lnTo>
                    <a:pt x="978695" y="0"/>
                  </a:lnTo>
                  <a:lnTo>
                    <a:pt x="978695" y="707551"/>
                  </a:lnTo>
                  <a:lnTo>
                    <a:pt x="0" y="707551"/>
                  </a:lnTo>
                  <a:lnTo>
                    <a:pt x="0" y="0"/>
                  </a:lnTo>
                  <a:close/>
                </a:path>
              </a:pathLst>
            </a:custGeom>
            <a:blipFill>
              <a:blip r:embed="rId5"/>
              <a:stretch>
                <a:fillRect l="0" t="0" r="-14982" b="0"/>
              </a:stretch>
            </a:blipFill>
          </p:spPr>
        </p:sp>
      </p:grpSp>
      <p:sp>
        <p:nvSpPr>
          <p:cNvPr name="TextBox 11" id="11"/>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Introduction to Network Sniffing</a:t>
            </a:r>
          </a:p>
        </p:txBody>
      </p:sp>
      <p:sp>
        <p:nvSpPr>
          <p:cNvPr name="TextBox 12" id="12"/>
          <p:cNvSpPr txBox="true"/>
          <p:nvPr/>
        </p:nvSpPr>
        <p:spPr>
          <a:xfrm rot="0">
            <a:off x="9200288" y="5240655"/>
            <a:ext cx="8420962" cy="2497455"/>
          </a:xfrm>
          <a:prstGeom prst="rect">
            <a:avLst/>
          </a:prstGeom>
        </p:spPr>
        <p:txBody>
          <a:bodyPr anchor="t" rtlCol="false" tIns="0" lIns="0" bIns="0" rIns="0">
            <a:spAutoFit/>
          </a:bodyPr>
          <a:lstStyle/>
          <a:p>
            <a:pPr algn="l">
              <a:lnSpc>
                <a:spcPts val="3300"/>
              </a:lnSpc>
            </a:pPr>
            <a:r>
              <a:rPr lang="en-US" b="true" sz="2200" spc="-66">
                <a:solidFill>
                  <a:srgbClr val="00FFA8"/>
                </a:solidFill>
                <a:latin typeface="TT Fors Bold"/>
                <a:ea typeface="TT Fors Bold"/>
                <a:cs typeface="TT Fors Bold"/>
                <a:sym typeface="TT Fors Bold"/>
              </a:rPr>
              <a:t>Mali</a:t>
            </a:r>
            <a:r>
              <a:rPr lang="en-US" b="true" sz="2200" spc="-66" strike="noStrike" u="none">
                <a:solidFill>
                  <a:srgbClr val="00FFA8"/>
                </a:solidFill>
                <a:latin typeface="TT Fors Bold"/>
                <a:ea typeface="TT Fors Bold"/>
                <a:cs typeface="TT Fors Bold"/>
                <a:sym typeface="TT Fors Bold"/>
              </a:rPr>
              <a:t>cious Uses</a:t>
            </a:r>
          </a:p>
          <a:p>
            <a:pPr algn="l" marL="474981" indent="-237491" lvl="1">
              <a:lnSpc>
                <a:spcPts val="3300"/>
              </a:lnSpc>
              <a:buFont typeface="Arial"/>
              <a:buChar char="•"/>
            </a:pPr>
            <a:r>
              <a:rPr lang="en-US" sz="2200" spc="-66" strike="noStrike" u="none">
                <a:solidFill>
                  <a:srgbClr val="00FFA8"/>
                </a:solidFill>
                <a:latin typeface="TT Fors"/>
                <a:ea typeface="TT Fors"/>
                <a:cs typeface="TT Fors"/>
                <a:sym typeface="TT Fors"/>
              </a:rPr>
              <a:t>Stealing login credentials and passwords</a:t>
            </a:r>
          </a:p>
          <a:p>
            <a:pPr algn="l" marL="474981" indent="-237491" lvl="1">
              <a:lnSpc>
                <a:spcPts val="3300"/>
              </a:lnSpc>
              <a:buFont typeface="Arial"/>
              <a:buChar char="•"/>
            </a:pPr>
            <a:r>
              <a:rPr lang="en-US" sz="2200" spc="-66" strike="noStrike" u="none">
                <a:solidFill>
                  <a:srgbClr val="00FFA8"/>
                </a:solidFill>
                <a:latin typeface="TT Fors"/>
                <a:ea typeface="TT Fors"/>
                <a:cs typeface="TT Fors"/>
                <a:sym typeface="TT Fors"/>
              </a:rPr>
              <a:t>Session hijacking and account takeover</a:t>
            </a:r>
          </a:p>
          <a:p>
            <a:pPr algn="l" marL="474981" indent="-237491" lvl="1">
              <a:lnSpc>
                <a:spcPts val="3300"/>
              </a:lnSpc>
              <a:buFont typeface="Arial"/>
              <a:buChar char="•"/>
            </a:pPr>
            <a:r>
              <a:rPr lang="en-US" sz="2200" spc="-66" strike="noStrike" u="none">
                <a:solidFill>
                  <a:srgbClr val="00FFA8"/>
                </a:solidFill>
                <a:latin typeface="TT Fors"/>
                <a:ea typeface="TT Fors"/>
                <a:cs typeface="TT Fors"/>
                <a:sym typeface="TT Fors"/>
              </a:rPr>
              <a:t>Capturing sensitive information (credit card numbers, SSN, etc.)</a:t>
            </a:r>
          </a:p>
          <a:p>
            <a:pPr algn="l" marL="474981" indent="-237491" lvl="1">
              <a:lnSpc>
                <a:spcPts val="3300"/>
              </a:lnSpc>
              <a:buFont typeface="Arial"/>
              <a:buChar char="•"/>
            </a:pPr>
            <a:r>
              <a:rPr lang="en-US" sz="2200" spc="-66" strike="noStrike" u="none">
                <a:solidFill>
                  <a:srgbClr val="00FFA8"/>
                </a:solidFill>
                <a:latin typeface="TT Fors"/>
                <a:ea typeface="TT Fors"/>
                <a:cs typeface="TT Fors"/>
                <a:sym typeface="TT Fors"/>
              </a:rPr>
              <a:t>Eavesdropping on private communications</a:t>
            </a:r>
          </a:p>
          <a:p>
            <a:pPr algn="l" marL="474981" indent="-237491" lvl="1">
              <a:lnSpc>
                <a:spcPts val="3300"/>
              </a:lnSpc>
              <a:buFont typeface="Arial"/>
              <a:buChar char="•"/>
            </a:pPr>
            <a:r>
              <a:rPr lang="en-US" sz="2200" spc="-66" strike="noStrike" u="none">
                <a:solidFill>
                  <a:srgbClr val="00FFA8"/>
                </a:solidFill>
                <a:latin typeface="TT Fors"/>
                <a:ea typeface="TT Fors"/>
                <a:cs typeface="TT Fors"/>
                <a:sym typeface="TT Fors"/>
              </a:rPr>
              <a:t>Corporate espionage and data theft</a:t>
            </a:r>
          </a:p>
        </p:txBody>
      </p:sp>
      <p:sp>
        <p:nvSpPr>
          <p:cNvPr name="TextBox 13" id="13"/>
          <p:cNvSpPr txBox="true"/>
          <p:nvPr/>
        </p:nvSpPr>
        <p:spPr>
          <a:xfrm rot="0">
            <a:off x="666750" y="5240655"/>
            <a:ext cx="7927561" cy="249745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Legitimate Uses</a:t>
            </a:r>
          </a:p>
          <a:p>
            <a:pPr algn="just" marL="474981" indent="-237491" lvl="1">
              <a:lnSpc>
                <a:spcPts val="3300"/>
              </a:lnSpc>
              <a:buFont typeface="Arial"/>
              <a:buChar char="•"/>
            </a:pPr>
            <a:r>
              <a:rPr lang="en-US" sz="2200" spc="-66">
                <a:solidFill>
                  <a:srgbClr val="00FFA8"/>
                </a:solidFill>
                <a:latin typeface="TT Fors"/>
                <a:ea typeface="TT Fors"/>
                <a:cs typeface="TT Fors"/>
                <a:sym typeface="TT Fors"/>
              </a:rPr>
              <a:t>Network troubleshooting and performance monitoring</a:t>
            </a:r>
          </a:p>
          <a:p>
            <a:pPr algn="just" marL="474981" indent="-237491" lvl="1">
              <a:lnSpc>
                <a:spcPts val="3300"/>
              </a:lnSpc>
              <a:buFont typeface="Arial"/>
              <a:buChar char="•"/>
            </a:pPr>
            <a:r>
              <a:rPr lang="en-US" sz="2200" spc="-66">
                <a:solidFill>
                  <a:srgbClr val="00FFA8"/>
                </a:solidFill>
                <a:latin typeface="TT Fors"/>
                <a:ea typeface="TT Fors"/>
                <a:cs typeface="TT Fors"/>
                <a:sym typeface="TT Fors"/>
              </a:rPr>
              <a:t>Security auditing and penetration testing (with authorization)</a:t>
            </a:r>
          </a:p>
          <a:p>
            <a:pPr algn="just" marL="474981" indent="-237491" lvl="1">
              <a:lnSpc>
                <a:spcPts val="3300"/>
              </a:lnSpc>
              <a:buFont typeface="Arial"/>
              <a:buChar char="•"/>
            </a:pPr>
            <a:r>
              <a:rPr lang="en-US" sz="2200" spc="-66">
                <a:solidFill>
                  <a:srgbClr val="00FFA8"/>
                </a:solidFill>
                <a:latin typeface="TT Fors"/>
                <a:ea typeface="TT Fors"/>
                <a:cs typeface="TT Fors"/>
                <a:sym typeface="TT Fors"/>
              </a:rPr>
              <a:t>Network protocol analysis and debugging</a:t>
            </a:r>
          </a:p>
          <a:p>
            <a:pPr algn="just" marL="474981" indent="-237491" lvl="1">
              <a:lnSpc>
                <a:spcPts val="3300"/>
              </a:lnSpc>
              <a:buFont typeface="Arial"/>
              <a:buChar char="•"/>
            </a:pPr>
            <a:r>
              <a:rPr lang="en-US" sz="2200" spc="-66">
                <a:solidFill>
                  <a:srgbClr val="00FFA8"/>
                </a:solidFill>
                <a:latin typeface="TT Fors"/>
                <a:ea typeface="TT Fors"/>
                <a:cs typeface="TT Fors"/>
                <a:sym typeface="TT Fors"/>
              </a:rPr>
              <a:t>Intrusion detection and incident response</a:t>
            </a:r>
          </a:p>
          <a:p>
            <a:pPr algn="just" marL="474981" indent="-237491" lvl="1">
              <a:lnSpc>
                <a:spcPts val="3300"/>
              </a:lnSpc>
              <a:buFont typeface="Arial"/>
              <a:buChar char="•"/>
            </a:pPr>
            <a:r>
              <a:rPr lang="en-US" sz="2200" spc="-66">
                <a:solidFill>
                  <a:srgbClr val="00FFA8"/>
                </a:solidFill>
                <a:latin typeface="TT Fors"/>
                <a:ea typeface="TT Fors"/>
                <a:cs typeface="TT Fors"/>
                <a:sym typeface="TT Fors"/>
              </a:rPr>
              <a:t>Quality assurance testing</a:t>
            </a:r>
          </a:p>
        </p:txBody>
      </p:sp>
      <p:sp>
        <p:nvSpPr>
          <p:cNvPr name="TextBox 14" id="14"/>
          <p:cNvSpPr txBox="true"/>
          <p:nvPr/>
        </p:nvSpPr>
        <p:spPr>
          <a:xfrm rot="0">
            <a:off x="666750" y="1571625"/>
            <a:ext cx="15448772" cy="1076325"/>
          </a:xfrm>
          <a:prstGeom prst="rect">
            <a:avLst/>
          </a:prstGeom>
        </p:spPr>
        <p:txBody>
          <a:bodyPr anchor="t" rtlCol="false" tIns="0" lIns="0" bIns="0" rIns="0">
            <a:spAutoFit/>
          </a:bodyPr>
          <a:lstStyle/>
          <a:p>
            <a:pPr algn="l" marL="0" indent="0" lvl="0">
              <a:lnSpc>
                <a:spcPts val="2880"/>
              </a:lnSpc>
              <a:spcBef>
                <a:spcPct val="0"/>
              </a:spcBef>
            </a:pPr>
            <a:r>
              <a:rPr lang="en-US" sz="2400" spc="-72">
                <a:solidFill>
                  <a:srgbClr val="FFFFFF"/>
                </a:solidFill>
                <a:latin typeface="TT Fors"/>
                <a:ea typeface="TT Fors"/>
                <a:cs typeface="TT Fors"/>
                <a:sym typeface="TT Fors"/>
              </a:rPr>
              <a:t>Network sniffing is the process of capturing and analyzing network traffic in real-time. A network sniffer intercepts data packets as they travel across a network, allowing an analyst to examine their contents. This fundamental technique is used for both defensive security monitoring and malicious reconnaissance.</a:t>
            </a:r>
          </a:p>
        </p:txBody>
      </p:sp>
      <p:sp>
        <p:nvSpPr>
          <p:cNvPr name="TextBox 15" id="15"/>
          <p:cNvSpPr txBox="true"/>
          <p:nvPr/>
        </p:nvSpPr>
        <p:spPr>
          <a:xfrm rot="0">
            <a:off x="666750" y="3157538"/>
            <a:ext cx="16954500" cy="165925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Definition:</a:t>
            </a:r>
          </a:p>
          <a:p>
            <a:pPr algn="l">
              <a:lnSpc>
                <a:spcPts val="3300"/>
              </a:lnSpc>
            </a:pPr>
            <a:r>
              <a:rPr lang="en-US" sz="2200" spc="-66">
                <a:solidFill>
                  <a:srgbClr val="00FFA8"/>
                </a:solidFill>
                <a:latin typeface="TT Fors"/>
                <a:ea typeface="TT Fors"/>
                <a:cs typeface="TT Fors"/>
                <a:sym typeface="TT Fors"/>
              </a:rPr>
              <a:t>Network sniffing involves placing a network interface in promiscuous mode, which allows the interface to capture all traffic on the network segment, not just traffic destined for the specific device. This captured data can reveal credentials, session information, and sensitive information being transmitted in unencrypted formats.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grpSp>
        <p:nvGrpSpPr>
          <p:cNvPr name="Group 2" id="2"/>
          <p:cNvGrpSpPr/>
          <p:nvPr/>
        </p:nvGrpSpPr>
        <p:grpSpPr>
          <a:xfrm rot="0">
            <a:off x="16115522" y="751544"/>
            <a:ext cx="1505728" cy="810556"/>
            <a:chOff x="0" y="0"/>
            <a:chExt cx="2007638" cy="1080741"/>
          </a:xfrm>
        </p:grpSpPr>
        <p:grpSp>
          <p:nvGrpSpPr>
            <p:cNvPr name="Group 3" id="3"/>
            <p:cNvGrpSpPr/>
            <p:nvPr/>
          </p:nvGrpSpPr>
          <p:grpSpPr>
            <a:xfrm rot="0">
              <a:off x="0" y="0"/>
              <a:ext cx="1080741" cy="108074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926897" y="0"/>
              <a:ext cx="1080741" cy="108074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108486" y="191456"/>
              <a:ext cx="717562" cy="697829"/>
            </a:xfrm>
            <a:custGeom>
              <a:avLst/>
              <a:gdLst/>
              <a:ahLst/>
              <a:cxnLst/>
              <a:rect r="r" b="b" t="t" l="l"/>
              <a:pathLst>
                <a:path h="697829" w="717562">
                  <a:moveTo>
                    <a:pt x="0" y="0"/>
                  </a:moveTo>
                  <a:lnTo>
                    <a:pt x="717563" y="0"/>
                  </a:lnTo>
                  <a:lnTo>
                    <a:pt x="717563" y="697829"/>
                  </a:lnTo>
                  <a:lnTo>
                    <a:pt x="0" y="6978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234320" y="101015"/>
              <a:ext cx="978695" cy="707551"/>
            </a:xfrm>
            <a:custGeom>
              <a:avLst/>
              <a:gdLst/>
              <a:ahLst/>
              <a:cxnLst/>
              <a:rect r="r" b="b" t="t" l="l"/>
              <a:pathLst>
                <a:path h="707551" w="978695">
                  <a:moveTo>
                    <a:pt x="0" y="0"/>
                  </a:moveTo>
                  <a:lnTo>
                    <a:pt x="978695" y="0"/>
                  </a:lnTo>
                  <a:lnTo>
                    <a:pt x="978695" y="707551"/>
                  </a:lnTo>
                  <a:lnTo>
                    <a:pt x="0" y="707551"/>
                  </a:lnTo>
                  <a:lnTo>
                    <a:pt x="0" y="0"/>
                  </a:lnTo>
                  <a:close/>
                </a:path>
              </a:pathLst>
            </a:custGeom>
            <a:blipFill>
              <a:blip r:embed="rId5"/>
              <a:stretch>
                <a:fillRect l="0" t="0" r="-14982" b="0"/>
              </a:stretch>
            </a:blipFill>
          </p:spPr>
        </p:sp>
      </p:grpSp>
      <p:sp>
        <p:nvSpPr>
          <p:cNvPr name="TextBox 11" id="11"/>
          <p:cNvSpPr txBox="true"/>
          <p:nvPr/>
        </p:nvSpPr>
        <p:spPr>
          <a:xfrm rot="0">
            <a:off x="666750" y="657225"/>
            <a:ext cx="1480462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Types of Network Sniffing</a:t>
            </a:r>
          </a:p>
        </p:txBody>
      </p:sp>
      <p:sp>
        <p:nvSpPr>
          <p:cNvPr name="TextBox 12" id="12"/>
          <p:cNvSpPr txBox="true"/>
          <p:nvPr/>
        </p:nvSpPr>
        <p:spPr>
          <a:xfrm rot="0">
            <a:off x="666750" y="1331595"/>
            <a:ext cx="8306267" cy="453390"/>
          </a:xfrm>
          <a:prstGeom prst="rect">
            <a:avLst/>
          </a:prstGeom>
        </p:spPr>
        <p:txBody>
          <a:bodyPr anchor="t" rtlCol="false" tIns="0" lIns="0" bIns="0" rIns="0">
            <a:spAutoFit/>
          </a:bodyPr>
          <a:lstStyle/>
          <a:p>
            <a:pPr algn="l">
              <a:lnSpc>
                <a:spcPts val="3899"/>
              </a:lnSpc>
            </a:pPr>
            <a:r>
              <a:rPr lang="en-US" b="true" sz="2599" spc="-77">
                <a:solidFill>
                  <a:srgbClr val="00FFA8"/>
                </a:solidFill>
                <a:latin typeface="TT Fors Bold"/>
                <a:ea typeface="TT Fors Bold"/>
                <a:cs typeface="TT Fors Bold"/>
                <a:sym typeface="TT Fors Bold"/>
              </a:rPr>
              <a:t>Passive Sniffing</a:t>
            </a:r>
          </a:p>
        </p:txBody>
      </p:sp>
      <p:sp>
        <p:nvSpPr>
          <p:cNvPr name="TextBox 13" id="13"/>
          <p:cNvSpPr txBox="true"/>
          <p:nvPr/>
        </p:nvSpPr>
        <p:spPr>
          <a:xfrm rot="0">
            <a:off x="666750" y="2551481"/>
            <a:ext cx="16954500" cy="543115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How It Works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In hub-based networks, all traffic is broadcast to all connected devices. Passive sniffers simply listen to this broadcast traffic without generating any packets.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In wireless networks, attackers can eavesdrop on radio waves transmitted by access points and devices.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No special network manipulation is required, making it completely silent and undetectable.</a:t>
            </a:r>
          </a:p>
          <a:p>
            <a:pPr algn="l">
              <a:lnSpc>
                <a:spcPts val="3300"/>
              </a:lnSpc>
            </a:pPr>
          </a:p>
          <a:p>
            <a:pPr algn="l">
              <a:lnSpc>
                <a:spcPts val="3300"/>
              </a:lnSpc>
            </a:pPr>
            <a:r>
              <a:rPr lang="en-US" sz="2200" spc="-66" b="true">
                <a:solidFill>
                  <a:srgbClr val="00FFA8"/>
                </a:solidFill>
                <a:latin typeface="TT Fors Bold"/>
                <a:ea typeface="TT Fors Bold"/>
                <a:cs typeface="TT Fors Bold"/>
                <a:sym typeface="TT Fors Bold"/>
              </a:rPr>
              <a:t>Examples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Using </a:t>
            </a:r>
            <a:r>
              <a:rPr lang="en-US" b="true" sz="2200" spc="-66">
                <a:solidFill>
                  <a:srgbClr val="00FFA8"/>
                </a:solidFill>
                <a:latin typeface="TT Fors Bold"/>
                <a:ea typeface="TT Fors Bold"/>
                <a:cs typeface="TT Fors Bold"/>
                <a:sym typeface="TT Fors Bold"/>
              </a:rPr>
              <a:t>Wireshark</a:t>
            </a:r>
            <a:r>
              <a:rPr lang="en-US" sz="2200" spc="-66">
                <a:solidFill>
                  <a:srgbClr val="00FFA8"/>
                </a:solidFill>
                <a:latin typeface="TT Fors"/>
                <a:ea typeface="TT Fors"/>
                <a:cs typeface="TT Fors"/>
                <a:sym typeface="TT Fors"/>
              </a:rPr>
              <a:t> on a legacy hub-based network to capture HTTP traffic</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Capturing unencrypted credentials over </a:t>
            </a:r>
            <a:r>
              <a:rPr lang="en-US" b="true" sz="2200" spc="-66">
                <a:solidFill>
                  <a:srgbClr val="00FFA8"/>
                </a:solidFill>
                <a:latin typeface="TT Fors Bold"/>
                <a:ea typeface="TT Fors Bold"/>
                <a:cs typeface="TT Fors Bold"/>
                <a:sym typeface="TT Fors Bold"/>
              </a:rPr>
              <a:t>public Wi-Fi</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Monitoring IoT device communications on a </a:t>
            </a:r>
            <a:r>
              <a:rPr lang="en-US" b="true" sz="2200" spc="-66">
                <a:solidFill>
                  <a:srgbClr val="00FFA8"/>
                </a:solidFill>
                <a:latin typeface="TT Fors Bold"/>
                <a:ea typeface="TT Fors Bold"/>
                <a:cs typeface="TT Fors Bold"/>
                <a:sym typeface="TT Fors Bold"/>
              </a:rPr>
              <a:t>shared network </a:t>
            </a:r>
            <a:r>
              <a:rPr lang="en-US" sz="2200" spc="-66">
                <a:solidFill>
                  <a:srgbClr val="00FFA8"/>
                </a:solidFill>
                <a:latin typeface="TT Fors"/>
                <a:ea typeface="TT Fors"/>
                <a:cs typeface="TT Fors"/>
                <a:sym typeface="TT Fors"/>
              </a:rPr>
              <a:t>segment</a:t>
            </a:r>
          </a:p>
          <a:p>
            <a:pPr algn="l">
              <a:lnSpc>
                <a:spcPts val="3300"/>
              </a:lnSpc>
            </a:pPr>
          </a:p>
          <a:p>
            <a:pPr algn="l">
              <a:lnSpc>
                <a:spcPts val="3300"/>
              </a:lnSpc>
            </a:pPr>
            <a:r>
              <a:rPr lang="en-US" sz="2200" spc="-66" b="true">
                <a:solidFill>
                  <a:srgbClr val="00FFA8"/>
                </a:solidFill>
                <a:latin typeface="TT Fors Bold"/>
                <a:ea typeface="TT Fors Bold"/>
                <a:cs typeface="TT Fors Bold"/>
                <a:sym typeface="TT Fors Bold"/>
              </a:rPr>
              <a:t>Advantages:</a:t>
            </a:r>
            <a:r>
              <a:rPr lang="en-US" sz="2200" spc="-66">
                <a:solidFill>
                  <a:srgbClr val="00FFA8"/>
                </a:solidFill>
                <a:latin typeface="TT Fors"/>
                <a:ea typeface="TT Fors"/>
                <a:cs typeface="TT Fors"/>
                <a:sym typeface="TT Fors"/>
              </a:rPr>
              <a:t> Undetectable (generates no traffic), safe to perform, requires only standard network access. </a:t>
            </a:r>
          </a:p>
          <a:p>
            <a:pPr algn="l">
              <a:lnSpc>
                <a:spcPts val="3300"/>
              </a:lnSpc>
            </a:pPr>
            <a:r>
              <a:rPr lang="en-US" b="true" sz="2200" spc="-66">
                <a:solidFill>
                  <a:srgbClr val="00FFA8"/>
                </a:solidFill>
                <a:latin typeface="TT Fors Bold"/>
                <a:ea typeface="TT Fors Bold"/>
                <a:cs typeface="TT Fors Bold"/>
                <a:sym typeface="TT Fors Bold"/>
              </a:rPr>
              <a:t>Disadvantages:</a:t>
            </a:r>
            <a:r>
              <a:rPr lang="en-US" sz="2200" spc="-66">
                <a:solidFill>
                  <a:srgbClr val="00FFA8"/>
                </a:solidFill>
                <a:latin typeface="TT Fors"/>
                <a:ea typeface="TT Fors"/>
                <a:cs typeface="TT Fors"/>
                <a:sym typeface="TT Fors"/>
              </a:rPr>
              <a:t> Limited to networks with broadcast or wireless traffic, cannot capture all traffic in modern switched networks.</a:t>
            </a:r>
          </a:p>
        </p:txBody>
      </p:sp>
      <p:sp>
        <p:nvSpPr>
          <p:cNvPr name="TextBox 14" id="14"/>
          <p:cNvSpPr txBox="true"/>
          <p:nvPr/>
        </p:nvSpPr>
        <p:spPr>
          <a:xfrm rot="0">
            <a:off x="666750" y="1903781"/>
            <a:ext cx="16954500" cy="352425"/>
          </a:xfrm>
          <a:prstGeom prst="rect">
            <a:avLst/>
          </a:prstGeom>
        </p:spPr>
        <p:txBody>
          <a:bodyPr anchor="t" rtlCol="false" tIns="0" lIns="0" bIns="0" rIns="0">
            <a:spAutoFit/>
          </a:bodyPr>
          <a:lstStyle/>
          <a:p>
            <a:pPr algn="l" marL="0" indent="0" lvl="0">
              <a:lnSpc>
                <a:spcPts val="2880"/>
              </a:lnSpc>
              <a:spcBef>
                <a:spcPct val="0"/>
              </a:spcBef>
            </a:pPr>
            <a:r>
              <a:rPr lang="en-US" b="true" sz="2400" spc="-72">
                <a:solidFill>
                  <a:srgbClr val="FFFFFF"/>
                </a:solidFill>
                <a:latin typeface="TT Fors Bold"/>
                <a:ea typeface="TT Fors Bold"/>
                <a:cs typeface="TT Fors Bold"/>
                <a:sym typeface="TT Fors Bold"/>
              </a:rPr>
              <a:t>Definition: </a:t>
            </a:r>
            <a:r>
              <a:rPr lang="en-US" sz="2400" spc="-72">
                <a:solidFill>
                  <a:srgbClr val="FFFFFF"/>
                </a:solidFill>
                <a:latin typeface="TT Fors"/>
                <a:ea typeface="TT Fors"/>
                <a:cs typeface="TT Fors"/>
                <a:sym typeface="TT Fors"/>
              </a:rPr>
              <a:t>Silently capturing network tr</a:t>
            </a:r>
            <a:r>
              <a:rPr lang="en-US" sz="2400" spc="-72">
                <a:solidFill>
                  <a:srgbClr val="FFFFFF"/>
                </a:solidFill>
                <a:latin typeface="TT Fors"/>
                <a:ea typeface="TT Fors"/>
                <a:cs typeface="TT Fors"/>
                <a:sym typeface="TT Fors"/>
              </a:rPr>
              <a:t>affic w</a:t>
            </a:r>
            <a:r>
              <a:rPr lang="en-US" sz="2400" spc="-72">
                <a:solidFill>
                  <a:srgbClr val="FFFFFF"/>
                </a:solidFill>
                <a:latin typeface="TT Fors"/>
                <a:ea typeface="TT Fors"/>
                <a:cs typeface="TT Fors"/>
                <a:sym typeface="TT Fors"/>
              </a:rPr>
              <a:t>ithout altering or sending packets.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Types of Network Sniffing (Cont’d)</a:t>
            </a:r>
          </a:p>
        </p:txBody>
      </p:sp>
      <p:sp>
        <p:nvSpPr>
          <p:cNvPr name="TextBox 3" id="3"/>
          <p:cNvSpPr txBox="true"/>
          <p:nvPr/>
        </p:nvSpPr>
        <p:spPr>
          <a:xfrm rot="0">
            <a:off x="666750" y="1331595"/>
            <a:ext cx="8306267" cy="453390"/>
          </a:xfrm>
          <a:prstGeom prst="rect">
            <a:avLst/>
          </a:prstGeom>
        </p:spPr>
        <p:txBody>
          <a:bodyPr anchor="t" rtlCol="false" tIns="0" lIns="0" bIns="0" rIns="0">
            <a:spAutoFit/>
          </a:bodyPr>
          <a:lstStyle/>
          <a:p>
            <a:pPr algn="l">
              <a:lnSpc>
                <a:spcPts val="3899"/>
              </a:lnSpc>
            </a:pPr>
            <a:r>
              <a:rPr lang="en-US" b="true" sz="2599" spc="-77">
                <a:solidFill>
                  <a:srgbClr val="00FFA8"/>
                </a:solidFill>
                <a:latin typeface="TT Fors Bold"/>
                <a:ea typeface="TT Fors Bold"/>
                <a:cs typeface="TT Fors Bold"/>
                <a:sym typeface="TT Fors Bold"/>
              </a:rPr>
              <a:t>Active Sniffing</a:t>
            </a:r>
          </a:p>
        </p:txBody>
      </p:sp>
      <p:sp>
        <p:nvSpPr>
          <p:cNvPr name="TextBox 4" id="4"/>
          <p:cNvSpPr txBox="true"/>
          <p:nvPr/>
        </p:nvSpPr>
        <p:spPr>
          <a:xfrm rot="0">
            <a:off x="666750" y="2551481"/>
            <a:ext cx="16954500" cy="543115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How It Works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In switched networks, ports are isolated from each other. Active sniffing uses techniques like Address Resolution Protocol (ARP) spoofing or Media Access Control (MAC) flooding to bypass port isolation.</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The attacker generates crafted packets</a:t>
            </a:r>
            <a:r>
              <a:rPr lang="en-US" sz="2200" spc="-66">
                <a:solidFill>
                  <a:srgbClr val="00FFA8"/>
                </a:solidFill>
                <a:latin typeface="TT Fors"/>
                <a:ea typeface="TT Fors"/>
                <a:cs typeface="TT Fors"/>
                <a:sym typeface="TT Fors"/>
              </a:rPr>
              <a:t> to redirect traffic destined for other hosts to the attacker's machine.</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Once traffic is redirected, the attacker can sniff, modify, or intercept the data before forwarding it to the legitimate destination.</a:t>
            </a:r>
          </a:p>
          <a:p>
            <a:pPr algn="l">
              <a:lnSpc>
                <a:spcPts val="3300"/>
              </a:lnSpc>
            </a:pPr>
          </a:p>
          <a:p>
            <a:pPr algn="l">
              <a:lnSpc>
                <a:spcPts val="3300"/>
              </a:lnSpc>
            </a:pPr>
            <a:r>
              <a:rPr lang="en-US" sz="2200" spc="-66" b="true">
                <a:solidFill>
                  <a:srgbClr val="00FFA8"/>
                </a:solidFill>
                <a:latin typeface="TT Fors Bold"/>
                <a:ea typeface="TT Fors Bold"/>
                <a:cs typeface="TT Fors Bold"/>
                <a:sym typeface="TT Fors Bold"/>
              </a:rPr>
              <a:t>Examples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ARP Poi</a:t>
            </a:r>
            <a:r>
              <a:rPr lang="en-US" sz="2200" spc="-66">
                <a:solidFill>
                  <a:srgbClr val="00FFA8"/>
                </a:solidFill>
                <a:latin typeface="TT Fors"/>
                <a:ea typeface="TT Fors"/>
                <a:cs typeface="TT Fors"/>
                <a:sym typeface="TT Fors"/>
              </a:rPr>
              <a:t>soning: Sending forged ARP replies to associate the attacker's MAC address with a target's IP address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MA</a:t>
            </a:r>
            <a:r>
              <a:rPr lang="en-US" sz="2200" spc="-66">
                <a:solidFill>
                  <a:srgbClr val="00FFA8"/>
                </a:solidFill>
                <a:latin typeface="TT Fors"/>
                <a:ea typeface="TT Fors"/>
                <a:cs typeface="TT Fors"/>
                <a:sym typeface="TT Fors"/>
              </a:rPr>
              <a:t>C Flooding: Flooding the switch with forged MAC addresses to fill its MAC address table and cause it to broadcast traffic</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DHCP Sp</a:t>
            </a:r>
            <a:r>
              <a:rPr lang="en-US" sz="2200" spc="-66">
                <a:solidFill>
                  <a:srgbClr val="00FFA8"/>
                </a:solidFill>
                <a:latin typeface="TT Fors"/>
                <a:ea typeface="TT Fors"/>
                <a:cs typeface="TT Fors"/>
                <a:sym typeface="TT Fors"/>
              </a:rPr>
              <a:t>oofing: Running a rogue DHCP server to assign attacker-controlled DNS servers to victim machines</a:t>
            </a:r>
          </a:p>
          <a:p>
            <a:pPr algn="l">
              <a:lnSpc>
                <a:spcPts val="3300"/>
              </a:lnSpc>
            </a:pPr>
          </a:p>
          <a:p>
            <a:pPr algn="l">
              <a:lnSpc>
                <a:spcPts val="3300"/>
              </a:lnSpc>
            </a:pPr>
            <a:r>
              <a:rPr lang="en-US" sz="2200" spc="-66" b="true">
                <a:solidFill>
                  <a:srgbClr val="00FFA8"/>
                </a:solidFill>
                <a:latin typeface="TT Fors Bold"/>
                <a:ea typeface="TT Fors Bold"/>
                <a:cs typeface="TT Fors Bold"/>
                <a:sym typeface="TT Fors Bold"/>
              </a:rPr>
              <a:t>Advantages:</a:t>
            </a:r>
            <a:r>
              <a:rPr lang="en-US" sz="2200" spc="-66">
                <a:solidFill>
                  <a:srgbClr val="00FFA8"/>
                </a:solidFill>
                <a:latin typeface="TT Fors"/>
                <a:ea typeface="TT Fors"/>
                <a:cs typeface="TT Fors"/>
                <a:sym typeface="TT Fors"/>
              </a:rPr>
              <a:t> Works on modern switched networks where passive sniffing is limited. </a:t>
            </a:r>
          </a:p>
          <a:p>
            <a:pPr algn="l">
              <a:lnSpc>
                <a:spcPts val="3300"/>
              </a:lnSpc>
            </a:pPr>
            <a:r>
              <a:rPr lang="en-US" b="true" sz="2200" spc="-66">
                <a:solidFill>
                  <a:srgbClr val="00FFA8"/>
                </a:solidFill>
                <a:latin typeface="TT Fors Bold"/>
                <a:ea typeface="TT Fors Bold"/>
                <a:cs typeface="TT Fors Bold"/>
                <a:sym typeface="TT Fors Bold"/>
              </a:rPr>
              <a:t>Disadvantages:</a:t>
            </a:r>
            <a:r>
              <a:rPr lang="en-US" sz="2200" spc="-66">
                <a:solidFill>
                  <a:srgbClr val="00FFA8"/>
                </a:solidFill>
                <a:latin typeface="TT Fors"/>
                <a:ea typeface="TT Fors"/>
                <a:cs typeface="TT Fors"/>
                <a:sym typeface="TT Fors"/>
              </a:rPr>
              <a:t> Detectable by Intrusion Detection Systems (IDS), requires more technical knowledge, may disrupt network service.</a:t>
            </a:r>
          </a:p>
        </p:txBody>
      </p:sp>
      <p:sp>
        <p:nvSpPr>
          <p:cNvPr name="TextBox 5" id="5"/>
          <p:cNvSpPr txBox="true"/>
          <p:nvPr/>
        </p:nvSpPr>
        <p:spPr>
          <a:xfrm rot="0">
            <a:off x="666750" y="1903781"/>
            <a:ext cx="16954500" cy="352425"/>
          </a:xfrm>
          <a:prstGeom prst="rect">
            <a:avLst/>
          </a:prstGeom>
        </p:spPr>
        <p:txBody>
          <a:bodyPr anchor="t" rtlCol="false" tIns="0" lIns="0" bIns="0" rIns="0">
            <a:spAutoFit/>
          </a:bodyPr>
          <a:lstStyle/>
          <a:p>
            <a:pPr algn="l" marL="0" indent="0" lvl="0">
              <a:lnSpc>
                <a:spcPts val="2880"/>
              </a:lnSpc>
              <a:spcBef>
                <a:spcPct val="0"/>
              </a:spcBef>
            </a:pPr>
            <a:r>
              <a:rPr lang="en-US" b="true" sz="2400" spc="-72">
                <a:solidFill>
                  <a:srgbClr val="FFFFFF"/>
                </a:solidFill>
                <a:latin typeface="TT Fors Bold"/>
                <a:ea typeface="TT Fors Bold"/>
                <a:cs typeface="TT Fors Bold"/>
                <a:sym typeface="TT Fors Bold"/>
              </a:rPr>
              <a:t>Definition: </a:t>
            </a:r>
            <a:r>
              <a:rPr lang="en-US" sz="2400" spc="-72">
                <a:solidFill>
                  <a:srgbClr val="FFFFFF"/>
                </a:solidFill>
                <a:latin typeface="TT Fors"/>
                <a:ea typeface="TT Fors"/>
                <a:cs typeface="TT Fors"/>
                <a:sym typeface="TT Fors"/>
              </a:rPr>
              <a:t>Actively manipulating network tr</a:t>
            </a:r>
            <a:r>
              <a:rPr lang="en-US" sz="2400" spc="-72">
                <a:solidFill>
                  <a:srgbClr val="FFFFFF"/>
                </a:solidFill>
                <a:latin typeface="TT Fors"/>
                <a:ea typeface="TT Fors"/>
                <a:cs typeface="TT Fors"/>
                <a:sym typeface="TT Fors"/>
              </a:rPr>
              <a:t>affic </a:t>
            </a:r>
            <a:r>
              <a:rPr lang="en-US" sz="2400" spc="-72">
                <a:solidFill>
                  <a:srgbClr val="FFFFFF"/>
                </a:solidFill>
                <a:latin typeface="TT Fors"/>
                <a:ea typeface="TT Fors"/>
                <a:cs typeface="TT Fors"/>
                <a:sym typeface="TT Fors"/>
              </a:rPr>
              <a:t>to force data through the attacker's system.</a:t>
            </a:r>
          </a:p>
        </p:txBody>
      </p:sp>
      <p:grpSp>
        <p:nvGrpSpPr>
          <p:cNvPr name="Group 6" id="6"/>
          <p:cNvGrpSpPr/>
          <p:nvPr/>
        </p:nvGrpSpPr>
        <p:grpSpPr>
          <a:xfrm rot="0">
            <a:off x="16115522" y="751544"/>
            <a:ext cx="1505728" cy="810556"/>
            <a:chOff x="0" y="0"/>
            <a:chExt cx="2007638" cy="1080741"/>
          </a:xfrm>
        </p:grpSpPr>
        <p:grpSp>
          <p:nvGrpSpPr>
            <p:cNvPr name="Group 7" id="7"/>
            <p:cNvGrpSpPr/>
            <p:nvPr/>
          </p:nvGrpSpPr>
          <p:grpSpPr>
            <a:xfrm rot="0">
              <a:off x="0" y="0"/>
              <a:ext cx="1080741" cy="108074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926897" y="0"/>
              <a:ext cx="1080741" cy="108074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108486" y="191456"/>
              <a:ext cx="717562" cy="697829"/>
            </a:xfrm>
            <a:custGeom>
              <a:avLst/>
              <a:gdLst/>
              <a:ahLst/>
              <a:cxnLst/>
              <a:rect r="r" b="b" t="t" l="l"/>
              <a:pathLst>
                <a:path h="697829" w="717562">
                  <a:moveTo>
                    <a:pt x="0" y="0"/>
                  </a:moveTo>
                  <a:lnTo>
                    <a:pt x="717563" y="0"/>
                  </a:lnTo>
                  <a:lnTo>
                    <a:pt x="717563" y="697829"/>
                  </a:lnTo>
                  <a:lnTo>
                    <a:pt x="0" y="6978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234320" y="101015"/>
              <a:ext cx="978695" cy="707551"/>
            </a:xfrm>
            <a:custGeom>
              <a:avLst/>
              <a:gdLst/>
              <a:ahLst/>
              <a:cxnLst/>
              <a:rect r="r" b="b" t="t" l="l"/>
              <a:pathLst>
                <a:path h="707551" w="978695">
                  <a:moveTo>
                    <a:pt x="0" y="0"/>
                  </a:moveTo>
                  <a:lnTo>
                    <a:pt x="978695" y="0"/>
                  </a:lnTo>
                  <a:lnTo>
                    <a:pt x="978695" y="707551"/>
                  </a:lnTo>
                  <a:lnTo>
                    <a:pt x="0" y="707551"/>
                  </a:lnTo>
                  <a:lnTo>
                    <a:pt x="0" y="0"/>
                  </a:lnTo>
                  <a:close/>
                </a:path>
              </a:pathLst>
            </a:custGeom>
            <a:blipFill>
              <a:blip r:embed="rId5"/>
              <a:stretch>
                <a:fillRect l="0" t="0" r="-14982"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Types of Network Sniffing (Cont’d)</a:t>
            </a:r>
          </a:p>
        </p:txBody>
      </p:sp>
      <p:sp>
        <p:nvSpPr>
          <p:cNvPr name="TextBox 3" id="3"/>
          <p:cNvSpPr txBox="true"/>
          <p:nvPr/>
        </p:nvSpPr>
        <p:spPr>
          <a:xfrm rot="0">
            <a:off x="666750" y="5232717"/>
            <a:ext cx="8306267" cy="401955"/>
          </a:xfrm>
          <a:prstGeom prst="rect">
            <a:avLst/>
          </a:prstGeom>
        </p:spPr>
        <p:txBody>
          <a:bodyPr anchor="t" rtlCol="false" tIns="0" lIns="0" bIns="0" rIns="0">
            <a:spAutoFit/>
          </a:bodyPr>
          <a:lstStyle/>
          <a:p>
            <a:pPr algn="l">
              <a:lnSpc>
                <a:spcPts val="3300"/>
              </a:lnSpc>
            </a:pPr>
            <a:r>
              <a:rPr lang="en-US" b="true" sz="2200" spc="-66">
                <a:solidFill>
                  <a:srgbClr val="00FFA8"/>
                </a:solidFill>
                <a:latin typeface="TT Fors Bold"/>
                <a:ea typeface="TT Fors Bold"/>
                <a:cs typeface="TT Fors Bold"/>
                <a:sym typeface="TT Fors Bold"/>
              </a:rPr>
              <a:t>Comparison as per Passive vs Active Sniffing:</a:t>
            </a:r>
          </a:p>
        </p:txBody>
      </p:sp>
      <p:graphicFrame>
        <p:nvGraphicFramePr>
          <p:cNvPr name="Table 4" id="4"/>
          <p:cNvGraphicFramePr>
            <a:graphicFrameLocks noGrp="true"/>
          </p:cNvGraphicFramePr>
          <p:nvPr/>
        </p:nvGraphicFramePr>
        <p:xfrm>
          <a:off x="666750" y="5956617"/>
          <a:ext cx="12820650" cy="3143250"/>
        </p:xfrm>
        <a:graphic>
          <a:graphicData uri="http://schemas.openxmlformats.org/drawingml/2006/table">
            <a:tbl>
              <a:tblPr/>
              <a:tblGrid>
                <a:gridCol w="3712318"/>
                <a:gridCol w="4087919"/>
                <a:gridCol w="5020413"/>
              </a:tblGrid>
              <a:tr h="628650">
                <a:tc>
                  <a:txBody>
                    <a:bodyPr anchor="t" rtlCol="false"/>
                    <a:lstStyle/>
                    <a:p>
                      <a:pPr algn="l">
                        <a:lnSpc>
                          <a:spcPts val="3080"/>
                        </a:lnSpc>
                        <a:defRPr/>
                      </a:pPr>
                      <a:r>
                        <a:rPr lang="en-US" b="true" sz="2200">
                          <a:solidFill>
                            <a:srgbClr val="000000"/>
                          </a:solidFill>
                          <a:latin typeface="Canva Sans Bold"/>
                          <a:ea typeface="Canva Sans Bold"/>
                          <a:cs typeface="Canva Sans Bold"/>
                          <a:sym typeface="Canva Sans Bold"/>
                        </a:rPr>
                        <a:t>Aspect</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solidFill>
                      <a:srgbClr val="D5E8F0"/>
                    </a:solidFill>
                  </a:tcPr>
                </a:tc>
                <a:tc>
                  <a:txBody>
                    <a:bodyPr anchor="t" rtlCol="false"/>
                    <a:lstStyle/>
                    <a:p>
                      <a:pPr algn="l">
                        <a:lnSpc>
                          <a:spcPts val="3080"/>
                        </a:lnSpc>
                        <a:defRPr/>
                      </a:pPr>
                      <a:r>
                        <a:rPr lang="en-US" b="true" sz="2200">
                          <a:solidFill>
                            <a:srgbClr val="000000"/>
                          </a:solidFill>
                          <a:latin typeface="Canva Sans Bold"/>
                          <a:ea typeface="Canva Sans Bold"/>
                          <a:cs typeface="Canva Sans Bold"/>
                          <a:sym typeface="Canva Sans Bold"/>
                        </a:rPr>
                        <a:t>Passive Sniffing</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solidFill>
                      <a:srgbClr val="D5E8F0"/>
                    </a:solidFill>
                  </a:tcPr>
                </a:tc>
                <a:tc>
                  <a:txBody>
                    <a:bodyPr anchor="t" rtlCol="false"/>
                    <a:lstStyle/>
                    <a:p>
                      <a:pPr algn="l">
                        <a:lnSpc>
                          <a:spcPts val="3080"/>
                        </a:lnSpc>
                        <a:defRPr/>
                      </a:pPr>
                      <a:r>
                        <a:rPr lang="en-US" b="true" sz="2200">
                          <a:solidFill>
                            <a:srgbClr val="000000"/>
                          </a:solidFill>
                          <a:latin typeface="Canva Sans Bold"/>
                          <a:ea typeface="Canva Sans Bold"/>
                          <a:cs typeface="Canva Sans Bold"/>
                          <a:sym typeface="Canva Sans Bold"/>
                        </a:rPr>
                        <a:t>Active Sniffing</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solidFill>
                      <a:srgbClr val="D5E8F0"/>
                    </a:solidFill>
                  </a:tcPr>
                </a:tc>
              </a:tr>
              <a:tr h="628650">
                <a:tc>
                  <a:txBody>
                    <a:bodyPr anchor="t" rtlCol="false"/>
                    <a:lstStyle/>
                    <a:p>
                      <a:pPr algn="l">
                        <a:lnSpc>
                          <a:spcPts val="3080"/>
                        </a:lnSpc>
                        <a:defRPr/>
                      </a:pPr>
                      <a:r>
                        <a:rPr lang="en-US" b="true" sz="2200">
                          <a:solidFill>
                            <a:srgbClr val="FFFFFF"/>
                          </a:solidFill>
                          <a:latin typeface="Canva Sans Bold"/>
                          <a:ea typeface="Canva Sans Bold"/>
                          <a:cs typeface="Canva Sans Bold"/>
                          <a:sym typeface="Canva Sans Bold"/>
                        </a:rPr>
                        <a:t>Traffic Generation</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tcPr>
                </a:tc>
                <a:tc>
                  <a:txBody>
                    <a:bodyPr anchor="t" rtlCol="false"/>
                    <a:lstStyle/>
                    <a:p>
                      <a:pPr algn="l">
                        <a:lnSpc>
                          <a:spcPts val="3080"/>
                        </a:lnSpc>
                        <a:defRPr/>
                      </a:pPr>
                      <a:r>
                        <a:rPr lang="en-US" sz="2200">
                          <a:solidFill>
                            <a:srgbClr val="FFFFFF"/>
                          </a:solidFill>
                          <a:latin typeface="Canva Sans"/>
                          <a:ea typeface="Canva Sans"/>
                          <a:cs typeface="Canva Sans"/>
                          <a:sym typeface="Canva Sans"/>
                        </a:rPr>
                        <a:t>No packets sent</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tcPr>
                </a:tc>
                <a:tc>
                  <a:txBody>
                    <a:bodyPr anchor="t" rtlCol="false"/>
                    <a:lstStyle/>
                    <a:p>
                      <a:pPr algn="l">
                        <a:lnSpc>
                          <a:spcPts val="3080"/>
                        </a:lnSpc>
                        <a:defRPr/>
                      </a:pPr>
                      <a:r>
                        <a:rPr lang="en-US" sz="2200">
                          <a:solidFill>
                            <a:srgbClr val="FFFFFF"/>
                          </a:solidFill>
                          <a:latin typeface="Canva Sans"/>
                          <a:ea typeface="Canva Sans"/>
                          <a:cs typeface="Canva Sans"/>
                          <a:sym typeface="Canva Sans"/>
                        </a:rPr>
                        <a:t>Attacker sends crafted packets</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tcPr>
                </a:tc>
              </a:tr>
              <a:tr h="628650">
                <a:tc>
                  <a:txBody>
                    <a:bodyPr anchor="t" rtlCol="false"/>
                    <a:lstStyle/>
                    <a:p>
                      <a:pPr algn="l">
                        <a:lnSpc>
                          <a:spcPts val="3080"/>
                        </a:lnSpc>
                        <a:defRPr/>
                      </a:pPr>
                      <a:r>
                        <a:rPr lang="en-US" b="true" sz="2200">
                          <a:solidFill>
                            <a:srgbClr val="FFFFFF"/>
                          </a:solidFill>
                          <a:latin typeface="Canva Sans Bold"/>
                          <a:ea typeface="Canva Sans Bold"/>
                          <a:cs typeface="Canva Sans Bold"/>
                          <a:sym typeface="Canva Sans Bold"/>
                        </a:rPr>
                        <a:t>Network Type</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tcPr>
                </a:tc>
                <a:tc>
                  <a:txBody>
                    <a:bodyPr anchor="t" rtlCol="false"/>
                    <a:lstStyle/>
                    <a:p>
                      <a:pPr algn="l">
                        <a:lnSpc>
                          <a:spcPts val="3080"/>
                        </a:lnSpc>
                        <a:defRPr/>
                      </a:pPr>
                      <a:r>
                        <a:rPr lang="en-US" sz="2200">
                          <a:solidFill>
                            <a:srgbClr val="FFFFFF"/>
                          </a:solidFill>
                          <a:latin typeface="Canva Sans"/>
                          <a:ea typeface="Canva Sans"/>
                          <a:cs typeface="Canva Sans"/>
                          <a:sym typeface="Canva Sans"/>
                        </a:rPr>
                        <a:t>Hubs, wireless</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tcPr>
                </a:tc>
                <a:tc>
                  <a:txBody>
                    <a:bodyPr anchor="t" rtlCol="false"/>
                    <a:lstStyle/>
                    <a:p>
                      <a:pPr algn="l">
                        <a:lnSpc>
                          <a:spcPts val="3080"/>
                        </a:lnSpc>
                        <a:defRPr/>
                      </a:pPr>
                      <a:r>
                        <a:rPr lang="en-US" sz="2200">
                          <a:solidFill>
                            <a:srgbClr val="FFFFFF"/>
                          </a:solidFill>
                          <a:latin typeface="Canva Sans"/>
                          <a:ea typeface="Canva Sans"/>
                          <a:cs typeface="Canva Sans"/>
                          <a:sym typeface="Canva Sans"/>
                        </a:rPr>
                        <a:t>Switched networks</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tcPr>
                </a:tc>
              </a:tr>
              <a:tr h="628650">
                <a:tc>
                  <a:txBody>
                    <a:bodyPr anchor="t" rtlCol="false"/>
                    <a:lstStyle/>
                    <a:p>
                      <a:pPr algn="l">
                        <a:lnSpc>
                          <a:spcPts val="3080"/>
                        </a:lnSpc>
                        <a:defRPr/>
                      </a:pPr>
                      <a:r>
                        <a:rPr lang="en-US" b="true" sz="2200">
                          <a:solidFill>
                            <a:srgbClr val="FFFFFF"/>
                          </a:solidFill>
                          <a:latin typeface="Canva Sans Bold"/>
                          <a:ea typeface="Canva Sans Bold"/>
                          <a:cs typeface="Canva Sans Bold"/>
                          <a:sym typeface="Canva Sans Bold"/>
                        </a:rPr>
                        <a:t>Stealth</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tcPr>
                </a:tc>
                <a:tc>
                  <a:txBody>
                    <a:bodyPr anchor="t" rtlCol="false"/>
                    <a:lstStyle/>
                    <a:p>
                      <a:pPr algn="l">
                        <a:lnSpc>
                          <a:spcPts val="3080"/>
                        </a:lnSpc>
                        <a:defRPr/>
                      </a:pPr>
                      <a:r>
                        <a:rPr lang="en-US" sz="2200">
                          <a:solidFill>
                            <a:srgbClr val="FFFFFF"/>
                          </a:solidFill>
                          <a:latin typeface="Canva Sans"/>
                          <a:ea typeface="Canva Sans"/>
                          <a:cs typeface="Canva Sans"/>
                          <a:sym typeface="Canva Sans"/>
                        </a:rPr>
                        <a:t>Hard to detect</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tcPr>
                </a:tc>
                <a:tc>
                  <a:txBody>
                    <a:bodyPr anchor="t" rtlCol="false"/>
                    <a:lstStyle/>
                    <a:p>
                      <a:pPr algn="l">
                        <a:lnSpc>
                          <a:spcPts val="3080"/>
                        </a:lnSpc>
                        <a:defRPr/>
                      </a:pPr>
                      <a:r>
                        <a:rPr lang="en-US" sz="2200">
                          <a:solidFill>
                            <a:srgbClr val="FFFFFF"/>
                          </a:solidFill>
                          <a:latin typeface="Canva Sans"/>
                          <a:ea typeface="Canva Sans"/>
                          <a:cs typeface="Canva Sans"/>
                          <a:sym typeface="Canva Sans"/>
                        </a:rPr>
                        <a:t>Risk of IDS/IPS alerts</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tcPr>
                </a:tc>
              </a:tr>
              <a:tr h="628650">
                <a:tc>
                  <a:txBody>
                    <a:bodyPr anchor="t" rtlCol="false"/>
                    <a:lstStyle/>
                    <a:p>
                      <a:pPr algn="l">
                        <a:lnSpc>
                          <a:spcPts val="3080"/>
                        </a:lnSpc>
                        <a:defRPr/>
                      </a:pPr>
                      <a:r>
                        <a:rPr lang="en-US" b="true" sz="2200">
                          <a:solidFill>
                            <a:srgbClr val="FFFFFF"/>
                          </a:solidFill>
                          <a:latin typeface="Canva Sans Bold"/>
                          <a:ea typeface="Canva Sans Bold"/>
                          <a:cs typeface="Canva Sans Bold"/>
                          <a:sym typeface="Canva Sans Bold"/>
                        </a:rPr>
                        <a:t>Tools</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tcPr>
                </a:tc>
                <a:tc>
                  <a:txBody>
                    <a:bodyPr anchor="t" rtlCol="false"/>
                    <a:lstStyle/>
                    <a:p>
                      <a:pPr algn="l">
                        <a:lnSpc>
                          <a:spcPts val="3080"/>
                        </a:lnSpc>
                        <a:defRPr/>
                      </a:pPr>
                      <a:r>
                        <a:rPr lang="en-US" sz="2200">
                          <a:solidFill>
                            <a:srgbClr val="FFFFFF"/>
                          </a:solidFill>
                          <a:latin typeface="Canva Sans"/>
                          <a:ea typeface="Canva Sans"/>
                          <a:cs typeface="Canva Sans"/>
                          <a:sym typeface="Canva Sans"/>
                        </a:rPr>
                        <a:t>Wireshark, tcpdump</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tcPr>
                </a:tc>
                <a:tc>
                  <a:txBody>
                    <a:bodyPr anchor="t" rtlCol="false"/>
                    <a:lstStyle/>
                    <a:p>
                      <a:pPr algn="l">
                        <a:lnSpc>
                          <a:spcPts val="3080"/>
                        </a:lnSpc>
                        <a:defRPr/>
                      </a:pPr>
                      <a:r>
                        <a:rPr lang="en-US" sz="2200">
                          <a:solidFill>
                            <a:srgbClr val="FFFFFF"/>
                          </a:solidFill>
                          <a:latin typeface="Canva Sans"/>
                          <a:ea typeface="Canva Sans"/>
                          <a:cs typeface="Canva Sans"/>
                          <a:sym typeface="Canva Sans"/>
                        </a:rPr>
                        <a:t>Ettercap, BetterCAP</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tcPr>
                </a:tc>
              </a:tr>
            </a:tbl>
          </a:graphicData>
        </a:graphic>
      </p:graphicFrame>
      <p:grpSp>
        <p:nvGrpSpPr>
          <p:cNvPr name="Group 5" id="5"/>
          <p:cNvGrpSpPr/>
          <p:nvPr/>
        </p:nvGrpSpPr>
        <p:grpSpPr>
          <a:xfrm rot="0">
            <a:off x="16115522" y="751544"/>
            <a:ext cx="1505728" cy="810556"/>
            <a:chOff x="0" y="0"/>
            <a:chExt cx="2007638" cy="1080741"/>
          </a:xfrm>
        </p:grpSpPr>
        <p:grpSp>
          <p:nvGrpSpPr>
            <p:cNvPr name="Group 6" id="6"/>
            <p:cNvGrpSpPr/>
            <p:nvPr/>
          </p:nvGrpSpPr>
          <p:grpSpPr>
            <a:xfrm rot="0">
              <a:off x="0" y="0"/>
              <a:ext cx="1080741" cy="108074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926897" y="0"/>
              <a:ext cx="1080741" cy="108074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108486" y="191456"/>
              <a:ext cx="717562" cy="697829"/>
            </a:xfrm>
            <a:custGeom>
              <a:avLst/>
              <a:gdLst/>
              <a:ahLst/>
              <a:cxnLst/>
              <a:rect r="r" b="b" t="t" l="l"/>
              <a:pathLst>
                <a:path h="697829" w="717562">
                  <a:moveTo>
                    <a:pt x="0" y="0"/>
                  </a:moveTo>
                  <a:lnTo>
                    <a:pt x="717563" y="0"/>
                  </a:lnTo>
                  <a:lnTo>
                    <a:pt x="717563" y="697829"/>
                  </a:lnTo>
                  <a:lnTo>
                    <a:pt x="0" y="6978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234320" y="101015"/>
              <a:ext cx="978695" cy="707551"/>
            </a:xfrm>
            <a:custGeom>
              <a:avLst/>
              <a:gdLst/>
              <a:ahLst/>
              <a:cxnLst/>
              <a:rect r="r" b="b" t="t" l="l"/>
              <a:pathLst>
                <a:path h="707551" w="978695">
                  <a:moveTo>
                    <a:pt x="0" y="0"/>
                  </a:moveTo>
                  <a:lnTo>
                    <a:pt x="978695" y="0"/>
                  </a:lnTo>
                  <a:lnTo>
                    <a:pt x="978695" y="707551"/>
                  </a:lnTo>
                  <a:lnTo>
                    <a:pt x="0" y="707551"/>
                  </a:lnTo>
                  <a:lnTo>
                    <a:pt x="0" y="0"/>
                  </a:lnTo>
                  <a:close/>
                </a:path>
              </a:pathLst>
            </a:custGeom>
            <a:blipFill>
              <a:blip r:embed="rId5"/>
              <a:stretch>
                <a:fillRect l="0" t="0" r="-14982" b="0"/>
              </a:stretch>
            </a:blipFill>
          </p:spPr>
        </p:sp>
      </p:grpSp>
      <p:sp>
        <p:nvSpPr>
          <p:cNvPr name="TextBox 14" id="14"/>
          <p:cNvSpPr txBox="true"/>
          <p:nvPr/>
        </p:nvSpPr>
        <p:spPr>
          <a:xfrm rot="0">
            <a:off x="666750" y="1973897"/>
            <a:ext cx="16954500" cy="2715895"/>
          </a:xfrm>
          <a:prstGeom prst="rect">
            <a:avLst/>
          </a:prstGeom>
        </p:spPr>
        <p:txBody>
          <a:bodyPr anchor="t" rtlCol="false" tIns="0" lIns="0" bIns="0" rIns="0">
            <a:spAutoFit/>
          </a:bodyPr>
          <a:lstStyle/>
          <a:p>
            <a:pPr algn="l">
              <a:lnSpc>
                <a:spcPts val="3080"/>
              </a:lnSpc>
              <a:spcBef>
                <a:spcPct val="0"/>
              </a:spcBef>
            </a:pPr>
            <a:r>
              <a:rPr lang="en-US" b="true" sz="2200">
                <a:solidFill>
                  <a:srgbClr val="00FFA8"/>
                </a:solidFill>
                <a:latin typeface="TT Fors Bold"/>
                <a:ea typeface="TT Fors Bold"/>
                <a:cs typeface="TT Fors Bold"/>
                <a:sym typeface="TT Fors Bold"/>
              </a:rPr>
              <a:t>Comparison as per MIT vs. Stanford:</a:t>
            </a:r>
          </a:p>
          <a:p>
            <a:pPr algn="l" marL="474983" indent="-237491" lvl="1">
              <a:lnSpc>
                <a:spcPts val="3080"/>
              </a:lnSpc>
              <a:buFont typeface="Arial"/>
              <a:buChar char="•"/>
            </a:pPr>
            <a:r>
              <a:rPr lang="en-US" b="true" sz="2200">
                <a:solidFill>
                  <a:srgbClr val="00FFA8"/>
                </a:solidFill>
                <a:latin typeface="TT Fors Bold"/>
                <a:ea typeface="TT Fors Bold"/>
                <a:cs typeface="TT Fors Bold"/>
                <a:sym typeface="TT Fors Bold"/>
              </a:rPr>
              <a:t>MIT</a:t>
            </a:r>
            <a:r>
              <a:rPr lang="en-US" sz="2200">
                <a:solidFill>
                  <a:srgbClr val="00FFA8"/>
                </a:solidFill>
                <a:latin typeface="TT Fors"/>
                <a:ea typeface="TT Fors"/>
                <a:cs typeface="TT Fors"/>
                <a:sym typeface="TT Fors"/>
              </a:rPr>
              <a:t> researchers have developed innovative approaches to more efficiently monitor network traffic in data centers, enabling the detection of activities such as sniffing and other cyber threats in Software-Defined Networking (SDN) environments. Their work focuses on enhancing security and privacy rather than simply sniffing. </a:t>
            </a:r>
          </a:p>
          <a:p>
            <a:pPr algn="l" marL="474983" indent="-237491" lvl="1">
              <a:lnSpc>
                <a:spcPts val="3080"/>
              </a:lnSpc>
              <a:spcBef>
                <a:spcPct val="0"/>
              </a:spcBef>
              <a:buFont typeface="Arial"/>
              <a:buChar char="•"/>
            </a:pPr>
            <a:r>
              <a:rPr lang="en-US" b="true" sz="2200">
                <a:solidFill>
                  <a:srgbClr val="00FFA8"/>
                </a:solidFill>
                <a:latin typeface="TT Fors Bold"/>
                <a:ea typeface="TT Fors Bold"/>
                <a:cs typeface="TT Fors Bold"/>
                <a:sym typeface="TT Fors Bold"/>
              </a:rPr>
              <a:t>Stanford University</a:t>
            </a:r>
            <a:r>
              <a:rPr lang="en-US" sz="2200">
                <a:solidFill>
                  <a:srgbClr val="00FFA8"/>
                </a:solidFill>
                <a:latin typeface="TT Fors"/>
                <a:ea typeface="TT Fors"/>
                <a:cs typeface="TT Fors"/>
                <a:sym typeface="TT Fors"/>
              </a:rPr>
              <a:t> offers resources and guidance on leveraging native cloud provider capabilities, such as AWS VPC Traffic Mirroring and Azure Virtual Network TAP, for network monitoring and security, as part of its general cloud services support and research into cloud security practices.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TCP/IP Network Model and Packet Structure</a:t>
            </a:r>
          </a:p>
        </p:txBody>
      </p:sp>
      <p:sp>
        <p:nvSpPr>
          <p:cNvPr name="TextBox 3" id="3"/>
          <p:cNvSpPr txBox="true"/>
          <p:nvPr/>
        </p:nvSpPr>
        <p:spPr>
          <a:xfrm rot="0">
            <a:off x="666750" y="1331595"/>
            <a:ext cx="8306267" cy="453390"/>
          </a:xfrm>
          <a:prstGeom prst="rect">
            <a:avLst/>
          </a:prstGeom>
        </p:spPr>
        <p:txBody>
          <a:bodyPr anchor="t" rtlCol="false" tIns="0" lIns="0" bIns="0" rIns="0">
            <a:spAutoFit/>
          </a:bodyPr>
          <a:lstStyle/>
          <a:p>
            <a:pPr algn="l">
              <a:lnSpc>
                <a:spcPts val="3899"/>
              </a:lnSpc>
            </a:pPr>
            <a:r>
              <a:rPr lang="en-US" b="true" sz="2599" spc="-77">
                <a:solidFill>
                  <a:srgbClr val="00FFA8"/>
                </a:solidFill>
                <a:latin typeface="TT Fors Bold"/>
                <a:ea typeface="TT Fors Bold"/>
                <a:cs typeface="TT Fors Bold"/>
                <a:sym typeface="TT Fors Bold"/>
              </a:rPr>
              <a:t>TCP/IP Model Overview</a:t>
            </a:r>
          </a:p>
        </p:txBody>
      </p:sp>
      <p:sp>
        <p:nvSpPr>
          <p:cNvPr name="TextBox 4" id="4"/>
          <p:cNvSpPr txBox="true"/>
          <p:nvPr/>
        </p:nvSpPr>
        <p:spPr>
          <a:xfrm rot="0">
            <a:off x="666750" y="2884856"/>
            <a:ext cx="17223942" cy="6269355"/>
          </a:xfrm>
          <a:prstGeom prst="rect">
            <a:avLst/>
          </a:prstGeom>
        </p:spPr>
        <p:txBody>
          <a:bodyPr anchor="t" rtlCol="false" tIns="0" lIns="0" bIns="0" rIns="0">
            <a:spAutoFit/>
          </a:bodyPr>
          <a:lstStyle/>
          <a:p>
            <a:pPr algn="l">
              <a:lnSpc>
                <a:spcPts val="3300"/>
              </a:lnSpc>
            </a:pPr>
            <a:r>
              <a:rPr lang="en-US" b="true" sz="2200" spc="-66">
                <a:solidFill>
                  <a:srgbClr val="00FFA8"/>
                </a:solidFill>
                <a:latin typeface="TT Fors Bold"/>
                <a:ea typeface="TT Fors Bold"/>
                <a:cs typeface="TT Fors Bold"/>
                <a:sym typeface="TT Fors Bold"/>
              </a:rPr>
              <a:t>Layer</a:t>
            </a:r>
            <a:r>
              <a:rPr lang="en-US" b="true" sz="2200" spc="-66" strike="noStrike" u="none">
                <a:solidFill>
                  <a:srgbClr val="00FFA8"/>
                </a:solidFill>
                <a:latin typeface="TT Fors Bold"/>
                <a:ea typeface="TT Fors Bold"/>
                <a:cs typeface="TT Fors Bold"/>
                <a:sym typeface="TT Fors Bold"/>
              </a:rPr>
              <a:t> 1: Physical Layer</a:t>
            </a:r>
          </a:p>
          <a:p>
            <a:pPr algn="l">
              <a:lnSpc>
                <a:spcPts val="3300"/>
              </a:lnSpc>
            </a:pPr>
            <a:r>
              <a:rPr lang="en-US" sz="2200" spc="-66" strike="noStrike" u="none">
                <a:solidFill>
                  <a:srgbClr val="00FFA8"/>
                </a:solidFill>
                <a:latin typeface="TT Fors"/>
                <a:ea typeface="TT Fors"/>
                <a:cs typeface="TT Fors"/>
                <a:sym typeface="TT Fors"/>
              </a:rPr>
              <a:t>Responsible for transmitting raw bits over physical media (copper cables, fiber optics, radio waves). Examples: Ethernet, Wi-Fi radio transmission.</a:t>
            </a:r>
          </a:p>
          <a:p>
            <a:pPr algn="l">
              <a:lnSpc>
                <a:spcPts val="3300"/>
              </a:lnSpc>
            </a:pPr>
            <a:r>
              <a:rPr lang="en-US" b="true" sz="2200" spc="-66" strike="noStrike" u="none">
                <a:solidFill>
                  <a:srgbClr val="00FFA8"/>
                </a:solidFill>
                <a:latin typeface="TT Fors Bold"/>
                <a:ea typeface="TT Fors Bold"/>
                <a:cs typeface="TT Fors Bold"/>
                <a:sym typeface="TT Fors Bold"/>
              </a:rPr>
              <a:t>Layer 2: Data Link Layer (Link Layer)</a:t>
            </a:r>
          </a:p>
          <a:p>
            <a:pPr algn="l">
              <a:lnSpc>
                <a:spcPts val="3300"/>
              </a:lnSpc>
            </a:pPr>
            <a:r>
              <a:rPr lang="en-US" sz="2200" spc="-66" strike="noStrike" u="none">
                <a:solidFill>
                  <a:srgbClr val="00FFA8"/>
                </a:solidFill>
                <a:latin typeface="TT Fors"/>
                <a:ea typeface="TT Fors"/>
                <a:cs typeface="TT Fors"/>
                <a:sym typeface="TT Fors"/>
              </a:rPr>
              <a:t>Responsible for moving data between two devices on the same network segment. Uses MAC (Media Access Control) addresses to identify devices. Examples: Ethernet frames, ARP (Address Resolution Protocol).</a:t>
            </a:r>
          </a:p>
          <a:p>
            <a:pPr algn="l">
              <a:lnSpc>
                <a:spcPts val="3300"/>
              </a:lnSpc>
            </a:pPr>
            <a:r>
              <a:rPr lang="en-US" b="true" sz="2200" spc="-66" strike="noStrike" u="none">
                <a:solidFill>
                  <a:srgbClr val="00FFA8"/>
                </a:solidFill>
                <a:latin typeface="TT Fors Bold"/>
                <a:ea typeface="TT Fors Bold"/>
                <a:cs typeface="TT Fors Bold"/>
                <a:sym typeface="TT Fors Bold"/>
              </a:rPr>
              <a:t>Layer 3: Network Layer (Internet Layer)</a:t>
            </a:r>
          </a:p>
          <a:p>
            <a:pPr algn="l">
              <a:lnSpc>
                <a:spcPts val="3300"/>
              </a:lnSpc>
            </a:pPr>
            <a:r>
              <a:rPr lang="en-US" sz="2200" spc="-66" strike="noStrike" u="none">
                <a:solidFill>
                  <a:srgbClr val="00FFA8"/>
                </a:solidFill>
                <a:latin typeface="TT Fors"/>
                <a:ea typeface="TT Fors"/>
                <a:cs typeface="TT Fors"/>
                <a:sym typeface="TT Fors"/>
              </a:rPr>
              <a:t>Responsible for routing packets across networks. Uses IP (Internet Protocol) addresses to identify devices across the internet. Examples: IPv4, IPv6, routing protocols.</a:t>
            </a:r>
          </a:p>
          <a:p>
            <a:pPr algn="l">
              <a:lnSpc>
                <a:spcPts val="3300"/>
              </a:lnSpc>
            </a:pPr>
            <a:r>
              <a:rPr lang="en-US" b="true" sz="2200" spc="-66" strike="noStrike" u="none">
                <a:solidFill>
                  <a:srgbClr val="00FFA8"/>
                </a:solidFill>
                <a:latin typeface="TT Fors Bold"/>
                <a:ea typeface="TT Fors Bold"/>
                <a:cs typeface="TT Fors Bold"/>
                <a:sym typeface="TT Fors Bold"/>
              </a:rPr>
              <a:t>Layer 4: Transport Layer</a:t>
            </a:r>
          </a:p>
          <a:p>
            <a:pPr algn="l">
              <a:lnSpc>
                <a:spcPts val="3300"/>
              </a:lnSpc>
            </a:pPr>
            <a:r>
              <a:rPr lang="en-US" sz="2200" spc="-66" strike="noStrike" u="none">
                <a:solidFill>
                  <a:srgbClr val="00FFA8"/>
                </a:solidFill>
                <a:latin typeface="TT Fors"/>
                <a:ea typeface="TT Fors"/>
                <a:cs typeface="TT Fors"/>
                <a:sym typeface="TT Fors"/>
              </a:rPr>
              <a:t>Responsible for end-to-end communication between applications. Uses ports to identify specific services. Examples: TCP (connection-oriented), UDP (connectionless).</a:t>
            </a:r>
          </a:p>
          <a:p>
            <a:pPr algn="l">
              <a:lnSpc>
                <a:spcPts val="3300"/>
              </a:lnSpc>
            </a:pPr>
            <a:r>
              <a:rPr lang="en-US" b="true" sz="2200" spc="-66" strike="noStrike" u="none">
                <a:solidFill>
                  <a:srgbClr val="00FFA8"/>
                </a:solidFill>
                <a:latin typeface="TT Fors Bold"/>
                <a:ea typeface="TT Fors Bold"/>
                <a:cs typeface="TT Fors Bold"/>
                <a:sym typeface="TT Fors Bold"/>
              </a:rPr>
              <a:t>Layer 5-7: Application Layer</a:t>
            </a:r>
          </a:p>
          <a:p>
            <a:pPr algn="l">
              <a:lnSpc>
                <a:spcPts val="3300"/>
              </a:lnSpc>
            </a:pPr>
            <a:r>
              <a:rPr lang="en-US" sz="2200" spc="-66" strike="noStrike" u="none">
                <a:solidFill>
                  <a:srgbClr val="00FFA8"/>
                </a:solidFill>
                <a:latin typeface="TT Fors"/>
                <a:ea typeface="TT Fors"/>
                <a:cs typeface="TT Fors"/>
                <a:sym typeface="TT Fors"/>
              </a:rPr>
              <a:t>Contains protocols and services that end-users interact with. Examples: HTTP/HTTPS (web), SMTP (email), SSH (remote access), FTP (file transfer), DNS (domain resolution).</a:t>
            </a:r>
          </a:p>
        </p:txBody>
      </p:sp>
      <p:sp>
        <p:nvSpPr>
          <p:cNvPr name="TextBox 5" id="5"/>
          <p:cNvSpPr txBox="true"/>
          <p:nvPr/>
        </p:nvSpPr>
        <p:spPr>
          <a:xfrm rot="0">
            <a:off x="666750" y="1903781"/>
            <a:ext cx="16954500" cy="714375"/>
          </a:xfrm>
          <a:prstGeom prst="rect">
            <a:avLst/>
          </a:prstGeom>
        </p:spPr>
        <p:txBody>
          <a:bodyPr anchor="t" rtlCol="false" tIns="0" lIns="0" bIns="0" rIns="0">
            <a:spAutoFit/>
          </a:bodyPr>
          <a:lstStyle/>
          <a:p>
            <a:pPr algn="l" marL="0" indent="0" lvl="0">
              <a:lnSpc>
                <a:spcPts val="2880"/>
              </a:lnSpc>
              <a:spcBef>
                <a:spcPct val="0"/>
              </a:spcBef>
            </a:pPr>
            <a:r>
              <a:rPr lang="en-US" sz="2400" spc="-72">
                <a:solidFill>
                  <a:srgbClr val="FFFFFF"/>
                </a:solidFill>
                <a:latin typeface="TT Fors"/>
                <a:ea typeface="TT Fors"/>
                <a:cs typeface="TT Fors"/>
                <a:sym typeface="TT Fors"/>
              </a:rPr>
              <a:t>The TCP/IP model is the fundamental architecture for Internet communication. It consists of four layers, each with specific responsibilities. Understanding this model is essential for network sniffing because different attacks target different layers.</a:t>
            </a:r>
          </a:p>
        </p:txBody>
      </p:sp>
      <p:grpSp>
        <p:nvGrpSpPr>
          <p:cNvPr name="Group 6" id="6"/>
          <p:cNvGrpSpPr/>
          <p:nvPr/>
        </p:nvGrpSpPr>
        <p:grpSpPr>
          <a:xfrm rot="0">
            <a:off x="16115522" y="751544"/>
            <a:ext cx="1505728" cy="810556"/>
            <a:chOff x="0" y="0"/>
            <a:chExt cx="2007638" cy="1080741"/>
          </a:xfrm>
        </p:grpSpPr>
        <p:grpSp>
          <p:nvGrpSpPr>
            <p:cNvPr name="Group 7" id="7"/>
            <p:cNvGrpSpPr/>
            <p:nvPr/>
          </p:nvGrpSpPr>
          <p:grpSpPr>
            <a:xfrm rot="0">
              <a:off x="0" y="0"/>
              <a:ext cx="1080741" cy="108074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926897" y="0"/>
              <a:ext cx="1080741" cy="108074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108486" y="191456"/>
              <a:ext cx="717562" cy="697829"/>
            </a:xfrm>
            <a:custGeom>
              <a:avLst/>
              <a:gdLst/>
              <a:ahLst/>
              <a:cxnLst/>
              <a:rect r="r" b="b" t="t" l="l"/>
              <a:pathLst>
                <a:path h="697829" w="717562">
                  <a:moveTo>
                    <a:pt x="0" y="0"/>
                  </a:moveTo>
                  <a:lnTo>
                    <a:pt x="717563" y="0"/>
                  </a:lnTo>
                  <a:lnTo>
                    <a:pt x="717563" y="697829"/>
                  </a:lnTo>
                  <a:lnTo>
                    <a:pt x="0" y="6978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234320" y="101015"/>
              <a:ext cx="978695" cy="707551"/>
            </a:xfrm>
            <a:custGeom>
              <a:avLst/>
              <a:gdLst/>
              <a:ahLst/>
              <a:cxnLst/>
              <a:rect r="r" b="b" t="t" l="l"/>
              <a:pathLst>
                <a:path h="707551" w="978695">
                  <a:moveTo>
                    <a:pt x="0" y="0"/>
                  </a:moveTo>
                  <a:lnTo>
                    <a:pt x="978695" y="0"/>
                  </a:lnTo>
                  <a:lnTo>
                    <a:pt x="978695" y="707551"/>
                  </a:lnTo>
                  <a:lnTo>
                    <a:pt x="0" y="707551"/>
                  </a:lnTo>
                  <a:lnTo>
                    <a:pt x="0" y="0"/>
                  </a:lnTo>
                  <a:close/>
                </a:path>
              </a:pathLst>
            </a:custGeom>
            <a:blipFill>
              <a:blip r:embed="rId5"/>
              <a:stretch>
                <a:fillRect l="0" t="0" r="-14982"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TCP/IP Network Model and Packet Structure</a:t>
            </a:r>
          </a:p>
        </p:txBody>
      </p:sp>
      <p:grpSp>
        <p:nvGrpSpPr>
          <p:cNvPr name="Group 3" id="3"/>
          <p:cNvGrpSpPr/>
          <p:nvPr/>
        </p:nvGrpSpPr>
        <p:grpSpPr>
          <a:xfrm rot="0">
            <a:off x="16115522" y="751544"/>
            <a:ext cx="1505728" cy="810556"/>
            <a:chOff x="0" y="0"/>
            <a:chExt cx="2007638" cy="1080741"/>
          </a:xfrm>
        </p:grpSpPr>
        <p:grpSp>
          <p:nvGrpSpPr>
            <p:cNvPr name="Group 4" id="4"/>
            <p:cNvGrpSpPr/>
            <p:nvPr/>
          </p:nvGrpSpPr>
          <p:grpSpPr>
            <a:xfrm rot="0">
              <a:off x="0" y="0"/>
              <a:ext cx="1080741" cy="108074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926897" y="0"/>
              <a:ext cx="1080741" cy="108074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108486" y="191456"/>
              <a:ext cx="717562" cy="697829"/>
            </a:xfrm>
            <a:custGeom>
              <a:avLst/>
              <a:gdLst/>
              <a:ahLst/>
              <a:cxnLst/>
              <a:rect r="r" b="b" t="t" l="l"/>
              <a:pathLst>
                <a:path h="697829" w="717562">
                  <a:moveTo>
                    <a:pt x="0" y="0"/>
                  </a:moveTo>
                  <a:lnTo>
                    <a:pt x="717563" y="0"/>
                  </a:lnTo>
                  <a:lnTo>
                    <a:pt x="717563" y="697829"/>
                  </a:lnTo>
                  <a:lnTo>
                    <a:pt x="0" y="6978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234320" y="101015"/>
              <a:ext cx="978695" cy="707551"/>
            </a:xfrm>
            <a:custGeom>
              <a:avLst/>
              <a:gdLst/>
              <a:ahLst/>
              <a:cxnLst/>
              <a:rect r="r" b="b" t="t" l="l"/>
              <a:pathLst>
                <a:path h="707551" w="978695">
                  <a:moveTo>
                    <a:pt x="0" y="0"/>
                  </a:moveTo>
                  <a:lnTo>
                    <a:pt x="978695" y="0"/>
                  </a:lnTo>
                  <a:lnTo>
                    <a:pt x="978695" y="707551"/>
                  </a:lnTo>
                  <a:lnTo>
                    <a:pt x="0" y="707551"/>
                  </a:lnTo>
                  <a:lnTo>
                    <a:pt x="0" y="0"/>
                  </a:lnTo>
                  <a:close/>
                </a:path>
              </a:pathLst>
            </a:custGeom>
            <a:blipFill>
              <a:blip r:embed="rId5"/>
              <a:stretch>
                <a:fillRect l="0" t="0" r="-14982" b="0"/>
              </a:stretch>
            </a:blipFill>
          </p:spPr>
        </p:sp>
      </p:grpSp>
      <p:sp>
        <p:nvSpPr>
          <p:cNvPr name="Freeform 12" id="12"/>
          <p:cNvSpPr/>
          <p:nvPr/>
        </p:nvSpPr>
        <p:spPr>
          <a:xfrm flipH="false" flipV="false" rot="0">
            <a:off x="666750" y="2067740"/>
            <a:ext cx="16854177" cy="7457973"/>
          </a:xfrm>
          <a:custGeom>
            <a:avLst/>
            <a:gdLst/>
            <a:ahLst/>
            <a:cxnLst/>
            <a:rect r="r" b="b" t="t" l="l"/>
            <a:pathLst>
              <a:path h="7457973" w="16854177">
                <a:moveTo>
                  <a:pt x="0" y="0"/>
                </a:moveTo>
                <a:lnTo>
                  <a:pt x="16854177" y="0"/>
                </a:lnTo>
                <a:lnTo>
                  <a:pt x="16854177" y="7457973"/>
                </a:lnTo>
                <a:lnTo>
                  <a:pt x="0" y="7457973"/>
                </a:lnTo>
                <a:lnTo>
                  <a:pt x="0" y="0"/>
                </a:lnTo>
                <a:close/>
              </a:path>
            </a:pathLst>
          </a:custGeom>
          <a:blipFill>
            <a:blip r:embed="rId6"/>
            <a:stretch>
              <a:fillRect l="0" t="0" r="0" b="0"/>
            </a:stretch>
          </a:blipFill>
        </p:spPr>
      </p:sp>
      <p:sp>
        <p:nvSpPr>
          <p:cNvPr name="TextBox 13" id="13"/>
          <p:cNvSpPr txBox="true"/>
          <p:nvPr/>
        </p:nvSpPr>
        <p:spPr>
          <a:xfrm rot="0">
            <a:off x="666750" y="1495425"/>
            <a:ext cx="8306267" cy="453390"/>
          </a:xfrm>
          <a:prstGeom prst="rect">
            <a:avLst/>
          </a:prstGeom>
        </p:spPr>
        <p:txBody>
          <a:bodyPr anchor="t" rtlCol="false" tIns="0" lIns="0" bIns="0" rIns="0">
            <a:spAutoFit/>
          </a:bodyPr>
          <a:lstStyle/>
          <a:p>
            <a:pPr algn="l">
              <a:lnSpc>
                <a:spcPts val="3899"/>
              </a:lnSpc>
            </a:pPr>
            <a:r>
              <a:rPr lang="en-US" b="true" sz="2599" spc="-77">
                <a:solidFill>
                  <a:srgbClr val="00FFA8"/>
                </a:solidFill>
                <a:latin typeface="TT Fors Bold"/>
                <a:ea typeface="TT Fors Bold"/>
                <a:cs typeface="TT Fors Bold"/>
                <a:sym typeface="TT Fors Bold"/>
              </a:rPr>
              <a:t>Packet Structure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TCP/IP Network Model and Packet Structure</a:t>
            </a:r>
          </a:p>
        </p:txBody>
      </p:sp>
      <p:sp>
        <p:nvSpPr>
          <p:cNvPr name="TextBox 3" id="3"/>
          <p:cNvSpPr txBox="true"/>
          <p:nvPr/>
        </p:nvSpPr>
        <p:spPr>
          <a:xfrm rot="0">
            <a:off x="666750" y="1331595"/>
            <a:ext cx="8306267" cy="453390"/>
          </a:xfrm>
          <a:prstGeom prst="rect">
            <a:avLst/>
          </a:prstGeom>
        </p:spPr>
        <p:txBody>
          <a:bodyPr anchor="t" rtlCol="false" tIns="0" lIns="0" bIns="0" rIns="0">
            <a:spAutoFit/>
          </a:bodyPr>
          <a:lstStyle/>
          <a:p>
            <a:pPr algn="l">
              <a:lnSpc>
                <a:spcPts val="3899"/>
              </a:lnSpc>
            </a:pPr>
            <a:r>
              <a:rPr lang="en-US" b="true" sz="2599" spc="-77">
                <a:solidFill>
                  <a:srgbClr val="00FFA8"/>
                </a:solidFill>
                <a:latin typeface="TT Fors Bold"/>
                <a:ea typeface="TT Fors Bold"/>
                <a:cs typeface="TT Fors Bold"/>
                <a:sym typeface="TT Fors Bold"/>
              </a:rPr>
              <a:t>Packet Structure (Cont’d)</a:t>
            </a:r>
          </a:p>
        </p:txBody>
      </p:sp>
      <p:sp>
        <p:nvSpPr>
          <p:cNvPr name="TextBox 4" id="4"/>
          <p:cNvSpPr txBox="true"/>
          <p:nvPr/>
        </p:nvSpPr>
        <p:spPr>
          <a:xfrm rot="0">
            <a:off x="666750" y="2268868"/>
            <a:ext cx="8846499" cy="4592955"/>
          </a:xfrm>
          <a:prstGeom prst="rect">
            <a:avLst/>
          </a:prstGeom>
        </p:spPr>
        <p:txBody>
          <a:bodyPr anchor="t" rtlCol="false" tIns="0" lIns="0" bIns="0" rIns="0">
            <a:spAutoFit/>
          </a:bodyPr>
          <a:lstStyle/>
          <a:p>
            <a:pPr algn="l" marL="474981" indent="-237491" lvl="1">
              <a:lnSpc>
                <a:spcPts val="3300"/>
              </a:lnSpc>
              <a:buFont typeface="Arial"/>
              <a:buChar char="•"/>
            </a:pPr>
            <a:r>
              <a:rPr lang="en-US" sz="2200" spc="-66">
                <a:solidFill>
                  <a:srgbClr val="00FFA8"/>
                </a:solidFill>
                <a:latin typeface="TT Fors"/>
                <a:ea typeface="TT Fors"/>
                <a:cs typeface="TT Fors"/>
                <a:sym typeface="TT Fors"/>
              </a:rPr>
              <a:t>Applications (Web browsers, FTP clients, email clients)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Network protocols (Internet protocol)</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Packet capture</a:t>
            </a:r>
          </a:p>
          <a:p>
            <a:pPr algn="l" marL="949962" indent="-316654" lvl="2">
              <a:lnSpc>
                <a:spcPts val="3300"/>
              </a:lnSpc>
              <a:buFont typeface="Arial"/>
              <a:buChar char="⚬"/>
            </a:pPr>
            <a:r>
              <a:rPr lang="en-US" sz="2200" spc="-66">
                <a:solidFill>
                  <a:srgbClr val="00FFA8"/>
                </a:solidFill>
                <a:latin typeface="TT Fors"/>
                <a:ea typeface="TT Fors"/>
                <a:cs typeface="TT Fors"/>
                <a:sym typeface="TT Fors"/>
              </a:rPr>
              <a:t>The packet capture library receives a copy of every link-layer frame that is sent from or received by your computer.</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Packet Analyzer</a:t>
            </a:r>
          </a:p>
          <a:p>
            <a:pPr algn="l" marL="949962" indent="-316654" lvl="2">
              <a:lnSpc>
                <a:spcPts val="3300"/>
              </a:lnSpc>
              <a:buFont typeface="Arial"/>
              <a:buChar char="⚬"/>
            </a:pPr>
            <a:r>
              <a:rPr lang="en-US" sz="2200" spc="-66">
                <a:solidFill>
                  <a:srgbClr val="00FFA8"/>
                </a:solidFill>
                <a:latin typeface="TT Fors"/>
                <a:ea typeface="TT Fors"/>
                <a:cs typeface="TT Fors"/>
                <a:sym typeface="TT Fors"/>
              </a:rPr>
              <a:t>Displaying the contents of all fields within a protocol message</a:t>
            </a:r>
          </a:p>
          <a:p>
            <a:pPr algn="l" marL="949962" indent="-316654" lvl="2">
              <a:lnSpc>
                <a:spcPts val="3300"/>
              </a:lnSpc>
              <a:buFont typeface="Arial"/>
              <a:buChar char="⚬"/>
            </a:pPr>
            <a:r>
              <a:rPr lang="en-US" sz="2200" spc="-66">
                <a:solidFill>
                  <a:srgbClr val="00FFA8"/>
                </a:solidFill>
                <a:latin typeface="TT Fors"/>
                <a:ea typeface="TT Fors"/>
                <a:cs typeface="TT Fors"/>
                <a:sym typeface="TT Fors"/>
              </a:rPr>
              <a:t>Understanding the structure of all messages exchanged by protocols</a:t>
            </a:r>
          </a:p>
          <a:p>
            <a:pPr algn="l" marL="949962" indent="-316654" lvl="2">
              <a:lnSpc>
                <a:spcPts val="3300"/>
              </a:lnSpc>
              <a:buFont typeface="Arial"/>
              <a:buChar char="⚬"/>
            </a:pPr>
            <a:r>
              <a:rPr lang="en-US" sz="2200" spc="-66">
                <a:solidFill>
                  <a:srgbClr val="00FFA8"/>
                </a:solidFill>
                <a:latin typeface="TT Fors"/>
                <a:ea typeface="TT Fors"/>
                <a:cs typeface="TT Fors"/>
                <a:sym typeface="TT Fors"/>
              </a:rPr>
              <a:t>IP, TCP, HTTP headers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Wireshark, TCPDump</a:t>
            </a:r>
          </a:p>
        </p:txBody>
      </p:sp>
      <p:sp>
        <p:nvSpPr>
          <p:cNvPr name="TextBox 5" id="5"/>
          <p:cNvSpPr txBox="true"/>
          <p:nvPr/>
        </p:nvSpPr>
        <p:spPr>
          <a:xfrm rot="0">
            <a:off x="9883530" y="2268868"/>
            <a:ext cx="5735757" cy="375475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Widely used packet sniffers: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dSniff</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Wireshark</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LanDetective</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Microsoft Network Monitor</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Capsa</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tcpdump</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SkyGrabber</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Xplico</a:t>
            </a:r>
          </a:p>
        </p:txBody>
      </p:sp>
      <p:grpSp>
        <p:nvGrpSpPr>
          <p:cNvPr name="Group 6" id="6"/>
          <p:cNvGrpSpPr/>
          <p:nvPr/>
        </p:nvGrpSpPr>
        <p:grpSpPr>
          <a:xfrm rot="0">
            <a:off x="16115522" y="751544"/>
            <a:ext cx="1505728" cy="810556"/>
            <a:chOff x="0" y="0"/>
            <a:chExt cx="2007638" cy="1080741"/>
          </a:xfrm>
        </p:grpSpPr>
        <p:grpSp>
          <p:nvGrpSpPr>
            <p:cNvPr name="Group 7" id="7"/>
            <p:cNvGrpSpPr/>
            <p:nvPr/>
          </p:nvGrpSpPr>
          <p:grpSpPr>
            <a:xfrm rot="0">
              <a:off x="0" y="0"/>
              <a:ext cx="1080741" cy="108074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926897" y="0"/>
              <a:ext cx="1080741" cy="108074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108486" y="191456"/>
              <a:ext cx="717562" cy="697829"/>
            </a:xfrm>
            <a:custGeom>
              <a:avLst/>
              <a:gdLst/>
              <a:ahLst/>
              <a:cxnLst/>
              <a:rect r="r" b="b" t="t" l="l"/>
              <a:pathLst>
                <a:path h="697829" w="717562">
                  <a:moveTo>
                    <a:pt x="0" y="0"/>
                  </a:moveTo>
                  <a:lnTo>
                    <a:pt x="717563" y="0"/>
                  </a:lnTo>
                  <a:lnTo>
                    <a:pt x="717563" y="697829"/>
                  </a:lnTo>
                  <a:lnTo>
                    <a:pt x="0" y="6978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234320" y="101015"/>
              <a:ext cx="978695" cy="707551"/>
            </a:xfrm>
            <a:custGeom>
              <a:avLst/>
              <a:gdLst/>
              <a:ahLst/>
              <a:cxnLst/>
              <a:rect r="r" b="b" t="t" l="l"/>
              <a:pathLst>
                <a:path h="707551" w="978695">
                  <a:moveTo>
                    <a:pt x="0" y="0"/>
                  </a:moveTo>
                  <a:lnTo>
                    <a:pt x="978695" y="0"/>
                  </a:lnTo>
                  <a:lnTo>
                    <a:pt x="978695" y="707551"/>
                  </a:lnTo>
                  <a:lnTo>
                    <a:pt x="0" y="707551"/>
                  </a:lnTo>
                  <a:lnTo>
                    <a:pt x="0" y="0"/>
                  </a:lnTo>
                  <a:close/>
                </a:path>
              </a:pathLst>
            </a:custGeom>
            <a:blipFill>
              <a:blip r:embed="rId5"/>
              <a:stretch>
                <a:fillRect l="0" t="0" r="-14982"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TCP/IP Network Model and Packet Structure</a:t>
            </a:r>
          </a:p>
        </p:txBody>
      </p:sp>
      <p:grpSp>
        <p:nvGrpSpPr>
          <p:cNvPr name="Group 3" id="3"/>
          <p:cNvGrpSpPr/>
          <p:nvPr/>
        </p:nvGrpSpPr>
        <p:grpSpPr>
          <a:xfrm rot="0">
            <a:off x="16115522" y="751544"/>
            <a:ext cx="1505728" cy="810556"/>
            <a:chOff x="0" y="0"/>
            <a:chExt cx="2007638" cy="1080741"/>
          </a:xfrm>
        </p:grpSpPr>
        <p:grpSp>
          <p:nvGrpSpPr>
            <p:cNvPr name="Group 4" id="4"/>
            <p:cNvGrpSpPr/>
            <p:nvPr/>
          </p:nvGrpSpPr>
          <p:grpSpPr>
            <a:xfrm rot="0">
              <a:off x="0" y="0"/>
              <a:ext cx="1080741" cy="108074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926897" y="0"/>
              <a:ext cx="1080741" cy="108074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108486" y="191456"/>
              <a:ext cx="717562" cy="697829"/>
            </a:xfrm>
            <a:custGeom>
              <a:avLst/>
              <a:gdLst/>
              <a:ahLst/>
              <a:cxnLst/>
              <a:rect r="r" b="b" t="t" l="l"/>
              <a:pathLst>
                <a:path h="697829" w="717562">
                  <a:moveTo>
                    <a:pt x="0" y="0"/>
                  </a:moveTo>
                  <a:lnTo>
                    <a:pt x="717563" y="0"/>
                  </a:lnTo>
                  <a:lnTo>
                    <a:pt x="717563" y="697829"/>
                  </a:lnTo>
                  <a:lnTo>
                    <a:pt x="0" y="6978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234320" y="101015"/>
              <a:ext cx="978695" cy="707551"/>
            </a:xfrm>
            <a:custGeom>
              <a:avLst/>
              <a:gdLst/>
              <a:ahLst/>
              <a:cxnLst/>
              <a:rect r="r" b="b" t="t" l="l"/>
              <a:pathLst>
                <a:path h="707551" w="978695">
                  <a:moveTo>
                    <a:pt x="0" y="0"/>
                  </a:moveTo>
                  <a:lnTo>
                    <a:pt x="978695" y="0"/>
                  </a:lnTo>
                  <a:lnTo>
                    <a:pt x="978695" y="707551"/>
                  </a:lnTo>
                  <a:lnTo>
                    <a:pt x="0" y="707551"/>
                  </a:lnTo>
                  <a:lnTo>
                    <a:pt x="0" y="0"/>
                  </a:lnTo>
                  <a:close/>
                </a:path>
              </a:pathLst>
            </a:custGeom>
            <a:blipFill>
              <a:blip r:embed="rId5"/>
              <a:stretch>
                <a:fillRect l="0" t="0" r="-14982" b="0"/>
              </a:stretch>
            </a:blipFill>
          </p:spPr>
        </p:sp>
      </p:grpSp>
      <p:sp>
        <p:nvSpPr>
          <p:cNvPr name="Freeform 12" id="12"/>
          <p:cNvSpPr/>
          <p:nvPr/>
        </p:nvSpPr>
        <p:spPr>
          <a:xfrm flipH="false" flipV="false" rot="0">
            <a:off x="666750" y="1967398"/>
            <a:ext cx="7498519" cy="3147527"/>
          </a:xfrm>
          <a:custGeom>
            <a:avLst/>
            <a:gdLst/>
            <a:ahLst/>
            <a:cxnLst/>
            <a:rect r="r" b="b" t="t" l="l"/>
            <a:pathLst>
              <a:path h="3147527" w="7498519">
                <a:moveTo>
                  <a:pt x="0" y="0"/>
                </a:moveTo>
                <a:lnTo>
                  <a:pt x="7498519" y="0"/>
                </a:lnTo>
                <a:lnTo>
                  <a:pt x="7498519" y="3147527"/>
                </a:lnTo>
                <a:lnTo>
                  <a:pt x="0" y="3147527"/>
                </a:lnTo>
                <a:lnTo>
                  <a:pt x="0" y="0"/>
                </a:lnTo>
                <a:close/>
              </a:path>
            </a:pathLst>
          </a:custGeom>
          <a:blipFill>
            <a:blip r:embed="rId6"/>
            <a:stretch>
              <a:fillRect l="0" t="0" r="0" b="0"/>
            </a:stretch>
          </a:blipFill>
        </p:spPr>
      </p:sp>
      <p:sp>
        <p:nvSpPr>
          <p:cNvPr name="Freeform 13" id="13"/>
          <p:cNvSpPr/>
          <p:nvPr/>
        </p:nvSpPr>
        <p:spPr>
          <a:xfrm flipH="false" flipV="false" rot="0">
            <a:off x="8490349" y="4209410"/>
            <a:ext cx="8768951" cy="5471712"/>
          </a:xfrm>
          <a:custGeom>
            <a:avLst/>
            <a:gdLst/>
            <a:ahLst/>
            <a:cxnLst/>
            <a:rect r="r" b="b" t="t" l="l"/>
            <a:pathLst>
              <a:path h="5471712" w="8768951">
                <a:moveTo>
                  <a:pt x="0" y="0"/>
                </a:moveTo>
                <a:lnTo>
                  <a:pt x="8768951" y="0"/>
                </a:lnTo>
                <a:lnTo>
                  <a:pt x="8768951" y="5471712"/>
                </a:lnTo>
                <a:lnTo>
                  <a:pt x="0" y="5471712"/>
                </a:lnTo>
                <a:lnTo>
                  <a:pt x="0" y="0"/>
                </a:lnTo>
                <a:close/>
              </a:path>
            </a:pathLst>
          </a:custGeom>
          <a:blipFill>
            <a:blip r:embed="rId7"/>
            <a:stretch>
              <a:fillRect l="0" t="0" r="0" b="0"/>
            </a:stretch>
          </a:blipFill>
        </p:spPr>
      </p:sp>
      <p:sp>
        <p:nvSpPr>
          <p:cNvPr name="TextBox 14" id="14"/>
          <p:cNvSpPr txBox="true"/>
          <p:nvPr/>
        </p:nvSpPr>
        <p:spPr>
          <a:xfrm rot="0">
            <a:off x="666750" y="1331595"/>
            <a:ext cx="8306267" cy="453390"/>
          </a:xfrm>
          <a:prstGeom prst="rect">
            <a:avLst/>
          </a:prstGeom>
        </p:spPr>
        <p:txBody>
          <a:bodyPr anchor="t" rtlCol="false" tIns="0" lIns="0" bIns="0" rIns="0">
            <a:spAutoFit/>
          </a:bodyPr>
          <a:lstStyle/>
          <a:p>
            <a:pPr algn="l">
              <a:lnSpc>
                <a:spcPts val="3899"/>
              </a:lnSpc>
            </a:pPr>
            <a:r>
              <a:rPr lang="en-US" b="true" sz="2599" spc="-77">
                <a:solidFill>
                  <a:srgbClr val="00FFA8"/>
                </a:solidFill>
                <a:latin typeface="TT Fors Bold"/>
                <a:ea typeface="TT Fors Bold"/>
                <a:cs typeface="TT Fors Bold"/>
                <a:sym typeface="TT Fors Bold"/>
              </a:rPr>
              <a:t>An Example Layered Approach</a:t>
            </a:r>
          </a:p>
        </p:txBody>
      </p:sp>
      <p:sp>
        <p:nvSpPr>
          <p:cNvPr name="TextBox 15" id="15"/>
          <p:cNvSpPr txBox="true"/>
          <p:nvPr/>
        </p:nvSpPr>
        <p:spPr>
          <a:xfrm rot="0">
            <a:off x="8490349" y="3597684"/>
            <a:ext cx="8306267" cy="453390"/>
          </a:xfrm>
          <a:prstGeom prst="rect">
            <a:avLst/>
          </a:prstGeom>
        </p:spPr>
        <p:txBody>
          <a:bodyPr anchor="t" rtlCol="false" tIns="0" lIns="0" bIns="0" rIns="0">
            <a:spAutoFit/>
          </a:bodyPr>
          <a:lstStyle/>
          <a:p>
            <a:pPr algn="l">
              <a:lnSpc>
                <a:spcPts val="3899"/>
              </a:lnSpc>
            </a:pPr>
            <a:r>
              <a:rPr lang="en-US" b="true" sz="2599" spc="-77">
                <a:solidFill>
                  <a:srgbClr val="00FFA8"/>
                </a:solidFill>
                <a:latin typeface="TT Fors Bold"/>
                <a:ea typeface="TT Fors Bold"/>
                <a:cs typeface="TT Fors Bold"/>
                <a:sym typeface="TT Fors Bold"/>
              </a:rPr>
              <a:t>Network Layer</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Address Resolution Protocol (ARP) &amp; MAC Addressing</a:t>
            </a:r>
          </a:p>
        </p:txBody>
      </p:sp>
      <p:sp>
        <p:nvSpPr>
          <p:cNvPr name="TextBox 3" id="3"/>
          <p:cNvSpPr txBox="true"/>
          <p:nvPr/>
        </p:nvSpPr>
        <p:spPr>
          <a:xfrm rot="0">
            <a:off x="666750" y="1331595"/>
            <a:ext cx="12864612" cy="453390"/>
          </a:xfrm>
          <a:prstGeom prst="rect">
            <a:avLst/>
          </a:prstGeom>
        </p:spPr>
        <p:txBody>
          <a:bodyPr anchor="t" rtlCol="false" tIns="0" lIns="0" bIns="0" rIns="0">
            <a:spAutoFit/>
          </a:bodyPr>
          <a:lstStyle/>
          <a:p>
            <a:pPr algn="l">
              <a:lnSpc>
                <a:spcPts val="3899"/>
              </a:lnSpc>
            </a:pPr>
            <a:r>
              <a:rPr lang="en-US" b="true" sz="2599" spc="-77">
                <a:solidFill>
                  <a:srgbClr val="00FFA8"/>
                </a:solidFill>
                <a:latin typeface="TT Fors Bold"/>
                <a:ea typeface="TT Fors Bold"/>
                <a:cs typeface="TT Fors Bold"/>
                <a:sym typeface="TT Fors Bold"/>
              </a:rPr>
              <a:t>MAC Addressing</a:t>
            </a:r>
          </a:p>
        </p:txBody>
      </p:sp>
      <p:sp>
        <p:nvSpPr>
          <p:cNvPr name="TextBox 4" id="4"/>
          <p:cNvSpPr txBox="true"/>
          <p:nvPr/>
        </p:nvSpPr>
        <p:spPr>
          <a:xfrm rot="0">
            <a:off x="666750" y="3725399"/>
            <a:ext cx="16582558" cy="459295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Address Resolution Protocol (ARP)</a:t>
            </a:r>
          </a:p>
          <a:p>
            <a:pPr algn="l">
              <a:lnSpc>
                <a:spcPts val="3300"/>
              </a:lnSpc>
            </a:pPr>
            <a:r>
              <a:rPr lang="en-US" sz="2200" spc="-66" b="true">
                <a:solidFill>
                  <a:srgbClr val="00FFA8"/>
                </a:solidFill>
                <a:latin typeface="TT Fors Bold"/>
                <a:ea typeface="TT Fors Bold"/>
                <a:cs typeface="TT Fors Bold"/>
                <a:sym typeface="TT Fors Bold"/>
              </a:rPr>
              <a:t>Definition:</a:t>
            </a:r>
            <a:r>
              <a:rPr lang="en-US" sz="2200" spc="-66">
                <a:solidFill>
                  <a:srgbClr val="00FFA8"/>
                </a:solidFill>
                <a:latin typeface="TT Fors"/>
                <a:ea typeface="TT Fors"/>
                <a:cs typeface="TT Fors"/>
                <a:sym typeface="TT Fors"/>
              </a:rPr>
              <a:t> ARP is a protocol that maps IP addresses to MAC addresses on a local network.</a:t>
            </a:r>
          </a:p>
          <a:p>
            <a:pPr algn="l">
              <a:lnSpc>
                <a:spcPts val="3300"/>
              </a:lnSpc>
            </a:pPr>
            <a:r>
              <a:rPr lang="en-US" sz="2200" spc="-66" b="true">
                <a:solidFill>
                  <a:srgbClr val="00FFA8"/>
                </a:solidFill>
                <a:latin typeface="TT Fors Bold"/>
                <a:ea typeface="TT Fors Bold"/>
                <a:cs typeface="TT Fors Bold"/>
                <a:sym typeface="TT Fors Bold"/>
              </a:rPr>
              <a:t>How ARP Works: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A device wants to communicate with another device on the same network but only knows the other device's IP address (e.g., 192.168.1.100).</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The device sends an ARP Request broadcast: 'Who has IP address 192.168.1.100? Tell me your MAC address.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The device with that IP address responds with an ARP Reply: 'I have IP 192.168.1.100 and my MAC address is AA:BB:CC:DD:EE:FF'.</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The requesting device stores this information in its ARP cache (local memory) for future reference.</a:t>
            </a:r>
          </a:p>
          <a:p>
            <a:pPr algn="l">
              <a:lnSpc>
                <a:spcPts val="3300"/>
              </a:lnSpc>
            </a:pPr>
            <a:r>
              <a:rPr lang="en-US" sz="2200" spc="-66" b="true">
                <a:solidFill>
                  <a:srgbClr val="00FFA8"/>
                </a:solidFill>
                <a:latin typeface="TT Fors Bold"/>
                <a:ea typeface="TT Fors Bold"/>
                <a:cs typeface="TT Fors Bold"/>
                <a:sym typeface="TT Fors Bold"/>
              </a:rPr>
              <a:t>ARP Vulnerabilities:</a:t>
            </a:r>
          </a:p>
          <a:p>
            <a:pPr algn="l">
              <a:lnSpc>
                <a:spcPts val="3300"/>
              </a:lnSpc>
            </a:pPr>
            <a:r>
              <a:rPr lang="en-US" sz="2200" spc="-66">
                <a:solidFill>
                  <a:srgbClr val="00FFA8"/>
                </a:solidFill>
                <a:latin typeface="TT Fors"/>
                <a:ea typeface="TT Fors"/>
                <a:cs typeface="TT Fors"/>
                <a:sym typeface="TT Fors"/>
              </a:rPr>
              <a:t>ARP is fundamentally insecure because it has no authentication mechanism. Any device can send an ARP reply, whether or not it was asked. This makes ARP vulnerable to spoofing attacks, where an attacker sends forged ARP replies to redirect traffic.</a:t>
            </a:r>
          </a:p>
        </p:txBody>
      </p:sp>
      <p:sp>
        <p:nvSpPr>
          <p:cNvPr name="TextBox 5" id="5"/>
          <p:cNvSpPr txBox="true"/>
          <p:nvPr/>
        </p:nvSpPr>
        <p:spPr>
          <a:xfrm rot="0">
            <a:off x="666750" y="1963274"/>
            <a:ext cx="16954500" cy="1438275"/>
          </a:xfrm>
          <a:prstGeom prst="rect">
            <a:avLst/>
          </a:prstGeom>
        </p:spPr>
        <p:txBody>
          <a:bodyPr anchor="t" rtlCol="false" tIns="0" lIns="0" bIns="0" rIns="0">
            <a:spAutoFit/>
          </a:bodyPr>
          <a:lstStyle/>
          <a:p>
            <a:pPr algn="l">
              <a:lnSpc>
                <a:spcPts val="2880"/>
              </a:lnSpc>
            </a:pPr>
            <a:r>
              <a:rPr lang="en-US" sz="2400" spc="-72" b="true">
                <a:solidFill>
                  <a:srgbClr val="FFFFFF"/>
                </a:solidFill>
                <a:latin typeface="TT Fors Bold"/>
                <a:ea typeface="TT Fors Bold"/>
                <a:cs typeface="TT Fors Bold"/>
                <a:sym typeface="TT Fors Bold"/>
              </a:rPr>
              <a:t>Definition:</a:t>
            </a:r>
            <a:r>
              <a:rPr lang="en-US" sz="2400" spc="-72">
                <a:solidFill>
                  <a:srgbClr val="FFFFFF"/>
                </a:solidFill>
                <a:latin typeface="TT Fors"/>
                <a:ea typeface="TT Fors"/>
                <a:cs typeface="TT Fors"/>
                <a:sym typeface="TT Fors"/>
              </a:rPr>
              <a:t> A MAC (Media Access Control) address is a 48-bit identifier that uniquely </a:t>
            </a:r>
            <a:r>
              <a:rPr lang="en-US" sz="2400" spc="-72">
                <a:solidFill>
                  <a:srgbClr val="FFFFFF"/>
                </a:solidFill>
                <a:latin typeface="TT Fors"/>
                <a:ea typeface="TT Fors"/>
                <a:cs typeface="TT Fors"/>
                <a:sym typeface="TT Fors"/>
              </a:rPr>
              <a:t>identifies a dev</a:t>
            </a:r>
            <a:r>
              <a:rPr lang="en-US" sz="2400" spc="-72">
                <a:solidFill>
                  <a:srgbClr val="FFFFFF"/>
                </a:solidFill>
                <a:latin typeface="TT Fors"/>
                <a:ea typeface="TT Fors"/>
                <a:cs typeface="TT Fors"/>
                <a:sym typeface="TT Fors"/>
              </a:rPr>
              <a:t>ice on a local network segment.</a:t>
            </a:r>
          </a:p>
          <a:p>
            <a:pPr algn="l" marL="0" indent="0" lvl="0">
              <a:lnSpc>
                <a:spcPts val="2880"/>
              </a:lnSpc>
              <a:spcBef>
                <a:spcPct val="0"/>
              </a:spcBef>
            </a:pPr>
            <a:r>
              <a:rPr lang="en-US" b="true" sz="2400" spc="-72">
                <a:solidFill>
                  <a:srgbClr val="FFFFFF"/>
                </a:solidFill>
                <a:latin typeface="TT Fors Bold"/>
                <a:ea typeface="TT Fors Bold"/>
                <a:cs typeface="TT Fors Bold"/>
                <a:sym typeface="TT Fors Bold"/>
              </a:rPr>
              <a:t>Format:</a:t>
            </a:r>
            <a:r>
              <a:rPr lang="en-US" sz="2400" spc="-72">
                <a:solidFill>
                  <a:srgbClr val="FFFFFF"/>
                </a:solidFill>
                <a:latin typeface="TT Fors"/>
                <a:ea typeface="TT Fors"/>
                <a:cs typeface="TT Fors"/>
                <a:sym typeface="TT Fors"/>
              </a:rPr>
              <a:t> Six pairs of hexadecimal digits separated by colons (e.g., 00:1A:2B:3C:4D:5E). The first three pa</a:t>
            </a:r>
            <a:r>
              <a:rPr lang="en-US" sz="2400" spc="-72">
                <a:solidFill>
                  <a:srgbClr val="FFFFFF"/>
                </a:solidFill>
                <a:latin typeface="TT Fors"/>
                <a:ea typeface="TT Fors"/>
                <a:cs typeface="TT Fors"/>
                <a:sym typeface="TT Fors"/>
              </a:rPr>
              <a:t>i</a:t>
            </a:r>
            <a:r>
              <a:rPr lang="en-US" sz="2400" spc="-72">
                <a:solidFill>
                  <a:srgbClr val="FFFFFF"/>
                </a:solidFill>
                <a:latin typeface="TT Fors"/>
                <a:ea typeface="TT Fors"/>
                <a:cs typeface="TT Fors"/>
                <a:sym typeface="TT Fors"/>
              </a:rPr>
              <a:t>rs ide</a:t>
            </a:r>
            <a:r>
              <a:rPr lang="en-US" sz="2400" spc="-72">
                <a:solidFill>
                  <a:srgbClr val="FFFFFF"/>
                </a:solidFill>
                <a:latin typeface="TT Fors"/>
                <a:ea typeface="TT Fors"/>
                <a:cs typeface="TT Fors"/>
                <a:sym typeface="TT Fors"/>
              </a:rPr>
              <a:t>n</a:t>
            </a:r>
            <a:r>
              <a:rPr lang="en-US" sz="2400" spc="-72">
                <a:solidFill>
                  <a:srgbClr val="FFFFFF"/>
                </a:solidFill>
                <a:latin typeface="TT Fors"/>
                <a:ea typeface="TT Fors"/>
                <a:cs typeface="TT Fors"/>
                <a:sym typeface="TT Fors"/>
              </a:rPr>
              <a:t>tify the </a:t>
            </a:r>
            <a:r>
              <a:rPr lang="en-US" sz="2400" spc="-72">
                <a:solidFill>
                  <a:srgbClr val="FFFFFF"/>
                </a:solidFill>
                <a:latin typeface="TT Fors"/>
                <a:ea typeface="TT Fors"/>
                <a:cs typeface="TT Fors"/>
                <a:sym typeface="TT Fors"/>
              </a:rPr>
              <a:t>d</a:t>
            </a:r>
            <a:r>
              <a:rPr lang="en-US" sz="2400" spc="-72">
                <a:solidFill>
                  <a:srgbClr val="FFFFFF"/>
                </a:solidFill>
                <a:latin typeface="TT Fors"/>
                <a:ea typeface="TT Fors"/>
                <a:cs typeface="TT Fors"/>
                <a:sym typeface="TT Fors"/>
              </a:rPr>
              <a:t>evice manufacturer, </a:t>
            </a:r>
            <a:r>
              <a:rPr lang="en-US" sz="2400" spc="-72">
                <a:solidFill>
                  <a:srgbClr val="FFFFFF"/>
                </a:solidFill>
                <a:latin typeface="TT Fors"/>
                <a:ea typeface="TT Fors"/>
                <a:cs typeface="TT Fors"/>
                <a:sym typeface="TT Fors"/>
              </a:rPr>
              <a:t>w</a:t>
            </a:r>
            <a:r>
              <a:rPr lang="en-US" sz="2400" spc="-72">
                <a:solidFill>
                  <a:srgbClr val="FFFFFF"/>
                </a:solidFill>
                <a:latin typeface="TT Fors"/>
                <a:ea typeface="TT Fors"/>
                <a:cs typeface="TT Fors"/>
                <a:sym typeface="TT Fors"/>
              </a:rPr>
              <a:t>hile the la</a:t>
            </a:r>
            <a:r>
              <a:rPr lang="en-US" sz="2400" spc="-72">
                <a:solidFill>
                  <a:srgbClr val="FFFFFF"/>
                </a:solidFill>
                <a:latin typeface="TT Fors"/>
                <a:ea typeface="TT Fors"/>
                <a:cs typeface="TT Fors"/>
                <a:sym typeface="TT Fors"/>
              </a:rPr>
              <a:t>s</a:t>
            </a:r>
            <a:r>
              <a:rPr lang="en-US" sz="2400" spc="-72">
                <a:solidFill>
                  <a:srgbClr val="FFFFFF"/>
                </a:solidFill>
                <a:latin typeface="TT Fors"/>
                <a:ea typeface="TT Fors"/>
                <a:cs typeface="TT Fors"/>
                <a:sym typeface="TT Fors"/>
              </a:rPr>
              <a:t>t three</a:t>
            </a:r>
            <a:r>
              <a:rPr lang="en-US" sz="2400" spc="-72">
                <a:solidFill>
                  <a:srgbClr val="FFFFFF"/>
                </a:solidFill>
                <a:latin typeface="TT Fors"/>
                <a:ea typeface="TT Fors"/>
                <a:cs typeface="TT Fors"/>
                <a:sym typeface="TT Fors"/>
              </a:rPr>
              <a:t> </a:t>
            </a:r>
            <a:r>
              <a:rPr lang="en-US" sz="2400" spc="-72">
                <a:solidFill>
                  <a:srgbClr val="FFFFFF"/>
                </a:solidFill>
                <a:latin typeface="TT Fors"/>
                <a:ea typeface="TT Fors"/>
                <a:cs typeface="TT Fors"/>
                <a:sym typeface="TT Fors"/>
              </a:rPr>
              <a:t>pairs identify the specific device.</a:t>
            </a:r>
          </a:p>
        </p:txBody>
      </p:sp>
      <p:grpSp>
        <p:nvGrpSpPr>
          <p:cNvPr name="Group 6" id="6"/>
          <p:cNvGrpSpPr/>
          <p:nvPr/>
        </p:nvGrpSpPr>
        <p:grpSpPr>
          <a:xfrm rot="0">
            <a:off x="16115522" y="751544"/>
            <a:ext cx="1505728" cy="810556"/>
            <a:chOff x="0" y="0"/>
            <a:chExt cx="2007638" cy="1080741"/>
          </a:xfrm>
        </p:grpSpPr>
        <p:grpSp>
          <p:nvGrpSpPr>
            <p:cNvPr name="Group 7" id="7"/>
            <p:cNvGrpSpPr/>
            <p:nvPr/>
          </p:nvGrpSpPr>
          <p:grpSpPr>
            <a:xfrm rot="0">
              <a:off x="0" y="0"/>
              <a:ext cx="1080741" cy="108074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926897" y="0"/>
              <a:ext cx="1080741" cy="108074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108486" y="191456"/>
              <a:ext cx="717562" cy="697829"/>
            </a:xfrm>
            <a:custGeom>
              <a:avLst/>
              <a:gdLst/>
              <a:ahLst/>
              <a:cxnLst/>
              <a:rect r="r" b="b" t="t" l="l"/>
              <a:pathLst>
                <a:path h="697829" w="717562">
                  <a:moveTo>
                    <a:pt x="0" y="0"/>
                  </a:moveTo>
                  <a:lnTo>
                    <a:pt x="717563" y="0"/>
                  </a:lnTo>
                  <a:lnTo>
                    <a:pt x="717563" y="697829"/>
                  </a:lnTo>
                  <a:lnTo>
                    <a:pt x="0" y="6978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234320" y="101015"/>
              <a:ext cx="978695" cy="707551"/>
            </a:xfrm>
            <a:custGeom>
              <a:avLst/>
              <a:gdLst/>
              <a:ahLst/>
              <a:cxnLst/>
              <a:rect r="r" b="b" t="t" l="l"/>
              <a:pathLst>
                <a:path h="707551" w="978695">
                  <a:moveTo>
                    <a:pt x="0" y="0"/>
                  </a:moveTo>
                  <a:lnTo>
                    <a:pt x="978695" y="0"/>
                  </a:lnTo>
                  <a:lnTo>
                    <a:pt x="978695" y="707551"/>
                  </a:lnTo>
                  <a:lnTo>
                    <a:pt x="0" y="707551"/>
                  </a:lnTo>
                  <a:lnTo>
                    <a:pt x="0" y="0"/>
                  </a:lnTo>
                  <a:close/>
                </a:path>
              </a:pathLst>
            </a:custGeom>
            <a:blipFill>
              <a:blip r:embed="rId5"/>
              <a:stretch>
                <a:fillRect l="0" t="0" r="-14982"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ARP Poisoning/Spoofing Attacks</a:t>
            </a:r>
          </a:p>
        </p:txBody>
      </p:sp>
      <p:sp>
        <p:nvSpPr>
          <p:cNvPr name="TextBox 3" id="3"/>
          <p:cNvSpPr txBox="true"/>
          <p:nvPr/>
        </p:nvSpPr>
        <p:spPr>
          <a:xfrm rot="0">
            <a:off x="666750" y="1331595"/>
            <a:ext cx="12864612" cy="453390"/>
          </a:xfrm>
          <a:prstGeom prst="rect">
            <a:avLst/>
          </a:prstGeom>
        </p:spPr>
        <p:txBody>
          <a:bodyPr anchor="t" rtlCol="false" tIns="0" lIns="0" bIns="0" rIns="0">
            <a:spAutoFit/>
          </a:bodyPr>
          <a:lstStyle/>
          <a:p>
            <a:pPr algn="l">
              <a:lnSpc>
                <a:spcPts val="3899"/>
              </a:lnSpc>
            </a:pPr>
            <a:r>
              <a:rPr lang="en-US" b="true" sz="2599" spc="-77">
                <a:solidFill>
                  <a:srgbClr val="00FFA8"/>
                </a:solidFill>
                <a:latin typeface="TT Fors Bold"/>
                <a:ea typeface="TT Fors Bold"/>
                <a:cs typeface="TT Fors Bold"/>
                <a:sym typeface="TT Fors Bold"/>
              </a:rPr>
              <a:t>What is ARP Poisoning?</a:t>
            </a:r>
          </a:p>
        </p:txBody>
      </p:sp>
      <p:sp>
        <p:nvSpPr>
          <p:cNvPr name="TextBox 4" id="4"/>
          <p:cNvSpPr txBox="true"/>
          <p:nvPr/>
        </p:nvSpPr>
        <p:spPr>
          <a:xfrm rot="0">
            <a:off x="666750" y="3111037"/>
            <a:ext cx="7971958" cy="459295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How ARP Poisoning Works</a:t>
            </a:r>
          </a:p>
          <a:p>
            <a:pPr algn="l">
              <a:lnSpc>
                <a:spcPts val="3300"/>
              </a:lnSpc>
            </a:pPr>
            <a:r>
              <a:rPr lang="en-US" sz="2200" spc="-66" b="true">
                <a:solidFill>
                  <a:srgbClr val="00FFA8"/>
                </a:solidFill>
                <a:latin typeface="TT Fors Bold"/>
                <a:ea typeface="TT Fors Bold"/>
                <a:cs typeface="TT Fors Bold"/>
                <a:sym typeface="TT Fors Bold"/>
              </a:rPr>
              <a:t>Step 1:</a:t>
            </a:r>
            <a:r>
              <a:rPr lang="en-US" sz="2200" spc="-66">
                <a:solidFill>
                  <a:srgbClr val="00FFA8"/>
                </a:solidFill>
                <a:latin typeface="TT Fors"/>
                <a:ea typeface="TT Fors"/>
                <a:cs typeface="TT Fors"/>
                <a:sym typeface="TT Fors"/>
              </a:rPr>
              <a:t> R</a:t>
            </a:r>
            <a:r>
              <a:rPr lang="en-US" sz="2200" spc="-66">
                <a:solidFill>
                  <a:srgbClr val="00FFA8"/>
                </a:solidFill>
                <a:latin typeface="TT Fors"/>
                <a:ea typeface="TT Fors"/>
                <a:cs typeface="TT Fors"/>
                <a:sym typeface="TT Fors"/>
              </a:rPr>
              <a:t>econnaissance The attacker identifies the target devices and their IP addresses.</a:t>
            </a:r>
          </a:p>
          <a:p>
            <a:pPr algn="l">
              <a:lnSpc>
                <a:spcPts val="3300"/>
              </a:lnSpc>
            </a:pPr>
            <a:r>
              <a:rPr lang="en-US" sz="2200" spc="-66" b="true">
                <a:solidFill>
                  <a:srgbClr val="00FFA8"/>
                </a:solidFill>
                <a:latin typeface="TT Fors Bold"/>
                <a:ea typeface="TT Fors Bold"/>
                <a:cs typeface="TT Fors Bold"/>
                <a:sym typeface="TT Fors Bold"/>
              </a:rPr>
              <a:t>Step 2:</a:t>
            </a:r>
            <a:r>
              <a:rPr lang="en-US" sz="2200" spc="-66">
                <a:solidFill>
                  <a:srgbClr val="00FFA8"/>
                </a:solidFill>
                <a:latin typeface="TT Fors"/>
                <a:ea typeface="TT Fors"/>
                <a:cs typeface="TT Fors"/>
                <a:sym typeface="TT Fors"/>
              </a:rPr>
              <a:t> ARP Spoofing The attacker sends forged ARP r</a:t>
            </a:r>
            <a:r>
              <a:rPr lang="en-US" sz="2200" spc="-66">
                <a:solidFill>
                  <a:srgbClr val="00FFA8"/>
                </a:solidFill>
                <a:latin typeface="TT Fors"/>
                <a:ea typeface="TT Fors"/>
                <a:cs typeface="TT Fors"/>
                <a:sym typeface="TT Fors"/>
              </a:rPr>
              <a:t>eplies claiming that their MAC address is associated with the target's IP address.</a:t>
            </a:r>
          </a:p>
          <a:p>
            <a:pPr algn="l">
              <a:lnSpc>
                <a:spcPts val="3300"/>
              </a:lnSpc>
            </a:pPr>
            <a:r>
              <a:rPr lang="en-US" sz="2200" spc="-66" b="true">
                <a:solidFill>
                  <a:srgbClr val="00FFA8"/>
                </a:solidFill>
                <a:latin typeface="TT Fors Bold"/>
                <a:ea typeface="TT Fors Bold"/>
                <a:cs typeface="TT Fors Bold"/>
                <a:sym typeface="TT Fors Bold"/>
              </a:rPr>
              <a:t>Step 3:</a:t>
            </a:r>
            <a:r>
              <a:rPr lang="en-US" sz="2200" spc="-66">
                <a:solidFill>
                  <a:srgbClr val="00FFA8"/>
                </a:solidFill>
                <a:latin typeface="TT Fors"/>
                <a:ea typeface="TT Fors"/>
                <a:cs typeface="TT Fors"/>
                <a:sym typeface="TT Fors"/>
              </a:rPr>
              <a:t> Cache Poisoning </a:t>
            </a:r>
            <a:r>
              <a:rPr lang="en-US" sz="2200" spc="-66">
                <a:solidFill>
                  <a:srgbClr val="00FFA8"/>
                </a:solidFill>
                <a:latin typeface="TT Fors"/>
                <a:ea typeface="TT Fors"/>
                <a:cs typeface="TT Fors"/>
                <a:sym typeface="TT Fors"/>
              </a:rPr>
              <a:t>The target device receives these fake ARP replies and updates its ARP cache, now associating the attacker's MAC address with the legitimate IP address.</a:t>
            </a:r>
          </a:p>
          <a:p>
            <a:pPr algn="l">
              <a:lnSpc>
                <a:spcPts val="3300"/>
              </a:lnSpc>
            </a:pPr>
            <a:r>
              <a:rPr lang="en-US" b="true" sz="2200" spc="-66">
                <a:solidFill>
                  <a:srgbClr val="00FFA8"/>
                </a:solidFill>
                <a:latin typeface="TT Fors Bold"/>
                <a:ea typeface="TT Fors Bold"/>
                <a:cs typeface="TT Fors Bold"/>
                <a:sym typeface="TT Fors Bold"/>
              </a:rPr>
              <a:t>Step 4:</a:t>
            </a:r>
            <a:r>
              <a:rPr lang="en-US" sz="2200" spc="-66">
                <a:solidFill>
                  <a:srgbClr val="00FFA8"/>
                </a:solidFill>
                <a:latin typeface="TT Fors"/>
                <a:ea typeface="TT Fors"/>
                <a:cs typeface="TT Fors"/>
                <a:sym typeface="TT Fors"/>
              </a:rPr>
              <a:t> Traffic Redirection. All traffic intended for the legitimate host is now sent to the attacker's machine instead.</a:t>
            </a:r>
          </a:p>
        </p:txBody>
      </p:sp>
      <p:sp>
        <p:nvSpPr>
          <p:cNvPr name="TextBox 5" id="5"/>
          <p:cNvSpPr txBox="true"/>
          <p:nvPr/>
        </p:nvSpPr>
        <p:spPr>
          <a:xfrm rot="0">
            <a:off x="8963492" y="3124372"/>
            <a:ext cx="8657758" cy="626935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Man-in-t</a:t>
            </a:r>
            <a:r>
              <a:rPr lang="en-US" sz="2200" spc="-66" b="true">
                <a:solidFill>
                  <a:srgbClr val="00FFA8"/>
                </a:solidFill>
                <a:latin typeface="TT Fors Bold"/>
                <a:ea typeface="TT Fors Bold"/>
                <a:cs typeface="TT Fors Bold"/>
                <a:sym typeface="TT Fors Bold"/>
              </a:rPr>
              <a:t>he-Middle (MITM) Position</a:t>
            </a:r>
          </a:p>
          <a:p>
            <a:pPr algn="l">
              <a:lnSpc>
                <a:spcPts val="3300"/>
              </a:lnSpc>
            </a:pPr>
            <a:r>
              <a:rPr lang="en-US" sz="2200" spc="-66">
                <a:solidFill>
                  <a:srgbClr val="00FFA8"/>
                </a:solidFill>
                <a:latin typeface="TT Fors"/>
                <a:ea typeface="TT Fors"/>
                <a:cs typeface="TT Fors"/>
                <a:sym typeface="TT Fors"/>
              </a:rPr>
              <a:t>Once an attacker successfully performs ARP poisoning, they achieve a Man-in-the-Middle (MITM) position. This means the attacker can now intercept, inspect, modify, or block communications between the victim and the intended recipient. The victim is unaware that their traffic is being intercepted.</a:t>
            </a:r>
          </a:p>
          <a:p>
            <a:pPr algn="l">
              <a:lnSpc>
                <a:spcPts val="3300"/>
              </a:lnSpc>
            </a:pPr>
            <a:r>
              <a:rPr lang="en-US" sz="2200" spc="-66" b="true">
                <a:solidFill>
                  <a:srgbClr val="00FFA8"/>
                </a:solidFill>
                <a:latin typeface="TT Fors Bold"/>
                <a:ea typeface="TT Fors Bold"/>
                <a:cs typeface="TT Fors Bold"/>
                <a:sym typeface="TT Fors Bold"/>
              </a:rPr>
              <a:t>Real-World Attack Example</a:t>
            </a:r>
          </a:p>
          <a:p>
            <a:pPr algn="l">
              <a:lnSpc>
                <a:spcPts val="3300"/>
              </a:lnSpc>
            </a:pPr>
            <a:r>
              <a:rPr lang="en-US" sz="2200" spc="-66">
                <a:solidFill>
                  <a:srgbClr val="00FFA8"/>
                </a:solidFill>
                <a:latin typeface="TT Fors"/>
                <a:ea typeface="TT Fors"/>
                <a:cs typeface="TT Fors"/>
                <a:sym typeface="TT Fors"/>
              </a:rPr>
              <a:t>Victim A (192.168.1.10) wants to access a bank website at the gateway (192.168.1.1). The attacker (192.168.1.100) sends ARP poisoning packets:</a:t>
            </a:r>
          </a:p>
          <a:p>
            <a:pPr algn="l">
              <a:lnSpc>
                <a:spcPts val="3300"/>
              </a:lnSpc>
            </a:pPr>
            <a:r>
              <a:rPr lang="en-US" sz="2200" spc="-66" b="true">
                <a:solidFill>
                  <a:srgbClr val="00FFA8"/>
                </a:solidFill>
                <a:latin typeface="TT Fors Bold"/>
                <a:ea typeface="TT Fors Bold"/>
                <a:cs typeface="TT Fors Bold"/>
                <a:sym typeface="TT Fors Bold"/>
              </a:rPr>
              <a:t>- To Victim A:</a:t>
            </a:r>
            <a:r>
              <a:rPr lang="en-US" sz="2200" spc="-66">
                <a:solidFill>
                  <a:srgbClr val="00FFA8"/>
                </a:solidFill>
                <a:latin typeface="TT Fors"/>
                <a:ea typeface="TT Fors"/>
                <a:cs typeface="TT Fors"/>
                <a:sym typeface="TT Fors"/>
              </a:rPr>
              <a:t> 'Gateway 192.168.1.1 is at MAC AA:AA:AA:AA:AA:AA' (attacker's MAC)</a:t>
            </a:r>
          </a:p>
          <a:p>
            <a:pPr algn="l">
              <a:lnSpc>
                <a:spcPts val="3300"/>
              </a:lnSpc>
            </a:pPr>
            <a:r>
              <a:rPr lang="en-US" sz="2200" spc="-66" b="true">
                <a:solidFill>
                  <a:srgbClr val="00FFA8"/>
                </a:solidFill>
                <a:latin typeface="TT Fors Bold"/>
                <a:ea typeface="TT Fors Bold"/>
                <a:cs typeface="TT Fors Bold"/>
                <a:sym typeface="TT Fors Bold"/>
              </a:rPr>
              <a:t>- To Gateway:</a:t>
            </a:r>
            <a:r>
              <a:rPr lang="en-US" sz="2200" spc="-66">
                <a:solidFill>
                  <a:srgbClr val="00FFA8"/>
                </a:solidFill>
                <a:latin typeface="TT Fors"/>
                <a:ea typeface="TT Fors"/>
                <a:cs typeface="TT Fors"/>
                <a:sym typeface="TT Fors"/>
              </a:rPr>
              <a:t> 'Victim A 192.168.1.10 is at MAC AA:AA:AA:AA:AA:AA' (attacker's MAC)</a:t>
            </a:r>
          </a:p>
          <a:p>
            <a:pPr algn="l">
              <a:lnSpc>
                <a:spcPts val="3300"/>
              </a:lnSpc>
            </a:pPr>
            <a:r>
              <a:rPr lang="en-US" sz="2200" spc="-66">
                <a:solidFill>
                  <a:srgbClr val="00FFA8"/>
                </a:solidFill>
                <a:latin typeface="TT Fors"/>
                <a:ea typeface="TT Fors"/>
                <a:cs typeface="TT Fors"/>
                <a:sym typeface="TT Fors"/>
              </a:rPr>
              <a:t>Now the attacker intercepts all traffic between Victim A and the gateway, potentially capturing login credentials.</a:t>
            </a:r>
          </a:p>
        </p:txBody>
      </p:sp>
      <p:sp>
        <p:nvSpPr>
          <p:cNvPr name="TextBox 6" id="6"/>
          <p:cNvSpPr txBox="true"/>
          <p:nvPr/>
        </p:nvSpPr>
        <p:spPr>
          <a:xfrm rot="0">
            <a:off x="666750" y="1948987"/>
            <a:ext cx="16954500" cy="1076325"/>
          </a:xfrm>
          <a:prstGeom prst="rect">
            <a:avLst/>
          </a:prstGeom>
        </p:spPr>
        <p:txBody>
          <a:bodyPr anchor="t" rtlCol="false" tIns="0" lIns="0" bIns="0" rIns="0">
            <a:spAutoFit/>
          </a:bodyPr>
          <a:lstStyle/>
          <a:p>
            <a:pPr algn="l" marL="0" indent="0" lvl="0">
              <a:lnSpc>
                <a:spcPts val="2880"/>
              </a:lnSpc>
              <a:spcBef>
                <a:spcPct val="0"/>
              </a:spcBef>
            </a:pPr>
            <a:r>
              <a:rPr lang="en-US" sz="2400" spc="-72">
                <a:solidFill>
                  <a:srgbClr val="FFFFFF"/>
                </a:solidFill>
                <a:latin typeface="TT Fors"/>
                <a:ea typeface="TT Fors"/>
                <a:cs typeface="TT Fors"/>
                <a:sym typeface="TT Fors"/>
              </a:rPr>
              <a:t>ARP poisoning (also called ARP spoofing) is an active sniffing technique wh</a:t>
            </a:r>
            <a:r>
              <a:rPr lang="en-US" sz="2400" spc="-72">
                <a:solidFill>
                  <a:srgbClr val="FFFFFF"/>
                </a:solidFill>
                <a:latin typeface="TT Fors"/>
                <a:ea typeface="TT Fors"/>
                <a:cs typeface="TT Fors"/>
                <a:sym typeface="TT Fors"/>
              </a:rPr>
              <a:t>ere a</a:t>
            </a:r>
            <a:r>
              <a:rPr lang="en-US" sz="2400" spc="-72">
                <a:solidFill>
                  <a:srgbClr val="FFFFFF"/>
                </a:solidFill>
                <a:latin typeface="TT Fors"/>
                <a:ea typeface="TT Fors"/>
                <a:cs typeface="TT Fors"/>
                <a:sym typeface="TT Fors"/>
              </a:rPr>
              <a:t>n attacker sends forged ARP replies to corrupt the ARP cache of target devices. By doing this, the attacker can redirect traffic destined for one host to the attacker's machine instead.</a:t>
            </a:r>
          </a:p>
        </p:txBody>
      </p:sp>
      <p:grpSp>
        <p:nvGrpSpPr>
          <p:cNvPr name="Group 7" id="7"/>
          <p:cNvGrpSpPr/>
          <p:nvPr/>
        </p:nvGrpSpPr>
        <p:grpSpPr>
          <a:xfrm rot="0">
            <a:off x="16115522" y="751544"/>
            <a:ext cx="1505728" cy="810556"/>
            <a:chOff x="0" y="0"/>
            <a:chExt cx="2007638" cy="1080741"/>
          </a:xfrm>
        </p:grpSpPr>
        <p:grpSp>
          <p:nvGrpSpPr>
            <p:cNvPr name="Group 8" id="8"/>
            <p:cNvGrpSpPr/>
            <p:nvPr/>
          </p:nvGrpSpPr>
          <p:grpSpPr>
            <a:xfrm rot="0">
              <a:off x="0" y="0"/>
              <a:ext cx="1080741" cy="108074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926897" y="0"/>
              <a:ext cx="1080741" cy="108074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108486" y="191456"/>
              <a:ext cx="717562" cy="697829"/>
            </a:xfrm>
            <a:custGeom>
              <a:avLst/>
              <a:gdLst/>
              <a:ahLst/>
              <a:cxnLst/>
              <a:rect r="r" b="b" t="t" l="l"/>
              <a:pathLst>
                <a:path h="697829" w="717562">
                  <a:moveTo>
                    <a:pt x="0" y="0"/>
                  </a:moveTo>
                  <a:lnTo>
                    <a:pt x="717563" y="0"/>
                  </a:lnTo>
                  <a:lnTo>
                    <a:pt x="717563" y="697829"/>
                  </a:lnTo>
                  <a:lnTo>
                    <a:pt x="0" y="6978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234320" y="101015"/>
              <a:ext cx="978695" cy="707551"/>
            </a:xfrm>
            <a:custGeom>
              <a:avLst/>
              <a:gdLst/>
              <a:ahLst/>
              <a:cxnLst/>
              <a:rect r="r" b="b" t="t" l="l"/>
              <a:pathLst>
                <a:path h="707551" w="978695">
                  <a:moveTo>
                    <a:pt x="0" y="0"/>
                  </a:moveTo>
                  <a:lnTo>
                    <a:pt x="978695" y="0"/>
                  </a:lnTo>
                  <a:lnTo>
                    <a:pt x="978695" y="707551"/>
                  </a:lnTo>
                  <a:lnTo>
                    <a:pt x="0" y="707551"/>
                  </a:lnTo>
                  <a:lnTo>
                    <a:pt x="0" y="0"/>
                  </a:lnTo>
                  <a:close/>
                </a:path>
              </a:pathLst>
            </a:custGeom>
            <a:blipFill>
              <a:blip r:embed="rId5"/>
              <a:stretch>
                <a:fillRect l="0" t="0" r="-14982" b="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ARP Poisoning/Spoofing Attacks (Cont’d)</a:t>
            </a:r>
          </a:p>
        </p:txBody>
      </p:sp>
      <p:sp>
        <p:nvSpPr>
          <p:cNvPr name="TextBox 3" id="3"/>
          <p:cNvSpPr txBox="true"/>
          <p:nvPr/>
        </p:nvSpPr>
        <p:spPr>
          <a:xfrm rot="0">
            <a:off x="666750" y="1331595"/>
            <a:ext cx="12864612" cy="453390"/>
          </a:xfrm>
          <a:prstGeom prst="rect">
            <a:avLst/>
          </a:prstGeom>
        </p:spPr>
        <p:txBody>
          <a:bodyPr anchor="t" rtlCol="false" tIns="0" lIns="0" bIns="0" rIns="0">
            <a:spAutoFit/>
          </a:bodyPr>
          <a:lstStyle/>
          <a:p>
            <a:pPr algn="l">
              <a:lnSpc>
                <a:spcPts val="3899"/>
              </a:lnSpc>
            </a:pPr>
            <a:r>
              <a:rPr lang="en-US" b="true" sz="2599" spc="-77">
                <a:solidFill>
                  <a:srgbClr val="00FFA8"/>
                </a:solidFill>
                <a:latin typeface="TT Fors Bold"/>
                <a:ea typeface="TT Fors Bold"/>
                <a:cs typeface="TT Fors Bold"/>
                <a:sym typeface="TT Fors Bold"/>
              </a:rPr>
              <a:t>Man-in-the-Middle (MITM) Position</a:t>
            </a:r>
          </a:p>
        </p:txBody>
      </p:sp>
      <p:sp>
        <p:nvSpPr>
          <p:cNvPr name="TextBox 4" id="4"/>
          <p:cNvSpPr txBox="true"/>
          <p:nvPr/>
        </p:nvSpPr>
        <p:spPr>
          <a:xfrm rot="0">
            <a:off x="666750" y="2206069"/>
            <a:ext cx="9828136" cy="1240155"/>
          </a:xfrm>
          <a:prstGeom prst="rect">
            <a:avLst/>
          </a:prstGeom>
        </p:spPr>
        <p:txBody>
          <a:bodyPr anchor="t" rtlCol="false" tIns="0" lIns="0" bIns="0" rIns="0">
            <a:spAutoFit/>
          </a:bodyPr>
          <a:lstStyle/>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The attacker intercepts communication between two victims.</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Victim A → MiTM → Victim B.</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Victim A ← MiTM ← Victim B.</a:t>
            </a:r>
          </a:p>
        </p:txBody>
      </p:sp>
      <p:grpSp>
        <p:nvGrpSpPr>
          <p:cNvPr name="Group 5" id="5"/>
          <p:cNvGrpSpPr/>
          <p:nvPr/>
        </p:nvGrpSpPr>
        <p:grpSpPr>
          <a:xfrm rot="0">
            <a:off x="16115522" y="751544"/>
            <a:ext cx="1505728" cy="810556"/>
            <a:chOff x="0" y="0"/>
            <a:chExt cx="2007638" cy="1080741"/>
          </a:xfrm>
        </p:grpSpPr>
        <p:grpSp>
          <p:nvGrpSpPr>
            <p:cNvPr name="Group 6" id="6"/>
            <p:cNvGrpSpPr/>
            <p:nvPr/>
          </p:nvGrpSpPr>
          <p:grpSpPr>
            <a:xfrm rot="0">
              <a:off x="0" y="0"/>
              <a:ext cx="1080741" cy="108074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926897" y="0"/>
              <a:ext cx="1080741" cy="108074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108486" y="191456"/>
              <a:ext cx="717562" cy="697829"/>
            </a:xfrm>
            <a:custGeom>
              <a:avLst/>
              <a:gdLst/>
              <a:ahLst/>
              <a:cxnLst/>
              <a:rect r="r" b="b" t="t" l="l"/>
              <a:pathLst>
                <a:path h="697829" w="717562">
                  <a:moveTo>
                    <a:pt x="0" y="0"/>
                  </a:moveTo>
                  <a:lnTo>
                    <a:pt x="717563" y="0"/>
                  </a:lnTo>
                  <a:lnTo>
                    <a:pt x="717563" y="697829"/>
                  </a:lnTo>
                  <a:lnTo>
                    <a:pt x="0" y="6978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234320" y="101015"/>
              <a:ext cx="978695" cy="707551"/>
            </a:xfrm>
            <a:custGeom>
              <a:avLst/>
              <a:gdLst/>
              <a:ahLst/>
              <a:cxnLst/>
              <a:rect r="r" b="b" t="t" l="l"/>
              <a:pathLst>
                <a:path h="707551" w="978695">
                  <a:moveTo>
                    <a:pt x="0" y="0"/>
                  </a:moveTo>
                  <a:lnTo>
                    <a:pt x="978695" y="0"/>
                  </a:lnTo>
                  <a:lnTo>
                    <a:pt x="978695" y="707551"/>
                  </a:lnTo>
                  <a:lnTo>
                    <a:pt x="0" y="707551"/>
                  </a:lnTo>
                  <a:lnTo>
                    <a:pt x="0" y="0"/>
                  </a:lnTo>
                  <a:close/>
                </a:path>
              </a:pathLst>
            </a:custGeom>
            <a:blipFill>
              <a:blip r:embed="rId5"/>
              <a:stretch>
                <a:fillRect l="0" t="0" r="-14982" b="0"/>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ARP Poisoning/Spoofing Attacks (Cont’d)</a:t>
            </a:r>
          </a:p>
        </p:txBody>
      </p:sp>
      <p:grpSp>
        <p:nvGrpSpPr>
          <p:cNvPr name="Group 3" id="3"/>
          <p:cNvGrpSpPr/>
          <p:nvPr/>
        </p:nvGrpSpPr>
        <p:grpSpPr>
          <a:xfrm rot="0">
            <a:off x="16115522" y="751544"/>
            <a:ext cx="1505728" cy="810556"/>
            <a:chOff x="0" y="0"/>
            <a:chExt cx="2007638" cy="1080741"/>
          </a:xfrm>
        </p:grpSpPr>
        <p:grpSp>
          <p:nvGrpSpPr>
            <p:cNvPr name="Group 4" id="4"/>
            <p:cNvGrpSpPr/>
            <p:nvPr/>
          </p:nvGrpSpPr>
          <p:grpSpPr>
            <a:xfrm rot="0">
              <a:off x="0" y="0"/>
              <a:ext cx="1080741" cy="108074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926897" y="0"/>
              <a:ext cx="1080741" cy="108074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108486" y="191456"/>
              <a:ext cx="717562" cy="697829"/>
            </a:xfrm>
            <a:custGeom>
              <a:avLst/>
              <a:gdLst/>
              <a:ahLst/>
              <a:cxnLst/>
              <a:rect r="r" b="b" t="t" l="l"/>
              <a:pathLst>
                <a:path h="697829" w="717562">
                  <a:moveTo>
                    <a:pt x="0" y="0"/>
                  </a:moveTo>
                  <a:lnTo>
                    <a:pt x="717563" y="0"/>
                  </a:lnTo>
                  <a:lnTo>
                    <a:pt x="717563" y="697829"/>
                  </a:lnTo>
                  <a:lnTo>
                    <a:pt x="0" y="6978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234320" y="101015"/>
              <a:ext cx="978695" cy="707551"/>
            </a:xfrm>
            <a:custGeom>
              <a:avLst/>
              <a:gdLst/>
              <a:ahLst/>
              <a:cxnLst/>
              <a:rect r="r" b="b" t="t" l="l"/>
              <a:pathLst>
                <a:path h="707551" w="978695">
                  <a:moveTo>
                    <a:pt x="0" y="0"/>
                  </a:moveTo>
                  <a:lnTo>
                    <a:pt x="978695" y="0"/>
                  </a:lnTo>
                  <a:lnTo>
                    <a:pt x="978695" y="707551"/>
                  </a:lnTo>
                  <a:lnTo>
                    <a:pt x="0" y="707551"/>
                  </a:lnTo>
                  <a:lnTo>
                    <a:pt x="0" y="0"/>
                  </a:lnTo>
                  <a:close/>
                </a:path>
              </a:pathLst>
            </a:custGeom>
            <a:blipFill>
              <a:blip r:embed="rId5"/>
              <a:stretch>
                <a:fillRect l="0" t="0" r="-14982" b="0"/>
              </a:stretch>
            </a:blipFill>
          </p:spPr>
        </p:sp>
      </p:grpSp>
      <p:sp>
        <p:nvSpPr>
          <p:cNvPr name="Freeform 12" id="12"/>
          <p:cNvSpPr/>
          <p:nvPr/>
        </p:nvSpPr>
        <p:spPr>
          <a:xfrm flipH="false" flipV="false" rot="0">
            <a:off x="666750" y="1793096"/>
            <a:ext cx="15164926" cy="7696200"/>
          </a:xfrm>
          <a:custGeom>
            <a:avLst/>
            <a:gdLst/>
            <a:ahLst/>
            <a:cxnLst/>
            <a:rect r="r" b="b" t="t" l="l"/>
            <a:pathLst>
              <a:path h="7696200" w="15164926">
                <a:moveTo>
                  <a:pt x="0" y="0"/>
                </a:moveTo>
                <a:lnTo>
                  <a:pt x="15164926" y="0"/>
                </a:lnTo>
                <a:lnTo>
                  <a:pt x="15164926" y="7696200"/>
                </a:lnTo>
                <a:lnTo>
                  <a:pt x="0" y="7696200"/>
                </a:lnTo>
                <a:lnTo>
                  <a:pt x="0" y="0"/>
                </a:lnTo>
                <a:close/>
              </a:path>
            </a:pathLst>
          </a:custGeom>
          <a:blipFill>
            <a:blip r:embed="rId6"/>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ARP Poisoning/Spoofing Attacks (Cont’d)</a:t>
            </a:r>
          </a:p>
        </p:txBody>
      </p:sp>
      <p:grpSp>
        <p:nvGrpSpPr>
          <p:cNvPr name="Group 3" id="3"/>
          <p:cNvGrpSpPr/>
          <p:nvPr/>
        </p:nvGrpSpPr>
        <p:grpSpPr>
          <a:xfrm rot="0">
            <a:off x="16115522" y="751544"/>
            <a:ext cx="1505728" cy="810556"/>
            <a:chOff x="0" y="0"/>
            <a:chExt cx="2007638" cy="1080741"/>
          </a:xfrm>
        </p:grpSpPr>
        <p:grpSp>
          <p:nvGrpSpPr>
            <p:cNvPr name="Group 4" id="4"/>
            <p:cNvGrpSpPr/>
            <p:nvPr/>
          </p:nvGrpSpPr>
          <p:grpSpPr>
            <a:xfrm rot="0">
              <a:off x="0" y="0"/>
              <a:ext cx="1080741" cy="108074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926897" y="0"/>
              <a:ext cx="1080741" cy="108074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108486" y="191456"/>
              <a:ext cx="717562" cy="697829"/>
            </a:xfrm>
            <a:custGeom>
              <a:avLst/>
              <a:gdLst/>
              <a:ahLst/>
              <a:cxnLst/>
              <a:rect r="r" b="b" t="t" l="l"/>
              <a:pathLst>
                <a:path h="697829" w="717562">
                  <a:moveTo>
                    <a:pt x="0" y="0"/>
                  </a:moveTo>
                  <a:lnTo>
                    <a:pt x="717563" y="0"/>
                  </a:lnTo>
                  <a:lnTo>
                    <a:pt x="717563" y="697829"/>
                  </a:lnTo>
                  <a:lnTo>
                    <a:pt x="0" y="6978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234320" y="101015"/>
              <a:ext cx="978695" cy="707551"/>
            </a:xfrm>
            <a:custGeom>
              <a:avLst/>
              <a:gdLst/>
              <a:ahLst/>
              <a:cxnLst/>
              <a:rect r="r" b="b" t="t" l="l"/>
              <a:pathLst>
                <a:path h="707551" w="978695">
                  <a:moveTo>
                    <a:pt x="0" y="0"/>
                  </a:moveTo>
                  <a:lnTo>
                    <a:pt x="978695" y="0"/>
                  </a:lnTo>
                  <a:lnTo>
                    <a:pt x="978695" y="707551"/>
                  </a:lnTo>
                  <a:lnTo>
                    <a:pt x="0" y="707551"/>
                  </a:lnTo>
                  <a:lnTo>
                    <a:pt x="0" y="0"/>
                  </a:lnTo>
                  <a:close/>
                </a:path>
              </a:pathLst>
            </a:custGeom>
            <a:blipFill>
              <a:blip r:embed="rId5"/>
              <a:stretch>
                <a:fillRect l="0" t="0" r="-14982" b="0"/>
              </a:stretch>
            </a:blipFill>
          </p:spPr>
        </p:sp>
      </p:grpSp>
      <p:sp>
        <p:nvSpPr>
          <p:cNvPr name="Freeform 12" id="12"/>
          <p:cNvSpPr/>
          <p:nvPr/>
        </p:nvSpPr>
        <p:spPr>
          <a:xfrm flipH="false" flipV="false" rot="0">
            <a:off x="666750" y="1771650"/>
            <a:ext cx="15105797" cy="7458487"/>
          </a:xfrm>
          <a:custGeom>
            <a:avLst/>
            <a:gdLst/>
            <a:ahLst/>
            <a:cxnLst/>
            <a:rect r="r" b="b" t="t" l="l"/>
            <a:pathLst>
              <a:path h="7458487" w="15105797">
                <a:moveTo>
                  <a:pt x="0" y="0"/>
                </a:moveTo>
                <a:lnTo>
                  <a:pt x="15105797" y="0"/>
                </a:lnTo>
                <a:lnTo>
                  <a:pt x="15105797" y="7458487"/>
                </a:lnTo>
                <a:lnTo>
                  <a:pt x="0" y="7458487"/>
                </a:lnTo>
                <a:lnTo>
                  <a:pt x="0" y="0"/>
                </a:lnTo>
                <a:close/>
              </a:path>
            </a:pathLst>
          </a:custGeom>
          <a:blipFill>
            <a:blip r:embed="rId6"/>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ARP Poisoning/Spoofing Attacks (Cont’d)</a:t>
            </a:r>
          </a:p>
        </p:txBody>
      </p:sp>
      <p:grpSp>
        <p:nvGrpSpPr>
          <p:cNvPr name="Group 3" id="3"/>
          <p:cNvGrpSpPr/>
          <p:nvPr/>
        </p:nvGrpSpPr>
        <p:grpSpPr>
          <a:xfrm rot="0">
            <a:off x="16115522" y="751544"/>
            <a:ext cx="1505728" cy="810556"/>
            <a:chOff x="0" y="0"/>
            <a:chExt cx="2007638" cy="1080741"/>
          </a:xfrm>
        </p:grpSpPr>
        <p:grpSp>
          <p:nvGrpSpPr>
            <p:cNvPr name="Group 4" id="4"/>
            <p:cNvGrpSpPr/>
            <p:nvPr/>
          </p:nvGrpSpPr>
          <p:grpSpPr>
            <a:xfrm rot="0">
              <a:off x="0" y="0"/>
              <a:ext cx="1080741" cy="108074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926897" y="0"/>
              <a:ext cx="1080741" cy="108074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108486" y="191456"/>
              <a:ext cx="717562" cy="697829"/>
            </a:xfrm>
            <a:custGeom>
              <a:avLst/>
              <a:gdLst/>
              <a:ahLst/>
              <a:cxnLst/>
              <a:rect r="r" b="b" t="t" l="l"/>
              <a:pathLst>
                <a:path h="697829" w="717562">
                  <a:moveTo>
                    <a:pt x="0" y="0"/>
                  </a:moveTo>
                  <a:lnTo>
                    <a:pt x="717563" y="0"/>
                  </a:lnTo>
                  <a:lnTo>
                    <a:pt x="717563" y="697829"/>
                  </a:lnTo>
                  <a:lnTo>
                    <a:pt x="0" y="6978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234320" y="101015"/>
              <a:ext cx="978695" cy="707551"/>
            </a:xfrm>
            <a:custGeom>
              <a:avLst/>
              <a:gdLst/>
              <a:ahLst/>
              <a:cxnLst/>
              <a:rect r="r" b="b" t="t" l="l"/>
              <a:pathLst>
                <a:path h="707551" w="978695">
                  <a:moveTo>
                    <a:pt x="0" y="0"/>
                  </a:moveTo>
                  <a:lnTo>
                    <a:pt x="978695" y="0"/>
                  </a:lnTo>
                  <a:lnTo>
                    <a:pt x="978695" y="707551"/>
                  </a:lnTo>
                  <a:lnTo>
                    <a:pt x="0" y="707551"/>
                  </a:lnTo>
                  <a:lnTo>
                    <a:pt x="0" y="0"/>
                  </a:lnTo>
                  <a:close/>
                </a:path>
              </a:pathLst>
            </a:custGeom>
            <a:blipFill>
              <a:blip r:embed="rId5"/>
              <a:stretch>
                <a:fillRect l="0" t="0" r="-14982" b="0"/>
              </a:stretch>
            </a:blipFill>
          </p:spPr>
        </p:sp>
      </p:grpSp>
      <p:sp>
        <p:nvSpPr>
          <p:cNvPr name="Freeform 12" id="12"/>
          <p:cNvSpPr/>
          <p:nvPr/>
        </p:nvSpPr>
        <p:spPr>
          <a:xfrm flipH="false" flipV="false" rot="0">
            <a:off x="666750" y="1803777"/>
            <a:ext cx="14625307" cy="7879384"/>
          </a:xfrm>
          <a:custGeom>
            <a:avLst/>
            <a:gdLst/>
            <a:ahLst/>
            <a:cxnLst/>
            <a:rect r="r" b="b" t="t" l="l"/>
            <a:pathLst>
              <a:path h="7879384" w="14625307">
                <a:moveTo>
                  <a:pt x="0" y="0"/>
                </a:moveTo>
                <a:lnTo>
                  <a:pt x="14625307" y="0"/>
                </a:lnTo>
                <a:lnTo>
                  <a:pt x="14625307" y="7879384"/>
                </a:lnTo>
                <a:lnTo>
                  <a:pt x="0" y="7879384"/>
                </a:lnTo>
                <a:lnTo>
                  <a:pt x="0" y="0"/>
                </a:lnTo>
                <a:close/>
              </a:path>
            </a:pathLst>
          </a:custGeom>
          <a:blipFill>
            <a:blip r:embed="rId6"/>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DNS Spoofing</a:t>
            </a:r>
          </a:p>
        </p:txBody>
      </p:sp>
      <p:sp>
        <p:nvSpPr>
          <p:cNvPr name="TextBox 3" id="3"/>
          <p:cNvSpPr txBox="true"/>
          <p:nvPr/>
        </p:nvSpPr>
        <p:spPr>
          <a:xfrm rot="0">
            <a:off x="666750" y="1331595"/>
            <a:ext cx="12864612" cy="453390"/>
          </a:xfrm>
          <a:prstGeom prst="rect">
            <a:avLst/>
          </a:prstGeom>
        </p:spPr>
        <p:txBody>
          <a:bodyPr anchor="t" rtlCol="false" tIns="0" lIns="0" bIns="0" rIns="0">
            <a:spAutoFit/>
          </a:bodyPr>
          <a:lstStyle/>
          <a:p>
            <a:pPr algn="l">
              <a:lnSpc>
                <a:spcPts val="3899"/>
              </a:lnSpc>
            </a:pPr>
            <a:r>
              <a:rPr lang="en-US" b="true" sz="2599" spc="-77">
                <a:solidFill>
                  <a:srgbClr val="00FFA8"/>
                </a:solidFill>
                <a:latin typeface="TT Fors Bold"/>
                <a:ea typeface="TT Fors Bold"/>
                <a:cs typeface="TT Fors Bold"/>
                <a:sym typeface="TT Fors Bold"/>
              </a:rPr>
              <a:t>What is DNS Spoofing?</a:t>
            </a:r>
          </a:p>
        </p:txBody>
      </p:sp>
      <p:sp>
        <p:nvSpPr>
          <p:cNvPr name="TextBox 4" id="4"/>
          <p:cNvSpPr txBox="true"/>
          <p:nvPr/>
        </p:nvSpPr>
        <p:spPr>
          <a:xfrm rot="0">
            <a:off x="666750" y="3201624"/>
            <a:ext cx="7971958" cy="459295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Common DNS Spoofing Methods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Cach</a:t>
            </a:r>
            <a:r>
              <a:rPr lang="en-US" sz="2200" spc="-66">
                <a:solidFill>
                  <a:srgbClr val="00FFA8"/>
                </a:solidFill>
                <a:latin typeface="TT Fors"/>
                <a:ea typeface="TT Fors"/>
                <a:cs typeface="TT Fors"/>
                <a:sym typeface="TT Fors"/>
              </a:rPr>
              <a:t>e Pois</a:t>
            </a:r>
            <a:r>
              <a:rPr lang="en-US" sz="2200" spc="-66">
                <a:solidFill>
                  <a:srgbClr val="00FFA8"/>
                </a:solidFill>
                <a:latin typeface="TT Fors"/>
                <a:ea typeface="TT Fors"/>
                <a:cs typeface="TT Fors"/>
                <a:sym typeface="TT Fors"/>
              </a:rPr>
              <a:t>oning (Kaminsky Attack): Exploits DNS resolver vulnerabilities by flooding them with forged DNS responses, causing them to cache the attacker's malicious IP address.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Local DN</a:t>
            </a:r>
            <a:r>
              <a:rPr lang="en-US" sz="2200" spc="-66">
                <a:solidFill>
                  <a:srgbClr val="00FFA8"/>
                </a:solidFill>
                <a:latin typeface="TT Fors"/>
                <a:ea typeface="TT Fors"/>
                <a:cs typeface="TT Fors"/>
                <a:sym typeface="TT Fors"/>
              </a:rPr>
              <a:t>S Hijacking:</a:t>
            </a:r>
            <a:r>
              <a:rPr lang="en-US" sz="2200" spc="-66">
                <a:solidFill>
                  <a:srgbClr val="00FFA8"/>
                </a:solidFill>
                <a:latin typeface="TT Fors"/>
                <a:ea typeface="TT Fors"/>
                <a:cs typeface="TT Fors"/>
                <a:sym typeface="TT Fors"/>
              </a:rPr>
              <a:t> Malware modifies the system's hosts file to redirect domain names locally.</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Rogue DHCP Server: Attacker runs a malicious DHCP server that assigns attacker-controlled DNS servers to victim machines.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Man-in-</a:t>
            </a:r>
            <a:r>
              <a:rPr lang="en-US" sz="2200" spc="-66">
                <a:solidFill>
                  <a:srgbClr val="00FFA8"/>
                </a:solidFill>
                <a:latin typeface="TT Fors"/>
                <a:ea typeface="TT Fors"/>
                <a:cs typeface="TT Fors"/>
                <a:sym typeface="TT Fors"/>
              </a:rPr>
              <a:t>the-Middle DNS Interception: Attacker intercepts DNS queries and responds with malicious IP addresses.</a:t>
            </a:r>
          </a:p>
        </p:txBody>
      </p:sp>
      <p:sp>
        <p:nvSpPr>
          <p:cNvPr name="TextBox 5" id="5"/>
          <p:cNvSpPr txBox="true"/>
          <p:nvPr/>
        </p:nvSpPr>
        <p:spPr>
          <a:xfrm rot="0">
            <a:off x="8963492" y="3201624"/>
            <a:ext cx="8657758" cy="459295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What Can Be Sniff</a:t>
            </a:r>
            <a:r>
              <a:rPr lang="en-US" sz="2200" spc="-66" b="true">
                <a:solidFill>
                  <a:srgbClr val="00FFA8"/>
                </a:solidFill>
                <a:latin typeface="TT Fors Bold"/>
                <a:ea typeface="TT Fors Bold"/>
                <a:cs typeface="TT Fors Bold"/>
                <a:sym typeface="TT Fors Bold"/>
              </a:rPr>
              <a:t>ed via DNS Spoofing?</a:t>
            </a:r>
          </a:p>
          <a:p>
            <a:pPr algn="l" marL="474983" indent="-237491" lvl="1">
              <a:lnSpc>
                <a:spcPts val="3300"/>
              </a:lnSpc>
              <a:buFont typeface="Arial"/>
              <a:buChar char="•"/>
            </a:pPr>
            <a:r>
              <a:rPr lang="en-US" sz="2200" spc="-66">
                <a:solidFill>
                  <a:srgbClr val="00FFA8"/>
                </a:solidFill>
                <a:latin typeface="TT Fors"/>
                <a:ea typeface="TT Fors"/>
                <a:cs typeface="TT Fors"/>
                <a:sym typeface="TT Fors"/>
              </a:rPr>
              <a:t>Cr</a:t>
            </a:r>
            <a:r>
              <a:rPr lang="en-US" sz="2200" spc="-66">
                <a:solidFill>
                  <a:srgbClr val="00FFA8"/>
                </a:solidFill>
                <a:latin typeface="TT Fors"/>
                <a:ea typeface="TT Fors"/>
                <a:cs typeface="TT Fors"/>
                <a:sym typeface="TT Fors"/>
              </a:rPr>
              <a:t>edentials: Victims redirected to fake login portals can have their usernames and passwords stolen.</a:t>
            </a:r>
          </a:p>
          <a:p>
            <a:pPr algn="l" marL="474983" indent="-237491" lvl="1">
              <a:lnSpc>
                <a:spcPts val="3300"/>
              </a:lnSpc>
              <a:buFont typeface="Arial"/>
              <a:buChar char="•"/>
            </a:pPr>
            <a:r>
              <a:rPr lang="en-US" sz="2200" spc="-66">
                <a:solidFill>
                  <a:srgbClr val="00FFA8"/>
                </a:solidFill>
                <a:latin typeface="TT Fors"/>
                <a:ea typeface="TT Fors"/>
                <a:cs typeface="TT Fors"/>
                <a:sym typeface="TT Fors"/>
              </a:rPr>
              <a:t>Sensitive Information: Form data, credit card numbers, and personal information entered on spoofed sites.</a:t>
            </a:r>
          </a:p>
          <a:p>
            <a:pPr algn="l" marL="474983" indent="-237491" lvl="1">
              <a:lnSpc>
                <a:spcPts val="3300"/>
              </a:lnSpc>
              <a:buFont typeface="Arial"/>
              <a:buChar char="•"/>
            </a:pPr>
            <a:r>
              <a:rPr lang="en-US" sz="2200" spc="-66">
                <a:solidFill>
                  <a:srgbClr val="00FFA8"/>
                </a:solidFill>
                <a:latin typeface="TT Fors"/>
                <a:ea typeface="TT Fors"/>
                <a:cs typeface="TT Fors"/>
                <a:sym typeface="TT Fors"/>
              </a:rPr>
              <a:t>Browsing Patte</a:t>
            </a:r>
            <a:r>
              <a:rPr lang="en-US" sz="2200" spc="-66">
                <a:solidFill>
                  <a:srgbClr val="00FFA8"/>
                </a:solidFill>
                <a:latin typeface="TT Fors"/>
                <a:ea typeface="TT Fors"/>
                <a:cs typeface="TT Fors"/>
                <a:sym typeface="TT Fors"/>
              </a:rPr>
              <a:t>rns: Attackers can log which websites users attempt to visit.</a:t>
            </a:r>
          </a:p>
          <a:p>
            <a:pPr algn="l" marL="474983" indent="-237491" lvl="1">
              <a:lnSpc>
                <a:spcPts val="3300"/>
              </a:lnSpc>
              <a:buFont typeface="Arial"/>
              <a:buChar char="•"/>
            </a:pPr>
            <a:r>
              <a:rPr lang="en-US" sz="2200" spc="-66">
                <a:solidFill>
                  <a:srgbClr val="00FFA8"/>
                </a:solidFill>
                <a:latin typeface="TT Fors"/>
                <a:ea typeface="TT Fors"/>
                <a:cs typeface="TT Fors"/>
                <a:sym typeface="TT Fors"/>
              </a:rPr>
              <a:t>Malware Delivery: Users can be directed to download malicious software.</a:t>
            </a:r>
          </a:p>
          <a:p>
            <a:pPr algn="l" marL="474983" indent="-237491" lvl="1">
              <a:lnSpc>
                <a:spcPts val="3300"/>
              </a:lnSpc>
              <a:buFont typeface="Arial"/>
              <a:buChar char="•"/>
            </a:pPr>
            <a:r>
              <a:rPr lang="en-US" sz="2200" spc="-66">
                <a:solidFill>
                  <a:srgbClr val="00FFA8"/>
                </a:solidFill>
                <a:latin typeface="TT Fors"/>
                <a:ea typeface="TT Fors"/>
                <a:cs typeface="TT Fors"/>
                <a:sym typeface="TT Fors"/>
              </a:rPr>
              <a:t>Infrastructure Data: Internal DNS records and network topology information.</a:t>
            </a:r>
          </a:p>
        </p:txBody>
      </p:sp>
      <p:sp>
        <p:nvSpPr>
          <p:cNvPr name="TextBox 6" id="6"/>
          <p:cNvSpPr txBox="true"/>
          <p:nvPr/>
        </p:nvSpPr>
        <p:spPr>
          <a:xfrm rot="0">
            <a:off x="666750" y="1948987"/>
            <a:ext cx="16954500" cy="1076325"/>
          </a:xfrm>
          <a:prstGeom prst="rect">
            <a:avLst/>
          </a:prstGeom>
        </p:spPr>
        <p:txBody>
          <a:bodyPr anchor="t" rtlCol="false" tIns="0" lIns="0" bIns="0" rIns="0">
            <a:spAutoFit/>
          </a:bodyPr>
          <a:lstStyle/>
          <a:p>
            <a:pPr algn="l" marL="0" indent="0" lvl="0">
              <a:lnSpc>
                <a:spcPts val="2880"/>
              </a:lnSpc>
              <a:spcBef>
                <a:spcPct val="0"/>
              </a:spcBef>
            </a:pPr>
            <a:r>
              <a:rPr lang="en-US" sz="2400" spc="-72">
                <a:solidFill>
                  <a:srgbClr val="FFFFFF"/>
                </a:solidFill>
                <a:latin typeface="TT Fors"/>
                <a:ea typeface="TT Fors"/>
                <a:cs typeface="TT Fors"/>
                <a:sym typeface="TT Fors"/>
              </a:rPr>
              <a:t>DNS spoofing (also called DNS cache poisoning) is an attack wh</a:t>
            </a:r>
            <a:r>
              <a:rPr lang="en-US" sz="2400" spc="-72">
                <a:solidFill>
                  <a:srgbClr val="FFFFFF"/>
                </a:solidFill>
                <a:latin typeface="TT Fors"/>
                <a:ea typeface="TT Fors"/>
                <a:cs typeface="TT Fors"/>
                <a:sym typeface="TT Fors"/>
              </a:rPr>
              <a:t>ere a</a:t>
            </a:r>
            <a:r>
              <a:rPr lang="en-US" sz="2400" spc="-72">
                <a:solidFill>
                  <a:srgbClr val="FFFFFF"/>
                </a:solidFill>
                <a:latin typeface="TT Fors"/>
                <a:ea typeface="TT Fors"/>
                <a:cs typeface="TT Fors"/>
                <a:sym typeface="TT Fors"/>
              </a:rPr>
              <a:t>n attacker provides false DNS responses to redirect users to malicious websites. Instead of resolving a legitimate domain name to the correct IP address, the attacker's DNS response resolves the domain to the attacker's server.</a:t>
            </a:r>
          </a:p>
        </p:txBody>
      </p:sp>
      <p:grpSp>
        <p:nvGrpSpPr>
          <p:cNvPr name="Group 7" id="7"/>
          <p:cNvGrpSpPr/>
          <p:nvPr/>
        </p:nvGrpSpPr>
        <p:grpSpPr>
          <a:xfrm rot="0">
            <a:off x="16115522" y="751544"/>
            <a:ext cx="1505728" cy="810556"/>
            <a:chOff x="0" y="0"/>
            <a:chExt cx="2007638" cy="1080741"/>
          </a:xfrm>
        </p:grpSpPr>
        <p:grpSp>
          <p:nvGrpSpPr>
            <p:cNvPr name="Group 8" id="8"/>
            <p:cNvGrpSpPr/>
            <p:nvPr/>
          </p:nvGrpSpPr>
          <p:grpSpPr>
            <a:xfrm rot="0">
              <a:off x="0" y="0"/>
              <a:ext cx="1080741" cy="108074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926897" y="0"/>
              <a:ext cx="1080741" cy="108074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108486" y="191456"/>
              <a:ext cx="717562" cy="697829"/>
            </a:xfrm>
            <a:custGeom>
              <a:avLst/>
              <a:gdLst/>
              <a:ahLst/>
              <a:cxnLst/>
              <a:rect r="r" b="b" t="t" l="l"/>
              <a:pathLst>
                <a:path h="697829" w="717562">
                  <a:moveTo>
                    <a:pt x="0" y="0"/>
                  </a:moveTo>
                  <a:lnTo>
                    <a:pt x="717563" y="0"/>
                  </a:lnTo>
                  <a:lnTo>
                    <a:pt x="717563" y="697829"/>
                  </a:lnTo>
                  <a:lnTo>
                    <a:pt x="0" y="6978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234320" y="101015"/>
              <a:ext cx="978695" cy="707551"/>
            </a:xfrm>
            <a:custGeom>
              <a:avLst/>
              <a:gdLst/>
              <a:ahLst/>
              <a:cxnLst/>
              <a:rect r="r" b="b" t="t" l="l"/>
              <a:pathLst>
                <a:path h="707551" w="978695">
                  <a:moveTo>
                    <a:pt x="0" y="0"/>
                  </a:moveTo>
                  <a:lnTo>
                    <a:pt x="978695" y="0"/>
                  </a:lnTo>
                  <a:lnTo>
                    <a:pt x="978695" y="707551"/>
                  </a:lnTo>
                  <a:lnTo>
                    <a:pt x="0" y="707551"/>
                  </a:lnTo>
                  <a:lnTo>
                    <a:pt x="0" y="0"/>
                  </a:lnTo>
                  <a:close/>
                </a:path>
              </a:pathLst>
            </a:custGeom>
            <a:blipFill>
              <a:blip r:embed="rId5"/>
              <a:stretch>
                <a:fillRect l="0" t="0" r="-14982" b="0"/>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DHCP Spoofing</a:t>
            </a:r>
          </a:p>
        </p:txBody>
      </p:sp>
      <p:sp>
        <p:nvSpPr>
          <p:cNvPr name="TextBox 3" id="3"/>
          <p:cNvSpPr txBox="true"/>
          <p:nvPr/>
        </p:nvSpPr>
        <p:spPr>
          <a:xfrm rot="0">
            <a:off x="666750" y="1331595"/>
            <a:ext cx="12864612" cy="453390"/>
          </a:xfrm>
          <a:prstGeom prst="rect">
            <a:avLst/>
          </a:prstGeom>
        </p:spPr>
        <p:txBody>
          <a:bodyPr anchor="t" rtlCol="false" tIns="0" lIns="0" bIns="0" rIns="0">
            <a:spAutoFit/>
          </a:bodyPr>
          <a:lstStyle/>
          <a:p>
            <a:pPr algn="l">
              <a:lnSpc>
                <a:spcPts val="3899"/>
              </a:lnSpc>
            </a:pPr>
            <a:r>
              <a:rPr lang="en-US" b="true" sz="2599" spc="-77">
                <a:solidFill>
                  <a:srgbClr val="00FFA8"/>
                </a:solidFill>
                <a:latin typeface="TT Fors Bold"/>
                <a:ea typeface="TT Fors Bold"/>
                <a:cs typeface="TT Fors Bold"/>
                <a:sym typeface="TT Fors Bold"/>
              </a:rPr>
              <a:t>DHCP Overview</a:t>
            </a:r>
          </a:p>
        </p:txBody>
      </p:sp>
      <p:sp>
        <p:nvSpPr>
          <p:cNvPr name="TextBox 4" id="4"/>
          <p:cNvSpPr txBox="true"/>
          <p:nvPr/>
        </p:nvSpPr>
        <p:spPr>
          <a:xfrm rot="0">
            <a:off x="666750" y="3335998"/>
            <a:ext cx="16766773" cy="249745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DH</a:t>
            </a:r>
            <a:r>
              <a:rPr lang="en-US" sz="2200" spc="-66" b="true">
                <a:solidFill>
                  <a:srgbClr val="00FFA8"/>
                </a:solidFill>
                <a:latin typeface="TT Fors Bold"/>
                <a:ea typeface="TT Fors Bold"/>
                <a:cs typeface="TT Fors Bold"/>
                <a:sym typeface="TT Fors Bold"/>
              </a:rPr>
              <a:t>C</a:t>
            </a:r>
            <a:r>
              <a:rPr lang="en-US" sz="2200" spc="-66" b="true">
                <a:solidFill>
                  <a:srgbClr val="00FFA8"/>
                </a:solidFill>
                <a:latin typeface="TT Fors Bold"/>
                <a:ea typeface="TT Fors Bold"/>
                <a:cs typeface="TT Fors Bold"/>
                <a:sym typeface="TT Fors Bold"/>
              </a:rPr>
              <a:t>P</a:t>
            </a:r>
            <a:r>
              <a:rPr lang="en-US" sz="2200" spc="-66" b="true">
                <a:solidFill>
                  <a:srgbClr val="00FFA8"/>
                </a:solidFill>
                <a:latin typeface="TT Fors Bold"/>
                <a:ea typeface="TT Fors Bold"/>
                <a:cs typeface="TT Fors Bold"/>
                <a:sym typeface="TT Fors Bold"/>
              </a:rPr>
              <a:t> Spoo</a:t>
            </a:r>
            <a:r>
              <a:rPr lang="en-US" sz="2200" spc="-66" b="true">
                <a:solidFill>
                  <a:srgbClr val="00FFA8"/>
                </a:solidFill>
                <a:latin typeface="TT Fors Bold"/>
                <a:ea typeface="TT Fors Bold"/>
                <a:cs typeface="TT Fors Bold"/>
                <a:sym typeface="TT Fors Bold"/>
              </a:rPr>
              <a:t>fing Attack</a:t>
            </a:r>
          </a:p>
          <a:p>
            <a:pPr algn="l">
              <a:lnSpc>
                <a:spcPts val="3300"/>
              </a:lnSpc>
            </a:pPr>
            <a:r>
              <a:rPr lang="en-US" sz="2200" spc="-66">
                <a:solidFill>
                  <a:srgbClr val="00FFA8"/>
                </a:solidFill>
                <a:latin typeface="TT Fors"/>
                <a:ea typeface="TT Fors"/>
                <a:cs typeface="TT Fors"/>
                <a:sym typeface="TT Fors"/>
              </a:rPr>
              <a:t>An attacker runs a rogue DHCP server on the network. When a new device attempts to obtain an IP address, the rogue DHCP server responds faster than the legitimate DHCP server, assigning the attacker-controlled gateway and DNS servers to the victim.</a:t>
            </a:r>
          </a:p>
          <a:p>
            <a:pPr algn="l">
              <a:lnSpc>
                <a:spcPts val="3300"/>
              </a:lnSpc>
            </a:pPr>
          </a:p>
          <a:p>
            <a:pPr algn="l">
              <a:lnSpc>
                <a:spcPts val="3300"/>
              </a:lnSpc>
            </a:pPr>
            <a:r>
              <a:rPr lang="en-US" sz="2200" spc="-66">
                <a:solidFill>
                  <a:srgbClr val="00FFA8"/>
                </a:solidFill>
                <a:latin typeface="TT Fors"/>
                <a:ea typeface="TT Fors"/>
                <a:cs typeface="TT Fors"/>
                <a:sym typeface="TT Fors"/>
              </a:rPr>
              <a:t>It</a:t>
            </a:r>
            <a:r>
              <a:rPr lang="en-US" sz="2200" spc="-66">
                <a:solidFill>
                  <a:srgbClr val="00FFA8"/>
                </a:solidFill>
                <a:latin typeface="TT Fors"/>
                <a:ea typeface="TT Fors"/>
                <a:cs typeface="TT Fors"/>
                <a:sym typeface="TT Fors"/>
              </a:rPr>
              <a:t> achieves the same effect as ARP poisoning but through DHCP: redirecting all traffic through the attacker's machine and allowing DNS spoofing.</a:t>
            </a:r>
          </a:p>
        </p:txBody>
      </p:sp>
      <p:sp>
        <p:nvSpPr>
          <p:cNvPr name="TextBox 5" id="5"/>
          <p:cNvSpPr txBox="true"/>
          <p:nvPr/>
        </p:nvSpPr>
        <p:spPr>
          <a:xfrm rot="0">
            <a:off x="666750" y="1906124"/>
            <a:ext cx="16954500" cy="1076325"/>
          </a:xfrm>
          <a:prstGeom prst="rect">
            <a:avLst/>
          </a:prstGeom>
        </p:spPr>
        <p:txBody>
          <a:bodyPr anchor="t" rtlCol="false" tIns="0" lIns="0" bIns="0" rIns="0">
            <a:spAutoFit/>
          </a:bodyPr>
          <a:lstStyle/>
          <a:p>
            <a:pPr algn="l" marL="0" indent="0" lvl="0">
              <a:lnSpc>
                <a:spcPts val="2880"/>
              </a:lnSpc>
              <a:spcBef>
                <a:spcPct val="0"/>
              </a:spcBef>
            </a:pPr>
            <a:r>
              <a:rPr lang="en-US" sz="2400" spc="-72">
                <a:solidFill>
                  <a:srgbClr val="FFFFFF"/>
                </a:solidFill>
                <a:latin typeface="TT Fors"/>
                <a:ea typeface="TT Fors"/>
                <a:cs typeface="TT Fors"/>
                <a:sym typeface="TT Fors"/>
              </a:rPr>
              <a:t>DHCP (Dynamic Host Configuration P</a:t>
            </a:r>
            <a:r>
              <a:rPr lang="en-US" sz="2400" spc="-72">
                <a:solidFill>
                  <a:srgbClr val="FFFFFF"/>
                </a:solidFill>
                <a:latin typeface="TT Fors"/>
                <a:ea typeface="TT Fors"/>
                <a:cs typeface="TT Fors"/>
                <a:sym typeface="TT Fors"/>
              </a:rPr>
              <a:t>ro</a:t>
            </a:r>
            <a:r>
              <a:rPr lang="en-US" sz="2400" spc="-72">
                <a:solidFill>
                  <a:srgbClr val="FFFFFF"/>
                </a:solidFill>
                <a:latin typeface="TT Fors"/>
                <a:ea typeface="TT Fors"/>
                <a:cs typeface="TT Fors"/>
                <a:sym typeface="TT Fors"/>
              </a:rPr>
              <a:t>tocol) is used to automatically assign IP addresses and network configuration to devices when they connect to a network. The DHCP process involves four steps: Discover, Offer, Request, and Acknowledge (DHCP DORA).</a:t>
            </a:r>
          </a:p>
        </p:txBody>
      </p:sp>
      <p:grpSp>
        <p:nvGrpSpPr>
          <p:cNvPr name="Group 6" id="6"/>
          <p:cNvGrpSpPr/>
          <p:nvPr/>
        </p:nvGrpSpPr>
        <p:grpSpPr>
          <a:xfrm rot="0">
            <a:off x="16115522" y="751544"/>
            <a:ext cx="1505728" cy="810556"/>
            <a:chOff x="0" y="0"/>
            <a:chExt cx="2007638" cy="1080741"/>
          </a:xfrm>
        </p:grpSpPr>
        <p:grpSp>
          <p:nvGrpSpPr>
            <p:cNvPr name="Group 7" id="7"/>
            <p:cNvGrpSpPr/>
            <p:nvPr/>
          </p:nvGrpSpPr>
          <p:grpSpPr>
            <a:xfrm rot="0">
              <a:off x="0" y="0"/>
              <a:ext cx="1080741" cy="108074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926897" y="0"/>
              <a:ext cx="1080741" cy="108074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108486" y="191456"/>
              <a:ext cx="717562" cy="697829"/>
            </a:xfrm>
            <a:custGeom>
              <a:avLst/>
              <a:gdLst/>
              <a:ahLst/>
              <a:cxnLst/>
              <a:rect r="r" b="b" t="t" l="l"/>
              <a:pathLst>
                <a:path h="697829" w="717562">
                  <a:moveTo>
                    <a:pt x="0" y="0"/>
                  </a:moveTo>
                  <a:lnTo>
                    <a:pt x="717563" y="0"/>
                  </a:lnTo>
                  <a:lnTo>
                    <a:pt x="717563" y="697829"/>
                  </a:lnTo>
                  <a:lnTo>
                    <a:pt x="0" y="6978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234320" y="101015"/>
              <a:ext cx="978695" cy="707551"/>
            </a:xfrm>
            <a:custGeom>
              <a:avLst/>
              <a:gdLst/>
              <a:ahLst/>
              <a:cxnLst/>
              <a:rect r="r" b="b" t="t" l="l"/>
              <a:pathLst>
                <a:path h="707551" w="978695">
                  <a:moveTo>
                    <a:pt x="0" y="0"/>
                  </a:moveTo>
                  <a:lnTo>
                    <a:pt x="978695" y="0"/>
                  </a:lnTo>
                  <a:lnTo>
                    <a:pt x="978695" y="707551"/>
                  </a:lnTo>
                  <a:lnTo>
                    <a:pt x="0" y="707551"/>
                  </a:lnTo>
                  <a:lnTo>
                    <a:pt x="0" y="0"/>
                  </a:lnTo>
                  <a:close/>
                </a:path>
              </a:pathLst>
            </a:custGeom>
            <a:blipFill>
              <a:blip r:embed="rId5"/>
              <a:stretch>
                <a:fillRect l="0" t="0" r="-14982" b="0"/>
              </a:stretch>
            </a:blipFill>
          </p:spPr>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Mitigation Strategies</a:t>
            </a:r>
          </a:p>
        </p:txBody>
      </p:sp>
      <p:sp>
        <p:nvSpPr>
          <p:cNvPr name="TextBox 3" id="3"/>
          <p:cNvSpPr txBox="true"/>
          <p:nvPr/>
        </p:nvSpPr>
        <p:spPr>
          <a:xfrm rot="0">
            <a:off x="666750" y="1495425"/>
            <a:ext cx="8680515" cy="710755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Encry</a:t>
            </a:r>
            <a:r>
              <a:rPr lang="en-US" sz="2200" spc="-66" b="true">
                <a:solidFill>
                  <a:srgbClr val="00FFA8"/>
                </a:solidFill>
                <a:latin typeface="TT Fors Bold"/>
                <a:ea typeface="TT Fors Bold"/>
                <a:cs typeface="TT Fors Bold"/>
                <a:sym typeface="TT Fors Bold"/>
              </a:rPr>
              <a:t>pt</a:t>
            </a:r>
            <a:r>
              <a:rPr lang="en-US" sz="2200" spc="-66" b="true">
                <a:solidFill>
                  <a:srgbClr val="00FFA8"/>
                </a:solidFill>
                <a:latin typeface="TT Fors Bold"/>
                <a:ea typeface="TT Fors Bold"/>
                <a:cs typeface="TT Fors Bold"/>
                <a:sym typeface="TT Fors Bold"/>
              </a:rPr>
              <a:t>ion Technologies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HTTPS/TLS: Encrypts data in transit, preventing the interception and sniffing of credentials and sensitive information.</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VPN: Encrypts all traffic through an encrypted tunnel, hiding data from network sniffers.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SSH: Provides encrypted remote access, replacing insecure protocols like Telnet.</a:t>
            </a:r>
          </a:p>
          <a:p>
            <a:pPr algn="l">
              <a:lnSpc>
                <a:spcPts val="3300"/>
              </a:lnSpc>
            </a:pPr>
            <a:r>
              <a:rPr lang="en-US" sz="2200" spc="-66" b="true">
                <a:solidFill>
                  <a:srgbClr val="00FFA8"/>
                </a:solidFill>
                <a:latin typeface="TT Fors Bold"/>
                <a:ea typeface="TT Fors Bold"/>
                <a:cs typeface="TT Fors Bold"/>
                <a:sym typeface="TT Fors Bold"/>
              </a:rPr>
              <a:t>ARP Protection</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Static ARP Entries: Manually configure critical devices with static ARP mappings.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Dynam</a:t>
            </a:r>
            <a:r>
              <a:rPr lang="en-US" sz="2200" spc="-66">
                <a:solidFill>
                  <a:srgbClr val="00FFA8"/>
                </a:solidFill>
                <a:latin typeface="TT Fors"/>
                <a:ea typeface="TT Fors"/>
                <a:cs typeface="TT Fors"/>
                <a:sym typeface="TT Fors"/>
              </a:rPr>
              <a:t>ic ARP Inspection (DAI): Cisco switches can validate ARP packets and block spoofed ARP replies.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MACsec: Encrypts and authenticates data-link-layer traffic.</a:t>
            </a:r>
          </a:p>
          <a:p>
            <a:pPr algn="l">
              <a:lnSpc>
                <a:spcPts val="3300"/>
              </a:lnSpc>
            </a:pPr>
            <a:r>
              <a:rPr lang="en-US" sz="2200" spc="-66" b="true">
                <a:solidFill>
                  <a:srgbClr val="00FFA8"/>
                </a:solidFill>
                <a:latin typeface="TT Fors Bold"/>
                <a:ea typeface="TT Fors Bold"/>
                <a:cs typeface="TT Fors Bold"/>
                <a:sym typeface="TT Fors Bold"/>
              </a:rPr>
              <a:t>DNS Security</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DNSSEC: Digitally signs DNS responses to prevent spoofing.</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DNS-over-HTTPS (DoH): Encrypts DNS queries over HTTPS.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DNS-over-TLS (DoT): Encrypts DNS queries over TLS.</a:t>
            </a:r>
          </a:p>
        </p:txBody>
      </p:sp>
      <p:sp>
        <p:nvSpPr>
          <p:cNvPr name="TextBox 4" id="4"/>
          <p:cNvSpPr txBox="true"/>
          <p:nvPr/>
        </p:nvSpPr>
        <p:spPr>
          <a:xfrm rot="0">
            <a:off x="9347265" y="1495425"/>
            <a:ext cx="8086258" cy="585025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Network Monit</a:t>
            </a:r>
            <a:r>
              <a:rPr lang="en-US" sz="2200" spc="-66" b="true">
                <a:solidFill>
                  <a:srgbClr val="00FFA8"/>
                </a:solidFill>
                <a:latin typeface="TT Fors Bold"/>
                <a:ea typeface="TT Fors Bold"/>
                <a:cs typeface="TT Fors Bold"/>
                <a:sym typeface="TT Fors Bold"/>
              </a:rPr>
              <a:t>oring</a:t>
            </a:r>
          </a:p>
          <a:p>
            <a:pPr algn="l" marL="474983" indent="-237491" lvl="1">
              <a:lnSpc>
                <a:spcPts val="3300"/>
              </a:lnSpc>
              <a:buFont typeface="Arial"/>
              <a:buChar char="•"/>
            </a:pPr>
            <a:r>
              <a:rPr lang="en-US" sz="2200" spc="-66">
                <a:solidFill>
                  <a:srgbClr val="00FFA8"/>
                </a:solidFill>
                <a:latin typeface="TT Fors"/>
                <a:ea typeface="TT Fors"/>
                <a:cs typeface="TT Fors"/>
                <a:sym typeface="TT Fors"/>
              </a:rPr>
              <a:t>IDS/IPS: I</a:t>
            </a:r>
            <a:r>
              <a:rPr lang="en-US" sz="2200" spc="-66">
                <a:solidFill>
                  <a:srgbClr val="00FFA8"/>
                </a:solidFill>
                <a:latin typeface="TT Fors"/>
                <a:ea typeface="TT Fors"/>
                <a:cs typeface="TT Fors"/>
                <a:sym typeface="TT Fors"/>
              </a:rPr>
              <a:t>ntrusion Detection and Prevention Systems can detect abnormal ARP traffic patterns.</a:t>
            </a:r>
          </a:p>
          <a:p>
            <a:pPr algn="l" marL="474983" indent="-237491" lvl="1">
              <a:lnSpc>
                <a:spcPts val="3300"/>
              </a:lnSpc>
              <a:buFont typeface="Arial"/>
              <a:buChar char="•"/>
            </a:pPr>
            <a:r>
              <a:rPr lang="en-US" sz="2200" spc="-66">
                <a:solidFill>
                  <a:srgbClr val="00FFA8"/>
                </a:solidFill>
                <a:latin typeface="TT Fors"/>
                <a:ea typeface="TT Fors"/>
                <a:cs typeface="TT Fors"/>
                <a:sym typeface="TT Fors"/>
              </a:rPr>
              <a:t>N</a:t>
            </a:r>
            <a:r>
              <a:rPr lang="en-US" sz="2200" spc="-66">
                <a:solidFill>
                  <a:srgbClr val="00FFA8"/>
                </a:solidFill>
                <a:latin typeface="TT Fors"/>
                <a:ea typeface="TT Fors"/>
                <a:cs typeface="TT Fors"/>
                <a:sym typeface="TT Fors"/>
              </a:rPr>
              <a:t>etwork Segmentation: Isolate critical systems and limit access through firewalls and VLANs.</a:t>
            </a:r>
          </a:p>
          <a:p>
            <a:pPr algn="l" marL="474983" indent="-237491" lvl="1">
              <a:lnSpc>
                <a:spcPts val="3300"/>
              </a:lnSpc>
              <a:buFont typeface="Arial"/>
              <a:buChar char="•"/>
            </a:pPr>
            <a:r>
              <a:rPr lang="en-US" sz="2200" spc="-66">
                <a:solidFill>
                  <a:srgbClr val="00FFA8"/>
                </a:solidFill>
                <a:latin typeface="TT Fors"/>
                <a:ea typeface="TT Fors"/>
                <a:cs typeface="TT Fors"/>
                <a:sym typeface="TT Fors"/>
              </a:rPr>
              <a:t>DHCP Snooping: Switch-based feature that prevents rogue DHCP servers.</a:t>
            </a:r>
          </a:p>
          <a:p>
            <a:pPr algn="l">
              <a:lnSpc>
                <a:spcPts val="3300"/>
              </a:lnSpc>
            </a:pPr>
            <a:r>
              <a:rPr lang="en-US" sz="2200" spc="-66" b="true">
                <a:solidFill>
                  <a:srgbClr val="00FFA8"/>
                </a:solidFill>
                <a:latin typeface="TT Fors Bold"/>
                <a:ea typeface="TT Fors Bold"/>
                <a:cs typeface="TT Fors Bold"/>
                <a:sym typeface="TT Fors Bold"/>
              </a:rPr>
              <a:t>U</a:t>
            </a:r>
            <a:r>
              <a:rPr lang="en-US" sz="2200" spc="-66" b="true">
                <a:solidFill>
                  <a:srgbClr val="00FFA8"/>
                </a:solidFill>
                <a:latin typeface="TT Fors Bold"/>
                <a:ea typeface="TT Fors Bold"/>
                <a:cs typeface="TT Fors Bold"/>
                <a:sym typeface="TT Fors Bold"/>
              </a:rPr>
              <a:t>ser Education</a:t>
            </a:r>
          </a:p>
          <a:p>
            <a:pPr algn="l" marL="474983" indent="-237491" lvl="1">
              <a:lnSpc>
                <a:spcPts val="3300"/>
              </a:lnSpc>
              <a:buFont typeface="Arial"/>
              <a:buChar char="•"/>
            </a:pPr>
            <a:r>
              <a:rPr lang="en-US" sz="2200" spc="-66">
                <a:solidFill>
                  <a:srgbClr val="00FFA8"/>
                </a:solidFill>
                <a:latin typeface="TT Fors"/>
                <a:ea typeface="TT Fors"/>
                <a:cs typeface="TT Fors"/>
                <a:sym typeface="TT Fors"/>
              </a:rPr>
              <a:t>Secu</a:t>
            </a:r>
            <a:r>
              <a:rPr lang="en-US" sz="2200" spc="-66">
                <a:solidFill>
                  <a:srgbClr val="00FFA8"/>
                </a:solidFill>
                <a:latin typeface="TT Fors"/>
                <a:ea typeface="TT Fors"/>
                <a:cs typeface="TT Fors"/>
                <a:sym typeface="TT Fors"/>
              </a:rPr>
              <a:t>rity Awareness Training: Educate users about phishing and social engineering.</a:t>
            </a:r>
          </a:p>
          <a:p>
            <a:pPr algn="l" marL="474983" indent="-237491" lvl="1">
              <a:lnSpc>
                <a:spcPts val="3300"/>
              </a:lnSpc>
              <a:buFont typeface="Arial"/>
              <a:buChar char="•"/>
            </a:pPr>
            <a:r>
              <a:rPr lang="en-US" sz="2200" spc="-66">
                <a:solidFill>
                  <a:srgbClr val="00FFA8"/>
                </a:solidFill>
                <a:latin typeface="TT Fors"/>
                <a:ea typeface="TT Fors"/>
                <a:cs typeface="TT Fors"/>
                <a:sym typeface="TT Fors"/>
              </a:rPr>
              <a:t>Certificate Validation: Teach users to check for valid SSL/TLS certificates and HTTPS.</a:t>
            </a:r>
          </a:p>
          <a:p>
            <a:pPr algn="l" marL="474983" indent="-237491" lvl="1">
              <a:lnSpc>
                <a:spcPts val="3300"/>
              </a:lnSpc>
              <a:buFont typeface="Arial"/>
              <a:buChar char="•"/>
            </a:pPr>
            <a:r>
              <a:rPr lang="en-US" sz="2200" spc="-66">
                <a:solidFill>
                  <a:srgbClr val="00FFA8"/>
                </a:solidFill>
                <a:latin typeface="TT Fors"/>
                <a:ea typeface="TT Fors"/>
                <a:cs typeface="TT Fors"/>
                <a:sym typeface="TT Fors"/>
              </a:rPr>
              <a:t>P</a:t>
            </a:r>
            <a:r>
              <a:rPr lang="en-US" sz="2200" spc="-66">
                <a:solidFill>
                  <a:srgbClr val="00FFA8"/>
                </a:solidFill>
                <a:latin typeface="TT Fors"/>
                <a:ea typeface="TT Fors"/>
                <a:cs typeface="TT Fors"/>
                <a:sym typeface="TT Fors"/>
              </a:rPr>
              <a:t>assword Hygiene: Encourage strong, unique passwords and multi-factor authentication.</a:t>
            </a:r>
          </a:p>
        </p:txBody>
      </p:sp>
      <p:grpSp>
        <p:nvGrpSpPr>
          <p:cNvPr name="Group 5" id="5"/>
          <p:cNvGrpSpPr/>
          <p:nvPr/>
        </p:nvGrpSpPr>
        <p:grpSpPr>
          <a:xfrm rot="0">
            <a:off x="16115522" y="751544"/>
            <a:ext cx="1505728" cy="810556"/>
            <a:chOff x="0" y="0"/>
            <a:chExt cx="2007638" cy="1080741"/>
          </a:xfrm>
        </p:grpSpPr>
        <p:grpSp>
          <p:nvGrpSpPr>
            <p:cNvPr name="Group 6" id="6"/>
            <p:cNvGrpSpPr/>
            <p:nvPr/>
          </p:nvGrpSpPr>
          <p:grpSpPr>
            <a:xfrm rot="0">
              <a:off x="0" y="0"/>
              <a:ext cx="1080741" cy="108074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926897" y="0"/>
              <a:ext cx="1080741" cy="108074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108486" y="191456"/>
              <a:ext cx="717562" cy="697829"/>
            </a:xfrm>
            <a:custGeom>
              <a:avLst/>
              <a:gdLst/>
              <a:ahLst/>
              <a:cxnLst/>
              <a:rect r="r" b="b" t="t" l="l"/>
              <a:pathLst>
                <a:path h="697829" w="717562">
                  <a:moveTo>
                    <a:pt x="0" y="0"/>
                  </a:moveTo>
                  <a:lnTo>
                    <a:pt x="717563" y="0"/>
                  </a:lnTo>
                  <a:lnTo>
                    <a:pt x="717563" y="697829"/>
                  </a:lnTo>
                  <a:lnTo>
                    <a:pt x="0" y="6978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234320" y="101015"/>
              <a:ext cx="978695" cy="707551"/>
            </a:xfrm>
            <a:custGeom>
              <a:avLst/>
              <a:gdLst/>
              <a:ahLst/>
              <a:cxnLst/>
              <a:rect r="r" b="b" t="t" l="l"/>
              <a:pathLst>
                <a:path h="707551" w="978695">
                  <a:moveTo>
                    <a:pt x="0" y="0"/>
                  </a:moveTo>
                  <a:lnTo>
                    <a:pt x="978695" y="0"/>
                  </a:lnTo>
                  <a:lnTo>
                    <a:pt x="978695" y="707551"/>
                  </a:lnTo>
                  <a:lnTo>
                    <a:pt x="0" y="707551"/>
                  </a:lnTo>
                  <a:lnTo>
                    <a:pt x="0" y="0"/>
                  </a:lnTo>
                  <a:close/>
                </a:path>
              </a:pathLst>
            </a:custGeom>
            <a:blipFill>
              <a:blip r:embed="rId5"/>
              <a:stretch>
                <a:fillRect l="0" t="0" r="-14982" b="0"/>
              </a:stretch>
            </a:blipFill>
          </p:spPr>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Key Concepts Summary &amp; Takeaways</a:t>
            </a:r>
          </a:p>
        </p:txBody>
      </p:sp>
      <p:sp>
        <p:nvSpPr>
          <p:cNvPr name="TextBox 3" id="3"/>
          <p:cNvSpPr txBox="true"/>
          <p:nvPr/>
        </p:nvSpPr>
        <p:spPr>
          <a:xfrm rot="0">
            <a:off x="666750" y="1760076"/>
            <a:ext cx="16201636" cy="291655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Remember these key points: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Network sniffing can be used for legitimate security purposes, but is a powerful tool for attackers.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Passive sniffing is undetectable but limited to broadcast networks; active sniffing works on switched networks but is detectable.</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ARP poisoning enables MITM attacks by corrupting ARP caches with forged replies.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DNS spoofing redirects users to malicious sites and can steal credentials and sensitive information.</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Encryption, network monitoring, and user education are essential for defending against sniffing attacks.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Always obtain authorization before performing any sniffing activities, even for testing purposes.</a:t>
            </a:r>
          </a:p>
        </p:txBody>
      </p:sp>
      <p:grpSp>
        <p:nvGrpSpPr>
          <p:cNvPr name="Group 4" id="4"/>
          <p:cNvGrpSpPr/>
          <p:nvPr/>
        </p:nvGrpSpPr>
        <p:grpSpPr>
          <a:xfrm rot="0">
            <a:off x="16115522" y="751544"/>
            <a:ext cx="1505728" cy="810556"/>
            <a:chOff x="0" y="0"/>
            <a:chExt cx="2007638" cy="1080741"/>
          </a:xfrm>
        </p:grpSpPr>
        <p:grpSp>
          <p:nvGrpSpPr>
            <p:cNvPr name="Group 5" id="5"/>
            <p:cNvGrpSpPr/>
            <p:nvPr/>
          </p:nvGrpSpPr>
          <p:grpSpPr>
            <a:xfrm rot="0">
              <a:off x="0" y="0"/>
              <a:ext cx="1080741" cy="108074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926897" y="0"/>
              <a:ext cx="1080741" cy="108074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108486" y="191456"/>
              <a:ext cx="717562" cy="697829"/>
            </a:xfrm>
            <a:custGeom>
              <a:avLst/>
              <a:gdLst/>
              <a:ahLst/>
              <a:cxnLst/>
              <a:rect r="r" b="b" t="t" l="l"/>
              <a:pathLst>
                <a:path h="697829" w="717562">
                  <a:moveTo>
                    <a:pt x="0" y="0"/>
                  </a:moveTo>
                  <a:lnTo>
                    <a:pt x="717563" y="0"/>
                  </a:lnTo>
                  <a:lnTo>
                    <a:pt x="717563" y="697829"/>
                  </a:lnTo>
                  <a:lnTo>
                    <a:pt x="0" y="6978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234320" y="101015"/>
              <a:ext cx="978695" cy="707551"/>
            </a:xfrm>
            <a:custGeom>
              <a:avLst/>
              <a:gdLst/>
              <a:ahLst/>
              <a:cxnLst/>
              <a:rect r="r" b="b" t="t" l="l"/>
              <a:pathLst>
                <a:path h="707551" w="978695">
                  <a:moveTo>
                    <a:pt x="0" y="0"/>
                  </a:moveTo>
                  <a:lnTo>
                    <a:pt x="978695" y="0"/>
                  </a:lnTo>
                  <a:lnTo>
                    <a:pt x="978695" y="707551"/>
                  </a:lnTo>
                  <a:lnTo>
                    <a:pt x="0" y="707551"/>
                  </a:lnTo>
                  <a:lnTo>
                    <a:pt x="0" y="0"/>
                  </a:lnTo>
                  <a:close/>
                </a:path>
              </a:pathLst>
            </a:custGeom>
            <a:blipFill>
              <a:blip r:embed="rId5"/>
              <a:stretch>
                <a:fillRect l="0" t="0" r="-14982" b="0"/>
              </a:stretch>
            </a:blipFill>
          </p:spPr>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grpSp>
        <p:nvGrpSpPr>
          <p:cNvPr name="Group 2" id="2"/>
          <p:cNvGrpSpPr/>
          <p:nvPr/>
        </p:nvGrpSpPr>
        <p:grpSpPr>
          <a:xfrm rot="0">
            <a:off x="10102596" y="0"/>
            <a:ext cx="8185404" cy="10287000"/>
            <a:chOff x="0" y="0"/>
            <a:chExt cx="2155827" cy="2709333"/>
          </a:xfrm>
        </p:grpSpPr>
        <p:sp>
          <p:nvSpPr>
            <p:cNvPr name="Freeform 3" id="3"/>
            <p:cNvSpPr/>
            <p:nvPr/>
          </p:nvSpPr>
          <p:spPr>
            <a:xfrm flipH="false" flipV="false" rot="0">
              <a:off x="0" y="0"/>
              <a:ext cx="2155827" cy="2709333"/>
            </a:xfrm>
            <a:custGeom>
              <a:avLst/>
              <a:gdLst/>
              <a:ahLst/>
              <a:cxnLst/>
              <a:rect r="r" b="b" t="t" l="l"/>
              <a:pathLst>
                <a:path h="2709333" w="2155827">
                  <a:moveTo>
                    <a:pt x="0" y="0"/>
                  </a:moveTo>
                  <a:lnTo>
                    <a:pt x="2155827" y="0"/>
                  </a:lnTo>
                  <a:lnTo>
                    <a:pt x="2155827" y="2709333"/>
                  </a:lnTo>
                  <a:lnTo>
                    <a:pt x="0" y="2709333"/>
                  </a:lnTo>
                  <a:close/>
                </a:path>
              </a:pathLst>
            </a:custGeom>
            <a:solidFill>
              <a:srgbClr val="301445"/>
            </a:solidFill>
          </p:spPr>
        </p:sp>
        <p:sp>
          <p:nvSpPr>
            <p:cNvPr name="TextBox 4" id="4"/>
            <p:cNvSpPr txBox="true"/>
            <p:nvPr/>
          </p:nvSpPr>
          <p:spPr>
            <a:xfrm>
              <a:off x="0" y="-38100"/>
              <a:ext cx="2155827" cy="2747433"/>
            </a:xfrm>
            <a:prstGeom prst="rect">
              <a:avLst/>
            </a:prstGeom>
          </p:spPr>
          <p:txBody>
            <a:bodyPr anchor="ctr" rtlCol="false" tIns="50800" lIns="50800" bIns="50800" rIns="50800"/>
            <a:lstStyle/>
            <a:p>
              <a:pPr algn="ctr" marL="0" indent="0" lvl="0">
                <a:lnSpc>
                  <a:spcPts val="2100"/>
                </a:lnSpc>
              </a:pPr>
            </a:p>
          </p:txBody>
        </p:sp>
      </p:grpSp>
      <p:grpSp>
        <p:nvGrpSpPr>
          <p:cNvPr name="Group 5" id="5"/>
          <p:cNvGrpSpPr/>
          <p:nvPr/>
        </p:nvGrpSpPr>
        <p:grpSpPr>
          <a:xfrm rot="0">
            <a:off x="10708180" y="666750"/>
            <a:ext cx="6947741" cy="8953500"/>
            <a:chOff x="0" y="0"/>
            <a:chExt cx="812800" cy="1047449"/>
          </a:xfrm>
        </p:grpSpPr>
        <p:sp>
          <p:nvSpPr>
            <p:cNvPr name="Freeform 6" id="6"/>
            <p:cNvSpPr/>
            <p:nvPr/>
          </p:nvSpPr>
          <p:spPr>
            <a:xfrm flipH="false" flipV="false" rot="0">
              <a:off x="0" y="0"/>
              <a:ext cx="812800" cy="1047449"/>
            </a:xfrm>
            <a:custGeom>
              <a:avLst/>
              <a:gdLst/>
              <a:ahLst/>
              <a:cxnLst/>
              <a:rect r="r" b="b" t="t" l="l"/>
              <a:pathLst>
                <a:path h="1047449" w="812800">
                  <a:moveTo>
                    <a:pt x="44572" y="0"/>
                  </a:moveTo>
                  <a:lnTo>
                    <a:pt x="768228" y="0"/>
                  </a:lnTo>
                  <a:cubicBezTo>
                    <a:pt x="792844" y="0"/>
                    <a:pt x="812800" y="19956"/>
                    <a:pt x="812800" y="44572"/>
                  </a:cubicBezTo>
                  <a:lnTo>
                    <a:pt x="812800" y="1002877"/>
                  </a:lnTo>
                  <a:cubicBezTo>
                    <a:pt x="812800" y="1027493"/>
                    <a:pt x="792844" y="1047449"/>
                    <a:pt x="768228" y="1047449"/>
                  </a:cubicBezTo>
                  <a:lnTo>
                    <a:pt x="44572" y="1047449"/>
                  </a:lnTo>
                  <a:cubicBezTo>
                    <a:pt x="19956" y="1047449"/>
                    <a:pt x="0" y="1027493"/>
                    <a:pt x="0" y="1002877"/>
                  </a:cubicBezTo>
                  <a:lnTo>
                    <a:pt x="0" y="44572"/>
                  </a:lnTo>
                  <a:cubicBezTo>
                    <a:pt x="0" y="19956"/>
                    <a:pt x="19956" y="0"/>
                    <a:pt x="44572" y="0"/>
                  </a:cubicBezTo>
                  <a:close/>
                </a:path>
              </a:pathLst>
            </a:custGeom>
            <a:blipFill>
              <a:blip r:embed="rId2"/>
              <a:stretch>
                <a:fillRect l="0" t="-306" r="0" b="-306"/>
              </a:stretch>
            </a:blipFill>
          </p:spPr>
        </p:sp>
      </p:grpSp>
      <p:grpSp>
        <p:nvGrpSpPr>
          <p:cNvPr name="Group 7" id="7"/>
          <p:cNvGrpSpPr/>
          <p:nvPr/>
        </p:nvGrpSpPr>
        <p:grpSpPr>
          <a:xfrm rot="0">
            <a:off x="1126053" y="4096993"/>
            <a:ext cx="8324850" cy="2093014"/>
            <a:chOff x="0" y="0"/>
            <a:chExt cx="11099800" cy="2790686"/>
          </a:xfrm>
        </p:grpSpPr>
        <p:sp>
          <p:nvSpPr>
            <p:cNvPr name="TextBox 8" id="8"/>
            <p:cNvSpPr txBox="true"/>
            <p:nvPr/>
          </p:nvSpPr>
          <p:spPr>
            <a:xfrm rot="0">
              <a:off x="0" y="2051122"/>
              <a:ext cx="11099800" cy="739564"/>
            </a:xfrm>
            <a:prstGeom prst="rect">
              <a:avLst/>
            </a:prstGeom>
          </p:spPr>
          <p:txBody>
            <a:bodyPr anchor="t" rtlCol="false" tIns="0" lIns="0" bIns="0" rIns="0">
              <a:spAutoFit/>
            </a:bodyPr>
            <a:lstStyle/>
            <a:p>
              <a:pPr algn="ctr" marL="0" indent="0" lvl="0">
                <a:lnSpc>
                  <a:spcPts val="4159"/>
                </a:lnSpc>
                <a:spcBef>
                  <a:spcPct val="0"/>
                </a:spcBef>
              </a:pPr>
              <a:r>
                <a:rPr lang="en-US" sz="3199">
                  <a:solidFill>
                    <a:srgbClr val="00FFA8"/>
                  </a:solidFill>
                  <a:latin typeface="ITC Avant Garde Gothic"/>
                  <a:ea typeface="ITC Avant Garde Gothic"/>
                  <a:cs typeface="ITC Avant Garde Gothic"/>
                  <a:sym typeface="ITC Avant Garde Gothic"/>
                </a:rPr>
                <a:t>ANY QUESTIONS?</a:t>
              </a:r>
            </a:p>
          </p:txBody>
        </p:sp>
        <p:sp>
          <p:nvSpPr>
            <p:cNvPr name="TextBox 9" id="9"/>
            <p:cNvSpPr txBox="true"/>
            <p:nvPr/>
          </p:nvSpPr>
          <p:spPr>
            <a:xfrm rot="0">
              <a:off x="0" y="0"/>
              <a:ext cx="11099800" cy="1722963"/>
            </a:xfrm>
            <a:prstGeom prst="rect">
              <a:avLst/>
            </a:prstGeom>
          </p:spPr>
          <p:txBody>
            <a:bodyPr anchor="t" rtlCol="false" tIns="0" lIns="0" bIns="0" rIns="0">
              <a:spAutoFit/>
            </a:bodyPr>
            <a:lstStyle/>
            <a:p>
              <a:pPr algn="ctr" marL="0" indent="0" lvl="0">
                <a:lnSpc>
                  <a:spcPts val="8499"/>
                </a:lnSpc>
                <a:spcBef>
                  <a:spcPct val="0"/>
                </a:spcBef>
              </a:pPr>
              <a:r>
                <a:rPr lang="en-US" sz="8499" spc="-254" strike="noStrike" u="none">
                  <a:solidFill>
                    <a:srgbClr val="00FFA8"/>
                  </a:solidFill>
                  <a:latin typeface="ITC Avant Garde Gothic"/>
                  <a:ea typeface="ITC Avant Garde Gothic"/>
                  <a:cs typeface="ITC Avant Garde Gothic"/>
                  <a:sym typeface="ITC Avant Garde Gothic"/>
                </a:rPr>
                <a:t>Thank You</a:t>
              </a:r>
            </a:p>
          </p:txBody>
        </p:sp>
      </p:grpSp>
      <p:sp>
        <p:nvSpPr>
          <p:cNvPr name="Freeform 10" id="10"/>
          <p:cNvSpPr/>
          <p:nvPr/>
        </p:nvSpPr>
        <p:spPr>
          <a:xfrm flipH="true" flipV="false" rot="5400000">
            <a:off x="16106389" y="8352937"/>
            <a:ext cx="1792448" cy="1639275"/>
          </a:xfrm>
          <a:custGeom>
            <a:avLst/>
            <a:gdLst/>
            <a:ahLst/>
            <a:cxnLst/>
            <a:rect r="r" b="b" t="t" l="l"/>
            <a:pathLst>
              <a:path h="1639275" w="1792448">
                <a:moveTo>
                  <a:pt x="1792448" y="0"/>
                </a:moveTo>
                <a:lnTo>
                  <a:pt x="0" y="0"/>
                </a:lnTo>
                <a:lnTo>
                  <a:pt x="0" y="1639276"/>
                </a:lnTo>
                <a:lnTo>
                  <a:pt x="1792448" y="1639276"/>
                </a:lnTo>
                <a:lnTo>
                  <a:pt x="179244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Ethical Hacking Overview</dc:description>
  <dc:identifier>DAG66Sb-kR4</dc:identifier>
  <dcterms:modified xsi:type="dcterms:W3CDTF">2011-08-01T06:04:30Z</dcterms:modified>
  <cp:revision>1</cp:revision>
  <dc:title>Lecture-06-CCS6324 -  Network Sniffing</dc:title>
</cp:coreProperties>
</file>