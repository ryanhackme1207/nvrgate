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Lst>
  <p:sldSz cx="18288000" cy="10287000"/>
  <p:notesSz cx="6858000" cy="9144000"/>
  <p:embeddedFontLst>
    <p:embeddedFont>
      <p:font typeface="ITC Avant Garde Gothic" panose="020B0502020202020204" pitchFamily="34" charset="77"/>
      <p:regular r:id="rId28"/>
    </p:embeddedFont>
    <p:embeddedFont>
      <p:font typeface="TT Fors" panose="020B0003030001020000" pitchFamily="34" charset="0"/>
      <p:regular r:id="rId29"/>
    </p:embeddedFont>
    <p:embeddedFont>
      <p:font typeface="TT Fors Bold" panose="020B0003030001020000" pitchFamily="34" charset="0"/>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8" autoAdjust="0"/>
  </p:normalViewPr>
  <p:slideViewPr>
    <p:cSldViewPr>
      <p:cViewPr varScale="1">
        <p:scale>
          <a:sx n="76" d="100"/>
          <a:sy n="76" d="100"/>
        </p:scale>
        <p:origin x="968"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1877675"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l="-90559" r="-90559"/>
              </a:stretch>
            </a:blipFill>
          </p:spPr>
          <p:txBody>
            <a:bodyPr/>
            <a:lstStyle/>
            <a:p>
              <a:endParaRPr lang="en-US"/>
            </a:p>
          </p:txBody>
        </p:sp>
      </p:grpSp>
      <p:grpSp>
        <p:nvGrpSpPr>
          <p:cNvPr id="4" name="Group 4"/>
          <p:cNvGrpSpPr/>
          <p:nvPr/>
        </p:nvGrpSpPr>
        <p:grpSpPr>
          <a:xfrm>
            <a:off x="10962648" y="7828295"/>
            <a:ext cx="3328824" cy="1791955"/>
            <a:chOff x="0" y="0"/>
            <a:chExt cx="4438432" cy="2389273"/>
          </a:xfrm>
        </p:grpSpPr>
        <p:grpSp>
          <p:nvGrpSpPr>
            <p:cNvPr id="5" name="Group 5"/>
            <p:cNvGrpSpPr/>
            <p:nvPr/>
          </p:nvGrpSpPr>
          <p:grpSpPr>
            <a:xfrm>
              <a:off x="0" y="0"/>
              <a:ext cx="2389273" cy="23892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049159" y="0"/>
              <a:ext cx="2389273" cy="23892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98498" y="528862"/>
              <a:ext cx="2192276" cy="1331548"/>
            </a:xfrm>
            <a:custGeom>
              <a:avLst/>
              <a:gdLst/>
              <a:ahLst/>
              <a:cxnLst/>
              <a:rect l="l" t="t" r="r" b="b"/>
              <a:pathLst>
                <a:path w="2192276" h="1331548">
                  <a:moveTo>
                    <a:pt x="0" y="0"/>
                  </a:moveTo>
                  <a:lnTo>
                    <a:pt x="2192277" y="0"/>
                  </a:lnTo>
                  <a:lnTo>
                    <a:pt x="2192277" y="1331549"/>
                  </a:lnTo>
                  <a:lnTo>
                    <a:pt x="0" y="1331549"/>
                  </a:lnTo>
                  <a:lnTo>
                    <a:pt x="0" y="0"/>
                  </a:lnTo>
                  <a:close/>
                </a:path>
              </a:pathLst>
            </a:custGeom>
            <a:blipFill>
              <a:blip r:embed="rId3"/>
              <a:stretch>
                <a:fillRect t="-6286" b="-6286"/>
              </a:stretch>
            </a:blipFill>
          </p:spPr>
          <p:txBody>
            <a:bodyPr/>
            <a:lstStyle/>
            <a:p>
              <a:endParaRPr lang="en-US"/>
            </a:p>
          </p:txBody>
        </p:sp>
        <p:sp>
          <p:nvSpPr>
            <p:cNvPr id="12" name="Freeform 12"/>
            <p:cNvSpPr/>
            <p:nvPr/>
          </p:nvSpPr>
          <p:spPr>
            <a:xfrm>
              <a:off x="2454201" y="408004"/>
              <a:ext cx="1579188" cy="1573266"/>
            </a:xfrm>
            <a:custGeom>
              <a:avLst/>
              <a:gdLst/>
              <a:ahLst/>
              <a:cxnLst/>
              <a:rect l="l" t="t" r="r" b="b"/>
              <a:pathLst>
                <a:path w="1579188" h="1573266">
                  <a:moveTo>
                    <a:pt x="0" y="0"/>
                  </a:moveTo>
                  <a:lnTo>
                    <a:pt x="1579188" y="0"/>
                  </a:lnTo>
                  <a:lnTo>
                    <a:pt x="1579188" y="1573266"/>
                  </a:lnTo>
                  <a:lnTo>
                    <a:pt x="0" y="15732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3" name="TextBox 13"/>
          <p:cNvSpPr txBox="1"/>
          <p:nvPr/>
        </p:nvSpPr>
        <p:spPr>
          <a:xfrm>
            <a:off x="666750" y="1552575"/>
            <a:ext cx="11210925" cy="2797174"/>
          </a:xfrm>
          <a:prstGeom prst="rect">
            <a:avLst/>
          </a:prstGeom>
        </p:spPr>
        <p:txBody>
          <a:bodyPr lIns="0" tIns="0" rIns="0" bIns="0" rtlCol="0" anchor="t">
            <a:spAutoFit/>
          </a:bodyPr>
          <a:lstStyle/>
          <a:p>
            <a:pPr marL="0" lvl="0" indent="0" algn="l">
              <a:lnSpc>
                <a:spcPts val="9999"/>
              </a:lnSpc>
            </a:pPr>
            <a:r>
              <a:rPr lang="en-US" sz="9999" spc="-299">
                <a:solidFill>
                  <a:srgbClr val="00FFA8"/>
                </a:solidFill>
                <a:latin typeface="ITC Avant Garde Gothic"/>
                <a:ea typeface="ITC Avant Garde Gothic"/>
                <a:cs typeface="ITC Avant Garde Gothic"/>
                <a:sym typeface="ITC Avant Garde Gothic"/>
              </a:rPr>
              <a:t>Operating System Vulnerabilities</a:t>
            </a:r>
          </a:p>
        </p:txBody>
      </p:sp>
      <p:sp>
        <p:nvSpPr>
          <p:cNvPr id="14" name="TextBox 14"/>
          <p:cNvSpPr txBox="1"/>
          <p:nvPr/>
        </p:nvSpPr>
        <p:spPr>
          <a:xfrm>
            <a:off x="666750" y="561975"/>
            <a:ext cx="9763125" cy="495935"/>
          </a:xfrm>
          <a:prstGeom prst="rect">
            <a:avLst/>
          </a:prstGeom>
        </p:spPr>
        <p:txBody>
          <a:bodyPr lIns="0" tIns="0" rIns="0" bIns="0" rtlCol="0" anchor="t">
            <a:spAutoFit/>
          </a:bodyPr>
          <a:lstStyle/>
          <a:p>
            <a:pPr marL="0" lvl="0" indent="0" algn="l">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id="15" name="TextBox 15"/>
          <p:cNvSpPr txBox="1"/>
          <p:nvPr/>
        </p:nvSpPr>
        <p:spPr>
          <a:xfrm>
            <a:off x="666750" y="4706620"/>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id="16" name="TextBox 16"/>
          <p:cNvSpPr txBox="1"/>
          <p:nvPr/>
        </p:nvSpPr>
        <p:spPr>
          <a:xfrm>
            <a:off x="666750" y="4225924"/>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id="17" name="TextBox 17"/>
          <p:cNvSpPr txBox="1"/>
          <p:nvPr/>
        </p:nvSpPr>
        <p:spPr>
          <a:xfrm>
            <a:off x="663474" y="9181465"/>
            <a:ext cx="7194651" cy="438785"/>
          </a:xfrm>
          <a:prstGeom prst="rect">
            <a:avLst/>
          </a:prstGeom>
        </p:spPr>
        <p:txBody>
          <a:bodyPr lIns="0" tIns="0" rIns="0" bIns="0" rtlCol="0" anchor="t">
            <a:spAutoFit/>
          </a:bodyPr>
          <a:lstStyle/>
          <a:p>
            <a:pPr marL="0" lvl="0" indent="0" algn="l">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2132867"/>
            <a:ext cx="16592550" cy="65646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u="none" strike="noStrike" spc="-95">
                <a:solidFill>
                  <a:srgbClr val="00FFA8"/>
                </a:solidFill>
                <a:latin typeface="TT Fors"/>
                <a:ea typeface="TT Fors"/>
                <a:cs typeface="TT Fors"/>
                <a:sym typeface="TT Fors"/>
              </a:rPr>
              <a:t>rinciples. The knowledge and techniques acquired must be used responsibly and not for any illegal or unauthorized activities.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Each student is solely responsible for their actions.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Do not investigate individuals, websites, servers or conduct any illegal activities on any system you do not have permission to analyze.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The course content has been developed in good faith, drawing from the author’s experience and reputable sources. While every effort has been made to ensure accuracy, the author does not guarantee absolute correctness. Students are encouraged to exercise discretion and actively engage in discussions by raising any questions or concerns during the course.</a:t>
            </a:r>
          </a:p>
        </p:txBody>
      </p:sp>
      <p:sp>
        <p:nvSpPr>
          <p:cNvPr id="12" name="TextBox 12"/>
          <p:cNvSpPr txBox="1"/>
          <p:nvPr/>
        </p:nvSpPr>
        <p:spPr>
          <a:xfrm>
            <a:off x="666750" y="37147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u="none" strike="noStrike" spc="-179">
                <a:solidFill>
                  <a:srgbClr val="00FFA8"/>
                </a:solidFill>
                <a:latin typeface="ITC Avant Garde Gothic"/>
                <a:ea typeface="ITC Avant Garde Gothic"/>
                <a:cs typeface="ITC Avant Garde Gothic"/>
                <a:sym typeface="ITC Avant Garde Gothic"/>
              </a:rPr>
              <a:t>LAIMER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2551174"/>
            <a:ext cx="16954500" cy="2718434"/>
          </a:xfrm>
          <a:prstGeom prst="rect">
            <a:avLst/>
          </a:prstGeom>
        </p:spPr>
        <p:txBody>
          <a:bodyPr lIns="0" tIns="0" rIns="0" bIns="0" rtlCol="0" anchor="t">
            <a:spAutoFit/>
          </a:bodyPr>
          <a:lstStyle/>
          <a:p>
            <a:pPr marL="518163" lvl="1" indent="-259082" algn="l">
              <a:lnSpc>
                <a:spcPts val="3600"/>
              </a:lnSpc>
              <a:buFont typeface="Arial"/>
              <a:buChar char="•"/>
            </a:pPr>
            <a:r>
              <a:rPr lang="en-US" sz="2400" spc="-72">
                <a:solidFill>
                  <a:srgbClr val="00FFA8"/>
                </a:solidFill>
                <a:latin typeface="TT Fors"/>
                <a:ea typeface="TT Fors"/>
                <a:cs typeface="TT Fors"/>
                <a:sym typeface="TT Fors"/>
              </a:rPr>
              <a:t>Identify and analyze OS-specific vulnerabilities in Windows, Linux, and embedded systems</a:t>
            </a:r>
          </a:p>
          <a:p>
            <a:pPr marL="518163" lvl="1" indent="-259082" algn="l">
              <a:lnSpc>
                <a:spcPts val="3600"/>
              </a:lnSpc>
              <a:buFont typeface="Arial"/>
              <a:buChar char="•"/>
            </a:pPr>
            <a:r>
              <a:rPr lang="en-US" sz="2400" spc="-72">
                <a:solidFill>
                  <a:srgbClr val="00FFA8"/>
                </a:solidFill>
                <a:latin typeface="TT Fors"/>
                <a:ea typeface="TT Fors"/>
                <a:cs typeface="TT Fors"/>
                <a:sym typeface="TT Fors"/>
              </a:rPr>
              <a:t>Understand privilege escalation techniques and exploitation methods</a:t>
            </a:r>
          </a:p>
          <a:p>
            <a:pPr marL="518163" lvl="1" indent="-259082" algn="l">
              <a:lnSpc>
                <a:spcPts val="3600"/>
              </a:lnSpc>
              <a:buFont typeface="Arial"/>
              <a:buChar char="•"/>
            </a:pPr>
            <a:r>
              <a:rPr lang="en-US" sz="2400" spc="-72">
                <a:solidFill>
                  <a:srgbClr val="00FFA8"/>
                </a:solidFill>
                <a:latin typeface="TT Fors"/>
                <a:ea typeface="TT Fors"/>
                <a:cs typeface="TT Fors"/>
                <a:sym typeface="TT Fors"/>
              </a:rPr>
              <a:t>Apply hardening measures to protect operating systems</a:t>
            </a:r>
          </a:p>
          <a:p>
            <a:pPr marL="518163" lvl="1" indent="-259082" algn="l">
              <a:lnSpc>
                <a:spcPts val="3600"/>
              </a:lnSpc>
              <a:buFont typeface="Arial"/>
              <a:buChar char="•"/>
            </a:pPr>
            <a:r>
              <a:rPr lang="en-US" sz="2400" spc="-72">
                <a:solidFill>
                  <a:srgbClr val="00FFA8"/>
                </a:solidFill>
                <a:latin typeface="TT Fors"/>
                <a:ea typeface="TT Fors"/>
                <a:cs typeface="TT Fors"/>
                <a:sym typeface="TT Fors"/>
              </a:rPr>
              <a:t>Detect and mitigate rootkit threats</a:t>
            </a:r>
          </a:p>
          <a:p>
            <a:pPr marL="518163" lvl="1" indent="-259082" algn="l">
              <a:lnSpc>
                <a:spcPts val="3600"/>
              </a:lnSpc>
              <a:buFont typeface="Arial"/>
              <a:buChar char="•"/>
            </a:pPr>
            <a:r>
              <a:rPr lang="en-US" sz="2400" u="none" strike="noStrike" spc="-72">
                <a:solidFill>
                  <a:srgbClr val="00FFA8"/>
                </a:solidFill>
                <a:latin typeface="TT Fors"/>
                <a:ea typeface="TT Fors"/>
                <a:cs typeface="TT Fors"/>
                <a:sym typeface="TT Fors"/>
              </a:rPr>
              <a:t>Assess vulnerabilities in IoT and embedded devices</a:t>
            </a:r>
          </a:p>
          <a:p>
            <a:pPr marL="518163" lvl="1" indent="-259082" algn="l">
              <a:lnSpc>
                <a:spcPts val="3600"/>
              </a:lnSpc>
              <a:buFont typeface="Arial"/>
              <a:buChar char="•"/>
            </a:pPr>
            <a:r>
              <a:rPr lang="en-US" sz="2400" u="none" strike="noStrike" spc="-72">
                <a:solidFill>
                  <a:srgbClr val="00FFA8"/>
                </a:solidFill>
                <a:latin typeface="TT Fors"/>
                <a:ea typeface="TT Fors"/>
                <a:cs typeface="TT Fors"/>
                <a:sym typeface="TT Fors"/>
              </a:rPr>
              <a:t>Implement countermeasures against OS attacks</a:t>
            </a:r>
          </a:p>
        </p:txBody>
      </p:sp>
      <p:sp>
        <p:nvSpPr>
          <p:cNvPr id="12" name="TextBox 12"/>
          <p:cNvSpPr txBox="1"/>
          <p:nvPr/>
        </p:nvSpPr>
        <p:spPr>
          <a:xfrm>
            <a:off x="666750" y="37147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Learning Objectives</a:t>
            </a:r>
          </a:p>
        </p:txBody>
      </p:sp>
      <p:sp>
        <p:nvSpPr>
          <p:cNvPr id="13" name="TextBox 13"/>
          <p:cNvSpPr txBox="1"/>
          <p:nvPr/>
        </p:nvSpPr>
        <p:spPr>
          <a:xfrm>
            <a:off x="666750" y="2095500"/>
            <a:ext cx="12983782" cy="390525"/>
          </a:xfrm>
          <a:prstGeom prst="rect">
            <a:avLst/>
          </a:prstGeom>
        </p:spPr>
        <p:txBody>
          <a:bodyPr lIns="0" tIns="0" rIns="0" bIns="0" rtlCol="0" anchor="t">
            <a:spAutoFit/>
          </a:bodyPr>
          <a:lstStyle/>
          <a:p>
            <a:pPr marL="0" lvl="0" indent="0" algn="l">
              <a:lnSpc>
                <a:spcPts val="3120"/>
              </a:lnSpc>
              <a:spcBef>
                <a:spcPct val="0"/>
              </a:spcBef>
            </a:pPr>
            <a:r>
              <a:rPr lang="en-US" sz="2600" b="1" spc="-78">
                <a:solidFill>
                  <a:srgbClr val="00FFA8"/>
                </a:solidFill>
                <a:latin typeface="TT Fors Bold"/>
                <a:ea typeface="TT Fors Bold"/>
                <a:cs typeface="TT Fors Bold"/>
                <a:sym typeface="TT Fors Bold"/>
              </a:rPr>
              <a:t>What</a:t>
            </a:r>
            <a:r>
              <a:rPr lang="en-US" sz="2600" b="1" u="none" strike="noStrike" spc="-78">
                <a:solidFill>
                  <a:srgbClr val="00FFA8"/>
                </a:solidFill>
                <a:latin typeface="TT Fors Bold"/>
                <a:ea typeface="TT Fors Bold"/>
                <a:cs typeface="TT Fors Bold"/>
                <a:sym typeface="TT Fors Bold"/>
              </a:rPr>
              <a:t> You Will Learn?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Freeform 2"/>
          <p:cNvSpPr/>
          <p:nvPr/>
        </p:nvSpPr>
        <p:spPr>
          <a:xfrm>
            <a:off x="895463" y="710859"/>
            <a:ext cx="16497074" cy="8865283"/>
          </a:xfrm>
          <a:custGeom>
            <a:avLst/>
            <a:gdLst/>
            <a:ahLst/>
            <a:cxnLst/>
            <a:rect l="l" t="t" r="r" b="b"/>
            <a:pathLst>
              <a:path w="16497074" h="8865283">
                <a:moveTo>
                  <a:pt x="0" y="0"/>
                </a:moveTo>
                <a:lnTo>
                  <a:pt x="16497074" y="0"/>
                </a:lnTo>
                <a:lnTo>
                  <a:pt x="16497074" y="8865282"/>
                </a:lnTo>
                <a:lnTo>
                  <a:pt x="0" y="8865282"/>
                </a:lnTo>
                <a:lnTo>
                  <a:pt x="0" y="0"/>
                </a:lnTo>
                <a:close/>
              </a:path>
            </a:pathLst>
          </a:custGeom>
          <a:blipFill>
            <a:blip r:embed="rId3"/>
            <a:stretch>
              <a:fillRect t="-2336" b="-2336"/>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Operating System Vulnerabilities</a:t>
            </a:r>
          </a:p>
        </p:txBody>
      </p:sp>
      <p:sp>
        <p:nvSpPr>
          <p:cNvPr id="12" name="TextBox 12"/>
          <p:cNvSpPr txBox="1"/>
          <p:nvPr/>
        </p:nvSpPr>
        <p:spPr>
          <a:xfrm>
            <a:off x="666750" y="1571625"/>
            <a:ext cx="15448772" cy="143827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1.1 Overview:</a:t>
            </a:r>
            <a:r>
              <a:rPr lang="en-US" sz="2400" spc="-72">
                <a:solidFill>
                  <a:srgbClr val="FFFFFF"/>
                </a:solidFill>
                <a:latin typeface="TT Fors"/>
                <a:ea typeface="TT Fors"/>
                <a:cs typeface="TT Fors"/>
                <a:sym typeface="TT Fors"/>
              </a:rPr>
              <a:t> Operating system vulnerabilities are weaknesses in the OS that allow attackers to perform unauthorized actions. Windows systems remain high-value targets for attackers due to their prevalence in enterprise environments. Vulnerabilities in Windows can be exploited through known </a:t>
            </a:r>
            <a:r>
              <a:rPr lang="en-US" sz="2400" b="1" spc="-72">
                <a:solidFill>
                  <a:srgbClr val="FFFFFF"/>
                </a:solidFill>
                <a:latin typeface="TT Fors Bold"/>
                <a:ea typeface="TT Fors Bold"/>
                <a:cs typeface="TT Fors Bold"/>
                <a:sym typeface="TT Fors Bold"/>
              </a:rPr>
              <a:t>Common Vulnerabilities and Exposures (CVEs)</a:t>
            </a:r>
            <a:r>
              <a:rPr lang="en-US" sz="2400" spc="-72">
                <a:solidFill>
                  <a:srgbClr val="FFFFFF"/>
                </a:solidFill>
                <a:latin typeface="TT Fors"/>
                <a:ea typeface="TT Fors"/>
                <a:cs typeface="TT Fors"/>
                <a:sym typeface="TT Fors"/>
              </a:rPr>
              <a:t>, </a:t>
            </a:r>
            <a:r>
              <a:rPr lang="en-US" sz="2400" b="1" spc="-72">
                <a:solidFill>
                  <a:srgbClr val="FFFFFF"/>
                </a:solidFill>
                <a:latin typeface="TT Fors Bold"/>
                <a:ea typeface="TT Fors Bold"/>
                <a:cs typeface="TT Fors Bold"/>
                <a:sym typeface="TT Fors Bold"/>
              </a:rPr>
              <a:t>Misconfigurations</a:t>
            </a:r>
            <a:r>
              <a:rPr lang="en-US" sz="2400" spc="-72">
                <a:solidFill>
                  <a:srgbClr val="FFFFFF"/>
                </a:solidFill>
                <a:latin typeface="TT Fors"/>
                <a:ea typeface="TT Fors"/>
                <a:cs typeface="TT Fors"/>
                <a:sym typeface="TT Fors"/>
              </a:rPr>
              <a:t>, and </a:t>
            </a:r>
            <a:r>
              <a:rPr lang="en-US" sz="2400" b="1" spc="-72">
                <a:solidFill>
                  <a:srgbClr val="FFFFFF"/>
                </a:solidFill>
                <a:latin typeface="TT Fors Bold"/>
                <a:ea typeface="TT Fors Bold"/>
                <a:cs typeface="TT Fors Bold"/>
                <a:sym typeface="TT Fors Bold"/>
              </a:rPr>
              <a:t>Zero-day exploits</a:t>
            </a:r>
            <a:r>
              <a:rPr lang="en-US" sz="2400" spc="-72">
                <a:solidFill>
                  <a:srgbClr val="FFFFFF"/>
                </a:solidFill>
                <a:latin typeface="TT Fors"/>
                <a:ea typeface="TT Fors"/>
                <a:cs typeface="TT Fors"/>
                <a:sym typeface="TT Fors"/>
              </a:rPr>
              <a:t>.</a:t>
            </a:r>
          </a:p>
        </p:txBody>
      </p:sp>
      <p:sp>
        <p:nvSpPr>
          <p:cNvPr id="13" name="TextBox 13"/>
          <p:cNvSpPr txBox="1"/>
          <p:nvPr/>
        </p:nvSpPr>
        <p:spPr>
          <a:xfrm>
            <a:off x="666750" y="3336704"/>
            <a:ext cx="12191670" cy="5884545"/>
          </a:xfrm>
          <a:prstGeom prst="rect">
            <a:avLst/>
          </a:prstGeom>
        </p:spPr>
        <p:txBody>
          <a:bodyPr lIns="0" tIns="0" rIns="0" bIns="0" rtlCol="0" anchor="t">
            <a:spAutoFit/>
          </a:bodyPr>
          <a:lstStyle/>
          <a:p>
            <a:pPr algn="l">
              <a:lnSpc>
                <a:spcPts val="3600"/>
              </a:lnSpc>
            </a:pPr>
            <a:r>
              <a:rPr lang="en-US" sz="2400" b="1" spc="-72">
                <a:solidFill>
                  <a:srgbClr val="00FFA8"/>
                </a:solidFill>
                <a:latin typeface="TT Fors Bold"/>
                <a:ea typeface="TT Fors Bold"/>
                <a:cs typeface="TT Fors Bold"/>
                <a:sym typeface="TT Fors Bold"/>
              </a:rPr>
              <a:t>1.2 Windows File Systems:</a:t>
            </a:r>
          </a:p>
          <a:p>
            <a:pPr algn="l">
              <a:lnSpc>
                <a:spcPts val="3300"/>
              </a:lnSpc>
            </a:pPr>
            <a:endParaRPr lang="en-US" sz="2400" b="1" spc="-72">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File Allocation Table (FAT):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Original Microsoft file system, supported by nearly all OSs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Most serious shortcoming: lacks file-level Access Control Lists (ACLs)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Cannot set permissions on individual files in multiuser environments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Creates vulnerabilities in shared system access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NTFS (New Technology File System):</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First released as a high-end file system</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Added support for larger files, disk volumes, and ACL file 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Feature: Alternate Data Streams (ADSs) - ability to hide information behind existing files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Intruders can hide exploitation tools and malicious files without affecting the file function or size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Detection methods available: Microsoft STREAMS.EXE</a:t>
            </a:r>
          </a:p>
        </p:txBody>
      </p:sp>
      <p:grpSp>
        <p:nvGrpSpPr>
          <p:cNvPr id="14" name="Group 14"/>
          <p:cNvGrpSpPr/>
          <p:nvPr/>
        </p:nvGrpSpPr>
        <p:grpSpPr>
          <a:xfrm>
            <a:off x="12192000" y="3527260"/>
            <a:ext cx="5429250" cy="4273419"/>
            <a:chOff x="0" y="0"/>
            <a:chExt cx="1319517" cy="1068039"/>
          </a:xfrm>
        </p:grpSpPr>
        <p:sp>
          <p:nvSpPr>
            <p:cNvPr id="15" name="Freeform 15"/>
            <p:cNvSpPr/>
            <p:nvPr/>
          </p:nvSpPr>
          <p:spPr>
            <a:xfrm>
              <a:off x="0" y="0"/>
              <a:ext cx="1319517" cy="1068039"/>
            </a:xfrm>
            <a:custGeom>
              <a:avLst/>
              <a:gdLst/>
              <a:ahLst/>
              <a:cxnLst/>
              <a:rect l="l" t="t" r="r" b="b"/>
              <a:pathLst>
                <a:path w="1319517" h="1068039">
                  <a:moveTo>
                    <a:pt x="1319517" y="30905"/>
                  </a:moveTo>
                  <a:lnTo>
                    <a:pt x="1319517" y="1037134"/>
                  </a:lnTo>
                  <a:cubicBezTo>
                    <a:pt x="1319517" y="1045330"/>
                    <a:pt x="1316261" y="1053191"/>
                    <a:pt x="1310465" y="1058987"/>
                  </a:cubicBezTo>
                  <a:cubicBezTo>
                    <a:pt x="1304669" y="1064783"/>
                    <a:pt x="1296808" y="1068039"/>
                    <a:pt x="1288612" y="1068039"/>
                  </a:cubicBezTo>
                  <a:lnTo>
                    <a:pt x="30905" y="1068039"/>
                  </a:lnTo>
                  <a:cubicBezTo>
                    <a:pt x="13837" y="1068039"/>
                    <a:pt x="0" y="1054202"/>
                    <a:pt x="0" y="1037134"/>
                  </a:cubicBezTo>
                  <a:lnTo>
                    <a:pt x="0" y="30905"/>
                  </a:lnTo>
                  <a:cubicBezTo>
                    <a:pt x="0" y="22709"/>
                    <a:pt x="3256" y="14848"/>
                    <a:pt x="9052" y="9052"/>
                  </a:cubicBezTo>
                  <a:cubicBezTo>
                    <a:pt x="14848" y="3256"/>
                    <a:pt x="22709" y="0"/>
                    <a:pt x="30905" y="0"/>
                  </a:cubicBezTo>
                  <a:lnTo>
                    <a:pt x="1288612" y="0"/>
                  </a:lnTo>
                  <a:cubicBezTo>
                    <a:pt x="1296808" y="0"/>
                    <a:pt x="1304669" y="3256"/>
                    <a:pt x="1310465" y="9052"/>
                  </a:cubicBezTo>
                  <a:cubicBezTo>
                    <a:pt x="1316261" y="14848"/>
                    <a:pt x="1319517" y="22709"/>
                    <a:pt x="1319517" y="30905"/>
                  </a:cubicBezTo>
                  <a:close/>
                </a:path>
              </a:pathLst>
            </a:custGeom>
            <a:solidFill>
              <a:srgbClr val="301445"/>
            </a:solidFill>
            <a:ln cap="sq">
              <a:noFill/>
              <a:prstDash val="solid"/>
              <a:miter/>
            </a:ln>
          </p:spPr>
          <p:txBody>
            <a:bodyPr/>
            <a:lstStyle/>
            <a:p>
              <a:endParaRPr lang="en-US"/>
            </a:p>
          </p:txBody>
        </p:sp>
        <p:sp>
          <p:nvSpPr>
            <p:cNvPr id="16" name="TextBox 16"/>
            <p:cNvSpPr txBox="1"/>
            <p:nvPr/>
          </p:nvSpPr>
          <p:spPr>
            <a:xfrm>
              <a:off x="0" y="0"/>
              <a:ext cx="1301049" cy="1068039"/>
            </a:xfrm>
            <a:prstGeom prst="rect">
              <a:avLst/>
            </a:prstGeom>
          </p:spPr>
          <p:txBody>
            <a:bodyPr lIns="254000" tIns="254000" rIns="254000" bIns="254000" rtlCol="0" anchor="ctr"/>
            <a:lstStyle/>
            <a:p>
              <a:pPr algn="l">
                <a:lnSpc>
                  <a:spcPts val="4059"/>
                </a:lnSpc>
              </a:pPr>
              <a:r>
                <a:rPr lang="en-US" sz="2899" b="1" spc="-86" dirty="0">
                  <a:solidFill>
                    <a:srgbClr val="FFFFFF"/>
                  </a:solidFill>
                  <a:latin typeface="TT Fors Bold"/>
                  <a:ea typeface="TT Fors Bold"/>
                  <a:cs typeface="TT Fors Bold"/>
                  <a:sym typeface="TT Fors Bold"/>
                </a:rPr>
                <a:t>Note: There are many interesting visualizations available on the Internet. It's better to search both terms on Google Images for detailed information on FAT and NTFS.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Operating System Vulnerabilities (Cont’d)</a:t>
            </a:r>
          </a:p>
        </p:txBody>
      </p:sp>
      <p:sp>
        <p:nvSpPr>
          <p:cNvPr id="12" name="TextBox 12"/>
          <p:cNvSpPr txBox="1"/>
          <p:nvPr/>
        </p:nvSpPr>
        <p:spPr>
          <a:xfrm>
            <a:off x="666750" y="2028825"/>
            <a:ext cx="8581764" cy="6848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Unquoted Service Path:</a:t>
            </a:r>
          </a:p>
          <a:p>
            <a:pPr algn="l">
              <a:lnSpc>
                <a:spcPts val="3000"/>
              </a:lnSpc>
            </a:pPr>
            <a:r>
              <a:rPr lang="en-US" sz="2000" spc="-60">
                <a:solidFill>
                  <a:srgbClr val="00FFA8"/>
                </a:solidFill>
                <a:latin typeface="TT Fors"/>
                <a:ea typeface="TT Fors"/>
                <a:cs typeface="TT Fors"/>
                <a:sym typeface="TT Fors"/>
              </a:rPr>
              <a:t>When a Windows service has an executable path without quotes and contains spaces, Windows attempts to execute files at different path intervals:</a:t>
            </a:r>
          </a:p>
          <a:p>
            <a:pPr algn="l">
              <a:lnSpc>
                <a:spcPts val="3000"/>
              </a:lnSpc>
            </a:pPr>
            <a:r>
              <a:rPr lang="en-US" sz="2000" spc="-60">
                <a:solidFill>
                  <a:srgbClr val="FFFFFF"/>
                </a:solidFill>
                <a:latin typeface="TT Fors"/>
                <a:ea typeface="TT Fors"/>
                <a:cs typeface="TT Fors"/>
                <a:sym typeface="TT Fors"/>
              </a:rPr>
              <a:t>Example: C:\Program Files\Dummy Service\svc01.exe</a:t>
            </a:r>
          </a:p>
          <a:p>
            <a:pPr algn="l">
              <a:lnSpc>
                <a:spcPts val="3000"/>
              </a:lnSpc>
            </a:pPr>
            <a:endParaRPr lang="en-US" sz="2000" spc="-60">
              <a:solidFill>
                <a:srgbClr val="FFFFFF"/>
              </a:solidFill>
              <a:latin typeface="TT Fors"/>
              <a:ea typeface="TT Fors"/>
              <a:cs typeface="TT Fors"/>
              <a:sym typeface="TT Fors"/>
            </a:endParaRPr>
          </a:p>
          <a:p>
            <a:pPr algn="l">
              <a:lnSpc>
                <a:spcPts val="3000"/>
              </a:lnSpc>
            </a:pPr>
            <a:r>
              <a:rPr lang="en-US" sz="2000" spc="-60">
                <a:solidFill>
                  <a:srgbClr val="00FFA8"/>
                </a:solidFill>
                <a:latin typeface="TT Fors"/>
                <a:ea typeface="TT Fors"/>
                <a:cs typeface="TT Fors"/>
                <a:sym typeface="TT Fors"/>
              </a:rPr>
              <a:t>Windows tries to execute:</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C:\Program.exe</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C:\Program Files\Dummy.exe</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C:\Program Files\Dummy Service\svc01.exe</a:t>
            </a:r>
          </a:p>
          <a:p>
            <a:pPr algn="l">
              <a:lnSpc>
                <a:spcPts val="3000"/>
              </a:lnSpc>
            </a:pPr>
            <a:endParaRPr lang="en-US" sz="2000" spc="-60">
              <a:solidFill>
                <a:srgbClr val="FFFFFF"/>
              </a:solidFill>
              <a:latin typeface="TT Fors"/>
              <a:ea typeface="TT Fors"/>
              <a:cs typeface="TT Fors"/>
              <a:sym typeface="TT Fors"/>
            </a:endParaRPr>
          </a:p>
          <a:p>
            <a:pPr algn="l">
              <a:lnSpc>
                <a:spcPts val="3000"/>
              </a:lnSpc>
            </a:pPr>
            <a:r>
              <a:rPr lang="en-US" sz="2000" spc="-60">
                <a:solidFill>
                  <a:srgbClr val="00FFA8"/>
                </a:solidFill>
                <a:latin typeface="TT Fors"/>
                <a:ea typeface="TT Fors"/>
                <a:cs typeface="TT Fors"/>
                <a:sym typeface="TT Fors"/>
              </a:rPr>
              <a:t>If an attacker can place a malicious </a:t>
            </a:r>
            <a:r>
              <a:rPr lang="en-US" sz="2000" spc="-60">
                <a:solidFill>
                  <a:srgbClr val="FFFFFF"/>
                </a:solidFill>
                <a:latin typeface="TT Fors"/>
                <a:ea typeface="TT Fors"/>
                <a:cs typeface="TT Fors"/>
                <a:sym typeface="TT Fors"/>
              </a:rPr>
              <a:t>Program.exe</a:t>
            </a:r>
            <a:r>
              <a:rPr lang="en-US" sz="2000" spc="-60">
                <a:solidFill>
                  <a:srgbClr val="00FFA8"/>
                </a:solidFill>
                <a:latin typeface="TT Fors"/>
                <a:ea typeface="TT Fors"/>
                <a:cs typeface="TT Fors"/>
                <a:sym typeface="TT Fors"/>
              </a:rPr>
              <a:t> in </a:t>
            </a:r>
            <a:r>
              <a:rPr lang="en-US" sz="2000" spc="-60">
                <a:solidFill>
                  <a:srgbClr val="FFFFFF"/>
                </a:solidFill>
                <a:latin typeface="TT Fors"/>
                <a:ea typeface="TT Fors"/>
                <a:cs typeface="TT Fors"/>
                <a:sym typeface="TT Fors"/>
              </a:rPr>
              <a:t>C:\</a:t>
            </a:r>
            <a:r>
              <a:rPr lang="en-US" sz="2000" spc="-60">
                <a:solidFill>
                  <a:srgbClr val="00FFA8"/>
                </a:solidFill>
                <a:latin typeface="TT Fors"/>
                <a:ea typeface="TT Fors"/>
                <a:cs typeface="TT Fors"/>
                <a:sym typeface="TT Fors"/>
              </a:rPr>
              <a:t>, the service will execute the attacker's code with service privileges (often SYSTEM).</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Mitigation: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Always enclose executable paths in double quotes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Audit service configurations regularly</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Monitor for unusual service behavior and command-line executions</a:t>
            </a:r>
          </a:p>
        </p:txBody>
      </p:sp>
      <p:sp>
        <p:nvSpPr>
          <p:cNvPr id="13" name="TextBox 13"/>
          <p:cNvSpPr txBox="1"/>
          <p:nvPr/>
        </p:nvSpPr>
        <p:spPr>
          <a:xfrm>
            <a:off x="9356303" y="2028825"/>
            <a:ext cx="8264947" cy="7229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Insecure Permissions:</a:t>
            </a:r>
          </a:p>
          <a:p>
            <a:pPr algn="l">
              <a:lnSpc>
                <a:spcPts val="3000"/>
              </a:lnSpc>
            </a:pPr>
            <a:r>
              <a:rPr lang="en-US" sz="2000" spc="-60">
                <a:solidFill>
                  <a:srgbClr val="00FFA8"/>
                </a:solidFill>
                <a:latin typeface="TT Fors"/>
                <a:ea typeface="TT Fors"/>
                <a:cs typeface="TT Fors"/>
                <a:sym typeface="TT Fors"/>
              </a:rPr>
              <a:t>Services, files, and registry keys with overly permissive access controls allow low-privilege users to modify critical system components.</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Vulnerable Groups:</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Everyone</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BUILTIN\Users</a:t>
            </a:r>
          </a:p>
          <a:p>
            <a:pPr marL="431802" lvl="1" indent="-215901" algn="l">
              <a:lnSpc>
                <a:spcPts val="3000"/>
              </a:lnSpc>
              <a:buFont typeface="Arial"/>
              <a:buChar char="•"/>
            </a:pPr>
            <a:r>
              <a:rPr lang="en-US" sz="2000" spc="-60">
                <a:solidFill>
                  <a:srgbClr val="FFFFFF"/>
                </a:solidFill>
                <a:latin typeface="TT Fors"/>
                <a:ea typeface="TT Fors"/>
                <a:cs typeface="TT Fors"/>
                <a:sym typeface="TT Fors"/>
              </a:rPr>
              <a:t>NT AUTHORITY\Authenticated Users</a:t>
            </a:r>
          </a:p>
          <a:p>
            <a:pPr algn="l">
              <a:lnSpc>
                <a:spcPts val="3000"/>
              </a:lnSpc>
            </a:pPr>
            <a:endParaRPr lang="en-US" sz="2000" spc="-60">
              <a:solidFill>
                <a:srgbClr val="FFFFFF"/>
              </a:solidFill>
              <a:latin typeface="TT Fors"/>
              <a:ea typeface="TT Fors"/>
              <a:cs typeface="TT Fors"/>
              <a:sym typeface="TT Fors"/>
            </a:endParaRPr>
          </a:p>
          <a:p>
            <a:pPr algn="l">
              <a:lnSpc>
                <a:spcPts val="3000"/>
              </a:lnSpc>
            </a:pPr>
            <a:r>
              <a:rPr lang="en-US" sz="2000" spc="-60">
                <a:solidFill>
                  <a:srgbClr val="00FFA8"/>
                </a:solidFill>
                <a:latin typeface="TT Fors"/>
                <a:ea typeface="TT Fors"/>
                <a:cs typeface="TT Fors"/>
                <a:sym typeface="TT Fors"/>
              </a:rPr>
              <a:t>Low-privilege users may exploit these permissions to:</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Write malicious DLLs to system directories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Modify service executables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Alter startup configurations</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Mitigation: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Apply least privilege principles to all file and registry permissions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Regularly audit Access Control Lists (ACLs)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Use tools like AccessChk to identify insecure permissions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Implement Group Policy Object (GPO) restrictions</a:t>
            </a:r>
          </a:p>
        </p:txBody>
      </p:sp>
      <p:sp>
        <p:nvSpPr>
          <p:cNvPr id="14" name="TextBox 14"/>
          <p:cNvSpPr txBox="1"/>
          <p:nvPr/>
        </p:nvSpPr>
        <p:spPr>
          <a:xfrm>
            <a:off x="666750" y="1331595"/>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1.3 Common Windows Vulnerabilities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Freeform 11"/>
          <p:cNvSpPr/>
          <p:nvPr/>
        </p:nvSpPr>
        <p:spPr>
          <a:xfrm>
            <a:off x="666750" y="2070735"/>
            <a:ext cx="16954500" cy="6842519"/>
          </a:xfrm>
          <a:custGeom>
            <a:avLst/>
            <a:gdLst/>
            <a:ahLst/>
            <a:cxnLst/>
            <a:rect l="l" t="t" r="r" b="b"/>
            <a:pathLst>
              <a:path w="16954500" h="6842519">
                <a:moveTo>
                  <a:pt x="0" y="0"/>
                </a:moveTo>
                <a:lnTo>
                  <a:pt x="16954500" y="0"/>
                </a:lnTo>
                <a:lnTo>
                  <a:pt x="16954500" y="6842519"/>
                </a:lnTo>
                <a:lnTo>
                  <a:pt x="0" y="6842519"/>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Operating System Vulnerabilities (Cont’d)</a:t>
            </a:r>
          </a:p>
        </p:txBody>
      </p:sp>
      <p:sp>
        <p:nvSpPr>
          <p:cNvPr id="13" name="TextBox 13"/>
          <p:cNvSpPr txBox="1"/>
          <p:nvPr/>
        </p:nvSpPr>
        <p:spPr>
          <a:xfrm>
            <a:off x="666750" y="1331595"/>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An Example of Unquoted Service Path: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Operating System Vulnerabilities (Cont’d)</a:t>
            </a:r>
          </a:p>
        </p:txBody>
      </p:sp>
      <p:sp>
        <p:nvSpPr>
          <p:cNvPr id="12" name="TextBox 12"/>
          <p:cNvSpPr txBox="1"/>
          <p:nvPr/>
        </p:nvSpPr>
        <p:spPr>
          <a:xfrm>
            <a:off x="666750" y="2066925"/>
            <a:ext cx="8581764" cy="6086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System PATH Hijacking:</a:t>
            </a:r>
          </a:p>
          <a:p>
            <a:pPr algn="l">
              <a:lnSpc>
                <a:spcPts val="3000"/>
              </a:lnSpc>
            </a:pPr>
            <a:r>
              <a:rPr lang="en-US" sz="2000" spc="-60">
                <a:solidFill>
                  <a:srgbClr val="00FFA8"/>
                </a:solidFill>
                <a:latin typeface="TT Fors"/>
                <a:ea typeface="TT Fors"/>
                <a:cs typeface="TT Fors"/>
                <a:sym typeface="TT Fors"/>
              </a:rPr>
              <a:t>The Windows </a:t>
            </a:r>
            <a:r>
              <a:rPr lang="en-US" sz="2000" b="1" spc="-60">
                <a:solidFill>
                  <a:srgbClr val="00FFA8"/>
                </a:solidFill>
                <a:latin typeface="TT Fors Bold"/>
                <a:ea typeface="TT Fors Bold"/>
                <a:cs typeface="TT Fors Bold"/>
                <a:sym typeface="TT Fors Bold"/>
              </a:rPr>
              <a:t>PATH</a:t>
            </a:r>
            <a:r>
              <a:rPr lang="en-US" sz="2000" spc="-60">
                <a:solidFill>
                  <a:srgbClr val="00FFA8"/>
                </a:solidFill>
                <a:latin typeface="TT Fors"/>
                <a:ea typeface="TT Fors"/>
                <a:cs typeface="TT Fors"/>
                <a:sym typeface="TT Fors"/>
              </a:rPr>
              <a:t> environment variable specifies directories where executable files are searched. If a directory in the </a:t>
            </a:r>
            <a:r>
              <a:rPr lang="en-US" sz="2000" b="1" spc="-60">
                <a:solidFill>
                  <a:srgbClr val="00FFA8"/>
                </a:solidFill>
                <a:latin typeface="TT Fors Bold"/>
                <a:ea typeface="TT Fors Bold"/>
                <a:cs typeface="TT Fors Bold"/>
                <a:sym typeface="TT Fors Bold"/>
              </a:rPr>
              <a:t>PATH</a:t>
            </a:r>
            <a:r>
              <a:rPr lang="en-US" sz="2000" spc="-60">
                <a:solidFill>
                  <a:srgbClr val="00FFA8"/>
                </a:solidFill>
                <a:latin typeface="TT Fors"/>
                <a:ea typeface="TT Fors"/>
                <a:cs typeface="TT Fors"/>
                <a:sym typeface="TT Fors"/>
              </a:rPr>
              <a:t> is writable by low-privilege users, attackers can place malicious executables there.</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Attack Scenario:</a:t>
            </a:r>
            <a:r>
              <a:rPr lang="en-US" sz="2000" spc="-60">
                <a:solidFill>
                  <a:srgbClr val="00FFA8"/>
                </a:solidFill>
                <a:latin typeface="TT Fors"/>
                <a:ea typeface="TT Fors"/>
                <a:cs typeface="TT Fors"/>
                <a:sym typeface="TT Fors"/>
              </a:rPr>
              <a:t> If </a:t>
            </a:r>
            <a:r>
              <a:rPr lang="en-US" sz="2000" spc="-60">
                <a:solidFill>
                  <a:srgbClr val="FFFFFF"/>
                </a:solidFill>
                <a:latin typeface="TT Fors"/>
                <a:ea typeface="TT Fors"/>
                <a:cs typeface="TT Fors"/>
                <a:sym typeface="TT Fors"/>
              </a:rPr>
              <a:t>C:\CustomProgram</a:t>
            </a:r>
            <a:r>
              <a:rPr lang="en-US" sz="2000" spc="-60">
                <a:solidFill>
                  <a:srgbClr val="00FFA8"/>
                </a:solidFill>
                <a:latin typeface="TT Fors"/>
                <a:ea typeface="TT Fors"/>
                <a:cs typeface="TT Fors"/>
                <a:sym typeface="TT Fors"/>
              </a:rPr>
              <a:t> is user-writable and appears in </a:t>
            </a:r>
            <a:r>
              <a:rPr lang="en-US" sz="2000" b="1" spc="-60">
                <a:solidFill>
                  <a:srgbClr val="00FFA8"/>
                </a:solidFill>
                <a:latin typeface="TT Fors Bold"/>
                <a:ea typeface="TT Fors Bold"/>
                <a:cs typeface="TT Fors Bold"/>
                <a:sym typeface="TT Fors Bold"/>
              </a:rPr>
              <a:t>PATH</a:t>
            </a:r>
            <a:r>
              <a:rPr lang="en-US" sz="2000" spc="-60">
                <a:solidFill>
                  <a:srgbClr val="00FFA8"/>
                </a:solidFill>
                <a:latin typeface="TT Fors"/>
                <a:ea typeface="TT Fors"/>
                <a:cs typeface="TT Fors"/>
                <a:sym typeface="TT Fors"/>
              </a:rPr>
              <a:t> before </a:t>
            </a:r>
            <a:r>
              <a:rPr lang="en-US" sz="2000" spc="-60">
                <a:solidFill>
                  <a:srgbClr val="FFFFFF"/>
                </a:solidFill>
                <a:latin typeface="TT Fors"/>
                <a:ea typeface="TT Fors"/>
                <a:cs typeface="TT Fors"/>
                <a:sym typeface="TT Fors"/>
              </a:rPr>
              <a:t>C:\Windows\System32</a:t>
            </a:r>
            <a:r>
              <a:rPr lang="en-US" sz="2000" spc="-60">
                <a:solidFill>
                  <a:srgbClr val="00FFA8"/>
                </a:solidFill>
                <a:latin typeface="TT Fors"/>
                <a:ea typeface="TT Fors"/>
                <a:cs typeface="TT Fors"/>
                <a:sym typeface="TT Fors"/>
              </a:rPr>
              <a:t>, an attacker can create a malicious </a:t>
            </a:r>
            <a:r>
              <a:rPr lang="en-US" sz="2000" spc="-60">
                <a:solidFill>
                  <a:srgbClr val="FFFFFF"/>
                </a:solidFill>
                <a:latin typeface="TT Fors"/>
                <a:ea typeface="TT Fors"/>
                <a:cs typeface="TT Fors"/>
                <a:sym typeface="TT Fors"/>
              </a:rPr>
              <a:t>net.exe</a:t>
            </a:r>
            <a:r>
              <a:rPr lang="en-US" sz="2000" spc="-60">
                <a:solidFill>
                  <a:srgbClr val="00FFA8"/>
                </a:solidFill>
                <a:latin typeface="TT Fors"/>
                <a:ea typeface="TT Fors"/>
                <a:cs typeface="TT Fors"/>
                <a:sym typeface="TT Fors"/>
              </a:rPr>
              <a:t> in </a:t>
            </a:r>
            <a:r>
              <a:rPr lang="en-US" sz="2000" spc="-60">
                <a:solidFill>
                  <a:srgbClr val="FFFFFF"/>
                </a:solidFill>
                <a:latin typeface="TT Fors"/>
                <a:ea typeface="TT Fors"/>
                <a:cs typeface="TT Fors"/>
                <a:sym typeface="TT Fors"/>
              </a:rPr>
              <a:t>C:\CustomProgram</a:t>
            </a:r>
            <a:r>
              <a:rPr lang="en-US" sz="2000" spc="-60">
                <a:solidFill>
                  <a:srgbClr val="00FFA8"/>
                </a:solidFill>
                <a:latin typeface="TT Fors"/>
                <a:ea typeface="TT Fors"/>
                <a:cs typeface="TT Fors"/>
                <a:sym typeface="TT Fors"/>
              </a:rPr>
              <a:t>. When an administrator runs the net command, the attacker's version executes with elevated privileges.</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Mitigation: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Restrict write permissions on all </a:t>
            </a:r>
            <a:r>
              <a:rPr lang="en-US" sz="2000" b="1" spc="-60">
                <a:solidFill>
                  <a:srgbClr val="00FFA8"/>
                </a:solidFill>
                <a:latin typeface="TT Fors Bold"/>
                <a:ea typeface="TT Fors Bold"/>
                <a:cs typeface="TT Fors Bold"/>
                <a:sym typeface="TT Fors Bold"/>
              </a:rPr>
              <a:t>PATH</a:t>
            </a:r>
            <a:r>
              <a:rPr lang="en-US" sz="2000" spc="-60">
                <a:solidFill>
                  <a:srgbClr val="00FFA8"/>
                </a:solidFill>
                <a:latin typeface="TT Fors"/>
                <a:ea typeface="TT Fors"/>
                <a:cs typeface="TT Fors"/>
                <a:sym typeface="TT Fors"/>
              </a:rPr>
              <a:t> directories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Avoid allowing low-privilege users to write to </a:t>
            </a:r>
            <a:r>
              <a:rPr lang="en-US" sz="2000" spc="-60">
                <a:solidFill>
                  <a:srgbClr val="FFFFFF"/>
                </a:solidFill>
                <a:latin typeface="TT Fors"/>
                <a:ea typeface="TT Fors"/>
                <a:cs typeface="TT Fors"/>
                <a:sym typeface="TT Fors"/>
              </a:rPr>
              <a:t>C:\</a:t>
            </a:r>
            <a:r>
              <a:rPr lang="en-US" sz="2000" spc="-60">
                <a:solidFill>
                  <a:srgbClr val="00FFA8"/>
                </a:solidFill>
                <a:latin typeface="TT Fors"/>
                <a:ea typeface="TT Fors"/>
                <a:cs typeface="TT Fors"/>
                <a:sym typeface="TT Fors"/>
              </a:rPr>
              <a:t>, </a:t>
            </a:r>
            <a:r>
              <a:rPr lang="en-US" sz="2000" spc="-60">
                <a:solidFill>
                  <a:srgbClr val="FFFFFF"/>
                </a:solidFill>
                <a:latin typeface="TT Fors"/>
                <a:ea typeface="TT Fors"/>
                <a:cs typeface="TT Fors"/>
                <a:sym typeface="TT Fors"/>
              </a:rPr>
              <a:t>C:\Windows</a:t>
            </a:r>
            <a:r>
              <a:rPr lang="en-US" sz="2000" spc="-60">
                <a:solidFill>
                  <a:srgbClr val="00FFA8"/>
                </a:solidFill>
                <a:latin typeface="TT Fors"/>
                <a:ea typeface="TT Fors"/>
                <a:cs typeface="TT Fors"/>
                <a:sym typeface="TT Fors"/>
              </a:rPr>
              <a:t>, or </a:t>
            </a:r>
            <a:r>
              <a:rPr lang="en-US" sz="2000" spc="-60">
                <a:solidFill>
                  <a:srgbClr val="FFFFFF"/>
                </a:solidFill>
                <a:latin typeface="TT Fors"/>
                <a:ea typeface="TT Fors"/>
                <a:cs typeface="TT Fors"/>
                <a:sym typeface="TT Fors"/>
              </a:rPr>
              <a:t>C:\Program Files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Monitor and log file creation in system directories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Regularly verify </a:t>
            </a:r>
            <a:r>
              <a:rPr lang="en-US" sz="2000" b="1" spc="-60">
                <a:solidFill>
                  <a:srgbClr val="00FFA8"/>
                </a:solidFill>
                <a:latin typeface="TT Fors Bold"/>
                <a:ea typeface="TT Fors Bold"/>
                <a:cs typeface="TT Fors Bold"/>
                <a:sym typeface="TT Fors Bold"/>
              </a:rPr>
              <a:t>PATH</a:t>
            </a:r>
            <a:r>
              <a:rPr lang="en-US" sz="2000" spc="-60">
                <a:solidFill>
                  <a:srgbClr val="00FFA8"/>
                </a:solidFill>
                <a:latin typeface="TT Fors"/>
                <a:ea typeface="TT Fors"/>
                <a:cs typeface="TT Fors"/>
                <a:sym typeface="TT Fors"/>
              </a:rPr>
              <a:t> configuration integrity</a:t>
            </a:r>
          </a:p>
        </p:txBody>
      </p:sp>
      <p:sp>
        <p:nvSpPr>
          <p:cNvPr id="13" name="TextBox 13"/>
          <p:cNvSpPr txBox="1"/>
          <p:nvPr/>
        </p:nvSpPr>
        <p:spPr>
          <a:xfrm>
            <a:off x="9356303" y="2066925"/>
            <a:ext cx="8264947" cy="5705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DLL Hijacking:</a:t>
            </a:r>
          </a:p>
          <a:p>
            <a:pPr algn="l">
              <a:lnSpc>
                <a:spcPts val="3000"/>
              </a:lnSpc>
            </a:pPr>
            <a:r>
              <a:rPr lang="en-US" sz="2000" spc="-60">
                <a:solidFill>
                  <a:srgbClr val="00FFA8"/>
                </a:solidFill>
                <a:latin typeface="TT Fors"/>
                <a:ea typeface="TT Fors"/>
                <a:cs typeface="TT Fors"/>
                <a:sym typeface="TT Fors"/>
              </a:rPr>
              <a:t>Applications load DLLs from multiple locations. If an attacker can place a malicious DLL in a location searched before the legitimate library, the malicious DLL loads instead.</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Attack Scenario:</a:t>
            </a:r>
            <a:r>
              <a:rPr lang="en-US" sz="2000" spc="-60">
                <a:solidFill>
                  <a:srgbClr val="00FFA8"/>
                </a:solidFill>
                <a:latin typeface="TT Fors"/>
                <a:ea typeface="TT Fors"/>
                <a:cs typeface="TT Fors"/>
                <a:sym typeface="TT Fors"/>
              </a:rPr>
              <a:t> If an application </a:t>
            </a:r>
            <a:r>
              <a:rPr lang="en-US" sz="2000" spc="-60">
                <a:solidFill>
                  <a:srgbClr val="FFFFFF"/>
                </a:solidFill>
                <a:latin typeface="TT Fors"/>
                <a:ea typeface="TT Fors"/>
                <a:cs typeface="TT Fors"/>
                <a:sym typeface="TT Fors"/>
              </a:rPr>
              <a:t>exe01.exe</a:t>
            </a:r>
            <a:r>
              <a:rPr lang="en-US" sz="2000" spc="-60">
                <a:solidFill>
                  <a:srgbClr val="00FFA8"/>
                </a:solidFill>
                <a:latin typeface="TT Fors"/>
                <a:ea typeface="TT Fors"/>
                <a:cs typeface="TT Fors"/>
                <a:sym typeface="TT Fors"/>
              </a:rPr>
              <a:t> expects </a:t>
            </a:r>
            <a:r>
              <a:rPr lang="en-US" sz="2000" spc="-60">
                <a:solidFill>
                  <a:srgbClr val="FFFFFF"/>
                </a:solidFill>
                <a:latin typeface="TT Fors"/>
                <a:ea typeface="TT Fors"/>
                <a:cs typeface="TT Fors"/>
                <a:sym typeface="TT Fors"/>
              </a:rPr>
              <a:t>dll01.dll</a:t>
            </a:r>
            <a:r>
              <a:rPr lang="en-US" sz="2000" spc="-60">
                <a:solidFill>
                  <a:srgbClr val="00FFA8"/>
                </a:solidFill>
                <a:latin typeface="TT Fors"/>
                <a:ea typeface="TT Fors"/>
                <a:cs typeface="TT Fors"/>
                <a:sym typeface="TT Fors"/>
              </a:rPr>
              <a:t> from </a:t>
            </a:r>
            <a:r>
              <a:rPr lang="en-US" sz="2000" spc="-60">
                <a:solidFill>
                  <a:srgbClr val="FFFFFF"/>
                </a:solidFill>
                <a:latin typeface="TT Fors"/>
                <a:ea typeface="TT Fors"/>
                <a:cs typeface="TT Fors"/>
                <a:sym typeface="TT Fors"/>
              </a:rPr>
              <a:t>C:\Windows\System32</a:t>
            </a:r>
            <a:r>
              <a:rPr lang="en-US" sz="2000" spc="-60">
                <a:solidFill>
                  <a:srgbClr val="00FFA8"/>
                </a:solidFill>
                <a:latin typeface="TT Fors"/>
                <a:ea typeface="TT Fors"/>
                <a:cs typeface="TT Fors"/>
                <a:sym typeface="TT Fors"/>
              </a:rPr>
              <a:t>, but an attacker places a malicious </a:t>
            </a:r>
            <a:r>
              <a:rPr lang="en-US" sz="2000" spc="-60">
                <a:solidFill>
                  <a:srgbClr val="FFFFFF"/>
                </a:solidFill>
                <a:latin typeface="TT Fors"/>
                <a:ea typeface="TT Fors"/>
                <a:cs typeface="TT Fors"/>
                <a:sym typeface="TT Fors"/>
              </a:rPr>
              <a:t>dll01.dll</a:t>
            </a:r>
            <a:r>
              <a:rPr lang="en-US" sz="2000" spc="-60">
                <a:solidFill>
                  <a:srgbClr val="00FFA8"/>
                </a:solidFill>
                <a:latin typeface="TT Fors"/>
                <a:ea typeface="TT Fors"/>
                <a:cs typeface="TT Fors"/>
                <a:sym typeface="TT Fors"/>
              </a:rPr>
              <a:t> in </a:t>
            </a:r>
            <a:r>
              <a:rPr lang="en-US" sz="2000" spc="-60">
                <a:solidFill>
                  <a:srgbClr val="FFFFFF"/>
                </a:solidFill>
                <a:latin typeface="TT Fors"/>
                <a:ea typeface="TT Fors"/>
                <a:cs typeface="TT Fors"/>
                <a:sym typeface="TT Fors"/>
              </a:rPr>
              <a:t>C:\CustomProgram</a:t>
            </a:r>
            <a:r>
              <a:rPr lang="en-US" sz="2000" spc="-60">
                <a:solidFill>
                  <a:srgbClr val="00FFA8"/>
                </a:solidFill>
                <a:latin typeface="TT Fors"/>
                <a:ea typeface="TT Fors"/>
                <a:cs typeface="TT Fors"/>
                <a:sym typeface="TT Fors"/>
              </a:rPr>
              <a:t> (a directory searched first), the malicious version loads with the application's privileges.</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Mitigation: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Validate DLL integrity using digital signatures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Use DLL search order safeguards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Load DLLs from system directories only</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Implement Code Integrity policies</a:t>
            </a:r>
          </a:p>
        </p:txBody>
      </p:sp>
      <p:sp>
        <p:nvSpPr>
          <p:cNvPr id="14" name="TextBox 14"/>
          <p:cNvSpPr txBox="1"/>
          <p:nvPr/>
        </p:nvSpPr>
        <p:spPr>
          <a:xfrm>
            <a:off x="666750" y="1331595"/>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1.3 Common Windows Vulnerabilities (Cont’d)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Operating System Vulnerabilities (Cont’d)</a:t>
            </a:r>
          </a:p>
        </p:txBody>
      </p:sp>
      <p:sp>
        <p:nvSpPr>
          <p:cNvPr id="12" name="TextBox 12"/>
          <p:cNvSpPr txBox="1"/>
          <p:nvPr/>
        </p:nvSpPr>
        <p:spPr>
          <a:xfrm>
            <a:off x="666750" y="2026659"/>
            <a:ext cx="8581764" cy="3800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Local System Account (SYSTEM):</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Security Identifier: S-1-5-18</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Most powerful account on a local system</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Services running under SYSTEM have unrestricted system access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Exploiting SYSTEM-level services grants complete system compromise</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Windows Service Control Manager (SCM):</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Launches services using specified service accounts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Common service accounts: LocalSystem, Local Service, Network Service</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Misconfigured services are prime targets for privilege escalation</a:t>
            </a:r>
          </a:p>
        </p:txBody>
      </p:sp>
      <p:sp>
        <p:nvSpPr>
          <p:cNvPr id="13" name="TextBox 13"/>
          <p:cNvSpPr txBox="1"/>
          <p:nvPr/>
        </p:nvSpPr>
        <p:spPr>
          <a:xfrm>
            <a:off x="666750" y="1331595"/>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1.4 Windows Services and SYSTEM Account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Windows Privilege Escalation Exploitation</a:t>
            </a:r>
          </a:p>
        </p:txBody>
      </p:sp>
      <p:sp>
        <p:nvSpPr>
          <p:cNvPr id="12" name="TextBox 12"/>
          <p:cNvSpPr txBox="1"/>
          <p:nvPr/>
        </p:nvSpPr>
        <p:spPr>
          <a:xfrm>
            <a:off x="666750" y="2175558"/>
            <a:ext cx="9314983" cy="1514475"/>
          </a:xfrm>
          <a:prstGeom prst="rect">
            <a:avLst/>
          </a:prstGeom>
        </p:spPr>
        <p:txBody>
          <a:bodyPr lIns="0" tIns="0" rIns="0" bIns="0" rtlCol="0" anchor="t">
            <a:spAutoFit/>
          </a:bodyPr>
          <a:lstStyle/>
          <a:p>
            <a:pPr marL="431802" lvl="1" indent="-215901" algn="l">
              <a:lnSpc>
                <a:spcPts val="3000"/>
              </a:lnSpc>
              <a:buAutoNum type="arabicPeriod"/>
            </a:pPr>
            <a:r>
              <a:rPr lang="en-US" sz="2000" b="1" spc="-60">
                <a:solidFill>
                  <a:srgbClr val="00FFA8"/>
                </a:solidFill>
                <a:latin typeface="TT Fors Bold"/>
                <a:ea typeface="TT Fors Bold"/>
                <a:cs typeface="TT Fors Bold"/>
                <a:sym typeface="TT Fors Bold"/>
              </a:rPr>
              <a:t>Enumeration: </a:t>
            </a:r>
            <a:r>
              <a:rPr lang="en-US" sz="2000" spc="-60">
                <a:solidFill>
                  <a:srgbClr val="00FFA8"/>
                </a:solidFill>
                <a:latin typeface="TT Fors"/>
                <a:ea typeface="TT Fors"/>
                <a:cs typeface="TT Fors"/>
                <a:sym typeface="TT Fors"/>
              </a:rPr>
              <a:t>Identify vulnerable services, permissions, and misconfigurations</a:t>
            </a:r>
          </a:p>
          <a:p>
            <a:pPr marL="431802" lvl="1" indent="-215901" algn="l">
              <a:lnSpc>
                <a:spcPts val="3000"/>
              </a:lnSpc>
              <a:buAutoNum type="arabicPeriod"/>
            </a:pPr>
            <a:r>
              <a:rPr lang="en-US" sz="2000" b="1" spc="-60">
                <a:solidFill>
                  <a:srgbClr val="00FFA8"/>
                </a:solidFill>
                <a:latin typeface="TT Fors Bold"/>
                <a:ea typeface="TT Fors Bold"/>
                <a:cs typeface="TT Fors Bold"/>
                <a:sym typeface="TT Fors Bold"/>
              </a:rPr>
              <a:t>Exploitation: </a:t>
            </a:r>
            <a:r>
              <a:rPr lang="en-US" sz="2000" spc="-60">
                <a:solidFill>
                  <a:srgbClr val="00FFA8"/>
                </a:solidFill>
                <a:latin typeface="TT Fors"/>
                <a:ea typeface="TT Fors"/>
                <a:cs typeface="TT Fors"/>
                <a:sym typeface="TT Fors"/>
              </a:rPr>
              <a:t>Craft exploits targeting identified weaknesses</a:t>
            </a:r>
          </a:p>
          <a:p>
            <a:pPr marL="431802" lvl="1" indent="-215901" algn="l">
              <a:lnSpc>
                <a:spcPts val="3000"/>
              </a:lnSpc>
              <a:buAutoNum type="arabicPeriod"/>
            </a:pPr>
            <a:r>
              <a:rPr lang="en-US" sz="2000" b="1" spc="-60">
                <a:solidFill>
                  <a:srgbClr val="00FFA8"/>
                </a:solidFill>
                <a:latin typeface="TT Fors Bold"/>
                <a:ea typeface="TT Fors Bold"/>
                <a:cs typeface="TT Fors Bold"/>
                <a:sym typeface="TT Fors Bold"/>
              </a:rPr>
              <a:t>Verification: </a:t>
            </a:r>
            <a:r>
              <a:rPr lang="en-US" sz="2000" spc="-60">
                <a:solidFill>
                  <a:srgbClr val="00FFA8"/>
                </a:solidFill>
                <a:latin typeface="TT Fors"/>
                <a:ea typeface="TT Fors"/>
                <a:cs typeface="TT Fors"/>
                <a:sym typeface="TT Fors"/>
              </a:rPr>
              <a:t>Confirm privilege escalation success</a:t>
            </a:r>
          </a:p>
          <a:p>
            <a:pPr marL="431802" lvl="1" indent="-215901" algn="l">
              <a:lnSpc>
                <a:spcPts val="3000"/>
              </a:lnSpc>
              <a:buAutoNum type="arabicPeriod"/>
            </a:pPr>
            <a:r>
              <a:rPr lang="en-US" sz="2000" b="1" spc="-60">
                <a:solidFill>
                  <a:srgbClr val="00FFA8"/>
                </a:solidFill>
                <a:latin typeface="TT Fors Bold"/>
                <a:ea typeface="TT Fors Bold"/>
                <a:cs typeface="TT Fors Bold"/>
                <a:sym typeface="TT Fors Bold"/>
              </a:rPr>
              <a:t>Post-Exploitation: </a:t>
            </a:r>
            <a:r>
              <a:rPr lang="en-US" sz="2000" spc="-60">
                <a:solidFill>
                  <a:srgbClr val="00FFA8"/>
                </a:solidFill>
                <a:latin typeface="TT Fors"/>
                <a:ea typeface="TT Fors"/>
                <a:cs typeface="TT Fors"/>
                <a:sym typeface="TT Fors"/>
              </a:rPr>
              <a:t>Maintain access and gather intelligence</a:t>
            </a:r>
          </a:p>
        </p:txBody>
      </p:sp>
      <p:sp>
        <p:nvSpPr>
          <p:cNvPr id="13" name="TextBox 13"/>
          <p:cNvSpPr txBox="1"/>
          <p:nvPr/>
        </p:nvSpPr>
        <p:spPr>
          <a:xfrm>
            <a:off x="10353371" y="2175558"/>
            <a:ext cx="7267879" cy="5324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MS17-010 (EternalBlue):</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Affects Windows XP through Windows Server 2016</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Exploits SMBv1 vulnerability</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Allows remote code execution with SYSTEM privileges</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Actively exploited by WannaCry ransomware</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MS16-032:</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Secondary Logon Handle Impersonation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Allows elevation from standard user to SYSTEM</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Affects Windows 7, 8.1, 10, Server 2008-2012 R2</a:t>
            </a:r>
          </a:p>
          <a:p>
            <a:pPr algn="l">
              <a:lnSpc>
                <a:spcPts val="3000"/>
              </a:lnSpc>
            </a:pPr>
            <a:endParaRPr lang="en-US" sz="2000" spc="-60">
              <a:solidFill>
                <a:srgbClr val="00FFA8"/>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MS15-051:</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Client-Side Caching DLL Privilege Escalation</a:t>
            </a:r>
          </a:p>
          <a:p>
            <a:pPr marL="431802" lvl="1" indent="-215901" algn="l">
              <a:lnSpc>
                <a:spcPts val="3000"/>
              </a:lnSpc>
              <a:buFont typeface="Arial"/>
              <a:buChar char="•"/>
            </a:pPr>
            <a:r>
              <a:rPr lang="en-US" sz="2000" spc="-60">
                <a:solidFill>
                  <a:srgbClr val="00FFA8"/>
                </a:solidFill>
                <a:latin typeface="TT Fors"/>
                <a:ea typeface="TT Fors"/>
                <a:cs typeface="TT Fors"/>
                <a:sym typeface="TT Fors"/>
              </a:rPr>
              <a:t>Exploits improper handling of cached credentials</a:t>
            </a:r>
          </a:p>
        </p:txBody>
      </p:sp>
      <p:sp>
        <p:nvSpPr>
          <p:cNvPr id="14" name="TextBox 14"/>
          <p:cNvSpPr txBox="1"/>
          <p:nvPr/>
        </p:nvSpPr>
        <p:spPr>
          <a:xfrm>
            <a:off x="666750" y="4600623"/>
            <a:ext cx="8790791" cy="3419475"/>
          </a:xfrm>
          <a:prstGeom prst="rect">
            <a:avLst/>
          </a:prstGeom>
        </p:spPr>
        <p:txBody>
          <a:bodyPr lIns="0" tIns="0" rIns="0" bIns="0" rtlCol="0" anchor="t">
            <a:spAutoFit/>
          </a:bodyPr>
          <a:lstStyle/>
          <a:p>
            <a:pPr algn="l">
              <a:lnSpc>
                <a:spcPts val="3000"/>
              </a:lnSpc>
            </a:pPr>
            <a:r>
              <a:rPr lang="en-US" sz="2000" b="1" spc="-60">
                <a:solidFill>
                  <a:srgbClr val="00FFA8"/>
                </a:solidFill>
                <a:latin typeface="TT Fors Bold"/>
                <a:ea typeface="TT Fors Bold"/>
                <a:cs typeface="TT Fors Bold"/>
                <a:sym typeface="TT Fors Bold"/>
              </a:rPr>
              <a:t>PowerShell Commands:</a:t>
            </a:r>
          </a:p>
          <a:p>
            <a:pPr algn="l">
              <a:lnSpc>
                <a:spcPts val="3000"/>
              </a:lnSpc>
            </a:pPr>
            <a:r>
              <a:rPr lang="en-US" sz="2000" spc="-60">
                <a:solidFill>
                  <a:srgbClr val="FFFFFF"/>
                </a:solidFill>
                <a:latin typeface="TT Fors"/>
                <a:ea typeface="TT Fors"/>
                <a:cs typeface="TT Fors"/>
                <a:sym typeface="TT Fors"/>
              </a:rPr>
              <a:t>whoami /priv</a:t>
            </a:r>
          </a:p>
          <a:p>
            <a:pPr algn="l">
              <a:lnSpc>
                <a:spcPts val="3000"/>
              </a:lnSpc>
            </a:pPr>
            <a:r>
              <a:rPr lang="en-US" sz="2000" spc="-60">
                <a:solidFill>
                  <a:srgbClr val="FFFFFF"/>
                </a:solidFill>
                <a:latin typeface="TT Fors"/>
                <a:ea typeface="TT Fors"/>
                <a:cs typeface="TT Fors"/>
                <a:sym typeface="TT Fors"/>
              </a:rPr>
              <a:t>wmic service get name,pathname,startmode</a:t>
            </a:r>
          </a:p>
          <a:p>
            <a:pPr algn="l">
              <a:lnSpc>
                <a:spcPts val="3000"/>
              </a:lnSpc>
            </a:pPr>
            <a:r>
              <a:rPr lang="en-US" sz="2000" spc="-60">
                <a:solidFill>
                  <a:srgbClr val="FFFFFF"/>
                </a:solidFill>
                <a:latin typeface="TT Fors"/>
                <a:ea typeface="TT Fors"/>
                <a:cs typeface="TT Fors"/>
                <a:sym typeface="TT Fors"/>
              </a:rPr>
              <a:t>Get-MpPreference | select DisableRealtimeMonitoring</a:t>
            </a:r>
          </a:p>
          <a:p>
            <a:pPr algn="l">
              <a:lnSpc>
                <a:spcPts val="3000"/>
              </a:lnSpc>
            </a:pPr>
            <a:endParaRPr lang="en-US" sz="2000" spc="-60">
              <a:solidFill>
                <a:srgbClr val="FFFFFF"/>
              </a:solidFill>
              <a:latin typeface="TT Fors"/>
              <a:ea typeface="TT Fors"/>
              <a:cs typeface="TT Fors"/>
              <a:sym typeface="TT Fors"/>
            </a:endParaRPr>
          </a:p>
          <a:p>
            <a:pPr algn="l">
              <a:lnSpc>
                <a:spcPts val="3000"/>
              </a:lnSpc>
            </a:pPr>
            <a:r>
              <a:rPr lang="en-US" sz="2000" b="1" spc="-60">
                <a:solidFill>
                  <a:srgbClr val="00FFA8"/>
                </a:solidFill>
                <a:latin typeface="TT Fors Bold"/>
                <a:ea typeface="TT Fors Bold"/>
                <a:cs typeface="TT Fors Bold"/>
                <a:sym typeface="TT Fors Bold"/>
              </a:rPr>
              <a:t>Third-Party Tools:</a:t>
            </a:r>
          </a:p>
          <a:p>
            <a:pPr marL="431802" lvl="1" indent="-215901" algn="l">
              <a:lnSpc>
                <a:spcPts val="3000"/>
              </a:lnSpc>
              <a:buFont typeface="Arial"/>
              <a:buChar char="•"/>
            </a:pPr>
            <a:r>
              <a:rPr lang="en-US" sz="2000" b="1" spc="-60">
                <a:solidFill>
                  <a:srgbClr val="00FFA8"/>
                </a:solidFill>
                <a:latin typeface="TT Fors Bold"/>
                <a:ea typeface="TT Fors Bold"/>
                <a:cs typeface="TT Fors Bold"/>
                <a:sym typeface="TT Fors Bold"/>
              </a:rPr>
              <a:t>WinPEAS:</a:t>
            </a:r>
            <a:r>
              <a:rPr lang="en-US" sz="2000" spc="-60">
                <a:solidFill>
                  <a:srgbClr val="00FFA8"/>
                </a:solidFill>
                <a:latin typeface="TT Fors"/>
                <a:ea typeface="TT Fors"/>
                <a:cs typeface="TT Fors"/>
                <a:sym typeface="TT Fors"/>
              </a:rPr>
              <a:t> Comprehensive Windows privilege escalation assessment tool</a:t>
            </a:r>
          </a:p>
          <a:p>
            <a:pPr marL="431802" lvl="1" indent="-215901" algn="l">
              <a:lnSpc>
                <a:spcPts val="3000"/>
              </a:lnSpc>
              <a:buFont typeface="Arial"/>
              <a:buChar char="•"/>
            </a:pPr>
            <a:r>
              <a:rPr lang="en-US" sz="2000" b="1" spc="-60">
                <a:solidFill>
                  <a:srgbClr val="00FFA8"/>
                </a:solidFill>
                <a:latin typeface="TT Fors Bold"/>
                <a:ea typeface="TT Fors Bold"/>
                <a:cs typeface="TT Fors Bold"/>
                <a:sym typeface="TT Fors Bold"/>
              </a:rPr>
              <a:t>Metasploit:</a:t>
            </a:r>
            <a:r>
              <a:rPr lang="en-US" sz="2000" spc="-60">
                <a:solidFill>
                  <a:srgbClr val="00FFA8"/>
                </a:solidFill>
                <a:latin typeface="TT Fors"/>
                <a:ea typeface="TT Fors"/>
                <a:cs typeface="TT Fors"/>
                <a:sym typeface="TT Fors"/>
              </a:rPr>
              <a:t> Exploitation framework with built-in Windows exploit modules</a:t>
            </a:r>
          </a:p>
          <a:p>
            <a:pPr marL="431802" lvl="1" indent="-215901" algn="l">
              <a:lnSpc>
                <a:spcPts val="3000"/>
              </a:lnSpc>
              <a:buFont typeface="Arial"/>
              <a:buChar char="•"/>
            </a:pPr>
            <a:r>
              <a:rPr lang="en-US" sz="2000" b="1" spc="-60">
                <a:solidFill>
                  <a:srgbClr val="00FFA8"/>
                </a:solidFill>
                <a:latin typeface="TT Fors Bold"/>
                <a:ea typeface="TT Fors Bold"/>
                <a:cs typeface="TT Fors Bold"/>
                <a:sym typeface="TT Fors Bold"/>
              </a:rPr>
              <a:t>AccessChk:</a:t>
            </a:r>
            <a:r>
              <a:rPr lang="en-US" sz="2000" spc="-60">
                <a:solidFill>
                  <a:srgbClr val="00FFA8"/>
                </a:solidFill>
                <a:latin typeface="TT Fors"/>
                <a:ea typeface="TT Fors"/>
                <a:cs typeface="TT Fors"/>
                <a:sym typeface="TT Fors"/>
              </a:rPr>
              <a:t> Identifies insecure permissions and service configurations</a:t>
            </a:r>
          </a:p>
        </p:txBody>
      </p:sp>
      <p:sp>
        <p:nvSpPr>
          <p:cNvPr id="15" name="TextBox 15"/>
          <p:cNvSpPr txBox="1"/>
          <p:nvPr/>
        </p:nvSpPr>
        <p:spPr>
          <a:xfrm>
            <a:off x="666750" y="1495425"/>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2.1 Exploitation Workflow</a:t>
            </a:r>
          </a:p>
        </p:txBody>
      </p:sp>
      <p:sp>
        <p:nvSpPr>
          <p:cNvPr id="16" name="TextBox 16"/>
          <p:cNvSpPr txBox="1"/>
          <p:nvPr/>
        </p:nvSpPr>
        <p:spPr>
          <a:xfrm>
            <a:off x="10353371" y="1495425"/>
            <a:ext cx="6410094"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2.3 Known Vulnerabilities (CVEs)</a:t>
            </a:r>
          </a:p>
        </p:txBody>
      </p:sp>
      <p:sp>
        <p:nvSpPr>
          <p:cNvPr id="17" name="TextBox 17"/>
          <p:cNvSpPr txBox="1"/>
          <p:nvPr/>
        </p:nvSpPr>
        <p:spPr>
          <a:xfrm>
            <a:off x="666750" y="3918633"/>
            <a:ext cx="8306267" cy="4533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2.2 Enumeration Tools and Commands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Linux Operating System Vulnerabilities</a:t>
            </a:r>
          </a:p>
        </p:txBody>
      </p:sp>
      <p:sp>
        <p:nvSpPr>
          <p:cNvPr id="12" name="TextBox 12"/>
          <p:cNvSpPr txBox="1"/>
          <p:nvPr/>
        </p:nvSpPr>
        <p:spPr>
          <a:xfrm>
            <a:off x="666750" y="1571625"/>
            <a:ext cx="15448772" cy="10763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3.1 Overview:</a:t>
            </a:r>
            <a:r>
              <a:rPr lang="en-US" sz="2400" spc="-72">
                <a:solidFill>
                  <a:srgbClr val="FFFFFF"/>
                </a:solidFill>
                <a:latin typeface="TT Fors"/>
                <a:ea typeface="TT Fors"/>
                <a:cs typeface="TT Fors"/>
                <a:sym typeface="TT Fors"/>
              </a:rPr>
              <a:t> Linux systems are prevalent in servers, cloud infrastructure, and IoT devices. While generally more secure than Windows when properly configured, Linux vulnerabilities often stem from misconfigurations rather than OS bugs.</a:t>
            </a:r>
          </a:p>
        </p:txBody>
      </p:sp>
      <p:sp>
        <p:nvSpPr>
          <p:cNvPr id="13" name="TextBox 13"/>
          <p:cNvSpPr txBox="1"/>
          <p:nvPr/>
        </p:nvSpPr>
        <p:spPr>
          <a:xfrm>
            <a:off x="666750" y="2967158"/>
            <a:ext cx="9534040" cy="54902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3.2 SUID Binaries</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SUID (Set User ID) </a:t>
            </a:r>
            <a:r>
              <a:rPr lang="en-US" sz="2200" spc="-66">
                <a:solidFill>
                  <a:srgbClr val="00FFA8"/>
                </a:solidFill>
                <a:latin typeface="TT Fors"/>
                <a:ea typeface="TT Fors"/>
                <a:cs typeface="TT Fors"/>
                <a:sym typeface="TT Fors"/>
              </a:rPr>
              <a:t>permission allows an executable to run with the privileges of its owner rather than the executing user.</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Vulnerability: </a:t>
            </a:r>
            <a:r>
              <a:rPr lang="en-US" sz="2200" spc="-66">
                <a:solidFill>
                  <a:srgbClr val="00FFA8"/>
                </a:solidFill>
                <a:latin typeface="TT Fors"/>
                <a:ea typeface="TT Fors"/>
                <a:cs typeface="TT Fors"/>
                <a:sym typeface="TT Fors"/>
              </a:rPr>
              <a:t>If a SUID binary owned by root contains a vulnerability (e.g., a buffer overflow or logic flaw), attackers can execute arbitrary code as root.</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Common Vulnerable SUID Binaries:</a:t>
            </a:r>
          </a:p>
          <a:p>
            <a:pPr marL="474981" lvl="1" indent="-237491" algn="l">
              <a:lnSpc>
                <a:spcPts val="3300"/>
              </a:lnSpc>
              <a:buFont typeface="Arial"/>
              <a:buChar char="•"/>
            </a:pPr>
            <a:r>
              <a:rPr lang="en-US" sz="2200" spc="-66">
                <a:solidFill>
                  <a:srgbClr val="FFFFFF"/>
                </a:solidFill>
                <a:latin typeface="TT Fors"/>
                <a:ea typeface="TT Fors"/>
                <a:cs typeface="TT Fors"/>
                <a:sym typeface="TT Fors"/>
              </a:rPr>
              <a:t>cp (copy)</a:t>
            </a:r>
          </a:p>
          <a:p>
            <a:pPr marL="474981" lvl="1" indent="-237491" algn="l">
              <a:lnSpc>
                <a:spcPts val="3300"/>
              </a:lnSpc>
              <a:buFont typeface="Arial"/>
              <a:buChar char="•"/>
            </a:pPr>
            <a:r>
              <a:rPr lang="en-US" sz="2200" spc="-66">
                <a:solidFill>
                  <a:srgbClr val="FFFFFF"/>
                </a:solidFill>
                <a:latin typeface="TT Fors"/>
                <a:ea typeface="TT Fors"/>
                <a:cs typeface="TT Fors"/>
                <a:sym typeface="TT Fors"/>
              </a:rPr>
              <a:t>mv (move)</a:t>
            </a:r>
          </a:p>
          <a:p>
            <a:pPr marL="474981" lvl="1" indent="-237491" algn="l">
              <a:lnSpc>
                <a:spcPts val="3300"/>
              </a:lnSpc>
              <a:buFont typeface="Arial"/>
              <a:buChar char="•"/>
            </a:pPr>
            <a:r>
              <a:rPr lang="en-US" sz="2200" spc="-66">
                <a:solidFill>
                  <a:srgbClr val="FFFFFF"/>
                </a:solidFill>
                <a:latin typeface="TT Fors"/>
                <a:ea typeface="TT Fors"/>
                <a:cs typeface="TT Fors"/>
                <a:sym typeface="TT Fors"/>
              </a:rPr>
              <a:t>chmod (change permissions)</a:t>
            </a:r>
          </a:p>
          <a:p>
            <a:pPr marL="474981" lvl="1" indent="-237491" algn="l">
              <a:lnSpc>
                <a:spcPts val="3300"/>
              </a:lnSpc>
              <a:buFont typeface="Arial"/>
              <a:buChar char="•"/>
            </a:pPr>
            <a:r>
              <a:rPr lang="en-US" sz="2200" spc="-66">
                <a:solidFill>
                  <a:srgbClr val="FFFFFF"/>
                </a:solidFill>
                <a:latin typeface="TT Fors"/>
                <a:ea typeface="TT Fors"/>
                <a:cs typeface="TT Fors"/>
                <a:sym typeface="TT Fors"/>
              </a:rPr>
              <a:t>passwd (change passwords)</a:t>
            </a:r>
          </a:p>
        </p:txBody>
      </p:sp>
      <p:sp>
        <p:nvSpPr>
          <p:cNvPr id="14" name="TextBox 14"/>
          <p:cNvSpPr txBox="1"/>
          <p:nvPr/>
        </p:nvSpPr>
        <p:spPr>
          <a:xfrm>
            <a:off x="10812941" y="3843852"/>
            <a:ext cx="6620582" cy="58502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List SUID binaries:</a:t>
            </a:r>
          </a:p>
          <a:p>
            <a:pPr algn="l">
              <a:lnSpc>
                <a:spcPts val="3300"/>
              </a:lnSpc>
            </a:pPr>
            <a:r>
              <a:rPr lang="en-US" sz="2200" spc="-66">
                <a:solidFill>
                  <a:srgbClr val="FFFFFF"/>
                </a:solidFill>
                <a:latin typeface="TT Fors"/>
                <a:ea typeface="TT Fors"/>
                <a:cs typeface="TT Fors"/>
                <a:sym typeface="TT Fors"/>
              </a:rPr>
              <a:t>find / -perm -4000 -type f -ls 2&gt;/dev/null</a:t>
            </a:r>
          </a:p>
          <a:p>
            <a:pPr algn="l">
              <a:lnSpc>
                <a:spcPts val="3300"/>
              </a:lnSpc>
            </a:pPr>
            <a:endParaRPr lang="en-US" sz="2200" spc="-66">
              <a:solidFill>
                <a:srgbClr val="FFFFFF"/>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Check allowed sudo commands:</a:t>
            </a:r>
          </a:p>
          <a:p>
            <a:pPr algn="l">
              <a:lnSpc>
                <a:spcPts val="3300"/>
              </a:lnSpc>
            </a:pPr>
            <a:r>
              <a:rPr lang="en-US" sz="2200" spc="-66">
                <a:solidFill>
                  <a:srgbClr val="FFFFFF"/>
                </a:solidFill>
                <a:latin typeface="TT Fors"/>
                <a:ea typeface="TT Fors"/>
                <a:cs typeface="TT Fors"/>
                <a:sym typeface="TT Fors"/>
              </a:rPr>
              <a:t>sudo -l</a:t>
            </a:r>
          </a:p>
          <a:p>
            <a:pPr algn="l">
              <a:lnSpc>
                <a:spcPts val="3300"/>
              </a:lnSpc>
            </a:pPr>
            <a:r>
              <a:rPr lang="en-US" sz="2200" spc="-66">
                <a:solidFill>
                  <a:srgbClr val="00FFA8"/>
                </a:solidFill>
                <a:latin typeface="TT Fors"/>
                <a:ea typeface="TT Fors"/>
                <a:cs typeface="TT Fors"/>
                <a:sym typeface="TT Fors"/>
              </a:rPr>
              <a:t>Gives us the following: </a:t>
            </a:r>
          </a:p>
          <a:p>
            <a:pPr algn="l">
              <a:lnSpc>
                <a:spcPts val="3300"/>
              </a:lnSpc>
            </a:pPr>
            <a:r>
              <a:rPr lang="en-US" sz="2200" spc="-66">
                <a:solidFill>
                  <a:srgbClr val="FFFFFF"/>
                </a:solidFill>
                <a:latin typeface="TT Fors"/>
                <a:ea typeface="TT Fors"/>
                <a:cs typeface="TT Fors"/>
                <a:sym typeface="TT Fors"/>
              </a:rPr>
              <a:t>(ALL) /usr/bin/find, /usr/bin/vim, /usr/bin/awk, /usr/bin/less</a:t>
            </a:r>
          </a:p>
          <a:p>
            <a:pPr algn="l">
              <a:lnSpc>
                <a:spcPts val="3300"/>
              </a:lnSpc>
            </a:pPr>
            <a:endParaRPr lang="en-US" sz="2200" spc="-66">
              <a:solidFill>
                <a:srgbClr val="FFFFFF"/>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Mitigation: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Remove unnecessary SUID permissions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Regularly audit SUID binaries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Keep system patches current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Monitor SUID binary execution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Linux Operating System Vulnerabilities (Cont’d)</a:t>
            </a:r>
          </a:p>
        </p:txBody>
      </p:sp>
      <p:sp>
        <p:nvSpPr>
          <p:cNvPr id="12" name="TextBox 12"/>
          <p:cNvSpPr txBox="1"/>
          <p:nvPr/>
        </p:nvSpPr>
        <p:spPr>
          <a:xfrm>
            <a:off x="666750" y="1683134"/>
            <a:ext cx="8383386" cy="8004810"/>
          </a:xfrm>
          <a:prstGeom prst="rect">
            <a:avLst/>
          </a:prstGeom>
        </p:spPr>
        <p:txBody>
          <a:bodyPr lIns="0" tIns="0" rIns="0" bIns="0" rtlCol="0" anchor="t">
            <a:spAutoFit/>
          </a:bodyPr>
          <a:lstStyle/>
          <a:p>
            <a:pPr algn="l">
              <a:lnSpc>
                <a:spcPts val="3899"/>
              </a:lnSpc>
              <a:spcBef>
                <a:spcPct val="0"/>
              </a:spcBef>
            </a:pPr>
            <a:r>
              <a:rPr lang="en-US" sz="2599" b="1" u="none" strike="noStrike" spc="-77">
                <a:solidFill>
                  <a:srgbClr val="00FFA8"/>
                </a:solidFill>
                <a:latin typeface="TT Fors Bold"/>
                <a:ea typeface="TT Fors Bold"/>
                <a:cs typeface="TT Fors Bold"/>
                <a:sym typeface="TT Fors Bold"/>
              </a:rPr>
              <a:t>3.3 sudo Misuse and GTFOBins</a:t>
            </a: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sudo</a:t>
            </a:r>
            <a:r>
              <a:rPr lang="en-US" sz="2200" u="none" strike="noStrike" spc="-66">
                <a:solidFill>
                  <a:srgbClr val="00FFA8"/>
                </a:solidFill>
                <a:latin typeface="TT Fors"/>
                <a:ea typeface="TT Fors"/>
                <a:cs typeface="TT Fors"/>
                <a:sym typeface="TT Fors"/>
              </a:rPr>
              <a:t> allows users to execute commands with elevated privileges. Misconfigurations in </a:t>
            </a:r>
            <a:r>
              <a:rPr lang="en-US" sz="2200" u="none" strike="noStrike" spc="-66">
                <a:solidFill>
                  <a:srgbClr val="FFFFFF"/>
                </a:solidFill>
                <a:latin typeface="TT Fors"/>
                <a:ea typeface="TT Fors"/>
                <a:cs typeface="TT Fors"/>
                <a:sym typeface="TT Fors"/>
              </a:rPr>
              <a:t>/etc/sudoers</a:t>
            </a:r>
            <a:r>
              <a:rPr lang="en-US" sz="2200" u="none" strike="noStrike" spc="-66">
                <a:solidFill>
                  <a:srgbClr val="00FFA8"/>
                </a:solidFill>
                <a:latin typeface="TT Fors"/>
                <a:ea typeface="TT Fors"/>
                <a:cs typeface="TT Fors"/>
                <a:sym typeface="TT Fors"/>
              </a:rPr>
              <a:t> create privilege escalation vectors.</a:t>
            </a:r>
          </a:p>
          <a:p>
            <a:pPr algn="l">
              <a:lnSpc>
                <a:spcPts val="3300"/>
              </a:lnSpc>
              <a:spcBef>
                <a:spcPct val="0"/>
              </a:spcBef>
            </a:pPr>
            <a:endParaRPr lang="en-US" sz="2200" u="none" strike="noStrike" spc="-66">
              <a:solidFill>
                <a:srgbClr val="00FFA8"/>
              </a:solidFill>
              <a:latin typeface="TT Fors"/>
              <a:ea typeface="TT Fors"/>
              <a:cs typeface="TT Fors"/>
              <a:sym typeface="TT Fors"/>
            </a:endParaRP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GTFOBins (Get The F* Out of Binaries):**</a:t>
            </a:r>
            <a:r>
              <a:rPr lang="en-US" sz="2200" u="none" strike="noStrike" spc="-66">
                <a:solidFill>
                  <a:srgbClr val="00FFA8"/>
                </a:solidFill>
                <a:latin typeface="TT Fors"/>
                <a:ea typeface="TT Fors"/>
                <a:cs typeface="TT Fors"/>
                <a:sym typeface="TT Fors"/>
              </a:rPr>
              <a:t> Compilation of tools and binaries that can be exploited for privilege escalation when sudo access is granted. In fact, there is an entire list of such tools; search for GTFOBins in your favourite search engine.</a:t>
            </a:r>
          </a:p>
          <a:p>
            <a:pPr algn="l">
              <a:lnSpc>
                <a:spcPts val="3300"/>
              </a:lnSpc>
              <a:spcBef>
                <a:spcPct val="0"/>
              </a:spcBef>
            </a:pPr>
            <a:endParaRPr lang="en-US" sz="2200" u="none" strike="noStrike" spc="-66">
              <a:solidFill>
                <a:srgbClr val="00FFA8"/>
              </a:solidFill>
              <a:latin typeface="TT Fors"/>
              <a:ea typeface="TT Fors"/>
              <a:cs typeface="TT Fors"/>
              <a:sym typeface="TT Fors"/>
            </a:endParaRP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Remote Procedure Call (RPC) Vulnerabilities:</a:t>
            </a:r>
          </a:p>
          <a:p>
            <a:pPr algn="l">
              <a:lnSpc>
                <a:spcPts val="3300"/>
              </a:lnSpc>
              <a:spcBef>
                <a:spcPct val="0"/>
              </a:spcBef>
            </a:pPr>
            <a:r>
              <a:rPr lang="en-US" sz="2200" u="none" strike="noStrike" spc="-66">
                <a:solidFill>
                  <a:srgbClr val="00FFA8"/>
                </a:solidFill>
                <a:latin typeface="TT Fors"/>
                <a:ea typeface="TT Fors"/>
                <a:cs typeface="TT Fors"/>
                <a:sym typeface="TT Fors"/>
              </a:rPr>
              <a:t>RPC is an interprocess communication mechanism allowing programs to execute code on remote hosts. Several worms exploit RPC vulnerabilities:</a:t>
            </a:r>
          </a:p>
          <a:p>
            <a:pPr marL="474981" lvl="1" indent="-237491" algn="l">
              <a:lnSpc>
                <a:spcPts val="3300"/>
              </a:lnSpc>
              <a:spcBef>
                <a:spcPct val="0"/>
              </a:spcBef>
              <a:buFont typeface="Arial"/>
              <a:buChar char="•"/>
            </a:pPr>
            <a:r>
              <a:rPr lang="en-US" sz="2200" b="1" u="none" strike="noStrike" spc="-66">
                <a:solidFill>
                  <a:srgbClr val="00FFA8"/>
                </a:solidFill>
                <a:latin typeface="TT Fors Bold"/>
                <a:ea typeface="TT Fors Bold"/>
                <a:cs typeface="TT Fors Bold"/>
                <a:sym typeface="TT Fors Bold"/>
              </a:rPr>
              <a:t>Conficker Worm:</a:t>
            </a:r>
            <a:r>
              <a:rPr lang="en-US" sz="2200" u="none" strike="noStrike" spc="-66">
                <a:solidFill>
                  <a:srgbClr val="00FFA8"/>
                </a:solidFill>
                <a:latin typeface="TT Fors"/>
                <a:ea typeface="TT Fors"/>
                <a:cs typeface="TT Fors"/>
                <a:sym typeface="TT Fors"/>
              </a:rPr>
              <a:t> Exploited RPC vulnerabilities to propagate across networks</a:t>
            </a:r>
          </a:p>
          <a:p>
            <a:pPr marL="474981" lvl="1" indent="-237491" algn="l">
              <a:lnSpc>
                <a:spcPts val="3300"/>
              </a:lnSpc>
              <a:spcBef>
                <a:spcPct val="0"/>
              </a:spcBef>
              <a:buFont typeface="Arial"/>
              <a:buChar char="•"/>
            </a:pPr>
            <a:r>
              <a:rPr lang="en-US" sz="2200" b="1" u="none" strike="noStrike" spc="-66">
                <a:solidFill>
                  <a:srgbClr val="00FFA8"/>
                </a:solidFill>
                <a:latin typeface="TT Fors Bold"/>
                <a:ea typeface="TT Fors Bold"/>
                <a:cs typeface="TT Fors Bold"/>
                <a:sym typeface="TT Fors Bold"/>
              </a:rPr>
              <a:t>Detection:</a:t>
            </a:r>
            <a:r>
              <a:rPr lang="en-US" sz="2200" u="none" strike="noStrike" spc="-66">
                <a:solidFill>
                  <a:srgbClr val="00FFA8"/>
                </a:solidFill>
                <a:latin typeface="TT Fors"/>
                <a:ea typeface="TT Fors"/>
                <a:cs typeface="TT Fors"/>
                <a:sym typeface="TT Fors"/>
              </a:rPr>
              <a:t> Microsoft Baseline Security Analyzer can identify RPC-related vulnerabilities</a:t>
            </a:r>
          </a:p>
          <a:p>
            <a:pPr marL="474981" lvl="1" indent="-237491" algn="l">
              <a:lnSpc>
                <a:spcPts val="3300"/>
              </a:lnSpc>
              <a:spcBef>
                <a:spcPct val="0"/>
              </a:spcBef>
              <a:buFont typeface="Arial"/>
              <a:buChar char="•"/>
            </a:pPr>
            <a:r>
              <a:rPr lang="en-US" sz="2200" b="1" u="none" strike="noStrike" spc="-66">
                <a:solidFill>
                  <a:srgbClr val="00FFA8"/>
                </a:solidFill>
                <a:latin typeface="TT Fors Bold"/>
                <a:ea typeface="TT Fors Bold"/>
                <a:cs typeface="TT Fors Bold"/>
                <a:sym typeface="TT Fors Bold"/>
              </a:rPr>
              <a:t>Pass The Hash:</a:t>
            </a:r>
            <a:r>
              <a:rPr lang="en-US" sz="2200" u="none" strike="noStrike" spc="-66">
                <a:solidFill>
                  <a:srgbClr val="00FFA8"/>
                </a:solidFill>
                <a:latin typeface="TT Fors"/>
                <a:ea typeface="TT Fors"/>
                <a:cs typeface="TT Fors"/>
                <a:sym typeface="TT Fors"/>
              </a:rPr>
              <a:t> Vulnerability targeting RPC authentication mechanisms</a:t>
            </a:r>
          </a:p>
        </p:txBody>
      </p:sp>
      <p:sp>
        <p:nvSpPr>
          <p:cNvPr id="13" name="TextBox 13"/>
          <p:cNvSpPr txBox="1"/>
          <p:nvPr/>
        </p:nvSpPr>
        <p:spPr>
          <a:xfrm>
            <a:off x="9499056" y="1683134"/>
            <a:ext cx="8420804" cy="83648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Vulnerable sudo Configurations:</a:t>
            </a:r>
          </a:p>
          <a:p>
            <a:pPr algn="l">
              <a:lnSpc>
                <a:spcPts val="3300"/>
              </a:lnSpc>
            </a:pPr>
            <a:r>
              <a:rPr lang="en-US" sz="2200" spc="-66">
                <a:solidFill>
                  <a:srgbClr val="00FFA8"/>
                </a:solidFill>
                <a:latin typeface="TT Fors"/>
                <a:ea typeface="TT Fors"/>
                <a:cs typeface="TT Fors"/>
                <a:sym typeface="TT Fors"/>
              </a:rPr>
              <a:t>If a user has sudo access to find, vim, awk, or less, they can execute arbitrary commands:</a:t>
            </a:r>
          </a:p>
          <a:p>
            <a:pPr algn="l">
              <a:lnSpc>
                <a:spcPts val="3300"/>
              </a:lnSpc>
            </a:pPr>
            <a:r>
              <a:rPr lang="en-US" sz="2200" b="1" spc="-66">
                <a:solidFill>
                  <a:srgbClr val="00FFA8"/>
                </a:solidFill>
                <a:latin typeface="TT Fors Bold"/>
                <a:ea typeface="TT Fors Bold"/>
                <a:cs typeface="TT Fors Bold"/>
                <a:sym typeface="TT Fors Bold"/>
              </a:rPr>
              <a:t>Use GTFOBins techniques like find:</a:t>
            </a:r>
          </a:p>
          <a:p>
            <a:pPr algn="l">
              <a:lnSpc>
                <a:spcPts val="3300"/>
              </a:lnSpc>
            </a:pPr>
            <a:r>
              <a:rPr lang="en-US" sz="2200" spc="-66">
                <a:solidFill>
                  <a:srgbClr val="FFFFFF"/>
                </a:solidFill>
                <a:latin typeface="TT Fors"/>
                <a:ea typeface="TT Fors"/>
                <a:cs typeface="TT Fors"/>
                <a:sym typeface="TT Fors"/>
              </a:rPr>
              <a:t>sudo find . -exec /bin/sh \;</a:t>
            </a:r>
          </a:p>
          <a:p>
            <a:pPr algn="l">
              <a:lnSpc>
                <a:spcPts val="3300"/>
              </a:lnSpc>
            </a:pPr>
            <a:r>
              <a:rPr lang="en-US" sz="2200" b="1" spc="-66">
                <a:solidFill>
                  <a:srgbClr val="00FFA8"/>
                </a:solidFill>
                <a:latin typeface="TT Fors Bold"/>
                <a:ea typeface="TT Fors Bold"/>
                <a:cs typeface="TT Fors Bold"/>
                <a:sym typeface="TT Fors Bold"/>
              </a:rPr>
              <a:t>vim:</a:t>
            </a:r>
          </a:p>
          <a:p>
            <a:pPr algn="l">
              <a:lnSpc>
                <a:spcPts val="3300"/>
              </a:lnSpc>
            </a:pPr>
            <a:r>
              <a:rPr lang="en-US" sz="2200" spc="-66">
                <a:solidFill>
                  <a:srgbClr val="FFFFFF"/>
                </a:solidFill>
                <a:latin typeface="TT Fors"/>
                <a:ea typeface="TT Fors"/>
                <a:cs typeface="TT Fors"/>
                <a:sym typeface="TT Fors"/>
              </a:rPr>
              <a:t>sudo vim :!/bin/sh</a:t>
            </a:r>
          </a:p>
          <a:p>
            <a:pPr algn="l">
              <a:lnSpc>
                <a:spcPts val="3300"/>
              </a:lnSpc>
            </a:pPr>
            <a:r>
              <a:rPr lang="en-US" sz="2200" spc="-66">
                <a:solidFill>
                  <a:srgbClr val="FFFFFF"/>
                </a:solidFill>
                <a:latin typeface="TT Fors"/>
                <a:ea typeface="TT Fors"/>
                <a:cs typeface="TT Fors"/>
                <a:sym typeface="TT Fors"/>
              </a:rPr>
              <a:t>sudo vim -c ‘!/bin/sh</a:t>
            </a:r>
          </a:p>
          <a:p>
            <a:pPr algn="l">
              <a:lnSpc>
                <a:spcPts val="3300"/>
              </a:lnSpc>
            </a:pPr>
            <a:r>
              <a:rPr lang="en-US" sz="2200" b="1" spc="-66">
                <a:solidFill>
                  <a:srgbClr val="00FFA8"/>
                </a:solidFill>
                <a:latin typeface="TT Fors Bold"/>
                <a:ea typeface="TT Fors Bold"/>
                <a:cs typeface="TT Fors Bold"/>
                <a:sym typeface="TT Fors Bold"/>
              </a:rPr>
              <a:t>awk:</a:t>
            </a:r>
          </a:p>
          <a:p>
            <a:pPr algn="l">
              <a:lnSpc>
                <a:spcPts val="3300"/>
              </a:lnSpc>
            </a:pPr>
            <a:r>
              <a:rPr lang="en-US" sz="2200" spc="-66">
                <a:solidFill>
                  <a:srgbClr val="FFFFFF"/>
                </a:solidFill>
                <a:latin typeface="TT Fors"/>
                <a:ea typeface="TT Fors"/>
                <a:cs typeface="TT Fors"/>
                <a:sym typeface="TT Fors"/>
              </a:rPr>
              <a:t>sudo awk 'BEGIN {system("/bin/sh")}'</a:t>
            </a:r>
          </a:p>
          <a:p>
            <a:pPr algn="l">
              <a:lnSpc>
                <a:spcPts val="3300"/>
              </a:lnSpc>
            </a:pPr>
            <a:r>
              <a:rPr lang="en-US" sz="2200" spc="-66">
                <a:solidFill>
                  <a:srgbClr val="00FFA8"/>
                </a:solidFill>
                <a:latin typeface="TT Fors"/>
                <a:ea typeface="TT Fors"/>
                <a:cs typeface="TT Fors"/>
                <a:sym typeface="TT Fors"/>
              </a:rPr>
              <a:t>l</a:t>
            </a:r>
            <a:r>
              <a:rPr lang="en-US" sz="2200" b="1" spc="-66">
                <a:solidFill>
                  <a:srgbClr val="00FFA8"/>
                </a:solidFill>
                <a:latin typeface="TT Fors Bold"/>
                <a:ea typeface="TT Fors Bold"/>
                <a:cs typeface="TT Fors Bold"/>
                <a:sym typeface="TT Fors Bold"/>
              </a:rPr>
              <a:t>ess:</a:t>
            </a:r>
          </a:p>
          <a:p>
            <a:pPr algn="l">
              <a:lnSpc>
                <a:spcPts val="3300"/>
              </a:lnSpc>
            </a:pPr>
            <a:r>
              <a:rPr lang="en-US" sz="2200" spc="-66">
                <a:solidFill>
                  <a:srgbClr val="FFFFFF"/>
                </a:solidFill>
                <a:latin typeface="TT Fors"/>
                <a:ea typeface="TT Fors"/>
                <a:cs typeface="TT Fors"/>
                <a:sym typeface="TT Fors"/>
              </a:rPr>
              <a:t>sudo less /etc/passwd</a:t>
            </a:r>
          </a:p>
          <a:p>
            <a:pPr algn="l">
              <a:lnSpc>
                <a:spcPts val="3300"/>
              </a:lnSpc>
            </a:pPr>
            <a:r>
              <a:rPr lang="en-US" sz="2200" spc="-66">
                <a:solidFill>
                  <a:srgbClr val="FFFFFF"/>
                </a:solidFill>
                <a:latin typeface="TT Fors"/>
                <a:ea typeface="TT Fors"/>
                <a:cs typeface="TT Fors"/>
                <a:sym typeface="TT Fors"/>
              </a:rPr>
              <a:t>!/bin/sh</a:t>
            </a:r>
          </a:p>
          <a:p>
            <a:pPr algn="l">
              <a:lnSpc>
                <a:spcPts val="3300"/>
              </a:lnSpc>
            </a:pPr>
            <a:endParaRPr lang="en-US" sz="2200" spc="-66">
              <a:solidFill>
                <a:srgbClr val="FFFFFF"/>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Mitigation: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visudo to edit /etc/sudoers safely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Grant sudo access to specific commands only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NOPASSWD sparingly and only for non-sensitive operations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Audit sudoers configuration regularly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Monitor sudo command execution logs</a:t>
            </a:r>
          </a:p>
        </p:txBody>
      </p:sp>
      <p:sp>
        <p:nvSpPr>
          <p:cNvPr id="14" name="Freeform 14"/>
          <p:cNvSpPr/>
          <p:nvPr/>
        </p:nvSpPr>
        <p:spPr>
          <a:xfrm>
            <a:off x="13542166" y="3771080"/>
            <a:ext cx="4079084" cy="1112478"/>
          </a:xfrm>
          <a:custGeom>
            <a:avLst/>
            <a:gdLst/>
            <a:ahLst/>
            <a:cxnLst/>
            <a:rect l="l" t="t" r="r" b="b"/>
            <a:pathLst>
              <a:path w="4079084" h="1112478">
                <a:moveTo>
                  <a:pt x="0" y="0"/>
                </a:moveTo>
                <a:lnTo>
                  <a:pt x="4079084" y="0"/>
                </a:lnTo>
                <a:lnTo>
                  <a:pt x="4079084" y="1112477"/>
                </a:lnTo>
                <a:lnTo>
                  <a:pt x="0" y="1112477"/>
                </a:lnTo>
                <a:lnTo>
                  <a:pt x="0" y="0"/>
                </a:lnTo>
                <a:close/>
              </a:path>
            </a:pathLst>
          </a:custGeom>
          <a:blipFill>
            <a:blip r:embed="rId6"/>
            <a:stretch>
              <a:fillRect/>
            </a:stretch>
          </a:blipFill>
          <a:ln cap="sq">
            <a:noFill/>
            <a:prstDash val="solid"/>
            <a:miter/>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Linux Operating System Vulnerabilities (Cont’d)</a:t>
            </a:r>
          </a:p>
        </p:txBody>
      </p:sp>
      <p:sp>
        <p:nvSpPr>
          <p:cNvPr id="12" name="TextBox 12"/>
          <p:cNvSpPr txBox="1"/>
          <p:nvPr/>
        </p:nvSpPr>
        <p:spPr>
          <a:xfrm>
            <a:off x="666750" y="1683134"/>
            <a:ext cx="7920541" cy="8004810"/>
          </a:xfrm>
          <a:prstGeom prst="rect">
            <a:avLst/>
          </a:prstGeom>
        </p:spPr>
        <p:txBody>
          <a:bodyPr lIns="0" tIns="0" rIns="0" bIns="0" rtlCol="0" anchor="t">
            <a:spAutoFit/>
          </a:bodyPr>
          <a:lstStyle/>
          <a:p>
            <a:pPr algn="l">
              <a:lnSpc>
                <a:spcPts val="3899"/>
              </a:lnSpc>
              <a:spcBef>
                <a:spcPct val="0"/>
              </a:spcBef>
            </a:pPr>
            <a:r>
              <a:rPr lang="en-US" sz="2599" b="1" u="none" strike="noStrike" spc="-77">
                <a:solidFill>
                  <a:srgbClr val="00FFA8"/>
                </a:solidFill>
                <a:latin typeface="TT Fors Bold"/>
                <a:ea typeface="TT Fors Bold"/>
                <a:cs typeface="TT Fors Bold"/>
                <a:sym typeface="TT Fors Bold"/>
              </a:rPr>
              <a:t>3.4 Stored Passwords and Credential Exposure</a:t>
            </a: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Plaintext Password Storage:</a:t>
            </a:r>
          </a:p>
          <a:p>
            <a:pPr algn="l">
              <a:lnSpc>
                <a:spcPts val="3300"/>
              </a:lnSpc>
              <a:spcBef>
                <a:spcPct val="0"/>
              </a:spcBef>
            </a:pPr>
            <a:r>
              <a:rPr lang="en-US" sz="2200" u="none" strike="noStrike" spc="-66">
                <a:solidFill>
                  <a:srgbClr val="00FFA8"/>
                </a:solidFill>
                <a:latin typeface="TT Fors"/>
                <a:ea typeface="TT Fors"/>
                <a:cs typeface="TT Fors"/>
                <a:sym typeface="TT Fors"/>
              </a:rPr>
              <a:t>Administrators sometimes hardcode credentials in shell scripts for automation:</a:t>
            </a:r>
          </a:p>
          <a:p>
            <a:pPr algn="l">
              <a:lnSpc>
                <a:spcPts val="3300"/>
              </a:lnSpc>
              <a:spcBef>
                <a:spcPct val="0"/>
              </a:spcBef>
            </a:pPr>
            <a:r>
              <a:rPr lang="en-US" sz="2200" u="none" strike="noStrike" spc="-66">
                <a:solidFill>
                  <a:srgbClr val="FFFFFF"/>
                </a:solidFill>
                <a:latin typeface="TT Fors"/>
                <a:ea typeface="TT Fors"/>
                <a:cs typeface="TT Fors"/>
                <a:sym typeface="TT Fors"/>
              </a:rPr>
              <a:t>mysql -u admin -p adminpassword</a:t>
            </a:r>
          </a:p>
          <a:p>
            <a:pPr algn="l">
              <a:lnSpc>
                <a:spcPts val="3300"/>
              </a:lnSpc>
              <a:spcBef>
                <a:spcPct val="0"/>
              </a:spcBef>
            </a:pPr>
            <a:endParaRPr lang="en-US" sz="2200" u="none" strike="noStrike" spc="-66">
              <a:solidFill>
                <a:srgbClr val="FFFFFF"/>
              </a:solidFill>
              <a:latin typeface="TT Fors"/>
              <a:ea typeface="TT Fors"/>
              <a:cs typeface="TT Fors"/>
              <a:sym typeface="TT Fors"/>
            </a:endParaRP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bash_history Exposure:</a:t>
            </a:r>
          </a:p>
          <a:p>
            <a:pPr algn="l">
              <a:lnSpc>
                <a:spcPts val="3300"/>
              </a:lnSpc>
              <a:spcBef>
                <a:spcPct val="0"/>
              </a:spcBef>
            </a:pPr>
            <a:r>
              <a:rPr lang="en-US" sz="2200" u="none" strike="noStrike" spc="-66">
                <a:solidFill>
                  <a:srgbClr val="00FFA8"/>
                </a:solidFill>
                <a:latin typeface="TT Fors"/>
                <a:ea typeface="TT Fors"/>
                <a:cs typeface="TT Fors"/>
                <a:sym typeface="TT Fors"/>
              </a:rPr>
              <a:t>The </a:t>
            </a:r>
            <a:r>
              <a:rPr lang="en-US" sz="2200" u="none" strike="noStrike" spc="-66">
                <a:solidFill>
                  <a:srgbClr val="FFFFFF"/>
                </a:solidFill>
                <a:latin typeface="TT Fors"/>
                <a:ea typeface="TT Fors"/>
                <a:cs typeface="TT Fors"/>
                <a:sym typeface="TT Fors"/>
              </a:rPr>
              <a:t>~/.bash_history</a:t>
            </a:r>
            <a:r>
              <a:rPr lang="en-US" sz="2200" u="none" strike="noStrike" spc="-66">
                <a:solidFill>
                  <a:srgbClr val="00FFA8"/>
                </a:solidFill>
                <a:latin typeface="TT Fors"/>
                <a:ea typeface="TT Fors"/>
                <a:cs typeface="TT Fors"/>
                <a:sym typeface="TT Fors"/>
              </a:rPr>
              <a:t> file contains command history and may expose passwords if an administrator accidentally types them. Common scenario: an admin intends to enter the password interactively but mistypes </a:t>
            </a:r>
            <a:r>
              <a:rPr lang="en-US" sz="2200" u="none" strike="noStrike" spc="-66">
                <a:solidFill>
                  <a:srgbClr val="FFFFFF"/>
                </a:solidFill>
                <a:latin typeface="TT Fors"/>
                <a:ea typeface="TT Fors"/>
                <a:cs typeface="TT Fors"/>
                <a:sym typeface="TT Fors"/>
              </a:rPr>
              <a:t>sudo</a:t>
            </a:r>
            <a:r>
              <a:rPr lang="en-US" sz="2200" u="none" strike="noStrike" spc="-66">
                <a:solidFill>
                  <a:srgbClr val="00FFA8"/>
                </a:solidFill>
                <a:latin typeface="TT Fors"/>
                <a:ea typeface="TT Fors"/>
                <a:cs typeface="TT Fors"/>
                <a:sym typeface="TT Fors"/>
              </a:rPr>
              <a:t> as </a:t>
            </a:r>
            <a:r>
              <a:rPr lang="en-US" sz="2200" u="none" strike="noStrike" spc="-66">
                <a:solidFill>
                  <a:srgbClr val="FFFFFF"/>
                </a:solidFill>
                <a:latin typeface="TT Fors"/>
                <a:ea typeface="TT Fors"/>
                <a:cs typeface="TT Fors"/>
                <a:sym typeface="TT Fors"/>
              </a:rPr>
              <a:t>sdo</a:t>
            </a:r>
            <a:r>
              <a:rPr lang="en-US" sz="2200" u="none" strike="noStrike" spc="-66">
                <a:solidFill>
                  <a:srgbClr val="00FFA8"/>
                </a:solidFill>
                <a:latin typeface="TT Fors"/>
                <a:ea typeface="TT Fors"/>
                <a:cs typeface="TT Fors"/>
                <a:sym typeface="TT Fors"/>
              </a:rPr>
              <a:t> and quickly enters it without looking at the screen.</a:t>
            </a:r>
          </a:p>
          <a:p>
            <a:pPr algn="l">
              <a:lnSpc>
                <a:spcPts val="3300"/>
              </a:lnSpc>
              <a:spcBef>
                <a:spcPct val="0"/>
              </a:spcBef>
            </a:pPr>
            <a:endParaRPr lang="en-US" sz="2200" u="none" strike="noStrike" spc="-66">
              <a:solidFill>
                <a:srgbClr val="00FFA8"/>
              </a:solidFill>
              <a:latin typeface="TT Fors"/>
              <a:ea typeface="TT Fors"/>
              <a:cs typeface="TT Fors"/>
              <a:sym typeface="TT Fors"/>
            </a:endParaRPr>
          </a:p>
          <a:p>
            <a:pPr algn="l">
              <a:lnSpc>
                <a:spcPts val="3300"/>
              </a:lnSpc>
              <a:spcBef>
                <a:spcPct val="0"/>
              </a:spcBef>
            </a:pPr>
            <a:r>
              <a:rPr lang="en-US" sz="2200" b="1" u="none" strike="noStrike" spc="-66">
                <a:solidFill>
                  <a:srgbClr val="00FFA8"/>
                </a:solidFill>
                <a:latin typeface="TT Fors Bold"/>
                <a:ea typeface="TT Fors Bold"/>
                <a:cs typeface="TT Fors Bold"/>
                <a:sym typeface="TT Fors Bold"/>
              </a:rPr>
              <a:t>Common Password Vulnerabilities:</a:t>
            </a:r>
          </a:p>
          <a:p>
            <a:pPr marL="474981" lvl="1" indent="-237491" algn="l">
              <a:lnSpc>
                <a:spcPts val="3300"/>
              </a:lnSpc>
              <a:spcBef>
                <a:spcPct val="0"/>
              </a:spcBef>
              <a:buFont typeface="Arial"/>
              <a:buChar char="•"/>
            </a:pPr>
            <a:r>
              <a:rPr lang="en-US" sz="2200" u="none" strike="noStrike" spc="-66">
                <a:solidFill>
                  <a:srgbClr val="00FFA8"/>
                </a:solidFill>
                <a:latin typeface="TT Fors"/>
                <a:ea typeface="TT Fors"/>
                <a:cs typeface="TT Fors"/>
                <a:sym typeface="TT Fors"/>
              </a:rPr>
              <a:t>Passwords stored in plaintext in configuration files</a:t>
            </a:r>
          </a:p>
          <a:p>
            <a:pPr marL="474981" lvl="1" indent="-237491" algn="l">
              <a:lnSpc>
                <a:spcPts val="3300"/>
              </a:lnSpc>
              <a:spcBef>
                <a:spcPct val="0"/>
              </a:spcBef>
              <a:buFont typeface="Arial"/>
              <a:buChar char="•"/>
            </a:pPr>
            <a:r>
              <a:rPr lang="en-US" sz="2200" u="none" strike="noStrike" spc="-66">
                <a:solidFill>
                  <a:srgbClr val="00FFA8"/>
                </a:solidFill>
                <a:latin typeface="TT Fors"/>
                <a:ea typeface="TT Fors"/>
                <a:cs typeface="TT Fors"/>
                <a:sym typeface="TT Fors"/>
              </a:rPr>
              <a:t>Passwords in script files with improper permissions</a:t>
            </a:r>
          </a:p>
          <a:p>
            <a:pPr marL="474981" lvl="1" indent="-237491" algn="l">
              <a:lnSpc>
                <a:spcPts val="3300"/>
              </a:lnSpc>
              <a:spcBef>
                <a:spcPct val="0"/>
              </a:spcBef>
              <a:buFont typeface="Arial"/>
              <a:buChar char="•"/>
            </a:pPr>
            <a:r>
              <a:rPr lang="en-US" sz="2200" u="none" strike="noStrike" spc="-66">
                <a:solidFill>
                  <a:srgbClr val="00FFA8"/>
                </a:solidFill>
                <a:latin typeface="TT Fors"/>
                <a:ea typeface="TT Fors"/>
                <a:cs typeface="TT Fors"/>
                <a:sym typeface="TT Fors"/>
              </a:rPr>
              <a:t>Passwords in command history files</a:t>
            </a:r>
          </a:p>
          <a:p>
            <a:pPr marL="474981" lvl="1" indent="-237491" algn="l">
              <a:lnSpc>
                <a:spcPts val="3300"/>
              </a:lnSpc>
              <a:spcBef>
                <a:spcPct val="0"/>
              </a:spcBef>
              <a:buFont typeface="Arial"/>
              <a:buChar char="•"/>
            </a:pPr>
            <a:r>
              <a:rPr lang="en-US" sz="2200" u="none" strike="noStrike" spc="-66">
                <a:solidFill>
                  <a:srgbClr val="00FFA8"/>
                </a:solidFill>
                <a:latin typeface="TT Fors"/>
                <a:ea typeface="TT Fors"/>
                <a:cs typeface="TT Fors"/>
                <a:sym typeface="TT Fors"/>
              </a:rPr>
              <a:t>Default or blank passwords in SQL Server (SQL Server versions prior to 2005 had blank SA passwords by default)</a:t>
            </a:r>
          </a:p>
        </p:txBody>
      </p:sp>
      <p:sp>
        <p:nvSpPr>
          <p:cNvPr id="13" name="TextBox 13"/>
          <p:cNvSpPr txBox="1"/>
          <p:nvPr/>
        </p:nvSpPr>
        <p:spPr>
          <a:xfrm>
            <a:off x="8587291" y="1683134"/>
            <a:ext cx="9237864" cy="83648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SQL Server Specific Risks: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Null System Administrator (SA) password is the most critical vulnerability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SA access through an account with a blank password gives attackers administrative database access</a:t>
            </a:r>
          </a:p>
          <a:p>
            <a:pPr algn="l">
              <a:lnSpc>
                <a:spcPts val="3300"/>
              </a:lnSpc>
            </a:pPr>
            <a:r>
              <a:rPr lang="en-US" sz="2200" b="1" spc="-66">
                <a:solidFill>
                  <a:srgbClr val="00FFA8"/>
                </a:solidFill>
                <a:latin typeface="TT Fors Bold"/>
                <a:ea typeface="TT Fors Bold"/>
                <a:cs typeface="TT Fors Bold"/>
                <a:sym typeface="TT Fors Bold"/>
              </a:rPr>
              <a:t>Buffer Overflow 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Data written to the buffer corrupts adjacent memory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Occurs when copying strings without bound checking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 and C++ lack built-in protection against memory overwriting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Can lead to arbitrary code execution with service privileges</a:t>
            </a:r>
          </a:p>
          <a:p>
            <a:pPr algn="l">
              <a:lnSpc>
                <a:spcPts val="3300"/>
              </a:lnSpc>
            </a:pPr>
            <a:r>
              <a:rPr lang="en-US" sz="2200" b="1" spc="-66">
                <a:solidFill>
                  <a:srgbClr val="00FFA8"/>
                </a:solidFill>
                <a:latin typeface="TT Fors Bold"/>
                <a:ea typeface="TT Fors Bold"/>
                <a:cs typeface="TT Fors Bold"/>
                <a:sym typeface="TT Fors Bold"/>
              </a:rPr>
              <a:t>Mitigation: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credential vaults (HashiCorp Vault, AWS Secrets Manager)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Implement environment variables for sensitive data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Restrict bash_history permissions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Disable command history for sensitive operations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SSH keys instead of passwords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Implement password managers for automation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Enforce strong password policies with a minimum 8 characters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Require complex passwords (not dictionary words, common terms)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Implement account lockout thresholds and durations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Disable LM Hashes in Windows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Embedded Operating System Vulnerabilities</a:t>
            </a:r>
          </a:p>
        </p:txBody>
      </p:sp>
      <p:sp>
        <p:nvSpPr>
          <p:cNvPr id="12" name="TextBox 12"/>
          <p:cNvSpPr txBox="1"/>
          <p:nvPr/>
        </p:nvSpPr>
        <p:spPr>
          <a:xfrm>
            <a:off x="666750" y="1672590"/>
            <a:ext cx="8846232" cy="63284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4.1 What Are Embedded Operating Systems?</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Embedded Systems: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Any computer system that isn't a general-purpose PC or server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Examples: ATMs, GPS devices, routers, smart thermostats, medical devices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critical to infrastructure and daily operations</a:t>
            </a:r>
          </a:p>
          <a:p>
            <a:pPr algn="l">
              <a:lnSpc>
                <a:spcPts val="3300"/>
              </a:lnSpc>
            </a:pPr>
            <a:r>
              <a:rPr lang="en-US" sz="2200" b="1" spc="-66">
                <a:solidFill>
                  <a:srgbClr val="00FFA8"/>
                </a:solidFill>
                <a:latin typeface="TT Fors Bold"/>
                <a:ea typeface="TT Fors Bold"/>
                <a:cs typeface="TT Fors Bold"/>
                <a:sym typeface="TT Fors Bold"/>
              </a:rPr>
              <a:t>Embedded Operating Systems: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Small, efficient programs designed for embedded systems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Customized for specific functionality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Examples: Windows Embedded, VxWorks, QNX, RTLinux, OpenWrt</a:t>
            </a:r>
          </a:p>
          <a:p>
            <a:pPr algn="l">
              <a:lnSpc>
                <a:spcPts val="3300"/>
              </a:lnSpc>
            </a:pPr>
            <a:r>
              <a:rPr lang="en-US" sz="2200" b="1" spc="-66">
                <a:solidFill>
                  <a:srgbClr val="00FFA8"/>
                </a:solidFill>
                <a:latin typeface="TT Fors Bold"/>
                <a:ea typeface="TT Fors Bold"/>
                <a:cs typeface="TT Fors Bold"/>
                <a:sym typeface="TT Fors Bold"/>
              </a:rPr>
              <a:t>Real-Time Operating Systems (RTOS):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Guarantee predictable response times</a:t>
            </a:r>
          </a:p>
          <a:p>
            <a:pPr marL="474981" lvl="1" indent="-237491" algn="l">
              <a:lnSpc>
                <a:spcPts val="3300"/>
              </a:lnSpc>
              <a:spcBef>
                <a:spcPct val="0"/>
              </a:spcBef>
              <a:buFont typeface="Arial"/>
              <a:buChar char="•"/>
            </a:pPr>
            <a:r>
              <a:rPr lang="en-US" sz="2200" spc="-66">
                <a:solidFill>
                  <a:srgbClr val="00FFA8"/>
                </a:solidFill>
                <a:latin typeface="TT Fors"/>
                <a:ea typeface="TT Fors"/>
                <a:cs typeface="TT Fors"/>
                <a:sym typeface="TT Fors"/>
              </a:rPr>
              <a:t>Used in time-critical applications: aerospace, medical devices, industrial control</a:t>
            </a:r>
          </a:p>
        </p:txBody>
      </p:sp>
      <p:sp>
        <p:nvSpPr>
          <p:cNvPr id="13" name="TextBox 13"/>
          <p:cNvSpPr txBox="1"/>
          <p:nvPr/>
        </p:nvSpPr>
        <p:spPr>
          <a:xfrm>
            <a:off x="9676213" y="1672590"/>
            <a:ext cx="7945037" cy="75857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4.2 Embedded OS Types and Examples</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Windows Embedded: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Windows Embedded Standard (based on Windows 7)</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Windows Embedded Enterprise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Windows IoT</a:t>
            </a:r>
          </a:p>
          <a:p>
            <a:pPr algn="l">
              <a:lnSpc>
                <a:spcPts val="3300"/>
              </a:lnSpc>
            </a:pPr>
            <a:r>
              <a:rPr lang="en-US" sz="2200" b="1" spc="-66">
                <a:solidFill>
                  <a:srgbClr val="00FFA8"/>
                </a:solidFill>
                <a:latin typeface="TT Fors Bold"/>
                <a:ea typeface="TT Fors Bold"/>
                <a:cs typeface="TT Fors Bold"/>
                <a:sym typeface="TT Fors Bold"/>
              </a:rPr>
              <a:t>Proprietary Embedded OSs: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VxWorks: </a:t>
            </a:r>
            <a:r>
              <a:rPr lang="en-US" sz="2200" spc="-66">
                <a:solidFill>
                  <a:srgbClr val="00FFA8"/>
                </a:solidFill>
                <a:latin typeface="TT Fors"/>
                <a:ea typeface="TT Fors"/>
                <a:cs typeface="TT Fors"/>
                <a:sym typeface="TT Fors"/>
              </a:rPr>
              <a:t>Used in aerospace, defense, and medical devices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Green Hills Software: </a:t>
            </a:r>
            <a:r>
              <a:rPr lang="en-US" sz="2200" spc="-66">
                <a:solidFill>
                  <a:srgbClr val="00FFA8"/>
                </a:solidFill>
                <a:latin typeface="TT Fors"/>
                <a:ea typeface="TT Fors"/>
                <a:cs typeface="TT Fors"/>
                <a:sym typeface="TT Fors"/>
              </a:rPr>
              <a:t>F-35 Joint Strike Fighter, routers, switches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QNX:</a:t>
            </a:r>
            <a:r>
              <a:rPr lang="en-US" sz="2200" spc="-66">
                <a:solidFill>
                  <a:srgbClr val="00FFA8"/>
                </a:solidFill>
                <a:latin typeface="TT Fors"/>
                <a:ea typeface="TT Fors"/>
                <a:cs typeface="TT Fors"/>
                <a:sym typeface="TT Fors"/>
              </a:rPr>
              <a:t> Cisco routers, Logitech remotes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RTEMS: </a:t>
            </a:r>
            <a:r>
              <a:rPr lang="en-US" sz="2200" spc="-66">
                <a:solidFill>
                  <a:srgbClr val="00FFA8"/>
                </a:solidFill>
                <a:latin typeface="TT Fors"/>
                <a:ea typeface="TT Fors"/>
                <a:cs typeface="TT Fors"/>
                <a:sym typeface="TT Fors"/>
              </a:rPr>
              <a:t>Open-source, used in space systems</a:t>
            </a:r>
          </a:p>
          <a:p>
            <a:pPr algn="l">
              <a:lnSpc>
                <a:spcPts val="3300"/>
              </a:lnSpc>
            </a:pPr>
            <a:r>
              <a:rPr lang="en-US" sz="2200" b="1" spc="-66">
                <a:solidFill>
                  <a:srgbClr val="00FFA8"/>
                </a:solidFill>
                <a:latin typeface="TT Fors Bold"/>
                <a:ea typeface="TT Fors Bold"/>
                <a:cs typeface="TT Fors Bold"/>
                <a:sym typeface="TT Fors Bold"/>
              </a:rPr>
              <a:t>Linux-Based Embedded:</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Embedded Linux: </a:t>
            </a:r>
            <a:r>
              <a:rPr lang="en-US" sz="2200" spc="-66">
                <a:solidFill>
                  <a:srgbClr val="00FFA8"/>
                </a:solidFill>
                <a:latin typeface="TT Fors"/>
                <a:ea typeface="TT Fors"/>
                <a:cs typeface="TT Fors"/>
                <a:sym typeface="TT Fors"/>
              </a:rPr>
              <a:t>Industrial, medical, consumer devices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RTLinux:</a:t>
            </a:r>
            <a:r>
              <a:rPr lang="en-US" sz="2200" spc="-66">
                <a:solidFill>
                  <a:srgbClr val="00FFA8"/>
                </a:solidFill>
                <a:latin typeface="TT Fors"/>
                <a:ea typeface="TT Fors"/>
                <a:cs typeface="TT Fors"/>
                <a:sym typeface="TT Fors"/>
              </a:rPr>
              <a:t> Monolithic kernel extension for real-time requirements</a:t>
            </a:r>
          </a:p>
          <a:p>
            <a:pPr marL="474981" lvl="1" indent="-237491" algn="l">
              <a:lnSpc>
                <a:spcPts val="3300"/>
              </a:lnSpc>
              <a:spcBef>
                <a:spcPct val="0"/>
              </a:spcBef>
              <a:buFont typeface="Arial"/>
              <a:buChar char="•"/>
            </a:pPr>
            <a:r>
              <a:rPr lang="en-US" sz="2200" b="1" spc="-66">
                <a:solidFill>
                  <a:srgbClr val="00FFA8"/>
                </a:solidFill>
                <a:latin typeface="TT Fors Bold"/>
                <a:ea typeface="TT Fors Bold"/>
                <a:cs typeface="TT Fors Bold"/>
                <a:sym typeface="TT Fors Bold"/>
              </a:rPr>
              <a:t>OpenWrt/dd-wrt: </a:t>
            </a:r>
            <a:r>
              <a:rPr lang="en-US" sz="2200" spc="-66">
                <a:solidFill>
                  <a:srgbClr val="00FFA8"/>
                </a:solidFill>
                <a:latin typeface="TT Fors"/>
                <a:ea typeface="TT Fors"/>
                <a:cs typeface="TT Fors"/>
                <a:sym typeface="TT Fors"/>
              </a:rPr>
              <a:t>Networking devices (Linksys WRT54G routers)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Embedded Operating System Vulnerabilities (Cont’d)</a:t>
            </a:r>
          </a:p>
        </p:txBody>
      </p:sp>
      <p:sp>
        <p:nvSpPr>
          <p:cNvPr id="12" name="TextBox 12"/>
          <p:cNvSpPr txBox="1"/>
          <p:nvPr/>
        </p:nvSpPr>
        <p:spPr>
          <a:xfrm>
            <a:off x="666750" y="1331595"/>
            <a:ext cx="9519109" cy="75857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4.3 Critical Vulnerabilities in Embedded Systems (Cont’d)</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Network Peripherals as Attack Vectors</a:t>
            </a:r>
          </a:p>
          <a:p>
            <a:pPr algn="l">
              <a:lnSpc>
                <a:spcPts val="3300"/>
              </a:lnSpc>
            </a:pPr>
            <a:endParaRPr lang="en-US" sz="2200" b="1" spc="-66">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Multifunction Devices (MFDs) - </a:t>
            </a:r>
            <a:r>
              <a:rPr lang="en-US" sz="2200" spc="-66">
                <a:solidFill>
                  <a:srgbClr val="00FFA8"/>
                </a:solidFill>
                <a:latin typeface="TT Fors"/>
                <a:ea typeface="TT Fors"/>
                <a:cs typeface="TT Fors"/>
                <a:sym typeface="TT Fors"/>
              </a:rPr>
              <a:t>printers, scanners, copiers, fax machines: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Rarely scanned for security 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not configured for 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Contain stored sensitive information (print jobs, scanned documents)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Information susceptible to theft and modification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May store credentials for network access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Exploitation: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Extract stored print jobs to obtain confidential information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a compromised device as a gateway into secure networks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Alter printer output to inject malicious links targeting user desktops</a:t>
            </a:r>
          </a:p>
          <a:p>
            <a:pPr marL="474981" lvl="1" indent="-237491" algn="l">
              <a:lnSpc>
                <a:spcPts val="3300"/>
              </a:lnSpc>
              <a:spcBef>
                <a:spcPct val="0"/>
              </a:spcBef>
              <a:buFont typeface="Arial"/>
              <a:buChar char="•"/>
            </a:pPr>
            <a:r>
              <a:rPr lang="en-US" sz="2200" spc="-66">
                <a:solidFill>
                  <a:srgbClr val="00FFA8"/>
                </a:solidFill>
                <a:latin typeface="TT Fors"/>
                <a:ea typeface="TT Fors"/>
                <a:cs typeface="TT Fors"/>
                <a:sym typeface="TT Fors"/>
              </a:rPr>
              <a:t>Social engineering techniques to gain administrative access</a:t>
            </a:r>
          </a:p>
        </p:txBody>
      </p:sp>
      <p:sp>
        <p:nvSpPr>
          <p:cNvPr id="13" name="TextBox 13"/>
          <p:cNvSpPr txBox="1"/>
          <p:nvPr/>
        </p:nvSpPr>
        <p:spPr>
          <a:xfrm>
            <a:off x="10574235" y="2182634"/>
            <a:ext cx="7047015" cy="37547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Cell Phones and Smartphones 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Attackers listening to phone calls (if using vulnerable protocols)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Using phone as a microphone for eavesdropping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Phone cloning to make fraudulent calls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Extracting information for computer/network access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Stealing trade secrets or national security information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Java-based phone viruses</a:t>
            </a:r>
          </a:p>
          <a:p>
            <a:pPr marL="474981" lvl="1" indent="-237491" algn="l">
              <a:lnSpc>
                <a:spcPts val="3300"/>
              </a:lnSpc>
              <a:spcBef>
                <a:spcPct val="0"/>
              </a:spcBef>
              <a:buFont typeface="Arial"/>
              <a:buChar char="•"/>
            </a:pPr>
            <a:r>
              <a:rPr lang="en-US" sz="2200" spc="-66">
                <a:solidFill>
                  <a:srgbClr val="00FFA8"/>
                </a:solidFill>
                <a:latin typeface="TT Fors"/>
                <a:ea typeface="TT Fors"/>
                <a:cs typeface="TT Fors"/>
                <a:sym typeface="TT Fors"/>
              </a:rPr>
              <a:t>Cell phone rootkits for persistent compromise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Embedded Operating System Vulnerabilities (Cont’d)</a:t>
            </a:r>
          </a:p>
        </p:txBody>
      </p:sp>
      <p:sp>
        <p:nvSpPr>
          <p:cNvPr id="12" name="TextBox 12"/>
          <p:cNvSpPr txBox="1"/>
          <p:nvPr/>
        </p:nvSpPr>
        <p:spPr>
          <a:xfrm>
            <a:off x="666750" y="1630205"/>
            <a:ext cx="16954500" cy="59093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4.4 Rootkits in Embedded Systems</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Rootkit Definition: </a:t>
            </a:r>
            <a:r>
              <a:rPr lang="en-US" sz="2200" spc="-66">
                <a:solidFill>
                  <a:srgbClr val="00FFA8"/>
                </a:solidFill>
                <a:latin typeface="TT Fors"/>
                <a:ea typeface="TT Fors"/>
                <a:cs typeface="TT Fors"/>
                <a:sym typeface="TT Fors"/>
              </a:rPr>
              <a:t>Malicious software that modifies OS parts or installs as kernel modules, drivers, libraries, or applications.</a:t>
            </a:r>
          </a:p>
          <a:p>
            <a:pPr algn="l">
              <a:lnSpc>
                <a:spcPts val="3300"/>
              </a:lnSpc>
            </a:pPr>
            <a:r>
              <a:rPr lang="en-US" sz="2200" b="1" spc="-66">
                <a:solidFill>
                  <a:srgbClr val="00FFA8"/>
                </a:solidFill>
                <a:latin typeface="TT Fors Bold"/>
                <a:ea typeface="TT Fors Bold"/>
                <a:cs typeface="TT Fors Bold"/>
                <a:sym typeface="TT Fors Bold"/>
              </a:rPr>
              <a:t>Rootkit Persistence: </a:t>
            </a:r>
            <a:r>
              <a:rPr lang="en-US" sz="2200" spc="-66">
                <a:solidFill>
                  <a:srgbClr val="00FFA8"/>
                </a:solidFill>
                <a:latin typeface="TT Fors"/>
                <a:ea typeface="TT Fors"/>
                <a:cs typeface="TT Fors"/>
                <a:sym typeface="TT Fors"/>
              </a:rPr>
              <a:t>Survive system reboots and evade detection mechanisms.</a:t>
            </a:r>
          </a:p>
          <a:p>
            <a:pPr algn="l">
              <a:lnSpc>
                <a:spcPts val="3300"/>
              </a:lnSpc>
            </a:pPr>
            <a:r>
              <a:rPr lang="en-US" sz="2200" b="1" spc="-66">
                <a:solidFill>
                  <a:srgbClr val="00FFA8"/>
                </a:solidFill>
                <a:latin typeface="TT Fors Bold"/>
                <a:ea typeface="TT Fors Bold"/>
                <a:cs typeface="TT Fors Bold"/>
                <a:sym typeface="TT Fors Bold"/>
              </a:rPr>
              <a:t>Embedded System Risk: </a:t>
            </a:r>
            <a:r>
              <a:rPr lang="en-US" sz="2200" spc="-66">
                <a:solidFill>
                  <a:srgbClr val="00FFA8"/>
                </a:solidFill>
                <a:latin typeface="TT Fors"/>
                <a:ea typeface="TT Fors"/>
                <a:cs typeface="TT Fors"/>
                <a:sym typeface="TT Fors"/>
              </a:rPr>
              <a:t>Embedded devices may be compromised during manufacturing before reaching customers. Firmware-level infections are particularly dangerous.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Detection Difficulty: </a:t>
            </a:r>
            <a:r>
              <a:rPr lang="en-US" sz="2200" spc="-66">
                <a:solidFill>
                  <a:srgbClr val="00FFA8"/>
                </a:solidFill>
                <a:latin typeface="TT Fors"/>
                <a:ea typeface="TT Fors"/>
                <a:cs typeface="TT Fors"/>
                <a:sym typeface="TT Fors"/>
              </a:rPr>
              <a:t>Rootkits that control the OS kernel can evade detection by traditional tools.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Remediation: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Flash (rewrite) BIOS/firmware to remove kernel-level malware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Wipe the hard drive completely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Reload a clean operating system</a:t>
            </a:r>
          </a:p>
          <a:p>
            <a:pPr marL="474981" lvl="1" indent="-237491" algn="l">
              <a:lnSpc>
                <a:spcPts val="3300"/>
              </a:lnSpc>
              <a:spcBef>
                <a:spcPct val="0"/>
              </a:spcBef>
              <a:buFont typeface="Arial"/>
              <a:buChar char="•"/>
            </a:pPr>
            <a:r>
              <a:rPr lang="en-US" sz="2200" spc="-66">
                <a:solidFill>
                  <a:srgbClr val="00FFA8"/>
                </a:solidFill>
                <a:latin typeface="TT Fors"/>
                <a:ea typeface="TT Fors"/>
                <a:cs typeface="TT Fors"/>
                <a:sym typeface="TT Fors"/>
              </a:rPr>
              <a:t>Time-consuming and expensive process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Freeform 2"/>
          <p:cNvSpPr/>
          <p:nvPr/>
        </p:nvSpPr>
        <p:spPr>
          <a:xfrm>
            <a:off x="2819400" y="750181"/>
            <a:ext cx="12649200" cy="8786638"/>
          </a:xfrm>
          <a:custGeom>
            <a:avLst/>
            <a:gdLst/>
            <a:ahLst/>
            <a:cxnLst/>
            <a:rect l="l" t="t" r="r" b="b"/>
            <a:pathLst>
              <a:path w="10667734" h="7410231">
                <a:moveTo>
                  <a:pt x="0" y="0"/>
                </a:moveTo>
                <a:lnTo>
                  <a:pt x="10667734" y="0"/>
                </a:lnTo>
                <a:lnTo>
                  <a:pt x="10667734" y="7410232"/>
                </a:lnTo>
                <a:lnTo>
                  <a:pt x="0" y="7410232"/>
                </a:lnTo>
                <a:lnTo>
                  <a:pt x="0" y="0"/>
                </a:lnTo>
                <a:close/>
              </a:path>
            </a:pathLst>
          </a:custGeom>
          <a:blipFill>
            <a:blip r:embed="rId3"/>
            <a:stretch>
              <a:fillRect t="-3415" b="-3415"/>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6115522" y="381000"/>
            <a:ext cx="1505728" cy="810556"/>
            <a:chOff x="0" y="0"/>
            <a:chExt cx="2007638" cy="1080741"/>
          </a:xfrm>
        </p:grpSpPr>
        <p:grpSp>
          <p:nvGrpSpPr>
            <p:cNvPr id="3" name="Group 3"/>
            <p:cNvGrpSpPr/>
            <p:nvPr/>
          </p:nvGrpSpPr>
          <p:grpSpPr>
            <a:xfrm>
              <a:off x="0" y="0"/>
              <a:ext cx="1080741" cy="10807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5" name="TextBox 5"/>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6" name="Group 6"/>
            <p:cNvGrpSpPr/>
            <p:nvPr/>
          </p:nvGrpSpPr>
          <p:grpSpPr>
            <a:xfrm>
              <a:off x="926897"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9" name="Freeform 9"/>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0" name="Freeform 10"/>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TextBox 11"/>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Best Practices for Hardening Operating Systems</a:t>
            </a:r>
          </a:p>
        </p:txBody>
      </p:sp>
      <p:sp>
        <p:nvSpPr>
          <p:cNvPr id="12" name="TextBox 12"/>
          <p:cNvSpPr txBox="1"/>
          <p:nvPr/>
        </p:nvSpPr>
        <p:spPr>
          <a:xfrm>
            <a:off x="666750" y="1698832"/>
            <a:ext cx="8160434" cy="8088629"/>
          </a:xfrm>
          <a:prstGeom prst="rect">
            <a:avLst/>
          </a:prstGeom>
        </p:spPr>
        <p:txBody>
          <a:bodyPr lIns="0" tIns="0" rIns="0" bIns="0" rtlCol="0" anchor="t">
            <a:spAutoFit/>
          </a:bodyPr>
          <a:lstStyle/>
          <a:p>
            <a:pPr algn="l">
              <a:lnSpc>
                <a:spcPts val="2550"/>
              </a:lnSpc>
            </a:pPr>
            <a:r>
              <a:rPr lang="en-US" sz="1700" b="1" spc="-51">
                <a:solidFill>
                  <a:srgbClr val="00FFA8"/>
                </a:solidFill>
                <a:latin typeface="TT Fors Bold"/>
                <a:ea typeface="TT Fors Bold"/>
                <a:cs typeface="TT Fors Bold"/>
                <a:sym typeface="TT Fors Bold"/>
              </a:rPr>
              <a:t>Patch Management:</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Deploy security updates promptly using Windows Update or WSUS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For large networks: use Systems Management Server (SMS), Windows Software Update Service (WSUS), or SCCM</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Third-party solutions: BigFix, Tanium, BladeLogic</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Keep systems updated as attackers exploit known vulnerabilities</a:t>
            </a:r>
          </a:p>
          <a:p>
            <a:pPr algn="l">
              <a:lnSpc>
                <a:spcPts val="2550"/>
              </a:lnSpc>
            </a:pPr>
            <a:r>
              <a:rPr lang="en-US" sz="1700" b="1" spc="-51">
                <a:solidFill>
                  <a:srgbClr val="00FFA8"/>
                </a:solidFill>
                <a:latin typeface="TT Fors Bold"/>
                <a:ea typeface="TT Fors Bold"/>
                <a:cs typeface="TT Fors Bold"/>
                <a:sym typeface="TT Fors Bold"/>
              </a:rPr>
              <a:t>Antivirus Solutions: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Essential for all Windows systems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Small networks: desktop antivirus with automatic updates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Large networks: corporate-level solution required</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Update antivirus definitions regularly (tools are useless if not updated)</a:t>
            </a:r>
          </a:p>
          <a:p>
            <a:pPr algn="l">
              <a:lnSpc>
                <a:spcPts val="2550"/>
              </a:lnSpc>
            </a:pPr>
            <a:r>
              <a:rPr lang="en-US" sz="1700" b="1" spc="-51">
                <a:solidFill>
                  <a:srgbClr val="00FFA8"/>
                </a:solidFill>
                <a:latin typeface="TT Fors Bold"/>
                <a:ea typeface="TT Fors Bold"/>
                <a:cs typeface="TT Fors Bold"/>
                <a:sym typeface="TT Fors Bold"/>
              </a:rPr>
              <a:t>User Account Control (UAC):</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Enable and maintain UAC settings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Educate users on prompt approval</a:t>
            </a:r>
          </a:p>
          <a:p>
            <a:pPr algn="l">
              <a:lnSpc>
                <a:spcPts val="2550"/>
              </a:lnSpc>
            </a:pPr>
            <a:r>
              <a:rPr lang="en-US" sz="1700" b="1" spc="-51">
                <a:solidFill>
                  <a:srgbClr val="00FFA8"/>
                </a:solidFill>
                <a:latin typeface="TT Fors Bold"/>
                <a:ea typeface="TT Fors Bold"/>
                <a:cs typeface="TT Fors Bold"/>
                <a:sym typeface="TT Fors Bold"/>
              </a:rPr>
              <a:t>Firewall Configuration:</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Enable Windows Defender Firewall</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Implement host-based intrusion detection</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Monitor inbound/outbound connections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Filter ports 137-139 and 445 (against SMB and null session attacks)</a:t>
            </a:r>
          </a:p>
          <a:p>
            <a:pPr algn="l">
              <a:lnSpc>
                <a:spcPts val="2550"/>
              </a:lnSpc>
            </a:pPr>
            <a:r>
              <a:rPr lang="en-US" sz="1700" b="1" spc="-51">
                <a:solidFill>
                  <a:srgbClr val="00FFA8"/>
                </a:solidFill>
                <a:latin typeface="TT Fors Bold"/>
                <a:ea typeface="TT Fors Bold"/>
                <a:cs typeface="TT Fors Bold"/>
                <a:sym typeface="TT Fors Bold"/>
              </a:rPr>
              <a:t>Service Hardening:</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Disable unnecessary services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Run services with least privilege accounts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Regularly audit service configurations</a:t>
            </a:r>
          </a:p>
          <a:p>
            <a:pPr marL="367034" lvl="1" indent="-183517" algn="l">
              <a:lnSpc>
                <a:spcPts val="2550"/>
              </a:lnSpc>
              <a:buFont typeface="Arial"/>
              <a:buChar char="•"/>
            </a:pPr>
            <a:r>
              <a:rPr lang="en-US" sz="1700" spc="-51">
                <a:solidFill>
                  <a:srgbClr val="00FFA8"/>
                </a:solidFill>
                <a:latin typeface="TT Fors"/>
                <a:ea typeface="TT Fors"/>
                <a:cs typeface="TT Fors"/>
                <a:sym typeface="TT Fors"/>
              </a:rPr>
              <a:t>Remove unused scripts and sample applications</a:t>
            </a:r>
          </a:p>
          <a:p>
            <a:pPr marL="367034" lvl="1" indent="-183517" algn="l">
              <a:lnSpc>
                <a:spcPts val="2550"/>
              </a:lnSpc>
              <a:spcBef>
                <a:spcPct val="0"/>
              </a:spcBef>
              <a:buFont typeface="Arial"/>
              <a:buChar char="•"/>
            </a:pPr>
            <a:r>
              <a:rPr lang="en-US" sz="1700" spc="-51">
                <a:solidFill>
                  <a:srgbClr val="00FFA8"/>
                </a:solidFill>
                <a:latin typeface="TT Fors"/>
                <a:ea typeface="TT Fors"/>
                <a:cs typeface="TT Fors"/>
                <a:sym typeface="TT Fors"/>
              </a:rPr>
              <a:t>Delete default hidden shares</a:t>
            </a:r>
          </a:p>
        </p:txBody>
      </p:sp>
      <p:sp>
        <p:nvSpPr>
          <p:cNvPr id="13" name="TextBox 13"/>
          <p:cNvSpPr txBox="1"/>
          <p:nvPr/>
        </p:nvSpPr>
        <p:spPr>
          <a:xfrm>
            <a:off x="666750" y="1137815"/>
            <a:ext cx="7563214" cy="453390"/>
          </a:xfrm>
          <a:prstGeom prst="rect">
            <a:avLst/>
          </a:prstGeom>
        </p:spPr>
        <p:txBody>
          <a:bodyPr lIns="0" tIns="0" rIns="0" bIns="0" rtlCol="0" anchor="t">
            <a:spAutoFit/>
          </a:bodyPr>
          <a:lstStyle/>
          <a:p>
            <a:pPr algn="l">
              <a:lnSpc>
                <a:spcPts val="3899"/>
              </a:lnSpc>
              <a:spcBef>
                <a:spcPct val="0"/>
              </a:spcBef>
            </a:pPr>
            <a:r>
              <a:rPr lang="en-US" sz="2599" b="1" u="none" strike="noStrike" spc="-77" dirty="0">
                <a:solidFill>
                  <a:srgbClr val="00FFA8"/>
                </a:solidFill>
                <a:latin typeface="TT Fors Bold"/>
                <a:ea typeface="TT Fors Bold"/>
                <a:cs typeface="TT Fors Bold"/>
                <a:sym typeface="TT Fors Bold"/>
              </a:rPr>
              <a:t>5.1 Windows Hardening</a:t>
            </a:r>
          </a:p>
        </p:txBody>
      </p:sp>
      <p:sp>
        <p:nvSpPr>
          <p:cNvPr id="14" name="TextBox 14"/>
          <p:cNvSpPr txBox="1"/>
          <p:nvPr/>
        </p:nvSpPr>
        <p:spPr>
          <a:xfrm>
            <a:off x="9266720" y="1698832"/>
            <a:ext cx="7130229" cy="8088629"/>
          </a:xfrm>
          <a:prstGeom prst="rect">
            <a:avLst/>
          </a:prstGeom>
        </p:spPr>
        <p:txBody>
          <a:bodyPr lIns="0" tIns="0" rIns="0" bIns="0" rtlCol="0" anchor="t">
            <a:spAutoFit/>
          </a:bodyPr>
          <a:lstStyle/>
          <a:p>
            <a:pPr algn="l">
              <a:lnSpc>
                <a:spcPts val="2550"/>
              </a:lnSpc>
            </a:pPr>
            <a:r>
              <a:rPr lang="en-US" sz="1700" b="1" spc="-51" dirty="0">
                <a:solidFill>
                  <a:srgbClr val="00FFA8"/>
                </a:solidFill>
                <a:latin typeface="TT Fors Bold"/>
                <a:ea typeface="TT Fors Bold"/>
                <a:cs typeface="TT Fors Bold"/>
                <a:sym typeface="TT Fors Bold"/>
              </a:rPr>
              <a:t>File System Security:</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Enable NTFS encryption (EFS) for sensitive data</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Implement BitLocker full disk encryption</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Audit and maintain file permissions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Use a file integrity checker like Tripwire</a:t>
            </a:r>
          </a:p>
          <a:p>
            <a:pPr algn="l">
              <a:lnSpc>
                <a:spcPts val="2550"/>
              </a:lnSpc>
            </a:pPr>
            <a:r>
              <a:rPr lang="en-US" sz="1700" b="1" spc="-51" dirty="0">
                <a:solidFill>
                  <a:srgbClr val="00FFA8"/>
                </a:solidFill>
                <a:latin typeface="TT Fors Bold"/>
                <a:ea typeface="TT Fors Bold"/>
                <a:cs typeface="TT Fors Bold"/>
                <a:sym typeface="TT Fors Bold"/>
              </a:rPr>
              <a:t>Network Security:</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Implement network segmentation</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Use appropriate packet filtering with firewalls and Intrusion Detection Systems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Limit administrator accounts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Use different naming schemes and passwords for public interfaces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Ensure password length and complexity requirements</a:t>
            </a:r>
          </a:p>
          <a:p>
            <a:pPr algn="l">
              <a:lnSpc>
                <a:spcPts val="2550"/>
              </a:lnSpc>
            </a:pPr>
            <a:r>
              <a:rPr lang="en-US" sz="1700" b="1" spc="-51" dirty="0">
                <a:solidFill>
                  <a:srgbClr val="00FFA8"/>
                </a:solidFill>
                <a:latin typeface="TT Fors Bold"/>
                <a:ea typeface="TT Fors Bold"/>
                <a:cs typeface="TT Fors Bold"/>
                <a:sym typeface="TT Fors Bold"/>
              </a:rPr>
              <a:t>Account Security:</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Disable the Guest account</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Disable the local Administrator account</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Ensure no accounts have blank passwords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Implement strong password policies</a:t>
            </a:r>
          </a:p>
          <a:p>
            <a:pPr algn="l">
              <a:lnSpc>
                <a:spcPts val="2550"/>
              </a:lnSpc>
            </a:pPr>
            <a:r>
              <a:rPr lang="en-US" sz="1700" b="1" spc="-51" dirty="0">
                <a:solidFill>
                  <a:srgbClr val="00FFA8"/>
                </a:solidFill>
                <a:latin typeface="TT Fors Bold"/>
                <a:ea typeface="TT Fors Bold"/>
                <a:cs typeface="TT Fors Bold"/>
                <a:sym typeface="TT Fors Bold"/>
              </a:rPr>
              <a:t>Access Control:</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AppLocker and Code Integrity for application whitelisting</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Enforce code signing policies</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Use Windows Group Policies for security enforcement</a:t>
            </a:r>
          </a:p>
          <a:p>
            <a:pPr algn="l">
              <a:lnSpc>
                <a:spcPts val="2550"/>
              </a:lnSpc>
            </a:pPr>
            <a:r>
              <a:rPr lang="en-US" sz="1700" b="1" spc="-51" dirty="0">
                <a:solidFill>
                  <a:srgbClr val="00FFA8"/>
                </a:solidFill>
                <a:latin typeface="TT Fors Bold"/>
                <a:ea typeface="TT Fors Bold"/>
                <a:cs typeface="TT Fors Bold"/>
                <a:sym typeface="TT Fors Bold"/>
              </a:rPr>
              <a:t>Monitoring and Logging:</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Enable and review logs regularly</a:t>
            </a:r>
          </a:p>
          <a:p>
            <a:pPr marL="367034" lvl="1" indent="-183517" algn="l">
              <a:lnSpc>
                <a:spcPts val="2550"/>
              </a:lnSpc>
              <a:buFont typeface="Arial"/>
              <a:buChar char="•"/>
            </a:pPr>
            <a:r>
              <a:rPr lang="en-US" sz="1700" spc="-51" dirty="0">
                <a:solidFill>
                  <a:srgbClr val="00FFA8"/>
                </a:solidFill>
                <a:latin typeface="TT Fors"/>
                <a:ea typeface="TT Fors"/>
                <a:cs typeface="TT Fors"/>
                <a:sym typeface="TT Fors"/>
              </a:rPr>
              <a:t>Monitor critical areas and traffic patterns</a:t>
            </a:r>
          </a:p>
          <a:p>
            <a:pPr marL="367034" lvl="1" indent="-183517" algn="l">
              <a:lnSpc>
                <a:spcPts val="2550"/>
              </a:lnSpc>
              <a:spcBef>
                <a:spcPct val="0"/>
              </a:spcBef>
              <a:buFont typeface="Arial"/>
              <a:buChar char="•"/>
            </a:pPr>
            <a:r>
              <a:rPr lang="en-US" sz="1700" spc="-51" dirty="0">
                <a:solidFill>
                  <a:srgbClr val="00FFA8"/>
                </a:solidFill>
                <a:latin typeface="TT Fors"/>
                <a:ea typeface="TT Fors"/>
                <a:cs typeface="TT Fors"/>
                <a:sym typeface="TT Fors"/>
              </a:rPr>
              <a:t>Identify signs of intrusion and problems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Best Practices for Hardening Operating Systems (Cont’d)</a:t>
            </a:r>
          </a:p>
        </p:txBody>
      </p:sp>
      <p:sp>
        <p:nvSpPr>
          <p:cNvPr id="3" name="TextBox 3"/>
          <p:cNvSpPr txBox="1"/>
          <p:nvPr/>
        </p:nvSpPr>
        <p:spPr>
          <a:xfrm>
            <a:off x="666750" y="1790700"/>
            <a:ext cx="7563214" cy="6160769"/>
          </a:xfrm>
          <a:prstGeom prst="rect">
            <a:avLst/>
          </a:prstGeom>
        </p:spPr>
        <p:txBody>
          <a:bodyPr lIns="0" tIns="0" rIns="0" bIns="0" rtlCol="0" anchor="t">
            <a:spAutoFit/>
          </a:bodyPr>
          <a:lstStyle/>
          <a:p>
            <a:pPr algn="l">
              <a:lnSpc>
                <a:spcPts val="2700"/>
              </a:lnSpc>
            </a:pPr>
            <a:r>
              <a:rPr lang="en-US" sz="1800" b="1" spc="-54" dirty="0">
                <a:solidFill>
                  <a:srgbClr val="00FFA8"/>
                </a:solidFill>
                <a:latin typeface="TT Fors Bold"/>
                <a:ea typeface="TT Fors Bold"/>
                <a:cs typeface="TT Fors Bold"/>
                <a:sym typeface="TT Fors Bold"/>
              </a:rPr>
              <a:t>Kernel and Package Updates: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Apply security patches immediately upon release</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Subscribe to security advisory lists for your distribution</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Use automated patching where possible</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Most Linux distributions have warning methods for critical vulnerabilities</a:t>
            </a:r>
          </a:p>
          <a:p>
            <a:pPr algn="l">
              <a:lnSpc>
                <a:spcPts val="2700"/>
              </a:lnSpc>
            </a:pPr>
            <a:r>
              <a:rPr lang="en-US" sz="1800" b="1" spc="-54" dirty="0">
                <a:solidFill>
                  <a:srgbClr val="00FFA8"/>
                </a:solidFill>
                <a:latin typeface="TT Fors Bold"/>
                <a:ea typeface="TT Fors Bold"/>
                <a:cs typeface="TT Fors Bold"/>
                <a:sym typeface="TT Fors Bold"/>
              </a:rPr>
              <a:t>Access Control:</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Implement the principle of least privilege</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Use role-based access control (RBAC)</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Restrict SUID binaries to only necessary programs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Configure </a:t>
            </a:r>
            <a:r>
              <a:rPr lang="en-US" sz="1800" spc="-54" dirty="0" err="1">
                <a:solidFill>
                  <a:srgbClr val="00FFA8"/>
                </a:solidFill>
                <a:latin typeface="TT Fors"/>
                <a:ea typeface="TT Fors"/>
                <a:cs typeface="TT Fors"/>
                <a:sym typeface="TT Fors"/>
              </a:rPr>
              <a:t>sudoers</a:t>
            </a:r>
            <a:r>
              <a:rPr lang="en-US" sz="1800" spc="-54" dirty="0">
                <a:solidFill>
                  <a:srgbClr val="00FFA8"/>
                </a:solidFill>
                <a:latin typeface="TT Fors"/>
                <a:ea typeface="TT Fors"/>
                <a:cs typeface="TT Fors"/>
                <a:sym typeface="TT Fors"/>
              </a:rPr>
              <a:t> carefully using </a:t>
            </a:r>
            <a:r>
              <a:rPr lang="en-US" sz="1800" spc="-54" dirty="0" err="1">
                <a:solidFill>
                  <a:srgbClr val="00FFA8"/>
                </a:solidFill>
                <a:latin typeface="TT Fors"/>
                <a:ea typeface="TT Fors"/>
                <a:cs typeface="TT Fors"/>
                <a:sym typeface="TT Fors"/>
              </a:rPr>
              <a:t>visudo</a:t>
            </a:r>
            <a:endParaRPr lang="en-US" sz="1800" spc="-54" dirty="0">
              <a:solidFill>
                <a:srgbClr val="00FFA8"/>
              </a:solidFill>
              <a:latin typeface="TT Fors"/>
              <a:ea typeface="TT Fors"/>
              <a:cs typeface="TT Fors"/>
              <a:sym typeface="TT Fors"/>
            </a:endParaRPr>
          </a:p>
          <a:p>
            <a:pPr algn="l">
              <a:lnSpc>
                <a:spcPts val="2700"/>
              </a:lnSpc>
            </a:pPr>
            <a:r>
              <a:rPr lang="en-US" sz="1800" b="1" spc="-54" dirty="0">
                <a:solidFill>
                  <a:srgbClr val="00FFA8"/>
                </a:solidFill>
                <a:latin typeface="TT Fors Bold"/>
                <a:ea typeface="TT Fors Bold"/>
                <a:cs typeface="TT Fors Bold"/>
                <a:sym typeface="TT Fors Bold"/>
              </a:rPr>
              <a:t>Firewall Configuration:</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Implement iptables/</a:t>
            </a:r>
            <a:r>
              <a:rPr lang="en-US" sz="1800" spc="-54" dirty="0" err="1">
                <a:solidFill>
                  <a:srgbClr val="00FFA8"/>
                </a:solidFill>
                <a:latin typeface="TT Fors"/>
                <a:ea typeface="TT Fors"/>
                <a:cs typeface="TT Fors"/>
                <a:sym typeface="TT Fors"/>
              </a:rPr>
              <a:t>firewalld</a:t>
            </a:r>
            <a:r>
              <a:rPr lang="en-US" sz="1800" spc="-54" dirty="0">
                <a:solidFill>
                  <a:srgbClr val="00FFA8"/>
                </a:solidFill>
                <a:latin typeface="TT Fors"/>
                <a:ea typeface="TT Fors"/>
                <a:cs typeface="TT Fors"/>
                <a:sym typeface="TT Fors"/>
              </a:rPr>
              <a:t> rules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Enable </a:t>
            </a:r>
            <a:r>
              <a:rPr lang="en-US" sz="1800" spc="-54" dirty="0" err="1">
                <a:solidFill>
                  <a:srgbClr val="00FFA8"/>
                </a:solidFill>
                <a:latin typeface="TT Fors"/>
                <a:ea typeface="TT Fors"/>
                <a:cs typeface="TT Fors"/>
                <a:sym typeface="TT Fors"/>
              </a:rPr>
              <a:t>SELinux</a:t>
            </a:r>
            <a:r>
              <a:rPr lang="en-US" sz="1800" spc="-54" dirty="0">
                <a:solidFill>
                  <a:srgbClr val="00FFA8"/>
                </a:solidFill>
                <a:latin typeface="TT Fors"/>
                <a:ea typeface="TT Fors"/>
                <a:cs typeface="TT Fors"/>
                <a:sym typeface="TT Fors"/>
              </a:rPr>
              <a:t> or </a:t>
            </a:r>
            <a:r>
              <a:rPr lang="en-US" sz="1800" spc="-54" dirty="0" err="1">
                <a:solidFill>
                  <a:srgbClr val="00FFA8"/>
                </a:solidFill>
                <a:latin typeface="TT Fors"/>
                <a:ea typeface="TT Fors"/>
                <a:cs typeface="TT Fors"/>
                <a:sym typeface="TT Fors"/>
              </a:rPr>
              <a:t>AppArmor</a:t>
            </a:r>
            <a:r>
              <a:rPr lang="en-US" sz="1800" spc="-54" dirty="0">
                <a:solidFill>
                  <a:srgbClr val="00FFA8"/>
                </a:solidFill>
                <a:latin typeface="TT Fors"/>
                <a:ea typeface="TT Fors"/>
                <a:cs typeface="TT Fors"/>
                <a:sym typeface="TT Fors"/>
              </a:rPr>
              <a:t> mandatory access controls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Monitor firewall logs</a:t>
            </a:r>
          </a:p>
          <a:p>
            <a:pPr algn="l">
              <a:lnSpc>
                <a:spcPts val="2700"/>
              </a:lnSpc>
            </a:pPr>
            <a:r>
              <a:rPr lang="en-US" sz="1800" b="1" spc="-54" dirty="0">
                <a:solidFill>
                  <a:srgbClr val="00FFA8"/>
                </a:solidFill>
                <a:latin typeface="TT Fors Bold"/>
                <a:ea typeface="TT Fors Bold"/>
                <a:cs typeface="TT Fors Bold"/>
                <a:sym typeface="TT Fors Bold"/>
              </a:rPr>
              <a:t>Service Hardening:</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Disable unnecessary services and daemons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Run services as unprivileged users</a:t>
            </a:r>
          </a:p>
          <a:p>
            <a:pPr marL="388623" lvl="1" indent="-194312" algn="l">
              <a:lnSpc>
                <a:spcPts val="2700"/>
              </a:lnSpc>
              <a:spcBef>
                <a:spcPct val="0"/>
              </a:spcBef>
              <a:buFont typeface="Arial"/>
              <a:buChar char="•"/>
            </a:pPr>
            <a:r>
              <a:rPr lang="en-US" sz="1800" spc="-54" dirty="0">
                <a:solidFill>
                  <a:srgbClr val="00FFA8"/>
                </a:solidFill>
                <a:latin typeface="TT Fors"/>
                <a:ea typeface="TT Fors"/>
                <a:cs typeface="TT Fors"/>
                <a:sym typeface="TT Fors"/>
              </a:rPr>
              <a:t>Use </a:t>
            </a:r>
            <a:r>
              <a:rPr lang="en-US" sz="1800" spc="-54" dirty="0" err="1">
                <a:solidFill>
                  <a:srgbClr val="00FFA8"/>
                </a:solidFill>
                <a:latin typeface="TT Fors"/>
                <a:ea typeface="TT Fors"/>
                <a:cs typeface="TT Fors"/>
                <a:sym typeface="TT Fors"/>
              </a:rPr>
              <a:t>systemd</a:t>
            </a:r>
            <a:r>
              <a:rPr lang="en-US" sz="1800" spc="-54" dirty="0">
                <a:solidFill>
                  <a:srgbClr val="00FFA8"/>
                </a:solidFill>
                <a:latin typeface="TT Fors"/>
                <a:ea typeface="TT Fors"/>
                <a:cs typeface="TT Fors"/>
                <a:sym typeface="TT Fors"/>
              </a:rPr>
              <a:t> security features</a:t>
            </a:r>
          </a:p>
        </p:txBody>
      </p:sp>
      <p:sp>
        <p:nvSpPr>
          <p:cNvPr id="4" name="TextBox 4"/>
          <p:cNvSpPr txBox="1"/>
          <p:nvPr/>
        </p:nvSpPr>
        <p:spPr>
          <a:xfrm>
            <a:off x="8699361" y="1790700"/>
            <a:ext cx="7563214" cy="4446269"/>
          </a:xfrm>
          <a:prstGeom prst="rect">
            <a:avLst/>
          </a:prstGeom>
        </p:spPr>
        <p:txBody>
          <a:bodyPr lIns="0" tIns="0" rIns="0" bIns="0" rtlCol="0" anchor="t">
            <a:spAutoFit/>
          </a:bodyPr>
          <a:lstStyle/>
          <a:p>
            <a:pPr algn="l">
              <a:lnSpc>
                <a:spcPts val="2700"/>
              </a:lnSpc>
            </a:pPr>
            <a:r>
              <a:rPr lang="en-US" sz="1800" b="1" spc="-54">
                <a:solidFill>
                  <a:srgbClr val="00FFA8"/>
                </a:solidFill>
                <a:latin typeface="TT Fors Bold"/>
                <a:ea typeface="TT Fors Bold"/>
                <a:cs typeface="TT Fors Bold"/>
                <a:sym typeface="TT Fors Bold"/>
              </a:rPr>
              <a:t>File System Security:</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Implement disk encryption (LUKS)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Set appropriate file permissions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Monitor file integrity with AIDE or Tripwire</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Be cautious with the bash_history file permissions</a:t>
            </a:r>
          </a:p>
          <a:p>
            <a:pPr algn="l">
              <a:lnSpc>
                <a:spcPts val="2700"/>
              </a:lnSpc>
            </a:pPr>
            <a:r>
              <a:rPr lang="en-US" sz="1800" b="1" spc="-54">
                <a:solidFill>
                  <a:srgbClr val="00FFA8"/>
                </a:solidFill>
                <a:latin typeface="TT Fors Bold"/>
                <a:ea typeface="TT Fors Bold"/>
                <a:cs typeface="TT Fors Bold"/>
                <a:sym typeface="TT Fors Bold"/>
              </a:rPr>
              <a:t>User Awareness Training:</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Inform users not to share OS information with outsiders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Users should be suspicious of people asking questions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Educate on verifying identities before sharing information</a:t>
            </a:r>
          </a:p>
          <a:p>
            <a:pPr algn="l">
              <a:lnSpc>
                <a:spcPts val="2700"/>
              </a:lnSpc>
            </a:pPr>
            <a:r>
              <a:rPr lang="en-US" sz="1800" b="1" spc="-54">
                <a:solidFill>
                  <a:srgbClr val="00FFA8"/>
                </a:solidFill>
                <a:latin typeface="TT Fors Bold"/>
                <a:ea typeface="TT Fors Bold"/>
                <a:cs typeface="TT Fors Bold"/>
                <a:sym typeface="TT Fors Bold"/>
              </a:rPr>
              <a:t>Vulnerability Assessment:</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Use vulnerability scanners regularly</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Use built-in Linux tools for security assessment</a:t>
            </a:r>
          </a:p>
          <a:p>
            <a:pPr marL="388623" lvl="1" indent="-194312" algn="l">
              <a:lnSpc>
                <a:spcPts val="2700"/>
              </a:lnSpc>
              <a:spcBef>
                <a:spcPct val="0"/>
              </a:spcBef>
              <a:buFont typeface="Arial"/>
              <a:buChar char="•"/>
            </a:pPr>
            <a:r>
              <a:rPr lang="en-US" sz="1800" spc="-54">
                <a:solidFill>
                  <a:srgbClr val="00FFA8"/>
                </a:solidFill>
                <a:latin typeface="TT Fors"/>
                <a:ea typeface="TT Fors"/>
                <a:cs typeface="TT Fors"/>
                <a:sym typeface="TT Fors"/>
              </a:rPr>
              <a:t>Implement free benchmark tools from the Center for Internet Security</a:t>
            </a:r>
          </a:p>
        </p:txBody>
      </p:sp>
      <p:sp>
        <p:nvSpPr>
          <p:cNvPr id="5" name="TextBox 5"/>
          <p:cNvSpPr txBox="1"/>
          <p:nvPr/>
        </p:nvSpPr>
        <p:spPr>
          <a:xfrm>
            <a:off x="666750" y="1231510"/>
            <a:ext cx="7563214" cy="453390"/>
          </a:xfrm>
          <a:prstGeom prst="rect">
            <a:avLst/>
          </a:prstGeom>
        </p:spPr>
        <p:txBody>
          <a:bodyPr lIns="0" tIns="0" rIns="0" bIns="0" rtlCol="0" anchor="t">
            <a:spAutoFit/>
          </a:bodyPr>
          <a:lstStyle/>
          <a:p>
            <a:pPr algn="l">
              <a:lnSpc>
                <a:spcPts val="3899"/>
              </a:lnSpc>
              <a:spcBef>
                <a:spcPct val="0"/>
              </a:spcBef>
            </a:pPr>
            <a:r>
              <a:rPr lang="en-US" sz="2599" b="1" u="none" strike="noStrike" spc="-77" dirty="0">
                <a:solidFill>
                  <a:srgbClr val="00FFA8"/>
                </a:solidFill>
                <a:latin typeface="TT Fors Bold"/>
                <a:ea typeface="TT Fors Bold"/>
                <a:cs typeface="TT Fors Bold"/>
                <a:sym typeface="TT Fors Bold"/>
              </a:rPr>
              <a:t>5.2 Linux Hardening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Best Practices for Hardening Operating Systems (Cont’d)</a:t>
            </a:r>
          </a:p>
        </p:txBody>
      </p:sp>
      <p:sp>
        <p:nvSpPr>
          <p:cNvPr id="3" name="TextBox 3"/>
          <p:cNvSpPr txBox="1"/>
          <p:nvPr/>
        </p:nvSpPr>
        <p:spPr>
          <a:xfrm>
            <a:off x="666750" y="1886196"/>
            <a:ext cx="7563214" cy="4483920"/>
          </a:xfrm>
          <a:prstGeom prst="rect">
            <a:avLst/>
          </a:prstGeom>
        </p:spPr>
        <p:txBody>
          <a:bodyPr lIns="0" tIns="0" rIns="0" bIns="0" rtlCol="0" anchor="t">
            <a:spAutoFit/>
          </a:bodyPr>
          <a:lstStyle/>
          <a:p>
            <a:pPr algn="l">
              <a:lnSpc>
                <a:spcPts val="2700"/>
              </a:lnSpc>
            </a:pPr>
            <a:r>
              <a:rPr lang="en-US" sz="1800" b="1" spc="-54" dirty="0">
                <a:solidFill>
                  <a:srgbClr val="00FFA8"/>
                </a:solidFill>
                <a:latin typeface="TT Fors Bold"/>
                <a:ea typeface="TT Fors Bold"/>
                <a:cs typeface="TT Fors Bold"/>
                <a:sym typeface="TT Fors Bold"/>
              </a:rPr>
              <a:t>Firmware Management:</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Keep firmware current with the latest security patches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Verify firmware authenticity and integrity</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Use secure boot mechanisms</a:t>
            </a:r>
          </a:p>
          <a:p>
            <a:pPr algn="l">
              <a:lnSpc>
                <a:spcPts val="2700"/>
              </a:lnSpc>
            </a:pPr>
            <a:r>
              <a:rPr lang="en-US" sz="1800" b="1" spc="-54" dirty="0">
                <a:solidFill>
                  <a:srgbClr val="00FFA8"/>
                </a:solidFill>
                <a:latin typeface="TT Fors Bold"/>
                <a:ea typeface="TT Fors Bold"/>
                <a:cs typeface="TT Fors Bold"/>
                <a:sym typeface="TT Fors Bold"/>
              </a:rPr>
              <a:t>Network Security:</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Change default credentials immediately</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Disable unnecessary network services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Implement network segmentation</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Use VPNs for remote management access</a:t>
            </a:r>
          </a:p>
          <a:p>
            <a:pPr algn="l">
              <a:lnSpc>
                <a:spcPts val="2700"/>
              </a:lnSpc>
            </a:pPr>
            <a:r>
              <a:rPr lang="en-US" sz="1800" b="1" spc="-54" dirty="0">
                <a:solidFill>
                  <a:srgbClr val="00FFA8"/>
                </a:solidFill>
                <a:latin typeface="TT Fors Bold"/>
                <a:ea typeface="TT Fors Bold"/>
                <a:cs typeface="TT Fors Bold"/>
                <a:sym typeface="TT Fors Bold"/>
              </a:rPr>
              <a:t>Data Protection:</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Encrypt data in transit (TLS/SSL)</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Encrypt sensitive data at rest</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Secure credential storage</a:t>
            </a:r>
          </a:p>
        </p:txBody>
      </p:sp>
      <p:sp>
        <p:nvSpPr>
          <p:cNvPr id="4" name="TextBox 4"/>
          <p:cNvSpPr txBox="1"/>
          <p:nvPr/>
        </p:nvSpPr>
        <p:spPr>
          <a:xfrm>
            <a:off x="666750" y="1327006"/>
            <a:ext cx="7563214" cy="453390"/>
          </a:xfrm>
          <a:prstGeom prst="rect">
            <a:avLst/>
          </a:prstGeom>
        </p:spPr>
        <p:txBody>
          <a:bodyPr lIns="0" tIns="0" rIns="0" bIns="0" rtlCol="0" anchor="t">
            <a:spAutoFit/>
          </a:bodyPr>
          <a:lstStyle/>
          <a:p>
            <a:pPr algn="l">
              <a:lnSpc>
                <a:spcPts val="3899"/>
              </a:lnSpc>
              <a:spcBef>
                <a:spcPct val="0"/>
              </a:spcBef>
            </a:pPr>
            <a:r>
              <a:rPr lang="en-US" sz="2599" b="1" u="none" strike="noStrike" spc="-77">
                <a:solidFill>
                  <a:srgbClr val="00FFA8"/>
                </a:solidFill>
                <a:latin typeface="TT Fors Bold"/>
                <a:ea typeface="TT Fors Bold"/>
                <a:cs typeface="TT Fors Bold"/>
                <a:sym typeface="TT Fors Bold"/>
              </a:rPr>
              <a:t>5.3 Embedded System Hardening</a:t>
            </a:r>
          </a:p>
        </p:txBody>
      </p:sp>
      <p:sp>
        <p:nvSpPr>
          <p:cNvPr id="6" name="TextBox 3">
            <a:extLst>
              <a:ext uri="{FF2B5EF4-FFF2-40B4-BE49-F238E27FC236}">
                <a16:creationId xmlns:a16="http://schemas.microsoft.com/office/drawing/2014/main" id="{673B947F-AF48-85CE-CFC0-DF6F9C7F95D8}"/>
              </a:ext>
            </a:extLst>
          </p:cNvPr>
          <p:cNvSpPr txBox="1"/>
          <p:nvPr/>
        </p:nvSpPr>
        <p:spPr>
          <a:xfrm>
            <a:off x="8686800" y="1886196"/>
            <a:ext cx="7563214" cy="3445174"/>
          </a:xfrm>
          <a:prstGeom prst="rect">
            <a:avLst/>
          </a:prstGeom>
        </p:spPr>
        <p:txBody>
          <a:bodyPr lIns="0" tIns="0" rIns="0" bIns="0" rtlCol="0" anchor="t">
            <a:spAutoFit/>
          </a:bodyPr>
          <a:lstStyle/>
          <a:p>
            <a:pPr algn="l">
              <a:lnSpc>
                <a:spcPts val="2700"/>
              </a:lnSpc>
            </a:pPr>
            <a:r>
              <a:rPr lang="en-US" sz="1800" b="1" spc="-54" dirty="0">
                <a:solidFill>
                  <a:srgbClr val="00FFA8"/>
                </a:solidFill>
                <a:latin typeface="TT Fors Bold"/>
                <a:ea typeface="TT Fors Bold"/>
                <a:cs typeface="TT Fors Bold"/>
                <a:sym typeface="TT Fors Bold"/>
              </a:rPr>
              <a:t>Monitoring and Logging:</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Enable logging for administrative access</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Monitor for unusual device behavior</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Maintain centralized log collection</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Alert on suspicious activities</a:t>
            </a:r>
          </a:p>
          <a:p>
            <a:pPr algn="l">
              <a:lnSpc>
                <a:spcPts val="2700"/>
              </a:lnSpc>
            </a:pPr>
            <a:r>
              <a:rPr lang="en-US" sz="1800" b="1" spc="-54" dirty="0">
                <a:solidFill>
                  <a:srgbClr val="00FFA8"/>
                </a:solidFill>
                <a:latin typeface="TT Fors Bold"/>
                <a:ea typeface="TT Fors Bold"/>
                <a:cs typeface="TT Fors Bold"/>
                <a:sym typeface="TT Fors Bold"/>
              </a:rPr>
              <a:t>Lifecycle Management:</a:t>
            </a:r>
          </a:p>
          <a:p>
            <a:pPr marL="388623" lvl="1" indent="-194312">
              <a:lnSpc>
                <a:spcPts val="2700"/>
              </a:lnSpc>
              <a:buFont typeface="Arial"/>
              <a:buChar char="•"/>
            </a:pPr>
            <a:r>
              <a:rPr lang="en-US" sz="1800" spc="-54" dirty="0">
                <a:solidFill>
                  <a:srgbClr val="00FFA8"/>
                </a:solidFill>
                <a:latin typeface="TT Fors"/>
                <a:ea typeface="TT Fors"/>
                <a:cs typeface="TT Fors"/>
                <a:sym typeface="TT Fors"/>
              </a:rPr>
              <a:t>Identify all embedded systems in </a:t>
            </a:r>
            <a:r>
              <a:rPr lang="en-US" spc="-54" dirty="0">
                <a:solidFill>
                  <a:srgbClr val="00FFA8"/>
                </a:solidFill>
                <a:latin typeface="TT Fors"/>
                <a:ea typeface="TT Fors"/>
                <a:cs typeface="TT Fors"/>
                <a:sym typeface="TT Fors"/>
              </a:rPr>
              <a:t>the organization</a:t>
            </a:r>
            <a:endParaRPr lang="en-US" sz="1800" spc="-54" dirty="0">
              <a:solidFill>
                <a:srgbClr val="00FFA8"/>
              </a:solidFill>
              <a:latin typeface="TT Fors"/>
              <a:ea typeface="TT Fors"/>
              <a:cs typeface="TT Fors"/>
              <a:sym typeface="TT Fors"/>
            </a:endParaRP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Prioritize systems by function criticality</a:t>
            </a:r>
          </a:p>
          <a:p>
            <a:pPr marL="388623" lvl="1" indent="-194312" algn="l">
              <a:lnSpc>
                <a:spcPts val="2700"/>
              </a:lnSpc>
              <a:buFont typeface="Arial"/>
              <a:buChar char="•"/>
            </a:pPr>
            <a:r>
              <a:rPr lang="en-US" sz="1800" spc="-54" dirty="0">
                <a:solidFill>
                  <a:srgbClr val="00FFA8"/>
                </a:solidFill>
                <a:latin typeface="TT Fors"/>
                <a:ea typeface="TT Fors"/>
                <a:cs typeface="TT Fors"/>
                <a:sym typeface="TT Fors"/>
              </a:rPr>
              <a:t>Plan for end-of-life replacement</a:t>
            </a:r>
          </a:p>
          <a:p>
            <a:pPr marL="388623" lvl="1" indent="-194312" algn="l">
              <a:lnSpc>
                <a:spcPts val="2700"/>
              </a:lnSpc>
              <a:spcBef>
                <a:spcPct val="0"/>
              </a:spcBef>
              <a:buFont typeface="Arial"/>
              <a:buChar char="•"/>
            </a:pPr>
            <a:r>
              <a:rPr lang="en-US" sz="1800" spc="-54" dirty="0">
                <a:solidFill>
                  <a:srgbClr val="00FFA8"/>
                </a:solidFill>
                <a:latin typeface="TT Fors"/>
                <a:ea typeface="TT Fors"/>
                <a:cs typeface="TT Fors"/>
                <a:sym typeface="TT Fors"/>
              </a:rPr>
              <a:t>Upgrade or replace systems that cannot be secured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Detection and Remediation</a:t>
            </a:r>
          </a:p>
        </p:txBody>
      </p:sp>
      <p:sp>
        <p:nvSpPr>
          <p:cNvPr id="3" name="TextBox 3"/>
          <p:cNvSpPr txBox="1"/>
          <p:nvPr/>
        </p:nvSpPr>
        <p:spPr>
          <a:xfrm>
            <a:off x="666750" y="1886196"/>
            <a:ext cx="8264947" cy="8218169"/>
          </a:xfrm>
          <a:prstGeom prst="rect">
            <a:avLst/>
          </a:prstGeom>
        </p:spPr>
        <p:txBody>
          <a:bodyPr lIns="0" tIns="0" rIns="0" bIns="0" rtlCol="0" anchor="t">
            <a:spAutoFit/>
          </a:bodyPr>
          <a:lstStyle/>
          <a:p>
            <a:pPr algn="l">
              <a:lnSpc>
                <a:spcPts val="2700"/>
              </a:lnSpc>
            </a:pPr>
            <a:r>
              <a:rPr lang="en-US" sz="1800" b="1" spc="-54">
                <a:solidFill>
                  <a:srgbClr val="00FFA8"/>
                </a:solidFill>
                <a:latin typeface="TT Fors Bold"/>
                <a:ea typeface="TT Fors Bold"/>
                <a:cs typeface="TT Fors Bold"/>
                <a:sym typeface="TT Fors Bold"/>
              </a:rPr>
              <a:t>Rootkit Characteristics: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Modify OS kernel modules, drivers, libraries, or install as applications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Exist for Windows, Linux, and embedded systems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Provide persistent backdoor access across reboots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Can be installed at the factory level, compromising devices before sale</a:t>
            </a:r>
          </a:p>
          <a:p>
            <a:pPr algn="l">
              <a:lnSpc>
                <a:spcPts val="2700"/>
              </a:lnSpc>
            </a:pPr>
            <a:r>
              <a:rPr lang="en-US" sz="1800" b="1" spc="-54">
                <a:solidFill>
                  <a:srgbClr val="00FFA8"/>
                </a:solidFill>
                <a:latin typeface="TT Fors Bold"/>
                <a:ea typeface="TT Fors Bold"/>
                <a:cs typeface="TT Fors Bold"/>
                <a:sym typeface="TT Fors Bold"/>
              </a:rPr>
              <a:t>Detection Methods: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Behavioral analysis and monitoring</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Kernel integrity verification</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Memory forensics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File system analysis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Rootkit-detection tools and antivirus software</a:t>
            </a:r>
          </a:p>
          <a:p>
            <a:pPr algn="l">
              <a:lnSpc>
                <a:spcPts val="2700"/>
              </a:lnSpc>
            </a:pPr>
            <a:r>
              <a:rPr lang="en-US" sz="1800" b="1" spc="-54">
                <a:solidFill>
                  <a:srgbClr val="00FFA8"/>
                </a:solidFill>
                <a:latin typeface="TT Fors Bold"/>
                <a:ea typeface="TT Fors Bold"/>
                <a:cs typeface="TT Fors Bold"/>
                <a:sym typeface="TT Fors Bold"/>
              </a:rPr>
              <a:t>Detection Tools:</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chkrootkit</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rkhunter</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GMER</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Windows Defender offline scanning</a:t>
            </a:r>
          </a:p>
          <a:p>
            <a:pPr algn="l">
              <a:lnSpc>
                <a:spcPts val="2700"/>
              </a:lnSpc>
            </a:pPr>
            <a:r>
              <a:rPr lang="en-US" sz="1800" b="1" spc="-54">
                <a:solidFill>
                  <a:srgbClr val="00FFA8"/>
                </a:solidFill>
                <a:latin typeface="TT Fors Bold"/>
                <a:ea typeface="TT Fors Bold"/>
                <a:cs typeface="TT Fors Bold"/>
                <a:sym typeface="TT Fors Bold"/>
              </a:rPr>
              <a:t>Limitations: </a:t>
            </a:r>
            <a:r>
              <a:rPr lang="en-US" sz="1800" spc="-54">
                <a:solidFill>
                  <a:srgbClr val="00FFA8"/>
                </a:solidFill>
                <a:latin typeface="TT Fors"/>
                <a:ea typeface="TT Fors"/>
                <a:cs typeface="TT Fors"/>
                <a:sym typeface="TT Fors"/>
              </a:rPr>
              <a:t>If the OS is already compromised, detection tools may be unreliable, as rootkits can hide their presence.</a:t>
            </a:r>
          </a:p>
          <a:p>
            <a:pPr algn="l">
              <a:lnSpc>
                <a:spcPts val="2700"/>
              </a:lnSpc>
            </a:pPr>
            <a:r>
              <a:rPr lang="en-US" sz="1800" b="1" spc="-54">
                <a:solidFill>
                  <a:srgbClr val="00FFA8"/>
                </a:solidFill>
                <a:latin typeface="TT Fors Bold"/>
                <a:ea typeface="TT Fors Bold"/>
                <a:cs typeface="TT Fors Bold"/>
                <a:sym typeface="TT Fors Bold"/>
              </a:rPr>
              <a:t>Remediation:</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Flash (rewrite) BIOS/firmware to remove kernel-level malware</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Wipe the hard drive completely</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Reload a clean operating system</a:t>
            </a:r>
          </a:p>
          <a:p>
            <a:pPr marL="388623" lvl="1" indent="-194312" algn="l">
              <a:lnSpc>
                <a:spcPts val="2700"/>
              </a:lnSpc>
              <a:buFont typeface="Arial"/>
              <a:buChar char="•"/>
            </a:pPr>
            <a:r>
              <a:rPr lang="en-US" sz="1800" spc="-54">
                <a:solidFill>
                  <a:srgbClr val="00FFA8"/>
                </a:solidFill>
                <a:latin typeface="TT Fors"/>
                <a:ea typeface="TT Fors"/>
                <a:cs typeface="TT Fors"/>
                <a:sym typeface="TT Fors"/>
              </a:rPr>
              <a:t>Complete system replacement if firmware-level infection suspected</a:t>
            </a:r>
          </a:p>
          <a:p>
            <a:pPr marL="388623" lvl="1" indent="-194312" algn="l">
              <a:lnSpc>
                <a:spcPts val="2700"/>
              </a:lnSpc>
              <a:spcBef>
                <a:spcPct val="0"/>
              </a:spcBef>
              <a:buFont typeface="Arial"/>
              <a:buChar char="•"/>
            </a:pPr>
            <a:r>
              <a:rPr lang="en-US" sz="1800" spc="-54">
                <a:solidFill>
                  <a:srgbClr val="00FFA8"/>
                </a:solidFill>
                <a:latin typeface="TT Fors"/>
                <a:ea typeface="TT Fors"/>
                <a:cs typeface="TT Fors"/>
                <a:sym typeface="TT Fors"/>
              </a:rPr>
              <a:t>Time-consuming and expensive process</a:t>
            </a:r>
          </a:p>
        </p:txBody>
      </p:sp>
      <p:sp>
        <p:nvSpPr>
          <p:cNvPr id="4" name="TextBox 4"/>
          <p:cNvSpPr txBox="1"/>
          <p:nvPr/>
        </p:nvSpPr>
        <p:spPr>
          <a:xfrm>
            <a:off x="666750" y="1327006"/>
            <a:ext cx="7563214" cy="453390"/>
          </a:xfrm>
          <a:prstGeom prst="rect">
            <a:avLst/>
          </a:prstGeom>
        </p:spPr>
        <p:txBody>
          <a:bodyPr lIns="0" tIns="0" rIns="0" bIns="0" rtlCol="0" anchor="t">
            <a:spAutoFit/>
          </a:bodyPr>
          <a:lstStyle/>
          <a:p>
            <a:pPr algn="l">
              <a:lnSpc>
                <a:spcPts val="3899"/>
              </a:lnSpc>
              <a:spcBef>
                <a:spcPct val="0"/>
              </a:spcBef>
            </a:pPr>
            <a:r>
              <a:rPr lang="en-US" sz="2599" b="1" spc="-77">
                <a:solidFill>
                  <a:srgbClr val="00FFA8"/>
                </a:solidFill>
                <a:latin typeface="TT Fors Bold"/>
                <a:ea typeface="TT Fors Bold"/>
                <a:cs typeface="TT Fors Bold"/>
                <a:sym typeface="TT Fors Bold"/>
              </a:rPr>
              <a:t>6</a:t>
            </a:r>
            <a:r>
              <a:rPr lang="en-US" sz="2599" b="1" u="none" strike="noStrike" spc="-77">
                <a:solidFill>
                  <a:srgbClr val="00FFA8"/>
                </a:solidFill>
                <a:latin typeface="TT Fors Bold"/>
                <a:ea typeface="TT Fors Bold"/>
                <a:cs typeface="TT Fors Bold"/>
                <a:sym typeface="TT Fors Bold"/>
              </a:rPr>
              <a:t>.1 Rootkit Detection and Removal</a:t>
            </a:r>
          </a:p>
        </p:txBody>
      </p:sp>
      <p:sp>
        <p:nvSpPr>
          <p:cNvPr id="5" name="TextBox 5"/>
          <p:cNvSpPr txBox="1"/>
          <p:nvPr/>
        </p:nvSpPr>
        <p:spPr>
          <a:xfrm>
            <a:off x="9326442" y="1886196"/>
            <a:ext cx="8294808" cy="3074669"/>
          </a:xfrm>
          <a:prstGeom prst="rect">
            <a:avLst/>
          </a:prstGeom>
        </p:spPr>
        <p:txBody>
          <a:bodyPr lIns="0" tIns="0" rIns="0" bIns="0" rtlCol="0" anchor="t">
            <a:spAutoFit/>
          </a:bodyPr>
          <a:lstStyle/>
          <a:p>
            <a:pPr algn="l">
              <a:lnSpc>
                <a:spcPts val="2700"/>
              </a:lnSpc>
            </a:pPr>
            <a:r>
              <a:rPr lang="en-US" sz="1800" b="1" spc="-54">
                <a:solidFill>
                  <a:srgbClr val="00FFA8"/>
                </a:solidFill>
                <a:latin typeface="TT Fors Bold"/>
                <a:ea typeface="TT Fors Bold"/>
                <a:cs typeface="TT Fors Bold"/>
                <a:sym typeface="TT Fors Bold"/>
              </a:rPr>
              <a:t>New Security Features (Fall Creators Update onwards):</a:t>
            </a:r>
          </a:p>
          <a:p>
            <a:pPr marL="388623" lvl="1" indent="-194312" algn="l">
              <a:lnSpc>
                <a:spcPts val="2700"/>
              </a:lnSpc>
              <a:buFont typeface="Arial"/>
              <a:buChar char="•"/>
            </a:pPr>
            <a:r>
              <a:rPr lang="en-US" sz="1800" b="1" spc="-54">
                <a:solidFill>
                  <a:srgbClr val="00FFA8"/>
                </a:solidFill>
                <a:latin typeface="TT Fors Bold"/>
                <a:ea typeface="TT Fors Bold"/>
                <a:cs typeface="TT Fors Bold"/>
                <a:sym typeface="TT Fors Bold"/>
              </a:rPr>
              <a:t>Attack Surface Reduction (ASR): </a:t>
            </a:r>
            <a:r>
              <a:rPr lang="en-US" sz="1800" spc="-54">
                <a:solidFill>
                  <a:srgbClr val="00FFA8"/>
                </a:solidFill>
                <a:latin typeface="TT Fors"/>
                <a:ea typeface="TT Fors"/>
                <a:cs typeface="TT Fors"/>
                <a:sym typeface="TT Fors"/>
              </a:rPr>
              <a:t>Uses machine learning to detect and stop zero-day attacks</a:t>
            </a:r>
          </a:p>
          <a:p>
            <a:pPr marL="388623" lvl="1" indent="-194312" algn="l">
              <a:lnSpc>
                <a:spcPts val="2700"/>
              </a:lnSpc>
              <a:buFont typeface="Arial"/>
              <a:buChar char="•"/>
            </a:pPr>
            <a:r>
              <a:rPr lang="en-US" sz="1800" b="1" spc="-54">
                <a:solidFill>
                  <a:srgbClr val="00FFA8"/>
                </a:solidFill>
                <a:latin typeface="TT Fors Bold"/>
                <a:ea typeface="TT Fors Bold"/>
                <a:cs typeface="TT Fors Bold"/>
                <a:sym typeface="TT Fors Bold"/>
              </a:rPr>
              <a:t>Network Protection:</a:t>
            </a:r>
            <a:r>
              <a:rPr lang="en-US" sz="1800" spc="-54">
                <a:solidFill>
                  <a:srgbClr val="00FFA8"/>
                </a:solidFill>
                <a:latin typeface="TT Fors"/>
                <a:ea typeface="TT Fors"/>
                <a:cs typeface="TT Fors"/>
                <a:sym typeface="TT Fors"/>
              </a:rPr>
              <a:t> Blocks outbound connections to known malicious servers</a:t>
            </a:r>
          </a:p>
          <a:p>
            <a:pPr marL="388623" lvl="1" indent="-194312" algn="l">
              <a:lnSpc>
                <a:spcPts val="2700"/>
              </a:lnSpc>
              <a:buFont typeface="Arial"/>
              <a:buChar char="•"/>
            </a:pPr>
            <a:r>
              <a:rPr lang="en-US" sz="1800" b="1" spc="-54">
                <a:solidFill>
                  <a:srgbClr val="00FFA8"/>
                </a:solidFill>
                <a:latin typeface="TT Fors Bold"/>
                <a:ea typeface="TT Fors Bold"/>
                <a:cs typeface="TT Fors Bold"/>
                <a:sym typeface="TT Fors Bold"/>
              </a:rPr>
              <a:t>Controlled Folder Access:</a:t>
            </a:r>
            <a:r>
              <a:rPr lang="en-US" sz="1800" spc="-54">
                <a:solidFill>
                  <a:srgbClr val="00FFA8"/>
                </a:solidFill>
                <a:latin typeface="TT Fors"/>
                <a:ea typeface="TT Fors"/>
                <a:cs typeface="TT Fors"/>
                <a:sym typeface="TT Fors"/>
              </a:rPr>
              <a:t> Prevents unauthorized programs from modifying files in protected folders</a:t>
            </a:r>
          </a:p>
          <a:p>
            <a:pPr marL="388623" lvl="1" indent="-194312" algn="l">
              <a:lnSpc>
                <a:spcPts val="2700"/>
              </a:lnSpc>
              <a:spcBef>
                <a:spcPct val="0"/>
              </a:spcBef>
              <a:buFont typeface="Arial"/>
              <a:buChar char="•"/>
            </a:pPr>
            <a:r>
              <a:rPr lang="en-US" sz="1800" b="1" spc="-54">
                <a:solidFill>
                  <a:srgbClr val="00FFA8"/>
                </a:solidFill>
                <a:latin typeface="TT Fors Bold"/>
                <a:ea typeface="TT Fors Bold"/>
                <a:cs typeface="TT Fors Bold"/>
                <a:sym typeface="TT Fors Bold"/>
              </a:rPr>
              <a:t>Exploit Protection: </a:t>
            </a:r>
            <a:r>
              <a:rPr lang="en-US" sz="1800" spc="-54">
                <a:solidFill>
                  <a:srgbClr val="00FFA8"/>
                </a:solidFill>
                <a:latin typeface="TT Fors"/>
                <a:ea typeface="TT Fors"/>
                <a:cs typeface="TT Fors"/>
                <a:sym typeface="TT Fors"/>
              </a:rPr>
              <a:t>Guards against memory corruption and code injection attacks</a:t>
            </a:r>
          </a:p>
        </p:txBody>
      </p:sp>
      <p:sp>
        <p:nvSpPr>
          <p:cNvPr id="6" name="TextBox 6"/>
          <p:cNvSpPr txBox="1"/>
          <p:nvPr/>
        </p:nvSpPr>
        <p:spPr>
          <a:xfrm>
            <a:off x="9326442" y="5634990"/>
            <a:ext cx="8294808" cy="2045969"/>
          </a:xfrm>
          <a:prstGeom prst="rect">
            <a:avLst/>
          </a:prstGeom>
        </p:spPr>
        <p:txBody>
          <a:bodyPr lIns="0" tIns="0" rIns="0" bIns="0" rtlCol="0" anchor="t">
            <a:spAutoFit/>
          </a:bodyPr>
          <a:lstStyle/>
          <a:p>
            <a:pPr algn="l">
              <a:lnSpc>
                <a:spcPts val="2700"/>
              </a:lnSpc>
            </a:pPr>
            <a:r>
              <a:rPr lang="en-US" sz="1800" b="1" spc="-54">
                <a:solidFill>
                  <a:srgbClr val="00FFA8"/>
                </a:solidFill>
                <a:latin typeface="TT Fors Bold"/>
                <a:ea typeface="TT Fors Bold"/>
                <a:cs typeface="TT Fors Bold"/>
                <a:sym typeface="TT Fors Bold"/>
              </a:rPr>
              <a:t>Upon Suspected Compromise:</a:t>
            </a:r>
          </a:p>
          <a:p>
            <a:pPr marL="388623" lvl="1" indent="-194312" algn="l">
              <a:lnSpc>
                <a:spcPts val="2700"/>
              </a:lnSpc>
              <a:buAutoNum type="arabicPeriod"/>
            </a:pPr>
            <a:r>
              <a:rPr lang="en-US" sz="1800" spc="-54">
                <a:solidFill>
                  <a:srgbClr val="00FFA8"/>
                </a:solidFill>
                <a:latin typeface="TT Fors"/>
                <a:ea typeface="TT Fors"/>
                <a:cs typeface="TT Fors"/>
                <a:sym typeface="TT Fors"/>
              </a:rPr>
              <a:t>Isolate the system from the network</a:t>
            </a:r>
          </a:p>
          <a:p>
            <a:pPr marL="388623" lvl="1" indent="-194312" algn="l">
              <a:lnSpc>
                <a:spcPts val="2700"/>
              </a:lnSpc>
              <a:buAutoNum type="arabicPeriod"/>
            </a:pPr>
            <a:r>
              <a:rPr lang="en-US" sz="1800" spc="-54">
                <a:solidFill>
                  <a:srgbClr val="00FFA8"/>
                </a:solidFill>
                <a:latin typeface="TT Fors"/>
                <a:ea typeface="TT Fors"/>
                <a:cs typeface="TT Fors"/>
                <a:sym typeface="TT Fors"/>
              </a:rPr>
              <a:t>Preserve evidence for forensic analysis</a:t>
            </a:r>
          </a:p>
          <a:p>
            <a:pPr marL="388623" lvl="1" indent="-194312" algn="l">
              <a:lnSpc>
                <a:spcPts val="2700"/>
              </a:lnSpc>
              <a:buAutoNum type="arabicPeriod"/>
            </a:pPr>
            <a:r>
              <a:rPr lang="en-US" sz="1800" spc="-54">
                <a:solidFill>
                  <a:srgbClr val="00FFA8"/>
                </a:solidFill>
                <a:latin typeface="TT Fors"/>
                <a:ea typeface="TT Fors"/>
                <a:cs typeface="TT Fors"/>
                <a:sym typeface="TT Fors"/>
              </a:rPr>
              <a:t>Conduct a memory dump for analysis</a:t>
            </a:r>
          </a:p>
          <a:p>
            <a:pPr marL="388623" lvl="1" indent="-194312" algn="l">
              <a:lnSpc>
                <a:spcPts val="2700"/>
              </a:lnSpc>
              <a:buAutoNum type="arabicPeriod"/>
            </a:pPr>
            <a:r>
              <a:rPr lang="en-US" sz="1800" spc="-54">
                <a:solidFill>
                  <a:srgbClr val="00FFA8"/>
                </a:solidFill>
                <a:latin typeface="TT Fors"/>
                <a:ea typeface="TT Fors"/>
                <a:cs typeface="TT Fors"/>
                <a:sym typeface="TT Fors"/>
              </a:rPr>
              <a:t>Perform comprehensive malware scanning</a:t>
            </a:r>
          </a:p>
          <a:p>
            <a:pPr marL="388623" lvl="1" indent="-194312" algn="l">
              <a:lnSpc>
                <a:spcPts val="2700"/>
              </a:lnSpc>
              <a:spcBef>
                <a:spcPct val="0"/>
              </a:spcBef>
              <a:buAutoNum type="arabicPeriod"/>
            </a:pPr>
            <a:r>
              <a:rPr lang="en-US" sz="1800" spc="-54">
                <a:solidFill>
                  <a:srgbClr val="00FFA8"/>
                </a:solidFill>
                <a:latin typeface="TT Fors"/>
                <a:ea typeface="TT Fors"/>
                <a:cs typeface="TT Fors"/>
                <a:sym typeface="TT Fors"/>
              </a:rPr>
              <a:t>If rootkit confirmed: complete OS wipe and reload, or hardware replacement</a:t>
            </a:r>
          </a:p>
        </p:txBody>
      </p:sp>
      <p:sp>
        <p:nvSpPr>
          <p:cNvPr id="7" name="TextBox 7"/>
          <p:cNvSpPr txBox="1"/>
          <p:nvPr/>
        </p:nvSpPr>
        <p:spPr>
          <a:xfrm>
            <a:off x="9326442" y="1327006"/>
            <a:ext cx="8481253" cy="453390"/>
          </a:xfrm>
          <a:prstGeom prst="rect">
            <a:avLst/>
          </a:prstGeom>
        </p:spPr>
        <p:txBody>
          <a:bodyPr lIns="0" tIns="0" rIns="0" bIns="0" rtlCol="0" anchor="t">
            <a:spAutoFit/>
          </a:bodyPr>
          <a:lstStyle/>
          <a:p>
            <a:pPr algn="l">
              <a:lnSpc>
                <a:spcPts val="3899"/>
              </a:lnSpc>
              <a:spcBef>
                <a:spcPct val="0"/>
              </a:spcBef>
            </a:pPr>
            <a:r>
              <a:rPr lang="en-US" sz="2599" b="1" spc="-77">
                <a:solidFill>
                  <a:srgbClr val="00FFA8"/>
                </a:solidFill>
                <a:latin typeface="TT Fors Bold"/>
                <a:ea typeface="TT Fors Bold"/>
                <a:cs typeface="TT Fors Bold"/>
                <a:sym typeface="TT Fors Bold"/>
              </a:rPr>
              <a:t>6</a:t>
            </a:r>
            <a:r>
              <a:rPr lang="en-US" sz="2599" b="1" u="none" strike="noStrike" spc="-77">
                <a:solidFill>
                  <a:srgbClr val="00FFA8"/>
                </a:solidFill>
                <a:latin typeface="TT Fors Bold"/>
                <a:ea typeface="TT Fors Bold"/>
                <a:cs typeface="TT Fors Bold"/>
                <a:sym typeface="TT Fors Bold"/>
              </a:rPr>
              <a:t>.2 Windows Defender Exploit Guard (Windows 10+)</a:t>
            </a:r>
          </a:p>
        </p:txBody>
      </p:sp>
      <p:sp>
        <p:nvSpPr>
          <p:cNvPr id="8" name="TextBox 8"/>
          <p:cNvSpPr txBox="1"/>
          <p:nvPr/>
        </p:nvSpPr>
        <p:spPr>
          <a:xfrm>
            <a:off x="9326442" y="5076825"/>
            <a:ext cx="6779176" cy="453390"/>
          </a:xfrm>
          <a:prstGeom prst="rect">
            <a:avLst/>
          </a:prstGeom>
        </p:spPr>
        <p:txBody>
          <a:bodyPr lIns="0" tIns="0" rIns="0" bIns="0" rtlCol="0" anchor="t">
            <a:spAutoFit/>
          </a:bodyPr>
          <a:lstStyle/>
          <a:p>
            <a:pPr algn="l">
              <a:lnSpc>
                <a:spcPts val="3899"/>
              </a:lnSpc>
              <a:spcBef>
                <a:spcPct val="0"/>
              </a:spcBef>
            </a:pPr>
            <a:r>
              <a:rPr lang="en-US" sz="2599" b="1" spc="-77">
                <a:solidFill>
                  <a:srgbClr val="00FFA8"/>
                </a:solidFill>
                <a:latin typeface="TT Fors Bold"/>
                <a:ea typeface="TT Fors Bold"/>
                <a:cs typeface="TT Fors Bold"/>
                <a:sym typeface="TT Fors Bold"/>
              </a:rPr>
              <a:t>6</a:t>
            </a:r>
            <a:r>
              <a:rPr lang="en-US" sz="2599" b="1" u="none" strike="noStrike" spc="-77">
                <a:solidFill>
                  <a:srgbClr val="00FFA8"/>
                </a:solidFill>
                <a:latin typeface="TT Fors Bold"/>
                <a:ea typeface="TT Fors Bold"/>
                <a:cs typeface="TT Fors Bold"/>
                <a:sym typeface="TT Fors Bold"/>
              </a:rPr>
              <a:t>.3 Incident Response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Ethical Considerations</a:t>
            </a:r>
          </a:p>
        </p:txBody>
      </p:sp>
      <p:sp>
        <p:nvSpPr>
          <p:cNvPr id="3" name="TextBox 3"/>
          <p:cNvSpPr txBox="1"/>
          <p:nvPr/>
        </p:nvSpPr>
        <p:spPr>
          <a:xfrm>
            <a:off x="666750" y="1461466"/>
            <a:ext cx="16201636" cy="5431155"/>
          </a:xfrm>
          <a:prstGeom prst="rect">
            <a:avLst/>
          </a:prstGeom>
        </p:spPr>
        <p:txBody>
          <a:bodyPr lIns="0" tIns="0" rIns="0" bIns="0" rtlCol="0" anchor="t">
            <a:spAutoFit/>
          </a:bodyPr>
          <a:lstStyle/>
          <a:p>
            <a:pPr algn="l">
              <a:lnSpc>
                <a:spcPts val="3300"/>
              </a:lnSpc>
            </a:pPr>
            <a:r>
              <a:rPr lang="en-US" sz="2200" spc="-66">
                <a:solidFill>
                  <a:srgbClr val="00FFA8"/>
                </a:solidFill>
                <a:latin typeface="TT Fors"/>
                <a:ea typeface="TT Fors"/>
                <a:cs typeface="TT Fors"/>
                <a:sym typeface="TT Fors"/>
              </a:rPr>
              <a:t>As ethical hackers, understanding these vulnerabilities enables you to:</a:t>
            </a:r>
          </a:p>
          <a:p>
            <a:pPr algn="l">
              <a:lnSpc>
                <a:spcPts val="3300"/>
              </a:lnSpc>
            </a:pPr>
            <a:endParaRPr lang="en-US" sz="2200" spc="-66">
              <a:solidFill>
                <a:srgbClr val="00FFA8"/>
              </a:solidFill>
              <a:latin typeface="TT Fors"/>
              <a:ea typeface="TT Fors"/>
              <a:cs typeface="TT Fors"/>
              <a:sym typeface="TT Fors"/>
            </a:endParaRP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Identify security flaws before malicious actors exploit them</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Help organizations implement protective measures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Conduct authorized penetration tests to improve security posture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Educate stakeholders about risks and mitigations</a:t>
            </a:r>
          </a:p>
          <a:p>
            <a:pPr algn="l">
              <a:lnSpc>
                <a:spcPts val="3300"/>
              </a:lnSpc>
            </a:pPr>
            <a:endParaRPr lang="en-US" sz="2200" spc="-66">
              <a:solidFill>
                <a:srgbClr val="00FFA8"/>
              </a:solidFill>
              <a:latin typeface="TT Fors"/>
              <a:ea typeface="TT Fors"/>
              <a:cs typeface="TT Fors"/>
              <a:sym typeface="TT Fors"/>
            </a:endParaRPr>
          </a:p>
          <a:p>
            <a:pPr algn="l">
              <a:lnSpc>
                <a:spcPts val="3300"/>
              </a:lnSpc>
            </a:pPr>
            <a:r>
              <a:rPr lang="en-US" sz="2200" b="1" spc="-66">
                <a:solidFill>
                  <a:srgbClr val="00FFA8"/>
                </a:solidFill>
                <a:latin typeface="TT Fors Bold"/>
                <a:ea typeface="TT Fors Bold"/>
                <a:cs typeface="TT Fors Bold"/>
                <a:sym typeface="TT Fors Bold"/>
              </a:rPr>
              <a:t>Always:</a:t>
            </a:r>
          </a:p>
          <a:p>
            <a:pPr algn="l">
              <a:lnSpc>
                <a:spcPts val="3300"/>
              </a:lnSpc>
            </a:pPr>
            <a:endParaRPr lang="en-US" sz="2200" b="1" spc="-66">
              <a:solidFill>
                <a:srgbClr val="00FFA8"/>
              </a:solidFill>
              <a:latin typeface="TT Fors Bold"/>
              <a:ea typeface="TT Fors Bold"/>
              <a:cs typeface="TT Fors Bold"/>
              <a:sym typeface="TT Fors Bold"/>
            </a:endParaRP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Obtain written authorization before testing any system</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Follow responsible disclosure practices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Respect legal and ethical boundaries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Document findings professionally</a:t>
            </a:r>
          </a:p>
        </p:txBody>
      </p:sp>
      <p:grpSp>
        <p:nvGrpSpPr>
          <p:cNvPr id="4" name="Group 4"/>
          <p:cNvGrpSpPr/>
          <p:nvPr/>
        </p:nvGrpSpPr>
        <p:grpSpPr>
          <a:xfrm>
            <a:off x="16115522" y="381000"/>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11" name="Freeform 11"/>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2" name="Freeform 12"/>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References</a:t>
            </a:r>
          </a:p>
        </p:txBody>
      </p:sp>
      <p:sp>
        <p:nvSpPr>
          <p:cNvPr id="3" name="TextBox 3"/>
          <p:cNvSpPr txBox="1"/>
          <p:nvPr/>
        </p:nvSpPr>
        <p:spPr>
          <a:xfrm>
            <a:off x="666750" y="1491327"/>
            <a:ext cx="16201636" cy="50120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Here are some helpful online resources. You can also find more resources from the MMU digital library: </a:t>
            </a:r>
          </a:p>
          <a:p>
            <a:pPr algn="l">
              <a:lnSpc>
                <a:spcPts val="3300"/>
              </a:lnSpc>
            </a:pPr>
            <a:endParaRPr lang="en-US" sz="2200" b="1" spc="-66">
              <a:solidFill>
                <a:srgbClr val="00FFA8"/>
              </a:solidFill>
              <a:latin typeface="TT Fors Bold"/>
              <a:ea typeface="TT Fors Bold"/>
              <a:cs typeface="TT Fors Bold"/>
              <a:sym typeface="TT Fors Bold"/>
            </a:endParaRP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Windows Internals (7th Edition), Part 2: Chapter 10 - Windows Services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NIST Cybersecurity Framework:</a:t>
            </a:r>
          </a:p>
          <a:p>
            <a:pPr marL="949962" lvl="2" indent="-316654" algn="l">
              <a:lnSpc>
                <a:spcPts val="3300"/>
              </a:lnSpc>
              <a:buFont typeface="Arial"/>
              <a:buChar char="⚬"/>
            </a:pPr>
            <a:r>
              <a:rPr lang="en-US" sz="2200" spc="-66">
                <a:solidFill>
                  <a:srgbClr val="FFFFFF"/>
                </a:solidFill>
                <a:latin typeface="TT Fors"/>
                <a:ea typeface="TT Fors"/>
                <a:cs typeface="TT Fors"/>
                <a:sym typeface="TT Fors"/>
              </a:rPr>
              <a:t>https://www.nist.gov/cyberframework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Microsoft Security Advisories: </a:t>
            </a:r>
          </a:p>
          <a:p>
            <a:pPr marL="949962" lvl="2" indent="-316654" algn="l">
              <a:lnSpc>
                <a:spcPts val="3300"/>
              </a:lnSpc>
              <a:buFont typeface="Arial"/>
              <a:buChar char="⚬"/>
            </a:pPr>
            <a:r>
              <a:rPr lang="en-US" sz="2200" spc="-66">
                <a:solidFill>
                  <a:srgbClr val="FFFFFF"/>
                </a:solidFill>
                <a:latin typeface="TT Fors"/>
                <a:ea typeface="TT Fors"/>
                <a:cs typeface="TT Fors"/>
                <a:sym typeface="TT Fors"/>
              </a:rPr>
              <a:t>https://learn.microsoft.com/en-us/security-updates</a:t>
            </a:r>
          </a:p>
          <a:p>
            <a:pPr marL="949962" lvl="2" indent="-316654" algn="l">
              <a:lnSpc>
                <a:spcPts val="3300"/>
              </a:lnSpc>
              <a:buFont typeface="Arial"/>
              <a:buChar char="⚬"/>
            </a:pPr>
            <a:r>
              <a:rPr lang="en-US" sz="2200" spc="-66">
                <a:solidFill>
                  <a:srgbClr val="FFFFFF"/>
                </a:solidFill>
                <a:latin typeface="TT Fors"/>
                <a:ea typeface="TT Fors"/>
                <a:cs typeface="TT Fors"/>
                <a:sym typeface="TT Fors"/>
              </a:rPr>
              <a:t>https://msrc.microsoft.com/update-guide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Linux Foundation Security Hardening Guidelines:</a:t>
            </a:r>
          </a:p>
          <a:p>
            <a:pPr marL="949962" lvl="2" indent="-316654" algn="l">
              <a:lnSpc>
                <a:spcPts val="3300"/>
              </a:lnSpc>
              <a:buFont typeface="Arial"/>
              <a:buChar char="⚬"/>
            </a:pPr>
            <a:r>
              <a:rPr lang="en-US" sz="2200" spc="-66">
                <a:solidFill>
                  <a:srgbClr val="FFFFFF"/>
                </a:solidFill>
                <a:latin typeface="TT Fors"/>
                <a:ea typeface="TT Fors"/>
                <a:cs typeface="TT Fors"/>
                <a:sym typeface="TT Fors"/>
              </a:rPr>
              <a:t>https://www.linuxfoundation.org/lf-security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OWASP IoT Top 10 and IoT Security Resources</a:t>
            </a:r>
          </a:p>
          <a:p>
            <a:pPr marL="949962" lvl="2" indent="-316654" algn="l">
              <a:lnSpc>
                <a:spcPts val="3300"/>
              </a:lnSpc>
              <a:buFont typeface="Arial"/>
              <a:buChar char="⚬"/>
            </a:pPr>
            <a:r>
              <a:rPr lang="en-US" sz="2200" spc="-66">
                <a:solidFill>
                  <a:srgbClr val="FFFFFF"/>
                </a:solidFill>
                <a:latin typeface="TT Fors"/>
                <a:ea typeface="TT Fors"/>
                <a:cs typeface="TT Fors"/>
                <a:sym typeface="TT Fors"/>
              </a:rPr>
              <a:t>https://owasp.org/www-chapter-toronto/assets/slides/2019-12-11-OWASP-IoT-Top-10---Introduction-and-Root-Causes.pdf</a:t>
            </a:r>
          </a:p>
        </p:txBody>
      </p:sp>
      <p:grpSp>
        <p:nvGrpSpPr>
          <p:cNvPr id="4" name="Group 4"/>
          <p:cNvGrpSpPr/>
          <p:nvPr/>
        </p:nvGrpSpPr>
        <p:grpSpPr>
          <a:xfrm>
            <a:off x="16115522" y="381000"/>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11" name="Freeform 11"/>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2" name="Freeform 12"/>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147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Summary</a:t>
            </a:r>
          </a:p>
        </p:txBody>
      </p:sp>
      <p:sp>
        <p:nvSpPr>
          <p:cNvPr id="3" name="TextBox 3"/>
          <p:cNvSpPr txBox="1"/>
          <p:nvPr/>
        </p:nvSpPr>
        <p:spPr>
          <a:xfrm>
            <a:off x="666750" y="1491327"/>
            <a:ext cx="16201636" cy="2916555"/>
          </a:xfrm>
          <a:prstGeom prst="rect">
            <a:avLst/>
          </a:prstGeom>
        </p:spPr>
        <p:txBody>
          <a:bodyPr lIns="0" tIns="0" rIns="0" bIns="0" rtlCol="0" anchor="t">
            <a:spAutoFit/>
          </a:bodyPr>
          <a:lstStyle/>
          <a:p>
            <a:pPr marL="474981" lvl="1" indent="-237491" algn="l">
              <a:lnSpc>
                <a:spcPts val="3300"/>
              </a:lnSpc>
              <a:buFont typeface="Arial"/>
              <a:buChar char="•"/>
            </a:pPr>
            <a:r>
              <a:rPr lang="en-US" sz="2200" spc="-66">
                <a:solidFill>
                  <a:srgbClr val="00FFA8"/>
                </a:solidFill>
                <a:latin typeface="TT Fors"/>
                <a:ea typeface="TT Fors"/>
                <a:cs typeface="TT Fors"/>
                <a:sym typeface="TT Fors"/>
              </a:rPr>
              <a:t>Operating systems (Windows, Linux, Embedded) are vulnerable in different ways.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Many real-world attacks exploit </a:t>
            </a:r>
            <a:r>
              <a:rPr lang="en-US" sz="2200" b="1" spc="-66">
                <a:solidFill>
                  <a:srgbClr val="00FFA8"/>
                </a:solidFill>
                <a:latin typeface="TT Fors Bold"/>
                <a:ea typeface="TT Fors Bold"/>
                <a:cs typeface="TT Fors Bold"/>
                <a:sym typeface="TT Fors Bold"/>
              </a:rPr>
              <a:t>misconfigurations</a:t>
            </a:r>
            <a:r>
              <a:rPr lang="en-US" sz="2200" spc="-66">
                <a:solidFill>
                  <a:srgbClr val="00FFA8"/>
                </a:solidFill>
                <a:latin typeface="TT Fors"/>
                <a:ea typeface="TT Fors"/>
                <a:cs typeface="TT Fors"/>
                <a:sym typeface="TT Fors"/>
              </a:rPr>
              <a:t>, not just CVEs.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Embedded devices are critical yet under-secured and hard to patch.</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Ethical hackers must:</a:t>
            </a:r>
          </a:p>
          <a:p>
            <a:pPr marL="949962" lvl="2" indent="-316654" algn="l">
              <a:lnSpc>
                <a:spcPts val="3300"/>
              </a:lnSpc>
              <a:buFont typeface="Arial"/>
              <a:buChar char="⚬"/>
            </a:pPr>
            <a:r>
              <a:rPr lang="en-US" sz="2200" spc="-66">
                <a:solidFill>
                  <a:srgbClr val="00FFA8"/>
                </a:solidFill>
                <a:latin typeface="TT Fors"/>
                <a:ea typeface="TT Fors"/>
                <a:cs typeface="TT Fors"/>
                <a:sym typeface="TT Fors"/>
              </a:rPr>
              <a:t>Identify flaws before attackers do.</a:t>
            </a:r>
          </a:p>
          <a:p>
            <a:pPr marL="949962" lvl="2" indent="-316654" algn="l">
              <a:lnSpc>
                <a:spcPts val="3300"/>
              </a:lnSpc>
              <a:buFont typeface="Arial"/>
              <a:buChar char="⚬"/>
            </a:pPr>
            <a:r>
              <a:rPr lang="en-US" sz="2200" spc="-66">
                <a:solidFill>
                  <a:srgbClr val="00FFA8"/>
                </a:solidFill>
                <a:latin typeface="TT Fors"/>
                <a:ea typeface="TT Fors"/>
                <a:cs typeface="TT Fors"/>
                <a:sym typeface="TT Fors"/>
              </a:rPr>
              <a:t>Educate on risks and mitigations.</a:t>
            </a:r>
          </a:p>
          <a:p>
            <a:pPr marL="949962" lvl="2" indent="-316654" algn="l">
              <a:lnSpc>
                <a:spcPts val="3300"/>
              </a:lnSpc>
              <a:buFont typeface="Arial"/>
              <a:buChar char="⚬"/>
            </a:pPr>
            <a:r>
              <a:rPr lang="en-US" sz="2200" spc="-66">
                <a:solidFill>
                  <a:srgbClr val="00FFA8"/>
                </a:solidFill>
                <a:latin typeface="TT Fors"/>
                <a:ea typeface="TT Fors"/>
                <a:cs typeface="TT Fors"/>
                <a:sym typeface="TT Fors"/>
              </a:rPr>
              <a:t>Apply responsible and legal testing.</a:t>
            </a:r>
          </a:p>
        </p:txBody>
      </p:sp>
      <p:grpSp>
        <p:nvGrpSpPr>
          <p:cNvPr id="4" name="Group 4"/>
          <p:cNvGrpSpPr/>
          <p:nvPr/>
        </p:nvGrpSpPr>
        <p:grpSpPr>
          <a:xfrm>
            <a:off x="16115522" y="381000"/>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22978" tIns="22978" rIns="22978" bIns="22978" rtlCol="0" anchor="ctr"/>
              <a:lstStyle/>
              <a:p>
                <a:pPr algn="ctr">
                  <a:lnSpc>
                    <a:spcPts val="2659"/>
                  </a:lnSpc>
                  <a:spcBef>
                    <a:spcPct val="0"/>
                  </a:spcBef>
                </a:pPr>
                <a:endParaRPr/>
              </a:p>
            </p:txBody>
          </p:sp>
        </p:grpSp>
        <p:sp>
          <p:nvSpPr>
            <p:cNvPr id="11" name="Freeform 11"/>
            <p:cNvSpPr/>
            <p:nvPr/>
          </p:nvSpPr>
          <p:spPr>
            <a:xfrm>
              <a:off x="44554" y="239221"/>
              <a:ext cx="991633" cy="602300"/>
            </a:xfrm>
            <a:custGeom>
              <a:avLst/>
              <a:gdLst/>
              <a:ahLst/>
              <a:cxnLst/>
              <a:rect l="l" t="t" r="r" b="b"/>
              <a:pathLst>
                <a:path w="991633" h="602300">
                  <a:moveTo>
                    <a:pt x="0" y="0"/>
                  </a:moveTo>
                  <a:lnTo>
                    <a:pt x="991633" y="0"/>
                  </a:lnTo>
                  <a:lnTo>
                    <a:pt x="991633" y="602299"/>
                  </a:lnTo>
                  <a:lnTo>
                    <a:pt x="0" y="602299"/>
                  </a:lnTo>
                  <a:lnTo>
                    <a:pt x="0" y="0"/>
                  </a:lnTo>
                  <a:close/>
                </a:path>
              </a:pathLst>
            </a:custGeom>
            <a:blipFill>
              <a:blip r:embed="rId3"/>
              <a:stretch>
                <a:fillRect t="-6286" b="-6286"/>
              </a:stretch>
            </a:blipFill>
          </p:spPr>
          <p:txBody>
            <a:bodyPr/>
            <a:lstStyle/>
            <a:p>
              <a:endParaRPr lang="en-US"/>
            </a:p>
          </p:txBody>
        </p:sp>
        <p:sp>
          <p:nvSpPr>
            <p:cNvPr id="12" name="Freeform 12"/>
            <p:cNvSpPr/>
            <p:nvPr/>
          </p:nvSpPr>
          <p:spPr>
            <a:xfrm>
              <a:off x="1110110" y="184552"/>
              <a:ext cx="714315" cy="711636"/>
            </a:xfrm>
            <a:custGeom>
              <a:avLst/>
              <a:gdLst/>
              <a:ahLst/>
              <a:cxnLst/>
              <a:rect l="l" t="t" r="r" b="b"/>
              <a:pathLst>
                <a:path w="714315" h="711636">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0102596" y="0"/>
            <a:ext cx="8185404" cy="10287000"/>
            <a:chOff x="0" y="0"/>
            <a:chExt cx="2155827" cy="2709333"/>
          </a:xfrm>
        </p:grpSpPr>
        <p:sp>
          <p:nvSpPr>
            <p:cNvPr id="3" name="Freeform 3"/>
            <p:cNvSpPr/>
            <p:nvPr/>
          </p:nvSpPr>
          <p:spPr>
            <a:xfrm>
              <a:off x="0" y="0"/>
              <a:ext cx="2155827" cy="2709333"/>
            </a:xfrm>
            <a:custGeom>
              <a:avLst/>
              <a:gdLst/>
              <a:ahLst/>
              <a:cxnLst/>
              <a:rect l="l" t="t" r="r" b="b"/>
              <a:pathLst>
                <a:path w="2155827" h="2709333">
                  <a:moveTo>
                    <a:pt x="0" y="0"/>
                  </a:moveTo>
                  <a:lnTo>
                    <a:pt x="2155827" y="0"/>
                  </a:lnTo>
                  <a:lnTo>
                    <a:pt x="2155827" y="2709333"/>
                  </a:lnTo>
                  <a:lnTo>
                    <a:pt x="0" y="2709333"/>
                  </a:lnTo>
                  <a:close/>
                </a:path>
              </a:pathLst>
            </a:custGeom>
            <a:solidFill>
              <a:srgbClr val="301445"/>
            </a:solidFill>
          </p:spPr>
          <p:txBody>
            <a:bodyPr/>
            <a:lstStyle/>
            <a:p>
              <a:endParaRPr lang="en-US"/>
            </a:p>
          </p:txBody>
        </p:sp>
        <p:sp>
          <p:nvSpPr>
            <p:cNvPr id="4" name="TextBox 4"/>
            <p:cNvSpPr txBox="1"/>
            <p:nvPr/>
          </p:nvSpPr>
          <p:spPr>
            <a:xfrm>
              <a:off x="0" y="-38100"/>
              <a:ext cx="2155827" cy="2747433"/>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10708180" y="666750"/>
            <a:ext cx="6947741" cy="8953500"/>
            <a:chOff x="0" y="0"/>
            <a:chExt cx="812800" cy="1047449"/>
          </a:xfrm>
        </p:grpSpPr>
        <p:sp>
          <p:nvSpPr>
            <p:cNvPr id="6" name="Freeform 6"/>
            <p:cNvSpPr/>
            <p:nvPr/>
          </p:nvSpPr>
          <p:spPr>
            <a:xfrm>
              <a:off x="0" y="0"/>
              <a:ext cx="812800" cy="1047449"/>
            </a:xfrm>
            <a:custGeom>
              <a:avLst/>
              <a:gdLst/>
              <a:ahLst/>
              <a:cxnLst/>
              <a:rect l="l" t="t" r="r" b="b"/>
              <a:pathLst>
                <a:path w="812800" h="1047449">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t="-306" b="-306"/>
              </a:stretch>
            </a:blipFill>
          </p:spPr>
          <p:txBody>
            <a:bodyPr/>
            <a:lstStyle/>
            <a:p>
              <a:endParaRPr lang="en-US"/>
            </a:p>
          </p:txBody>
        </p:sp>
      </p:grpSp>
      <p:grpSp>
        <p:nvGrpSpPr>
          <p:cNvPr id="7" name="Group 7"/>
          <p:cNvGrpSpPr/>
          <p:nvPr/>
        </p:nvGrpSpPr>
        <p:grpSpPr>
          <a:xfrm>
            <a:off x="1126053" y="4096993"/>
            <a:ext cx="8324850" cy="2093014"/>
            <a:chOff x="0" y="0"/>
            <a:chExt cx="11099800" cy="2790686"/>
          </a:xfrm>
        </p:grpSpPr>
        <p:sp>
          <p:nvSpPr>
            <p:cNvPr id="8" name="TextBox 8"/>
            <p:cNvSpPr txBox="1"/>
            <p:nvPr/>
          </p:nvSpPr>
          <p:spPr>
            <a:xfrm>
              <a:off x="0" y="2051122"/>
              <a:ext cx="11099800" cy="739564"/>
            </a:xfrm>
            <a:prstGeom prst="rect">
              <a:avLst/>
            </a:prstGeom>
          </p:spPr>
          <p:txBody>
            <a:bodyPr lIns="0" tIns="0" rIns="0" bIns="0" rtlCol="0" anchor="t">
              <a:spAutoFit/>
            </a:bodyPr>
            <a:lstStyle/>
            <a:p>
              <a:pPr marL="0" lvl="0" indent="0" algn="ctr">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id="9" name="TextBox 9"/>
            <p:cNvSpPr txBox="1"/>
            <p:nvPr/>
          </p:nvSpPr>
          <p:spPr>
            <a:xfrm>
              <a:off x="0" y="0"/>
              <a:ext cx="11099800" cy="1722963"/>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254">
                  <a:solidFill>
                    <a:srgbClr val="00FFA8"/>
                  </a:solidFill>
                  <a:latin typeface="ITC Avant Garde Gothic"/>
                  <a:ea typeface="ITC Avant Garde Gothic"/>
                  <a:cs typeface="ITC Avant Garde Gothic"/>
                  <a:sym typeface="ITC Avant Garde Gothic"/>
                </a:rPr>
                <a:t>Thank You</a:t>
              </a:r>
            </a:p>
          </p:txBody>
        </p:sp>
      </p:grpSp>
      <p:sp>
        <p:nvSpPr>
          <p:cNvPr id="10" name="Freeform 10"/>
          <p:cNvSpPr/>
          <p:nvPr/>
        </p:nvSpPr>
        <p:spPr>
          <a:xfrm rot="5400000" flipH="1">
            <a:off x="16106389" y="8352937"/>
            <a:ext cx="1792448" cy="1639275"/>
          </a:xfrm>
          <a:custGeom>
            <a:avLst/>
            <a:gdLst/>
            <a:ahLst/>
            <a:cxnLst/>
            <a:rect l="l" t="t" r="r" b="b"/>
            <a:pathLst>
              <a:path w="1792448" h="1639275">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8329</Words>
  <Application>Microsoft Macintosh PowerPoint</Application>
  <PresentationFormat>Custom</PresentationFormat>
  <Paragraphs>916</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ITC Avant Garde Gothic</vt:lpstr>
      <vt:lpstr>Arial</vt:lpstr>
      <vt:lpstr>TT Fors</vt:lpstr>
      <vt:lpstr>Calibri</vt:lpstr>
      <vt:lpstr>TT Fors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Lecture-07-CCS6324 -  Operating System Vulnerabilities</dc:title>
  <dc:description>Presentation - Ethical Hacking Overview</dc:description>
  <cp:lastModifiedBy>Hussain Hafiz Adnan</cp:lastModifiedBy>
  <cp:revision>7</cp:revision>
  <dcterms:created xsi:type="dcterms:W3CDTF">2006-08-16T00:00:00Z</dcterms:created>
  <dcterms:modified xsi:type="dcterms:W3CDTF">2025-12-26T04:44:24Z</dcterms:modified>
  <dc:identifier>DAG8JXq_Oho</dc:identifier>
</cp:coreProperties>
</file>