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x="18288000" cy="10287000"/>
  <p:notesSz cx="6858000" cy="9144000"/>
  <p:embeddedFontLst>
    <p:embeddedFont>
      <p:font typeface="ITC Avant Garde Gothic" charset="1" panose="020B0502020202020204"/>
      <p:regular r:id="rId32"/>
    </p:embeddedFont>
    <p:embeddedFont>
      <p:font typeface="TT Fors" charset="1" panose="020B0003030001020000"/>
      <p:regular r:id="rId33"/>
    </p:embeddedFont>
    <p:embeddedFont>
      <p:font typeface="TT Fors Bold" charset="1" panose="020B0003030001020000"/>
      <p:regular r:id="rId38"/>
    </p:embeddedFont>
    <p:embeddedFont>
      <p:font typeface="Canva Sans Bold" charset="1" panose="020B0803030501040103"/>
      <p:regular r:id="rId46"/>
    </p:embeddedFont>
    <p:embeddedFont>
      <p:font typeface="Canva Sans" charset="1" panose="020B0503030501040103"/>
      <p:regular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fonts/font32.fntdata" Type="http://schemas.openxmlformats.org/officeDocument/2006/relationships/font"/><Relationship Id="rId33" Target="fonts/font33.fntdata" Type="http://schemas.openxmlformats.org/officeDocument/2006/relationships/font"/><Relationship Id="rId34" Target="notesMasters/notesMaster1.xml" Type="http://schemas.openxmlformats.org/officeDocument/2006/relationships/notesMaster"/><Relationship Id="rId35" Target="theme/theme2.xml" Type="http://schemas.openxmlformats.org/officeDocument/2006/relationships/theme"/><Relationship Id="rId36" Target="notesSlides/notesSlide1.xml" Type="http://schemas.openxmlformats.org/officeDocument/2006/relationships/notesSlide"/><Relationship Id="rId37" Target="notesSlides/notesSlide2.xml" Type="http://schemas.openxmlformats.org/officeDocument/2006/relationships/notesSlide"/><Relationship Id="rId38" Target="fonts/font38.fntdata" Type="http://schemas.openxmlformats.org/officeDocument/2006/relationships/font"/><Relationship Id="rId39" Target="notesSlides/notesSlide3.xml" Type="http://schemas.openxmlformats.org/officeDocument/2006/relationships/notesSlide"/><Relationship Id="rId4" Target="theme/theme1.xml" Type="http://schemas.openxmlformats.org/officeDocument/2006/relationships/theme"/><Relationship Id="rId40" Target="notesSlides/notesSlide4.xml" Type="http://schemas.openxmlformats.org/officeDocument/2006/relationships/notesSlide"/><Relationship Id="rId41" Target="notesSlides/notesSlide5.xml" Type="http://schemas.openxmlformats.org/officeDocument/2006/relationships/notesSlide"/><Relationship Id="rId42" Target="notesSlides/notesSlide6.xml" Type="http://schemas.openxmlformats.org/officeDocument/2006/relationships/notesSlide"/><Relationship Id="rId43" Target="notesSlides/notesSlide7.xml" Type="http://schemas.openxmlformats.org/officeDocument/2006/relationships/notesSlide"/><Relationship Id="rId44" Target="notesSlides/notesSlide8.xml" Type="http://schemas.openxmlformats.org/officeDocument/2006/relationships/notesSlide"/><Relationship Id="rId45" Target="notesSlides/notesSlide9.xml" Type="http://schemas.openxmlformats.org/officeDocument/2006/relationships/notesSlide"/><Relationship Id="rId46" Target="fonts/font46.fntdata" Type="http://schemas.openxmlformats.org/officeDocument/2006/relationships/font"/><Relationship Id="rId47" Target="fonts/font47.fntdata" Type="http://schemas.openxmlformats.org/officeDocument/2006/relationships/font"/><Relationship Id="rId48" Target="notesSlides/notesSlide10.xml" Type="http://schemas.openxmlformats.org/officeDocument/2006/relationships/notesSlide"/><Relationship Id="rId49" Target="notesSlides/notesSlide11.xml" Type="http://schemas.openxmlformats.org/officeDocument/2006/relationships/notesSlide"/><Relationship Id="rId5" Target="tableStyles.xml" Type="http://schemas.openxmlformats.org/officeDocument/2006/relationships/tableStyles"/><Relationship Id="rId50" Target="notesSlides/notesSlide12.xml" Type="http://schemas.openxmlformats.org/officeDocument/2006/relationships/notesSlide"/><Relationship Id="rId51" Target="notesSlides/notesSlide13.xml" Type="http://schemas.openxmlformats.org/officeDocument/2006/relationships/notesSlide"/><Relationship Id="rId52" Target="notesSlides/notesSlide14.xml" Type="http://schemas.openxmlformats.org/officeDocument/2006/relationships/notesSlide"/><Relationship Id="rId53" Target="notesSlides/notesSlide15.xml" Type="http://schemas.openxmlformats.org/officeDocument/2006/relationships/notesSlide"/><Relationship Id="rId54" Target="notesSlides/notesSlide16.xml" Type="http://schemas.openxmlformats.org/officeDocument/2006/relationships/notesSlide"/><Relationship Id="rId55" Target="notesSlides/notesSlide17.xml" Type="http://schemas.openxmlformats.org/officeDocument/2006/relationships/notesSlide"/><Relationship Id="rId56" Target="notesSlides/notesSlide18.xml" Type="http://schemas.openxmlformats.org/officeDocument/2006/relationships/notesSlide"/><Relationship Id="rId57" Target="notesSlides/notesSlide19.xml" Type="http://schemas.openxmlformats.org/officeDocument/2006/relationships/notesSlide"/><Relationship Id="rId58" Target="notesSlides/notesSlide20.xml" Type="http://schemas.openxmlformats.org/officeDocument/2006/relationships/notesSlide"/><Relationship Id="rId59" Target="notesSlides/notesSlide21.xml" Type="http://schemas.openxmlformats.org/officeDocument/2006/relationships/notesSlide"/><Relationship Id="rId6" Target="slides/slide1.xml" Type="http://schemas.openxmlformats.org/officeDocument/2006/relationships/slide"/><Relationship Id="rId60" Target="notesSlides/notesSlide22.xml" Type="http://schemas.openxmlformats.org/officeDocument/2006/relationships/notesSlide"/><Relationship Id="rId61" Target="notesSlides/notesSlide23.xml" Type="http://schemas.openxmlformats.org/officeDocument/2006/relationships/notesSlide"/><Relationship Id="rId62" Target="notesSlides/notesSlide24.xml" Type="http://schemas.openxmlformats.org/officeDocument/2006/relationships/note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r>
              <a:rPr lang="en-US"/>
              <a:t/>
            </a:r>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r>
              <a:rPr lang="en-US"/>
              <a:t/>
            </a:r>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r>
              <a:rPr lang="en-US"/>
              <a:t/>
            </a:r>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r>
              <a:rPr lang="en-US"/>
              <a:t/>
            </a:r>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r>
              <a:rPr lang="en-US"/>
              <a:t/>
            </a:r>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https://www.google.com/search?q=SSL%2FTLS+encryption&amp;num=10&amp;sca_esv=ebca3cb281b0326c&amp;hl=en&amp;sxsrf=AE3TifO2A2tNyIomabzWVdoD-hQm14fVyw%3A1766726594182&amp;source=hp&amp;ei=whtOacfICMD2seMP0KCViQ0&amp;iflsig=AOw8s4IAAAAAaU4p0nYVAMuOBPQonnYflsXfdToxM8v8&amp;ved=2ahUKEwjJiPi-wdqRAxU5SWwGHQyRJI4QgK4QegQIARAC&amp;uact=5&amp;oq=what+is+http%2Fhttps+protocol+fundamentals&amp;gs_lp=Egdnd3Mtd2l6Iih3aGF0IGlzIGh0dHAvaHR0cHMgcHJvdG9jb2wgZnVuZGFtZW50YWxzMgUQIRigATIFECEYoAEyBRAhGKABSP9dUOoCWL1bcAJ4AJABAJgB_QKgAfAhqgEJMjcuMTEuMi4xuAEDyAEA-AEBmAIroAL-IqgCCsICDRAjGPAFGCcYyQIY6gLCAgcQIxgnGOoCwgIEECMYJ8ICChAjGIAEGCcYigXCAgsQABiABBiRAhiKBcICChAAGIAEGEMYigXCAhAQABiABBixAxhDGIMBGIoFwgIWEC4YgAQYsQMY0QMYQxiDARjHARiKBcICCxAAGIAEGLEDGIMBwgILEC4YgAQYsQMYgwHCAggQABiABBixA8ICEBAjGPAFGIAEGCcYyQIYigXCAgUQABiABMICBxAAGIAEGArCAgYQABgWGB7CAgsQABiABBiGAxiKBcICCBAAGIAEGKIEwgIFECEYnwXCAgcQIRigARgKmAMJ8QXBWMFrAyJZYZIHCTI4LjEyLjIuMaAH7PEBsgcJMjYuMTIuMi4xuAfzIsIHBjkuMjUuOcgHYYAIAA&amp;sclient=gws-wiz&amp;mstk=AUtExfD_PPC8scF113d1P4GPIJZMtajmbQS8qu5IqjpCbbWlGQTQ6cOmXxTOUfgjIc9ZUwM-NucSqL51ClxhJUzxUTvu14w8CWJ9oxA-8vvU_8qpxmmqFLfpMmeKaEriUrPUGAfLFxFLXIavTgSl-41mjIh_SzWs4lOvOJdo8FWRuTziqT4KW_dJmS86xmrvxpPxJGzFCrsV5s18q-bvIyljnTqmFeDn2BNy_OmnecBjn2d_00OEReYqsJsmp_MK9afMiaOkGnLKDaBxQUAsFl7NbeAmEyiOYX7bGTg-Qv3dh8uSYA&amp;csui=3" TargetMode="External" Type="http://schemas.openxmlformats.org/officeDocument/2006/relationships/hyperlink"/></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6.pn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2" Target="../notesSlides/notesSlide24.xml" Type="http://schemas.openxmlformats.org/officeDocument/2006/relationships/notesSlide"/><Relationship Id="rId3" Target="https://owasp.org/Top10/" TargetMode="External" Type="http://schemas.openxmlformats.org/officeDocument/2006/relationships/hyperlink"/><Relationship Id="rId4" Target="https://owasp.org/www-project-web-security-testing-guide/" TargetMode="External" Type="http://schemas.openxmlformats.org/officeDocument/2006/relationships/hyperlink"/><Relationship Id="rId5" Target="https://cwe.mitre.org/top25/" TargetMode="External" Type="http://schemas.openxmlformats.org/officeDocument/2006/relationships/hyperlink"/><Relationship Id="rId6" Target="https://portswigger.net/web-security" TargetMode="External" Type="http://schemas.openxmlformats.org/officeDocument/2006/relationships/hyperlink"/><Relationship Id="rId7" Target="https://book.hacktricks.xyz" TargetMode="External" Type="http://schemas.openxmlformats.org/officeDocument/2006/relationships/hyperlink"/><Relationship Id="rId8" Target="https://portswigger.net/burp/documentation" TargetMode="External" Type="http://schemas.openxmlformats.org/officeDocument/2006/relationships/hyperlink"/><Relationship Id="rId9" Target="../media/image6.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grpSp>
        <p:nvGrpSpPr>
          <p:cNvPr name="Group 2" id="2"/>
          <p:cNvGrpSpPr/>
          <p:nvPr/>
        </p:nvGrpSpPr>
        <p:grpSpPr>
          <a:xfrm rot="0">
            <a:off x="11877675" y="0"/>
            <a:ext cx="6419850" cy="10287000"/>
            <a:chOff x="0" y="0"/>
            <a:chExt cx="994603" cy="1593725"/>
          </a:xfrm>
        </p:grpSpPr>
        <p:sp>
          <p:nvSpPr>
            <p:cNvPr name="Freeform 3" id="3"/>
            <p:cNvSpPr/>
            <p:nvPr/>
          </p:nvSpPr>
          <p:spPr>
            <a:xfrm flipH="false" flipV="false" rot="0">
              <a:off x="0" y="0"/>
              <a:ext cx="994603" cy="1593725"/>
            </a:xfrm>
            <a:custGeom>
              <a:avLst/>
              <a:gdLst/>
              <a:ahLst/>
              <a:cxnLst/>
              <a:rect r="r" b="b" t="t" l="l"/>
              <a:pathLst>
                <a:path h="1593725" w="994603">
                  <a:moveTo>
                    <a:pt x="0" y="0"/>
                  </a:moveTo>
                  <a:lnTo>
                    <a:pt x="994603" y="0"/>
                  </a:lnTo>
                  <a:lnTo>
                    <a:pt x="994603" y="1593725"/>
                  </a:lnTo>
                  <a:lnTo>
                    <a:pt x="0" y="1593725"/>
                  </a:lnTo>
                  <a:close/>
                </a:path>
              </a:pathLst>
            </a:custGeom>
            <a:blipFill>
              <a:blip r:embed="rId2"/>
              <a:stretch>
                <a:fillRect l="-90559" t="0" r="-90559" b="0"/>
              </a:stretch>
            </a:blipFill>
          </p:spPr>
        </p:sp>
      </p:grpSp>
      <p:grpSp>
        <p:nvGrpSpPr>
          <p:cNvPr name="Group 4" id="4"/>
          <p:cNvGrpSpPr/>
          <p:nvPr/>
        </p:nvGrpSpPr>
        <p:grpSpPr>
          <a:xfrm rot="0">
            <a:off x="10962648" y="7828295"/>
            <a:ext cx="3328824" cy="1791955"/>
            <a:chOff x="0" y="0"/>
            <a:chExt cx="4438432" cy="2389273"/>
          </a:xfrm>
        </p:grpSpPr>
        <p:grpSp>
          <p:nvGrpSpPr>
            <p:cNvPr name="Group 5" id="5"/>
            <p:cNvGrpSpPr/>
            <p:nvPr/>
          </p:nvGrpSpPr>
          <p:grpSpPr>
            <a:xfrm rot="0">
              <a:off x="0" y="0"/>
              <a:ext cx="2389273" cy="238927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2049159" y="0"/>
              <a:ext cx="2389273" cy="238927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401359" y="339351"/>
              <a:ext cx="1586555" cy="1710572"/>
            </a:xfrm>
            <a:custGeom>
              <a:avLst/>
              <a:gdLst/>
              <a:ahLst/>
              <a:cxnLst/>
              <a:rect r="r" b="b" t="t" l="l"/>
              <a:pathLst>
                <a:path h="1710572" w="1586555">
                  <a:moveTo>
                    <a:pt x="0" y="0"/>
                  </a:moveTo>
                  <a:lnTo>
                    <a:pt x="1586555" y="0"/>
                  </a:lnTo>
                  <a:lnTo>
                    <a:pt x="1586555" y="1710571"/>
                  </a:lnTo>
                  <a:lnTo>
                    <a:pt x="0" y="171057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2422326" y="555945"/>
              <a:ext cx="1642937" cy="1277384"/>
            </a:xfrm>
            <a:custGeom>
              <a:avLst/>
              <a:gdLst/>
              <a:ahLst/>
              <a:cxnLst/>
              <a:rect r="r" b="b" t="t" l="l"/>
              <a:pathLst>
                <a:path h="1277384" w="1642937">
                  <a:moveTo>
                    <a:pt x="0" y="0"/>
                  </a:moveTo>
                  <a:lnTo>
                    <a:pt x="1642938" y="0"/>
                  </a:lnTo>
                  <a:lnTo>
                    <a:pt x="1642938" y="1277383"/>
                  </a:lnTo>
                  <a:lnTo>
                    <a:pt x="0" y="127738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TextBox 13" id="13"/>
          <p:cNvSpPr txBox="true"/>
          <p:nvPr/>
        </p:nvSpPr>
        <p:spPr>
          <a:xfrm rot="0">
            <a:off x="666750" y="1552575"/>
            <a:ext cx="11210925" cy="2797174"/>
          </a:xfrm>
          <a:prstGeom prst="rect">
            <a:avLst/>
          </a:prstGeom>
        </p:spPr>
        <p:txBody>
          <a:bodyPr anchor="t" rtlCol="false" tIns="0" lIns="0" bIns="0" rIns="0">
            <a:spAutoFit/>
          </a:bodyPr>
          <a:lstStyle/>
          <a:p>
            <a:pPr algn="l" marL="0" indent="0" lvl="0">
              <a:lnSpc>
                <a:spcPts val="9999"/>
              </a:lnSpc>
            </a:pPr>
            <a:r>
              <a:rPr lang="en-US" sz="9999" spc="-299">
                <a:solidFill>
                  <a:srgbClr val="00FFA8"/>
                </a:solidFill>
                <a:latin typeface="ITC Avant Garde Gothic"/>
                <a:ea typeface="ITC Avant Garde Gothic"/>
                <a:cs typeface="ITC Avant Garde Gothic"/>
                <a:sym typeface="ITC Avant Garde Gothic"/>
              </a:rPr>
              <a:t>Hacking Web Servers</a:t>
            </a:r>
          </a:p>
        </p:txBody>
      </p:sp>
      <p:sp>
        <p:nvSpPr>
          <p:cNvPr name="TextBox 14" id="14"/>
          <p:cNvSpPr txBox="true"/>
          <p:nvPr/>
        </p:nvSpPr>
        <p:spPr>
          <a:xfrm rot="0">
            <a:off x="666750" y="561975"/>
            <a:ext cx="9763125" cy="495935"/>
          </a:xfrm>
          <a:prstGeom prst="rect">
            <a:avLst/>
          </a:prstGeom>
        </p:spPr>
        <p:txBody>
          <a:bodyPr anchor="t" rtlCol="false" tIns="0" lIns="0" bIns="0" rIns="0">
            <a:spAutoFit/>
          </a:bodyPr>
          <a:lstStyle/>
          <a:p>
            <a:pPr algn="l" marL="0" indent="0" lvl="0">
              <a:lnSpc>
                <a:spcPts val="3640"/>
              </a:lnSpc>
              <a:spcBef>
                <a:spcPct val="0"/>
              </a:spcBef>
            </a:pPr>
            <a:r>
              <a:rPr lang="en-US" sz="2600">
                <a:solidFill>
                  <a:srgbClr val="00FFA8"/>
                </a:solidFill>
                <a:latin typeface="ITC Avant Garde Gothic"/>
                <a:ea typeface="ITC Avant Garde Gothic"/>
                <a:cs typeface="ITC Avant Garde Gothic"/>
                <a:sym typeface="ITC Avant Garde Gothic"/>
              </a:rPr>
              <a:t>MULTIMEDIA UNIVERSITY, MALAYSIA</a:t>
            </a:r>
          </a:p>
        </p:txBody>
      </p:sp>
      <p:sp>
        <p:nvSpPr>
          <p:cNvPr name="TextBox 15" id="15"/>
          <p:cNvSpPr txBox="true"/>
          <p:nvPr/>
        </p:nvSpPr>
        <p:spPr>
          <a:xfrm rot="0">
            <a:off x="666750" y="4706620"/>
            <a:ext cx="9763125" cy="604520"/>
          </a:xfrm>
          <a:prstGeom prst="rect">
            <a:avLst/>
          </a:prstGeom>
        </p:spPr>
        <p:txBody>
          <a:bodyPr anchor="t" rtlCol="false" tIns="0" lIns="0" bIns="0" rIns="0">
            <a:spAutoFit/>
          </a:bodyPr>
          <a:lstStyle/>
          <a:p>
            <a:pPr algn="l" marL="0" indent="0" lvl="0">
              <a:lnSpc>
                <a:spcPts val="4479"/>
              </a:lnSpc>
              <a:spcBef>
                <a:spcPct val="0"/>
              </a:spcBef>
            </a:pPr>
            <a:r>
              <a:rPr lang="en-US" sz="3199">
                <a:solidFill>
                  <a:srgbClr val="00FFA8"/>
                </a:solidFill>
                <a:latin typeface="ITC Avant Garde Gothic"/>
                <a:ea typeface="ITC Avant Garde Gothic"/>
                <a:cs typeface="ITC Avant Garde Gothic"/>
                <a:sym typeface="ITC Avant Garde Gothic"/>
              </a:rPr>
              <a:t>CCS6324 - 2530</a:t>
            </a:r>
          </a:p>
        </p:txBody>
      </p:sp>
      <p:sp>
        <p:nvSpPr>
          <p:cNvPr name="TextBox 16" id="16"/>
          <p:cNvSpPr txBox="true"/>
          <p:nvPr/>
        </p:nvSpPr>
        <p:spPr>
          <a:xfrm rot="0">
            <a:off x="666750" y="4225924"/>
            <a:ext cx="9763125" cy="604520"/>
          </a:xfrm>
          <a:prstGeom prst="rect">
            <a:avLst/>
          </a:prstGeom>
        </p:spPr>
        <p:txBody>
          <a:bodyPr anchor="t" rtlCol="false" tIns="0" lIns="0" bIns="0" rIns="0">
            <a:spAutoFit/>
          </a:bodyPr>
          <a:lstStyle/>
          <a:p>
            <a:pPr algn="l" marL="0" indent="0" lvl="0">
              <a:lnSpc>
                <a:spcPts val="4479"/>
              </a:lnSpc>
              <a:spcBef>
                <a:spcPct val="0"/>
              </a:spcBef>
            </a:pPr>
            <a:r>
              <a:rPr lang="en-US" sz="3199">
                <a:solidFill>
                  <a:srgbClr val="00FFA8"/>
                </a:solidFill>
                <a:latin typeface="ITC Avant Garde Gothic"/>
                <a:ea typeface="ITC Avant Garde Gothic"/>
                <a:cs typeface="ITC Avant Garde Gothic"/>
                <a:sym typeface="ITC Avant Garde Gothic"/>
              </a:rPr>
              <a:t>ETHICAL HACKING AND PENETRATION TESTING</a:t>
            </a:r>
          </a:p>
        </p:txBody>
      </p:sp>
      <p:sp>
        <p:nvSpPr>
          <p:cNvPr name="TextBox 17" id="17"/>
          <p:cNvSpPr txBox="true"/>
          <p:nvPr/>
        </p:nvSpPr>
        <p:spPr>
          <a:xfrm rot="0">
            <a:off x="663474" y="9181465"/>
            <a:ext cx="7194651" cy="438785"/>
          </a:xfrm>
          <a:prstGeom prst="rect">
            <a:avLst/>
          </a:prstGeom>
        </p:spPr>
        <p:txBody>
          <a:bodyPr anchor="t" rtlCol="false" tIns="0" lIns="0" bIns="0" rIns="0">
            <a:spAutoFit/>
          </a:bodyPr>
          <a:lstStyle/>
          <a:p>
            <a:pPr algn="l" marL="0" indent="0" lvl="0">
              <a:lnSpc>
                <a:spcPts val="3640"/>
              </a:lnSpc>
            </a:pPr>
            <a:r>
              <a:rPr lang="en-US" sz="2600">
                <a:solidFill>
                  <a:srgbClr val="00FFA8"/>
                </a:solidFill>
                <a:latin typeface="TT Fors"/>
                <a:ea typeface="TT Fors"/>
                <a:cs typeface="TT Fors"/>
                <a:sym typeface="TT Fors"/>
              </a:rPr>
              <a:t>Dr. Hafiz Adnan Hussain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grpSp>
        <p:nvGrpSpPr>
          <p:cNvPr name="Group 2" id="2"/>
          <p:cNvGrpSpPr/>
          <p:nvPr/>
        </p:nvGrpSpPr>
        <p:grpSpPr>
          <a:xfrm rot="0">
            <a:off x="16149744" y="381000"/>
            <a:ext cx="1471506" cy="792133"/>
            <a:chOff x="0" y="0"/>
            <a:chExt cx="1962007" cy="1056178"/>
          </a:xfrm>
        </p:grpSpPr>
        <p:grpSp>
          <p:nvGrpSpPr>
            <p:cNvPr name="Group 3" id="3"/>
            <p:cNvGrpSpPr/>
            <p:nvPr/>
          </p:nvGrpSpPr>
          <p:grpSpPr>
            <a:xfrm rot="0">
              <a:off x="0" y="0"/>
              <a:ext cx="1056178" cy="105617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grpSp>
          <p:nvGrpSpPr>
            <p:cNvPr name="Group 6" id="6"/>
            <p:cNvGrpSpPr/>
            <p:nvPr/>
          </p:nvGrpSpPr>
          <p:grpSpPr>
            <a:xfrm rot="0">
              <a:off x="905830" y="0"/>
              <a:ext cx="1056178" cy="105617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sp>
          <p:nvSpPr>
            <p:cNvPr name="Freeform 9" id="9"/>
            <p:cNvSpPr/>
            <p:nvPr/>
          </p:nvSpPr>
          <p:spPr>
            <a:xfrm flipH="false" flipV="false" rot="0">
              <a:off x="177421" y="150010"/>
              <a:ext cx="701336" cy="756158"/>
            </a:xfrm>
            <a:custGeom>
              <a:avLst/>
              <a:gdLst/>
              <a:ahLst/>
              <a:cxnLst/>
              <a:rect r="r" b="b" t="t" l="l"/>
              <a:pathLst>
                <a:path h="756158" w="701336">
                  <a:moveTo>
                    <a:pt x="0" y="0"/>
                  </a:moveTo>
                  <a:lnTo>
                    <a:pt x="701336" y="0"/>
                  </a:lnTo>
                  <a:lnTo>
                    <a:pt x="701336" y="756158"/>
                  </a:lnTo>
                  <a:lnTo>
                    <a:pt x="0" y="7561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070789" y="245755"/>
              <a:ext cx="726260" cy="564667"/>
            </a:xfrm>
            <a:custGeom>
              <a:avLst/>
              <a:gdLst/>
              <a:ahLst/>
              <a:cxnLst/>
              <a:rect r="r" b="b" t="t" l="l"/>
              <a:pathLst>
                <a:path h="564667" w="726260">
                  <a:moveTo>
                    <a:pt x="0" y="0"/>
                  </a:moveTo>
                  <a:lnTo>
                    <a:pt x="726260" y="0"/>
                  </a:lnTo>
                  <a:lnTo>
                    <a:pt x="726260" y="564667"/>
                  </a:lnTo>
                  <a:lnTo>
                    <a:pt x="0" y="5646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TextBox 11" id="11"/>
          <p:cNvSpPr txBox="true"/>
          <p:nvPr/>
        </p:nvSpPr>
        <p:spPr>
          <a:xfrm rot="0">
            <a:off x="666750" y="2132867"/>
            <a:ext cx="16592550" cy="6564630"/>
          </a:xfrm>
          <a:prstGeom prst="rect">
            <a:avLst/>
          </a:prstGeom>
        </p:spPr>
        <p:txBody>
          <a:bodyPr anchor="t" rtlCol="false" tIns="0" lIns="0" bIns="0" rIns="0">
            <a:spAutoFit/>
          </a:bodyPr>
          <a:lstStyle/>
          <a:p>
            <a:pPr algn="l" marL="690879" indent="-345439" lvl="1">
              <a:lnSpc>
                <a:spcPts val="4799"/>
              </a:lnSpc>
              <a:buFont typeface="Arial"/>
              <a:buChar char="•"/>
            </a:pPr>
            <a:r>
              <a:rPr lang="en-US" sz="3199" spc="-95">
                <a:solidFill>
                  <a:srgbClr val="00FFA8"/>
                </a:solidFill>
                <a:latin typeface="TT Fors"/>
                <a:ea typeface="TT Fors"/>
                <a:cs typeface="TT Fors"/>
                <a:sym typeface="TT Fors"/>
              </a:rPr>
              <a:t>This course is designed to educate students on ethical hacking p</a:t>
            </a:r>
            <a:r>
              <a:rPr lang="en-US" sz="3199" spc="-95" strike="noStrike" u="none">
                <a:solidFill>
                  <a:srgbClr val="00FFA8"/>
                </a:solidFill>
                <a:latin typeface="TT Fors"/>
                <a:ea typeface="TT Fors"/>
                <a:cs typeface="TT Fors"/>
                <a:sym typeface="TT Fors"/>
              </a:rPr>
              <a:t>rinc</a:t>
            </a:r>
            <a:r>
              <a:rPr lang="en-US" sz="3199" spc="-95" strike="noStrike" u="none">
                <a:solidFill>
                  <a:srgbClr val="00FFA8"/>
                </a:solidFill>
                <a:latin typeface="TT Fors"/>
                <a:ea typeface="TT Fors"/>
                <a:cs typeface="TT Fors"/>
                <a:sym typeface="TT Fors"/>
              </a:rPr>
              <a:t>i</a:t>
            </a:r>
            <a:r>
              <a:rPr lang="en-US" sz="3199" spc="-95" strike="noStrike" u="none">
                <a:solidFill>
                  <a:srgbClr val="00FFA8"/>
                </a:solidFill>
                <a:latin typeface="TT Fors"/>
                <a:ea typeface="TT Fors"/>
                <a:cs typeface="TT Fors"/>
                <a:sym typeface="TT Fors"/>
              </a:rPr>
              <a:t>ples. The </a:t>
            </a:r>
            <a:r>
              <a:rPr lang="en-US" sz="3199" spc="-95" strike="noStrike" u="none">
                <a:solidFill>
                  <a:srgbClr val="00FFA8"/>
                </a:solidFill>
                <a:latin typeface="TT Fors"/>
                <a:ea typeface="TT Fors"/>
                <a:cs typeface="TT Fors"/>
                <a:sym typeface="TT Fors"/>
              </a:rPr>
              <a:t>kn</a:t>
            </a:r>
            <a:r>
              <a:rPr lang="en-US" sz="3199" spc="-95" strike="noStrike" u="none">
                <a:solidFill>
                  <a:srgbClr val="00FFA8"/>
                </a:solidFill>
                <a:latin typeface="TT Fors"/>
                <a:ea typeface="TT Fors"/>
                <a:cs typeface="TT Fors"/>
                <a:sym typeface="TT Fors"/>
              </a:rPr>
              <a:t>o</a:t>
            </a:r>
            <a:r>
              <a:rPr lang="en-US" sz="3199" spc="-95" strike="noStrike" u="none">
                <a:solidFill>
                  <a:srgbClr val="00FFA8"/>
                </a:solidFill>
                <a:latin typeface="TT Fors"/>
                <a:ea typeface="TT Fors"/>
                <a:cs typeface="TT Fors"/>
                <a:sym typeface="TT Fors"/>
              </a:rPr>
              <a:t>w</a:t>
            </a:r>
            <a:r>
              <a:rPr lang="en-US" sz="3199" spc="-95" strike="noStrike" u="none">
                <a:solidFill>
                  <a:srgbClr val="00FFA8"/>
                </a:solidFill>
                <a:latin typeface="TT Fors"/>
                <a:ea typeface="TT Fors"/>
                <a:cs typeface="TT Fors"/>
                <a:sym typeface="TT Fors"/>
              </a:rPr>
              <a:t>le</a:t>
            </a:r>
            <a:r>
              <a:rPr lang="en-US" sz="3199" spc="-95" strike="noStrike" u="none">
                <a:solidFill>
                  <a:srgbClr val="00FFA8"/>
                </a:solidFill>
                <a:latin typeface="TT Fors"/>
                <a:ea typeface="TT Fors"/>
                <a:cs typeface="TT Fors"/>
                <a:sym typeface="TT Fors"/>
              </a:rPr>
              <a:t>dge</a:t>
            </a:r>
            <a:r>
              <a:rPr lang="en-US" sz="3199" spc="-95" strike="noStrike" u="none">
                <a:solidFill>
                  <a:srgbClr val="00FFA8"/>
                </a:solidFill>
                <a:latin typeface="TT Fors"/>
                <a:ea typeface="TT Fors"/>
                <a:cs typeface="TT Fors"/>
                <a:sym typeface="TT Fors"/>
              </a:rPr>
              <a:t> </a:t>
            </a:r>
            <a:r>
              <a:rPr lang="en-US" sz="3199" spc="-95" strike="noStrike" u="none">
                <a:solidFill>
                  <a:srgbClr val="00FFA8"/>
                </a:solidFill>
                <a:latin typeface="TT Fors"/>
                <a:ea typeface="TT Fors"/>
                <a:cs typeface="TT Fors"/>
                <a:sym typeface="TT Fors"/>
              </a:rPr>
              <a:t>and</a:t>
            </a:r>
            <a:r>
              <a:rPr lang="en-US" sz="3199" spc="-95" strike="noStrike" u="none">
                <a:solidFill>
                  <a:srgbClr val="00FFA8"/>
                </a:solidFill>
                <a:latin typeface="TT Fors"/>
                <a:ea typeface="TT Fors"/>
                <a:cs typeface="TT Fors"/>
                <a:sym typeface="TT Fors"/>
              </a:rPr>
              <a:t> </a:t>
            </a:r>
            <a:r>
              <a:rPr lang="en-US" sz="3199" spc="-95" strike="noStrike" u="none">
                <a:solidFill>
                  <a:srgbClr val="00FFA8"/>
                </a:solidFill>
                <a:latin typeface="TT Fors"/>
                <a:ea typeface="TT Fors"/>
                <a:cs typeface="TT Fors"/>
                <a:sym typeface="TT Fors"/>
              </a:rPr>
              <a:t>t</a:t>
            </a:r>
            <a:r>
              <a:rPr lang="en-US" sz="3199" spc="-95" strike="noStrike" u="none">
                <a:solidFill>
                  <a:srgbClr val="00FFA8"/>
                </a:solidFill>
                <a:latin typeface="TT Fors"/>
                <a:ea typeface="TT Fors"/>
                <a:cs typeface="TT Fors"/>
                <a:sym typeface="TT Fors"/>
              </a:rPr>
              <a:t>echniques acqu</a:t>
            </a:r>
            <a:r>
              <a:rPr lang="en-US" sz="3199" spc="-95" strike="noStrike" u="none">
                <a:solidFill>
                  <a:srgbClr val="00FFA8"/>
                </a:solidFill>
                <a:latin typeface="TT Fors"/>
                <a:ea typeface="TT Fors"/>
                <a:cs typeface="TT Fors"/>
                <a:sym typeface="TT Fors"/>
              </a:rPr>
              <a:t>i</a:t>
            </a:r>
            <a:r>
              <a:rPr lang="en-US" sz="3199" spc="-95" strike="noStrike" u="none">
                <a:solidFill>
                  <a:srgbClr val="00FFA8"/>
                </a:solidFill>
                <a:latin typeface="TT Fors"/>
                <a:ea typeface="TT Fors"/>
                <a:cs typeface="TT Fors"/>
                <a:sym typeface="TT Fors"/>
              </a:rPr>
              <a:t>r</a:t>
            </a:r>
            <a:r>
              <a:rPr lang="en-US" sz="3199" spc="-95" strike="noStrike" u="none">
                <a:solidFill>
                  <a:srgbClr val="00FFA8"/>
                </a:solidFill>
                <a:latin typeface="TT Fors"/>
                <a:ea typeface="TT Fors"/>
                <a:cs typeface="TT Fors"/>
                <a:sym typeface="TT Fors"/>
              </a:rPr>
              <a:t>ed must be used respons</a:t>
            </a:r>
            <a:r>
              <a:rPr lang="en-US" sz="3199" spc="-95" strike="noStrike" u="none">
                <a:solidFill>
                  <a:srgbClr val="00FFA8"/>
                </a:solidFill>
                <a:latin typeface="TT Fors"/>
                <a:ea typeface="TT Fors"/>
                <a:cs typeface="TT Fors"/>
                <a:sym typeface="TT Fors"/>
              </a:rPr>
              <a:t>i</a:t>
            </a:r>
            <a:r>
              <a:rPr lang="en-US" sz="3199" spc="-95" strike="noStrike" u="none">
                <a:solidFill>
                  <a:srgbClr val="00FFA8"/>
                </a:solidFill>
                <a:latin typeface="TT Fors"/>
                <a:ea typeface="TT Fors"/>
                <a:cs typeface="TT Fors"/>
                <a:sym typeface="TT Fors"/>
              </a:rPr>
              <a:t>bl</a:t>
            </a:r>
            <a:r>
              <a:rPr lang="en-US" sz="3199" spc="-95" strike="noStrike" u="none">
                <a:solidFill>
                  <a:srgbClr val="00FFA8"/>
                </a:solidFill>
                <a:latin typeface="TT Fors"/>
                <a:ea typeface="TT Fors"/>
                <a:cs typeface="TT Fors"/>
                <a:sym typeface="TT Fors"/>
              </a:rPr>
              <a:t>y and n</a:t>
            </a:r>
            <a:r>
              <a:rPr lang="en-US" sz="3199" spc="-95" strike="noStrike" u="none">
                <a:solidFill>
                  <a:srgbClr val="00FFA8"/>
                </a:solidFill>
                <a:latin typeface="TT Fors"/>
                <a:ea typeface="TT Fors"/>
                <a:cs typeface="TT Fors"/>
                <a:sym typeface="TT Fors"/>
              </a:rPr>
              <a:t>o</a:t>
            </a:r>
            <a:r>
              <a:rPr lang="en-US" sz="3199" spc="-95" strike="noStrike" u="none">
                <a:solidFill>
                  <a:srgbClr val="00FFA8"/>
                </a:solidFill>
                <a:latin typeface="TT Fors"/>
                <a:ea typeface="TT Fors"/>
                <a:cs typeface="TT Fors"/>
                <a:sym typeface="TT Fors"/>
              </a:rPr>
              <a:t>t</a:t>
            </a:r>
            <a:r>
              <a:rPr lang="en-US" sz="3199" spc="-95" strike="noStrike" u="none">
                <a:solidFill>
                  <a:srgbClr val="00FFA8"/>
                </a:solidFill>
                <a:latin typeface="TT Fors"/>
                <a:ea typeface="TT Fors"/>
                <a:cs typeface="TT Fors"/>
                <a:sym typeface="TT Fors"/>
              </a:rPr>
              <a:t> fo</a:t>
            </a:r>
            <a:r>
              <a:rPr lang="en-US" sz="3199" spc="-95" strike="noStrike" u="none">
                <a:solidFill>
                  <a:srgbClr val="00FFA8"/>
                </a:solidFill>
                <a:latin typeface="TT Fors"/>
                <a:ea typeface="TT Fors"/>
                <a:cs typeface="TT Fors"/>
                <a:sym typeface="TT Fors"/>
              </a:rPr>
              <a:t>r</a:t>
            </a:r>
            <a:r>
              <a:rPr lang="en-US" sz="3199" spc="-95" strike="noStrike" u="none">
                <a:solidFill>
                  <a:srgbClr val="00FFA8"/>
                </a:solidFill>
                <a:latin typeface="TT Fors"/>
                <a:ea typeface="TT Fors"/>
                <a:cs typeface="TT Fors"/>
                <a:sym typeface="TT Fors"/>
              </a:rPr>
              <a:t> </a:t>
            </a:r>
            <a:r>
              <a:rPr lang="en-US" sz="3199" spc="-95" strike="noStrike" u="none">
                <a:solidFill>
                  <a:srgbClr val="00FFA8"/>
                </a:solidFill>
                <a:latin typeface="TT Fors"/>
                <a:ea typeface="TT Fors"/>
                <a:cs typeface="TT Fors"/>
                <a:sym typeface="TT Fors"/>
              </a:rPr>
              <a:t>a</a:t>
            </a:r>
            <a:r>
              <a:rPr lang="en-US" sz="3199" spc="-95" strike="noStrike" u="none">
                <a:solidFill>
                  <a:srgbClr val="00FFA8"/>
                </a:solidFill>
                <a:latin typeface="TT Fors"/>
                <a:ea typeface="TT Fors"/>
                <a:cs typeface="TT Fors"/>
                <a:sym typeface="TT Fors"/>
              </a:rPr>
              <a:t>ny </a:t>
            </a:r>
            <a:r>
              <a:rPr lang="en-US" sz="3199" spc="-95" strike="noStrike" u="none">
                <a:solidFill>
                  <a:srgbClr val="00FFA8"/>
                </a:solidFill>
                <a:latin typeface="TT Fors"/>
                <a:ea typeface="TT Fors"/>
                <a:cs typeface="TT Fors"/>
                <a:sym typeface="TT Fors"/>
              </a:rPr>
              <a:t>i</a:t>
            </a:r>
            <a:r>
              <a:rPr lang="en-US" sz="3199" spc="-95" strike="noStrike" u="none">
                <a:solidFill>
                  <a:srgbClr val="00FFA8"/>
                </a:solidFill>
                <a:latin typeface="TT Fors"/>
                <a:ea typeface="TT Fors"/>
                <a:cs typeface="TT Fors"/>
                <a:sym typeface="TT Fors"/>
              </a:rPr>
              <a:t>llegal </a:t>
            </a:r>
            <a:r>
              <a:rPr lang="en-US" sz="3199" spc="-95" strike="noStrike" u="none">
                <a:solidFill>
                  <a:srgbClr val="00FFA8"/>
                </a:solidFill>
                <a:latin typeface="TT Fors"/>
                <a:ea typeface="TT Fors"/>
                <a:cs typeface="TT Fors"/>
                <a:sym typeface="TT Fors"/>
              </a:rPr>
              <a:t>o</a:t>
            </a:r>
            <a:r>
              <a:rPr lang="en-US" sz="3199" spc="-95" strike="noStrike" u="none">
                <a:solidFill>
                  <a:srgbClr val="00FFA8"/>
                </a:solidFill>
                <a:latin typeface="TT Fors"/>
                <a:ea typeface="TT Fors"/>
                <a:cs typeface="TT Fors"/>
                <a:sym typeface="TT Fors"/>
              </a:rPr>
              <a:t>r u</a:t>
            </a:r>
            <a:r>
              <a:rPr lang="en-US" sz="3199" spc="-95" strike="noStrike" u="none">
                <a:solidFill>
                  <a:srgbClr val="00FFA8"/>
                </a:solidFill>
                <a:latin typeface="TT Fors"/>
                <a:ea typeface="TT Fors"/>
                <a:cs typeface="TT Fors"/>
                <a:sym typeface="TT Fors"/>
              </a:rPr>
              <a:t>n</a:t>
            </a:r>
            <a:r>
              <a:rPr lang="en-US" sz="3199" spc="-95" strike="noStrike" u="none">
                <a:solidFill>
                  <a:srgbClr val="00FFA8"/>
                </a:solidFill>
                <a:latin typeface="TT Fors"/>
                <a:ea typeface="TT Fors"/>
                <a:cs typeface="TT Fors"/>
                <a:sym typeface="TT Fors"/>
              </a:rPr>
              <a:t>authorized</a:t>
            </a:r>
            <a:r>
              <a:rPr lang="en-US" sz="3199" spc="-95" strike="noStrike" u="none">
                <a:solidFill>
                  <a:srgbClr val="00FFA8"/>
                </a:solidFill>
                <a:latin typeface="TT Fors"/>
                <a:ea typeface="TT Fors"/>
                <a:cs typeface="TT Fors"/>
                <a:sym typeface="TT Fors"/>
              </a:rPr>
              <a:t> </a:t>
            </a:r>
            <a:r>
              <a:rPr lang="en-US" sz="3199" spc="-95" strike="noStrike" u="none">
                <a:solidFill>
                  <a:srgbClr val="00FFA8"/>
                </a:solidFill>
                <a:latin typeface="TT Fors"/>
                <a:ea typeface="TT Fors"/>
                <a:cs typeface="TT Fors"/>
                <a:sym typeface="TT Fors"/>
              </a:rPr>
              <a:t>activiti</a:t>
            </a:r>
            <a:r>
              <a:rPr lang="en-US" sz="3199" spc="-95" strike="noStrike" u="none">
                <a:solidFill>
                  <a:srgbClr val="00FFA8"/>
                </a:solidFill>
                <a:latin typeface="TT Fors"/>
                <a:ea typeface="TT Fors"/>
                <a:cs typeface="TT Fors"/>
                <a:sym typeface="TT Fors"/>
              </a:rPr>
              <a:t>es</a:t>
            </a:r>
            <a:r>
              <a:rPr lang="en-US" sz="3199" spc="-95" strike="noStrike" u="none">
                <a:solidFill>
                  <a:srgbClr val="00FFA8"/>
                </a:solidFill>
                <a:latin typeface="TT Fors"/>
                <a:ea typeface="TT Fors"/>
                <a:cs typeface="TT Fors"/>
                <a:sym typeface="TT Fors"/>
              </a:rPr>
              <a:t>.</a:t>
            </a:r>
          </a:p>
          <a:p>
            <a:pPr algn="l" marL="690879" indent="-345439" lvl="1">
              <a:lnSpc>
                <a:spcPts val="4799"/>
              </a:lnSpc>
              <a:buFont typeface="Arial"/>
              <a:buChar char="•"/>
            </a:pPr>
            <a:r>
              <a:rPr lang="en-US" sz="3199" spc="-95" strike="noStrike" u="none">
                <a:solidFill>
                  <a:srgbClr val="00FFA8"/>
                </a:solidFill>
                <a:latin typeface="TT Fors"/>
                <a:ea typeface="TT Fors"/>
                <a:cs typeface="TT Fors"/>
                <a:sym typeface="TT Fors"/>
              </a:rPr>
              <a:t>Each s</a:t>
            </a:r>
            <a:r>
              <a:rPr lang="en-US" sz="3199" spc="-95" strike="noStrike" u="none">
                <a:solidFill>
                  <a:srgbClr val="00FFA8"/>
                </a:solidFill>
                <a:latin typeface="TT Fors"/>
                <a:ea typeface="TT Fors"/>
                <a:cs typeface="TT Fors"/>
                <a:sym typeface="TT Fors"/>
              </a:rPr>
              <a:t>t</a:t>
            </a:r>
            <a:r>
              <a:rPr lang="en-US" sz="3199" spc="-95" strike="noStrike" u="none">
                <a:solidFill>
                  <a:srgbClr val="00FFA8"/>
                </a:solidFill>
                <a:latin typeface="TT Fors"/>
                <a:ea typeface="TT Fors"/>
                <a:cs typeface="TT Fors"/>
                <a:sym typeface="TT Fors"/>
              </a:rPr>
              <a:t>ud</a:t>
            </a:r>
            <a:r>
              <a:rPr lang="en-US" sz="3199" spc="-95" strike="noStrike" u="none">
                <a:solidFill>
                  <a:srgbClr val="00FFA8"/>
                </a:solidFill>
                <a:latin typeface="TT Fors"/>
                <a:ea typeface="TT Fors"/>
                <a:cs typeface="TT Fors"/>
                <a:sym typeface="TT Fors"/>
              </a:rPr>
              <a:t>e</a:t>
            </a:r>
            <a:r>
              <a:rPr lang="en-US" sz="3199" spc="-95" strike="noStrike" u="none">
                <a:solidFill>
                  <a:srgbClr val="00FFA8"/>
                </a:solidFill>
                <a:latin typeface="TT Fors"/>
                <a:ea typeface="TT Fors"/>
                <a:cs typeface="TT Fors"/>
                <a:sym typeface="TT Fors"/>
              </a:rPr>
              <a:t>nt is solely </a:t>
            </a:r>
            <a:r>
              <a:rPr lang="en-US" sz="3199" spc="-95" strike="noStrike" u="none">
                <a:solidFill>
                  <a:srgbClr val="00FFA8"/>
                </a:solidFill>
                <a:latin typeface="TT Fors"/>
                <a:ea typeface="TT Fors"/>
                <a:cs typeface="TT Fors"/>
                <a:sym typeface="TT Fors"/>
              </a:rPr>
              <a:t>r</a:t>
            </a:r>
            <a:r>
              <a:rPr lang="en-US" sz="3199" spc="-95" strike="noStrike" u="none">
                <a:solidFill>
                  <a:srgbClr val="00FFA8"/>
                </a:solidFill>
                <a:latin typeface="TT Fors"/>
                <a:ea typeface="TT Fors"/>
                <a:cs typeface="TT Fors"/>
                <a:sym typeface="TT Fors"/>
              </a:rPr>
              <a:t>e</a:t>
            </a:r>
            <a:r>
              <a:rPr lang="en-US" sz="3199" spc="-95" strike="noStrike" u="none">
                <a:solidFill>
                  <a:srgbClr val="00FFA8"/>
                </a:solidFill>
                <a:latin typeface="TT Fors"/>
                <a:ea typeface="TT Fors"/>
                <a:cs typeface="TT Fors"/>
                <a:sym typeface="TT Fors"/>
              </a:rPr>
              <a:t>s</a:t>
            </a:r>
            <a:r>
              <a:rPr lang="en-US" sz="3199" spc="-95" strike="noStrike" u="none">
                <a:solidFill>
                  <a:srgbClr val="00FFA8"/>
                </a:solidFill>
                <a:latin typeface="TT Fors"/>
                <a:ea typeface="TT Fors"/>
                <a:cs typeface="TT Fors"/>
                <a:sym typeface="TT Fors"/>
              </a:rPr>
              <a:t>po</a:t>
            </a:r>
            <a:r>
              <a:rPr lang="en-US" sz="3199" spc="-95" strike="noStrike" u="none">
                <a:solidFill>
                  <a:srgbClr val="00FFA8"/>
                </a:solidFill>
                <a:latin typeface="TT Fors"/>
                <a:ea typeface="TT Fors"/>
                <a:cs typeface="TT Fors"/>
                <a:sym typeface="TT Fors"/>
              </a:rPr>
              <a:t>n</a:t>
            </a:r>
            <a:r>
              <a:rPr lang="en-US" sz="3199" spc="-95" strike="noStrike" u="none">
                <a:solidFill>
                  <a:srgbClr val="00FFA8"/>
                </a:solidFill>
                <a:latin typeface="TT Fors"/>
                <a:ea typeface="TT Fors"/>
                <a:cs typeface="TT Fors"/>
                <a:sym typeface="TT Fors"/>
              </a:rPr>
              <a:t>sibl</a:t>
            </a:r>
            <a:r>
              <a:rPr lang="en-US" sz="3199" spc="-95" strike="noStrike" u="none">
                <a:solidFill>
                  <a:srgbClr val="00FFA8"/>
                </a:solidFill>
                <a:latin typeface="TT Fors"/>
                <a:ea typeface="TT Fors"/>
                <a:cs typeface="TT Fors"/>
                <a:sym typeface="TT Fors"/>
              </a:rPr>
              <a:t>e</a:t>
            </a:r>
            <a:r>
              <a:rPr lang="en-US" sz="3199" spc="-95" strike="noStrike" u="none">
                <a:solidFill>
                  <a:srgbClr val="00FFA8"/>
                </a:solidFill>
                <a:latin typeface="TT Fors"/>
                <a:ea typeface="TT Fors"/>
                <a:cs typeface="TT Fors"/>
                <a:sym typeface="TT Fors"/>
              </a:rPr>
              <a:t> for </a:t>
            </a:r>
            <a:r>
              <a:rPr lang="en-US" sz="3199" spc="-95" strike="noStrike" u="none">
                <a:solidFill>
                  <a:srgbClr val="00FFA8"/>
                </a:solidFill>
                <a:latin typeface="TT Fors"/>
                <a:ea typeface="TT Fors"/>
                <a:cs typeface="TT Fors"/>
                <a:sym typeface="TT Fors"/>
              </a:rPr>
              <a:t>t</a:t>
            </a:r>
            <a:r>
              <a:rPr lang="en-US" sz="3199" spc="-95" strike="noStrike" u="none">
                <a:solidFill>
                  <a:srgbClr val="00FFA8"/>
                </a:solidFill>
                <a:latin typeface="TT Fors"/>
                <a:ea typeface="TT Fors"/>
                <a:cs typeface="TT Fors"/>
                <a:sym typeface="TT Fors"/>
              </a:rPr>
              <a:t>hei</a:t>
            </a:r>
            <a:r>
              <a:rPr lang="en-US" sz="3199" spc="-95" strike="noStrike" u="none">
                <a:solidFill>
                  <a:srgbClr val="00FFA8"/>
                </a:solidFill>
                <a:latin typeface="TT Fors"/>
                <a:ea typeface="TT Fors"/>
                <a:cs typeface="TT Fors"/>
                <a:sym typeface="TT Fors"/>
              </a:rPr>
              <a:t>r</a:t>
            </a:r>
            <a:r>
              <a:rPr lang="en-US" sz="3199" spc="-95" strike="noStrike" u="none">
                <a:solidFill>
                  <a:srgbClr val="00FFA8"/>
                </a:solidFill>
                <a:latin typeface="TT Fors"/>
                <a:ea typeface="TT Fors"/>
                <a:cs typeface="TT Fors"/>
                <a:sym typeface="TT Fors"/>
              </a:rPr>
              <a:t> </a:t>
            </a:r>
            <a:r>
              <a:rPr lang="en-US" sz="3199" spc="-95" strike="noStrike" u="none">
                <a:solidFill>
                  <a:srgbClr val="00FFA8"/>
                </a:solidFill>
                <a:latin typeface="TT Fors"/>
                <a:ea typeface="TT Fors"/>
                <a:cs typeface="TT Fors"/>
                <a:sym typeface="TT Fors"/>
              </a:rPr>
              <a:t>a</a:t>
            </a:r>
            <a:r>
              <a:rPr lang="en-US" sz="3199" spc="-95" strike="noStrike" u="none">
                <a:solidFill>
                  <a:srgbClr val="00FFA8"/>
                </a:solidFill>
                <a:latin typeface="TT Fors"/>
                <a:ea typeface="TT Fors"/>
                <a:cs typeface="TT Fors"/>
                <a:sym typeface="TT Fors"/>
              </a:rPr>
              <a:t>c</a:t>
            </a:r>
            <a:r>
              <a:rPr lang="en-US" sz="3199" spc="-95" strike="noStrike" u="none">
                <a:solidFill>
                  <a:srgbClr val="00FFA8"/>
                </a:solidFill>
                <a:latin typeface="TT Fors"/>
                <a:ea typeface="TT Fors"/>
                <a:cs typeface="TT Fors"/>
                <a:sym typeface="TT Fors"/>
              </a:rPr>
              <a:t>tion</a:t>
            </a:r>
            <a:r>
              <a:rPr lang="en-US" sz="3199" spc="-95" strike="noStrike" u="none">
                <a:solidFill>
                  <a:srgbClr val="00FFA8"/>
                </a:solidFill>
                <a:latin typeface="TT Fors"/>
                <a:ea typeface="TT Fors"/>
                <a:cs typeface="TT Fors"/>
                <a:sym typeface="TT Fors"/>
              </a:rPr>
              <a:t>s.</a:t>
            </a:r>
          </a:p>
          <a:p>
            <a:pPr algn="l" marL="690879" indent="-345439" lvl="1">
              <a:lnSpc>
                <a:spcPts val="4799"/>
              </a:lnSpc>
              <a:buFont typeface="Arial"/>
              <a:buChar char="•"/>
            </a:pPr>
            <a:r>
              <a:rPr lang="en-US" sz="3199" spc="-95" strike="noStrike" u="none">
                <a:solidFill>
                  <a:srgbClr val="00FFA8"/>
                </a:solidFill>
                <a:latin typeface="TT Fors"/>
                <a:ea typeface="TT Fors"/>
                <a:cs typeface="TT Fors"/>
                <a:sym typeface="TT Fors"/>
              </a:rPr>
              <a:t>Do not inv</a:t>
            </a:r>
            <a:r>
              <a:rPr lang="en-US" sz="3199" spc="-95" strike="noStrike" u="none">
                <a:solidFill>
                  <a:srgbClr val="00FFA8"/>
                </a:solidFill>
                <a:latin typeface="TT Fors"/>
                <a:ea typeface="TT Fors"/>
                <a:cs typeface="TT Fors"/>
                <a:sym typeface="TT Fors"/>
              </a:rPr>
              <a:t>estig</a:t>
            </a:r>
            <a:r>
              <a:rPr lang="en-US" sz="3199" spc="-95" strike="noStrike" u="none">
                <a:solidFill>
                  <a:srgbClr val="00FFA8"/>
                </a:solidFill>
                <a:latin typeface="TT Fors"/>
                <a:ea typeface="TT Fors"/>
                <a:cs typeface="TT Fors"/>
                <a:sym typeface="TT Fors"/>
              </a:rPr>
              <a:t>a</a:t>
            </a:r>
            <a:r>
              <a:rPr lang="en-US" sz="3199" spc="-95" strike="noStrike" u="none">
                <a:solidFill>
                  <a:srgbClr val="00FFA8"/>
                </a:solidFill>
                <a:latin typeface="TT Fors"/>
                <a:ea typeface="TT Fors"/>
                <a:cs typeface="TT Fors"/>
                <a:sym typeface="TT Fors"/>
              </a:rPr>
              <a:t>t</a:t>
            </a:r>
            <a:r>
              <a:rPr lang="en-US" sz="3199" spc="-95" strike="noStrike" u="none">
                <a:solidFill>
                  <a:srgbClr val="00FFA8"/>
                </a:solidFill>
                <a:latin typeface="TT Fors"/>
                <a:ea typeface="TT Fors"/>
                <a:cs typeface="TT Fors"/>
                <a:sym typeface="TT Fors"/>
              </a:rPr>
              <a:t>e in</a:t>
            </a:r>
            <a:r>
              <a:rPr lang="en-US" sz="3199" spc="-95" strike="noStrike" u="none">
                <a:solidFill>
                  <a:srgbClr val="00FFA8"/>
                </a:solidFill>
                <a:latin typeface="TT Fors"/>
                <a:ea typeface="TT Fors"/>
                <a:cs typeface="TT Fors"/>
                <a:sym typeface="TT Fors"/>
              </a:rPr>
              <a:t>d</a:t>
            </a:r>
            <a:r>
              <a:rPr lang="en-US" sz="3199" spc="-95" strike="noStrike" u="none">
                <a:solidFill>
                  <a:srgbClr val="00FFA8"/>
                </a:solidFill>
                <a:latin typeface="TT Fors"/>
                <a:ea typeface="TT Fors"/>
                <a:cs typeface="TT Fors"/>
                <a:sym typeface="TT Fors"/>
              </a:rPr>
              <a:t>ividua</a:t>
            </a:r>
            <a:r>
              <a:rPr lang="en-US" sz="3199" spc="-95" strike="noStrike" u="none">
                <a:solidFill>
                  <a:srgbClr val="00FFA8"/>
                </a:solidFill>
                <a:latin typeface="TT Fors"/>
                <a:ea typeface="TT Fors"/>
                <a:cs typeface="TT Fors"/>
                <a:sym typeface="TT Fors"/>
              </a:rPr>
              <a:t>l</a:t>
            </a:r>
            <a:r>
              <a:rPr lang="en-US" sz="3199" spc="-95" strike="noStrike" u="none">
                <a:solidFill>
                  <a:srgbClr val="00FFA8"/>
                </a:solidFill>
                <a:latin typeface="TT Fors"/>
                <a:ea typeface="TT Fors"/>
                <a:cs typeface="TT Fors"/>
                <a:sym typeface="TT Fors"/>
              </a:rPr>
              <a:t>s, webs</a:t>
            </a:r>
            <a:r>
              <a:rPr lang="en-US" sz="3199" spc="-95" strike="noStrike" u="none">
                <a:solidFill>
                  <a:srgbClr val="00FFA8"/>
                </a:solidFill>
                <a:latin typeface="TT Fors"/>
                <a:ea typeface="TT Fors"/>
                <a:cs typeface="TT Fors"/>
                <a:sym typeface="TT Fors"/>
              </a:rPr>
              <a:t>i</a:t>
            </a:r>
            <a:r>
              <a:rPr lang="en-US" sz="3199" spc="-95" strike="noStrike" u="none">
                <a:solidFill>
                  <a:srgbClr val="00FFA8"/>
                </a:solidFill>
                <a:latin typeface="TT Fors"/>
                <a:ea typeface="TT Fors"/>
                <a:cs typeface="TT Fors"/>
                <a:sym typeface="TT Fors"/>
              </a:rPr>
              <a:t>t</a:t>
            </a:r>
            <a:r>
              <a:rPr lang="en-US" sz="3199" spc="-95" strike="noStrike" u="none">
                <a:solidFill>
                  <a:srgbClr val="00FFA8"/>
                </a:solidFill>
                <a:latin typeface="TT Fors"/>
                <a:ea typeface="TT Fors"/>
                <a:cs typeface="TT Fors"/>
                <a:sym typeface="TT Fors"/>
              </a:rPr>
              <a:t>es, </a:t>
            </a:r>
            <a:r>
              <a:rPr lang="en-US" sz="3199" spc="-95" strike="noStrike" u="none">
                <a:solidFill>
                  <a:srgbClr val="00FFA8"/>
                </a:solidFill>
                <a:latin typeface="TT Fors"/>
                <a:ea typeface="TT Fors"/>
                <a:cs typeface="TT Fors"/>
                <a:sym typeface="TT Fors"/>
              </a:rPr>
              <a:t>servers or conduct</a:t>
            </a:r>
            <a:r>
              <a:rPr lang="en-US" sz="3199" spc="-95" strike="noStrike" u="none">
                <a:solidFill>
                  <a:srgbClr val="00FFA8"/>
                </a:solidFill>
                <a:latin typeface="TT Fors"/>
                <a:ea typeface="TT Fors"/>
                <a:cs typeface="TT Fors"/>
                <a:sym typeface="TT Fors"/>
              </a:rPr>
              <a:t> a</a:t>
            </a:r>
            <a:r>
              <a:rPr lang="en-US" sz="3199" spc="-95" strike="noStrike" u="none">
                <a:solidFill>
                  <a:srgbClr val="00FFA8"/>
                </a:solidFill>
                <a:latin typeface="TT Fors"/>
                <a:ea typeface="TT Fors"/>
                <a:cs typeface="TT Fors"/>
                <a:sym typeface="TT Fors"/>
              </a:rPr>
              <a:t>ny ill</a:t>
            </a:r>
            <a:r>
              <a:rPr lang="en-US" sz="3199" spc="-95" strike="noStrike" u="none">
                <a:solidFill>
                  <a:srgbClr val="00FFA8"/>
                </a:solidFill>
                <a:latin typeface="TT Fors"/>
                <a:ea typeface="TT Fors"/>
                <a:cs typeface="TT Fors"/>
                <a:sym typeface="TT Fors"/>
              </a:rPr>
              <a:t>eg</a:t>
            </a:r>
            <a:r>
              <a:rPr lang="en-US" sz="3199" spc="-95" strike="noStrike" u="none">
                <a:solidFill>
                  <a:srgbClr val="00FFA8"/>
                </a:solidFill>
                <a:latin typeface="TT Fors"/>
                <a:ea typeface="TT Fors"/>
                <a:cs typeface="TT Fors"/>
                <a:sym typeface="TT Fors"/>
              </a:rPr>
              <a:t>al activit</a:t>
            </a:r>
            <a:r>
              <a:rPr lang="en-US" sz="3199" spc="-95" strike="noStrike" u="none">
                <a:solidFill>
                  <a:srgbClr val="00FFA8"/>
                </a:solidFill>
                <a:latin typeface="TT Fors"/>
                <a:ea typeface="TT Fors"/>
                <a:cs typeface="TT Fors"/>
                <a:sym typeface="TT Fors"/>
              </a:rPr>
              <a:t>ies</a:t>
            </a:r>
            <a:r>
              <a:rPr lang="en-US" sz="3199" spc="-95" strike="noStrike" u="none">
                <a:solidFill>
                  <a:srgbClr val="00FFA8"/>
                </a:solidFill>
                <a:latin typeface="TT Fors"/>
                <a:ea typeface="TT Fors"/>
                <a:cs typeface="TT Fors"/>
                <a:sym typeface="TT Fors"/>
              </a:rPr>
              <a:t> on</a:t>
            </a:r>
            <a:r>
              <a:rPr lang="en-US" sz="3199" spc="-95" strike="noStrike" u="none">
                <a:solidFill>
                  <a:srgbClr val="00FFA8"/>
                </a:solidFill>
                <a:latin typeface="TT Fors"/>
                <a:ea typeface="TT Fors"/>
                <a:cs typeface="TT Fors"/>
                <a:sym typeface="TT Fors"/>
              </a:rPr>
              <a:t> an</a:t>
            </a:r>
            <a:r>
              <a:rPr lang="en-US" sz="3199" spc="-95" strike="noStrike" u="none">
                <a:solidFill>
                  <a:srgbClr val="00FFA8"/>
                </a:solidFill>
                <a:latin typeface="TT Fors"/>
                <a:ea typeface="TT Fors"/>
                <a:cs typeface="TT Fors"/>
                <a:sym typeface="TT Fors"/>
              </a:rPr>
              <a:t>y</a:t>
            </a:r>
            <a:r>
              <a:rPr lang="en-US" sz="3199" spc="-95" strike="noStrike" u="none">
                <a:solidFill>
                  <a:srgbClr val="00FFA8"/>
                </a:solidFill>
                <a:latin typeface="TT Fors"/>
                <a:ea typeface="TT Fors"/>
                <a:cs typeface="TT Fors"/>
                <a:sym typeface="TT Fors"/>
              </a:rPr>
              <a:t> </a:t>
            </a:r>
            <a:r>
              <a:rPr lang="en-US" sz="3199" spc="-95" strike="noStrike" u="none">
                <a:solidFill>
                  <a:srgbClr val="00FFA8"/>
                </a:solidFill>
                <a:latin typeface="TT Fors"/>
                <a:ea typeface="TT Fors"/>
                <a:cs typeface="TT Fors"/>
                <a:sym typeface="TT Fors"/>
              </a:rPr>
              <a:t>s</a:t>
            </a:r>
            <a:r>
              <a:rPr lang="en-US" sz="3199" spc="-95" strike="noStrike" u="none">
                <a:solidFill>
                  <a:srgbClr val="00FFA8"/>
                </a:solidFill>
                <a:latin typeface="TT Fors"/>
                <a:ea typeface="TT Fors"/>
                <a:cs typeface="TT Fors"/>
                <a:sym typeface="TT Fors"/>
              </a:rPr>
              <a:t>y</a:t>
            </a:r>
            <a:r>
              <a:rPr lang="en-US" sz="3199" spc="-95" strike="noStrike" u="none">
                <a:solidFill>
                  <a:srgbClr val="00FFA8"/>
                </a:solidFill>
                <a:latin typeface="TT Fors"/>
                <a:ea typeface="TT Fors"/>
                <a:cs typeface="TT Fors"/>
                <a:sym typeface="TT Fors"/>
              </a:rPr>
              <a:t>st</a:t>
            </a:r>
            <a:r>
              <a:rPr lang="en-US" sz="3199" spc="-95" strike="noStrike" u="none">
                <a:solidFill>
                  <a:srgbClr val="00FFA8"/>
                </a:solidFill>
                <a:latin typeface="TT Fors"/>
                <a:ea typeface="TT Fors"/>
                <a:cs typeface="TT Fors"/>
                <a:sym typeface="TT Fors"/>
              </a:rPr>
              <a:t>e</a:t>
            </a:r>
            <a:r>
              <a:rPr lang="en-US" sz="3199" spc="-95" strike="noStrike" u="none">
                <a:solidFill>
                  <a:srgbClr val="00FFA8"/>
                </a:solidFill>
                <a:latin typeface="TT Fors"/>
                <a:ea typeface="TT Fors"/>
                <a:cs typeface="TT Fors"/>
                <a:sym typeface="TT Fors"/>
              </a:rPr>
              <a:t>m</a:t>
            </a:r>
            <a:r>
              <a:rPr lang="en-US" sz="3199" spc="-95" strike="noStrike" u="none">
                <a:solidFill>
                  <a:srgbClr val="00FFA8"/>
                </a:solidFill>
                <a:latin typeface="TT Fors"/>
                <a:ea typeface="TT Fors"/>
                <a:cs typeface="TT Fors"/>
                <a:sym typeface="TT Fors"/>
              </a:rPr>
              <a:t> you do not have</a:t>
            </a:r>
            <a:r>
              <a:rPr lang="en-US" sz="3199" spc="-95" strike="noStrike" u="none">
                <a:solidFill>
                  <a:srgbClr val="00FFA8"/>
                </a:solidFill>
                <a:latin typeface="TT Fors"/>
                <a:ea typeface="TT Fors"/>
                <a:cs typeface="TT Fors"/>
                <a:sym typeface="TT Fors"/>
              </a:rPr>
              <a:t> p</a:t>
            </a:r>
            <a:r>
              <a:rPr lang="en-US" sz="3199" spc="-95" strike="noStrike" u="none">
                <a:solidFill>
                  <a:srgbClr val="00FFA8"/>
                </a:solidFill>
                <a:latin typeface="TT Fors"/>
                <a:ea typeface="TT Fors"/>
                <a:cs typeface="TT Fors"/>
                <a:sym typeface="TT Fors"/>
              </a:rPr>
              <a:t>er</a:t>
            </a:r>
            <a:r>
              <a:rPr lang="en-US" sz="3199" spc="-95" strike="noStrike" u="none">
                <a:solidFill>
                  <a:srgbClr val="00FFA8"/>
                </a:solidFill>
                <a:latin typeface="TT Fors"/>
                <a:ea typeface="TT Fors"/>
                <a:cs typeface="TT Fors"/>
                <a:sym typeface="TT Fors"/>
              </a:rPr>
              <a:t>miss</a:t>
            </a:r>
            <a:r>
              <a:rPr lang="en-US" sz="3199" spc="-95" strike="noStrike" u="none">
                <a:solidFill>
                  <a:srgbClr val="00FFA8"/>
                </a:solidFill>
                <a:latin typeface="TT Fors"/>
                <a:ea typeface="TT Fors"/>
                <a:cs typeface="TT Fors"/>
                <a:sym typeface="TT Fors"/>
              </a:rPr>
              <a:t>ion </a:t>
            </a:r>
            <a:r>
              <a:rPr lang="en-US" sz="3199" spc="-95" strike="noStrike" u="none">
                <a:solidFill>
                  <a:srgbClr val="00FFA8"/>
                </a:solidFill>
                <a:latin typeface="TT Fors"/>
                <a:ea typeface="TT Fors"/>
                <a:cs typeface="TT Fors"/>
                <a:sym typeface="TT Fors"/>
              </a:rPr>
              <a:t>to analyze.</a:t>
            </a:r>
          </a:p>
          <a:p>
            <a:pPr algn="l" marL="690879" indent="-345439" lvl="1">
              <a:lnSpc>
                <a:spcPts val="4799"/>
              </a:lnSpc>
              <a:buFont typeface="Arial"/>
              <a:buChar char="•"/>
            </a:pPr>
            <a:r>
              <a:rPr lang="en-US" sz="3199" spc="-95" strike="noStrike" u="none">
                <a:solidFill>
                  <a:srgbClr val="00FFA8"/>
                </a:solidFill>
                <a:latin typeface="TT Fors"/>
                <a:ea typeface="TT Fors"/>
                <a:cs typeface="TT Fors"/>
                <a:sym typeface="TT Fors"/>
              </a:rPr>
              <a:t>T</a:t>
            </a:r>
            <a:r>
              <a:rPr lang="en-US" sz="3199" spc="-95" strike="noStrike" u="none">
                <a:solidFill>
                  <a:srgbClr val="00FFA8"/>
                </a:solidFill>
                <a:latin typeface="TT Fors"/>
                <a:ea typeface="TT Fors"/>
                <a:cs typeface="TT Fors"/>
                <a:sym typeface="TT Fors"/>
              </a:rPr>
              <a:t>h</a:t>
            </a:r>
            <a:r>
              <a:rPr lang="en-US" sz="3199" spc="-95" strike="noStrike" u="none">
                <a:solidFill>
                  <a:srgbClr val="00FFA8"/>
                </a:solidFill>
                <a:latin typeface="TT Fors"/>
                <a:ea typeface="TT Fors"/>
                <a:cs typeface="TT Fors"/>
                <a:sym typeface="TT Fors"/>
              </a:rPr>
              <a:t>e</a:t>
            </a:r>
            <a:r>
              <a:rPr lang="en-US" sz="3199" spc="-95" strike="noStrike" u="none">
                <a:solidFill>
                  <a:srgbClr val="00FFA8"/>
                </a:solidFill>
                <a:latin typeface="TT Fors"/>
                <a:ea typeface="TT Fors"/>
                <a:cs typeface="TT Fors"/>
                <a:sym typeface="TT Fors"/>
              </a:rPr>
              <a:t> cour</a:t>
            </a:r>
            <a:r>
              <a:rPr lang="en-US" sz="3199" spc="-95" strike="noStrike" u="none">
                <a:solidFill>
                  <a:srgbClr val="00FFA8"/>
                </a:solidFill>
                <a:latin typeface="TT Fors"/>
                <a:ea typeface="TT Fors"/>
                <a:cs typeface="TT Fors"/>
                <a:sym typeface="TT Fors"/>
              </a:rPr>
              <a:t>s</a:t>
            </a:r>
            <a:r>
              <a:rPr lang="en-US" sz="3199" spc="-95" strike="noStrike" u="none">
                <a:solidFill>
                  <a:srgbClr val="00FFA8"/>
                </a:solidFill>
                <a:latin typeface="TT Fors"/>
                <a:ea typeface="TT Fors"/>
                <a:cs typeface="TT Fors"/>
                <a:sym typeface="TT Fors"/>
              </a:rPr>
              <a:t>e conten</a:t>
            </a:r>
            <a:r>
              <a:rPr lang="en-US" sz="3199" spc="-95" strike="noStrike" u="none">
                <a:solidFill>
                  <a:srgbClr val="00FFA8"/>
                </a:solidFill>
                <a:latin typeface="TT Fors"/>
                <a:ea typeface="TT Fors"/>
                <a:cs typeface="TT Fors"/>
                <a:sym typeface="TT Fors"/>
              </a:rPr>
              <a:t>t</a:t>
            </a:r>
            <a:r>
              <a:rPr lang="en-US" sz="3199" spc="-95" strike="noStrike" u="none">
                <a:solidFill>
                  <a:srgbClr val="00FFA8"/>
                </a:solidFill>
                <a:latin typeface="TT Fors"/>
                <a:ea typeface="TT Fors"/>
                <a:cs typeface="TT Fors"/>
                <a:sym typeface="TT Fors"/>
              </a:rPr>
              <a:t> ha</a:t>
            </a:r>
            <a:r>
              <a:rPr lang="en-US" sz="3199" spc="-95" strike="noStrike" u="none">
                <a:solidFill>
                  <a:srgbClr val="00FFA8"/>
                </a:solidFill>
                <a:latin typeface="TT Fors"/>
                <a:ea typeface="TT Fors"/>
                <a:cs typeface="TT Fors"/>
                <a:sym typeface="TT Fors"/>
              </a:rPr>
              <a:t>s </a:t>
            </a:r>
            <a:r>
              <a:rPr lang="en-US" sz="3199" spc="-95" strike="noStrike" u="none">
                <a:solidFill>
                  <a:srgbClr val="00FFA8"/>
                </a:solidFill>
                <a:latin typeface="TT Fors"/>
                <a:ea typeface="TT Fors"/>
                <a:cs typeface="TT Fors"/>
                <a:sym typeface="TT Fors"/>
              </a:rPr>
              <a:t>been deve</a:t>
            </a:r>
            <a:r>
              <a:rPr lang="en-US" sz="3199" spc="-95" strike="noStrike" u="none">
                <a:solidFill>
                  <a:srgbClr val="00FFA8"/>
                </a:solidFill>
                <a:latin typeface="TT Fors"/>
                <a:ea typeface="TT Fors"/>
                <a:cs typeface="TT Fors"/>
                <a:sym typeface="TT Fors"/>
              </a:rPr>
              <a:t>l</a:t>
            </a:r>
            <a:r>
              <a:rPr lang="en-US" sz="3199" spc="-95" strike="noStrike" u="none">
                <a:solidFill>
                  <a:srgbClr val="00FFA8"/>
                </a:solidFill>
                <a:latin typeface="TT Fors"/>
                <a:ea typeface="TT Fors"/>
                <a:cs typeface="TT Fors"/>
                <a:sym typeface="TT Fors"/>
              </a:rPr>
              <a:t>oped in good f</a:t>
            </a:r>
            <a:r>
              <a:rPr lang="en-US" sz="3199" spc="-95" strike="noStrike" u="none">
                <a:solidFill>
                  <a:srgbClr val="00FFA8"/>
                </a:solidFill>
                <a:latin typeface="TT Fors"/>
                <a:ea typeface="TT Fors"/>
                <a:cs typeface="TT Fors"/>
                <a:sym typeface="TT Fors"/>
              </a:rPr>
              <a:t>ait</a:t>
            </a:r>
            <a:r>
              <a:rPr lang="en-US" sz="3199" spc="-95" strike="noStrike" u="none">
                <a:solidFill>
                  <a:srgbClr val="00FFA8"/>
                </a:solidFill>
                <a:latin typeface="TT Fors"/>
                <a:ea typeface="TT Fors"/>
                <a:cs typeface="TT Fors"/>
                <a:sym typeface="TT Fors"/>
              </a:rPr>
              <a:t>h, d</a:t>
            </a:r>
            <a:r>
              <a:rPr lang="en-US" sz="3199" spc="-95" strike="noStrike" u="none">
                <a:solidFill>
                  <a:srgbClr val="00FFA8"/>
                </a:solidFill>
                <a:latin typeface="TT Fors"/>
                <a:ea typeface="TT Fors"/>
                <a:cs typeface="TT Fors"/>
                <a:sym typeface="TT Fors"/>
              </a:rPr>
              <a:t>r</a:t>
            </a:r>
            <a:r>
              <a:rPr lang="en-US" sz="3199" spc="-95" strike="noStrike" u="none">
                <a:solidFill>
                  <a:srgbClr val="00FFA8"/>
                </a:solidFill>
                <a:latin typeface="TT Fors"/>
                <a:ea typeface="TT Fors"/>
                <a:cs typeface="TT Fors"/>
                <a:sym typeface="TT Fors"/>
              </a:rPr>
              <a:t>awing from th</a:t>
            </a:r>
            <a:r>
              <a:rPr lang="en-US" sz="3199" spc="-95" strike="noStrike" u="none">
                <a:solidFill>
                  <a:srgbClr val="00FFA8"/>
                </a:solidFill>
                <a:latin typeface="TT Fors"/>
                <a:ea typeface="TT Fors"/>
                <a:cs typeface="TT Fors"/>
                <a:sym typeface="TT Fors"/>
              </a:rPr>
              <a:t>e </a:t>
            </a:r>
            <a:r>
              <a:rPr lang="en-US" sz="3199" spc="-95" strike="noStrike" u="none">
                <a:solidFill>
                  <a:srgbClr val="00FFA8"/>
                </a:solidFill>
                <a:latin typeface="TT Fors"/>
                <a:ea typeface="TT Fors"/>
                <a:cs typeface="TT Fors"/>
                <a:sym typeface="TT Fors"/>
              </a:rPr>
              <a:t>auth</a:t>
            </a:r>
            <a:r>
              <a:rPr lang="en-US" sz="3199" spc="-95" strike="noStrike" u="none">
                <a:solidFill>
                  <a:srgbClr val="00FFA8"/>
                </a:solidFill>
                <a:latin typeface="TT Fors"/>
                <a:ea typeface="TT Fors"/>
                <a:cs typeface="TT Fors"/>
                <a:sym typeface="TT Fors"/>
              </a:rPr>
              <a:t>o</a:t>
            </a:r>
            <a:r>
              <a:rPr lang="en-US" sz="3199" spc="-95" strike="noStrike" u="none">
                <a:solidFill>
                  <a:srgbClr val="00FFA8"/>
                </a:solidFill>
                <a:latin typeface="TT Fors"/>
                <a:ea typeface="TT Fors"/>
                <a:cs typeface="TT Fors"/>
                <a:sym typeface="TT Fors"/>
              </a:rPr>
              <a:t>r’s e</a:t>
            </a:r>
            <a:r>
              <a:rPr lang="en-US" sz="3199" spc="-95" strike="noStrike" u="none">
                <a:solidFill>
                  <a:srgbClr val="00FFA8"/>
                </a:solidFill>
                <a:latin typeface="TT Fors"/>
                <a:ea typeface="TT Fors"/>
                <a:cs typeface="TT Fors"/>
                <a:sym typeface="TT Fors"/>
              </a:rPr>
              <a:t>x</a:t>
            </a:r>
            <a:r>
              <a:rPr lang="en-US" sz="3199" spc="-95" strike="noStrike" u="none">
                <a:solidFill>
                  <a:srgbClr val="00FFA8"/>
                </a:solidFill>
                <a:latin typeface="TT Fors"/>
                <a:ea typeface="TT Fors"/>
                <a:cs typeface="TT Fors"/>
                <a:sym typeface="TT Fors"/>
              </a:rPr>
              <a:t>p</a:t>
            </a:r>
            <a:r>
              <a:rPr lang="en-US" sz="3199" spc="-95" strike="noStrike" u="none">
                <a:solidFill>
                  <a:srgbClr val="00FFA8"/>
                </a:solidFill>
                <a:latin typeface="TT Fors"/>
                <a:ea typeface="TT Fors"/>
                <a:cs typeface="TT Fors"/>
                <a:sym typeface="TT Fors"/>
              </a:rPr>
              <a:t>e</a:t>
            </a:r>
            <a:r>
              <a:rPr lang="en-US" sz="3199" spc="-95" strike="noStrike" u="none">
                <a:solidFill>
                  <a:srgbClr val="00FFA8"/>
                </a:solidFill>
                <a:latin typeface="TT Fors"/>
                <a:ea typeface="TT Fors"/>
                <a:cs typeface="TT Fors"/>
                <a:sym typeface="TT Fors"/>
              </a:rPr>
              <a:t>rience</a:t>
            </a:r>
            <a:r>
              <a:rPr lang="en-US" sz="3199" spc="-95" strike="noStrike" u="none">
                <a:solidFill>
                  <a:srgbClr val="00FFA8"/>
                </a:solidFill>
                <a:latin typeface="TT Fors"/>
                <a:ea typeface="TT Fors"/>
                <a:cs typeface="TT Fors"/>
                <a:sym typeface="TT Fors"/>
              </a:rPr>
              <a:t> and </a:t>
            </a:r>
            <a:r>
              <a:rPr lang="en-US" sz="3199" spc="-95" strike="noStrike" u="none">
                <a:solidFill>
                  <a:srgbClr val="00FFA8"/>
                </a:solidFill>
                <a:latin typeface="TT Fors"/>
                <a:ea typeface="TT Fors"/>
                <a:cs typeface="TT Fors"/>
                <a:sym typeface="TT Fors"/>
              </a:rPr>
              <a:t>repu</a:t>
            </a:r>
            <a:r>
              <a:rPr lang="en-US" sz="3199" spc="-95" strike="noStrike" u="none">
                <a:solidFill>
                  <a:srgbClr val="00FFA8"/>
                </a:solidFill>
                <a:latin typeface="TT Fors"/>
                <a:ea typeface="TT Fors"/>
                <a:cs typeface="TT Fors"/>
                <a:sym typeface="TT Fors"/>
              </a:rPr>
              <a:t>table so</a:t>
            </a:r>
            <a:r>
              <a:rPr lang="en-US" sz="3199" spc="-95" strike="noStrike" u="none">
                <a:solidFill>
                  <a:srgbClr val="00FFA8"/>
                </a:solidFill>
                <a:latin typeface="TT Fors"/>
                <a:ea typeface="TT Fors"/>
                <a:cs typeface="TT Fors"/>
                <a:sym typeface="TT Fors"/>
              </a:rPr>
              <a:t>urce</a:t>
            </a:r>
            <a:r>
              <a:rPr lang="en-US" sz="3199" spc="-95" strike="noStrike" u="none">
                <a:solidFill>
                  <a:srgbClr val="00FFA8"/>
                </a:solidFill>
                <a:latin typeface="TT Fors"/>
                <a:ea typeface="TT Fors"/>
                <a:cs typeface="TT Fors"/>
                <a:sym typeface="TT Fors"/>
              </a:rPr>
              <a:t>s</a:t>
            </a:r>
            <a:r>
              <a:rPr lang="en-US" sz="3199" spc="-95" strike="noStrike" u="none">
                <a:solidFill>
                  <a:srgbClr val="00FFA8"/>
                </a:solidFill>
                <a:latin typeface="TT Fors"/>
                <a:ea typeface="TT Fors"/>
                <a:cs typeface="TT Fors"/>
                <a:sym typeface="TT Fors"/>
              </a:rPr>
              <a:t>. Wh</a:t>
            </a:r>
            <a:r>
              <a:rPr lang="en-US" sz="3199" spc="-95" strike="noStrike" u="none">
                <a:solidFill>
                  <a:srgbClr val="00FFA8"/>
                </a:solidFill>
                <a:latin typeface="TT Fors"/>
                <a:ea typeface="TT Fors"/>
                <a:cs typeface="TT Fors"/>
                <a:sym typeface="TT Fors"/>
              </a:rPr>
              <a:t>i</a:t>
            </a:r>
            <a:r>
              <a:rPr lang="en-US" sz="3199" spc="-95" strike="noStrike" u="none">
                <a:solidFill>
                  <a:srgbClr val="00FFA8"/>
                </a:solidFill>
                <a:latin typeface="TT Fors"/>
                <a:ea typeface="TT Fors"/>
                <a:cs typeface="TT Fors"/>
                <a:sym typeface="TT Fors"/>
              </a:rPr>
              <a:t>le every </a:t>
            </a:r>
            <a:r>
              <a:rPr lang="en-US" sz="3199" spc="-95" strike="noStrike" u="none">
                <a:solidFill>
                  <a:srgbClr val="00FFA8"/>
                </a:solidFill>
                <a:latin typeface="TT Fors"/>
                <a:ea typeface="TT Fors"/>
                <a:cs typeface="TT Fors"/>
                <a:sym typeface="TT Fors"/>
              </a:rPr>
              <a:t>e</a:t>
            </a:r>
            <a:r>
              <a:rPr lang="en-US" sz="3199" spc="-95" strike="noStrike" u="none">
                <a:solidFill>
                  <a:srgbClr val="00FFA8"/>
                </a:solidFill>
                <a:latin typeface="TT Fors"/>
                <a:ea typeface="TT Fors"/>
                <a:cs typeface="TT Fors"/>
                <a:sym typeface="TT Fors"/>
              </a:rPr>
              <a:t>ffo</a:t>
            </a:r>
            <a:r>
              <a:rPr lang="en-US" sz="3199" spc="-95" strike="noStrike" u="none">
                <a:solidFill>
                  <a:srgbClr val="00FFA8"/>
                </a:solidFill>
                <a:latin typeface="TT Fors"/>
                <a:ea typeface="TT Fors"/>
                <a:cs typeface="TT Fors"/>
                <a:sym typeface="TT Fors"/>
              </a:rPr>
              <a:t>r</a:t>
            </a:r>
            <a:r>
              <a:rPr lang="en-US" sz="3199" spc="-95" strike="noStrike" u="none">
                <a:solidFill>
                  <a:srgbClr val="00FFA8"/>
                </a:solidFill>
                <a:latin typeface="TT Fors"/>
                <a:ea typeface="TT Fors"/>
                <a:cs typeface="TT Fors"/>
                <a:sym typeface="TT Fors"/>
              </a:rPr>
              <a:t>t h</a:t>
            </a:r>
            <a:r>
              <a:rPr lang="en-US" sz="3199" spc="-95" strike="noStrike" u="none">
                <a:solidFill>
                  <a:srgbClr val="00FFA8"/>
                </a:solidFill>
                <a:latin typeface="TT Fors"/>
                <a:ea typeface="TT Fors"/>
                <a:cs typeface="TT Fors"/>
                <a:sym typeface="TT Fors"/>
              </a:rPr>
              <a:t>a</a:t>
            </a:r>
            <a:r>
              <a:rPr lang="en-US" sz="3199" spc="-95" strike="noStrike" u="none">
                <a:solidFill>
                  <a:srgbClr val="00FFA8"/>
                </a:solidFill>
                <a:latin typeface="TT Fors"/>
                <a:ea typeface="TT Fors"/>
                <a:cs typeface="TT Fors"/>
                <a:sym typeface="TT Fors"/>
              </a:rPr>
              <a:t>s been made </a:t>
            </a:r>
            <a:r>
              <a:rPr lang="en-US" sz="3199" spc="-95" strike="noStrike" u="none">
                <a:solidFill>
                  <a:srgbClr val="00FFA8"/>
                </a:solidFill>
                <a:latin typeface="TT Fors"/>
                <a:ea typeface="TT Fors"/>
                <a:cs typeface="TT Fors"/>
                <a:sym typeface="TT Fors"/>
              </a:rPr>
              <a:t>to</a:t>
            </a:r>
            <a:r>
              <a:rPr lang="en-US" sz="3199" spc="-95" strike="noStrike" u="none">
                <a:solidFill>
                  <a:srgbClr val="00FFA8"/>
                </a:solidFill>
                <a:latin typeface="TT Fors"/>
                <a:ea typeface="TT Fors"/>
                <a:cs typeface="TT Fors"/>
                <a:sym typeface="TT Fors"/>
              </a:rPr>
              <a:t> e</a:t>
            </a:r>
            <a:r>
              <a:rPr lang="en-US" sz="3199" spc="-95" strike="noStrike" u="none">
                <a:solidFill>
                  <a:srgbClr val="00FFA8"/>
                </a:solidFill>
                <a:latin typeface="TT Fors"/>
                <a:ea typeface="TT Fors"/>
                <a:cs typeface="TT Fors"/>
                <a:sym typeface="TT Fors"/>
              </a:rPr>
              <a:t>ns</a:t>
            </a:r>
            <a:r>
              <a:rPr lang="en-US" sz="3199" spc="-95" strike="noStrike" u="none">
                <a:solidFill>
                  <a:srgbClr val="00FFA8"/>
                </a:solidFill>
                <a:latin typeface="TT Fors"/>
                <a:ea typeface="TT Fors"/>
                <a:cs typeface="TT Fors"/>
                <a:sym typeface="TT Fors"/>
              </a:rPr>
              <a:t>ure accuracy,</a:t>
            </a:r>
            <a:r>
              <a:rPr lang="en-US" sz="3199" spc="-95" strike="noStrike" u="none">
                <a:solidFill>
                  <a:srgbClr val="00FFA8"/>
                </a:solidFill>
                <a:latin typeface="TT Fors"/>
                <a:ea typeface="TT Fors"/>
                <a:cs typeface="TT Fors"/>
                <a:sym typeface="TT Fors"/>
              </a:rPr>
              <a:t> </a:t>
            </a:r>
            <a:r>
              <a:rPr lang="en-US" sz="3199" spc="-95" strike="noStrike" u="none">
                <a:solidFill>
                  <a:srgbClr val="00FFA8"/>
                </a:solidFill>
                <a:latin typeface="TT Fors"/>
                <a:ea typeface="TT Fors"/>
                <a:cs typeface="TT Fors"/>
                <a:sym typeface="TT Fors"/>
              </a:rPr>
              <a:t>the</a:t>
            </a:r>
            <a:r>
              <a:rPr lang="en-US" sz="3199" spc="-95" strike="noStrike" u="none">
                <a:solidFill>
                  <a:srgbClr val="00FFA8"/>
                </a:solidFill>
                <a:latin typeface="TT Fors"/>
                <a:ea typeface="TT Fors"/>
                <a:cs typeface="TT Fors"/>
                <a:sym typeface="TT Fors"/>
              </a:rPr>
              <a:t> a</a:t>
            </a:r>
            <a:r>
              <a:rPr lang="en-US" sz="3199" spc="-95" strike="noStrike" u="none">
                <a:solidFill>
                  <a:srgbClr val="00FFA8"/>
                </a:solidFill>
                <a:latin typeface="TT Fors"/>
                <a:ea typeface="TT Fors"/>
                <a:cs typeface="TT Fors"/>
                <a:sym typeface="TT Fors"/>
              </a:rPr>
              <a:t>uthor</a:t>
            </a:r>
            <a:r>
              <a:rPr lang="en-US" sz="3199" spc="-95" strike="noStrike" u="none">
                <a:solidFill>
                  <a:srgbClr val="00FFA8"/>
                </a:solidFill>
                <a:latin typeface="TT Fors"/>
                <a:ea typeface="TT Fors"/>
                <a:cs typeface="TT Fors"/>
                <a:sym typeface="TT Fors"/>
              </a:rPr>
              <a:t> </a:t>
            </a:r>
            <a:r>
              <a:rPr lang="en-US" sz="3199" spc="-95" strike="noStrike" u="none">
                <a:solidFill>
                  <a:srgbClr val="00FFA8"/>
                </a:solidFill>
                <a:latin typeface="TT Fors"/>
                <a:ea typeface="TT Fors"/>
                <a:cs typeface="TT Fors"/>
                <a:sym typeface="TT Fors"/>
              </a:rPr>
              <a:t>d</a:t>
            </a:r>
            <a:r>
              <a:rPr lang="en-US" sz="3199" spc="-95" strike="noStrike" u="none">
                <a:solidFill>
                  <a:srgbClr val="00FFA8"/>
                </a:solidFill>
                <a:latin typeface="TT Fors"/>
                <a:ea typeface="TT Fors"/>
                <a:cs typeface="TT Fors"/>
                <a:sym typeface="TT Fors"/>
              </a:rPr>
              <a:t>o</a:t>
            </a:r>
            <a:r>
              <a:rPr lang="en-US" sz="3199" spc="-95" strike="noStrike" u="none">
                <a:solidFill>
                  <a:srgbClr val="00FFA8"/>
                </a:solidFill>
                <a:latin typeface="TT Fors"/>
                <a:ea typeface="TT Fors"/>
                <a:cs typeface="TT Fors"/>
                <a:sym typeface="TT Fors"/>
              </a:rPr>
              <a:t>es</a:t>
            </a:r>
            <a:r>
              <a:rPr lang="en-US" sz="3199" spc="-95" strike="noStrike" u="none">
                <a:solidFill>
                  <a:srgbClr val="00FFA8"/>
                </a:solidFill>
                <a:latin typeface="TT Fors"/>
                <a:ea typeface="TT Fors"/>
                <a:cs typeface="TT Fors"/>
                <a:sym typeface="TT Fors"/>
              </a:rPr>
              <a:t> </a:t>
            </a:r>
            <a:r>
              <a:rPr lang="en-US" sz="3199" spc="-95" strike="noStrike" u="none">
                <a:solidFill>
                  <a:srgbClr val="00FFA8"/>
                </a:solidFill>
                <a:latin typeface="TT Fors"/>
                <a:ea typeface="TT Fors"/>
                <a:cs typeface="TT Fors"/>
                <a:sym typeface="TT Fors"/>
              </a:rPr>
              <a:t>no</a:t>
            </a:r>
            <a:r>
              <a:rPr lang="en-US" sz="3199" spc="-95" strike="noStrike" u="none">
                <a:solidFill>
                  <a:srgbClr val="00FFA8"/>
                </a:solidFill>
                <a:latin typeface="TT Fors"/>
                <a:ea typeface="TT Fors"/>
                <a:cs typeface="TT Fors"/>
                <a:sym typeface="TT Fors"/>
              </a:rPr>
              <a:t>t</a:t>
            </a:r>
            <a:r>
              <a:rPr lang="en-US" sz="3199" spc="-95" strike="noStrike" u="none">
                <a:solidFill>
                  <a:srgbClr val="00FFA8"/>
                </a:solidFill>
                <a:latin typeface="TT Fors"/>
                <a:ea typeface="TT Fors"/>
                <a:cs typeface="TT Fors"/>
                <a:sym typeface="TT Fors"/>
              </a:rPr>
              <a:t> guarante</a:t>
            </a:r>
            <a:r>
              <a:rPr lang="en-US" sz="3199" spc="-95" strike="noStrike" u="none">
                <a:solidFill>
                  <a:srgbClr val="00FFA8"/>
                </a:solidFill>
                <a:latin typeface="TT Fors"/>
                <a:ea typeface="TT Fors"/>
                <a:cs typeface="TT Fors"/>
                <a:sym typeface="TT Fors"/>
              </a:rPr>
              <a:t>e </a:t>
            </a:r>
            <a:r>
              <a:rPr lang="en-US" sz="3199" spc="-95" strike="noStrike" u="none">
                <a:solidFill>
                  <a:srgbClr val="00FFA8"/>
                </a:solidFill>
                <a:latin typeface="TT Fors"/>
                <a:ea typeface="TT Fors"/>
                <a:cs typeface="TT Fors"/>
                <a:sym typeface="TT Fors"/>
              </a:rPr>
              <a:t>abso</a:t>
            </a:r>
            <a:r>
              <a:rPr lang="en-US" sz="3199" spc="-95" strike="noStrike" u="none">
                <a:solidFill>
                  <a:srgbClr val="00FFA8"/>
                </a:solidFill>
                <a:latin typeface="TT Fors"/>
                <a:ea typeface="TT Fors"/>
                <a:cs typeface="TT Fors"/>
                <a:sym typeface="TT Fors"/>
              </a:rPr>
              <a:t>l</a:t>
            </a:r>
            <a:r>
              <a:rPr lang="en-US" sz="3199" spc="-95" strike="noStrike" u="none">
                <a:solidFill>
                  <a:srgbClr val="00FFA8"/>
                </a:solidFill>
                <a:latin typeface="TT Fors"/>
                <a:ea typeface="TT Fors"/>
                <a:cs typeface="TT Fors"/>
                <a:sym typeface="TT Fors"/>
              </a:rPr>
              <a:t>ute correctness. Students </a:t>
            </a:r>
            <a:r>
              <a:rPr lang="en-US" sz="3199" spc="-95" strike="noStrike" u="none">
                <a:solidFill>
                  <a:srgbClr val="00FFA8"/>
                </a:solidFill>
                <a:latin typeface="TT Fors"/>
                <a:ea typeface="TT Fors"/>
                <a:cs typeface="TT Fors"/>
                <a:sym typeface="TT Fors"/>
              </a:rPr>
              <a:t>a</a:t>
            </a:r>
            <a:r>
              <a:rPr lang="en-US" sz="3199" spc="-95" strike="noStrike" u="none">
                <a:solidFill>
                  <a:srgbClr val="00FFA8"/>
                </a:solidFill>
                <a:latin typeface="TT Fors"/>
                <a:ea typeface="TT Fors"/>
                <a:cs typeface="TT Fors"/>
                <a:sym typeface="TT Fors"/>
              </a:rPr>
              <a:t>re e</a:t>
            </a:r>
            <a:r>
              <a:rPr lang="en-US" sz="3199" spc="-95" strike="noStrike" u="none">
                <a:solidFill>
                  <a:srgbClr val="00FFA8"/>
                </a:solidFill>
                <a:latin typeface="TT Fors"/>
                <a:ea typeface="TT Fors"/>
                <a:cs typeface="TT Fors"/>
                <a:sym typeface="TT Fors"/>
              </a:rPr>
              <a:t>n</a:t>
            </a:r>
            <a:r>
              <a:rPr lang="en-US" sz="3199" spc="-95" strike="noStrike" u="none">
                <a:solidFill>
                  <a:srgbClr val="00FFA8"/>
                </a:solidFill>
                <a:latin typeface="TT Fors"/>
                <a:ea typeface="TT Fors"/>
                <a:cs typeface="TT Fors"/>
                <a:sym typeface="TT Fors"/>
              </a:rPr>
              <a:t>courage</a:t>
            </a:r>
            <a:r>
              <a:rPr lang="en-US" sz="3199" spc="-95" strike="noStrike" u="none">
                <a:solidFill>
                  <a:srgbClr val="00FFA8"/>
                </a:solidFill>
                <a:latin typeface="TT Fors"/>
                <a:ea typeface="TT Fors"/>
                <a:cs typeface="TT Fors"/>
                <a:sym typeface="TT Fors"/>
              </a:rPr>
              <a:t>d</a:t>
            </a:r>
            <a:r>
              <a:rPr lang="en-US" sz="3199" spc="-95" strike="noStrike" u="none">
                <a:solidFill>
                  <a:srgbClr val="00FFA8"/>
                </a:solidFill>
                <a:latin typeface="TT Fors"/>
                <a:ea typeface="TT Fors"/>
                <a:cs typeface="TT Fors"/>
                <a:sym typeface="TT Fors"/>
              </a:rPr>
              <a:t> to ex</a:t>
            </a:r>
            <a:r>
              <a:rPr lang="en-US" sz="3199" spc="-95" strike="noStrike" u="none">
                <a:solidFill>
                  <a:srgbClr val="00FFA8"/>
                </a:solidFill>
                <a:latin typeface="TT Fors"/>
                <a:ea typeface="TT Fors"/>
                <a:cs typeface="TT Fors"/>
                <a:sym typeface="TT Fors"/>
              </a:rPr>
              <a:t>e</a:t>
            </a:r>
            <a:r>
              <a:rPr lang="en-US" sz="3199" spc="-95" strike="noStrike" u="none">
                <a:solidFill>
                  <a:srgbClr val="00FFA8"/>
                </a:solidFill>
                <a:latin typeface="TT Fors"/>
                <a:ea typeface="TT Fors"/>
                <a:cs typeface="TT Fors"/>
                <a:sym typeface="TT Fors"/>
              </a:rPr>
              <a:t>r</a:t>
            </a:r>
            <a:r>
              <a:rPr lang="en-US" sz="3199" spc="-95" strike="noStrike" u="none">
                <a:solidFill>
                  <a:srgbClr val="00FFA8"/>
                </a:solidFill>
                <a:latin typeface="TT Fors"/>
                <a:ea typeface="TT Fors"/>
                <a:cs typeface="TT Fors"/>
                <a:sym typeface="TT Fors"/>
              </a:rPr>
              <a:t>c</a:t>
            </a:r>
            <a:r>
              <a:rPr lang="en-US" sz="3199" spc="-95" strike="noStrike" u="none">
                <a:solidFill>
                  <a:srgbClr val="00FFA8"/>
                </a:solidFill>
                <a:latin typeface="TT Fors"/>
                <a:ea typeface="TT Fors"/>
                <a:cs typeface="TT Fors"/>
                <a:sym typeface="TT Fors"/>
              </a:rPr>
              <a:t>is</a:t>
            </a:r>
            <a:r>
              <a:rPr lang="en-US" sz="3199" spc="-95" strike="noStrike" u="none">
                <a:solidFill>
                  <a:srgbClr val="00FFA8"/>
                </a:solidFill>
                <a:latin typeface="TT Fors"/>
                <a:ea typeface="TT Fors"/>
                <a:cs typeface="TT Fors"/>
                <a:sym typeface="TT Fors"/>
              </a:rPr>
              <a:t>e</a:t>
            </a:r>
            <a:r>
              <a:rPr lang="en-US" sz="3199" spc="-95" strike="noStrike" u="none">
                <a:solidFill>
                  <a:srgbClr val="00FFA8"/>
                </a:solidFill>
                <a:latin typeface="TT Fors"/>
                <a:ea typeface="TT Fors"/>
                <a:cs typeface="TT Fors"/>
                <a:sym typeface="TT Fors"/>
              </a:rPr>
              <a:t> discretio</a:t>
            </a:r>
            <a:r>
              <a:rPr lang="en-US" sz="3199" spc="-95" strike="noStrike" u="none">
                <a:solidFill>
                  <a:srgbClr val="00FFA8"/>
                </a:solidFill>
                <a:latin typeface="TT Fors"/>
                <a:ea typeface="TT Fors"/>
                <a:cs typeface="TT Fors"/>
                <a:sym typeface="TT Fors"/>
              </a:rPr>
              <a:t>n</a:t>
            </a:r>
            <a:r>
              <a:rPr lang="en-US" sz="3199" spc="-95" strike="noStrike" u="none">
                <a:solidFill>
                  <a:srgbClr val="00FFA8"/>
                </a:solidFill>
                <a:latin typeface="TT Fors"/>
                <a:ea typeface="TT Fors"/>
                <a:cs typeface="TT Fors"/>
                <a:sym typeface="TT Fors"/>
              </a:rPr>
              <a:t> and</a:t>
            </a:r>
            <a:r>
              <a:rPr lang="en-US" sz="3199" spc="-95" strike="noStrike" u="none">
                <a:solidFill>
                  <a:srgbClr val="00FFA8"/>
                </a:solidFill>
                <a:latin typeface="TT Fors"/>
                <a:ea typeface="TT Fors"/>
                <a:cs typeface="TT Fors"/>
                <a:sym typeface="TT Fors"/>
              </a:rPr>
              <a:t> actively engage </a:t>
            </a:r>
            <a:r>
              <a:rPr lang="en-US" sz="3199" spc="-95" strike="noStrike" u="none">
                <a:solidFill>
                  <a:srgbClr val="00FFA8"/>
                </a:solidFill>
                <a:latin typeface="TT Fors"/>
                <a:ea typeface="TT Fors"/>
                <a:cs typeface="TT Fors"/>
                <a:sym typeface="TT Fors"/>
              </a:rPr>
              <a:t>i</a:t>
            </a:r>
            <a:r>
              <a:rPr lang="en-US" sz="3199" spc="-95" strike="noStrike" u="none">
                <a:solidFill>
                  <a:srgbClr val="00FFA8"/>
                </a:solidFill>
                <a:latin typeface="TT Fors"/>
                <a:ea typeface="TT Fors"/>
                <a:cs typeface="TT Fors"/>
                <a:sym typeface="TT Fors"/>
              </a:rPr>
              <a:t>n</a:t>
            </a:r>
            <a:r>
              <a:rPr lang="en-US" sz="3199" spc="-95" strike="noStrike" u="none">
                <a:solidFill>
                  <a:srgbClr val="00FFA8"/>
                </a:solidFill>
                <a:latin typeface="TT Fors"/>
                <a:ea typeface="TT Fors"/>
                <a:cs typeface="TT Fors"/>
                <a:sym typeface="TT Fors"/>
              </a:rPr>
              <a:t> dis</a:t>
            </a:r>
            <a:r>
              <a:rPr lang="en-US" sz="3199" spc="-95" strike="noStrike" u="none">
                <a:solidFill>
                  <a:srgbClr val="00FFA8"/>
                </a:solidFill>
                <a:latin typeface="TT Fors"/>
                <a:ea typeface="TT Fors"/>
                <a:cs typeface="TT Fors"/>
                <a:sym typeface="TT Fors"/>
              </a:rPr>
              <a:t>c</a:t>
            </a:r>
            <a:r>
              <a:rPr lang="en-US" sz="3199" spc="-95" strike="noStrike" u="none">
                <a:solidFill>
                  <a:srgbClr val="00FFA8"/>
                </a:solidFill>
                <a:latin typeface="TT Fors"/>
                <a:ea typeface="TT Fors"/>
                <a:cs typeface="TT Fors"/>
                <a:sym typeface="TT Fors"/>
              </a:rPr>
              <a:t>uss</a:t>
            </a:r>
            <a:r>
              <a:rPr lang="en-US" sz="3199" spc="-95" strike="noStrike" u="none">
                <a:solidFill>
                  <a:srgbClr val="00FFA8"/>
                </a:solidFill>
                <a:latin typeface="TT Fors"/>
                <a:ea typeface="TT Fors"/>
                <a:cs typeface="TT Fors"/>
                <a:sym typeface="TT Fors"/>
              </a:rPr>
              <a:t>i</a:t>
            </a:r>
            <a:r>
              <a:rPr lang="en-US" sz="3199" spc="-95" strike="noStrike" u="none">
                <a:solidFill>
                  <a:srgbClr val="00FFA8"/>
                </a:solidFill>
                <a:latin typeface="TT Fors"/>
                <a:ea typeface="TT Fors"/>
                <a:cs typeface="TT Fors"/>
                <a:sym typeface="TT Fors"/>
              </a:rPr>
              <a:t>o</a:t>
            </a:r>
            <a:r>
              <a:rPr lang="en-US" sz="3199" spc="-95" strike="noStrike" u="none">
                <a:solidFill>
                  <a:srgbClr val="00FFA8"/>
                </a:solidFill>
                <a:latin typeface="TT Fors"/>
                <a:ea typeface="TT Fors"/>
                <a:cs typeface="TT Fors"/>
                <a:sym typeface="TT Fors"/>
              </a:rPr>
              <a:t>ns </a:t>
            </a:r>
            <a:r>
              <a:rPr lang="en-US" sz="3199" spc="-95" strike="noStrike" u="none">
                <a:solidFill>
                  <a:srgbClr val="00FFA8"/>
                </a:solidFill>
                <a:latin typeface="TT Fors"/>
                <a:ea typeface="TT Fors"/>
                <a:cs typeface="TT Fors"/>
                <a:sym typeface="TT Fors"/>
              </a:rPr>
              <a:t>by r</a:t>
            </a:r>
            <a:r>
              <a:rPr lang="en-US" sz="3199" spc="-95" strike="noStrike" u="none">
                <a:solidFill>
                  <a:srgbClr val="00FFA8"/>
                </a:solidFill>
                <a:latin typeface="TT Fors"/>
                <a:ea typeface="TT Fors"/>
                <a:cs typeface="TT Fors"/>
                <a:sym typeface="TT Fors"/>
              </a:rPr>
              <a:t>a</a:t>
            </a:r>
            <a:r>
              <a:rPr lang="en-US" sz="3199" spc="-95" strike="noStrike" u="none">
                <a:solidFill>
                  <a:srgbClr val="00FFA8"/>
                </a:solidFill>
                <a:latin typeface="TT Fors"/>
                <a:ea typeface="TT Fors"/>
                <a:cs typeface="TT Fors"/>
                <a:sym typeface="TT Fors"/>
              </a:rPr>
              <a:t>isi</a:t>
            </a:r>
            <a:r>
              <a:rPr lang="en-US" sz="3199" spc="-95" strike="noStrike" u="none">
                <a:solidFill>
                  <a:srgbClr val="00FFA8"/>
                </a:solidFill>
                <a:latin typeface="TT Fors"/>
                <a:ea typeface="TT Fors"/>
                <a:cs typeface="TT Fors"/>
                <a:sym typeface="TT Fors"/>
              </a:rPr>
              <a:t>n</a:t>
            </a:r>
            <a:r>
              <a:rPr lang="en-US" sz="3199" spc="-95" strike="noStrike" u="none">
                <a:solidFill>
                  <a:srgbClr val="00FFA8"/>
                </a:solidFill>
                <a:latin typeface="TT Fors"/>
                <a:ea typeface="TT Fors"/>
                <a:cs typeface="TT Fors"/>
                <a:sym typeface="TT Fors"/>
              </a:rPr>
              <a:t>g</a:t>
            </a:r>
            <a:r>
              <a:rPr lang="en-US" sz="3199" spc="-95" strike="noStrike" u="none">
                <a:solidFill>
                  <a:srgbClr val="00FFA8"/>
                </a:solidFill>
                <a:latin typeface="TT Fors"/>
                <a:ea typeface="TT Fors"/>
                <a:cs typeface="TT Fors"/>
                <a:sym typeface="TT Fors"/>
              </a:rPr>
              <a:t> a</a:t>
            </a:r>
            <a:r>
              <a:rPr lang="en-US" sz="3199" spc="-95" strike="noStrike" u="none">
                <a:solidFill>
                  <a:srgbClr val="00FFA8"/>
                </a:solidFill>
                <a:latin typeface="TT Fors"/>
                <a:ea typeface="TT Fors"/>
                <a:cs typeface="TT Fors"/>
                <a:sym typeface="TT Fors"/>
              </a:rPr>
              <a:t>ny que</a:t>
            </a:r>
            <a:r>
              <a:rPr lang="en-US" sz="3199" spc="-95" strike="noStrike" u="none">
                <a:solidFill>
                  <a:srgbClr val="00FFA8"/>
                </a:solidFill>
                <a:latin typeface="TT Fors"/>
                <a:ea typeface="TT Fors"/>
                <a:cs typeface="TT Fors"/>
                <a:sym typeface="TT Fors"/>
              </a:rPr>
              <a:t>s</a:t>
            </a:r>
            <a:r>
              <a:rPr lang="en-US" sz="3199" spc="-95" strike="noStrike" u="none">
                <a:solidFill>
                  <a:srgbClr val="00FFA8"/>
                </a:solidFill>
                <a:latin typeface="TT Fors"/>
                <a:ea typeface="TT Fors"/>
                <a:cs typeface="TT Fors"/>
                <a:sym typeface="TT Fors"/>
              </a:rPr>
              <a:t>tions or conc</a:t>
            </a:r>
            <a:r>
              <a:rPr lang="en-US" sz="3199" spc="-95" strike="noStrike" u="none">
                <a:solidFill>
                  <a:srgbClr val="00FFA8"/>
                </a:solidFill>
                <a:latin typeface="TT Fors"/>
                <a:ea typeface="TT Fors"/>
                <a:cs typeface="TT Fors"/>
                <a:sym typeface="TT Fors"/>
              </a:rPr>
              <a:t>e</a:t>
            </a:r>
            <a:r>
              <a:rPr lang="en-US" sz="3199" spc="-95" strike="noStrike" u="none">
                <a:solidFill>
                  <a:srgbClr val="00FFA8"/>
                </a:solidFill>
                <a:latin typeface="TT Fors"/>
                <a:ea typeface="TT Fors"/>
                <a:cs typeface="TT Fors"/>
                <a:sym typeface="TT Fors"/>
              </a:rPr>
              <a:t>rns</a:t>
            </a:r>
            <a:r>
              <a:rPr lang="en-US" sz="3199" spc="-95" strike="noStrike" u="none">
                <a:solidFill>
                  <a:srgbClr val="00FFA8"/>
                </a:solidFill>
                <a:latin typeface="TT Fors"/>
                <a:ea typeface="TT Fors"/>
                <a:cs typeface="TT Fors"/>
                <a:sym typeface="TT Fors"/>
              </a:rPr>
              <a:t> </a:t>
            </a:r>
            <a:r>
              <a:rPr lang="en-US" sz="3199" spc="-95" strike="noStrike" u="none">
                <a:solidFill>
                  <a:srgbClr val="00FFA8"/>
                </a:solidFill>
                <a:latin typeface="TT Fors"/>
                <a:ea typeface="TT Fors"/>
                <a:cs typeface="TT Fors"/>
                <a:sym typeface="TT Fors"/>
              </a:rPr>
              <a:t>d</a:t>
            </a:r>
            <a:r>
              <a:rPr lang="en-US" sz="3199" spc="-95" strike="noStrike" u="none">
                <a:solidFill>
                  <a:srgbClr val="00FFA8"/>
                </a:solidFill>
                <a:latin typeface="TT Fors"/>
                <a:ea typeface="TT Fors"/>
                <a:cs typeface="TT Fors"/>
                <a:sym typeface="TT Fors"/>
              </a:rPr>
              <a:t>u</a:t>
            </a:r>
            <a:r>
              <a:rPr lang="en-US" sz="3199" spc="-95" strike="noStrike" u="none">
                <a:solidFill>
                  <a:srgbClr val="00FFA8"/>
                </a:solidFill>
                <a:latin typeface="TT Fors"/>
                <a:ea typeface="TT Fors"/>
                <a:cs typeface="TT Fors"/>
                <a:sym typeface="TT Fors"/>
              </a:rPr>
              <a:t>r</a:t>
            </a:r>
            <a:r>
              <a:rPr lang="en-US" sz="3199" spc="-95" strike="noStrike" u="none">
                <a:solidFill>
                  <a:srgbClr val="00FFA8"/>
                </a:solidFill>
                <a:latin typeface="TT Fors"/>
                <a:ea typeface="TT Fors"/>
                <a:cs typeface="TT Fors"/>
                <a:sym typeface="TT Fors"/>
              </a:rPr>
              <a:t>i</a:t>
            </a:r>
            <a:r>
              <a:rPr lang="en-US" sz="3199" spc="-95" strike="noStrike" u="none">
                <a:solidFill>
                  <a:srgbClr val="00FFA8"/>
                </a:solidFill>
                <a:latin typeface="TT Fors"/>
                <a:ea typeface="TT Fors"/>
                <a:cs typeface="TT Fors"/>
                <a:sym typeface="TT Fors"/>
              </a:rPr>
              <a:t>ng th</a:t>
            </a:r>
            <a:r>
              <a:rPr lang="en-US" sz="3199" spc="-95" strike="noStrike" u="none">
                <a:solidFill>
                  <a:srgbClr val="00FFA8"/>
                </a:solidFill>
                <a:latin typeface="TT Fors"/>
                <a:ea typeface="TT Fors"/>
                <a:cs typeface="TT Fors"/>
                <a:sym typeface="TT Fors"/>
              </a:rPr>
              <a:t>e</a:t>
            </a:r>
            <a:r>
              <a:rPr lang="en-US" sz="3199" spc="-95" strike="noStrike" u="none">
                <a:solidFill>
                  <a:srgbClr val="00FFA8"/>
                </a:solidFill>
                <a:latin typeface="TT Fors"/>
                <a:ea typeface="TT Fors"/>
                <a:cs typeface="TT Fors"/>
                <a:sym typeface="TT Fors"/>
              </a:rPr>
              <a:t> cour</a:t>
            </a:r>
            <a:r>
              <a:rPr lang="en-US" sz="3199" spc="-95" strike="noStrike" u="none">
                <a:solidFill>
                  <a:srgbClr val="00FFA8"/>
                </a:solidFill>
                <a:latin typeface="TT Fors"/>
                <a:ea typeface="TT Fors"/>
                <a:cs typeface="TT Fors"/>
                <a:sym typeface="TT Fors"/>
              </a:rPr>
              <a:t>s</a:t>
            </a:r>
            <a:r>
              <a:rPr lang="en-US" sz="3199" spc="-95" strike="noStrike" u="none">
                <a:solidFill>
                  <a:srgbClr val="00FFA8"/>
                </a:solidFill>
                <a:latin typeface="TT Fors"/>
                <a:ea typeface="TT Fors"/>
                <a:cs typeface="TT Fors"/>
                <a:sym typeface="TT Fors"/>
              </a:rPr>
              <a:t>e.</a:t>
            </a:r>
          </a:p>
        </p:txBody>
      </p:sp>
      <p:sp>
        <p:nvSpPr>
          <p:cNvPr name="TextBox 12" id="12"/>
          <p:cNvSpPr txBox="true"/>
          <p:nvPr/>
        </p:nvSpPr>
        <p:spPr>
          <a:xfrm rot="0">
            <a:off x="666750" y="371475"/>
            <a:ext cx="11201400" cy="923925"/>
          </a:xfrm>
          <a:prstGeom prst="rect">
            <a:avLst/>
          </a:prstGeom>
        </p:spPr>
        <p:txBody>
          <a:bodyPr anchor="t" rtlCol="false" tIns="0" lIns="0" bIns="0" rIns="0">
            <a:spAutoFit/>
          </a:bodyPr>
          <a:lstStyle/>
          <a:p>
            <a:pPr algn="l" marL="0" indent="0" lvl="0">
              <a:lnSpc>
                <a:spcPts val="6000"/>
              </a:lnSpc>
              <a:spcBef>
                <a:spcPct val="0"/>
              </a:spcBef>
            </a:pPr>
            <a:r>
              <a:rPr lang="en-US" sz="6000" spc="-179">
                <a:solidFill>
                  <a:srgbClr val="00FFA8"/>
                </a:solidFill>
                <a:latin typeface="ITC Avant Garde Gothic"/>
                <a:ea typeface="ITC Avant Garde Gothic"/>
                <a:cs typeface="ITC Avant Garde Gothic"/>
                <a:sym typeface="ITC Avant Garde Gothic"/>
              </a:rPr>
              <a:t>DISC</a:t>
            </a:r>
            <a:r>
              <a:rPr lang="en-US" sz="6000" spc="-179" strike="noStrike" u="none">
                <a:solidFill>
                  <a:srgbClr val="00FFA8"/>
                </a:solidFill>
                <a:latin typeface="ITC Avant Garde Gothic"/>
                <a:ea typeface="ITC Avant Garde Gothic"/>
                <a:cs typeface="ITC Avant Garde Gothic"/>
                <a:sym typeface="ITC Avant Garde Gothic"/>
              </a:rPr>
              <a:t>L</a:t>
            </a:r>
            <a:r>
              <a:rPr lang="en-US" sz="6000" spc="-179" strike="noStrike" u="none">
                <a:solidFill>
                  <a:srgbClr val="00FFA8"/>
                </a:solidFill>
                <a:latin typeface="ITC Avant Garde Gothic"/>
                <a:ea typeface="ITC Avant Garde Gothic"/>
                <a:cs typeface="ITC Avant Garde Gothic"/>
                <a:sym typeface="ITC Avant Garde Gothic"/>
              </a:rPr>
              <a:t>AIMER</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grpSp>
        <p:nvGrpSpPr>
          <p:cNvPr name="Group 2" id="2"/>
          <p:cNvGrpSpPr/>
          <p:nvPr/>
        </p:nvGrpSpPr>
        <p:grpSpPr>
          <a:xfrm rot="0">
            <a:off x="16149744" y="381000"/>
            <a:ext cx="1471506" cy="792133"/>
            <a:chOff x="0" y="0"/>
            <a:chExt cx="1962007" cy="1056178"/>
          </a:xfrm>
        </p:grpSpPr>
        <p:grpSp>
          <p:nvGrpSpPr>
            <p:cNvPr name="Group 3" id="3"/>
            <p:cNvGrpSpPr/>
            <p:nvPr/>
          </p:nvGrpSpPr>
          <p:grpSpPr>
            <a:xfrm rot="0">
              <a:off x="0" y="0"/>
              <a:ext cx="1056178" cy="105617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grpSp>
          <p:nvGrpSpPr>
            <p:cNvPr name="Group 6" id="6"/>
            <p:cNvGrpSpPr/>
            <p:nvPr/>
          </p:nvGrpSpPr>
          <p:grpSpPr>
            <a:xfrm rot="0">
              <a:off x="905830" y="0"/>
              <a:ext cx="1056178" cy="105617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sp>
          <p:nvSpPr>
            <p:cNvPr name="Freeform 9" id="9"/>
            <p:cNvSpPr/>
            <p:nvPr/>
          </p:nvSpPr>
          <p:spPr>
            <a:xfrm flipH="false" flipV="false" rot="0">
              <a:off x="177421" y="150010"/>
              <a:ext cx="701336" cy="756158"/>
            </a:xfrm>
            <a:custGeom>
              <a:avLst/>
              <a:gdLst/>
              <a:ahLst/>
              <a:cxnLst/>
              <a:rect r="r" b="b" t="t" l="l"/>
              <a:pathLst>
                <a:path h="756158" w="701336">
                  <a:moveTo>
                    <a:pt x="0" y="0"/>
                  </a:moveTo>
                  <a:lnTo>
                    <a:pt x="701336" y="0"/>
                  </a:lnTo>
                  <a:lnTo>
                    <a:pt x="701336" y="756158"/>
                  </a:lnTo>
                  <a:lnTo>
                    <a:pt x="0" y="7561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070789" y="245755"/>
              <a:ext cx="726260" cy="564667"/>
            </a:xfrm>
            <a:custGeom>
              <a:avLst/>
              <a:gdLst/>
              <a:ahLst/>
              <a:cxnLst/>
              <a:rect r="r" b="b" t="t" l="l"/>
              <a:pathLst>
                <a:path h="564667" w="726260">
                  <a:moveTo>
                    <a:pt x="0" y="0"/>
                  </a:moveTo>
                  <a:lnTo>
                    <a:pt x="726260" y="0"/>
                  </a:lnTo>
                  <a:lnTo>
                    <a:pt x="726260" y="564667"/>
                  </a:lnTo>
                  <a:lnTo>
                    <a:pt x="0" y="5646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TextBox 11" id="11"/>
          <p:cNvSpPr txBox="true"/>
          <p:nvPr/>
        </p:nvSpPr>
        <p:spPr>
          <a:xfrm rot="0">
            <a:off x="666750" y="2551174"/>
            <a:ext cx="16954500" cy="3175634"/>
          </a:xfrm>
          <a:prstGeom prst="rect">
            <a:avLst/>
          </a:prstGeom>
        </p:spPr>
        <p:txBody>
          <a:bodyPr anchor="t" rtlCol="false" tIns="0" lIns="0" bIns="0" rIns="0">
            <a:spAutoFit/>
          </a:bodyPr>
          <a:lstStyle/>
          <a:p>
            <a:pPr algn="l" marL="518163" indent="-259082" lvl="1">
              <a:lnSpc>
                <a:spcPts val="3600"/>
              </a:lnSpc>
              <a:buFont typeface="Arial"/>
              <a:buChar char="•"/>
            </a:pPr>
            <a:r>
              <a:rPr lang="en-US" sz="2400" spc="-72">
                <a:solidFill>
                  <a:srgbClr val="00FFA8"/>
                </a:solidFill>
                <a:latin typeface="TT Fors"/>
                <a:ea typeface="TT Fors"/>
                <a:cs typeface="TT Fors"/>
                <a:sym typeface="TT Fors"/>
              </a:rPr>
              <a:t>Identify and analyze modern web server architectures and components</a:t>
            </a:r>
          </a:p>
          <a:p>
            <a:pPr algn="l" marL="518163" indent="-259082" lvl="1">
              <a:lnSpc>
                <a:spcPts val="3600"/>
              </a:lnSpc>
              <a:buFont typeface="Arial"/>
              <a:buChar char="•"/>
            </a:pPr>
            <a:r>
              <a:rPr lang="en-US" sz="2400" spc="-72">
                <a:solidFill>
                  <a:srgbClr val="00FFA8"/>
                </a:solidFill>
                <a:latin typeface="TT Fors"/>
                <a:ea typeface="TT Fors"/>
                <a:cs typeface="TT Fors"/>
                <a:sym typeface="TT Fors"/>
              </a:rPr>
              <a:t>Understand HTTP/HTTPS protocol vulnerabilities and security implications</a:t>
            </a:r>
          </a:p>
          <a:p>
            <a:pPr algn="l" marL="518163" indent="-259082" lvl="1">
              <a:lnSpc>
                <a:spcPts val="3600"/>
              </a:lnSpc>
              <a:buFont typeface="Arial"/>
              <a:buChar char="•"/>
            </a:pPr>
            <a:r>
              <a:rPr lang="en-US" sz="2400" spc="-72">
                <a:solidFill>
                  <a:srgbClr val="00FFA8"/>
                </a:solidFill>
                <a:latin typeface="TT Fors"/>
                <a:ea typeface="TT Fors"/>
                <a:cs typeface="TT Fors"/>
                <a:sym typeface="TT Fors"/>
              </a:rPr>
              <a:t>Recognize common web server misconfigurations and attack vectors</a:t>
            </a:r>
          </a:p>
          <a:p>
            <a:pPr algn="l" marL="518163" indent="-259082" lvl="1">
              <a:lnSpc>
                <a:spcPts val="3600"/>
              </a:lnSpc>
              <a:buFont typeface="Arial"/>
              <a:buChar char="•"/>
            </a:pPr>
            <a:r>
              <a:rPr lang="en-US" sz="2400" spc="-72">
                <a:solidFill>
                  <a:srgbClr val="00FFA8"/>
                </a:solidFill>
                <a:latin typeface="TT Fors"/>
                <a:ea typeface="TT Fors"/>
                <a:cs typeface="TT Fors"/>
                <a:sym typeface="TT Fors"/>
              </a:rPr>
              <a:t>Perform web server fingerprinting and vulnerability assessment</a:t>
            </a:r>
          </a:p>
          <a:p>
            <a:pPr algn="l" marL="518163" indent="-259082" lvl="1">
              <a:lnSpc>
                <a:spcPts val="3600"/>
              </a:lnSpc>
              <a:buFont typeface="Arial"/>
              <a:buChar char="•"/>
            </a:pPr>
            <a:r>
              <a:rPr lang="en-US" sz="2400" spc="-72">
                <a:solidFill>
                  <a:srgbClr val="00FFA8"/>
                </a:solidFill>
                <a:latin typeface="TT Fors"/>
                <a:ea typeface="TT Fors"/>
                <a:cs typeface="TT Fors"/>
                <a:sym typeface="TT Fors"/>
              </a:rPr>
              <a:t>Use industry-standard tools (Nikto, Burp Suite, Gobuster) for security testing</a:t>
            </a:r>
          </a:p>
          <a:p>
            <a:pPr algn="l" marL="518163" indent="-259082" lvl="1">
              <a:lnSpc>
                <a:spcPts val="3600"/>
              </a:lnSpc>
              <a:buFont typeface="Arial"/>
              <a:buChar char="•"/>
            </a:pPr>
            <a:r>
              <a:rPr lang="en-US" sz="2400" spc="-72">
                <a:solidFill>
                  <a:srgbClr val="00FFA8"/>
                </a:solidFill>
                <a:latin typeface="TT Fors"/>
                <a:ea typeface="TT Fors"/>
                <a:cs typeface="TT Fors"/>
                <a:sym typeface="TT Fors"/>
              </a:rPr>
              <a:t>Understand and mitigate directory trav</a:t>
            </a:r>
            <a:r>
              <a:rPr lang="en-US" sz="2400" spc="-72" strike="noStrike" u="none">
                <a:solidFill>
                  <a:srgbClr val="00FFA8"/>
                </a:solidFill>
                <a:latin typeface="TT Fors"/>
                <a:ea typeface="TT Fors"/>
                <a:cs typeface="TT Fors"/>
                <a:sym typeface="TT Fors"/>
              </a:rPr>
              <a:t>ersal and authentication bypass attacks</a:t>
            </a:r>
          </a:p>
          <a:p>
            <a:pPr algn="l" marL="518163" indent="-259082" lvl="1">
              <a:lnSpc>
                <a:spcPts val="3600"/>
              </a:lnSpc>
              <a:buFont typeface="Arial"/>
              <a:buChar char="•"/>
            </a:pPr>
            <a:r>
              <a:rPr lang="en-US" sz="2400" spc="-72" strike="noStrike" u="none">
                <a:solidFill>
                  <a:srgbClr val="00FFA8"/>
                </a:solidFill>
                <a:latin typeface="TT Fors"/>
                <a:ea typeface="TT Fors"/>
                <a:cs typeface="TT Fors"/>
                <a:sym typeface="TT Fors"/>
              </a:rPr>
              <a:t>Eva</a:t>
            </a:r>
            <a:r>
              <a:rPr lang="en-US" sz="2400" spc="-72" strike="noStrike" u="none">
                <a:solidFill>
                  <a:srgbClr val="00FFA8"/>
                </a:solidFill>
                <a:latin typeface="TT Fors"/>
                <a:ea typeface="TT Fors"/>
                <a:cs typeface="TT Fors"/>
                <a:sym typeface="TT Fors"/>
              </a:rPr>
              <a:t>luate Web Application Firewall (WAF) capabilities and limitations</a:t>
            </a:r>
          </a:p>
        </p:txBody>
      </p:sp>
      <p:sp>
        <p:nvSpPr>
          <p:cNvPr name="TextBox 12" id="12"/>
          <p:cNvSpPr txBox="true"/>
          <p:nvPr/>
        </p:nvSpPr>
        <p:spPr>
          <a:xfrm rot="0">
            <a:off x="666750" y="371475"/>
            <a:ext cx="11201400" cy="923925"/>
          </a:xfrm>
          <a:prstGeom prst="rect">
            <a:avLst/>
          </a:prstGeom>
        </p:spPr>
        <p:txBody>
          <a:bodyPr anchor="t" rtlCol="false" tIns="0" lIns="0" bIns="0" rIns="0">
            <a:spAutoFit/>
          </a:bodyPr>
          <a:lstStyle/>
          <a:p>
            <a:pPr algn="l" marL="0" indent="0" lvl="0">
              <a:lnSpc>
                <a:spcPts val="6000"/>
              </a:lnSpc>
              <a:spcBef>
                <a:spcPct val="0"/>
              </a:spcBef>
            </a:pPr>
            <a:r>
              <a:rPr lang="en-US" sz="6000" spc="-179" strike="noStrike" u="none">
                <a:solidFill>
                  <a:srgbClr val="00FFA8"/>
                </a:solidFill>
                <a:latin typeface="ITC Avant Garde Gothic"/>
                <a:ea typeface="ITC Avant Garde Gothic"/>
                <a:cs typeface="ITC Avant Garde Gothic"/>
                <a:sym typeface="ITC Avant Garde Gothic"/>
              </a:rPr>
              <a:t>Learning Objectives</a:t>
            </a:r>
          </a:p>
        </p:txBody>
      </p:sp>
      <p:sp>
        <p:nvSpPr>
          <p:cNvPr name="TextBox 13" id="13"/>
          <p:cNvSpPr txBox="true"/>
          <p:nvPr/>
        </p:nvSpPr>
        <p:spPr>
          <a:xfrm rot="0">
            <a:off x="666750" y="2095500"/>
            <a:ext cx="12983782" cy="390525"/>
          </a:xfrm>
          <a:prstGeom prst="rect">
            <a:avLst/>
          </a:prstGeom>
        </p:spPr>
        <p:txBody>
          <a:bodyPr anchor="t" rtlCol="false" tIns="0" lIns="0" bIns="0" rIns="0">
            <a:spAutoFit/>
          </a:bodyPr>
          <a:lstStyle/>
          <a:p>
            <a:pPr algn="l" marL="0" indent="0" lvl="0">
              <a:lnSpc>
                <a:spcPts val="3120"/>
              </a:lnSpc>
              <a:spcBef>
                <a:spcPct val="0"/>
              </a:spcBef>
            </a:pPr>
            <a:r>
              <a:rPr lang="en-US" b="true" sz="2600" spc="-78">
                <a:solidFill>
                  <a:srgbClr val="00FFA8"/>
                </a:solidFill>
                <a:latin typeface="TT Fors Bold"/>
                <a:ea typeface="TT Fors Bold"/>
                <a:cs typeface="TT Fors Bold"/>
                <a:sym typeface="TT Fors Bold"/>
              </a:rPr>
              <a:t>What</a:t>
            </a:r>
            <a:r>
              <a:rPr lang="en-US" b="true" sz="2600" spc="-78" strike="noStrike" u="none">
                <a:solidFill>
                  <a:srgbClr val="00FFA8"/>
                </a:solidFill>
                <a:latin typeface="TT Fors Bold"/>
                <a:ea typeface="TT Fors Bold"/>
                <a:cs typeface="TT Fors Bold"/>
                <a:sym typeface="TT Fors Bold"/>
              </a:rPr>
              <a:t> </a:t>
            </a:r>
            <a:r>
              <a:rPr lang="en-US" b="true" sz="2600" spc="-78" strike="noStrike" u="none">
                <a:solidFill>
                  <a:srgbClr val="00FFA8"/>
                </a:solidFill>
                <a:latin typeface="TT Fors Bold"/>
                <a:ea typeface="TT Fors Bold"/>
                <a:cs typeface="TT Fors Bold"/>
                <a:sym typeface="TT Fors Bold"/>
              </a:rPr>
              <a:t>Y</a:t>
            </a:r>
            <a:r>
              <a:rPr lang="en-US" b="true" sz="2600" spc="-78" strike="noStrike" u="none">
                <a:solidFill>
                  <a:srgbClr val="00FFA8"/>
                </a:solidFill>
                <a:latin typeface="TT Fors Bold"/>
                <a:ea typeface="TT Fors Bold"/>
                <a:cs typeface="TT Fors Bold"/>
                <a:sym typeface="TT Fors Bold"/>
              </a:rPr>
              <a:t>ou </a:t>
            </a:r>
            <a:r>
              <a:rPr lang="en-US" b="true" sz="2600" spc="-78" strike="noStrike" u="none">
                <a:solidFill>
                  <a:srgbClr val="00FFA8"/>
                </a:solidFill>
                <a:latin typeface="TT Fors Bold"/>
                <a:ea typeface="TT Fors Bold"/>
                <a:cs typeface="TT Fors Bold"/>
                <a:sym typeface="TT Fors Bold"/>
              </a:rPr>
              <a:t>W</a:t>
            </a:r>
            <a:r>
              <a:rPr lang="en-US" b="true" sz="2600" spc="-78" strike="noStrike" u="none">
                <a:solidFill>
                  <a:srgbClr val="00FFA8"/>
                </a:solidFill>
                <a:latin typeface="TT Fors Bold"/>
                <a:ea typeface="TT Fors Bold"/>
                <a:cs typeface="TT Fors Bold"/>
                <a:sym typeface="TT Fors Bold"/>
              </a:rPr>
              <a:t>i</a:t>
            </a:r>
            <a:r>
              <a:rPr lang="en-US" b="true" sz="2600" spc="-78" strike="noStrike" u="none">
                <a:solidFill>
                  <a:srgbClr val="00FFA8"/>
                </a:solidFill>
                <a:latin typeface="TT Fors Bold"/>
                <a:ea typeface="TT Fors Bold"/>
                <a:cs typeface="TT Fors Bold"/>
                <a:sym typeface="TT Fors Bold"/>
              </a:rPr>
              <a:t>ll</a:t>
            </a:r>
            <a:r>
              <a:rPr lang="en-US" b="true" sz="2600" spc="-78" strike="noStrike" u="none">
                <a:solidFill>
                  <a:srgbClr val="00FFA8"/>
                </a:solidFill>
                <a:latin typeface="TT Fors Bold"/>
                <a:ea typeface="TT Fors Bold"/>
                <a:cs typeface="TT Fors Bold"/>
                <a:sym typeface="TT Fors Bold"/>
              </a:rPr>
              <a:t> </a:t>
            </a:r>
            <a:r>
              <a:rPr lang="en-US" b="true" sz="2600" spc="-78" strike="noStrike" u="none">
                <a:solidFill>
                  <a:srgbClr val="00FFA8"/>
                </a:solidFill>
                <a:latin typeface="TT Fors Bold"/>
                <a:ea typeface="TT Fors Bold"/>
                <a:cs typeface="TT Fors Bold"/>
                <a:sym typeface="TT Fors Bold"/>
              </a:rPr>
              <a:t>L</a:t>
            </a:r>
            <a:r>
              <a:rPr lang="en-US" b="true" sz="2600" spc="-78" strike="noStrike" u="none">
                <a:solidFill>
                  <a:srgbClr val="00FFA8"/>
                </a:solidFill>
                <a:latin typeface="TT Fors Bold"/>
                <a:ea typeface="TT Fors Bold"/>
                <a:cs typeface="TT Fors Bold"/>
                <a:sym typeface="TT Fors Bold"/>
              </a:rPr>
              <a:t>ea</a:t>
            </a:r>
            <a:r>
              <a:rPr lang="en-US" b="true" sz="2600" spc="-78" strike="noStrike" u="none">
                <a:solidFill>
                  <a:srgbClr val="00FFA8"/>
                </a:solidFill>
                <a:latin typeface="TT Fors Bold"/>
                <a:ea typeface="TT Fors Bold"/>
                <a:cs typeface="TT Fors Bold"/>
                <a:sym typeface="TT Fors Bold"/>
              </a:rPr>
              <a:t>r</a:t>
            </a:r>
            <a:r>
              <a:rPr lang="en-US" b="true" sz="2600" spc="-78" strike="noStrike" u="none">
                <a:solidFill>
                  <a:srgbClr val="00FFA8"/>
                </a:solidFill>
                <a:latin typeface="TT Fors Bold"/>
                <a:ea typeface="TT Fors Bold"/>
                <a:cs typeface="TT Fors Bold"/>
                <a:sym typeface="TT Fors Bold"/>
              </a:rPr>
              <a:t>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grpSp>
        <p:nvGrpSpPr>
          <p:cNvPr name="Group 2" id="2"/>
          <p:cNvGrpSpPr/>
          <p:nvPr/>
        </p:nvGrpSpPr>
        <p:grpSpPr>
          <a:xfrm rot="0">
            <a:off x="16149744" y="381000"/>
            <a:ext cx="1471506" cy="792133"/>
            <a:chOff x="0" y="0"/>
            <a:chExt cx="1962007" cy="1056178"/>
          </a:xfrm>
        </p:grpSpPr>
        <p:grpSp>
          <p:nvGrpSpPr>
            <p:cNvPr name="Group 3" id="3"/>
            <p:cNvGrpSpPr/>
            <p:nvPr/>
          </p:nvGrpSpPr>
          <p:grpSpPr>
            <a:xfrm rot="0">
              <a:off x="0" y="0"/>
              <a:ext cx="1056178" cy="105617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grpSp>
          <p:nvGrpSpPr>
            <p:cNvPr name="Group 6" id="6"/>
            <p:cNvGrpSpPr/>
            <p:nvPr/>
          </p:nvGrpSpPr>
          <p:grpSpPr>
            <a:xfrm rot="0">
              <a:off x="905830" y="0"/>
              <a:ext cx="1056178" cy="105617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sp>
          <p:nvSpPr>
            <p:cNvPr name="Freeform 9" id="9"/>
            <p:cNvSpPr/>
            <p:nvPr/>
          </p:nvSpPr>
          <p:spPr>
            <a:xfrm flipH="false" flipV="false" rot="0">
              <a:off x="177421" y="150010"/>
              <a:ext cx="701336" cy="756158"/>
            </a:xfrm>
            <a:custGeom>
              <a:avLst/>
              <a:gdLst/>
              <a:ahLst/>
              <a:cxnLst/>
              <a:rect r="r" b="b" t="t" l="l"/>
              <a:pathLst>
                <a:path h="756158" w="701336">
                  <a:moveTo>
                    <a:pt x="0" y="0"/>
                  </a:moveTo>
                  <a:lnTo>
                    <a:pt x="701336" y="0"/>
                  </a:lnTo>
                  <a:lnTo>
                    <a:pt x="701336" y="756158"/>
                  </a:lnTo>
                  <a:lnTo>
                    <a:pt x="0" y="7561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070789" y="245755"/>
              <a:ext cx="726260" cy="564667"/>
            </a:xfrm>
            <a:custGeom>
              <a:avLst/>
              <a:gdLst/>
              <a:ahLst/>
              <a:cxnLst/>
              <a:rect r="r" b="b" t="t" l="l"/>
              <a:pathLst>
                <a:path h="564667" w="726260">
                  <a:moveTo>
                    <a:pt x="0" y="0"/>
                  </a:moveTo>
                  <a:lnTo>
                    <a:pt x="726260" y="0"/>
                  </a:lnTo>
                  <a:lnTo>
                    <a:pt x="726260" y="564667"/>
                  </a:lnTo>
                  <a:lnTo>
                    <a:pt x="0" y="5646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TextBox 11" id="11"/>
          <p:cNvSpPr txBox="true"/>
          <p:nvPr/>
        </p:nvSpPr>
        <p:spPr>
          <a:xfrm rot="0">
            <a:off x="666750" y="2551174"/>
            <a:ext cx="16954500" cy="4090034"/>
          </a:xfrm>
          <a:prstGeom prst="rect">
            <a:avLst/>
          </a:prstGeom>
        </p:spPr>
        <p:txBody>
          <a:bodyPr anchor="t" rtlCol="false" tIns="0" lIns="0" bIns="0" rIns="0">
            <a:spAutoFit/>
          </a:bodyPr>
          <a:lstStyle/>
          <a:p>
            <a:pPr algn="l" marL="518163" indent="-259082" lvl="1">
              <a:lnSpc>
                <a:spcPts val="3600"/>
              </a:lnSpc>
              <a:buFont typeface="Arial"/>
              <a:buChar char="•"/>
            </a:pPr>
            <a:r>
              <a:rPr lang="en-US" b="true" sz="2400" spc="-72">
                <a:solidFill>
                  <a:srgbClr val="00FFA8"/>
                </a:solidFill>
                <a:latin typeface="TT Fors Bold"/>
                <a:ea typeface="TT Fors Bold"/>
                <a:cs typeface="TT Fors Bold"/>
                <a:sym typeface="TT Fors Bold"/>
              </a:rPr>
              <a:t>XSS:</a:t>
            </a:r>
            <a:r>
              <a:rPr lang="en-US" sz="2400" spc="-72">
                <a:solidFill>
                  <a:srgbClr val="00FFA8"/>
                </a:solidFill>
                <a:latin typeface="TT Fors"/>
                <a:ea typeface="TT Fors"/>
                <a:cs typeface="TT Fors"/>
                <a:sym typeface="TT Fors"/>
              </a:rPr>
              <a:t> Cross-Site Scripting - injecting malicious scripts into web pages</a:t>
            </a:r>
          </a:p>
          <a:p>
            <a:pPr algn="l" marL="518163" indent="-259082" lvl="1">
              <a:lnSpc>
                <a:spcPts val="3600"/>
              </a:lnSpc>
              <a:buFont typeface="Arial"/>
              <a:buChar char="•"/>
            </a:pPr>
            <a:r>
              <a:rPr lang="en-US" b="true" sz="2400" spc="-72">
                <a:solidFill>
                  <a:srgbClr val="00FFA8"/>
                </a:solidFill>
                <a:latin typeface="TT Fors Bold"/>
                <a:ea typeface="TT Fors Bold"/>
                <a:cs typeface="TT Fors Bold"/>
                <a:sym typeface="TT Fors Bold"/>
              </a:rPr>
              <a:t>SQL Injection:</a:t>
            </a:r>
            <a:r>
              <a:rPr lang="en-US" sz="2400" spc="-72">
                <a:solidFill>
                  <a:srgbClr val="00FFA8"/>
                </a:solidFill>
                <a:latin typeface="TT Fors"/>
                <a:ea typeface="TT Fors"/>
                <a:cs typeface="TT Fors"/>
                <a:sym typeface="TT Fors"/>
              </a:rPr>
              <a:t> Manipulating SQL queries through unsanitized input</a:t>
            </a:r>
          </a:p>
          <a:p>
            <a:pPr algn="l" marL="518163" indent="-259082" lvl="1">
              <a:lnSpc>
                <a:spcPts val="3600"/>
              </a:lnSpc>
              <a:buFont typeface="Arial"/>
              <a:buChar char="•"/>
            </a:pPr>
            <a:r>
              <a:rPr lang="en-US" b="true" sz="2400" spc="-72">
                <a:solidFill>
                  <a:srgbClr val="00FFA8"/>
                </a:solidFill>
                <a:latin typeface="TT Fors Bold"/>
                <a:ea typeface="TT Fors Bold"/>
                <a:cs typeface="TT Fors Bold"/>
                <a:sym typeface="TT Fors Bold"/>
              </a:rPr>
              <a:t>CSRF:</a:t>
            </a:r>
            <a:r>
              <a:rPr lang="en-US" sz="2400" spc="-72">
                <a:solidFill>
                  <a:srgbClr val="00FFA8"/>
                </a:solidFill>
                <a:latin typeface="TT Fors"/>
                <a:ea typeface="TT Fors"/>
                <a:cs typeface="TT Fors"/>
                <a:sym typeface="TT Fors"/>
              </a:rPr>
              <a:t> Cross-Site Request Forgery - tricking users into unintended actions</a:t>
            </a:r>
          </a:p>
          <a:p>
            <a:pPr algn="l" marL="518163" indent="-259082" lvl="1">
              <a:lnSpc>
                <a:spcPts val="3600"/>
              </a:lnSpc>
              <a:buFont typeface="Arial"/>
              <a:buChar char="•"/>
            </a:pPr>
            <a:r>
              <a:rPr lang="en-US" b="true" sz="2400" spc="-72">
                <a:solidFill>
                  <a:srgbClr val="00FFA8"/>
                </a:solidFill>
                <a:latin typeface="TT Fors Bold"/>
                <a:ea typeface="TT Fors Bold"/>
                <a:cs typeface="TT Fors Bold"/>
                <a:sym typeface="TT Fors Bold"/>
              </a:rPr>
              <a:t>WAF:</a:t>
            </a:r>
            <a:r>
              <a:rPr lang="en-US" sz="2400" spc="-72">
                <a:solidFill>
                  <a:srgbClr val="00FFA8"/>
                </a:solidFill>
                <a:latin typeface="TT Fors"/>
                <a:ea typeface="TT Fors"/>
                <a:cs typeface="TT Fors"/>
                <a:sym typeface="TT Fors"/>
              </a:rPr>
              <a:t> Web Application Firewall - traffic filtering and protection</a:t>
            </a:r>
          </a:p>
          <a:p>
            <a:pPr algn="l" marL="518163" indent="-259082" lvl="1">
              <a:lnSpc>
                <a:spcPts val="3600"/>
              </a:lnSpc>
              <a:buFont typeface="Arial"/>
              <a:buChar char="•"/>
            </a:pPr>
            <a:r>
              <a:rPr lang="en-US" b="true" sz="2400" spc="-72">
                <a:solidFill>
                  <a:srgbClr val="00FFA8"/>
                </a:solidFill>
                <a:latin typeface="TT Fors Bold"/>
                <a:ea typeface="TT Fors Bold"/>
                <a:cs typeface="TT Fors Bold"/>
                <a:sym typeface="TT Fors Bold"/>
              </a:rPr>
              <a:t>TLS/SSL:</a:t>
            </a:r>
            <a:r>
              <a:rPr lang="en-US" sz="2400" spc="-72">
                <a:solidFill>
                  <a:srgbClr val="00FFA8"/>
                </a:solidFill>
                <a:latin typeface="TT Fors"/>
                <a:ea typeface="TT Fors"/>
                <a:cs typeface="TT Fors"/>
                <a:sym typeface="TT Fors"/>
              </a:rPr>
              <a:t> Encryption protocols for HTTPS</a:t>
            </a:r>
          </a:p>
          <a:p>
            <a:pPr algn="l" marL="518163" indent="-259082" lvl="1">
              <a:lnSpc>
                <a:spcPts val="3600"/>
              </a:lnSpc>
              <a:buFont typeface="Arial"/>
              <a:buChar char="•"/>
            </a:pPr>
            <a:r>
              <a:rPr lang="en-US" b="true" sz="2400" spc="-72">
                <a:solidFill>
                  <a:srgbClr val="00FFA8"/>
                </a:solidFill>
                <a:latin typeface="TT Fors Bold"/>
                <a:ea typeface="TT Fors Bold"/>
                <a:cs typeface="TT Fors Bold"/>
                <a:sym typeface="TT Fors Bold"/>
              </a:rPr>
              <a:t>Cookie:</a:t>
            </a:r>
            <a:r>
              <a:rPr lang="en-US" sz="2400" spc="-72">
                <a:solidFill>
                  <a:srgbClr val="00FFA8"/>
                </a:solidFill>
                <a:latin typeface="TT Fors"/>
                <a:ea typeface="TT Fors"/>
                <a:cs typeface="TT Fors"/>
                <a:sym typeface="TT Fors"/>
              </a:rPr>
              <a:t> Client-side storage for session state</a:t>
            </a:r>
          </a:p>
          <a:p>
            <a:pPr algn="l" marL="518163" indent="-259082" lvl="1">
              <a:lnSpc>
                <a:spcPts val="3600"/>
              </a:lnSpc>
              <a:buFont typeface="Arial"/>
              <a:buChar char="•"/>
            </a:pPr>
            <a:r>
              <a:rPr lang="en-US" b="true" sz="2400" spc="-72">
                <a:solidFill>
                  <a:srgbClr val="00FFA8"/>
                </a:solidFill>
                <a:latin typeface="TT Fors Bold"/>
                <a:ea typeface="TT Fors Bold"/>
                <a:cs typeface="TT Fors Bold"/>
                <a:sym typeface="TT Fors Bold"/>
              </a:rPr>
              <a:t>Directory Traversal:</a:t>
            </a:r>
            <a:r>
              <a:rPr lang="en-US" sz="2400" spc="-72">
                <a:solidFill>
                  <a:srgbClr val="00FFA8"/>
                </a:solidFill>
                <a:latin typeface="TT Fors"/>
                <a:ea typeface="TT Fors"/>
                <a:cs typeface="TT Fors"/>
                <a:sym typeface="TT Fors"/>
              </a:rPr>
              <a:t> Accessing files outside intended directories</a:t>
            </a:r>
          </a:p>
          <a:p>
            <a:pPr algn="l" marL="518163" indent="-259082" lvl="1">
              <a:lnSpc>
                <a:spcPts val="3600"/>
              </a:lnSpc>
              <a:buFont typeface="Arial"/>
              <a:buChar char="•"/>
            </a:pPr>
            <a:r>
              <a:rPr lang="en-US" b="true" sz="2400" spc="-72">
                <a:solidFill>
                  <a:srgbClr val="00FFA8"/>
                </a:solidFill>
                <a:latin typeface="TT Fors Bold"/>
                <a:ea typeface="TT Fors Bold"/>
                <a:cs typeface="TT Fors Bold"/>
                <a:sym typeface="TT Fors Bold"/>
              </a:rPr>
              <a:t>Fingerprinting:</a:t>
            </a:r>
            <a:r>
              <a:rPr lang="en-US" sz="2400" spc="-72">
                <a:solidFill>
                  <a:srgbClr val="00FFA8"/>
                </a:solidFill>
                <a:latin typeface="TT Fors"/>
                <a:ea typeface="TT Fors"/>
                <a:cs typeface="TT Fors"/>
                <a:sym typeface="TT Fors"/>
              </a:rPr>
              <a:t> Identifying software versions and technologies</a:t>
            </a:r>
          </a:p>
          <a:p>
            <a:pPr algn="l" marL="518163" indent="-259082" lvl="1">
              <a:lnSpc>
                <a:spcPts val="3600"/>
              </a:lnSpc>
              <a:buFont typeface="Arial"/>
              <a:buChar char="•"/>
            </a:pPr>
            <a:r>
              <a:rPr lang="en-US" b="true" sz="2400" spc="-72">
                <a:solidFill>
                  <a:srgbClr val="00FFA8"/>
                </a:solidFill>
                <a:latin typeface="TT Fors Bold"/>
                <a:ea typeface="TT Fors Bold"/>
                <a:cs typeface="TT Fors Bold"/>
                <a:sym typeface="TT Fors Bold"/>
              </a:rPr>
              <a:t>Reverse Proxy:</a:t>
            </a:r>
            <a:r>
              <a:rPr lang="en-US" sz="2400" spc="-72">
                <a:solidFill>
                  <a:srgbClr val="00FFA8"/>
                </a:solidFill>
                <a:latin typeface="TT Fors"/>
                <a:ea typeface="TT Fors"/>
                <a:cs typeface="TT Fors"/>
                <a:sym typeface="TT Fors"/>
              </a:rPr>
              <a:t> Server forwarding requests to backend servers</a:t>
            </a:r>
          </a:p>
        </p:txBody>
      </p:sp>
      <p:sp>
        <p:nvSpPr>
          <p:cNvPr name="TextBox 12" id="12"/>
          <p:cNvSpPr txBox="true"/>
          <p:nvPr/>
        </p:nvSpPr>
        <p:spPr>
          <a:xfrm rot="0">
            <a:off x="666750" y="371475"/>
            <a:ext cx="11201400" cy="923925"/>
          </a:xfrm>
          <a:prstGeom prst="rect">
            <a:avLst/>
          </a:prstGeom>
        </p:spPr>
        <p:txBody>
          <a:bodyPr anchor="t" rtlCol="false" tIns="0" lIns="0" bIns="0" rIns="0">
            <a:spAutoFit/>
          </a:bodyPr>
          <a:lstStyle/>
          <a:p>
            <a:pPr algn="l" marL="0" indent="0" lvl="0">
              <a:lnSpc>
                <a:spcPts val="6000"/>
              </a:lnSpc>
              <a:spcBef>
                <a:spcPct val="0"/>
              </a:spcBef>
            </a:pPr>
            <a:r>
              <a:rPr lang="en-US" sz="6000" spc="-179">
                <a:solidFill>
                  <a:srgbClr val="00FFA8"/>
                </a:solidFill>
                <a:latin typeface="ITC Avant Garde Gothic"/>
                <a:ea typeface="ITC Avant Garde Gothic"/>
                <a:cs typeface="ITC Avant Garde Gothic"/>
                <a:sym typeface="ITC Avant Garde Gothic"/>
              </a:rPr>
              <a:t>KEY</a:t>
            </a:r>
            <a:r>
              <a:rPr lang="en-US" sz="6000" spc="-179" strike="noStrike" u="none">
                <a:solidFill>
                  <a:srgbClr val="00FFA8"/>
                </a:solidFill>
                <a:latin typeface="ITC Avant Garde Gothic"/>
                <a:ea typeface="ITC Avant Garde Gothic"/>
                <a:cs typeface="ITC Avant Garde Gothic"/>
                <a:sym typeface="ITC Avant Garde Gothic"/>
              </a:rPr>
              <a:t> </a:t>
            </a:r>
            <a:r>
              <a:rPr lang="en-US" sz="6000" spc="-179" strike="noStrike" u="none">
                <a:solidFill>
                  <a:srgbClr val="00FFA8"/>
                </a:solidFill>
                <a:latin typeface="ITC Avant Garde Gothic"/>
                <a:ea typeface="ITC Avant Garde Gothic"/>
                <a:cs typeface="ITC Avant Garde Gothic"/>
                <a:sym typeface="ITC Avant Garde Gothic"/>
              </a:rPr>
              <a:t>TERMS</a:t>
            </a:r>
          </a:p>
        </p:txBody>
      </p:sp>
      <p:sp>
        <p:nvSpPr>
          <p:cNvPr name="TextBox 13" id="13"/>
          <p:cNvSpPr txBox="true"/>
          <p:nvPr/>
        </p:nvSpPr>
        <p:spPr>
          <a:xfrm rot="0">
            <a:off x="666750" y="2095500"/>
            <a:ext cx="12983782" cy="390525"/>
          </a:xfrm>
          <a:prstGeom prst="rect">
            <a:avLst/>
          </a:prstGeom>
        </p:spPr>
        <p:txBody>
          <a:bodyPr anchor="t" rtlCol="false" tIns="0" lIns="0" bIns="0" rIns="0">
            <a:spAutoFit/>
          </a:bodyPr>
          <a:lstStyle/>
          <a:p>
            <a:pPr algn="l" marL="0" indent="0" lvl="0">
              <a:lnSpc>
                <a:spcPts val="3120"/>
              </a:lnSpc>
              <a:spcBef>
                <a:spcPct val="0"/>
              </a:spcBef>
            </a:pPr>
            <a:r>
              <a:rPr lang="en-US" b="true" sz="2600" spc="-78">
                <a:solidFill>
                  <a:srgbClr val="00FFA8"/>
                </a:solidFill>
                <a:latin typeface="TT Fors Bold"/>
                <a:ea typeface="TT Fors Bold"/>
                <a:cs typeface="TT Fors Bold"/>
                <a:sym typeface="TT Fors Bold"/>
              </a:rPr>
              <a:t>Main terminolgies used in the lecture: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grpSp>
        <p:nvGrpSpPr>
          <p:cNvPr name="Group 2" id="2"/>
          <p:cNvGrpSpPr/>
          <p:nvPr/>
        </p:nvGrpSpPr>
        <p:grpSpPr>
          <a:xfrm rot="0">
            <a:off x="16149744" y="381000"/>
            <a:ext cx="1471506" cy="792133"/>
            <a:chOff x="0" y="0"/>
            <a:chExt cx="1962007" cy="1056178"/>
          </a:xfrm>
        </p:grpSpPr>
        <p:grpSp>
          <p:nvGrpSpPr>
            <p:cNvPr name="Group 3" id="3"/>
            <p:cNvGrpSpPr/>
            <p:nvPr/>
          </p:nvGrpSpPr>
          <p:grpSpPr>
            <a:xfrm rot="0">
              <a:off x="0" y="0"/>
              <a:ext cx="1056178" cy="105617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grpSp>
          <p:nvGrpSpPr>
            <p:cNvPr name="Group 6" id="6"/>
            <p:cNvGrpSpPr/>
            <p:nvPr/>
          </p:nvGrpSpPr>
          <p:grpSpPr>
            <a:xfrm rot="0">
              <a:off x="905830" y="0"/>
              <a:ext cx="1056178" cy="105617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sp>
          <p:nvSpPr>
            <p:cNvPr name="Freeform 9" id="9"/>
            <p:cNvSpPr/>
            <p:nvPr/>
          </p:nvSpPr>
          <p:spPr>
            <a:xfrm flipH="false" flipV="false" rot="0">
              <a:off x="177421" y="150010"/>
              <a:ext cx="701336" cy="756158"/>
            </a:xfrm>
            <a:custGeom>
              <a:avLst/>
              <a:gdLst/>
              <a:ahLst/>
              <a:cxnLst/>
              <a:rect r="r" b="b" t="t" l="l"/>
              <a:pathLst>
                <a:path h="756158" w="701336">
                  <a:moveTo>
                    <a:pt x="0" y="0"/>
                  </a:moveTo>
                  <a:lnTo>
                    <a:pt x="701336" y="0"/>
                  </a:lnTo>
                  <a:lnTo>
                    <a:pt x="701336" y="756158"/>
                  </a:lnTo>
                  <a:lnTo>
                    <a:pt x="0" y="7561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070789" y="245755"/>
              <a:ext cx="726260" cy="564667"/>
            </a:xfrm>
            <a:custGeom>
              <a:avLst/>
              <a:gdLst/>
              <a:ahLst/>
              <a:cxnLst/>
              <a:rect r="r" b="b" t="t" l="l"/>
              <a:pathLst>
                <a:path h="564667" w="726260">
                  <a:moveTo>
                    <a:pt x="0" y="0"/>
                  </a:moveTo>
                  <a:lnTo>
                    <a:pt x="726260" y="0"/>
                  </a:lnTo>
                  <a:lnTo>
                    <a:pt x="726260" y="564667"/>
                  </a:lnTo>
                  <a:lnTo>
                    <a:pt x="0" y="5646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TextBox 11" id="11"/>
          <p:cNvSpPr txBox="true"/>
          <p:nvPr/>
        </p:nvSpPr>
        <p:spPr>
          <a:xfrm rot="0">
            <a:off x="666750" y="37147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PART 1: WEB SERVER ARCHITECTURE &amp; COMPONENTS</a:t>
            </a:r>
          </a:p>
        </p:txBody>
      </p:sp>
      <p:sp>
        <p:nvSpPr>
          <p:cNvPr name="TextBox 12" id="12"/>
          <p:cNvSpPr txBox="true"/>
          <p:nvPr/>
        </p:nvSpPr>
        <p:spPr>
          <a:xfrm rot="0">
            <a:off x="666750" y="2004060"/>
            <a:ext cx="15448772" cy="352425"/>
          </a:xfrm>
          <a:prstGeom prst="rect">
            <a:avLst/>
          </a:prstGeom>
        </p:spPr>
        <p:txBody>
          <a:bodyPr anchor="t" rtlCol="false" tIns="0" lIns="0" bIns="0" rIns="0">
            <a:spAutoFit/>
          </a:bodyPr>
          <a:lstStyle/>
          <a:p>
            <a:pPr algn="l" marL="0" indent="0" lvl="0">
              <a:lnSpc>
                <a:spcPts val="2880"/>
              </a:lnSpc>
              <a:spcBef>
                <a:spcPct val="0"/>
              </a:spcBef>
            </a:pPr>
            <a:r>
              <a:rPr lang="en-US" sz="2400" spc="-72">
                <a:solidFill>
                  <a:srgbClr val="FFFFFF"/>
                </a:solidFill>
                <a:latin typeface="TT Fors"/>
                <a:ea typeface="TT Fors"/>
                <a:cs typeface="TT Fors"/>
                <a:sym typeface="TT Fors"/>
              </a:rPr>
              <a:t>Web servers today operate in multi-layered architectures rather than simple client-server models:</a:t>
            </a:r>
          </a:p>
        </p:txBody>
      </p:sp>
      <p:sp>
        <p:nvSpPr>
          <p:cNvPr name="TextBox 13" id="13"/>
          <p:cNvSpPr txBox="true"/>
          <p:nvPr/>
        </p:nvSpPr>
        <p:spPr>
          <a:xfrm rot="0">
            <a:off x="666750" y="2735407"/>
            <a:ext cx="7933839" cy="4970145"/>
          </a:xfrm>
          <a:prstGeom prst="rect">
            <a:avLst/>
          </a:prstGeom>
        </p:spPr>
        <p:txBody>
          <a:bodyPr anchor="t" rtlCol="false" tIns="0" lIns="0" bIns="0" rIns="0">
            <a:spAutoFit/>
          </a:bodyPr>
          <a:lstStyle/>
          <a:p>
            <a:pPr algn="l">
              <a:lnSpc>
                <a:spcPts val="3600"/>
              </a:lnSpc>
            </a:pPr>
            <a:r>
              <a:rPr lang="en-US" sz="2400" spc="-72" b="true">
                <a:solidFill>
                  <a:srgbClr val="00FFA8"/>
                </a:solidFill>
                <a:latin typeface="TT Fors Bold"/>
                <a:ea typeface="TT Fors Bold"/>
                <a:cs typeface="TT Fors Bold"/>
                <a:sym typeface="TT Fors Bold"/>
              </a:rPr>
              <a:t>Simplist</a:t>
            </a:r>
            <a:r>
              <a:rPr lang="en-US" sz="2400" spc="-72" b="true">
                <a:solidFill>
                  <a:srgbClr val="00FFA8"/>
                </a:solidFill>
                <a:latin typeface="TT Fors Bold"/>
                <a:ea typeface="TT Fors Bold"/>
                <a:cs typeface="TT Fors Bold"/>
                <a:sym typeface="TT Fors Bold"/>
              </a:rPr>
              <a:t>ic Model:</a:t>
            </a:r>
          </a:p>
          <a:p>
            <a:pPr algn="l" marL="518160" indent="-259080" lvl="1">
              <a:lnSpc>
                <a:spcPts val="3600"/>
              </a:lnSpc>
              <a:buFont typeface="Arial"/>
              <a:buChar char="•"/>
            </a:pPr>
            <a:r>
              <a:rPr lang="en-US" sz="2400" spc="-72">
                <a:solidFill>
                  <a:srgbClr val="00FFA8"/>
                </a:solidFill>
                <a:latin typeface="TT Fors"/>
                <a:ea typeface="TT Fors"/>
                <a:cs typeface="TT Fors"/>
                <a:sym typeface="TT Fors"/>
              </a:rPr>
              <a:t>HTTP Client (Browser, Mobile App, cURL)</a:t>
            </a:r>
          </a:p>
          <a:p>
            <a:pPr algn="l" marL="518160" indent="-259080" lvl="1">
              <a:lnSpc>
                <a:spcPts val="3600"/>
              </a:lnSpc>
              <a:buFont typeface="Arial"/>
              <a:buChar char="•"/>
            </a:pPr>
            <a:r>
              <a:rPr lang="en-US" sz="2400" spc="-72">
                <a:solidFill>
                  <a:srgbClr val="00FFA8"/>
                </a:solidFill>
                <a:latin typeface="TT Fors"/>
                <a:ea typeface="TT Fors"/>
                <a:cs typeface="TT Fors"/>
                <a:sym typeface="TT Fors"/>
              </a:rPr>
              <a:t>HTTP Server</a:t>
            </a:r>
          </a:p>
          <a:p>
            <a:pPr algn="l" marL="518160" indent="-259080" lvl="1">
              <a:lnSpc>
                <a:spcPts val="3600"/>
              </a:lnSpc>
              <a:buFont typeface="Arial"/>
              <a:buChar char="•"/>
            </a:pPr>
            <a:r>
              <a:rPr lang="en-US" sz="2400" spc="-72">
                <a:solidFill>
                  <a:srgbClr val="00FFA8"/>
                </a:solidFill>
                <a:latin typeface="TT Fors"/>
                <a:ea typeface="TT Fors"/>
                <a:cs typeface="TT Fors"/>
                <a:sym typeface="TT Fors"/>
              </a:rPr>
              <a:t>HTTP</a:t>
            </a:r>
            <a:r>
              <a:rPr lang="en-US" sz="2400" spc="-72">
                <a:solidFill>
                  <a:srgbClr val="00FFA8"/>
                </a:solidFill>
                <a:latin typeface="TT Fors"/>
                <a:ea typeface="TT Fors"/>
                <a:cs typeface="TT Fors"/>
                <a:sym typeface="TT Fors"/>
              </a:rPr>
              <a:t> Request → HTTP Response</a:t>
            </a:r>
          </a:p>
          <a:p>
            <a:pPr algn="l">
              <a:lnSpc>
                <a:spcPts val="3600"/>
              </a:lnSpc>
            </a:pPr>
            <a:r>
              <a:rPr lang="en-US" sz="2400" spc="-72" b="true">
                <a:solidFill>
                  <a:srgbClr val="00FFA8"/>
                </a:solidFill>
                <a:latin typeface="TT Fors Bold"/>
                <a:ea typeface="TT Fors Bold"/>
                <a:cs typeface="TT Fors Bold"/>
                <a:sym typeface="TT Fors Bold"/>
              </a:rPr>
              <a:t>Contemporary Enterprise Model:</a:t>
            </a:r>
          </a:p>
          <a:p>
            <a:pPr algn="l" marL="518160" indent="-259080" lvl="1">
              <a:lnSpc>
                <a:spcPts val="3600"/>
              </a:lnSpc>
              <a:buFont typeface="Arial"/>
              <a:buChar char="•"/>
            </a:pPr>
            <a:r>
              <a:rPr lang="en-US" sz="2400" spc="-72">
                <a:solidFill>
                  <a:srgbClr val="00FFA8"/>
                </a:solidFill>
                <a:latin typeface="TT Fors"/>
                <a:ea typeface="TT Fors"/>
                <a:cs typeface="TT Fors"/>
                <a:sym typeface="TT Fors"/>
              </a:rPr>
              <a:t>Client (Browser/App)</a:t>
            </a:r>
          </a:p>
          <a:p>
            <a:pPr algn="l" marL="518160" indent="-259080" lvl="1">
              <a:lnSpc>
                <a:spcPts val="3600"/>
              </a:lnSpc>
              <a:buFont typeface="Arial"/>
              <a:buChar char="•"/>
            </a:pPr>
            <a:r>
              <a:rPr lang="en-US" sz="2400" spc="-72">
                <a:solidFill>
                  <a:srgbClr val="00FFA8"/>
                </a:solidFill>
                <a:latin typeface="TT Fors"/>
                <a:ea typeface="TT Fors"/>
                <a:cs typeface="TT Fors"/>
                <a:sym typeface="TT Fors"/>
              </a:rPr>
              <a:t>CDN / Reverse Proxy (CloudFlare, Nginx reverse proxy)</a:t>
            </a:r>
          </a:p>
          <a:p>
            <a:pPr algn="l" marL="518160" indent="-259080" lvl="1">
              <a:lnSpc>
                <a:spcPts val="3600"/>
              </a:lnSpc>
              <a:buFont typeface="Arial"/>
              <a:buChar char="•"/>
            </a:pPr>
            <a:r>
              <a:rPr lang="en-US" sz="2400" spc="-72">
                <a:solidFill>
                  <a:srgbClr val="00FFA8"/>
                </a:solidFill>
                <a:latin typeface="TT Fors"/>
                <a:ea typeface="TT Fors"/>
                <a:cs typeface="TT Fors"/>
                <a:sym typeface="TT Fors"/>
              </a:rPr>
              <a:t>Load Balancer (distributes traffic)</a:t>
            </a:r>
          </a:p>
          <a:p>
            <a:pPr algn="l" marL="518160" indent="-259080" lvl="1">
              <a:lnSpc>
                <a:spcPts val="3600"/>
              </a:lnSpc>
              <a:buFont typeface="Arial"/>
              <a:buChar char="•"/>
            </a:pPr>
            <a:r>
              <a:rPr lang="en-US" sz="2400" spc="-72">
                <a:solidFill>
                  <a:srgbClr val="00FFA8"/>
                </a:solidFill>
                <a:latin typeface="TT Fors"/>
                <a:ea typeface="TT Fors"/>
                <a:cs typeface="TT Fors"/>
                <a:sym typeface="TT Fors"/>
              </a:rPr>
              <a:t>M</a:t>
            </a:r>
            <a:r>
              <a:rPr lang="en-US" sz="2400" spc="-72">
                <a:solidFill>
                  <a:srgbClr val="00FFA8"/>
                </a:solidFill>
                <a:latin typeface="TT Fors"/>
                <a:ea typeface="TT Fors"/>
                <a:cs typeface="TT Fors"/>
                <a:sym typeface="TT Fors"/>
              </a:rPr>
              <a:t>ultiple Web Servers (redundancy and scaling)</a:t>
            </a:r>
          </a:p>
          <a:p>
            <a:pPr algn="l" marL="518160" indent="-259080" lvl="1">
              <a:lnSpc>
                <a:spcPts val="3600"/>
              </a:lnSpc>
              <a:buFont typeface="Arial"/>
              <a:buChar char="•"/>
            </a:pPr>
            <a:r>
              <a:rPr lang="en-US" sz="2400" spc="-72">
                <a:solidFill>
                  <a:srgbClr val="00FFA8"/>
                </a:solidFill>
                <a:latin typeface="TT Fors"/>
                <a:ea typeface="TT Fors"/>
                <a:cs typeface="TT Fors"/>
                <a:sym typeface="TT Fors"/>
              </a:rPr>
              <a:t>Application Layer</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Data Layer (Databases, caches)</a:t>
            </a:r>
          </a:p>
        </p:txBody>
      </p:sp>
      <p:sp>
        <p:nvSpPr>
          <p:cNvPr name="TextBox 14" id="14"/>
          <p:cNvSpPr txBox="true"/>
          <p:nvPr/>
        </p:nvSpPr>
        <p:spPr>
          <a:xfrm rot="0">
            <a:off x="666750" y="1331595"/>
            <a:ext cx="8306267" cy="453390"/>
          </a:xfrm>
          <a:prstGeom prst="rect">
            <a:avLst/>
          </a:prstGeom>
        </p:spPr>
        <p:txBody>
          <a:bodyPr anchor="t" rtlCol="false" tIns="0" lIns="0" bIns="0" rIns="0">
            <a:spAutoFit/>
          </a:bodyPr>
          <a:lstStyle/>
          <a:p>
            <a:pPr algn="l">
              <a:lnSpc>
                <a:spcPts val="3899"/>
              </a:lnSpc>
            </a:pPr>
            <a:r>
              <a:rPr lang="en-US" b="true" sz="2599" spc="-77">
                <a:solidFill>
                  <a:srgbClr val="00FFA8"/>
                </a:solidFill>
                <a:latin typeface="TT Fors Bold"/>
                <a:ea typeface="TT Fors Bold"/>
                <a:cs typeface="TT Fors Bold"/>
                <a:sym typeface="TT Fors Bold"/>
              </a:rPr>
              <a:t>Modern Web Server Architecture</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371475"/>
            <a:ext cx="17238059"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PART 1: WEB SERVER ARCHITECTURE &amp; COMPONENTS (Cont’d)</a:t>
            </a:r>
          </a:p>
        </p:txBody>
      </p:sp>
      <p:sp>
        <p:nvSpPr>
          <p:cNvPr name="TextBox 3" id="3"/>
          <p:cNvSpPr txBox="true"/>
          <p:nvPr/>
        </p:nvSpPr>
        <p:spPr>
          <a:xfrm rot="0">
            <a:off x="666750" y="2004060"/>
            <a:ext cx="11314101" cy="6688455"/>
          </a:xfrm>
          <a:prstGeom prst="rect">
            <a:avLst/>
          </a:prstGeom>
        </p:spPr>
        <p:txBody>
          <a:bodyPr anchor="t" rtlCol="false" tIns="0" lIns="0" bIns="0" rIns="0">
            <a:spAutoFit/>
          </a:bodyPr>
          <a:lstStyle/>
          <a:p>
            <a:pPr algn="l">
              <a:lnSpc>
                <a:spcPts val="3300"/>
              </a:lnSpc>
            </a:pPr>
            <a:r>
              <a:rPr lang="en-US" sz="2200" spc="-66" b="true">
                <a:solidFill>
                  <a:srgbClr val="00FFA8"/>
                </a:solidFill>
                <a:latin typeface="TT Fors Bold"/>
                <a:ea typeface="TT Fors Bold"/>
                <a:cs typeface="TT Fors Bold"/>
                <a:sym typeface="TT Fors Bold"/>
              </a:rPr>
              <a:t>Presentat</a:t>
            </a:r>
            <a:r>
              <a:rPr lang="en-US" sz="2200" spc="-66" b="true">
                <a:solidFill>
                  <a:srgbClr val="00FFA8"/>
                </a:solidFill>
                <a:latin typeface="TT Fors Bold"/>
                <a:ea typeface="TT Fors Bold"/>
                <a:cs typeface="TT Fors Bold"/>
                <a:sym typeface="TT Fors Bold"/>
              </a:rPr>
              <a:t>ion Layer (HTTP Servers):</a:t>
            </a:r>
          </a:p>
          <a:p>
            <a:pPr algn="l" marL="474981" indent="-237491" lvl="1">
              <a:lnSpc>
                <a:spcPts val="3300"/>
              </a:lnSpc>
              <a:buFont typeface="Arial"/>
              <a:buChar char="•"/>
            </a:pPr>
            <a:r>
              <a:rPr lang="en-US" b="true" sz="2200" spc="-66">
                <a:solidFill>
                  <a:srgbClr val="00FFA8"/>
                </a:solidFill>
                <a:latin typeface="TT Fors Bold"/>
                <a:ea typeface="TT Fors Bold"/>
                <a:cs typeface="TT Fors Bold"/>
                <a:sym typeface="TT Fors Bold"/>
              </a:rPr>
              <a:t>Apache HTTPD (Unix/Linux, Windows) </a:t>
            </a:r>
            <a:r>
              <a:rPr lang="en-US" sz="2200" spc="-66">
                <a:solidFill>
                  <a:srgbClr val="00FFA8"/>
                </a:solidFill>
                <a:latin typeface="TT Fors"/>
                <a:ea typeface="TT Fors"/>
                <a:cs typeface="TT Fors"/>
                <a:sym typeface="TT Fors"/>
              </a:rPr>
              <a:t>- Open-source, modular</a:t>
            </a:r>
          </a:p>
          <a:p>
            <a:pPr algn="l" marL="474981" indent="-237491" lvl="1">
              <a:lnSpc>
                <a:spcPts val="3300"/>
              </a:lnSpc>
              <a:buFont typeface="Arial"/>
              <a:buChar char="•"/>
            </a:pPr>
            <a:r>
              <a:rPr lang="en-US" b="true" sz="2200" spc="-66">
                <a:solidFill>
                  <a:srgbClr val="00FFA8"/>
                </a:solidFill>
                <a:latin typeface="TT Fors Bold"/>
                <a:ea typeface="TT Fors Bold"/>
                <a:cs typeface="TT Fors Bold"/>
                <a:sym typeface="TT Fors Bold"/>
              </a:rPr>
              <a:t>Nginx</a:t>
            </a:r>
            <a:r>
              <a:rPr lang="en-US" sz="2200" spc="-66">
                <a:solidFill>
                  <a:srgbClr val="00FFA8"/>
                </a:solidFill>
                <a:latin typeface="TT Fors"/>
                <a:ea typeface="TT Fors"/>
                <a:cs typeface="TT Fors"/>
                <a:sym typeface="TT Fors"/>
              </a:rPr>
              <a:t> - High-performance, event-driven, increasingly popular for reverse proxies</a:t>
            </a:r>
          </a:p>
          <a:p>
            <a:pPr algn="l" marL="474981" indent="-237491" lvl="1">
              <a:lnSpc>
                <a:spcPts val="3300"/>
              </a:lnSpc>
              <a:buFont typeface="Arial"/>
              <a:buChar char="•"/>
            </a:pPr>
            <a:r>
              <a:rPr lang="en-US" b="true" sz="2200" spc="-66">
                <a:solidFill>
                  <a:srgbClr val="00FFA8"/>
                </a:solidFill>
                <a:latin typeface="TT Fors Bold"/>
                <a:ea typeface="TT Fors Bold"/>
                <a:cs typeface="TT Fors Bold"/>
                <a:sym typeface="TT Fors Bold"/>
              </a:rPr>
              <a:t>Micros</a:t>
            </a:r>
            <a:r>
              <a:rPr lang="en-US" b="true" sz="2200" spc="-66">
                <a:solidFill>
                  <a:srgbClr val="00FFA8"/>
                </a:solidFill>
                <a:latin typeface="TT Fors Bold"/>
                <a:ea typeface="TT Fors Bold"/>
                <a:cs typeface="TT Fors Bold"/>
                <a:sym typeface="TT Fors Bold"/>
              </a:rPr>
              <a:t>oft IIS</a:t>
            </a:r>
            <a:r>
              <a:rPr lang="en-US" sz="2200" spc="-66">
                <a:solidFill>
                  <a:srgbClr val="00FFA8"/>
                </a:solidFill>
                <a:latin typeface="TT Fors"/>
                <a:ea typeface="TT Fors"/>
                <a:cs typeface="TT Fors"/>
                <a:sym typeface="TT Fors"/>
              </a:rPr>
              <a:t> - Windows-native, integrated with Active Directory</a:t>
            </a:r>
          </a:p>
          <a:p>
            <a:pPr algn="l" marL="474981" indent="-237491" lvl="1">
              <a:lnSpc>
                <a:spcPts val="3300"/>
              </a:lnSpc>
              <a:buFont typeface="Arial"/>
              <a:buChar char="•"/>
            </a:pPr>
            <a:r>
              <a:rPr lang="en-US" b="true" sz="2200" spc="-66">
                <a:solidFill>
                  <a:srgbClr val="00FFA8"/>
                </a:solidFill>
                <a:latin typeface="TT Fors Bold"/>
                <a:ea typeface="TT Fors Bold"/>
                <a:cs typeface="TT Fors Bold"/>
                <a:sym typeface="TT Fors Bold"/>
              </a:rPr>
              <a:t>LiteSpeed</a:t>
            </a:r>
            <a:r>
              <a:rPr lang="en-US" sz="2200" spc="-66">
                <a:solidFill>
                  <a:srgbClr val="00FFA8"/>
                </a:solidFill>
                <a:latin typeface="TT Fors"/>
                <a:ea typeface="TT Fors"/>
                <a:cs typeface="TT Fors"/>
                <a:sym typeface="TT Fors"/>
              </a:rPr>
              <a:t> - Commercial alternative, performance-focused</a:t>
            </a:r>
          </a:p>
          <a:p>
            <a:pPr algn="l">
              <a:lnSpc>
                <a:spcPts val="3300"/>
              </a:lnSpc>
            </a:pPr>
            <a:r>
              <a:rPr lang="en-US" sz="2200" spc="-66" b="true">
                <a:solidFill>
                  <a:srgbClr val="00FFA8"/>
                </a:solidFill>
                <a:latin typeface="TT Fors Bold"/>
                <a:ea typeface="TT Fors Bold"/>
                <a:cs typeface="TT Fors Bold"/>
                <a:sym typeface="TT Fors Bold"/>
              </a:rPr>
              <a:t>Application Layer:</a:t>
            </a:r>
          </a:p>
          <a:p>
            <a:pPr algn="l" marL="474981" indent="-237491" lvl="1">
              <a:lnSpc>
                <a:spcPts val="3300"/>
              </a:lnSpc>
              <a:buFont typeface="Arial"/>
              <a:buChar char="•"/>
            </a:pPr>
            <a:r>
              <a:rPr lang="en-US" b="true" sz="2200" spc="-66">
                <a:solidFill>
                  <a:srgbClr val="00FFA8"/>
                </a:solidFill>
                <a:latin typeface="TT Fors Bold"/>
                <a:ea typeface="TT Fors Bold"/>
                <a:cs typeface="TT Fors Bold"/>
                <a:sym typeface="TT Fors Bold"/>
              </a:rPr>
              <a:t>Django (Python)</a:t>
            </a:r>
            <a:r>
              <a:rPr lang="en-US" sz="2200" spc="-66">
                <a:solidFill>
                  <a:srgbClr val="00FFA8"/>
                </a:solidFill>
                <a:latin typeface="TT Fors"/>
                <a:ea typeface="TT Fors"/>
                <a:cs typeface="TT Fors"/>
                <a:sym typeface="TT Fors"/>
              </a:rPr>
              <a:t> - Full-featured web framework</a:t>
            </a:r>
          </a:p>
          <a:p>
            <a:pPr algn="l" marL="474981" indent="-237491" lvl="1">
              <a:lnSpc>
                <a:spcPts val="3300"/>
              </a:lnSpc>
              <a:buFont typeface="Arial"/>
              <a:buChar char="•"/>
            </a:pPr>
            <a:r>
              <a:rPr lang="en-US" b="true" sz="2200" spc="-66">
                <a:solidFill>
                  <a:srgbClr val="00FFA8"/>
                </a:solidFill>
                <a:latin typeface="TT Fors Bold"/>
                <a:ea typeface="TT Fors Bold"/>
                <a:cs typeface="TT Fors Bold"/>
                <a:sym typeface="TT Fors Bold"/>
              </a:rPr>
              <a:t>Rails (Ruby)</a:t>
            </a:r>
            <a:r>
              <a:rPr lang="en-US" sz="2200" spc="-66">
                <a:solidFill>
                  <a:srgbClr val="00FFA8"/>
                </a:solidFill>
                <a:latin typeface="TT Fors"/>
                <a:ea typeface="TT Fors"/>
                <a:cs typeface="TT Fors"/>
                <a:sym typeface="TT Fors"/>
              </a:rPr>
              <a:t> - Convention-over-configuration approach</a:t>
            </a:r>
          </a:p>
          <a:p>
            <a:pPr algn="l" marL="474981" indent="-237491" lvl="1">
              <a:lnSpc>
                <a:spcPts val="3300"/>
              </a:lnSpc>
              <a:buFont typeface="Arial"/>
              <a:buChar char="•"/>
            </a:pPr>
            <a:r>
              <a:rPr lang="en-US" b="true" sz="2200" spc="-66">
                <a:solidFill>
                  <a:srgbClr val="00FFA8"/>
                </a:solidFill>
                <a:latin typeface="TT Fors Bold"/>
                <a:ea typeface="TT Fors Bold"/>
                <a:cs typeface="TT Fors Bold"/>
                <a:sym typeface="TT Fors Bold"/>
              </a:rPr>
              <a:t>N</a:t>
            </a:r>
            <a:r>
              <a:rPr lang="en-US" b="true" sz="2200" spc="-66">
                <a:solidFill>
                  <a:srgbClr val="00FFA8"/>
                </a:solidFill>
                <a:latin typeface="TT Fors Bold"/>
                <a:ea typeface="TT Fors Bold"/>
                <a:cs typeface="TT Fors Bold"/>
                <a:sym typeface="TT Fors Bold"/>
              </a:rPr>
              <a:t>ode.js (JavaScript)</a:t>
            </a:r>
            <a:r>
              <a:rPr lang="en-US" sz="2200" spc="-66">
                <a:solidFill>
                  <a:srgbClr val="00FFA8"/>
                </a:solidFill>
                <a:latin typeface="TT Fors"/>
                <a:ea typeface="TT Fors"/>
                <a:cs typeface="TT Fors"/>
                <a:sym typeface="TT Fors"/>
              </a:rPr>
              <a:t> - Asynchronous, event-driven</a:t>
            </a:r>
          </a:p>
          <a:p>
            <a:pPr algn="l" marL="474981" indent="-237491" lvl="1">
              <a:lnSpc>
                <a:spcPts val="3300"/>
              </a:lnSpc>
              <a:buFont typeface="Arial"/>
              <a:buChar char="•"/>
            </a:pPr>
            <a:r>
              <a:rPr lang="en-US" b="true" sz="2200" spc="-66">
                <a:solidFill>
                  <a:srgbClr val="00FFA8"/>
                </a:solidFill>
                <a:latin typeface="TT Fors Bold"/>
                <a:ea typeface="TT Fors Bold"/>
                <a:cs typeface="TT Fors Bold"/>
                <a:sym typeface="TT Fors Bold"/>
              </a:rPr>
              <a:t>Tomcat (Java)</a:t>
            </a:r>
            <a:r>
              <a:rPr lang="en-US" sz="2200" spc="-66">
                <a:solidFill>
                  <a:srgbClr val="00FFA8"/>
                </a:solidFill>
                <a:latin typeface="TT Fors"/>
                <a:ea typeface="TT Fors"/>
                <a:cs typeface="TT Fors"/>
                <a:sym typeface="TT Fors"/>
              </a:rPr>
              <a:t> - Enterprise application server</a:t>
            </a:r>
          </a:p>
          <a:p>
            <a:pPr algn="l" marL="474981" indent="-237491" lvl="1">
              <a:lnSpc>
                <a:spcPts val="3300"/>
              </a:lnSpc>
              <a:buFont typeface="Arial"/>
              <a:buChar char="•"/>
            </a:pPr>
            <a:r>
              <a:rPr lang="en-US" b="true" sz="2200" spc="-66">
                <a:solidFill>
                  <a:srgbClr val="00FFA8"/>
                </a:solidFill>
                <a:latin typeface="TT Fors Bold"/>
                <a:ea typeface="TT Fors Bold"/>
                <a:cs typeface="TT Fors Bold"/>
                <a:sym typeface="TT Fors Bold"/>
              </a:rPr>
              <a:t>ASP.NET Core (Microsoft)</a:t>
            </a:r>
            <a:r>
              <a:rPr lang="en-US" sz="2200" spc="-66">
                <a:solidFill>
                  <a:srgbClr val="00FFA8"/>
                </a:solidFill>
                <a:latin typeface="TT Fors"/>
                <a:ea typeface="TT Fors"/>
                <a:cs typeface="TT Fors"/>
                <a:sym typeface="TT Fors"/>
              </a:rPr>
              <a:t> - Modern .NET framework</a:t>
            </a:r>
          </a:p>
          <a:p>
            <a:pPr algn="l" marL="474981" indent="-237491" lvl="1">
              <a:lnSpc>
                <a:spcPts val="3300"/>
              </a:lnSpc>
              <a:buFont typeface="Arial"/>
              <a:buChar char="•"/>
            </a:pPr>
            <a:r>
              <a:rPr lang="en-US" b="true" sz="2200" spc="-66">
                <a:solidFill>
                  <a:srgbClr val="00FFA8"/>
                </a:solidFill>
                <a:latin typeface="TT Fors Bold"/>
                <a:ea typeface="TT Fors Bold"/>
                <a:cs typeface="TT Fors Bold"/>
                <a:sym typeface="TT Fors Bold"/>
              </a:rPr>
              <a:t>Spring Boot (Java)</a:t>
            </a:r>
            <a:r>
              <a:rPr lang="en-US" sz="2200" spc="-66">
                <a:solidFill>
                  <a:srgbClr val="00FFA8"/>
                </a:solidFill>
                <a:latin typeface="TT Fors"/>
                <a:ea typeface="TT Fors"/>
                <a:cs typeface="TT Fors"/>
                <a:sym typeface="TT Fors"/>
              </a:rPr>
              <a:t> - Microservices-oriented</a:t>
            </a:r>
          </a:p>
          <a:p>
            <a:pPr algn="l">
              <a:lnSpc>
                <a:spcPts val="3300"/>
              </a:lnSpc>
            </a:pPr>
            <a:r>
              <a:rPr lang="en-US" sz="2200" spc="-66" b="true">
                <a:solidFill>
                  <a:srgbClr val="00FFA8"/>
                </a:solidFill>
                <a:latin typeface="TT Fors Bold"/>
                <a:ea typeface="TT Fors Bold"/>
                <a:cs typeface="TT Fors Bold"/>
                <a:sym typeface="TT Fors Bold"/>
              </a:rPr>
              <a:t>D</a:t>
            </a:r>
            <a:r>
              <a:rPr lang="en-US" sz="2200" spc="-66" b="true">
                <a:solidFill>
                  <a:srgbClr val="00FFA8"/>
                </a:solidFill>
                <a:latin typeface="TT Fors Bold"/>
                <a:ea typeface="TT Fors Bold"/>
                <a:cs typeface="TT Fors Bold"/>
                <a:sym typeface="TT Fors Bold"/>
              </a:rPr>
              <a:t>ata Layer:</a:t>
            </a:r>
          </a:p>
          <a:p>
            <a:pPr algn="l" marL="474981" indent="-237491" lvl="1">
              <a:lnSpc>
                <a:spcPts val="3300"/>
              </a:lnSpc>
              <a:buFont typeface="Arial"/>
              <a:buChar char="•"/>
            </a:pPr>
            <a:r>
              <a:rPr lang="en-US" b="true" sz="2200" spc="-66">
                <a:solidFill>
                  <a:srgbClr val="00FFA8"/>
                </a:solidFill>
                <a:latin typeface="TT Fors Bold"/>
                <a:ea typeface="TT Fors Bold"/>
                <a:cs typeface="TT Fors Bold"/>
                <a:sym typeface="TT Fors Bold"/>
              </a:rPr>
              <a:t>R</a:t>
            </a:r>
            <a:r>
              <a:rPr lang="en-US" b="true" sz="2200" spc="-66">
                <a:solidFill>
                  <a:srgbClr val="00FFA8"/>
                </a:solidFill>
                <a:latin typeface="TT Fors Bold"/>
                <a:ea typeface="TT Fors Bold"/>
                <a:cs typeface="TT Fors Bold"/>
                <a:sym typeface="TT Fors Bold"/>
              </a:rPr>
              <a:t>DBMS:</a:t>
            </a:r>
            <a:r>
              <a:rPr lang="en-US" sz="2200" spc="-66">
                <a:solidFill>
                  <a:srgbClr val="00FFA8"/>
                </a:solidFill>
                <a:latin typeface="TT Fors"/>
                <a:ea typeface="TT Fors"/>
                <a:cs typeface="TT Fors"/>
                <a:sym typeface="TT Fors"/>
              </a:rPr>
              <a:t> PostgreSQL, MySQL, MariaDB, Oracle, MSSQL</a:t>
            </a:r>
          </a:p>
          <a:p>
            <a:pPr algn="l" marL="474981" indent="-237491" lvl="1">
              <a:lnSpc>
                <a:spcPts val="3300"/>
              </a:lnSpc>
              <a:buFont typeface="Arial"/>
              <a:buChar char="•"/>
            </a:pPr>
            <a:r>
              <a:rPr lang="en-US" b="true" sz="2200" spc="-66">
                <a:solidFill>
                  <a:srgbClr val="00FFA8"/>
                </a:solidFill>
                <a:latin typeface="TT Fors Bold"/>
                <a:ea typeface="TT Fors Bold"/>
                <a:cs typeface="TT Fors Bold"/>
                <a:sym typeface="TT Fors Bold"/>
              </a:rPr>
              <a:t>NoSQL:</a:t>
            </a:r>
            <a:r>
              <a:rPr lang="en-US" sz="2200" spc="-66">
                <a:solidFill>
                  <a:srgbClr val="00FFA8"/>
                </a:solidFill>
                <a:latin typeface="TT Fors"/>
                <a:ea typeface="TT Fors"/>
                <a:cs typeface="TT Fors"/>
                <a:sym typeface="TT Fors"/>
              </a:rPr>
              <a:t> MongoDB (document), Redis (key-value), Neo4j (graph)</a:t>
            </a:r>
          </a:p>
          <a:p>
            <a:pPr algn="l" marL="474981" indent="-237491" lvl="1">
              <a:lnSpc>
                <a:spcPts val="3300"/>
              </a:lnSpc>
              <a:buFont typeface="Arial"/>
              <a:buChar char="•"/>
            </a:pPr>
            <a:r>
              <a:rPr lang="en-US" b="true" sz="2200" spc="-66">
                <a:solidFill>
                  <a:srgbClr val="00FFA8"/>
                </a:solidFill>
                <a:latin typeface="TT Fors Bold"/>
                <a:ea typeface="TT Fors Bold"/>
                <a:cs typeface="TT Fors Bold"/>
                <a:sym typeface="TT Fors Bold"/>
              </a:rPr>
              <a:t>Cloud databases:</a:t>
            </a:r>
            <a:r>
              <a:rPr lang="en-US" sz="2200" spc="-66">
                <a:solidFill>
                  <a:srgbClr val="00FFA8"/>
                </a:solidFill>
                <a:latin typeface="TT Fors"/>
                <a:ea typeface="TT Fors"/>
                <a:cs typeface="TT Fors"/>
                <a:sym typeface="TT Fors"/>
              </a:rPr>
              <a:t> AWS RDS, Azure SQL Database, Google Cloud SQL</a:t>
            </a:r>
          </a:p>
        </p:txBody>
      </p:sp>
      <p:sp>
        <p:nvSpPr>
          <p:cNvPr name="TextBox 4" id="4"/>
          <p:cNvSpPr txBox="true"/>
          <p:nvPr/>
        </p:nvSpPr>
        <p:spPr>
          <a:xfrm rot="0">
            <a:off x="666750" y="1331595"/>
            <a:ext cx="8306267" cy="453390"/>
          </a:xfrm>
          <a:prstGeom prst="rect">
            <a:avLst/>
          </a:prstGeom>
        </p:spPr>
        <p:txBody>
          <a:bodyPr anchor="t" rtlCol="false" tIns="0" lIns="0" bIns="0" rIns="0">
            <a:spAutoFit/>
          </a:bodyPr>
          <a:lstStyle/>
          <a:p>
            <a:pPr algn="l">
              <a:lnSpc>
                <a:spcPts val="3899"/>
              </a:lnSpc>
            </a:pPr>
            <a:r>
              <a:rPr lang="en-US" b="true" sz="2599" spc="-77">
                <a:solidFill>
                  <a:srgbClr val="00FFA8"/>
                </a:solidFill>
                <a:latin typeface="TT Fors Bold"/>
                <a:ea typeface="TT Fors Bold"/>
                <a:cs typeface="TT Fors Bold"/>
                <a:sym typeface="TT Fors Bold"/>
              </a:rPr>
              <a:t>Web Server Technologies</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371475"/>
            <a:ext cx="17238059"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PART 1: WEB SERVER ARCHITECTURE &amp; COMPONENTS (Cont’d)</a:t>
            </a:r>
          </a:p>
        </p:txBody>
      </p:sp>
      <p:sp>
        <p:nvSpPr>
          <p:cNvPr name="TextBox 3" id="3"/>
          <p:cNvSpPr txBox="true"/>
          <p:nvPr/>
        </p:nvSpPr>
        <p:spPr>
          <a:xfrm rot="0">
            <a:off x="666750" y="2004060"/>
            <a:ext cx="9818986" cy="7747635"/>
          </a:xfrm>
          <a:prstGeom prst="rect">
            <a:avLst/>
          </a:prstGeom>
        </p:spPr>
        <p:txBody>
          <a:bodyPr anchor="t" rtlCol="false" tIns="0" lIns="0" bIns="0" rIns="0">
            <a:spAutoFit/>
          </a:bodyPr>
          <a:lstStyle/>
          <a:p>
            <a:pPr algn="l">
              <a:lnSpc>
                <a:spcPts val="3600"/>
              </a:lnSpc>
            </a:pPr>
            <a:r>
              <a:rPr lang="en-US" sz="2400" spc="-72" b="true">
                <a:solidFill>
                  <a:srgbClr val="00FFA8"/>
                </a:solidFill>
                <a:latin typeface="TT Fors Bold"/>
                <a:ea typeface="TT Fors Bold"/>
                <a:cs typeface="TT Fors Bold"/>
                <a:sym typeface="TT Fors Bold"/>
              </a:rPr>
              <a:t>Stat</a:t>
            </a:r>
            <a:r>
              <a:rPr lang="en-US" sz="2400" spc="-72" b="true">
                <a:solidFill>
                  <a:srgbClr val="00FFA8"/>
                </a:solidFill>
                <a:latin typeface="TT Fors Bold"/>
                <a:ea typeface="TT Fors Bold"/>
                <a:cs typeface="TT Fors Bold"/>
                <a:sym typeface="TT Fors Bold"/>
              </a:rPr>
              <a:t>ic Web Pages:</a:t>
            </a:r>
          </a:p>
          <a:p>
            <a:pPr algn="l" marL="518160" indent="-259080" lvl="1">
              <a:lnSpc>
                <a:spcPts val="3600"/>
              </a:lnSpc>
              <a:buFont typeface="Arial"/>
              <a:buChar char="•"/>
            </a:pPr>
            <a:r>
              <a:rPr lang="en-US" sz="2400" spc="-72">
                <a:solidFill>
                  <a:srgbClr val="00FFA8"/>
                </a:solidFill>
                <a:latin typeface="TT Fors"/>
                <a:ea typeface="TT Fors"/>
                <a:cs typeface="TT Fors"/>
                <a:sym typeface="TT Fors"/>
              </a:rPr>
              <a:t>Pure </a:t>
            </a:r>
            <a:r>
              <a:rPr lang="en-US" sz="2400" spc="-72">
                <a:solidFill>
                  <a:srgbClr val="00FFA8"/>
                </a:solidFill>
                <a:latin typeface="TT Fors"/>
                <a:ea typeface="TT Fors"/>
                <a:cs typeface="TT Fors"/>
                <a:sym typeface="TT Fors"/>
              </a:rPr>
              <a:t>HTML content, no server-side processing</a:t>
            </a:r>
          </a:p>
          <a:p>
            <a:pPr algn="l" marL="518160" indent="-259080" lvl="1">
              <a:lnSpc>
                <a:spcPts val="3600"/>
              </a:lnSpc>
              <a:buFont typeface="Arial"/>
              <a:buChar char="•"/>
            </a:pPr>
            <a:r>
              <a:rPr lang="en-US" b="true" sz="2400" spc="-72">
                <a:solidFill>
                  <a:srgbClr val="00FFA8"/>
                </a:solidFill>
                <a:latin typeface="TT Fors Bold"/>
                <a:ea typeface="TT Fors Bold"/>
                <a:cs typeface="TT Fors Bold"/>
                <a:sym typeface="TT Fors Bold"/>
              </a:rPr>
              <a:t>Vulnerability:</a:t>
            </a:r>
            <a:r>
              <a:rPr lang="en-US" sz="2400" spc="-72">
                <a:solidFill>
                  <a:srgbClr val="00FFA8"/>
                </a:solidFill>
                <a:latin typeface="TT Fors"/>
                <a:ea typeface="TT Fors"/>
                <a:cs typeface="TT Fors"/>
                <a:sym typeface="TT Fors"/>
              </a:rPr>
              <a:t> Directory traversal, information disclosure</a:t>
            </a:r>
          </a:p>
          <a:p>
            <a:pPr algn="l">
              <a:lnSpc>
                <a:spcPts val="3600"/>
              </a:lnSpc>
            </a:pPr>
            <a:r>
              <a:rPr lang="en-US" sz="2400" spc="-72" b="true">
                <a:solidFill>
                  <a:srgbClr val="00FFA8"/>
                </a:solidFill>
                <a:latin typeface="TT Fors Bold"/>
                <a:ea typeface="TT Fors Bold"/>
                <a:cs typeface="TT Fors Bold"/>
                <a:sym typeface="TT Fors Bold"/>
              </a:rPr>
              <a:t>Dynamic Web Pages:</a:t>
            </a:r>
          </a:p>
          <a:p>
            <a:pPr algn="l" marL="518160" indent="-259080" lvl="1">
              <a:lnSpc>
                <a:spcPts val="3600"/>
              </a:lnSpc>
              <a:buFont typeface="Arial"/>
              <a:buChar char="•"/>
            </a:pPr>
            <a:r>
              <a:rPr lang="en-US" sz="2400" spc="-72">
                <a:solidFill>
                  <a:srgbClr val="00FFA8"/>
                </a:solidFill>
                <a:latin typeface="TT Fors"/>
                <a:ea typeface="TT Fors"/>
                <a:cs typeface="TT Fors"/>
                <a:sym typeface="TT Fors"/>
              </a:rPr>
              <a:t>Form proces</a:t>
            </a:r>
            <a:r>
              <a:rPr lang="en-US" sz="2400" spc="-72">
                <a:solidFill>
                  <a:srgbClr val="00FFA8"/>
                </a:solidFill>
                <a:latin typeface="TT Fors"/>
                <a:ea typeface="TT Fors"/>
                <a:cs typeface="TT Fors"/>
                <a:sym typeface="TT Fors"/>
              </a:rPr>
              <a:t>s</a:t>
            </a:r>
            <a:r>
              <a:rPr lang="en-US" sz="2400" spc="-72">
                <a:solidFill>
                  <a:srgbClr val="00FFA8"/>
                </a:solidFill>
                <a:latin typeface="TT Fors"/>
                <a:ea typeface="TT Fors"/>
                <a:cs typeface="TT Fors"/>
                <a:sym typeface="TT Fors"/>
              </a:rPr>
              <a:t>ing (&lt;form&gt; tags, input validation)</a:t>
            </a:r>
          </a:p>
          <a:p>
            <a:pPr algn="l" marL="518160" indent="-259080" lvl="1">
              <a:lnSpc>
                <a:spcPts val="3600"/>
              </a:lnSpc>
              <a:buFont typeface="Arial"/>
              <a:buChar char="•"/>
            </a:pPr>
            <a:r>
              <a:rPr lang="en-US" sz="2400" spc="-72">
                <a:solidFill>
                  <a:srgbClr val="00FFA8"/>
                </a:solidFill>
                <a:latin typeface="TT Fors"/>
                <a:ea typeface="TT Fors"/>
                <a:cs typeface="TT Fors"/>
                <a:sym typeface="TT Fors"/>
              </a:rPr>
              <a:t>Server-side scripting (PHP, ASP.NET, Python, Node.js)</a:t>
            </a:r>
          </a:p>
          <a:p>
            <a:pPr algn="l" marL="518160" indent="-259080" lvl="1">
              <a:lnSpc>
                <a:spcPts val="3600"/>
              </a:lnSpc>
              <a:buFont typeface="Arial"/>
              <a:buChar char="•"/>
            </a:pPr>
            <a:r>
              <a:rPr lang="en-US" sz="2400" spc="-72">
                <a:solidFill>
                  <a:srgbClr val="00FFA8"/>
                </a:solidFill>
                <a:latin typeface="TT Fors"/>
                <a:ea typeface="TT Fors"/>
                <a:cs typeface="TT Fors"/>
                <a:sym typeface="TT Fors"/>
              </a:rPr>
              <a:t>C</a:t>
            </a:r>
            <a:r>
              <a:rPr lang="en-US" sz="2400" spc="-72">
                <a:solidFill>
                  <a:srgbClr val="00FFA8"/>
                </a:solidFill>
                <a:latin typeface="TT Fors"/>
                <a:ea typeface="TT Fors"/>
                <a:cs typeface="TT Fors"/>
                <a:sym typeface="TT Fors"/>
              </a:rPr>
              <a:t>lient-side scripting (JavaScript, TypeScript)</a:t>
            </a:r>
          </a:p>
          <a:p>
            <a:pPr algn="l" marL="518160" indent="-259080" lvl="1">
              <a:lnSpc>
                <a:spcPts val="3600"/>
              </a:lnSpc>
              <a:buFont typeface="Arial"/>
              <a:buChar char="•"/>
            </a:pPr>
            <a:r>
              <a:rPr lang="en-US" sz="2400" spc="-72">
                <a:solidFill>
                  <a:srgbClr val="00FFA8"/>
                </a:solidFill>
                <a:latin typeface="TT Fors"/>
                <a:ea typeface="TT Fors"/>
                <a:cs typeface="TT Fors"/>
                <a:sym typeface="TT Fors"/>
              </a:rPr>
              <a:t>Database connectivity (SQL queries, ORM frameworks)</a:t>
            </a:r>
          </a:p>
          <a:p>
            <a:pPr algn="l" marL="518160" indent="-259080" lvl="1">
              <a:lnSpc>
                <a:spcPts val="3600"/>
              </a:lnSpc>
              <a:buFont typeface="Arial"/>
              <a:buChar char="•"/>
            </a:pPr>
            <a:r>
              <a:rPr lang="en-US" sz="2400" spc="-72">
                <a:solidFill>
                  <a:srgbClr val="00FFA8"/>
                </a:solidFill>
                <a:latin typeface="TT Fors"/>
                <a:ea typeface="TT Fors"/>
                <a:cs typeface="TT Fors"/>
                <a:sym typeface="TT Fors"/>
              </a:rPr>
              <a:t>Session management (cookies, tokens, JWT)</a:t>
            </a:r>
          </a:p>
          <a:p>
            <a:pPr algn="l">
              <a:lnSpc>
                <a:spcPts val="3600"/>
              </a:lnSpc>
            </a:pPr>
            <a:r>
              <a:rPr lang="en-US" sz="2400" spc="-72" b="true">
                <a:solidFill>
                  <a:srgbClr val="00FFA8"/>
                </a:solidFill>
                <a:latin typeface="TT Fors Bold"/>
                <a:ea typeface="TT Fors Bold"/>
                <a:cs typeface="TT Fors Bold"/>
                <a:sym typeface="TT Fors Bold"/>
              </a:rPr>
              <a:t>Common Gateway Interface (CGI):</a:t>
            </a:r>
          </a:p>
          <a:p>
            <a:pPr algn="l" marL="518160" indent="-259080" lvl="1">
              <a:lnSpc>
                <a:spcPts val="3600"/>
              </a:lnSpc>
              <a:buFont typeface="Arial"/>
              <a:buChar char="•"/>
            </a:pPr>
            <a:r>
              <a:rPr lang="en-US" sz="2400" spc="-72">
                <a:solidFill>
                  <a:srgbClr val="00FFA8"/>
                </a:solidFill>
                <a:latin typeface="TT Fors"/>
                <a:ea typeface="TT Fors"/>
                <a:cs typeface="TT Fors"/>
                <a:sym typeface="TT Fors"/>
              </a:rPr>
              <a:t>Legacy technology for executing external programs</a:t>
            </a:r>
          </a:p>
          <a:p>
            <a:pPr algn="l" marL="518160" indent="-259080" lvl="1">
              <a:lnSpc>
                <a:spcPts val="3600"/>
              </a:lnSpc>
              <a:buFont typeface="Arial"/>
              <a:buChar char="•"/>
            </a:pPr>
            <a:r>
              <a:rPr lang="en-US" sz="2400" spc="-72">
                <a:solidFill>
                  <a:srgbClr val="00FFA8"/>
                </a:solidFill>
                <a:latin typeface="TT Fors"/>
                <a:ea typeface="TT Fors"/>
                <a:cs typeface="TT Fors"/>
                <a:sym typeface="TT Fors"/>
              </a:rPr>
              <a:t>Rarely used in modern applications, but may exist in legacy systems</a:t>
            </a:r>
          </a:p>
          <a:p>
            <a:pPr algn="l" marL="518160" indent="-259080" lvl="1">
              <a:lnSpc>
                <a:spcPts val="3600"/>
              </a:lnSpc>
              <a:buFont typeface="Arial"/>
              <a:buChar char="•"/>
            </a:pPr>
            <a:r>
              <a:rPr lang="en-US" sz="2400" spc="-72">
                <a:solidFill>
                  <a:srgbClr val="00FFA8"/>
                </a:solidFill>
                <a:latin typeface="TT Fors"/>
                <a:ea typeface="TT Fors"/>
                <a:cs typeface="TT Fors"/>
                <a:sym typeface="TT Fors"/>
              </a:rPr>
              <a:t>Security concerns: insecure file uploads, command injection</a:t>
            </a:r>
          </a:p>
          <a:p>
            <a:pPr algn="l">
              <a:lnSpc>
                <a:spcPts val="3600"/>
              </a:lnSpc>
            </a:pPr>
            <a:r>
              <a:rPr lang="en-US" sz="2400" spc="-72" b="true">
                <a:solidFill>
                  <a:srgbClr val="00FFA8"/>
                </a:solidFill>
                <a:latin typeface="TT Fors Bold"/>
                <a:ea typeface="TT Fors Bold"/>
                <a:cs typeface="TT Fors Bold"/>
                <a:sym typeface="TT Fors Bold"/>
              </a:rPr>
              <a:t>Modern Alternatives to CGI:</a:t>
            </a:r>
          </a:p>
          <a:p>
            <a:pPr algn="l" marL="518160" indent="-259080" lvl="1">
              <a:lnSpc>
                <a:spcPts val="3600"/>
              </a:lnSpc>
              <a:buFont typeface="Arial"/>
              <a:buChar char="•"/>
            </a:pPr>
            <a:r>
              <a:rPr lang="en-US" sz="2400" spc="-72">
                <a:solidFill>
                  <a:srgbClr val="00FFA8"/>
                </a:solidFill>
                <a:latin typeface="TT Fors"/>
                <a:ea typeface="TT Fors"/>
                <a:cs typeface="TT Fors"/>
                <a:sym typeface="TT Fors"/>
              </a:rPr>
              <a:t>Fa</a:t>
            </a:r>
            <a:r>
              <a:rPr lang="en-US" sz="2400" spc="-72">
                <a:solidFill>
                  <a:srgbClr val="00FFA8"/>
                </a:solidFill>
                <a:latin typeface="TT Fors"/>
                <a:ea typeface="TT Fors"/>
                <a:cs typeface="TT Fors"/>
                <a:sym typeface="TT Fors"/>
              </a:rPr>
              <a:t>stCGI (persistent processes)</a:t>
            </a:r>
          </a:p>
          <a:p>
            <a:pPr algn="l" marL="518160" indent="-259080" lvl="1">
              <a:lnSpc>
                <a:spcPts val="3600"/>
              </a:lnSpc>
              <a:buFont typeface="Arial"/>
              <a:buChar char="•"/>
            </a:pPr>
            <a:r>
              <a:rPr lang="en-US" sz="2400" spc="-72">
                <a:solidFill>
                  <a:srgbClr val="00FFA8"/>
                </a:solidFill>
                <a:latin typeface="TT Fors"/>
                <a:ea typeface="TT Fors"/>
                <a:cs typeface="TT Fors"/>
                <a:sym typeface="TT Fors"/>
              </a:rPr>
              <a:t>Applicati</a:t>
            </a:r>
            <a:r>
              <a:rPr lang="en-US" sz="2400" spc="-72">
                <a:solidFill>
                  <a:srgbClr val="00FFA8"/>
                </a:solidFill>
                <a:latin typeface="TT Fors"/>
                <a:ea typeface="TT Fors"/>
                <a:cs typeface="TT Fors"/>
                <a:sym typeface="TT Fors"/>
              </a:rPr>
              <a:t>on servers (Tomcat, Node.js, Django)</a:t>
            </a:r>
          </a:p>
          <a:p>
            <a:pPr algn="l" marL="518160" indent="-259080" lvl="1">
              <a:lnSpc>
                <a:spcPts val="3600"/>
              </a:lnSpc>
              <a:buFont typeface="Arial"/>
              <a:buChar char="•"/>
            </a:pPr>
            <a:r>
              <a:rPr lang="en-US" sz="2400" spc="-72">
                <a:solidFill>
                  <a:srgbClr val="00FFA8"/>
                </a:solidFill>
                <a:latin typeface="TT Fors"/>
                <a:ea typeface="TT Fors"/>
                <a:cs typeface="TT Fors"/>
                <a:sym typeface="TT Fors"/>
              </a:rPr>
              <a:t>Server</a:t>
            </a:r>
            <a:r>
              <a:rPr lang="en-US" sz="2400" spc="-72">
                <a:solidFill>
                  <a:srgbClr val="00FFA8"/>
                </a:solidFill>
                <a:latin typeface="TT Fors"/>
                <a:ea typeface="TT Fors"/>
                <a:cs typeface="TT Fors"/>
                <a:sym typeface="TT Fors"/>
              </a:rPr>
              <a:t>less functions (AWS Lambda, Google Cloud Functions)</a:t>
            </a:r>
          </a:p>
        </p:txBody>
      </p:sp>
      <p:sp>
        <p:nvSpPr>
          <p:cNvPr name="TextBox 4" id="4"/>
          <p:cNvSpPr txBox="true"/>
          <p:nvPr/>
        </p:nvSpPr>
        <p:spPr>
          <a:xfrm rot="0">
            <a:off x="666750" y="1331595"/>
            <a:ext cx="8306267" cy="453390"/>
          </a:xfrm>
          <a:prstGeom prst="rect">
            <a:avLst/>
          </a:prstGeom>
        </p:spPr>
        <p:txBody>
          <a:bodyPr anchor="t" rtlCol="false" tIns="0" lIns="0" bIns="0" rIns="0">
            <a:spAutoFit/>
          </a:bodyPr>
          <a:lstStyle/>
          <a:p>
            <a:pPr algn="l">
              <a:lnSpc>
                <a:spcPts val="3899"/>
              </a:lnSpc>
            </a:pPr>
            <a:r>
              <a:rPr lang="en-US" b="true" sz="2599" spc="-77">
                <a:solidFill>
                  <a:srgbClr val="00FFA8"/>
                </a:solidFill>
                <a:latin typeface="TT Fors Bold"/>
                <a:ea typeface="TT Fors Bold"/>
                <a:cs typeface="TT Fors Bold"/>
                <a:sym typeface="TT Fors Bold"/>
              </a:rPr>
              <a:t>Web Application Components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grpSp>
        <p:nvGrpSpPr>
          <p:cNvPr name="Group 2" id="2"/>
          <p:cNvGrpSpPr/>
          <p:nvPr/>
        </p:nvGrpSpPr>
        <p:grpSpPr>
          <a:xfrm rot="0">
            <a:off x="16149744" y="381000"/>
            <a:ext cx="1471506" cy="792133"/>
            <a:chOff x="0" y="0"/>
            <a:chExt cx="1962007" cy="1056178"/>
          </a:xfrm>
        </p:grpSpPr>
        <p:grpSp>
          <p:nvGrpSpPr>
            <p:cNvPr name="Group 3" id="3"/>
            <p:cNvGrpSpPr/>
            <p:nvPr/>
          </p:nvGrpSpPr>
          <p:grpSpPr>
            <a:xfrm rot="0">
              <a:off x="0" y="0"/>
              <a:ext cx="1056178" cy="105617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grpSp>
          <p:nvGrpSpPr>
            <p:cNvPr name="Group 6" id="6"/>
            <p:cNvGrpSpPr/>
            <p:nvPr/>
          </p:nvGrpSpPr>
          <p:grpSpPr>
            <a:xfrm rot="0">
              <a:off x="905830" y="0"/>
              <a:ext cx="1056178" cy="105617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sp>
          <p:nvSpPr>
            <p:cNvPr name="Freeform 9" id="9"/>
            <p:cNvSpPr/>
            <p:nvPr/>
          </p:nvSpPr>
          <p:spPr>
            <a:xfrm flipH="false" flipV="false" rot="0">
              <a:off x="177421" y="150010"/>
              <a:ext cx="701336" cy="756158"/>
            </a:xfrm>
            <a:custGeom>
              <a:avLst/>
              <a:gdLst/>
              <a:ahLst/>
              <a:cxnLst/>
              <a:rect r="r" b="b" t="t" l="l"/>
              <a:pathLst>
                <a:path h="756158" w="701336">
                  <a:moveTo>
                    <a:pt x="0" y="0"/>
                  </a:moveTo>
                  <a:lnTo>
                    <a:pt x="701336" y="0"/>
                  </a:lnTo>
                  <a:lnTo>
                    <a:pt x="701336" y="756158"/>
                  </a:lnTo>
                  <a:lnTo>
                    <a:pt x="0" y="7561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070789" y="245755"/>
              <a:ext cx="726260" cy="564667"/>
            </a:xfrm>
            <a:custGeom>
              <a:avLst/>
              <a:gdLst/>
              <a:ahLst/>
              <a:cxnLst/>
              <a:rect r="r" b="b" t="t" l="l"/>
              <a:pathLst>
                <a:path h="564667" w="726260">
                  <a:moveTo>
                    <a:pt x="0" y="0"/>
                  </a:moveTo>
                  <a:lnTo>
                    <a:pt x="726260" y="0"/>
                  </a:lnTo>
                  <a:lnTo>
                    <a:pt x="726260" y="564667"/>
                  </a:lnTo>
                  <a:lnTo>
                    <a:pt x="0" y="5646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TextBox 11" id="11"/>
          <p:cNvSpPr txBox="true"/>
          <p:nvPr/>
        </p:nvSpPr>
        <p:spPr>
          <a:xfrm rot="0">
            <a:off x="666750" y="37147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PART 2: HTTP/HTTPS PROTOCOL FUNDAMENTALS</a:t>
            </a:r>
          </a:p>
        </p:txBody>
      </p:sp>
      <p:sp>
        <p:nvSpPr>
          <p:cNvPr name="TextBox 12" id="12"/>
          <p:cNvSpPr txBox="true"/>
          <p:nvPr/>
        </p:nvSpPr>
        <p:spPr>
          <a:xfrm rot="0">
            <a:off x="666750" y="2004060"/>
            <a:ext cx="16954500" cy="1800225"/>
          </a:xfrm>
          <a:prstGeom prst="rect">
            <a:avLst/>
          </a:prstGeom>
        </p:spPr>
        <p:txBody>
          <a:bodyPr anchor="t" rtlCol="false" tIns="0" lIns="0" bIns="0" rIns="0">
            <a:spAutoFit/>
          </a:bodyPr>
          <a:lstStyle/>
          <a:p>
            <a:pPr algn="l" marL="0" indent="0" lvl="0">
              <a:lnSpc>
                <a:spcPts val="2880"/>
              </a:lnSpc>
              <a:spcBef>
                <a:spcPct val="0"/>
              </a:spcBef>
            </a:pPr>
            <a:r>
              <a:rPr lang="en-US" sz="2400" spc="-72">
                <a:solidFill>
                  <a:srgbClr val="FFFFFF"/>
                </a:solidFill>
                <a:latin typeface="TT Fors"/>
                <a:ea typeface="TT Fors"/>
                <a:cs typeface="TT Fors"/>
                <a:sym typeface="TT Fors"/>
              </a:rPr>
              <a:t>HTTP (HyperText Transfer Protocol) is the basic set of rules for web communication, sending data in plain text between browsers and servers, while HTTPS (HTTP Secure) is its secure version that uses </a:t>
            </a:r>
            <a:r>
              <a:rPr lang="en-US" sz="2400" spc="-72" u="sng">
                <a:solidFill>
                  <a:srgbClr val="FFFFFF"/>
                </a:solidFill>
                <a:latin typeface="TT Fors"/>
                <a:ea typeface="TT Fors"/>
                <a:cs typeface="TT Fors"/>
                <a:sym typeface="TT Fors"/>
                <a:hlinkClick r:id="rId7" tooltip="https://www.google.com/search?q=SSL%2FTLS+encryption&amp;num=10&amp;sca_esv=ebca3cb281b0326c&amp;hl=en&amp;sxsrf=AE3TifO2A2tNyIomabzWVdoD-hQm14fVyw%3A1766726594182&amp;source=hp&amp;ei=whtOacfICMD2seMP0KCViQ0&amp;iflsig=AOw8s4IAAAAAaU4p0nYVAMuOBPQonnYflsXfdToxM8v8&amp;ved=2ahUKEwjJiPi-wdqRAxU5SWwGHQyRJI4QgK4QegQIARAC&amp;uact=5&amp;oq=what+is+http%2Fhttps+protocol+fundamentals&amp;gs_lp=Egdnd3Mtd2l6Iih3aGF0IGlzIGh0dHAvaHR0cHMgcHJvdG9jb2wgZnVuZGFtZW50YWxzMgUQIRigATIFECEYoAEyBRAhGKABSP9dUOoCWL1bcAJ4AJABAJgB_QKgAfAhqgEJMjcuMTEuMi4xuAEDyAEA-AEBmAIroAL-IqgCCsICDRAjGPAFGCcYyQIY6gLCAgcQIxgnGOoCwgIEECMYJ8ICChAjGIAEGCcYigXCAgsQABiABBiRAhiKBcICChAAGIAEGEMYigXCAhAQABiABBixAxhDGIMBGIoFwgIWEC4YgAQYsQMY0QMYQxiDARjHARiKBcICCxAAGIAEGLEDGIMBwgILEC4YgAQYsQMYgwHCAggQABiABBixA8ICEBAjGPAFGIAEGCcYyQIYigXCAgUQABiABMICBxAAGIAEGArCAgYQABgWGB7CAgsQABiABBiGAxiKBcICCBAAGIAEGKIEwgIFECEYnwXCAgcQIRigARgKmAMJ8QXBWMFrAyJZYZIHCTI4LjEyLjIuMaAH7PEBsgcJMjYuMTIuMi4xuAfzIsIHBjkuMjUuOcgHYYAIAA&amp;sclient=gws-wiz&amp;mstk=AUtExfD_PPC8scF113d1P4GPIJZMtajmbQS8qu5IqjpCbbWlGQTQ6cOmXxTOUfgjIc9ZUwM-NucSqL51ClxhJUzxUTvu14w8CWJ9oxA-8vvU_8qpxmmqFLfpMmeKaEriUrPUGAfLFxFLXIavTgSl-41mjIh_SzWs4lOvOJdo8FWRuTziqT4KW_dJmS86xmrvxpPxJGzFCrsV5s18q-bvIyljnTqmFeDn2BNy_OmnecBjn2d_00OEReYqsJsmp_MK9afMiaOkGnLKDaBxQUAsFl7NbeAmEyiOYX7bGTg-Qv3dh8uSYA&amp;csui=3"/>
              </a:rPr>
              <a:t>SSL/TLS encryption</a:t>
            </a:r>
            <a:r>
              <a:rPr lang="en-US" sz="2400" spc="-72">
                <a:solidFill>
                  <a:srgbClr val="FFFFFF"/>
                </a:solidFill>
                <a:latin typeface="TT Fors"/>
                <a:ea typeface="TT Fors"/>
                <a:cs typeface="TT Fors"/>
                <a:sym typeface="TT Fors"/>
              </a:rPr>
              <a:t> to scramble sensitive data like passwords and credit card numbers, protecting it from interception and ensuring privacy with a padlock icon in browsers. The key difference is encryption: HTTP is insecure (plaintext), HTTPS encrypts data for secure transfer, requiring an SSL/TLS certificate for verification and secure handshakes. </a:t>
            </a:r>
          </a:p>
        </p:txBody>
      </p:sp>
      <p:sp>
        <p:nvSpPr>
          <p:cNvPr name="TextBox 13" id="13"/>
          <p:cNvSpPr txBox="true"/>
          <p:nvPr/>
        </p:nvSpPr>
        <p:spPr>
          <a:xfrm rot="0">
            <a:off x="666750" y="3947160"/>
            <a:ext cx="10534041" cy="2531745"/>
          </a:xfrm>
          <a:prstGeom prst="rect">
            <a:avLst/>
          </a:prstGeom>
        </p:spPr>
        <p:txBody>
          <a:bodyPr anchor="t" rtlCol="false" tIns="0" lIns="0" bIns="0" rIns="0">
            <a:spAutoFit/>
          </a:bodyPr>
          <a:lstStyle/>
          <a:p>
            <a:pPr algn="l">
              <a:lnSpc>
                <a:spcPts val="3600"/>
              </a:lnSpc>
            </a:pPr>
            <a:r>
              <a:rPr lang="en-US" sz="2400" spc="-72" b="true">
                <a:solidFill>
                  <a:srgbClr val="00FFA8"/>
                </a:solidFill>
                <a:latin typeface="TT Fors Bold"/>
                <a:ea typeface="TT Fors Bold"/>
                <a:cs typeface="TT Fors Bold"/>
                <a:sym typeface="TT Fors Bold"/>
              </a:rPr>
              <a:t>HTTP Vers</a:t>
            </a:r>
            <a:r>
              <a:rPr lang="en-US" sz="2400" spc="-72" b="true">
                <a:solidFill>
                  <a:srgbClr val="00FFA8"/>
                </a:solidFill>
                <a:latin typeface="TT Fors Bold"/>
                <a:ea typeface="TT Fors Bold"/>
                <a:cs typeface="TT Fors Bold"/>
                <a:sym typeface="TT Fors Bold"/>
              </a:rPr>
              <a:t>ions</a:t>
            </a:r>
          </a:p>
          <a:p>
            <a:pPr algn="l" marL="474981" indent="-237491" lvl="1">
              <a:lnSpc>
                <a:spcPts val="3300"/>
              </a:lnSpc>
              <a:buFont typeface="Arial"/>
              <a:buChar char="•"/>
            </a:pPr>
            <a:r>
              <a:rPr lang="en-US" b="true" sz="2200" spc="-66">
                <a:solidFill>
                  <a:srgbClr val="00FFA8"/>
                </a:solidFill>
                <a:latin typeface="TT Fors Bold"/>
                <a:ea typeface="TT Fors Bold"/>
                <a:cs typeface="TT Fors Bold"/>
                <a:sym typeface="TT Fors Bold"/>
              </a:rPr>
              <a:t>HTTP/0.9: </a:t>
            </a:r>
            <a:r>
              <a:rPr lang="en-US" sz="2200" spc="-66">
                <a:solidFill>
                  <a:srgbClr val="00FFA8"/>
                </a:solidFill>
                <a:latin typeface="TT Fors"/>
                <a:ea typeface="TT Fors"/>
                <a:cs typeface="TT Fors"/>
                <a:sym typeface="TT Fors"/>
              </a:rPr>
              <a:t>Minimal, GET-only, no headers</a:t>
            </a:r>
          </a:p>
          <a:p>
            <a:pPr algn="l" marL="474981" indent="-237491" lvl="1">
              <a:lnSpc>
                <a:spcPts val="3300"/>
              </a:lnSpc>
              <a:buFont typeface="Arial"/>
              <a:buChar char="•"/>
            </a:pPr>
            <a:r>
              <a:rPr lang="en-US" b="true" sz="2200" spc="-66">
                <a:solidFill>
                  <a:srgbClr val="00FFA8"/>
                </a:solidFill>
                <a:latin typeface="TT Fors Bold"/>
                <a:ea typeface="TT Fors Bold"/>
                <a:cs typeface="TT Fors Bold"/>
                <a:sym typeface="TT Fors Bold"/>
              </a:rPr>
              <a:t>HTTP/1.0: </a:t>
            </a:r>
            <a:r>
              <a:rPr lang="en-US" sz="2200" spc="-66">
                <a:solidFill>
                  <a:srgbClr val="00FFA8"/>
                </a:solidFill>
                <a:latin typeface="TT Fors"/>
                <a:ea typeface="TT Fors"/>
                <a:cs typeface="TT Fors"/>
                <a:sym typeface="TT Fors"/>
              </a:rPr>
              <a:t>Basic headers, each request opens a new connection</a:t>
            </a:r>
          </a:p>
          <a:p>
            <a:pPr algn="l" marL="474981" indent="-237491" lvl="1">
              <a:lnSpc>
                <a:spcPts val="3300"/>
              </a:lnSpc>
              <a:buFont typeface="Arial"/>
              <a:buChar char="•"/>
            </a:pPr>
            <a:r>
              <a:rPr lang="en-US" b="true" sz="2200" spc="-66">
                <a:solidFill>
                  <a:srgbClr val="00FFA8"/>
                </a:solidFill>
                <a:latin typeface="TT Fors Bold"/>
                <a:ea typeface="TT Fors Bold"/>
                <a:cs typeface="TT Fors Bold"/>
                <a:sym typeface="TT Fors Bold"/>
              </a:rPr>
              <a:t>HTTP/1.1 (most common): </a:t>
            </a:r>
            <a:r>
              <a:rPr lang="en-US" sz="2200" spc="-66">
                <a:solidFill>
                  <a:srgbClr val="00FFA8"/>
                </a:solidFill>
                <a:latin typeface="TT Fors"/>
                <a:ea typeface="TT Fors"/>
                <a:cs typeface="TT Fors"/>
                <a:sym typeface="TT Fors"/>
              </a:rPr>
              <a:t>Persistent connections, pipelining, improved caching</a:t>
            </a:r>
          </a:p>
          <a:p>
            <a:pPr algn="l" marL="474981" indent="-237491" lvl="1">
              <a:lnSpc>
                <a:spcPts val="3300"/>
              </a:lnSpc>
              <a:buFont typeface="Arial"/>
              <a:buChar char="•"/>
            </a:pPr>
            <a:r>
              <a:rPr lang="en-US" b="true" sz="2200" spc="-66">
                <a:solidFill>
                  <a:srgbClr val="00FFA8"/>
                </a:solidFill>
                <a:latin typeface="TT Fors Bold"/>
                <a:ea typeface="TT Fors Bold"/>
                <a:cs typeface="TT Fors Bold"/>
                <a:sym typeface="TT Fors Bold"/>
              </a:rPr>
              <a:t>HTTP/2: </a:t>
            </a:r>
            <a:r>
              <a:rPr lang="en-US" sz="2200" spc="-66">
                <a:solidFill>
                  <a:srgbClr val="00FFA8"/>
                </a:solidFill>
                <a:latin typeface="TT Fors"/>
                <a:ea typeface="TT Fors"/>
                <a:cs typeface="TT Fors"/>
                <a:sym typeface="TT Fors"/>
              </a:rPr>
              <a:t>Binary framing, multiplexing, header compression</a:t>
            </a:r>
          </a:p>
          <a:p>
            <a:pPr algn="l" marL="474981" indent="-237491" lvl="1">
              <a:lnSpc>
                <a:spcPts val="3300"/>
              </a:lnSpc>
              <a:buFont typeface="Arial"/>
              <a:buChar char="•"/>
            </a:pPr>
            <a:r>
              <a:rPr lang="en-US" b="true" sz="2200" spc="-66">
                <a:solidFill>
                  <a:srgbClr val="00FFA8"/>
                </a:solidFill>
                <a:latin typeface="TT Fors Bold"/>
                <a:ea typeface="TT Fors Bold"/>
                <a:cs typeface="TT Fors Bold"/>
                <a:sym typeface="TT Fors Bold"/>
              </a:rPr>
              <a:t>HTTP/3: </a:t>
            </a:r>
            <a:r>
              <a:rPr lang="en-US" sz="2200" spc="-66">
                <a:solidFill>
                  <a:srgbClr val="00FFA8"/>
                </a:solidFill>
                <a:latin typeface="TT Fors"/>
                <a:ea typeface="TT Fors"/>
                <a:cs typeface="TT Fors"/>
                <a:sym typeface="TT Fors"/>
              </a:rPr>
              <a:t>QUIC protocol, faster connection establishment, UDP-based</a:t>
            </a:r>
          </a:p>
        </p:txBody>
      </p:sp>
      <p:sp>
        <p:nvSpPr>
          <p:cNvPr name="TextBox 14" id="14"/>
          <p:cNvSpPr txBox="true"/>
          <p:nvPr/>
        </p:nvSpPr>
        <p:spPr>
          <a:xfrm rot="0">
            <a:off x="666750" y="1331595"/>
            <a:ext cx="8306267" cy="453390"/>
          </a:xfrm>
          <a:prstGeom prst="rect">
            <a:avLst/>
          </a:prstGeom>
        </p:spPr>
        <p:txBody>
          <a:bodyPr anchor="t" rtlCol="false" tIns="0" lIns="0" bIns="0" rIns="0">
            <a:spAutoFit/>
          </a:bodyPr>
          <a:lstStyle/>
          <a:p>
            <a:pPr algn="l">
              <a:lnSpc>
                <a:spcPts val="3899"/>
              </a:lnSpc>
            </a:pPr>
            <a:r>
              <a:rPr lang="en-US" b="true" sz="2599" spc="-77">
                <a:solidFill>
                  <a:srgbClr val="00FFA8"/>
                </a:solidFill>
                <a:latin typeface="TT Fors Bold"/>
                <a:ea typeface="TT Fors Bold"/>
                <a:cs typeface="TT Fors Bold"/>
                <a:sym typeface="TT Fors Bold"/>
              </a:rPr>
              <a:t>What is HTTP/HTTPS?</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37147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PART 2: HTTP/HTTPS PROTOCOL FUNDAMENTALS (Cont’d)</a:t>
            </a:r>
          </a:p>
        </p:txBody>
      </p:sp>
      <p:sp>
        <p:nvSpPr>
          <p:cNvPr name="TextBox 3" id="3"/>
          <p:cNvSpPr txBox="true"/>
          <p:nvPr/>
        </p:nvSpPr>
        <p:spPr>
          <a:xfrm rot="0">
            <a:off x="666750" y="1320688"/>
            <a:ext cx="8814882" cy="7980045"/>
          </a:xfrm>
          <a:prstGeom prst="rect">
            <a:avLst/>
          </a:prstGeom>
        </p:spPr>
        <p:txBody>
          <a:bodyPr anchor="t" rtlCol="false" tIns="0" lIns="0" bIns="0" rIns="0">
            <a:spAutoFit/>
          </a:bodyPr>
          <a:lstStyle/>
          <a:p>
            <a:pPr algn="l">
              <a:lnSpc>
                <a:spcPts val="3600"/>
              </a:lnSpc>
            </a:pPr>
            <a:r>
              <a:rPr lang="en-US" sz="2400" spc="-72" b="true">
                <a:solidFill>
                  <a:srgbClr val="00FFA8"/>
                </a:solidFill>
                <a:latin typeface="TT Fors Bold"/>
                <a:ea typeface="TT Fors Bold"/>
                <a:cs typeface="TT Fors Bold"/>
                <a:sym typeface="TT Fors Bold"/>
              </a:rPr>
              <a:t>HTTP Request Structure</a:t>
            </a:r>
          </a:p>
          <a:p>
            <a:pPr algn="l">
              <a:lnSpc>
                <a:spcPts val="3300"/>
              </a:lnSpc>
            </a:pPr>
          </a:p>
          <a:p>
            <a:pPr algn="l">
              <a:lnSpc>
                <a:spcPts val="3300"/>
              </a:lnSpc>
            </a:pPr>
            <a:r>
              <a:rPr lang="en-US" sz="2200" spc="-66">
                <a:solidFill>
                  <a:srgbClr val="00FFA8"/>
                </a:solidFill>
                <a:latin typeface="TT Fors"/>
                <a:ea typeface="TT Fors"/>
                <a:cs typeface="TT Fors"/>
                <a:sym typeface="TT Fors"/>
              </a:rPr>
              <a:t>POST /api/login HTTP/1.1</a:t>
            </a:r>
          </a:p>
          <a:p>
            <a:pPr algn="l">
              <a:lnSpc>
                <a:spcPts val="3300"/>
              </a:lnSpc>
            </a:pPr>
            <a:r>
              <a:rPr lang="en-US" sz="2200" spc="-66" b="true">
                <a:solidFill>
                  <a:srgbClr val="00FFA8"/>
                </a:solidFill>
                <a:latin typeface="TT Fors Bold"/>
                <a:ea typeface="TT Fors Bold"/>
                <a:cs typeface="TT Fors Bold"/>
                <a:sym typeface="TT Fors Bold"/>
              </a:rPr>
              <a:t>Host:</a:t>
            </a:r>
            <a:r>
              <a:rPr lang="en-US" sz="2200" spc="-66">
                <a:solidFill>
                  <a:srgbClr val="00FFA8"/>
                </a:solidFill>
                <a:latin typeface="TT Fors"/>
                <a:ea typeface="TT Fors"/>
                <a:cs typeface="TT Fors"/>
                <a:sym typeface="TT Fors"/>
              </a:rPr>
              <a:t> example.com:8080</a:t>
            </a:r>
          </a:p>
          <a:p>
            <a:pPr algn="l">
              <a:lnSpc>
                <a:spcPts val="3300"/>
              </a:lnSpc>
            </a:pPr>
            <a:r>
              <a:rPr lang="en-US" sz="2200" spc="-66" b="true">
                <a:solidFill>
                  <a:srgbClr val="00FFA8"/>
                </a:solidFill>
                <a:latin typeface="TT Fors Bold"/>
                <a:ea typeface="TT Fors Bold"/>
                <a:cs typeface="TT Fors Bold"/>
                <a:sym typeface="TT Fors Bold"/>
              </a:rPr>
              <a:t>User-Agent:</a:t>
            </a:r>
            <a:r>
              <a:rPr lang="en-US" sz="2200" spc="-66">
                <a:solidFill>
                  <a:srgbClr val="00FFA8"/>
                </a:solidFill>
                <a:latin typeface="TT Fors"/>
                <a:ea typeface="TT Fors"/>
                <a:cs typeface="TT Fors"/>
                <a:sym typeface="TT Fors"/>
              </a:rPr>
              <a:t> Mozilla/5.0</a:t>
            </a:r>
          </a:p>
          <a:p>
            <a:pPr algn="l">
              <a:lnSpc>
                <a:spcPts val="3300"/>
              </a:lnSpc>
            </a:pPr>
            <a:r>
              <a:rPr lang="en-US" sz="2200" spc="-66" b="true">
                <a:solidFill>
                  <a:srgbClr val="00FFA8"/>
                </a:solidFill>
                <a:latin typeface="TT Fors Bold"/>
                <a:ea typeface="TT Fors Bold"/>
                <a:cs typeface="TT Fors Bold"/>
                <a:sym typeface="TT Fors Bold"/>
              </a:rPr>
              <a:t>Content-Type:</a:t>
            </a:r>
            <a:r>
              <a:rPr lang="en-US" sz="2200" spc="-66">
                <a:solidFill>
                  <a:srgbClr val="00FFA8"/>
                </a:solidFill>
                <a:latin typeface="TT Fors"/>
                <a:ea typeface="TT Fors"/>
                <a:cs typeface="TT Fors"/>
                <a:sym typeface="TT Fors"/>
              </a:rPr>
              <a:t> application/x-www-form-urlencoded</a:t>
            </a:r>
          </a:p>
          <a:p>
            <a:pPr algn="l">
              <a:lnSpc>
                <a:spcPts val="3300"/>
              </a:lnSpc>
            </a:pPr>
            <a:r>
              <a:rPr lang="en-US" sz="2200" spc="-66" b="true">
                <a:solidFill>
                  <a:srgbClr val="00FFA8"/>
                </a:solidFill>
                <a:latin typeface="TT Fors Bold"/>
                <a:ea typeface="TT Fors Bold"/>
                <a:cs typeface="TT Fors Bold"/>
                <a:sym typeface="TT Fors Bold"/>
              </a:rPr>
              <a:t>Content-Length:</a:t>
            </a:r>
            <a:r>
              <a:rPr lang="en-US" sz="2200" spc="-66">
                <a:solidFill>
                  <a:srgbClr val="00FFA8"/>
                </a:solidFill>
                <a:latin typeface="TT Fors"/>
                <a:ea typeface="TT Fors"/>
                <a:cs typeface="TT Fors"/>
                <a:sym typeface="TT Fors"/>
              </a:rPr>
              <a:t> 31</a:t>
            </a:r>
          </a:p>
          <a:p>
            <a:pPr algn="l">
              <a:lnSpc>
                <a:spcPts val="3300"/>
              </a:lnSpc>
            </a:pPr>
            <a:r>
              <a:rPr lang="en-US" sz="2200" spc="-66" b="true">
                <a:solidFill>
                  <a:srgbClr val="00FFA8"/>
                </a:solidFill>
                <a:latin typeface="TT Fors Bold"/>
                <a:ea typeface="TT Fors Bold"/>
                <a:cs typeface="TT Fors Bold"/>
                <a:sym typeface="TT Fors Bold"/>
              </a:rPr>
              <a:t>Connection:</a:t>
            </a:r>
            <a:r>
              <a:rPr lang="en-US" sz="2200" spc="-66">
                <a:solidFill>
                  <a:srgbClr val="00FFA8"/>
                </a:solidFill>
                <a:latin typeface="TT Fors"/>
                <a:ea typeface="TT Fors"/>
                <a:cs typeface="TT Fors"/>
                <a:sym typeface="TT Fors"/>
              </a:rPr>
              <a:t> keep-alive</a:t>
            </a:r>
          </a:p>
          <a:p>
            <a:pPr algn="l">
              <a:lnSpc>
                <a:spcPts val="3300"/>
              </a:lnSpc>
            </a:pPr>
            <a:r>
              <a:rPr lang="en-US" sz="2200" spc="-66" b="true">
                <a:solidFill>
                  <a:srgbClr val="00FFA8"/>
                </a:solidFill>
                <a:latin typeface="TT Fors Bold"/>
                <a:ea typeface="TT Fors Bold"/>
                <a:cs typeface="TT Fors Bold"/>
                <a:sym typeface="TT Fors Bold"/>
              </a:rPr>
              <a:t>Cookie:</a:t>
            </a:r>
            <a:r>
              <a:rPr lang="en-US" sz="2200" spc="-66">
                <a:solidFill>
                  <a:srgbClr val="00FFA8"/>
                </a:solidFill>
                <a:latin typeface="TT Fors"/>
                <a:ea typeface="TT Fors"/>
                <a:cs typeface="TT Fors"/>
                <a:sym typeface="TT Fors"/>
              </a:rPr>
              <a:t> sessionid=abc123</a:t>
            </a:r>
          </a:p>
          <a:p>
            <a:pPr algn="l">
              <a:lnSpc>
                <a:spcPts val="3300"/>
              </a:lnSpc>
            </a:pPr>
          </a:p>
          <a:p>
            <a:pPr algn="l">
              <a:lnSpc>
                <a:spcPts val="3300"/>
              </a:lnSpc>
            </a:pPr>
            <a:r>
              <a:rPr lang="en-US" sz="2200" spc="-66">
                <a:solidFill>
                  <a:srgbClr val="FFFFFF"/>
                </a:solidFill>
                <a:latin typeface="TT Fors"/>
                <a:ea typeface="TT Fors"/>
                <a:cs typeface="TT Fors"/>
                <a:sym typeface="TT Fors"/>
              </a:rPr>
              <a:t>username=admin&amp;password=secret</a:t>
            </a:r>
          </a:p>
          <a:p>
            <a:pPr algn="l">
              <a:lnSpc>
                <a:spcPts val="3300"/>
              </a:lnSpc>
            </a:pPr>
          </a:p>
          <a:p>
            <a:pPr algn="l">
              <a:lnSpc>
                <a:spcPts val="3300"/>
              </a:lnSpc>
            </a:pPr>
            <a:r>
              <a:rPr lang="en-US" sz="2200" spc="-66" b="true">
                <a:solidFill>
                  <a:srgbClr val="00FFA8"/>
                </a:solidFill>
                <a:latin typeface="TT Fors Bold"/>
                <a:ea typeface="TT Fors Bold"/>
                <a:cs typeface="TT Fors Bold"/>
                <a:sym typeface="TT Fors Bold"/>
              </a:rPr>
              <a:t>Components:</a:t>
            </a:r>
          </a:p>
          <a:p>
            <a:pPr algn="l" marL="474981" indent="-237491" lvl="1">
              <a:lnSpc>
                <a:spcPts val="3300"/>
              </a:lnSpc>
              <a:buFont typeface="Arial"/>
              <a:buChar char="•"/>
            </a:pPr>
            <a:r>
              <a:rPr lang="en-US" b="true" sz="2200" spc="-66">
                <a:solidFill>
                  <a:srgbClr val="00FFA8"/>
                </a:solidFill>
                <a:latin typeface="TT Fors Bold"/>
                <a:ea typeface="TT Fors Bold"/>
                <a:cs typeface="TT Fors Bold"/>
                <a:sym typeface="TT Fors Bold"/>
              </a:rPr>
              <a:t>Method:</a:t>
            </a:r>
            <a:r>
              <a:rPr lang="en-US" sz="2200" spc="-66">
                <a:solidFill>
                  <a:srgbClr val="00FFA8"/>
                </a:solidFill>
                <a:latin typeface="TT Fors"/>
                <a:ea typeface="TT Fors"/>
                <a:cs typeface="TT Fors"/>
                <a:sym typeface="TT Fors"/>
              </a:rPr>
              <a:t> GET, POST, PUT, DELETE, HEAD, OPTIONS, PATCH, TRACE, CONNECT</a:t>
            </a:r>
          </a:p>
          <a:p>
            <a:pPr algn="l" marL="474981" indent="-237491" lvl="1">
              <a:lnSpc>
                <a:spcPts val="3300"/>
              </a:lnSpc>
              <a:buFont typeface="Arial"/>
              <a:buChar char="•"/>
            </a:pPr>
            <a:r>
              <a:rPr lang="en-US" b="true" sz="2200" spc="-66">
                <a:solidFill>
                  <a:srgbClr val="00FFA8"/>
                </a:solidFill>
                <a:latin typeface="TT Fors Bold"/>
                <a:ea typeface="TT Fors Bold"/>
                <a:cs typeface="TT Fors Bold"/>
                <a:sym typeface="TT Fors Bold"/>
              </a:rPr>
              <a:t>URI: </a:t>
            </a:r>
            <a:r>
              <a:rPr lang="en-US" sz="2200" spc="-66">
                <a:solidFill>
                  <a:srgbClr val="00FFA8"/>
                </a:solidFill>
                <a:latin typeface="TT Fors"/>
                <a:ea typeface="TT Fors"/>
                <a:cs typeface="TT Fors"/>
                <a:sym typeface="TT Fors"/>
              </a:rPr>
              <a:t>Path and parameters (/path/file.php?key=value)</a:t>
            </a:r>
          </a:p>
          <a:p>
            <a:pPr algn="l" marL="474981" indent="-237491" lvl="1">
              <a:lnSpc>
                <a:spcPts val="3300"/>
              </a:lnSpc>
              <a:buFont typeface="Arial"/>
              <a:buChar char="•"/>
            </a:pPr>
            <a:r>
              <a:rPr lang="en-US" b="true" sz="2200" spc="-66">
                <a:solidFill>
                  <a:srgbClr val="00FFA8"/>
                </a:solidFill>
                <a:latin typeface="TT Fors Bold"/>
                <a:ea typeface="TT Fors Bold"/>
                <a:cs typeface="TT Fors Bold"/>
                <a:sym typeface="TT Fors Bold"/>
              </a:rPr>
              <a:t>Protocol Version: </a:t>
            </a:r>
            <a:r>
              <a:rPr lang="en-US" sz="2200" spc="-66">
                <a:solidFill>
                  <a:srgbClr val="00FFA8"/>
                </a:solidFill>
                <a:latin typeface="TT Fors"/>
                <a:ea typeface="TT Fors"/>
                <a:cs typeface="TT Fors"/>
                <a:sym typeface="TT Fors"/>
              </a:rPr>
              <a:t>HTTP/1.1, HTTP/2, HTTP/3</a:t>
            </a:r>
          </a:p>
          <a:p>
            <a:pPr algn="l" marL="474981" indent="-237491" lvl="1">
              <a:lnSpc>
                <a:spcPts val="3300"/>
              </a:lnSpc>
              <a:buFont typeface="Arial"/>
              <a:buChar char="•"/>
            </a:pPr>
            <a:r>
              <a:rPr lang="en-US" b="true" sz="2200" spc="-66">
                <a:solidFill>
                  <a:srgbClr val="00FFA8"/>
                </a:solidFill>
                <a:latin typeface="TT Fors Bold"/>
                <a:ea typeface="TT Fors Bold"/>
                <a:cs typeface="TT Fors Bold"/>
                <a:sym typeface="TT Fors Bold"/>
              </a:rPr>
              <a:t>Headers: </a:t>
            </a:r>
            <a:r>
              <a:rPr lang="en-US" sz="2200" spc="-66">
                <a:solidFill>
                  <a:srgbClr val="00FFA8"/>
                </a:solidFill>
                <a:latin typeface="TT Fors"/>
                <a:ea typeface="TT Fors"/>
                <a:cs typeface="TT Fors"/>
                <a:sym typeface="TT Fors"/>
              </a:rPr>
              <a:t>Metadata about the request</a:t>
            </a:r>
          </a:p>
          <a:p>
            <a:pPr algn="l" marL="474981" indent="-237491" lvl="1">
              <a:lnSpc>
                <a:spcPts val="3300"/>
              </a:lnSpc>
              <a:buFont typeface="Arial"/>
              <a:buChar char="•"/>
            </a:pPr>
            <a:r>
              <a:rPr lang="en-US" b="true" sz="2200" spc="-66">
                <a:solidFill>
                  <a:srgbClr val="00FFA8"/>
                </a:solidFill>
                <a:latin typeface="TT Fors Bold"/>
                <a:ea typeface="TT Fors Bold"/>
                <a:cs typeface="TT Fors Bold"/>
                <a:sym typeface="TT Fors Bold"/>
              </a:rPr>
              <a:t>Body: </a:t>
            </a:r>
            <a:r>
              <a:rPr lang="en-US" sz="2200" spc="-66">
                <a:solidFill>
                  <a:srgbClr val="00FFA8"/>
                </a:solidFill>
                <a:latin typeface="TT Fors"/>
                <a:ea typeface="TT Fors"/>
                <a:cs typeface="TT Fors"/>
                <a:sym typeface="TT Fors"/>
              </a:rPr>
              <a:t>Optional data (POST, PUT, PATCH)</a:t>
            </a:r>
          </a:p>
        </p:txBody>
      </p:sp>
      <p:sp>
        <p:nvSpPr>
          <p:cNvPr name="TextBox 4" id="4"/>
          <p:cNvSpPr txBox="true"/>
          <p:nvPr/>
        </p:nvSpPr>
        <p:spPr>
          <a:xfrm rot="0">
            <a:off x="9618931" y="1320688"/>
            <a:ext cx="8002319" cy="7560945"/>
          </a:xfrm>
          <a:prstGeom prst="rect">
            <a:avLst/>
          </a:prstGeom>
        </p:spPr>
        <p:txBody>
          <a:bodyPr anchor="t" rtlCol="false" tIns="0" lIns="0" bIns="0" rIns="0">
            <a:spAutoFit/>
          </a:bodyPr>
          <a:lstStyle/>
          <a:p>
            <a:pPr algn="l">
              <a:lnSpc>
                <a:spcPts val="3600"/>
              </a:lnSpc>
            </a:pPr>
            <a:r>
              <a:rPr lang="en-US" sz="2400" spc="-72" b="true">
                <a:solidFill>
                  <a:srgbClr val="00FFA8"/>
                </a:solidFill>
                <a:latin typeface="TT Fors Bold"/>
                <a:ea typeface="TT Fors Bold"/>
                <a:cs typeface="TT Fors Bold"/>
                <a:sym typeface="TT Fors Bold"/>
              </a:rPr>
              <a:t>HTTP Response Structure</a:t>
            </a:r>
          </a:p>
          <a:p>
            <a:pPr algn="l">
              <a:lnSpc>
                <a:spcPts val="3300"/>
              </a:lnSpc>
            </a:pPr>
          </a:p>
          <a:p>
            <a:pPr algn="l">
              <a:lnSpc>
                <a:spcPts val="3300"/>
              </a:lnSpc>
            </a:pPr>
            <a:r>
              <a:rPr lang="en-US" sz="2200" spc="-66">
                <a:solidFill>
                  <a:srgbClr val="00FFA8"/>
                </a:solidFill>
                <a:latin typeface="TT Fors"/>
                <a:ea typeface="TT Fors"/>
                <a:cs typeface="TT Fors"/>
                <a:sym typeface="TT Fors"/>
              </a:rPr>
              <a:t>HTTP/1.1 200 OK</a:t>
            </a:r>
          </a:p>
          <a:p>
            <a:pPr algn="l">
              <a:lnSpc>
                <a:spcPts val="3300"/>
              </a:lnSpc>
            </a:pPr>
            <a:r>
              <a:rPr lang="en-US" sz="2200" spc="-66" b="true">
                <a:solidFill>
                  <a:srgbClr val="00FFA8"/>
                </a:solidFill>
                <a:latin typeface="TT Fors Bold"/>
                <a:ea typeface="TT Fors Bold"/>
                <a:cs typeface="TT Fors Bold"/>
                <a:sym typeface="TT Fors Bold"/>
              </a:rPr>
              <a:t>Server:</a:t>
            </a:r>
            <a:r>
              <a:rPr lang="en-US" sz="2200" spc="-66">
                <a:solidFill>
                  <a:srgbClr val="00FFA8"/>
                </a:solidFill>
                <a:latin typeface="TT Fors"/>
                <a:ea typeface="TT Fors"/>
                <a:cs typeface="TT Fors"/>
                <a:sym typeface="TT Fors"/>
              </a:rPr>
              <a:t> Apache/2.4.52</a:t>
            </a:r>
          </a:p>
          <a:p>
            <a:pPr algn="l">
              <a:lnSpc>
                <a:spcPts val="3300"/>
              </a:lnSpc>
            </a:pPr>
            <a:r>
              <a:rPr lang="en-US" sz="2200" spc="-66" b="true">
                <a:solidFill>
                  <a:srgbClr val="00FFA8"/>
                </a:solidFill>
                <a:latin typeface="TT Fors Bold"/>
                <a:ea typeface="TT Fors Bold"/>
                <a:cs typeface="TT Fors Bold"/>
                <a:sym typeface="TT Fors Bold"/>
              </a:rPr>
              <a:t>Date:</a:t>
            </a:r>
            <a:r>
              <a:rPr lang="en-US" sz="2200" spc="-66">
                <a:solidFill>
                  <a:srgbClr val="00FFA8"/>
                </a:solidFill>
                <a:latin typeface="TT Fors"/>
                <a:ea typeface="TT Fors"/>
                <a:cs typeface="TT Fors"/>
                <a:sym typeface="TT Fors"/>
              </a:rPr>
              <a:t> Mon, 22 Dec 2025 10:15:00 GMT</a:t>
            </a:r>
          </a:p>
          <a:p>
            <a:pPr algn="l">
              <a:lnSpc>
                <a:spcPts val="3300"/>
              </a:lnSpc>
            </a:pPr>
            <a:r>
              <a:rPr lang="en-US" sz="2200" spc="-66" b="true">
                <a:solidFill>
                  <a:srgbClr val="00FFA8"/>
                </a:solidFill>
                <a:latin typeface="TT Fors Bold"/>
                <a:ea typeface="TT Fors Bold"/>
                <a:cs typeface="TT Fors Bold"/>
                <a:sym typeface="TT Fors Bold"/>
              </a:rPr>
              <a:t>Content-Type:</a:t>
            </a:r>
            <a:r>
              <a:rPr lang="en-US" sz="2200" spc="-66">
                <a:solidFill>
                  <a:srgbClr val="00FFA8"/>
                </a:solidFill>
                <a:latin typeface="TT Fors"/>
                <a:ea typeface="TT Fors"/>
                <a:cs typeface="TT Fors"/>
                <a:sym typeface="TT Fors"/>
              </a:rPr>
              <a:t> text/html; charset=UTF-8</a:t>
            </a:r>
          </a:p>
          <a:p>
            <a:pPr algn="l">
              <a:lnSpc>
                <a:spcPts val="3300"/>
              </a:lnSpc>
            </a:pPr>
            <a:r>
              <a:rPr lang="en-US" sz="2200" spc="-66" b="true">
                <a:solidFill>
                  <a:srgbClr val="00FFA8"/>
                </a:solidFill>
                <a:latin typeface="TT Fors Bold"/>
                <a:ea typeface="TT Fors Bold"/>
                <a:cs typeface="TT Fors Bold"/>
                <a:sym typeface="TT Fors Bold"/>
              </a:rPr>
              <a:t>Content-Length:</a:t>
            </a:r>
            <a:r>
              <a:rPr lang="en-US" sz="2200" spc="-66">
                <a:solidFill>
                  <a:srgbClr val="00FFA8"/>
                </a:solidFill>
                <a:latin typeface="TT Fors"/>
                <a:ea typeface="TT Fors"/>
                <a:cs typeface="TT Fors"/>
                <a:sym typeface="TT Fors"/>
              </a:rPr>
              <a:t> 1234</a:t>
            </a:r>
          </a:p>
          <a:p>
            <a:pPr algn="l">
              <a:lnSpc>
                <a:spcPts val="3300"/>
              </a:lnSpc>
            </a:pPr>
            <a:r>
              <a:rPr lang="en-US" sz="2200" spc="-66" b="true">
                <a:solidFill>
                  <a:srgbClr val="00FFA8"/>
                </a:solidFill>
                <a:latin typeface="TT Fors Bold"/>
                <a:ea typeface="TT Fors Bold"/>
                <a:cs typeface="TT Fors Bold"/>
                <a:sym typeface="TT Fors Bold"/>
              </a:rPr>
              <a:t>Set-Cookie:</a:t>
            </a:r>
            <a:r>
              <a:rPr lang="en-US" sz="2200" spc="-66">
                <a:solidFill>
                  <a:srgbClr val="00FFA8"/>
                </a:solidFill>
                <a:latin typeface="TT Fors"/>
                <a:ea typeface="TT Fors"/>
                <a:cs typeface="TT Fors"/>
                <a:sym typeface="TT Fors"/>
              </a:rPr>
              <a:t> sessionid=xyz789; HttpOnly; Secure; SameSite=Strict</a:t>
            </a:r>
          </a:p>
          <a:p>
            <a:pPr algn="l">
              <a:lnSpc>
                <a:spcPts val="3300"/>
              </a:lnSpc>
            </a:pPr>
            <a:r>
              <a:rPr lang="en-US" sz="2200" spc="-66" b="true">
                <a:solidFill>
                  <a:srgbClr val="00FFA8"/>
                </a:solidFill>
                <a:latin typeface="TT Fors Bold"/>
                <a:ea typeface="TT Fors Bold"/>
                <a:cs typeface="TT Fors Bold"/>
                <a:sym typeface="TT Fors Bold"/>
              </a:rPr>
              <a:t>Cache-Control:</a:t>
            </a:r>
            <a:r>
              <a:rPr lang="en-US" sz="2200" spc="-66">
                <a:solidFill>
                  <a:srgbClr val="00FFA8"/>
                </a:solidFill>
                <a:latin typeface="TT Fors"/>
                <a:ea typeface="TT Fors"/>
                <a:cs typeface="TT Fors"/>
                <a:sym typeface="TT Fors"/>
              </a:rPr>
              <a:t> no-cache, no-store, must-revalidate</a:t>
            </a:r>
          </a:p>
          <a:p>
            <a:pPr algn="l">
              <a:lnSpc>
                <a:spcPts val="3300"/>
              </a:lnSpc>
            </a:pPr>
          </a:p>
          <a:p>
            <a:pPr algn="l">
              <a:lnSpc>
                <a:spcPts val="3300"/>
              </a:lnSpc>
            </a:pPr>
            <a:r>
              <a:rPr lang="en-US" sz="2200" spc="-66">
                <a:solidFill>
                  <a:srgbClr val="FFFFFF"/>
                </a:solidFill>
                <a:latin typeface="TT Fors"/>
                <a:ea typeface="TT Fors"/>
                <a:cs typeface="TT Fors"/>
                <a:sym typeface="TT Fors"/>
              </a:rPr>
              <a:t>&lt;html&gt;</a:t>
            </a:r>
          </a:p>
          <a:p>
            <a:pPr algn="l">
              <a:lnSpc>
                <a:spcPts val="3300"/>
              </a:lnSpc>
            </a:pPr>
            <a:r>
              <a:rPr lang="en-US" sz="2200" spc="-66">
                <a:solidFill>
                  <a:srgbClr val="FFFFFF"/>
                </a:solidFill>
                <a:latin typeface="TT Fors"/>
                <a:ea typeface="TT Fors"/>
                <a:cs typeface="TT Fors"/>
                <a:sym typeface="TT Fors"/>
              </a:rPr>
              <a:t>&lt;body&gt;Login successful&lt;/body&gt;</a:t>
            </a:r>
          </a:p>
          <a:p>
            <a:pPr algn="l">
              <a:lnSpc>
                <a:spcPts val="3300"/>
              </a:lnSpc>
            </a:pPr>
            <a:r>
              <a:rPr lang="en-US" sz="2200" spc="-66">
                <a:solidFill>
                  <a:srgbClr val="FFFFFF"/>
                </a:solidFill>
                <a:latin typeface="TT Fors"/>
                <a:ea typeface="TT Fors"/>
                <a:cs typeface="TT Fors"/>
                <a:sym typeface="TT Fors"/>
              </a:rPr>
              <a:t>&lt;/html&gt;</a:t>
            </a:r>
          </a:p>
          <a:p>
            <a:pPr algn="l">
              <a:lnSpc>
                <a:spcPts val="3300"/>
              </a:lnSpc>
            </a:pPr>
          </a:p>
          <a:p>
            <a:pPr algn="l">
              <a:lnSpc>
                <a:spcPts val="3300"/>
              </a:lnSpc>
            </a:pPr>
            <a:r>
              <a:rPr lang="en-US" sz="2200" spc="-66" b="true">
                <a:solidFill>
                  <a:srgbClr val="00FFA8"/>
                </a:solidFill>
                <a:latin typeface="TT Fors Bold"/>
                <a:ea typeface="TT Fors Bold"/>
                <a:cs typeface="TT Fors Bold"/>
                <a:sym typeface="TT Fors Bold"/>
              </a:rPr>
              <a:t>Components:</a:t>
            </a:r>
          </a:p>
          <a:p>
            <a:pPr algn="l" marL="474981" indent="-237491" lvl="1">
              <a:lnSpc>
                <a:spcPts val="3300"/>
              </a:lnSpc>
              <a:buFont typeface="Arial"/>
              <a:buChar char="•"/>
            </a:pPr>
            <a:r>
              <a:rPr lang="en-US" b="true" sz="2200" spc="-66">
                <a:solidFill>
                  <a:srgbClr val="00FFA8"/>
                </a:solidFill>
                <a:latin typeface="TT Fors Bold"/>
                <a:ea typeface="TT Fors Bold"/>
                <a:cs typeface="TT Fors Bold"/>
                <a:sym typeface="TT Fors Bold"/>
              </a:rPr>
              <a:t>Status Line: </a:t>
            </a:r>
            <a:r>
              <a:rPr lang="en-US" sz="2200" spc="-66">
                <a:solidFill>
                  <a:srgbClr val="00FFA8"/>
                </a:solidFill>
                <a:latin typeface="TT Fors"/>
                <a:ea typeface="TT Fors"/>
                <a:cs typeface="TT Fors"/>
                <a:sym typeface="TT Fors"/>
              </a:rPr>
              <a:t>HTTP version, status code, reason phrase</a:t>
            </a:r>
          </a:p>
          <a:p>
            <a:pPr algn="l" marL="474981" indent="-237491" lvl="1">
              <a:lnSpc>
                <a:spcPts val="3300"/>
              </a:lnSpc>
              <a:buFont typeface="Arial"/>
              <a:buChar char="•"/>
            </a:pPr>
            <a:r>
              <a:rPr lang="en-US" b="true" sz="2200" spc="-66">
                <a:solidFill>
                  <a:srgbClr val="00FFA8"/>
                </a:solidFill>
                <a:latin typeface="TT Fors Bold"/>
                <a:ea typeface="TT Fors Bold"/>
                <a:cs typeface="TT Fors Bold"/>
                <a:sym typeface="TT Fors Bold"/>
              </a:rPr>
              <a:t>R</a:t>
            </a:r>
            <a:r>
              <a:rPr lang="en-US" b="true" sz="2200" spc="-66">
                <a:solidFill>
                  <a:srgbClr val="00FFA8"/>
                </a:solidFill>
                <a:latin typeface="TT Fors Bold"/>
                <a:ea typeface="TT Fors Bold"/>
                <a:cs typeface="TT Fors Bold"/>
                <a:sym typeface="TT Fors Bold"/>
              </a:rPr>
              <a:t>esponse Headers:</a:t>
            </a:r>
            <a:r>
              <a:rPr lang="en-US" sz="2200" spc="-66">
                <a:solidFill>
                  <a:srgbClr val="00FFA8"/>
                </a:solidFill>
                <a:latin typeface="TT Fors"/>
                <a:ea typeface="TT Fors"/>
                <a:cs typeface="TT Fors"/>
                <a:sym typeface="TT Fors"/>
              </a:rPr>
              <a:t> Metadata, cookies, security directives</a:t>
            </a:r>
          </a:p>
          <a:p>
            <a:pPr algn="l" marL="474981" indent="-237491" lvl="1">
              <a:lnSpc>
                <a:spcPts val="3300"/>
              </a:lnSpc>
              <a:buFont typeface="Arial"/>
              <a:buChar char="•"/>
            </a:pPr>
            <a:r>
              <a:rPr lang="en-US" b="true" sz="2200" spc="-66">
                <a:solidFill>
                  <a:srgbClr val="00FFA8"/>
                </a:solidFill>
                <a:latin typeface="TT Fors Bold"/>
                <a:ea typeface="TT Fors Bold"/>
                <a:cs typeface="TT Fors Bold"/>
                <a:sym typeface="TT Fors Bold"/>
              </a:rPr>
              <a:t>Body: </a:t>
            </a:r>
            <a:r>
              <a:rPr lang="en-US" sz="2200" spc="-66">
                <a:solidFill>
                  <a:srgbClr val="00FFA8"/>
                </a:solidFill>
                <a:latin typeface="TT Fors"/>
                <a:ea typeface="TT Fors"/>
                <a:cs typeface="TT Fors"/>
                <a:sym typeface="TT Fors"/>
              </a:rPr>
              <a:t>Requested resource or error message</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37147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PART 2: HTTP/HTTPS PROTOCOL FUNDAMENTALS (Cont’d)</a:t>
            </a:r>
          </a:p>
        </p:txBody>
      </p:sp>
      <p:sp>
        <p:nvSpPr>
          <p:cNvPr name="TextBox 3" id="3"/>
          <p:cNvSpPr txBox="true"/>
          <p:nvPr/>
        </p:nvSpPr>
        <p:spPr>
          <a:xfrm rot="0">
            <a:off x="666750" y="1331595"/>
            <a:ext cx="8306267" cy="453390"/>
          </a:xfrm>
          <a:prstGeom prst="rect">
            <a:avLst/>
          </a:prstGeom>
        </p:spPr>
        <p:txBody>
          <a:bodyPr anchor="t" rtlCol="false" tIns="0" lIns="0" bIns="0" rIns="0">
            <a:spAutoFit/>
          </a:bodyPr>
          <a:lstStyle/>
          <a:p>
            <a:pPr algn="l">
              <a:lnSpc>
                <a:spcPts val="3899"/>
              </a:lnSpc>
            </a:pPr>
            <a:r>
              <a:rPr lang="en-US" b="true" sz="2599" spc="-77">
                <a:solidFill>
                  <a:srgbClr val="00FFA8"/>
                </a:solidFill>
                <a:latin typeface="TT Fors Bold"/>
                <a:ea typeface="TT Fors Bold"/>
                <a:cs typeface="TT Fors Bold"/>
                <a:sym typeface="TT Fors Bold"/>
              </a:rPr>
              <a:t>HTTP Status Codes</a:t>
            </a:r>
          </a:p>
        </p:txBody>
      </p:sp>
      <p:graphicFrame>
        <p:nvGraphicFramePr>
          <p:cNvPr name="Table 4" id="4"/>
          <p:cNvGraphicFramePr>
            <a:graphicFrameLocks noGrp="true"/>
          </p:cNvGraphicFramePr>
          <p:nvPr/>
        </p:nvGraphicFramePr>
        <p:xfrm>
          <a:off x="666750" y="2070735"/>
          <a:ext cx="15213591" cy="3771900"/>
        </p:xfrm>
        <a:graphic>
          <a:graphicData uri="http://schemas.openxmlformats.org/drawingml/2006/table">
            <a:tbl>
              <a:tblPr/>
              <a:tblGrid>
                <a:gridCol w="2117035"/>
                <a:gridCol w="3434212"/>
                <a:gridCol w="9662344"/>
              </a:tblGrid>
              <a:tr h="628650">
                <a:tc>
                  <a:txBody>
                    <a:bodyPr anchor="t" rtlCol="false"/>
                    <a:lstStyle/>
                    <a:p>
                      <a:pPr algn="l">
                        <a:lnSpc>
                          <a:spcPts val="3080"/>
                        </a:lnSpc>
                        <a:defRPr/>
                      </a:pPr>
                      <a:r>
                        <a:rPr lang="en-US" sz="2200" b="true">
                          <a:solidFill>
                            <a:srgbClr val="FFFFFF"/>
                          </a:solidFill>
                          <a:latin typeface="Canva Sans Bold"/>
                          <a:ea typeface="Canva Sans Bold"/>
                          <a:cs typeface="Canva Sans Bold"/>
                          <a:sym typeface="Canva Sans Bold"/>
                        </a:rPr>
                        <a:t>Code</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l">
                        <a:lnSpc>
                          <a:spcPts val="3080"/>
                        </a:lnSpc>
                        <a:defRPr/>
                      </a:pPr>
                      <a:r>
                        <a:rPr lang="en-US" sz="2200" b="true">
                          <a:solidFill>
                            <a:srgbClr val="FFFFFF"/>
                          </a:solidFill>
                          <a:latin typeface="Canva Sans Bold"/>
                          <a:ea typeface="Canva Sans Bold"/>
                          <a:cs typeface="Canva Sans Bold"/>
                          <a:sym typeface="Canva Sans Bold"/>
                        </a:rPr>
                        <a:t>Category</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l">
                        <a:lnSpc>
                          <a:spcPts val="3080"/>
                        </a:lnSpc>
                        <a:defRPr/>
                      </a:pPr>
                      <a:r>
                        <a:rPr lang="en-US" sz="2200" b="true">
                          <a:solidFill>
                            <a:srgbClr val="FFFFFF"/>
                          </a:solidFill>
                          <a:latin typeface="Canva Sans Bold"/>
                          <a:ea typeface="Canva Sans Bold"/>
                          <a:cs typeface="Canva Sans Bold"/>
                          <a:sym typeface="Canva Sans Bold"/>
                        </a:rPr>
                        <a:t>Examples</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r>
              <a:tr h="628650">
                <a:tc>
                  <a:txBody>
                    <a:bodyPr anchor="t" rtlCol="false"/>
                    <a:lstStyle/>
                    <a:p>
                      <a:pPr algn="l">
                        <a:lnSpc>
                          <a:spcPts val="2800"/>
                        </a:lnSpc>
                        <a:defRPr/>
                      </a:pPr>
                      <a:r>
                        <a:rPr lang="en-US" sz="2000">
                          <a:solidFill>
                            <a:srgbClr val="FFFFFF"/>
                          </a:solidFill>
                          <a:latin typeface="Canva Sans"/>
                          <a:ea typeface="Canva Sans"/>
                          <a:cs typeface="Canva Sans"/>
                          <a:sym typeface="Canva Sans"/>
                        </a:rPr>
                        <a:t>1xx</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Canva Sans"/>
                          <a:ea typeface="Canva Sans"/>
                          <a:cs typeface="Canva Sans"/>
                          <a:sym typeface="Canva Sans"/>
                        </a:rPr>
                        <a:t>Informational</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Canva Sans"/>
                          <a:ea typeface="Canva Sans"/>
                          <a:cs typeface="Canva Sans"/>
                          <a:sym typeface="Canva Sans"/>
                        </a:rPr>
                        <a:t>100 Continue, 101 Switching Protocols</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r>
              <a:tr h="628650">
                <a:tc>
                  <a:txBody>
                    <a:bodyPr anchor="t" rtlCol="false"/>
                    <a:lstStyle/>
                    <a:p>
                      <a:pPr algn="l">
                        <a:lnSpc>
                          <a:spcPts val="2800"/>
                        </a:lnSpc>
                        <a:defRPr/>
                      </a:pPr>
                      <a:r>
                        <a:rPr lang="en-US" sz="2000">
                          <a:solidFill>
                            <a:srgbClr val="FFFFFF"/>
                          </a:solidFill>
                          <a:latin typeface="Canva Sans"/>
                          <a:ea typeface="Canva Sans"/>
                          <a:cs typeface="Canva Sans"/>
                          <a:sym typeface="Canva Sans"/>
                        </a:rPr>
                        <a:t>2xx</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Canva Sans"/>
                          <a:ea typeface="Canva Sans"/>
                          <a:cs typeface="Canva Sans"/>
                          <a:sym typeface="Canva Sans"/>
                        </a:rPr>
                        <a:t>Success</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Canva Sans"/>
                          <a:ea typeface="Canva Sans"/>
                          <a:cs typeface="Canva Sans"/>
                          <a:sym typeface="Canva Sans"/>
                        </a:rPr>
                        <a:t>200 OK, 201 Created, 204 No Content</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r>
              <a:tr h="628650">
                <a:tc>
                  <a:txBody>
                    <a:bodyPr anchor="t" rtlCol="false"/>
                    <a:lstStyle/>
                    <a:p>
                      <a:pPr algn="l">
                        <a:lnSpc>
                          <a:spcPts val="2800"/>
                        </a:lnSpc>
                        <a:defRPr/>
                      </a:pPr>
                      <a:r>
                        <a:rPr lang="en-US" sz="2000">
                          <a:solidFill>
                            <a:srgbClr val="FFFFFF"/>
                          </a:solidFill>
                          <a:latin typeface="Canva Sans"/>
                          <a:ea typeface="Canva Sans"/>
                          <a:cs typeface="Canva Sans"/>
                          <a:sym typeface="Canva Sans"/>
                        </a:rPr>
                        <a:t>3xx</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Canva Sans"/>
                          <a:ea typeface="Canva Sans"/>
                          <a:cs typeface="Canva Sans"/>
                          <a:sym typeface="Canva Sans"/>
                        </a:rPr>
                        <a:t>Redirection</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Canva Sans"/>
                          <a:ea typeface="Canva Sans"/>
                          <a:cs typeface="Canva Sans"/>
                          <a:sym typeface="Canva Sans"/>
                        </a:rPr>
                        <a:t>301 Moved Permanently, 302 Found, 304 Not Modified</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r>
              <a:tr h="628650">
                <a:tc>
                  <a:txBody>
                    <a:bodyPr anchor="t" rtlCol="false"/>
                    <a:lstStyle/>
                    <a:p>
                      <a:pPr algn="l">
                        <a:lnSpc>
                          <a:spcPts val="2800"/>
                        </a:lnSpc>
                        <a:defRPr/>
                      </a:pPr>
                      <a:r>
                        <a:rPr lang="en-US" sz="2000">
                          <a:solidFill>
                            <a:srgbClr val="FFFFFF"/>
                          </a:solidFill>
                          <a:latin typeface="Canva Sans"/>
                          <a:ea typeface="Canva Sans"/>
                          <a:cs typeface="Canva Sans"/>
                          <a:sym typeface="Canva Sans"/>
                        </a:rPr>
                        <a:t>4xx</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Canva Sans"/>
                          <a:ea typeface="Canva Sans"/>
                          <a:cs typeface="Canva Sans"/>
                          <a:sym typeface="Canva Sans"/>
                        </a:rPr>
                        <a:t>Client Error</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Canva Sans"/>
                          <a:ea typeface="Canva Sans"/>
                          <a:cs typeface="Canva Sans"/>
                          <a:sym typeface="Canva Sans"/>
                        </a:rPr>
                        <a:t>400 Bad Request, 401 Unauthorized, 403 Forbidden, 404 Not Found</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r>
              <a:tr h="628650">
                <a:tc>
                  <a:txBody>
                    <a:bodyPr anchor="t" rtlCol="false"/>
                    <a:lstStyle/>
                    <a:p>
                      <a:pPr algn="l">
                        <a:lnSpc>
                          <a:spcPts val="2800"/>
                        </a:lnSpc>
                        <a:defRPr/>
                      </a:pPr>
                      <a:r>
                        <a:rPr lang="en-US" sz="2000">
                          <a:solidFill>
                            <a:srgbClr val="FFFFFF"/>
                          </a:solidFill>
                          <a:latin typeface="Canva Sans"/>
                          <a:ea typeface="Canva Sans"/>
                          <a:cs typeface="Canva Sans"/>
                          <a:sym typeface="Canva Sans"/>
                        </a:rPr>
                        <a:t>5xx</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Canva Sans"/>
                          <a:ea typeface="Canva Sans"/>
                          <a:cs typeface="Canva Sans"/>
                          <a:sym typeface="Canva Sans"/>
                        </a:rPr>
                        <a:t>Server Error</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Canva Sans"/>
                          <a:ea typeface="Canva Sans"/>
                          <a:cs typeface="Canva Sans"/>
                          <a:sym typeface="Canva Sans"/>
                        </a:rPr>
                        <a:t>500 Internal Server Error, 503 Service Unavailable</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p="http://schemas.openxmlformats.org/presentationml/2006/main" xmlns:a="http://schemas.openxmlformats.org/drawingml/2006/main">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37147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PART 2: HTTP/HTTPS PROTOCOL FUNDAMENTALS (Cont’d)</a:t>
            </a:r>
          </a:p>
        </p:txBody>
      </p:sp>
      <p:sp>
        <p:nvSpPr>
          <p:cNvPr name="TextBox 3" id="3"/>
          <p:cNvSpPr txBox="true"/>
          <p:nvPr/>
        </p:nvSpPr>
        <p:spPr>
          <a:xfrm rot="0">
            <a:off x="666750" y="1331595"/>
            <a:ext cx="8306267" cy="453390"/>
          </a:xfrm>
          <a:prstGeom prst="rect">
            <a:avLst/>
          </a:prstGeom>
        </p:spPr>
        <p:txBody>
          <a:bodyPr anchor="t" rtlCol="false" tIns="0" lIns="0" bIns="0" rIns="0">
            <a:spAutoFit/>
          </a:bodyPr>
          <a:lstStyle/>
          <a:p>
            <a:pPr algn="l">
              <a:lnSpc>
                <a:spcPts val="3899"/>
              </a:lnSpc>
            </a:pPr>
            <a:r>
              <a:rPr lang="en-US" b="true" sz="2599" spc="-77">
                <a:solidFill>
                  <a:srgbClr val="00FFA8"/>
                </a:solidFill>
                <a:latin typeface="TT Fors Bold"/>
                <a:ea typeface="TT Fors Bold"/>
                <a:cs typeface="TT Fors Bold"/>
                <a:sym typeface="TT Fors Bold"/>
              </a:rPr>
              <a:t>URL Encoding &amp; Parameters</a:t>
            </a:r>
          </a:p>
        </p:txBody>
      </p:sp>
      <p:sp>
        <p:nvSpPr>
          <p:cNvPr name="TextBox 4" id="4"/>
          <p:cNvSpPr txBox="true"/>
          <p:nvPr/>
        </p:nvSpPr>
        <p:spPr>
          <a:xfrm rot="0">
            <a:off x="666750" y="1994535"/>
            <a:ext cx="16954500" cy="333375"/>
          </a:xfrm>
          <a:prstGeom prst="rect">
            <a:avLst/>
          </a:prstGeom>
        </p:spPr>
        <p:txBody>
          <a:bodyPr anchor="t" rtlCol="false" tIns="0" lIns="0" bIns="0" rIns="0">
            <a:spAutoFit/>
          </a:bodyPr>
          <a:lstStyle/>
          <a:p>
            <a:pPr algn="l" marL="0" indent="0" lvl="0">
              <a:lnSpc>
                <a:spcPts val="2640"/>
              </a:lnSpc>
              <a:spcBef>
                <a:spcPct val="0"/>
              </a:spcBef>
            </a:pPr>
            <a:r>
              <a:rPr lang="en-US" sz="2200" spc="-66">
                <a:solidFill>
                  <a:srgbClr val="FFFFFF"/>
                </a:solidFill>
                <a:latin typeface="TT Fors"/>
                <a:ea typeface="TT Fors"/>
                <a:cs typeface="TT Fors"/>
                <a:sym typeface="TT Fors"/>
              </a:rPr>
              <a:t>http://example.com:8080/path/file.htm?key1=val1&amp;key2=val2#anchor</a:t>
            </a:r>
          </a:p>
        </p:txBody>
      </p:sp>
      <p:sp>
        <p:nvSpPr>
          <p:cNvPr name="TextBox 5" id="5"/>
          <p:cNvSpPr txBox="true"/>
          <p:nvPr/>
        </p:nvSpPr>
        <p:spPr>
          <a:xfrm rot="0">
            <a:off x="666750" y="2613660"/>
            <a:ext cx="7366257" cy="5000625"/>
          </a:xfrm>
          <a:prstGeom prst="rect">
            <a:avLst/>
          </a:prstGeom>
        </p:spPr>
        <p:txBody>
          <a:bodyPr anchor="t" rtlCol="false" tIns="0" lIns="0" bIns="0" rIns="0">
            <a:spAutoFit/>
          </a:bodyPr>
          <a:lstStyle/>
          <a:p>
            <a:pPr algn="l">
              <a:lnSpc>
                <a:spcPts val="2640"/>
              </a:lnSpc>
            </a:pPr>
            <a:r>
              <a:rPr lang="en-US" b="true" sz="2200" spc="-66">
                <a:solidFill>
                  <a:srgbClr val="00FFA8"/>
                </a:solidFill>
                <a:latin typeface="TT Fors Bold"/>
                <a:ea typeface="TT Fors Bold"/>
                <a:cs typeface="TT Fors Bold"/>
                <a:sym typeface="TT Fors Bold"/>
              </a:rPr>
              <a:t>Structure:</a:t>
            </a:r>
          </a:p>
          <a:p>
            <a:pPr algn="l" marL="474984" indent="-237492" lvl="1">
              <a:lnSpc>
                <a:spcPts val="2640"/>
              </a:lnSpc>
              <a:buFont typeface="Arial"/>
              <a:buChar char="•"/>
            </a:pPr>
            <a:r>
              <a:rPr lang="en-US" b="true" sz="2200" spc="-66">
                <a:solidFill>
                  <a:srgbClr val="00FFA8"/>
                </a:solidFill>
                <a:latin typeface="TT Fors Bold"/>
                <a:ea typeface="TT Fors Bold"/>
                <a:cs typeface="TT Fors Bold"/>
                <a:sym typeface="TT Fors Bold"/>
              </a:rPr>
              <a:t>Scheme: </a:t>
            </a:r>
            <a:r>
              <a:rPr lang="en-US" sz="2200" spc="-66">
                <a:solidFill>
                  <a:srgbClr val="FFFFFF"/>
                </a:solidFill>
                <a:latin typeface="TT Fors"/>
                <a:ea typeface="TT Fors"/>
                <a:cs typeface="TT Fors"/>
                <a:sym typeface="TT Fors"/>
              </a:rPr>
              <a:t>http, https, ftp</a:t>
            </a:r>
          </a:p>
          <a:p>
            <a:pPr algn="l" marL="474984" indent="-237492" lvl="1">
              <a:lnSpc>
                <a:spcPts val="2640"/>
              </a:lnSpc>
              <a:buFont typeface="Arial"/>
              <a:buChar char="•"/>
            </a:pPr>
            <a:r>
              <a:rPr lang="en-US" b="true" sz="2200" spc="-66">
                <a:solidFill>
                  <a:srgbClr val="00FFA8"/>
                </a:solidFill>
                <a:latin typeface="TT Fors Bold"/>
                <a:ea typeface="TT Fors Bold"/>
                <a:cs typeface="TT Fors Bold"/>
                <a:sym typeface="TT Fors Bold"/>
              </a:rPr>
              <a:t>Domain: </a:t>
            </a:r>
            <a:r>
              <a:rPr lang="en-US" sz="2200" spc="-66">
                <a:solidFill>
                  <a:srgbClr val="FFFFFF"/>
                </a:solidFill>
                <a:latin typeface="TT Fors"/>
                <a:ea typeface="TT Fors"/>
                <a:cs typeface="TT Fors"/>
                <a:sym typeface="TT Fors"/>
              </a:rPr>
              <a:t>example.com</a:t>
            </a:r>
          </a:p>
          <a:p>
            <a:pPr algn="l" marL="474984" indent="-237492" lvl="1">
              <a:lnSpc>
                <a:spcPts val="2640"/>
              </a:lnSpc>
              <a:buFont typeface="Arial"/>
              <a:buChar char="•"/>
            </a:pPr>
            <a:r>
              <a:rPr lang="en-US" b="true" sz="2200" spc="-66">
                <a:solidFill>
                  <a:srgbClr val="00FFA8"/>
                </a:solidFill>
                <a:latin typeface="TT Fors Bold"/>
                <a:ea typeface="TT Fors Bold"/>
                <a:cs typeface="TT Fors Bold"/>
                <a:sym typeface="TT Fors Bold"/>
              </a:rPr>
              <a:t>Port: </a:t>
            </a:r>
            <a:r>
              <a:rPr lang="en-US" sz="2200" spc="-66">
                <a:solidFill>
                  <a:srgbClr val="FFFFFF"/>
                </a:solidFill>
                <a:latin typeface="TT Fors"/>
                <a:ea typeface="TT Fors"/>
                <a:cs typeface="TT Fors"/>
                <a:sym typeface="TT Fors"/>
              </a:rPr>
              <a:t>8080 (default 80 for HTTP, 443 for HTTPS)</a:t>
            </a:r>
          </a:p>
          <a:p>
            <a:pPr algn="l" marL="474984" indent="-237492" lvl="1">
              <a:lnSpc>
                <a:spcPts val="2640"/>
              </a:lnSpc>
              <a:buFont typeface="Arial"/>
              <a:buChar char="•"/>
            </a:pPr>
            <a:r>
              <a:rPr lang="en-US" b="true" sz="2200" spc="-66">
                <a:solidFill>
                  <a:srgbClr val="00FFA8"/>
                </a:solidFill>
                <a:latin typeface="TT Fors Bold"/>
                <a:ea typeface="TT Fors Bold"/>
                <a:cs typeface="TT Fors Bold"/>
                <a:sym typeface="TT Fors Bold"/>
              </a:rPr>
              <a:t>Path: </a:t>
            </a:r>
            <a:r>
              <a:rPr lang="en-US" sz="2200" spc="-66">
                <a:solidFill>
                  <a:srgbClr val="FFFFFF"/>
                </a:solidFill>
                <a:latin typeface="TT Fors"/>
                <a:ea typeface="TT Fors"/>
                <a:cs typeface="TT Fors"/>
                <a:sym typeface="TT Fors"/>
              </a:rPr>
              <a:t>/path/file.htm</a:t>
            </a:r>
          </a:p>
          <a:p>
            <a:pPr algn="l" marL="474984" indent="-237492" lvl="1">
              <a:lnSpc>
                <a:spcPts val="2640"/>
              </a:lnSpc>
              <a:buFont typeface="Arial"/>
              <a:buChar char="•"/>
            </a:pPr>
            <a:r>
              <a:rPr lang="en-US" b="true" sz="2200" spc="-66">
                <a:solidFill>
                  <a:srgbClr val="00FFA8"/>
                </a:solidFill>
                <a:latin typeface="TT Fors Bold"/>
                <a:ea typeface="TT Fors Bold"/>
                <a:cs typeface="TT Fors Bold"/>
                <a:sym typeface="TT Fors Bold"/>
              </a:rPr>
              <a:t>Query Parameters: </a:t>
            </a:r>
            <a:r>
              <a:rPr lang="en-US" sz="2200" spc="-66">
                <a:solidFill>
                  <a:srgbClr val="FFFFFF"/>
                </a:solidFill>
                <a:latin typeface="TT Fors"/>
                <a:ea typeface="TT Fors"/>
                <a:cs typeface="TT Fors"/>
                <a:sym typeface="TT Fors"/>
              </a:rPr>
              <a:t>?key1=val1&amp;key2=val2</a:t>
            </a:r>
          </a:p>
          <a:p>
            <a:pPr algn="l" marL="474984" indent="-237492" lvl="1">
              <a:lnSpc>
                <a:spcPts val="2640"/>
              </a:lnSpc>
              <a:spcBef>
                <a:spcPct val="0"/>
              </a:spcBef>
              <a:buFont typeface="Arial"/>
              <a:buChar char="•"/>
            </a:pPr>
            <a:r>
              <a:rPr lang="en-US" b="true" sz="2200" spc="-66">
                <a:solidFill>
                  <a:srgbClr val="00FFA8"/>
                </a:solidFill>
                <a:latin typeface="TT Fors Bold"/>
                <a:ea typeface="TT Fors Bold"/>
                <a:cs typeface="TT Fors Bold"/>
                <a:sym typeface="TT Fors Bold"/>
              </a:rPr>
              <a:t>Fragment: </a:t>
            </a:r>
            <a:r>
              <a:rPr lang="en-US" sz="2200" spc="-66">
                <a:solidFill>
                  <a:srgbClr val="FFFFFF"/>
                </a:solidFill>
                <a:latin typeface="TT Fors"/>
                <a:ea typeface="TT Fors"/>
                <a:cs typeface="TT Fors"/>
                <a:sym typeface="TT Fors"/>
              </a:rPr>
              <a:t>#anchor</a:t>
            </a:r>
          </a:p>
          <a:p>
            <a:pPr algn="l">
              <a:lnSpc>
                <a:spcPts val="2640"/>
              </a:lnSpc>
              <a:spcBef>
                <a:spcPct val="0"/>
              </a:spcBef>
            </a:pPr>
          </a:p>
          <a:p>
            <a:pPr algn="l" marL="0" indent="0" lvl="0">
              <a:lnSpc>
                <a:spcPts val="2640"/>
              </a:lnSpc>
              <a:spcBef>
                <a:spcPct val="0"/>
              </a:spcBef>
            </a:pPr>
            <a:r>
              <a:rPr lang="en-US" b="true" sz="2200" spc="-66" strike="noStrike" u="none">
                <a:solidFill>
                  <a:srgbClr val="00FFA8"/>
                </a:solidFill>
                <a:latin typeface="TT Fors Bold"/>
                <a:ea typeface="TT Fors Bold"/>
                <a:cs typeface="TT Fors Bold"/>
                <a:sym typeface="TT Fors Bold"/>
              </a:rPr>
              <a:t>URL Encoding (special characters must be encoded):</a:t>
            </a:r>
          </a:p>
          <a:p>
            <a:pPr algn="l" marL="474984" indent="-237492" lvl="1">
              <a:lnSpc>
                <a:spcPts val="2640"/>
              </a:lnSpc>
              <a:spcBef>
                <a:spcPct val="0"/>
              </a:spcBef>
              <a:buFont typeface="Arial"/>
              <a:buChar char="•"/>
            </a:pPr>
            <a:r>
              <a:rPr lang="en-US" sz="2200" spc="-66" strike="noStrike" u="none">
                <a:solidFill>
                  <a:srgbClr val="FFFFFF"/>
                </a:solidFill>
                <a:latin typeface="TT Fors"/>
                <a:ea typeface="TT Fors"/>
                <a:cs typeface="TT Fors"/>
                <a:sym typeface="TT Fors"/>
              </a:rPr>
              <a:t>? → %3F</a:t>
            </a:r>
          </a:p>
          <a:p>
            <a:pPr algn="l" marL="474984" indent="-237492" lvl="1">
              <a:lnSpc>
                <a:spcPts val="2640"/>
              </a:lnSpc>
              <a:spcBef>
                <a:spcPct val="0"/>
              </a:spcBef>
              <a:buFont typeface="Arial"/>
              <a:buChar char="•"/>
            </a:pPr>
            <a:r>
              <a:rPr lang="en-US" sz="2200" spc="-66" strike="noStrike" u="none">
                <a:solidFill>
                  <a:srgbClr val="FFFFFF"/>
                </a:solidFill>
                <a:latin typeface="TT Fors"/>
                <a:ea typeface="TT Fors"/>
                <a:cs typeface="TT Fors"/>
                <a:sym typeface="TT Fors"/>
              </a:rPr>
              <a:t>= → %3D</a:t>
            </a:r>
          </a:p>
          <a:p>
            <a:pPr algn="l" marL="474984" indent="-237492" lvl="1">
              <a:lnSpc>
                <a:spcPts val="2640"/>
              </a:lnSpc>
              <a:spcBef>
                <a:spcPct val="0"/>
              </a:spcBef>
              <a:buFont typeface="Arial"/>
              <a:buChar char="•"/>
            </a:pPr>
            <a:r>
              <a:rPr lang="en-US" sz="2200" spc="-66" strike="noStrike" u="none">
                <a:solidFill>
                  <a:srgbClr val="FFFFFF"/>
                </a:solidFill>
                <a:latin typeface="TT Fors"/>
                <a:ea typeface="TT Fors"/>
                <a:cs typeface="TT Fors"/>
                <a:sym typeface="TT Fors"/>
              </a:rPr>
              <a:t>&amp; → %26</a:t>
            </a:r>
          </a:p>
          <a:p>
            <a:pPr algn="l" marL="474984" indent="-237492" lvl="1">
              <a:lnSpc>
                <a:spcPts val="2640"/>
              </a:lnSpc>
              <a:spcBef>
                <a:spcPct val="0"/>
              </a:spcBef>
              <a:buFont typeface="Arial"/>
              <a:buChar char="•"/>
            </a:pPr>
            <a:r>
              <a:rPr lang="en-US" sz="2200" spc="-66" strike="noStrike" u="none">
                <a:solidFill>
                  <a:srgbClr val="FFFFFF"/>
                </a:solidFill>
                <a:latin typeface="TT Fors"/>
                <a:ea typeface="TT Fors"/>
                <a:cs typeface="TT Fors"/>
                <a:sym typeface="TT Fors"/>
              </a:rPr>
              <a:t># </a:t>
            </a:r>
            <a:r>
              <a:rPr lang="en-US" sz="2200" spc="-66" strike="noStrike" u="none">
                <a:solidFill>
                  <a:srgbClr val="FFFFFF"/>
                </a:solidFill>
                <a:latin typeface="TT Fors"/>
                <a:ea typeface="TT Fors"/>
                <a:cs typeface="TT Fors"/>
                <a:sym typeface="TT Fors"/>
              </a:rPr>
              <a:t>→ %23</a:t>
            </a:r>
          </a:p>
          <a:p>
            <a:pPr algn="l" marL="474984" indent="-237492" lvl="1">
              <a:lnSpc>
                <a:spcPts val="2640"/>
              </a:lnSpc>
              <a:spcBef>
                <a:spcPct val="0"/>
              </a:spcBef>
              <a:buFont typeface="Arial"/>
              <a:buChar char="•"/>
            </a:pPr>
            <a:r>
              <a:rPr lang="en-US" sz="2200" spc="-66" strike="noStrike" u="none">
                <a:solidFill>
                  <a:srgbClr val="FFFFFF"/>
                </a:solidFill>
                <a:latin typeface="TT Fors"/>
                <a:ea typeface="TT Fors"/>
                <a:cs typeface="TT Fors"/>
                <a:sym typeface="TT Fors"/>
              </a:rPr>
              <a:t>Space → %20 or +</a:t>
            </a:r>
          </a:p>
          <a:p>
            <a:pPr algn="l" marL="474984" indent="-237492" lvl="1">
              <a:lnSpc>
                <a:spcPts val="2640"/>
              </a:lnSpc>
              <a:spcBef>
                <a:spcPct val="0"/>
              </a:spcBef>
              <a:buFont typeface="Arial"/>
              <a:buChar char="•"/>
            </a:pPr>
            <a:r>
              <a:rPr lang="en-US" sz="2200" spc="-66" strike="noStrike" u="none">
                <a:solidFill>
                  <a:srgbClr val="FFFFFF"/>
                </a:solidFill>
                <a:latin typeface="TT Fors"/>
                <a:ea typeface="TT Fors"/>
                <a:cs typeface="TT Fors"/>
                <a:sym typeface="TT Fors"/>
              </a:rPr>
              <a:t>/ → %2F</a:t>
            </a:r>
          </a:p>
        </p:txBody>
      </p:sp>
      <p:sp>
        <p:nvSpPr>
          <p:cNvPr name="TextBox 6" id="6"/>
          <p:cNvSpPr txBox="true"/>
          <p:nvPr/>
        </p:nvSpPr>
        <p:spPr>
          <a:xfrm rot="0">
            <a:off x="8191083" y="2613660"/>
            <a:ext cx="9430167" cy="4000500"/>
          </a:xfrm>
          <a:prstGeom prst="rect">
            <a:avLst/>
          </a:prstGeom>
        </p:spPr>
        <p:txBody>
          <a:bodyPr anchor="t" rtlCol="false" tIns="0" lIns="0" bIns="0" rIns="0">
            <a:spAutoFit/>
          </a:bodyPr>
          <a:lstStyle/>
          <a:p>
            <a:pPr algn="l">
              <a:lnSpc>
                <a:spcPts val="2640"/>
              </a:lnSpc>
            </a:pPr>
            <a:r>
              <a:rPr lang="en-US" b="true" sz="2200" spc="-66">
                <a:solidFill>
                  <a:srgbClr val="00FFA8"/>
                </a:solidFill>
                <a:latin typeface="TT Fors Bold"/>
                <a:ea typeface="TT Fors Bold"/>
                <a:cs typeface="TT Fors Bold"/>
                <a:sym typeface="TT Fors Bold"/>
              </a:rPr>
              <a:t>Session Cookies</a:t>
            </a:r>
          </a:p>
          <a:p>
            <a:pPr algn="l">
              <a:lnSpc>
                <a:spcPts val="2640"/>
              </a:lnSpc>
            </a:pPr>
            <a:r>
              <a:rPr lang="en-US" sz="2200" spc="-66">
                <a:solidFill>
                  <a:srgbClr val="00FFA8"/>
                </a:solidFill>
                <a:latin typeface="TT Fors"/>
                <a:ea typeface="TT Fors"/>
                <a:cs typeface="TT Fors"/>
                <a:sym typeface="TT Fors"/>
              </a:rPr>
              <a:t>HTTP is stateless; cookies maintain session state:</a:t>
            </a:r>
          </a:p>
          <a:p>
            <a:pPr algn="l">
              <a:lnSpc>
                <a:spcPts val="2640"/>
              </a:lnSpc>
            </a:pPr>
          </a:p>
          <a:p>
            <a:pPr algn="l">
              <a:lnSpc>
                <a:spcPts val="2640"/>
              </a:lnSpc>
            </a:pPr>
            <a:r>
              <a:rPr lang="en-US" b="true" sz="2200" spc="-66">
                <a:solidFill>
                  <a:srgbClr val="00FFA8"/>
                </a:solidFill>
                <a:latin typeface="TT Fors Bold"/>
                <a:ea typeface="TT Fors Bold"/>
                <a:cs typeface="TT Fors Bold"/>
                <a:sym typeface="TT Fors Bold"/>
              </a:rPr>
              <a:t>Set-Cookie:</a:t>
            </a:r>
            <a:r>
              <a:rPr lang="en-US" sz="2200" spc="-66">
                <a:solidFill>
                  <a:srgbClr val="00FFA8"/>
                </a:solidFill>
                <a:latin typeface="TT Fors"/>
                <a:ea typeface="TT Fors"/>
                <a:cs typeface="TT Fors"/>
                <a:sym typeface="TT Fors"/>
              </a:rPr>
              <a:t> </a:t>
            </a:r>
            <a:r>
              <a:rPr lang="en-US" sz="2200" spc="-66">
                <a:solidFill>
                  <a:srgbClr val="FFFFFF"/>
                </a:solidFill>
                <a:latin typeface="TT Fors"/>
                <a:ea typeface="TT Fors"/>
                <a:cs typeface="TT Fors"/>
                <a:sym typeface="TT Fors"/>
              </a:rPr>
              <a:t>sessionid=abc123xyz; Domain=.example.com; Path=/; </a:t>
            </a:r>
          </a:p>
          <a:p>
            <a:pPr algn="l">
              <a:lnSpc>
                <a:spcPts val="2640"/>
              </a:lnSpc>
            </a:pPr>
            <a:r>
              <a:rPr lang="en-US" sz="2200" spc="-66">
                <a:solidFill>
                  <a:srgbClr val="FFFFFF"/>
                </a:solidFill>
                <a:latin typeface="TT Fors"/>
                <a:ea typeface="TT Fors"/>
                <a:cs typeface="TT Fors"/>
                <a:sym typeface="TT Fors"/>
              </a:rPr>
              <a:t>                     HttpOnly; Secure; SameSite=Strict; Max-Age=3600</a:t>
            </a:r>
          </a:p>
          <a:p>
            <a:pPr algn="l">
              <a:lnSpc>
                <a:spcPts val="2640"/>
              </a:lnSpc>
            </a:pPr>
          </a:p>
          <a:p>
            <a:pPr algn="l">
              <a:lnSpc>
                <a:spcPts val="2640"/>
              </a:lnSpc>
            </a:pPr>
            <a:r>
              <a:rPr lang="en-US" b="true" sz="2200" spc="-66">
                <a:solidFill>
                  <a:srgbClr val="00FFA8"/>
                </a:solidFill>
                <a:latin typeface="TT Fors Bold"/>
                <a:ea typeface="TT Fors Bold"/>
                <a:cs typeface="TT Fors Bold"/>
                <a:sym typeface="TT Fors Bold"/>
              </a:rPr>
              <a:t>Security Attributes:</a:t>
            </a:r>
          </a:p>
          <a:p>
            <a:pPr algn="l" marL="474984" indent="-237492" lvl="1">
              <a:lnSpc>
                <a:spcPts val="2640"/>
              </a:lnSpc>
              <a:buFont typeface="Arial"/>
              <a:buChar char="•"/>
            </a:pPr>
            <a:r>
              <a:rPr lang="en-US" b="true" sz="2200" spc="-66">
                <a:solidFill>
                  <a:srgbClr val="00FFA8"/>
                </a:solidFill>
                <a:latin typeface="TT Fors Bold"/>
                <a:ea typeface="TT Fors Bold"/>
                <a:cs typeface="TT Fors Bold"/>
                <a:sym typeface="TT Fors Bold"/>
              </a:rPr>
              <a:t>HttpOnly:</a:t>
            </a:r>
            <a:r>
              <a:rPr lang="en-US" sz="2200" spc="-66">
                <a:solidFill>
                  <a:srgbClr val="00FFA8"/>
                </a:solidFill>
                <a:latin typeface="TT Fors"/>
                <a:ea typeface="TT Fors"/>
                <a:cs typeface="TT Fors"/>
                <a:sym typeface="TT Fors"/>
              </a:rPr>
              <a:t> Prevents JavaScript access (mitigates XSS cookie theft)</a:t>
            </a:r>
          </a:p>
          <a:p>
            <a:pPr algn="l" marL="474984" indent="-237492" lvl="1">
              <a:lnSpc>
                <a:spcPts val="2640"/>
              </a:lnSpc>
              <a:buFont typeface="Arial"/>
              <a:buChar char="•"/>
            </a:pPr>
            <a:r>
              <a:rPr lang="en-US" b="true" sz="2200" spc="-66">
                <a:solidFill>
                  <a:srgbClr val="00FFA8"/>
                </a:solidFill>
                <a:latin typeface="TT Fors Bold"/>
                <a:ea typeface="TT Fors Bold"/>
                <a:cs typeface="TT Fors Bold"/>
                <a:sym typeface="TT Fors Bold"/>
              </a:rPr>
              <a:t>Sec</a:t>
            </a:r>
            <a:r>
              <a:rPr lang="en-US" b="true" sz="2200" spc="-66">
                <a:solidFill>
                  <a:srgbClr val="00FFA8"/>
                </a:solidFill>
                <a:latin typeface="TT Fors Bold"/>
                <a:ea typeface="TT Fors Bold"/>
                <a:cs typeface="TT Fors Bold"/>
                <a:sym typeface="TT Fors Bold"/>
              </a:rPr>
              <a:t>ure:</a:t>
            </a:r>
            <a:r>
              <a:rPr lang="en-US" sz="2200" spc="-66">
                <a:solidFill>
                  <a:srgbClr val="00FFA8"/>
                </a:solidFill>
                <a:latin typeface="TT Fors"/>
                <a:ea typeface="TT Fors"/>
                <a:cs typeface="TT Fors"/>
                <a:sym typeface="TT Fors"/>
              </a:rPr>
              <a:t> Only transmitted over HTTPS</a:t>
            </a:r>
          </a:p>
          <a:p>
            <a:pPr algn="l" marL="474984" indent="-237492" lvl="1">
              <a:lnSpc>
                <a:spcPts val="2640"/>
              </a:lnSpc>
              <a:spcBef>
                <a:spcPct val="0"/>
              </a:spcBef>
              <a:buFont typeface="Arial"/>
              <a:buChar char="•"/>
            </a:pPr>
            <a:r>
              <a:rPr lang="en-US" b="true" sz="2200" spc="-66">
                <a:solidFill>
                  <a:srgbClr val="00FFA8"/>
                </a:solidFill>
                <a:latin typeface="TT Fors Bold"/>
                <a:ea typeface="TT Fors Bold"/>
                <a:cs typeface="TT Fors Bold"/>
                <a:sym typeface="TT Fors Bold"/>
              </a:rPr>
              <a:t>SameSite: </a:t>
            </a:r>
            <a:r>
              <a:rPr lang="en-US" sz="2200" spc="-66">
                <a:solidFill>
                  <a:srgbClr val="00FFA8"/>
                </a:solidFill>
                <a:latin typeface="TT Fors"/>
                <a:ea typeface="TT Fors"/>
                <a:cs typeface="TT Fors"/>
                <a:sym typeface="TT Fors"/>
              </a:rPr>
              <a:t>Strict</a:t>
            </a:r>
            <a:r>
              <a:rPr lang="en-US" sz="2200" spc="-66" strike="noStrike" u="none">
                <a:solidFill>
                  <a:srgbClr val="00FFA8"/>
                </a:solidFill>
                <a:latin typeface="TT Fors"/>
                <a:ea typeface="TT Fors"/>
                <a:cs typeface="TT Fors"/>
                <a:sym typeface="TT Fors"/>
              </a:rPr>
              <a:t> </a:t>
            </a:r>
            <a:r>
              <a:rPr lang="en-US" sz="2200" spc="-66" strike="noStrike" u="none">
                <a:solidFill>
                  <a:srgbClr val="00FFA8"/>
                </a:solidFill>
                <a:latin typeface="TT Fors"/>
                <a:ea typeface="TT Fors"/>
                <a:cs typeface="TT Fors"/>
                <a:sym typeface="TT Fors"/>
              </a:rPr>
              <a:t>(</a:t>
            </a:r>
            <a:r>
              <a:rPr lang="en-US" sz="2200" spc="-66" strike="noStrike" u="none">
                <a:solidFill>
                  <a:srgbClr val="00FFA8"/>
                </a:solidFill>
                <a:latin typeface="TT Fors"/>
                <a:ea typeface="TT Fors"/>
                <a:cs typeface="TT Fors"/>
                <a:sym typeface="TT Fors"/>
              </a:rPr>
              <a:t>n</a:t>
            </a:r>
            <a:r>
              <a:rPr lang="en-US" sz="2200" spc="-66" strike="noStrike" u="none">
                <a:solidFill>
                  <a:srgbClr val="00FFA8"/>
                </a:solidFill>
                <a:latin typeface="TT Fors"/>
                <a:ea typeface="TT Fors"/>
                <a:cs typeface="TT Fors"/>
                <a:sym typeface="TT Fors"/>
              </a:rPr>
              <a:t>o </a:t>
            </a:r>
            <a:r>
              <a:rPr lang="en-US" sz="2200" spc="-66" strike="noStrike" u="none">
                <a:solidFill>
                  <a:srgbClr val="00FFA8"/>
                </a:solidFill>
                <a:latin typeface="TT Fors"/>
                <a:ea typeface="TT Fors"/>
                <a:cs typeface="TT Fors"/>
                <a:sym typeface="TT Fors"/>
              </a:rPr>
              <a:t>c</a:t>
            </a:r>
            <a:r>
              <a:rPr lang="en-US" sz="2200" spc="-66" strike="noStrike" u="none">
                <a:solidFill>
                  <a:srgbClr val="00FFA8"/>
                </a:solidFill>
                <a:latin typeface="TT Fors"/>
                <a:ea typeface="TT Fors"/>
                <a:cs typeface="TT Fors"/>
                <a:sym typeface="TT Fors"/>
              </a:rPr>
              <a:t>r</a:t>
            </a:r>
            <a:r>
              <a:rPr lang="en-US" sz="2200" spc="-66" strike="noStrike" u="none">
                <a:solidFill>
                  <a:srgbClr val="00FFA8"/>
                </a:solidFill>
                <a:latin typeface="TT Fors"/>
                <a:ea typeface="TT Fors"/>
                <a:cs typeface="TT Fors"/>
                <a:sym typeface="TT Fors"/>
              </a:rPr>
              <a:t>o</a:t>
            </a:r>
            <a:r>
              <a:rPr lang="en-US" sz="2200" spc="-66" strike="noStrike" u="none">
                <a:solidFill>
                  <a:srgbClr val="00FFA8"/>
                </a:solidFill>
                <a:latin typeface="TT Fors"/>
                <a:ea typeface="TT Fors"/>
                <a:cs typeface="TT Fors"/>
                <a:sym typeface="TT Fors"/>
              </a:rPr>
              <a:t>ss-s</a:t>
            </a:r>
            <a:r>
              <a:rPr lang="en-US" sz="2200" spc="-66" strike="noStrike" u="none">
                <a:solidFill>
                  <a:srgbClr val="00FFA8"/>
                </a:solidFill>
                <a:latin typeface="TT Fors"/>
                <a:ea typeface="TT Fors"/>
                <a:cs typeface="TT Fors"/>
                <a:sym typeface="TT Fors"/>
              </a:rPr>
              <a:t>i</a:t>
            </a:r>
            <a:r>
              <a:rPr lang="en-US" sz="2200" spc="-66" strike="noStrike" u="none">
                <a:solidFill>
                  <a:srgbClr val="00FFA8"/>
                </a:solidFill>
                <a:latin typeface="TT Fors"/>
                <a:ea typeface="TT Fors"/>
                <a:cs typeface="TT Fors"/>
                <a:sym typeface="TT Fors"/>
              </a:rPr>
              <a:t>te), Lax</a:t>
            </a:r>
            <a:r>
              <a:rPr lang="en-US" sz="2200" spc="-66" strike="noStrike" u="none">
                <a:solidFill>
                  <a:srgbClr val="00FFA8"/>
                </a:solidFill>
                <a:latin typeface="TT Fors"/>
                <a:ea typeface="TT Fors"/>
                <a:cs typeface="TT Fors"/>
                <a:sym typeface="TT Fors"/>
              </a:rPr>
              <a:t> (s</a:t>
            </a:r>
            <a:r>
              <a:rPr lang="en-US" sz="2200" spc="-66" strike="noStrike" u="none">
                <a:solidFill>
                  <a:srgbClr val="00FFA8"/>
                </a:solidFill>
                <a:latin typeface="TT Fors"/>
                <a:ea typeface="TT Fors"/>
                <a:cs typeface="TT Fors"/>
                <a:sym typeface="TT Fors"/>
              </a:rPr>
              <a:t>ame-site + to</a:t>
            </a:r>
            <a:r>
              <a:rPr lang="en-US" sz="2200" spc="-66" strike="noStrike" u="none">
                <a:solidFill>
                  <a:srgbClr val="00FFA8"/>
                </a:solidFill>
                <a:latin typeface="TT Fors"/>
                <a:ea typeface="TT Fors"/>
                <a:cs typeface="TT Fors"/>
                <a:sym typeface="TT Fors"/>
              </a:rPr>
              <a:t>p</a:t>
            </a:r>
            <a:r>
              <a:rPr lang="en-US" sz="2200" spc="-66" strike="noStrike" u="none">
                <a:solidFill>
                  <a:srgbClr val="00FFA8"/>
                </a:solidFill>
                <a:latin typeface="TT Fors"/>
                <a:ea typeface="TT Fors"/>
                <a:cs typeface="TT Fors"/>
                <a:sym typeface="TT Fors"/>
              </a:rPr>
              <a:t>-l</a:t>
            </a:r>
            <a:r>
              <a:rPr lang="en-US" sz="2200" spc="-66" strike="noStrike" u="none">
                <a:solidFill>
                  <a:srgbClr val="00FFA8"/>
                </a:solidFill>
                <a:latin typeface="TT Fors"/>
                <a:ea typeface="TT Fors"/>
                <a:cs typeface="TT Fors"/>
                <a:sym typeface="TT Fors"/>
              </a:rPr>
              <a:t>e</a:t>
            </a:r>
            <a:r>
              <a:rPr lang="en-US" sz="2200" spc="-66" strike="noStrike" u="none">
                <a:solidFill>
                  <a:srgbClr val="00FFA8"/>
                </a:solidFill>
                <a:latin typeface="TT Fors"/>
                <a:ea typeface="TT Fors"/>
                <a:cs typeface="TT Fors"/>
                <a:sym typeface="TT Fors"/>
              </a:rPr>
              <a:t>ve</a:t>
            </a:r>
            <a:r>
              <a:rPr lang="en-US" sz="2200" spc="-66" strike="noStrike" u="none">
                <a:solidFill>
                  <a:srgbClr val="00FFA8"/>
                </a:solidFill>
                <a:latin typeface="TT Fors"/>
                <a:ea typeface="TT Fors"/>
                <a:cs typeface="TT Fors"/>
                <a:sym typeface="TT Fors"/>
              </a:rPr>
              <a:t>l </a:t>
            </a:r>
            <a:r>
              <a:rPr lang="en-US" sz="2200" spc="-66" strike="noStrike" u="none">
                <a:solidFill>
                  <a:srgbClr val="00FFA8"/>
                </a:solidFill>
                <a:latin typeface="TT Fors"/>
                <a:ea typeface="TT Fors"/>
                <a:cs typeface="TT Fors"/>
                <a:sym typeface="TT Fors"/>
              </a:rPr>
              <a:t>n</a:t>
            </a:r>
            <a:r>
              <a:rPr lang="en-US" sz="2200" spc="-66" strike="noStrike" u="none">
                <a:solidFill>
                  <a:srgbClr val="00FFA8"/>
                </a:solidFill>
                <a:latin typeface="TT Fors"/>
                <a:ea typeface="TT Fors"/>
                <a:cs typeface="TT Fors"/>
                <a:sym typeface="TT Fors"/>
              </a:rPr>
              <a:t>a</a:t>
            </a:r>
            <a:r>
              <a:rPr lang="en-US" sz="2200" spc="-66" strike="noStrike" u="none">
                <a:solidFill>
                  <a:srgbClr val="00FFA8"/>
                </a:solidFill>
                <a:latin typeface="TT Fors"/>
                <a:ea typeface="TT Fors"/>
                <a:cs typeface="TT Fors"/>
                <a:sym typeface="TT Fors"/>
              </a:rPr>
              <a:t>vig</a:t>
            </a:r>
            <a:r>
              <a:rPr lang="en-US" sz="2200" spc="-66" strike="noStrike" u="none">
                <a:solidFill>
                  <a:srgbClr val="00FFA8"/>
                </a:solidFill>
                <a:latin typeface="TT Fors"/>
                <a:ea typeface="TT Fors"/>
                <a:cs typeface="TT Fors"/>
                <a:sym typeface="TT Fors"/>
              </a:rPr>
              <a:t>at</a:t>
            </a:r>
            <a:r>
              <a:rPr lang="en-US" sz="2200" spc="-66" strike="noStrike" u="none">
                <a:solidFill>
                  <a:srgbClr val="00FFA8"/>
                </a:solidFill>
                <a:latin typeface="TT Fors"/>
                <a:ea typeface="TT Fors"/>
                <a:cs typeface="TT Fors"/>
                <a:sym typeface="TT Fors"/>
              </a:rPr>
              <a:t>ion</a:t>
            </a:r>
            <a:r>
              <a:rPr lang="en-US" sz="2200" spc="-66" strike="noStrike" u="none">
                <a:solidFill>
                  <a:srgbClr val="00FFA8"/>
                </a:solidFill>
                <a:latin typeface="TT Fors"/>
                <a:ea typeface="TT Fors"/>
                <a:cs typeface="TT Fors"/>
                <a:sym typeface="TT Fors"/>
              </a:rPr>
              <a:t>s</a:t>
            </a:r>
            <a:r>
              <a:rPr lang="en-US" sz="2200" spc="-66" strike="noStrike" u="none">
                <a:solidFill>
                  <a:srgbClr val="00FFA8"/>
                </a:solidFill>
                <a:latin typeface="TT Fors"/>
                <a:ea typeface="TT Fors"/>
                <a:cs typeface="TT Fors"/>
                <a:sym typeface="TT Fors"/>
              </a:rPr>
              <a:t>),</a:t>
            </a:r>
            <a:r>
              <a:rPr lang="en-US" sz="2200" spc="-66" strike="noStrike" u="none">
                <a:solidFill>
                  <a:srgbClr val="00FFA8"/>
                </a:solidFill>
                <a:latin typeface="TT Fors"/>
                <a:ea typeface="TT Fors"/>
                <a:cs typeface="TT Fors"/>
                <a:sym typeface="TT Fors"/>
              </a:rPr>
              <a:t> </a:t>
            </a:r>
            <a:r>
              <a:rPr lang="en-US" sz="2200" spc="-66" strike="noStrike" u="none">
                <a:solidFill>
                  <a:srgbClr val="00FFA8"/>
                </a:solidFill>
                <a:latin typeface="TT Fors"/>
                <a:ea typeface="TT Fors"/>
                <a:cs typeface="TT Fors"/>
                <a:sym typeface="TT Fors"/>
              </a:rPr>
              <a:t>Non</a:t>
            </a:r>
            <a:r>
              <a:rPr lang="en-US" sz="2200" spc="-66" strike="noStrike" u="none">
                <a:solidFill>
                  <a:srgbClr val="00FFA8"/>
                </a:solidFill>
                <a:latin typeface="TT Fors"/>
                <a:ea typeface="TT Fors"/>
                <a:cs typeface="TT Fors"/>
                <a:sym typeface="TT Fors"/>
              </a:rPr>
              <a:t>e </a:t>
            </a:r>
            <a:r>
              <a:rPr lang="en-US" sz="2200" spc="-66" strike="noStrike" u="none">
                <a:solidFill>
                  <a:srgbClr val="00FFA8"/>
                </a:solidFill>
                <a:latin typeface="TT Fors"/>
                <a:ea typeface="TT Fors"/>
                <a:cs typeface="TT Fors"/>
                <a:sym typeface="TT Fors"/>
              </a:rPr>
              <a:t>(</a:t>
            </a:r>
            <a:r>
              <a:rPr lang="en-US" sz="2200" spc="-66" strike="noStrike" u="none">
                <a:solidFill>
                  <a:srgbClr val="00FFA8"/>
                </a:solidFill>
                <a:latin typeface="TT Fors"/>
                <a:ea typeface="TT Fors"/>
                <a:cs typeface="TT Fors"/>
                <a:sym typeface="TT Fors"/>
              </a:rPr>
              <a:t>c</a:t>
            </a:r>
            <a:r>
              <a:rPr lang="en-US" sz="2200" spc="-66" strike="noStrike" u="none">
                <a:solidFill>
                  <a:srgbClr val="00FFA8"/>
                </a:solidFill>
                <a:latin typeface="TT Fors"/>
                <a:ea typeface="TT Fors"/>
                <a:cs typeface="TT Fors"/>
                <a:sym typeface="TT Fors"/>
              </a:rPr>
              <a:t>r</a:t>
            </a:r>
            <a:r>
              <a:rPr lang="en-US" sz="2200" spc="-66" strike="noStrike" u="none">
                <a:solidFill>
                  <a:srgbClr val="00FFA8"/>
                </a:solidFill>
                <a:latin typeface="TT Fors"/>
                <a:ea typeface="TT Fors"/>
                <a:cs typeface="TT Fors"/>
                <a:sym typeface="TT Fors"/>
              </a:rPr>
              <a:t>o</a:t>
            </a:r>
            <a:r>
              <a:rPr lang="en-US" sz="2200" spc="-66" strike="noStrike" u="none">
                <a:solidFill>
                  <a:srgbClr val="00FFA8"/>
                </a:solidFill>
                <a:latin typeface="TT Fors"/>
                <a:ea typeface="TT Fors"/>
                <a:cs typeface="TT Fors"/>
                <a:sym typeface="TT Fors"/>
              </a:rPr>
              <a:t>ss-sit</a:t>
            </a:r>
            <a:r>
              <a:rPr lang="en-US" sz="2200" spc="-66" strike="noStrike" u="none">
                <a:solidFill>
                  <a:srgbClr val="00FFA8"/>
                </a:solidFill>
                <a:latin typeface="TT Fors"/>
                <a:ea typeface="TT Fors"/>
                <a:cs typeface="TT Fors"/>
                <a:sym typeface="TT Fors"/>
              </a:rPr>
              <a:t>e)</a:t>
            </a:r>
          </a:p>
          <a:p>
            <a:pPr algn="l" marL="474984" indent="-237492" lvl="1">
              <a:lnSpc>
                <a:spcPts val="2640"/>
              </a:lnSpc>
              <a:spcBef>
                <a:spcPct val="0"/>
              </a:spcBef>
              <a:buFont typeface="Arial"/>
              <a:buChar char="•"/>
            </a:pPr>
            <a:r>
              <a:rPr lang="en-US" b="true" sz="2200" spc="-66" strike="noStrike" u="none">
                <a:solidFill>
                  <a:srgbClr val="00FFA8"/>
                </a:solidFill>
                <a:latin typeface="TT Fors Bold"/>
                <a:ea typeface="TT Fors Bold"/>
                <a:cs typeface="TT Fors Bold"/>
                <a:sym typeface="TT Fors Bold"/>
              </a:rPr>
              <a:t>M</a:t>
            </a:r>
            <a:r>
              <a:rPr lang="en-US" b="true" sz="2200" spc="-66" strike="noStrike" u="none">
                <a:solidFill>
                  <a:srgbClr val="00FFA8"/>
                </a:solidFill>
                <a:latin typeface="TT Fors Bold"/>
                <a:ea typeface="TT Fors Bold"/>
                <a:cs typeface="TT Fors Bold"/>
                <a:sym typeface="TT Fors Bold"/>
              </a:rPr>
              <a:t>a</a:t>
            </a:r>
            <a:r>
              <a:rPr lang="en-US" b="true" sz="2200" spc="-66" strike="noStrike" u="none">
                <a:solidFill>
                  <a:srgbClr val="00FFA8"/>
                </a:solidFill>
                <a:latin typeface="TT Fors Bold"/>
                <a:ea typeface="TT Fors Bold"/>
                <a:cs typeface="TT Fors Bold"/>
                <a:sym typeface="TT Fors Bold"/>
              </a:rPr>
              <a:t>x-Ag</a:t>
            </a:r>
            <a:r>
              <a:rPr lang="en-US" b="true" sz="2200" spc="-66" strike="noStrike" u="none">
                <a:solidFill>
                  <a:srgbClr val="00FFA8"/>
                </a:solidFill>
                <a:latin typeface="TT Fors Bold"/>
                <a:ea typeface="TT Fors Bold"/>
                <a:cs typeface="TT Fors Bold"/>
                <a:sym typeface="TT Fors Bold"/>
              </a:rPr>
              <a:t>e/</a:t>
            </a:r>
            <a:r>
              <a:rPr lang="en-US" b="true" sz="2200" spc="-66" strike="noStrike" u="none">
                <a:solidFill>
                  <a:srgbClr val="00FFA8"/>
                </a:solidFill>
                <a:latin typeface="TT Fors Bold"/>
                <a:ea typeface="TT Fors Bold"/>
                <a:cs typeface="TT Fors Bold"/>
                <a:sym typeface="TT Fors Bold"/>
              </a:rPr>
              <a:t>Expires:</a:t>
            </a:r>
            <a:r>
              <a:rPr lang="en-US" b="true" sz="2200" spc="-66" strike="noStrike" u="none">
                <a:solidFill>
                  <a:srgbClr val="00FFA8"/>
                </a:solidFill>
                <a:latin typeface="TT Fors Bold"/>
                <a:ea typeface="TT Fors Bold"/>
                <a:cs typeface="TT Fors Bold"/>
                <a:sym typeface="TT Fors Bold"/>
              </a:rPr>
              <a:t> </a:t>
            </a:r>
            <a:r>
              <a:rPr lang="en-US" sz="2200" spc="-66" strike="noStrike" u="none">
                <a:solidFill>
                  <a:srgbClr val="00FFA8"/>
                </a:solidFill>
                <a:latin typeface="TT Fors"/>
                <a:ea typeface="TT Fors"/>
                <a:cs typeface="TT Fors"/>
                <a:sym typeface="TT Fors"/>
              </a:rPr>
              <a:t>Session</a:t>
            </a:r>
            <a:r>
              <a:rPr lang="en-US" sz="2200" spc="-66" strike="noStrike" u="none">
                <a:solidFill>
                  <a:srgbClr val="00FFA8"/>
                </a:solidFill>
                <a:latin typeface="TT Fors"/>
                <a:ea typeface="TT Fors"/>
                <a:cs typeface="TT Fors"/>
                <a:sym typeface="TT Fors"/>
              </a:rPr>
              <a:t> </a:t>
            </a:r>
            <a:r>
              <a:rPr lang="en-US" sz="2200" spc="-66" strike="noStrike" u="none">
                <a:solidFill>
                  <a:srgbClr val="00FFA8"/>
                </a:solidFill>
                <a:latin typeface="TT Fors"/>
                <a:ea typeface="TT Fors"/>
                <a:cs typeface="TT Fors"/>
                <a:sym typeface="TT Fors"/>
              </a:rPr>
              <a:t>duration</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37147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PART 2: HTTP/HTTPS PROTOCOL FUNDAMENTALS (Cont’d)</a:t>
            </a:r>
          </a:p>
        </p:txBody>
      </p:sp>
      <p:sp>
        <p:nvSpPr>
          <p:cNvPr name="TextBox 3" id="3"/>
          <p:cNvSpPr txBox="true"/>
          <p:nvPr/>
        </p:nvSpPr>
        <p:spPr>
          <a:xfrm rot="0">
            <a:off x="666750" y="1331595"/>
            <a:ext cx="8306267" cy="453390"/>
          </a:xfrm>
          <a:prstGeom prst="rect">
            <a:avLst/>
          </a:prstGeom>
        </p:spPr>
        <p:txBody>
          <a:bodyPr anchor="t" rtlCol="false" tIns="0" lIns="0" bIns="0" rIns="0">
            <a:spAutoFit/>
          </a:bodyPr>
          <a:lstStyle/>
          <a:p>
            <a:pPr algn="l">
              <a:lnSpc>
                <a:spcPts val="3899"/>
              </a:lnSpc>
            </a:pPr>
            <a:r>
              <a:rPr lang="en-US" b="true" sz="2599" spc="-77">
                <a:solidFill>
                  <a:srgbClr val="00FFA8"/>
                </a:solidFill>
                <a:latin typeface="TT Fors Bold"/>
                <a:ea typeface="TT Fors Bold"/>
                <a:cs typeface="TT Fors Bold"/>
                <a:sym typeface="TT Fors Bold"/>
              </a:rPr>
              <a:t>HTTPS &amp; TLS/SSL</a:t>
            </a:r>
          </a:p>
        </p:txBody>
      </p:sp>
      <p:sp>
        <p:nvSpPr>
          <p:cNvPr name="TextBox 4" id="4"/>
          <p:cNvSpPr txBox="true"/>
          <p:nvPr/>
        </p:nvSpPr>
        <p:spPr>
          <a:xfrm rot="0">
            <a:off x="666750" y="2143125"/>
            <a:ext cx="8477250" cy="5000625"/>
          </a:xfrm>
          <a:prstGeom prst="rect">
            <a:avLst/>
          </a:prstGeom>
        </p:spPr>
        <p:txBody>
          <a:bodyPr anchor="t" rtlCol="false" tIns="0" lIns="0" bIns="0" rIns="0">
            <a:spAutoFit/>
          </a:bodyPr>
          <a:lstStyle/>
          <a:p>
            <a:pPr algn="l">
              <a:lnSpc>
                <a:spcPts val="2640"/>
              </a:lnSpc>
            </a:pPr>
            <a:r>
              <a:rPr lang="en-US" b="true" sz="2200" spc="-66">
                <a:solidFill>
                  <a:srgbClr val="00FFA8"/>
                </a:solidFill>
                <a:latin typeface="TT Fors Bold"/>
                <a:ea typeface="TT Fors Bold"/>
                <a:cs typeface="TT Fors Bold"/>
                <a:sym typeface="TT Fors Bold"/>
              </a:rPr>
              <a:t>HTTPS Advantages:</a:t>
            </a:r>
          </a:p>
          <a:p>
            <a:pPr algn="l" marL="474984" indent="-237492" lvl="1">
              <a:lnSpc>
                <a:spcPts val="2640"/>
              </a:lnSpc>
              <a:buFont typeface="Arial"/>
              <a:buChar char="•"/>
            </a:pPr>
            <a:r>
              <a:rPr lang="en-US" sz="2200" spc="-66">
                <a:solidFill>
                  <a:srgbClr val="00FFA8"/>
                </a:solidFill>
                <a:latin typeface="TT Fors"/>
                <a:ea typeface="TT Fors"/>
                <a:cs typeface="TT Fors"/>
                <a:sym typeface="TT Fors"/>
              </a:rPr>
              <a:t>En</a:t>
            </a:r>
            <a:r>
              <a:rPr lang="en-US" sz="2200" spc="-66">
                <a:solidFill>
                  <a:srgbClr val="00FFA8"/>
                </a:solidFill>
                <a:latin typeface="TT Fors"/>
                <a:ea typeface="TT Fors"/>
                <a:cs typeface="TT Fors"/>
                <a:sym typeface="TT Fors"/>
              </a:rPr>
              <a:t>cryption (pro</a:t>
            </a:r>
            <a:r>
              <a:rPr lang="en-US" sz="2200" spc="-66">
                <a:solidFill>
                  <a:srgbClr val="00FFA8"/>
                </a:solidFill>
                <a:latin typeface="TT Fors"/>
                <a:ea typeface="TT Fors"/>
                <a:cs typeface="TT Fors"/>
                <a:sym typeface="TT Fors"/>
              </a:rPr>
              <a:t>tects data in transit)</a:t>
            </a:r>
          </a:p>
          <a:p>
            <a:pPr algn="l" marL="474984" indent="-237492" lvl="1">
              <a:lnSpc>
                <a:spcPts val="2640"/>
              </a:lnSpc>
              <a:buFont typeface="Arial"/>
              <a:buChar char="•"/>
            </a:pPr>
            <a:r>
              <a:rPr lang="en-US" sz="2200" spc="-66">
                <a:solidFill>
                  <a:srgbClr val="00FFA8"/>
                </a:solidFill>
                <a:latin typeface="TT Fors"/>
                <a:ea typeface="TT Fors"/>
                <a:cs typeface="TT Fors"/>
                <a:sym typeface="TT Fors"/>
              </a:rPr>
              <a:t>Authentic</a:t>
            </a:r>
            <a:r>
              <a:rPr lang="en-US" sz="2200" spc="-66">
                <a:solidFill>
                  <a:srgbClr val="00FFA8"/>
                </a:solidFill>
                <a:latin typeface="TT Fors"/>
                <a:ea typeface="TT Fors"/>
                <a:cs typeface="TT Fors"/>
                <a:sym typeface="TT Fors"/>
              </a:rPr>
              <a:t>ation (verifies server identity via certificates)</a:t>
            </a:r>
          </a:p>
          <a:p>
            <a:pPr algn="l" marL="474984" indent="-237492" lvl="1">
              <a:lnSpc>
                <a:spcPts val="2640"/>
              </a:lnSpc>
              <a:buFont typeface="Arial"/>
              <a:buChar char="•"/>
            </a:pPr>
            <a:r>
              <a:rPr lang="en-US" sz="2200" spc="-66">
                <a:solidFill>
                  <a:srgbClr val="00FFA8"/>
                </a:solidFill>
                <a:latin typeface="TT Fors"/>
                <a:ea typeface="TT Fors"/>
                <a:cs typeface="TT Fors"/>
                <a:sym typeface="TT Fors"/>
              </a:rPr>
              <a:t>Integ</a:t>
            </a:r>
            <a:r>
              <a:rPr lang="en-US" sz="2200" spc="-66">
                <a:solidFill>
                  <a:srgbClr val="00FFA8"/>
                </a:solidFill>
                <a:latin typeface="TT Fors"/>
                <a:ea typeface="TT Fors"/>
                <a:cs typeface="TT Fors"/>
                <a:sym typeface="TT Fors"/>
              </a:rPr>
              <a:t>rity (detects tampering)</a:t>
            </a:r>
          </a:p>
          <a:p>
            <a:pPr algn="l">
              <a:lnSpc>
                <a:spcPts val="2640"/>
              </a:lnSpc>
            </a:pPr>
          </a:p>
          <a:p>
            <a:pPr algn="l">
              <a:lnSpc>
                <a:spcPts val="2640"/>
              </a:lnSpc>
            </a:pPr>
            <a:r>
              <a:rPr lang="en-US" b="true" sz="2200" spc="-66">
                <a:solidFill>
                  <a:srgbClr val="00FFA8"/>
                </a:solidFill>
                <a:latin typeface="TT Fors Bold"/>
                <a:ea typeface="TT Fors Bold"/>
                <a:cs typeface="TT Fors Bold"/>
                <a:sym typeface="TT Fors Bold"/>
              </a:rPr>
              <a:t>Modern TLS Versions:</a:t>
            </a:r>
          </a:p>
          <a:p>
            <a:pPr algn="l" marL="474984" indent="-237492" lvl="1">
              <a:lnSpc>
                <a:spcPts val="2640"/>
              </a:lnSpc>
              <a:buFont typeface="Arial"/>
              <a:buChar char="•"/>
            </a:pPr>
            <a:r>
              <a:rPr lang="en-US" b="true" sz="2200" spc="-66">
                <a:solidFill>
                  <a:srgbClr val="00FFA8"/>
                </a:solidFill>
                <a:latin typeface="TT Fors Bold"/>
                <a:ea typeface="TT Fors Bold"/>
                <a:cs typeface="TT Fors Bold"/>
                <a:sym typeface="TT Fors Bold"/>
              </a:rPr>
              <a:t>TLS 1.2:</a:t>
            </a:r>
            <a:r>
              <a:rPr lang="en-US" sz="2200" spc="-66">
                <a:solidFill>
                  <a:srgbClr val="00FFA8"/>
                </a:solidFill>
                <a:latin typeface="TT Fors"/>
                <a:ea typeface="TT Fors"/>
                <a:cs typeface="TT Fors"/>
                <a:sym typeface="TT Fors"/>
              </a:rPr>
              <a:t> Still widely supported, acceptable, but aging</a:t>
            </a:r>
          </a:p>
          <a:p>
            <a:pPr algn="l" marL="474984" indent="-237492" lvl="1">
              <a:lnSpc>
                <a:spcPts val="2640"/>
              </a:lnSpc>
              <a:spcBef>
                <a:spcPct val="0"/>
              </a:spcBef>
              <a:buFont typeface="Arial"/>
              <a:buChar char="•"/>
            </a:pPr>
            <a:r>
              <a:rPr lang="en-US" b="true" sz="2200" spc="-66">
                <a:solidFill>
                  <a:srgbClr val="00FFA8"/>
                </a:solidFill>
                <a:latin typeface="TT Fors Bold"/>
                <a:ea typeface="TT Fors Bold"/>
                <a:cs typeface="TT Fors Bold"/>
                <a:sym typeface="TT Fors Bold"/>
              </a:rPr>
              <a:t>TLS 1.3:</a:t>
            </a:r>
            <a:r>
              <a:rPr lang="en-US" sz="2200" spc="-66">
                <a:solidFill>
                  <a:srgbClr val="00FFA8"/>
                </a:solidFill>
                <a:latin typeface="TT Fors"/>
                <a:ea typeface="TT Fors"/>
                <a:cs typeface="TT Fors"/>
                <a:sym typeface="TT Fors"/>
              </a:rPr>
              <a:t> Latest, faster, more secure, requires modern infrastructure</a:t>
            </a:r>
          </a:p>
          <a:p>
            <a:pPr algn="l" marL="474984" indent="-237492" lvl="1">
              <a:lnSpc>
                <a:spcPts val="2640"/>
              </a:lnSpc>
              <a:spcBef>
                <a:spcPct val="0"/>
              </a:spcBef>
              <a:buFont typeface="Arial"/>
              <a:buChar char="•"/>
            </a:pPr>
            <a:r>
              <a:rPr lang="en-US" b="true" sz="2200" spc="-66" strike="noStrike" u="none">
                <a:solidFill>
                  <a:srgbClr val="00FFA8"/>
                </a:solidFill>
                <a:latin typeface="TT Fors Bold"/>
                <a:ea typeface="TT Fors Bold"/>
                <a:cs typeface="TT Fors Bold"/>
                <a:sym typeface="TT Fors Bold"/>
              </a:rPr>
              <a:t>SSL 3.0, T</a:t>
            </a:r>
            <a:r>
              <a:rPr lang="en-US" b="true" sz="2200" spc="-66" strike="noStrike" u="none">
                <a:solidFill>
                  <a:srgbClr val="00FFA8"/>
                </a:solidFill>
                <a:latin typeface="TT Fors Bold"/>
                <a:ea typeface="TT Fors Bold"/>
                <a:cs typeface="TT Fors Bold"/>
                <a:sym typeface="TT Fors Bold"/>
              </a:rPr>
              <a:t>LS 1.0, 1.1:</a:t>
            </a:r>
            <a:r>
              <a:rPr lang="en-US" sz="2200" spc="-66" strike="noStrike" u="none">
                <a:solidFill>
                  <a:srgbClr val="00FFA8"/>
                </a:solidFill>
                <a:latin typeface="TT Fors"/>
                <a:ea typeface="TT Fors"/>
                <a:cs typeface="TT Fors"/>
                <a:sym typeface="TT Fors"/>
              </a:rPr>
              <a:t> DEPRECATED, should be disabled</a:t>
            </a:r>
          </a:p>
          <a:p>
            <a:pPr algn="l">
              <a:lnSpc>
                <a:spcPts val="2640"/>
              </a:lnSpc>
              <a:spcBef>
                <a:spcPct val="0"/>
              </a:spcBef>
            </a:pPr>
          </a:p>
          <a:p>
            <a:pPr algn="l" marL="0" indent="0" lvl="0">
              <a:lnSpc>
                <a:spcPts val="2640"/>
              </a:lnSpc>
              <a:spcBef>
                <a:spcPct val="0"/>
              </a:spcBef>
            </a:pPr>
            <a:r>
              <a:rPr lang="en-US" b="true" sz="2200" spc="-66" strike="noStrike" u="none">
                <a:solidFill>
                  <a:srgbClr val="00FFA8"/>
                </a:solidFill>
                <a:latin typeface="TT Fors Bold"/>
                <a:ea typeface="TT Fors Bold"/>
                <a:cs typeface="TT Fors Bold"/>
                <a:sym typeface="TT Fors Bold"/>
              </a:rPr>
              <a:t>Certificate Validation Issues:</a:t>
            </a:r>
          </a:p>
          <a:p>
            <a:pPr algn="l" marL="474984" indent="-237492" lvl="1">
              <a:lnSpc>
                <a:spcPts val="2640"/>
              </a:lnSpc>
              <a:spcBef>
                <a:spcPct val="0"/>
              </a:spcBef>
              <a:buFont typeface="Arial"/>
              <a:buChar char="•"/>
            </a:pPr>
            <a:r>
              <a:rPr lang="en-US" sz="2200" spc="-66" strike="noStrike" u="none">
                <a:solidFill>
                  <a:srgbClr val="00FFA8"/>
                </a:solidFill>
                <a:latin typeface="TT Fors"/>
                <a:ea typeface="TT Fors"/>
                <a:cs typeface="TT Fors"/>
                <a:sym typeface="TT Fors"/>
              </a:rPr>
              <a:t>Self-signed certificates (testing environments)</a:t>
            </a:r>
          </a:p>
          <a:p>
            <a:pPr algn="l" marL="474984" indent="-237492" lvl="1">
              <a:lnSpc>
                <a:spcPts val="2640"/>
              </a:lnSpc>
              <a:spcBef>
                <a:spcPct val="0"/>
              </a:spcBef>
              <a:buFont typeface="Arial"/>
              <a:buChar char="•"/>
            </a:pPr>
            <a:r>
              <a:rPr lang="en-US" sz="2200" spc="-66" strike="noStrike" u="none">
                <a:solidFill>
                  <a:srgbClr val="00FFA8"/>
                </a:solidFill>
                <a:latin typeface="TT Fors"/>
                <a:ea typeface="TT Fors"/>
                <a:cs typeface="TT Fors"/>
                <a:sym typeface="TT Fors"/>
              </a:rPr>
              <a:t>Expired</a:t>
            </a:r>
            <a:r>
              <a:rPr lang="en-US" sz="2200" spc="-66" strike="noStrike" u="none">
                <a:solidFill>
                  <a:srgbClr val="00FFA8"/>
                </a:solidFill>
                <a:latin typeface="TT Fors"/>
                <a:ea typeface="TT Fors"/>
                <a:cs typeface="TT Fors"/>
                <a:sym typeface="TT Fors"/>
              </a:rPr>
              <a:t> </a:t>
            </a:r>
            <a:r>
              <a:rPr lang="en-US" sz="2200" spc="-66" strike="noStrike" u="none">
                <a:solidFill>
                  <a:srgbClr val="00FFA8"/>
                </a:solidFill>
                <a:latin typeface="TT Fors"/>
                <a:ea typeface="TT Fors"/>
                <a:cs typeface="TT Fors"/>
                <a:sym typeface="TT Fors"/>
              </a:rPr>
              <a:t>certificates</a:t>
            </a:r>
            <a:r>
              <a:rPr lang="en-US" sz="2200" spc="-66" strike="noStrike" u="none">
                <a:solidFill>
                  <a:srgbClr val="00FFA8"/>
                </a:solidFill>
                <a:latin typeface="TT Fors"/>
                <a:ea typeface="TT Fors"/>
                <a:cs typeface="TT Fors"/>
                <a:sym typeface="TT Fors"/>
              </a:rPr>
              <a:t> </a:t>
            </a:r>
            <a:r>
              <a:rPr lang="en-US" sz="2200" spc="-66" strike="noStrike" u="none">
                <a:solidFill>
                  <a:srgbClr val="00FFA8"/>
                </a:solidFill>
                <a:latin typeface="TT Fors"/>
                <a:ea typeface="TT Fors"/>
                <a:cs typeface="TT Fors"/>
                <a:sym typeface="TT Fors"/>
              </a:rPr>
              <a:t>(configuration</a:t>
            </a:r>
            <a:r>
              <a:rPr lang="en-US" sz="2200" spc="-66" strike="noStrike" u="none">
                <a:solidFill>
                  <a:srgbClr val="00FFA8"/>
                </a:solidFill>
                <a:latin typeface="TT Fors"/>
                <a:ea typeface="TT Fors"/>
                <a:cs typeface="TT Fors"/>
                <a:sym typeface="TT Fors"/>
              </a:rPr>
              <a:t> errors)</a:t>
            </a:r>
          </a:p>
          <a:p>
            <a:pPr algn="l" marL="474984" indent="-237492" lvl="1">
              <a:lnSpc>
                <a:spcPts val="2640"/>
              </a:lnSpc>
              <a:spcBef>
                <a:spcPct val="0"/>
              </a:spcBef>
              <a:buFont typeface="Arial"/>
              <a:buChar char="•"/>
            </a:pPr>
            <a:r>
              <a:rPr lang="en-US" sz="2200" spc="-66" strike="noStrike" u="none">
                <a:solidFill>
                  <a:srgbClr val="00FFA8"/>
                </a:solidFill>
                <a:latin typeface="TT Fors"/>
                <a:ea typeface="TT Fors"/>
                <a:cs typeface="TT Fors"/>
                <a:sym typeface="TT Fors"/>
              </a:rPr>
              <a:t>Mism</a:t>
            </a:r>
            <a:r>
              <a:rPr lang="en-US" sz="2200" spc="-66" strike="noStrike" u="none">
                <a:solidFill>
                  <a:srgbClr val="00FFA8"/>
                </a:solidFill>
                <a:latin typeface="TT Fors"/>
                <a:ea typeface="TT Fors"/>
                <a:cs typeface="TT Fors"/>
                <a:sym typeface="TT Fors"/>
              </a:rPr>
              <a:t>a</a:t>
            </a:r>
            <a:r>
              <a:rPr lang="en-US" sz="2200" spc="-66" strike="noStrike" u="none">
                <a:solidFill>
                  <a:srgbClr val="00FFA8"/>
                </a:solidFill>
                <a:latin typeface="TT Fors"/>
                <a:ea typeface="TT Fors"/>
                <a:cs typeface="TT Fors"/>
                <a:sym typeface="TT Fors"/>
              </a:rPr>
              <a:t>t</a:t>
            </a:r>
            <a:r>
              <a:rPr lang="en-US" sz="2200" spc="-66" strike="noStrike" u="none">
                <a:solidFill>
                  <a:srgbClr val="00FFA8"/>
                </a:solidFill>
                <a:latin typeface="TT Fors"/>
                <a:ea typeface="TT Fors"/>
                <a:cs typeface="TT Fors"/>
                <a:sym typeface="TT Fors"/>
              </a:rPr>
              <a:t>c</a:t>
            </a:r>
            <a:r>
              <a:rPr lang="en-US" sz="2200" spc="-66" strike="noStrike" u="none">
                <a:solidFill>
                  <a:srgbClr val="00FFA8"/>
                </a:solidFill>
                <a:latin typeface="TT Fors"/>
                <a:ea typeface="TT Fors"/>
                <a:cs typeface="TT Fors"/>
                <a:sym typeface="TT Fors"/>
              </a:rPr>
              <a:t>h</a:t>
            </a:r>
            <a:r>
              <a:rPr lang="en-US" sz="2200" spc="-66" strike="noStrike" u="none">
                <a:solidFill>
                  <a:srgbClr val="00FFA8"/>
                </a:solidFill>
                <a:latin typeface="TT Fors"/>
                <a:ea typeface="TT Fors"/>
                <a:cs typeface="TT Fors"/>
                <a:sym typeface="TT Fors"/>
              </a:rPr>
              <a:t>e</a:t>
            </a:r>
            <a:r>
              <a:rPr lang="en-US" sz="2200" spc="-66" strike="noStrike" u="none">
                <a:solidFill>
                  <a:srgbClr val="00FFA8"/>
                </a:solidFill>
                <a:latin typeface="TT Fors"/>
                <a:ea typeface="TT Fors"/>
                <a:cs typeface="TT Fors"/>
                <a:sym typeface="TT Fors"/>
              </a:rPr>
              <a:t>d</a:t>
            </a:r>
            <a:r>
              <a:rPr lang="en-US" sz="2200" spc="-66" strike="noStrike" u="none">
                <a:solidFill>
                  <a:srgbClr val="00FFA8"/>
                </a:solidFill>
                <a:latin typeface="TT Fors"/>
                <a:ea typeface="TT Fors"/>
                <a:cs typeface="TT Fors"/>
                <a:sym typeface="TT Fors"/>
              </a:rPr>
              <a:t> </a:t>
            </a:r>
            <a:r>
              <a:rPr lang="en-US" sz="2200" spc="-66" strike="noStrike" u="none">
                <a:solidFill>
                  <a:srgbClr val="00FFA8"/>
                </a:solidFill>
                <a:latin typeface="TT Fors"/>
                <a:ea typeface="TT Fors"/>
                <a:cs typeface="TT Fors"/>
                <a:sym typeface="TT Fors"/>
              </a:rPr>
              <a:t>d</a:t>
            </a:r>
            <a:r>
              <a:rPr lang="en-US" sz="2200" spc="-66" strike="noStrike" u="none">
                <a:solidFill>
                  <a:srgbClr val="00FFA8"/>
                </a:solidFill>
                <a:latin typeface="TT Fors"/>
                <a:ea typeface="TT Fors"/>
                <a:cs typeface="TT Fors"/>
                <a:sym typeface="TT Fors"/>
              </a:rPr>
              <a:t>o</a:t>
            </a:r>
            <a:r>
              <a:rPr lang="en-US" sz="2200" spc="-66" strike="noStrike" u="none">
                <a:solidFill>
                  <a:srgbClr val="00FFA8"/>
                </a:solidFill>
                <a:latin typeface="TT Fors"/>
                <a:ea typeface="TT Fors"/>
                <a:cs typeface="TT Fors"/>
                <a:sym typeface="TT Fors"/>
              </a:rPr>
              <a:t>main</a:t>
            </a:r>
            <a:r>
              <a:rPr lang="en-US" sz="2200" spc="-66" strike="noStrike" u="none">
                <a:solidFill>
                  <a:srgbClr val="00FFA8"/>
                </a:solidFill>
                <a:latin typeface="TT Fors"/>
                <a:ea typeface="TT Fors"/>
                <a:cs typeface="TT Fors"/>
                <a:sym typeface="TT Fors"/>
              </a:rPr>
              <a:t> </a:t>
            </a:r>
            <a:r>
              <a:rPr lang="en-US" sz="2200" spc="-66" strike="noStrike" u="none">
                <a:solidFill>
                  <a:srgbClr val="00FFA8"/>
                </a:solidFill>
                <a:latin typeface="TT Fors"/>
                <a:ea typeface="TT Fors"/>
                <a:cs typeface="TT Fors"/>
                <a:sym typeface="TT Fors"/>
              </a:rPr>
              <a:t>names</a:t>
            </a:r>
          </a:p>
          <a:p>
            <a:pPr algn="l" marL="474984" indent="-237492" lvl="1">
              <a:lnSpc>
                <a:spcPts val="2640"/>
              </a:lnSpc>
              <a:spcBef>
                <a:spcPct val="0"/>
              </a:spcBef>
              <a:buFont typeface="Arial"/>
              <a:buChar char="•"/>
            </a:pPr>
            <a:r>
              <a:rPr lang="en-US" sz="2200" spc="-66" strike="noStrike" u="none">
                <a:solidFill>
                  <a:srgbClr val="00FFA8"/>
                </a:solidFill>
                <a:latin typeface="TT Fors"/>
                <a:ea typeface="TT Fors"/>
                <a:cs typeface="TT Fors"/>
                <a:sym typeface="TT Fors"/>
              </a:rPr>
              <a:t>Certificate</a:t>
            </a:r>
            <a:r>
              <a:rPr lang="en-US" sz="2200" spc="-66" strike="noStrike" u="none">
                <a:solidFill>
                  <a:srgbClr val="00FFA8"/>
                </a:solidFill>
                <a:latin typeface="TT Fors"/>
                <a:ea typeface="TT Fors"/>
                <a:cs typeface="TT Fors"/>
                <a:sym typeface="TT Fors"/>
              </a:rPr>
              <a:t> </a:t>
            </a:r>
            <a:r>
              <a:rPr lang="en-US" sz="2200" spc="-66" strike="noStrike" u="none">
                <a:solidFill>
                  <a:srgbClr val="00FFA8"/>
                </a:solidFill>
                <a:latin typeface="TT Fors"/>
                <a:ea typeface="TT Fors"/>
                <a:cs typeface="TT Fors"/>
                <a:sym typeface="TT Fors"/>
              </a:rPr>
              <a:t>chain</a:t>
            </a:r>
            <a:r>
              <a:rPr lang="en-US" sz="2200" spc="-66" strike="noStrike" u="none">
                <a:solidFill>
                  <a:srgbClr val="00FFA8"/>
                </a:solidFill>
                <a:latin typeface="TT Fors"/>
                <a:ea typeface="TT Fors"/>
                <a:cs typeface="TT Fors"/>
                <a:sym typeface="TT Fors"/>
              </a:rPr>
              <a:t> </a:t>
            </a:r>
            <a:r>
              <a:rPr lang="en-US" sz="2200" spc="-66" strike="noStrike" u="none">
                <a:solidFill>
                  <a:srgbClr val="00FFA8"/>
                </a:solidFill>
                <a:latin typeface="TT Fors"/>
                <a:ea typeface="TT Fors"/>
                <a:cs typeface="TT Fors"/>
                <a:sym typeface="TT Fors"/>
              </a:rPr>
              <a:t>issues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grpSp>
        <p:nvGrpSpPr>
          <p:cNvPr name="Group 2" id="2"/>
          <p:cNvGrpSpPr/>
          <p:nvPr/>
        </p:nvGrpSpPr>
        <p:grpSpPr>
          <a:xfrm rot="0">
            <a:off x="16149744" y="381000"/>
            <a:ext cx="1471506" cy="792133"/>
            <a:chOff x="0" y="0"/>
            <a:chExt cx="1962007" cy="1056178"/>
          </a:xfrm>
        </p:grpSpPr>
        <p:grpSp>
          <p:nvGrpSpPr>
            <p:cNvPr name="Group 3" id="3"/>
            <p:cNvGrpSpPr/>
            <p:nvPr/>
          </p:nvGrpSpPr>
          <p:grpSpPr>
            <a:xfrm rot="0">
              <a:off x="0" y="0"/>
              <a:ext cx="1056178" cy="105617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grpSp>
          <p:nvGrpSpPr>
            <p:cNvPr name="Group 6" id="6"/>
            <p:cNvGrpSpPr/>
            <p:nvPr/>
          </p:nvGrpSpPr>
          <p:grpSpPr>
            <a:xfrm rot="0">
              <a:off x="905830" y="0"/>
              <a:ext cx="1056178" cy="105617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sp>
          <p:nvSpPr>
            <p:cNvPr name="Freeform 9" id="9"/>
            <p:cNvSpPr/>
            <p:nvPr/>
          </p:nvSpPr>
          <p:spPr>
            <a:xfrm flipH="false" flipV="false" rot="0">
              <a:off x="177421" y="150010"/>
              <a:ext cx="701336" cy="756158"/>
            </a:xfrm>
            <a:custGeom>
              <a:avLst/>
              <a:gdLst/>
              <a:ahLst/>
              <a:cxnLst/>
              <a:rect r="r" b="b" t="t" l="l"/>
              <a:pathLst>
                <a:path h="756158" w="701336">
                  <a:moveTo>
                    <a:pt x="0" y="0"/>
                  </a:moveTo>
                  <a:lnTo>
                    <a:pt x="701336" y="0"/>
                  </a:lnTo>
                  <a:lnTo>
                    <a:pt x="701336" y="756158"/>
                  </a:lnTo>
                  <a:lnTo>
                    <a:pt x="0" y="7561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070789" y="245755"/>
              <a:ext cx="726260" cy="564667"/>
            </a:xfrm>
            <a:custGeom>
              <a:avLst/>
              <a:gdLst/>
              <a:ahLst/>
              <a:cxnLst/>
              <a:rect r="r" b="b" t="t" l="l"/>
              <a:pathLst>
                <a:path h="564667" w="726260">
                  <a:moveTo>
                    <a:pt x="0" y="0"/>
                  </a:moveTo>
                  <a:lnTo>
                    <a:pt x="726260" y="0"/>
                  </a:lnTo>
                  <a:lnTo>
                    <a:pt x="726260" y="564667"/>
                  </a:lnTo>
                  <a:lnTo>
                    <a:pt x="0" y="5646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TextBox 11" id="11"/>
          <p:cNvSpPr txBox="true"/>
          <p:nvPr/>
        </p:nvSpPr>
        <p:spPr>
          <a:xfrm rot="0">
            <a:off x="666750" y="2004060"/>
            <a:ext cx="8665146" cy="5431155"/>
          </a:xfrm>
          <a:prstGeom prst="rect">
            <a:avLst/>
          </a:prstGeom>
        </p:spPr>
        <p:txBody>
          <a:bodyPr anchor="t" rtlCol="false" tIns="0" lIns="0" bIns="0" rIns="0">
            <a:spAutoFit/>
          </a:bodyPr>
          <a:lstStyle/>
          <a:p>
            <a:pPr algn="l">
              <a:lnSpc>
                <a:spcPts val="3300"/>
              </a:lnSpc>
            </a:pPr>
            <a:r>
              <a:rPr lang="en-US" sz="2200" spc="-66">
                <a:solidFill>
                  <a:srgbClr val="00FFA8"/>
                </a:solidFill>
                <a:latin typeface="TT Fors"/>
                <a:ea typeface="TT Fors"/>
                <a:cs typeface="TT Fors"/>
                <a:sym typeface="TT Fors"/>
              </a:rPr>
              <a:t>Web servers often leak sensitive information in HTTP response headers:</a:t>
            </a:r>
          </a:p>
          <a:p>
            <a:pPr algn="l">
              <a:lnSpc>
                <a:spcPts val="3300"/>
              </a:lnSpc>
            </a:pPr>
            <a:r>
              <a:rPr lang="en-US" sz="2200" spc="-66" b="true">
                <a:solidFill>
                  <a:srgbClr val="00FFA8"/>
                </a:solidFill>
                <a:latin typeface="TT Fors Bold"/>
                <a:ea typeface="TT Fors Bold"/>
                <a:cs typeface="TT Fors Bold"/>
                <a:sym typeface="TT Fors Bold"/>
              </a:rPr>
              <a:t>Server:</a:t>
            </a:r>
            <a:r>
              <a:rPr lang="en-US" sz="2200" spc="-66">
                <a:solidFill>
                  <a:srgbClr val="00FFA8"/>
                </a:solidFill>
                <a:latin typeface="TT Fors"/>
                <a:ea typeface="TT Fors"/>
                <a:cs typeface="TT Fors"/>
                <a:sym typeface="TT Fors"/>
              </a:rPr>
              <a:t> Apache/2.4.52</a:t>
            </a:r>
          </a:p>
          <a:p>
            <a:pPr algn="l">
              <a:lnSpc>
                <a:spcPts val="3300"/>
              </a:lnSpc>
            </a:pPr>
            <a:r>
              <a:rPr lang="en-US" sz="2200" spc="-66" b="true">
                <a:solidFill>
                  <a:srgbClr val="00FFA8"/>
                </a:solidFill>
                <a:latin typeface="TT Fors Bold"/>
                <a:ea typeface="TT Fors Bold"/>
                <a:cs typeface="TT Fors Bold"/>
                <a:sym typeface="TT Fors Bold"/>
              </a:rPr>
              <a:t>X-Powered-By:</a:t>
            </a:r>
            <a:r>
              <a:rPr lang="en-US" sz="2200" spc="-66">
                <a:solidFill>
                  <a:srgbClr val="00FFA8"/>
                </a:solidFill>
                <a:latin typeface="TT Fors"/>
                <a:ea typeface="TT Fors"/>
                <a:cs typeface="TT Fors"/>
                <a:sym typeface="TT Fors"/>
              </a:rPr>
              <a:t> PHP/8.1.0</a:t>
            </a:r>
          </a:p>
          <a:p>
            <a:pPr algn="l">
              <a:lnSpc>
                <a:spcPts val="3300"/>
              </a:lnSpc>
            </a:pPr>
            <a:r>
              <a:rPr lang="en-US" sz="2200" spc="-66" b="true">
                <a:solidFill>
                  <a:srgbClr val="00FFA8"/>
                </a:solidFill>
                <a:latin typeface="TT Fors Bold"/>
                <a:ea typeface="TT Fors Bold"/>
                <a:cs typeface="TT Fors Bold"/>
                <a:sym typeface="TT Fors Bold"/>
              </a:rPr>
              <a:t>X-AspNet-Version:</a:t>
            </a:r>
            <a:r>
              <a:rPr lang="en-US" sz="2200" spc="-66">
                <a:solidFill>
                  <a:srgbClr val="00FFA8"/>
                </a:solidFill>
                <a:latin typeface="TT Fors"/>
                <a:ea typeface="TT Fors"/>
                <a:cs typeface="TT Fors"/>
                <a:sym typeface="TT Fors"/>
              </a:rPr>
              <a:t> 4.0.30319</a:t>
            </a:r>
          </a:p>
          <a:p>
            <a:pPr algn="l">
              <a:lnSpc>
                <a:spcPts val="3300"/>
              </a:lnSpc>
            </a:pPr>
            <a:r>
              <a:rPr lang="en-US" sz="2200" spc="-66" b="true">
                <a:solidFill>
                  <a:srgbClr val="00FFA8"/>
                </a:solidFill>
                <a:latin typeface="TT Fors Bold"/>
                <a:ea typeface="TT Fors Bold"/>
                <a:cs typeface="TT Fors Bold"/>
                <a:sym typeface="TT Fors Bold"/>
              </a:rPr>
              <a:t>X-Frame-Options:</a:t>
            </a:r>
            <a:r>
              <a:rPr lang="en-US" sz="2200" spc="-66">
                <a:solidFill>
                  <a:srgbClr val="00FFA8"/>
                </a:solidFill>
                <a:latin typeface="TT Fors"/>
                <a:ea typeface="TT Fors"/>
                <a:cs typeface="TT Fors"/>
                <a:sym typeface="TT Fors"/>
              </a:rPr>
              <a:t> SAMEORIGIN</a:t>
            </a:r>
          </a:p>
          <a:p>
            <a:pPr algn="l">
              <a:lnSpc>
                <a:spcPts val="3300"/>
              </a:lnSpc>
            </a:pPr>
          </a:p>
          <a:p>
            <a:pPr algn="l">
              <a:lnSpc>
                <a:spcPts val="3300"/>
              </a:lnSpc>
            </a:pPr>
            <a:r>
              <a:rPr lang="en-US" sz="2200" spc="-66" b="true">
                <a:solidFill>
                  <a:srgbClr val="00FFA8"/>
                </a:solidFill>
                <a:latin typeface="TT Fors Bold"/>
                <a:ea typeface="TT Fors Bold"/>
                <a:cs typeface="TT Fors Bold"/>
                <a:sym typeface="TT Fors Bold"/>
              </a:rPr>
              <a:t>Attack Vector:</a:t>
            </a:r>
            <a:r>
              <a:rPr lang="en-US" sz="2200" spc="-66">
                <a:solidFill>
                  <a:srgbClr val="00FFA8"/>
                </a:solidFill>
                <a:latin typeface="TT Fors"/>
                <a:ea typeface="TT Fors"/>
                <a:cs typeface="TT Fors"/>
                <a:sym typeface="TT Fors"/>
              </a:rPr>
              <a:t> Attackers use this information to search for known vulnerabilities.</a:t>
            </a:r>
          </a:p>
          <a:p>
            <a:pPr algn="l">
              <a:lnSpc>
                <a:spcPts val="3300"/>
              </a:lnSpc>
            </a:pPr>
          </a:p>
          <a:p>
            <a:pPr algn="l">
              <a:lnSpc>
                <a:spcPts val="3300"/>
              </a:lnSpc>
            </a:pPr>
            <a:r>
              <a:rPr lang="en-US" sz="2200" spc="-66" b="true">
                <a:solidFill>
                  <a:srgbClr val="00FFA8"/>
                </a:solidFill>
                <a:latin typeface="TT Fors Bold"/>
                <a:ea typeface="TT Fors Bold"/>
                <a:cs typeface="TT Fors Bold"/>
                <a:sym typeface="TT Fors Bold"/>
              </a:rPr>
              <a:t>Mitigation:</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Remove or obfuscate server identification headers</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Use reverse proxies to hide backend architecture</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Implement security headers (CSP, X-Frame-Options, etc.)</a:t>
            </a:r>
          </a:p>
        </p:txBody>
      </p:sp>
      <p:sp>
        <p:nvSpPr>
          <p:cNvPr name="TextBox 12" id="12"/>
          <p:cNvSpPr txBox="true"/>
          <p:nvPr/>
        </p:nvSpPr>
        <p:spPr>
          <a:xfrm rot="0">
            <a:off x="666750" y="37147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PART 3: WEB SERVER VULNERABILITIES</a:t>
            </a:r>
          </a:p>
        </p:txBody>
      </p:sp>
      <p:sp>
        <p:nvSpPr>
          <p:cNvPr name="TextBox 13" id="13"/>
          <p:cNvSpPr txBox="true"/>
          <p:nvPr/>
        </p:nvSpPr>
        <p:spPr>
          <a:xfrm rot="0">
            <a:off x="10810761" y="2004060"/>
            <a:ext cx="6810489" cy="1240155"/>
          </a:xfrm>
          <a:prstGeom prst="rect">
            <a:avLst/>
          </a:prstGeom>
        </p:spPr>
        <p:txBody>
          <a:bodyPr anchor="t" rtlCol="false" tIns="0" lIns="0" bIns="0" rIns="0">
            <a:spAutoFit/>
          </a:bodyPr>
          <a:lstStyle/>
          <a:p>
            <a:pPr algn="l">
              <a:lnSpc>
                <a:spcPts val="3300"/>
              </a:lnSpc>
            </a:pPr>
            <a:r>
              <a:rPr lang="en-US" sz="2200" spc="-66" b="true">
                <a:solidFill>
                  <a:srgbClr val="00FFA8"/>
                </a:solidFill>
                <a:latin typeface="TT Fors Bold"/>
                <a:ea typeface="TT Fors Bold"/>
                <a:cs typeface="TT Fors Bold"/>
                <a:sym typeface="TT Fors Bold"/>
              </a:rPr>
              <a:t>Default Credentials</a:t>
            </a:r>
          </a:p>
          <a:p>
            <a:pPr algn="l">
              <a:lnSpc>
                <a:spcPts val="3300"/>
              </a:lnSpc>
            </a:pPr>
            <a:r>
              <a:rPr lang="en-US" sz="2200" spc="-66">
                <a:solidFill>
                  <a:srgbClr val="00FFA8"/>
                </a:solidFill>
                <a:latin typeface="TT Fors"/>
                <a:ea typeface="TT Fors"/>
                <a:cs typeface="TT Fors"/>
                <a:sym typeface="TT Fors"/>
              </a:rPr>
              <a:t>M</a:t>
            </a:r>
            <a:r>
              <a:rPr lang="en-US" sz="2200" spc="-66">
                <a:solidFill>
                  <a:srgbClr val="00FFA8"/>
                </a:solidFill>
                <a:latin typeface="TT Fors"/>
                <a:ea typeface="TT Fors"/>
                <a:cs typeface="TT Fors"/>
                <a:sym typeface="TT Fors"/>
              </a:rPr>
              <a:t>an</a:t>
            </a:r>
            <a:r>
              <a:rPr lang="en-US" sz="2200" spc="-66">
                <a:solidFill>
                  <a:srgbClr val="00FFA8"/>
                </a:solidFill>
                <a:latin typeface="TT Fors"/>
                <a:ea typeface="TT Fors"/>
                <a:cs typeface="TT Fors"/>
                <a:sym typeface="TT Fors"/>
              </a:rPr>
              <a:t>y</a:t>
            </a:r>
            <a:r>
              <a:rPr lang="en-US" sz="2200" spc="-66">
                <a:solidFill>
                  <a:srgbClr val="00FFA8"/>
                </a:solidFill>
                <a:latin typeface="TT Fors"/>
                <a:ea typeface="TT Fors"/>
                <a:cs typeface="TT Fors"/>
                <a:sym typeface="TT Fors"/>
              </a:rPr>
              <a:t> w</a:t>
            </a:r>
            <a:r>
              <a:rPr lang="en-US" sz="2200" spc="-66">
                <a:solidFill>
                  <a:srgbClr val="00FFA8"/>
                </a:solidFill>
                <a:latin typeface="TT Fors"/>
                <a:ea typeface="TT Fors"/>
                <a:cs typeface="TT Fors"/>
                <a:sym typeface="TT Fors"/>
              </a:rPr>
              <a:t>e</a:t>
            </a:r>
            <a:r>
              <a:rPr lang="en-US" sz="2200" spc="-66">
                <a:solidFill>
                  <a:srgbClr val="00FFA8"/>
                </a:solidFill>
                <a:latin typeface="TT Fors"/>
                <a:ea typeface="TT Fors"/>
                <a:cs typeface="TT Fors"/>
                <a:sym typeface="TT Fors"/>
              </a:rPr>
              <a:t>b </a:t>
            </a:r>
            <a:r>
              <a:rPr lang="en-US" sz="2200" spc="-66">
                <a:solidFill>
                  <a:srgbClr val="00FFA8"/>
                </a:solidFill>
                <a:latin typeface="TT Fors"/>
                <a:ea typeface="TT Fors"/>
                <a:cs typeface="TT Fors"/>
                <a:sym typeface="TT Fors"/>
              </a:rPr>
              <a:t>ser</a:t>
            </a:r>
            <a:r>
              <a:rPr lang="en-US" sz="2200" spc="-66">
                <a:solidFill>
                  <a:srgbClr val="00FFA8"/>
                </a:solidFill>
                <a:latin typeface="TT Fors"/>
                <a:ea typeface="TT Fors"/>
                <a:cs typeface="TT Fors"/>
                <a:sym typeface="TT Fors"/>
              </a:rPr>
              <a:t>vers and mana</a:t>
            </a:r>
            <a:r>
              <a:rPr lang="en-US" sz="2200" spc="-66">
                <a:solidFill>
                  <a:srgbClr val="00FFA8"/>
                </a:solidFill>
                <a:latin typeface="TT Fors"/>
                <a:ea typeface="TT Fors"/>
                <a:cs typeface="TT Fors"/>
                <a:sym typeface="TT Fors"/>
              </a:rPr>
              <a:t>g</a:t>
            </a:r>
            <a:r>
              <a:rPr lang="en-US" sz="2200" spc="-66">
                <a:solidFill>
                  <a:srgbClr val="00FFA8"/>
                </a:solidFill>
                <a:latin typeface="TT Fors"/>
                <a:ea typeface="TT Fors"/>
                <a:cs typeface="TT Fors"/>
                <a:sym typeface="TT Fors"/>
              </a:rPr>
              <a:t>ement interfaces ship with default credentials:</a:t>
            </a:r>
          </a:p>
        </p:txBody>
      </p:sp>
      <p:sp>
        <p:nvSpPr>
          <p:cNvPr name="TextBox 14" id="14"/>
          <p:cNvSpPr txBox="true"/>
          <p:nvPr/>
        </p:nvSpPr>
        <p:spPr>
          <a:xfrm rot="0">
            <a:off x="10810761" y="7426748"/>
            <a:ext cx="6810489" cy="821055"/>
          </a:xfrm>
          <a:prstGeom prst="rect">
            <a:avLst/>
          </a:prstGeom>
        </p:spPr>
        <p:txBody>
          <a:bodyPr anchor="t" rtlCol="false" tIns="0" lIns="0" bIns="0" rIns="0">
            <a:spAutoFit/>
          </a:bodyPr>
          <a:lstStyle/>
          <a:p>
            <a:pPr algn="l">
              <a:lnSpc>
                <a:spcPts val="3300"/>
              </a:lnSpc>
            </a:pPr>
            <a:r>
              <a:rPr lang="en-US" b="true" sz="2200" spc="-66">
                <a:solidFill>
                  <a:srgbClr val="00FFA8"/>
                </a:solidFill>
                <a:latin typeface="TT Fors Bold"/>
                <a:ea typeface="TT Fors Bold"/>
                <a:cs typeface="TT Fors Bold"/>
                <a:sym typeface="TT Fors Bold"/>
              </a:rPr>
              <a:t>Attack</a:t>
            </a:r>
            <a:r>
              <a:rPr lang="en-US" b="true" sz="2200" spc="-66">
                <a:solidFill>
                  <a:srgbClr val="00FFA8"/>
                </a:solidFill>
                <a:latin typeface="TT Fors Bold"/>
                <a:ea typeface="TT Fors Bold"/>
                <a:cs typeface="TT Fors Bold"/>
                <a:sym typeface="TT Fors Bold"/>
              </a:rPr>
              <a:t> Vector: </a:t>
            </a:r>
            <a:r>
              <a:rPr lang="en-US" sz="2200" spc="-66">
                <a:solidFill>
                  <a:srgbClr val="00FFA8"/>
                </a:solidFill>
                <a:latin typeface="TT Fors"/>
                <a:ea typeface="TT Fors"/>
                <a:cs typeface="TT Fors"/>
                <a:sym typeface="TT Fors"/>
              </a:rPr>
              <a:t>Brute-force or dic</a:t>
            </a:r>
            <a:r>
              <a:rPr lang="en-US" sz="2200" spc="-66">
                <a:solidFill>
                  <a:srgbClr val="00FFA8"/>
                </a:solidFill>
                <a:latin typeface="TT Fors"/>
                <a:ea typeface="TT Fors"/>
                <a:cs typeface="TT Fors"/>
                <a:sym typeface="TT Fors"/>
              </a:rPr>
              <a:t>tionary attacks against login interfaces.</a:t>
            </a:r>
          </a:p>
        </p:txBody>
      </p:sp>
      <p:sp>
        <p:nvSpPr>
          <p:cNvPr name="TextBox 15" id="15"/>
          <p:cNvSpPr txBox="true"/>
          <p:nvPr/>
        </p:nvSpPr>
        <p:spPr>
          <a:xfrm rot="0">
            <a:off x="666750" y="1331595"/>
            <a:ext cx="8306267" cy="453390"/>
          </a:xfrm>
          <a:prstGeom prst="rect">
            <a:avLst/>
          </a:prstGeom>
        </p:spPr>
        <p:txBody>
          <a:bodyPr anchor="t" rtlCol="false" tIns="0" lIns="0" bIns="0" rIns="0">
            <a:spAutoFit/>
          </a:bodyPr>
          <a:lstStyle/>
          <a:p>
            <a:pPr algn="l">
              <a:lnSpc>
                <a:spcPts val="3899"/>
              </a:lnSpc>
            </a:pPr>
            <a:r>
              <a:rPr lang="en-US" b="true" sz="2599" spc="-77">
                <a:solidFill>
                  <a:srgbClr val="00FFA8"/>
                </a:solidFill>
                <a:latin typeface="TT Fors Bold"/>
                <a:ea typeface="TT Fors Bold"/>
                <a:cs typeface="TT Fors Bold"/>
                <a:sym typeface="TT Fors Bold"/>
              </a:rPr>
              <a:t>Information Disclosure Through Headers</a:t>
            </a:r>
          </a:p>
        </p:txBody>
      </p:sp>
      <p:graphicFrame>
        <p:nvGraphicFramePr>
          <p:cNvPr name="Table 16" id="16"/>
          <p:cNvGraphicFramePr>
            <a:graphicFrameLocks noGrp="true"/>
          </p:cNvGraphicFramePr>
          <p:nvPr/>
        </p:nvGraphicFramePr>
        <p:xfrm>
          <a:off x="10810761" y="3420063"/>
          <a:ext cx="6622762" cy="3771900"/>
        </p:xfrm>
        <a:graphic>
          <a:graphicData uri="http://schemas.openxmlformats.org/drawingml/2006/table">
            <a:tbl>
              <a:tblPr/>
              <a:tblGrid>
                <a:gridCol w="1885487"/>
                <a:gridCol w="1885487"/>
                <a:gridCol w="2851789"/>
              </a:tblGrid>
              <a:tr h="628650">
                <a:tc>
                  <a:txBody>
                    <a:bodyPr anchor="t" rtlCol="false"/>
                    <a:lstStyle/>
                    <a:p>
                      <a:pPr algn="l">
                        <a:lnSpc>
                          <a:spcPts val="2800"/>
                        </a:lnSpc>
                        <a:defRPr/>
                      </a:pPr>
                      <a:r>
                        <a:rPr lang="en-US" sz="2000" b="true">
                          <a:solidFill>
                            <a:srgbClr val="FFFFFF"/>
                          </a:solidFill>
                          <a:latin typeface="Canva Sans Bold"/>
                          <a:ea typeface="Canva Sans Bold"/>
                          <a:cs typeface="Canva Sans Bold"/>
                          <a:sym typeface="Canva Sans Bold"/>
                        </a:rPr>
                        <a:t>Software</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l">
                        <a:lnSpc>
                          <a:spcPts val="2800"/>
                        </a:lnSpc>
                        <a:defRPr/>
                      </a:pPr>
                      <a:r>
                        <a:rPr lang="en-US" sz="2000" b="true">
                          <a:solidFill>
                            <a:srgbClr val="FFFFFF"/>
                          </a:solidFill>
                          <a:latin typeface="Canva Sans Bold"/>
                          <a:ea typeface="Canva Sans Bold"/>
                          <a:cs typeface="Canva Sans Bold"/>
                          <a:sym typeface="Canva Sans Bold"/>
                        </a:rPr>
                        <a:t>Default User</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l">
                        <a:lnSpc>
                          <a:spcPts val="2800"/>
                        </a:lnSpc>
                        <a:defRPr/>
                      </a:pPr>
                      <a:r>
                        <a:rPr lang="en-US" sz="2000" b="true">
                          <a:solidFill>
                            <a:srgbClr val="FFFFFF"/>
                          </a:solidFill>
                          <a:latin typeface="Canva Sans Bold"/>
                          <a:ea typeface="Canva Sans Bold"/>
                          <a:cs typeface="Canva Sans Bold"/>
                          <a:sym typeface="Canva Sans Bold"/>
                        </a:rPr>
                        <a:t>Default Password</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r>
              <a:tr h="628650">
                <a:tc>
                  <a:txBody>
                    <a:bodyPr anchor="t" rtlCol="false"/>
                    <a:lstStyle/>
                    <a:p>
                      <a:pPr algn="l">
                        <a:lnSpc>
                          <a:spcPts val="2660"/>
                        </a:lnSpc>
                        <a:defRPr/>
                      </a:pPr>
                      <a:r>
                        <a:rPr lang="en-US" sz="1900">
                          <a:solidFill>
                            <a:srgbClr val="FFFFFF"/>
                          </a:solidFill>
                          <a:latin typeface="Canva Sans"/>
                          <a:ea typeface="Canva Sans"/>
                          <a:cs typeface="Canva Sans"/>
                          <a:sym typeface="Canva Sans"/>
                        </a:rPr>
                        <a:t>IIS</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l">
                        <a:lnSpc>
                          <a:spcPts val="2660"/>
                        </a:lnSpc>
                        <a:defRPr/>
                      </a:pPr>
                      <a:r>
                        <a:rPr lang="en-US" sz="1900">
                          <a:solidFill>
                            <a:srgbClr val="FFFFFF"/>
                          </a:solidFill>
                          <a:latin typeface="Canva Sans"/>
                          <a:ea typeface="Canva Sans"/>
                          <a:cs typeface="Canva Sans"/>
                          <a:sym typeface="Canva Sans"/>
                        </a:rPr>
                        <a:t>Administrator</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l">
                        <a:lnSpc>
                          <a:spcPts val="2660"/>
                        </a:lnSpc>
                        <a:defRPr/>
                      </a:pPr>
                      <a:r>
                        <a:rPr lang="en-US" sz="1900">
                          <a:solidFill>
                            <a:srgbClr val="FFFFFF"/>
                          </a:solidFill>
                          <a:latin typeface="Canva Sans"/>
                          <a:ea typeface="Canva Sans"/>
                          <a:cs typeface="Canva Sans"/>
                          <a:sym typeface="Canva Sans"/>
                        </a:rPr>
                        <a:t>(varies)</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r>
              <a:tr h="628650">
                <a:tc>
                  <a:txBody>
                    <a:bodyPr anchor="t" rtlCol="false"/>
                    <a:lstStyle/>
                    <a:p>
                      <a:pPr algn="l">
                        <a:lnSpc>
                          <a:spcPts val="2660"/>
                        </a:lnSpc>
                        <a:defRPr/>
                      </a:pPr>
                      <a:r>
                        <a:rPr lang="en-US" sz="1900">
                          <a:solidFill>
                            <a:srgbClr val="FFFFFF"/>
                          </a:solidFill>
                          <a:latin typeface="Canva Sans"/>
                          <a:ea typeface="Canva Sans"/>
                          <a:cs typeface="Canva Sans"/>
                          <a:sym typeface="Canva Sans"/>
                        </a:rPr>
                        <a:t>Tomcat</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l">
                        <a:lnSpc>
                          <a:spcPts val="2660"/>
                        </a:lnSpc>
                        <a:defRPr/>
                      </a:pPr>
                      <a:r>
                        <a:rPr lang="en-US" sz="1900">
                          <a:solidFill>
                            <a:srgbClr val="FFFFFF"/>
                          </a:solidFill>
                          <a:latin typeface="Canva Sans"/>
                          <a:ea typeface="Canva Sans"/>
                          <a:cs typeface="Canva Sans"/>
                          <a:sym typeface="Canva Sans"/>
                        </a:rPr>
                        <a:t>tomcat</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l">
                        <a:lnSpc>
                          <a:spcPts val="2660"/>
                        </a:lnSpc>
                        <a:defRPr/>
                      </a:pPr>
                      <a:r>
                        <a:rPr lang="en-US" sz="1900">
                          <a:solidFill>
                            <a:srgbClr val="FFFFFF"/>
                          </a:solidFill>
                          <a:latin typeface="Canva Sans"/>
                          <a:ea typeface="Canva Sans"/>
                          <a:cs typeface="Canva Sans"/>
                          <a:sym typeface="Canva Sans"/>
                        </a:rPr>
                        <a:t>tomcat</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r>
              <a:tr h="628650">
                <a:tc>
                  <a:txBody>
                    <a:bodyPr anchor="t" rtlCol="false"/>
                    <a:lstStyle/>
                    <a:p>
                      <a:pPr algn="l">
                        <a:lnSpc>
                          <a:spcPts val="2660"/>
                        </a:lnSpc>
                        <a:defRPr/>
                      </a:pPr>
                      <a:r>
                        <a:rPr lang="en-US" sz="1900">
                          <a:solidFill>
                            <a:srgbClr val="FFFFFF"/>
                          </a:solidFill>
                          <a:latin typeface="Canva Sans"/>
                          <a:ea typeface="Canva Sans"/>
                          <a:cs typeface="Canva Sans"/>
                          <a:sym typeface="Canva Sans"/>
                        </a:rPr>
                        <a:t>Apache Axis2</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l">
                        <a:lnSpc>
                          <a:spcPts val="2660"/>
                        </a:lnSpc>
                        <a:defRPr/>
                      </a:pPr>
                      <a:r>
                        <a:rPr lang="en-US" sz="1900">
                          <a:solidFill>
                            <a:srgbClr val="FFFFFF"/>
                          </a:solidFill>
                          <a:latin typeface="Canva Sans"/>
                          <a:ea typeface="Canva Sans"/>
                          <a:cs typeface="Canva Sans"/>
                          <a:sym typeface="Canva Sans"/>
                        </a:rPr>
                        <a:t>admin</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l">
                        <a:lnSpc>
                          <a:spcPts val="2660"/>
                        </a:lnSpc>
                        <a:defRPr/>
                      </a:pPr>
                      <a:r>
                        <a:rPr lang="en-US" sz="1900">
                          <a:solidFill>
                            <a:srgbClr val="FFFFFF"/>
                          </a:solidFill>
                          <a:latin typeface="Canva Sans"/>
                          <a:ea typeface="Canva Sans"/>
                          <a:cs typeface="Canva Sans"/>
                          <a:sym typeface="Canva Sans"/>
                        </a:rPr>
                        <a:t>axis2</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r>
              <a:tr h="628650">
                <a:tc>
                  <a:txBody>
                    <a:bodyPr anchor="t" rtlCol="false"/>
                    <a:lstStyle/>
                    <a:p>
                      <a:pPr algn="l">
                        <a:lnSpc>
                          <a:spcPts val="2660"/>
                        </a:lnSpc>
                        <a:defRPr/>
                      </a:pPr>
                      <a:r>
                        <a:rPr lang="en-US" sz="1900">
                          <a:solidFill>
                            <a:srgbClr val="FFFFFF"/>
                          </a:solidFill>
                          <a:latin typeface="Canva Sans"/>
                          <a:ea typeface="Canva Sans"/>
                          <a:cs typeface="Canva Sans"/>
                          <a:sym typeface="Canva Sans"/>
                        </a:rPr>
                        <a:t>Jenkins</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l">
                        <a:lnSpc>
                          <a:spcPts val="2660"/>
                        </a:lnSpc>
                        <a:defRPr/>
                      </a:pPr>
                      <a:r>
                        <a:rPr lang="en-US" sz="1900">
                          <a:solidFill>
                            <a:srgbClr val="FFFFFF"/>
                          </a:solidFill>
                          <a:latin typeface="Canva Sans"/>
                          <a:ea typeface="Canva Sans"/>
                          <a:cs typeface="Canva Sans"/>
                          <a:sym typeface="Canva Sans"/>
                        </a:rPr>
                        <a:t>admin</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l">
                        <a:lnSpc>
                          <a:spcPts val="2660"/>
                        </a:lnSpc>
                        <a:defRPr/>
                      </a:pPr>
                      <a:r>
                        <a:rPr lang="en-US" sz="1900">
                          <a:solidFill>
                            <a:srgbClr val="FFFFFF"/>
                          </a:solidFill>
                          <a:latin typeface="Canva Sans"/>
                          <a:ea typeface="Canva Sans"/>
                          <a:cs typeface="Canva Sans"/>
                          <a:sym typeface="Canva Sans"/>
                        </a:rPr>
                        <a:t>admin</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r>
              <a:tr h="628650">
                <a:tc>
                  <a:txBody>
                    <a:bodyPr anchor="t" rtlCol="false"/>
                    <a:lstStyle/>
                    <a:p>
                      <a:pPr algn="l">
                        <a:lnSpc>
                          <a:spcPts val="2660"/>
                        </a:lnSpc>
                        <a:defRPr/>
                      </a:pPr>
                      <a:r>
                        <a:rPr lang="en-US" sz="1900">
                          <a:solidFill>
                            <a:srgbClr val="FFFFFF"/>
                          </a:solidFill>
                          <a:latin typeface="Canva Sans"/>
                          <a:ea typeface="Canva Sans"/>
                          <a:cs typeface="Canva Sans"/>
                          <a:sym typeface="Canva Sans"/>
                        </a:rPr>
                        <a:t>WordPress</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l">
                        <a:lnSpc>
                          <a:spcPts val="2660"/>
                        </a:lnSpc>
                        <a:defRPr/>
                      </a:pPr>
                      <a:r>
                        <a:rPr lang="en-US" sz="1900">
                          <a:solidFill>
                            <a:srgbClr val="FFFFFF"/>
                          </a:solidFill>
                          <a:latin typeface="Canva Sans"/>
                          <a:ea typeface="Canva Sans"/>
                          <a:cs typeface="Canva Sans"/>
                          <a:sym typeface="Canva Sans"/>
                        </a:rPr>
                        <a:t>admin</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c>
                  <a:txBody>
                    <a:bodyPr anchor="t" rtlCol="false"/>
                    <a:lstStyle/>
                    <a:p>
                      <a:pPr algn="l">
                        <a:lnSpc>
                          <a:spcPts val="2660"/>
                        </a:lnSpc>
                        <a:defRPr/>
                      </a:pPr>
                      <a:r>
                        <a:rPr lang="en-US" sz="1900">
                          <a:solidFill>
                            <a:srgbClr val="FFFFFF"/>
                          </a:solidFill>
                          <a:latin typeface="Canva Sans"/>
                          <a:ea typeface="Canva Sans"/>
                          <a:cs typeface="Canva Sans"/>
                          <a:sym typeface="Canva Sans"/>
                        </a:rPr>
                        <a:t>(user-set)</a:t>
                      </a:r>
                      <a:endParaRPr lang="en-US" sz="1100"/>
                    </a:p>
                  </a:txBody>
                  <a:tcPr marL="76200" marR="76200" marT="76200" marB="76200" anchor="ctr">
                    <a:lnL cmpd="sng" algn="ctr" cap="flat" w="9525">
                      <a:solidFill>
                        <a:srgbClr val="D9D9D9"/>
                      </a:solidFill>
                      <a:prstDash val="solid"/>
                      <a:round/>
                      <a:headEnd type="none" w="med" len="med"/>
                      <a:tailEnd type="none" w="med" len="med"/>
                    </a:lnL>
                    <a:lnR cmpd="sng" algn="ctr" cap="flat" w="9525">
                      <a:solidFill>
                        <a:srgbClr val="D9D9D9"/>
                      </a:solidFill>
                      <a:prstDash val="solid"/>
                      <a:round/>
                      <a:headEnd type="none" w="med" len="med"/>
                      <a:tailEnd type="none" w="med" len="med"/>
                    </a:lnR>
                    <a:lnT cmpd="sng" algn="ctr" cap="flat" w="9525">
                      <a:solidFill>
                        <a:srgbClr val="D9D9D9"/>
                      </a:solidFill>
                      <a:prstDash val="solid"/>
                      <a:round/>
                      <a:headEnd type="none" w="med" len="med"/>
                      <a:tailEnd type="none" w="med" len="med"/>
                    </a:lnT>
                    <a:lnB cmpd="sng" algn="ctr" cap="flat" w="9525">
                      <a:solidFill>
                        <a:srgbClr val="D9D9D9"/>
                      </a:solidFill>
                      <a:prstDash val="solid"/>
                      <a:round/>
                      <a:headEnd type="none" w="med" len="med"/>
                      <a:tailEnd type="none" w="med" len="med"/>
                    </a:lnB>
                  </a:tcPr>
                </a:tc>
              </a:tr>
            </a:tbl>
          </a:graphicData>
        </a:graphic>
      </p:graphicFrame>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grpSp>
        <p:nvGrpSpPr>
          <p:cNvPr name="Group 2" id="2"/>
          <p:cNvGrpSpPr/>
          <p:nvPr/>
        </p:nvGrpSpPr>
        <p:grpSpPr>
          <a:xfrm rot="0">
            <a:off x="16149744" y="381000"/>
            <a:ext cx="1471506" cy="792133"/>
            <a:chOff x="0" y="0"/>
            <a:chExt cx="1962007" cy="1056178"/>
          </a:xfrm>
        </p:grpSpPr>
        <p:grpSp>
          <p:nvGrpSpPr>
            <p:cNvPr name="Group 3" id="3"/>
            <p:cNvGrpSpPr/>
            <p:nvPr/>
          </p:nvGrpSpPr>
          <p:grpSpPr>
            <a:xfrm rot="0">
              <a:off x="0" y="0"/>
              <a:ext cx="1056178" cy="105617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grpSp>
          <p:nvGrpSpPr>
            <p:cNvPr name="Group 6" id="6"/>
            <p:cNvGrpSpPr/>
            <p:nvPr/>
          </p:nvGrpSpPr>
          <p:grpSpPr>
            <a:xfrm rot="0">
              <a:off x="905830" y="0"/>
              <a:ext cx="1056178" cy="105617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sp>
          <p:nvSpPr>
            <p:cNvPr name="Freeform 9" id="9"/>
            <p:cNvSpPr/>
            <p:nvPr/>
          </p:nvSpPr>
          <p:spPr>
            <a:xfrm flipH="false" flipV="false" rot="0">
              <a:off x="177421" y="150010"/>
              <a:ext cx="701336" cy="756158"/>
            </a:xfrm>
            <a:custGeom>
              <a:avLst/>
              <a:gdLst/>
              <a:ahLst/>
              <a:cxnLst/>
              <a:rect r="r" b="b" t="t" l="l"/>
              <a:pathLst>
                <a:path h="756158" w="701336">
                  <a:moveTo>
                    <a:pt x="0" y="0"/>
                  </a:moveTo>
                  <a:lnTo>
                    <a:pt x="701336" y="0"/>
                  </a:lnTo>
                  <a:lnTo>
                    <a:pt x="701336" y="756158"/>
                  </a:lnTo>
                  <a:lnTo>
                    <a:pt x="0" y="7561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070789" y="245755"/>
              <a:ext cx="726260" cy="564667"/>
            </a:xfrm>
            <a:custGeom>
              <a:avLst/>
              <a:gdLst/>
              <a:ahLst/>
              <a:cxnLst/>
              <a:rect r="r" b="b" t="t" l="l"/>
              <a:pathLst>
                <a:path h="564667" w="726260">
                  <a:moveTo>
                    <a:pt x="0" y="0"/>
                  </a:moveTo>
                  <a:lnTo>
                    <a:pt x="726260" y="0"/>
                  </a:lnTo>
                  <a:lnTo>
                    <a:pt x="726260" y="564667"/>
                  </a:lnTo>
                  <a:lnTo>
                    <a:pt x="0" y="5646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TextBox 11" id="11"/>
          <p:cNvSpPr txBox="true"/>
          <p:nvPr/>
        </p:nvSpPr>
        <p:spPr>
          <a:xfrm rot="0">
            <a:off x="666750" y="1985010"/>
            <a:ext cx="8015096" cy="5012055"/>
          </a:xfrm>
          <a:prstGeom prst="rect">
            <a:avLst/>
          </a:prstGeom>
        </p:spPr>
        <p:txBody>
          <a:bodyPr anchor="t" rtlCol="false" tIns="0" lIns="0" bIns="0" rIns="0">
            <a:spAutoFit/>
          </a:bodyPr>
          <a:lstStyle/>
          <a:p>
            <a:pPr algn="l">
              <a:lnSpc>
                <a:spcPts val="3300"/>
              </a:lnSpc>
            </a:pPr>
            <a:r>
              <a:rPr lang="en-US" sz="2200" spc="-66" b="true">
                <a:solidFill>
                  <a:srgbClr val="00FFA8"/>
                </a:solidFill>
                <a:latin typeface="TT Fors Bold"/>
                <a:ea typeface="TT Fors Bold"/>
                <a:cs typeface="TT Fors Bold"/>
                <a:sym typeface="TT Fors Bold"/>
              </a:rPr>
              <a:t>Directory Listing:</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Unprotected directories returning file listings</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Allows attackers to discov</a:t>
            </a:r>
            <a:r>
              <a:rPr lang="en-US" sz="2200" spc="-66">
                <a:solidFill>
                  <a:srgbClr val="00FFA8"/>
                </a:solidFill>
                <a:latin typeface="TT Fors"/>
                <a:ea typeface="TT Fors"/>
                <a:cs typeface="TT Fors"/>
                <a:sym typeface="TT Fors"/>
              </a:rPr>
              <a:t>er</a:t>
            </a:r>
            <a:r>
              <a:rPr lang="en-US" sz="2200" spc="-66">
                <a:solidFill>
                  <a:srgbClr val="00FFA8"/>
                </a:solidFill>
                <a:latin typeface="TT Fors"/>
                <a:ea typeface="TT Fors"/>
                <a:cs typeface="TT Fors"/>
                <a:sym typeface="TT Fors"/>
              </a:rPr>
              <a:t> sensiti</a:t>
            </a:r>
            <a:r>
              <a:rPr lang="en-US" sz="2200" spc="-66">
                <a:solidFill>
                  <a:srgbClr val="00FFA8"/>
                </a:solidFill>
                <a:latin typeface="TT Fors"/>
                <a:ea typeface="TT Fors"/>
                <a:cs typeface="TT Fors"/>
                <a:sym typeface="TT Fors"/>
              </a:rPr>
              <a:t>ve</a:t>
            </a:r>
            <a:r>
              <a:rPr lang="en-US" sz="2200" spc="-66">
                <a:solidFill>
                  <a:srgbClr val="00FFA8"/>
                </a:solidFill>
                <a:latin typeface="TT Fors"/>
                <a:ea typeface="TT Fors"/>
                <a:cs typeface="TT Fors"/>
                <a:sym typeface="TT Fors"/>
              </a:rPr>
              <a:t> files</a:t>
            </a:r>
          </a:p>
          <a:p>
            <a:pPr algn="l">
              <a:lnSpc>
                <a:spcPts val="3300"/>
              </a:lnSpc>
            </a:pPr>
            <a:r>
              <a:rPr lang="en-US" sz="2200" spc="-66" b="true">
                <a:solidFill>
                  <a:srgbClr val="00FFA8"/>
                </a:solidFill>
                <a:latin typeface="TT Fors Bold"/>
                <a:ea typeface="TT Fors Bold"/>
                <a:cs typeface="TT Fors Bold"/>
                <a:sym typeface="TT Fors Bold"/>
              </a:rPr>
              <a:t>Inc</a:t>
            </a:r>
            <a:r>
              <a:rPr lang="en-US" sz="2200" spc="-66" b="true">
                <a:solidFill>
                  <a:srgbClr val="00FFA8"/>
                </a:solidFill>
                <a:latin typeface="TT Fors Bold"/>
                <a:ea typeface="TT Fors Bold"/>
                <a:cs typeface="TT Fors Bold"/>
                <a:sym typeface="TT Fors Bold"/>
              </a:rPr>
              <a:t>orrect Permissions:</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World</a:t>
            </a:r>
            <a:r>
              <a:rPr lang="en-US" sz="2200" spc="-66">
                <a:solidFill>
                  <a:srgbClr val="00FFA8"/>
                </a:solidFill>
                <a:latin typeface="TT Fors"/>
                <a:ea typeface="TT Fors"/>
                <a:cs typeface="TT Fors"/>
                <a:sym typeface="TT Fors"/>
              </a:rPr>
              <a:t>-r</a:t>
            </a:r>
            <a:r>
              <a:rPr lang="en-US" sz="2200" spc="-66">
                <a:solidFill>
                  <a:srgbClr val="00FFA8"/>
                </a:solidFill>
                <a:latin typeface="TT Fors"/>
                <a:ea typeface="TT Fors"/>
                <a:cs typeface="TT Fors"/>
                <a:sym typeface="TT Fors"/>
              </a:rPr>
              <a:t>e</a:t>
            </a:r>
            <a:r>
              <a:rPr lang="en-US" sz="2200" spc="-66">
                <a:solidFill>
                  <a:srgbClr val="00FFA8"/>
                </a:solidFill>
                <a:latin typeface="TT Fors"/>
                <a:ea typeface="TT Fors"/>
                <a:cs typeface="TT Fors"/>
                <a:sym typeface="TT Fors"/>
              </a:rPr>
              <a:t>a</a:t>
            </a:r>
            <a:r>
              <a:rPr lang="en-US" sz="2200" spc="-66">
                <a:solidFill>
                  <a:srgbClr val="00FFA8"/>
                </a:solidFill>
                <a:latin typeface="TT Fors"/>
                <a:ea typeface="TT Fors"/>
                <a:cs typeface="TT Fors"/>
                <a:sym typeface="TT Fors"/>
              </a:rPr>
              <a:t>dabl</a:t>
            </a:r>
            <a:r>
              <a:rPr lang="en-US" sz="2200" spc="-66">
                <a:solidFill>
                  <a:srgbClr val="00FFA8"/>
                </a:solidFill>
                <a:latin typeface="TT Fors"/>
                <a:ea typeface="TT Fors"/>
                <a:cs typeface="TT Fors"/>
                <a:sym typeface="TT Fors"/>
              </a:rPr>
              <a:t>e</a:t>
            </a:r>
            <a:r>
              <a:rPr lang="en-US" sz="2200" spc="-66">
                <a:solidFill>
                  <a:srgbClr val="00FFA8"/>
                </a:solidFill>
                <a:latin typeface="TT Fors"/>
                <a:ea typeface="TT Fors"/>
                <a:cs typeface="TT Fors"/>
                <a:sym typeface="TT Fors"/>
              </a:rPr>
              <a:t> configura</a:t>
            </a:r>
            <a:r>
              <a:rPr lang="en-US" sz="2200" spc="-66">
                <a:solidFill>
                  <a:srgbClr val="00FFA8"/>
                </a:solidFill>
                <a:latin typeface="TT Fors"/>
                <a:ea typeface="TT Fors"/>
                <a:cs typeface="TT Fors"/>
                <a:sym typeface="TT Fors"/>
              </a:rPr>
              <a:t>tion</a:t>
            </a:r>
            <a:r>
              <a:rPr lang="en-US" sz="2200" spc="-66">
                <a:solidFill>
                  <a:srgbClr val="00FFA8"/>
                </a:solidFill>
                <a:latin typeface="TT Fors"/>
                <a:ea typeface="TT Fors"/>
                <a:cs typeface="TT Fors"/>
                <a:sym typeface="TT Fors"/>
              </a:rPr>
              <a:t> file</a:t>
            </a:r>
            <a:r>
              <a:rPr lang="en-US" sz="2200" spc="-66">
                <a:solidFill>
                  <a:srgbClr val="00FFA8"/>
                </a:solidFill>
                <a:latin typeface="TT Fors"/>
                <a:ea typeface="TT Fors"/>
                <a:cs typeface="TT Fors"/>
                <a:sym typeface="TT Fors"/>
              </a:rPr>
              <a:t>s</a:t>
            </a:r>
            <a:r>
              <a:rPr lang="en-US" sz="2200" spc="-66">
                <a:solidFill>
                  <a:srgbClr val="00FFA8"/>
                </a:solidFill>
                <a:latin typeface="TT Fors"/>
                <a:ea typeface="TT Fors"/>
                <a:cs typeface="TT Fors"/>
                <a:sym typeface="TT Fors"/>
              </a:rPr>
              <a:t> con</a:t>
            </a:r>
            <a:r>
              <a:rPr lang="en-US" sz="2200" spc="-66">
                <a:solidFill>
                  <a:srgbClr val="00FFA8"/>
                </a:solidFill>
                <a:latin typeface="TT Fors"/>
                <a:ea typeface="TT Fors"/>
                <a:cs typeface="TT Fors"/>
                <a:sym typeface="TT Fors"/>
              </a:rPr>
              <a:t>ta</a:t>
            </a:r>
            <a:r>
              <a:rPr lang="en-US" sz="2200" spc="-66">
                <a:solidFill>
                  <a:srgbClr val="00FFA8"/>
                </a:solidFill>
                <a:latin typeface="TT Fors"/>
                <a:ea typeface="TT Fors"/>
                <a:cs typeface="TT Fors"/>
                <a:sym typeface="TT Fors"/>
              </a:rPr>
              <a:t>ining</a:t>
            </a:r>
            <a:r>
              <a:rPr lang="en-US" sz="2200" spc="-66">
                <a:solidFill>
                  <a:srgbClr val="00FFA8"/>
                </a:solidFill>
                <a:latin typeface="TT Fors"/>
                <a:ea typeface="TT Fors"/>
                <a:cs typeface="TT Fors"/>
                <a:sym typeface="TT Fors"/>
              </a:rPr>
              <a:t> </a:t>
            </a:r>
            <a:r>
              <a:rPr lang="en-US" sz="2200" spc="-66">
                <a:solidFill>
                  <a:srgbClr val="00FFA8"/>
                </a:solidFill>
                <a:latin typeface="TT Fors"/>
                <a:ea typeface="TT Fors"/>
                <a:cs typeface="TT Fors"/>
                <a:sym typeface="TT Fors"/>
              </a:rPr>
              <a:t>cred</a:t>
            </a:r>
            <a:r>
              <a:rPr lang="en-US" sz="2200" spc="-66">
                <a:solidFill>
                  <a:srgbClr val="00FFA8"/>
                </a:solidFill>
                <a:latin typeface="TT Fors"/>
                <a:ea typeface="TT Fors"/>
                <a:cs typeface="TT Fors"/>
                <a:sym typeface="TT Fors"/>
              </a:rPr>
              <a:t>e</a:t>
            </a:r>
            <a:r>
              <a:rPr lang="en-US" sz="2200" spc="-66">
                <a:solidFill>
                  <a:srgbClr val="00FFA8"/>
                </a:solidFill>
                <a:latin typeface="TT Fors"/>
                <a:ea typeface="TT Fors"/>
                <a:cs typeface="TT Fors"/>
                <a:sym typeface="TT Fors"/>
              </a:rPr>
              <a:t>n</a:t>
            </a:r>
            <a:r>
              <a:rPr lang="en-US" sz="2200" spc="-66">
                <a:solidFill>
                  <a:srgbClr val="00FFA8"/>
                </a:solidFill>
                <a:latin typeface="TT Fors"/>
                <a:ea typeface="TT Fors"/>
                <a:cs typeface="TT Fors"/>
                <a:sym typeface="TT Fors"/>
              </a:rPr>
              <a:t>t</a:t>
            </a:r>
            <a:r>
              <a:rPr lang="en-US" sz="2200" spc="-66">
                <a:solidFill>
                  <a:srgbClr val="00FFA8"/>
                </a:solidFill>
                <a:latin typeface="TT Fors"/>
                <a:ea typeface="TT Fors"/>
                <a:cs typeface="TT Fors"/>
                <a:sym typeface="TT Fors"/>
              </a:rPr>
              <a:t>ials</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W</a:t>
            </a:r>
            <a:r>
              <a:rPr lang="en-US" sz="2200" spc="-66">
                <a:solidFill>
                  <a:srgbClr val="00FFA8"/>
                </a:solidFill>
                <a:latin typeface="TT Fors"/>
                <a:ea typeface="TT Fors"/>
                <a:cs typeface="TT Fors"/>
                <a:sym typeface="TT Fors"/>
              </a:rPr>
              <a:t>r</a:t>
            </a:r>
            <a:r>
              <a:rPr lang="en-US" sz="2200" spc="-66">
                <a:solidFill>
                  <a:srgbClr val="00FFA8"/>
                </a:solidFill>
                <a:latin typeface="TT Fors"/>
                <a:ea typeface="TT Fors"/>
                <a:cs typeface="TT Fors"/>
                <a:sym typeface="TT Fors"/>
              </a:rPr>
              <a:t>itable directories allowing file uploads</a:t>
            </a:r>
          </a:p>
          <a:p>
            <a:pPr algn="l">
              <a:lnSpc>
                <a:spcPts val="3300"/>
              </a:lnSpc>
            </a:pPr>
            <a:r>
              <a:rPr lang="en-US" sz="2200" spc="-66" b="true">
                <a:solidFill>
                  <a:srgbClr val="00FFA8"/>
                </a:solidFill>
                <a:latin typeface="TT Fors Bold"/>
                <a:ea typeface="TT Fors Bold"/>
                <a:cs typeface="TT Fors Bold"/>
                <a:sym typeface="TT Fors Bold"/>
              </a:rPr>
              <a:t>Outdated Software:</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Running vulnerable vers</a:t>
            </a:r>
            <a:r>
              <a:rPr lang="en-US" sz="2200" spc="-66">
                <a:solidFill>
                  <a:srgbClr val="00FFA8"/>
                </a:solidFill>
                <a:latin typeface="TT Fors"/>
                <a:ea typeface="TT Fors"/>
                <a:cs typeface="TT Fors"/>
                <a:sym typeface="TT Fors"/>
              </a:rPr>
              <a:t>ion</a:t>
            </a:r>
            <a:r>
              <a:rPr lang="en-US" sz="2200" spc="-66">
                <a:solidFill>
                  <a:srgbClr val="00FFA8"/>
                </a:solidFill>
                <a:latin typeface="TT Fors"/>
                <a:ea typeface="TT Fors"/>
                <a:cs typeface="TT Fors"/>
                <a:sym typeface="TT Fors"/>
              </a:rPr>
              <a:t>s of Apache, IIS, or frameworks</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Missing security patches</a:t>
            </a:r>
          </a:p>
          <a:p>
            <a:pPr algn="l">
              <a:lnSpc>
                <a:spcPts val="3300"/>
              </a:lnSpc>
            </a:pPr>
            <a:r>
              <a:rPr lang="en-US" sz="2200" spc="-66" b="true">
                <a:solidFill>
                  <a:srgbClr val="00FFA8"/>
                </a:solidFill>
                <a:latin typeface="TT Fors Bold"/>
                <a:ea typeface="TT Fors Bold"/>
                <a:cs typeface="TT Fors Bold"/>
                <a:sym typeface="TT Fors Bold"/>
              </a:rPr>
              <a:t>Debug Mode Enabled:</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Detailed error messages revealing source code</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Stack traces exposing internal paths</a:t>
            </a:r>
          </a:p>
        </p:txBody>
      </p:sp>
      <p:sp>
        <p:nvSpPr>
          <p:cNvPr name="TextBox 12" id="12"/>
          <p:cNvSpPr txBox="true"/>
          <p:nvPr/>
        </p:nvSpPr>
        <p:spPr>
          <a:xfrm rot="0">
            <a:off x="666750" y="37147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PART 3: WEB SERVER VULNERABILITIES (Cont’d)</a:t>
            </a:r>
          </a:p>
        </p:txBody>
      </p:sp>
      <p:sp>
        <p:nvSpPr>
          <p:cNvPr name="TextBox 13" id="13"/>
          <p:cNvSpPr txBox="true"/>
          <p:nvPr/>
        </p:nvSpPr>
        <p:spPr>
          <a:xfrm rot="0">
            <a:off x="8681846" y="1312545"/>
            <a:ext cx="8939404" cy="7945755"/>
          </a:xfrm>
          <a:prstGeom prst="rect">
            <a:avLst/>
          </a:prstGeom>
        </p:spPr>
        <p:txBody>
          <a:bodyPr anchor="t" rtlCol="false" tIns="0" lIns="0" bIns="0" rIns="0">
            <a:spAutoFit/>
          </a:bodyPr>
          <a:lstStyle/>
          <a:p>
            <a:pPr algn="l">
              <a:lnSpc>
                <a:spcPts val="3300"/>
              </a:lnSpc>
            </a:pPr>
            <a:r>
              <a:rPr lang="en-US" sz="2200" spc="-66" b="true">
                <a:solidFill>
                  <a:srgbClr val="00FFA8"/>
                </a:solidFill>
                <a:latin typeface="TT Fors Bold"/>
                <a:ea typeface="TT Fors Bold"/>
                <a:cs typeface="TT Fors Bold"/>
                <a:sym typeface="TT Fors Bold"/>
              </a:rPr>
              <a:t>Directory Traversal (Path Traversal)</a:t>
            </a:r>
          </a:p>
          <a:p>
            <a:pPr algn="l">
              <a:lnSpc>
                <a:spcPts val="3300"/>
              </a:lnSpc>
            </a:pPr>
            <a:r>
              <a:rPr lang="en-US" sz="2200" spc="-66">
                <a:solidFill>
                  <a:srgbClr val="00FFA8"/>
                </a:solidFill>
                <a:latin typeface="TT Fors"/>
                <a:ea typeface="TT Fors"/>
                <a:cs typeface="TT Fors"/>
                <a:sym typeface="TT Fors"/>
              </a:rPr>
              <a:t>Attackers</a:t>
            </a:r>
            <a:r>
              <a:rPr lang="en-US" sz="2200" spc="-66">
                <a:solidFill>
                  <a:srgbClr val="00FFA8"/>
                </a:solidFill>
                <a:latin typeface="TT Fors"/>
                <a:ea typeface="TT Fors"/>
                <a:cs typeface="TT Fors"/>
                <a:sym typeface="TT Fors"/>
              </a:rPr>
              <a:t> use relative path sequences to access files outside intended direc</a:t>
            </a:r>
            <a:r>
              <a:rPr lang="en-US" sz="2200" spc="-66">
                <a:solidFill>
                  <a:srgbClr val="00FFA8"/>
                </a:solidFill>
                <a:latin typeface="TT Fors"/>
                <a:ea typeface="TT Fors"/>
                <a:cs typeface="TT Fors"/>
                <a:sym typeface="TT Fors"/>
              </a:rPr>
              <a:t>tories:</a:t>
            </a:r>
          </a:p>
          <a:p>
            <a:pPr algn="l">
              <a:lnSpc>
                <a:spcPts val="3300"/>
              </a:lnSpc>
            </a:pPr>
            <a:r>
              <a:rPr lang="en-US" sz="2200" spc="-66">
                <a:solidFill>
                  <a:srgbClr val="FFFFFF"/>
                </a:solidFill>
                <a:latin typeface="TT Fors"/>
                <a:ea typeface="TT Fors"/>
                <a:cs typeface="TT Fors"/>
                <a:sym typeface="TT Fors"/>
              </a:rPr>
              <a:t>../../../etc/passwd</a:t>
            </a:r>
          </a:p>
          <a:p>
            <a:pPr algn="l">
              <a:lnSpc>
                <a:spcPts val="3300"/>
              </a:lnSpc>
            </a:pPr>
            <a:r>
              <a:rPr lang="en-US" sz="2200" spc="-66">
                <a:solidFill>
                  <a:srgbClr val="FFFFFF"/>
                </a:solidFill>
                <a:latin typeface="TT Fors"/>
                <a:ea typeface="TT Fors"/>
                <a:cs typeface="TT Fors"/>
                <a:sym typeface="TT Fors"/>
              </a:rPr>
              <a:t>..\..\..\..\windows\system32\config\sam</a:t>
            </a:r>
          </a:p>
          <a:p>
            <a:pPr algn="l">
              <a:lnSpc>
                <a:spcPts val="3300"/>
              </a:lnSpc>
            </a:pPr>
            <a:r>
              <a:rPr lang="en-US" sz="2200" spc="-66">
                <a:solidFill>
                  <a:srgbClr val="FFFFFF"/>
                </a:solidFill>
                <a:latin typeface="TT Fors"/>
                <a:ea typeface="TT Fors"/>
                <a:cs typeface="TT Fors"/>
                <a:sym typeface="TT Fors"/>
              </a:rPr>
              <a:t>%2e%2e%2fconfig.php (URL encoded)</a:t>
            </a:r>
          </a:p>
          <a:p>
            <a:pPr algn="l">
              <a:lnSpc>
                <a:spcPts val="3300"/>
              </a:lnSpc>
            </a:pPr>
          </a:p>
          <a:p>
            <a:pPr algn="l">
              <a:lnSpc>
                <a:spcPts val="3300"/>
              </a:lnSpc>
            </a:pPr>
            <a:r>
              <a:rPr lang="en-US" sz="2200" spc="-66" b="true">
                <a:solidFill>
                  <a:srgbClr val="00FFA8"/>
                </a:solidFill>
                <a:latin typeface="TT Fors Bold"/>
                <a:ea typeface="TT Fors Bold"/>
                <a:cs typeface="TT Fors Bold"/>
                <a:sym typeface="TT Fors Bold"/>
              </a:rPr>
              <a:t>Vulnerable Code Example:</a:t>
            </a:r>
          </a:p>
          <a:p>
            <a:pPr algn="l">
              <a:lnSpc>
                <a:spcPts val="3300"/>
              </a:lnSpc>
            </a:pPr>
            <a:r>
              <a:rPr lang="en-US" sz="2200" spc="-66">
                <a:solidFill>
                  <a:srgbClr val="FFFFFF"/>
                </a:solidFill>
                <a:latin typeface="TT Fors"/>
                <a:ea typeface="TT Fors"/>
                <a:cs typeface="TT Fors"/>
                <a:sym typeface="TT Fors"/>
              </a:rPr>
              <a:t>$file = $_GET['page'];</a:t>
            </a:r>
          </a:p>
          <a:p>
            <a:pPr algn="l">
              <a:lnSpc>
                <a:spcPts val="3300"/>
              </a:lnSpc>
            </a:pPr>
            <a:r>
              <a:rPr lang="en-US" sz="2200" spc="-66">
                <a:solidFill>
                  <a:srgbClr val="FFFFFF"/>
                </a:solidFill>
                <a:latin typeface="TT Fors"/>
                <a:ea typeface="TT Fors"/>
                <a:cs typeface="TT Fors"/>
                <a:sym typeface="TT Fors"/>
              </a:rPr>
              <a:t>include("pages/" . $file . ".php");</a:t>
            </a:r>
          </a:p>
          <a:p>
            <a:pPr algn="l">
              <a:lnSpc>
                <a:spcPts val="3300"/>
              </a:lnSpc>
            </a:pPr>
          </a:p>
          <a:p>
            <a:pPr algn="l">
              <a:lnSpc>
                <a:spcPts val="3300"/>
              </a:lnSpc>
            </a:pPr>
            <a:r>
              <a:rPr lang="en-US" sz="2200" spc="-66" b="true">
                <a:solidFill>
                  <a:srgbClr val="00FFA8"/>
                </a:solidFill>
                <a:latin typeface="TT Fors Bold"/>
                <a:ea typeface="TT Fors Bold"/>
                <a:cs typeface="TT Fors Bold"/>
                <a:sym typeface="TT Fors Bold"/>
              </a:rPr>
              <a:t>Attack:</a:t>
            </a:r>
          </a:p>
          <a:p>
            <a:pPr algn="l">
              <a:lnSpc>
                <a:spcPts val="3300"/>
              </a:lnSpc>
            </a:pPr>
            <a:r>
              <a:rPr lang="en-US" sz="2200" spc="-66">
                <a:solidFill>
                  <a:srgbClr val="FFFFFF"/>
                </a:solidFill>
                <a:latin typeface="TT Fors"/>
                <a:ea typeface="TT Fors"/>
                <a:cs typeface="TT Fors"/>
                <a:sym typeface="TT Fors"/>
              </a:rPr>
              <a:t>http://example.com/view.php?page=../../../etc/passwd</a:t>
            </a:r>
          </a:p>
          <a:p>
            <a:pPr algn="l">
              <a:lnSpc>
                <a:spcPts val="3300"/>
              </a:lnSpc>
            </a:pPr>
          </a:p>
          <a:p>
            <a:pPr algn="l">
              <a:lnSpc>
                <a:spcPts val="3300"/>
              </a:lnSpc>
            </a:pPr>
            <a:r>
              <a:rPr lang="en-US" sz="2200" spc="-66" b="true">
                <a:solidFill>
                  <a:srgbClr val="00FFA8"/>
                </a:solidFill>
                <a:latin typeface="TT Fors Bold"/>
                <a:ea typeface="TT Fors Bold"/>
                <a:cs typeface="TT Fors Bold"/>
                <a:sym typeface="TT Fors Bold"/>
              </a:rPr>
              <a:t>Mitigation:</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Whitelist allowed files/directories</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Use basenames to prevent path traversal</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Chroot/jail environments</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Proper file permissions</a:t>
            </a:r>
          </a:p>
        </p:txBody>
      </p:sp>
      <p:sp>
        <p:nvSpPr>
          <p:cNvPr name="TextBox 14" id="14"/>
          <p:cNvSpPr txBox="true"/>
          <p:nvPr/>
        </p:nvSpPr>
        <p:spPr>
          <a:xfrm rot="0">
            <a:off x="666750" y="1312545"/>
            <a:ext cx="7558709" cy="453390"/>
          </a:xfrm>
          <a:prstGeom prst="rect">
            <a:avLst/>
          </a:prstGeom>
        </p:spPr>
        <p:txBody>
          <a:bodyPr anchor="t" rtlCol="false" tIns="0" lIns="0" bIns="0" rIns="0">
            <a:spAutoFit/>
          </a:bodyPr>
          <a:lstStyle/>
          <a:p>
            <a:pPr algn="l">
              <a:lnSpc>
                <a:spcPts val="3899"/>
              </a:lnSpc>
            </a:pPr>
            <a:r>
              <a:rPr lang="en-US" b="true" sz="2599" spc="-77">
                <a:solidFill>
                  <a:srgbClr val="00FFA8"/>
                </a:solidFill>
                <a:latin typeface="TT Fors Bold"/>
                <a:ea typeface="TT Fors Bold"/>
                <a:cs typeface="TT Fors Bold"/>
                <a:sym typeface="TT Fors Bold"/>
              </a:rPr>
              <a:t>Misconfigurations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grpSp>
        <p:nvGrpSpPr>
          <p:cNvPr name="Group 2" id="2"/>
          <p:cNvGrpSpPr/>
          <p:nvPr/>
        </p:nvGrpSpPr>
        <p:grpSpPr>
          <a:xfrm rot="0">
            <a:off x="16149744" y="381000"/>
            <a:ext cx="1471506" cy="792133"/>
            <a:chOff x="0" y="0"/>
            <a:chExt cx="1962007" cy="1056178"/>
          </a:xfrm>
        </p:grpSpPr>
        <p:grpSp>
          <p:nvGrpSpPr>
            <p:cNvPr name="Group 3" id="3"/>
            <p:cNvGrpSpPr/>
            <p:nvPr/>
          </p:nvGrpSpPr>
          <p:grpSpPr>
            <a:xfrm rot="0">
              <a:off x="0" y="0"/>
              <a:ext cx="1056178" cy="105617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grpSp>
          <p:nvGrpSpPr>
            <p:cNvPr name="Group 6" id="6"/>
            <p:cNvGrpSpPr/>
            <p:nvPr/>
          </p:nvGrpSpPr>
          <p:grpSpPr>
            <a:xfrm rot="0">
              <a:off x="905830" y="0"/>
              <a:ext cx="1056178" cy="105617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sp>
          <p:nvSpPr>
            <p:cNvPr name="Freeform 9" id="9"/>
            <p:cNvSpPr/>
            <p:nvPr/>
          </p:nvSpPr>
          <p:spPr>
            <a:xfrm flipH="false" flipV="false" rot="0">
              <a:off x="177421" y="150010"/>
              <a:ext cx="701336" cy="756158"/>
            </a:xfrm>
            <a:custGeom>
              <a:avLst/>
              <a:gdLst/>
              <a:ahLst/>
              <a:cxnLst/>
              <a:rect r="r" b="b" t="t" l="l"/>
              <a:pathLst>
                <a:path h="756158" w="701336">
                  <a:moveTo>
                    <a:pt x="0" y="0"/>
                  </a:moveTo>
                  <a:lnTo>
                    <a:pt x="701336" y="0"/>
                  </a:lnTo>
                  <a:lnTo>
                    <a:pt x="701336" y="756158"/>
                  </a:lnTo>
                  <a:lnTo>
                    <a:pt x="0" y="7561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070789" y="245755"/>
              <a:ext cx="726260" cy="564667"/>
            </a:xfrm>
            <a:custGeom>
              <a:avLst/>
              <a:gdLst/>
              <a:ahLst/>
              <a:cxnLst/>
              <a:rect r="r" b="b" t="t" l="l"/>
              <a:pathLst>
                <a:path h="564667" w="726260">
                  <a:moveTo>
                    <a:pt x="0" y="0"/>
                  </a:moveTo>
                  <a:lnTo>
                    <a:pt x="726260" y="0"/>
                  </a:lnTo>
                  <a:lnTo>
                    <a:pt x="726260" y="564667"/>
                  </a:lnTo>
                  <a:lnTo>
                    <a:pt x="0" y="5646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TextBox 11" id="11"/>
          <p:cNvSpPr txBox="true"/>
          <p:nvPr/>
        </p:nvSpPr>
        <p:spPr>
          <a:xfrm rot="0">
            <a:off x="666750" y="1321507"/>
            <a:ext cx="8015096" cy="8025765"/>
          </a:xfrm>
          <a:prstGeom prst="rect">
            <a:avLst/>
          </a:prstGeom>
        </p:spPr>
        <p:txBody>
          <a:bodyPr anchor="t" rtlCol="false" tIns="0" lIns="0" bIns="0" rIns="0">
            <a:spAutoFit/>
          </a:bodyPr>
          <a:lstStyle/>
          <a:p>
            <a:pPr algn="l">
              <a:lnSpc>
                <a:spcPts val="3300"/>
              </a:lnSpc>
            </a:pPr>
            <a:r>
              <a:rPr lang="en-US" sz="2200" spc="-66" b="true">
                <a:solidFill>
                  <a:srgbClr val="00FFA8"/>
                </a:solidFill>
                <a:latin typeface="TT Fors Bold"/>
                <a:ea typeface="TT Fors Bold"/>
                <a:cs typeface="TT Fors Bold"/>
                <a:sym typeface="TT Fors Bold"/>
              </a:rPr>
              <a:t>SQL Injection</a:t>
            </a:r>
          </a:p>
          <a:p>
            <a:pPr algn="l">
              <a:lnSpc>
                <a:spcPts val="3000"/>
              </a:lnSpc>
            </a:pPr>
            <a:r>
              <a:rPr lang="en-US" sz="2000" spc="-60">
                <a:solidFill>
                  <a:srgbClr val="00FFA8"/>
                </a:solidFill>
                <a:latin typeface="TT Fors"/>
                <a:ea typeface="TT Fors"/>
                <a:cs typeface="TT Fors"/>
                <a:sym typeface="TT Fors"/>
              </a:rPr>
              <a:t>Attackers manipulate SQL queries through unsanitized input:</a:t>
            </a:r>
          </a:p>
          <a:p>
            <a:pPr algn="l">
              <a:lnSpc>
                <a:spcPts val="3000"/>
              </a:lnSpc>
            </a:pPr>
          </a:p>
          <a:p>
            <a:pPr algn="l">
              <a:lnSpc>
                <a:spcPts val="3000"/>
              </a:lnSpc>
            </a:pPr>
            <a:r>
              <a:rPr lang="en-US" sz="2000" spc="-60" b="true">
                <a:solidFill>
                  <a:srgbClr val="00FFA8"/>
                </a:solidFill>
                <a:latin typeface="TT Fors Bold"/>
                <a:ea typeface="TT Fors Bold"/>
                <a:cs typeface="TT Fors Bold"/>
                <a:sym typeface="TT Fors Bold"/>
              </a:rPr>
              <a:t>Vulnerable Code:</a:t>
            </a:r>
          </a:p>
          <a:p>
            <a:pPr algn="l">
              <a:lnSpc>
                <a:spcPts val="3000"/>
              </a:lnSpc>
            </a:pPr>
            <a:r>
              <a:rPr lang="en-US" sz="2000" spc="-60">
                <a:solidFill>
                  <a:srgbClr val="FFFFFF"/>
                </a:solidFill>
                <a:latin typeface="TT Fors"/>
                <a:ea typeface="TT Fors"/>
                <a:cs typeface="TT Fors"/>
                <a:sym typeface="TT Fors"/>
              </a:rPr>
              <a:t>$name = $_GET['username'];</a:t>
            </a:r>
          </a:p>
          <a:p>
            <a:pPr algn="l">
              <a:lnSpc>
                <a:spcPts val="3000"/>
              </a:lnSpc>
            </a:pPr>
            <a:r>
              <a:rPr lang="en-US" sz="2000" spc="-60">
                <a:solidFill>
                  <a:srgbClr val="FFFFFF"/>
                </a:solidFill>
                <a:latin typeface="TT Fors"/>
                <a:ea typeface="TT Fors"/>
                <a:cs typeface="TT Fors"/>
                <a:sym typeface="TT Fors"/>
              </a:rPr>
              <a:t>$query = "SELECT * FROM users WHERE username='$name'";</a:t>
            </a:r>
          </a:p>
          <a:p>
            <a:pPr algn="l">
              <a:lnSpc>
                <a:spcPts val="3000"/>
              </a:lnSpc>
            </a:pPr>
            <a:r>
              <a:rPr lang="en-US" sz="2000" spc="-60" b="true">
                <a:solidFill>
                  <a:srgbClr val="00FFA8"/>
                </a:solidFill>
                <a:latin typeface="TT Fors Bold"/>
                <a:ea typeface="TT Fors Bold"/>
                <a:cs typeface="TT Fors Bold"/>
                <a:sym typeface="TT Fors Bold"/>
              </a:rPr>
              <a:t>Attack:</a:t>
            </a:r>
          </a:p>
          <a:p>
            <a:pPr algn="l">
              <a:lnSpc>
                <a:spcPts val="3000"/>
              </a:lnSpc>
            </a:pPr>
            <a:r>
              <a:rPr lang="en-US" sz="2000" spc="-60">
                <a:solidFill>
                  <a:srgbClr val="FFFFFF"/>
                </a:solidFill>
                <a:latin typeface="TT Fors"/>
                <a:ea typeface="TT Fors"/>
                <a:cs typeface="TT Fors"/>
                <a:sym typeface="TT Fors"/>
              </a:rPr>
              <a:t>http://example.com/search.php?username=' OR '1'='1</a:t>
            </a:r>
          </a:p>
          <a:p>
            <a:pPr algn="l">
              <a:lnSpc>
                <a:spcPts val="3000"/>
              </a:lnSpc>
            </a:pPr>
            <a:r>
              <a:rPr lang="en-US" sz="2000" spc="-60" b="true">
                <a:solidFill>
                  <a:srgbClr val="00FFA8"/>
                </a:solidFill>
                <a:latin typeface="TT Fors Bold"/>
                <a:ea typeface="TT Fors Bold"/>
                <a:cs typeface="TT Fors Bold"/>
                <a:sym typeface="TT Fors Bold"/>
              </a:rPr>
              <a:t>Resulting Query:</a:t>
            </a:r>
          </a:p>
          <a:p>
            <a:pPr algn="l">
              <a:lnSpc>
                <a:spcPts val="3000"/>
              </a:lnSpc>
            </a:pPr>
            <a:r>
              <a:rPr lang="en-US" sz="2000" spc="-60">
                <a:solidFill>
                  <a:srgbClr val="FFFFFF"/>
                </a:solidFill>
                <a:latin typeface="TT Fors"/>
                <a:ea typeface="TT Fors"/>
                <a:cs typeface="TT Fors"/>
                <a:sym typeface="TT Fors"/>
              </a:rPr>
              <a:t>SELECT</a:t>
            </a:r>
            <a:r>
              <a:rPr lang="en-US" sz="2000" spc="-60">
                <a:solidFill>
                  <a:srgbClr val="FFFFFF"/>
                </a:solidFill>
                <a:latin typeface="TT Fors"/>
                <a:ea typeface="TT Fors"/>
                <a:cs typeface="TT Fors"/>
                <a:sym typeface="TT Fors"/>
              </a:rPr>
              <a:t> * FROM users WHERE us</a:t>
            </a:r>
            <a:r>
              <a:rPr lang="en-US" sz="2000" spc="-60">
                <a:solidFill>
                  <a:srgbClr val="FFFFFF"/>
                </a:solidFill>
                <a:latin typeface="TT Fors"/>
                <a:ea typeface="TT Fors"/>
                <a:cs typeface="TT Fors"/>
                <a:sym typeface="TT Fors"/>
              </a:rPr>
              <a:t>ername='' OR '1'='1'</a:t>
            </a:r>
          </a:p>
          <a:p>
            <a:pPr algn="l">
              <a:lnSpc>
                <a:spcPts val="3000"/>
              </a:lnSpc>
            </a:pPr>
            <a:r>
              <a:rPr lang="en-US" sz="2000" spc="-60">
                <a:solidFill>
                  <a:srgbClr val="00FFA8"/>
                </a:solidFill>
                <a:latin typeface="TT Fors"/>
                <a:ea typeface="TT Fors"/>
                <a:cs typeface="TT Fors"/>
                <a:sym typeface="TT Fors"/>
              </a:rPr>
              <a:t>It</a:t>
            </a:r>
            <a:r>
              <a:rPr lang="en-US" sz="2000" spc="-60">
                <a:solidFill>
                  <a:srgbClr val="00FFA8"/>
                </a:solidFill>
                <a:latin typeface="TT Fors"/>
                <a:ea typeface="TT Fors"/>
                <a:cs typeface="TT Fors"/>
                <a:sym typeface="TT Fors"/>
              </a:rPr>
              <a:t> always returns true, bypassing authe</a:t>
            </a:r>
            <a:r>
              <a:rPr lang="en-US" sz="2000" spc="-60">
                <a:solidFill>
                  <a:srgbClr val="00FFA8"/>
                </a:solidFill>
                <a:latin typeface="TT Fors"/>
                <a:ea typeface="TT Fors"/>
                <a:cs typeface="TT Fors"/>
                <a:sym typeface="TT Fors"/>
              </a:rPr>
              <a:t>nticati</a:t>
            </a:r>
            <a:r>
              <a:rPr lang="en-US" sz="2000" spc="-60">
                <a:solidFill>
                  <a:srgbClr val="00FFA8"/>
                </a:solidFill>
                <a:latin typeface="TT Fors"/>
                <a:ea typeface="TT Fors"/>
                <a:cs typeface="TT Fors"/>
                <a:sym typeface="TT Fors"/>
              </a:rPr>
              <a:t>on.</a:t>
            </a:r>
          </a:p>
          <a:p>
            <a:pPr algn="l">
              <a:lnSpc>
                <a:spcPts val="3000"/>
              </a:lnSpc>
            </a:pPr>
            <a:r>
              <a:rPr lang="en-US" sz="2000" spc="-60" b="true">
                <a:solidFill>
                  <a:srgbClr val="00FFA8"/>
                </a:solidFill>
                <a:latin typeface="TT Fors Bold"/>
                <a:ea typeface="TT Fors Bold"/>
                <a:cs typeface="TT Fors Bold"/>
                <a:sym typeface="TT Fors Bold"/>
              </a:rPr>
              <a:t>Modern SQL Injection:</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Union</a:t>
            </a:r>
            <a:r>
              <a:rPr lang="en-US" sz="2000" spc="-60">
                <a:solidFill>
                  <a:srgbClr val="00FFA8"/>
                </a:solidFill>
                <a:latin typeface="TT Fors"/>
                <a:ea typeface="TT Fors"/>
                <a:cs typeface="TT Fors"/>
                <a:sym typeface="TT Fors"/>
              </a:rPr>
              <a:t>-based injection (extracting additional data)</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Blind SQL injection (inferring results from response differences)</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Time-based blind (using delays to exfiltrate data)</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Second-order inject</a:t>
            </a:r>
            <a:r>
              <a:rPr lang="en-US" sz="2000" spc="-60">
                <a:solidFill>
                  <a:srgbClr val="00FFA8"/>
                </a:solidFill>
                <a:latin typeface="TT Fors"/>
                <a:ea typeface="TT Fors"/>
                <a:cs typeface="TT Fors"/>
                <a:sym typeface="TT Fors"/>
              </a:rPr>
              <a:t>ion (stored in database, executed later)</a:t>
            </a:r>
          </a:p>
          <a:p>
            <a:pPr algn="l">
              <a:lnSpc>
                <a:spcPts val="3000"/>
              </a:lnSpc>
            </a:pPr>
            <a:r>
              <a:rPr lang="en-US" sz="2000" spc="-60" b="true">
                <a:solidFill>
                  <a:srgbClr val="00FFA8"/>
                </a:solidFill>
                <a:latin typeface="TT Fors Bold"/>
                <a:ea typeface="TT Fors Bold"/>
                <a:cs typeface="TT Fors Bold"/>
                <a:sym typeface="TT Fors Bold"/>
              </a:rPr>
              <a:t>Mitigation:</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Parameterized queries/prepared statements</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Input validation and sanitization</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Principle of least privilege (database user permissions)</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Web Application Firewalls (WAF)</a:t>
            </a:r>
          </a:p>
        </p:txBody>
      </p:sp>
      <p:sp>
        <p:nvSpPr>
          <p:cNvPr name="TextBox 12" id="12"/>
          <p:cNvSpPr txBox="true"/>
          <p:nvPr/>
        </p:nvSpPr>
        <p:spPr>
          <a:xfrm rot="0">
            <a:off x="666750" y="37147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PART 3: WEB SERVER VULNERABILITIES (Cont’d)</a:t>
            </a:r>
          </a:p>
        </p:txBody>
      </p:sp>
      <p:sp>
        <p:nvSpPr>
          <p:cNvPr name="TextBox 13" id="13"/>
          <p:cNvSpPr txBox="true"/>
          <p:nvPr/>
        </p:nvSpPr>
        <p:spPr>
          <a:xfrm rot="0">
            <a:off x="8681846" y="1321507"/>
            <a:ext cx="9280681" cy="8787765"/>
          </a:xfrm>
          <a:prstGeom prst="rect">
            <a:avLst/>
          </a:prstGeom>
        </p:spPr>
        <p:txBody>
          <a:bodyPr anchor="t" rtlCol="false" tIns="0" lIns="0" bIns="0" rIns="0">
            <a:spAutoFit/>
          </a:bodyPr>
          <a:lstStyle/>
          <a:p>
            <a:pPr algn="l">
              <a:lnSpc>
                <a:spcPts val="3300"/>
              </a:lnSpc>
            </a:pPr>
            <a:r>
              <a:rPr lang="en-US" sz="2200" spc="-66" b="true">
                <a:solidFill>
                  <a:srgbClr val="00FFA8"/>
                </a:solidFill>
                <a:latin typeface="TT Fors Bold"/>
                <a:ea typeface="TT Fors Bold"/>
                <a:cs typeface="TT Fors Bold"/>
                <a:sym typeface="TT Fors Bold"/>
              </a:rPr>
              <a:t>Cross-Site Scripting (XSS)</a:t>
            </a:r>
          </a:p>
          <a:p>
            <a:pPr algn="l">
              <a:lnSpc>
                <a:spcPts val="3000"/>
              </a:lnSpc>
            </a:pPr>
            <a:r>
              <a:rPr lang="en-US" sz="2000" spc="-60">
                <a:solidFill>
                  <a:srgbClr val="00FFA8"/>
                </a:solidFill>
                <a:latin typeface="TT Fors"/>
                <a:ea typeface="TT Fors"/>
                <a:cs typeface="TT Fors"/>
                <a:sym typeface="TT Fors"/>
              </a:rPr>
              <a:t>Attackers</a:t>
            </a:r>
            <a:r>
              <a:rPr lang="en-US" sz="2000" spc="-60">
                <a:solidFill>
                  <a:srgbClr val="00FFA8"/>
                </a:solidFill>
                <a:latin typeface="TT Fors"/>
                <a:ea typeface="TT Fors"/>
                <a:cs typeface="TT Fors"/>
                <a:sym typeface="TT Fors"/>
              </a:rPr>
              <a:t> inject malicious JavaScript into web pages:</a:t>
            </a:r>
          </a:p>
          <a:p>
            <a:pPr algn="l">
              <a:lnSpc>
                <a:spcPts val="3000"/>
              </a:lnSpc>
            </a:pPr>
          </a:p>
          <a:p>
            <a:pPr algn="l">
              <a:lnSpc>
                <a:spcPts val="3000"/>
              </a:lnSpc>
            </a:pPr>
            <a:r>
              <a:rPr lang="en-US" sz="2000" spc="-60" b="true">
                <a:solidFill>
                  <a:srgbClr val="00FFA8"/>
                </a:solidFill>
                <a:latin typeface="TT Fors Bold"/>
                <a:ea typeface="TT Fors Bold"/>
                <a:cs typeface="TT Fors Bold"/>
                <a:sym typeface="TT Fors Bold"/>
              </a:rPr>
              <a:t>Reflected XSS:</a:t>
            </a:r>
          </a:p>
          <a:p>
            <a:pPr algn="l">
              <a:lnSpc>
                <a:spcPts val="3000"/>
              </a:lnSpc>
            </a:pPr>
            <a:r>
              <a:rPr lang="en-US" sz="2000" spc="-60">
                <a:solidFill>
                  <a:srgbClr val="FFFFFF"/>
                </a:solidFill>
                <a:latin typeface="TT Fors"/>
                <a:ea typeface="TT Fors"/>
                <a:cs typeface="TT Fors"/>
                <a:sym typeface="TT Fors"/>
              </a:rPr>
              <a:t>http://example.com/search.php?q=&lt;script&gt;alert(document.cookie)&lt;/script&gt;</a:t>
            </a:r>
          </a:p>
          <a:p>
            <a:pPr algn="l">
              <a:lnSpc>
                <a:spcPts val="3000"/>
              </a:lnSpc>
            </a:pPr>
            <a:r>
              <a:rPr lang="en-US" sz="2000" spc="-60" b="true">
                <a:solidFill>
                  <a:srgbClr val="00FFA8"/>
                </a:solidFill>
                <a:latin typeface="TT Fors Bold"/>
                <a:ea typeface="TT Fors Bold"/>
                <a:cs typeface="TT Fors Bold"/>
                <a:sym typeface="TT Fors Bold"/>
              </a:rPr>
              <a:t>Stored XSS:</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Malicious payload stored in the database</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Executed for all users viewing the content</a:t>
            </a:r>
          </a:p>
          <a:p>
            <a:pPr algn="l" marL="431802" indent="-215901" lvl="1">
              <a:lnSpc>
                <a:spcPts val="3000"/>
              </a:lnSpc>
              <a:buFont typeface="Arial"/>
              <a:buChar char="•"/>
            </a:pPr>
            <a:r>
              <a:rPr lang="en-US" b="true" sz="2000" spc="-60">
                <a:solidFill>
                  <a:srgbClr val="00FFA8"/>
                </a:solidFill>
                <a:latin typeface="TT Fors Bold"/>
                <a:ea typeface="TT Fors Bold"/>
                <a:cs typeface="TT Fors Bold"/>
                <a:sym typeface="TT Fors Bold"/>
              </a:rPr>
              <a:t>Example: </a:t>
            </a:r>
            <a:r>
              <a:rPr lang="en-US" sz="2000" spc="-60">
                <a:solidFill>
                  <a:srgbClr val="00FFA8"/>
                </a:solidFill>
                <a:latin typeface="TT Fors"/>
                <a:ea typeface="TT Fors"/>
                <a:cs typeface="TT Fors"/>
                <a:sym typeface="TT Fors"/>
              </a:rPr>
              <a:t>Comments, forum posts, user profiles</a:t>
            </a:r>
          </a:p>
          <a:p>
            <a:pPr algn="l">
              <a:lnSpc>
                <a:spcPts val="3000"/>
              </a:lnSpc>
            </a:pPr>
            <a:r>
              <a:rPr lang="en-US" sz="2000" spc="-60" b="true">
                <a:solidFill>
                  <a:srgbClr val="00FFA8"/>
                </a:solidFill>
                <a:latin typeface="TT Fors Bold"/>
                <a:ea typeface="TT Fors Bold"/>
                <a:cs typeface="TT Fors Bold"/>
                <a:sym typeface="TT Fors Bold"/>
              </a:rPr>
              <a:t>DOM-based XSS:</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JavaScript modifies the page without a server round-trip</a:t>
            </a:r>
          </a:p>
          <a:p>
            <a:pPr algn="l" marL="431802" indent="-215901" lvl="1">
              <a:lnSpc>
                <a:spcPts val="3000"/>
              </a:lnSpc>
              <a:buFont typeface="Arial"/>
              <a:buChar char="•"/>
            </a:pPr>
            <a:r>
              <a:rPr lang="en-US" b="true" sz="2000" spc="-60">
                <a:solidFill>
                  <a:srgbClr val="00FFA8"/>
                </a:solidFill>
                <a:latin typeface="TT Fors Bold"/>
                <a:ea typeface="TT Fors Bold"/>
                <a:cs typeface="TT Fors Bold"/>
                <a:sym typeface="TT Fors Bold"/>
              </a:rPr>
              <a:t>Vulnerable code: </a:t>
            </a:r>
            <a:r>
              <a:rPr lang="en-US" sz="2000" spc="-60">
                <a:solidFill>
                  <a:srgbClr val="00FFA8"/>
                </a:solidFill>
                <a:latin typeface="TT Fors"/>
                <a:ea typeface="TT Fors"/>
                <a:cs typeface="TT Fors"/>
                <a:sym typeface="TT Fors"/>
              </a:rPr>
              <a:t>document.body.innerHTML = userInput</a:t>
            </a:r>
          </a:p>
          <a:p>
            <a:pPr algn="l">
              <a:lnSpc>
                <a:spcPts val="3000"/>
              </a:lnSpc>
            </a:pPr>
            <a:r>
              <a:rPr lang="en-US" sz="2000" spc="-60" b="true">
                <a:solidFill>
                  <a:srgbClr val="00FFA8"/>
                </a:solidFill>
                <a:latin typeface="TT Fors Bold"/>
                <a:ea typeface="TT Fors Bold"/>
                <a:cs typeface="TT Fors Bold"/>
                <a:sym typeface="TT Fors Bold"/>
              </a:rPr>
              <a:t>Consequences:</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Steal session cookies</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Keylogging</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Credential harvesting</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Defacement</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Drive-by downloads</a:t>
            </a:r>
          </a:p>
          <a:p>
            <a:pPr algn="l">
              <a:lnSpc>
                <a:spcPts val="3000"/>
              </a:lnSpc>
            </a:pPr>
            <a:r>
              <a:rPr lang="en-US" sz="2000" spc="-60" b="true">
                <a:solidFill>
                  <a:srgbClr val="00FFA8"/>
                </a:solidFill>
                <a:latin typeface="TT Fors Bold"/>
                <a:ea typeface="TT Fors Bold"/>
                <a:cs typeface="TT Fors Bold"/>
                <a:sym typeface="TT Fors Bold"/>
              </a:rPr>
              <a:t>Mitigation:</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Content Security Policy (CSP)</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HTML</a:t>
            </a:r>
            <a:r>
              <a:rPr lang="en-US" sz="2000" spc="-60">
                <a:solidFill>
                  <a:srgbClr val="00FFA8"/>
                </a:solidFill>
                <a:latin typeface="TT Fors"/>
                <a:ea typeface="TT Fors"/>
                <a:cs typeface="TT Fors"/>
                <a:sym typeface="TT Fors"/>
              </a:rPr>
              <a:t> entity encoding</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Input validation</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Htt</a:t>
            </a:r>
            <a:r>
              <a:rPr lang="en-US" sz="2000" spc="-60">
                <a:solidFill>
                  <a:srgbClr val="00FFA8"/>
                </a:solidFill>
                <a:latin typeface="TT Fors"/>
                <a:ea typeface="TT Fors"/>
                <a:cs typeface="TT Fors"/>
                <a:sym typeface="TT Fors"/>
              </a:rPr>
              <a:t>pOnly cookies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grpSp>
        <p:nvGrpSpPr>
          <p:cNvPr name="Group 2" id="2"/>
          <p:cNvGrpSpPr/>
          <p:nvPr/>
        </p:nvGrpSpPr>
        <p:grpSpPr>
          <a:xfrm rot="0">
            <a:off x="16149744" y="381000"/>
            <a:ext cx="1471506" cy="792133"/>
            <a:chOff x="0" y="0"/>
            <a:chExt cx="1962007" cy="1056178"/>
          </a:xfrm>
        </p:grpSpPr>
        <p:grpSp>
          <p:nvGrpSpPr>
            <p:cNvPr name="Group 3" id="3"/>
            <p:cNvGrpSpPr/>
            <p:nvPr/>
          </p:nvGrpSpPr>
          <p:grpSpPr>
            <a:xfrm rot="0">
              <a:off x="0" y="0"/>
              <a:ext cx="1056178" cy="105617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grpSp>
          <p:nvGrpSpPr>
            <p:cNvPr name="Group 6" id="6"/>
            <p:cNvGrpSpPr/>
            <p:nvPr/>
          </p:nvGrpSpPr>
          <p:grpSpPr>
            <a:xfrm rot="0">
              <a:off x="905830" y="0"/>
              <a:ext cx="1056178" cy="105617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sp>
          <p:nvSpPr>
            <p:cNvPr name="Freeform 9" id="9"/>
            <p:cNvSpPr/>
            <p:nvPr/>
          </p:nvSpPr>
          <p:spPr>
            <a:xfrm flipH="false" flipV="false" rot="0">
              <a:off x="177421" y="150010"/>
              <a:ext cx="701336" cy="756158"/>
            </a:xfrm>
            <a:custGeom>
              <a:avLst/>
              <a:gdLst/>
              <a:ahLst/>
              <a:cxnLst/>
              <a:rect r="r" b="b" t="t" l="l"/>
              <a:pathLst>
                <a:path h="756158" w="701336">
                  <a:moveTo>
                    <a:pt x="0" y="0"/>
                  </a:moveTo>
                  <a:lnTo>
                    <a:pt x="701336" y="0"/>
                  </a:lnTo>
                  <a:lnTo>
                    <a:pt x="701336" y="756158"/>
                  </a:lnTo>
                  <a:lnTo>
                    <a:pt x="0" y="7561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070789" y="245755"/>
              <a:ext cx="726260" cy="564667"/>
            </a:xfrm>
            <a:custGeom>
              <a:avLst/>
              <a:gdLst/>
              <a:ahLst/>
              <a:cxnLst/>
              <a:rect r="r" b="b" t="t" l="l"/>
              <a:pathLst>
                <a:path h="564667" w="726260">
                  <a:moveTo>
                    <a:pt x="0" y="0"/>
                  </a:moveTo>
                  <a:lnTo>
                    <a:pt x="726260" y="0"/>
                  </a:lnTo>
                  <a:lnTo>
                    <a:pt x="726260" y="564667"/>
                  </a:lnTo>
                  <a:lnTo>
                    <a:pt x="0" y="5646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TextBox 11" id="11"/>
          <p:cNvSpPr txBox="true"/>
          <p:nvPr/>
        </p:nvSpPr>
        <p:spPr>
          <a:xfrm rot="0">
            <a:off x="666750" y="1321507"/>
            <a:ext cx="7803829" cy="6501765"/>
          </a:xfrm>
          <a:prstGeom prst="rect">
            <a:avLst/>
          </a:prstGeom>
        </p:spPr>
        <p:txBody>
          <a:bodyPr anchor="t" rtlCol="false" tIns="0" lIns="0" bIns="0" rIns="0">
            <a:spAutoFit/>
          </a:bodyPr>
          <a:lstStyle/>
          <a:p>
            <a:pPr algn="l">
              <a:lnSpc>
                <a:spcPts val="3300"/>
              </a:lnSpc>
            </a:pPr>
            <a:r>
              <a:rPr lang="en-US" sz="2200" spc="-66" b="true">
                <a:solidFill>
                  <a:srgbClr val="00FFA8"/>
                </a:solidFill>
                <a:latin typeface="TT Fors Bold"/>
                <a:ea typeface="TT Fors Bold"/>
                <a:cs typeface="TT Fors Bold"/>
                <a:sym typeface="TT Fors Bold"/>
              </a:rPr>
              <a:t>Cross-Site Request Forgery (CSRF)</a:t>
            </a:r>
          </a:p>
          <a:p>
            <a:pPr algn="l">
              <a:lnSpc>
                <a:spcPts val="3000"/>
              </a:lnSpc>
            </a:pPr>
            <a:r>
              <a:rPr lang="en-US" sz="2000" spc="-60">
                <a:solidFill>
                  <a:srgbClr val="00FFA8"/>
                </a:solidFill>
                <a:latin typeface="TT Fors"/>
                <a:ea typeface="TT Fors"/>
                <a:cs typeface="TT Fors"/>
                <a:sym typeface="TT Fors"/>
              </a:rPr>
              <a:t>Attacker tricks an authenticated user into performing an unintended action:</a:t>
            </a:r>
          </a:p>
          <a:p>
            <a:pPr algn="l">
              <a:lnSpc>
                <a:spcPts val="3000"/>
              </a:lnSpc>
            </a:pPr>
          </a:p>
          <a:p>
            <a:pPr algn="l">
              <a:lnSpc>
                <a:spcPts val="3000"/>
              </a:lnSpc>
            </a:pPr>
            <a:r>
              <a:rPr lang="en-US" sz="2000" spc="-60" b="true">
                <a:solidFill>
                  <a:srgbClr val="00FFA8"/>
                </a:solidFill>
                <a:latin typeface="TT Fors Bold"/>
                <a:ea typeface="TT Fors Bold"/>
                <a:cs typeface="TT Fors Bold"/>
                <a:sym typeface="TT Fors Bold"/>
              </a:rPr>
              <a:t>Attack Scenario:</a:t>
            </a:r>
          </a:p>
          <a:p>
            <a:pPr algn="l" marL="431802" indent="-215901" lvl="1">
              <a:lnSpc>
                <a:spcPts val="3000"/>
              </a:lnSpc>
              <a:buAutoNum type="arabicPeriod" startAt="1"/>
            </a:pPr>
            <a:r>
              <a:rPr lang="en-US" sz="2000" spc="-60">
                <a:solidFill>
                  <a:srgbClr val="00FFA8"/>
                </a:solidFill>
                <a:latin typeface="TT Fors"/>
                <a:ea typeface="TT Fors"/>
                <a:cs typeface="TT Fors"/>
                <a:sym typeface="TT Fors"/>
              </a:rPr>
              <a:t>User logs into the banking website</a:t>
            </a:r>
          </a:p>
          <a:p>
            <a:pPr algn="l" marL="431802" indent="-215901" lvl="1">
              <a:lnSpc>
                <a:spcPts val="3000"/>
              </a:lnSpc>
              <a:buAutoNum type="arabicPeriod" startAt="1"/>
            </a:pPr>
            <a:r>
              <a:rPr lang="en-US" sz="2000" spc="-60">
                <a:solidFill>
                  <a:srgbClr val="00FFA8"/>
                </a:solidFill>
                <a:latin typeface="TT Fors"/>
                <a:ea typeface="TT Fors"/>
                <a:cs typeface="TT Fors"/>
                <a:sym typeface="TT Fors"/>
              </a:rPr>
              <a:t>User visits attacker's website (in another tab)</a:t>
            </a:r>
          </a:p>
          <a:p>
            <a:pPr algn="l" marL="431802" indent="-215901" lvl="1">
              <a:lnSpc>
                <a:spcPts val="3000"/>
              </a:lnSpc>
              <a:buAutoNum type="arabicPeriod" startAt="1"/>
            </a:pPr>
            <a:r>
              <a:rPr lang="en-US" sz="2000" spc="-60">
                <a:solidFill>
                  <a:srgbClr val="00FFA8"/>
                </a:solidFill>
                <a:latin typeface="TT Fors"/>
                <a:ea typeface="TT Fors"/>
                <a:cs typeface="TT Fors"/>
                <a:sym typeface="TT Fors"/>
              </a:rPr>
              <a:t>Attacker's site contains: </a:t>
            </a:r>
            <a:r>
              <a:rPr lang="en-US" sz="2000" spc="-60">
                <a:solidFill>
                  <a:srgbClr val="FFFFFF"/>
                </a:solidFill>
                <a:latin typeface="TT Fors"/>
                <a:ea typeface="TT Fors"/>
                <a:cs typeface="TT Fors"/>
                <a:sym typeface="TT Fors"/>
              </a:rPr>
              <a:t>&lt;img src="bank.com/transfer?amount=1000&amp;to=attacker"&gt;</a:t>
            </a:r>
          </a:p>
          <a:p>
            <a:pPr algn="l" marL="431802" indent="-215901" lvl="1">
              <a:lnSpc>
                <a:spcPts val="3000"/>
              </a:lnSpc>
              <a:buAutoNum type="arabicPeriod" startAt="1"/>
            </a:pPr>
            <a:r>
              <a:rPr lang="en-US" sz="2000" spc="-60">
                <a:solidFill>
                  <a:srgbClr val="00FFA8"/>
                </a:solidFill>
                <a:latin typeface="TT Fors"/>
                <a:ea typeface="TT Fors"/>
                <a:cs typeface="TT Fors"/>
                <a:sym typeface="TT Fors"/>
              </a:rPr>
              <a:t>Th</a:t>
            </a:r>
            <a:r>
              <a:rPr lang="en-US" sz="2000" spc="-60">
                <a:solidFill>
                  <a:srgbClr val="00FFA8"/>
                </a:solidFill>
                <a:latin typeface="TT Fors"/>
                <a:ea typeface="TT Fors"/>
                <a:cs typeface="TT Fors"/>
                <a:sym typeface="TT Fors"/>
              </a:rPr>
              <a:t>e brows</a:t>
            </a:r>
            <a:r>
              <a:rPr lang="en-US" sz="2000" spc="-60">
                <a:solidFill>
                  <a:srgbClr val="00FFA8"/>
                </a:solidFill>
                <a:latin typeface="TT Fors"/>
                <a:ea typeface="TT Fors"/>
                <a:cs typeface="TT Fors"/>
                <a:sym typeface="TT Fors"/>
              </a:rPr>
              <a:t>er automa</a:t>
            </a:r>
            <a:r>
              <a:rPr lang="en-US" sz="2000" spc="-60">
                <a:solidFill>
                  <a:srgbClr val="00FFA8"/>
                </a:solidFill>
                <a:latin typeface="TT Fors"/>
                <a:ea typeface="TT Fors"/>
                <a:cs typeface="TT Fors"/>
                <a:sym typeface="TT Fors"/>
              </a:rPr>
              <a:t>tic</a:t>
            </a:r>
            <a:r>
              <a:rPr lang="en-US" sz="2000" spc="-60">
                <a:solidFill>
                  <a:srgbClr val="00FFA8"/>
                </a:solidFill>
                <a:latin typeface="TT Fors"/>
                <a:ea typeface="TT Fors"/>
                <a:cs typeface="TT Fors"/>
                <a:sym typeface="TT Fors"/>
              </a:rPr>
              <a:t>ally includes authe</a:t>
            </a:r>
            <a:r>
              <a:rPr lang="en-US" sz="2000" spc="-60">
                <a:solidFill>
                  <a:srgbClr val="00FFA8"/>
                </a:solidFill>
                <a:latin typeface="TT Fors"/>
                <a:ea typeface="TT Fors"/>
                <a:cs typeface="TT Fors"/>
                <a:sym typeface="TT Fors"/>
              </a:rPr>
              <a:t>nticati</a:t>
            </a:r>
            <a:r>
              <a:rPr lang="en-US" sz="2000" spc="-60">
                <a:solidFill>
                  <a:srgbClr val="00FFA8"/>
                </a:solidFill>
                <a:latin typeface="TT Fors"/>
                <a:ea typeface="TT Fors"/>
                <a:cs typeface="TT Fors"/>
                <a:sym typeface="TT Fors"/>
              </a:rPr>
              <a:t>on cookies</a:t>
            </a:r>
          </a:p>
          <a:p>
            <a:pPr algn="l" marL="431802" indent="-215901" lvl="1">
              <a:lnSpc>
                <a:spcPts val="3000"/>
              </a:lnSpc>
              <a:buAutoNum type="arabicPeriod" startAt="1"/>
            </a:pPr>
            <a:r>
              <a:rPr lang="en-US" sz="2000" spc="-60">
                <a:solidFill>
                  <a:srgbClr val="00FFA8"/>
                </a:solidFill>
                <a:latin typeface="TT Fors"/>
                <a:ea typeface="TT Fors"/>
                <a:cs typeface="TT Fors"/>
                <a:sym typeface="TT Fors"/>
              </a:rPr>
              <a:t>Unauthoriz</a:t>
            </a:r>
            <a:r>
              <a:rPr lang="en-US" sz="2000" spc="-60">
                <a:solidFill>
                  <a:srgbClr val="00FFA8"/>
                </a:solidFill>
                <a:latin typeface="TT Fors"/>
                <a:ea typeface="TT Fors"/>
                <a:cs typeface="TT Fors"/>
                <a:sym typeface="TT Fors"/>
              </a:rPr>
              <a:t>ed transfer occurs</a:t>
            </a:r>
          </a:p>
          <a:p>
            <a:pPr algn="l">
              <a:lnSpc>
                <a:spcPts val="3000"/>
              </a:lnSpc>
            </a:pPr>
          </a:p>
          <a:p>
            <a:pPr algn="l">
              <a:lnSpc>
                <a:spcPts val="3000"/>
              </a:lnSpc>
            </a:pPr>
            <a:r>
              <a:rPr lang="en-US" sz="2000" spc="-60" b="true">
                <a:solidFill>
                  <a:srgbClr val="00FFA8"/>
                </a:solidFill>
                <a:latin typeface="TT Fors Bold"/>
                <a:ea typeface="TT Fors Bold"/>
                <a:cs typeface="TT Fors Bold"/>
                <a:sym typeface="TT Fors Bold"/>
              </a:rPr>
              <a:t>Mitigation:</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C</a:t>
            </a:r>
            <a:r>
              <a:rPr lang="en-US" sz="2000" spc="-60">
                <a:solidFill>
                  <a:srgbClr val="00FFA8"/>
                </a:solidFill>
                <a:latin typeface="TT Fors"/>
                <a:ea typeface="TT Fors"/>
                <a:cs typeface="TT Fors"/>
                <a:sym typeface="TT Fors"/>
              </a:rPr>
              <a:t>SRF tokens (unique per request/session)</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Sa</a:t>
            </a:r>
            <a:r>
              <a:rPr lang="en-US" sz="2000" spc="-60">
                <a:solidFill>
                  <a:srgbClr val="00FFA8"/>
                </a:solidFill>
                <a:latin typeface="TT Fors"/>
                <a:ea typeface="TT Fors"/>
                <a:cs typeface="TT Fors"/>
                <a:sym typeface="TT Fors"/>
              </a:rPr>
              <a:t>meSite cookie attribute</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Custom headers (X-Requested-With)</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R</a:t>
            </a:r>
            <a:r>
              <a:rPr lang="en-US" sz="2000" spc="-60">
                <a:solidFill>
                  <a:srgbClr val="00FFA8"/>
                </a:solidFill>
                <a:latin typeface="TT Fors"/>
                <a:ea typeface="TT Fors"/>
                <a:cs typeface="TT Fors"/>
                <a:sym typeface="TT Fors"/>
              </a:rPr>
              <a:t>eferer validat</a:t>
            </a:r>
            <a:r>
              <a:rPr lang="en-US" sz="2000" spc="-60">
                <a:solidFill>
                  <a:srgbClr val="00FFA8"/>
                </a:solidFill>
                <a:latin typeface="TT Fors"/>
                <a:ea typeface="TT Fors"/>
                <a:cs typeface="TT Fors"/>
                <a:sym typeface="TT Fors"/>
              </a:rPr>
              <a:t>ion</a:t>
            </a:r>
          </a:p>
        </p:txBody>
      </p:sp>
      <p:sp>
        <p:nvSpPr>
          <p:cNvPr name="TextBox 12" id="12"/>
          <p:cNvSpPr txBox="true"/>
          <p:nvPr/>
        </p:nvSpPr>
        <p:spPr>
          <a:xfrm rot="0">
            <a:off x="666750" y="37147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PART 3: WEB SERVER VULNERABILITIES (Cont’d)</a:t>
            </a:r>
          </a:p>
        </p:txBody>
      </p:sp>
      <p:sp>
        <p:nvSpPr>
          <p:cNvPr name="TextBox 13" id="13"/>
          <p:cNvSpPr txBox="true"/>
          <p:nvPr/>
        </p:nvSpPr>
        <p:spPr>
          <a:xfrm rot="0">
            <a:off x="8681846" y="1321507"/>
            <a:ext cx="8939404" cy="4977765"/>
          </a:xfrm>
          <a:prstGeom prst="rect">
            <a:avLst/>
          </a:prstGeom>
        </p:spPr>
        <p:txBody>
          <a:bodyPr anchor="t" rtlCol="false" tIns="0" lIns="0" bIns="0" rIns="0">
            <a:spAutoFit/>
          </a:bodyPr>
          <a:lstStyle/>
          <a:p>
            <a:pPr algn="l">
              <a:lnSpc>
                <a:spcPts val="3300"/>
              </a:lnSpc>
            </a:pPr>
            <a:r>
              <a:rPr lang="en-US" sz="2200" spc="-66" b="true">
                <a:solidFill>
                  <a:srgbClr val="00FFA8"/>
                </a:solidFill>
                <a:latin typeface="TT Fors Bold"/>
                <a:ea typeface="TT Fors Bold"/>
                <a:cs typeface="TT Fors Bold"/>
                <a:sym typeface="TT Fors Bold"/>
              </a:rPr>
              <a:t>Broken Authe</a:t>
            </a:r>
            <a:r>
              <a:rPr lang="en-US" sz="2200" spc="-66" b="true">
                <a:solidFill>
                  <a:srgbClr val="00FFA8"/>
                </a:solidFill>
                <a:latin typeface="TT Fors Bold"/>
                <a:ea typeface="TT Fors Bold"/>
                <a:cs typeface="TT Fors Bold"/>
                <a:sym typeface="TT Fors Bold"/>
              </a:rPr>
              <a:t>ntication &amp; Session Management</a:t>
            </a:r>
          </a:p>
          <a:p>
            <a:pPr algn="l">
              <a:lnSpc>
                <a:spcPts val="3000"/>
              </a:lnSpc>
            </a:pPr>
          </a:p>
          <a:p>
            <a:pPr algn="l">
              <a:lnSpc>
                <a:spcPts val="3000"/>
              </a:lnSpc>
            </a:pPr>
            <a:r>
              <a:rPr lang="en-US" sz="2000" spc="-60" b="true">
                <a:solidFill>
                  <a:srgbClr val="00FFA8"/>
                </a:solidFill>
                <a:latin typeface="TT Fors Bold"/>
                <a:ea typeface="TT Fors Bold"/>
                <a:cs typeface="TT Fors Bold"/>
                <a:sym typeface="TT Fors Bold"/>
              </a:rPr>
              <a:t>Issues:</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W</a:t>
            </a:r>
            <a:r>
              <a:rPr lang="en-US" sz="2000" spc="-60">
                <a:solidFill>
                  <a:srgbClr val="00FFA8"/>
                </a:solidFill>
                <a:latin typeface="TT Fors"/>
                <a:ea typeface="TT Fors"/>
                <a:cs typeface="TT Fors"/>
                <a:sym typeface="TT Fors"/>
              </a:rPr>
              <a:t>eak passwords</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Sess</a:t>
            </a:r>
            <a:r>
              <a:rPr lang="en-US" sz="2000" spc="-60">
                <a:solidFill>
                  <a:srgbClr val="00FFA8"/>
                </a:solidFill>
                <a:latin typeface="TT Fors"/>
                <a:ea typeface="TT Fors"/>
                <a:cs typeface="TT Fors"/>
                <a:sym typeface="TT Fors"/>
              </a:rPr>
              <a:t>ion fixation (attacker sets known session ID)</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Session timeout is too long</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Insufficient logout (sessions not invalidated)</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Exposed session tokens in logs/URLs</a:t>
            </a:r>
          </a:p>
          <a:p>
            <a:pPr algn="l">
              <a:lnSpc>
                <a:spcPts val="3000"/>
              </a:lnSpc>
            </a:pPr>
          </a:p>
          <a:p>
            <a:pPr algn="l">
              <a:lnSpc>
                <a:spcPts val="3000"/>
              </a:lnSpc>
            </a:pPr>
            <a:r>
              <a:rPr lang="en-US" sz="2000" spc="-60" b="true">
                <a:solidFill>
                  <a:srgbClr val="00FFA8"/>
                </a:solidFill>
                <a:latin typeface="TT Fors Bold"/>
                <a:ea typeface="TT Fors Bold"/>
                <a:cs typeface="TT Fors Bold"/>
                <a:sym typeface="TT Fors Bold"/>
              </a:rPr>
              <a:t>Consequences:</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Account takeover</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P</a:t>
            </a:r>
            <a:r>
              <a:rPr lang="en-US" sz="2000" spc="-60">
                <a:solidFill>
                  <a:srgbClr val="00FFA8"/>
                </a:solidFill>
                <a:latin typeface="TT Fors"/>
                <a:ea typeface="TT Fors"/>
                <a:cs typeface="TT Fors"/>
                <a:sym typeface="TT Fors"/>
              </a:rPr>
              <a:t>rivilege escalation</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Unauthorized data access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grpSp>
        <p:nvGrpSpPr>
          <p:cNvPr name="Group 2" id="2"/>
          <p:cNvGrpSpPr/>
          <p:nvPr/>
        </p:nvGrpSpPr>
        <p:grpSpPr>
          <a:xfrm rot="0">
            <a:off x="16149744" y="381000"/>
            <a:ext cx="1471506" cy="792133"/>
            <a:chOff x="0" y="0"/>
            <a:chExt cx="1962007" cy="1056178"/>
          </a:xfrm>
        </p:grpSpPr>
        <p:grpSp>
          <p:nvGrpSpPr>
            <p:cNvPr name="Group 3" id="3"/>
            <p:cNvGrpSpPr/>
            <p:nvPr/>
          </p:nvGrpSpPr>
          <p:grpSpPr>
            <a:xfrm rot="0">
              <a:off x="0" y="0"/>
              <a:ext cx="1056178" cy="105617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grpSp>
          <p:nvGrpSpPr>
            <p:cNvPr name="Group 6" id="6"/>
            <p:cNvGrpSpPr/>
            <p:nvPr/>
          </p:nvGrpSpPr>
          <p:grpSpPr>
            <a:xfrm rot="0">
              <a:off x="905830" y="0"/>
              <a:ext cx="1056178" cy="105617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sp>
          <p:nvSpPr>
            <p:cNvPr name="Freeform 9" id="9"/>
            <p:cNvSpPr/>
            <p:nvPr/>
          </p:nvSpPr>
          <p:spPr>
            <a:xfrm flipH="false" flipV="false" rot="0">
              <a:off x="177421" y="150010"/>
              <a:ext cx="701336" cy="756158"/>
            </a:xfrm>
            <a:custGeom>
              <a:avLst/>
              <a:gdLst/>
              <a:ahLst/>
              <a:cxnLst/>
              <a:rect r="r" b="b" t="t" l="l"/>
              <a:pathLst>
                <a:path h="756158" w="701336">
                  <a:moveTo>
                    <a:pt x="0" y="0"/>
                  </a:moveTo>
                  <a:lnTo>
                    <a:pt x="701336" y="0"/>
                  </a:lnTo>
                  <a:lnTo>
                    <a:pt x="701336" y="756158"/>
                  </a:lnTo>
                  <a:lnTo>
                    <a:pt x="0" y="7561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070789" y="245755"/>
              <a:ext cx="726260" cy="564667"/>
            </a:xfrm>
            <a:custGeom>
              <a:avLst/>
              <a:gdLst/>
              <a:ahLst/>
              <a:cxnLst/>
              <a:rect r="r" b="b" t="t" l="l"/>
              <a:pathLst>
                <a:path h="564667" w="726260">
                  <a:moveTo>
                    <a:pt x="0" y="0"/>
                  </a:moveTo>
                  <a:lnTo>
                    <a:pt x="726260" y="0"/>
                  </a:lnTo>
                  <a:lnTo>
                    <a:pt x="726260" y="564667"/>
                  </a:lnTo>
                  <a:lnTo>
                    <a:pt x="0" y="5646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TextBox 11" id="11"/>
          <p:cNvSpPr txBox="true"/>
          <p:nvPr/>
        </p:nvSpPr>
        <p:spPr>
          <a:xfrm rot="0">
            <a:off x="666750" y="1321507"/>
            <a:ext cx="8015096" cy="7263765"/>
          </a:xfrm>
          <a:prstGeom prst="rect">
            <a:avLst/>
          </a:prstGeom>
        </p:spPr>
        <p:txBody>
          <a:bodyPr anchor="t" rtlCol="false" tIns="0" lIns="0" bIns="0" rIns="0">
            <a:spAutoFit/>
          </a:bodyPr>
          <a:lstStyle/>
          <a:p>
            <a:pPr algn="l">
              <a:lnSpc>
                <a:spcPts val="3300"/>
              </a:lnSpc>
            </a:pPr>
            <a:r>
              <a:rPr lang="en-US" sz="2200" spc="-66" b="true">
                <a:solidFill>
                  <a:srgbClr val="00FFA8"/>
                </a:solidFill>
                <a:latin typeface="TT Fors Bold"/>
                <a:ea typeface="TT Fors Bold"/>
                <a:cs typeface="TT Fors Bold"/>
                <a:sym typeface="TT Fors Bold"/>
              </a:rPr>
              <a:t>Insecure File Uploads</a:t>
            </a:r>
          </a:p>
          <a:p>
            <a:pPr algn="l">
              <a:lnSpc>
                <a:spcPts val="3000"/>
              </a:lnSpc>
            </a:pPr>
          </a:p>
          <a:p>
            <a:pPr algn="l">
              <a:lnSpc>
                <a:spcPts val="3000"/>
              </a:lnSpc>
            </a:pPr>
            <a:r>
              <a:rPr lang="en-US" sz="2000" spc="-60" b="true">
                <a:solidFill>
                  <a:srgbClr val="00FFA8"/>
                </a:solidFill>
                <a:latin typeface="TT Fors Bold"/>
                <a:ea typeface="TT Fors Bold"/>
                <a:cs typeface="TT Fors Bold"/>
                <a:sym typeface="TT Fors Bold"/>
              </a:rPr>
              <a:t>Vulnerabilities:</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No file type validation</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Uploading executable files (.php, .asp, .jsp)</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Predictable upload locations</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Path traversal in a filename</a:t>
            </a:r>
          </a:p>
          <a:p>
            <a:pPr algn="l">
              <a:lnSpc>
                <a:spcPts val="3000"/>
              </a:lnSpc>
            </a:pPr>
          </a:p>
          <a:p>
            <a:pPr algn="l">
              <a:lnSpc>
                <a:spcPts val="3000"/>
              </a:lnSpc>
            </a:pPr>
            <a:r>
              <a:rPr lang="en-US" sz="2000" spc="-60" b="true">
                <a:solidFill>
                  <a:srgbClr val="00FFA8"/>
                </a:solidFill>
                <a:latin typeface="TT Fors Bold"/>
                <a:ea typeface="TT Fors Bold"/>
                <a:cs typeface="TT Fors Bold"/>
                <a:sym typeface="TT Fors Bold"/>
              </a:rPr>
              <a:t>Attack:</a:t>
            </a:r>
          </a:p>
          <a:p>
            <a:pPr algn="l">
              <a:lnSpc>
                <a:spcPts val="3000"/>
              </a:lnSpc>
            </a:pPr>
            <a:r>
              <a:rPr lang="en-US" sz="2000" spc="-60">
                <a:solidFill>
                  <a:srgbClr val="FFFFFF"/>
                </a:solidFill>
                <a:latin typeface="TT Fors"/>
                <a:ea typeface="TT Fors"/>
                <a:cs typeface="TT Fors"/>
                <a:sym typeface="TT Fors"/>
              </a:rPr>
              <a:t>Upload file: shell.php.jpg</a:t>
            </a:r>
          </a:p>
          <a:p>
            <a:pPr algn="l">
              <a:lnSpc>
                <a:spcPts val="3000"/>
              </a:lnSpc>
            </a:pPr>
            <a:r>
              <a:rPr lang="en-US" sz="2000" spc="-60">
                <a:solidFill>
                  <a:srgbClr val="FFFFFF"/>
                </a:solidFill>
                <a:latin typeface="TT Fors"/>
                <a:ea typeface="TT Fors"/>
                <a:cs typeface="TT Fors"/>
                <a:sym typeface="TT Fors"/>
              </a:rPr>
              <a:t>Serv</a:t>
            </a:r>
            <a:r>
              <a:rPr lang="en-US" sz="2000" spc="-60">
                <a:solidFill>
                  <a:srgbClr val="FFFFFF"/>
                </a:solidFill>
                <a:latin typeface="TT Fors"/>
                <a:ea typeface="TT Fors"/>
                <a:cs typeface="TT Fors"/>
                <a:sym typeface="TT Fors"/>
              </a:rPr>
              <a:t>er saves to: /uploads/shell.php (misconfigured)</a:t>
            </a:r>
          </a:p>
          <a:p>
            <a:pPr algn="l">
              <a:lnSpc>
                <a:spcPts val="3000"/>
              </a:lnSpc>
            </a:pPr>
            <a:r>
              <a:rPr lang="en-US" sz="2000" spc="-60">
                <a:solidFill>
                  <a:srgbClr val="FFFFFF"/>
                </a:solidFill>
                <a:latin typeface="TT Fors"/>
                <a:ea typeface="TT Fors"/>
                <a:cs typeface="TT Fors"/>
                <a:sym typeface="TT Fors"/>
              </a:rPr>
              <a:t>Attacker executes: http://example.com/uploads/shell.php</a:t>
            </a:r>
          </a:p>
          <a:p>
            <a:pPr algn="l">
              <a:lnSpc>
                <a:spcPts val="3000"/>
              </a:lnSpc>
            </a:pPr>
          </a:p>
          <a:p>
            <a:pPr algn="l">
              <a:lnSpc>
                <a:spcPts val="3000"/>
              </a:lnSpc>
            </a:pPr>
            <a:r>
              <a:rPr lang="en-US" sz="2000" spc="-60" b="true">
                <a:solidFill>
                  <a:srgbClr val="00FFA8"/>
                </a:solidFill>
                <a:latin typeface="TT Fors Bold"/>
                <a:ea typeface="TT Fors Bold"/>
                <a:cs typeface="TT Fors Bold"/>
                <a:sym typeface="TT Fors Bold"/>
              </a:rPr>
              <a:t>Mitigation:</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W</a:t>
            </a:r>
            <a:r>
              <a:rPr lang="en-US" sz="2000" spc="-60">
                <a:solidFill>
                  <a:srgbClr val="00FFA8"/>
                </a:solidFill>
                <a:latin typeface="TT Fors"/>
                <a:ea typeface="TT Fors"/>
                <a:cs typeface="TT Fors"/>
                <a:sym typeface="TT Fors"/>
              </a:rPr>
              <a:t>hit</a:t>
            </a:r>
            <a:r>
              <a:rPr lang="en-US" sz="2000" spc="-60">
                <a:solidFill>
                  <a:srgbClr val="00FFA8"/>
                </a:solidFill>
                <a:latin typeface="TT Fors"/>
                <a:ea typeface="TT Fors"/>
                <a:cs typeface="TT Fors"/>
                <a:sym typeface="TT Fors"/>
              </a:rPr>
              <a:t>elist allow</a:t>
            </a:r>
            <a:r>
              <a:rPr lang="en-US" sz="2000" spc="-60">
                <a:solidFill>
                  <a:srgbClr val="00FFA8"/>
                </a:solidFill>
                <a:latin typeface="TT Fors"/>
                <a:ea typeface="TT Fors"/>
                <a:cs typeface="TT Fors"/>
                <a:sym typeface="TT Fors"/>
              </a:rPr>
              <a:t>ed f</a:t>
            </a:r>
            <a:r>
              <a:rPr lang="en-US" sz="2000" spc="-60">
                <a:solidFill>
                  <a:srgbClr val="00FFA8"/>
                </a:solidFill>
                <a:latin typeface="TT Fors"/>
                <a:ea typeface="TT Fors"/>
                <a:cs typeface="TT Fors"/>
                <a:sym typeface="TT Fors"/>
              </a:rPr>
              <a:t>i</a:t>
            </a:r>
            <a:r>
              <a:rPr lang="en-US" sz="2000" spc="-60">
                <a:solidFill>
                  <a:srgbClr val="00FFA8"/>
                </a:solidFill>
                <a:latin typeface="TT Fors"/>
                <a:ea typeface="TT Fors"/>
                <a:cs typeface="TT Fors"/>
                <a:sym typeface="TT Fors"/>
              </a:rPr>
              <a:t>le types</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Store uploads outs</a:t>
            </a:r>
            <a:r>
              <a:rPr lang="en-US" sz="2000" spc="-60">
                <a:solidFill>
                  <a:srgbClr val="00FFA8"/>
                </a:solidFill>
                <a:latin typeface="TT Fors"/>
                <a:ea typeface="TT Fors"/>
                <a:cs typeface="TT Fors"/>
                <a:sym typeface="TT Fors"/>
              </a:rPr>
              <a:t>ide</a:t>
            </a:r>
            <a:r>
              <a:rPr lang="en-US" sz="2000" spc="-60">
                <a:solidFill>
                  <a:srgbClr val="00FFA8"/>
                </a:solidFill>
                <a:latin typeface="TT Fors"/>
                <a:ea typeface="TT Fors"/>
                <a:cs typeface="TT Fors"/>
                <a:sym typeface="TT Fors"/>
              </a:rPr>
              <a:t> web root</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Re</a:t>
            </a:r>
            <a:r>
              <a:rPr lang="en-US" sz="2000" spc="-60">
                <a:solidFill>
                  <a:srgbClr val="00FFA8"/>
                </a:solidFill>
                <a:latin typeface="TT Fors"/>
                <a:ea typeface="TT Fors"/>
                <a:cs typeface="TT Fors"/>
                <a:sym typeface="TT Fors"/>
              </a:rPr>
              <a:t>name fil</a:t>
            </a:r>
            <a:r>
              <a:rPr lang="en-US" sz="2000" spc="-60">
                <a:solidFill>
                  <a:srgbClr val="00FFA8"/>
                </a:solidFill>
                <a:latin typeface="TT Fors"/>
                <a:ea typeface="TT Fors"/>
                <a:cs typeface="TT Fors"/>
                <a:sym typeface="TT Fors"/>
              </a:rPr>
              <a:t>es with random names</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Disable script execution in the upload directory</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Validat</a:t>
            </a:r>
            <a:r>
              <a:rPr lang="en-US" sz="2000" spc="-60">
                <a:solidFill>
                  <a:srgbClr val="00FFA8"/>
                </a:solidFill>
                <a:latin typeface="TT Fors"/>
                <a:ea typeface="TT Fors"/>
                <a:cs typeface="TT Fors"/>
                <a:sym typeface="TT Fors"/>
              </a:rPr>
              <a:t>e file content (magic bytes, not just extens</a:t>
            </a:r>
            <a:r>
              <a:rPr lang="en-US" sz="2000" spc="-60">
                <a:solidFill>
                  <a:srgbClr val="00FFA8"/>
                </a:solidFill>
                <a:latin typeface="TT Fors"/>
                <a:ea typeface="TT Fors"/>
                <a:cs typeface="TT Fors"/>
                <a:sym typeface="TT Fors"/>
              </a:rPr>
              <a:t>ion)</a:t>
            </a:r>
          </a:p>
        </p:txBody>
      </p:sp>
      <p:sp>
        <p:nvSpPr>
          <p:cNvPr name="TextBox 12" id="12"/>
          <p:cNvSpPr txBox="true"/>
          <p:nvPr/>
        </p:nvSpPr>
        <p:spPr>
          <a:xfrm rot="0">
            <a:off x="666750" y="37147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PART 3: WEB SERVER VULNERABILITIES (Cont’d)</a:t>
            </a:r>
          </a:p>
        </p:txBody>
      </p:sp>
      <p:sp>
        <p:nvSpPr>
          <p:cNvPr name="TextBox 13" id="13"/>
          <p:cNvSpPr txBox="true"/>
          <p:nvPr/>
        </p:nvSpPr>
        <p:spPr>
          <a:xfrm rot="0">
            <a:off x="8681846" y="1321507"/>
            <a:ext cx="9280681" cy="5358765"/>
          </a:xfrm>
          <a:prstGeom prst="rect">
            <a:avLst/>
          </a:prstGeom>
        </p:spPr>
        <p:txBody>
          <a:bodyPr anchor="t" rtlCol="false" tIns="0" lIns="0" bIns="0" rIns="0">
            <a:spAutoFit/>
          </a:bodyPr>
          <a:lstStyle/>
          <a:p>
            <a:pPr algn="l">
              <a:lnSpc>
                <a:spcPts val="3300"/>
              </a:lnSpc>
            </a:pPr>
            <a:r>
              <a:rPr lang="en-US" sz="2200" spc="-66" b="true">
                <a:solidFill>
                  <a:srgbClr val="00FFA8"/>
                </a:solidFill>
                <a:latin typeface="TT Fors Bold"/>
                <a:ea typeface="TT Fors Bold"/>
                <a:cs typeface="TT Fors Bold"/>
                <a:sym typeface="TT Fors Bold"/>
              </a:rPr>
              <a:t>Web Server-Specif</a:t>
            </a:r>
            <a:r>
              <a:rPr lang="en-US" sz="2200" spc="-66" b="true">
                <a:solidFill>
                  <a:srgbClr val="00FFA8"/>
                </a:solidFill>
                <a:latin typeface="TT Fors Bold"/>
                <a:ea typeface="TT Fors Bold"/>
                <a:cs typeface="TT Fors Bold"/>
                <a:sym typeface="TT Fors Bold"/>
              </a:rPr>
              <a:t>ic Vulnerabilities</a:t>
            </a:r>
          </a:p>
          <a:p>
            <a:pPr algn="l">
              <a:lnSpc>
                <a:spcPts val="3000"/>
              </a:lnSpc>
            </a:pPr>
          </a:p>
          <a:p>
            <a:pPr algn="l">
              <a:lnSpc>
                <a:spcPts val="3000"/>
              </a:lnSpc>
            </a:pPr>
            <a:r>
              <a:rPr lang="en-US" sz="2000" spc="-60" b="true">
                <a:solidFill>
                  <a:srgbClr val="00FFA8"/>
                </a:solidFill>
                <a:latin typeface="TT Fors Bold"/>
                <a:ea typeface="TT Fors Bold"/>
                <a:cs typeface="TT Fors Bold"/>
                <a:sym typeface="TT Fors Bold"/>
              </a:rPr>
              <a:t>Apache:</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Mod_</a:t>
            </a:r>
            <a:r>
              <a:rPr lang="en-US" sz="2000" spc="-60">
                <a:solidFill>
                  <a:srgbClr val="00FFA8"/>
                </a:solidFill>
                <a:latin typeface="TT Fors"/>
                <a:ea typeface="TT Fors"/>
                <a:cs typeface="TT Fors"/>
                <a:sym typeface="TT Fors"/>
              </a:rPr>
              <a:t>ssl vulnerabilities</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.ht</a:t>
            </a:r>
            <a:r>
              <a:rPr lang="en-US" sz="2000" spc="-60">
                <a:solidFill>
                  <a:srgbClr val="00FFA8"/>
                </a:solidFill>
                <a:latin typeface="TT Fors"/>
                <a:ea typeface="TT Fors"/>
                <a:cs typeface="TT Fors"/>
                <a:sym typeface="TT Fors"/>
              </a:rPr>
              <a:t>access m</a:t>
            </a:r>
            <a:r>
              <a:rPr lang="en-US" sz="2000" spc="-60">
                <a:solidFill>
                  <a:srgbClr val="00FFA8"/>
                </a:solidFill>
                <a:latin typeface="TT Fors"/>
                <a:ea typeface="TT Fors"/>
                <a:cs typeface="TT Fors"/>
                <a:sym typeface="TT Fors"/>
              </a:rPr>
              <a:t>isconfigurations</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Default error pages exposing version info</a:t>
            </a:r>
          </a:p>
          <a:p>
            <a:pPr algn="l">
              <a:lnSpc>
                <a:spcPts val="3000"/>
              </a:lnSpc>
            </a:pPr>
            <a:r>
              <a:rPr lang="en-US" sz="2000" spc="-60" b="true">
                <a:solidFill>
                  <a:srgbClr val="00FFA8"/>
                </a:solidFill>
                <a:latin typeface="TT Fors Bold"/>
                <a:ea typeface="TT Fors Bold"/>
                <a:cs typeface="TT Fors Bold"/>
                <a:sym typeface="TT Fors Bold"/>
              </a:rPr>
              <a:t>IIS/Windows:</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NTLM relay attacks</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WebDAV vulnerabilities</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Windows authentication bypass</a:t>
            </a:r>
          </a:p>
          <a:p>
            <a:pPr algn="l">
              <a:lnSpc>
                <a:spcPts val="3000"/>
              </a:lnSpc>
            </a:pPr>
            <a:r>
              <a:rPr lang="en-US" sz="2000" spc="-60" b="true">
                <a:solidFill>
                  <a:srgbClr val="00FFA8"/>
                </a:solidFill>
                <a:latin typeface="TT Fors Bold"/>
                <a:ea typeface="TT Fors Bold"/>
                <a:cs typeface="TT Fors Bold"/>
                <a:sym typeface="TT Fors Bold"/>
              </a:rPr>
              <a:t>Nginx:</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Path traversal in configuration</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Incorrect MIME type handling</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Reve</a:t>
            </a:r>
            <a:r>
              <a:rPr lang="en-US" sz="2000" spc="-60">
                <a:solidFill>
                  <a:srgbClr val="00FFA8"/>
                </a:solidFill>
                <a:latin typeface="TT Fors"/>
                <a:ea typeface="TT Fors"/>
                <a:cs typeface="TT Fors"/>
                <a:sym typeface="TT Fors"/>
              </a:rPr>
              <a:t>rse proxy bypass techniques</a:t>
            </a:r>
          </a:p>
        </p:txBody>
      </p:sp>
    </p:spTree>
  </p:cSld>
  <p:clrMapOvr>
    <a:masterClrMapping/>
  </p:clrMapOvr>
</p:sld>
</file>

<file path=ppt/slides/slide18.xml><?xml version="1.0" encoding="utf-8"?>
<p:sld xmlns:p="http://schemas.openxmlformats.org/presentationml/2006/main" xmlns:a="http://schemas.openxmlformats.org/drawingml/2006/main">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1321507"/>
            <a:ext cx="8015096" cy="8136255"/>
          </a:xfrm>
          <a:prstGeom prst="rect">
            <a:avLst/>
          </a:prstGeom>
        </p:spPr>
        <p:txBody>
          <a:bodyPr anchor="t" rtlCol="false" tIns="0" lIns="0" bIns="0" rIns="0">
            <a:spAutoFit/>
          </a:bodyPr>
          <a:lstStyle/>
          <a:p>
            <a:pPr algn="l">
              <a:lnSpc>
                <a:spcPts val="3600"/>
              </a:lnSpc>
            </a:pPr>
            <a:r>
              <a:rPr lang="en-US" sz="2400" spc="-72" b="true">
                <a:solidFill>
                  <a:srgbClr val="00FFA8"/>
                </a:solidFill>
                <a:latin typeface="TT Fors Bold"/>
                <a:ea typeface="TT Fors Bold"/>
                <a:cs typeface="TT Fors Bold"/>
                <a:sym typeface="TT Fors Bold"/>
              </a:rPr>
              <a:t>Passive Fingerprinting</a:t>
            </a:r>
          </a:p>
          <a:p>
            <a:pPr algn="l">
              <a:lnSpc>
                <a:spcPts val="3000"/>
              </a:lnSpc>
            </a:pPr>
          </a:p>
          <a:p>
            <a:pPr algn="l">
              <a:lnSpc>
                <a:spcPts val="3000"/>
              </a:lnSpc>
            </a:pPr>
            <a:r>
              <a:rPr lang="en-US" sz="2000" spc="-60" b="true">
                <a:solidFill>
                  <a:srgbClr val="00FFA8"/>
                </a:solidFill>
                <a:latin typeface="TT Fors Bold"/>
                <a:ea typeface="TT Fors Bold"/>
                <a:cs typeface="TT Fors Bold"/>
                <a:sym typeface="TT Fors Bold"/>
              </a:rPr>
              <a:t>HTTP Headers Analysis:</a:t>
            </a:r>
          </a:p>
          <a:p>
            <a:pPr algn="l">
              <a:lnSpc>
                <a:spcPts val="3000"/>
              </a:lnSpc>
            </a:pPr>
            <a:r>
              <a:rPr lang="en-US" sz="2000" spc="-60">
                <a:solidFill>
                  <a:srgbClr val="FFFFFF"/>
                </a:solidFill>
                <a:latin typeface="TT Fors"/>
                <a:ea typeface="TT Fors"/>
                <a:cs typeface="TT Fors"/>
                <a:sym typeface="TT Fors"/>
              </a:rPr>
              <a:t>curl -I https://example.com</a:t>
            </a:r>
          </a:p>
          <a:p>
            <a:pPr algn="l">
              <a:lnSpc>
                <a:spcPts val="3000"/>
              </a:lnSpc>
            </a:pPr>
            <a:r>
              <a:rPr lang="en-US" sz="2000" spc="-60">
                <a:solidFill>
                  <a:srgbClr val="00FFA8"/>
                </a:solidFill>
                <a:latin typeface="TT Fors"/>
                <a:ea typeface="TT Fors"/>
                <a:cs typeface="TT Fors"/>
                <a:sym typeface="TT Fors"/>
              </a:rPr>
              <a:t>R</a:t>
            </a:r>
            <a:r>
              <a:rPr lang="en-US" sz="2000" spc="-60">
                <a:solidFill>
                  <a:srgbClr val="00FFA8"/>
                </a:solidFill>
                <a:latin typeface="TT Fors"/>
                <a:ea typeface="TT Fors"/>
                <a:cs typeface="TT Fors"/>
                <a:sym typeface="TT Fors"/>
              </a:rPr>
              <a:t>eveals: Server version, framework, technologies used</a:t>
            </a:r>
          </a:p>
          <a:p>
            <a:pPr algn="l">
              <a:lnSpc>
                <a:spcPts val="3000"/>
              </a:lnSpc>
            </a:pPr>
            <a:r>
              <a:rPr lang="en-US" sz="2000" spc="-60" b="true">
                <a:solidFill>
                  <a:srgbClr val="00FFA8"/>
                </a:solidFill>
                <a:latin typeface="TT Fors Bold"/>
                <a:ea typeface="TT Fors Bold"/>
                <a:cs typeface="TT Fors Bold"/>
                <a:sym typeface="TT Fors Bold"/>
              </a:rPr>
              <a:t>Tools:</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Netcr</a:t>
            </a:r>
            <a:r>
              <a:rPr lang="en-US" sz="2000" spc="-60">
                <a:solidFill>
                  <a:srgbClr val="00FFA8"/>
                </a:solidFill>
                <a:latin typeface="TT Fors"/>
                <a:ea typeface="TT Fors"/>
                <a:cs typeface="TT Fors"/>
                <a:sym typeface="TT Fors"/>
              </a:rPr>
              <a:t>aft (web-based, historical data)</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Wha</a:t>
            </a:r>
            <a:r>
              <a:rPr lang="en-US" sz="2000" spc="-60">
                <a:solidFill>
                  <a:srgbClr val="00FFA8"/>
                </a:solidFill>
                <a:latin typeface="TT Fors"/>
                <a:ea typeface="TT Fors"/>
                <a:cs typeface="TT Fors"/>
                <a:sym typeface="TT Fors"/>
              </a:rPr>
              <a:t>tWeb (command-line, multiple techniques)</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Wappalyz</a:t>
            </a:r>
            <a:r>
              <a:rPr lang="en-US" sz="2000" spc="-60">
                <a:solidFill>
                  <a:srgbClr val="00FFA8"/>
                </a:solidFill>
                <a:latin typeface="TT Fors"/>
                <a:ea typeface="TT Fors"/>
                <a:cs typeface="TT Fors"/>
                <a:sym typeface="TT Fors"/>
              </a:rPr>
              <a:t>er (brows</a:t>
            </a:r>
            <a:r>
              <a:rPr lang="en-US" sz="2000" spc="-60">
                <a:solidFill>
                  <a:srgbClr val="00FFA8"/>
                </a:solidFill>
                <a:latin typeface="TT Fors"/>
                <a:ea typeface="TT Fors"/>
                <a:cs typeface="TT Fors"/>
                <a:sym typeface="TT Fors"/>
              </a:rPr>
              <a:t>er extension)</a:t>
            </a:r>
          </a:p>
          <a:p>
            <a:pPr algn="l">
              <a:lnSpc>
                <a:spcPts val="3000"/>
              </a:lnSpc>
            </a:pPr>
          </a:p>
          <a:p>
            <a:pPr algn="l">
              <a:lnSpc>
                <a:spcPts val="3600"/>
              </a:lnSpc>
            </a:pPr>
            <a:r>
              <a:rPr lang="en-US" sz="2400" spc="-72" b="true">
                <a:solidFill>
                  <a:srgbClr val="00FFA8"/>
                </a:solidFill>
                <a:latin typeface="TT Fors Bold"/>
                <a:ea typeface="TT Fors Bold"/>
                <a:cs typeface="TT Fors Bold"/>
                <a:sym typeface="TT Fors Bold"/>
              </a:rPr>
              <a:t>Active Fingerprinting</a:t>
            </a:r>
          </a:p>
          <a:p>
            <a:pPr algn="l">
              <a:lnSpc>
                <a:spcPts val="3000"/>
              </a:lnSpc>
            </a:pPr>
          </a:p>
          <a:p>
            <a:pPr algn="l">
              <a:lnSpc>
                <a:spcPts val="3000"/>
              </a:lnSpc>
            </a:pPr>
            <a:r>
              <a:rPr lang="en-US" sz="2000" spc="-60" b="true">
                <a:solidFill>
                  <a:srgbClr val="00FFA8"/>
                </a:solidFill>
                <a:latin typeface="TT Fors Bold"/>
                <a:ea typeface="TT Fors Bold"/>
                <a:cs typeface="TT Fors Bold"/>
                <a:sym typeface="TT Fors Bold"/>
              </a:rPr>
              <a:t>HTTP OPTIONS Request:</a:t>
            </a:r>
          </a:p>
          <a:p>
            <a:pPr algn="l">
              <a:lnSpc>
                <a:spcPts val="3000"/>
              </a:lnSpc>
            </a:pPr>
            <a:r>
              <a:rPr lang="en-US" sz="2000" spc="-60">
                <a:solidFill>
                  <a:srgbClr val="FFFFFF"/>
                </a:solidFill>
                <a:latin typeface="TT Fors"/>
                <a:ea typeface="TT Fors"/>
                <a:cs typeface="TT Fors"/>
                <a:sym typeface="TT Fors"/>
              </a:rPr>
              <a:t>curl -X OPTIONS -v https://example.com</a:t>
            </a:r>
          </a:p>
          <a:p>
            <a:pPr algn="l">
              <a:lnSpc>
                <a:spcPts val="3000"/>
              </a:lnSpc>
            </a:pPr>
          </a:p>
          <a:p>
            <a:pPr algn="l">
              <a:lnSpc>
                <a:spcPts val="3000"/>
              </a:lnSpc>
            </a:pPr>
            <a:r>
              <a:rPr lang="en-US" sz="2000" spc="-60" b="true">
                <a:solidFill>
                  <a:srgbClr val="00FFA8"/>
                </a:solidFill>
                <a:latin typeface="TT Fors Bold"/>
                <a:ea typeface="TT Fors Bold"/>
                <a:cs typeface="TT Fors Bold"/>
                <a:sym typeface="TT Fors Bold"/>
              </a:rPr>
              <a:t>May reveal allow</a:t>
            </a:r>
            <a:r>
              <a:rPr lang="en-US" sz="2000" spc="-60" b="true">
                <a:solidFill>
                  <a:srgbClr val="00FFA8"/>
                </a:solidFill>
                <a:latin typeface="TT Fors Bold"/>
                <a:ea typeface="TT Fors Bold"/>
                <a:cs typeface="TT Fors Bold"/>
                <a:sym typeface="TT Fors Bold"/>
              </a:rPr>
              <a:t>ed HTTP methods:</a:t>
            </a:r>
          </a:p>
          <a:p>
            <a:pPr algn="l">
              <a:lnSpc>
                <a:spcPts val="3000"/>
              </a:lnSpc>
            </a:pPr>
            <a:r>
              <a:rPr lang="en-US" sz="2000" spc="-60">
                <a:solidFill>
                  <a:srgbClr val="FFFFFF"/>
                </a:solidFill>
                <a:latin typeface="TT Fors"/>
                <a:ea typeface="TT Fors"/>
                <a:cs typeface="TT Fors"/>
                <a:sym typeface="TT Fors"/>
              </a:rPr>
              <a:t>Allow: GET, PO</a:t>
            </a:r>
            <a:r>
              <a:rPr lang="en-US" sz="2000" spc="-60">
                <a:solidFill>
                  <a:srgbClr val="FFFFFF"/>
                </a:solidFill>
                <a:latin typeface="TT Fors"/>
                <a:ea typeface="TT Fors"/>
                <a:cs typeface="TT Fors"/>
                <a:sym typeface="TT Fors"/>
              </a:rPr>
              <a:t>ST, HEAD, OPTIONS, PUT, DELETE</a:t>
            </a:r>
          </a:p>
          <a:p>
            <a:pPr algn="l">
              <a:lnSpc>
                <a:spcPts val="3000"/>
              </a:lnSpc>
            </a:pPr>
          </a:p>
          <a:p>
            <a:pPr algn="l">
              <a:lnSpc>
                <a:spcPts val="3000"/>
              </a:lnSpc>
            </a:pPr>
            <a:r>
              <a:rPr lang="en-US" sz="2000" spc="-60" b="true">
                <a:solidFill>
                  <a:srgbClr val="00FFA8"/>
                </a:solidFill>
                <a:latin typeface="TT Fors Bold"/>
                <a:ea typeface="TT Fors Bold"/>
                <a:cs typeface="TT Fors Bold"/>
                <a:sym typeface="TT Fors Bold"/>
              </a:rPr>
              <a:t>Dangers:</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W</a:t>
            </a:r>
            <a:r>
              <a:rPr lang="en-US" sz="2000" spc="-60">
                <a:solidFill>
                  <a:srgbClr val="00FFA8"/>
                </a:solidFill>
                <a:latin typeface="TT Fors"/>
                <a:ea typeface="TT Fors"/>
                <a:cs typeface="TT Fors"/>
                <a:sym typeface="TT Fors"/>
              </a:rPr>
              <a:t>ebDAV m</a:t>
            </a:r>
            <a:r>
              <a:rPr lang="en-US" sz="2000" spc="-60">
                <a:solidFill>
                  <a:srgbClr val="00FFA8"/>
                </a:solidFill>
                <a:latin typeface="TT Fors"/>
                <a:ea typeface="TT Fors"/>
                <a:cs typeface="TT Fors"/>
                <a:sym typeface="TT Fors"/>
              </a:rPr>
              <a:t>ethods enabled (PUT/DELETE)</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TRACE method en</a:t>
            </a:r>
            <a:r>
              <a:rPr lang="en-US" sz="2000" spc="-60">
                <a:solidFill>
                  <a:srgbClr val="00FFA8"/>
                </a:solidFill>
                <a:latin typeface="TT Fors"/>
                <a:ea typeface="TT Fors"/>
                <a:cs typeface="TT Fors"/>
                <a:sym typeface="TT Fors"/>
              </a:rPr>
              <a:t>abled</a:t>
            </a:r>
            <a:r>
              <a:rPr lang="en-US" sz="2000" spc="-60">
                <a:solidFill>
                  <a:srgbClr val="00FFA8"/>
                </a:solidFill>
                <a:latin typeface="TT Fors"/>
                <a:ea typeface="TT Fors"/>
                <a:cs typeface="TT Fors"/>
                <a:sym typeface="TT Fors"/>
              </a:rPr>
              <a:t> (cross-site tracing, XST attack</a:t>
            </a:r>
            <a:r>
              <a:rPr lang="en-US" sz="2000" spc="-60">
                <a:solidFill>
                  <a:srgbClr val="00FFA8"/>
                </a:solidFill>
                <a:latin typeface="TT Fors"/>
                <a:ea typeface="TT Fors"/>
                <a:cs typeface="TT Fors"/>
                <a:sym typeface="TT Fors"/>
              </a:rPr>
              <a:t>)</a:t>
            </a:r>
          </a:p>
        </p:txBody>
      </p:sp>
      <p:sp>
        <p:nvSpPr>
          <p:cNvPr name="TextBox 3" id="3"/>
          <p:cNvSpPr txBox="true"/>
          <p:nvPr/>
        </p:nvSpPr>
        <p:spPr>
          <a:xfrm rot="0">
            <a:off x="666750" y="37147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PART 4: WEB SERVER FINGERPRINTING &amp; RECONNAISSANCE</a:t>
            </a:r>
          </a:p>
        </p:txBody>
      </p:sp>
      <p:sp>
        <p:nvSpPr>
          <p:cNvPr name="TextBox 4" id="4"/>
          <p:cNvSpPr txBox="true"/>
          <p:nvPr/>
        </p:nvSpPr>
        <p:spPr>
          <a:xfrm rot="0">
            <a:off x="8681846" y="1321507"/>
            <a:ext cx="9280681" cy="4631055"/>
          </a:xfrm>
          <a:prstGeom prst="rect">
            <a:avLst/>
          </a:prstGeom>
        </p:spPr>
        <p:txBody>
          <a:bodyPr anchor="t" rtlCol="false" tIns="0" lIns="0" bIns="0" rIns="0">
            <a:spAutoFit/>
          </a:bodyPr>
          <a:lstStyle/>
          <a:p>
            <a:pPr algn="l">
              <a:lnSpc>
                <a:spcPts val="3600"/>
              </a:lnSpc>
            </a:pPr>
            <a:r>
              <a:rPr lang="en-US" sz="2400" spc="-72" b="true">
                <a:solidFill>
                  <a:srgbClr val="00FFA8"/>
                </a:solidFill>
                <a:latin typeface="TT Fors Bold"/>
                <a:ea typeface="TT Fors Bold"/>
                <a:cs typeface="TT Fors Bold"/>
                <a:sym typeface="TT Fors Bold"/>
              </a:rPr>
              <a:t>Banner Grabbing</a:t>
            </a:r>
          </a:p>
          <a:p>
            <a:pPr algn="l">
              <a:lnSpc>
                <a:spcPts val="3000"/>
              </a:lnSpc>
            </a:pPr>
          </a:p>
          <a:p>
            <a:pPr algn="l">
              <a:lnSpc>
                <a:spcPts val="3000"/>
              </a:lnSpc>
            </a:pPr>
            <a:r>
              <a:rPr lang="en-US" sz="2000" spc="-60" b="true">
                <a:solidFill>
                  <a:srgbClr val="00FFA8"/>
                </a:solidFill>
                <a:latin typeface="TT Fors Bold"/>
                <a:ea typeface="TT Fors Bold"/>
                <a:cs typeface="TT Fors Bold"/>
                <a:sym typeface="TT Fors Bold"/>
              </a:rPr>
              <a:t>D</a:t>
            </a:r>
            <a:r>
              <a:rPr lang="en-US" sz="2000" spc="-60" b="true">
                <a:solidFill>
                  <a:srgbClr val="00FFA8"/>
                </a:solidFill>
                <a:latin typeface="TT Fors Bold"/>
                <a:ea typeface="TT Fors Bold"/>
                <a:cs typeface="TT Fors Bold"/>
                <a:sym typeface="TT Fors Bold"/>
              </a:rPr>
              <a:t>irect Connection:</a:t>
            </a:r>
          </a:p>
          <a:p>
            <a:pPr algn="l">
              <a:lnSpc>
                <a:spcPts val="3000"/>
              </a:lnSpc>
            </a:pPr>
            <a:r>
              <a:rPr lang="en-US" sz="2000" spc="-60">
                <a:solidFill>
                  <a:srgbClr val="FFFFFF"/>
                </a:solidFill>
                <a:latin typeface="TT Fors"/>
                <a:ea typeface="TT Fors"/>
                <a:cs typeface="TT Fors"/>
                <a:sym typeface="TT Fors"/>
              </a:rPr>
              <a:t>n</a:t>
            </a:r>
            <a:r>
              <a:rPr lang="en-US" sz="2000" spc="-60">
                <a:solidFill>
                  <a:srgbClr val="FFFFFF"/>
                </a:solidFill>
                <a:latin typeface="TT Fors"/>
                <a:ea typeface="TT Fors"/>
                <a:cs typeface="TT Fors"/>
                <a:sym typeface="TT Fors"/>
              </a:rPr>
              <a:t>c example</a:t>
            </a:r>
            <a:r>
              <a:rPr lang="en-US" sz="2000" spc="-60">
                <a:solidFill>
                  <a:srgbClr val="FFFFFF"/>
                </a:solidFill>
                <a:latin typeface="TT Fors"/>
                <a:ea typeface="TT Fors"/>
                <a:cs typeface="TT Fors"/>
                <a:sym typeface="TT Fors"/>
              </a:rPr>
              <a:t>.com 80</a:t>
            </a:r>
          </a:p>
          <a:p>
            <a:pPr algn="l">
              <a:lnSpc>
                <a:spcPts val="3000"/>
              </a:lnSpc>
            </a:pPr>
            <a:r>
              <a:rPr lang="en-US" sz="2000" spc="-60">
                <a:solidFill>
                  <a:srgbClr val="FFFFFF"/>
                </a:solidFill>
                <a:latin typeface="TT Fors"/>
                <a:ea typeface="TT Fors"/>
                <a:cs typeface="TT Fors"/>
                <a:sym typeface="TT Fors"/>
              </a:rPr>
              <a:t>telnet example.com 80</a:t>
            </a:r>
          </a:p>
          <a:p>
            <a:pPr algn="l">
              <a:lnSpc>
                <a:spcPts val="3000"/>
              </a:lnSpc>
            </a:pPr>
          </a:p>
          <a:p>
            <a:pPr algn="l">
              <a:lnSpc>
                <a:spcPts val="3000"/>
              </a:lnSpc>
            </a:pPr>
            <a:r>
              <a:rPr lang="en-US" sz="2000" spc="-60">
                <a:solidFill>
                  <a:srgbClr val="00FFA8"/>
                </a:solidFill>
                <a:latin typeface="TT Fors"/>
                <a:ea typeface="TT Fors"/>
                <a:cs typeface="TT Fors"/>
                <a:sym typeface="TT Fors"/>
              </a:rPr>
              <a:t>Type HEAD / HTTP/1.1 and press Enter twice.</a:t>
            </a:r>
          </a:p>
          <a:p>
            <a:pPr algn="l">
              <a:lnSpc>
                <a:spcPts val="3000"/>
              </a:lnSpc>
            </a:pPr>
          </a:p>
          <a:p>
            <a:pPr algn="l">
              <a:lnSpc>
                <a:spcPts val="3000"/>
              </a:lnSpc>
            </a:pPr>
            <a:r>
              <a:rPr lang="en-US" sz="2000" spc="-60" b="true">
                <a:solidFill>
                  <a:srgbClr val="00FFA8"/>
                </a:solidFill>
                <a:latin typeface="TT Fors Bold"/>
                <a:ea typeface="TT Fors Bold"/>
                <a:cs typeface="TT Fors Bold"/>
                <a:sym typeface="TT Fors Bold"/>
              </a:rPr>
              <a:t>Web Server Identification Tools:</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N</a:t>
            </a:r>
            <a:r>
              <a:rPr lang="en-US" sz="2000" spc="-60">
                <a:solidFill>
                  <a:srgbClr val="00FFA8"/>
                </a:solidFill>
                <a:latin typeface="TT Fors"/>
                <a:ea typeface="TT Fors"/>
                <a:cs typeface="TT Fors"/>
                <a:sym typeface="TT Fors"/>
              </a:rPr>
              <a:t>ikto (automated fingerprinting + scanning)</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Shodan (search engine for internet-connected d</a:t>
            </a:r>
            <a:r>
              <a:rPr lang="en-US" sz="2000" spc="-60">
                <a:solidFill>
                  <a:srgbClr val="00FFA8"/>
                </a:solidFill>
                <a:latin typeface="TT Fors"/>
                <a:ea typeface="TT Fors"/>
                <a:cs typeface="TT Fors"/>
                <a:sym typeface="TT Fors"/>
              </a:rPr>
              <a:t>evice</a:t>
            </a:r>
            <a:r>
              <a:rPr lang="en-US" sz="2000" spc="-60">
                <a:solidFill>
                  <a:srgbClr val="00FFA8"/>
                </a:solidFill>
                <a:latin typeface="TT Fors"/>
                <a:ea typeface="TT Fors"/>
                <a:cs typeface="TT Fors"/>
                <a:sym typeface="TT Fors"/>
              </a:rPr>
              <a:t>s)</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SSL Certificate analysis (SSL Labs)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1321507"/>
            <a:ext cx="8015096" cy="6958965"/>
          </a:xfrm>
          <a:prstGeom prst="rect">
            <a:avLst/>
          </a:prstGeom>
        </p:spPr>
        <p:txBody>
          <a:bodyPr anchor="t" rtlCol="false" tIns="0" lIns="0" bIns="0" rIns="0">
            <a:spAutoFit/>
          </a:bodyPr>
          <a:lstStyle/>
          <a:p>
            <a:pPr algn="l">
              <a:lnSpc>
                <a:spcPts val="3300"/>
              </a:lnSpc>
            </a:pPr>
            <a:r>
              <a:rPr lang="en-US" sz="2200" spc="-66" b="true">
                <a:solidFill>
                  <a:srgbClr val="00FFA8"/>
                </a:solidFill>
                <a:latin typeface="TT Fors Bold"/>
                <a:ea typeface="TT Fors Bold"/>
                <a:cs typeface="TT Fors Bold"/>
                <a:sym typeface="TT Fors Bold"/>
              </a:rPr>
              <a:t>WAF Purpose &amp; Operation</a:t>
            </a:r>
          </a:p>
          <a:p>
            <a:pPr algn="l">
              <a:lnSpc>
                <a:spcPts val="3000"/>
              </a:lnSpc>
            </a:pPr>
            <a:r>
              <a:rPr lang="en-US" sz="2000" spc="-60" b="true">
                <a:solidFill>
                  <a:srgbClr val="00FFA8"/>
                </a:solidFill>
                <a:latin typeface="TT Fors Bold"/>
                <a:ea typeface="TT Fors Bold"/>
                <a:cs typeface="TT Fors Bold"/>
                <a:sym typeface="TT Fors Bold"/>
              </a:rPr>
              <a:t>Functions:</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Protects against OWASP Top 10 vulnerabilities</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Monitors and filters HTTP traffic</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Blocks known malicious patterns</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Rate limiting and DDoS protection</a:t>
            </a:r>
          </a:p>
          <a:p>
            <a:pPr algn="l">
              <a:lnSpc>
                <a:spcPts val="3000"/>
              </a:lnSpc>
            </a:pPr>
            <a:r>
              <a:rPr lang="en-US" sz="2000" spc="-60" b="true">
                <a:solidFill>
                  <a:srgbClr val="00FFA8"/>
                </a:solidFill>
                <a:latin typeface="TT Fors Bold"/>
                <a:ea typeface="TT Fors Bold"/>
                <a:cs typeface="TT Fors Bold"/>
                <a:sym typeface="TT Fors Bold"/>
              </a:rPr>
              <a:t>Deployment:</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Cloud-based (Cloudflare, A</a:t>
            </a:r>
            <a:r>
              <a:rPr lang="en-US" sz="2000" spc="-60">
                <a:solidFill>
                  <a:srgbClr val="00FFA8"/>
                </a:solidFill>
                <a:latin typeface="TT Fors"/>
                <a:ea typeface="TT Fors"/>
                <a:cs typeface="TT Fors"/>
                <a:sym typeface="TT Fors"/>
              </a:rPr>
              <a:t>WS </a:t>
            </a:r>
            <a:r>
              <a:rPr lang="en-US" sz="2000" spc="-60">
                <a:solidFill>
                  <a:srgbClr val="00FFA8"/>
                </a:solidFill>
                <a:latin typeface="TT Fors"/>
                <a:ea typeface="TT Fors"/>
                <a:cs typeface="TT Fors"/>
                <a:sym typeface="TT Fors"/>
              </a:rPr>
              <a:t>WAF, Akamai)</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On-premise (ModSecurity, F5 ASM)</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Rev</a:t>
            </a:r>
            <a:r>
              <a:rPr lang="en-US" sz="2000" spc="-60">
                <a:solidFill>
                  <a:srgbClr val="00FFA8"/>
                </a:solidFill>
                <a:latin typeface="TT Fors"/>
                <a:ea typeface="TT Fors"/>
                <a:cs typeface="TT Fors"/>
                <a:sym typeface="TT Fors"/>
              </a:rPr>
              <a:t>erse proxy</a:t>
            </a:r>
            <a:r>
              <a:rPr lang="en-US" sz="2000" spc="-60">
                <a:solidFill>
                  <a:srgbClr val="00FFA8"/>
                </a:solidFill>
                <a:latin typeface="TT Fors"/>
                <a:ea typeface="TT Fors"/>
                <a:cs typeface="TT Fors"/>
                <a:sym typeface="TT Fors"/>
              </a:rPr>
              <a:t> integrated (Nginx, Apache)</a:t>
            </a:r>
          </a:p>
          <a:p>
            <a:pPr algn="l">
              <a:lnSpc>
                <a:spcPts val="3300"/>
              </a:lnSpc>
            </a:pPr>
          </a:p>
          <a:p>
            <a:pPr algn="l">
              <a:lnSpc>
                <a:spcPts val="3300"/>
              </a:lnSpc>
            </a:pPr>
            <a:r>
              <a:rPr lang="en-US" sz="2200" spc="-66" b="true">
                <a:solidFill>
                  <a:srgbClr val="00FFA8"/>
                </a:solidFill>
                <a:latin typeface="TT Fors Bold"/>
                <a:ea typeface="TT Fors Bold"/>
                <a:cs typeface="TT Fors Bold"/>
                <a:sym typeface="TT Fors Bold"/>
              </a:rPr>
              <a:t>WAF Detection</a:t>
            </a:r>
            <a:r>
              <a:rPr lang="en-US" sz="2200" spc="-66" b="true">
                <a:solidFill>
                  <a:srgbClr val="00FFA8"/>
                </a:solidFill>
                <a:latin typeface="TT Fors Bold"/>
                <a:ea typeface="TT Fors Bold"/>
                <a:cs typeface="TT Fors Bold"/>
                <a:sym typeface="TT Fors Bold"/>
              </a:rPr>
              <a:t> Techniques</a:t>
            </a:r>
          </a:p>
          <a:p>
            <a:pPr algn="l">
              <a:lnSpc>
                <a:spcPts val="3000"/>
              </a:lnSpc>
            </a:pPr>
          </a:p>
          <a:p>
            <a:pPr algn="l">
              <a:lnSpc>
                <a:spcPts val="3000"/>
              </a:lnSpc>
            </a:pPr>
            <a:r>
              <a:rPr lang="en-US" sz="2000" spc="-60" b="true">
                <a:solidFill>
                  <a:srgbClr val="00FFA8"/>
                </a:solidFill>
                <a:latin typeface="TT Fors Bold"/>
                <a:ea typeface="TT Fors Bold"/>
                <a:cs typeface="TT Fors Bold"/>
                <a:sym typeface="TT Fors Bold"/>
              </a:rPr>
              <a:t>WAF Presence Indicators:</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Unusual error messages ("Your request was blocked")</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Delay</a:t>
            </a:r>
            <a:r>
              <a:rPr lang="en-US" sz="2000" spc="-60">
                <a:solidFill>
                  <a:srgbClr val="00FFA8"/>
                </a:solidFill>
                <a:latin typeface="TT Fors"/>
                <a:ea typeface="TT Fors"/>
                <a:cs typeface="TT Fors"/>
                <a:sym typeface="TT Fors"/>
              </a:rPr>
              <a:t>ed resp</a:t>
            </a:r>
            <a:r>
              <a:rPr lang="en-US" sz="2000" spc="-60">
                <a:solidFill>
                  <a:srgbClr val="00FFA8"/>
                </a:solidFill>
                <a:latin typeface="TT Fors"/>
                <a:ea typeface="TT Fors"/>
                <a:cs typeface="TT Fors"/>
                <a:sym typeface="TT Fors"/>
              </a:rPr>
              <a:t>o</a:t>
            </a:r>
            <a:r>
              <a:rPr lang="en-US" sz="2000" spc="-60">
                <a:solidFill>
                  <a:srgbClr val="00FFA8"/>
                </a:solidFill>
                <a:latin typeface="TT Fors"/>
                <a:ea typeface="TT Fors"/>
                <a:cs typeface="TT Fors"/>
                <a:sym typeface="TT Fors"/>
              </a:rPr>
              <a:t>nses</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Specific h</a:t>
            </a:r>
            <a:r>
              <a:rPr lang="en-US" sz="2000" spc="-60">
                <a:solidFill>
                  <a:srgbClr val="00FFA8"/>
                </a:solidFill>
                <a:latin typeface="TT Fors"/>
                <a:ea typeface="TT Fors"/>
                <a:cs typeface="TT Fors"/>
                <a:sym typeface="TT Fors"/>
              </a:rPr>
              <a:t>eader patterns (X-Power</a:t>
            </a:r>
            <a:r>
              <a:rPr lang="en-US" sz="2000" spc="-60">
                <a:solidFill>
                  <a:srgbClr val="00FFA8"/>
                </a:solidFill>
                <a:latin typeface="TT Fors"/>
                <a:ea typeface="TT Fors"/>
                <a:cs typeface="TT Fors"/>
                <a:sym typeface="TT Fors"/>
              </a:rPr>
              <a:t>ed-By</a:t>
            </a:r>
            <a:r>
              <a:rPr lang="en-US" sz="2000" spc="-60">
                <a:solidFill>
                  <a:srgbClr val="00FFA8"/>
                </a:solidFill>
                <a:latin typeface="TT Fors"/>
                <a:ea typeface="TT Fors"/>
                <a:cs typeface="TT Fors"/>
                <a:sym typeface="TT Fors"/>
              </a:rPr>
              <a:t> WAF)</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Consistent 403/406 responses to payloads</a:t>
            </a:r>
          </a:p>
        </p:txBody>
      </p:sp>
      <p:sp>
        <p:nvSpPr>
          <p:cNvPr name="TextBox 3" id="3"/>
          <p:cNvSpPr txBox="true"/>
          <p:nvPr/>
        </p:nvSpPr>
        <p:spPr>
          <a:xfrm rot="0">
            <a:off x="666750" y="37147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PART 5: WEB APPLICATION FIREWALL (WAF)</a:t>
            </a:r>
          </a:p>
        </p:txBody>
      </p:sp>
      <p:sp>
        <p:nvSpPr>
          <p:cNvPr name="TextBox 4" id="4"/>
          <p:cNvSpPr txBox="true"/>
          <p:nvPr/>
        </p:nvSpPr>
        <p:spPr>
          <a:xfrm rot="0">
            <a:off x="8681846" y="1321507"/>
            <a:ext cx="9280681" cy="8639175"/>
          </a:xfrm>
          <a:prstGeom prst="rect">
            <a:avLst/>
          </a:prstGeom>
        </p:spPr>
        <p:txBody>
          <a:bodyPr anchor="t" rtlCol="false" tIns="0" lIns="0" bIns="0" rIns="0">
            <a:spAutoFit/>
          </a:bodyPr>
          <a:lstStyle/>
          <a:p>
            <a:pPr algn="l">
              <a:lnSpc>
                <a:spcPts val="3300"/>
              </a:lnSpc>
            </a:pPr>
            <a:r>
              <a:rPr lang="en-US" sz="2200" spc="-66" b="true">
                <a:solidFill>
                  <a:srgbClr val="00FFA8"/>
                </a:solidFill>
                <a:latin typeface="TT Fors Bold"/>
                <a:ea typeface="TT Fors Bold"/>
                <a:cs typeface="TT Fors Bold"/>
                <a:sym typeface="TT Fors Bold"/>
              </a:rPr>
              <a:t>WAF Bypass Techniques</a:t>
            </a:r>
          </a:p>
          <a:p>
            <a:pPr algn="l">
              <a:lnSpc>
                <a:spcPts val="2700"/>
              </a:lnSpc>
            </a:pPr>
            <a:r>
              <a:rPr lang="en-US" sz="1800" spc="-54" b="true">
                <a:solidFill>
                  <a:srgbClr val="00FFA8"/>
                </a:solidFill>
                <a:latin typeface="TT Fors Bold"/>
                <a:ea typeface="TT Fors Bold"/>
                <a:cs typeface="TT Fors Bold"/>
                <a:sym typeface="TT Fors Bold"/>
              </a:rPr>
              <a:t>1. Encoding Variations:</a:t>
            </a:r>
          </a:p>
          <a:p>
            <a:pPr algn="l">
              <a:lnSpc>
                <a:spcPts val="2700"/>
              </a:lnSpc>
            </a:pPr>
            <a:r>
              <a:rPr lang="en-US" sz="1800" spc="-54">
                <a:solidFill>
                  <a:srgbClr val="00FFA8"/>
                </a:solidFill>
                <a:latin typeface="TT Fors"/>
                <a:ea typeface="TT Fors"/>
                <a:cs typeface="TT Fors"/>
                <a:sym typeface="TT Fors"/>
              </a:rPr>
              <a:t>Orig</a:t>
            </a:r>
            <a:r>
              <a:rPr lang="en-US" sz="1800" spc="-54">
                <a:solidFill>
                  <a:srgbClr val="00FFA8"/>
                </a:solidFill>
                <a:latin typeface="TT Fors"/>
                <a:ea typeface="TT Fors"/>
                <a:cs typeface="TT Fors"/>
                <a:sym typeface="TT Fors"/>
              </a:rPr>
              <a:t>inal: &lt;script&gt;alert(1)&lt;/script&gt;</a:t>
            </a:r>
          </a:p>
          <a:p>
            <a:pPr algn="l">
              <a:lnSpc>
                <a:spcPts val="2700"/>
              </a:lnSpc>
            </a:pPr>
            <a:r>
              <a:rPr lang="en-US" sz="1800" spc="-54">
                <a:solidFill>
                  <a:srgbClr val="00FFA8"/>
                </a:solidFill>
                <a:latin typeface="TT Fors"/>
                <a:ea typeface="TT Fors"/>
                <a:cs typeface="TT Fors"/>
                <a:sym typeface="TT Fors"/>
              </a:rPr>
              <a:t>Double URL: %253Cscript%253E</a:t>
            </a:r>
          </a:p>
          <a:p>
            <a:pPr algn="l">
              <a:lnSpc>
                <a:spcPts val="2700"/>
              </a:lnSpc>
            </a:pPr>
            <a:r>
              <a:rPr lang="en-US" sz="1800" spc="-54">
                <a:solidFill>
                  <a:srgbClr val="00FFA8"/>
                </a:solidFill>
                <a:latin typeface="TT Fors"/>
                <a:ea typeface="TT Fors"/>
                <a:cs typeface="TT Fors"/>
                <a:sym typeface="TT Fors"/>
              </a:rPr>
              <a:t>HTML entities: &amp;lt;script&amp;gt;</a:t>
            </a:r>
          </a:p>
          <a:p>
            <a:pPr algn="l">
              <a:lnSpc>
                <a:spcPts val="2700"/>
              </a:lnSpc>
            </a:pPr>
            <a:r>
              <a:rPr lang="en-US" sz="1800" spc="-54">
                <a:solidFill>
                  <a:srgbClr val="00FFA8"/>
                </a:solidFill>
                <a:latin typeface="TT Fors"/>
                <a:ea typeface="TT Fors"/>
                <a:cs typeface="TT Fors"/>
                <a:sym typeface="TT Fors"/>
              </a:rPr>
              <a:t>Unicode: \u003cscript\u003e</a:t>
            </a:r>
          </a:p>
          <a:p>
            <a:pPr algn="l">
              <a:lnSpc>
                <a:spcPts val="2700"/>
              </a:lnSpc>
            </a:pPr>
            <a:r>
              <a:rPr lang="en-US" sz="1800" spc="-54" b="true">
                <a:solidFill>
                  <a:srgbClr val="00FFA8"/>
                </a:solidFill>
                <a:latin typeface="TT Fors Bold"/>
                <a:ea typeface="TT Fors Bold"/>
                <a:cs typeface="TT Fors Bold"/>
                <a:sym typeface="TT Fors Bold"/>
              </a:rPr>
              <a:t>2. Proto</a:t>
            </a:r>
            <a:r>
              <a:rPr lang="en-US" sz="1800" spc="-54" b="true">
                <a:solidFill>
                  <a:srgbClr val="00FFA8"/>
                </a:solidFill>
                <a:latin typeface="TT Fors Bold"/>
                <a:ea typeface="TT Fors Bold"/>
                <a:cs typeface="TT Fors Bold"/>
                <a:sym typeface="TT Fors Bold"/>
              </a:rPr>
              <a:t>col Manipulati</a:t>
            </a:r>
            <a:r>
              <a:rPr lang="en-US" sz="1800" spc="-54" b="true">
                <a:solidFill>
                  <a:srgbClr val="00FFA8"/>
                </a:solidFill>
                <a:latin typeface="TT Fors Bold"/>
                <a:ea typeface="TT Fors Bold"/>
                <a:cs typeface="TT Fors Bold"/>
                <a:sym typeface="TT Fors Bold"/>
              </a:rPr>
              <a:t>on:</a:t>
            </a:r>
          </a:p>
          <a:p>
            <a:pPr algn="l" marL="388623" indent="-194312" lvl="1">
              <a:lnSpc>
                <a:spcPts val="2700"/>
              </a:lnSpc>
              <a:buFont typeface="Arial"/>
              <a:buChar char="•"/>
            </a:pPr>
            <a:r>
              <a:rPr lang="en-US" sz="1800" spc="-54">
                <a:solidFill>
                  <a:srgbClr val="00FFA8"/>
                </a:solidFill>
                <a:latin typeface="TT Fors"/>
                <a:ea typeface="TT Fors"/>
                <a:cs typeface="TT Fors"/>
                <a:sym typeface="TT Fors"/>
              </a:rPr>
              <a:t>HTTP/2 smuggling</a:t>
            </a:r>
          </a:p>
          <a:p>
            <a:pPr algn="l" marL="388623" indent="-194312" lvl="1">
              <a:lnSpc>
                <a:spcPts val="2700"/>
              </a:lnSpc>
              <a:buFont typeface="Arial"/>
              <a:buChar char="•"/>
            </a:pPr>
            <a:r>
              <a:rPr lang="en-US" sz="1800" spc="-54">
                <a:solidFill>
                  <a:srgbClr val="00FFA8"/>
                </a:solidFill>
                <a:latin typeface="TT Fors"/>
                <a:ea typeface="TT Fors"/>
                <a:cs typeface="TT Fors"/>
                <a:sym typeface="TT Fors"/>
              </a:rPr>
              <a:t>Content-Type switching</a:t>
            </a:r>
          </a:p>
          <a:p>
            <a:pPr algn="l" marL="388623" indent="-194312" lvl="1">
              <a:lnSpc>
                <a:spcPts val="2700"/>
              </a:lnSpc>
              <a:buFont typeface="Arial"/>
              <a:buChar char="•"/>
            </a:pPr>
            <a:r>
              <a:rPr lang="en-US" sz="1800" spc="-54">
                <a:solidFill>
                  <a:srgbClr val="00FFA8"/>
                </a:solidFill>
                <a:latin typeface="TT Fors"/>
                <a:ea typeface="TT Fors"/>
                <a:cs typeface="TT Fors"/>
                <a:sym typeface="TT Fors"/>
              </a:rPr>
              <a:t>Multipart encoding</a:t>
            </a:r>
          </a:p>
          <a:p>
            <a:pPr algn="l">
              <a:lnSpc>
                <a:spcPts val="2700"/>
              </a:lnSpc>
            </a:pPr>
            <a:r>
              <a:rPr lang="en-US" sz="1800" spc="-54" b="true">
                <a:solidFill>
                  <a:srgbClr val="00FFA8"/>
                </a:solidFill>
                <a:latin typeface="TT Fors Bold"/>
                <a:ea typeface="TT Fors Bold"/>
                <a:cs typeface="TT Fors Bold"/>
                <a:sym typeface="TT Fors Bold"/>
              </a:rPr>
              <a:t>3. Logic Bypass:</a:t>
            </a:r>
          </a:p>
          <a:p>
            <a:pPr algn="l" marL="388623" indent="-194312" lvl="1">
              <a:lnSpc>
                <a:spcPts val="2700"/>
              </a:lnSpc>
              <a:buFont typeface="Arial"/>
              <a:buChar char="•"/>
            </a:pPr>
            <a:r>
              <a:rPr lang="en-US" sz="1800" spc="-54">
                <a:solidFill>
                  <a:srgbClr val="00FFA8"/>
                </a:solidFill>
                <a:latin typeface="TT Fors"/>
                <a:ea typeface="TT Fors"/>
                <a:cs typeface="TT Fors"/>
                <a:sym typeface="TT Fors"/>
              </a:rPr>
              <a:t>Case variation: ScRiPt, SCRIPT</a:t>
            </a:r>
          </a:p>
          <a:p>
            <a:pPr algn="l" marL="388623" indent="-194312" lvl="1">
              <a:lnSpc>
                <a:spcPts val="2700"/>
              </a:lnSpc>
              <a:buFont typeface="Arial"/>
              <a:buChar char="•"/>
            </a:pPr>
            <a:r>
              <a:rPr lang="en-US" sz="1800" spc="-54">
                <a:solidFill>
                  <a:srgbClr val="00FFA8"/>
                </a:solidFill>
                <a:latin typeface="TT Fors"/>
                <a:ea typeface="TT Fors"/>
                <a:cs typeface="TT Fors"/>
                <a:sym typeface="TT Fors"/>
              </a:rPr>
              <a:t>Null bytes: &lt;scri\x00pt&gt;</a:t>
            </a:r>
          </a:p>
          <a:p>
            <a:pPr algn="l" marL="388623" indent="-194312" lvl="1">
              <a:lnSpc>
                <a:spcPts val="2700"/>
              </a:lnSpc>
              <a:buFont typeface="Arial"/>
              <a:buChar char="•"/>
            </a:pPr>
            <a:r>
              <a:rPr lang="en-US" sz="1800" spc="-54">
                <a:solidFill>
                  <a:srgbClr val="00FFA8"/>
                </a:solidFill>
                <a:latin typeface="TT Fors"/>
                <a:ea typeface="TT Fors"/>
                <a:cs typeface="TT Fors"/>
                <a:sym typeface="TT Fors"/>
              </a:rPr>
              <a:t>HTML comments: &lt;script&gt;/comment/alert(1)&lt;/script&gt;</a:t>
            </a:r>
          </a:p>
          <a:p>
            <a:pPr algn="l" marL="388623" indent="-194312" lvl="1">
              <a:lnSpc>
                <a:spcPts val="2700"/>
              </a:lnSpc>
              <a:buFont typeface="Arial"/>
              <a:buChar char="•"/>
            </a:pPr>
            <a:r>
              <a:rPr lang="en-US" sz="1800" spc="-54">
                <a:solidFill>
                  <a:srgbClr val="00FFA8"/>
                </a:solidFill>
                <a:latin typeface="TT Fors"/>
                <a:ea typeface="TT Fors"/>
                <a:cs typeface="TT Fors"/>
                <a:sym typeface="TT Fors"/>
              </a:rPr>
              <a:t>JSON payloads instead of form data</a:t>
            </a:r>
          </a:p>
          <a:p>
            <a:pPr algn="l">
              <a:lnSpc>
                <a:spcPts val="2700"/>
              </a:lnSpc>
            </a:pPr>
            <a:r>
              <a:rPr lang="en-US" sz="1800" spc="-54" b="true">
                <a:solidFill>
                  <a:srgbClr val="00FFA8"/>
                </a:solidFill>
                <a:latin typeface="TT Fors Bold"/>
                <a:ea typeface="TT Fors Bold"/>
                <a:cs typeface="TT Fors Bold"/>
                <a:sym typeface="TT Fors Bold"/>
              </a:rPr>
              <a:t>4. Timing &amp; Volume:</a:t>
            </a:r>
          </a:p>
          <a:p>
            <a:pPr algn="l" marL="388623" indent="-194312" lvl="1">
              <a:lnSpc>
                <a:spcPts val="2700"/>
              </a:lnSpc>
              <a:buFont typeface="Arial"/>
              <a:buChar char="•"/>
            </a:pPr>
            <a:r>
              <a:rPr lang="en-US" sz="1800" spc="-54">
                <a:solidFill>
                  <a:srgbClr val="00FFA8"/>
                </a:solidFill>
                <a:latin typeface="TT Fors"/>
                <a:ea typeface="TT Fors"/>
                <a:cs typeface="TT Fors"/>
                <a:sym typeface="TT Fors"/>
              </a:rPr>
              <a:t>Slow requests (evade detection patterns)</a:t>
            </a:r>
          </a:p>
          <a:p>
            <a:pPr algn="l" marL="388623" indent="-194312" lvl="1">
              <a:lnSpc>
                <a:spcPts val="2700"/>
              </a:lnSpc>
              <a:buFont typeface="Arial"/>
              <a:buChar char="•"/>
            </a:pPr>
            <a:r>
              <a:rPr lang="en-US" sz="1800" spc="-54">
                <a:solidFill>
                  <a:srgbClr val="00FFA8"/>
                </a:solidFill>
                <a:latin typeface="TT Fors"/>
                <a:ea typeface="TT Fors"/>
                <a:cs typeface="TT Fors"/>
                <a:sym typeface="TT Fors"/>
              </a:rPr>
              <a:t>Distributed requests across IPs/time</a:t>
            </a:r>
          </a:p>
          <a:p>
            <a:pPr algn="l">
              <a:lnSpc>
                <a:spcPts val="2700"/>
              </a:lnSpc>
            </a:pPr>
            <a:r>
              <a:rPr lang="en-US" sz="1800" spc="-54" b="true">
                <a:solidFill>
                  <a:srgbClr val="00FFA8"/>
                </a:solidFill>
                <a:latin typeface="TT Fors Bold"/>
                <a:ea typeface="TT Fors Bold"/>
                <a:cs typeface="TT Fors Bold"/>
                <a:sym typeface="TT Fors Bold"/>
              </a:rPr>
              <a:t>5. Evasion via Headers:</a:t>
            </a:r>
          </a:p>
          <a:p>
            <a:pPr algn="l" marL="388623" indent="-194312" lvl="1">
              <a:lnSpc>
                <a:spcPts val="2700"/>
              </a:lnSpc>
              <a:buFont typeface="Arial"/>
              <a:buChar char="•"/>
            </a:pPr>
            <a:r>
              <a:rPr lang="en-US" sz="1800" spc="-54">
                <a:solidFill>
                  <a:srgbClr val="00FFA8"/>
                </a:solidFill>
                <a:latin typeface="TT Fors"/>
                <a:ea typeface="TT Fors"/>
                <a:cs typeface="TT Fors"/>
                <a:sym typeface="TT Fors"/>
              </a:rPr>
              <a:t>X-Forwarded-For spoofing</a:t>
            </a:r>
          </a:p>
          <a:p>
            <a:pPr algn="l" marL="388623" indent="-194312" lvl="1">
              <a:lnSpc>
                <a:spcPts val="2700"/>
              </a:lnSpc>
              <a:buFont typeface="Arial"/>
              <a:buChar char="•"/>
            </a:pPr>
            <a:r>
              <a:rPr lang="en-US" sz="1800" spc="-54">
                <a:solidFill>
                  <a:srgbClr val="00FFA8"/>
                </a:solidFill>
                <a:latin typeface="TT Fors"/>
                <a:ea typeface="TT Fors"/>
                <a:cs typeface="TT Fors"/>
                <a:sym typeface="TT Fors"/>
              </a:rPr>
              <a:t>Custom headers with payloads</a:t>
            </a:r>
          </a:p>
          <a:p>
            <a:pPr algn="l">
              <a:lnSpc>
                <a:spcPts val="2700"/>
              </a:lnSpc>
            </a:pPr>
            <a:r>
              <a:rPr lang="en-US" sz="1800" spc="-54" b="true">
                <a:solidFill>
                  <a:srgbClr val="00FFA8"/>
                </a:solidFill>
                <a:latin typeface="TT Fors Bold"/>
                <a:ea typeface="TT Fors Bold"/>
                <a:cs typeface="TT Fors Bold"/>
                <a:sym typeface="TT Fors Bold"/>
              </a:rPr>
              <a:t>Legal &amp; Ethical Considerations:</a:t>
            </a:r>
          </a:p>
          <a:p>
            <a:pPr algn="l" marL="388623" indent="-194312" lvl="1">
              <a:lnSpc>
                <a:spcPts val="2700"/>
              </a:lnSpc>
              <a:buFont typeface="Arial"/>
              <a:buChar char="•"/>
            </a:pPr>
            <a:r>
              <a:rPr lang="en-US" sz="1800" spc="-54">
                <a:solidFill>
                  <a:srgbClr val="00FFA8"/>
                </a:solidFill>
                <a:latin typeface="TT Fors"/>
                <a:ea typeface="TT Fors"/>
                <a:cs typeface="TT Fors"/>
                <a:sym typeface="TT Fors"/>
              </a:rPr>
              <a:t>WAF bypass only during authorized penetration tests</a:t>
            </a:r>
          </a:p>
          <a:p>
            <a:pPr algn="l" marL="388623" indent="-194312" lvl="1">
              <a:lnSpc>
                <a:spcPts val="2700"/>
              </a:lnSpc>
              <a:buFont typeface="Arial"/>
              <a:buChar char="•"/>
            </a:pPr>
            <a:r>
              <a:rPr lang="en-US" sz="1800" spc="-54">
                <a:solidFill>
                  <a:srgbClr val="00FFA8"/>
                </a:solidFill>
                <a:latin typeface="TT Fors"/>
                <a:ea typeface="TT Fors"/>
                <a:cs typeface="TT Fors"/>
                <a:sym typeface="TT Fors"/>
              </a:rPr>
              <a:t>Document the testing scope in the rules of engagement</a:t>
            </a:r>
          </a:p>
          <a:p>
            <a:pPr algn="l" marL="388623" indent="-194312" lvl="1">
              <a:lnSpc>
                <a:spcPts val="2700"/>
              </a:lnSpc>
              <a:buFont typeface="Arial"/>
              <a:buChar char="•"/>
            </a:pPr>
            <a:r>
              <a:rPr lang="en-US" sz="1800" spc="-54">
                <a:solidFill>
                  <a:srgbClr val="00FFA8"/>
                </a:solidFill>
                <a:latin typeface="TT Fors"/>
                <a:ea typeface="TT Fors"/>
                <a:cs typeface="TT Fors"/>
                <a:sym typeface="TT Fors"/>
              </a:rPr>
              <a:t>Use isolated lab </a:t>
            </a:r>
            <a:r>
              <a:rPr lang="en-US" sz="1800" spc="-54">
                <a:solidFill>
                  <a:srgbClr val="00FFA8"/>
                </a:solidFill>
                <a:latin typeface="TT Fors"/>
                <a:ea typeface="TT Fors"/>
                <a:cs typeface="TT Fors"/>
                <a:sym typeface="TT Fors"/>
              </a:rPr>
              <a:t>environment</a:t>
            </a:r>
            <a:r>
              <a:rPr lang="en-US" sz="1800" spc="-54">
                <a:solidFill>
                  <a:srgbClr val="00FFA8"/>
                </a:solidFill>
                <a:latin typeface="TT Fors"/>
                <a:ea typeface="TT Fors"/>
                <a:cs typeface="TT Fors"/>
                <a:sym typeface="TT Fors"/>
              </a:rPr>
              <a:t>s for technique development</a:t>
            </a:r>
          </a:p>
        </p:txBody>
      </p:sp>
      <p:grpSp>
        <p:nvGrpSpPr>
          <p:cNvPr name="Group 5" id="5"/>
          <p:cNvGrpSpPr/>
          <p:nvPr/>
        </p:nvGrpSpPr>
        <p:grpSpPr>
          <a:xfrm rot="0">
            <a:off x="16149744" y="381000"/>
            <a:ext cx="1471506" cy="792133"/>
            <a:chOff x="0" y="0"/>
            <a:chExt cx="1962007" cy="1056178"/>
          </a:xfrm>
        </p:grpSpPr>
        <p:grpSp>
          <p:nvGrpSpPr>
            <p:cNvPr name="Group 6" id="6"/>
            <p:cNvGrpSpPr/>
            <p:nvPr/>
          </p:nvGrpSpPr>
          <p:grpSpPr>
            <a:xfrm rot="0">
              <a:off x="0" y="0"/>
              <a:ext cx="1056178" cy="105617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grpSp>
          <p:nvGrpSpPr>
            <p:cNvPr name="Group 9" id="9"/>
            <p:cNvGrpSpPr/>
            <p:nvPr/>
          </p:nvGrpSpPr>
          <p:grpSpPr>
            <a:xfrm rot="0">
              <a:off x="905830" y="0"/>
              <a:ext cx="1056178" cy="105617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sp>
          <p:nvSpPr>
            <p:cNvPr name="Freeform 12" id="12"/>
            <p:cNvSpPr/>
            <p:nvPr/>
          </p:nvSpPr>
          <p:spPr>
            <a:xfrm flipH="false" flipV="false" rot="0">
              <a:off x="177421" y="150010"/>
              <a:ext cx="701336" cy="756158"/>
            </a:xfrm>
            <a:custGeom>
              <a:avLst/>
              <a:gdLst/>
              <a:ahLst/>
              <a:cxnLst/>
              <a:rect r="r" b="b" t="t" l="l"/>
              <a:pathLst>
                <a:path h="756158" w="701336">
                  <a:moveTo>
                    <a:pt x="0" y="0"/>
                  </a:moveTo>
                  <a:lnTo>
                    <a:pt x="701336" y="0"/>
                  </a:lnTo>
                  <a:lnTo>
                    <a:pt x="701336" y="756158"/>
                  </a:lnTo>
                  <a:lnTo>
                    <a:pt x="0" y="7561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1070789" y="245755"/>
              <a:ext cx="726260" cy="564667"/>
            </a:xfrm>
            <a:custGeom>
              <a:avLst/>
              <a:gdLst/>
              <a:ahLst/>
              <a:cxnLst/>
              <a:rect r="r" b="b" t="t" l="l"/>
              <a:pathLst>
                <a:path h="564667" w="726260">
                  <a:moveTo>
                    <a:pt x="0" y="0"/>
                  </a:moveTo>
                  <a:lnTo>
                    <a:pt x="726260" y="0"/>
                  </a:lnTo>
                  <a:lnTo>
                    <a:pt x="726260" y="564667"/>
                  </a:lnTo>
                  <a:lnTo>
                    <a:pt x="0" y="5646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1387121"/>
            <a:ext cx="7576312" cy="6619875"/>
          </a:xfrm>
          <a:prstGeom prst="rect">
            <a:avLst/>
          </a:prstGeom>
        </p:spPr>
        <p:txBody>
          <a:bodyPr anchor="t" rtlCol="false" tIns="0" lIns="0" bIns="0" rIns="0">
            <a:spAutoFit/>
          </a:bodyPr>
          <a:lstStyle/>
          <a:p>
            <a:pPr algn="l">
              <a:lnSpc>
                <a:spcPts val="3300"/>
              </a:lnSpc>
            </a:pPr>
            <a:r>
              <a:rPr lang="en-US" sz="2200" spc="-66" b="true">
                <a:solidFill>
                  <a:srgbClr val="00FFA8"/>
                </a:solidFill>
                <a:latin typeface="TT Fors Bold"/>
                <a:ea typeface="TT Fors Bold"/>
                <a:cs typeface="TT Fors Bold"/>
                <a:sym typeface="TT Fors Bold"/>
              </a:rPr>
              <a:t>Network Reconnaissance Tools</a:t>
            </a:r>
          </a:p>
          <a:p>
            <a:pPr algn="l">
              <a:lnSpc>
                <a:spcPts val="3000"/>
              </a:lnSpc>
            </a:pPr>
          </a:p>
          <a:p>
            <a:pPr algn="l">
              <a:lnSpc>
                <a:spcPts val="2700"/>
              </a:lnSpc>
            </a:pPr>
            <a:r>
              <a:rPr lang="en-US" sz="1800" spc="-54" b="true">
                <a:solidFill>
                  <a:srgbClr val="00FFA8"/>
                </a:solidFill>
                <a:latin typeface="TT Fors Bold"/>
                <a:ea typeface="TT Fors Bold"/>
                <a:cs typeface="TT Fors Bold"/>
                <a:sym typeface="TT Fors Bold"/>
              </a:rPr>
              <a:t>Wh</a:t>
            </a:r>
            <a:r>
              <a:rPr lang="en-US" sz="1800" spc="-54" b="true">
                <a:solidFill>
                  <a:srgbClr val="00FFA8"/>
                </a:solidFill>
                <a:latin typeface="TT Fors Bold"/>
                <a:ea typeface="TT Fors Bold"/>
                <a:cs typeface="TT Fors Bold"/>
                <a:sym typeface="TT Fors Bold"/>
              </a:rPr>
              <a:t>ois &amp; DNS:</a:t>
            </a:r>
          </a:p>
          <a:p>
            <a:pPr algn="l">
              <a:lnSpc>
                <a:spcPts val="2700"/>
              </a:lnSpc>
            </a:pPr>
            <a:r>
              <a:rPr lang="en-US" sz="1800" spc="-54">
                <a:solidFill>
                  <a:srgbClr val="FFFFFF"/>
                </a:solidFill>
                <a:latin typeface="TT Fors"/>
                <a:ea typeface="TT Fors"/>
                <a:cs typeface="TT Fors"/>
                <a:sym typeface="TT Fors"/>
              </a:rPr>
              <a:t>whois example.com</a:t>
            </a:r>
          </a:p>
          <a:p>
            <a:pPr algn="l">
              <a:lnSpc>
                <a:spcPts val="2700"/>
              </a:lnSpc>
            </a:pPr>
            <a:r>
              <a:rPr lang="en-US" sz="1800" spc="-54">
                <a:solidFill>
                  <a:srgbClr val="FFFFFF"/>
                </a:solidFill>
                <a:latin typeface="TT Fors"/>
                <a:ea typeface="TT Fors"/>
                <a:cs typeface="TT Fors"/>
                <a:sym typeface="TT Fors"/>
              </a:rPr>
              <a:t>ns</a:t>
            </a:r>
            <a:r>
              <a:rPr lang="en-US" sz="1800" spc="-54">
                <a:solidFill>
                  <a:srgbClr val="FFFFFF"/>
                </a:solidFill>
                <a:latin typeface="TT Fors"/>
                <a:ea typeface="TT Fors"/>
                <a:cs typeface="TT Fors"/>
                <a:sym typeface="TT Fors"/>
              </a:rPr>
              <a:t>lookup example.com</a:t>
            </a:r>
          </a:p>
          <a:p>
            <a:pPr algn="l">
              <a:lnSpc>
                <a:spcPts val="2700"/>
              </a:lnSpc>
            </a:pPr>
            <a:r>
              <a:rPr lang="en-US" sz="1800" spc="-54">
                <a:solidFill>
                  <a:srgbClr val="FFFFFF"/>
                </a:solidFill>
                <a:latin typeface="TT Fors"/>
                <a:ea typeface="TT Fors"/>
                <a:cs typeface="TT Fors"/>
                <a:sym typeface="TT Fors"/>
              </a:rPr>
              <a:t>dig example.com</a:t>
            </a:r>
          </a:p>
          <a:p>
            <a:pPr algn="l">
              <a:lnSpc>
                <a:spcPts val="2700"/>
              </a:lnSpc>
            </a:pPr>
            <a:r>
              <a:rPr lang="en-US" sz="1800" spc="-54">
                <a:solidFill>
                  <a:srgbClr val="00FFA8"/>
                </a:solidFill>
                <a:latin typeface="TT Fors"/>
                <a:ea typeface="TT Fors"/>
                <a:cs typeface="TT Fors"/>
                <a:sym typeface="TT Fors"/>
              </a:rPr>
              <a:t>Reveals: Registrant info, DNS records, email servers</a:t>
            </a:r>
          </a:p>
          <a:p>
            <a:pPr algn="l">
              <a:lnSpc>
                <a:spcPts val="2700"/>
              </a:lnSpc>
            </a:pPr>
          </a:p>
          <a:p>
            <a:pPr algn="l">
              <a:lnSpc>
                <a:spcPts val="2700"/>
              </a:lnSpc>
            </a:pPr>
            <a:r>
              <a:rPr lang="en-US" sz="1800" spc="-54" b="true">
                <a:solidFill>
                  <a:srgbClr val="00FFA8"/>
                </a:solidFill>
                <a:latin typeface="TT Fors Bold"/>
                <a:ea typeface="TT Fors Bold"/>
                <a:cs typeface="TT Fors Bold"/>
                <a:sym typeface="TT Fors Bold"/>
              </a:rPr>
              <a:t>Nikto - Web Server </a:t>
            </a:r>
            <a:r>
              <a:rPr lang="en-US" sz="1800" spc="-54" b="true">
                <a:solidFill>
                  <a:srgbClr val="00FFA8"/>
                </a:solidFill>
                <a:latin typeface="TT Fors Bold"/>
                <a:ea typeface="TT Fors Bold"/>
                <a:cs typeface="TT Fors Bold"/>
                <a:sym typeface="TT Fors Bold"/>
              </a:rPr>
              <a:t>Scanner</a:t>
            </a:r>
          </a:p>
          <a:p>
            <a:pPr algn="l">
              <a:lnSpc>
                <a:spcPts val="2700"/>
              </a:lnSpc>
            </a:pPr>
            <a:r>
              <a:rPr lang="en-US" sz="1800" spc="-54" b="true">
                <a:solidFill>
                  <a:srgbClr val="00FFA8"/>
                </a:solidFill>
                <a:latin typeface="TT Fors Bold"/>
                <a:ea typeface="TT Fors Bold"/>
                <a:cs typeface="TT Fors Bold"/>
                <a:sym typeface="TT Fors Bold"/>
              </a:rPr>
              <a:t>Features:</a:t>
            </a:r>
          </a:p>
          <a:p>
            <a:pPr algn="l" marL="388623" indent="-194312" lvl="1">
              <a:lnSpc>
                <a:spcPts val="2700"/>
              </a:lnSpc>
              <a:buFont typeface="Arial"/>
              <a:buChar char="•"/>
            </a:pPr>
            <a:r>
              <a:rPr lang="en-US" sz="1800" spc="-54">
                <a:solidFill>
                  <a:srgbClr val="00FFA8"/>
                </a:solidFill>
                <a:latin typeface="TT Fors"/>
                <a:ea typeface="TT Fors"/>
                <a:cs typeface="TT Fors"/>
                <a:sym typeface="TT Fors"/>
              </a:rPr>
              <a:t>Identifies web server types and </a:t>
            </a:r>
            <a:r>
              <a:rPr lang="en-US" sz="1800" spc="-54">
                <a:solidFill>
                  <a:srgbClr val="00FFA8"/>
                </a:solidFill>
                <a:latin typeface="TT Fors"/>
                <a:ea typeface="TT Fors"/>
                <a:cs typeface="TT Fors"/>
                <a:sym typeface="TT Fors"/>
              </a:rPr>
              <a:t>v</a:t>
            </a:r>
            <a:r>
              <a:rPr lang="en-US" sz="1800" spc="-54">
                <a:solidFill>
                  <a:srgbClr val="00FFA8"/>
                </a:solidFill>
                <a:latin typeface="TT Fors"/>
                <a:ea typeface="TT Fors"/>
                <a:cs typeface="TT Fors"/>
                <a:sym typeface="TT Fors"/>
              </a:rPr>
              <a:t>ersions</a:t>
            </a:r>
          </a:p>
          <a:p>
            <a:pPr algn="l" marL="388623" indent="-194312" lvl="1">
              <a:lnSpc>
                <a:spcPts val="2700"/>
              </a:lnSpc>
              <a:buFont typeface="Arial"/>
              <a:buChar char="•"/>
            </a:pPr>
            <a:r>
              <a:rPr lang="en-US" sz="1800" spc="-54">
                <a:solidFill>
                  <a:srgbClr val="00FFA8"/>
                </a:solidFill>
                <a:latin typeface="TT Fors"/>
                <a:ea typeface="TT Fors"/>
                <a:cs typeface="TT Fors"/>
                <a:sym typeface="TT Fors"/>
              </a:rPr>
              <a:t>Scans for known</a:t>
            </a:r>
            <a:r>
              <a:rPr lang="en-US" sz="1800" spc="-54">
                <a:solidFill>
                  <a:srgbClr val="00FFA8"/>
                </a:solidFill>
                <a:latin typeface="TT Fors"/>
                <a:ea typeface="TT Fors"/>
                <a:cs typeface="TT Fors"/>
                <a:sym typeface="TT Fors"/>
              </a:rPr>
              <a:t> vulnerabilities</a:t>
            </a:r>
          </a:p>
          <a:p>
            <a:pPr algn="l" marL="388623" indent="-194312" lvl="1">
              <a:lnSpc>
                <a:spcPts val="2700"/>
              </a:lnSpc>
              <a:buFont typeface="Arial"/>
              <a:buChar char="•"/>
            </a:pPr>
            <a:r>
              <a:rPr lang="en-US" sz="1800" spc="-54">
                <a:solidFill>
                  <a:srgbClr val="00FFA8"/>
                </a:solidFill>
                <a:latin typeface="TT Fors"/>
                <a:ea typeface="TT Fors"/>
                <a:cs typeface="TT Fors"/>
                <a:sym typeface="TT Fors"/>
              </a:rPr>
              <a:t>Ch</a:t>
            </a:r>
            <a:r>
              <a:rPr lang="en-US" sz="1800" spc="-54">
                <a:solidFill>
                  <a:srgbClr val="00FFA8"/>
                </a:solidFill>
                <a:latin typeface="TT Fors"/>
                <a:ea typeface="TT Fors"/>
                <a:cs typeface="TT Fors"/>
                <a:sym typeface="TT Fors"/>
              </a:rPr>
              <a:t>ecks for dangerous files/misconfigurations</a:t>
            </a:r>
          </a:p>
          <a:p>
            <a:pPr algn="l" marL="388623" indent="-194312" lvl="1">
              <a:lnSpc>
                <a:spcPts val="2700"/>
              </a:lnSpc>
              <a:buFont typeface="Arial"/>
              <a:buChar char="•"/>
            </a:pPr>
            <a:r>
              <a:rPr lang="en-US" sz="1800" spc="-54">
                <a:solidFill>
                  <a:srgbClr val="00FFA8"/>
                </a:solidFill>
                <a:latin typeface="TT Fors"/>
                <a:ea typeface="TT Fors"/>
                <a:cs typeface="TT Fors"/>
                <a:sym typeface="TT Fors"/>
              </a:rPr>
              <a:t>SSL/TLS analysis</a:t>
            </a:r>
          </a:p>
          <a:p>
            <a:pPr algn="l">
              <a:lnSpc>
                <a:spcPts val="2700"/>
              </a:lnSpc>
            </a:pPr>
            <a:r>
              <a:rPr lang="en-US" sz="1800" spc="-54" b="true">
                <a:solidFill>
                  <a:srgbClr val="00FFA8"/>
                </a:solidFill>
                <a:latin typeface="TT Fors Bold"/>
                <a:ea typeface="TT Fors Bold"/>
                <a:cs typeface="TT Fors Bold"/>
                <a:sym typeface="TT Fors Bold"/>
              </a:rPr>
              <a:t>Usage:</a:t>
            </a:r>
          </a:p>
          <a:p>
            <a:pPr algn="l">
              <a:lnSpc>
                <a:spcPts val="2700"/>
              </a:lnSpc>
            </a:pPr>
            <a:r>
              <a:rPr lang="en-US" sz="1800" spc="-54">
                <a:solidFill>
                  <a:srgbClr val="FFFFFF"/>
                </a:solidFill>
                <a:latin typeface="TT Fors"/>
                <a:ea typeface="TT Fors"/>
                <a:cs typeface="TT Fors"/>
                <a:sym typeface="TT Fors"/>
              </a:rPr>
              <a:t>nikto -h example.com</a:t>
            </a:r>
          </a:p>
          <a:p>
            <a:pPr algn="l">
              <a:lnSpc>
                <a:spcPts val="2700"/>
              </a:lnSpc>
            </a:pPr>
            <a:r>
              <a:rPr lang="en-US" sz="1800" spc="-54">
                <a:solidFill>
                  <a:srgbClr val="FFFFFF"/>
                </a:solidFill>
                <a:latin typeface="TT Fors"/>
                <a:ea typeface="TT Fors"/>
                <a:cs typeface="TT Fors"/>
                <a:sym typeface="TT Fors"/>
              </a:rPr>
              <a:t>nikto -h exampl</a:t>
            </a:r>
            <a:r>
              <a:rPr lang="en-US" sz="1800" spc="-54">
                <a:solidFill>
                  <a:srgbClr val="FFFFFF"/>
                </a:solidFill>
                <a:latin typeface="TT Fors"/>
                <a:ea typeface="TT Fors"/>
                <a:cs typeface="TT Fors"/>
                <a:sym typeface="TT Fors"/>
              </a:rPr>
              <a:t>e.com -p 8080</a:t>
            </a:r>
          </a:p>
          <a:p>
            <a:pPr algn="l">
              <a:lnSpc>
                <a:spcPts val="2700"/>
              </a:lnSpc>
            </a:pPr>
            <a:r>
              <a:rPr lang="en-US" sz="1800" spc="-54">
                <a:solidFill>
                  <a:srgbClr val="FFFFFF"/>
                </a:solidFill>
                <a:latin typeface="TT Fors"/>
                <a:ea typeface="TT Fors"/>
                <a:cs typeface="TT Fors"/>
                <a:sym typeface="TT Fors"/>
              </a:rPr>
              <a:t>n</a:t>
            </a:r>
            <a:r>
              <a:rPr lang="en-US" sz="1800" spc="-54">
                <a:solidFill>
                  <a:srgbClr val="FFFFFF"/>
                </a:solidFill>
                <a:latin typeface="TT Fors"/>
                <a:ea typeface="TT Fors"/>
                <a:cs typeface="TT Fors"/>
                <a:sym typeface="TT Fors"/>
              </a:rPr>
              <a:t>ikto -h </a:t>
            </a:r>
            <a:r>
              <a:rPr lang="en-US" sz="1800" spc="-54">
                <a:solidFill>
                  <a:srgbClr val="FFFFFF"/>
                </a:solidFill>
                <a:latin typeface="TT Fors"/>
                <a:ea typeface="TT Fors"/>
                <a:cs typeface="TT Fors"/>
                <a:sym typeface="TT Fors"/>
              </a:rPr>
              <a:t>example.com -Tuning x (skip executabl</a:t>
            </a:r>
            <a:r>
              <a:rPr lang="en-US" sz="1800" spc="-54">
                <a:solidFill>
                  <a:srgbClr val="FFFFFF"/>
                </a:solidFill>
                <a:latin typeface="TT Fors"/>
                <a:ea typeface="TT Fors"/>
                <a:cs typeface="TT Fors"/>
                <a:sym typeface="TT Fors"/>
              </a:rPr>
              <a:t>e</a:t>
            </a:r>
            <a:r>
              <a:rPr lang="en-US" sz="1800" spc="-54">
                <a:solidFill>
                  <a:srgbClr val="FFFFFF"/>
                </a:solidFill>
                <a:latin typeface="TT Fors"/>
                <a:ea typeface="TT Fors"/>
                <a:cs typeface="TT Fors"/>
                <a:sym typeface="TT Fors"/>
              </a:rPr>
              <a:t> checks)</a:t>
            </a:r>
          </a:p>
          <a:p>
            <a:pPr algn="l">
              <a:lnSpc>
                <a:spcPts val="2700"/>
              </a:lnSpc>
            </a:pPr>
            <a:r>
              <a:rPr lang="en-US" sz="1800" spc="-54">
                <a:solidFill>
                  <a:srgbClr val="FFFFFF"/>
                </a:solidFill>
                <a:latin typeface="TT Fors"/>
                <a:ea typeface="TT Fors"/>
                <a:cs typeface="TT Fors"/>
                <a:sym typeface="TT Fors"/>
              </a:rPr>
              <a:t>nikto -h example.com -o report.html</a:t>
            </a:r>
          </a:p>
        </p:txBody>
      </p:sp>
      <p:sp>
        <p:nvSpPr>
          <p:cNvPr name="TextBox 3" id="3"/>
          <p:cNvSpPr txBox="true"/>
          <p:nvPr/>
        </p:nvSpPr>
        <p:spPr>
          <a:xfrm rot="0">
            <a:off x="666750" y="37147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PART 6: WEB ATTACK TOOLS</a:t>
            </a:r>
          </a:p>
        </p:txBody>
      </p:sp>
      <p:sp>
        <p:nvSpPr>
          <p:cNvPr name="TextBox 4" id="4"/>
          <p:cNvSpPr txBox="true"/>
          <p:nvPr/>
        </p:nvSpPr>
        <p:spPr>
          <a:xfrm rot="0">
            <a:off x="8681846" y="1387121"/>
            <a:ext cx="8939404" cy="8334375"/>
          </a:xfrm>
          <a:prstGeom prst="rect">
            <a:avLst/>
          </a:prstGeom>
        </p:spPr>
        <p:txBody>
          <a:bodyPr anchor="t" rtlCol="false" tIns="0" lIns="0" bIns="0" rIns="0">
            <a:spAutoFit/>
          </a:bodyPr>
          <a:lstStyle/>
          <a:p>
            <a:pPr algn="l">
              <a:lnSpc>
                <a:spcPts val="3300"/>
              </a:lnSpc>
            </a:pPr>
            <a:r>
              <a:rPr lang="en-US" sz="2200" spc="-66" b="true">
                <a:solidFill>
                  <a:srgbClr val="00FFA8"/>
                </a:solidFill>
                <a:latin typeface="TT Fors Bold"/>
                <a:ea typeface="TT Fors Bold"/>
                <a:cs typeface="TT Fors Bold"/>
                <a:sym typeface="TT Fors Bold"/>
              </a:rPr>
              <a:t>Burp Suite - Web Application Testing P</a:t>
            </a:r>
            <a:r>
              <a:rPr lang="en-US" sz="2200" spc="-66" b="true">
                <a:solidFill>
                  <a:srgbClr val="00FFA8"/>
                </a:solidFill>
                <a:latin typeface="TT Fors Bold"/>
                <a:ea typeface="TT Fors Bold"/>
                <a:cs typeface="TT Fors Bold"/>
                <a:sym typeface="TT Fors Bold"/>
              </a:rPr>
              <a:t>latform</a:t>
            </a:r>
          </a:p>
          <a:p>
            <a:pPr algn="l">
              <a:lnSpc>
                <a:spcPts val="3000"/>
              </a:lnSpc>
            </a:pPr>
          </a:p>
          <a:p>
            <a:pPr algn="l">
              <a:lnSpc>
                <a:spcPts val="2700"/>
              </a:lnSpc>
            </a:pPr>
            <a:r>
              <a:rPr lang="en-US" sz="1800" spc="-54" b="true">
                <a:solidFill>
                  <a:srgbClr val="00FFA8"/>
                </a:solidFill>
                <a:latin typeface="TT Fors Bold"/>
                <a:ea typeface="TT Fors Bold"/>
                <a:cs typeface="TT Fors Bold"/>
                <a:sym typeface="TT Fors Bold"/>
              </a:rPr>
              <a:t>C</a:t>
            </a:r>
            <a:r>
              <a:rPr lang="en-US" sz="1800" spc="-54" b="true">
                <a:solidFill>
                  <a:srgbClr val="00FFA8"/>
                </a:solidFill>
                <a:latin typeface="TT Fors Bold"/>
                <a:ea typeface="TT Fors Bold"/>
                <a:cs typeface="TT Fors Bold"/>
                <a:sym typeface="TT Fors Bold"/>
              </a:rPr>
              <a:t>ore Modules:</a:t>
            </a:r>
          </a:p>
          <a:p>
            <a:pPr algn="l">
              <a:lnSpc>
                <a:spcPts val="2700"/>
              </a:lnSpc>
            </a:pPr>
            <a:r>
              <a:rPr lang="en-US" sz="1800" spc="-54" b="true">
                <a:solidFill>
                  <a:srgbClr val="00FFA8"/>
                </a:solidFill>
                <a:latin typeface="TT Fors Bold"/>
                <a:ea typeface="TT Fors Bold"/>
                <a:cs typeface="TT Fors Bold"/>
                <a:sym typeface="TT Fors Bold"/>
              </a:rPr>
              <a:t>1. Proxy:</a:t>
            </a:r>
          </a:p>
          <a:p>
            <a:pPr algn="l" marL="388623" indent="-194312" lvl="1">
              <a:lnSpc>
                <a:spcPts val="2700"/>
              </a:lnSpc>
              <a:buFont typeface="Arial"/>
              <a:buChar char="•"/>
            </a:pPr>
            <a:r>
              <a:rPr lang="en-US" sz="1800" spc="-54">
                <a:solidFill>
                  <a:srgbClr val="00FFA8"/>
                </a:solidFill>
                <a:latin typeface="TT Fors"/>
                <a:ea typeface="TT Fors"/>
                <a:cs typeface="TT Fors"/>
                <a:sym typeface="TT Fors"/>
              </a:rPr>
              <a:t>Intercept HTTP/HTTPS traffic</a:t>
            </a:r>
          </a:p>
          <a:p>
            <a:pPr algn="l" marL="388623" indent="-194312" lvl="1">
              <a:lnSpc>
                <a:spcPts val="2700"/>
              </a:lnSpc>
              <a:buFont typeface="Arial"/>
              <a:buChar char="•"/>
            </a:pPr>
            <a:r>
              <a:rPr lang="en-US" sz="1800" spc="-54">
                <a:solidFill>
                  <a:srgbClr val="00FFA8"/>
                </a:solidFill>
                <a:latin typeface="TT Fors"/>
                <a:ea typeface="TT Fors"/>
                <a:cs typeface="TT Fors"/>
                <a:sym typeface="TT Fors"/>
              </a:rPr>
              <a:t>Modify requests/responses</a:t>
            </a:r>
          </a:p>
          <a:p>
            <a:pPr algn="l" marL="388623" indent="-194312" lvl="1">
              <a:lnSpc>
                <a:spcPts val="2700"/>
              </a:lnSpc>
              <a:buFont typeface="Arial"/>
              <a:buChar char="•"/>
            </a:pPr>
            <a:r>
              <a:rPr lang="en-US" sz="1800" spc="-54">
                <a:solidFill>
                  <a:srgbClr val="00FFA8"/>
                </a:solidFill>
                <a:latin typeface="TT Fors"/>
                <a:ea typeface="TT Fors"/>
                <a:cs typeface="TT Fors"/>
                <a:sym typeface="TT Fors"/>
              </a:rPr>
              <a:t>A</a:t>
            </a:r>
            <a:r>
              <a:rPr lang="en-US" sz="1800" spc="-54">
                <a:solidFill>
                  <a:srgbClr val="00FFA8"/>
                </a:solidFill>
                <a:latin typeface="TT Fors"/>
                <a:ea typeface="TT Fors"/>
                <a:cs typeface="TT Fors"/>
                <a:sym typeface="TT Fors"/>
              </a:rPr>
              <a:t>nalyze communication</a:t>
            </a:r>
          </a:p>
          <a:p>
            <a:pPr algn="l">
              <a:lnSpc>
                <a:spcPts val="2700"/>
              </a:lnSpc>
            </a:pPr>
            <a:r>
              <a:rPr lang="en-US" sz="1800" spc="-54" b="true">
                <a:solidFill>
                  <a:srgbClr val="00FFA8"/>
                </a:solidFill>
                <a:latin typeface="TT Fors Bold"/>
                <a:ea typeface="TT Fors Bold"/>
                <a:cs typeface="TT Fors Bold"/>
                <a:sym typeface="TT Fors Bold"/>
              </a:rPr>
              <a:t>2. S</a:t>
            </a:r>
            <a:r>
              <a:rPr lang="en-US" sz="1800" spc="-54" b="true">
                <a:solidFill>
                  <a:srgbClr val="00FFA8"/>
                </a:solidFill>
                <a:latin typeface="TT Fors Bold"/>
                <a:ea typeface="TT Fors Bold"/>
                <a:cs typeface="TT Fors Bold"/>
                <a:sym typeface="TT Fors Bold"/>
              </a:rPr>
              <a:t>can</a:t>
            </a:r>
            <a:r>
              <a:rPr lang="en-US" sz="1800" spc="-54" b="true">
                <a:solidFill>
                  <a:srgbClr val="00FFA8"/>
                </a:solidFill>
                <a:latin typeface="TT Fors Bold"/>
                <a:ea typeface="TT Fors Bold"/>
                <a:cs typeface="TT Fors Bold"/>
                <a:sym typeface="TT Fors Bold"/>
              </a:rPr>
              <a:t>ner:</a:t>
            </a:r>
          </a:p>
          <a:p>
            <a:pPr algn="l" marL="388623" indent="-194312" lvl="1">
              <a:lnSpc>
                <a:spcPts val="2700"/>
              </a:lnSpc>
              <a:buFont typeface="Arial"/>
              <a:buChar char="•"/>
            </a:pPr>
            <a:r>
              <a:rPr lang="en-US" sz="1800" spc="-54">
                <a:solidFill>
                  <a:srgbClr val="00FFA8"/>
                </a:solidFill>
                <a:latin typeface="TT Fors"/>
                <a:ea typeface="TT Fors"/>
                <a:cs typeface="TT Fors"/>
                <a:sym typeface="TT Fors"/>
              </a:rPr>
              <a:t>Passive scanning (analyzes traffic)</a:t>
            </a:r>
          </a:p>
          <a:p>
            <a:pPr algn="l" marL="388623" indent="-194312" lvl="1">
              <a:lnSpc>
                <a:spcPts val="2700"/>
              </a:lnSpc>
              <a:buFont typeface="Arial"/>
              <a:buChar char="•"/>
            </a:pPr>
            <a:r>
              <a:rPr lang="en-US" sz="1800" spc="-54">
                <a:solidFill>
                  <a:srgbClr val="00FFA8"/>
                </a:solidFill>
                <a:latin typeface="TT Fors"/>
                <a:ea typeface="TT Fors"/>
                <a:cs typeface="TT Fors"/>
                <a:sym typeface="TT Fors"/>
              </a:rPr>
              <a:t>Ac</a:t>
            </a:r>
            <a:r>
              <a:rPr lang="en-US" sz="1800" spc="-54">
                <a:solidFill>
                  <a:srgbClr val="00FFA8"/>
                </a:solidFill>
                <a:latin typeface="TT Fors"/>
                <a:ea typeface="TT Fors"/>
                <a:cs typeface="TT Fors"/>
                <a:sym typeface="TT Fors"/>
              </a:rPr>
              <a:t>tive scanning (sends payloads)</a:t>
            </a:r>
          </a:p>
          <a:p>
            <a:pPr algn="l" marL="388623" indent="-194312" lvl="1">
              <a:lnSpc>
                <a:spcPts val="2700"/>
              </a:lnSpc>
              <a:buFont typeface="Arial"/>
              <a:buChar char="•"/>
            </a:pPr>
            <a:r>
              <a:rPr lang="en-US" sz="1800" spc="-54">
                <a:solidFill>
                  <a:srgbClr val="00FFA8"/>
                </a:solidFill>
                <a:latin typeface="TT Fors"/>
                <a:ea typeface="TT Fors"/>
                <a:cs typeface="TT Fors"/>
                <a:sym typeface="TT Fors"/>
              </a:rPr>
              <a:t>Detects: XSS, SQL injection, CSRF, misconfigurations</a:t>
            </a:r>
          </a:p>
          <a:p>
            <a:pPr algn="l">
              <a:lnSpc>
                <a:spcPts val="2700"/>
              </a:lnSpc>
            </a:pPr>
            <a:r>
              <a:rPr lang="en-US" sz="1800" spc="-54" b="true">
                <a:solidFill>
                  <a:srgbClr val="00FFA8"/>
                </a:solidFill>
                <a:latin typeface="TT Fors Bold"/>
                <a:ea typeface="TT Fors Bold"/>
                <a:cs typeface="TT Fors Bold"/>
                <a:sym typeface="TT Fors Bold"/>
              </a:rPr>
              <a:t>3. Intruder:</a:t>
            </a:r>
          </a:p>
          <a:p>
            <a:pPr algn="l" marL="388623" indent="-194312" lvl="1">
              <a:lnSpc>
                <a:spcPts val="2700"/>
              </a:lnSpc>
              <a:buFont typeface="Arial"/>
              <a:buChar char="•"/>
            </a:pPr>
            <a:r>
              <a:rPr lang="en-US" sz="1800" spc="-54">
                <a:solidFill>
                  <a:srgbClr val="00FFA8"/>
                </a:solidFill>
                <a:latin typeface="TT Fors"/>
                <a:ea typeface="TT Fors"/>
                <a:cs typeface="TT Fors"/>
                <a:sym typeface="TT Fors"/>
              </a:rPr>
              <a:t>Automated payload injection</a:t>
            </a:r>
          </a:p>
          <a:p>
            <a:pPr algn="l" marL="388623" indent="-194312" lvl="1">
              <a:lnSpc>
                <a:spcPts val="2700"/>
              </a:lnSpc>
              <a:buFont typeface="Arial"/>
              <a:buChar char="•"/>
            </a:pPr>
            <a:r>
              <a:rPr lang="en-US" sz="1800" spc="-54">
                <a:solidFill>
                  <a:srgbClr val="00FFA8"/>
                </a:solidFill>
                <a:latin typeface="TT Fors"/>
                <a:ea typeface="TT Fors"/>
                <a:cs typeface="TT Fors"/>
                <a:sym typeface="TT Fors"/>
              </a:rPr>
              <a:t>Brute-force attacks</a:t>
            </a:r>
          </a:p>
          <a:p>
            <a:pPr algn="l" marL="388623" indent="-194312" lvl="1">
              <a:lnSpc>
                <a:spcPts val="2700"/>
              </a:lnSpc>
              <a:buFont typeface="Arial"/>
              <a:buChar char="•"/>
            </a:pPr>
            <a:r>
              <a:rPr lang="en-US" sz="1800" spc="-54">
                <a:solidFill>
                  <a:srgbClr val="00FFA8"/>
                </a:solidFill>
                <a:latin typeface="TT Fors"/>
                <a:ea typeface="TT Fors"/>
                <a:cs typeface="TT Fors"/>
                <a:sym typeface="TT Fors"/>
              </a:rPr>
              <a:t>Para</a:t>
            </a:r>
            <a:r>
              <a:rPr lang="en-US" sz="1800" spc="-54">
                <a:solidFill>
                  <a:srgbClr val="00FFA8"/>
                </a:solidFill>
                <a:latin typeface="TT Fors"/>
                <a:ea typeface="TT Fors"/>
                <a:cs typeface="TT Fors"/>
                <a:sym typeface="TT Fors"/>
              </a:rPr>
              <a:t>meter fuzzing</a:t>
            </a:r>
          </a:p>
          <a:p>
            <a:pPr algn="l">
              <a:lnSpc>
                <a:spcPts val="2700"/>
              </a:lnSpc>
            </a:pPr>
            <a:r>
              <a:rPr lang="en-US" sz="1800" spc="-54" b="true">
                <a:solidFill>
                  <a:srgbClr val="00FFA8"/>
                </a:solidFill>
                <a:latin typeface="TT Fors Bold"/>
                <a:ea typeface="TT Fors Bold"/>
                <a:cs typeface="TT Fors Bold"/>
                <a:sym typeface="TT Fors Bold"/>
              </a:rPr>
              <a:t>4. Repeater:</a:t>
            </a:r>
          </a:p>
          <a:p>
            <a:pPr algn="l" marL="388623" indent="-194312" lvl="1">
              <a:lnSpc>
                <a:spcPts val="2700"/>
              </a:lnSpc>
              <a:buFont typeface="Arial"/>
              <a:buChar char="•"/>
            </a:pPr>
            <a:r>
              <a:rPr lang="en-US" sz="1800" spc="-54">
                <a:solidFill>
                  <a:srgbClr val="00FFA8"/>
                </a:solidFill>
                <a:latin typeface="TT Fors"/>
                <a:ea typeface="TT Fors"/>
                <a:cs typeface="TT Fors"/>
                <a:sym typeface="TT Fors"/>
              </a:rPr>
              <a:t>Manua</a:t>
            </a:r>
            <a:r>
              <a:rPr lang="en-US" sz="1800" spc="-54">
                <a:solidFill>
                  <a:srgbClr val="00FFA8"/>
                </a:solidFill>
                <a:latin typeface="TT Fors"/>
                <a:ea typeface="TT Fors"/>
                <a:cs typeface="TT Fors"/>
                <a:sym typeface="TT Fors"/>
              </a:rPr>
              <a:t>l request modification</a:t>
            </a:r>
          </a:p>
          <a:p>
            <a:pPr algn="l" marL="388623" indent="-194312" lvl="1">
              <a:lnSpc>
                <a:spcPts val="2700"/>
              </a:lnSpc>
              <a:buFont typeface="Arial"/>
              <a:buChar char="•"/>
            </a:pPr>
            <a:r>
              <a:rPr lang="en-US" sz="1800" spc="-54">
                <a:solidFill>
                  <a:srgbClr val="00FFA8"/>
                </a:solidFill>
                <a:latin typeface="TT Fors"/>
                <a:ea typeface="TT Fors"/>
                <a:cs typeface="TT Fors"/>
                <a:sym typeface="TT Fors"/>
              </a:rPr>
              <a:t>Te</a:t>
            </a:r>
            <a:r>
              <a:rPr lang="en-US" sz="1800" spc="-54">
                <a:solidFill>
                  <a:srgbClr val="00FFA8"/>
                </a:solidFill>
                <a:latin typeface="TT Fors"/>
                <a:ea typeface="TT Fors"/>
                <a:cs typeface="TT Fors"/>
                <a:sym typeface="TT Fors"/>
              </a:rPr>
              <a:t>sting specific payloads</a:t>
            </a:r>
          </a:p>
          <a:p>
            <a:pPr algn="l">
              <a:lnSpc>
                <a:spcPts val="2700"/>
              </a:lnSpc>
            </a:pPr>
            <a:r>
              <a:rPr lang="en-US" sz="1800" spc="-54" b="true">
                <a:solidFill>
                  <a:srgbClr val="00FFA8"/>
                </a:solidFill>
                <a:latin typeface="TT Fors Bold"/>
                <a:ea typeface="TT Fors Bold"/>
                <a:cs typeface="TT Fors Bold"/>
                <a:sym typeface="TT Fors Bold"/>
              </a:rPr>
              <a:t>5. Sequencer:</a:t>
            </a:r>
          </a:p>
          <a:p>
            <a:pPr algn="l" marL="388623" indent="-194312" lvl="1">
              <a:lnSpc>
                <a:spcPts val="2700"/>
              </a:lnSpc>
              <a:buFont typeface="Arial"/>
              <a:buChar char="•"/>
            </a:pPr>
            <a:r>
              <a:rPr lang="en-US" sz="1800" spc="-54">
                <a:solidFill>
                  <a:srgbClr val="00FFA8"/>
                </a:solidFill>
                <a:latin typeface="TT Fors"/>
                <a:ea typeface="TT Fors"/>
                <a:cs typeface="TT Fors"/>
                <a:sym typeface="TT Fors"/>
              </a:rPr>
              <a:t>S</a:t>
            </a:r>
            <a:r>
              <a:rPr lang="en-US" sz="1800" spc="-54">
                <a:solidFill>
                  <a:srgbClr val="00FFA8"/>
                </a:solidFill>
                <a:latin typeface="TT Fors"/>
                <a:ea typeface="TT Fors"/>
                <a:cs typeface="TT Fors"/>
                <a:sym typeface="TT Fors"/>
              </a:rPr>
              <a:t>ession token randomness analysis</a:t>
            </a:r>
          </a:p>
          <a:p>
            <a:pPr algn="l" marL="388623" indent="-194312" lvl="1">
              <a:lnSpc>
                <a:spcPts val="2700"/>
              </a:lnSpc>
              <a:buFont typeface="Arial"/>
              <a:buChar char="•"/>
            </a:pPr>
            <a:r>
              <a:rPr lang="en-US" sz="1800" spc="-54">
                <a:solidFill>
                  <a:srgbClr val="00FFA8"/>
                </a:solidFill>
                <a:latin typeface="TT Fors"/>
                <a:ea typeface="TT Fors"/>
                <a:cs typeface="TT Fors"/>
                <a:sym typeface="TT Fors"/>
              </a:rPr>
              <a:t>Crypto</a:t>
            </a:r>
            <a:r>
              <a:rPr lang="en-US" sz="1800" spc="-54">
                <a:solidFill>
                  <a:srgbClr val="00FFA8"/>
                </a:solidFill>
                <a:latin typeface="TT Fors"/>
                <a:ea typeface="TT Fors"/>
                <a:cs typeface="TT Fors"/>
                <a:sym typeface="TT Fors"/>
              </a:rPr>
              <a:t>graphic strength assessment</a:t>
            </a:r>
          </a:p>
          <a:p>
            <a:pPr algn="l">
              <a:lnSpc>
                <a:spcPts val="2700"/>
              </a:lnSpc>
            </a:pPr>
            <a:r>
              <a:rPr lang="en-US" sz="1800" spc="-54" b="true">
                <a:solidFill>
                  <a:srgbClr val="00FFA8"/>
                </a:solidFill>
                <a:latin typeface="TT Fors Bold"/>
                <a:ea typeface="TT Fors Bold"/>
                <a:cs typeface="TT Fors Bold"/>
                <a:sym typeface="TT Fors Bold"/>
              </a:rPr>
              <a:t>Free vs. Pro:</a:t>
            </a:r>
          </a:p>
          <a:p>
            <a:pPr algn="l" marL="388623" indent="-194312" lvl="1">
              <a:lnSpc>
                <a:spcPts val="2700"/>
              </a:lnSpc>
              <a:buFont typeface="Arial"/>
              <a:buChar char="•"/>
            </a:pPr>
            <a:r>
              <a:rPr lang="en-US" sz="1800" spc="-54">
                <a:solidFill>
                  <a:srgbClr val="00FFA8"/>
                </a:solidFill>
                <a:latin typeface="TT Fors"/>
                <a:ea typeface="TT Fors"/>
                <a:cs typeface="TT Fors"/>
                <a:sym typeface="TT Fors"/>
              </a:rPr>
              <a:t>Free: Proxy, manual testing, limited scanning</a:t>
            </a:r>
          </a:p>
          <a:p>
            <a:pPr algn="l" marL="388623" indent="-194312" lvl="1">
              <a:lnSpc>
                <a:spcPts val="2700"/>
              </a:lnSpc>
              <a:buFont typeface="Arial"/>
              <a:buChar char="•"/>
            </a:pPr>
            <a:r>
              <a:rPr lang="en-US" sz="1800" spc="-54">
                <a:solidFill>
                  <a:srgbClr val="00FFA8"/>
                </a:solidFill>
                <a:latin typeface="TT Fors"/>
                <a:ea typeface="TT Fors"/>
                <a:cs typeface="TT Fors"/>
                <a:sym typeface="TT Fors"/>
              </a:rPr>
              <a:t>Pro: Full automation, ad</a:t>
            </a:r>
            <a:r>
              <a:rPr lang="en-US" sz="1800" spc="-54">
                <a:solidFill>
                  <a:srgbClr val="00FFA8"/>
                </a:solidFill>
                <a:latin typeface="TT Fors"/>
                <a:ea typeface="TT Fors"/>
                <a:cs typeface="TT Fors"/>
                <a:sym typeface="TT Fors"/>
              </a:rPr>
              <a:t>vanced</a:t>
            </a:r>
            <a:r>
              <a:rPr lang="en-US" sz="1800" spc="-54">
                <a:solidFill>
                  <a:srgbClr val="00FFA8"/>
                </a:solidFill>
                <a:latin typeface="TT Fors"/>
                <a:ea typeface="TT Fors"/>
                <a:cs typeface="TT Fors"/>
                <a:sym typeface="TT Fors"/>
              </a:rPr>
              <a:t> features, support</a:t>
            </a:r>
          </a:p>
        </p:txBody>
      </p:sp>
      <p:grpSp>
        <p:nvGrpSpPr>
          <p:cNvPr name="Group 5" id="5"/>
          <p:cNvGrpSpPr/>
          <p:nvPr/>
        </p:nvGrpSpPr>
        <p:grpSpPr>
          <a:xfrm rot="0">
            <a:off x="16149744" y="381000"/>
            <a:ext cx="1471506" cy="792133"/>
            <a:chOff x="0" y="0"/>
            <a:chExt cx="1962007" cy="1056178"/>
          </a:xfrm>
        </p:grpSpPr>
        <p:grpSp>
          <p:nvGrpSpPr>
            <p:cNvPr name="Group 6" id="6"/>
            <p:cNvGrpSpPr/>
            <p:nvPr/>
          </p:nvGrpSpPr>
          <p:grpSpPr>
            <a:xfrm rot="0">
              <a:off x="0" y="0"/>
              <a:ext cx="1056178" cy="105617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grpSp>
          <p:nvGrpSpPr>
            <p:cNvPr name="Group 9" id="9"/>
            <p:cNvGrpSpPr/>
            <p:nvPr/>
          </p:nvGrpSpPr>
          <p:grpSpPr>
            <a:xfrm rot="0">
              <a:off x="905830" y="0"/>
              <a:ext cx="1056178" cy="105617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sp>
          <p:nvSpPr>
            <p:cNvPr name="Freeform 12" id="12"/>
            <p:cNvSpPr/>
            <p:nvPr/>
          </p:nvSpPr>
          <p:spPr>
            <a:xfrm flipH="false" flipV="false" rot="0">
              <a:off x="177421" y="150010"/>
              <a:ext cx="701336" cy="756158"/>
            </a:xfrm>
            <a:custGeom>
              <a:avLst/>
              <a:gdLst/>
              <a:ahLst/>
              <a:cxnLst/>
              <a:rect r="r" b="b" t="t" l="l"/>
              <a:pathLst>
                <a:path h="756158" w="701336">
                  <a:moveTo>
                    <a:pt x="0" y="0"/>
                  </a:moveTo>
                  <a:lnTo>
                    <a:pt x="701336" y="0"/>
                  </a:lnTo>
                  <a:lnTo>
                    <a:pt x="701336" y="756158"/>
                  </a:lnTo>
                  <a:lnTo>
                    <a:pt x="0" y="7561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1070789" y="245755"/>
              <a:ext cx="726260" cy="564667"/>
            </a:xfrm>
            <a:custGeom>
              <a:avLst/>
              <a:gdLst/>
              <a:ahLst/>
              <a:cxnLst/>
              <a:rect r="r" b="b" t="t" l="l"/>
              <a:pathLst>
                <a:path h="564667" w="726260">
                  <a:moveTo>
                    <a:pt x="0" y="0"/>
                  </a:moveTo>
                  <a:lnTo>
                    <a:pt x="726260" y="0"/>
                  </a:lnTo>
                  <a:lnTo>
                    <a:pt x="726260" y="564667"/>
                  </a:lnTo>
                  <a:lnTo>
                    <a:pt x="0" y="5646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1321507"/>
            <a:ext cx="7543809" cy="8825865"/>
          </a:xfrm>
          <a:prstGeom prst="rect">
            <a:avLst/>
          </a:prstGeom>
        </p:spPr>
        <p:txBody>
          <a:bodyPr anchor="t" rtlCol="false" tIns="0" lIns="0" bIns="0" rIns="0">
            <a:spAutoFit/>
          </a:bodyPr>
          <a:lstStyle/>
          <a:p>
            <a:pPr algn="l">
              <a:lnSpc>
                <a:spcPts val="3300"/>
              </a:lnSpc>
            </a:pPr>
            <a:r>
              <a:rPr lang="en-US" sz="2200" spc="-66" b="true">
                <a:solidFill>
                  <a:srgbClr val="00FFA8"/>
                </a:solidFill>
                <a:latin typeface="TT Fors Bold"/>
                <a:ea typeface="TT Fors Bold"/>
                <a:cs typeface="TT Fors Bold"/>
                <a:sym typeface="TT Fors Bold"/>
              </a:rPr>
              <a:t>Directory Brute-forcing Tools</a:t>
            </a:r>
          </a:p>
          <a:p>
            <a:pPr algn="l">
              <a:lnSpc>
                <a:spcPts val="3300"/>
              </a:lnSpc>
            </a:pPr>
          </a:p>
          <a:p>
            <a:pPr algn="l">
              <a:lnSpc>
                <a:spcPts val="3000"/>
              </a:lnSpc>
            </a:pPr>
            <a:r>
              <a:rPr lang="en-US" sz="2000" spc="-60" b="true">
                <a:solidFill>
                  <a:srgbClr val="00FFA8"/>
                </a:solidFill>
                <a:latin typeface="TT Fors Bold"/>
                <a:ea typeface="TT Fors Bold"/>
                <a:cs typeface="TT Fors Bold"/>
                <a:sym typeface="TT Fors Bold"/>
              </a:rPr>
              <a:t>Gobuster:</a:t>
            </a:r>
          </a:p>
          <a:p>
            <a:pPr algn="l">
              <a:lnSpc>
                <a:spcPts val="3000"/>
              </a:lnSpc>
            </a:pPr>
            <a:r>
              <a:rPr lang="en-US" sz="2000" spc="-60">
                <a:solidFill>
                  <a:srgbClr val="FFFFFF"/>
                </a:solidFill>
                <a:latin typeface="TT Fors"/>
                <a:ea typeface="TT Fors"/>
                <a:cs typeface="TT Fors"/>
                <a:sym typeface="TT Fors"/>
              </a:rPr>
              <a:t>gobuster dir -u http://example.com -w /usr/share/wordlists/dirb/common.txt</a:t>
            </a:r>
          </a:p>
          <a:p>
            <a:pPr algn="l">
              <a:lnSpc>
                <a:spcPts val="3000"/>
              </a:lnSpc>
            </a:pPr>
            <a:r>
              <a:rPr lang="en-US" sz="2000" spc="-60">
                <a:solidFill>
                  <a:srgbClr val="FFFFFF"/>
                </a:solidFill>
                <a:latin typeface="TT Fors"/>
                <a:ea typeface="TT Fors"/>
                <a:cs typeface="TT Fors"/>
                <a:sym typeface="TT Fors"/>
              </a:rPr>
              <a:t>gobuster dir -u http://example.com -w wordlist.txt -x php,html,txt</a:t>
            </a:r>
          </a:p>
          <a:p>
            <a:pPr algn="l">
              <a:lnSpc>
                <a:spcPts val="3000"/>
              </a:lnSpc>
            </a:pPr>
            <a:r>
              <a:rPr lang="en-US" sz="2000" spc="-60">
                <a:solidFill>
                  <a:srgbClr val="FFFFFF"/>
                </a:solidFill>
                <a:latin typeface="TT Fors"/>
                <a:ea typeface="TT Fors"/>
                <a:cs typeface="TT Fors"/>
                <a:sym typeface="TT Fors"/>
              </a:rPr>
              <a:t>gobuster vhost -u http://example.com -w subdom</a:t>
            </a:r>
            <a:r>
              <a:rPr lang="en-US" sz="2000" spc="-60">
                <a:solidFill>
                  <a:srgbClr val="FFFFFF"/>
                </a:solidFill>
                <a:latin typeface="TT Fors"/>
                <a:ea typeface="TT Fors"/>
                <a:cs typeface="TT Fors"/>
                <a:sym typeface="TT Fors"/>
              </a:rPr>
              <a:t>ains.txt</a:t>
            </a:r>
          </a:p>
          <a:p>
            <a:pPr algn="l">
              <a:lnSpc>
                <a:spcPts val="3000"/>
              </a:lnSpc>
            </a:pPr>
          </a:p>
          <a:p>
            <a:pPr algn="l">
              <a:lnSpc>
                <a:spcPts val="3000"/>
              </a:lnSpc>
            </a:pPr>
            <a:r>
              <a:rPr lang="en-US" sz="2000" spc="-60" b="true">
                <a:solidFill>
                  <a:srgbClr val="00FFA8"/>
                </a:solidFill>
                <a:latin typeface="TT Fors Bold"/>
                <a:ea typeface="TT Fors Bold"/>
                <a:cs typeface="TT Fors Bold"/>
                <a:sym typeface="TT Fors Bold"/>
              </a:rPr>
              <a:t>DirBuster:</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GUI-based directory/file discovery</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Large wo</a:t>
            </a:r>
            <a:r>
              <a:rPr lang="en-US" sz="2000" spc="-60">
                <a:solidFill>
                  <a:srgbClr val="00FFA8"/>
                </a:solidFill>
                <a:latin typeface="TT Fors"/>
                <a:ea typeface="TT Fors"/>
                <a:cs typeface="TT Fors"/>
                <a:sym typeface="TT Fors"/>
              </a:rPr>
              <a:t>rdlists included</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Slower than Gob</a:t>
            </a:r>
            <a:r>
              <a:rPr lang="en-US" sz="2000" spc="-60">
                <a:solidFill>
                  <a:srgbClr val="00FFA8"/>
                </a:solidFill>
                <a:latin typeface="TT Fors"/>
                <a:ea typeface="TT Fors"/>
                <a:cs typeface="TT Fors"/>
                <a:sym typeface="TT Fors"/>
              </a:rPr>
              <a:t>uster but more user-friendly</a:t>
            </a:r>
          </a:p>
          <a:p>
            <a:pPr algn="l">
              <a:lnSpc>
                <a:spcPts val="3000"/>
              </a:lnSpc>
            </a:pPr>
          </a:p>
          <a:p>
            <a:pPr algn="l">
              <a:lnSpc>
                <a:spcPts val="3000"/>
              </a:lnSpc>
            </a:pPr>
            <a:r>
              <a:rPr lang="en-US" sz="2000" spc="-60" b="true">
                <a:solidFill>
                  <a:srgbClr val="00FFA8"/>
                </a:solidFill>
                <a:latin typeface="TT Fors Bold"/>
                <a:ea typeface="TT Fors Bold"/>
                <a:cs typeface="TT Fors Bold"/>
                <a:sym typeface="TT Fors Bold"/>
              </a:rPr>
              <a:t>FFuF (Fuzz</a:t>
            </a:r>
            <a:r>
              <a:rPr lang="en-US" sz="2000" spc="-60" b="true">
                <a:solidFill>
                  <a:srgbClr val="00FFA8"/>
                </a:solidFill>
                <a:latin typeface="TT Fors Bold"/>
                <a:ea typeface="TT Fors Bold"/>
                <a:cs typeface="TT Fors Bold"/>
                <a:sym typeface="TT Fors Bold"/>
              </a:rPr>
              <a:t> Faster U Fool):</a:t>
            </a:r>
          </a:p>
          <a:p>
            <a:pPr algn="l">
              <a:lnSpc>
                <a:spcPts val="3000"/>
              </a:lnSpc>
            </a:pPr>
            <a:r>
              <a:rPr lang="en-US" sz="2000" spc="-60">
                <a:solidFill>
                  <a:srgbClr val="00FFA8"/>
                </a:solidFill>
                <a:latin typeface="TT Fors"/>
                <a:ea typeface="TT Fors"/>
                <a:cs typeface="TT Fors"/>
                <a:sym typeface="TT Fors"/>
              </a:rPr>
              <a:t>ffuf -u http://example.com/FUZZ -w wordlist.txt</a:t>
            </a:r>
          </a:p>
          <a:p>
            <a:pPr algn="l">
              <a:lnSpc>
                <a:spcPts val="3000"/>
              </a:lnSpc>
            </a:pPr>
            <a:r>
              <a:rPr lang="en-US" sz="2000" spc="-60">
                <a:solidFill>
                  <a:srgbClr val="00FFA8"/>
                </a:solidFill>
                <a:latin typeface="TT Fors"/>
                <a:ea typeface="TT Fors"/>
                <a:cs typeface="TT Fors"/>
                <a:sym typeface="TT Fors"/>
              </a:rPr>
              <a:t>ffuf -u http://exampl</a:t>
            </a:r>
            <a:r>
              <a:rPr lang="en-US" sz="2000" spc="-60">
                <a:solidFill>
                  <a:srgbClr val="00FFA8"/>
                </a:solidFill>
                <a:latin typeface="TT Fors"/>
                <a:ea typeface="TT Fors"/>
                <a:cs typeface="TT Fors"/>
                <a:sym typeface="TT Fors"/>
              </a:rPr>
              <a:t>e.com/admin.php?user=FUZZ -w usernames.txt</a:t>
            </a:r>
          </a:p>
          <a:p>
            <a:pPr algn="l">
              <a:lnSpc>
                <a:spcPts val="3000"/>
              </a:lnSpc>
            </a:pPr>
          </a:p>
          <a:p>
            <a:pPr algn="l">
              <a:lnSpc>
                <a:spcPts val="3000"/>
              </a:lnSpc>
            </a:pPr>
            <a:r>
              <a:rPr lang="en-US" sz="2000" spc="-60" b="true">
                <a:solidFill>
                  <a:srgbClr val="00FFA8"/>
                </a:solidFill>
                <a:latin typeface="TT Fors Bold"/>
                <a:ea typeface="TT Fors Bold"/>
                <a:cs typeface="TT Fors Bold"/>
                <a:sym typeface="TT Fors Bold"/>
              </a:rPr>
              <a:t>WhatWeb - Web Tech</a:t>
            </a:r>
            <a:r>
              <a:rPr lang="en-US" sz="2000" spc="-60" b="true">
                <a:solidFill>
                  <a:srgbClr val="00FFA8"/>
                </a:solidFill>
                <a:latin typeface="TT Fors Bold"/>
                <a:ea typeface="TT Fors Bold"/>
                <a:cs typeface="TT Fors Bold"/>
                <a:sym typeface="TT Fors Bold"/>
              </a:rPr>
              <a:t>nol</a:t>
            </a:r>
            <a:r>
              <a:rPr lang="en-US" sz="2000" spc="-60" b="true">
                <a:solidFill>
                  <a:srgbClr val="00FFA8"/>
                </a:solidFill>
                <a:latin typeface="TT Fors Bold"/>
                <a:ea typeface="TT Fors Bold"/>
                <a:cs typeface="TT Fors Bold"/>
                <a:sym typeface="TT Fors Bold"/>
              </a:rPr>
              <a:t>ogy Fingerprinting</a:t>
            </a:r>
          </a:p>
          <a:p>
            <a:pPr algn="l">
              <a:lnSpc>
                <a:spcPts val="3000"/>
              </a:lnSpc>
            </a:pPr>
            <a:r>
              <a:rPr lang="en-US" sz="2000" spc="-60">
                <a:solidFill>
                  <a:srgbClr val="FFFFFF"/>
                </a:solidFill>
                <a:latin typeface="TT Fors"/>
                <a:ea typeface="TT Fors"/>
                <a:cs typeface="TT Fors"/>
                <a:sym typeface="TT Fors"/>
              </a:rPr>
              <a:t>whatweb </a:t>
            </a:r>
            <a:r>
              <a:rPr lang="en-US" sz="2000" spc="-60">
                <a:solidFill>
                  <a:srgbClr val="FFFFFF"/>
                </a:solidFill>
                <a:latin typeface="TT Fors"/>
                <a:ea typeface="TT Fors"/>
                <a:cs typeface="TT Fors"/>
                <a:sym typeface="TT Fors"/>
              </a:rPr>
              <a:t>example.com</a:t>
            </a:r>
          </a:p>
          <a:p>
            <a:pPr algn="l">
              <a:lnSpc>
                <a:spcPts val="3000"/>
              </a:lnSpc>
            </a:pPr>
            <a:r>
              <a:rPr lang="en-US" sz="2000" spc="-60">
                <a:solidFill>
                  <a:srgbClr val="FFFFFF"/>
                </a:solidFill>
                <a:latin typeface="TT Fors"/>
                <a:ea typeface="TT Fors"/>
                <a:cs typeface="TT Fors"/>
                <a:sym typeface="TT Fors"/>
              </a:rPr>
              <a:t>whatweb --aggressive example.com</a:t>
            </a:r>
          </a:p>
          <a:p>
            <a:pPr algn="l">
              <a:lnSpc>
                <a:spcPts val="3000"/>
              </a:lnSpc>
            </a:pPr>
            <a:r>
              <a:rPr lang="en-US" sz="2000" spc="-60">
                <a:solidFill>
                  <a:srgbClr val="FFFFFF"/>
                </a:solidFill>
                <a:latin typeface="TT Fors"/>
                <a:ea typeface="TT Fors"/>
                <a:cs typeface="TT Fors"/>
                <a:sym typeface="TT Fors"/>
              </a:rPr>
              <a:t>whatweb --log-v</a:t>
            </a:r>
            <a:r>
              <a:rPr lang="en-US" sz="2000" spc="-60">
                <a:solidFill>
                  <a:srgbClr val="FFFFFF"/>
                </a:solidFill>
                <a:latin typeface="TT Fors"/>
                <a:ea typeface="TT Fors"/>
                <a:cs typeface="TT Fors"/>
                <a:sym typeface="TT Fors"/>
              </a:rPr>
              <a:t>erbos</a:t>
            </a:r>
            <a:r>
              <a:rPr lang="en-US" sz="2000" spc="-60">
                <a:solidFill>
                  <a:srgbClr val="FFFFFF"/>
                </a:solidFill>
                <a:latin typeface="TT Fors"/>
                <a:ea typeface="TT Fors"/>
                <a:cs typeface="TT Fors"/>
                <a:sym typeface="TT Fors"/>
              </a:rPr>
              <a:t>e=report.txt example.com</a:t>
            </a:r>
          </a:p>
          <a:p>
            <a:pPr algn="l">
              <a:lnSpc>
                <a:spcPts val="3000"/>
              </a:lnSpc>
            </a:pPr>
          </a:p>
          <a:p>
            <a:pPr algn="l">
              <a:lnSpc>
                <a:spcPts val="3000"/>
              </a:lnSpc>
            </a:pPr>
            <a:r>
              <a:rPr lang="en-US" b="true" sz="2000" spc="-60">
                <a:solidFill>
                  <a:srgbClr val="00FFA8"/>
                </a:solidFill>
                <a:latin typeface="TT Fors Bold"/>
                <a:ea typeface="TT Fors Bold"/>
                <a:cs typeface="TT Fors Bold"/>
                <a:sym typeface="TT Fors Bold"/>
              </a:rPr>
              <a:t>Identifies: </a:t>
            </a:r>
            <a:r>
              <a:rPr lang="en-US" sz="2000" spc="-60">
                <a:solidFill>
                  <a:srgbClr val="00FFA8"/>
                </a:solidFill>
                <a:latin typeface="TT Fors"/>
                <a:ea typeface="TT Fors"/>
                <a:cs typeface="TT Fors"/>
                <a:sym typeface="TT Fors"/>
              </a:rPr>
              <a:t>CMS, plugins, server software, JavaScript libraries</a:t>
            </a:r>
          </a:p>
        </p:txBody>
      </p:sp>
      <p:sp>
        <p:nvSpPr>
          <p:cNvPr name="TextBox 3" id="3"/>
          <p:cNvSpPr txBox="true"/>
          <p:nvPr/>
        </p:nvSpPr>
        <p:spPr>
          <a:xfrm rot="0">
            <a:off x="666750" y="37147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PART 6: WEB ATTACK TOOLS (Cont’d)</a:t>
            </a:r>
          </a:p>
        </p:txBody>
      </p:sp>
      <p:sp>
        <p:nvSpPr>
          <p:cNvPr name="TextBox 4" id="4"/>
          <p:cNvSpPr txBox="true"/>
          <p:nvPr/>
        </p:nvSpPr>
        <p:spPr>
          <a:xfrm rot="0">
            <a:off x="8681846" y="1321507"/>
            <a:ext cx="8939404" cy="5358765"/>
          </a:xfrm>
          <a:prstGeom prst="rect">
            <a:avLst/>
          </a:prstGeom>
        </p:spPr>
        <p:txBody>
          <a:bodyPr anchor="t" rtlCol="false" tIns="0" lIns="0" bIns="0" rIns="0">
            <a:spAutoFit/>
          </a:bodyPr>
          <a:lstStyle/>
          <a:p>
            <a:pPr algn="l">
              <a:lnSpc>
                <a:spcPts val="3300"/>
              </a:lnSpc>
            </a:pPr>
            <a:r>
              <a:rPr lang="en-US" sz="2200" spc="-66" b="true">
                <a:solidFill>
                  <a:srgbClr val="00FFA8"/>
                </a:solidFill>
                <a:latin typeface="TT Fors Bold"/>
                <a:ea typeface="TT Fors Bold"/>
                <a:cs typeface="TT Fors Bold"/>
                <a:sym typeface="TT Fors Bold"/>
              </a:rPr>
              <a:t>Metasploit Fr</a:t>
            </a:r>
            <a:r>
              <a:rPr lang="en-US" sz="2200" spc="-66" b="true">
                <a:solidFill>
                  <a:srgbClr val="00FFA8"/>
                </a:solidFill>
                <a:latin typeface="TT Fors Bold"/>
                <a:ea typeface="TT Fors Bold"/>
                <a:cs typeface="TT Fors Bold"/>
                <a:sym typeface="TT Fors Bold"/>
              </a:rPr>
              <a:t>amework (Web Modules)</a:t>
            </a:r>
          </a:p>
          <a:p>
            <a:pPr algn="l">
              <a:lnSpc>
                <a:spcPts val="3000"/>
              </a:lnSpc>
            </a:pPr>
          </a:p>
          <a:p>
            <a:pPr algn="l">
              <a:lnSpc>
                <a:spcPts val="3000"/>
              </a:lnSpc>
            </a:pPr>
            <a:r>
              <a:rPr lang="en-US" sz="2000" spc="-60" b="true">
                <a:solidFill>
                  <a:srgbClr val="00FFA8"/>
                </a:solidFill>
                <a:latin typeface="TT Fors Bold"/>
                <a:ea typeface="TT Fors Bold"/>
                <a:cs typeface="TT Fors Bold"/>
                <a:sym typeface="TT Fors Bold"/>
              </a:rPr>
              <a:t>R</a:t>
            </a:r>
            <a:r>
              <a:rPr lang="en-US" sz="2000" spc="-60" b="true">
                <a:solidFill>
                  <a:srgbClr val="00FFA8"/>
                </a:solidFill>
                <a:latin typeface="TT Fors Bold"/>
                <a:ea typeface="TT Fors Bold"/>
                <a:cs typeface="TT Fors Bold"/>
                <a:sym typeface="TT Fors Bold"/>
              </a:rPr>
              <a:t>elevant Modules:</a:t>
            </a:r>
          </a:p>
          <a:p>
            <a:pPr algn="l">
              <a:lnSpc>
                <a:spcPts val="3000"/>
              </a:lnSpc>
            </a:pPr>
            <a:r>
              <a:rPr lang="en-US" sz="2000" spc="-60">
                <a:solidFill>
                  <a:srgbClr val="FFFFFF"/>
                </a:solidFill>
                <a:latin typeface="TT Fors"/>
                <a:ea typeface="TT Fors"/>
                <a:cs typeface="TT Fors"/>
                <a:sym typeface="TT Fors"/>
              </a:rPr>
              <a:t>auxiliary/scan</a:t>
            </a:r>
            <a:r>
              <a:rPr lang="en-US" sz="2000" spc="-60">
                <a:solidFill>
                  <a:srgbClr val="FFFFFF"/>
                </a:solidFill>
                <a:latin typeface="TT Fors"/>
                <a:ea typeface="TT Fors"/>
                <a:cs typeface="TT Fors"/>
                <a:sym typeface="TT Fors"/>
              </a:rPr>
              <a:t>ner/http/dir_scanner</a:t>
            </a:r>
          </a:p>
          <a:p>
            <a:pPr algn="l">
              <a:lnSpc>
                <a:spcPts val="3000"/>
              </a:lnSpc>
            </a:pPr>
            <a:r>
              <a:rPr lang="en-US" sz="2000" spc="-60">
                <a:solidFill>
                  <a:srgbClr val="FFFFFF"/>
                </a:solidFill>
                <a:latin typeface="TT Fors"/>
                <a:ea typeface="TT Fors"/>
                <a:cs typeface="TT Fors"/>
                <a:sym typeface="TT Fors"/>
              </a:rPr>
              <a:t>auxiliary/scanner/http/dir_listing</a:t>
            </a:r>
          </a:p>
          <a:p>
            <a:pPr algn="l">
              <a:lnSpc>
                <a:spcPts val="3000"/>
              </a:lnSpc>
            </a:pPr>
            <a:r>
              <a:rPr lang="en-US" sz="2000" spc="-60">
                <a:solidFill>
                  <a:srgbClr val="FFFFFF"/>
                </a:solidFill>
                <a:latin typeface="TT Fors"/>
                <a:ea typeface="TT Fors"/>
                <a:cs typeface="TT Fors"/>
                <a:sym typeface="TT Fors"/>
              </a:rPr>
              <a:t>auxiliary/scanner/http/http_version</a:t>
            </a:r>
          </a:p>
          <a:p>
            <a:pPr algn="l">
              <a:lnSpc>
                <a:spcPts val="3000"/>
              </a:lnSpc>
            </a:pPr>
            <a:r>
              <a:rPr lang="en-US" sz="2000" spc="-60">
                <a:solidFill>
                  <a:srgbClr val="FFFFFF"/>
                </a:solidFill>
                <a:latin typeface="TT Fors"/>
                <a:ea typeface="TT Fors"/>
                <a:cs typeface="TT Fors"/>
                <a:sym typeface="TT Fors"/>
              </a:rPr>
              <a:t>exploit/windows/iis/iis_webdav_scsf_bypass</a:t>
            </a:r>
          </a:p>
          <a:p>
            <a:pPr algn="l">
              <a:lnSpc>
                <a:spcPts val="3000"/>
              </a:lnSpc>
            </a:pPr>
            <a:r>
              <a:rPr lang="en-US" sz="2000" spc="-60">
                <a:solidFill>
                  <a:srgbClr val="FFFFFF"/>
                </a:solidFill>
                <a:latin typeface="TT Fors"/>
                <a:ea typeface="TT Fors"/>
                <a:cs typeface="TT Fors"/>
                <a:sym typeface="TT Fors"/>
              </a:rPr>
              <a:t>exploit/unix/webap</a:t>
            </a:r>
            <a:r>
              <a:rPr lang="en-US" sz="2000" spc="-60">
                <a:solidFill>
                  <a:srgbClr val="FFFFFF"/>
                </a:solidFill>
                <a:latin typeface="TT Fors"/>
                <a:ea typeface="TT Fors"/>
                <a:cs typeface="TT Fors"/>
                <a:sym typeface="TT Fors"/>
              </a:rPr>
              <a:t>p/</a:t>
            </a:r>
            <a:r>
              <a:rPr lang="en-US" sz="2000" spc="-60">
                <a:solidFill>
                  <a:srgbClr val="FFFFFF"/>
                </a:solidFill>
                <a:latin typeface="TT Fors"/>
                <a:ea typeface="TT Fors"/>
                <a:cs typeface="TT Fors"/>
                <a:sym typeface="TT Fors"/>
              </a:rPr>
              <a:t>php_include</a:t>
            </a:r>
          </a:p>
          <a:p>
            <a:pPr algn="l">
              <a:lnSpc>
                <a:spcPts val="3000"/>
              </a:lnSpc>
            </a:pPr>
          </a:p>
          <a:p>
            <a:pPr algn="l">
              <a:lnSpc>
                <a:spcPts val="3000"/>
              </a:lnSpc>
            </a:pPr>
            <a:r>
              <a:rPr lang="en-US" sz="2000" spc="-60" b="true">
                <a:solidFill>
                  <a:srgbClr val="00FFA8"/>
                </a:solidFill>
                <a:latin typeface="TT Fors Bold"/>
                <a:ea typeface="TT Fors Bold"/>
                <a:cs typeface="TT Fors Bold"/>
                <a:sym typeface="TT Fors Bold"/>
              </a:rPr>
              <a:t>Usage:</a:t>
            </a:r>
          </a:p>
          <a:p>
            <a:pPr algn="l">
              <a:lnSpc>
                <a:spcPts val="3000"/>
              </a:lnSpc>
            </a:pPr>
            <a:r>
              <a:rPr lang="en-US" sz="2000" spc="-60">
                <a:solidFill>
                  <a:srgbClr val="FFFFFF"/>
                </a:solidFill>
                <a:latin typeface="TT Fors"/>
                <a:ea typeface="TT Fors"/>
                <a:cs typeface="TT Fors"/>
                <a:sym typeface="TT Fors"/>
              </a:rPr>
              <a:t>msfconsole</a:t>
            </a:r>
          </a:p>
          <a:p>
            <a:pPr algn="l">
              <a:lnSpc>
                <a:spcPts val="3000"/>
              </a:lnSpc>
            </a:pPr>
            <a:r>
              <a:rPr lang="en-US" sz="2000" spc="-60">
                <a:solidFill>
                  <a:srgbClr val="FFFFFF"/>
                </a:solidFill>
                <a:latin typeface="TT Fors"/>
                <a:ea typeface="TT Fors"/>
                <a:cs typeface="TT Fors"/>
                <a:sym typeface="TT Fors"/>
              </a:rPr>
              <a:t>use auxiliary/scanner/http/dir_sc</a:t>
            </a:r>
            <a:r>
              <a:rPr lang="en-US" sz="2000" spc="-60">
                <a:solidFill>
                  <a:srgbClr val="FFFFFF"/>
                </a:solidFill>
                <a:latin typeface="TT Fors"/>
                <a:ea typeface="TT Fors"/>
                <a:cs typeface="TT Fors"/>
                <a:sym typeface="TT Fors"/>
              </a:rPr>
              <a:t>ann</a:t>
            </a:r>
            <a:r>
              <a:rPr lang="en-US" sz="2000" spc="-60">
                <a:solidFill>
                  <a:srgbClr val="FFFFFF"/>
                </a:solidFill>
                <a:latin typeface="TT Fors"/>
                <a:ea typeface="TT Fors"/>
                <a:cs typeface="TT Fors"/>
                <a:sym typeface="TT Fors"/>
              </a:rPr>
              <a:t>er</a:t>
            </a:r>
          </a:p>
          <a:p>
            <a:pPr algn="l">
              <a:lnSpc>
                <a:spcPts val="3000"/>
              </a:lnSpc>
            </a:pPr>
            <a:r>
              <a:rPr lang="en-US" sz="2000" spc="-60">
                <a:solidFill>
                  <a:srgbClr val="FFFFFF"/>
                </a:solidFill>
                <a:latin typeface="TT Fors"/>
                <a:ea typeface="TT Fors"/>
                <a:cs typeface="TT Fors"/>
                <a:sym typeface="TT Fors"/>
              </a:rPr>
              <a:t>set RHOSTS example.com</a:t>
            </a:r>
          </a:p>
          <a:p>
            <a:pPr algn="l">
              <a:lnSpc>
                <a:spcPts val="3000"/>
              </a:lnSpc>
            </a:pPr>
            <a:r>
              <a:rPr lang="en-US" sz="2000" spc="-60">
                <a:solidFill>
                  <a:srgbClr val="FFFFFF"/>
                </a:solidFill>
                <a:latin typeface="TT Fors"/>
                <a:ea typeface="TT Fors"/>
                <a:cs typeface="TT Fors"/>
                <a:sym typeface="TT Fors"/>
              </a:rPr>
              <a:t>run</a:t>
            </a:r>
          </a:p>
        </p:txBody>
      </p:sp>
      <p:grpSp>
        <p:nvGrpSpPr>
          <p:cNvPr name="Group 5" id="5"/>
          <p:cNvGrpSpPr/>
          <p:nvPr/>
        </p:nvGrpSpPr>
        <p:grpSpPr>
          <a:xfrm rot="0">
            <a:off x="16149744" y="381000"/>
            <a:ext cx="1471506" cy="792133"/>
            <a:chOff x="0" y="0"/>
            <a:chExt cx="1962007" cy="1056178"/>
          </a:xfrm>
        </p:grpSpPr>
        <p:grpSp>
          <p:nvGrpSpPr>
            <p:cNvPr name="Group 6" id="6"/>
            <p:cNvGrpSpPr/>
            <p:nvPr/>
          </p:nvGrpSpPr>
          <p:grpSpPr>
            <a:xfrm rot="0">
              <a:off x="0" y="0"/>
              <a:ext cx="1056178" cy="105617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grpSp>
          <p:nvGrpSpPr>
            <p:cNvPr name="Group 9" id="9"/>
            <p:cNvGrpSpPr/>
            <p:nvPr/>
          </p:nvGrpSpPr>
          <p:grpSpPr>
            <a:xfrm rot="0">
              <a:off x="905830" y="0"/>
              <a:ext cx="1056178" cy="105617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sp>
          <p:nvSpPr>
            <p:cNvPr name="Freeform 12" id="12"/>
            <p:cNvSpPr/>
            <p:nvPr/>
          </p:nvSpPr>
          <p:spPr>
            <a:xfrm flipH="false" flipV="false" rot="0">
              <a:off x="177421" y="150010"/>
              <a:ext cx="701336" cy="756158"/>
            </a:xfrm>
            <a:custGeom>
              <a:avLst/>
              <a:gdLst/>
              <a:ahLst/>
              <a:cxnLst/>
              <a:rect r="r" b="b" t="t" l="l"/>
              <a:pathLst>
                <a:path h="756158" w="701336">
                  <a:moveTo>
                    <a:pt x="0" y="0"/>
                  </a:moveTo>
                  <a:lnTo>
                    <a:pt x="701336" y="0"/>
                  </a:lnTo>
                  <a:lnTo>
                    <a:pt x="701336" y="756158"/>
                  </a:lnTo>
                  <a:lnTo>
                    <a:pt x="0" y="7561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1070789" y="245755"/>
              <a:ext cx="726260" cy="564667"/>
            </a:xfrm>
            <a:custGeom>
              <a:avLst/>
              <a:gdLst/>
              <a:ahLst/>
              <a:cxnLst/>
              <a:rect r="r" b="b" t="t" l="l"/>
              <a:pathLst>
                <a:path h="564667" w="726260">
                  <a:moveTo>
                    <a:pt x="0" y="0"/>
                  </a:moveTo>
                  <a:lnTo>
                    <a:pt x="726260" y="0"/>
                  </a:lnTo>
                  <a:lnTo>
                    <a:pt x="726260" y="564667"/>
                  </a:lnTo>
                  <a:lnTo>
                    <a:pt x="0" y="5646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Tree>
  </p:cSld>
  <p:clrMapOvr>
    <a:masterClrMapping/>
  </p:clrMapOvr>
</p:sld>
</file>

<file path=ppt/slides/slide22.xml><?xml version="1.0" encoding="utf-8"?>
<p:sld xmlns:p="http://schemas.openxmlformats.org/presentationml/2006/main" xmlns:a="http://schemas.openxmlformats.org/drawingml/2006/main">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1158995"/>
            <a:ext cx="7381297" cy="2729865"/>
          </a:xfrm>
          <a:prstGeom prst="rect">
            <a:avLst/>
          </a:prstGeom>
        </p:spPr>
        <p:txBody>
          <a:bodyPr anchor="t" rtlCol="false" tIns="0" lIns="0" bIns="0" rIns="0">
            <a:spAutoFit/>
          </a:bodyPr>
          <a:lstStyle/>
          <a:p>
            <a:pPr algn="l">
              <a:lnSpc>
                <a:spcPts val="3300"/>
              </a:lnSpc>
            </a:pPr>
            <a:r>
              <a:rPr lang="en-US" sz="2200" spc="-66" b="true">
                <a:solidFill>
                  <a:srgbClr val="00FFA8"/>
                </a:solidFill>
                <a:latin typeface="TT Fors Bold"/>
                <a:ea typeface="TT Fors Bold"/>
                <a:cs typeface="TT Fors Bold"/>
                <a:sym typeface="TT Fors Bold"/>
              </a:rPr>
              <a:t>Secure Configuration</a:t>
            </a:r>
          </a:p>
          <a:p>
            <a:pPr algn="l">
              <a:lnSpc>
                <a:spcPts val="3300"/>
              </a:lnSpc>
            </a:pPr>
          </a:p>
          <a:p>
            <a:pPr algn="l">
              <a:lnSpc>
                <a:spcPts val="3000"/>
              </a:lnSpc>
            </a:pPr>
            <a:r>
              <a:rPr lang="en-US" sz="2000" spc="-60" b="true">
                <a:solidFill>
                  <a:srgbClr val="00FFA8"/>
                </a:solidFill>
                <a:latin typeface="TT Fors Bold"/>
                <a:ea typeface="TT Fors Bold"/>
                <a:cs typeface="TT Fors Bold"/>
                <a:sym typeface="TT Fors Bold"/>
              </a:rPr>
              <a:t>We</a:t>
            </a:r>
            <a:r>
              <a:rPr lang="en-US" sz="2000" spc="-60" b="true">
                <a:solidFill>
                  <a:srgbClr val="00FFA8"/>
                </a:solidFill>
                <a:latin typeface="TT Fors Bold"/>
                <a:ea typeface="TT Fors Bold"/>
                <a:cs typeface="TT Fors Bold"/>
                <a:sym typeface="TT Fors Bold"/>
              </a:rPr>
              <a:t>b Server Hardening:</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Disable unnecessary modules (CGI, WebDAV, TRACE method)</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Remove default files (test pages, examples)</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Update to the latest patched version</a:t>
            </a:r>
          </a:p>
          <a:p>
            <a:pPr algn="l" marL="431802" indent="-215901" lvl="1">
              <a:lnSpc>
                <a:spcPts val="3000"/>
              </a:lnSpc>
              <a:buFont typeface="Arial"/>
              <a:buChar char="•"/>
            </a:pPr>
            <a:r>
              <a:rPr lang="en-US" sz="2000" spc="-60">
                <a:solidFill>
                  <a:srgbClr val="00FFA8"/>
                </a:solidFill>
                <a:latin typeface="TT Fors"/>
                <a:ea typeface="TT Fors"/>
                <a:cs typeface="TT Fors"/>
                <a:sym typeface="TT Fors"/>
              </a:rPr>
              <a:t>Run</a:t>
            </a:r>
            <a:r>
              <a:rPr lang="en-US" sz="2000" spc="-60">
                <a:solidFill>
                  <a:srgbClr val="00FFA8"/>
                </a:solidFill>
                <a:latin typeface="TT Fors"/>
                <a:ea typeface="TT Fors"/>
                <a:cs typeface="TT Fors"/>
                <a:sym typeface="TT Fors"/>
              </a:rPr>
              <a:t> w</a:t>
            </a:r>
            <a:r>
              <a:rPr lang="en-US" sz="2000" spc="-60">
                <a:solidFill>
                  <a:srgbClr val="00FFA8"/>
                </a:solidFill>
                <a:latin typeface="TT Fors"/>
                <a:ea typeface="TT Fors"/>
                <a:cs typeface="TT Fors"/>
                <a:sym typeface="TT Fors"/>
              </a:rPr>
              <a:t>ith minimal privileges (non-</a:t>
            </a:r>
            <a:r>
              <a:rPr lang="en-US" sz="2000" spc="-60">
                <a:solidFill>
                  <a:srgbClr val="00FFA8"/>
                </a:solidFill>
                <a:latin typeface="TT Fors"/>
                <a:ea typeface="TT Fors"/>
                <a:cs typeface="TT Fors"/>
                <a:sym typeface="TT Fors"/>
              </a:rPr>
              <a:t>root user)</a:t>
            </a:r>
          </a:p>
        </p:txBody>
      </p:sp>
      <p:sp>
        <p:nvSpPr>
          <p:cNvPr name="TextBox 3" id="3"/>
          <p:cNvSpPr txBox="true"/>
          <p:nvPr/>
        </p:nvSpPr>
        <p:spPr>
          <a:xfrm rot="0">
            <a:off x="666750" y="37147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PART 7: DEFENSE &amp; MITIGATION STRATEGIES</a:t>
            </a:r>
          </a:p>
        </p:txBody>
      </p:sp>
      <p:sp>
        <p:nvSpPr>
          <p:cNvPr name="TextBox 4" id="4"/>
          <p:cNvSpPr txBox="true"/>
          <p:nvPr/>
        </p:nvSpPr>
        <p:spPr>
          <a:xfrm rot="0">
            <a:off x="4635127" y="4098409"/>
            <a:ext cx="3204723" cy="3419475"/>
          </a:xfrm>
          <a:prstGeom prst="rect">
            <a:avLst/>
          </a:prstGeom>
        </p:spPr>
        <p:txBody>
          <a:bodyPr anchor="t" rtlCol="false" tIns="0" lIns="0" bIns="0" rIns="0">
            <a:spAutoFit/>
          </a:bodyPr>
          <a:lstStyle/>
          <a:p>
            <a:pPr algn="l">
              <a:lnSpc>
                <a:spcPts val="3000"/>
              </a:lnSpc>
            </a:pPr>
            <a:r>
              <a:rPr lang="en-US" sz="2000" spc="-60" b="true">
                <a:solidFill>
                  <a:srgbClr val="00FFA8"/>
                </a:solidFill>
                <a:latin typeface="TT Fors Bold"/>
                <a:ea typeface="TT Fors Bold"/>
                <a:cs typeface="TT Fors Bold"/>
                <a:sym typeface="TT Fors Bold"/>
              </a:rPr>
              <a:t>Example (Nginx):</a:t>
            </a:r>
          </a:p>
          <a:p>
            <a:pPr algn="l">
              <a:lnSpc>
                <a:spcPts val="3000"/>
              </a:lnSpc>
            </a:pPr>
            <a:r>
              <a:rPr lang="en-US" sz="2000" spc="-60">
                <a:solidFill>
                  <a:srgbClr val="FFFFFF"/>
                </a:solidFill>
                <a:latin typeface="TT Fors"/>
                <a:ea typeface="TT Fors"/>
                <a:cs typeface="TT Fors"/>
                <a:sym typeface="TT Fors"/>
              </a:rPr>
              <a:t>server_tokens off;</a:t>
            </a:r>
          </a:p>
          <a:p>
            <a:pPr algn="l">
              <a:lnSpc>
                <a:spcPts val="3000"/>
              </a:lnSpc>
            </a:pPr>
            <a:r>
              <a:rPr lang="en-US" sz="2000" spc="-60">
                <a:solidFill>
                  <a:srgbClr val="FFFFFF"/>
                </a:solidFill>
                <a:latin typeface="TT Fors"/>
                <a:ea typeface="TT Fors"/>
                <a:cs typeface="TT Fors"/>
                <a:sym typeface="TT Fors"/>
              </a:rPr>
              <a:t>client_max_body_size 10M;</a:t>
            </a:r>
          </a:p>
          <a:p>
            <a:pPr algn="l">
              <a:lnSpc>
                <a:spcPts val="3000"/>
              </a:lnSpc>
            </a:pPr>
          </a:p>
          <a:p>
            <a:pPr algn="l">
              <a:lnSpc>
                <a:spcPts val="3000"/>
              </a:lnSpc>
            </a:pPr>
            <a:r>
              <a:rPr lang="en-US" sz="2000" spc="-60">
                <a:solidFill>
                  <a:srgbClr val="FFFFFF"/>
                </a:solidFill>
                <a:latin typeface="TT Fors"/>
                <a:ea typeface="TT Fors"/>
                <a:cs typeface="TT Fors"/>
                <a:sym typeface="TT Fors"/>
              </a:rPr>
              <a:t>location ~ /\. {</a:t>
            </a:r>
          </a:p>
          <a:p>
            <a:pPr algn="l">
              <a:lnSpc>
                <a:spcPts val="3000"/>
              </a:lnSpc>
            </a:pPr>
            <a:r>
              <a:rPr lang="en-US" sz="2000" spc="-60">
                <a:solidFill>
                  <a:srgbClr val="FFFFFF"/>
                </a:solidFill>
                <a:latin typeface="TT Fors"/>
                <a:ea typeface="TT Fors"/>
                <a:cs typeface="TT Fors"/>
                <a:sym typeface="TT Fors"/>
              </a:rPr>
              <a:t>   deny all;</a:t>
            </a:r>
          </a:p>
          <a:p>
            <a:pPr algn="l">
              <a:lnSpc>
                <a:spcPts val="3000"/>
              </a:lnSpc>
            </a:pPr>
            <a:r>
              <a:rPr lang="en-US" sz="2000" spc="-60">
                <a:solidFill>
                  <a:srgbClr val="FFFFFF"/>
                </a:solidFill>
                <a:latin typeface="TT Fors"/>
                <a:ea typeface="TT Fors"/>
                <a:cs typeface="TT Fors"/>
                <a:sym typeface="TT Fors"/>
              </a:rPr>
              <a:t>   access_log off;</a:t>
            </a:r>
          </a:p>
          <a:p>
            <a:pPr algn="l">
              <a:lnSpc>
                <a:spcPts val="3000"/>
              </a:lnSpc>
            </a:pPr>
            <a:r>
              <a:rPr lang="en-US" sz="2000" spc="-60">
                <a:solidFill>
                  <a:srgbClr val="FFFFFF"/>
                </a:solidFill>
                <a:latin typeface="TT Fors"/>
                <a:ea typeface="TT Fors"/>
                <a:cs typeface="TT Fors"/>
                <a:sym typeface="TT Fors"/>
              </a:rPr>
              <a:t>   log_not_found off;</a:t>
            </a:r>
          </a:p>
          <a:p>
            <a:pPr algn="l">
              <a:lnSpc>
                <a:spcPts val="3000"/>
              </a:lnSpc>
            </a:pPr>
            <a:r>
              <a:rPr lang="en-US" sz="2000" spc="-60">
                <a:solidFill>
                  <a:srgbClr val="FFFFFF"/>
                </a:solidFill>
                <a:latin typeface="TT Fors"/>
                <a:ea typeface="TT Fors"/>
                <a:cs typeface="TT Fors"/>
                <a:sym typeface="TT Fors"/>
              </a:rPr>
              <a:t>}</a:t>
            </a:r>
          </a:p>
        </p:txBody>
      </p:sp>
      <p:sp>
        <p:nvSpPr>
          <p:cNvPr name="TextBox 5" id="5"/>
          <p:cNvSpPr txBox="true"/>
          <p:nvPr/>
        </p:nvSpPr>
        <p:spPr>
          <a:xfrm rot="0">
            <a:off x="666750" y="4098409"/>
            <a:ext cx="3285979" cy="4562475"/>
          </a:xfrm>
          <a:prstGeom prst="rect">
            <a:avLst/>
          </a:prstGeom>
        </p:spPr>
        <p:txBody>
          <a:bodyPr anchor="t" rtlCol="false" tIns="0" lIns="0" bIns="0" rIns="0">
            <a:spAutoFit/>
          </a:bodyPr>
          <a:lstStyle/>
          <a:p>
            <a:pPr algn="l">
              <a:lnSpc>
                <a:spcPts val="3000"/>
              </a:lnSpc>
            </a:pPr>
            <a:r>
              <a:rPr lang="en-US" sz="2000" spc="-60" b="true">
                <a:solidFill>
                  <a:srgbClr val="00FFA8"/>
                </a:solidFill>
                <a:latin typeface="TT Fors Bold"/>
                <a:ea typeface="TT Fors Bold"/>
                <a:cs typeface="TT Fors Bold"/>
                <a:sym typeface="TT Fors Bold"/>
              </a:rPr>
              <a:t>Example</a:t>
            </a:r>
            <a:r>
              <a:rPr lang="en-US" sz="2000" spc="-60" b="true">
                <a:solidFill>
                  <a:srgbClr val="00FFA8"/>
                </a:solidFill>
                <a:latin typeface="TT Fors Bold"/>
                <a:ea typeface="TT Fors Bold"/>
                <a:cs typeface="TT Fors Bold"/>
                <a:sym typeface="TT Fors Bold"/>
              </a:rPr>
              <a:t> (Ap</a:t>
            </a:r>
            <a:r>
              <a:rPr lang="en-US" sz="2000" spc="-60" b="true">
                <a:solidFill>
                  <a:srgbClr val="00FFA8"/>
                </a:solidFill>
                <a:latin typeface="TT Fors Bold"/>
                <a:ea typeface="TT Fors Bold"/>
                <a:cs typeface="TT Fors Bold"/>
                <a:sym typeface="TT Fors Bold"/>
              </a:rPr>
              <a:t>ache):</a:t>
            </a:r>
          </a:p>
          <a:p>
            <a:pPr algn="l">
              <a:lnSpc>
                <a:spcPts val="3000"/>
              </a:lnSpc>
            </a:pPr>
            <a:r>
              <a:rPr lang="en-US" sz="2000" spc="-60">
                <a:solidFill>
                  <a:srgbClr val="FFFFFF"/>
                </a:solidFill>
                <a:latin typeface="TT Fors"/>
                <a:ea typeface="TT Fors"/>
                <a:cs typeface="TT Fors"/>
                <a:sym typeface="TT Fors"/>
              </a:rPr>
              <a:t># Remove TRACE m</a:t>
            </a:r>
            <a:r>
              <a:rPr lang="en-US" sz="2000" spc="-60">
                <a:solidFill>
                  <a:srgbClr val="FFFFFF"/>
                </a:solidFill>
                <a:latin typeface="TT Fors"/>
                <a:ea typeface="TT Fors"/>
                <a:cs typeface="TT Fors"/>
                <a:sym typeface="TT Fors"/>
              </a:rPr>
              <a:t>ethod</a:t>
            </a:r>
          </a:p>
          <a:p>
            <a:pPr algn="l">
              <a:lnSpc>
                <a:spcPts val="3000"/>
              </a:lnSpc>
            </a:pPr>
            <a:r>
              <a:rPr lang="en-US" sz="2000" spc="-60">
                <a:solidFill>
                  <a:srgbClr val="FFFFFF"/>
                </a:solidFill>
                <a:latin typeface="TT Fors"/>
                <a:ea typeface="TT Fors"/>
                <a:cs typeface="TT Fors"/>
                <a:sym typeface="TT Fors"/>
              </a:rPr>
              <a:t>TraceEnable Off</a:t>
            </a:r>
          </a:p>
          <a:p>
            <a:pPr algn="l">
              <a:lnSpc>
                <a:spcPts val="3000"/>
              </a:lnSpc>
            </a:pPr>
          </a:p>
          <a:p>
            <a:pPr algn="l">
              <a:lnSpc>
                <a:spcPts val="3000"/>
              </a:lnSpc>
            </a:pPr>
            <a:r>
              <a:rPr lang="en-US" sz="2000" spc="-60">
                <a:solidFill>
                  <a:srgbClr val="FFFFFF"/>
                </a:solidFill>
                <a:latin typeface="TT Fors"/>
                <a:ea typeface="TT Fors"/>
                <a:cs typeface="TT Fors"/>
                <a:sym typeface="TT Fors"/>
              </a:rPr>
              <a:t># Disable direct</a:t>
            </a:r>
            <a:r>
              <a:rPr lang="en-US" sz="2000" spc="-60">
                <a:solidFill>
                  <a:srgbClr val="FFFFFF"/>
                </a:solidFill>
                <a:latin typeface="TT Fors"/>
                <a:ea typeface="TT Fors"/>
                <a:cs typeface="TT Fors"/>
                <a:sym typeface="TT Fors"/>
              </a:rPr>
              <a:t>or</a:t>
            </a:r>
            <a:r>
              <a:rPr lang="en-US" sz="2000" spc="-60">
                <a:solidFill>
                  <a:srgbClr val="FFFFFF"/>
                </a:solidFill>
                <a:latin typeface="TT Fors"/>
                <a:ea typeface="TT Fors"/>
                <a:cs typeface="TT Fors"/>
                <a:sym typeface="TT Fors"/>
              </a:rPr>
              <a:t>y listing</a:t>
            </a:r>
          </a:p>
          <a:p>
            <a:pPr algn="l">
              <a:lnSpc>
                <a:spcPts val="3000"/>
              </a:lnSpc>
            </a:pPr>
            <a:r>
              <a:rPr lang="en-US" sz="2000" spc="-60">
                <a:solidFill>
                  <a:srgbClr val="FFFFFF"/>
                </a:solidFill>
                <a:latin typeface="TT Fors"/>
                <a:ea typeface="TT Fors"/>
                <a:cs typeface="TT Fors"/>
                <a:sym typeface="TT Fors"/>
              </a:rPr>
              <a:t>&lt;Directory /var/www/html&gt;</a:t>
            </a:r>
          </a:p>
          <a:p>
            <a:pPr algn="l">
              <a:lnSpc>
                <a:spcPts val="3000"/>
              </a:lnSpc>
            </a:pPr>
            <a:r>
              <a:rPr lang="en-US" sz="2000" spc="-60">
                <a:solidFill>
                  <a:srgbClr val="FFFFFF"/>
                </a:solidFill>
                <a:latin typeface="TT Fors"/>
                <a:ea typeface="TT Fors"/>
                <a:cs typeface="TT Fors"/>
                <a:sym typeface="TT Fors"/>
              </a:rPr>
              <a:t>   Options -Ind</a:t>
            </a:r>
            <a:r>
              <a:rPr lang="en-US" sz="2000" spc="-60">
                <a:solidFill>
                  <a:srgbClr val="FFFFFF"/>
                </a:solidFill>
                <a:latin typeface="TT Fors"/>
                <a:ea typeface="TT Fors"/>
                <a:cs typeface="TT Fors"/>
                <a:sym typeface="TT Fors"/>
              </a:rPr>
              <a:t>exes</a:t>
            </a:r>
          </a:p>
          <a:p>
            <a:pPr algn="l">
              <a:lnSpc>
                <a:spcPts val="3000"/>
              </a:lnSpc>
            </a:pPr>
            <a:r>
              <a:rPr lang="en-US" sz="2000" spc="-60">
                <a:solidFill>
                  <a:srgbClr val="FFFFFF"/>
                </a:solidFill>
                <a:latin typeface="TT Fors"/>
                <a:ea typeface="TT Fors"/>
                <a:cs typeface="TT Fors"/>
                <a:sym typeface="TT Fors"/>
              </a:rPr>
              <a:t>&lt;/Directory&gt;</a:t>
            </a:r>
          </a:p>
          <a:p>
            <a:pPr algn="l">
              <a:lnSpc>
                <a:spcPts val="3000"/>
              </a:lnSpc>
            </a:pPr>
          </a:p>
          <a:p>
            <a:pPr algn="l">
              <a:lnSpc>
                <a:spcPts val="3000"/>
              </a:lnSpc>
            </a:pPr>
            <a:r>
              <a:rPr lang="en-US" sz="2000" spc="-60">
                <a:solidFill>
                  <a:srgbClr val="FFFFFF"/>
                </a:solidFill>
                <a:latin typeface="TT Fors"/>
                <a:ea typeface="TT Fors"/>
                <a:cs typeface="TT Fors"/>
                <a:sym typeface="TT Fors"/>
              </a:rPr>
              <a:t># Hid</a:t>
            </a:r>
            <a:r>
              <a:rPr lang="en-US" sz="2000" spc="-60">
                <a:solidFill>
                  <a:srgbClr val="FFFFFF"/>
                </a:solidFill>
                <a:latin typeface="TT Fors"/>
                <a:ea typeface="TT Fors"/>
                <a:cs typeface="TT Fors"/>
                <a:sym typeface="TT Fors"/>
              </a:rPr>
              <a:t>e server version</a:t>
            </a:r>
          </a:p>
          <a:p>
            <a:pPr algn="l">
              <a:lnSpc>
                <a:spcPts val="3000"/>
              </a:lnSpc>
            </a:pPr>
            <a:r>
              <a:rPr lang="en-US" sz="2000" spc="-60">
                <a:solidFill>
                  <a:srgbClr val="FFFFFF"/>
                </a:solidFill>
                <a:latin typeface="TT Fors"/>
                <a:ea typeface="TT Fors"/>
                <a:cs typeface="TT Fors"/>
                <a:sym typeface="TT Fors"/>
              </a:rPr>
              <a:t>S</a:t>
            </a:r>
            <a:r>
              <a:rPr lang="en-US" sz="2000" spc="-60">
                <a:solidFill>
                  <a:srgbClr val="FFFFFF"/>
                </a:solidFill>
                <a:latin typeface="TT Fors"/>
                <a:ea typeface="TT Fors"/>
                <a:cs typeface="TT Fors"/>
                <a:sym typeface="TT Fors"/>
              </a:rPr>
              <a:t>erv</a:t>
            </a:r>
            <a:r>
              <a:rPr lang="en-US" sz="2000" spc="-60">
                <a:solidFill>
                  <a:srgbClr val="FFFFFF"/>
                </a:solidFill>
                <a:latin typeface="TT Fors"/>
                <a:ea typeface="TT Fors"/>
                <a:cs typeface="TT Fors"/>
                <a:sym typeface="TT Fors"/>
              </a:rPr>
              <a:t>erTokens Prod</a:t>
            </a:r>
          </a:p>
          <a:p>
            <a:pPr algn="l">
              <a:lnSpc>
                <a:spcPts val="3000"/>
              </a:lnSpc>
            </a:pPr>
            <a:r>
              <a:rPr lang="en-US" sz="2000" spc="-60">
                <a:solidFill>
                  <a:srgbClr val="FFFFFF"/>
                </a:solidFill>
                <a:latin typeface="TT Fors"/>
                <a:ea typeface="TT Fors"/>
                <a:cs typeface="TT Fors"/>
                <a:sym typeface="TT Fors"/>
              </a:rPr>
              <a:t>S</a:t>
            </a:r>
            <a:r>
              <a:rPr lang="en-US" sz="2000" spc="-60">
                <a:solidFill>
                  <a:srgbClr val="FFFFFF"/>
                </a:solidFill>
                <a:latin typeface="TT Fors"/>
                <a:ea typeface="TT Fors"/>
                <a:cs typeface="TT Fors"/>
                <a:sym typeface="TT Fors"/>
              </a:rPr>
              <a:t>erverSignature Off</a:t>
            </a:r>
          </a:p>
        </p:txBody>
      </p:sp>
      <p:sp>
        <p:nvSpPr>
          <p:cNvPr name="TextBox 6" id="6"/>
          <p:cNvSpPr txBox="true"/>
          <p:nvPr/>
        </p:nvSpPr>
        <p:spPr>
          <a:xfrm rot="0">
            <a:off x="8522247" y="1158995"/>
            <a:ext cx="9099003" cy="8734425"/>
          </a:xfrm>
          <a:prstGeom prst="rect">
            <a:avLst/>
          </a:prstGeom>
        </p:spPr>
        <p:txBody>
          <a:bodyPr anchor="t" rtlCol="false" tIns="0" lIns="0" bIns="0" rIns="0">
            <a:spAutoFit/>
          </a:bodyPr>
          <a:lstStyle/>
          <a:p>
            <a:pPr algn="l">
              <a:lnSpc>
                <a:spcPts val="3300"/>
              </a:lnSpc>
            </a:pPr>
            <a:r>
              <a:rPr lang="en-US" sz="2200" spc="-66" b="true">
                <a:solidFill>
                  <a:srgbClr val="00FFA8"/>
                </a:solidFill>
                <a:latin typeface="TT Fors Bold"/>
                <a:ea typeface="TT Fors Bold"/>
                <a:cs typeface="TT Fors Bold"/>
                <a:sym typeface="TT Fors Bold"/>
              </a:rPr>
              <a:t>Security Headers</a:t>
            </a:r>
          </a:p>
          <a:p>
            <a:pPr algn="l">
              <a:lnSpc>
                <a:spcPts val="3150"/>
              </a:lnSpc>
            </a:pPr>
          </a:p>
          <a:p>
            <a:pPr algn="l">
              <a:lnSpc>
                <a:spcPts val="2700"/>
              </a:lnSpc>
            </a:pPr>
            <a:r>
              <a:rPr lang="en-US" sz="1800" spc="-54" b="true">
                <a:solidFill>
                  <a:srgbClr val="00FFA8"/>
                </a:solidFill>
                <a:latin typeface="TT Fors Bold"/>
                <a:ea typeface="TT Fors Bold"/>
                <a:cs typeface="TT Fors Bold"/>
                <a:sym typeface="TT Fors Bold"/>
              </a:rPr>
              <a:t>HSTS (HTTP Strict Transport Security):</a:t>
            </a:r>
          </a:p>
          <a:p>
            <a:pPr algn="l">
              <a:lnSpc>
                <a:spcPts val="2700"/>
              </a:lnSpc>
            </a:pPr>
            <a:r>
              <a:rPr lang="en-US" sz="1800" spc="-54">
                <a:solidFill>
                  <a:srgbClr val="FFFFFF"/>
                </a:solidFill>
                <a:latin typeface="TT Fors"/>
                <a:ea typeface="TT Fors"/>
                <a:cs typeface="TT Fors"/>
                <a:sym typeface="TT Fors"/>
              </a:rPr>
              <a:t>Str</a:t>
            </a:r>
            <a:r>
              <a:rPr lang="en-US" sz="1800" spc="-54">
                <a:solidFill>
                  <a:srgbClr val="FFFFFF"/>
                </a:solidFill>
                <a:latin typeface="TT Fors"/>
                <a:ea typeface="TT Fors"/>
                <a:cs typeface="TT Fors"/>
                <a:sym typeface="TT Fors"/>
              </a:rPr>
              <a:t>ict-Transport-Security: max-age=31536000; includeSubDomains; preload</a:t>
            </a:r>
          </a:p>
          <a:p>
            <a:pPr algn="l">
              <a:lnSpc>
                <a:spcPts val="2700"/>
              </a:lnSpc>
            </a:pPr>
            <a:r>
              <a:rPr lang="en-US" sz="1800" spc="-54" b="true">
                <a:solidFill>
                  <a:srgbClr val="00FFA8"/>
                </a:solidFill>
                <a:latin typeface="TT Fors Bold"/>
                <a:ea typeface="TT Fors Bold"/>
                <a:cs typeface="TT Fors Bold"/>
                <a:sym typeface="TT Fors Bold"/>
              </a:rPr>
              <a:t>Content Security Policy (CSP):</a:t>
            </a:r>
          </a:p>
          <a:p>
            <a:pPr algn="l">
              <a:lnSpc>
                <a:spcPts val="2700"/>
              </a:lnSpc>
            </a:pPr>
            <a:r>
              <a:rPr lang="en-US" sz="1800" spc="-54">
                <a:solidFill>
                  <a:srgbClr val="FFFFFF"/>
                </a:solidFill>
                <a:latin typeface="TT Fors"/>
                <a:ea typeface="TT Fors"/>
                <a:cs typeface="TT Fors"/>
                <a:sym typeface="TT Fors"/>
              </a:rPr>
              <a:t>C</a:t>
            </a:r>
            <a:r>
              <a:rPr lang="en-US" sz="1800" spc="-54">
                <a:solidFill>
                  <a:srgbClr val="FFFFFF"/>
                </a:solidFill>
                <a:latin typeface="TT Fors"/>
                <a:ea typeface="TT Fors"/>
                <a:cs typeface="TT Fors"/>
                <a:sym typeface="TT Fors"/>
              </a:rPr>
              <a:t>ontent-Security-Policy: default-src 'self'; script-src 'self' trusted.cdn.com; style-src 'self' 'unsafe-inline'</a:t>
            </a:r>
          </a:p>
          <a:p>
            <a:pPr algn="l">
              <a:lnSpc>
                <a:spcPts val="2700"/>
              </a:lnSpc>
            </a:pPr>
            <a:r>
              <a:rPr lang="en-US" sz="1800" spc="-54" b="true">
                <a:solidFill>
                  <a:srgbClr val="00FFA8"/>
                </a:solidFill>
                <a:latin typeface="TT Fors Bold"/>
                <a:ea typeface="TT Fors Bold"/>
                <a:cs typeface="TT Fors Bold"/>
                <a:sym typeface="TT Fors Bold"/>
              </a:rPr>
              <a:t>X-Frame-Options (Clickjacking):</a:t>
            </a:r>
          </a:p>
          <a:p>
            <a:pPr algn="l">
              <a:lnSpc>
                <a:spcPts val="2700"/>
              </a:lnSpc>
            </a:pPr>
            <a:r>
              <a:rPr lang="en-US" sz="1800" spc="-54">
                <a:solidFill>
                  <a:srgbClr val="FFFFFF"/>
                </a:solidFill>
                <a:latin typeface="TT Fors"/>
                <a:ea typeface="TT Fors"/>
                <a:cs typeface="TT Fors"/>
                <a:sym typeface="TT Fors"/>
              </a:rPr>
              <a:t>X-Frame-Options: DENY</a:t>
            </a:r>
          </a:p>
          <a:p>
            <a:pPr algn="l">
              <a:lnSpc>
                <a:spcPts val="2700"/>
              </a:lnSpc>
            </a:pPr>
            <a:r>
              <a:rPr lang="en-US" sz="1800" spc="-54" b="true">
                <a:solidFill>
                  <a:srgbClr val="00FFA8"/>
                </a:solidFill>
                <a:latin typeface="TT Fors Bold"/>
                <a:ea typeface="TT Fors Bold"/>
                <a:cs typeface="TT Fors Bold"/>
                <a:sym typeface="TT Fors Bold"/>
              </a:rPr>
              <a:t>X-Content-Type-Options:</a:t>
            </a:r>
          </a:p>
          <a:p>
            <a:pPr algn="l">
              <a:lnSpc>
                <a:spcPts val="2700"/>
              </a:lnSpc>
            </a:pPr>
            <a:r>
              <a:rPr lang="en-US" sz="1800" spc="-54">
                <a:solidFill>
                  <a:srgbClr val="FFFFFF"/>
                </a:solidFill>
                <a:latin typeface="TT Fors"/>
                <a:ea typeface="TT Fors"/>
                <a:cs typeface="TT Fors"/>
                <a:sym typeface="TT Fors"/>
              </a:rPr>
              <a:t>X-Content-Type-Options: nosniff</a:t>
            </a:r>
          </a:p>
          <a:p>
            <a:pPr algn="l">
              <a:lnSpc>
                <a:spcPts val="2700"/>
              </a:lnSpc>
            </a:pPr>
          </a:p>
          <a:p>
            <a:pPr algn="l">
              <a:lnSpc>
                <a:spcPts val="3000"/>
              </a:lnSpc>
            </a:pPr>
            <a:r>
              <a:rPr lang="en-US" sz="2000" spc="-60" b="true">
                <a:solidFill>
                  <a:srgbClr val="00FFA8"/>
                </a:solidFill>
                <a:latin typeface="TT Fors Bold"/>
                <a:ea typeface="TT Fors Bold"/>
                <a:cs typeface="TT Fors Bold"/>
                <a:sym typeface="TT Fors Bold"/>
              </a:rPr>
              <a:t>Web Ap</a:t>
            </a:r>
            <a:r>
              <a:rPr lang="en-US" sz="2000" spc="-60" b="true">
                <a:solidFill>
                  <a:srgbClr val="00FFA8"/>
                </a:solidFill>
                <a:latin typeface="TT Fors Bold"/>
                <a:ea typeface="TT Fors Bold"/>
                <a:cs typeface="TT Fors Bold"/>
                <a:sym typeface="TT Fors Bold"/>
              </a:rPr>
              <a:t>plication Firewall (WAF) Deployment</a:t>
            </a:r>
          </a:p>
          <a:p>
            <a:pPr algn="l">
              <a:lnSpc>
                <a:spcPts val="2700"/>
              </a:lnSpc>
            </a:pPr>
            <a:r>
              <a:rPr lang="en-US" sz="1800" spc="-54" b="true">
                <a:solidFill>
                  <a:srgbClr val="00FFA8"/>
                </a:solidFill>
                <a:latin typeface="TT Fors Bold"/>
                <a:ea typeface="TT Fors Bold"/>
                <a:cs typeface="TT Fors Bold"/>
                <a:sym typeface="TT Fors Bold"/>
              </a:rPr>
              <a:t>Cloud WAF (Cloudflare, AWS WAF):</a:t>
            </a:r>
          </a:p>
          <a:p>
            <a:pPr algn="l" marL="388623" indent="-194312" lvl="1">
              <a:lnSpc>
                <a:spcPts val="2700"/>
              </a:lnSpc>
              <a:buFont typeface="Arial"/>
              <a:buChar char="•"/>
            </a:pPr>
            <a:r>
              <a:rPr lang="en-US" sz="1800" spc="-54">
                <a:solidFill>
                  <a:srgbClr val="00FFA8"/>
                </a:solidFill>
                <a:latin typeface="TT Fors"/>
                <a:ea typeface="TT Fors"/>
                <a:cs typeface="TT Fors"/>
                <a:sym typeface="TT Fors"/>
              </a:rPr>
              <a:t>Managed rule sets (OWASP, vendor-specific)</a:t>
            </a:r>
          </a:p>
          <a:p>
            <a:pPr algn="l" marL="388623" indent="-194312" lvl="1">
              <a:lnSpc>
                <a:spcPts val="2700"/>
              </a:lnSpc>
              <a:buFont typeface="Arial"/>
              <a:buChar char="•"/>
            </a:pPr>
            <a:r>
              <a:rPr lang="en-US" sz="1800" spc="-54">
                <a:solidFill>
                  <a:srgbClr val="00FFA8"/>
                </a:solidFill>
                <a:latin typeface="TT Fors"/>
                <a:ea typeface="TT Fors"/>
                <a:cs typeface="TT Fors"/>
                <a:sym typeface="TT Fors"/>
              </a:rPr>
              <a:t>Geo-blocking</a:t>
            </a:r>
          </a:p>
          <a:p>
            <a:pPr algn="l" marL="388623" indent="-194312" lvl="1">
              <a:lnSpc>
                <a:spcPts val="2700"/>
              </a:lnSpc>
              <a:buFont typeface="Arial"/>
              <a:buChar char="•"/>
            </a:pPr>
            <a:r>
              <a:rPr lang="en-US" sz="1800" spc="-54">
                <a:solidFill>
                  <a:srgbClr val="00FFA8"/>
                </a:solidFill>
                <a:latin typeface="TT Fors"/>
                <a:ea typeface="TT Fors"/>
                <a:cs typeface="TT Fors"/>
                <a:sym typeface="TT Fors"/>
              </a:rPr>
              <a:t>Bo</a:t>
            </a:r>
            <a:r>
              <a:rPr lang="en-US" sz="1800" spc="-54">
                <a:solidFill>
                  <a:srgbClr val="00FFA8"/>
                </a:solidFill>
                <a:latin typeface="TT Fors"/>
                <a:ea typeface="TT Fors"/>
                <a:cs typeface="TT Fors"/>
                <a:sym typeface="TT Fors"/>
              </a:rPr>
              <a:t>t management</a:t>
            </a:r>
          </a:p>
          <a:p>
            <a:pPr algn="l" marL="388623" indent="-194312" lvl="1">
              <a:lnSpc>
                <a:spcPts val="2700"/>
              </a:lnSpc>
              <a:buFont typeface="Arial"/>
              <a:buChar char="•"/>
            </a:pPr>
            <a:r>
              <a:rPr lang="en-US" sz="1800" spc="-54">
                <a:solidFill>
                  <a:srgbClr val="00FFA8"/>
                </a:solidFill>
                <a:latin typeface="TT Fors"/>
                <a:ea typeface="TT Fors"/>
                <a:cs typeface="TT Fors"/>
                <a:sym typeface="TT Fors"/>
              </a:rPr>
              <a:t>Easy to deploy (DNS/proxy change)</a:t>
            </a:r>
          </a:p>
          <a:p>
            <a:pPr algn="l">
              <a:lnSpc>
                <a:spcPts val="2700"/>
              </a:lnSpc>
            </a:pPr>
            <a:r>
              <a:rPr lang="en-US" sz="1800" spc="-54" b="true">
                <a:solidFill>
                  <a:srgbClr val="00FFA8"/>
                </a:solidFill>
                <a:latin typeface="TT Fors Bold"/>
                <a:ea typeface="TT Fors Bold"/>
                <a:cs typeface="TT Fors Bold"/>
                <a:sym typeface="TT Fors Bold"/>
              </a:rPr>
              <a:t>ModSecurity (Open-source):</a:t>
            </a:r>
          </a:p>
          <a:p>
            <a:pPr algn="l">
              <a:lnSpc>
                <a:spcPts val="2700"/>
              </a:lnSpc>
            </a:pPr>
            <a:r>
              <a:rPr lang="en-US" sz="1800" spc="-54">
                <a:solidFill>
                  <a:srgbClr val="FFFFFF"/>
                </a:solidFill>
                <a:latin typeface="TT Fors"/>
                <a:ea typeface="TT Fors"/>
                <a:cs typeface="TT Fors"/>
                <a:sym typeface="TT Fors"/>
              </a:rPr>
              <a:t># Enable ModSecurity</a:t>
            </a:r>
          </a:p>
          <a:p>
            <a:pPr algn="l">
              <a:lnSpc>
                <a:spcPts val="2700"/>
              </a:lnSpc>
            </a:pPr>
            <a:r>
              <a:rPr lang="en-US" sz="1800" spc="-54">
                <a:solidFill>
                  <a:srgbClr val="FFFFFF"/>
                </a:solidFill>
                <a:latin typeface="TT Fors"/>
                <a:ea typeface="TT Fors"/>
                <a:cs typeface="TT Fors"/>
                <a:sym typeface="TT Fors"/>
              </a:rPr>
              <a:t>SecEngineOn</a:t>
            </a:r>
          </a:p>
          <a:p>
            <a:pPr algn="l">
              <a:lnSpc>
                <a:spcPts val="2700"/>
              </a:lnSpc>
            </a:pPr>
            <a:r>
              <a:rPr lang="en-US" sz="1800" spc="-54">
                <a:solidFill>
                  <a:srgbClr val="FFFFFF"/>
                </a:solidFill>
                <a:latin typeface="TT Fors"/>
                <a:ea typeface="TT Fors"/>
                <a:cs typeface="TT Fors"/>
                <a:sym typeface="TT Fors"/>
              </a:rPr>
              <a:t># Load OWASP CRS rules</a:t>
            </a:r>
          </a:p>
          <a:p>
            <a:pPr algn="l">
              <a:lnSpc>
                <a:spcPts val="2700"/>
              </a:lnSpc>
            </a:pPr>
            <a:r>
              <a:rPr lang="en-US" sz="1800" spc="-54">
                <a:solidFill>
                  <a:srgbClr val="FFFFFF"/>
                </a:solidFill>
                <a:latin typeface="TT Fors"/>
                <a:ea typeface="TT Fors"/>
                <a:cs typeface="TT Fors"/>
                <a:sym typeface="TT Fors"/>
              </a:rPr>
              <a:t>Include /usr/share/modsecurity-c</a:t>
            </a:r>
            <a:r>
              <a:rPr lang="en-US" sz="1800" spc="-54">
                <a:solidFill>
                  <a:srgbClr val="FFFFFF"/>
                </a:solidFill>
                <a:latin typeface="TT Fors"/>
                <a:ea typeface="TT Fors"/>
                <a:cs typeface="TT Fors"/>
                <a:sym typeface="TT Fors"/>
              </a:rPr>
              <a:t>rs/*.conf</a:t>
            </a:r>
          </a:p>
          <a:p>
            <a:pPr algn="l">
              <a:lnSpc>
                <a:spcPts val="2700"/>
              </a:lnSpc>
            </a:pPr>
            <a:r>
              <a:rPr lang="en-US" sz="1800" spc="-54">
                <a:solidFill>
                  <a:srgbClr val="FFFFFF"/>
                </a:solidFill>
                <a:latin typeface="TT Fors"/>
                <a:ea typeface="TT Fors"/>
                <a:cs typeface="TT Fors"/>
                <a:sym typeface="TT Fors"/>
              </a:rPr>
              <a:t># Custom rules</a:t>
            </a:r>
          </a:p>
          <a:p>
            <a:pPr algn="l">
              <a:lnSpc>
                <a:spcPts val="2700"/>
              </a:lnSpc>
            </a:pPr>
            <a:r>
              <a:rPr lang="en-US" sz="1800" spc="-54">
                <a:solidFill>
                  <a:srgbClr val="FFFFFF"/>
                </a:solidFill>
                <a:latin typeface="TT Fors"/>
                <a:ea typeface="TT Fors"/>
                <a:cs typeface="TT Fors"/>
                <a:sym typeface="TT Fors"/>
              </a:rPr>
              <a:t>SecRule ARGS:id "^[0-9]+$" "phase:2,deny,status:403"</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1321507"/>
            <a:ext cx="7381297" cy="8063865"/>
          </a:xfrm>
          <a:prstGeom prst="rect">
            <a:avLst/>
          </a:prstGeom>
        </p:spPr>
        <p:txBody>
          <a:bodyPr anchor="t" rtlCol="false" tIns="0" lIns="0" bIns="0" rIns="0">
            <a:spAutoFit/>
          </a:bodyPr>
          <a:lstStyle/>
          <a:p>
            <a:pPr algn="l">
              <a:lnSpc>
                <a:spcPts val="3300"/>
              </a:lnSpc>
            </a:pPr>
            <a:r>
              <a:rPr lang="en-US" sz="2200" spc="-66" b="true">
                <a:solidFill>
                  <a:srgbClr val="00FFA8"/>
                </a:solidFill>
                <a:latin typeface="TT Fors Bold"/>
                <a:ea typeface="TT Fors Bold"/>
                <a:cs typeface="TT Fors Bold"/>
                <a:sym typeface="TT Fors Bold"/>
              </a:rPr>
              <a:t>Input Validation &amp; Output Encoding</a:t>
            </a:r>
          </a:p>
          <a:p>
            <a:pPr algn="l">
              <a:lnSpc>
                <a:spcPts val="3300"/>
              </a:lnSpc>
            </a:pPr>
          </a:p>
          <a:p>
            <a:pPr algn="l">
              <a:lnSpc>
                <a:spcPts val="3000"/>
              </a:lnSpc>
            </a:pPr>
            <a:r>
              <a:rPr lang="en-US" sz="2000" spc="-60" b="true">
                <a:solidFill>
                  <a:srgbClr val="00FFA8"/>
                </a:solidFill>
                <a:latin typeface="TT Fors Bold"/>
                <a:ea typeface="TT Fors Bold"/>
                <a:cs typeface="TT Fors Bold"/>
                <a:sym typeface="TT Fors Bold"/>
              </a:rPr>
              <a:t>Server-side (PHP):</a:t>
            </a:r>
          </a:p>
          <a:p>
            <a:pPr algn="l">
              <a:lnSpc>
                <a:spcPts val="3000"/>
              </a:lnSpc>
            </a:pPr>
            <a:r>
              <a:rPr lang="en-US" sz="2000" spc="-60">
                <a:solidFill>
                  <a:srgbClr val="FFFFFF"/>
                </a:solidFill>
                <a:latin typeface="TT Fors"/>
                <a:ea typeface="TT Fors"/>
                <a:cs typeface="TT Fors"/>
                <a:sym typeface="TT Fors"/>
              </a:rPr>
              <a:t>// Prepared statements (prevent SQL injection)</a:t>
            </a:r>
          </a:p>
          <a:p>
            <a:pPr algn="l">
              <a:lnSpc>
                <a:spcPts val="3000"/>
              </a:lnSpc>
            </a:pPr>
            <a:r>
              <a:rPr lang="en-US" sz="2000" spc="-60">
                <a:solidFill>
                  <a:srgbClr val="FFFFFF"/>
                </a:solidFill>
                <a:latin typeface="TT Fors"/>
                <a:ea typeface="TT Fors"/>
                <a:cs typeface="TT Fors"/>
                <a:sym typeface="TT Fors"/>
              </a:rPr>
              <a:t>$</a:t>
            </a:r>
            <a:r>
              <a:rPr lang="en-US" sz="2000" spc="-60">
                <a:solidFill>
                  <a:srgbClr val="FFFFFF"/>
                </a:solidFill>
                <a:latin typeface="TT Fors"/>
                <a:ea typeface="TT Fors"/>
                <a:cs typeface="TT Fors"/>
                <a:sym typeface="TT Fors"/>
              </a:rPr>
              <a:t>stmt = $pdo-&gt;prepare("SELECT * FROM users WHERE id = ?");</a:t>
            </a:r>
          </a:p>
          <a:p>
            <a:pPr algn="l">
              <a:lnSpc>
                <a:spcPts val="3000"/>
              </a:lnSpc>
            </a:pPr>
            <a:r>
              <a:rPr lang="en-US" sz="2000" spc="-60">
                <a:solidFill>
                  <a:srgbClr val="FFFFFF"/>
                </a:solidFill>
                <a:latin typeface="TT Fors"/>
                <a:ea typeface="TT Fors"/>
                <a:cs typeface="TT Fors"/>
                <a:sym typeface="TT Fors"/>
              </a:rPr>
              <a:t>$stmt-&gt;execute([$user_id]);</a:t>
            </a:r>
          </a:p>
          <a:p>
            <a:pPr algn="l">
              <a:lnSpc>
                <a:spcPts val="3000"/>
              </a:lnSpc>
            </a:pPr>
          </a:p>
          <a:p>
            <a:pPr algn="l">
              <a:lnSpc>
                <a:spcPts val="3000"/>
              </a:lnSpc>
            </a:pPr>
            <a:r>
              <a:rPr lang="en-US" sz="2000" spc="-60">
                <a:solidFill>
                  <a:srgbClr val="FFFFFF"/>
                </a:solidFill>
                <a:latin typeface="TT Fors"/>
                <a:ea typeface="TT Fors"/>
                <a:cs typeface="TT Fors"/>
                <a:sym typeface="TT Fors"/>
              </a:rPr>
              <a:t>// Input validation</a:t>
            </a:r>
          </a:p>
          <a:p>
            <a:pPr algn="l">
              <a:lnSpc>
                <a:spcPts val="3000"/>
              </a:lnSpc>
            </a:pPr>
            <a:r>
              <a:rPr lang="en-US" sz="2000" spc="-60">
                <a:solidFill>
                  <a:srgbClr val="FFFFFF"/>
                </a:solidFill>
                <a:latin typeface="TT Fors"/>
                <a:ea typeface="TT Fors"/>
                <a:cs typeface="TT Fors"/>
                <a:sym typeface="TT Fors"/>
              </a:rPr>
              <a:t>$email = filter_input(INPUT_POST, 'email', FILTER_VALIDATE_EMAIL);</a:t>
            </a:r>
          </a:p>
          <a:p>
            <a:pPr algn="l">
              <a:lnSpc>
                <a:spcPts val="3000"/>
              </a:lnSpc>
            </a:pPr>
            <a:r>
              <a:rPr lang="en-US" sz="2000" spc="-60">
                <a:solidFill>
                  <a:srgbClr val="FFFFFF"/>
                </a:solidFill>
                <a:latin typeface="TT Fors"/>
                <a:ea typeface="TT Fors"/>
                <a:cs typeface="TT Fors"/>
                <a:sym typeface="TT Fors"/>
              </a:rPr>
              <a:t>$ag</a:t>
            </a:r>
            <a:r>
              <a:rPr lang="en-US" sz="2000" spc="-60">
                <a:solidFill>
                  <a:srgbClr val="FFFFFF"/>
                </a:solidFill>
                <a:latin typeface="TT Fors"/>
                <a:ea typeface="TT Fors"/>
                <a:cs typeface="TT Fors"/>
                <a:sym typeface="TT Fors"/>
              </a:rPr>
              <a:t>e = filter_input(INPUT_POST, 'age', FILTER_VALIDATE_INT);</a:t>
            </a:r>
          </a:p>
          <a:p>
            <a:pPr algn="l">
              <a:lnSpc>
                <a:spcPts val="3000"/>
              </a:lnSpc>
            </a:pPr>
          </a:p>
          <a:p>
            <a:pPr algn="l">
              <a:lnSpc>
                <a:spcPts val="3000"/>
              </a:lnSpc>
            </a:pPr>
            <a:r>
              <a:rPr lang="en-US" sz="2000" spc="-60">
                <a:solidFill>
                  <a:srgbClr val="FFFFFF"/>
                </a:solidFill>
                <a:latin typeface="TT Fors"/>
                <a:ea typeface="TT Fors"/>
                <a:cs typeface="TT Fors"/>
                <a:sym typeface="TT Fors"/>
              </a:rPr>
              <a:t>// Out</a:t>
            </a:r>
            <a:r>
              <a:rPr lang="en-US" sz="2000" spc="-60">
                <a:solidFill>
                  <a:srgbClr val="FFFFFF"/>
                </a:solidFill>
                <a:latin typeface="TT Fors"/>
                <a:ea typeface="TT Fors"/>
                <a:cs typeface="TT Fors"/>
                <a:sym typeface="TT Fors"/>
              </a:rPr>
              <a:t>put encoding (prevent XSS)</a:t>
            </a:r>
          </a:p>
          <a:p>
            <a:pPr algn="l">
              <a:lnSpc>
                <a:spcPts val="3000"/>
              </a:lnSpc>
            </a:pPr>
            <a:r>
              <a:rPr lang="en-US" sz="2000" spc="-60">
                <a:solidFill>
                  <a:srgbClr val="FFFFFF"/>
                </a:solidFill>
                <a:latin typeface="TT Fors"/>
                <a:ea typeface="TT Fors"/>
                <a:cs typeface="TT Fors"/>
                <a:sym typeface="TT Fors"/>
              </a:rPr>
              <a:t>echo htmlspecialchars($user_input, ENT_QUOTES, 'UTF-8');</a:t>
            </a:r>
          </a:p>
          <a:p>
            <a:pPr algn="l">
              <a:lnSpc>
                <a:spcPts val="3000"/>
              </a:lnSpc>
            </a:pPr>
          </a:p>
          <a:p>
            <a:pPr algn="l">
              <a:lnSpc>
                <a:spcPts val="3000"/>
              </a:lnSpc>
            </a:pPr>
            <a:r>
              <a:rPr lang="en-US" sz="2000" spc="-60" b="true">
                <a:solidFill>
                  <a:srgbClr val="00FFA8"/>
                </a:solidFill>
                <a:latin typeface="TT Fors Bold"/>
                <a:ea typeface="TT Fors Bold"/>
                <a:cs typeface="TT Fors Bold"/>
                <a:sym typeface="TT Fors Bold"/>
              </a:rPr>
              <a:t>Client-side (Supplementary only, not primary defense):</a:t>
            </a:r>
          </a:p>
          <a:p>
            <a:pPr algn="l">
              <a:lnSpc>
                <a:spcPts val="3000"/>
              </a:lnSpc>
            </a:pPr>
            <a:r>
              <a:rPr lang="en-US" sz="2000" spc="-60">
                <a:solidFill>
                  <a:srgbClr val="FFFFFF"/>
                </a:solidFill>
                <a:latin typeface="TT Fors"/>
                <a:ea typeface="TT Fors"/>
                <a:cs typeface="TT Fors"/>
                <a:sym typeface="TT Fors"/>
              </a:rPr>
              <a:t>// I</a:t>
            </a:r>
            <a:r>
              <a:rPr lang="en-US" sz="2000" spc="-60">
                <a:solidFill>
                  <a:srgbClr val="FFFFFF"/>
                </a:solidFill>
                <a:latin typeface="TT Fors"/>
                <a:ea typeface="TT Fors"/>
                <a:cs typeface="TT Fors"/>
                <a:sym typeface="TT Fors"/>
              </a:rPr>
              <a:t>nput</a:t>
            </a:r>
            <a:r>
              <a:rPr lang="en-US" sz="2000" spc="-60">
                <a:solidFill>
                  <a:srgbClr val="FFFFFF"/>
                </a:solidFill>
                <a:latin typeface="TT Fors"/>
                <a:ea typeface="TT Fors"/>
                <a:cs typeface="TT Fors"/>
                <a:sym typeface="TT Fors"/>
              </a:rPr>
              <a:t> val</a:t>
            </a:r>
            <a:r>
              <a:rPr lang="en-US" sz="2000" spc="-60">
                <a:solidFill>
                  <a:srgbClr val="FFFFFF"/>
                </a:solidFill>
                <a:latin typeface="TT Fors"/>
                <a:ea typeface="TT Fors"/>
                <a:cs typeface="TT Fors"/>
                <a:sym typeface="TT Fors"/>
              </a:rPr>
              <a:t>idation</a:t>
            </a:r>
          </a:p>
          <a:p>
            <a:pPr algn="l">
              <a:lnSpc>
                <a:spcPts val="3000"/>
              </a:lnSpc>
            </a:pPr>
            <a:r>
              <a:rPr lang="en-US" sz="2000" spc="-60">
                <a:solidFill>
                  <a:srgbClr val="FFFFFF"/>
                </a:solidFill>
                <a:latin typeface="TT Fors"/>
                <a:ea typeface="TT Fors"/>
                <a:cs typeface="TT Fors"/>
                <a:sym typeface="TT Fors"/>
              </a:rPr>
              <a:t>const email = document.getElementById('email').value;</a:t>
            </a:r>
          </a:p>
          <a:p>
            <a:pPr algn="l">
              <a:lnSpc>
                <a:spcPts val="3000"/>
              </a:lnSpc>
            </a:pPr>
            <a:r>
              <a:rPr lang="en-US" sz="2000" spc="-60">
                <a:solidFill>
                  <a:srgbClr val="FFFFFF"/>
                </a:solidFill>
                <a:latin typeface="TT Fors"/>
                <a:ea typeface="TT Fors"/>
                <a:cs typeface="TT Fors"/>
                <a:sym typeface="TT Fors"/>
              </a:rPr>
              <a:t>const emailRegex = /^[^\s@]+@[^\s@]+\.[^\s@]+$/;</a:t>
            </a:r>
          </a:p>
          <a:p>
            <a:pPr algn="l">
              <a:lnSpc>
                <a:spcPts val="3000"/>
              </a:lnSpc>
            </a:pPr>
            <a:r>
              <a:rPr lang="en-US" sz="2000" spc="-60">
                <a:solidFill>
                  <a:srgbClr val="FFFFFF"/>
                </a:solidFill>
                <a:latin typeface="TT Fors"/>
                <a:ea typeface="TT Fors"/>
                <a:cs typeface="TT Fors"/>
                <a:sym typeface="TT Fors"/>
              </a:rPr>
              <a:t>if (!emailRegex.test(email)) {</a:t>
            </a:r>
          </a:p>
          <a:p>
            <a:pPr algn="l">
              <a:lnSpc>
                <a:spcPts val="3000"/>
              </a:lnSpc>
            </a:pPr>
            <a:r>
              <a:rPr lang="en-US" sz="2000" spc="-60">
                <a:solidFill>
                  <a:srgbClr val="FFFFFF"/>
                </a:solidFill>
                <a:latin typeface="TT Fors"/>
                <a:ea typeface="TT Fors"/>
                <a:cs typeface="TT Fors"/>
                <a:sym typeface="TT Fors"/>
              </a:rPr>
              <a:t>   ale</a:t>
            </a:r>
            <a:r>
              <a:rPr lang="en-US" sz="2000" spc="-60">
                <a:solidFill>
                  <a:srgbClr val="FFFFFF"/>
                </a:solidFill>
                <a:latin typeface="TT Fors"/>
                <a:ea typeface="TT Fors"/>
                <a:cs typeface="TT Fors"/>
                <a:sym typeface="TT Fors"/>
              </a:rPr>
              <a:t>rt('Invalid email');</a:t>
            </a:r>
          </a:p>
          <a:p>
            <a:pPr algn="l">
              <a:lnSpc>
                <a:spcPts val="3000"/>
              </a:lnSpc>
            </a:pPr>
            <a:r>
              <a:rPr lang="en-US" sz="2000" spc="-60">
                <a:solidFill>
                  <a:srgbClr val="FFFFFF"/>
                </a:solidFill>
                <a:latin typeface="TT Fors"/>
                <a:ea typeface="TT Fors"/>
                <a:cs typeface="TT Fors"/>
                <a:sym typeface="TT Fors"/>
              </a:rPr>
              <a:t>}</a:t>
            </a:r>
          </a:p>
        </p:txBody>
      </p:sp>
      <p:sp>
        <p:nvSpPr>
          <p:cNvPr name="TextBox 3" id="3"/>
          <p:cNvSpPr txBox="true"/>
          <p:nvPr/>
        </p:nvSpPr>
        <p:spPr>
          <a:xfrm rot="0">
            <a:off x="666750" y="37147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PART 7: DEFENSE &amp; MITIGATION STRATEGIES (Cont’d)</a:t>
            </a:r>
          </a:p>
        </p:txBody>
      </p:sp>
      <p:grpSp>
        <p:nvGrpSpPr>
          <p:cNvPr name="Group 4" id="4"/>
          <p:cNvGrpSpPr/>
          <p:nvPr/>
        </p:nvGrpSpPr>
        <p:grpSpPr>
          <a:xfrm rot="0">
            <a:off x="16149744" y="381000"/>
            <a:ext cx="1471506" cy="792133"/>
            <a:chOff x="0" y="0"/>
            <a:chExt cx="1962007" cy="1056178"/>
          </a:xfrm>
        </p:grpSpPr>
        <p:grpSp>
          <p:nvGrpSpPr>
            <p:cNvPr name="Group 5" id="5"/>
            <p:cNvGrpSpPr/>
            <p:nvPr/>
          </p:nvGrpSpPr>
          <p:grpSpPr>
            <a:xfrm rot="0">
              <a:off x="0" y="0"/>
              <a:ext cx="1056178" cy="1056178"/>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grpSp>
          <p:nvGrpSpPr>
            <p:cNvPr name="Group 8" id="8"/>
            <p:cNvGrpSpPr/>
            <p:nvPr/>
          </p:nvGrpSpPr>
          <p:grpSpPr>
            <a:xfrm rot="0">
              <a:off x="905830" y="0"/>
              <a:ext cx="1056178" cy="105617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60"/>
                  </a:lnSpc>
                  <a:spcBef>
                    <a:spcPct val="0"/>
                  </a:spcBef>
                </a:pPr>
              </a:p>
            </p:txBody>
          </p:sp>
        </p:grpSp>
        <p:sp>
          <p:nvSpPr>
            <p:cNvPr name="Freeform 11" id="11"/>
            <p:cNvSpPr/>
            <p:nvPr/>
          </p:nvSpPr>
          <p:spPr>
            <a:xfrm flipH="false" flipV="false" rot="0">
              <a:off x="177421" y="150010"/>
              <a:ext cx="701336" cy="756158"/>
            </a:xfrm>
            <a:custGeom>
              <a:avLst/>
              <a:gdLst/>
              <a:ahLst/>
              <a:cxnLst/>
              <a:rect r="r" b="b" t="t" l="l"/>
              <a:pathLst>
                <a:path h="756158" w="701336">
                  <a:moveTo>
                    <a:pt x="0" y="0"/>
                  </a:moveTo>
                  <a:lnTo>
                    <a:pt x="701336" y="0"/>
                  </a:lnTo>
                  <a:lnTo>
                    <a:pt x="701336" y="756158"/>
                  </a:lnTo>
                  <a:lnTo>
                    <a:pt x="0" y="7561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1070789" y="245755"/>
              <a:ext cx="726260" cy="564667"/>
            </a:xfrm>
            <a:custGeom>
              <a:avLst/>
              <a:gdLst/>
              <a:ahLst/>
              <a:cxnLst/>
              <a:rect r="r" b="b" t="t" l="l"/>
              <a:pathLst>
                <a:path h="564667" w="726260">
                  <a:moveTo>
                    <a:pt x="0" y="0"/>
                  </a:moveTo>
                  <a:lnTo>
                    <a:pt x="726260" y="0"/>
                  </a:lnTo>
                  <a:lnTo>
                    <a:pt x="726260" y="564667"/>
                  </a:lnTo>
                  <a:lnTo>
                    <a:pt x="0" y="5646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TextBox 13" id="13"/>
          <p:cNvSpPr txBox="true"/>
          <p:nvPr/>
        </p:nvSpPr>
        <p:spPr>
          <a:xfrm rot="0">
            <a:off x="8522247" y="1321507"/>
            <a:ext cx="9099003" cy="6404610"/>
          </a:xfrm>
          <a:prstGeom prst="rect">
            <a:avLst/>
          </a:prstGeom>
        </p:spPr>
        <p:txBody>
          <a:bodyPr anchor="t" rtlCol="false" tIns="0" lIns="0" bIns="0" rIns="0">
            <a:spAutoFit/>
          </a:bodyPr>
          <a:lstStyle/>
          <a:p>
            <a:pPr algn="l">
              <a:lnSpc>
                <a:spcPts val="3300"/>
              </a:lnSpc>
            </a:pPr>
            <a:r>
              <a:rPr lang="en-US" sz="2200" spc="-66" b="true">
                <a:solidFill>
                  <a:srgbClr val="00FFA8"/>
                </a:solidFill>
                <a:latin typeface="TT Fors Bold"/>
                <a:ea typeface="TT Fors Bold"/>
                <a:cs typeface="TT Fors Bold"/>
                <a:sym typeface="TT Fors Bold"/>
              </a:rPr>
              <a:t>Logging &amp; Monitoring</a:t>
            </a:r>
          </a:p>
          <a:p>
            <a:pPr algn="l">
              <a:lnSpc>
                <a:spcPts val="3150"/>
              </a:lnSpc>
            </a:pPr>
          </a:p>
          <a:p>
            <a:pPr algn="l">
              <a:lnSpc>
                <a:spcPts val="3150"/>
              </a:lnSpc>
            </a:pPr>
            <a:r>
              <a:rPr lang="en-US" sz="2100" spc="-63" b="true">
                <a:solidFill>
                  <a:srgbClr val="00FFA8"/>
                </a:solidFill>
                <a:latin typeface="TT Fors Bold"/>
                <a:ea typeface="TT Fors Bold"/>
                <a:cs typeface="TT Fors Bold"/>
                <a:sym typeface="TT Fors Bold"/>
              </a:rPr>
              <a:t>Web Serve</a:t>
            </a:r>
            <a:r>
              <a:rPr lang="en-US" sz="2100" spc="-63" b="true">
                <a:solidFill>
                  <a:srgbClr val="00FFA8"/>
                </a:solidFill>
                <a:latin typeface="TT Fors Bold"/>
                <a:ea typeface="TT Fors Bold"/>
                <a:cs typeface="TT Fors Bold"/>
                <a:sym typeface="TT Fors Bold"/>
              </a:rPr>
              <a:t>r Ac</a:t>
            </a:r>
            <a:r>
              <a:rPr lang="en-US" sz="2100" spc="-63" b="true">
                <a:solidFill>
                  <a:srgbClr val="00FFA8"/>
                </a:solidFill>
                <a:latin typeface="TT Fors Bold"/>
                <a:ea typeface="TT Fors Bold"/>
                <a:cs typeface="TT Fors Bold"/>
                <a:sym typeface="TT Fors Bold"/>
              </a:rPr>
              <a:t>cess Logs:</a:t>
            </a:r>
          </a:p>
          <a:p>
            <a:pPr algn="l">
              <a:lnSpc>
                <a:spcPts val="3150"/>
              </a:lnSpc>
            </a:pPr>
            <a:r>
              <a:rPr lang="en-US" sz="2100" spc="-63">
                <a:solidFill>
                  <a:srgbClr val="FFFFFF"/>
                </a:solidFill>
                <a:latin typeface="TT Fors"/>
                <a:ea typeface="TT Fors"/>
                <a:cs typeface="TT Fors"/>
                <a:sym typeface="TT Fors"/>
              </a:rPr>
              <a:t>192.168.1.100 - - [22/Dec/2025:10:30:45 +0000] "GET /admin.php HTTP/1.1" 200 1234 "-" "Mozilla/5.0"</a:t>
            </a:r>
          </a:p>
          <a:p>
            <a:pPr algn="l">
              <a:lnSpc>
                <a:spcPts val="3150"/>
              </a:lnSpc>
            </a:pPr>
          </a:p>
          <a:p>
            <a:pPr algn="l">
              <a:lnSpc>
                <a:spcPts val="3150"/>
              </a:lnSpc>
            </a:pPr>
            <a:r>
              <a:rPr lang="en-US" sz="2100" spc="-63" b="true">
                <a:solidFill>
                  <a:srgbClr val="00FFA8"/>
                </a:solidFill>
                <a:latin typeface="TT Fors Bold"/>
                <a:ea typeface="TT Fors Bold"/>
                <a:cs typeface="TT Fors Bold"/>
                <a:sym typeface="TT Fors Bold"/>
              </a:rPr>
              <a:t>L</a:t>
            </a:r>
            <a:r>
              <a:rPr lang="en-US" sz="2100" spc="-63" b="true">
                <a:solidFill>
                  <a:srgbClr val="00FFA8"/>
                </a:solidFill>
                <a:latin typeface="TT Fors Bold"/>
                <a:ea typeface="TT Fors Bold"/>
                <a:cs typeface="TT Fors Bold"/>
                <a:sym typeface="TT Fors Bold"/>
              </a:rPr>
              <a:t>ook for:</a:t>
            </a:r>
          </a:p>
          <a:p>
            <a:pPr algn="l" marL="453392" indent="-226696" lvl="1">
              <a:lnSpc>
                <a:spcPts val="3150"/>
              </a:lnSpc>
              <a:buFont typeface="Arial"/>
              <a:buChar char="•"/>
            </a:pPr>
            <a:r>
              <a:rPr lang="en-US" sz="2100" spc="-63">
                <a:solidFill>
                  <a:srgbClr val="00FFA8"/>
                </a:solidFill>
                <a:latin typeface="TT Fors"/>
                <a:ea typeface="TT Fors"/>
                <a:cs typeface="TT Fors"/>
                <a:sym typeface="TT Fors"/>
              </a:rPr>
              <a:t>Multiple 404 responses (scanning activity)</a:t>
            </a:r>
          </a:p>
          <a:p>
            <a:pPr algn="l" marL="453392" indent="-226696" lvl="1">
              <a:lnSpc>
                <a:spcPts val="3150"/>
              </a:lnSpc>
              <a:buFont typeface="Arial"/>
              <a:buChar char="•"/>
            </a:pPr>
            <a:r>
              <a:rPr lang="en-US" sz="2100" spc="-63">
                <a:solidFill>
                  <a:srgbClr val="00FFA8"/>
                </a:solidFill>
                <a:latin typeface="TT Fors"/>
                <a:ea typeface="TT Fors"/>
                <a:cs typeface="TT Fors"/>
                <a:sym typeface="TT Fors"/>
              </a:rPr>
              <a:t>SQL</a:t>
            </a:r>
            <a:r>
              <a:rPr lang="en-US" sz="2100" spc="-63">
                <a:solidFill>
                  <a:srgbClr val="00FFA8"/>
                </a:solidFill>
                <a:latin typeface="TT Fors"/>
                <a:ea typeface="TT Fors"/>
                <a:cs typeface="TT Fors"/>
                <a:sym typeface="TT Fors"/>
              </a:rPr>
              <a:t> injection patterns in</a:t>
            </a:r>
            <a:r>
              <a:rPr lang="en-US" sz="2100" spc="-63">
                <a:solidFill>
                  <a:srgbClr val="00FFA8"/>
                </a:solidFill>
                <a:latin typeface="TT Fors"/>
                <a:ea typeface="TT Fors"/>
                <a:cs typeface="TT Fors"/>
                <a:sym typeface="TT Fors"/>
              </a:rPr>
              <a:t> </a:t>
            </a:r>
            <a:r>
              <a:rPr lang="en-US" sz="2100" spc="-63">
                <a:solidFill>
                  <a:srgbClr val="00FFA8"/>
                </a:solidFill>
                <a:latin typeface="TT Fors"/>
                <a:ea typeface="TT Fors"/>
                <a:cs typeface="TT Fors"/>
                <a:sym typeface="TT Fors"/>
              </a:rPr>
              <a:t>paramet</a:t>
            </a:r>
            <a:r>
              <a:rPr lang="en-US" sz="2100" spc="-63">
                <a:solidFill>
                  <a:srgbClr val="00FFA8"/>
                </a:solidFill>
                <a:latin typeface="TT Fors"/>
                <a:ea typeface="TT Fors"/>
                <a:cs typeface="TT Fors"/>
                <a:sym typeface="TT Fors"/>
              </a:rPr>
              <a:t>ers</a:t>
            </a:r>
          </a:p>
          <a:p>
            <a:pPr algn="l" marL="453392" indent="-226696" lvl="1">
              <a:lnSpc>
                <a:spcPts val="3150"/>
              </a:lnSpc>
              <a:buFont typeface="Arial"/>
              <a:buChar char="•"/>
            </a:pPr>
            <a:r>
              <a:rPr lang="en-US" sz="2100" spc="-63">
                <a:solidFill>
                  <a:srgbClr val="00FFA8"/>
                </a:solidFill>
                <a:latin typeface="TT Fors"/>
                <a:ea typeface="TT Fors"/>
                <a:cs typeface="TT Fors"/>
                <a:sym typeface="TT Fors"/>
              </a:rPr>
              <a:t>U</a:t>
            </a:r>
            <a:r>
              <a:rPr lang="en-US" sz="2100" spc="-63">
                <a:solidFill>
                  <a:srgbClr val="00FFA8"/>
                </a:solidFill>
                <a:latin typeface="TT Fors"/>
                <a:ea typeface="TT Fors"/>
                <a:cs typeface="TT Fors"/>
                <a:sym typeface="TT Fors"/>
              </a:rPr>
              <a:t>nusual User-Agent strings</a:t>
            </a:r>
          </a:p>
          <a:p>
            <a:pPr algn="l" marL="453392" indent="-226696" lvl="1">
              <a:lnSpc>
                <a:spcPts val="3150"/>
              </a:lnSpc>
              <a:buFont typeface="Arial"/>
              <a:buChar char="•"/>
            </a:pPr>
            <a:r>
              <a:rPr lang="en-US" sz="2100" spc="-63">
                <a:solidFill>
                  <a:srgbClr val="00FFA8"/>
                </a:solidFill>
                <a:latin typeface="TT Fors"/>
                <a:ea typeface="TT Fors"/>
                <a:cs typeface="TT Fors"/>
                <a:sym typeface="TT Fors"/>
              </a:rPr>
              <a:t>Dir</a:t>
            </a:r>
            <a:r>
              <a:rPr lang="en-US" sz="2100" spc="-63">
                <a:solidFill>
                  <a:srgbClr val="00FFA8"/>
                </a:solidFill>
                <a:latin typeface="TT Fors"/>
                <a:ea typeface="TT Fors"/>
                <a:cs typeface="TT Fors"/>
                <a:sym typeface="TT Fors"/>
              </a:rPr>
              <a:t>ectory traversal attempts</a:t>
            </a:r>
          </a:p>
          <a:p>
            <a:pPr algn="l">
              <a:lnSpc>
                <a:spcPts val="3150"/>
              </a:lnSpc>
            </a:pPr>
          </a:p>
          <a:p>
            <a:pPr algn="l">
              <a:lnSpc>
                <a:spcPts val="3150"/>
              </a:lnSpc>
            </a:pPr>
            <a:r>
              <a:rPr lang="en-US" sz="2100" spc="-63" b="true">
                <a:solidFill>
                  <a:srgbClr val="00FFA8"/>
                </a:solidFill>
                <a:latin typeface="TT Fors Bold"/>
                <a:ea typeface="TT Fors Bold"/>
                <a:cs typeface="TT Fors Bold"/>
                <a:sym typeface="TT Fors Bold"/>
              </a:rPr>
              <a:t>Security Information &amp; Event Management (SIEM):</a:t>
            </a:r>
          </a:p>
          <a:p>
            <a:pPr algn="l" marL="453392" indent="-226696" lvl="1">
              <a:lnSpc>
                <a:spcPts val="3150"/>
              </a:lnSpc>
              <a:buFont typeface="Arial"/>
              <a:buChar char="•"/>
            </a:pPr>
            <a:r>
              <a:rPr lang="en-US" sz="2100" spc="-63">
                <a:solidFill>
                  <a:srgbClr val="00FFA8"/>
                </a:solidFill>
                <a:latin typeface="TT Fors"/>
                <a:ea typeface="TT Fors"/>
                <a:cs typeface="TT Fors"/>
                <a:sym typeface="TT Fors"/>
              </a:rPr>
              <a:t>E</a:t>
            </a:r>
            <a:r>
              <a:rPr lang="en-US" sz="2100" spc="-63">
                <a:solidFill>
                  <a:srgbClr val="00FFA8"/>
                </a:solidFill>
                <a:latin typeface="TT Fors"/>
                <a:ea typeface="TT Fors"/>
                <a:cs typeface="TT Fors"/>
                <a:sym typeface="TT Fors"/>
              </a:rPr>
              <a:t>LK Stack (Elasticsearch, Logsta</a:t>
            </a:r>
            <a:r>
              <a:rPr lang="en-US" sz="2100" spc="-63">
                <a:solidFill>
                  <a:srgbClr val="00FFA8"/>
                </a:solidFill>
                <a:latin typeface="TT Fors"/>
                <a:ea typeface="TT Fors"/>
                <a:cs typeface="TT Fors"/>
                <a:sym typeface="TT Fors"/>
              </a:rPr>
              <a:t>sh, Kibana)</a:t>
            </a:r>
          </a:p>
          <a:p>
            <a:pPr algn="l" marL="453392" indent="-226696" lvl="1">
              <a:lnSpc>
                <a:spcPts val="3150"/>
              </a:lnSpc>
              <a:buFont typeface="Arial"/>
              <a:buChar char="•"/>
            </a:pPr>
            <a:r>
              <a:rPr lang="en-US" sz="2100" spc="-63">
                <a:solidFill>
                  <a:srgbClr val="00FFA8"/>
                </a:solidFill>
                <a:latin typeface="TT Fors"/>
                <a:ea typeface="TT Fors"/>
                <a:cs typeface="TT Fors"/>
                <a:sym typeface="TT Fors"/>
              </a:rPr>
              <a:t>Spl</a:t>
            </a:r>
            <a:r>
              <a:rPr lang="en-US" sz="2100" spc="-63">
                <a:solidFill>
                  <a:srgbClr val="00FFA8"/>
                </a:solidFill>
                <a:latin typeface="TT Fors"/>
                <a:ea typeface="TT Fors"/>
                <a:cs typeface="TT Fors"/>
                <a:sym typeface="TT Fors"/>
              </a:rPr>
              <a:t>unk</a:t>
            </a:r>
          </a:p>
          <a:p>
            <a:pPr algn="l" marL="453392" indent="-226696" lvl="1">
              <a:lnSpc>
                <a:spcPts val="3150"/>
              </a:lnSpc>
              <a:buFont typeface="Arial"/>
              <a:buChar char="•"/>
            </a:pPr>
            <a:r>
              <a:rPr lang="en-US" sz="2100" spc="-63">
                <a:solidFill>
                  <a:srgbClr val="00FFA8"/>
                </a:solidFill>
                <a:latin typeface="TT Fors"/>
                <a:ea typeface="TT Fors"/>
                <a:cs typeface="TT Fors"/>
                <a:sym typeface="TT Fors"/>
              </a:rPr>
              <a:t>Az</a:t>
            </a:r>
            <a:r>
              <a:rPr lang="en-US" sz="2100" spc="-63">
                <a:solidFill>
                  <a:srgbClr val="00FFA8"/>
                </a:solidFill>
                <a:latin typeface="TT Fors"/>
                <a:ea typeface="TT Fors"/>
                <a:cs typeface="TT Fors"/>
                <a:sym typeface="TT Fors"/>
              </a:rPr>
              <a:t>ure Sentinel</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37147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Summary</a:t>
            </a:r>
          </a:p>
        </p:txBody>
      </p:sp>
      <p:sp>
        <p:nvSpPr>
          <p:cNvPr name="TextBox 3" id="3"/>
          <p:cNvSpPr txBox="true"/>
          <p:nvPr/>
        </p:nvSpPr>
        <p:spPr>
          <a:xfrm rot="0">
            <a:off x="666750" y="1491327"/>
            <a:ext cx="16201636" cy="1659255"/>
          </a:xfrm>
          <a:prstGeom prst="rect">
            <a:avLst/>
          </a:prstGeom>
        </p:spPr>
        <p:txBody>
          <a:bodyPr anchor="t" rtlCol="false" tIns="0" lIns="0" bIns="0" rIns="0">
            <a:spAutoFit/>
          </a:bodyPr>
          <a:lstStyle/>
          <a:p>
            <a:pPr algn="l">
              <a:lnSpc>
                <a:spcPts val="3300"/>
              </a:lnSpc>
            </a:pPr>
            <a:r>
              <a:rPr lang="en-US" sz="2200" spc="-66">
                <a:solidFill>
                  <a:srgbClr val="00FFA8"/>
                </a:solidFill>
                <a:latin typeface="TT Fors"/>
                <a:ea typeface="TT Fors"/>
                <a:cs typeface="TT Fors"/>
                <a:sym typeface="TT Fors"/>
              </a:rPr>
              <a:t>Modern web server security requires understanding multi-layered architecture, HTTP protocol mechanics, and diverse attack vectors. Organizations must implement defense-in-depth strategies combining secure configuration, input validation, WAF deployment, and continuous monitoring. Security professionals must master both attack techniques and mitigation strategies to protect critical web infrastructure.</a:t>
            </a:r>
          </a:p>
        </p:txBody>
      </p:sp>
      <p:grpSp>
        <p:nvGrpSpPr>
          <p:cNvPr name="Group 4" id="4"/>
          <p:cNvGrpSpPr/>
          <p:nvPr/>
        </p:nvGrpSpPr>
        <p:grpSpPr>
          <a:xfrm rot="0">
            <a:off x="16115522" y="381000"/>
            <a:ext cx="1505728" cy="810556"/>
            <a:chOff x="0" y="0"/>
            <a:chExt cx="2007638" cy="1080741"/>
          </a:xfrm>
        </p:grpSpPr>
        <p:grpSp>
          <p:nvGrpSpPr>
            <p:cNvPr name="Group 5" id="5"/>
            <p:cNvGrpSpPr/>
            <p:nvPr/>
          </p:nvGrpSpPr>
          <p:grpSpPr>
            <a:xfrm rot="0">
              <a:off x="0" y="0"/>
              <a:ext cx="1080741" cy="108074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7" id="7"/>
              <p:cNvSpPr txBox="true"/>
              <p:nvPr/>
            </p:nvSpPr>
            <p:spPr>
              <a:xfrm>
                <a:off x="76200" y="38100"/>
                <a:ext cx="660400" cy="698500"/>
              </a:xfrm>
              <a:prstGeom prst="rect">
                <a:avLst/>
              </a:prstGeom>
            </p:spPr>
            <p:txBody>
              <a:bodyPr anchor="ctr" rtlCol="false" tIns="22978" lIns="22978" bIns="22978" rIns="22978"/>
              <a:lstStyle/>
              <a:p>
                <a:pPr algn="ctr">
                  <a:lnSpc>
                    <a:spcPts val="2659"/>
                  </a:lnSpc>
                  <a:spcBef>
                    <a:spcPct val="0"/>
                  </a:spcBef>
                </a:pPr>
              </a:p>
            </p:txBody>
          </p:sp>
        </p:grpSp>
        <p:grpSp>
          <p:nvGrpSpPr>
            <p:cNvPr name="Group 8" id="8"/>
            <p:cNvGrpSpPr/>
            <p:nvPr/>
          </p:nvGrpSpPr>
          <p:grpSpPr>
            <a:xfrm rot="0">
              <a:off x="926897" y="0"/>
              <a:ext cx="1080741" cy="108074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0" id="10"/>
              <p:cNvSpPr txBox="true"/>
              <p:nvPr/>
            </p:nvSpPr>
            <p:spPr>
              <a:xfrm>
                <a:off x="76200" y="38100"/>
                <a:ext cx="660400" cy="698500"/>
              </a:xfrm>
              <a:prstGeom prst="rect">
                <a:avLst/>
              </a:prstGeom>
            </p:spPr>
            <p:txBody>
              <a:bodyPr anchor="ctr" rtlCol="false" tIns="22978" lIns="22978" bIns="22978" rIns="22978"/>
              <a:lstStyle/>
              <a:p>
                <a:pPr algn="ctr">
                  <a:lnSpc>
                    <a:spcPts val="2659"/>
                  </a:lnSpc>
                  <a:spcBef>
                    <a:spcPct val="0"/>
                  </a:spcBef>
                </a:pPr>
              </a:p>
            </p:txBody>
          </p:sp>
        </p:grpSp>
        <p:sp>
          <p:nvSpPr>
            <p:cNvPr name="Freeform 11" id="11"/>
            <p:cNvSpPr/>
            <p:nvPr/>
          </p:nvSpPr>
          <p:spPr>
            <a:xfrm flipH="false" flipV="false" rot="0">
              <a:off x="44554" y="239221"/>
              <a:ext cx="991633" cy="602300"/>
            </a:xfrm>
            <a:custGeom>
              <a:avLst/>
              <a:gdLst/>
              <a:ahLst/>
              <a:cxnLst/>
              <a:rect r="r" b="b" t="t" l="l"/>
              <a:pathLst>
                <a:path h="602300" w="991633">
                  <a:moveTo>
                    <a:pt x="0" y="0"/>
                  </a:moveTo>
                  <a:lnTo>
                    <a:pt x="991633" y="0"/>
                  </a:lnTo>
                  <a:lnTo>
                    <a:pt x="991633" y="602299"/>
                  </a:lnTo>
                  <a:lnTo>
                    <a:pt x="0" y="602299"/>
                  </a:lnTo>
                  <a:lnTo>
                    <a:pt x="0" y="0"/>
                  </a:lnTo>
                  <a:close/>
                </a:path>
              </a:pathLst>
            </a:custGeom>
            <a:blipFill>
              <a:blip r:embed="rId3"/>
              <a:stretch>
                <a:fillRect l="0" t="-6286" r="0" b="-6286"/>
              </a:stretch>
            </a:blipFill>
          </p:spPr>
        </p:sp>
        <p:sp>
          <p:nvSpPr>
            <p:cNvPr name="Freeform 12" id="12"/>
            <p:cNvSpPr/>
            <p:nvPr/>
          </p:nvSpPr>
          <p:spPr>
            <a:xfrm flipH="false" flipV="false" rot="0">
              <a:off x="1110110" y="184552"/>
              <a:ext cx="714315" cy="711636"/>
            </a:xfrm>
            <a:custGeom>
              <a:avLst/>
              <a:gdLst/>
              <a:ahLst/>
              <a:cxnLst/>
              <a:rect r="r" b="b" t="t" l="l"/>
              <a:pathLst>
                <a:path h="711636" w="714315">
                  <a:moveTo>
                    <a:pt x="0" y="0"/>
                  </a:moveTo>
                  <a:lnTo>
                    <a:pt x="714315" y="0"/>
                  </a:lnTo>
                  <a:lnTo>
                    <a:pt x="714315" y="711637"/>
                  </a:lnTo>
                  <a:lnTo>
                    <a:pt x="0" y="7116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sp>
        <p:nvSpPr>
          <p:cNvPr name="TextBox 2" id="2"/>
          <p:cNvSpPr txBox="true"/>
          <p:nvPr/>
        </p:nvSpPr>
        <p:spPr>
          <a:xfrm rot="0">
            <a:off x="666750" y="371475"/>
            <a:ext cx="16766773" cy="741045"/>
          </a:xfrm>
          <a:prstGeom prst="rect">
            <a:avLst/>
          </a:prstGeom>
        </p:spPr>
        <p:txBody>
          <a:bodyPr anchor="t" rtlCol="false" tIns="0" lIns="0" bIns="0" rIns="0">
            <a:spAutoFit/>
          </a:bodyPr>
          <a:lstStyle/>
          <a:p>
            <a:pPr algn="l" marL="0" indent="0" lvl="0">
              <a:lnSpc>
                <a:spcPts val="4800"/>
              </a:lnSpc>
              <a:spcBef>
                <a:spcPct val="0"/>
              </a:spcBef>
            </a:pPr>
            <a:r>
              <a:rPr lang="en-US" sz="4800" spc="-144">
                <a:solidFill>
                  <a:srgbClr val="00FFA8"/>
                </a:solidFill>
                <a:latin typeface="ITC Avant Garde Gothic"/>
                <a:ea typeface="ITC Avant Garde Gothic"/>
                <a:cs typeface="ITC Avant Garde Gothic"/>
                <a:sym typeface="ITC Avant Garde Gothic"/>
              </a:rPr>
              <a:t>ADDITIONAL RESOURCES</a:t>
            </a:r>
          </a:p>
        </p:txBody>
      </p:sp>
      <p:sp>
        <p:nvSpPr>
          <p:cNvPr name="TextBox 3" id="3"/>
          <p:cNvSpPr txBox="true"/>
          <p:nvPr/>
        </p:nvSpPr>
        <p:spPr>
          <a:xfrm rot="0">
            <a:off x="666750" y="1491327"/>
            <a:ext cx="16201636" cy="2497455"/>
          </a:xfrm>
          <a:prstGeom prst="rect">
            <a:avLst/>
          </a:prstGeom>
        </p:spPr>
        <p:txBody>
          <a:bodyPr anchor="t" rtlCol="false" tIns="0" lIns="0" bIns="0" rIns="0">
            <a:spAutoFit/>
          </a:bodyPr>
          <a:lstStyle/>
          <a:p>
            <a:pPr algn="l" marL="474981" indent="-237491" lvl="1">
              <a:lnSpc>
                <a:spcPts val="3300"/>
              </a:lnSpc>
              <a:buFont typeface="Arial"/>
              <a:buChar char="•"/>
            </a:pPr>
            <a:r>
              <a:rPr lang="en-US" sz="2200" spc="-66">
                <a:solidFill>
                  <a:srgbClr val="00FFA8"/>
                </a:solidFill>
                <a:latin typeface="TT Fors"/>
                <a:ea typeface="TT Fors"/>
                <a:cs typeface="TT Fors"/>
                <a:sym typeface="TT Fors"/>
              </a:rPr>
              <a:t>OWASP Top 10: </a:t>
            </a:r>
            <a:r>
              <a:rPr lang="en-US" sz="2200" spc="-66" u="sng">
                <a:solidFill>
                  <a:srgbClr val="FFFFFF"/>
                </a:solidFill>
                <a:latin typeface="TT Fors"/>
                <a:ea typeface="TT Fors"/>
                <a:cs typeface="TT Fors"/>
                <a:sym typeface="TT Fors"/>
                <a:hlinkClick r:id="rId3" tooltip="https://owasp.org/Top10/"/>
              </a:rPr>
              <a:t>https://owasp.org/Top10/</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OWASP Web Security Testing Guide: </a:t>
            </a:r>
            <a:r>
              <a:rPr lang="en-US" sz="2200" spc="-66" u="sng">
                <a:solidFill>
                  <a:srgbClr val="FFFFFF"/>
                </a:solidFill>
                <a:latin typeface="TT Fors"/>
                <a:ea typeface="TT Fors"/>
                <a:cs typeface="TT Fors"/>
                <a:sym typeface="TT Fors"/>
                <a:hlinkClick r:id="rId4" tooltip="https://owasp.org/www-project-web-security-testing-guide/"/>
              </a:rPr>
              <a:t>https://owasp.org/www-project-web-security-testing-guide/</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CWE Top 25: </a:t>
            </a:r>
            <a:r>
              <a:rPr lang="en-US" sz="2200" spc="-66" u="sng">
                <a:solidFill>
                  <a:srgbClr val="FFFFFF"/>
                </a:solidFill>
                <a:latin typeface="TT Fors"/>
                <a:ea typeface="TT Fors"/>
                <a:cs typeface="TT Fors"/>
                <a:sym typeface="TT Fors"/>
                <a:hlinkClick r:id="rId5" tooltip="https://cwe.mitre.org/top25/"/>
              </a:rPr>
              <a:t>https://cwe.mitre.org/top25/</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PortSwigger Web Security Academy: </a:t>
            </a:r>
            <a:r>
              <a:rPr lang="en-US" sz="2200" spc="-66" u="sng">
                <a:solidFill>
                  <a:srgbClr val="FFFFFF"/>
                </a:solidFill>
                <a:latin typeface="TT Fors"/>
                <a:ea typeface="TT Fors"/>
                <a:cs typeface="TT Fors"/>
                <a:sym typeface="TT Fors"/>
                <a:hlinkClick r:id="rId6" tooltip="https://portswigger.net/web-security"/>
              </a:rPr>
              <a:t>https://portswigger.net/web-security</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HackTricks Web Penetration Testing: </a:t>
            </a:r>
            <a:r>
              <a:rPr lang="en-US" sz="2200" spc="-66" u="sng">
                <a:solidFill>
                  <a:srgbClr val="FFFFFF"/>
                </a:solidFill>
                <a:latin typeface="TT Fors"/>
                <a:ea typeface="TT Fors"/>
                <a:cs typeface="TT Fors"/>
                <a:sym typeface="TT Fors"/>
                <a:hlinkClick r:id="rId7" tooltip="https://book.hacktricks.xyz"/>
              </a:rPr>
              <a:t>https://book.hacktricks.xyz/</a:t>
            </a:r>
          </a:p>
          <a:p>
            <a:pPr algn="l" marL="474981" indent="-237491" lvl="1">
              <a:lnSpc>
                <a:spcPts val="3300"/>
              </a:lnSpc>
              <a:buFont typeface="Arial"/>
              <a:buChar char="•"/>
            </a:pPr>
            <a:r>
              <a:rPr lang="en-US" sz="2200" spc="-66">
                <a:solidFill>
                  <a:srgbClr val="00FFA8"/>
                </a:solidFill>
                <a:latin typeface="TT Fors"/>
                <a:ea typeface="TT Fors"/>
                <a:cs typeface="TT Fors"/>
                <a:sym typeface="TT Fors"/>
              </a:rPr>
              <a:t>Burp Suite Documentation: </a:t>
            </a:r>
            <a:r>
              <a:rPr lang="en-US" sz="2200" spc="-66" u="sng">
                <a:solidFill>
                  <a:srgbClr val="FFFFFF"/>
                </a:solidFill>
                <a:latin typeface="TT Fors"/>
                <a:ea typeface="TT Fors"/>
                <a:cs typeface="TT Fors"/>
                <a:sym typeface="TT Fors"/>
                <a:hlinkClick r:id="rId8" tooltip="https://portswigger.net/burp/documentation"/>
              </a:rPr>
              <a:t>https://portswigger.net/burp/documentation</a:t>
            </a:r>
          </a:p>
        </p:txBody>
      </p:sp>
      <p:grpSp>
        <p:nvGrpSpPr>
          <p:cNvPr name="Group 4" id="4"/>
          <p:cNvGrpSpPr/>
          <p:nvPr/>
        </p:nvGrpSpPr>
        <p:grpSpPr>
          <a:xfrm rot="0">
            <a:off x="16115522" y="381000"/>
            <a:ext cx="1505728" cy="810556"/>
            <a:chOff x="0" y="0"/>
            <a:chExt cx="2007638" cy="1080741"/>
          </a:xfrm>
        </p:grpSpPr>
        <p:grpSp>
          <p:nvGrpSpPr>
            <p:cNvPr name="Group 5" id="5"/>
            <p:cNvGrpSpPr/>
            <p:nvPr/>
          </p:nvGrpSpPr>
          <p:grpSpPr>
            <a:xfrm rot="0">
              <a:off x="0" y="0"/>
              <a:ext cx="1080741" cy="108074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7" id="7"/>
              <p:cNvSpPr txBox="true"/>
              <p:nvPr/>
            </p:nvSpPr>
            <p:spPr>
              <a:xfrm>
                <a:off x="76200" y="38100"/>
                <a:ext cx="660400" cy="698500"/>
              </a:xfrm>
              <a:prstGeom prst="rect">
                <a:avLst/>
              </a:prstGeom>
            </p:spPr>
            <p:txBody>
              <a:bodyPr anchor="ctr" rtlCol="false" tIns="22978" lIns="22978" bIns="22978" rIns="22978"/>
              <a:lstStyle/>
              <a:p>
                <a:pPr algn="ctr">
                  <a:lnSpc>
                    <a:spcPts val="2659"/>
                  </a:lnSpc>
                  <a:spcBef>
                    <a:spcPct val="0"/>
                  </a:spcBef>
                </a:pPr>
              </a:p>
            </p:txBody>
          </p:sp>
        </p:grpSp>
        <p:grpSp>
          <p:nvGrpSpPr>
            <p:cNvPr name="Group 8" id="8"/>
            <p:cNvGrpSpPr/>
            <p:nvPr/>
          </p:nvGrpSpPr>
          <p:grpSpPr>
            <a:xfrm rot="0">
              <a:off x="926897" y="0"/>
              <a:ext cx="1080741" cy="108074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sp>
          <p:sp>
            <p:nvSpPr>
              <p:cNvPr name="TextBox 10" id="10"/>
              <p:cNvSpPr txBox="true"/>
              <p:nvPr/>
            </p:nvSpPr>
            <p:spPr>
              <a:xfrm>
                <a:off x="76200" y="38100"/>
                <a:ext cx="660400" cy="698500"/>
              </a:xfrm>
              <a:prstGeom prst="rect">
                <a:avLst/>
              </a:prstGeom>
            </p:spPr>
            <p:txBody>
              <a:bodyPr anchor="ctr" rtlCol="false" tIns="22978" lIns="22978" bIns="22978" rIns="22978"/>
              <a:lstStyle/>
              <a:p>
                <a:pPr algn="ctr">
                  <a:lnSpc>
                    <a:spcPts val="2659"/>
                  </a:lnSpc>
                  <a:spcBef>
                    <a:spcPct val="0"/>
                  </a:spcBef>
                </a:pPr>
              </a:p>
            </p:txBody>
          </p:sp>
        </p:grpSp>
        <p:sp>
          <p:nvSpPr>
            <p:cNvPr name="Freeform 11" id="11"/>
            <p:cNvSpPr/>
            <p:nvPr/>
          </p:nvSpPr>
          <p:spPr>
            <a:xfrm flipH="false" flipV="false" rot="0">
              <a:off x="44554" y="239221"/>
              <a:ext cx="991633" cy="602300"/>
            </a:xfrm>
            <a:custGeom>
              <a:avLst/>
              <a:gdLst/>
              <a:ahLst/>
              <a:cxnLst/>
              <a:rect r="r" b="b" t="t" l="l"/>
              <a:pathLst>
                <a:path h="602300" w="991633">
                  <a:moveTo>
                    <a:pt x="0" y="0"/>
                  </a:moveTo>
                  <a:lnTo>
                    <a:pt x="991633" y="0"/>
                  </a:lnTo>
                  <a:lnTo>
                    <a:pt x="991633" y="602299"/>
                  </a:lnTo>
                  <a:lnTo>
                    <a:pt x="0" y="602299"/>
                  </a:lnTo>
                  <a:lnTo>
                    <a:pt x="0" y="0"/>
                  </a:lnTo>
                  <a:close/>
                </a:path>
              </a:pathLst>
            </a:custGeom>
            <a:blipFill>
              <a:blip r:embed="rId9"/>
              <a:stretch>
                <a:fillRect l="0" t="-6286" r="0" b="-6286"/>
              </a:stretch>
            </a:blipFill>
          </p:spPr>
        </p:sp>
        <p:sp>
          <p:nvSpPr>
            <p:cNvPr name="Freeform 12" id="12"/>
            <p:cNvSpPr/>
            <p:nvPr/>
          </p:nvSpPr>
          <p:spPr>
            <a:xfrm flipH="false" flipV="false" rot="0">
              <a:off x="1110110" y="184552"/>
              <a:ext cx="714315" cy="711636"/>
            </a:xfrm>
            <a:custGeom>
              <a:avLst/>
              <a:gdLst/>
              <a:ahLst/>
              <a:cxnLst/>
              <a:rect r="r" b="b" t="t" l="l"/>
              <a:pathLst>
                <a:path h="711636" w="714315">
                  <a:moveTo>
                    <a:pt x="0" y="0"/>
                  </a:moveTo>
                  <a:lnTo>
                    <a:pt x="714315" y="0"/>
                  </a:lnTo>
                  <a:lnTo>
                    <a:pt x="714315" y="711637"/>
                  </a:lnTo>
                  <a:lnTo>
                    <a:pt x="0" y="71163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0A192F"/>
        </a:solidFill>
      </p:bgPr>
    </p:bg>
    <p:spTree>
      <p:nvGrpSpPr>
        <p:cNvPr id="1" name=""/>
        <p:cNvGrpSpPr/>
        <p:nvPr/>
      </p:nvGrpSpPr>
      <p:grpSpPr>
        <a:xfrm>
          <a:off x="0" y="0"/>
          <a:ext cx="0" cy="0"/>
          <a:chOff x="0" y="0"/>
          <a:chExt cx="0" cy="0"/>
        </a:xfrm>
      </p:grpSpPr>
      <p:grpSp>
        <p:nvGrpSpPr>
          <p:cNvPr name="Group 2" id="2"/>
          <p:cNvGrpSpPr/>
          <p:nvPr/>
        </p:nvGrpSpPr>
        <p:grpSpPr>
          <a:xfrm rot="0">
            <a:off x="10102596" y="0"/>
            <a:ext cx="8185404" cy="10287000"/>
            <a:chOff x="0" y="0"/>
            <a:chExt cx="2155827" cy="2709333"/>
          </a:xfrm>
        </p:grpSpPr>
        <p:sp>
          <p:nvSpPr>
            <p:cNvPr name="Freeform 3" id="3"/>
            <p:cNvSpPr/>
            <p:nvPr/>
          </p:nvSpPr>
          <p:spPr>
            <a:xfrm flipH="false" flipV="false" rot="0">
              <a:off x="0" y="0"/>
              <a:ext cx="2155827" cy="2709333"/>
            </a:xfrm>
            <a:custGeom>
              <a:avLst/>
              <a:gdLst/>
              <a:ahLst/>
              <a:cxnLst/>
              <a:rect r="r" b="b" t="t" l="l"/>
              <a:pathLst>
                <a:path h="2709333" w="2155827">
                  <a:moveTo>
                    <a:pt x="0" y="0"/>
                  </a:moveTo>
                  <a:lnTo>
                    <a:pt x="2155827" y="0"/>
                  </a:lnTo>
                  <a:lnTo>
                    <a:pt x="2155827" y="2709333"/>
                  </a:lnTo>
                  <a:lnTo>
                    <a:pt x="0" y="2709333"/>
                  </a:lnTo>
                  <a:close/>
                </a:path>
              </a:pathLst>
            </a:custGeom>
            <a:solidFill>
              <a:srgbClr val="301445"/>
            </a:solidFill>
          </p:spPr>
        </p:sp>
        <p:sp>
          <p:nvSpPr>
            <p:cNvPr name="TextBox 4" id="4"/>
            <p:cNvSpPr txBox="true"/>
            <p:nvPr/>
          </p:nvSpPr>
          <p:spPr>
            <a:xfrm>
              <a:off x="0" y="-38100"/>
              <a:ext cx="2155827" cy="2747433"/>
            </a:xfrm>
            <a:prstGeom prst="rect">
              <a:avLst/>
            </a:prstGeom>
          </p:spPr>
          <p:txBody>
            <a:bodyPr anchor="ctr" rtlCol="false" tIns="50800" lIns="50800" bIns="50800" rIns="50800"/>
            <a:lstStyle/>
            <a:p>
              <a:pPr algn="ctr" marL="0" indent="0" lvl="0">
                <a:lnSpc>
                  <a:spcPts val="2100"/>
                </a:lnSpc>
              </a:pPr>
            </a:p>
          </p:txBody>
        </p:sp>
      </p:grpSp>
      <p:grpSp>
        <p:nvGrpSpPr>
          <p:cNvPr name="Group 5" id="5"/>
          <p:cNvGrpSpPr/>
          <p:nvPr/>
        </p:nvGrpSpPr>
        <p:grpSpPr>
          <a:xfrm rot="0">
            <a:off x="10708180" y="666750"/>
            <a:ext cx="6947741" cy="8953500"/>
            <a:chOff x="0" y="0"/>
            <a:chExt cx="812800" cy="1047449"/>
          </a:xfrm>
        </p:grpSpPr>
        <p:sp>
          <p:nvSpPr>
            <p:cNvPr name="Freeform 6" id="6"/>
            <p:cNvSpPr/>
            <p:nvPr/>
          </p:nvSpPr>
          <p:spPr>
            <a:xfrm flipH="false" flipV="false" rot="0">
              <a:off x="0" y="0"/>
              <a:ext cx="812800" cy="1047449"/>
            </a:xfrm>
            <a:custGeom>
              <a:avLst/>
              <a:gdLst/>
              <a:ahLst/>
              <a:cxnLst/>
              <a:rect r="r" b="b" t="t" l="l"/>
              <a:pathLst>
                <a:path h="1047449" w="812800">
                  <a:moveTo>
                    <a:pt x="44572" y="0"/>
                  </a:moveTo>
                  <a:lnTo>
                    <a:pt x="768228" y="0"/>
                  </a:lnTo>
                  <a:cubicBezTo>
                    <a:pt x="792844" y="0"/>
                    <a:pt x="812800" y="19956"/>
                    <a:pt x="812800" y="44572"/>
                  </a:cubicBezTo>
                  <a:lnTo>
                    <a:pt x="812800" y="1002877"/>
                  </a:lnTo>
                  <a:cubicBezTo>
                    <a:pt x="812800" y="1027493"/>
                    <a:pt x="792844" y="1047449"/>
                    <a:pt x="768228" y="1047449"/>
                  </a:cubicBezTo>
                  <a:lnTo>
                    <a:pt x="44572" y="1047449"/>
                  </a:lnTo>
                  <a:cubicBezTo>
                    <a:pt x="19956" y="1047449"/>
                    <a:pt x="0" y="1027493"/>
                    <a:pt x="0" y="1002877"/>
                  </a:cubicBezTo>
                  <a:lnTo>
                    <a:pt x="0" y="44572"/>
                  </a:lnTo>
                  <a:cubicBezTo>
                    <a:pt x="0" y="19956"/>
                    <a:pt x="19956" y="0"/>
                    <a:pt x="44572" y="0"/>
                  </a:cubicBezTo>
                  <a:close/>
                </a:path>
              </a:pathLst>
            </a:custGeom>
            <a:blipFill>
              <a:blip r:embed="rId2"/>
              <a:stretch>
                <a:fillRect l="0" t="-306" r="0" b="-306"/>
              </a:stretch>
            </a:blipFill>
          </p:spPr>
        </p:sp>
      </p:grpSp>
      <p:grpSp>
        <p:nvGrpSpPr>
          <p:cNvPr name="Group 7" id="7"/>
          <p:cNvGrpSpPr/>
          <p:nvPr/>
        </p:nvGrpSpPr>
        <p:grpSpPr>
          <a:xfrm rot="0">
            <a:off x="1126053" y="4096993"/>
            <a:ext cx="8324850" cy="2093014"/>
            <a:chOff x="0" y="0"/>
            <a:chExt cx="11099800" cy="2790686"/>
          </a:xfrm>
        </p:grpSpPr>
        <p:sp>
          <p:nvSpPr>
            <p:cNvPr name="TextBox 8" id="8"/>
            <p:cNvSpPr txBox="true"/>
            <p:nvPr/>
          </p:nvSpPr>
          <p:spPr>
            <a:xfrm rot="0">
              <a:off x="0" y="2051122"/>
              <a:ext cx="11099800" cy="739564"/>
            </a:xfrm>
            <a:prstGeom prst="rect">
              <a:avLst/>
            </a:prstGeom>
          </p:spPr>
          <p:txBody>
            <a:bodyPr anchor="t" rtlCol="false" tIns="0" lIns="0" bIns="0" rIns="0">
              <a:spAutoFit/>
            </a:bodyPr>
            <a:lstStyle/>
            <a:p>
              <a:pPr algn="ctr" marL="0" indent="0" lvl="0">
                <a:lnSpc>
                  <a:spcPts val="4159"/>
                </a:lnSpc>
                <a:spcBef>
                  <a:spcPct val="0"/>
                </a:spcBef>
              </a:pPr>
              <a:r>
                <a:rPr lang="en-US" sz="3199">
                  <a:solidFill>
                    <a:srgbClr val="00FFA8"/>
                  </a:solidFill>
                  <a:latin typeface="ITC Avant Garde Gothic"/>
                  <a:ea typeface="ITC Avant Garde Gothic"/>
                  <a:cs typeface="ITC Avant Garde Gothic"/>
                  <a:sym typeface="ITC Avant Garde Gothic"/>
                </a:rPr>
                <a:t>ANY QUESTIONS?</a:t>
              </a:r>
            </a:p>
          </p:txBody>
        </p:sp>
        <p:sp>
          <p:nvSpPr>
            <p:cNvPr name="TextBox 9" id="9"/>
            <p:cNvSpPr txBox="true"/>
            <p:nvPr/>
          </p:nvSpPr>
          <p:spPr>
            <a:xfrm rot="0">
              <a:off x="0" y="0"/>
              <a:ext cx="11099800" cy="1722963"/>
            </a:xfrm>
            <a:prstGeom prst="rect">
              <a:avLst/>
            </a:prstGeom>
          </p:spPr>
          <p:txBody>
            <a:bodyPr anchor="t" rtlCol="false" tIns="0" lIns="0" bIns="0" rIns="0">
              <a:spAutoFit/>
            </a:bodyPr>
            <a:lstStyle/>
            <a:p>
              <a:pPr algn="ctr" marL="0" indent="0" lvl="0">
                <a:lnSpc>
                  <a:spcPts val="8499"/>
                </a:lnSpc>
                <a:spcBef>
                  <a:spcPct val="0"/>
                </a:spcBef>
              </a:pPr>
              <a:r>
                <a:rPr lang="en-US" sz="8499" spc="-254" strike="noStrike" u="none">
                  <a:solidFill>
                    <a:srgbClr val="00FFA8"/>
                  </a:solidFill>
                  <a:latin typeface="ITC Avant Garde Gothic"/>
                  <a:ea typeface="ITC Avant Garde Gothic"/>
                  <a:cs typeface="ITC Avant Garde Gothic"/>
                  <a:sym typeface="ITC Avant Garde Gothic"/>
                </a:rPr>
                <a:t>Thank You</a:t>
              </a:r>
            </a:p>
          </p:txBody>
        </p:sp>
      </p:grpSp>
      <p:sp>
        <p:nvSpPr>
          <p:cNvPr name="Freeform 10" id="10"/>
          <p:cNvSpPr/>
          <p:nvPr/>
        </p:nvSpPr>
        <p:spPr>
          <a:xfrm flipH="true" flipV="false" rot="5400000">
            <a:off x="16106389" y="8352937"/>
            <a:ext cx="1792448" cy="1639275"/>
          </a:xfrm>
          <a:custGeom>
            <a:avLst/>
            <a:gdLst/>
            <a:ahLst/>
            <a:cxnLst/>
            <a:rect r="r" b="b" t="t" l="l"/>
            <a:pathLst>
              <a:path h="1639275" w="1792448">
                <a:moveTo>
                  <a:pt x="1792448" y="0"/>
                </a:moveTo>
                <a:lnTo>
                  <a:pt x="0" y="0"/>
                </a:lnTo>
                <a:lnTo>
                  <a:pt x="0" y="1639276"/>
                </a:lnTo>
                <a:lnTo>
                  <a:pt x="1792448" y="1639276"/>
                </a:lnTo>
                <a:lnTo>
                  <a:pt x="179244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Ethical Hacking Overview</dc:description>
  <dc:identifier>DAG8Qx6VF2E</dc:identifier>
  <dcterms:modified xsi:type="dcterms:W3CDTF">2011-08-01T06:04:30Z</dcterms:modified>
  <cp:revision>1</cp:revision>
  <dc:title>Lecture-08-CCS6324 -  Hacking Web Servers</dc:title>
</cp:coreProperties>
</file>