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2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3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x="18288000" cy="10287000"/>
  <p:notesSz cx="6858000" cy="9144000"/>
  <p:embeddedFontLst>
    <p:embeddedFont>
      <p:font typeface="ITC Avant Garde Gothic" charset="1" panose="020B0502020202020204"/>
      <p:regular r:id="rId33"/>
    </p:embeddedFont>
    <p:embeddedFont>
      <p:font typeface="TT Fors" charset="1" panose="020B0003030001020000"/>
      <p:regular r:id="rId34"/>
    </p:embeddedFont>
    <p:embeddedFont>
      <p:font typeface="TT Fors Bold" charset="1" panose="020B0003030001020000"/>
      <p:regular r:id="rId39"/>
    </p:embeddedFont>
    <p:embeddedFont>
      <p:font typeface="Canva Sans Bold" charset="1" panose="020B0803030501040103"/>
      <p:regular r:id="rId46"/>
    </p:embeddedFont>
    <p:embeddedFont>
      <p:font typeface="Canva Sans" charset="1" panose="020B0503030501040103"/>
      <p:regular r:id="rId4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notesMasters/notesMaster1.xml" Type="http://schemas.openxmlformats.org/officeDocument/2006/relationships/notesMaster"/><Relationship Id="rId36" Target="theme/theme2.xml" Type="http://schemas.openxmlformats.org/officeDocument/2006/relationships/theme"/><Relationship Id="rId37" Target="notesSlides/notesSlide1.xml" Type="http://schemas.openxmlformats.org/officeDocument/2006/relationships/notesSlide"/><Relationship Id="rId38" Target="notesSlides/notesSlide2.xml" Type="http://schemas.openxmlformats.org/officeDocument/2006/relationships/notesSlide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notesSlides/notesSlide3.xml" Type="http://schemas.openxmlformats.org/officeDocument/2006/relationships/notesSlide"/><Relationship Id="rId41" Target="notesSlides/notesSlide4.xml" Type="http://schemas.openxmlformats.org/officeDocument/2006/relationships/notesSlide"/><Relationship Id="rId42" Target="notesSlides/notesSlide5.xml" Type="http://schemas.openxmlformats.org/officeDocument/2006/relationships/notesSlide"/><Relationship Id="rId43" Target="notesSlides/notesSlide6.xml" Type="http://schemas.openxmlformats.org/officeDocument/2006/relationships/notesSlide"/><Relationship Id="rId44" Target="notesSlides/notesSlide7.xml" Type="http://schemas.openxmlformats.org/officeDocument/2006/relationships/notesSlide"/><Relationship Id="rId45" Target="notesSlides/notesSlide8.xml" Type="http://schemas.openxmlformats.org/officeDocument/2006/relationships/notesSlide"/><Relationship Id="rId46" Target="fonts/font46.fntdata" Type="http://schemas.openxmlformats.org/officeDocument/2006/relationships/font"/><Relationship Id="rId47" Target="fonts/font47.fntdata" Type="http://schemas.openxmlformats.org/officeDocument/2006/relationships/font"/><Relationship Id="rId48" Target="notesSlides/notesSlide9.xml" Type="http://schemas.openxmlformats.org/officeDocument/2006/relationships/notesSlide"/><Relationship Id="rId49" Target="notesSlides/notesSlide10.xml" Type="http://schemas.openxmlformats.org/officeDocument/2006/relationships/notesSlide"/><Relationship Id="rId5" Target="tableStyles.xml" Type="http://schemas.openxmlformats.org/officeDocument/2006/relationships/tableStyles"/><Relationship Id="rId50" Target="notesSlides/notesSlide11.xml" Type="http://schemas.openxmlformats.org/officeDocument/2006/relationships/notesSlide"/><Relationship Id="rId51" Target="notesSlides/notesSlide12.xml" Type="http://schemas.openxmlformats.org/officeDocument/2006/relationships/notesSlide"/><Relationship Id="rId52" Target="notesSlides/notesSlide13.xml" Type="http://schemas.openxmlformats.org/officeDocument/2006/relationships/notesSlide"/><Relationship Id="rId53" Target="notesSlides/notesSlide14.xml" Type="http://schemas.openxmlformats.org/officeDocument/2006/relationships/notesSlide"/><Relationship Id="rId54" Target="notesSlides/notesSlide15.xml" Type="http://schemas.openxmlformats.org/officeDocument/2006/relationships/notesSlide"/><Relationship Id="rId55" Target="notesSlides/notesSlide16.xml" Type="http://schemas.openxmlformats.org/officeDocument/2006/relationships/notesSlide"/><Relationship Id="rId56" Target="notesSlides/notesSlide17.xml" Type="http://schemas.openxmlformats.org/officeDocument/2006/relationships/notesSlide"/><Relationship Id="rId57" Target="notesSlides/notesSlide18.xml" Type="http://schemas.openxmlformats.org/officeDocument/2006/relationships/notesSlide"/><Relationship Id="rId58" Target="notesSlides/notesSlide19.xml" Type="http://schemas.openxmlformats.org/officeDocument/2006/relationships/notesSlide"/><Relationship Id="rId59" Target="notesSlides/notesSlide20.xml" Type="http://schemas.openxmlformats.org/officeDocument/2006/relationships/notesSlide"/><Relationship Id="rId6" Target="slides/slide1.xml" Type="http://schemas.openxmlformats.org/officeDocument/2006/relationships/slide"/><Relationship Id="rId60" Target="notesSlides/notesSlide21.xml" Type="http://schemas.openxmlformats.org/officeDocument/2006/relationships/notesSlide"/><Relationship Id="rId61" Target="notesSlides/notesSlide22.xml" Type="http://schemas.openxmlformats.org/officeDocument/2006/relationships/notesSlide"/><Relationship Id="rId62" Target="notesSlides/notesSlide23.xml" Type="http://schemas.openxmlformats.org/officeDocument/2006/relationships/notesSlide"/><Relationship Id="rId63" Target="notesSlides/notesSlide24.xml" Type="http://schemas.openxmlformats.org/officeDocument/2006/relationships/notesSlide"/><Relationship Id="rId64" Target="notesSlides/notesSlide25.xml" Type="http://schemas.openxmlformats.org/officeDocument/2006/relationships/notes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2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_rels/notesSlide2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5.xml" Type="http://schemas.openxmlformats.org/officeDocument/2006/relationships/slide"/></Relationships>
</file>

<file path=ppt/notesSlides/_rels/notesSlide2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 of Security:</a:t>
            </a:r>
          </a:p>
          <a:p>
            <a:r>
              <a:rPr lang="en-US"/>
              <a:t>Security professionals play a crucial role in protecting systems and data. They employ ethical hacking techniques to identify vulnerabilities, ensuring that organizations can defend against potential threats and attacks.</a:t>
            </a:r>
          </a:p>
          <a:p>
            <a:r>
              <a:rPr lang="en-US"/>
              <a:t/>
            </a:r>
          </a:p>
          <a:p>
            <a:r>
              <a:rPr lang="en-US"/>
              <a:t>Penetration Testing Methodologies:</a:t>
            </a:r>
          </a:p>
          <a:p>
            <a:r>
              <a:rPr lang="en-US"/>
              <a:t>Various methodologies guide penetration testing, including PTES, OWASP, and NIST. These frameworks provide structured approaches that enhance security assessments, helping organizations establish effective defenses against cyber threats.</a:t>
            </a:r>
          </a:p>
          <a:p>
            <a:r>
              <a:rPr lang="en-US"/>
              <a:t/>
            </a:r>
          </a:p>
          <a:p>
            <a:r>
              <a:rPr lang="en-US"/>
              <a:t>Categories of Penetration Tests:</a:t>
            </a:r>
          </a:p>
          <a:p>
            <a:r>
              <a:rPr lang="en-US"/>
              <a:t>Penetration tests can be categorized based on scope, such as black-box, white-box, and grey-box testing. Each category serves a unique purpose, ensuring comprehensive evaluation of security measures and vulnerabilities.</a:t>
            </a:r>
          </a:p>
          <a:p>
            <a:r>
              <a:rPr lang="en-US"/>
              <a:t/>
            </a:r>
          </a:p>
          <a:p>
            <a:r>
              <a:rPr lang="en-US"/>
              <a:t>Legal Framework:</a:t>
            </a:r>
          </a:p>
          <a:p>
            <a:r>
              <a:rPr lang="en-US"/>
              <a:t>Ethical hackers must navigate a complex legal framework, ensuring compliance with laws and regulations to avoid legal repercussions while conducting penetration tests and vulnerability assessments.</a:t>
            </a:r>
          </a:p>
          <a:p>
            <a:r>
              <a:rPr lang="en-US"/>
              <a:t/>
            </a:r>
          </a:p>
          <a:p>
            <a:r>
              <a:rPr lang="en-US"/>
              <a:t>Ethical Concerns:</a:t>
            </a:r>
          </a:p>
          <a:p>
            <a:r>
              <a:rPr lang="en-US"/>
              <a:t>Ethical considerations are paramount for penetration testers, as they must balance security practices with respect for privacy and integrity, ensuring that their actions do not harm individuals or organizations.</a:t>
            </a:r>
          </a:p>
          <a:p>
            <a:r>
              <a:rPr lang="en-US"/>
              <a:t/>
            </a:r>
          </a:p>
          <a:p>
            <a:r>
              <a:rPr lang="en-US"/>
              <a:t>Learning Outcomes:</a:t>
            </a:r>
          </a:p>
          <a:p>
            <a:r>
              <a:rPr lang="en-US"/>
              <a:t>By the end of this week, students will grasp the fundamentals of ethical hacking, legal boundaries, and frameworks, empowering them to engage confidently in ethical hacking practices.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 of Security:</a:t>
            </a:r>
          </a:p>
          <a:p>
            <a:r>
              <a:rPr lang="en-US"/>
              <a:t>Security professionals play a crucial role in protecting systems and data. They employ ethical hacking techniques to identify vulnerabilities, ensuring that organizations can defend against potential threats and attacks.</a:t>
            </a:r>
          </a:p>
          <a:p>
            <a:r>
              <a:rPr lang="en-US"/>
              <a:t/>
            </a:r>
          </a:p>
          <a:p>
            <a:r>
              <a:rPr lang="en-US"/>
              <a:t>Penetration Testing Methodologies:</a:t>
            </a:r>
          </a:p>
          <a:p>
            <a:r>
              <a:rPr lang="en-US"/>
              <a:t>Various methodologies guide penetration testing, including PTES, OWASP, and NIST. These frameworks provide structured approaches that enhance security assessments, helping organizations establish effective defenses against cyber threats.</a:t>
            </a:r>
          </a:p>
          <a:p>
            <a:r>
              <a:rPr lang="en-US"/>
              <a:t/>
            </a:r>
          </a:p>
          <a:p>
            <a:r>
              <a:rPr lang="en-US"/>
              <a:t>Categories of Penetration Tests:</a:t>
            </a:r>
          </a:p>
          <a:p>
            <a:r>
              <a:rPr lang="en-US"/>
              <a:t>Penetration tests can be categorized based on scope, such as black-box, white-box, and grey-box testing. Each category serves a unique purpose, ensuring comprehensive evaluation of security measures and vulnerabilities.</a:t>
            </a:r>
          </a:p>
          <a:p>
            <a:r>
              <a:rPr lang="en-US"/>
              <a:t/>
            </a:r>
          </a:p>
          <a:p>
            <a:r>
              <a:rPr lang="en-US"/>
              <a:t>Legal Framework:</a:t>
            </a:r>
          </a:p>
          <a:p>
            <a:r>
              <a:rPr lang="en-US"/>
              <a:t>Ethical hackers must navigate a complex legal framework, ensuring compliance with laws and regulations to avoid legal repercussions while conducting penetration tests and vulnerability assessments.</a:t>
            </a:r>
          </a:p>
          <a:p>
            <a:r>
              <a:rPr lang="en-US"/>
              <a:t/>
            </a:r>
          </a:p>
          <a:p>
            <a:r>
              <a:rPr lang="en-US"/>
              <a:t>Ethical Concerns:</a:t>
            </a:r>
          </a:p>
          <a:p>
            <a:r>
              <a:rPr lang="en-US"/>
              <a:t>Ethical considerations are paramount for penetration testers, as they must balance security practices with respect for privacy and integrity, ensuring that their actions do not harm individuals or organizations.</a:t>
            </a:r>
          </a:p>
          <a:p>
            <a:r>
              <a:rPr lang="en-US"/>
              <a:t/>
            </a:r>
          </a:p>
          <a:p>
            <a:r>
              <a:rPr lang="en-US"/>
              <a:t>Learning Outcomes:</a:t>
            </a:r>
          </a:p>
          <a:p>
            <a:r>
              <a:rPr lang="en-US"/>
              <a:t>By the end of this week, students will grasp the fundamentals of ethical hacking, legal boundaries, and frameworks, empowering them to engage confidently in ethical hacking practices.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 of Security:</a:t>
            </a:r>
          </a:p>
          <a:p>
            <a:r>
              <a:rPr lang="en-US"/>
              <a:t>Security professionals play a crucial role in protecting systems and data. They employ ethical hacking techniques to identify vulnerabilities, ensuring that organizations can defend against potential threats and attacks.</a:t>
            </a:r>
          </a:p>
          <a:p>
            <a:r>
              <a:rPr lang="en-US"/>
              <a:t/>
            </a:r>
          </a:p>
          <a:p>
            <a:r>
              <a:rPr lang="en-US"/>
              <a:t>Penetration Testing Methodologies:</a:t>
            </a:r>
          </a:p>
          <a:p>
            <a:r>
              <a:rPr lang="en-US"/>
              <a:t>Various methodologies guide penetration testing, including PTES, OWASP, and NIST. These frameworks provide structured approaches that enhance security assessments, helping organizations establish effective defenses against cyber threats.</a:t>
            </a:r>
          </a:p>
          <a:p>
            <a:r>
              <a:rPr lang="en-US"/>
              <a:t/>
            </a:r>
          </a:p>
          <a:p>
            <a:r>
              <a:rPr lang="en-US"/>
              <a:t>Categories of Penetration Tests:</a:t>
            </a:r>
          </a:p>
          <a:p>
            <a:r>
              <a:rPr lang="en-US"/>
              <a:t>Penetration tests can be categorized based on scope, such as black-box, white-box, and grey-box testing. Each category serves a unique purpose, ensuring comprehensive evaluation of security measures and vulnerabilities.</a:t>
            </a:r>
          </a:p>
          <a:p>
            <a:r>
              <a:rPr lang="en-US"/>
              <a:t/>
            </a:r>
          </a:p>
          <a:p>
            <a:r>
              <a:rPr lang="en-US"/>
              <a:t>Legal Framework:</a:t>
            </a:r>
          </a:p>
          <a:p>
            <a:r>
              <a:rPr lang="en-US"/>
              <a:t>Ethical hackers must navigate a complex legal framework, ensuring compliance with laws and regulations to avoid legal repercussions while conducting penetration tests and vulnerability assessments.</a:t>
            </a:r>
          </a:p>
          <a:p>
            <a:r>
              <a:rPr lang="en-US"/>
              <a:t/>
            </a:r>
          </a:p>
          <a:p>
            <a:r>
              <a:rPr lang="en-US"/>
              <a:t>Ethical Concerns:</a:t>
            </a:r>
          </a:p>
          <a:p>
            <a:r>
              <a:rPr lang="en-US"/>
              <a:t>Ethical considerations are paramount for penetration testers, as they must balance security practices with respect for privacy and integrity, ensuring that their actions do not harm individuals or organizations.</a:t>
            </a:r>
          </a:p>
          <a:p>
            <a:r>
              <a:rPr lang="en-US"/>
              <a:t/>
            </a:r>
          </a:p>
          <a:p>
            <a:r>
              <a:rPr lang="en-US"/>
              <a:t>Learning Outcomes:</a:t>
            </a:r>
          </a:p>
          <a:p>
            <a:r>
              <a:rPr lang="en-US"/>
              <a:t>By the end of this week, students will grasp the fundamentals of ethical hacking, legal boundaries, and frameworks, empowering them to engage confidently in ethical hacking practices.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 of Security:</a:t>
            </a:r>
          </a:p>
          <a:p>
            <a:r>
              <a:rPr lang="en-US"/>
              <a:t>Security professionals play a crucial role in protecting systems and data. They employ ethical hacking techniques to identify vulnerabilities, ensuring that organizations can defend against potential threats and attacks.</a:t>
            </a:r>
          </a:p>
          <a:p>
            <a:r>
              <a:rPr lang="en-US"/>
              <a:t/>
            </a:r>
          </a:p>
          <a:p>
            <a:r>
              <a:rPr lang="en-US"/>
              <a:t>Penetration Testing Methodologies:</a:t>
            </a:r>
          </a:p>
          <a:p>
            <a:r>
              <a:rPr lang="en-US"/>
              <a:t>Various methodologies guide penetration testing, including PTES, OWASP, and NIST. These frameworks provide structured approaches that enhance security assessments, helping organizations establish effective defenses against cyber threats.</a:t>
            </a:r>
          </a:p>
          <a:p>
            <a:r>
              <a:rPr lang="en-US"/>
              <a:t/>
            </a:r>
          </a:p>
          <a:p>
            <a:r>
              <a:rPr lang="en-US"/>
              <a:t>Categories of Penetration Tests:</a:t>
            </a:r>
          </a:p>
          <a:p>
            <a:r>
              <a:rPr lang="en-US"/>
              <a:t>Penetration tests can be categorized based on scope, such as black-box, white-box, and grey-box testing. Each category serves a unique purpose, ensuring comprehensive evaluation of security measures and vulnerabilities.</a:t>
            </a:r>
          </a:p>
          <a:p>
            <a:r>
              <a:rPr lang="en-US"/>
              <a:t/>
            </a:r>
          </a:p>
          <a:p>
            <a:r>
              <a:rPr lang="en-US"/>
              <a:t>Legal Framework:</a:t>
            </a:r>
          </a:p>
          <a:p>
            <a:r>
              <a:rPr lang="en-US"/>
              <a:t>Ethical hackers must navigate a complex legal framework, ensuring compliance with laws and regulations to avoid legal repercussions while conducting penetration tests and vulnerability assessments.</a:t>
            </a:r>
          </a:p>
          <a:p>
            <a:r>
              <a:rPr lang="en-US"/>
              <a:t/>
            </a:r>
          </a:p>
          <a:p>
            <a:r>
              <a:rPr lang="en-US"/>
              <a:t>Ethical Concerns:</a:t>
            </a:r>
          </a:p>
          <a:p>
            <a:r>
              <a:rPr lang="en-US"/>
              <a:t>Ethical considerations are paramount for penetration testers, as they must balance security practices with respect for privacy and integrity, ensuring that their actions do not harm individuals or organizations.</a:t>
            </a:r>
          </a:p>
          <a:p>
            <a:r>
              <a:rPr lang="en-US"/>
              <a:t/>
            </a:r>
          </a:p>
          <a:p>
            <a:r>
              <a:rPr lang="en-US"/>
              <a:t>Learning Outcomes:</a:t>
            </a:r>
          </a:p>
          <a:p>
            <a:r>
              <a:rPr lang="en-US"/>
              <a:t>By the end of this week, students will grasp the fundamentals of ethical hacking, legal boundaries, and frameworks, empowering them to engage confidently in ethical hacking practices.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 of Security:</a:t>
            </a:r>
          </a:p>
          <a:p>
            <a:r>
              <a:rPr lang="en-US"/>
              <a:t>Security professionals play a crucial role in protecting systems and data. They employ ethical hacking techniques to identify vulnerabilities, ensuring that organizations can defend against potential threats and attacks.</a:t>
            </a:r>
          </a:p>
          <a:p>
            <a:r>
              <a:rPr lang="en-US"/>
              <a:t/>
            </a:r>
          </a:p>
          <a:p>
            <a:r>
              <a:rPr lang="en-US"/>
              <a:t>Penetration Testing Methodologies:</a:t>
            </a:r>
          </a:p>
          <a:p>
            <a:r>
              <a:rPr lang="en-US"/>
              <a:t>Various methodologies guide penetration testing, including PTES, OWASP, and NIST. These frameworks provide structured approaches that enhance security assessments, helping organizations establish effective defenses against cyber threats.</a:t>
            </a:r>
          </a:p>
          <a:p>
            <a:r>
              <a:rPr lang="en-US"/>
              <a:t/>
            </a:r>
          </a:p>
          <a:p>
            <a:r>
              <a:rPr lang="en-US"/>
              <a:t>Categories of Penetration Tests:</a:t>
            </a:r>
          </a:p>
          <a:p>
            <a:r>
              <a:rPr lang="en-US"/>
              <a:t>Penetration tests can be categorized based on scope, such as black-box, white-box, and grey-box testing. Each category serves a unique purpose, ensuring comprehensive evaluation of security measures and vulnerabilities.</a:t>
            </a:r>
          </a:p>
          <a:p>
            <a:r>
              <a:rPr lang="en-US"/>
              <a:t/>
            </a:r>
          </a:p>
          <a:p>
            <a:r>
              <a:rPr lang="en-US"/>
              <a:t>Legal Framework:</a:t>
            </a:r>
          </a:p>
          <a:p>
            <a:r>
              <a:rPr lang="en-US"/>
              <a:t>Ethical hackers must navigate a complex legal framework, ensuring compliance with laws and regulations to avoid legal repercussions while conducting penetration tests and vulnerability assessments.</a:t>
            </a:r>
          </a:p>
          <a:p>
            <a:r>
              <a:rPr lang="en-US"/>
              <a:t/>
            </a:r>
          </a:p>
          <a:p>
            <a:r>
              <a:rPr lang="en-US"/>
              <a:t>Ethical Concerns:</a:t>
            </a:r>
          </a:p>
          <a:p>
            <a:r>
              <a:rPr lang="en-US"/>
              <a:t>Ethical considerations are paramount for penetration testers, as they must balance security practices with respect for privacy and integrity, ensuring that their actions do not harm individuals or organizations.</a:t>
            </a:r>
          </a:p>
          <a:p>
            <a:r>
              <a:rPr lang="en-US"/>
              <a:t/>
            </a:r>
          </a:p>
          <a:p>
            <a:r>
              <a:rPr lang="en-US"/>
              <a:t>Learning Outcomes:</a:t>
            </a:r>
          </a:p>
          <a:p>
            <a:r>
              <a:rPr lang="en-US"/>
              <a:t>By the end of this week, students will grasp the fundamentals of ethical hacking, legal boundaries, and frameworks, empowering them to engage confidently in ethical hacking practices.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 of Security:</a:t>
            </a:r>
          </a:p>
          <a:p>
            <a:r>
              <a:rPr lang="en-US"/>
              <a:t>Security professionals play a crucial role in protecting systems and data. They employ ethical hacking techniques to identify vulnerabilities, ensuring that organizations can defend against potential threats and attacks.</a:t>
            </a:r>
          </a:p>
          <a:p>
            <a:r>
              <a:rPr lang="en-US"/>
              <a:t/>
            </a:r>
          </a:p>
          <a:p>
            <a:r>
              <a:rPr lang="en-US"/>
              <a:t>Penetration Testing Methodologies:</a:t>
            </a:r>
          </a:p>
          <a:p>
            <a:r>
              <a:rPr lang="en-US"/>
              <a:t>Various methodologies guide penetration testing, including PTES, OWASP, and NIST. These frameworks provide structured approaches that enhance security assessments, helping organizations establish effective defenses against cyber threats.</a:t>
            </a:r>
          </a:p>
          <a:p>
            <a:r>
              <a:rPr lang="en-US"/>
              <a:t/>
            </a:r>
          </a:p>
          <a:p>
            <a:r>
              <a:rPr lang="en-US"/>
              <a:t>Categories of Penetration Tests:</a:t>
            </a:r>
          </a:p>
          <a:p>
            <a:r>
              <a:rPr lang="en-US"/>
              <a:t>Penetration tests can be categorized based on scope, such as black-box, white-box, and grey-box testing. Each category serves a unique purpose, ensuring comprehensive evaluation of security measures and vulnerabilities.</a:t>
            </a:r>
          </a:p>
          <a:p>
            <a:r>
              <a:rPr lang="en-US"/>
              <a:t/>
            </a:r>
          </a:p>
          <a:p>
            <a:r>
              <a:rPr lang="en-US"/>
              <a:t>Legal Framework:</a:t>
            </a:r>
          </a:p>
          <a:p>
            <a:r>
              <a:rPr lang="en-US"/>
              <a:t>Ethical hackers must navigate a complex legal framework, ensuring compliance with laws and regulations to avoid legal repercussions while conducting penetration tests and vulnerability assessments.</a:t>
            </a:r>
          </a:p>
          <a:p>
            <a:r>
              <a:rPr lang="en-US"/>
              <a:t/>
            </a:r>
          </a:p>
          <a:p>
            <a:r>
              <a:rPr lang="en-US"/>
              <a:t>Ethical Concerns:</a:t>
            </a:r>
          </a:p>
          <a:p>
            <a:r>
              <a:rPr lang="en-US"/>
              <a:t>Ethical considerations are paramount for penetration testers, as they must balance security practices with respect for privacy and integrity, ensuring that their actions do not harm individuals or organizations.</a:t>
            </a:r>
          </a:p>
          <a:p>
            <a:r>
              <a:rPr lang="en-US"/>
              <a:t/>
            </a:r>
          </a:p>
          <a:p>
            <a:r>
              <a:rPr lang="en-US"/>
              <a:t>Learning Outcomes:</a:t>
            </a:r>
          </a:p>
          <a:p>
            <a:r>
              <a:rPr lang="en-US"/>
              <a:t>By the end of this week, students will grasp the fundamentals of ethical hacking, legal boundaries, and frameworks, empowering them to engage confidently in ethical hacking practices.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 of Security:</a:t>
            </a:r>
          </a:p>
          <a:p>
            <a:r>
              <a:rPr lang="en-US"/>
              <a:t>Security professionals play a crucial role in protecting systems and data. They employ ethical hacking techniques to identify vulnerabilities, ensuring that organizations can defend against potential threats and attacks.</a:t>
            </a:r>
          </a:p>
          <a:p>
            <a:r>
              <a:rPr lang="en-US"/>
              <a:t/>
            </a:r>
          </a:p>
          <a:p>
            <a:r>
              <a:rPr lang="en-US"/>
              <a:t>Penetration Testing Methodologies:</a:t>
            </a:r>
          </a:p>
          <a:p>
            <a:r>
              <a:rPr lang="en-US"/>
              <a:t>Various methodologies guide penetration testing, including PTES, OWASP, and NIST. These frameworks provide structured approaches that enhance security assessments, helping organizations establish effective defenses against cyber threats.</a:t>
            </a:r>
          </a:p>
          <a:p>
            <a:r>
              <a:rPr lang="en-US"/>
              <a:t/>
            </a:r>
          </a:p>
          <a:p>
            <a:r>
              <a:rPr lang="en-US"/>
              <a:t>Categories of Penetration Tests:</a:t>
            </a:r>
          </a:p>
          <a:p>
            <a:r>
              <a:rPr lang="en-US"/>
              <a:t>Penetration tests can be categorized based on scope, such as black-box, white-box, and grey-box testing. Each category serves a unique purpose, ensuring comprehensive evaluation of security measures and vulnerabilities.</a:t>
            </a:r>
          </a:p>
          <a:p>
            <a:r>
              <a:rPr lang="en-US"/>
              <a:t/>
            </a:r>
          </a:p>
          <a:p>
            <a:r>
              <a:rPr lang="en-US"/>
              <a:t>Legal Framework:</a:t>
            </a:r>
          </a:p>
          <a:p>
            <a:r>
              <a:rPr lang="en-US"/>
              <a:t>Ethical hackers must navigate a complex legal framework, ensuring compliance with laws and regulations to avoid legal repercussions while conducting penetration tests and vulnerability assessments.</a:t>
            </a:r>
          </a:p>
          <a:p>
            <a:r>
              <a:rPr lang="en-US"/>
              <a:t/>
            </a:r>
          </a:p>
          <a:p>
            <a:r>
              <a:rPr lang="en-US"/>
              <a:t>Ethical Concerns:</a:t>
            </a:r>
          </a:p>
          <a:p>
            <a:r>
              <a:rPr lang="en-US"/>
              <a:t>Ethical considerations are paramount for penetration testers, as they must balance security practices with respect for privacy and integrity, ensuring that their actions do not harm individuals or organizations.</a:t>
            </a:r>
          </a:p>
          <a:p>
            <a:r>
              <a:rPr lang="en-US"/>
              <a:t/>
            </a:r>
          </a:p>
          <a:p>
            <a:r>
              <a:rPr lang="en-US"/>
              <a:t>Learning Outcomes:</a:t>
            </a:r>
          </a:p>
          <a:p>
            <a:r>
              <a:rPr lang="en-US"/>
              <a:t>By the end of this week, students will grasp the fundamentals of ethical hacking, legal boundaries, and frameworks, empowering them to engage confidently in ethical hacking practices.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 of Security:</a:t>
            </a:r>
          </a:p>
          <a:p>
            <a:r>
              <a:rPr lang="en-US"/>
              <a:t>Security professionals play a crucial role in protecting systems and data. They employ ethical hacking techniques to identify vulnerabilities, ensuring that organizations can defend against potential threats and attacks.</a:t>
            </a:r>
          </a:p>
          <a:p>
            <a:r>
              <a:rPr lang="en-US"/>
              <a:t/>
            </a:r>
          </a:p>
          <a:p>
            <a:r>
              <a:rPr lang="en-US"/>
              <a:t>Penetration Testing Methodologies:</a:t>
            </a:r>
          </a:p>
          <a:p>
            <a:r>
              <a:rPr lang="en-US"/>
              <a:t>Various methodologies guide penetration testing, including PTES, OWASP, and NIST. These frameworks provide structured approaches that enhance security assessments, helping organizations establish effective defenses against cyber threats.</a:t>
            </a:r>
          </a:p>
          <a:p>
            <a:r>
              <a:rPr lang="en-US"/>
              <a:t/>
            </a:r>
          </a:p>
          <a:p>
            <a:r>
              <a:rPr lang="en-US"/>
              <a:t>Categories of Penetration Tests:</a:t>
            </a:r>
          </a:p>
          <a:p>
            <a:r>
              <a:rPr lang="en-US"/>
              <a:t>Penetration tests can be categorized based on scope, such as black-box, white-box, and grey-box testing. Each category serves a unique purpose, ensuring comprehensive evaluation of security measures and vulnerabilities.</a:t>
            </a:r>
          </a:p>
          <a:p>
            <a:r>
              <a:rPr lang="en-US"/>
              <a:t/>
            </a:r>
          </a:p>
          <a:p>
            <a:r>
              <a:rPr lang="en-US"/>
              <a:t>Legal Framework:</a:t>
            </a:r>
          </a:p>
          <a:p>
            <a:r>
              <a:rPr lang="en-US"/>
              <a:t>Ethical hackers must navigate a complex legal framework, ensuring compliance with laws and regulations to avoid legal repercussions while conducting penetration tests and vulnerability assessments.</a:t>
            </a:r>
          </a:p>
          <a:p>
            <a:r>
              <a:rPr lang="en-US"/>
              <a:t/>
            </a:r>
          </a:p>
          <a:p>
            <a:r>
              <a:rPr lang="en-US"/>
              <a:t>Ethical Concerns:</a:t>
            </a:r>
          </a:p>
          <a:p>
            <a:r>
              <a:rPr lang="en-US"/>
              <a:t>Ethical considerations are paramount for penetration testers, as they must balance security practices with respect for privacy and integrity, ensuring that their actions do not harm individuals or organizations.</a:t>
            </a:r>
          </a:p>
          <a:p>
            <a:r>
              <a:rPr lang="en-US"/>
              <a:t/>
            </a:r>
          </a:p>
          <a:p>
            <a:r>
              <a:rPr lang="en-US"/>
              <a:t>Learning Outcomes:</a:t>
            </a:r>
          </a:p>
          <a:p>
            <a:r>
              <a:rPr lang="en-US"/>
              <a:t>By the end of this week, students will grasp the fundamentals of ethical hacking, legal boundaries, and frameworks, empowering them to engage confidently in ethical hacking practices.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 of Security:</a:t>
            </a:r>
          </a:p>
          <a:p>
            <a:r>
              <a:rPr lang="en-US"/>
              <a:t>Security professionals play a crucial role in protecting systems and data. They employ ethical hacking techniques to identify vulnerabilities, ensuring that organizations can defend against potential threats and attacks.</a:t>
            </a:r>
          </a:p>
          <a:p>
            <a:r>
              <a:rPr lang="en-US"/>
              <a:t/>
            </a:r>
          </a:p>
          <a:p>
            <a:r>
              <a:rPr lang="en-US"/>
              <a:t>Penetration Testing Methodologies:</a:t>
            </a:r>
          </a:p>
          <a:p>
            <a:r>
              <a:rPr lang="en-US"/>
              <a:t>Various methodologies guide penetration testing, including PTES, OWASP, and NIST. These frameworks provide structured approaches that enhance security assessments, helping organizations establish effective defenses against cyber threats.</a:t>
            </a:r>
          </a:p>
          <a:p>
            <a:r>
              <a:rPr lang="en-US"/>
              <a:t/>
            </a:r>
          </a:p>
          <a:p>
            <a:r>
              <a:rPr lang="en-US"/>
              <a:t>Categories of Penetration Tests:</a:t>
            </a:r>
          </a:p>
          <a:p>
            <a:r>
              <a:rPr lang="en-US"/>
              <a:t>Penetration tests can be categorized based on scope, such as black-box, white-box, and grey-box testing. Each category serves a unique purpose, ensuring comprehensive evaluation of security measures and vulnerabilities.</a:t>
            </a:r>
          </a:p>
          <a:p>
            <a:r>
              <a:rPr lang="en-US"/>
              <a:t/>
            </a:r>
          </a:p>
          <a:p>
            <a:r>
              <a:rPr lang="en-US"/>
              <a:t>Legal Framework:</a:t>
            </a:r>
          </a:p>
          <a:p>
            <a:r>
              <a:rPr lang="en-US"/>
              <a:t>Ethical hackers must navigate a complex legal framework, ensuring compliance with laws and regulations to avoid legal repercussions while conducting penetration tests and vulnerability assessments.</a:t>
            </a:r>
          </a:p>
          <a:p>
            <a:r>
              <a:rPr lang="en-US"/>
              <a:t/>
            </a:r>
          </a:p>
          <a:p>
            <a:r>
              <a:rPr lang="en-US"/>
              <a:t>Ethical Concerns:</a:t>
            </a:r>
          </a:p>
          <a:p>
            <a:r>
              <a:rPr lang="en-US"/>
              <a:t>Ethical considerations are paramount for penetration testers, as they must balance security practices with respect for privacy and integrity, ensuring that their actions do not harm individuals or organizations.</a:t>
            </a:r>
          </a:p>
          <a:p>
            <a:r>
              <a:rPr lang="en-US"/>
              <a:t/>
            </a:r>
          </a:p>
          <a:p>
            <a:r>
              <a:rPr lang="en-US"/>
              <a:t>Learning Outcomes:</a:t>
            </a:r>
          </a:p>
          <a:p>
            <a:r>
              <a:rPr lang="en-US"/>
              <a:t>By the end of this week, students will grasp the fundamentals of ethical hacking, legal boundaries, and frameworks, empowering them to engage confidently in ethical hacking practices.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 of Security:</a:t>
            </a:r>
          </a:p>
          <a:p>
            <a:r>
              <a:rPr lang="en-US"/>
              <a:t>Security professionals play a crucial role in protecting systems and data. They employ ethical hacking techniques to identify vulnerabilities, ensuring that organizations can defend against potential threats and attacks.</a:t>
            </a:r>
          </a:p>
          <a:p>
            <a:r>
              <a:rPr lang="en-US"/>
              <a:t/>
            </a:r>
          </a:p>
          <a:p>
            <a:r>
              <a:rPr lang="en-US"/>
              <a:t>Penetration Testing Methodologies:</a:t>
            </a:r>
          </a:p>
          <a:p>
            <a:r>
              <a:rPr lang="en-US"/>
              <a:t>Various methodologies guide penetration testing, including PTES, OWASP, and NIST. These frameworks provide structured approaches that enhance security assessments, helping organizations establish effective defenses against cyber threats.</a:t>
            </a:r>
          </a:p>
          <a:p>
            <a:r>
              <a:rPr lang="en-US"/>
              <a:t/>
            </a:r>
          </a:p>
          <a:p>
            <a:r>
              <a:rPr lang="en-US"/>
              <a:t>Categories of Penetration Tests:</a:t>
            </a:r>
          </a:p>
          <a:p>
            <a:r>
              <a:rPr lang="en-US"/>
              <a:t>Penetration tests can be categorized based on scope, such as black-box, white-box, and grey-box testing. Each category serves a unique purpose, ensuring comprehensive evaluation of security measures and vulnerabilities.</a:t>
            </a:r>
          </a:p>
          <a:p>
            <a:r>
              <a:rPr lang="en-US"/>
              <a:t/>
            </a:r>
          </a:p>
          <a:p>
            <a:r>
              <a:rPr lang="en-US"/>
              <a:t>Legal Framework:</a:t>
            </a:r>
          </a:p>
          <a:p>
            <a:r>
              <a:rPr lang="en-US"/>
              <a:t>Ethical hackers must navigate a complex legal framework, ensuring compliance with laws and regulations to avoid legal repercussions while conducting penetration tests and vulnerability assessments.</a:t>
            </a:r>
          </a:p>
          <a:p>
            <a:r>
              <a:rPr lang="en-US"/>
              <a:t/>
            </a:r>
          </a:p>
          <a:p>
            <a:r>
              <a:rPr lang="en-US"/>
              <a:t>Ethical Concerns:</a:t>
            </a:r>
          </a:p>
          <a:p>
            <a:r>
              <a:rPr lang="en-US"/>
              <a:t>Ethical considerations are paramount for penetration testers, as they must balance security practices with respect for privacy and integrity, ensuring that their actions do not harm individuals or organizations.</a:t>
            </a:r>
          </a:p>
          <a:p>
            <a:r>
              <a:rPr lang="en-US"/>
              <a:t/>
            </a:r>
          </a:p>
          <a:p>
            <a:r>
              <a:rPr lang="en-US"/>
              <a:t>Learning Outcomes:</a:t>
            </a:r>
          </a:p>
          <a:p>
            <a:r>
              <a:rPr lang="en-US"/>
              <a:t>By the end of this week, students will grasp the fundamentals of ethical hacking, legal boundaries, and frameworks, empowering them to engage confidently in ethical hacking practices.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 of Security:</a:t>
            </a:r>
          </a:p>
          <a:p>
            <a:r>
              <a:rPr lang="en-US"/>
              <a:t>Security professionals play a crucial role in protecting systems and data. They employ ethical hacking techniques to identify vulnerabilities, ensuring that organizations can defend against potential threats and attacks.</a:t>
            </a:r>
          </a:p>
          <a:p>
            <a:r>
              <a:rPr lang="en-US"/>
              <a:t/>
            </a:r>
          </a:p>
          <a:p>
            <a:r>
              <a:rPr lang="en-US"/>
              <a:t>Penetration Testing Methodologies:</a:t>
            </a:r>
          </a:p>
          <a:p>
            <a:r>
              <a:rPr lang="en-US"/>
              <a:t>Various methodologies guide penetration testing, including PTES, OWASP, and NIST. These frameworks provide structured approaches that enhance security assessments, helping organizations establish effective defenses against cyber threats.</a:t>
            </a:r>
          </a:p>
          <a:p>
            <a:r>
              <a:rPr lang="en-US"/>
              <a:t/>
            </a:r>
          </a:p>
          <a:p>
            <a:r>
              <a:rPr lang="en-US"/>
              <a:t>Categories of Penetration Tests:</a:t>
            </a:r>
          </a:p>
          <a:p>
            <a:r>
              <a:rPr lang="en-US"/>
              <a:t>Penetration tests can be categorized based on scope, such as black-box, white-box, and grey-box testing. Each category serves a unique purpose, ensuring comprehensive evaluation of security measures and vulnerabilities.</a:t>
            </a:r>
          </a:p>
          <a:p>
            <a:r>
              <a:rPr lang="en-US"/>
              <a:t/>
            </a:r>
          </a:p>
          <a:p>
            <a:r>
              <a:rPr lang="en-US"/>
              <a:t>Legal Framework:</a:t>
            </a:r>
          </a:p>
          <a:p>
            <a:r>
              <a:rPr lang="en-US"/>
              <a:t>Ethical hackers must navigate a complex legal framework, ensuring compliance with laws and regulations to avoid legal repercussions while conducting penetration tests and vulnerability assessments.</a:t>
            </a:r>
          </a:p>
          <a:p>
            <a:r>
              <a:rPr lang="en-US"/>
              <a:t/>
            </a:r>
          </a:p>
          <a:p>
            <a:r>
              <a:rPr lang="en-US"/>
              <a:t>Ethical Concerns:</a:t>
            </a:r>
          </a:p>
          <a:p>
            <a:r>
              <a:rPr lang="en-US"/>
              <a:t>Ethical considerations are paramount for penetration testers, as they must balance security practices with respect for privacy and integrity, ensuring that their actions do not harm individuals or organizations.</a:t>
            </a:r>
          </a:p>
          <a:p>
            <a:r>
              <a:rPr lang="en-US"/>
              <a:t/>
            </a:r>
          </a:p>
          <a:p>
            <a:r>
              <a:rPr lang="en-US"/>
              <a:t>Learning Outcomes:</a:t>
            </a:r>
          </a:p>
          <a:p>
            <a:r>
              <a:rPr lang="en-US"/>
              <a:t>By the end of this week, students will grasp the fundamentals of ethical hacking, legal boundaries, and frameworks, empowering them to engage confidently in ethical hacking practices.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 of Security:</a:t>
            </a:r>
          </a:p>
          <a:p>
            <a:r>
              <a:rPr lang="en-US"/>
              <a:t>Security professionals play a crucial role in protecting systems and data. They employ ethical hacking techniques to identify vulnerabilities, ensuring that organizations can defend against potential threats and attacks.</a:t>
            </a:r>
          </a:p>
          <a:p>
            <a:r>
              <a:rPr lang="en-US"/>
              <a:t/>
            </a:r>
          </a:p>
          <a:p>
            <a:r>
              <a:rPr lang="en-US"/>
              <a:t>Penetration Testing Methodologies:</a:t>
            </a:r>
          </a:p>
          <a:p>
            <a:r>
              <a:rPr lang="en-US"/>
              <a:t>Various methodologies guide penetration testing, including PTES, OWASP, and NIST. These frameworks provide structured approaches that enhance security assessments, helping organizations establish effective defenses against cyber threats.</a:t>
            </a:r>
          </a:p>
          <a:p>
            <a:r>
              <a:rPr lang="en-US"/>
              <a:t/>
            </a:r>
          </a:p>
          <a:p>
            <a:r>
              <a:rPr lang="en-US"/>
              <a:t>Categories of Penetration Tests:</a:t>
            </a:r>
          </a:p>
          <a:p>
            <a:r>
              <a:rPr lang="en-US"/>
              <a:t>Penetration tests can be categorized based on scope, such as black-box, white-box, and grey-box testing. Each category serves a unique purpose, ensuring comprehensive evaluation of security measures and vulnerabilities.</a:t>
            </a:r>
          </a:p>
          <a:p>
            <a:r>
              <a:rPr lang="en-US"/>
              <a:t/>
            </a:r>
          </a:p>
          <a:p>
            <a:r>
              <a:rPr lang="en-US"/>
              <a:t>Legal Framework:</a:t>
            </a:r>
          </a:p>
          <a:p>
            <a:r>
              <a:rPr lang="en-US"/>
              <a:t>Ethical hackers must navigate a complex legal framework, ensuring compliance with laws and regulations to avoid legal repercussions while conducting penetration tests and vulnerability assessments.</a:t>
            </a:r>
          </a:p>
          <a:p>
            <a:r>
              <a:rPr lang="en-US"/>
              <a:t/>
            </a:r>
          </a:p>
          <a:p>
            <a:r>
              <a:rPr lang="en-US"/>
              <a:t>Ethical Concerns:</a:t>
            </a:r>
          </a:p>
          <a:p>
            <a:r>
              <a:rPr lang="en-US"/>
              <a:t>Ethical considerations are paramount for penetration testers, as they must balance security practices with respect for privacy and integrity, ensuring that their actions do not harm individuals or organizations.</a:t>
            </a:r>
          </a:p>
          <a:p>
            <a:r>
              <a:rPr lang="en-US"/>
              <a:t/>
            </a:r>
          </a:p>
          <a:p>
            <a:r>
              <a:rPr lang="en-US"/>
              <a:t>Learning Outcomes:</a:t>
            </a:r>
          </a:p>
          <a:p>
            <a:r>
              <a:rPr lang="en-US"/>
              <a:t>By the end of this week, students will grasp the fundamentals of ethical hacking, legal boundaries, and frameworks, empowering them to engage confidently in ethical hacking practices.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 of Security:</a:t>
            </a:r>
          </a:p>
          <a:p>
            <a:r>
              <a:rPr lang="en-US"/>
              <a:t>Security professionals play a crucial role in protecting systems and data. They employ ethical hacking techniques to identify vulnerabilities, ensuring that organizations can defend against potential threats and attacks.</a:t>
            </a:r>
          </a:p>
          <a:p>
            <a:r>
              <a:rPr lang="en-US"/>
              <a:t/>
            </a:r>
          </a:p>
          <a:p>
            <a:r>
              <a:rPr lang="en-US"/>
              <a:t>Penetration Testing Methodologies:</a:t>
            </a:r>
          </a:p>
          <a:p>
            <a:r>
              <a:rPr lang="en-US"/>
              <a:t>Various methodologies guide penetration testing, including PTES, OWASP, and NIST. These frameworks provide structured approaches that enhance security assessments, helping organizations establish effective defenses against cyber threats.</a:t>
            </a:r>
          </a:p>
          <a:p>
            <a:r>
              <a:rPr lang="en-US"/>
              <a:t/>
            </a:r>
          </a:p>
          <a:p>
            <a:r>
              <a:rPr lang="en-US"/>
              <a:t>Categories of Penetration Tests:</a:t>
            </a:r>
          </a:p>
          <a:p>
            <a:r>
              <a:rPr lang="en-US"/>
              <a:t>Penetration tests can be categorized based on scope, such as black-box, white-box, and grey-box testing. Each category serves a unique purpose, ensuring comprehensive evaluation of security measures and vulnerabilities.</a:t>
            </a:r>
          </a:p>
          <a:p>
            <a:r>
              <a:rPr lang="en-US"/>
              <a:t/>
            </a:r>
          </a:p>
          <a:p>
            <a:r>
              <a:rPr lang="en-US"/>
              <a:t>Legal Framework:</a:t>
            </a:r>
          </a:p>
          <a:p>
            <a:r>
              <a:rPr lang="en-US"/>
              <a:t>Ethical hackers must navigate a complex legal framework, ensuring compliance with laws and regulations to avoid legal repercussions while conducting penetration tests and vulnerability assessments.</a:t>
            </a:r>
          </a:p>
          <a:p>
            <a:r>
              <a:rPr lang="en-US"/>
              <a:t/>
            </a:r>
          </a:p>
          <a:p>
            <a:r>
              <a:rPr lang="en-US"/>
              <a:t>Ethical Concerns:</a:t>
            </a:r>
          </a:p>
          <a:p>
            <a:r>
              <a:rPr lang="en-US"/>
              <a:t>Ethical considerations are paramount for penetration testers, as they must balance security practices with respect for privacy and integrity, ensuring that their actions do not harm individuals or organizations.</a:t>
            </a:r>
          </a:p>
          <a:p>
            <a:r>
              <a:rPr lang="en-US"/>
              <a:t/>
            </a:r>
          </a:p>
          <a:p>
            <a:r>
              <a:rPr lang="en-US"/>
              <a:t>Learning Outcomes:</a:t>
            </a:r>
          </a:p>
          <a:p>
            <a:r>
              <a:rPr lang="en-US"/>
              <a:t>By the end of this week, students will grasp the fundamentals of ethical hacking, legal boundaries, and frameworks, empowering them to engage confidently in ethical hacking practices.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 of Security:</a:t>
            </a:r>
          </a:p>
          <a:p>
            <a:r>
              <a:rPr lang="en-US"/>
              <a:t>Security professionals play a crucial role in protecting systems and data. They employ ethical hacking techniques to identify vulnerabilities, ensuring that organizations can defend against potential threats and attacks.</a:t>
            </a:r>
          </a:p>
          <a:p>
            <a:r>
              <a:rPr lang="en-US"/>
              <a:t/>
            </a:r>
          </a:p>
          <a:p>
            <a:r>
              <a:rPr lang="en-US"/>
              <a:t>Penetration Testing Methodologies:</a:t>
            </a:r>
          </a:p>
          <a:p>
            <a:r>
              <a:rPr lang="en-US"/>
              <a:t>Various methodologies guide penetration testing, including PTES, OWASP, and NIST. These frameworks provide structured approaches that enhance security assessments, helping organizations establish effective defenses against cyber threats.</a:t>
            </a:r>
          </a:p>
          <a:p>
            <a:r>
              <a:rPr lang="en-US"/>
              <a:t/>
            </a:r>
          </a:p>
          <a:p>
            <a:r>
              <a:rPr lang="en-US"/>
              <a:t>Categories of Penetration Tests:</a:t>
            </a:r>
          </a:p>
          <a:p>
            <a:r>
              <a:rPr lang="en-US"/>
              <a:t>Penetration tests can be categorized based on scope, such as black-box, white-box, and grey-box testing. Each category serves a unique purpose, ensuring comprehensive evaluation of security measures and vulnerabilities.</a:t>
            </a:r>
          </a:p>
          <a:p>
            <a:r>
              <a:rPr lang="en-US"/>
              <a:t/>
            </a:r>
          </a:p>
          <a:p>
            <a:r>
              <a:rPr lang="en-US"/>
              <a:t>Legal Framework:</a:t>
            </a:r>
          </a:p>
          <a:p>
            <a:r>
              <a:rPr lang="en-US"/>
              <a:t>Ethical hackers must navigate a complex legal framework, ensuring compliance with laws and regulations to avoid legal repercussions while conducting penetration tests and vulnerability assessments.</a:t>
            </a:r>
          </a:p>
          <a:p>
            <a:r>
              <a:rPr lang="en-US"/>
              <a:t/>
            </a:r>
          </a:p>
          <a:p>
            <a:r>
              <a:rPr lang="en-US"/>
              <a:t>Ethical Concerns:</a:t>
            </a:r>
          </a:p>
          <a:p>
            <a:r>
              <a:rPr lang="en-US"/>
              <a:t>Ethical considerations are paramount for penetration testers, as they must balance security practices with respect for privacy and integrity, ensuring that their actions do not harm individuals or organizations.</a:t>
            </a:r>
          </a:p>
          <a:p>
            <a:r>
              <a:rPr lang="en-US"/>
              <a:t/>
            </a:r>
          </a:p>
          <a:p>
            <a:r>
              <a:rPr lang="en-US"/>
              <a:t>Learning Outcomes:</a:t>
            </a:r>
          </a:p>
          <a:p>
            <a:r>
              <a:rPr lang="en-US"/>
              <a:t>By the end of this week, students will grasp the fundamentals of ethical hacking, legal boundaries, and frameworks, empowering them to engage confidently in ethical hacking practices.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 of Security:</a:t>
            </a:r>
          </a:p>
          <a:p>
            <a:r>
              <a:rPr lang="en-US"/>
              <a:t>Security professionals play a crucial role in protecting systems and data. They employ ethical hacking techniques to identify vulnerabilities, ensuring that organizations can defend against potential threats and attacks.</a:t>
            </a:r>
          </a:p>
          <a:p>
            <a:r>
              <a:rPr lang="en-US"/>
              <a:t/>
            </a:r>
          </a:p>
          <a:p>
            <a:r>
              <a:rPr lang="en-US"/>
              <a:t>Penetration Testing Methodologies:</a:t>
            </a:r>
          </a:p>
          <a:p>
            <a:r>
              <a:rPr lang="en-US"/>
              <a:t>Various methodologies guide penetration testing, including PTES, OWASP, and NIST. These frameworks provide structured approaches that enhance security assessments, helping organizations establish effective defenses against cyber threats.</a:t>
            </a:r>
          </a:p>
          <a:p>
            <a:r>
              <a:rPr lang="en-US"/>
              <a:t/>
            </a:r>
          </a:p>
          <a:p>
            <a:r>
              <a:rPr lang="en-US"/>
              <a:t>Categories of Penetration Tests:</a:t>
            </a:r>
          </a:p>
          <a:p>
            <a:r>
              <a:rPr lang="en-US"/>
              <a:t>Penetration tests can be categorized based on scope, such as black-box, white-box, and grey-box testing. Each category serves a unique purpose, ensuring comprehensive evaluation of security measures and vulnerabilities.</a:t>
            </a:r>
          </a:p>
          <a:p>
            <a:r>
              <a:rPr lang="en-US"/>
              <a:t/>
            </a:r>
          </a:p>
          <a:p>
            <a:r>
              <a:rPr lang="en-US"/>
              <a:t>Legal Framework:</a:t>
            </a:r>
          </a:p>
          <a:p>
            <a:r>
              <a:rPr lang="en-US"/>
              <a:t>Ethical hackers must navigate a complex legal framework, ensuring compliance with laws and regulations to avoid legal repercussions while conducting penetration tests and vulnerability assessments.</a:t>
            </a:r>
          </a:p>
          <a:p>
            <a:r>
              <a:rPr lang="en-US"/>
              <a:t/>
            </a:r>
          </a:p>
          <a:p>
            <a:r>
              <a:rPr lang="en-US"/>
              <a:t>Ethical Concerns:</a:t>
            </a:r>
          </a:p>
          <a:p>
            <a:r>
              <a:rPr lang="en-US"/>
              <a:t>Ethical considerations are paramount for penetration testers, as they must balance security practices with respect for privacy and integrity, ensuring that their actions do not harm individuals or organizations.</a:t>
            </a:r>
          </a:p>
          <a:p>
            <a:r>
              <a:rPr lang="en-US"/>
              <a:t/>
            </a:r>
          </a:p>
          <a:p>
            <a:r>
              <a:rPr lang="en-US"/>
              <a:t>Learning Outcomes:</a:t>
            </a:r>
          </a:p>
          <a:p>
            <a:r>
              <a:rPr lang="en-US"/>
              <a:t>By the end of this week, students will grasp the fundamentals of ethical hacking, legal boundaries, and frameworks, empowering them to engage confidently in ethical hacking practices.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 of Security:</a:t>
            </a:r>
          </a:p>
          <a:p>
            <a:r>
              <a:rPr lang="en-US"/>
              <a:t>Security professionals play a crucial role in protecting systems and data. They employ ethical hacking techniques to identify vulnerabilities, ensuring that organizations can defend against potential threats and attacks.</a:t>
            </a:r>
          </a:p>
          <a:p>
            <a:r>
              <a:rPr lang="en-US"/>
              <a:t/>
            </a:r>
          </a:p>
          <a:p>
            <a:r>
              <a:rPr lang="en-US"/>
              <a:t>Penetration Testing Methodologies:</a:t>
            </a:r>
          </a:p>
          <a:p>
            <a:r>
              <a:rPr lang="en-US"/>
              <a:t>Various methodologies guide penetration testing, including PTES, OWASP, and NIST. These frameworks provide structured approaches that enhance security assessments, helping organizations establish effective defenses against cyber threats.</a:t>
            </a:r>
          </a:p>
          <a:p>
            <a:r>
              <a:rPr lang="en-US"/>
              <a:t/>
            </a:r>
          </a:p>
          <a:p>
            <a:r>
              <a:rPr lang="en-US"/>
              <a:t>Categories of Penetration Tests:</a:t>
            </a:r>
          </a:p>
          <a:p>
            <a:r>
              <a:rPr lang="en-US"/>
              <a:t>Penetration tests can be categorized based on scope, such as black-box, white-box, and grey-box testing. Each category serves a unique purpose, ensuring comprehensive evaluation of security measures and vulnerabilities.</a:t>
            </a:r>
          </a:p>
          <a:p>
            <a:r>
              <a:rPr lang="en-US"/>
              <a:t/>
            </a:r>
          </a:p>
          <a:p>
            <a:r>
              <a:rPr lang="en-US"/>
              <a:t>Legal Framework:</a:t>
            </a:r>
          </a:p>
          <a:p>
            <a:r>
              <a:rPr lang="en-US"/>
              <a:t>Ethical hackers must navigate a complex legal framework, ensuring compliance with laws and regulations to avoid legal repercussions while conducting penetration tests and vulnerability assessments.</a:t>
            </a:r>
          </a:p>
          <a:p>
            <a:r>
              <a:rPr lang="en-US"/>
              <a:t/>
            </a:r>
          </a:p>
          <a:p>
            <a:r>
              <a:rPr lang="en-US"/>
              <a:t>Ethical Concerns:</a:t>
            </a:r>
          </a:p>
          <a:p>
            <a:r>
              <a:rPr lang="en-US"/>
              <a:t>Ethical considerations are paramount for penetration testers, as they must balance security practices with respect for privacy and integrity, ensuring that their actions do not harm individuals or organizations.</a:t>
            </a:r>
          </a:p>
          <a:p>
            <a:r>
              <a:rPr lang="en-US"/>
              <a:t/>
            </a:r>
          </a:p>
          <a:p>
            <a:r>
              <a:rPr lang="en-US"/>
              <a:t>Learning Outcomes:</a:t>
            </a:r>
          </a:p>
          <a:p>
            <a:r>
              <a:rPr lang="en-US"/>
              <a:t>By the end of this week, students will grasp the fundamentals of ethical hacking, legal boundaries, and frameworks, empowering them to engage confidently in ethical hacking practices.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 of Security:</a:t>
            </a:r>
          </a:p>
          <a:p>
            <a:r>
              <a:rPr lang="en-US"/>
              <a:t>Security professionals play a crucial role in protecting systems and data. They employ ethical hacking techniques to identify vulnerabilities, ensuring that organizations can defend against potential threats and attacks.</a:t>
            </a:r>
          </a:p>
          <a:p>
            <a:r>
              <a:rPr lang="en-US"/>
              <a:t/>
            </a:r>
          </a:p>
          <a:p>
            <a:r>
              <a:rPr lang="en-US"/>
              <a:t>Penetration Testing Methodologies:</a:t>
            </a:r>
          </a:p>
          <a:p>
            <a:r>
              <a:rPr lang="en-US"/>
              <a:t>Various methodologies guide penetration testing, including PTES, OWASP, and NIST. These frameworks provide structured approaches that enhance security assessments, helping organizations establish effective defenses against cyber threats.</a:t>
            </a:r>
          </a:p>
          <a:p>
            <a:r>
              <a:rPr lang="en-US"/>
              <a:t/>
            </a:r>
          </a:p>
          <a:p>
            <a:r>
              <a:rPr lang="en-US"/>
              <a:t>Categories of Penetration Tests:</a:t>
            </a:r>
          </a:p>
          <a:p>
            <a:r>
              <a:rPr lang="en-US"/>
              <a:t>Penetration tests can be categorized based on scope, such as black-box, white-box, and grey-box testing. Each category serves a unique purpose, ensuring comprehensive evaluation of security measures and vulnerabilities.</a:t>
            </a:r>
          </a:p>
          <a:p>
            <a:r>
              <a:rPr lang="en-US"/>
              <a:t/>
            </a:r>
          </a:p>
          <a:p>
            <a:r>
              <a:rPr lang="en-US"/>
              <a:t>Legal Framework:</a:t>
            </a:r>
          </a:p>
          <a:p>
            <a:r>
              <a:rPr lang="en-US"/>
              <a:t>Ethical hackers must navigate a complex legal framework, ensuring compliance with laws and regulations to avoid legal repercussions while conducting penetration tests and vulnerability assessments.</a:t>
            </a:r>
          </a:p>
          <a:p>
            <a:r>
              <a:rPr lang="en-US"/>
              <a:t/>
            </a:r>
          </a:p>
          <a:p>
            <a:r>
              <a:rPr lang="en-US"/>
              <a:t>Ethical Concerns:</a:t>
            </a:r>
          </a:p>
          <a:p>
            <a:r>
              <a:rPr lang="en-US"/>
              <a:t>Ethical considerations are paramount for penetration testers, as they must balance security practices with respect for privacy and integrity, ensuring that their actions do not harm individuals or organizations.</a:t>
            </a:r>
          </a:p>
          <a:p>
            <a:r>
              <a:rPr lang="en-US"/>
              <a:t/>
            </a:r>
          </a:p>
          <a:p>
            <a:r>
              <a:rPr lang="en-US"/>
              <a:t>Learning Outcomes:</a:t>
            </a:r>
          </a:p>
          <a:p>
            <a:r>
              <a:rPr lang="en-US"/>
              <a:t>By the end of this week, students will grasp the fundamentals of ethical hacking, legal boundaries, and frameworks, empowering them to engage confidently in ethical hacking practices.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 of Security:</a:t>
            </a:r>
          </a:p>
          <a:p>
            <a:r>
              <a:rPr lang="en-US"/>
              <a:t>Security professionals play a crucial role in protecting systems and data. They employ ethical hacking techniques to identify vulnerabilities, ensuring that organizations can defend against potential threats and attacks.</a:t>
            </a:r>
          </a:p>
          <a:p>
            <a:r>
              <a:rPr lang="en-US"/>
              <a:t/>
            </a:r>
          </a:p>
          <a:p>
            <a:r>
              <a:rPr lang="en-US"/>
              <a:t>Penetration Testing Methodologies:</a:t>
            </a:r>
          </a:p>
          <a:p>
            <a:r>
              <a:rPr lang="en-US"/>
              <a:t>Various methodologies guide penetration testing, including PTES, OWASP, and NIST. These frameworks provide structured approaches that enhance security assessments, helping organizations establish effective defenses against cyber threats.</a:t>
            </a:r>
          </a:p>
          <a:p>
            <a:r>
              <a:rPr lang="en-US"/>
              <a:t/>
            </a:r>
          </a:p>
          <a:p>
            <a:r>
              <a:rPr lang="en-US"/>
              <a:t>Categories of Penetration Tests:</a:t>
            </a:r>
          </a:p>
          <a:p>
            <a:r>
              <a:rPr lang="en-US"/>
              <a:t>Penetration tests can be categorized based on scope, such as black-box, white-box, and grey-box testing. Each category serves a unique purpose, ensuring comprehensive evaluation of security measures and vulnerabilities.</a:t>
            </a:r>
          </a:p>
          <a:p>
            <a:r>
              <a:rPr lang="en-US"/>
              <a:t/>
            </a:r>
          </a:p>
          <a:p>
            <a:r>
              <a:rPr lang="en-US"/>
              <a:t>Legal Framework:</a:t>
            </a:r>
          </a:p>
          <a:p>
            <a:r>
              <a:rPr lang="en-US"/>
              <a:t>Ethical hackers must navigate a complex legal framework, ensuring compliance with laws and regulations to avoid legal repercussions while conducting penetration tests and vulnerability assessments.</a:t>
            </a:r>
          </a:p>
          <a:p>
            <a:r>
              <a:rPr lang="en-US"/>
              <a:t/>
            </a:r>
          </a:p>
          <a:p>
            <a:r>
              <a:rPr lang="en-US"/>
              <a:t>Ethical Concerns:</a:t>
            </a:r>
          </a:p>
          <a:p>
            <a:r>
              <a:rPr lang="en-US"/>
              <a:t>Ethical considerations are paramount for penetration testers, as they must balance security practices with respect for privacy and integrity, ensuring that their actions do not harm individuals or organizations.</a:t>
            </a:r>
          </a:p>
          <a:p>
            <a:r>
              <a:rPr lang="en-US"/>
              <a:t/>
            </a:r>
          </a:p>
          <a:p>
            <a:r>
              <a:rPr lang="en-US"/>
              <a:t>Learning Outcomes:</a:t>
            </a:r>
          </a:p>
          <a:p>
            <a:r>
              <a:rPr lang="en-US"/>
              <a:t>By the end of this week, students will grasp the fundamentals of ethical hacking, legal boundaries, and frameworks, empowering them to engage confidently in ethical hacking practices.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 of Security:</a:t>
            </a:r>
          </a:p>
          <a:p>
            <a:r>
              <a:rPr lang="en-US"/>
              <a:t>Security professionals play a crucial role in protecting systems and data. They employ ethical hacking techniques to identify vulnerabilities, ensuring that organizations can defend against potential threats and attacks.</a:t>
            </a:r>
          </a:p>
          <a:p>
            <a:r>
              <a:rPr lang="en-US"/>
              <a:t/>
            </a:r>
          </a:p>
          <a:p>
            <a:r>
              <a:rPr lang="en-US"/>
              <a:t>Penetration Testing Methodologies:</a:t>
            </a:r>
          </a:p>
          <a:p>
            <a:r>
              <a:rPr lang="en-US"/>
              <a:t>Various methodologies guide penetration testing, including PTES, OWASP, and NIST. These frameworks provide structured approaches that enhance security assessments, helping organizations establish effective defenses against cyber threats.</a:t>
            </a:r>
          </a:p>
          <a:p>
            <a:r>
              <a:rPr lang="en-US"/>
              <a:t/>
            </a:r>
          </a:p>
          <a:p>
            <a:r>
              <a:rPr lang="en-US"/>
              <a:t>Categories of Penetration Tests:</a:t>
            </a:r>
          </a:p>
          <a:p>
            <a:r>
              <a:rPr lang="en-US"/>
              <a:t>Penetration tests can be categorized based on scope, such as black-box, white-box, and grey-box testing. Each category serves a unique purpose, ensuring comprehensive evaluation of security measures and vulnerabilities.</a:t>
            </a:r>
          </a:p>
          <a:p>
            <a:r>
              <a:rPr lang="en-US"/>
              <a:t/>
            </a:r>
          </a:p>
          <a:p>
            <a:r>
              <a:rPr lang="en-US"/>
              <a:t>Legal Framework:</a:t>
            </a:r>
          </a:p>
          <a:p>
            <a:r>
              <a:rPr lang="en-US"/>
              <a:t>Ethical hackers must navigate a complex legal framework, ensuring compliance with laws and regulations to avoid legal repercussions while conducting penetration tests and vulnerability assessments.</a:t>
            </a:r>
          </a:p>
          <a:p>
            <a:r>
              <a:rPr lang="en-US"/>
              <a:t/>
            </a:r>
          </a:p>
          <a:p>
            <a:r>
              <a:rPr lang="en-US"/>
              <a:t>Ethical Concerns:</a:t>
            </a:r>
          </a:p>
          <a:p>
            <a:r>
              <a:rPr lang="en-US"/>
              <a:t>Ethical considerations are paramount for penetration testers, as they must balance security practices with respect for privacy and integrity, ensuring that their actions do not harm individuals or organizations.</a:t>
            </a:r>
          </a:p>
          <a:p>
            <a:r>
              <a:rPr lang="en-US"/>
              <a:t/>
            </a:r>
          </a:p>
          <a:p>
            <a:r>
              <a:rPr lang="en-US"/>
              <a:t>Learning Outcomes:</a:t>
            </a:r>
          </a:p>
          <a:p>
            <a:r>
              <a:rPr lang="en-US"/>
              <a:t>By the end of this week, students will grasp the fundamentals of ethical hacking, legal boundaries, and frameworks, empowering them to engage confidently in ethical hacking practices.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 of Security:</a:t>
            </a:r>
          </a:p>
          <a:p>
            <a:r>
              <a:rPr lang="en-US"/>
              <a:t>Security professionals play a crucial role in protecting systems and data. They employ ethical hacking techniques to identify vulnerabilities, ensuring that organizations can defend against potential threats and attacks.</a:t>
            </a:r>
          </a:p>
          <a:p>
            <a:r>
              <a:rPr lang="en-US"/>
              <a:t/>
            </a:r>
          </a:p>
          <a:p>
            <a:r>
              <a:rPr lang="en-US"/>
              <a:t>Penetration Testing Methodologies:</a:t>
            </a:r>
          </a:p>
          <a:p>
            <a:r>
              <a:rPr lang="en-US"/>
              <a:t>Various methodologies guide penetration testing, including PTES, OWASP, and NIST. These frameworks provide structured approaches that enhance security assessments, helping organizations establish effective defenses against cyber threats.</a:t>
            </a:r>
          </a:p>
          <a:p>
            <a:r>
              <a:rPr lang="en-US"/>
              <a:t/>
            </a:r>
          </a:p>
          <a:p>
            <a:r>
              <a:rPr lang="en-US"/>
              <a:t>Categories of Penetration Tests:</a:t>
            </a:r>
          </a:p>
          <a:p>
            <a:r>
              <a:rPr lang="en-US"/>
              <a:t>Penetration tests can be categorized based on scope, such as black-box, white-box, and grey-box testing. Each category serves a unique purpose, ensuring comprehensive evaluation of security measures and vulnerabilities.</a:t>
            </a:r>
          </a:p>
          <a:p>
            <a:r>
              <a:rPr lang="en-US"/>
              <a:t/>
            </a:r>
          </a:p>
          <a:p>
            <a:r>
              <a:rPr lang="en-US"/>
              <a:t>Legal Framework:</a:t>
            </a:r>
          </a:p>
          <a:p>
            <a:r>
              <a:rPr lang="en-US"/>
              <a:t>Ethical hackers must navigate a complex legal framework, ensuring compliance with laws and regulations to avoid legal repercussions while conducting penetration tests and vulnerability assessments.</a:t>
            </a:r>
          </a:p>
          <a:p>
            <a:r>
              <a:rPr lang="en-US"/>
              <a:t/>
            </a:r>
          </a:p>
          <a:p>
            <a:r>
              <a:rPr lang="en-US"/>
              <a:t>Ethical Concerns:</a:t>
            </a:r>
          </a:p>
          <a:p>
            <a:r>
              <a:rPr lang="en-US"/>
              <a:t>Ethical considerations are paramount for penetration testers, as they must balance security practices with respect for privacy and integrity, ensuring that their actions do not harm individuals or organizations.</a:t>
            </a:r>
          </a:p>
          <a:p>
            <a:r>
              <a:rPr lang="en-US"/>
              <a:t/>
            </a:r>
          </a:p>
          <a:p>
            <a:r>
              <a:rPr lang="en-US"/>
              <a:t>Learning Outcomes:</a:t>
            </a:r>
          </a:p>
          <a:p>
            <a:r>
              <a:rPr lang="en-US"/>
              <a:t>By the end of this week, students will grasp the fundamentals of ethical hacking, legal boundaries, and frameworks, empowering them to engage confidently in ethical hacking practices.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 of Security:</a:t>
            </a:r>
          </a:p>
          <a:p>
            <a:r>
              <a:rPr lang="en-US"/>
              <a:t>Security professionals play a crucial role in protecting systems and data. They employ ethical hacking techniques to identify vulnerabilities, ensuring that organizations can defend against potential threats and attacks.</a:t>
            </a:r>
          </a:p>
          <a:p>
            <a:r>
              <a:rPr lang="en-US"/>
              <a:t/>
            </a:r>
          </a:p>
          <a:p>
            <a:r>
              <a:rPr lang="en-US"/>
              <a:t>Penetration Testing Methodologies:</a:t>
            </a:r>
          </a:p>
          <a:p>
            <a:r>
              <a:rPr lang="en-US"/>
              <a:t>Various methodologies guide penetration testing, including PTES, OWASP, and NIST. These frameworks provide structured approaches that enhance security assessments, helping organizations establish effective defenses against cyber threats.</a:t>
            </a:r>
          </a:p>
          <a:p>
            <a:r>
              <a:rPr lang="en-US"/>
              <a:t/>
            </a:r>
          </a:p>
          <a:p>
            <a:r>
              <a:rPr lang="en-US"/>
              <a:t>Categories of Penetration Tests:</a:t>
            </a:r>
          </a:p>
          <a:p>
            <a:r>
              <a:rPr lang="en-US"/>
              <a:t>Penetration tests can be categorized based on scope, such as black-box, white-box, and grey-box testing. Each category serves a unique purpose, ensuring comprehensive evaluation of security measures and vulnerabilities.</a:t>
            </a:r>
          </a:p>
          <a:p>
            <a:r>
              <a:rPr lang="en-US"/>
              <a:t/>
            </a:r>
          </a:p>
          <a:p>
            <a:r>
              <a:rPr lang="en-US"/>
              <a:t>Legal Framework:</a:t>
            </a:r>
          </a:p>
          <a:p>
            <a:r>
              <a:rPr lang="en-US"/>
              <a:t>Ethical hackers must navigate a complex legal framework, ensuring compliance with laws and regulations to avoid legal repercussions while conducting penetration tests and vulnerability assessments.</a:t>
            </a:r>
          </a:p>
          <a:p>
            <a:r>
              <a:rPr lang="en-US"/>
              <a:t/>
            </a:r>
          </a:p>
          <a:p>
            <a:r>
              <a:rPr lang="en-US"/>
              <a:t>Ethical Concerns:</a:t>
            </a:r>
          </a:p>
          <a:p>
            <a:r>
              <a:rPr lang="en-US"/>
              <a:t>Ethical considerations are paramount for penetration testers, as they must balance security practices with respect for privacy and integrity, ensuring that their actions do not harm individuals or organizations.</a:t>
            </a:r>
          </a:p>
          <a:p>
            <a:r>
              <a:rPr lang="en-US"/>
              <a:t/>
            </a:r>
          </a:p>
          <a:p>
            <a:r>
              <a:rPr lang="en-US"/>
              <a:t>Learning Outcomes:</a:t>
            </a:r>
          </a:p>
          <a:p>
            <a:r>
              <a:rPr lang="en-US"/>
              <a:t>By the end of this week, students will grasp the fundamentals of ethical hacking, legal boundaries, and frameworks, empowering them to engage confidently in ethical hacking practices.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 of Security:</a:t>
            </a:r>
          </a:p>
          <a:p>
            <a:r>
              <a:rPr lang="en-US"/>
              <a:t>Security professionals play a crucial role in protecting systems and data. They employ ethical hacking techniques to identify vulnerabilities, ensuring that organizations can defend against potential threats and attacks.</a:t>
            </a:r>
          </a:p>
          <a:p>
            <a:r>
              <a:rPr lang="en-US"/>
              <a:t/>
            </a:r>
          </a:p>
          <a:p>
            <a:r>
              <a:rPr lang="en-US"/>
              <a:t>Penetration Testing Methodologies:</a:t>
            </a:r>
          </a:p>
          <a:p>
            <a:r>
              <a:rPr lang="en-US"/>
              <a:t>Various methodologies guide penetration testing, including PTES, OWASP, and NIST. These frameworks provide structured approaches that enhance security assessments, helping organizations establish effective defenses against cyber threats.</a:t>
            </a:r>
          </a:p>
          <a:p>
            <a:r>
              <a:rPr lang="en-US"/>
              <a:t/>
            </a:r>
          </a:p>
          <a:p>
            <a:r>
              <a:rPr lang="en-US"/>
              <a:t>Categories of Penetration Tests:</a:t>
            </a:r>
          </a:p>
          <a:p>
            <a:r>
              <a:rPr lang="en-US"/>
              <a:t>Penetration tests can be categorized based on scope, such as black-box, white-box, and grey-box testing. Each category serves a unique purpose, ensuring comprehensive evaluation of security measures and vulnerabilities.</a:t>
            </a:r>
          </a:p>
          <a:p>
            <a:r>
              <a:rPr lang="en-US"/>
              <a:t/>
            </a:r>
          </a:p>
          <a:p>
            <a:r>
              <a:rPr lang="en-US"/>
              <a:t>Legal Framework:</a:t>
            </a:r>
          </a:p>
          <a:p>
            <a:r>
              <a:rPr lang="en-US"/>
              <a:t>Ethical hackers must navigate a complex legal framework, ensuring compliance with laws and regulations to avoid legal repercussions while conducting penetration tests and vulnerability assessments.</a:t>
            </a:r>
          </a:p>
          <a:p>
            <a:r>
              <a:rPr lang="en-US"/>
              <a:t/>
            </a:r>
          </a:p>
          <a:p>
            <a:r>
              <a:rPr lang="en-US"/>
              <a:t>Ethical Concerns:</a:t>
            </a:r>
          </a:p>
          <a:p>
            <a:r>
              <a:rPr lang="en-US"/>
              <a:t>Ethical considerations are paramount for penetration testers, as they must balance security practices with respect for privacy and integrity, ensuring that their actions do not harm individuals or organizations.</a:t>
            </a:r>
          </a:p>
          <a:p>
            <a:r>
              <a:rPr lang="en-US"/>
              <a:t/>
            </a:r>
          </a:p>
          <a:p>
            <a:r>
              <a:rPr lang="en-US"/>
              <a:t>Learning Outcomes:</a:t>
            </a:r>
          </a:p>
          <a:p>
            <a:r>
              <a:rPr lang="en-US"/>
              <a:t>By the end of this week, students will grasp the fundamentals of ethical hacking, legal boundaries, and frameworks, empowering them to engage confidently in ethical hacking practices.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 of Security:</a:t>
            </a:r>
          </a:p>
          <a:p>
            <a:r>
              <a:rPr lang="en-US"/>
              <a:t>Security professionals play a crucial role in protecting systems and data. They employ ethical hacking techniques to identify vulnerabilities, ensuring that organizations can defend against potential threats and attacks.</a:t>
            </a:r>
          </a:p>
          <a:p>
            <a:r>
              <a:rPr lang="en-US"/>
              <a:t/>
            </a:r>
          </a:p>
          <a:p>
            <a:r>
              <a:rPr lang="en-US"/>
              <a:t>Penetration Testing Methodologies:</a:t>
            </a:r>
          </a:p>
          <a:p>
            <a:r>
              <a:rPr lang="en-US"/>
              <a:t>Various methodologies guide penetration testing, including PTES, OWASP, and NIST. These frameworks provide structured approaches that enhance security assessments, helping organizations establish effective defenses against cyber threats.</a:t>
            </a:r>
          </a:p>
          <a:p>
            <a:r>
              <a:rPr lang="en-US"/>
              <a:t/>
            </a:r>
          </a:p>
          <a:p>
            <a:r>
              <a:rPr lang="en-US"/>
              <a:t>Categories of Penetration Tests:</a:t>
            </a:r>
          </a:p>
          <a:p>
            <a:r>
              <a:rPr lang="en-US"/>
              <a:t>Penetration tests can be categorized based on scope, such as black-box, white-box, and grey-box testing. Each category serves a unique purpose, ensuring comprehensive evaluation of security measures and vulnerabilities.</a:t>
            </a:r>
          </a:p>
          <a:p>
            <a:r>
              <a:rPr lang="en-US"/>
              <a:t/>
            </a:r>
          </a:p>
          <a:p>
            <a:r>
              <a:rPr lang="en-US"/>
              <a:t>Legal Framework:</a:t>
            </a:r>
          </a:p>
          <a:p>
            <a:r>
              <a:rPr lang="en-US"/>
              <a:t>Ethical hackers must navigate a complex legal framework, ensuring compliance with laws and regulations to avoid legal repercussions while conducting penetration tests and vulnerability assessments.</a:t>
            </a:r>
          </a:p>
          <a:p>
            <a:r>
              <a:rPr lang="en-US"/>
              <a:t/>
            </a:r>
          </a:p>
          <a:p>
            <a:r>
              <a:rPr lang="en-US"/>
              <a:t>Ethical Concerns:</a:t>
            </a:r>
          </a:p>
          <a:p>
            <a:r>
              <a:rPr lang="en-US"/>
              <a:t>Ethical considerations are paramount for penetration testers, as they must balance security practices with respect for privacy and integrity, ensuring that their actions do not harm individuals or organizations.</a:t>
            </a:r>
          </a:p>
          <a:p>
            <a:r>
              <a:rPr lang="en-US"/>
              <a:t/>
            </a:r>
          </a:p>
          <a:p>
            <a:r>
              <a:rPr lang="en-US"/>
              <a:t>Learning Outcomes:</a:t>
            </a:r>
          </a:p>
          <a:p>
            <a:r>
              <a:rPr lang="en-US"/>
              <a:t>By the end of this week, students will grasp the fundamentals of ethical hacking, legal boundaries, and frameworks, empowering them to engage confidently in ethical hacking practices.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 of Security:</a:t>
            </a:r>
          </a:p>
          <a:p>
            <a:r>
              <a:rPr lang="en-US"/>
              <a:t>Security professionals play a crucial role in protecting systems and data. They employ ethical hacking techniques to identify vulnerabilities, ensuring that organizations can defend against potential threats and attacks.</a:t>
            </a:r>
          </a:p>
          <a:p>
            <a:r>
              <a:rPr lang="en-US"/>
              <a:t/>
            </a:r>
          </a:p>
          <a:p>
            <a:r>
              <a:rPr lang="en-US"/>
              <a:t>Penetration Testing Methodologies:</a:t>
            </a:r>
          </a:p>
          <a:p>
            <a:r>
              <a:rPr lang="en-US"/>
              <a:t>Various methodologies guide penetration testing, including PTES, OWASP, and NIST. These frameworks provide structured approaches that enhance security assessments, helping organizations establish effective defenses against cyber threats.</a:t>
            </a:r>
          </a:p>
          <a:p>
            <a:r>
              <a:rPr lang="en-US"/>
              <a:t/>
            </a:r>
          </a:p>
          <a:p>
            <a:r>
              <a:rPr lang="en-US"/>
              <a:t>Categories of Penetration Tests:</a:t>
            </a:r>
          </a:p>
          <a:p>
            <a:r>
              <a:rPr lang="en-US"/>
              <a:t>Penetration tests can be categorized based on scope, such as black-box, white-box, and grey-box testing. Each category serves a unique purpose, ensuring comprehensive evaluation of security measures and vulnerabilities.</a:t>
            </a:r>
          </a:p>
          <a:p>
            <a:r>
              <a:rPr lang="en-US"/>
              <a:t/>
            </a:r>
          </a:p>
          <a:p>
            <a:r>
              <a:rPr lang="en-US"/>
              <a:t>Legal Framework:</a:t>
            </a:r>
          </a:p>
          <a:p>
            <a:r>
              <a:rPr lang="en-US"/>
              <a:t>Ethical hackers must navigate a complex legal framework, ensuring compliance with laws and regulations to avoid legal repercussions while conducting penetration tests and vulnerability assessments.</a:t>
            </a:r>
          </a:p>
          <a:p>
            <a:r>
              <a:rPr lang="en-US"/>
              <a:t/>
            </a:r>
          </a:p>
          <a:p>
            <a:r>
              <a:rPr lang="en-US"/>
              <a:t>Ethical Concerns:</a:t>
            </a:r>
          </a:p>
          <a:p>
            <a:r>
              <a:rPr lang="en-US"/>
              <a:t>Ethical considerations are paramount for penetration testers, as they must balance security practices with respect for privacy and integrity, ensuring that their actions do not harm individuals or organizations.</a:t>
            </a:r>
          </a:p>
          <a:p>
            <a:r>
              <a:rPr lang="en-US"/>
              <a:t/>
            </a:r>
          </a:p>
          <a:p>
            <a:r>
              <a:rPr lang="en-US"/>
              <a:t>Learning Outcomes:</a:t>
            </a:r>
          </a:p>
          <a:p>
            <a:r>
              <a:rPr lang="en-US"/>
              <a:t>By the end of this week, students will grasp the fundamentals of ethical hacking, legal boundaries, and frameworks, empowering them to engage confidently in ethical hacking practices.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 of Security:</a:t>
            </a:r>
          </a:p>
          <a:p>
            <a:r>
              <a:rPr lang="en-US"/>
              <a:t>Security professionals play a crucial role in protecting systems and data. They employ ethical hacking techniques to identify vulnerabilities, ensuring that organizations can defend against potential threats and attacks.</a:t>
            </a:r>
          </a:p>
          <a:p>
            <a:r>
              <a:rPr lang="en-US"/>
              <a:t/>
            </a:r>
          </a:p>
          <a:p>
            <a:r>
              <a:rPr lang="en-US"/>
              <a:t>Penetration Testing Methodologies:</a:t>
            </a:r>
          </a:p>
          <a:p>
            <a:r>
              <a:rPr lang="en-US"/>
              <a:t>Various methodologies guide penetration testing, including PTES, OWASP, and NIST. These frameworks provide structured approaches that enhance security assessments, helping organizations establish effective defenses against cyber threats.</a:t>
            </a:r>
          </a:p>
          <a:p>
            <a:r>
              <a:rPr lang="en-US"/>
              <a:t/>
            </a:r>
          </a:p>
          <a:p>
            <a:r>
              <a:rPr lang="en-US"/>
              <a:t>Categories of Penetration Tests:</a:t>
            </a:r>
          </a:p>
          <a:p>
            <a:r>
              <a:rPr lang="en-US"/>
              <a:t>Penetration tests can be categorized based on scope, such as black-box, white-box, and grey-box testing. Each category serves a unique purpose, ensuring comprehensive evaluation of security measures and vulnerabilities.</a:t>
            </a:r>
          </a:p>
          <a:p>
            <a:r>
              <a:rPr lang="en-US"/>
              <a:t/>
            </a:r>
          </a:p>
          <a:p>
            <a:r>
              <a:rPr lang="en-US"/>
              <a:t>Legal Framework:</a:t>
            </a:r>
          </a:p>
          <a:p>
            <a:r>
              <a:rPr lang="en-US"/>
              <a:t>Ethical hackers must navigate a complex legal framework, ensuring compliance with laws and regulations to avoid legal repercussions while conducting penetration tests and vulnerability assessments.</a:t>
            </a:r>
          </a:p>
          <a:p>
            <a:r>
              <a:rPr lang="en-US"/>
              <a:t/>
            </a:r>
          </a:p>
          <a:p>
            <a:r>
              <a:rPr lang="en-US"/>
              <a:t>Ethical Concerns:</a:t>
            </a:r>
          </a:p>
          <a:p>
            <a:r>
              <a:rPr lang="en-US"/>
              <a:t>Ethical considerations are paramount for penetration testers, as they must balance security practices with respect for privacy and integrity, ensuring that their actions do not harm individuals or organizations.</a:t>
            </a:r>
          </a:p>
          <a:p>
            <a:r>
              <a:rPr lang="en-US"/>
              <a:t/>
            </a:r>
          </a:p>
          <a:p>
            <a:r>
              <a:rPr lang="en-US"/>
              <a:t>Learning Outcomes:</a:t>
            </a:r>
          </a:p>
          <a:p>
            <a:r>
              <a:rPr lang="en-US"/>
              <a:t>By the end of this week, students will grasp the fundamentals of ethical hacking, legal boundaries, and frameworks, empowering them to engage confidently in ethical hacking practices.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9.pn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9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0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1.xml" Type="http://schemas.openxmlformats.org/officeDocument/2006/relationships/notesSlid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2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3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4.xml" Type="http://schemas.openxmlformats.org/officeDocument/2006/relationships/notesSlid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5.xml" Type="http://schemas.openxmlformats.org/officeDocument/2006/relationships/notesSlid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877675" y="0"/>
            <a:ext cx="6419850" cy="10287000"/>
            <a:chOff x="0" y="0"/>
            <a:chExt cx="994603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94603" cy="1593725"/>
            </a:xfrm>
            <a:custGeom>
              <a:avLst/>
              <a:gdLst/>
              <a:ahLst/>
              <a:cxnLst/>
              <a:rect r="r" b="b" t="t" l="l"/>
              <a:pathLst>
                <a:path h="1593725" w="994603">
                  <a:moveTo>
                    <a:pt x="0" y="0"/>
                  </a:moveTo>
                  <a:lnTo>
                    <a:pt x="994603" y="0"/>
                  </a:lnTo>
                  <a:lnTo>
                    <a:pt x="994603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-90559" t="0" r="-90559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962648" y="7828295"/>
            <a:ext cx="3328824" cy="1791955"/>
            <a:chOff x="0" y="0"/>
            <a:chExt cx="4438432" cy="2389273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2389273" cy="2389273"/>
              <a:chOff x="0" y="0"/>
              <a:chExt cx="812800" cy="8128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2049159" y="0"/>
              <a:ext cx="2389273" cy="2389273"/>
              <a:chOff x="0" y="0"/>
              <a:chExt cx="812800" cy="8128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1" id="11"/>
            <p:cNvSpPr/>
            <p:nvPr/>
          </p:nvSpPr>
          <p:spPr>
            <a:xfrm flipH="false" flipV="false" rot="0">
              <a:off x="213298" y="560447"/>
              <a:ext cx="1962677" cy="1268380"/>
            </a:xfrm>
            <a:custGeom>
              <a:avLst/>
              <a:gdLst/>
              <a:ahLst/>
              <a:cxnLst/>
              <a:rect r="r" b="b" t="t" l="l"/>
              <a:pathLst>
                <a:path h="1268380" w="1962677">
                  <a:moveTo>
                    <a:pt x="0" y="0"/>
                  </a:moveTo>
                  <a:lnTo>
                    <a:pt x="1962677" y="0"/>
                  </a:lnTo>
                  <a:lnTo>
                    <a:pt x="1962677" y="1268379"/>
                  </a:lnTo>
                  <a:lnTo>
                    <a:pt x="0" y="12683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2511374" y="462216"/>
              <a:ext cx="1464841" cy="1464841"/>
            </a:xfrm>
            <a:custGeom>
              <a:avLst/>
              <a:gdLst/>
              <a:ahLst/>
              <a:cxnLst/>
              <a:rect r="r" b="b" t="t" l="l"/>
              <a:pathLst>
                <a:path h="1464841" w="1464841">
                  <a:moveTo>
                    <a:pt x="0" y="0"/>
                  </a:moveTo>
                  <a:lnTo>
                    <a:pt x="1464842" y="0"/>
                  </a:lnTo>
                  <a:lnTo>
                    <a:pt x="1464842" y="1464841"/>
                  </a:lnTo>
                  <a:lnTo>
                    <a:pt x="0" y="1464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666750" y="1552575"/>
            <a:ext cx="11210925" cy="2797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999"/>
              </a:lnSpc>
            </a:pPr>
            <a:r>
              <a:rPr lang="en-US" sz="9999" spc="-299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Hacking Wireless Networks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66750" y="561975"/>
            <a:ext cx="9763125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MULTIMEDIA UNIVERSITY, MALAYSIA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63474" y="4634230"/>
            <a:ext cx="9763125" cy="604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CCS6324 - 2530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63474" y="4153534"/>
            <a:ext cx="9763125" cy="604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ETHICAL HACKING AND PENETRATION TESTING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63474" y="9181465"/>
            <a:ext cx="7194651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</a:pPr>
            <a:r>
              <a:rPr lang="en-US" sz="260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Dr. Hafiz Adnan Hussain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36367" y="399423"/>
            <a:ext cx="1437283" cy="773711"/>
            <a:chOff x="0" y="0"/>
            <a:chExt cx="1916377" cy="1031614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031614" cy="1031614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884763" y="0"/>
              <a:ext cx="1031614" cy="1031614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false" flipV="false" rot="0">
              <a:off x="92096" y="241984"/>
              <a:ext cx="847423" cy="547647"/>
            </a:xfrm>
            <a:custGeom>
              <a:avLst/>
              <a:gdLst/>
              <a:ahLst/>
              <a:cxnLst/>
              <a:rect r="r" b="b" t="t" l="l"/>
              <a:pathLst>
                <a:path h="547647" w="847423">
                  <a:moveTo>
                    <a:pt x="0" y="0"/>
                  </a:moveTo>
                  <a:lnTo>
                    <a:pt x="847422" y="0"/>
                  </a:lnTo>
                  <a:lnTo>
                    <a:pt x="847422" y="547647"/>
                  </a:lnTo>
                  <a:lnTo>
                    <a:pt x="0" y="5476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084334" y="199570"/>
              <a:ext cx="632473" cy="632473"/>
            </a:xfrm>
            <a:custGeom>
              <a:avLst/>
              <a:gdLst/>
              <a:ahLst/>
              <a:cxnLst/>
              <a:rect r="r" b="b" t="t" l="l"/>
              <a:pathLst>
                <a:path h="632473" w="632473">
                  <a:moveTo>
                    <a:pt x="0" y="0"/>
                  </a:moveTo>
                  <a:lnTo>
                    <a:pt x="632473" y="0"/>
                  </a:lnTo>
                  <a:lnTo>
                    <a:pt x="632473" y="632474"/>
                  </a:lnTo>
                  <a:lnTo>
                    <a:pt x="0" y="6324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666750" y="2132867"/>
            <a:ext cx="16592550" cy="6564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79" indent="-345439" lvl="1">
              <a:lnSpc>
                <a:spcPts val="4799"/>
              </a:lnSpc>
              <a:buFont typeface="Arial"/>
              <a:buChar char="•"/>
            </a:pPr>
            <a:r>
              <a:rPr lang="en-US" sz="3199" spc="-95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This course is designed to educate students on ethical hacking p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rinc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ples. The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kn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o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w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le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dge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and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echniques acqu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ed must be used respons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bl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y and n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o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fo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ny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llegal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o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 u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n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authorized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activiti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es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.</a:t>
            </a:r>
          </a:p>
          <a:p>
            <a:pPr algn="l" marL="690879" indent="-345439" lvl="1">
              <a:lnSpc>
                <a:spcPts val="4799"/>
              </a:lnSpc>
              <a:buFont typeface="Arial"/>
              <a:buChar char="•"/>
            </a:pP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Each s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ud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nt is solely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po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n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sibl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for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hei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tion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s.</a:t>
            </a:r>
          </a:p>
          <a:p>
            <a:pPr algn="l" marL="690879" indent="-345439" lvl="1">
              <a:lnSpc>
                <a:spcPts val="4799"/>
              </a:lnSpc>
              <a:buFont typeface="Arial"/>
              <a:buChar char="•"/>
            </a:pP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Do not inv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estig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 in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d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ividua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l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s, webs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es,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servers or conduct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a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ny ill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eg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al activit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ies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on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an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y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y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st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m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you do not have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p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er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miss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ion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to analyze.</a:t>
            </a:r>
          </a:p>
          <a:p>
            <a:pPr algn="l" marL="690879" indent="-345439" lvl="1">
              <a:lnSpc>
                <a:spcPts val="4799"/>
              </a:lnSpc>
              <a:buFont typeface="Arial"/>
              <a:buChar char="•"/>
            </a:pP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h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cour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 conten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ha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been deve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l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oped in good f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ait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h, d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awing from th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auth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o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r’s e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x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p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rience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and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repu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table so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urce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. Wh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le every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ffo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 h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 been made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to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e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ns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ure accuracy,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the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a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uthor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d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o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es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no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guarante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abso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l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ute correctness. Students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re e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n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courage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d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to ex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is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discretio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n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and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actively engage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n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dis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uss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o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ns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by r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isi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n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g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a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ny que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tions or conc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rns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d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u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ng th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cour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66750" y="371475"/>
            <a:ext cx="11201400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00"/>
              </a:lnSpc>
              <a:spcBef>
                <a:spcPct val="0"/>
              </a:spcBef>
            </a:pPr>
            <a:r>
              <a:rPr lang="en-US" sz="6000" spc="-179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DISC</a:t>
            </a:r>
            <a:r>
              <a:rPr lang="en-US" sz="6000" spc="-179" strike="noStrike" u="none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L</a:t>
            </a:r>
            <a:r>
              <a:rPr lang="en-US" sz="6000" spc="-179" strike="noStrike" u="none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AIMER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36367" y="399423"/>
            <a:ext cx="1437283" cy="773711"/>
            <a:chOff x="0" y="0"/>
            <a:chExt cx="1916377" cy="1031614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031614" cy="1031614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884763" y="0"/>
              <a:ext cx="1031614" cy="1031614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false" flipV="false" rot="0">
              <a:off x="92096" y="241984"/>
              <a:ext cx="847423" cy="547647"/>
            </a:xfrm>
            <a:custGeom>
              <a:avLst/>
              <a:gdLst/>
              <a:ahLst/>
              <a:cxnLst/>
              <a:rect r="r" b="b" t="t" l="l"/>
              <a:pathLst>
                <a:path h="547647" w="847423">
                  <a:moveTo>
                    <a:pt x="0" y="0"/>
                  </a:moveTo>
                  <a:lnTo>
                    <a:pt x="847422" y="0"/>
                  </a:lnTo>
                  <a:lnTo>
                    <a:pt x="847422" y="547647"/>
                  </a:lnTo>
                  <a:lnTo>
                    <a:pt x="0" y="5476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084334" y="199570"/>
              <a:ext cx="632473" cy="632473"/>
            </a:xfrm>
            <a:custGeom>
              <a:avLst/>
              <a:gdLst/>
              <a:ahLst/>
              <a:cxnLst/>
              <a:rect r="r" b="b" t="t" l="l"/>
              <a:pathLst>
                <a:path h="632473" w="632473">
                  <a:moveTo>
                    <a:pt x="0" y="0"/>
                  </a:moveTo>
                  <a:lnTo>
                    <a:pt x="632473" y="0"/>
                  </a:lnTo>
                  <a:lnTo>
                    <a:pt x="632473" y="632474"/>
                  </a:lnTo>
                  <a:lnTo>
                    <a:pt x="0" y="6324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666750" y="2513074"/>
            <a:ext cx="16954500" cy="4701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37" indent="-388618" lvl="1">
              <a:lnSpc>
                <a:spcPts val="5399"/>
              </a:lnSpc>
              <a:buFont typeface="Arial"/>
              <a:buChar char="•"/>
            </a:pPr>
            <a:r>
              <a:rPr lang="en-US" sz="3599" spc="-107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Wireless technology fundamentals and IEEE 802.11 standards</a:t>
            </a:r>
          </a:p>
          <a:p>
            <a:pPr algn="l" marL="777237" indent="-388618" lvl="1">
              <a:lnSpc>
                <a:spcPts val="5399"/>
              </a:lnSpc>
              <a:buFont typeface="Arial"/>
              <a:buChar char="•"/>
            </a:pPr>
            <a:r>
              <a:rPr lang="en-US" sz="3599" spc="-107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Evo</a:t>
            </a:r>
            <a:r>
              <a:rPr lang="en-US" sz="3599" spc="-107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lution of wireless security protocols (Wired Equivalent Privacy - WEP → WPA3)</a:t>
            </a:r>
          </a:p>
          <a:p>
            <a:pPr algn="l" marL="777237" indent="-388618" lvl="1">
              <a:lnSpc>
                <a:spcPts val="5399"/>
              </a:lnSpc>
              <a:buFont typeface="Arial"/>
              <a:buChar char="•"/>
            </a:pPr>
            <a:r>
              <a:rPr lang="en-US" sz="3599" spc="-107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Identify authentication and association processes in wireless networks</a:t>
            </a:r>
          </a:p>
          <a:p>
            <a:pPr algn="l" marL="777237" indent="-388618" lvl="1">
              <a:lnSpc>
                <a:spcPts val="5399"/>
              </a:lnSpc>
              <a:buFont typeface="Arial"/>
              <a:buChar char="•"/>
            </a:pPr>
            <a:r>
              <a:rPr lang="en-US" sz="3599" spc="-107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Demonstrate wirel</a:t>
            </a:r>
            <a:r>
              <a:rPr lang="en-US" sz="3599" spc="-107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ess reconnaissance and wardriving techniques</a:t>
            </a:r>
          </a:p>
          <a:p>
            <a:pPr algn="l" marL="777237" indent="-388618" lvl="1">
              <a:lnSpc>
                <a:spcPts val="5399"/>
              </a:lnSpc>
              <a:buFont typeface="Arial"/>
              <a:buChar char="•"/>
            </a:pPr>
            <a:r>
              <a:rPr lang="en-US" sz="3599" spc="-107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Execute wireless penetration testing attacks ethically</a:t>
            </a:r>
          </a:p>
          <a:p>
            <a:pPr algn="l" marL="777237" indent="-388618" lvl="1">
              <a:lnSpc>
                <a:spcPts val="5399"/>
              </a:lnSpc>
              <a:buFont typeface="Arial"/>
              <a:buChar char="•"/>
            </a:pPr>
            <a:r>
              <a:rPr lang="en-US" sz="3599" spc="-107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Design and implement wireless security countermeasures</a:t>
            </a:r>
          </a:p>
          <a:p>
            <a:pPr algn="l" marL="777237" indent="-388618" lvl="1">
              <a:lnSpc>
                <a:spcPts val="5399"/>
              </a:lnSpc>
              <a:buFont typeface="Arial"/>
              <a:buChar char="•"/>
            </a:pPr>
            <a:r>
              <a:rPr lang="en-US" sz="3599" spc="-107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Analyze real-world wireless breach case studies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66750" y="371475"/>
            <a:ext cx="11201400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00"/>
              </a:lnSpc>
              <a:spcBef>
                <a:spcPct val="0"/>
              </a:spcBef>
            </a:pPr>
            <a:r>
              <a:rPr lang="en-US" sz="6000" spc="-179" strike="noStrike" u="none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Learning Objectives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66750" y="1765686"/>
            <a:ext cx="12983782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99"/>
              </a:lnSpc>
              <a:spcBef>
                <a:spcPct val="0"/>
              </a:spcBef>
            </a:pPr>
            <a:r>
              <a:rPr lang="en-US" b="true" sz="3999" spc="-119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What</a:t>
            </a:r>
            <a:r>
              <a:rPr lang="en-US" b="true" sz="3999" spc="-119" strike="noStrike" u="non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 </a:t>
            </a:r>
            <a:r>
              <a:rPr lang="en-US" b="true" sz="3999" spc="-119" strike="noStrike" u="non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Y</a:t>
            </a:r>
            <a:r>
              <a:rPr lang="en-US" b="true" sz="3999" spc="-119" strike="noStrike" u="non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ou </a:t>
            </a:r>
            <a:r>
              <a:rPr lang="en-US" b="true" sz="3999" spc="-119" strike="noStrike" u="non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W</a:t>
            </a:r>
            <a:r>
              <a:rPr lang="en-US" b="true" sz="3999" spc="-119" strike="noStrike" u="non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i</a:t>
            </a:r>
            <a:r>
              <a:rPr lang="en-US" b="true" sz="3999" spc="-119" strike="noStrike" u="non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ll</a:t>
            </a:r>
            <a:r>
              <a:rPr lang="en-US" b="true" sz="3999" spc="-119" strike="noStrike" u="non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 </a:t>
            </a:r>
            <a:r>
              <a:rPr lang="en-US" b="true" sz="3999" spc="-119" strike="noStrike" u="non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L</a:t>
            </a:r>
            <a:r>
              <a:rPr lang="en-US" b="true" sz="3999" spc="-119" strike="noStrike" u="non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ea</a:t>
            </a:r>
            <a:r>
              <a:rPr lang="en-US" b="true" sz="3999" spc="-119" strike="noStrike" u="non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r</a:t>
            </a:r>
            <a:r>
              <a:rPr lang="en-US" b="true" sz="3999" spc="-119" strike="noStrike" u="non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n?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36367" y="399423"/>
            <a:ext cx="1437283" cy="773711"/>
            <a:chOff x="0" y="0"/>
            <a:chExt cx="1916377" cy="1031614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031614" cy="1031614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884763" y="0"/>
              <a:ext cx="1031614" cy="1031614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false" flipV="false" rot="0">
              <a:off x="92096" y="241984"/>
              <a:ext cx="847423" cy="547647"/>
            </a:xfrm>
            <a:custGeom>
              <a:avLst/>
              <a:gdLst/>
              <a:ahLst/>
              <a:cxnLst/>
              <a:rect r="r" b="b" t="t" l="l"/>
              <a:pathLst>
                <a:path h="547647" w="847423">
                  <a:moveTo>
                    <a:pt x="0" y="0"/>
                  </a:moveTo>
                  <a:lnTo>
                    <a:pt x="847422" y="0"/>
                  </a:lnTo>
                  <a:lnTo>
                    <a:pt x="847422" y="547647"/>
                  </a:lnTo>
                  <a:lnTo>
                    <a:pt x="0" y="5476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084334" y="199570"/>
              <a:ext cx="632473" cy="632473"/>
            </a:xfrm>
            <a:custGeom>
              <a:avLst/>
              <a:gdLst/>
              <a:ahLst/>
              <a:cxnLst/>
              <a:rect r="r" b="b" t="t" l="l"/>
              <a:pathLst>
                <a:path h="632473" w="632473">
                  <a:moveTo>
                    <a:pt x="0" y="0"/>
                  </a:moveTo>
                  <a:lnTo>
                    <a:pt x="632473" y="0"/>
                  </a:lnTo>
                  <a:lnTo>
                    <a:pt x="632473" y="632474"/>
                  </a:lnTo>
                  <a:lnTo>
                    <a:pt x="0" y="6324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666750" y="1820274"/>
            <a:ext cx="17106900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  <a:r>
              <a:rPr lang="en-US" sz="2600" spc="-78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Wireless technology enables communication without physical cable connections. In modern networks, wireless is ubiquitous.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66750" y="9099695"/>
            <a:ext cx="17106900" cy="882651"/>
            <a:chOff x="0" y="0"/>
            <a:chExt cx="4505470" cy="23247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505470" cy="232474"/>
            </a:xfrm>
            <a:custGeom>
              <a:avLst/>
              <a:gdLst/>
              <a:ahLst/>
              <a:cxnLst/>
              <a:rect r="r" b="b" t="t" l="l"/>
              <a:pathLst>
                <a:path h="232474" w="4505470">
                  <a:moveTo>
                    <a:pt x="4505470" y="9051"/>
                  </a:moveTo>
                  <a:lnTo>
                    <a:pt x="4505470" y="223422"/>
                  </a:lnTo>
                  <a:cubicBezTo>
                    <a:pt x="4505470" y="228421"/>
                    <a:pt x="4501417" y="232474"/>
                    <a:pt x="4496419" y="232474"/>
                  </a:cubicBezTo>
                  <a:lnTo>
                    <a:pt x="9051" y="232474"/>
                  </a:lnTo>
                  <a:cubicBezTo>
                    <a:pt x="4052" y="232474"/>
                    <a:pt x="0" y="228421"/>
                    <a:pt x="0" y="223422"/>
                  </a:cubicBezTo>
                  <a:lnTo>
                    <a:pt x="0" y="9051"/>
                  </a:lnTo>
                  <a:cubicBezTo>
                    <a:pt x="0" y="4052"/>
                    <a:pt x="4052" y="0"/>
                    <a:pt x="9051" y="0"/>
                  </a:cubicBezTo>
                  <a:lnTo>
                    <a:pt x="4496419" y="0"/>
                  </a:lnTo>
                  <a:cubicBezTo>
                    <a:pt x="4501417" y="0"/>
                    <a:pt x="4505470" y="4052"/>
                    <a:pt x="4505470" y="9051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4505470" cy="280098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>
                <a:lnSpc>
                  <a:spcPts val="3500"/>
                </a:lnSpc>
              </a:pPr>
              <a:r>
                <a:rPr lang="en-US" sz="2500" spc="-75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This module focuses on Wireless Local Area Networks (WLANs) using IEEE 802.11 standards, commonly known as Wi-Fi.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8743241" y="2480283"/>
            <a:ext cx="8925863" cy="6426621"/>
          </a:xfrm>
          <a:custGeom>
            <a:avLst/>
            <a:gdLst/>
            <a:ahLst/>
            <a:cxnLst/>
            <a:rect r="r" b="b" t="t" l="l"/>
            <a:pathLst>
              <a:path h="6426621" w="8925863">
                <a:moveTo>
                  <a:pt x="0" y="0"/>
                </a:moveTo>
                <a:lnTo>
                  <a:pt x="8925863" y="0"/>
                </a:lnTo>
                <a:lnTo>
                  <a:pt x="8925863" y="6426621"/>
                </a:lnTo>
                <a:lnTo>
                  <a:pt x="0" y="642662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666750" y="371475"/>
            <a:ext cx="16766773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00"/>
              </a:lnSpc>
            </a:pPr>
            <a:r>
              <a:rPr lang="en-US" sz="4800" spc="-144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Module 1: Wireless Technology Fundamentals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66750" y="2722337"/>
            <a:ext cx="7923874" cy="5461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 spc="-72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Wireless technology is part of our lives:</a:t>
            </a:r>
          </a:p>
          <a:p>
            <a:pPr algn="l" marL="518160" indent="-259080" lvl="1">
              <a:lnSpc>
                <a:spcPts val="3600"/>
              </a:lnSpc>
              <a:buFont typeface="Arial"/>
              <a:buChar char="•"/>
            </a:pPr>
            <a:r>
              <a:rPr lang="en-US" sz="2400" spc="-72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IoT devices (smart homes, sensors, baby monitors)</a:t>
            </a:r>
          </a:p>
          <a:p>
            <a:pPr algn="l" marL="518160" indent="-259080" lvl="1">
              <a:lnSpc>
                <a:spcPts val="3600"/>
              </a:lnSpc>
              <a:buFont typeface="Arial"/>
              <a:buChar char="•"/>
            </a:pPr>
            <a:r>
              <a:rPr lang="en-US" sz="2400" spc="-72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Enterprise access points</a:t>
            </a:r>
          </a:p>
          <a:p>
            <a:pPr algn="l" marL="518160" indent="-259080" lvl="1">
              <a:lnSpc>
                <a:spcPts val="3600"/>
              </a:lnSpc>
              <a:buFont typeface="Arial"/>
              <a:buChar char="•"/>
            </a:pPr>
            <a:r>
              <a:rPr lang="en-US" sz="2400" spc="-72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Keyless entry systems</a:t>
            </a:r>
          </a:p>
          <a:p>
            <a:pPr algn="l" marL="518160" indent="-259080" lvl="1">
              <a:lnSpc>
                <a:spcPts val="3600"/>
              </a:lnSpc>
              <a:buFont typeface="Arial"/>
              <a:buChar char="•"/>
            </a:pPr>
            <a:r>
              <a:rPr lang="en-US" sz="2400" spc="-72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Cellphones and mobile devices (smartphones, tablets)</a:t>
            </a:r>
          </a:p>
          <a:p>
            <a:pPr algn="l" marL="518160" indent="-259080" lvl="1">
              <a:lnSpc>
                <a:spcPts val="3600"/>
              </a:lnSpc>
              <a:buFont typeface="Arial"/>
              <a:buChar char="•"/>
            </a:pPr>
            <a:r>
              <a:rPr lang="en-US" sz="2400" spc="-72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GPS</a:t>
            </a:r>
          </a:p>
          <a:p>
            <a:pPr algn="l" marL="518160" indent="-259080" lvl="1">
              <a:lnSpc>
                <a:spcPts val="3600"/>
              </a:lnSpc>
              <a:buFont typeface="Arial"/>
              <a:buChar char="•"/>
            </a:pPr>
            <a:r>
              <a:rPr lang="en-US" sz="2400" spc="-72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Satellite communications</a:t>
            </a:r>
          </a:p>
          <a:p>
            <a:pPr algn="l" marL="518160" indent="-259080" lvl="1">
              <a:lnSpc>
                <a:spcPts val="3600"/>
              </a:lnSpc>
              <a:buFont typeface="Arial"/>
              <a:buChar char="•"/>
            </a:pPr>
            <a:r>
              <a:rPr lang="en-US" sz="2400" spc="-72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Cellular networks (4G/5G/6G)</a:t>
            </a:r>
          </a:p>
          <a:p>
            <a:pPr algn="l" marL="518160" indent="-259080" lvl="1">
              <a:lnSpc>
                <a:spcPts val="3600"/>
              </a:lnSpc>
              <a:buFont typeface="Arial"/>
              <a:buChar char="•"/>
            </a:pPr>
            <a:r>
              <a:rPr lang="en-US" sz="2400" spc="-72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Remote controls</a:t>
            </a:r>
          </a:p>
          <a:p>
            <a:pPr algn="l" marL="518160" indent="-259080" lvl="1">
              <a:lnSpc>
                <a:spcPts val="3600"/>
              </a:lnSpc>
              <a:buFont typeface="Arial"/>
              <a:buChar char="•"/>
            </a:pPr>
            <a:r>
              <a:rPr lang="en-US" sz="2400" spc="-72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Garage door openers</a:t>
            </a:r>
          </a:p>
          <a:p>
            <a:pPr algn="l" marL="518160" indent="-259080" lvl="1">
              <a:lnSpc>
                <a:spcPts val="3600"/>
              </a:lnSpc>
              <a:buFont typeface="Arial"/>
              <a:buChar char="•"/>
            </a:pPr>
            <a:r>
              <a:rPr lang="en-US" sz="2400" spc="-72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Two-way radios</a:t>
            </a:r>
          </a:p>
          <a:p>
            <a:pPr algn="l" marL="518160" indent="-259080" lvl="1">
              <a:lnSpc>
                <a:spcPts val="3600"/>
              </a:lnSpc>
              <a:buFont typeface="Arial"/>
              <a:buChar char="•"/>
            </a:pPr>
            <a:r>
              <a:rPr lang="en-US" sz="2400" spc="-72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Bluetooth speakers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66750" y="1179195"/>
            <a:ext cx="8306267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b="true" sz="2599" spc="-77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1.1 What is Wireless Technology?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1662341"/>
            <a:ext cx="17106900" cy="7107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Every wireless network requires three fundamental components:</a:t>
            </a:r>
          </a:p>
          <a:p>
            <a:pPr algn="l">
              <a:lnSpc>
                <a:spcPts val="3300"/>
              </a:lnSpc>
            </a:pP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Access Point (AP)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Acts as a transceiver (transmitter + receiver)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Connects to a wired Ethernet backbone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Creates a coverage area (cell)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Manages client associations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Bridges wireless clients to the wired LAN</a:t>
            </a:r>
          </a:p>
          <a:p>
            <a:pPr algn="l">
              <a:lnSpc>
                <a:spcPts val="3300"/>
              </a:lnSpc>
            </a:pP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Wireless Network Interface Card (WNIC)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Hardware adapter in client devices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Converts radio signals to digital data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Operates in different modes (managed, monitor, promiscuous)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Contains the MAC address for identification</a:t>
            </a:r>
          </a:p>
          <a:p>
            <a:pPr algn="l">
              <a:lnSpc>
                <a:spcPts val="3300"/>
              </a:lnSpc>
            </a:pP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Service Set Identifier (SSID)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Network name (1-32 alphanumeric characters, case-sensitive)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Broadcast by AP (can be hidden)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Used by clients to identify and connect to networks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Not a security measure despite the common misconception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8114796" y="2133221"/>
            <a:ext cx="3763216" cy="4113282"/>
          </a:xfrm>
          <a:custGeom>
            <a:avLst/>
            <a:gdLst/>
            <a:ahLst/>
            <a:cxnLst/>
            <a:rect r="r" b="b" t="t" l="l"/>
            <a:pathLst>
              <a:path h="4113282" w="3763216">
                <a:moveTo>
                  <a:pt x="0" y="0"/>
                </a:moveTo>
                <a:lnTo>
                  <a:pt x="3763216" y="0"/>
                </a:lnTo>
                <a:lnTo>
                  <a:pt x="3763216" y="4113282"/>
                </a:lnTo>
                <a:lnTo>
                  <a:pt x="0" y="41132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973017" y="6637772"/>
            <a:ext cx="8800633" cy="3300237"/>
          </a:xfrm>
          <a:custGeom>
            <a:avLst/>
            <a:gdLst/>
            <a:ahLst/>
            <a:cxnLst/>
            <a:rect r="r" b="b" t="t" l="l"/>
            <a:pathLst>
              <a:path h="3300237" w="8800633">
                <a:moveTo>
                  <a:pt x="0" y="0"/>
                </a:moveTo>
                <a:lnTo>
                  <a:pt x="8800633" y="0"/>
                </a:lnTo>
                <a:lnTo>
                  <a:pt x="8800633" y="3300237"/>
                </a:lnTo>
                <a:lnTo>
                  <a:pt x="0" y="3300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115984" y="2102491"/>
            <a:ext cx="5657666" cy="4284129"/>
          </a:xfrm>
          <a:custGeom>
            <a:avLst/>
            <a:gdLst/>
            <a:ahLst/>
            <a:cxnLst/>
            <a:rect r="r" b="b" t="t" l="l"/>
            <a:pathLst>
              <a:path h="4284129" w="5657666">
                <a:moveTo>
                  <a:pt x="0" y="0"/>
                </a:moveTo>
                <a:lnTo>
                  <a:pt x="5657666" y="0"/>
                </a:lnTo>
                <a:lnTo>
                  <a:pt x="5657666" y="4284129"/>
                </a:lnTo>
                <a:lnTo>
                  <a:pt x="0" y="42841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66750" y="371475"/>
            <a:ext cx="17106900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00"/>
              </a:lnSpc>
            </a:pPr>
            <a:r>
              <a:rPr lang="en-US" sz="4800" spc="-144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Module 1: Wireless Technology Fundamentals (Cont’d)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66750" y="1075010"/>
            <a:ext cx="8306267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b="true" sz="2599" spc="-77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1.2 Wireless Network Components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66750" y="2785701"/>
            <a:ext cx="7962680" cy="6847904"/>
          </a:xfrm>
          <a:custGeom>
            <a:avLst/>
            <a:gdLst/>
            <a:ahLst/>
            <a:cxnLst/>
            <a:rect r="r" b="b" t="t" l="l"/>
            <a:pathLst>
              <a:path h="6847904" w="7962680">
                <a:moveTo>
                  <a:pt x="0" y="0"/>
                </a:moveTo>
                <a:lnTo>
                  <a:pt x="7962680" y="0"/>
                </a:lnTo>
                <a:lnTo>
                  <a:pt x="7962680" y="6847904"/>
                </a:lnTo>
                <a:lnTo>
                  <a:pt x="0" y="68479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865314" y="2785701"/>
            <a:ext cx="8908336" cy="6847904"/>
          </a:xfrm>
          <a:custGeom>
            <a:avLst/>
            <a:gdLst/>
            <a:ahLst/>
            <a:cxnLst/>
            <a:rect r="r" b="b" t="t" l="l"/>
            <a:pathLst>
              <a:path h="6847904" w="8908336">
                <a:moveTo>
                  <a:pt x="0" y="0"/>
                </a:moveTo>
                <a:lnTo>
                  <a:pt x="8908336" y="0"/>
                </a:lnTo>
                <a:lnTo>
                  <a:pt x="8908336" y="6847904"/>
                </a:lnTo>
                <a:lnTo>
                  <a:pt x="0" y="68479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66750" y="371475"/>
            <a:ext cx="17106900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00"/>
              </a:lnSpc>
            </a:pPr>
            <a:r>
              <a:rPr lang="en-US" sz="4800" spc="-144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Module 1: Wireless Technology Fundamentals (Cont’d)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66750" y="1075010"/>
            <a:ext cx="8306267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b="true" sz="2599" spc="-77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Wireless Router &amp; Configuration Options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66750" y="1666914"/>
            <a:ext cx="17106900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  <a:r>
              <a:rPr lang="en-US" sz="2600" spc="-78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A wireless router includes an access point, a router, and a switch. Configuration options: change SSID, Wired Equivalent Privacy (WEP) encryption, WiFi Protected Access (WPA) is better, and Turn off SSID broadcast.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371475"/>
            <a:ext cx="17106900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00"/>
              </a:lnSpc>
            </a:pPr>
            <a:r>
              <a:rPr lang="en-US" sz="4800" spc="-144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Module 1: Wireless Technology Fundamentals (Cont’d)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6750" y="1662341"/>
            <a:ext cx="17106900" cy="4173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Open Mode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No authent</a:t>
            </a: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</a:t>
            </a: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cation required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AP accepts all association requests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Vulnerab</a:t>
            </a: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le to ea</a:t>
            </a: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v</a:t>
            </a: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</a:t>
            </a: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sdropping and unauthorized access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</a:t>
            </a: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till used in public spaces (cafes, airports)</a:t>
            </a:r>
          </a:p>
          <a:p>
            <a:pPr algn="l">
              <a:lnSpc>
                <a:spcPts val="3300"/>
              </a:lnSpc>
            </a:pP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Secur</a:t>
            </a: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e Mode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Requires authentication (c</a:t>
            </a: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re</a:t>
            </a: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d</a:t>
            </a: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</a:t>
            </a: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n</a:t>
            </a: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</a:t>
            </a: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ials,</a:t>
            </a: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</a:t>
            </a: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</a:t>
            </a: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</a:t>
            </a: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tifi</a:t>
            </a: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cat</a:t>
            </a: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</a:t>
            </a: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s,</a:t>
            </a: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or pre-shared key)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Implements encryption protocols (WEP, WPA, WPA2, WPA3)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Va</a:t>
            </a: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lidates device legitimacy before association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Recommended for all private networks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66750" y="1075010"/>
            <a:ext cx="8306267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b="true" sz="2599" spc="-77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1.3 Wireless Network Modes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371475"/>
            <a:ext cx="17106900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00"/>
              </a:lnSpc>
            </a:pPr>
            <a:r>
              <a:rPr lang="en-US" sz="4800" spc="-144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Module 1: Wireless Technology Fundamentals (Cont’d)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6750" y="1075010"/>
            <a:ext cx="8306267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b="true" sz="2599" spc="-77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1.4 Understanding Wireless Network Standards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66750" y="2786687"/>
            <a:ext cx="8306267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b="true" sz="2599" spc="-77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IEEE Standards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66750" y="1666914"/>
            <a:ext cx="17106900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  <a:r>
              <a:rPr lang="en-US" sz="2600" spc="-78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A standard is a set of rules formulated by an organization: Institute of Electrical and Electronics Engineers (IEEE), which defines several standards for wireless networks.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66750" y="3378590"/>
            <a:ext cx="9976632" cy="3124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spc="-78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Standards pass through these groups:</a:t>
            </a:r>
          </a:p>
          <a:p>
            <a:pPr algn="l" marL="561342" indent="-280671" lvl="1">
              <a:lnSpc>
                <a:spcPts val="3120"/>
              </a:lnSpc>
              <a:buFont typeface="Arial"/>
              <a:buChar char="•"/>
            </a:pPr>
            <a:r>
              <a:rPr lang="en-US" sz="2600" spc="-78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Working group (WG)</a:t>
            </a:r>
          </a:p>
          <a:p>
            <a:pPr algn="l" marL="561342" indent="-280671" lvl="1">
              <a:lnSpc>
                <a:spcPts val="3120"/>
              </a:lnSpc>
              <a:buFont typeface="Arial"/>
              <a:buChar char="•"/>
            </a:pPr>
            <a:r>
              <a:rPr lang="en-US" sz="2600" spc="-78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Sponsor Executive Committee (SEC)</a:t>
            </a:r>
          </a:p>
          <a:p>
            <a:pPr algn="l" marL="561342" indent="-280671" lvl="1">
              <a:lnSpc>
                <a:spcPts val="3120"/>
              </a:lnSpc>
              <a:buFont typeface="Arial"/>
              <a:buChar char="•"/>
            </a:pPr>
            <a:r>
              <a:rPr lang="en-US" sz="2600" spc="-78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Standards Review Committee (RevCom)</a:t>
            </a:r>
          </a:p>
          <a:p>
            <a:pPr algn="l" marL="561342" indent="-280671" lvl="1">
              <a:lnSpc>
                <a:spcPts val="3120"/>
              </a:lnSpc>
              <a:buFont typeface="Arial"/>
              <a:buChar char="•"/>
            </a:pPr>
            <a:r>
              <a:rPr lang="en-US" sz="2600" spc="-78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IEEE Standards Board</a:t>
            </a:r>
          </a:p>
          <a:p>
            <a:pPr algn="l">
              <a:lnSpc>
                <a:spcPts val="3120"/>
              </a:lnSpc>
            </a:pPr>
          </a:p>
          <a:p>
            <a:pPr algn="l">
              <a:lnSpc>
                <a:spcPts val="3120"/>
              </a:lnSpc>
            </a:pPr>
            <a:r>
              <a:rPr lang="en-US" sz="2600" spc="-78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IEEE Project 802 to create</a:t>
            </a:r>
          </a:p>
          <a:p>
            <a:pPr algn="l" marL="561342" indent="-280671" lvl="1">
              <a:lnSpc>
                <a:spcPts val="3120"/>
              </a:lnSpc>
              <a:buFont typeface="Arial"/>
              <a:buChar char="•"/>
            </a:pPr>
            <a:r>
              <a:rPr lang="en-US" sz="2600" spc="-78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LAN and WAN standards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371475"/>
            <a:ext cx="17106900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00"/>
              </a:lnSpc>
            </a:pPr>
            <a:r>
              <a:rPr lang="en-US" sz="4800" spc="-144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Module 1: Wireless Technology Fundamentals (Cont’d)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95325" y="7838551"/>
            <a:ext cx="16054609" cy="165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Current Frequency Bands: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2.4 GHz: 11 channels (overlap issues), worldwide availability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5 GHz: 23+ non-overlapping channels, less interference, shorter range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6 GHz (Wi-Fi 6E): 14+ channels, higher throughput, new regulations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66750" y="1075010"/>
            <a:ext cx="8306267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b="true" sz="2599" spc="-77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1.4 IEEE 802.11 Standards Overview</a:t>
            </a:r>
          </a:p>
        </p:txBody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695325" y="1827923"/>
          <a:ext cx="16026034" cy="5782028"/>
        </p:xfrm>
        <a:graphic>
          <a:graphicData uri="http://schemas.openxmlformats.org/drawingml/2006/table">
            <a:tbl>
              <a:tblPr/>
              <a:tblGrid>
                <a:gridCol w="3205207"/>
                <a:gridCol w="3205207"/>
                <a:gridCol w="3205207"/>
                <a:gridCol w="3205207"/>
                <a:gridCol w="3205207"/>
              </a:tblGrid>
              <a:tr h="543939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520"/>
                        </a:lnSpc>
                        <a:defRPr/>
                      </a:pPr>
                      <a:r>
                        <a:rPr lang="en-US" b="true" sz="18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Standard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520"/>
                        </a:lnSpc>
                        <a:defRPr/>
                      </a:pPr>
                      <a:r>
                        <a:rPr lang="en-US" b="true" sz="18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Release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520"/>
                        </a:lnSpc>
                        <a:defRPr/>
                      </a:pPr>
                      <a:r>
                        <a:rPr lang="en-US" b="true" sz="18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Frequency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520"/>
                        </a:lnSpc>
                        <a:defRPr/>
                      </a:pPr>
                      <a:r>
                        <a:rPr lang="en-US" b="true" sz="18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Speed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520"/>
                        </a:lnSpc>
                        <a:defRPr/>
                      </a:pPr>
                      <a:r>
                        <a:rPr lang="en-US" b="true" sz="18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Key Features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30042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520"/>
                        </a:lnSpc>
                        <a:defRPr/>
                      </a:pPr>
                      <a:r>
                        <a:rPr lang="en-US" b="true" sz="18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802.11a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1999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 GHz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54 Mbps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Less interference, shorter range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3939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520"/>
                        </a:lnSpc>
                        <a:defRPr/>
                      </a:pPr>
                      <a:r>
                        <a:rPr lang="en-US" b="true" sz="18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802.11b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1999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2.4 GHz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11 Mbps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Longer range, affordable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30042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520"/>
                        </a:lnSpc>
                        <a:defRPr/>
                      </a:pPr>
                      <a:r>
                        <a:rPr lang="en-US" b="true" sz="18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802.11g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2003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2.4 GHz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54 Mbps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Backward compatible with 11b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3939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520"/>
                        </a:lnSpc>
                        <a:defRPr/>
                      </a:pPr>
                      <a:r>
                        <a:rPr lang="en-US" b="true" sz="18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802.11n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2009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2.4/5 GHz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600 Mbps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MIMO, multiple antennas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30042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520"/>
                        </a:lnSpc>
                        <a:defRPr/>
                      </a:pPr>
                      <a:r>
                        <a:rPr lang="en-US" b="true" sz="18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802.11ac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2013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 GHz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1.3 Gbps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Wide bandwidth (80/160 MHz)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30042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520"/>
                        </a:lnSpc>
                        <a:defRPr/>
                      </a:pPr>
                      <a:r>
                        <a:rPr lang="en-US" b="true" sz="18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802.11ax (WiFi 6)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2019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2.4/5 GHz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9.6 Gbps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OFDMA, improved efficiency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30042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520"/>
                        </a:lnSpc>
                        <a:defRPr/>
                      </a:pPr>
                      <a:r>
                        <a:rPr lang="en-US" b="true" sz="18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802.11be (WiFi 7)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2024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2.4/5/6 GHz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46 Gbps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Multi-link operation, low latency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371475"/>
            <a:ext cx="17106900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00"/>
              </a:lnSpc>
            </a:pPr>
            <a:r>
              <a:rPr lang="en-US" sz="4800" spc="-144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Module 2: Wireless Authentication &amp; Association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95325" y="1744841"/>
            <a:ext cx="8448675" cy="4652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sz="2599" spc="-77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2.1 The Association Process</a:t>
            </a:r>
          </a:p>
          <a:p>
            <a:pPr algn="l">
              <a:lnSpc>
                <a:spcPts val="3300"/>
              </a:lnSpc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Before data transmission, clients must complete the association:</a:t>
            </a:r>
          </a:p>
          <a:p>
            <a:pPr algn="l" marL="474981" indent="-237491" lvl="1">
              <a:lnSpc>
                <a:spcPts val="3300"/>
              </a:lnSpc>
              <a:buAutoNum type="arabicPeriod" startAt="1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Scanning</a:t>
            </a: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Phase: Client searches for available networks (passive or active scan)</a:t>
            </a:r>
          </a:p>
          <a:p>
            <a:pPr algn="l" marL="474981" indent="-237491" lvl="1">
              <a:lnSpc>
                <a:spcPts val="3300"/>
              </a:lnSpc>
              <a:buAutoNum type="arabicPeriod" startAt="1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Authentication Frame: Client requests authentication using 802.11 authentication</a:t>
            </a:r>
          </a:p>
          <a:p>
            <a:pPr algn="l" marL="474981" indent="-237491" lvl="1">
              <a:lnSpc>
                <a:spcPts val="3300"/>
              </a:lnSpc>
              <a:buAutoNum type="arabicPeriod" startAt="1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Association Request: Client provides capabilities, supported rates</a:t>
            </a:r>
          </a:p>
          <a:p>
            <a:pPr algn="l" marL="474981" indent="-237491" lvl="1">
              <a:lnSpc>
                <a:spcPts val="3300"/>
              </a:lnSpc>
              <a:buAutoNum type="arabicPeriod" startAt="1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Assoc</a:t>
            </a: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iation Response: AP confirms association, assigns association ID</a:t>
            </a:r>
          </a:p>
          <a:p>
            <a:pPr algn="l" marL="474981" indent="-237491" lvl="1">
              <a:lnSpc>
                <a:spcPts val="3300"/>
              </a:lnSpc>
              <a:buAutoNum type="arabicPeriod" startAt="1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Security Handshake: 4-way handshake (WPA/WPA2) or direct connection (WEP/open)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379582" y="1744841"/>
            <a:ext cx="8394068" cy="5490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sz="2599" spc="-77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2.2 802.1X Port-Based Network Access Control</a:t>
            </a:r>
          </a:p>
          <a:p>
            <a:pPr algn="l">
              <a:lnSpc>
                <a:spcPts val="3300"/>
              </a:lnSpc>
            </a:pP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Concept:</a:t>
            </a: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All ports are blocked until authentication succeeds.</a:t>
            </a:r>
          </a:p>
          <a:p>
            <a:pPr algn="l">
              <a:lnSpc>
                <a:spcPts val="3300"/>
              </a:lnSpc>
            </a:pP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Components: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Supplicant: Client requesting network access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Authenticator: AP enforcing access control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Authentication Server: RADIUS server validating credentials</a:t>
            </a:r>
          </a:p>
          <a:p>
            <a:pPr algn="l">
              <a:lnSpc>
                <a:spcPts val="3300"/>
              </a:lnSpc>
            </a:pP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Process:</a:t>
            </a:r>
          </a:p>
          <a:p>
            <a:pPr algn="l" marL="474981" indent="-237491" lvl="1">
              <a:lnSpc>
                <a:spcPts val="3300"/>
              </a:lnSpc>
              <a:buAutoNum type="arabicPeriod" startAt="1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Client connects to AP (unauthenticated)</a:t>
            </a:r>
          </a:p>
          <a:p>
            <a:pPr algn="l" marL="474981" indent="-237491" lvl="1">
              <a:lnSpc>
                <a:spcPts val="3300"/>
              </a:lnSpc>
              <a:buAutoNum type="arabicPeriod" startAt="1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AP blocks non-EAP traffic</a:t>
            </a:r>
          </a:p>
          <a:p>
            <a:pPr algn="l" marL="474981" indent="-237491" lvl="1">
              <a:lnSpc>
                <a:spcPts val="3300"/>
              </a:lnSpc>
              <a:buAutoNum type="arabicPeriod" startAt="1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Client sends EAP identity</a:t>
            </a:r>
          </a:p>
          <a:p>
            <a:pPr algn="l" marL="474981" indent="-237491" lvl="1">
              <a:lnSpc>
                <a:spcPts val="3300"/>
              </a:lnSpc>
              <a:buAutoNum type="arabicPeriod" startAt="1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AP relays to the RADIUS server</a:t>
            </a:r>
          </a:p>
          <a:p>
            <a:pPr algn="l" marL="474981" indent="-237491" lvl="1">
              <a:lnSpc>
                <a:spcPts val="3300"/>
              </a:lnSpc>
              <a:buAutoNum type="arabicPeriod" startAt="1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Server validates credentials</a:t>
            </a:r>
          </a:p>
          <a:p>
            <a:pPr algn="l" marL="474981" indent="-237491" lvl="1">
              <a:lnSpc>
                <a:spcPts val="3300"/>
              </a:lnSpc>
              <a:buAutoNum type="arabicPeriod" startAt="1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Upon success, AP opens the port for the authenticated client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6336367" y="399423"/>
            <a:ext cx="1437283" cy="773711"/>
            <a:chOff x="0" y="0"/>
            <a:chExt cx="1916377" cy="1031614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031614" cy="1031614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884763" y="0"/>
              <a:ext cx="1031614" cy="1031614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0">
              <a:off x="92096" y="241984"/>
              <a:ext cx="847423" cy="547647"/>
            </a:xfrm>
            <a:custGeom>
              <a:avLst/>
              <a:gdLst/>
              <a:ahLst/>
              <a:cxnLst/>
              <a:rect r="r" b="b" t="t" l="l"/>
              <a:pathLst>
                <a:path h="547647" w="847423">
                  <a:moveTo>
                    <a:pt x="0" y="0"/>
                  </a:moveTo>
                  <a:lnTo>
                    <a:pt x="847422" y="0"/>
                  </a:lnTo>
                  <a:lnTo>
                    <a:pt x="847422" y="547647"/>
                  </a:lnTo>
                  <a:lnTo>
                    <a:pt x="0" y="5476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084334" y="199570"/>
              <a:ext cx="632473" cy="632473"/>
            </a:xfrm>
            <a:custGeom>
              <a:avLst/>
              <a:gdLst/>
              <a:ahLst/>
              <a:cxnLst/>
              <a:rect r="r" b="b" t="t" l="l"/>
              <a:pathLst>
                <a:path h="632473" w="632473">
                  <a:moveTo>
                    <a:pt x="0" y="0"/>
                  </a:moveTo>
                  <a:lnTo>
                    <a:pt x="632473" y="0"/>
                  </a:lnTo>
                  <a:lnTo>
                    <a:pt x="632473" y="632474"/>
                  </a:lnTo>
                  <a:lnTo>
                    <a:pt x="0" y="6324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66750" y="9028075"/>
            <a:ext cx="16954500" cy="861061"/>
            <a:chOff x="0" y="0"/>
            <a:chExt cx="4465332" cy="22678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465332" cy="226787"/>
            </a:xfrm>
            <a:custGeom>
              <a:avLst/>
              <a:gdLst/>
              <a:ahLst/>
              <a:cxnLst/>
              <a:rect r="r" b="b" t="t" l="l"/>
              <a:pathLst>
                <a:path h="226787" w="4465332">
                  <a:moveTo>
                    <a:pt x="4465332" y="9133"/>
                  </a:moveTo>
                  <a:lnTo>
                    <a:pt x="4465332" y="217655"/>
                  </a:lnTo>
                  <a:cubicBezTo>
                    <a:pt x="4465332" y="220077"/>
                    <a:pt x="4464370" y="222400"/>
                    <a:pt x="4462657" y="224112"/>
                  </a:cubicBezTo>
                  <a:cubicBezTo>
                    <a:pt x="4460944" y="225825"/>
                    <a:pt x="4458622" y="226787"/>
                    <a:pt x="4456200" y="226787"/>
                  </a:cubicBezTo>
                  <a:lnTo>
                    <a:pt x="9133" y="226787"/>
                  </a:lnTo>
                  <a:cubicBezTo>
                    <a:pt x="6710" y="226787"/>
                    <a:pt x="4388" y="225825"/>
                    <a:pt x="2675" y="224112"/>
                  </a:cubicBezTo>
                  <a:cubicBezTo>
                    <a:pt x="962" y="222400"/>
                    <a:pt x="0" y="220077"/>
                    <a:pt x="0" y="217655"/>
                  </a:cubicBezTo>
                  <a:lnTo>
                    <a:pt x="0" y="9133"/>
                  </a:lnTo>
                  <a:cubicBezTo>
                    <a:pt x="0" y="6710"/>
                    <a:pt x="962" y="4388"/>
                    <a:pt x="2675" y="2675"/>
                  </a:cubicBezTo>
                  <a:cubicBezTo>
                    <a:pt x="4388" y="962"/>
                    <a:pt x="6710" y="0"/>
                    <a:pt x="9133" y="0"/>
                  </a:cubicBezTo>
                  <a:lnTo>
                    <a:pt x="4456200" y="0"/>
                  </a:lnTo>
                  <a:cubicBezTo>
                    <a:pt x="4458622" y="0"/>
                    <a:pt x="4460944" y="962"/>
                    <a:pt x="4462657" y="2675"/>
                  </a:cubicBezTo>
                  <a:cubicBezTo>
                    <a:pt x="4464370" y="4388"/>
                    <a:pt x="4465332" y="6710"/>
                    <a:pt x="4465332" y="9133"/>
                  </a:cubicBezTo>
                  <a:close/>
                </a:path>
              </a:pathLst>
            </a:custGeom>
            <a:solidFill>
              <a:srgbClr val="301445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4465332" cy="264887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>
                <a:lnSpc>
                  <a:spcPts val="3360"/>
                </a:lnSpc>
              </a:pPr>
              <a:r>
                <a:rPr lang="en-US" sz="2400" spc="-72" b="true">
                  <a:solidFill>
                    <a:srgbClr val="FFFFFF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Advantages: </a:t>
              </a:r>
              <a:r>
                <a:rPr lang="en-US" sz="2400" spc="-72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Centralized authentication, certificate support, mutual authentication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371475"/>
            <a:ext cx="17106900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00"/>
              </a:lnSpc>
            </a:pPr>
            <a:r>
              <a:rPr lang="en-US" sz="4800" spc="-144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Module 3: Wireless Security Protocols Evolution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6750" y="1623495"/>
            <a:ext cx="8354442" cy="6764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Introduced: </a:t>
            </a: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1999 (IEEE 802.11b)</a:t>
            </a:r>
          </a:p>
          <a:p>
            <a:pPr algn="l">
              <a:lnSpc>
                <a:spcPts val="3300"/>
              </a:lnSpc>
            </a:pP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Status: </a:t>
            </a: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Completely broken, must not be used</a:t>
            </a:r>
          </a:p>
          <a:p>
            <a:pPr algn="l">
              <a:lnSpc>
                <a:spcPts val="3300"/>
              </a:lnSpc>
            </a:pP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Design Intent:</a:t>
            </a: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Match the security of wired networks</a:t>
            </a:r>
          </a:p>
          <a:p>
            <a:pPr algn="l">
              <a:lnSpc>
                <a:spcPts val="3600"/>
              </a:lnSpc>
            </a:pPr>
            <a:r>
              <a:rPr lang="en-US" sz="2400" spc="-72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Technical Details: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Encryption: RC4 stream cipher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Key Size: 40-bit or 104-bit (plus 24-bit IV)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IV (Initialization Vector): 24-bit, sent in plaintext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Authentication: Shared key authentication (optional)</a:t>
            </a:r>
          </a:p>
          <a:p>
            <a:pPr algn="l">
              <a:lnSpc>
                <a:spcPts val="3300"/>
              </a:lnSpc>
            </a:pPr>
          </a:p>
          <a:p>
            <a:pPr algn="l">
              <a:lnSpc>
                <a:spcPts val="3600"/>
              </a:lnSpc>
            </a:pPr>
            <a:r>
              <a:rPr lang="en-US" sz="2400" spc="-72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Critical Vulnerabilities:</a:t>
            </a:r>
          </a:p>
          <a:p>
            <a:pPr algn="l">
              <a:lnSpc>
                <a:spcPts val="3300"/>
              </a:lnSpc>
            </a:pP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IV Reuse Weakness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After ~2^12 packets (4,096), IV typically repeats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When IV repeats with the same key, an identical keystream is generated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An attacker can XOR two ciphertexts to eliminate the key and recover the plaintext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220200" y="1623495"/>
            <a:ext cx="8394068" cy="6303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 spc="-72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Critical Vulnerabilities (Cont’d):</a:t>
            </a:r>
          </a:p>
          <a:p>
            <a:pPr algn="l">
              <a:lnSpc>
                <a:spcPts val="3300"/>
              </a:lnSpc>
            </a:pP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RC4 Weakness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Stream cipher reuse compromises security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Biased keystream generation in RC4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Can recover the key from sufficient keystream samples</a:t>
            </a:r>
          </a:p>
          <a:p>
            <a:pPr algn="l">
              <a:lnSpc>
                <a:spcPts val="3300"/>
              </a:lnSpc>
            </a:pP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ARP Replay Attack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Attacker captures ARP packets (broadcast, predictable)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Injects forged ARP requests repeatedly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Forces AP to respond with encrypted ARP replies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Quickly exhausts IV space (64K packets = ~1 minute)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The a</a:t>
            </a: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ttacker collects enough different IVs to crack the WEP key</a:t>
            </a:r>
          </a:p>
          <a:p>
            <a:pPr algn="l">
              <a:lnSpc>
                <a:spcPts val="3300"/>
              </a:lnSpc>
            </a:pP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Lack of Integrity Protection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An attacker can flip bits in encrypted packets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CRC-32 checksum is linear (attacker can adjust the checksum)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Enables packet injection attacks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6336367" y="399423"/>
            <a:ext cx="1437283" cy="773711"/>
            <a:chOff x="0" y="0"/>
            <a:chExt cx="1916377" cy="1031614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031614" cy="1031614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884763" y="0"/>
              <a:ext cx="1031614" cy="1031614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0">
              <a:off x="92096" y="241984"/>
              <a:ext cx="847423" cy="547647"/>
            </a:xfrm>
            <a:custGeom>
              <a:avLst/>
              <a:gdLst/>
              <a:ahLst/>
              <a:cxnLst/>
              <a:rect r="r" b="b" t="t" l="l"/>
              <a:pathLst>
                <a:path h="547647" w="847423">
                  <a:moveTo>
                    <a:pt x="0" y="0"/>
                  </a:moveTo>
                  <a:lnTo>
                    <a:pt x="847422" y="0"/>
                  </a:lnTo>
                  <a:lnTo>
                    <a:pt x="847422" y="547647"/>
                  </a:lnTo>
                  <a:lnTo>
                    <a:pt x="0" y="5476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084334" y="199570"/>
              <a:ext cx="632473" cy="632473"/>
            </a:xfrm>
            <a:custGeom>
              <a:avLst/>
              <a:gdLst/>
              <a:ahLst/>
              <a:cxnLst/>
              <a:rect r="r" b="b" t="t" l="l"/>
              <a:pathLst>
                <a:path h="632473" w="632473">
                  <a:moveTo>
                    <a:pt x="0" y="0"/>
                  </a:moveTo>
                  <a:lnTo>
                    <a:pt x="632473" y="0"/>
                  </a:lnTo>
                  <a:lnTo>
                    <a:pt x="632473" y="632474"/>
                  </a:lnTo>
                  <a:lnTo>
                    <a:pt x="0" y="6324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66750" y="9028075"/>
            <a:ext cx="16954500" cy="861061"/>
            <a:chOff x="0" y="0"/>
            <a:chExt cx="4465332" cy="22678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465332" cy="226787"/>
            </a:xfrm>
            <a:custGeom>
              <a:avLst/>
              <a:gdLst/>
              <a:ahLst/>
              <a:cxnLst/>
              <a:rect r="r" b="b" t="t" l="l"/>
              <a:pathLst>
                <a:path h="226787" w="4465332">
                  <a:moveTo>
                    <a:pt x="4465332" y="9133"/>
                  </a:moveTo>
                  <a:lnTo>
                    <a:pt x="4465332" y="217655"/>
                  </a:lnTo>
                  <a:cubicBezTo>
                    <a:pt x="4465332" y="220077"/>
                    <a:pt x="4464370" y="222400"/>
                    <a:pt x="4462657" y="224112"/>
                  </a:cubicBezTo>
                  <a:cubicBezTo>
                    <a:pt x="4460944" y="225825"/>
                    <a:pt x="4458622" y="226787"/>
                    <a:pt x="4456200" y="226787"/>
                  </a:cubicBezTo>
                  <a:lnTo>
                    <a:pt x="9133" y="226787"/>
                  </a:lnTo>
                  <a:cubicBezTo>
                    <a:pt x="6710" y="226787"/>
                    <a:pt x="4388" y="225825"/>
                    <a:pt x="2675" y="224112"/>
                  </a:cubicBezTo>
                  <a:cubicBezTo>
                    <a:pt x="962" y="222400"/>
                    <a:pt x="0" y="220077"/>
                    <a:pt x="0" y="217655"/>
                  </a:cubicBezTo>
                  <a:lnTo>
                    <a:pt x="0" y="9133"/>
                  </a:lnTo>
                  <a:cubicBezTo>
                    <a:pt x="0" y="6710"/>
                    <a:pt x="962" y="4388"/>
                    <a:pt x="2675" y="2675"/>
                  </a:cubicBezTo>
                  <a:cubicBezTo>
                    <a:pt x="4388" y="962"/>
                    <a:pt x="6710" y="0"/>
                    <a:pt x="9133" y="0"/>
                  </a:cubicBezTo>
                  <a:lnTo>
                    <a:pt x="4456200" y="0"/>
                  </a:lnTo>
                  <a:cubicBezTo>
                    <a:pt x="4458622" y="0"/>
                    <a:pt x="4460944" y="962"/>
                    <a:pt x="4462657" y="2675"/>
                  </a:cubicBezTo>
                  <a:cubicBezTo>
                    <a:pt x="4464370" y="4388"/>
                    <a:pt x="4465332" y="6710"/>
                    <a:pt x="4465332" y="9133"/>
                  </a:cubicBezTo>
                  <a:close/>
                </a:path>
              </a:pathLst>
            </a:custGeom>
            <a:solidFill>
              <a:srgbClr val="301445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4465332" cy="264887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>
                <a:lnSpc>
                  <a:spcPts val="3360"/>
                </a:lnSpc>
              </a:pPr>
              <a:r>
                <a:rPr lang="en-US" sz="2400" spc="-72" b="true">
                  <a:solidFill>
                    <a:srgbClr val="FFFFFF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Cracking Time: </a:t>
              </a:r>
              <a:r>
                <a:rPr lang="en-US" sz="2400" spc="-72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Modern tools crack WEP in minutes with moderate traffic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666750" y="1075010"/>
            <a:ext cx="8306267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b="true" sz="2599" spc="-77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3.1 Wired Equivalent Privacy (WEP) - DEPRECATED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371475"/>
            <a:ext cx="17106900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00"/>
              </a:lnSpc>
            </a:pPr>
            <a:r>
              <a:rPr lang="en-US" sz="4800" spc="-144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Module 3: Wireless Security Protocols Evolution (Cont’d)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6750" y="1623495"/>
            <a:ext cx="8354442" cy="6345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Introduced:</a:t>
            </a: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2003 (interim solution to WEP issues)</a:t>
            </a:r>
          </a:p>
          <a:p>
            <a:pPr algn="l">
              <a:lnSpc>
                <a:spcPts val="3300"/>
              </a:lnSpc>
            </a:pP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Status:</a:t>
            </a: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Deprecated but sometimes required for legacy devices</a:t>
            </a:r>
          </a:p>
          <a:p>
            <a:pPr algn="l">
              <a:lnSpc>
                <a:spcPts val="3600"/>
              </a:lnSpc>
            </a:pPr>
            <a:r>
              <a:rPr lang="en-US" sz="2400" spc="-72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Improvements Over WEP: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Temporal Key Integrity Protocol (TKIP) for per-packet key generation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Message Integrity Check (MIC) for replay detection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Extended Initialization Vector (IV) with sequencing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Dynamic key rekeying</a:t>
            </a:r>
          </a:p>
          <a:p>
            <a:pPr algn="l">
              <a:lnSpc>
                <a:spcPts val="3600"/>
              </a:lnSpc>
            </a:pPr>
            <a:r>
              <a:rPr lang="en-US" sz="2400" spc="-72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TKIP Enhancements:</a:t>
            </a:r>
          </a:p>
          <a:p>
            <a:pPr algn="l" marL="474981" indent="-237491" lvl="1">
              <a:lnSpc>
                <a:spcPts val="3300"/>
              </a:lnSpc>
              <a:buAutoNum type="arabicPeriod" startAt="1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Per-Packet Key Mixing: Uses MAC addresses to vary the key per packet</a:t>
            </a:r>
          </a:p>
          <a:p>
            <a:pPr algn="l" marL="474981" indent="-237491" lvl="1">
              <a:lnSpc>
                <a:spcPts val="3300"/>
              </a:lnSpc>
              <a:buAutoNum type="arabicPeriod" startAt="1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MIC (Message Integrity Check): Prevents packet injection</a:t>
            </a:r>
          </a:p>
          <a:p>
            <a:pPr algn="l" marL="474981" indent="-237491" lvl="1">
              <a:lnSpc>
                <a:spcPts val="3300"/>
              </a:lnSpc>
              <a:buAutoNum type="arabicPeriod" startAt="1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IV Sequencing: Detects and discards out-of-order packets</a:t>
            </a:r>
          </a:p>
          <a:p>
            <a:pPr algn="l" marL="474981" indent="-237491" lvl="1">
              <a:lnSpc>
                <a:spcPts val="3300"/>
              </a:lnSpc>
              <a:buAutoNum type="arabicPeriod" startAt="1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Key Rotation: Keys change regularly, not reused</a:t>
            </a:r>
          </a:p>
          <a:p>
            <a:pPr algn="l">
              <a:lnSpc>
                <a:spcPts val="3300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9220200" y="1623495"/>
            <a:ext cx="8394068" cy="3661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 spc="-72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WPA Modes:</a:t>
            </a:r>
          </a:p>
          <a:p>
            <a:pPr algn="l" marL="518160" indent="-259080" lvl="1">
              <a:lnSpc>
                <a:spcPts val="3600"/>
              </a:lnSpc>
              <a:buFont typeface="Arial"/>
              <a:buChar char="•"/>
            </a:pPr>
            <a:r>
              <a:rPr lang="en-US" sz="2400" spc="-72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WPA-PSK: Pre-shared key (personal networks)</a:t>
            </a:r>
          </a:p>
          <a:p>
            <a:pPr algn="l" marL="518160" indent="-259080" lvl="1">
              <a:lnSpc>
                <a:spcPts val="3600"/>
              </a:lnSpc>
              <a:buFont typeface="Arial"/>
              <a:buChar char="•"/>
            </a:pPr>
            <a:r>
              <a:rPr lang="en-US" sz="2400" spc="-72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WPA-Enterprise: 802.1X with RADIUS (corporate networks)</a:t>
            </a:r>
          </a:p>
          <a:p>
            <a:pPr algn="l">
              <a:lnSpc>
                <a:spcPts val="3899"/>
              </a:lnSpc>
            </a:pPr>
            <a:r>
              <a:rPr lang="en-US" sz="2599" spc="-77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Remaining Vulnerabilities:</a:t>
            </a:r>
          </a:p>
          <a:p>
            <a:pPr algn="l" marL="518160" indent="-259080" lvl="1">
              <a:lnSpc>
                <a:spcPts val="3600"/>
              </a:lnSpc>
              <a:buFont typeface="Arial"/>
              <a:buChar char="•"/>
            </a:pPr>
            <a:r>
              <a:rPr lang="en-US" sz="2400" spc="-72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Fragmentation attacks enable packet injection despite MIC</a:t>
            </a:r>
          </a:p>
          <a:p>
            <a:pPr algn="l" marL="518160" indent="-259080" lvl="1">
              <a:lnSpc>
                <a:spcPts val="3600"/>
              </a:lnSpc>
              <a:buFont typeface="Arial"/>
              <a:buChar char="•"/>
            </a:pPr>
            <a:r>
              <a:rPr lang="en-US" sz="2400" spc="-72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TKIP is fundamentally weak as a patch over RC4</a:t>
            </a:r>
          </a:p>
          <a:p>
            <a:pPr algn="l" marL="518160" indent="-259080" lvl="1">
              <a:lnSpc>
                <a:spcPts val="3600"/>
              </a:lnSpc>
              <a:buFont typeface="Arial"/>
              <a:buChar char="•"/>
            </a:pPr>
            <a:r>
              <a:rPr lang="en-US" sz="2400" spc="-72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Still vulnerable to dictionary attacks on PSK</a:t>
            </a:r>
          </a:p>
          <a:p>
            <a:pPr algn="l" marL="518160" indent="-259080" lvl="1">
              <a:lnSpc>
                <a:spcPts val="3600"/>
              </a:lnSpc>
              <a:buFont typeface="Arial"/>
              <a:buChar char="•"/>
            </a:pPr>
            <a:r>
              <a:rPr lang="en-US" sz="2400" spc="-72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De-authentication frame is unencrypted, enabling DoS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6336367" y="399423"/>
            <a:ext cx="1437283" cy="773711"/>
            <a:chOff x="0" y="0"/>
            <a:chExt cx="1916377" cy="1031614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031614" cy="1031614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884763" y="0"/>
              <a:ext cx="1031614" cy="1031614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0">
              <a:off x="92096" y="241984"/>
              <a:ext cx="847423" cy="547647"/>
            </a:xfrm>
            <a:custGeom>
              <a:avLst/>
              <a:gdLst/>
              <a:ahLst/>
              <a:cxnLst/>
              <a:rect r="r" b="b" t="t" l="l"/>
              <a:pathLst>
                <a:path h="547647" w="847423">
                  <a:moveTo>
                    <a:pt x="0" y="0"/>
                  </a:moveTo>
                  <a:lnTo>
                    <a:pt x="847422" y="0"/>
                  </a:lnTo>
                  <a:lnTo>
                    <a:pt x="847422" y="547647"/>
                  </a:lnTo>
                  <a:lnTo>
                    <a:pt x="0" y="5476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084334" y="199570"/>
              <a:ext cx="632473" cy="632473"/>
            </a:xfrm>
            <a:custGeom>
              <a:avLst/>
              <a:gdLst/>
              <a:ahLst/>
              <a:cxnLst/>
              <a:rect r="r" b="b" t="t" l="l"/>
              <a:pathLst>
                <a:path h="632473" w="632473">
                  <a:moveTo>
                    <a:pt x="0" y="0"/>
                  </a:moveTo>
                  <a:lnTo>
                    <a:pt x="632473" y="0"/>
                  </a:lnTo>
                  <a:lnTo>
                    <a:pt x="632473" y="632474"/>
                  </a:lnTo>
                  <a:lnTo>
                    <a:pt x="0" y="6324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666750" y="1075010"/>
            <a:ext cx="8306267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b="true" sz="2599" spc="-77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3.2 Wi-Fi Protected Access (WPA) - LEGACY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371475"/>
            <a:ext cx="17106900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00"/>
              </a:lnSpc>
            </a:pPr>
            <a:r>
              <a:rPr lang="en-US" sz="4800" spc="-144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Module 3: Wireless Security Protocols Evolution (Cont’d)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6750" y="1623495"/>
            <a:ext cx="8354442" cy="8364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Introduced:</a:t>
            </a: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2004 (full standard implementation)</a:t>
            </a:r>
          </a:p>
          <a:p>
            <a:pPr algn="l">
              <a:lnSpc>
                <a:spcPts val="3300"/>
              </a:lnSpc>
            </a:pP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Status:</a:t>
            </a: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Widely deployed, but being phased out for WPA3</a:t>
            </a:r>
          </a:p>
          <a:p>
            <a:pPr algn="l">
              <a:lnSpc>
                <a:spcPts val="3300"/>
              </a:lnSpc>
            </a:pP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Major Improvements: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Advanced Encryption Standard (AES) replacing RC4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Counter Mode with CBC-MAC (CCMP) for confidentiality and authenticity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Stronger key derivation using PBKDF2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Mandatory for Wi-Fi certification since 2006</a:t>
            </a:r>
          </a:p>
          <a:p>
            <a:pPr algn="l">
              <a:lnSpc>
                <a:spcPts val="3300"/>
              </a:lnSpc>
            </a:pPr>
          </a:p>
          <a:p>
            <a:pPr algn="l">
              <a:lnSpc>
                <a:spcPts val="3300"/>
              </a:lnSpc>
            </a:pP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WPA2-PSK 4-Way Handshake:</a:t>
            </a:r>
          </a:p>
          <a:p>
            <a:pPr algn="l">
              <a:lnSpc>
                <a:spcPts val="3300"/>
              </a:lnSpc>
            </a:pPr>
            <a:r>
              <a:rPr lang="en-US" sz="2200" spc="-66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Step 1: AP → Client sends ANonce (random)</a:t>
            </a:r>
          </a:p>
          <a:p>
            <a:pPr algn="l">
              <a:lnSpc>
                <a:spcPts val="3300"/>
              </a:lnSpc>
            </a:pPr>
            <a:r>
              <a:rPr lang="en-US" sz="2200" spc="-66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Step 2: Client generates PTK from PSK, derives MIC, sends SNonce</a:t>
            </a:r>
          </a:p>
          <a:p>
            <a:pPr algn="l">
              <a:lnSpc>
                <a:spcPts val="3300"/>
              </a:lnSpc>
            </a:pPr>
            <a:r>
              <a:rPr lang="en-US" sz="2200" spc="-66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Step 3: AP generates PTK, sends GTK + MIC</a:t>
            </a:r>
          </a:p>
          <a:p>
            <a:pPr algn="l">
              <a:lnSpc>
                <a:spcPts val="3300"/>
              </a:lnSpc>
            </a:pPr>
            <a:r>
              <a:rPr lang="en-US" sz="2200" spc="-66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Step 4: Client acknowledges with an empty frame</a:t>
            </a:r>
          </a:p>
          <a:p>
            <a:pPr algn="l">
              <a:lnSpc>
                <a:spcPts val="3300"/>
              </a:lnSpc>
            </a:pP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Where: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PMK = PBKDF2(passphrase, SSID, 4096 iterations)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PTK = PRF(PMK, "Pairwise key expansion", min(AP_MAC, STA_MAC) + max(AP_MAC, STA_MAC) + min(ANonce, SNonce) + max(ANonce, SNonce))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MIC = HMAC-MD5(PTK[key_mic], message)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220200" y="1623495"/>
            <a:ext cx="8394068" cy="8364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Known Attacks:</a:t>
            </a:r>
          </a:p>
          <a:p>
            <a:pPr algn="l">
              <a:lnSpc>
                <a:spcPts val="3300"/>
              </a:lnSpc>
            </a:pP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1. KRACK Attack (Key Reinstallation Attack) - CVE-2017-13077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Exploits WPA2 4-way handshake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Attacker forces a replay of Message 3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Client reinstalls PTK, resetting nonce/replay counter to 0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Encrypted traffic sent with reused nonce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AES-CCMP with nonce reuse = keystream recovery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Impact: Decrypt and forge packets on affected networks</a:t>
            </a:r>
          </a:p>
          <a:p>
            <a:pPr algn="l">
              <a:lnSpc>
                <a:spcPts val="3300"/>
              </a:lnSpc>
            </a:pP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2. Dictionary/Brute Force Attack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Attacker captures 4-way handshake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Offline: tries password dictionary against PBKDF2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If a match is found, it derives the PMK and verifies it against the captured MIC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Weak passwords are cracked in hours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No online rate limiting</a:t>
            </a:r>
          </a:p>
          <a:p>
            <a:pPr algn="l">
              <a:lnSpc>
                <a:spcPts val="3300"/>
              </a:lnSpc>
            </a:pP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3. PMKID Hashcat Attack (CVE-2022-6031)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Captures PMK Identifier from Association Request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Performs offline PBKDF2 crack against PMKID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No full handshake needed, speeds up attacks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Requires monitor mode capture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6336367" y="399423"/>
            <a:ext cx="1437283" cy="773711"/>
            <a:chOff x="0" y="0"/>
            <a:chExt cx="1916377" cy="1031614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031614" cy="1031614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884763" y="0"/>
              <a:ext cx="1031614" cy="1031614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0">
              <a:off x="92096" y="241984"/>
              <a:ext cx="847423" cy="547647"/>
            </a:xfrm>
            <a:custGeom>
              <a:avLst/>
              <a:gdLst/>
              <a:ahLst/>
              <a:cxnLst/>
              <a:rect r="r" b="b" t="t" l="l"/>
              <a:pathLst>
                <a:path h="547647" w="847423">
                  <a:moveTo>
                    <a:pt x="0" y="0"/>
                  </a:moveTo>
                  <a:lnTo>
                    <a:pt x="847422" y="0"/>
                  </a:lnTo>
                  <a:lnTo>
                    <a:pt x="847422" y="547647"/>
                  </a:lnTo>
                  <a:lnTo>
                    <a:pt x="0" y="5476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084334" y="199570"/>
              <a:ext cx="632473" cy="632473"/>
            </a:xfrm>
            <a:custGeom>
              <a:avLst/>
              <a:gdLst/>
              <a:ahLst/>
              <a:cxnLst/>
              <a:rect r="r" b="b" t="t" l="l"/>
              <a:pathLst>
                <a:path h="632473" w="632473">
                  <a:moveTo>
                    <a:pt x="0" y="0"/>
                  </a:moveTo>
                  <a:lnTo>
                    <a:pt x="632473" y="0"/>
                  </a:lnTo>
                  <a:lnTo>
                    <a:pt x="632473" y="632474"/>
                  </a:lnTo>
                  <a:lnTo>
                    <a:pt x="0" y="6324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666750" y="1075010"/>
            <a:ext cx="8965896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b="true" sz="2599" spc="-77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3.3 WPA2 (802.11i Standard) - CURRENT MAINSTREAM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371475"/>
            <a:ext cx="17106900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00"/>
              </a:lnSpc>
            </a:pPr>
            <a:r>
              <a:rPr lang="en-US" sz="4800" spc="-144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Module 3: Wireless Security Protocols Evolution (Cont’d)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6750" y="1633020"/>
            <a:ext cx="8354442" cy="8378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 spc="-63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Introduced:</a:t>
            </a: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2018, mandatory from 2020 for Wi-Fi 6+ devices</a:t>
            </a:r>
          </a:p>
          <a:p>
            <a:pPr algn="l">
              <a:lnSpc>
                <a:spcPts val="3150"/>
              </a:lnSpc>
            </a:pPr>
            <a:r>
              <a:rPr lang="en-US" sz="2100" spc="-63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Status:</a:t>
            </a: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Modern security, gradual adoption</a:t>
            </a:r>
          </a:p>
          <a:p>
            <a:pPr algn="l">
              <a:lnSpc>
                <a:spcPts val="3150"/>
              </a:lnSpc>
            </a:pPr>
            <a:r>
              <a:rPr lang="en-US" sz="2100" spc="-63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Security Enhancements:</a:t>
            </a:r>
          </a:p>
          <a:p>
            <a:pPr algn="l" marL="453392" indent="-226696" lvl="1">
              <a:lnSpc>
                <a:spcPts val="3150"/>
              </a:lnSpc>
              <a:buAutoNum type="arabicPeriod" startAt="1"/>
            </a:pPr>
            <a:r>
              <a:rPr lang="en-US" b="true" sz="2100" spc="-63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Simultaneous Authentication of Equals (SAE)</a:t>
            </a:r>
          </a:p>
          <a:p>
            <a:pPr algn="l" marL="453392" indent="-226696" lvl="1">
              <a:lnSpc>
                <a:spcPts val="3150"/>
              </a:lnSpc>
              <a:buFont typeface="Arial"/>
              <a:buChar char="•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Replaces Pre-Shared Key (PSK) authentication</a:t>
            </a:r>
          </a:p>
          <a:p>
            <a:pPr algn="l" marL="453392" indent="-226696" lvl="1">
              <a:lnSpc>
                <a:spcPts val="3150"/>
              </a:lnSpc>
              <a:buFont typeface="Arial"/>
              <a:buChar char="•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Differential privacy property: even weak passwords resisted online dictionary attacks</a:t>
            </a:r>
          </a:p>
          <a:p>
            <a:pPr algn="l" marL="453392" indent="-226696" lvl="1">
              <a:lnSpc>
                <a:spcPts val="3150"/>
              </a:lnSpc>
              <a:buFont typeface="Arial"/>
              <a:buChar char="•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Mutual authentication: prevents evil twin spoofing</a:t>
            </a:r>
          </a:p>
          <a:p>
            <a:pPr algn="l" marL="453392" indent="-226696" lvl="1">
              <a:lnSpc>
                <a:spcPts val="3150"/>
              </a:lnSpc>
              <a:buFont typeface="Arial"/>
              <a:buChar char="•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Eliminates offline dictionary attacks (no way to verify a guess without an interactive protocol)</a:t>
            </a:r>
          </a:p>
          <a:p>
            <a:pPr algn="l" marL="453392" indent="-226696" lvl="1">
              <a:lnSpc>
                <a:spcPts val="3150"/>
              </a:lnSpc>
              <a:buAutoNum type="arabicPeriod" startAt="1"/>
            </a:pPr>
            <a:r>
              <a:rPr lang="en-US" b="true" sz="2100" spc="-63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Protected Management Frames (PMF)</a:t>
            </a:r>
          </a:p>
          <a:p>
            <a:pPr algn="l" marL="453392" indent="-226696" lvl="1">
              <a:lnSpc>
                <a:spcPts val="3150"/>
              </a:lnSpc>
              <a:buFont typeface="Arial"/>
              <a:buChar char="•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Encrypts deauthentication and disassociation frames</a:t>
            </a:r>
          </a:p>
          <a:p>
            <a:pPr algn="l" marL="453392" indent="-226696" lvl="1">
              <a:lnSpc>
                <a:spcPts val="3150"/>
              </a:lnSpc>
              <a:buFont typeface="Arial"/>
              <a:buChar char="•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Prevents deauth-based denial of service</a:t>
            </a:r>
          </a:p>
          <a:p>
            <a:pPr algn="l" marL="453392" indent="-226696" lvl="1">
              <a:lnSpc>
                <a:spcPts val="3150"/>
              </a:lnSpc>
              <a:buFont typeface="Arial"/>
              <a:buChar char="•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Prevents SSID broadcast interception</a:t>
            </a:r>
          </a:p>
          <a:p>
            <a:pPr algn="l" marL="453392" indent="-226696" lvl="1">
              <a:lnSpc>
                <a:spcPts val="3150"/>
              </a:lnSpc>
              <a:buAutoNum type="arabicPeriod" startAt="1"/>
            </a:pPr>
            <a:r>
              <a:rPr lang="en-US" b="true" sz="2100" spc="-63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Opportunistic Wireless Encryption (OWE)</a:t>
            </a:r>
          </a:p>
          <a:p>
            <a:pPr algn="l" marL="453392" indent="-226696" lvl="1">
              <a:lnSpc>
                <a:spcPts val="3150"/>
              </a:lnSpc>
              <a:buFont typeface="Arial"/>
              <a:buChar char="•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Encryption on open networks (no authentication)</a:t>
            </a:r>
          </a:p>
          <a:p>
            <a:pPr algn="l" marL="453392" indent="-226696" lvl="1">
              <a:lnSpc>
                <a:spcPts val="3150"/>
              </a:lnSpc>
              <a:buFont typeface="Arial"/>
              <a:buChar char="•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Prevents passive eavesdropping on public Wi-Fi</a:t>
            </a:r>
          </a:p>
          <a:p>
            <a:pPr algn="l" marL="453392" indent="-226696" lvl="1">
              <a:lnSpc>
                <a:spcPts val="3150"/>
              </a:lnSpc>
              <a:buFont typeface="Arial"/>
              <a:buChar char="•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Device-to-AP tunnel only</a:t>
            </a:r>
          </a:p>
          <a:p>
            <a:pPr algn="l" marL="453392" indent="-226696" lvl="1">
              <a:lnSpc>
                <a:spcPts val="3150"/>
              </a:lnSpc>
              <a:buAutoNum type="arabicPeriod" startAt="1"/>
            </a:pPr>
            <a:r>
              <a:rPr lang="en-US" b="true" sz="2100" spc="-63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192-bit Encryption (WPA3-Enterprise)</a:t>
            </a:r>
          </a:p>
          <a:p>
            <a:pPr algn="l" marL="453392" indent="-226696" lvl="1">
              <a:lnSpc>
                <a:spcPts val="3150"/>
              </a:lnSpc>
              <a:buFont typeface="Arial"/>
              <a:buChar char="•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Uses CNSA Suite (Commercial National Security Algorithm)</a:t>
            </a:r>
          </a:p>
          <a:p>
            <a:pPr algn="l" marL="453392" indent="-226696" lvl="1">
              <a:lnSpc>
                <a:spcPts val="3150"/>
              </a:lnSpc>
              <a:buFont typeface="Arial"/>
              <a:buChar char="•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192-bit encryption for government/sensitive networks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6336367" y="399423"/>
            <a:ext cx="1437283" cy="773711"/>
            <a:chOff x="0" y="0"/>
            <a:chExt cx="1916377" cy="1031614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1031614" cy="1031614"/>
              <a:chOff x="0" y="0"/>
              <a:chExt cx="812800" cy="8128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884763" y="0"/>
              <a:ext cx="1031614" cy="1031614"/>
              <a:chOff x="0" y="0"/>
              <a:chExt cx="812800" cy="8128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1" id="11"/>
            <p:cNvSpPr/>
            <p:nvPr/>
          </p:nvSpPr>
          <p:spPr>
            <a:xfrm flipH="false" flipV="false" rot="0">
              <a:off x="92096" y="241984"/>
              <a:ext cx="847423" cy="547647"/>
            </a:xfrm>
            <a:custGeom>
              <a:avLst/>
              <a:gdLst/>
              <a:ahLst/>
              <a:cxnLst/>
              <a:rect r="r" b="b" t="t" l="l"/>
              <a:pathLst>
                <a:path h="547647" w="847423">
                  <a:moveTo>
                    <a:pt x="0" y="0"/>
                  </a:moveTo>
                  <a:lnTo>
                    <a:pt x="847422" y="0"/>
                  </a:lnTo>
                  <a:lnTo>
                    <a:pt x="847422" y="547647"/>
                  </a:lnTo>
                  <a:lnTo>
                    <a:pt x="0" y="5476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084334" y="199570"/>
              <a:ext cx="632473" cy="632473"/>
            </a:xfrm>
            <a:custGeom>
              <a:avLst/>
              <a:gdLst/>
              <a:ahLst/>
              <a:cxnLst/>
              <a:rect r="r" b="b" t="t" l="l"/>
              <a:pathLst>
                <a:path h="632473" w="632473">
                  <a:moveTo>
                    <a:pt x="0" y="0"/>
                  </a:moveTo>
                  <a:lnTo>
                    <a:pt x="632473" y="0"/>
                  </a:lnTo>
                  <a:lnTo>
                    <a:pt x="632473" y="632474"/>
                  </a:lnTo>
                  <a:lnTo>
                    <a:pt x="0" y="6324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666750" y="1075010"/>
            <a:ext cx="8965896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b="true" sz="2599" spc="-77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3.4 WPA3 - LATEST STANDARD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371475"/>
            <a:ext cx="17106900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00"/>
              </a:lnSpc>
            </a:pPr>
            <a:r>
              <a:rPr lang="en-US" sz="4800" spc="-144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Module 3: Wireless Security Protocols Evolution (Cont’d)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336367" y="399423"/>
            <a:ext cx="1437283" cy="773711"/>
            <a:chOff x="0" y="0"/>
            <a:chExt cx="1916377" cy="1031614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031614" cy="1031614"/>
              <a:chOff x="0" y="0"/>
              <a:chExt cx="812800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884763" y="0"/>
              <a:ext cx="1031614" cy="1031614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0" id="10"/>
            <p:cNvSpPr/>
            <p:nvPr/>
          </p:nvSpPr>
          <p:spPr>
            <a:xfrm flipH="false" flipV="false" rot="0">
              <a:off x="92096" y="241984"/>
              <a:ext cx="847423" cy="547647"/>
            </a:xfrm>
            <a:custGeom>
              <a:avLst/>
              <a:gdLst/>
              <a:ahLst/>
              <a:cxnLst/>
              <a:rect r="r" b="b" t="t" l="l"/>
              <a:pathLst>
                <a:path h="547647" w="847423">
                  <a:moveTo>
                    <a:pt x="0" y="0"/>
                  </a:moveTo>
                  <a:lnTo>
                    <a:pt x="847422" y="0"/>
                  </a:lnTo>
                  <a:lnTo>
                    <a:pt x="847422" y="547647"/>
                  </a:lnTo>
                  <a:lnTo>
                    <a:pt x="0" y="5476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084334" y="199570"/>
              <a:ext cx="632473" cy="632473"/>
            </a:xfrm>
            <a:custGeom>
              <a:avLst/>
              <a:gdLst/>
              <a:ahLst/>
              <a:cxnLst/>
              <a:rect r="r" b="b" t="t" l="l"/>
              <a:pathLst>
                <a:path h="632473" w="632473">
                  <a:moveTo>
                    <a:pt x="0" y="0"/>
                  </a:moveTo>
                  <a:lnTo>
                    <a:pt x="632473" y="0"/>
                  </a:lnTo>
                  <a:lnTo>
                    <a:pt x="632473" y="632474"/>
                  </a:lnTo>
                  <a:lnTo>
                    <a:pt x="0" y="6324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666750" y="1075010"/>
            <a:ext cx="8965896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b="true" sz="2599" spc="-77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3.5 Security Comparison Table</a:t>
            </a:r>
          </a:p>
        </p:txBody>
      </p:sp>
      <p:graphicFrame>
        <p:nvGraphicFramePr>
          <p:cNvPr name="Table 13" id="13"/>
          <p:cNvGraphicFramePr>
            <a:graphicFrameLocks noGrp="true"/>
          </p:cNvGraphicFramePr>
          <p:nvPr/>
        </p:nvGraphicFramePr>
        <p:xfrm>
          <a:off x="666750" y="1984977"/>
          <a:ext cx="9853797" cy="5230416"/>
        </p:xfrm>
        <a:graphic>
          <a:graphicData uri="http://schemas.openxmlformats.org/drawingml/2006/table">
            <a:tbl>
              <a:tblPr/>
              <a:tblGrid>
                <a:gridCol w="1885868"/>
                <a:gridCol w="1885868"/>
                <a:gridCol w="1885868"/>
                <a:gridCol w="1885868"/>
                <a:gridCol w="2310325"/>
              </a:tblGrid>
              <a:tr h="62860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b="true" sz="18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Feature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b="true" sz="18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WEP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b="true" sz="18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WPA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b="true" sz="18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WPA2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b="true" sz="18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WPA3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860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b="true" sz="18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Encryption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RC4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TKIP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AES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AES-256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860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b="true" sz="18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Key Length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104-bit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128-bit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128-bit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192-bit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860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b="true" sz="18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IV Size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24-bit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48-bit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128-bit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128-bit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860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b="true" sz="18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Authentication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Shared Key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PSK/802.1X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PSK/802.1X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SAE/802.1X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3018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b="true" sz="18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Replay Protection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No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Sequencing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Counter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Counter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860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b="true" sz="18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Integrity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CRC-32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MIC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MIC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MIC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860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b="true" sz="18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Status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Broken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Deprecated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Current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Emerging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371475"/>
            <a:ext cx="17106900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00"/>
              </a:lnSpc>
            </a:pPr>
            <a:r>
              <a:rPr lang="en-US" sz="4800" spc="-144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Module 4: Wireless Reconnaissance &amp; Wardriving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336367" y="399423"/>
            <a:ext cx="1437283" cy="773711"/>
            <a:chOff x="0" y="0"/>
            <a:chExt cx="1916377" cy="1031614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031614" cy="1031614"/>
              <a:chOff x="0" y="0"/>
              <a:chExt cx="812800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884763" y="0"/>
              <a:ext cx="1031614" cy="1031614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0" id="10"/>
            <p:cNvSpPr/>
            <p:nvPr/>
          </p:nvSpPr>
          <p:spPr>
            <a:xfrm flipH="false" flipV="false" rot="0">
              <a:off x="92096" y="241984"/>
              <a:ext cx="847423" cy="547647"/>
            </a:xfrm>
            <a:custGeom>
              <a:avLst/>
              <a:gdLst/>
              <a:ahLst/>
              <a:cxnLst/>
              <a:rect r="r" b="b" t="t" l="l"/>
              <a:pathLst>
                <a:path h="547647" w="847423">
                  <a:moveTo>
                    <a:pt x="0" y="0"/>
                  </a:moveTo>
                  <a:lnTo>
                    <a:pt x="847422" y="0"/>
                  </a:lnTo>
                  <a:lnTo>
                    <a:pt x="847422" y="547647"/>
                  </a:lnTo>
                  <a:lnTo>
                    <a:pt x="0" y="5476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084334" y="199570"/>
              <a:ext cx="632473" cy="632473"/>
            </a:xfrm>
            <a:custGeom>
              <a:avLst/>
              <a:gdLst/>
              <a:ahLst/>
              <a:cxnLst/>
              <a:rect r="r" b="b" t="t" l="l"/>
              <a:pathLst>
                <a:path h="632473" w="632473">
                  <a:moveTo>
                    <a:pt x="0" y="0"/>
                  </a:moveTo>
                  <a:lnTo>
                    <a:pt x="632473" y="0"/>
                  </a:lnTo>
                  <a:lnTo>
                    <a:pt x="632473" y="632474"/>
                  </a:lnTo>
                  <a:lnTo>
                    <a:pt x="0" y="6324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666750" y="2499360"/>
            <a:ext cx="8354442" cy="7284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 spc="-72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Legal Status: 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Passive discovery is generally legal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Accessing networks without authorization is illegal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Wardriving reveals vulnerabilities for penetration testing (with authorization)</a:t>
            </a:r>
          </a:p>
          <a:p>
            <a:pPr algn="l">
              <a:lnSpc>
                <a:spcPts val="3300"/>
              </a:lnSpc>
            </a:pPr>
          </a:p>
          <a:p>
            <a:pPr algn="l">
              <a:lnSpc>
                <a:spcPts val="3899"/>
              </a:lnSpc>
            </a:pPr>
            <a:r>
              <a:rPr lang="en-US" sz="2599" spc="-77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4.2 Passive vs. Active Scanning</a:t>
            </a:r>
          </a:p>
          <a:p>
            <a:pPr algn="l">
              <a:lnSpc>
                <a:spcPts val="3600"/>
              </a:lnSpc>
            </a:pPr>
            <a:r>
              <a:rPr lang="en-US" sz="2400" spc="-72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Passive Scanning: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Device listens to beacon frames (AP broadcasts every 100ms)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Captures SSID, MAC, channel, signal strength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No probe frames sent, difficult to detect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Works in monitor mode on WNIC</a:t>
            </a:r>
          </a:p>
          <a:p>
            <a:pPr algn="l">
              <a:lnSpc>
                <a:spcPts val="3600"/>
              </a:lnSpc>
            </a:pPr>
            <a:r>
              <a:rPr lang="en-US" sz="2400" spc="-72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Active Scanning: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Client sends probe requests on each channel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AP responds with a probe response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Faster discovery, but generates traffic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May trigger intrusion detection systems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419208" y="2499360"/>
            <a:ext cx="8354442" cy="3813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sz="2599" spc="-77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4.3 Information Gathered During Reconnaissance</a:t>
            </a:r>
          </a:p>
          <a:p>
            <a:pPr algn="l" marL="474981" indent="-237491" lvl="1">
              <a:lnSpc>
                <a:spcPts val="3300"/>
              </a:lnSpc>
              <a:buAutoNum type="arabicPeriod" startAt="1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SSID: Network</a:t>
            </a: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name (broadcast or hidden)</a:t>
            </a:r>
          </a:p>
          <a:p>
            <a:pPr algn="l" marL="474981" indent="-237491" lvl="1">
              <a:lnSpc>
                <a:spcPts val="3300"/>
              </a:lnSpc>
              <a:buAutoNum type="arabicPeriod" startAt="1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MAC Address: Unique AP identifier (OUI reveals manufacturer)</a:t>
            </a:r>
          </a:p>
          <a:p>
            <a:pPr algn="l" marL="474981" indent="-237491" lvl="1">
              <a:lnSpc>
                <a:spcPts val="3300"/>
              </a:lnSpc>
              <a:buAutoNum type="arabicPeriod" startAt="1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Channel: 2.4 GHz (1-13) or 5 GHz (36+)</a:t>
            </a:r>
          </a:p>
          <a:p>
            <a:pPr algn="l" marL="474981" indent="-237491" lvl="1">
              <a:lnSpc>
                <a:spcPts val="3300"/>
              </a:lnSpc>
              <a:buAutoNum type="arabicPeriod" startAt="1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Sign</a:t>
            </a: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al Strength (RSSI): -30 dBm (strong) to -90 dBm (weak)</a:t>
            </a:r>
          </a:p>
          <a:p>
            <a:pPr algn="l" marL="474981" indent="-237491" lvl="1">
              <a:lnSpc>
                <a:spcPts val="3300"/>
              </a:lnSpc>
              <a:buAutoNum type="arabicPeriod" startAt="1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Encryption Type: WEP, WPA, WPA2, WPA3, or Open</a:t>
            </a:r>
          </a:p>
          <a:p>
            <a:pPr algn="l" marL="474981" indent="-237491" lvl="1">
              <a:lnSpc>
                <a:spcPts val="3300"/>
              </a:lnSpc>
              <a:buAutoNum type="arabicPeriod" startAt="1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Enc</a:t>
            </a: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ryption Level: Not always visible</a:t>
            </a:r>
          </a:p>
          <a:p>
            <a:pPr algn="l" marL="474981" indent="-237491" lvl="1">
              <a:lnSpc>
                <a:spcPts val="3300"/>
              </a:lnSpc>
              <a:buAutoNum type="arabicPeriod" startAt="1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H</a:t>
            </a: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idden SSID: Indicated by lack of name broadcast</a:t>
            </a:r>
          </a:p>
          <a:p>
            <a:pPr algn="l" marL="474981" indent="-237491" lvl="1">
              <a:lnSpc>
                <a:spcPts val="3300"/>
              </a:lnSpc>
              <a:buAutoNum type="arabicPeriod" startAt="1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B</a:t>
            </a: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and Width: 20/40/80/160 MHz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66750" y="2004060"/>
            <a:ext cx="17106900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80"/>
              </a:lnSpc>
              <a:spcBef>
                <a:spcPct val="0"/>
              </a:spcBef>
            </a:pPr>
            <a:r>
              <a:rPr lang="en-US" sz="2400" spc="-72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Definition: Driving through areas with wireless networking equipment to discover, map, and analyze available wireless networks.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66750" y="1331595"/>
            <a:ext cx="8306267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b="true" sz="2599" spc="-77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4.1 Wardriving Concept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371475"/>
            <a:ext cx="17106900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00"/>
              </a:lnSpc>
            </a:pPr>
            <a:r>
              <a:rPr lang="en-US" sz="4800" spc="-144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Module 4: Wireless Reconnaissance &amp; Wardriving (Cont’d)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6750" y="1880668"/>
            <a:ext cx="8354442" cy="797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 spc="-63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Kismet-ng (Linux, Mac, Windows)</a:t>
            </a:r>
          </a:p>
          <a:p>
            <a:pPr algn="l" marL="453392" indent="-226696" lvl="1">
              <a:lnSpc>
                <a:spcPts val="3150"/>
              </a:lnSpc>
              <a:buFont typeface="Arial"/>
              <a:buChar char="•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Advanced packet sniffer and network detector</a:t>
            </a:r>
          </a:p>
          <a:p>
            <a:pPr algn="l" marL="453392" indent="-226696" lvl="1">
              <a:lnSpc>
                <a:spcPts val="3150"/>
              </a:lnSpc>
              <a:buFont typeface="Arial"/>
              <a:buChar char="•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Real-time GPS mapping</a:t>
            </a:r>
          </a:p>
          <a:p>
            <a:pPr algn="l" marL="453392" indent="-226696" lvl="1">
              <a:lnSpc>
                <a:spcPts val="3150"/>
              </a:lnSpc>
              <a:buFont typeface="Arial"/>
              <a:buChar char="•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Detects hidden SSIDs (through client probe requests)</a:t>
            </a:r>
          </a:p>
          <a:p>
            <a:pPr algn="l" marL="453392" indent="-226696" lvl="1">
              <a:lnSpc>
                <a:spcPts val="3150"/>
              </a:lnSpc>
              <a:buFont typeface="Arial"/>
              <a:buChar char="•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Identifies rogue APs through behavior analysis</a:t>
            </a:r>
          </a:p>
          <a:p>
            <a:pPr algn="l" marL="453392" indent="-226696" lvl="1">
              <a:lnSpc>
                <a:spcPts val="3150"/>
              </a:lnSpc>
              <a:buFont typeface="Arial"/>
              <a:buChar char="•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Logs pcap files for offline analysis</a:t>
            </a:r>
          </a:p>
          <a:p>
            <a:pPr algn="l">
              <a:lnSpc>
                <a:spcPts val="3150"/>
              </a:lnSpc>
            </a:pPr>
            <a:r>
              <a:rPr lang="en-US" sz="2100" spc="-63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Aircrack-ng Suite (Linux)</a:t>
            </a:r>
          </a:p>
          <a:p>
            <a:pPr algn="l" marL="453392" indent="-226696" lvl="1">
              <a:lnSpc>
                <a:spcPts val="3150"/>
              </a:lnSpc>
              <a:buFont typeface="Arial"/>
              <a:buChar char="•"/>
            </a:pPr>
            <a:r>
              <a:rPr lang="en-US" sz="2100" spc="-63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airodump-ng:</a:t>
            </a: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Network discovery and packet capture</a:t>
            </a:r>
          </a:p>
          <a:p>
            <a:pPr algn="l" marL="453392" indent="-226696" lvl="1">
              <a:lnSpc>
                <a:spcPts val="3150"/>
              </a:lnSpc>
              <a:buFont typeface="Arial"/>
              <a:buChar char="•"/>
            </a:pPr>
            <a:r>
              <a:rPr lang="en-US" sz="2100" spc="-63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airmon-ng:</a:t>
            </a: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WNIC mode management</a:t>
            </a:r>
          </a:p>
          <a:p>
            <a:pPr algn="l" marL="453392" indent="-226696" lvl="1">
              <a:lnSpc>
                <a:spcPts val="3150"/>
              </a:lnSpc>
              <a:buFont typeface="Arial"/>
              <a:buChar char="•"/>
            </a:pPr>
            <a:r>
              <a:rPr lang="en-US" sz="2100" spc="-63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aircrack-ng: </a:t>
            </a: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WEP/WPA cracking engine</a:t>
            </a:r>
          </a:p>
          <a:p>
            <a:pPr algn="l" marL="453392" indent="-226696" lvl="1">
              <a:lnSpc>
                <a:spcPts val="3150"/>
              </a:lnSpc>
              <a:buFont typeface="Arial"/>
              <a:buChar char="•"/>
            </a:pPr>
            <a:r>
              <a:rPr lang="en-US" sz="2100" spc="-63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A</a:t>
            </a:r>
            <a:r>
              <a:rPr lang="en-US" sz="2100" spc="-63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ireplay-ng: </a:t>
            </a: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Packet injection and replay attacks</a:t>
            </a:r>
          </a:p>
          <a:p>
            <a:pPr algn="l">
              <a:lnSpc>
                <a:spcPts val="3150"/>
              </a:lnSpc>
            </a:pPr>
            <a:r>
              <a:rPr lang="en-US" sz="2100" spc="-63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Wireshark (Cross-platform)</a:t>
            </a:r>
          </a:p>
          <a:p>
            <a:pPr algn="l" marL="453392" indent="-226696" lvl="1">
              <a:lnSpc>
                <a:spcPts val="3150"/>
              </a:lnSpc>
              <a:buFont typeface="Arial"/>
              <a:buChar char="•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Deep packet analysis</a:t>
            </a:r>
          </a:p>
          <a:p>
            <a:pPr algn="l" marL="453392" indent="-226696" lvl="1">
              <a:lnSpc>
                <a:spcPts val="3150"/>
              </a:lnSpc>
              <a:buFont typeface="Arial"/>
              <a:buChar char="•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Protocol dissection</a:t>
            </a:r>
          </a:p>
          <a:p>
            <a:pPr algn="l" marL="453392" indent="-226696" lvl="1">
              <a:lnSpc>
                <a:spcPts val="3150"/>
              </a:lnSpc>
              <a:buFont typeface="Arial"/>
              <a:buChar char="•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Real-time or pcap file analysis</a:t>
            </a:r>
          </a:p>
          <a:p>
            <a:pPr algn="l" marL="453392" indent="-226696" lvl="1">
              <a:lnSpc>
                <a:spcPts val="3150"/>
              </a:lnSpc>
              <a:buFont typeface="Arial"/>
              <a:buChar char="•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Filter capabilities for traffic examination</a:t>
            </a:r>
          </a:p>
          <a:p>
            <a:pPr algn="l">
              <a:lnSpc>
                <a:spcPts val="3150"/>
              </a:lnSpc>
            </a:pPr>
            <a:r>
              <a:rPr lang="en-US" sz="2100" spc="-63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WiFi Analyzer / WiFi Inspector (Mobile/Desktop)</a:t>
            </a:r>
          </a:p>
          <a:p>
            <a:pPr algn="l" marL="453392" indent="-226696" lvl="1">
              <a:lnSpc>
                <a:spcPts val="3150"/>
              </a:lnSpc>
              <a:buFont typeface="Arial"/>
              <a:buChar char="•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Consumer tools for signal visualization</a:t>
            </a:r>
          </a:p>
          <a:p>
            <a:pPr algn="l" marL="453392" indent="-226696" lvl="1">
              <a:lnSpc>
                <a:spcPts val="3150"/>
              </a:lnSpc>
              <a:buFont typeface="Arial"/>
              <a:buChar char="•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Channel overlap detection</a:t>
            </a:r>
          </a:p>
          <a:p>
            <a:pPr algn="l" marL="453392" indent="-226696" lvl="1">
              <a:lnSpc>
                <a:spcPts val="3150"/>
              </a:lnSpc>
              <a:buFont typeface="Arial"/>
              <a:buChar char="•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Network health monitoring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419208" y="1331595"/>
            <a:ext cx="8354442" cy="3663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sz="2599" spc="-77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4.5 Identifying Vulnerable Networks</a:t>
            </a:r>
          </a:p>
          <a:p>
            <a:pPr algn="l">
              <a:lnSpc>
                <a:spcPts val="3150"/>
              </a:lnSpc>
            </a:pPr>
            <a:r>
              <a:rPr lang="en-US" sz="2100" spc="-63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Red flags indicating weak security:</a:t>
            </a:r>
          </a:p>
          <a:p>
            <a:pPr algn="l" marL="453392" indent="-226696" lvl="1">
              <a:lnSpc>
                <a:spcPts val="3150"/>
              </a:lnSpc>
              <a:buFont typeface="Arial"/>
              <a:buChar char="•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Open WLAN (no encryption)</a:t>
            </a:r>
          </a:p>
          <a:p>
            <a:pPr algn="l" marL="453392" indent="-226696" lvl="1">
              <a:lnSpc>
                <a:spcPts val="3150"/>
              </a:lnSpc>
              <a:buFont typeface="Arial"/>
              <a:buChar char="•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WEP Encryption (completely broken)</a:t>
            </a:r>
          </a:p>
          <a:p>
            <a:pPr algn="l" marL="453392" indent="-226696" lvl="1">
              <a:lnSpc>
                <a:spcPts val="3150"/>
              </a:lnSpc>
              <a:buFont typeface="Arial"/>
              <a:buChar char="•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Hidden SSID (false sense of security)</a:t>
            </a:r>
          </a:p>
          <a:p>
            <a:pPr algn="l" marL="453392" indent="-226696" lvl="1">
              <a:lnSpc>
                <a:spcPts val="3150"/>
              </a:lnSpc>
              <a:buFont typeface="Arial"/>
              <a:buChar char="•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Default SSID (indicates default credentials likely unchanged)</a:t>
            </a:r>
          </a:p>
          <a:p>
            <a:pPr algn="l" marL="453392" indent="-226696" lvl="1">
              <a:lnSpc>
                <a:spcPts val="3150"/>
              </a:lnSpc>
              <a:buFont typeface="Arial"/>
              <a:buChar char="•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Low Signal Strength (indicates AP location)</a:t>
            </a:r>
          </a:p>
          <a:p>
            <a:pPr algn="l" marL="453392" indent="-226696" lvl="1">
              <a:lnSpc>
                <a:spcPts val="3150"/>
              </a:lnSpc>
              <a:buFont typeface="Arial"/>
              <a:buChar char="•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WPA2-PSK with weak password (attackable)</a:t>
            </a:r>
          </a:p>
          <a:p>
            <a:pPr algn="l" marL="453392" indent="-226696" lvl="1">
              <a:lnSpc>
                <a:spcPts val="3150"/>
              </a:lnSpc>
              <a:buFont typeface="Arial"/>
              <a:buChar char="•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MAC Filtering Only (trivial to spoof)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66750" y="1331595"/>
            <a:ext cx="8306267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b="true" sz="2599" spc="-77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4.4 Common Wardriving Tools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371475"/>
            <a:ext cx="17106900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00"/>
              </a:lnSpc>
            </a:pPr>
            <a:r>
              <a:rPr lang="en-US" sz="4800" spc="-144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Module 5: Wireless Attack Techniques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336367" y="399423"/>
            <a:ext cx="1437283" cy="773711"/>
            <a:chOff x="0" y="0"/>
            <a:chExt cx="1916377" cy="1031614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031614" cy="1031614"/>
              <a:chOff x="0" y="0"/>
              <a:chExt cx="812800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884763" y="0"/>
              <a:ext cx="1031614" cy="1031614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0" id="10"/>
            <p:cNvSpPr/>
            <p:nvPr/>
          </p:nvSpPr>
          <p:spPr>
            <a:xfrm flipH="false" flipV="false" rot="0">
              <a:off x="92096" y="241984"/>
              <a:ext cx="847423" cy="547647"/>
            </a:xfrm>
            <a:custGeom>
              <a:avLst/>
              <a:gdLst/>
              <a:ahLst/>
              <a:cxnLst/>
              <a:rect r="r" b="b" t="t" l="l"/>
              <a:pathLst>
                <a:path h="547647" w="847423">
                  <a:moveTo>
                    <a:pt x="0" y="0"/>
                  </a:moveTo>
                  <a:lnTo>
                    <a:pt x="847422" y="0"/>
                  </a:lnTo>
                  <a:lnTo>
                    <a:pt x="847422" y="547647"/>
                  </a:lnTo>
                  <a:lnTo>
                    <a:pt x="0" y="5476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084334" y="199570"/>
              <a:ext cx="632473" cy="632473"/>
            </a:xfrm>
            <a:custGeom>
              <a:avLst/>
              <a:gdLst/>
              <a:ahLst/>
              <a:cxnLst/>
              <a:rect r="r" b="b" t="t" l="l"/>
              <a:pathLst>
                <a:path h="632473" w="632473">
                  <a:moveTo>
                    <a:pt x="0" y="0"/>
                  </a:moveTo>
                  <a:lnTo>
                    <a:pt x="632473" y="0"/>
                  </a:lnTo>
                  <a:lnTo>
                    <a:pt x="632473" y="632474"/>
                  </a:lnTo>
                  <a:lnTo>
                    <a:pt x="0" y="6324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9419208" y="1331595"/>
            <a:ext cx="8354442" cy="7987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sz="2599" spc="-77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5.2 De-authentication Attack</a:t>
            </a:r>
          </a:p>
          <a:p>
            <a:pPr algn="l">
              <a:lnSpc>
                <a:spcPts val="2879"/>
              </a:lnSpc>
            </a:pPr>
            <a:r>
              <a:rPr lang="en-US" sz="2400" spc="-72" b="tru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Concept: </a:t>
            </a:r>
            <a:r>
              <a:rPr lang="en-US" sz="2400" spc="-72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Force client disconnection, capture re-association/handshake, or cause denial of service</a:t>
            </a:r>
          </a:p>
          <a:p>
            <a:pPr algn="l">
              <a:lnSpc>
                <a:spcPts val="3150"/>
              </a:lnSpc>
            </a:pPr>
            <a:r>
              <a:rPr lang="en-US" sz="2100" spc="-63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Mechanism:</a:t>
            </a:r>
          </a:p>
          <a:p>
            <a:pPr algn="l" marL="453392" indent="-226696" lvl="1">
              <a:lnSpc>
                <a:spcPts val="3150"/>
              </a:lnSpc>
              <a:buFont typeface="Arial"/>
              <a:buChar char="•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De-authentication frames (type 0) are unencrypted even in WPA2</a:t>
            </a:r>
          </a:p>
          <a:p>
            <a:pPr algn="l" marL="453392" indent="-226696" lvl="1">
              <a:lnSpc>
                <a:spcPts val="3150"/>
              </a:lnSpc>
              <a:buFont typeface="Arial"/>
              <a:buChar char="•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Attacker forges frame: source = AP MAC, destination = client MAC</a:t>
            </a:r>
          </a:p>
          <a:p>
            <a:pPr algn="l" marL="453392" indent="-226696" lvl="1">
              <a:lnSpc>
                <a:spcPts val="3150"/>
              </a:lnSpc>
              <a:buFont typeface="Arial"/>
              <a:buChar char="•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Client receives a disconnect, must reassociate</a:t>
            </a:r>
          </a:p>
          <a:p>
            <a:pPr algn="l" marL="453392" indent="-226696" lvl="1">
              <a:lnSpc>
                <a:spcPts val="3150"/>
              </a:lnSpc>
              <a:buFont typeface="Arial"/>
              <a:buChar char="•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WPA3 prevents this by encrypting management frames</a:t>
            </a:r>
          </a:p>
          <a:p>
            <a:pPr algn="l">
              <a:lnSpc>
                <a:spcPts val="3150"/>
              </a:lnSpc>
            </a:pPr>
            <a:r>
              <a:rPr lang="en-US" sz="2100" spc="-63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Attack Chain:</a:t>
            </a:r>
          </a:p>
          <a:p>
            <a:pPr algn="l" marL="453392" indent="-226696" lvl="1">
              <a:lnSpc>
                <a:spcPts val="3150"/>
              </a:lnSpc>
              <a:buAutoNum type="arabicPeriod" startAt="1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Monitor for clients connected to AP</a:t>
            </a:r>
          </a:p>
          <a:p>
            <a:pPr algn="l" marL="453392" indent="-226696" lvl="1">
              <a:lnSpc>
                <a:spcPts val="3150"/>
              </a:lnSpc>
              <a:buAutoNum type="arabicPeriod" startAt="1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Send de-auth to a specific client</a:t>
            </a:r>
          </a:p>
          <a:p>
            <a:pPr algn="l" marL="453392" indent="-226696" lvl="1">
              <a:lnSpc>
                <a:spcPts val="3150"/>
              </a:lnSpc>
              <a:buAutoNum type="arabicPeriod" startAt="1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Client disconnects and roams</a:t>
            </a:r>
          </a:p>
          <a:p>
            <a:pPr algn="l" marL="453392" indent="-226696" lvl="1">
              <a:lnSpc>
                <a:spcPts val="3150"/>
              </a:lnSpc>
              <a:buAutoNum type="arabicPeriod" startAt="1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Client attempts reconnection</a:t>
            </a:r>
          </a:p>
          <a:p>
            <a:pPr algn="l" marL="453392" indent="-226696" lvl="1">
              <a:lnSpc>
                <a:spcPts val="3150"/>
              </a:lnSpc>
              <a:buAutoNum type="arabicPeriod" startAt="1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Capture 4-way handshake</a:t>
            </a:r>
          </a:p>
          <a:p>
            <a:pPr algn="l" marL="453392" indent="-226696" lvl="1">
              <a:lnSpc>
                <a:spcPts val="3150"/>
              </a:lnSpc>
              <a:buAutoNum type="arabicPeriod" startAt="1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Offline password cracking</a:t>
            </a:r>
          </a:p>
          <a:p>
            <a:pPr algn="l">
              <a:lnSpc>
                <a:spcPts val="3150"/>
              </a:lnSpc>
            </a:pPr>
            <a:r>
              <a:rPr lang="en-US" sz="2100" spc="-63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Countermeasures:</a:t>
            </a:r>
          </a:p>
          <a:p>
            <a:pPr algn="l" marL="453392" indent="-226696" lvl="1">
              <a:lnSpc>
                <a:spcPts val="3150"/>
              </a:lnSpc>
              <a:buFont typeface="Arial"/>
              <a:buChar char="•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802.11w (Management Frame Protection) in WPA2</a:t>
            </a:r>
          </a:p>
          <a:p>
            <a:pPr algn="l" marL="453392" indent="-226696" lvl="1">
              <a:lnSpc>
                <a:spcPts val="3150"/>
              </a:lnSpc>
              <a:buFont typeface="Arial"/>
              <a:buChar char="•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Mandatory in WPA3</a:t>
            </a:r>
          </a:p>
          <a:p>
            <a:pPr algn="l" marL="453392" indent="-226696" lvl="1">
              <a:lnSpc>
                <a:spcPts val="3150"/>
              </a:lnSpc>
              <a:buFont typeface="Arial"/>
              <a:buChar char="•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Not enabled by default on many legacy devices</a:t>
            </a:r>
          </a:p>
          <a:p>
            <a:pPr algn="l">
              <a:lnSpc>
                <a:spcPts val="3150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666750" y="1331595"/>
            <a:ext cx="8354442" cy="8387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sz="2599" spc="-77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5.1 Evil Twin / Rogue Access Point Attack</a:t>
            </a:r>
          </a:p>
          <a:p>
            <a:pPr algn="l">
              <a:lnSpc>
                <a:spcPts val="2879"/>
              </a:lnSpc>
            </a:pPr>
            <a:r>
              <a:rPr lang="en-US" sz="2400" spc="-72" b="tru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Concept: </a:t>
            </a:r>
            <a:r>
              <a:rPr lang="en-US" sz="2400" spc="-72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Attacker creates a fake AP with a legitimate SSID to intercept traffic</a:t>
            </a:r>
          </a:p>
          <a:p>
            <a:pPr algn="l">
              <a:lnSpc>
                <a:spcPts val="3150"/>
              </a:lnSpc>
            </a:pPr>
            <a:r>
              <a:rPr lang="en-US" sz="2100" spc="-63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Execution Steps:</a:t>
            </a:r>
          </a:p>
          <a:p>
            <a:pPr algn="l" marL="453392" indent="-226696" lvl="1">
              <a:lnSpc>
                <a:spcPts val="3150"/>
              </a:lnSpc>
              <a:buFont typeface="Arial"/>
              <a:buChar char="•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Identify target SSID and security settings (open networks are easier)</a:t>
            </a:r>
          </a:p>
          <a:p>
            <a:pPr algn="l" marL="453392" indent="-226696" lvl="1">
              <a:lnSpc>
                <a:spcPts val="3150"/>
              </a:lnSpc>
              <a:buFont typeface="Arial"/>
              <a:buChar char="•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Configure the attacker's laptop as an AP using hostapd or similar</a:t>
            </a:r>
          </a:p>
          <a:p>
            <a:pPr algn="l" marL="453392" indent="-226696" lvl="1">
              <a:lnSpc>
                <a:spcPts val="3150"/>
              </a:lnSpc>
              <a:buFont typeface="Arial"/>
              <a:buChar char="•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Broadcast the same SSID, with an optionally stronger signal than the legitimate AP</a:t>
            </a:r>
          </a:p>
          <a:p>
            <a:pPr algn="l" marL="453392" indent="-226696" lvl="1">
              <a:lnSpc>
                <a:spcPts val="3150"/>
              </a:lnSpc>
              <a:buFont typeface="Arial"/>
              <a:buChar char="•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Disable WPA/encryption or use a known password</a:t>
            </a:r>
          </a:p>
          <a:p>
            <a:pPr algn="l" marL="453392" indent="-226696" lvl="1">
              <a:lnSpc>
                <a:spcPts val="3150"/>
              </a:lnSpc>
              <a:buFont typeface="Arial"/>
              <a:buChar char="•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Clients connect to rogue AP</a:t>
            </a:r>
          </a:p>
          <a:p>
            <a:pPr algn="l" marL="453392" indent="-226696" lvl="1">
              <a:lnSpc>
                <a:spcPts val="3150"/>
              </a:lnSpc>
              <a:buFont typeface="Arial"/>
              <a:buChar char="•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Attacker performs a man-in-the-middle attack or harvests credentials</a:t>
            </a:r>
          </a:p>
          <a:p>
            <a:pPr algn="l">
              <a:lnSpc>
                <a:spcPts val="3150"/>
              </a:lnSpc>
            </a:pPr>
            <a:r>
              <a:rPr lang="en-US" sz="2100" spc="-63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Impact:</a:t>
            </a:r>
          </a:p>
          <a:p>
            <a:pPr algn="l" marL="453392" indent="-226696" lvl="1">
              <a:lnSpc>
                <a:spcPts val="3150"/>
              </a:lnSpc>
              <a:buFont typeface="Arial"/>
              <a:buChar char="•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Credential harvesting (SSL stripping removes HTTPS)</a:t>
            </a:r>
          </a:p>
          <a:p>
            <a:pPr algn="l" marL="453392" indent="-226696" lvl="1">
              <a:lnSpc>
                <a:spcPts val="3150"/>
              </a:lnSpc>
              <a:buFont typeface="Arial"/>
              <a:buChar char="•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Session hijacking</a:t>
            </a:r>
          </a:p>
          <a:p>
            <a:pPr algn="l" marL="453392" indent="-226696" lvl="1">
              <a:lnSpc>
                <a:spcPts val="3150"/>
              </a:lnSpc>
              <a:buFont typeface="Arial"/>
              <a:buChar char="•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Malware distribution</a:t>
            </a:r>
          </a:p>
          <a:p>
            <a:pPr algn="l" marL="453392" indent="-226696" lvl="1">
              <a:lnSpc>
                <a:spcPts val="3150"/>
              </a:lnSpc>
              <a:buFont typeface="Arial"/>
              <a:buChar char="•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Traffic inspection</a:t>
            </a:r>
          </a:p>
          <a:p>
            <a:pPr algn="l">
              <a:lnSpc>
                <a:spcPts val="3150"/>
              </a:lnSpc>
            </a:pPr>
          </a:p>
          <a:p>
            <a:pPr algn="l">
              <a:lnSpc>
                <a:spcPts val="3150"/>
              </a:lnSpc>
            </a:pPr>
            <a:r>
              <a:rPr lang="en-US" sz="2100" spc="-63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Real Example: </a:t>
            </a: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Starbucks "Free Wifi" spoofing has affected thousands of users connecting to fake networks</a:t>
            </a:r>
          </a:p>
          <a:p>
            <a:pPr algn="l">
              <a:lnSpc>
                <a:spcPts val="3150"/>
              </a:lnSpc>
            </a:p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371475"/>
            <a:ext cx="17106900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00"/>
              </a:lnSpc>
            </a:pPr>
            <a:r>
              <a:rPr lang="en-US" sz="4800" spc="-144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Module 5: Wireless Attack Techniques (Cont’d)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336367" y="399423"/>
            <a:ext cx="1437283" cy="773711"/>
            <a:chOff x="0" y="0"/>
            <a:chExt cx="1916377" cy="1031614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031614" cy="1031614"/>
              <a:chOff x="0" y="0"/>
              <a:chExt cx="812800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884763" y="0"/>
              <a:ext cx="1031614" cy="1031614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0" id="10"/>
            <p:cNvSpPr/>
            <p:nvPr/>
          </p:nvSpPr>
          <p:spPr>
            <a:xfrm flipH="false" flipV="false" rot="0">
              <a:off x="92096" y="241984"/>
              <a:ext cx="847423" cy="547647"/>
            </a:xfrm>
            <a:custGeom>
              <a:avLst/>
              <a:gdLst/>
              <a:ahLst/>
              <a:cxnLst/>
              <a:rect r="r" b="b" t="t" l="l"/>
              <a:pathLst>
                <a:path h="547647" w="847423">
                  <a:moveTo>
                    <a:pt x="0" y="0"/>
                  </a:moveTo>
                  <a:lnTo>
                    <a:pt x="847422" y="0"/>
                  </a:lnTo>
                  <a:lnTo>
                    <a:pt x="847422" y="547647"/>
                  </a:lnTo>
                  <a:lnTo>
                    <a:pt x="0" y="5476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084334" y="199570"/>
              <a:ext cx="632473" cy="632473"/>
            </a:xfrm>
            <a:custGeom>
              <a:avLst/>
              <a:gdLst/>
              <a:ahLst/>
              <a:cxnLst/>
              <a:rect r="r" b="b" t="t" l="l"/>
              <a:pathLst>
                <a:path h="632473" w="632473">
                  <a:moveTo>
                    <a:pt x="0" y="0"/>
                  </a:moveTo>
                  <a:lnTo>
                    <a:pt x="632473" y="0"/>
                  </a:lnTo>
                  <a:lnTo>
                    <a:pt x="632473" y="632474"/>
                  </a:lnTo>
                  <a:lnTo>
                    <a:pt x="0" y="6324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9419208" y="1796578"/>
            <a:ext cx="8354442" cy="5785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399" spc="-71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Tools:</a:t>
            </a:r>
          </a:p>
          <a:p>
            <a:pPr algn="l" marL="518158" indent="-259079" lvl="1">
              <a:lnSpc>
                <a:spcPts val="3599"/>
              </a:lnSpc>
              <a:buFont typeface="Arial"/>
              <a:buChar char="•"/>
            </a:pPr>
            <a:r>
              <a:rPr lang="en-US" sz="2399" spc="-71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aircrack-ng:</a:t>
            </a:r>
            <a:r>
              <a:rPr lang="en-US" sz="2399" spc="-71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CPU cracking</a:t>
            </a:r>
          </a:p>
          <a:p>
            <a:pPr algn="l" marL="518158" indent="-259079" lvl="1">
              <a:lnSpc>
                <a:spcPts val="3599"/>
              </a:lnSpc>
              <a:buFont typeface="Arial"/>
              <a:buChar char="•"/>
            </a:pPr>
            <a:r>
              <a:rPr lang="en-US" sz="2399" spc="-71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hashcat:</a:t>
            </a:r>
            <a:r>
              <a:rPr lang="en-US" sz="2399" spc="-71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GPU acceleration (100x faster)</a:t>
            </a:r>
          </a:p>
          <a:p>
            <a:pPr algn="l" marL="518158" indent="-259079" lvl="1">
              <a:lnSpc>
                <a:spcPts val="3599"/>
              </a:lnSpc>
              <a:buFont typeface="Arial"/>
              <a:buChar char="•"/>
            </a:pPr>
            <a:r>
              <a:rPr lang="en-US" sz="2399" spc="-71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Rainbow tables:</a:t>
            </a:r>
            <a:r>
              <a:rPr lang="en-US" sz="2399" spc="-71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Pre-computed hashes (requires storage)</a:t>
            </a:r>
          </a:p>
          <a:p>
            <a:pPr algn="l">
              <a:lnSpc>
                <a:spcPts val="3599"/>
              </a:lnSpc>
            </a:pPr>
            <a:r>
              <a:rPr lang="en-US" sz="2399" spc="-71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Example Timeline:</a:t>
            </a:r>
          </a:p>
          <a:p>
            <a:pPr algn="l" marL="518158" indent="-259079" lvl="1">
              <a:lnSpc>
                <a:spcPts val="3599"/>
              </a:lnSpc>
              <a:buFont typeface="Arial"/>
              <a:buChar char="•"/>
            </a:pPr>
            <a:r>
              <a:rPr lang="en-US" sz="2399" spc="-71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8-character password: ~30 minutes (GPU)</a:t>
            </a:r>
          </a:p>
          <a:p>
            <a:pPr algn="l" marL="518158" indent="-259079" lvl="1">
              <a:lnSpc>
                <a:spcPts val="3599"/>
              </a:lnSpc>
              <a:buFont typeface="Arial"/>
              <a:buChar char="•"/>
            </a:pPr>
            <a:r>
              <a:rPr lang="en-US" sz="2399" spc="-71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12-character password: ~8 hours (GPU)</a:t>
            </a:r>
          </a:p>
          <a:p>
            <a:pPr algn="l" marL="518158" indent="-259079" lvl="1">
              <a:lnSpc>
                <a:spcPts val="3599"/>
              </a:lnSpc>
              <a:buFont typeface="Arial"/>
              <a:buChar char="•"/>
            </a:pPr>
            <a:r>
              <a:rPr lang="en-US" sz="2399" spc="-71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20-character random: ~10^26 possibilities (computationally impossible)</a:t>
            </a:r>
          </a:p>
          <a:p>
            <a:pPr algn="l">
              <a:lnSpc>
                <a:spcPts val="3599"/>
              </a:lnSpc>
            </a:pPr>
            <a:r>
              <a:rPr lang="en-US" sz="2399" spc="-71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Mitigation:</a:t>
            </a:r>
          </a:p>
          <a:p>
            <a:pPr algn="l" marL="518158" indent="-259079" lvl="1">
              <a:lnSpc>
                <a:spcPts val="3599"/>
              </a:lnSpc>
              <a:buFont typeface="Arial"/>
              <a:buChar char="•"/>
            </a:pPr>
            <a:r>
              <a:rPr lang="en-US" sz="2399" spc="-71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Use a strong passphrase (20+ characters)</a:t>
            </a:r>
          </a:p>
          <a:p>
            <a:pPr algn="l" marL="518158" indent="-259079" lvl="1">
              <a:lnSpc>
                <a:spcPts val="3599"/>
              </a:lnSpc>
              <a:buFont typeface="Arial"/>
              <a:buChar char="•"/>
            </a:pPr>
            <a:r>
              <a:rPr lang="en-US" sz="2399" spc="-71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Use WPA2/WPA3-Enterprise with 802.1X</a:t>
            </a:r>
          </a:p>
          <a:p>
            <a:pPr algn="l">
              <a:lnSpc>
                <a:spcPts val="3599"/>
              </a:lnSpc>
            </a:pPr>
            <a:r>
              <a:rPr lang="en-US" sz="2399" spc="-71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Avoid dictionary words, use mixed case + numbers + symbols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66750" y="1331595"/>
            <a:ext cx="8354442" cy="6276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sz="2599" spc="-77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5.3 Dictionary/Brute Force Attack </a:t>
            </a:r>
            <a:r>
              <a:rPr lang="en-US" sz="2599" spc="-77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on WPA2-PSK</a:t>
            </a:r>
          </a:p>
          <a:p>
            <a:pPr algn="l">
              <a:lnSpc>
                <a:spcPts val="3599"/>
              </a:lnSpc>
            </a:pPr>
            <a:r>
              <a:rPr lang="en-US" sz="2399" spc="-71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Prerequisites:</a:t>
            </a:r>
          </a:p>
          <a:p>
            <a:pPr algn="l" marL="518158" indent="-259079" lvl="1">
              <a:lnSpc>
                <a:spcPts val="3599"/>
              </a:lnSpc>
              <a:buFont typeface="Arial"/>
              <a:buChar char="•"/>
            </a:pPr>
            <a:r>
              <a:rPr lang="en-US" sz="2399" spc="-71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4-way handshake captured (pcap file)</a:t>
            </a:r>
          </a:p>
          <a:p>
            <a:pPr algn="l" marL="518158" indent="-259079" lvl="1">
              <a:lnSpc>
                <a:spcPts val="3599"/>
              </a:lnSpc>
              <a:buFont typeface="Arial"/>
              <a:buChar char="•"/>
            </a:pPr>
            <a:r>
              <a:rPr lang="en-US" sz="2399" spc="-71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Target SSID known</a:t>
            </a:r>
          </a:p>
          <a:p>
            <a:pPr algn="l">
              <a:lnSpc>
                <a:spcPts val="3599"/>
              </a:lnSpc>
            </a:pPr>
            <a:r>
              <a:rPr lang="en-US" sz="2399" spc="-71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Attack</a:t>
            </a:r>
            <a:r>
              <a:rPr lang="en-US" sz="2399" spc="-71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 Process:</a:t>
            </a:r>
          </a:p>
          <a:p>
            <a:pPr algn="l" marL="518158" indent="-259079" lvl="1">
              <a:lnSpc>
                <a:spcPts val="3599"/>
              </a:lnSpc>
              <a:buAutoNum type="arabicPeriod" startAt="1"/>
            </a:pPr>
            <a:r>
              <a:rPr lang="en-US" sz="2399" spc="-71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Extract ANonce, SNonce, and MIC from handshake capture.</a:t>
            </a:r>
          </a:p>
          <a:p>
            <a:pPr algn="l" marL="518158" indent="-259079" lvl="1">
              <a:lnSpc>
                <a:spcPts val="3599"/>
              </a:lnSpc>
              <a:buAutoNum type="arabicPeriod" startAt="1"/>
            </a:pPr>
            <a:r>
              <a:rPr lang="en-US" sz="2399" spc="-71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F</a:t>
            </a:r>
            <a:r>
              <a:rPr lang="en-US" sz="2399" spc="-71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or each password in the dictionary:</a:t>
            </a:r>
          </a:p>
          <a:p>
            <a:pPr algn="l" marL="1036317" indent="-345439" lvl="2">
              <a:lnSpc>
                <a:spcPts val="3599"/>
              </a:lnSpc>
              <a:buFont typeface="Arial"/>
              <a:buChar char="⚬"/>
            </a:pPr>
            <a:r>
              <a:rPr lang="en-US" sz="2399" spc="-71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Derive PMK = PBKDF2(password, SSID, 4096 iterations)</a:t>
            </a:r>
          </a:p>
          <a:p>
            <a:pPr algn="l" marL="1036317" indent="-345439" lvl="2">
              <a:lnSpc>
                <a:spcPts val="3599"/>
              </a:lnSpc>
              <a:buFont typeface="Arial"/>
              <a:buChar char="⚬"/>
            </a:pPr>
            <a:r>
              <a:rPr lang="en-US" sz="2399" spc="-71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Derive PTK using nonces and MAC addresses</a:t>
            </a:r>
          </a:p>
          <a:p>
            <a:pPr algn="l" marL="1036317" indent="-345439" lvl="2">
              <a:lnSpc>
                <a:spcPts val="3599"/>
              </a:lnSpc>
              <a:buFont typeface="Arial"/>
              <a:buChar char="⚬"/>
            </a:pPr>
            <a:r>
              <a:rPr lang="en-US" sz="2399" spc="-71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Calculate MIC</a:t>
            </a:r>
          </a:p>
          <a:p>
            <a:pPr algn="l" marL="1036317" indent="-345439" lvl="2">
              <a:lnSpc>
                <a:spcPts val="3599"/>
              </a:lnSpc>
              <a:buFont typeface="Arial"/>
              <a:buChar char="⚬"/>
            </a:pPr>
            <a:r>
              <a:rPr lang="en-US" sz="2399" spc="-71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Compare with captured MIC</a:t>
            </a:r>
          </a:p>
          <a:p>
            <a:pPr algn="l" marL="518158" indent="-259079" lvl="1">
              <a:lnSpc>
                <a:spcPts val="3599"/>
              </a:lnSpc>
              <a:buAutoNum type="arabicPeriod" startAt="1"/>
            </a:pPr>
            <a:r>
              <a:rPr lang="en-US" sz="2399" spc="-71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O</a:t>
            </a:r>
            <a:r>
              <a:rPr lang="en-US" sz="2399" spc="-71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n match: password found</a:t>
            </a:r>
          </a:p>
          <a:p>
            <a:pPr algn="l" marL="518158" indent="-259079" lvl="1">
              <a:lnSpc>
                <a:spcPts val="3599"/>
              </a:lnSpc>
              <a:buAutoNum type="arabicPeriod" startAt="1"/>
            </a:pPr>
            <a:r>
              <a:rPr lang="en-US" sz="2399" spc="-71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De</a:t>
            </a:r>
            <a:r>
              <a:rPr lang="en-US" sz="2399" spc="-71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crypt captured traffic using the derived key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371475"/>
            <a:ext cx="17106900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00"/>
              </a:lnSpc>
            </a:pPr>
            <a:r>
              <a:rPr lang="en-US" sz="4800" spc="-144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Module 5: Wireless Attack Techniques (Cont’d)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336367" y="399423"/>
            <a:ext cx="1437283" cy="773711"/>
            <a:chOff x="0" y="0"/>
            <a:chExt cx="1916377" cy="1031614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031614" cy="1031614"/>
              <a:chOff x="0" y="0"/>
              <a:chExt cx="812800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884763" y="0"/>
              <a:ext cx="1031614" cy="1031614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0" id="10"/>
            <p:cNvSpPr/>
            <p:nvPr/>
          </p:nvSpPr>
          <p:spPr>
            <a:xfrm flipH="false" flipV="false" rot="0">
              <a:off x="92096" y="241984"/>
              <a:ext cx="847423" cy="547647"/>
            </a:xfrm>
            <a:custGeom>
              <a:avLst/>
              <a:gdLst/>
              <a:ahLst/>
              <a:cxnLst/>
              <a:rect r="r" b="b" t="t" l="l"/>
              <a:pathLst>
                <a:path h="547647" w="847423">
                  <a:moveTo>
                    <a:pt x="0" y="0"/>
                  </a:moveTo>
                  <a:lnTo>
                    <a:pt x="847422" y="0"/>
                  </a:lnTo>
                  <a:lnTo>
                    <a:pt x="847422" y="547647"/>
                  </a:lnTo>
                  <a:lnTo>
                    <a:pt x="0" y="5476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084334" y="199570"/>
              <a:ext cx="632473" cy="632473"/>
            </a:xfrm>
            <a:custGeom>
              <a:avLst/>
              <a:gdLst/>
              <a:ahLst/>
              <a:cxnLst/>
              <a:rect r="r" b="b" t="t" l="l"/>
              <a:pathLst>
                <a:path h="632473" w="632473">
                  <a:moveTo>
                    <a:pt x="0" y="0"/>
                  </a:moveTo>
                  <a:lnTo>
                    <a:pt x="632473" y="0"/>
                  </a:lnTo>
                  <a:lnTo>
                    <a:pt x="632473" y="632474"/>
                  </a:lnTo>
                  <a:lnTo>
                    <a:pt x="0" y="6324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666750" y="1331595"/>
            <a:ext cx="8354442" cy="7658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sz="2599" spc="-77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5.4 PMKID Attack (CVE-202</a:t>
            </a:r>
            <a:r>
              <a:rPr lang="en-US" sz="2599" spc="-77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2-6031)</a:t>
            </a:r>
          </a:p>
          <a:p>
            <a:pPr algn="l">
              <a:lnSpc>
                <a:spcPts val="3899"/>
              </a:lnSpc>
            </a:pPr>
          </a:p>
          <a:p>
            <a:pPr algn="l">
              <a:lnSpc>
                <a:spcPts val="3599"/>
              </a:lnSpc>
            </a:pPr>
            <a:r>
              <a:rPr lang="en-US" sz="2399" spc="-71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Advantage Over Handshake Capture:</a:t>
            </a:r>
          </a:p>
          <a:p>
            <a:pPr algn="l" marL="518158" indent="-259079" lvl="1">
              <a:lnSpc>
                <a:spcPts val="3599"/>
              </a:lnSpc>
              <a:buFont typeface="Arial"/>
              <a:buChar char="•"/>
            </a:pPr>
            <a:r>
              <a:rPr lang="en-US" sz="2399" spc="-71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No full 4-way handshake needed</a:t>
            </a:r>
          </a:p>
          <a:p>
            <a:pPr algn="l" marL="518158" indent="-259079" lvl="1">
              <a:lnSpc>
                <a:spcPts val="3599"/>
              </a:lnSpc>
              <a:buFont typeface="Arial"/>
              <a:buChar char="•"/>
            </a:pPr>
            <a:r>
              <a:rPr lang="en-US" sz="2399" spc="-71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Extracted from a single Association Request</a:t>
            </a:r>
          </a:p>
          <a:p>
            <a:pPr algn="l" marL="518158" indent="-259079" lvl="1">
              <a:lnSpc>
                <a:spcPts val="3599"/>
              </a:lnSpc>
              <a:buFont typeface="Arial"/>
              <a:buChar char="•"/>
            </a:pPr>
            <a:r>
              <a:rPr lang="en-US" sz="2399" spc="-71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Speeds up the attack significantly</a:t>
            </a:r>
          </a:p>
          <a:p>
            <a:pPr algn="l">
              <a:lnSpc>
                <a:spcPts val="3599"/>
              </a:lnSpc>
            </a:pPr>
            <a:r>
              <a:rPr lang="en-US" sz="2399" spc="-71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Extraction Process:</a:t>
            </a:r>
          </a:p>
          <a:p>
            <a:pPr algn="l" marL="518158" indent="-259079" lvl="1">
              <a:lnSpc>
                <a:spcPts val="3599"/>
              </a:lnSpc>
              <a:buAutoNum type="arabicPeriod" startAt="1"/>
            </a:pPr>
            <a:r>
              <a:rPr lang="en-US" sz="2399" spc="-71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Listen for Association Request frames in monitor mode</a:t>
            </a:r>
          </a:p>
          <a:p>
            <a:pPr algn="l" marL="518158" indent="-259079" lvl="1">
              <a:lnSpc>
                <a:spcPts val="3599"/>
              </a:lnSpc>
              <a:buAutoNum type="arabicPeriod" startAt="1"/>
            </a:pPr>
            <a:r>
              <a:rPr lang="en-US" sz="2399" spc="-71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Extract PMKID from RSN Information Element</a:t>
            </a:r>
          </a:p>
          <a:p>
            <a:pPr algn="l" marL="518158" indent="-259079" lvl="1">
              <a:lnSpc>
                <a:spcPts val="3599"/>
              </a:lnSpc>
              <a:buAutoNum type="arabicPeriod" startAt="1"/>
            </a:pPr>
            <a:r>
              <a:rPr lang="en-US" sz="2399" spc="-71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Save PMKID and SSID</a:t>
            </a:r>
          </a:p>
          <a:p>
            <a:pPr algn="l">
              <a:lnSpc>
                <a:spcPts val="3599"/>
              </a:lnSpc>
            </a:pPr>
            <a:r>
              <a:rPr lang="en-US" sz="2399" spc="-71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Offline Cracking:</a:t>
            </a:r>
          </a:p>
          <a:p>
            <a:pPr algn="l" marL="518158" indent="-259079" lvl="1">
              <a:lnSpc>
                <a:spcPts val="3599"/>
              </a:lnSpc>
              <a:buFont typeface="Arial"/>
              <a:buChar char="•"/>
            </a:pPr>
            <a:r>
              <a:rPr lang="en-US" sz="2399" spc="-71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Attempt PBKDF2 against PMKID</a:t>
            </a:r>
          </a:p>
          <a:p>
            <a:pPr algn="l" marL="518158" indent="-259079" lvl="1">
              <a:lnSpc>
                <a:spcPts val="3599"/>
              </a:lnSpc>
              <a:buFont typeface="Arial"/>
              <a:buChar char="•"/>
            </a:pPr>
            <a:r>
              <a:rPr lang="en-US" sz="2399" spc="-71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Faster verification than a full handshake MIC check</a:t>
            </a:r>
          </a:p>
          <a:p>
            <a:pPr algn="l" marL="518158" indent="-259079" lvl="1">
              <a:lnSpc>
                <a:spcPts val="3599"/>
              </a:lnSpc>
              <a:buFont typeface="Arial"/>
              <a:buChar char="•"/>
            </a:pPr>
            <a:r>
              <a:rPr lang="en-US" sz="2399" spc="-71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Same password results</a:t>
            </a:r>
          </a:p>
          <a:p>
            <a:pPr algn="l">
              <a:lnSpc>
                <a:spcPts val="3599"/>
              </a:lnSpc>
            </a:pPr>
            <a:r>
              <a:rPr lang="en-US" sz="2399" spc="-71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Tools:</a:t>
            </a:r>
          </a:p>
          <a:p>
            <a:pPr algn="l" marL="518158" indent="-259079" lvl="1">
              <a:lnSpc>
                <a:spcPts val="3599"/>
              </a:lnSpc>
              <a:buFont typeface="Arial"/>
              <a:buChar char="•"/>
            </a:pPr>
            <a:r>
              <a:rPr lang="en-US" sz="2399" spc="-71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hcxdumptool: PMKID extraction</a:t>
            </a:r>
          </a:p>
          <a:p>
            <a:pPr algn="l" marL="518158" indent="-259079" lvl="1">
              <a:lnSpc>
                <a:spcPts val="3599"/>
              </a:lnSpc>
              <a:buFont typeface="Arial"/>
              <a:buChar char="•"/>
            </a:pPr>
            <a:r>
              <a:rPr lang="en-US" sz="2399" spc="-71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hashcat: PMKID cracking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371475"/>
            <a:ext cx="17106900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00"/>
              </a:lnSpc>
            </a:pPr>
            <a:r>
              <a:rPr lang="en-US" sz="4800" spc="-144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Module 6: Case Studies &amp; Real-World Breaches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336367" y="399423"/>
            <a:ext cx="1437283" cy="773711"/>
            <a:chOff x="0" y="0"/>
            <a:chExt cx="1916377" cy="1031614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031614" cy="1031614"/>
              <a:chOff x="0" y="0"/>
              <a:chExt cx="812800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884763" y="0"/>
              <a:ext cx="1031614" cy="1031614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0" id="10"/>
            <p:cNvSpPr/>
            <p:nvPr/>
          </p:nvSpPr>
          <p:spPr>
            <a:xfrm flipH="false" flipV="false" rot="0">
              <a:off x="92096" y="241984"/>
              <a:ext cx="847423" cy="547647"/>
            </a:xfrm>
            <a:custGeom>
              <a:avLst/>
              <a:gdLst/>
              <a:ahLst/>
              <a:cxnLst/>
              <a:rect r="r" b="b" t="t" l="l"/>
              <a:pathLst>
                <a:path h="547647" w="847423">
                  <a:moveTo>
                    <a:pt x="0" y="0"/>
                  </a:moveTo>
                  <a:lnTo>
                    <a:pt x="847422" y="0"/>
                  </a:lnTo>
                  <a:lnTo>
                    <a:pt x="847422" y="547647"/>
                  </a:lnTo>
                  <a:lnTo>
                    <a:pt x="0" y="5476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084334" y="199570"/>
              <a:ext cx="632473" cy="632473"/>
            </a:xfrm>
            <a:custGeom>
              <a:avLst/>
              <a:gdLst/>
              <a:ahLst/>
              <a:cxnLst/>
              <a:rect r="r" b="b" t="t" l="l"/>
              <a:pathLst>
                <a:path h="632473" w="632473">
                  <a:moveTo>
                    <a:pt x="0" y="0"/>
                  </a:moveTo>
                  <a:lnTo>
                    <a:pt x="632473" y="0"/>
                  </a:lnTo>
                  <a:lnTo>
                    <a:pt x="632473" y="632474"/>
                  </a:lnTo>
                  <a:lnTo>
                    <a:pt x="0" y="6324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9021192" y="1331595"/>
            <a:ext cx="8752458" cy="868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sz="2599" spc="-77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6.2 KRACK Attack (2017)</a:t>
            </a:r>
          </a:p>
          <a:p>
            <a:pPr algn="l">
              <a:lnSpc>
                <a:spcPts val="3600"/>
              </a:lnSpc>
            </a:pPr>
            <a:r>
              <a:rPr lang="en-US" sz="2400" spc="-72" b="tru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Discovery:</a:t>
            </a:r>
            <a:r>
              <a:rPr lang="en-US" sz="2400" spc="-72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 Mathy Vanhoef and Frank Piessens, University of Leuven</a:t>
            </a:r>
          </a:p>
          <a:p>
            <a:pPr algn="l">
              <a:lnSpc>
                <a:spcPts val="3600"/>
              </a:lnSpc>
            </a:pPr>
          </a:p>
          <a:p>
            <a:pPr algn="l">
              <a:lnSpc>
                <a:spcPts val="3600"/>
              </a:lnSpc>
            </a:pPr>
            <a:r>
              <a:rPr lang="en-US" sz="2400" spc="-72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Affected:</a:t>
            </a:r>
            <a:r>
              <a:rPr lang="en-US" sz="2400" spc="-72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All WPA2 implementations (vendor-specific variations)</a:t>
            </a:r>
          </a:p>
          <a:p>
            <a:pPr algn="l">
              <a:lnSpc>
                <a:spcPts val="3600"/>
              </a:lnSpc>
            </a:pPr>
            <a:r>
              <a:rPr lang="en-US" sz="2400" spc="-72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Attack Details:</a:t>
            </a:r>
          </a:p>
          <a:p>
            <a:pPr algn="l" marL="518160" indent="-259080" lvl="1">
              <a:lnSpc>
                <a:spcPts val="3600"/>
              </a:lnSpc>
              <a:buFont typeface="Arial"/>
              <a:buChar char="•"/>
            </a:pPr>
            <a:r>
              <a:rPr lang="en-US" sz="2400" spc="-72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Exploits 4-way handshake retransmission logic</a:t>
            </a:r>
          </a:p>
          <a:p>
            <a:pPr algn="l" marL="518160" indent="-259080" lvl="1">
              <a:lnSpc>
                <a:spcPts val="3600"/>
              </a:lnSpc>
              <a:buFont typeface="Arial"/>
              <a:buChar char="•"/>
            </a:pPr>
            <a:r>
              <a:rPr lang="en-US" sz="2400" spc="-72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Forces the client to reinstall PTK with the replayed nonce</a:t>
            </a:r>
          </a:p>
          <a:p>
            <a:pPr algn="l" marL="518160" indent="-259080" lvl="1">
              <a:lnSpc>
                <a:spcPts val="3600"/>
              </a:lnSpc>
              <a:buFont typeface="Arial"/>
              <a:buChar char="•"/>
            </a:pPr>
            <a:r>
              <a:rPr lang="en-US" sz="2400" spc="-72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Enables decryption of data frames post-handshake</a:t>
            </a:r>
          </a:p>
          <a:p>
            <a:pPr algn="l" marL="518160" indent="-259080" lvl="1">
              <a:lnSpc>
                <a:spcPts val="3600"/>
              </a:lnSpc>
              <a:buFont typeface="Arial"/>
              <a:buChar char="•"/>
            </a:pPr>
            <a:r>
              <a:rPr lang="en-US" sz="2400" spc="-72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Additional impact on some implementations: nonce reset to 0</a:t>
            </a:r>
          </a:p>
          <a:p>
            <a:pPr algn="l">
              <a:lnSpc>
                <a:spcPts val="3600"/>
              </a:lnSpc>
            </a:pPr>
            <a:r>
              <a:rPr lang="en-US" sz="2400" spc="-72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Vendors Affected:</a:t>
            </a:r>
          </a:p>
          <a:p>
            <a:pPr algn="l" marL="518160" indent="-259080" lvl="1">
              <a:lnSpc>
                <a:spcPts val="3600"/>
              </a:lnSpc>
              <a:buFont typeface="Arial"/>
              <a:buChar char="•"/>
            </a:pPr>
            <a:r>
              <a:rPr lang="en-US" sz="2400" spc="-72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Android 6.0: Complete key reinstallation, all traffic decryptable</a:t>
            </a:r>
          </a:p>
          <a:p>
            <a:pPr algn="l" marL="518160" indent="-259080" lvl="1">
              <a:lnSpc>
                <a:spcPts val="3600"/>
              </a:lnSpc>
              <a:buFont typeface="Arial"/>
              <a:buChar char="•"/>
            </a:pPr>
            <a:r>
              <a:rPr lang="en-US" sz="2400" spc="-72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macOS/iOS: Partial impact (key not reset)</a:t>
            </a:r>
          </a:p>
          <a:p>
            <a:pPr algn="l" marL="518160" indent="-259080" lvl="1">
              <a:lnSpc>
                <a:spcPts val="3600"/>
              </a:lnSpc>
              <a:buFont typeface="Arial"/>
              <a:buChar char="•"/>
            </a:pPr>
            <a:r>
              <a:rPr lang="en-US" sz="2400" spc="-72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Windows: Limited impact (only ARP traffic)</a:t>
            </a:r>
          </a:p>
          <a:p>
            <a:pPr algn="l" marL="518160" indent="-259080" lvl="1">
              <a:lnSpc>
                <a:spcPts val="3600"/>
              </a:lnSpc>
              <a:buFont typeface="Arial"/>
              <a:buChar char="•"/>
            </a:pPr>
            <a:r>
              <a:rPr lang="en-US" sz="2400" spc="-72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Linux (wpa_supplicant): Complete impact on older versions</a:t>
            </a:r>
          </a:p>
          <a:p>
            <a:pPr algn="l">
              <a:lnSpc>
                <a:spcPts val="3600"/>
              </a:lnSpc>
            </a:pPr>
          </a:p>
          <a:p>
            <a:pPr algn="l">
              <a:lnSpc>
                <a:spcPts val="3600"/>
              </a:lnSpc>
            </a:pPr>
            <a:r>
              <a:rPr lang="en-US" b="true" sz="2400" spc="-72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Resolution:</a:t>
            </a:r>
            <a:r>
              <a:rPr lang="en-US" sz="2400" spc="-72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802.11w Management Frame Protection makes an attack infeasible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66750" y="1331595"/>
            <a:ext cx="8040334" cy="5918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 spc="-72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6.1 WEP Cracking (Historical - 2004)</a:t>
            </a:r>
          </a:p>
          <a:p>
            <a:pPr algn="l">
              <a:lnSpc>
                <a:spcPts val="3600"/>
              </a:lnSpc>
            </a:pPr>
            <a:r>
              <a:rPr lang="en-US" sz="2400" spc="-72" b="tru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Context:</a:t>
            </a:r>
            <a:r>
              <a:rPr lang="en-US" sz="2400" spc="-72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 WEP was the default on all consumer routers until 2006</a:t>
            </a:r>
          </a:p>
          <a:p>
            <a:pPr algn="l">
              <a:lnSpc>
                <a:spcPts val="3600"/>
              </a:lnSpc>
            </a:pPr>
          </a:p>
          <a:p>
            <a:pPr algn="l">
              <a:lnSpc>
                <a:spcPts val="3600"/>
              </a:lnSpc>
            </a:pPr>
            <a:r>
              <a:rPr lang="en-US" sz="2400" spc="-72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Attack </a:t>
            </a:r>
            <a:r>
              <a:rPr lang="en-US" sz="2400" spc="-72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Execution:</a:t>
            </a:r>
          </a:p>
          <a:p>
            <a:pPr algn="l" marL="518160" indent="-259080" lvl="1">
              <a:lnSpc>
                <a:spcPts val="3600"/>
              </a:lnSpc>
              <a:buAutoNum type="arabicPeriod" startAt="1"/>
            </a:pPr>
            <a:r>
              <a:rPr lang="en-US" sz="2400" spc="-72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Passive listening gathers ~500K packets (ARP requests)</a:t>
            </a:r>
          </a:p>
          <a:p>
            <a:pPr algn="l" marL="518160" indent="-259080" lvl="1">
              <a:lnSpc>
                <a:spcPts val="3600"/>
              </a:lnSpc>
              <a:buAutoNum type="arabicPeriod" startAt="1"/>
            </a:pPr>
            <a:r>
              <a:rPr lang="en-US" sz="2400" spc="-72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</a:t>
            </a:r>
            <a:r>
              <a:rPr lang="en-US" sz="2400" spc="-72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ctive injection of forged ARP requests accelerates IV exhaustion</a:t>
            </a:r>
          </a:p>
          <a:p>
            <a:pPr algn="l" marL="518160" indent="-259080" lvl="1">
              <a:lnSpc>
                <a:spcPts val="3600"/>
              </a:lnSpc>
              <a:buAutoNum type="arabicPeriod" startAt="1"/>
            </a:pPr>
            <a:r>
              <a:rPr lang="en-US" sz="2400" spc="-72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Collection of unique IVs with RC4 keystream samples</a:t>
            </a:r>
          </a:p>
          <a:p>
            <a:pPr algn="l" marL="518160" indent="-259080" lvl="1">
              <a:lnSpc>
                <a:spcPts val="3600"/>
              </a:lnSpc>
              <a:buAutoNum type="arabicPeriod" startAt="1"/>
            </a:pPr>
            <a:r>
              <a:rPr lang="en-US" sz="2400" spc="-72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St</a:t>
            </a:r>
            <a:r>
              <a:rPr lang="en-US" sz="2400" spc="-72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atistical analysis recovers the WEP key in &lt;5 minutes</a:t>
            </a:r>
          </a:p>
          <a:p>
            <a:pPr algn="l">
              <a:lnSpc>
                <a:spcPts val="3600"/>
              </a:lnSpc>
            </a:pPr>
          </a:p>
          <a:p>
            <a:pPr algn="l">
              <a:lnSpc>
                <a:spcPts val="3600"/>
              </a:lnSpc>
            </a:pPr>
            <a:r>
              <a:rPr lang="en-US" sz="2400" spc="-72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Impact:</a:t>
            </a:r>
            <a:r>
              <a:rPr lang="en-US" sz="2400" spc="-72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Thousands of networks compromised, demonstrating the feasibility of wireless attacks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371475"/>
            <a:ext cx="17106900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00"/>
              </a:lnSpc>
            </a:pPr>
            <a:r>
              <a:rPr lang="en-US" sz="4800" spc="-144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Module 6: Case Studies &amp; Real-World Breaches (Cont’d)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6750" y="1331595"/>
            <a:ext cx="11825344" cy="594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sz="2599" spc="-77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6.3 T-Mobile 2022 Wirel</a:t>
            </a:r>
            <a:r>
              <a:rPr lang="en-US" sz="2599" spc="-77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ess API Breach</a:t>
            </a:r>
          </a:p>
          <a:p>
            <a:pPr algn="l">
              <a:lnSpc>
                <a:spcPts val="3600"/>
              </a:lnSpc>
            </a:pPr>
            <a:r>
              <a:rPr lang="en-US" sz="2400" spc="-72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Incident: 54 million customer records exposed</a:t>
            </a:r>
          </a:p>
          <a:p>
            <a:pPr algn="l">
              <a:lnSpc>
                <a:spcPts val="3600"/>
              </a:lnSpc>
            </a:pPr>
          </a:p>
          <a:p>
            <a:pPr algn="l">
              <a:lnSpc>
                <a:spcPts val="3600"/>
              </a:lnSpc>
            </a:pPr>
            <a:r>
              <a:rPr lang="en-US" sz="2400" spc="-72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Attack V</a:t>
            </a:r>
            <a:r>
              <a:rPr lang="en-US" sz="2400" spc="-72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ector: </a:t>
            </a:r>
          </a:p>
          <a:p>
            <a:pPr algn="l" marL="518160" indent="-259080" lvl="1">
              <a:lnSpc>
                <a:spcPts val="3600"/>
              </a:lnSpc>
              <a:buFont typeface="Arial"/>
              <a:buChar char="•"/>
            </a:pPr>
            <a:r>
              <a:rPr lang="en-US" sz="2400" spc="-72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Misconfigured wireless gateway API endpoint</a:t>
            </a:r>
          </a:p>
          <a:p>
            <a:pPr algn="l" marL="518160" indent="-259080" lvl="1">
              <a:lnSpc>
                <a:spcPts val="3600"/>
              </a:lnSpc>
              <a:buFont typeface="Arial"/>
              <a:buChar char="•"/>
            </a:pPr>
            <a:r>
              <a:rPr lang="en-US" sz="2400" spc="-72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API is accessible without proper authentication</a:t>
            </a:r>
          </a:p>
          <a:p>
            <a:pPr algn="l" marL="518160" indent="-259080" lvl="1">
              <a:lnSpc>
                <a:spcPts val="3600"/>
              </a:lnSpc>
              <a:buFont typeface="Arial"/>
              <a:buChar char="•"/>
            </a:pPr>
            <a:r>
              <a:rPr lang="en-US" sz="2400" spc="-72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Exposed customer personal information database</a:t>
            </a:r>
          </a:p>
          <a:p>
            <a:pPr algn="l">
              <a:lnSpc>
                <a:spcPts val="3600"/>
              </a:lnSpc>
            </a:pPr>
            <a:r>
              <a:rPr lang="en-US" sz="2400" spc="-72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Root Cause: </a:t>
            </a:r>
          </a:p>
          <a:p>
            <a:pPr algn="l" marL="518160" indent="-259080" lvl="1">
              <a:lnSpc>
                <a:spcPts val="3600"/>
              </a:lnSpc>
              <a:buFont typeface="Arial"/>
              <a:buChar char="•"/>
            </a:pPr>
            <a:r>
              <a:rPr lang="en-US" sz="2400" spc="-72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Inadequate network segmen</a:t>
            </a:r>
            <a:r>
              <a:rPr lang="en-US" sz="2400" spc="-72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</a:t>
            </a:r>
            <a:r>
              <a:rPr lang="en-US" sz="2400" spc="-72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ation</a:t>
            </a:r>
          </a:p>
          <a:p>
            <a:pPr algn="l" marL="518160" indent="-259080" lvl="1">
              <a:lnSpc>
                <a:spcPts val="3600"/>
              </a:lnSpc>
              <a:buFont typeface="Arial"/>
              <a:buChar char="•"/>
            </a:pPr>
            <a:r>
              <a:rPr lang="en-US" sz="2400" spc="-72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API is not behind proper access controls</a:t>
            </a:r>
          </a:p>
          <a:p>
            <a:pPr algn="l" marL="518160" indent="-259080" lvl="1">
              <a:lnSpc>
                <a:spcPts val="3600"/>
              </a:lnSpc>
              <a:buFont typeface="Arial"/>
              <a:buChar char="•"/>
            </a:pPr>
            <a:r>
              <a:rPr lang="en-US" sz="2400" spc="-72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Wireless gateway exposed to the internet</a:t>
            </a:r>
          </a:p>
          <a:p>
            <a:pPr algn="l">
              <a:lnSpc>
                <a:spcPts val="3600"/>
              </a:lnSpc>
            </a:pPr>
          </a:p>
          <a:p>
            <a:pPr algn="l">
              <a:lnSpc>
                <a:spcPts val="3600"/>
              </a:lnSpc>
            </a:pPr>
            <a:r>
              <a:rPr lang="en-US" sz="2400" spc="-72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Lesson:</a:t>
            </a:r>
            <a:r>
              <a:rPr lang="en-US" sz="2400" spc="-72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Physical wireless security is insufficient without network-layer access controls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371475"/>
            <a:ext cx="17106900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00"/>
              </a:lnSpc>
            </a:pPr>
            <a:r>
              <a:rPr lang="en-US" sz="4800" spc="-144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Module 7: Wireless Security Best Practices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336367" y="399423"/>
            <a:ext cx="1437283" cy="773711"/>
            <a:chOff x="0" y="0"/>
            <a:chExt cx="1916377" cy="1031614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031614" cy="1031614"/>
              <a:chOff x="0" y="0"/>
              <a:chExt cx="812800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884763" y="0"/>
              <a:ext cx="1031614" cy="1031614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0" id="10"/>
            <p:cNvSpPr/>
            <p:nvPr/>
          </p:nvSpPr>
          <p:spPr>
            <a:xfrm flipH="false" flipV="false" rot="0">
              <a:off x="92096" y="241984"/>
              <a:ext cx="847423" cy="547647"/>
            </a:xfrm>
            <a:custGeom>
              <a:avLst/>
              <a:gdLst/>
              <a:ahLst/>
              <a:cxnLst/>
              <a:rect r="r" b="b" t="t" l="l"/>
              <a:pathLst>
                <a:path h="547647" w="847423">
                  <a:moveTo>
                    <a:pt x="0" y="0"/>
                  </a:moveTo>
                  <a:lnTo>
                    <a:pt x="847422" y="0"/>
                  </a:lnTo>
                  <a:lnTo>
                    <a:pt x="847422" y="547647"/>
                  </a:lnTo>
                  <a:lnTo>
                    <a:pt x="0" y="5476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084334" y="199570"/>
              <a:ext cx="632473" cy="632473"/>
            </a:xfrm>
            <a:custGeom>
              <a:avLst/>
              <a:gdLst/>
              <a:ahLst/>
              <a:cxnLst/>
              <a:rect r="r" b="b" t="t" l="l"/>
              <a:pathLst>
                <a:path h="632473" w="632473">
                  <a:moveTo>
                    <a:pt x="0" y="0"/>
                  </a:moveTo>
                  <a:lnTo>
                    <a:pt x="632473" y="0"/>
                  </a:lnTo>
                  <a:lnTo>
                    <a:pt x="632473" y="632474"/>
                  </a:lnTo>
                  <a:lnTo>
                    <a:pt x="0" y="6324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9021192" y="1106458"/>
            <a:ext cx="8752458" cy="8681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 spc="-60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7.3 802.11w and Management Frame Protection</a:t>
            </a:r>
          </a:p>
          <a:p>
            <a:pPr algn="l">
              <a:lnSpc>
                <a:spcPts val="2700"/>
              </a:lnSpc>
            </a:pPr>
            <a:r>
              <a:rPr lang="en-US" sz="1800" spc="-54" b="tru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Concept:</a:t>
            </a:r>
            <a:r>
              <a:rPr lang="en-US" sz="1800" spc="-54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 Protects management frames (de-auth, disassoc, action) with encryption and authentication</a:t>
            </a:r>
          </a:p>
          <a:p>
            <a:pPr algn="l">
              <a:lnSpc>
                <a:spcPts val="2700"/>
              </a:lnSpc>
            </a:pPr>
          </a:p>
          <a:p>
            <a:pPr algn="l">
              <a:lnSpc>
                <a:spcPts val="2700"/>
              </a:lnSpc>
            </a:pPr>
            <a:r>
              <a:rPr lang="en-US" sz="1800" spc="-54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Enabled Modes:</a:t>
            </a:r>
          </a:p>
          <a:p>
            <a:pPr algn="l" marL="388623" indent="-194312" lvl="1">
              <a:lnSpc>
                <a:spcPts val="2700"/>
              </a:lnSpc>
              <a:buFont typeface="Arial"/>
              <a:buChar char="•"/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Optional: Devices prefer protected but accept unprotected</a:t>
            </a:r>
          </a:p>
          <a:p>
            <a:pPr algn="l" marL="388623" indent="-194312" lvl="1">
              <a:lnSpc>
                <a:spcPts val="2700"/>
              </a:lnSpc>
              <a:buFont typeface="Arial"/>
              <a:buChar char="•"/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Required: Only protected frames accepted</a:t>
            </a:r>
          </a:p>
          <a:p>
            <a:pPr algn="l" marL="388623" indent="-194312" lvl="1">
              <a:lnSpc>
                <a:spcPts val="2700"/>
              </a:lnSpc>
              <a:buFont typeface="Arial"/>
              <a:buChar char="•"/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Disabled: No protection (default on legacy devices)</a:t>
            </a:r>
          </a:p>
          <a:p>
            <a:pPr algn="l">
              <a:lnSpc>
                <a:spcPts val="2700"/>
              </a:lnSpc>
            </a:pPr>
            <a:r>
              <a:rPr lang="en-US" sz="1800" spc="-54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Implementation:</a:t>
            </a:r>
          </a:p>
          <a:p>
            <a:pPr algn="l" marL="388623" indent="-194312" lvl="1">
              <a:lnSpc>
                <a:spcPts val="2700"/>
              </a:lnSpc>
              <a:buFont typeface="Arial"/>
              <a:buChar char="•"/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Requires AP and all clients support 802.11w</a:t>
            </a:r>
          </a:p>
          <a:p>
            <a:pPr algn="l" marL="388623" indent="-194312" lvl="1">
              <a:lnSpc>
                <a:spcPts val="2700"/>
              </a:lnSpc>
              <a:buFont typeface="Arial"/>
              <a:buChar char="•"/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Enable "Required" mode only when all clients are updated</a:t>
            </a:r>
          </a:p>
          <a:p>
            <a:pPr algn="l" marL="388623" indent="-194312" lvl="1">
              <a:lnSpc>
                <a:spcPts val="2700"/>
              </a:lnSpc>
              <a:buFont typeface="Arial"/>
              <a:buChar char="•"/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Prevents de-authentication attacks</a:t>
            </a:r>
          </a:p>
          <a:p>
            <a:pPr algn="l" marL="388623" indent="-194312" lvl="1">
              <a:lnSpc>
                <a:spcPts val="2700"/>
              </a:lnSpc>
              <a:buFont typeface="Arial"/>
              <a:buChar char="•"/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Breaks some legacy device compatibility</a:t>
            </a:r>
          </a:p>
          <a:p>
            <a:pPr algn="l">
              <a:lnSpc>
                <a:spcPts val="3000"/>
              </a:lnSpc>
            </a:pPr>
          </a:p>
          <a:p>
            <a:pPr algn="l">
              <a:lnSpc>
                <a:spcPts val="3000"/>
              </a:lnSpc>
            </a:pPr>
            <a:r>
              <a:rPr lang="en-US" sz="2000" spc="-60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7.4 Regulatory Compliance</a:t>
            </a:r>
          </a:p>
          <a:p>
            <a:pPr algn="l">
              <a:lnSpc>
                <a:spcPts val="2700"/>
              </a:lnSpc>
            </a:pPr>
            <a:r>
              <a:rPr lang="en-US" sz="1800" spc="-54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Standards &amp; Frameworks:</a:t>
            </a:r>
          </a:p>
          <a:p>
            <a:pPr algn="l" marL="388623" indent="-194312" lvl="1">
              <a:lnSpc>
                <a:spcPts val="2700"/>
              </a:lnSpc>
              <a:buFont typeface="Arial"/>
              <a:buChar char="•"/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PCI-DSS: Requires WPA2 minimum for payment card processing</a:t>
            </a:r>
          </a:p>
          <a:p>
            <a:pPr algn="l" marL="388623" indent="-194312" lvl="1">
              <a:lnSpc>
                <a:spcPts val="2700"/>
              </a:lnSpc>
              <a:buFont typeface="Arial"/>
              <a:buChar char="•"/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NIST SP 800-153: Government wireless security guidelines</a:t>
            </a:r>
          </a:p>
          <a:p>
            <a:pPr algn="l" marL="388623" indent="-194312" lvl="1">
              <a:lnSpc>
                <a:spcPts val="2700"/>
              </a:lnSpc>
              <a:buFont typeface="Arial"/>
              <a:buChar char="•"/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HIPAA: Healthcare data over wireless must use AES encryption</a:t>
            </a:r>
          </a:p>
          <a:p>
            <a:pPr algn="l" marL="388623" indent="-194312" lvl="1">
              <a:lnSpc>
                <a:spcPts val="2700"/>
              </a:lnSpc>
              <a:buFont typeface="Arial"/>
              <a:buChar char="•"/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IEEE 802.11i: Mandatory in government deployments</a:t>
            </a:r>
          </a:p>
          <a:p>
            <a:pPr algn="l">
              <a:lnSpc>
                <a:spcPts val="2700"/>
              </a:lnSpc>
            </a:pPr>
            <a:r>
              <a:rPr lang="en-US" sz="1800" spc="-54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Auditing Requirements:</a:t>
            </a:r>
          </a:p>
          <a:p>
            <a:pPr algn="l" marL="388623" indent="-194312" lvl="1">
              <a:lnSpc>
                <a:spcPts val="2700"/>
              </a:lnSpc>
              <a:buFont typeface="Arial"/>
              <a:buChar char="•"/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Annual wireless penetration tests</a:t>
            </a:r>
          </a:p>
          <a:p>
            <a:pPr algn="l" marL="388623" indent="-194312" lvl="1">
              <a:lnSpc>
                <a:spcPts val="2700"/>
              </a:lnSpc>
              <a:buFont typeface="Arial"/>
              <a:buChar char="•"/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Rogue AP detection scans (continuous monitoring preferred)</a:t>
            </a:r>
          </a:p>
          <a:p>
            <a:pPr algn="l" marL="388623" indent="-194312" lvl="1">
              <a:lnSpc>
                <a:spcPts val="2700"/>
              </a:lnSpc>
              <a:buFont typeface="Arial"/>
              <a:buChar char="•"/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Firmware vulnerability assessments</a:t>
            </a:r>
          </a:p>
          <a:p>
            <a:pPr algn="l" marL="388623" indent="-194312" lvl="1">
              <a:lnSpc>
                <a:spcPts val="2700"/>
              </a:lnSpc>
              <a:buFont typeface="Arial"/>
              <a:buChar char="•"/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User training on public Wi-Fi risks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66750" y="1106458"/>
            <a:ext cx="8040334" cy="8985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 spc="-60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7.1 Configuration Hardening</a:t>
            </a:r>
          </a:p>
          <a:p>
            <a:pPr algn="l">
              <a:lnSpc>
                <a:spcPts val="2700"/>
              </a:lnSpc>
            </a:pPr>
            <a:r>
              <a:rPr lang="en-US" sz="1800" spc="-54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Access Point Setup:</a:t>
            </a:r>
          </a:p>
          <a:p>
            <a:pPr algn="l" marL="388623" indent="-194312" lvl="1">
              <a:lnSpc>
                <a:spcPts val="2700"/>
              </a:lnSpc>
              <a:buAutoNum type="arabicPeriod" startAt="1"/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Change Default Credentials: Admin username/password immediately</a:t>
            </a:r>
          </a:p>
          <a:p>
            <a:pPr algn="l" marL="388623" indent="-194312" lvl="1">
              <a:lnSpc>
                <a:spcPts val="2700"/>
              </a:lnSpc>
              <a:buAutoNum type="arabicPeriod" startAt="1"/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Update Firmware: Patch known vulnerabilities</a:t>
            </a:r>
          </a:p>
          <a:p>
            <a:pPr algn="l" marL="388623" indent="-194312" lvl="1">
              <a:lnSpc>
                <a:spcPts val="2700"/>
              </a:lnSpc>
              <a:buAutoNum type="arabicPeriod" startAt="1"/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Strong Encryption: Minimum WPA2, prefer WPA3 if devices support</a:t>
            </a:r>
          </a:p>
          <a:p>
            <a:pPr algn="l" marL="388623" indent="-194312" lvl="1">
              <a:lnSpc>
                <a:spcPts val="2700"/>
              </a:lnSpc>
              <a:buAutoNum type="arabicPeriod" startAt="1"/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Strong Passphrase: 20+ character random string (if PSK)</a:t>
            </a:r>
          </a:p>
          <a:p>
            <a:pPr algn="l" marL="388623" indent="-194312" lvl="1">
              <a:lnSpc>
                <a:spcPts val="2700"/>
              </a:lnSpc>
              <a:buAutoNum type="arabicPeriod" startAt="1"/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Use 802.1X: Enterprise authentication for corporate networks</a:t>
            </a:r>
          </a:p>
          <a:p>
            <a:pPr algn="l" marL="388623" indent="-194312" lvl="1">
              <a:lnSpc>
                <a:spcPts val="2700"/>
              </a:lnSpc>
              <a:buAutoNum type="arabicPeriod" startAt="1"/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Disable WPS: Wi-Fi Protected Setup is bypassable</a:t>
            </a:r>
          </a:p>
          <a:p>
            <a:pPr algn="l" marL="388623" indent="-194312" lvl="1">
              <a:lnSpc>
                <a:spcPts val="2700"/>
              </a:lnSpc>
              <a:buAutoNum type="arabicPeriod" startAt="1"/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Hide SSID: Minor security through obscurity</a:t>
            </a:r>
          </a:p>
          <a:p>
            <a:pPr algn="l" marL="388623" indent="-194312" lvl="1">
              <a:lnSpc>
                <a:spcPts val="2700"/>
              </a:lnSpc>
              <a:buAutoNum type="arabicPeriod" startAt="1"/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Enable PMF: 802.11w management frame protection</a:t>
            </a:r>
          </a:p>
          <a:p>
            <a:pPr algn="l">
              <a:lnSpc>
                <a:spcPts val="3000"/>
              </a:lnSpc>
            </a:pPr>
            <a:r>
              <a:rPr lang="en-US" sz="2000" spc="-60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7.2 Network Architecture</a:t>
            </a:r>
          </a:p>
          <a:p>
            <a:pPr algn="l">
              <a:lnSpc>
                <a:spcPts val="2700"/>
              </a:lnSpc>
            </a:pPr>
            <a:r>
              <a:rPr lang="en-US" sz="1800" spc="-54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Segmentation:</a:t>
            </a:r>
          </a:p>
          <a:p>
            <a:pPr algn="l" marL="388620" indent="-194310" lvl="1">
              <a:lnSpc>
                <a:spcPts val="2700"/>
              </a:lnSpc>
              <a:buFont typeface="Arial"/>
              <a:buChar char="•"/>
            </a:pPr>
            <a:r>
              <a:rPr lang="en-US" sz="1800" spc="-5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Guest network separate from corporate network (VLAN)</a:t>
            </a:r>
          </a:p>
          <a:p>
            <a:pPr algn="l" marL="388620" indent="-194310" lvl="1">
              <a:lnSpc>
                <a:spcPts val="2700"/>
              </a:lnSpc>
              <a:buFont typeface="Arial"/>
              <a:buChar char="•"/>
            </a:pPr>
            <a:r>
              <a:rPr lang="en-US" sz="1800" spc="-5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IoT devices are isolated on a restricted VLAN</a:t>
            </a:r>
          </a:p>
          <a:p>
            <a:pPr algn="l" marL="388620" indent="-194310" lvl="1">
              <a:lnSpc>
                <a:spcPts val="2700"/>
              </a:lnSpc>
              <a:buFont typeface="Arial"/>
              <a:buChar char="•"/>
            </a:pPr>
            <a:r>
              <a:rPr lang="en-US" sz="1800" spc="-5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BYOD devices in a separate zone</a:t>
            </a:r>
          </a:p>
          <a:p>
            <a:pPr algn="l" marL="388620" indent="-194310" lvl="1">
              <a:lnSpc>
                <a:spcPts val="2700"/>
              </a:lnSpc>
              <a:buFont typeface="Arial"/>
              <a:buChar char="•"/>
            </a:pPr>
            <a:r>
              <a:rPr lang="en-US" sz="1800" spc="-5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Admin network on a secure wired connection only</a:t>
            </a:r>
          </a:p>
          <a:p>
            <a:pPr algn="l">
              <a:lnSpc>
                <a:spcPts val="2700"/>
              </a:lnSpc>
            </a:pPr>
            <a:r>
              <a:rPr lang="en-US" sz="1800" spc="-53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Access Control:</a:t>
            </a:r>
          </a:p>
          <a:p>
            <a:pPr algn="l" marL="388620" indent="-194310" lvl="1">
              <a:lnSpc>
                <a:spcPts val="2700"/>
              </a:lnSpc>
              <a:buFont typeface="Arial"/>
              <a:buChar char="•"/>
            </a:pPr>
            <a:r>
              <a:rPr lang="en-US" sz="1800" spc="-5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Zero Trust principle: verify all devices</a:t>
            </a:r>
          </a:p>
          <a:p>
            <a:pPr algn="l" marL="388620" indent="-194310" lvl="1">
              <a:lnSpc>
                <a:spcPts val="2700"/>
              </a:lnSpc>
              <a:buFont typeface="Arial"/>
              <a:buChar char="•"/>
            </a:pPr>
            <a:r>
              <a:rPr lang="en-US" sz="1800" spc="-5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MAC address filtering: not primary control, but supplementary</a:t>
            </a:r>
          </a:p>
          <a:p>
            <a:pPr algn="l" marL="388620" indent="-194310" lvl="1">
              <a:lnSpc>
                <a:spcPts val="2700"/>
              </a:lnSpc>
              <a:buFont typeface="Arial"/>
              <a:buChar char="•"/>
            </a:pPr>
            <a:r>
              <a:rPr lang="en-US" sz="1800" spc="-5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IP-based restrictions: limit subnet access</a:t>
            </a:r>
          </a:p>
          <a:p>
            <a:pPr algn="l" marL="388620" indent="-194310" lvl="1">
              <a:lnSpc>
                <a:spcPts val="2700"/>
              </a:lnSpc>
              <a:buFont typeface="Arial"/>
              <a:buChar char="•"/>
            </a:pPr>
            <a:r>
              <a:rPr lang="en-US" sz="1800" spc="-5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Firewall rules: restrict east-west traffic</a:t>
            </a:r>
          </a:p>
          <a:p>
            <a:pPr algn="l">
              <a:lnSpc>
                <a:spcPts val="2700"/>
              </a:lnSpc>
            </a:pPr>
            <a:r>
              <a:rPr lang="en-US" sz="1800" spc="-53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Monitoring:</a:t>
            </a:r>
          </a:p>
          <a:p>
            <a:pPr algn="l" marL="388620" indent="-194310" lvl="1">
              <a:lnSpc>
                <a:spcPts val="2700"/>
              </a:lnSpc>
              <a:buFont typeface="Arial"/>
              <a:buChar char="•"/>
            </a:pPr>
            <a:r>
              <a:rPr lang="en-US" sz="1800" spc="-5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Intrusion Detection System (IDS) for wireless</a:t>
            </a:r>
          </a:p>
          <a:p>
            <a:pPr algn="l" marL="388620" indent="-194310" lvl="1">
              <a:lnSpc>
                <a:spcPts val="2700"/>
              </a:lnSpc>
              <a:buFont typeface="Arial"/>
              <a:buChar char="•"/>
            </a:pPr>
            <a:r>
              <a:rPr lang="en-US" sz="1800" spc="-5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Continuous monitoring for rogue APs</a:t>
            </a:r>
          </a:p>
          <a:p>
            <a:pPr algn="l" marL="388620" indent="-194310" lvl="1">
              <a:lnSpc>
                <a:spcPts val="2700"/>
              </a:lnSpc>
              <a:buFont typeface="Arial"/>
              <a:buChar char="•"/>
            </a:pPr>
            <a:r>
              <a:rPr lang="en-US" sz="1800" spc="-5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Log AP authentication events</a:t>
            </a:r>
          </a:p>
          <a:p>
            <a:pPr algn="l" marL="388620" indent="-194310" lvl="1">
              <a:lnSpc>
                <a:spcPts val="2700"/>
              </a:lnSpc>
              <a:buFont typeface="Arial"/>
              <a:buChar char="•"/>
            </a:pPr>
            <a:r>
              <a:rPr lang="en-US" sz="1800" spc="-5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Track signal strength anomalies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371475"/>
            <a:ext cx="17106900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00"/>
              </a:lnSpc>
            </a:pPr>
            <a:r>
              <a:rPr lang="en-US" sz="4800" spc="-144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Module 8: Emerging Trends &amp; Future Directions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336367" y="399423"/>
            <a:ext cx="1437283" cy="773711"/>
            <a:chOff x="0" y="0"/>
            <a:chExt cx="1916377" cy="1031614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031614" cy="1031614"/>
              <a:chOff x="0" y="0"/>
              <a:chExt cx="812800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884763" y="0"/>
              <a:ext cx="1031614" cy="1031614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0" id="10"/>
            <p:cNvSpPr/>
            <p:nvPr/>
          </p:nvSpPr>
          <p:spPr>
            <a:xfrm flipH="false" flipV="false" rot="0">
              <a:off x="92096" y="241984"/>
              <a:ext cx="847423" cy="547647"/>
            </a:xfrm>
            <a:custGeom>
              <a:avLst/>
              <a:gdLst/>
              <a:ahLst/>
              <a:cxnLst/>
              <a:rect r="r" b="b" t="t" l="l"/>
              <a:pathLst>
                <a:path h="547647" w="847423">
                  <a:moveTo>
                    <a:pt x="0" y="0"/>
                  </a:moveTo>
                  <a:lnTo>
                    <a:pt x="847422" y="0"/>
                  </a:lnTo>
                  <a:lnTo>
                    <a:pt x="847422" y="547647"/>
                  </a:lnTo>
                  <a:lnTo>
                    <a:pt x="0" y="5476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084334" y="199570"/>
              <a:ext cx="632473" cy="632473"/>
            </a:xfrm>
            <a:custGeom>
              <a:avLst/>
              <a:gdLst/>
              <a:ahLst/>
              <a:cxnLst/>
              <a:rect r="r" b="b" t="t" l="l"/>
              <a:pathLst>
                <a:path h="632473" w="632473">
                  <a:moveTo>
                    <a:pt x="0" y="0"/>
                  </a:moveTo>
                  <a:lnTo>
                    <a:pt x="632473" y="0"/>
                  </a:lnTo>
                  <a:lnTo>
                    <a:pt x="632473" y="632474"/>
                  </a:lnTo>
                  <a:lnTo>
                    <a:pt x="0" y="6324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9021192" y="1106458"/>
            <a:ext cx="8752458" cy="7604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 spc="-60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8.3 Post-Quantum Cryptography</a:t>
            </a:r>
          </a:p>
          <a:p>
            <a:pPr algn="l">
              <a:lnSpc>
                <a:spcPts val="2700"/>
              </a:lnSpc>
            </a:pPr>
            <a:r>
              <a:rPr lang="en-US" sz="1800" spc="-54" b="tru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Threat:</a:t>
            </a:r>
            <a:r>
              <a:rPr lang="en-US" sz="1800" spc="-54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 Quantum computers will break current RSA/ECC encryption</a:t>
            </a:r>
          </a:p>
          <a:p>
            <a:pPr algn="l">
              <a:lnSpc>
                <a:spcPts val="2700"/>
              </a:lnSpc>
            </a:pPr>
          </a:p>
          <a:p>
            <a:pPr algn="l">
              <a:lnSpc>
                <a:spcPts val="2700"/>
              </a:lnSpc>
            </a:pPr>
            <a:r>
              <a:rPr lang="en-US" sz="1800" spc="-53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NIST Standards (as of 2023):</a:t>
            </a:r>
          </a:p>
          <a:p>
            <a:pPr algn="l" marL="388620" indent="-194310" lvl="1">
              <a:lnSpc>
                <a:spcPts val="2700"/>
              </a:lnSpc>
              <a:buFont typeface="Arial"/>
              <a:buChar char="•"/>
            </a:pPr>
            <a:r>
              <a:rPr lang="en-US" sz="1800" spc="-5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CRYSTALS-Kyber: Lattice-based key encapsulation (selected for standardization)</a:t>
            </a:r>
          </a:p>
          <a:p>
            <a:pPr algn="l" marL="388620" indent="-194310" lvl="1">
              <a:lnSpc>
                <a:spcPts val="2700"/>
              </a:lnSpc>
              <a:buFont typeface="Arial"/>
              <a:buChar char="•"/>
            </a:pPr>
            <a:r>
              <a:rPr lang="en-US" sz="1800" spc="-5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CRYSTALS-Dilithium: Lattice-based digital signatures</a:t>
            </a:r>
          </a:p>
          <a:p>
            <a:pPr algn="l" marL="388620" indent="-194310" lvl="1">
              <a:lnSpc>
                <a:spcPts val="2700"/>
              </a:lnSpc>
              <a:buFont typeface="Arial"/>
              <a:buChar char="•"/>
            </a:pPr>
            <a:r>
              <a:rPr lang="en-US" sz="1800" spc="-5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Implementation timeline: 2024-2026</a:t>
            </a:r>
          </a:p>
          <a:p>
            <a:pPr algn="l">
              <a:lnSpc>
                <a:spcPts val="2700"/>
              </a:lnSpc>
            </a:pPr>
            <a:r>
              <a:rPr lang="en-US" sz="1800" spc="-5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Wireless Impact:</a:t>
            </a:r>
          </a:p>
          <a:p>
            <a:pPr algn="l" marL="388620" indent="-194310" lvl="1">
              <a:lnSpc>
                <a:spcPts val="2700"/>
              </a:lnSpc>
              <a:buFont typeface="Arial"/>
              <a:buChar char="•"/>
            </a:pPr>
            <a:r>
              <a:rPr lang="en-US" sz="1800" spc="-5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802.1X certificate authentication will need quantum-safe algorithms</a:t>
            </a:r>
          </a:p>
          <a:p>
            <a:pPr algn="l" marL="388620" indent="-194310" lvl="1">
              <a:lnSpc>
                <a:spcPts val="2700"/>
              </a:lnSpc>
              <a:buFont typeface="Arial"/>
              <a:buChar char="•"/>
            </a:pPr>
            <a:r>
              <a:rPr lang="en-US" sz="1800" spc="-5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WPA3 enterprise certificates will require updating</a:t>
            </a:r>
          </a:p>
          <a:p>
            <a:pPr algn="l" marL="388620" indent="-194310" lvl="1">
              <a:lnSpc>
                <a:spcPts val="2700"/>
              </a:lnSpc>
              <a:buFont typeface="Arial"/>
              <a:buChar char="•"/>
            </a:pPr>
            <a:r>
              <a:rPr lang="en-US" sz="1800" spc="-5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Legacy devices unable to upgrade pose a security risk</a:t>
            </a:r>
          </a:p>
          <a:p>
            <a:pPr algn="l">
              <a:lnSpc>
                <a:spcPts val="2700"/>
              </a:lnSpc>
            </a:pPr>
          </a:p>
          <a:p>
            <a:pPr algn="l">
              <a:lnSpc>
                <a:spcPts val="2999"/>
              </a:lnSpc>
            </a:pPr>
            <a:r>
              <a:rPr lang="en-US" sz="1999" spc="-59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8.4 AI-Driven Security</a:t>
            </a:r>
          </a:p>
          <a:p>
            <a:pPr algn="l">
              <a:lnSpc>
                <a:spcPts val="2700"/>
              </a:lnSpc>
            </a:pPr>
            <a:r>
              <a:rPr lang="en-US" sz="1800" spc="-54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Emerging Applications:</a:t>
            </a:r>
          </a:p>
          <a:p>
            <a:pPr algn="l" marL="388623" indent="-194312" lvl="1">
              <a:lnSpc>
                <a:spcPts val="2700"/>
              </a:lnSpc>
              <a:buFont typeface="Arial"/>
              <a:buChar char="•"/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Behavioral analysis for rogue AP detection (e.g., Darktrace)</a:t>
            </a:r>
          </a:p>
          <a:p>
            <a:pPr algn="l" marL="388623" indent="-194312" lvl="1">
              <a:lnSpc>
                <a:spcPts val="2700"/>
              </a:lnSpc>
              <a:buFont typeface="Arial"/>
              <a:buChar char="•"/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Anomalous signal pattern recognition</a:t>
            </a:r>
          </a:p>
          <a:p>
            <a:pPr algn="l" marL="388623" indent="-194312" lvl="1">
              <a:lnSpc>
                <a:spcPts val="2700"/>
              </a:lnSpc>
              <a:buFont typeface="Arial"/>
              <a:buChar char="•"/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Predictive threat modeling</a:t>
            </a:r>
          </a:p>
          <a:p>
            <a:pPr algn="l" marL="388623" indent="-194312" lvl="1">
              <a:lnSpc>
                <a:spcPts val="2700"/>
              </a:lnSpc>
              <a:buFont typeface="Arial"/>
              <a:buChar char="•"/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Automated vulnerability patching</a:t>
            </a:r>
          </a:p>
          <a:p>
            <a:pPr algn="l">
              <a:lnSpc>
                <a:spcPts val="2700"/>
              </a:lnSpc>
            </a:pPr>
            <a:r>
              <a:rPr lang="en-US" sz="1800" spc="-54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Challenges:</a:t>
            </a:r>
          </a:p>
          <a:p>
            <a:pPr algn="l" marL="388623" indent="-194312" lvl="1">
              <a:lnSpc>
                <a:spcPts val="2700"/>
              </a:lnSpc>
              <a:buFont typeface="Arial"/>
              <a:buChar char="•"/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Training data availability</a:t>
            </a:r>
          </a:p>
          <a:p>
            <a:pPr algn="l" marL="388623" indent="-194312" lvl="1">
              <a:lnSpc>
                <a:spcPts val="2700"/>
              </a:lnSpc>
              <a:buFont typeface="Arial"/>
              <a:buChar char="•"/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False positive rates in operational networks</a:t>
            </a:r>
          </a:p>
          <a:p>
            <a:pPr algn="l" marL="388623" indent="-194312" lvl="1">
              <a:lnSpc>
                <a:spcPts val="2700"/>
              </a:lnSpc>
              <a:buFont typeface="Arial"/>
              <a:buChar char="•"/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Privacy implications of behavioral monitoring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66750" y="1115983"/>
            <a:ext cx="8040334" cy="7913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spc="-54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8.1 Wi-Fi 6E (802.11ax in 6 GHz Band)</a:t>
            </a:r>
          </a:p>
          <a:p>
            <a:pPr algn="l">
              <a:lnSpc>
                <a:spcPts val="2700"/>
              </a:lnSpc>
            </a:pPr>
            <a:r>
              <a:rPr lang="en-US" sz="1800" spc="-54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Advantages:</a:t>
            </a:r>
          </a:p>
          <a:p>
            <a:pPr algn="l" marL="388623" indent="-194312" lvl="1">
              <a:lnSpc>
                <a:spcPts val="2700"/>
              </a:lnSpc>
              <a:buFont typeface="Arial"/>
              <a:buChar char="•"/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6 GHz band: 14 additional 80 MHz channels (vs. 3 non-overlapping at 2.4 GHz)</a:t>
            </a:r>
          </a:p>
          <a:p>
            <a:pPr algn="l" marL="388623" indent="-194312" lvl="1">
              <a:lnSpc>
                <a:spcPts val="2700"/>
              </a:lnSpc>
              <a:buFont typeface="Arial"/>
              <a:buChar char="•"/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Massive capacity increase for dense deployments</a:t>
            </a:r>
          </a:p>
          <a:p>
            <a:pPr algn="l" marL="388623" indent="-194312" lvl="1">
              <a:lnSpc>
                <a:spcPts val="2700"/>
              </a:lnSpc>
              <a:buFont typeface="Arial"/>
              <a:buChar char="•"/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Lower latency through less congestion</a:t>
            </a:r>
          </a:p>
          <a:p>
            <a:pPr algn="l" marL="388623" indent="-194312" lvl="1">
              <a:lnSpc>
                <a:spcPts val="2700"/>
              </a:lnSpc>
              <a:buFont typeface="Arial"/>
              <a:buChar char="•"/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Backward compatible with Wi-Fi 6 at 2.4/5 GHz</a:t>
            </a:r>
          </a:p>
          <a:p>
            <a:pPr algn="l">
              <a:lnSpc>
                <a:spcPts val="2700"/>
              </a:lnSpc>
            </a:pPr>
            <a:r>
              <a:rPr lang="en-US" sz="1800" spc="-54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Security Considerations:</a:t>
            </a:r>
          </a:p>
          <a:p>
            <a:pPr algn="l" marL="388623" indent="-194312" lvl="1">
              <a:lnSpc>
                <a:spcPts val="2700"/>
              </a:lnSpc>
              <a:buFont typeface="Arial"/>
              <a:buChar char="•"/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AFC (Automated Frequency Coordination) is required to avoid spectrum conflicts</a:t>
            </a:r>
          </a:p>
          <a:p>
            <a:pPr algn="l" marL="388623" indent="-194312" lvl="1">
              <a:lnSpc>
                <a:spcPts val="2700"/>
              </a:lnSpc>
              <a:buFont typeface="Arial"/>
              <a:buChar char="•"/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Security of AFC servers becomes critical (potential DDoS target)</a:t>
            </a:r>
          </a:p>
          <a:p>
            <a:pPr algn="l" marL="388623" indent="-194312" lvl="1">
              <a:lnSpc>
                <a:spcPts val="2700"/>
              </a:lnSpc>
              <a:buFont typeface="Arial"/>
              <a:buChar char="•"/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New spectrum = new attack surfaces</a:t>
            </a:r>
          </a:p>
          <a:p>
            <a:pPr algn="l">
              <a:lnSpc>
                <a:spcPts val="2700"/>
              </a:lnSpc>
            </a:pPr>
          </a:p>
          <a:p>
            <a:pPr algn="l">
              <a:lnSpc>
                <a:spcPts val="3000"/>
              </a:lnSpc>
            </a:pPr>
            <a:r>
              <a:rPr lang="en-US" sz="2000" spc="-60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8.2 Wi-Fi 7 (802.11be) - 2024 Launch</a:t>
            </a:r>
          </a:p>
          <a:p>
            <a:pPr algn="l">
              <a:lnSpc>
                <a:spcPts val="2700"/>
              </a:lnSpc>
            </a:pPr>
            <a:r>
              <a:rPr lang="en-US" sz="1800" spc="-54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Key Features:</a:t>
            </a:r>
          </a:p>
          <a:p>
            <a:pPr algn="l" marL="388623" indent="-194312" lvl="1">
              <a:lnSpc>
                <a:spcPts val="2700"/>
              </a:lnSpc>
              <a:buFont typeface="Arial"/>
              <a:buChar char="•"/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Multi-Link Operation (MLO): simultaneous 2.4/5/6 GHz connection</a:t>
            </a:r>
          </a:p>
          <a:p>
            <a:pPr algn="l" marL="388623" indent="-194312" lvl="1">
              <a:lnSpc>
                <a:spcPts val="2700"/>
              </a:lnSpc>
              <a:buFont typeface="Arial"/>
              <a:buChar char="•"/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46 Gbps theoretical throughput</a:t>
            </a:r>
          </a:p>
          <a:p>
            <a:pPr algn="l" marL="388623" indent="-194312" lvl="1">
              <a:lnSpc>
                <a:spcPts val="2700"/>
              </a:lnSpc>
              <a:buFont typeface="Arial"/>
              <a:buChar char="•"/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Ultra-low latency (&lt; 2ms)</a:t>
            </a:r>
          </a:p>
          <a:p>
            <a:pPr algn="l" marL="388623" indent="-194312" lvl="1">
              <a:lnSpc>
                <a:spcPts val="2700"/>
              </a:lnSpc>
              <a:buFont typeface="Arial"/>
              <a:buChar char="•"/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Improved power efficiency</a:t>
            </a:r>
          </a:p>
          <a:p>
            <a:pPr algn="l">
              <a:lnSpc>
                <a:spcPts val="2700"/>
              </a:lnSpc>
            </a:pPr>
            <a:r>
              <a:rPr lang="en-US" sz="1800" spc="-54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Security Research Needed:</a:t>
            </a:r>
          </a:p>
          <a:p>
            <a:pPr algn="l" marL="388623" indent="-194312" lvl="1">
              <a:lnSpc>
                <a:spcPts val="2700"/>
              </a:lnSpc>
              <a:buFont typeface="Arial"/>
              <a:buChar char="•"/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MLO handshake security implications</a:t>
            </a:r>
          </a:p>
          <a:p>
            <a:pPr algn="l" marL="388623" indent="-194312" lvl="1">
              <a:lnSpc>
                <a:spcPts val="2700"/>
              </a:lnSpc>
              <a:buFont typeface="Arial"/>
              <a:buChar char="•"/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Increased attack surface with multiple simultaneous links</a:t>
            </a:r>
          </a:p>
          <a:p>
            <a:pPr algn="l" marL="388623" indent="-194312" lvl="1">
              <a:lnSpc>
                <a:spcPts val="2700"/>
              </a:lnSpc>
              <a:buFont typeface="Arial"/>
              <a:buChar char="•"/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Quantum-resistant authentication mechanisms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371475"/>
            <a:ext cx="16766773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00"/>
              </a:lnSpc>
              <a:spcBef>
                <a:spcPct val="0"/>
              </a:spcBef>
            </a:pPr>
            <a:r>
              <a:rPr lang="en-US" sz="4800" spc="-144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Summary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6750" y="1491327"/>
            <a:ext cx="16201636" cy="2078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Evolution of Encryption: RC4 (broken) → TKIP (weak) → AES (strong) → AES-256 with SAE (stronger)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Authentication: From no auth → shared key → PSK → 802.1X → SAE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Management Security: From unprotected → 802.11w (optional) → 802.11w (required in WPA3)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Reconnaissance: Passive discovery → active enumeration → handshake capture → offline cracking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Defense in Depth: Encryption + authentication + network segmentation + monitoring + incident response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6115522" y="381000"/>
            <a:ext cx="1505728" cy="810556"/>
            <a:chOff x="0" y="0"/>
            <a:chExt cx="2007638" cy="1080741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1080741" cy="1080741"/>
              <a:chOff x="0" y="0"/>
              <a:chExt cx="812800" cy="8128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22978" lIns="22978" bIns="22978" rIns="22978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926897" y="0"/>
              <a:ext cx="1080741" cy="1080741"/>
              <a:chOff x="0" y="0"/>
              <a:chExt cx="812800" cy="8128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22978" lIns="22978" bIns="22978" rIns="22978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1" id="11"/>
            <p:cNvSpPr/>
            <p:nvPr/>
          </p:nvSpPr>
          <p:spPr>
            <a:xfrm flipH="false" flipV="false" rot="0">
              <a:off x="44554" y="239221"/>
              <a:ext cx="991633" cy="602300"/>
            </a:xfrm>
            <a:custGeom>
              <a:avLst/>
              <a:gdLst/>
              <a:ahLst/>
              <a:cxnLst/>
              <a:rect r="r" b="b" t="t" l="l"/>
              <a:pathLst>
                <a:path h="602300" w="991633">
                  <a:moveTo>
                    <a:pt x="0" y="0"/>
                  </a:moveTo>
                  <a:lnTo>
                    <a:pt x="991633" y="0"/>
                  </a:lnTo>
                  <a:lnTo>
                    <a:pt x="991633" y="602299"/>
                  </a:lnTo>
                  <a:lnTo>
                    <a:pt x="0" y="602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6286" r="0" b="-6286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110110" y="184552"/>
              <a:ext cx="714315" cy="711636"/>
            </a:xfrm>
            <a:custGeom>
              <a:avLst/>
              <a:gdLst/>
              <a:ahLst/>
              <a:cxnLst/>
              <a:rect r="r" b="b" t="t" l="l"/>
              <a:pathLst>
                <a:path h="711636" w="714315">
                  <a:moveTo>
                    <a:pt x="0" y="0"/>
                  </a:moveTo>
                  <a:lnTo>
                    <a:pt x="714315" y="0"/>
                  </a:lnTo>
                  <a:lnTo>
                    <a:pt x="714315" y="711637"/>
                  </a:lnTo>
                  <a:lnTo>
                    <a:pt x="0" y="7116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371475"/>
            <a:ext cx="16766773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00"/>
              </a:lnSpc>
              <a:spcBef>
                <a:spcPct val="0"/>
              </a:spcBef>
            </a:pPr>
            <a:r>
              <a:rPr lang="en-US" sz="4800" spc="-144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ADDITIONAL RESOURCES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6750" y="1491327"/>
            <a:ext cx="16201636" cy="2916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IEEE 802.11-2020: Wireless LAN Standard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NIST SP 800-153: Guidelines for Securing Wireless Local Area Networks (WLANs)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RFC 2289: A One-Time Password System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RFC 3748: Extensible Authentication Protocol (EAP)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Vanhoef, M., &amp; Piessens, F. (2017). Key Reinstallation Attacks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Vanhoef, M. (2019). Dragonblood: Analyzing the Dragonfly Handshake of WPA3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Wi-Fi Alliance. (2023). Wi-Fi 6E &amp; Wi-Fi 7 Security Specifications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6115522" y="381000"/>
            <a:ext cx="1505728" cy="810556"/>
            <a:chOff x="0" y="0"/>
            <a:chExt cx="2007638" cy="1080741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1080741" cy="1080741"/>
              <a:chOff x="0" y="0"/>
              <a:chExt cx="812800" cy="8128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22978" lIns="22978" bIns="22978" rIns="22978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926897" y="0"/>
              <a:ext cx="1080741" cy="1080741"/>
              <a:chOff x="0" y="0"/>
              <a:chExt cx="812800" cy="8128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22978" lIns="22978" bIns="22978" rIns="22978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1" id="11"/>
            <p:cNvSpPr/>
            <p:nvPr/>
          </p:nvSpPr>
          <p:spPr>
            <a:xfrm flipH="false" flipV="false" rot="0">
              <a:off x="44554" y="239221"/>
              <a:ext cx="991633" cy="602300"/>
            </a:xfrm>
            <a:custGeom>
              <a:avLst/>
              <a:gdLst/>
              <a:ahLst/>
              <a:cxnLst/>
              <a:rect r="r" b="b" t="t" l="l"/>
              <a:pathLst>
                <a:path h="602300" w="991633">
                  <a:moveTo>
                    <a:pt x="0" y="0"/>
                  </a:moveTo>
                  <a:lnTo>
                    <a:pt x="991633" y="0"/>
                  </a:lnTo>
                  <a:lnTo>
                    <a:pt x="991633" y="602299"/>
                  </a:lnTo>
                  <a:lnTo>
                    <a:pt x="0" y="602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6286" r="0" b="-6286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110110" y="184552"/>
              <a:ext cx="714315" cy="711636"/>
            </a:xfrm>
            <a:custGeom>
              <a:avLst/>
              <a:gdLst/>
              <a:ahLst/>
              <a:cxnLst/>
              <a:rect r="r" b="b" t="t" l="l"/>
              <a:pathLst>
                <a:path h="711636" w="714315">
                  <a:moveTo>
                    <a:pt x="0" y="0"/>
                  </a:moveTo>
                  <a:lnTo>
                    <a:pt x="714315" y="0"/>
                  </a:lnTo>
                  <a:lnTo>
                    <a:pt x="714315" y="711637"/>
                  </a:lnTo>
                  <a:lnTo>
                    <a:pt x="0" y="7116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102596" y="0"/>
            <a:ext cx="8185404" cy="10287000"/>
            <a:chOff x="0" y="0"/>
            <a:chExt cx="2155827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55827" cy="2709333"/>
            </a:xfrm>
            <a:custGeom>
              <a:avLst/>
              <a:gdLst/>
              <a:ahLst/>
              <a:cxnLst/>
              <a:rect r="r" b="b" t="t" l="l"/>
              <a:pathLst>
                <a:path h="2709333" w="2155827">
                  <a:moveTo>
                    <a:pt x="0" y="0"/>
                  </a:moveTo>
                  <a:lnTo>
                    <a:pt x="2155827" y="0"/>
                  </a:lnTo>
                  <a:lnTo>
                    <a:pt x="2155827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0144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55827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708180" y="666750"/>
            <a:ext cx="6947741" cy="8953500"/>
            <a:chOff x="0" y="0"/>
            <a:chExt cx="812800" cy="104744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1047449"/>
            </a:xfrm>
            <a:custGeom>
              <a:avLst/>
              <a:gdLst/>
              <a:ahLst/>
              <a:cxnLst/>
              <a:rect r="r" b="b" t="t" l="l"/>
              <a:pathLst>
                <a:path h="1047449" w="812800">
                  <a:moveTo>
                    <a:pt x="44572" y="0"/>
                  </a:moveTo>
                  <a:lnTo>
                    <a:pt x="768228" y="0"/>
                  </a:lnTo>
                  <a:cubicBezTo>
                    <a:pt x="792844" y="0"/>
                    <a:pt x="812800" y="19956"/>
                    <a:pt x="812800" y="44572"/>
                  </a:cubicBezTo>
                  <a:lnTo>
                    <a:pt x="812800" y="1002877"/>
                  </a:lnTo>
                  <a:cubicBezTo>
                    <a:pt x="812800" y="1027493"/>
                    <a:pt x="792844" y="1047449"/>
                    <a:pt x="768228" y="1047449"/>
                  </a:cubicBezTo>
                  <a:lnTo>
                    <a:pt x="44572" y="1047449"/>
                  </a:lnTo>
                  <a:cubicBezTo>
                    <a:pt x="19956" y="1047449"/>
                    <a:pt x="0" y="1027493"/>
                    <a:pt x="0" y="1002877"/>
                  </a:cubicBezTo>
                  <a:lnTo>
                    <a:pt x="0" y="44572"/>
                  </a:lnTo>
                  <a:cubicBezTo>
                    <a:pt x="0" y="19956"/>
                    <a:pt x="19956" y="0"/>
                    <a:pt x="44572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306" r="0" b="-306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126053" y="4096993"/>
            <a:ext cx="8324850" cy="2093014"/>
            <a:chOff x="0" y="0"/>
            <a:chExt cx="11099800" cy="2790686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2051122"/>
              <a:ext cx="11099800" cy="7395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159"/>
                </a:lnSpc>
                <a:spcBef>
                  <a:spcPct val="0"/>
                </a:spcBef>
              </a:pPr>
              <a:r>
                <a:rPr lang="en-US" sz="3199">
                  <a:solidFill>
                    <a:srgbClr val="00FFA8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ANY QUESTIONS?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0"/>
              <a:ext cx="11099800" cy="17229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499"/>
                </a:lnSpc>
                <a:spcBef>
                  <a:spcPct val="0"/>
                </a:spcBef>
              </a:pPr>
              <a:r>
                <a:rPr lang="en-US" sz="8499" spc="-254" strike="noStrike" u="none">
                  <a:solidFill>
                    <a:srgbClr val="00FFA8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Thank You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true" flipV="false" rot="5400000">
            <a:off x="16106389" y="8352937"/>
            <a:ext cx="1792448" cy="1639275"/>
          </a:xfrm>
          <a:custGeom>
            <a:avLst/>
            <a:gdLst/>
            <a:ahLst/>
            <a:cxnLst/>
            <a:rect r="r" b="b" t="t" l="l"/>
            <a:pathLst>
              <a:path h="1639275" w="1792448">
                <a:moveTo>
                  <a:pt x="1792448" y="0"/>
                </a:moveTo>
                <a:lnTo>
                  <a:pt x="0" y="0"/>
                </a:lnTo>
                <a:lnTo>
                  <a:pt x="0" y="1639276"/>
                </a:lnTo>
                <a:lnTo>
                  <a:pt x="1792448" y="1639276"/>
                </a:lnTo>
                <a:lnTo>
                  <a:pt x="1792448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Ethical Hacking Overview</dc:description>
  <dc:identifier>DAG9hIhpJTg</dc:identifier>
  <dcterms:modified xsi:type="dcterms:W3CDTF">2011-08-01T06:04:30Z</dcterms:modified>
  <cp:revision>1</cp:revision>
  <dc:title>Lecture-10-CCS6324 -  Hacking Wireless Networks</dc:title>
</cp:coreProperties>
</file>