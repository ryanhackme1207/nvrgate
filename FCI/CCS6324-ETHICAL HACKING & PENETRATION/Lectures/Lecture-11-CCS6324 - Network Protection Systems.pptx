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ITC Avant Garde Gothic" charset="1" panose="020B0502020202020204"/>
      <p:regular r:id="rId30"/>
    </p:embeddedFont>
    <p:embeddedFont>
      <p:font typeface="TT Fors" charset="1" panose="020B0003030001020000"/>
      <p:regular r:id="rId31"/>
    </p:embeddedFont>
    <p:embeddedFont>
      <p:font typeface="TT Fors Bold" charset="1" panose="020B0003030001020000"/>
      <p:regular r:id="rId36"/>
    </p:embeddedFont>
    <p:embeddedFont>
      <p:font typeface="Courier New Bold" charset="1" panose="02070609020205020404"/>
      <p:regular r:id="rId40"/>
    </p:embeddedFont>
    <p:embeddedFont>
      <p:font typeface="Canva Sans Bold" charset="1" panose="020B0803030501040103"/>
      <p:regular r:id="rId41"/>
    </p:embeddedFont>
    <p:embeddedFont>
      <p:font typeface="Canva Sans" charset="1" panose="020B0503030501040103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notesSlides/notesSlide2.xml" Type="http://schemas.openxmlformats.org/officeDocument/2006/relationships/notesSlide"/><Relationship Id="rId36" Target="fonts/font36.fntdata" Type="http://schemas.openxmlformats.org/officeDocument/2006/relationships/font"/><Relationship Id="rId37" Target="notesSlides/notesSlide3.xml" Type="http://schemas.openxmlformats.org/officeDocument/2006/relationships/notesSlide"/><Relationship Id="rId38" Target="notesSlides/notesSlide4.xml" Type="http://schemas.openxmlformats.org/officeDocument/2006/relationships/notesSlide"/><Relationship Id="rId39" Target="notesSlides/notesSlide5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notesSlides/notesSlide6.xml" Type="http://schemas.openxmlformats.org/officeDocument/2006/relationships/notesSlide"/><Relationship Id="rId44" Target="notesSlides/notesSlide7.xml" Type="http://schemas.openxmlformats.org/officeDocument/2006/relationships/notesSlide"/><Relationship Id="rId45" Target="notesSlides/notesSlide8.xml" Type="http://schemas.openxmlformats.org/officeDocument/2006/relationships/notesSlide"/><Relationship Id="rId46" Target="notesSlides/notesSlide9.xml" Type="http://schemas.openxmlformats.org/officeDocument/2006/relationships/notesSlide"/><Relationship Id="rId47" Target="notesSlides/notesSlide10.xml" Type="http://schemas.openxmlformats.org/officeDocument/2006/relationships/notesSlide"/><Relationship Id="rId48" Target="notesSlides/notesSlide11.xml" Type="http://schemas.openxmlformats.org/officeDocument/2006/relationships/notesSlide"/><Relationship Id="rId49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3.xml" Type="http://schemas.openxmlformats.org/officeDocument/2006/relationships/notesSlide"/><Relationship Id="rId51" Target="notesSlides/notesSlide14.xml" Type="http://schemas.openxmlformats.org/officeDocument/2006/relationships/notesSlide"/><Relationship Id="rId52" Target="notesSlides/notesSlide15.xml" Type="http://schemas.openxmlformats.org/officeDocument/2006/relationships/notesSlide"/><Relationship Id="rId53" Target="notesSlides/notesSlide16.xml" Type="http://schemas.openxmlformats.org/officeDocument/2006/relationships/notesSlide"/><Relationship Id="rId54" Target="notesSlides/notesSlide17.xml" Type="http://schemas.openxmlformats.org/officeDocument/2006/relationships/notesSlide"/><Relationship Id="rId55" Target="notesSlides/notesSlide18.xml" Type="http://schemas.openxmlformats.org/officeDocument/2006/relationships/notesSlide"/><Relationship Id="rId56" Target="notesSlides/notesSlide19.xml" Type="http://schemas.openxmlformats.org/officeDocument/2006/relationships/notesSlide"/><Relationship Id="rId57" Target="notesSlides/notesSlide20.xml" Type="http://schemas.openxmlformats.org/officeDocument/2006/relationships/notesSlide"/><Relationship Id="rId58" Target="notesSlides/notesSlide21.xml" Type="http://schemas.openxmlformats.org/officeDocument/2006/relationships/notesSlide"/><Relationship Id="rId59" Target="notesSlides/notesSlide22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77675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90559" t="0" r="-9055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62648" y="7828295"/>
            <a:ext cx="3328824" cy="1791955"/>
            <a:chOff x="0" y="0"/>
            <a:chExt cx="4438432" cy="238927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389273" cy="2389273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049159" y="0"/>
              <a:ext cx="2389273" cy="2389273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2434637" y="331535"/>
              <a:ext cx="1618315" cy="1726203"/>
            </a:xfrm>
            <a:custGeom>
              <a:avLst/>
              <a:gdLst/>
              <a:ahLst/>
              <a:cxnLst/>
              <a:rect r="r" b="b" t="t" l="l"/>
              <a:pathLst>
                <a:path h="1726203" w="1618315">
                  <a:moveTo>
                    <a:pt x="0" y="0"/>
                  </a:moveTo>
                  <a:lnTo>
                    <a:pt x="1618316" y="0"/>
                  </a:lnTo>
                  <a:lnTo>
                    <a:pt x="1618316" y="1726203"/>
                  </a:lnTo>
                  <a:lnTo>
                    <a:pt x="0" y="1726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32625" y="406009"/>
              <a:ext cx="1524023" cy="1577255"/>
            </a:xfrm>
            <a:custGeom>
              <a:avLst/>
              <a:gdLst/>
              <a:ahLst/>
              <a:cxnLst/>
              <a:rect r="r" b="b" t="t" l="l"/>
              <a:pathLst>
                <a:path h="1577255" w="1524023">
                  <a:moveTo>
                    <a:pt x="0" y="0"/>
                  </a:moveTo>
                  <a:lnTo>
                    <a:pt x="1524023" y="0"/>
                  </a:lnTo>
                  <a:lnTo>
                    <a:pt x="1524023" y="1577255"/>
                  </a:lnTo>
                  <a:lnTo>
                    <a:pt x="0" y="1577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66750" y="1552575"/>
            <a:ext cx="11210925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 spc="-29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Network Protection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561975"/>
            <a:ext cx="976312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MULTIMEDIA UNIVERSITY, MALAYSIA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3474" y="4634230"/>
            <a:ext cx="9763125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CCS6324 - 2530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3474" y="4153534"/>
            <a:ext cx="9763125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ETHICAL HACKING AND PENETRATION TESTING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Dr. Hafiz Adnan Hussain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2132867"/>
            <a:ext cx="16592550" cy="656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This course is designed to educate students on ethical hacking p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rinc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ples. The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dge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echniques acqu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ed must be used respons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 and 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ny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llegal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 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authorized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activiti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Each 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nt is solely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sibl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for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hei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tion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Do not inv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estig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in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ividua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s, webs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es,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servers or conduct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ny ill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eg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 activit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ies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on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you do not have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miss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ion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 analyze.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cour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conten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ha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been deve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oped in good f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ait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h, 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awing from th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r’s 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x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rience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and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repu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table so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urce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. Wh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 every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ffo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 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 been made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ure accuracy,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uthor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guarante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abso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ute correctness. Students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 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courage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to ex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discretio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actively engage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dis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ns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by 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isi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g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ny que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tions or conc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rns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ng th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cour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1475"/>
            <a:ext cx="112014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17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DISC</a:t>
            </a:r>
            <a:r>
              <a:rPr lang="en-US" sz="6000" spc="-179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</a:t>
            </a:r>
            <a:r>
              <a:rPr lang="en-US" sz="6000" spc="-179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AIMER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2513074"/>
            <a:ext cx="16954500" cy="402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The role and architect</a:t>
            </a: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ure of network protection systems</a:t>
            </a:r>
          </a:p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</a:t>
            </a: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nfigure and bypass common firewall impl</a:t>
            </a: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ementati</a:t>
            </a: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ons</a:t>
            </a:r>
          </a:p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Understand IDS/IPS detection methodologies</a:t>
            </a:r>
          </a:p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Deploy and analyze honeypot systems</a:t>
            </a:r>
          </a:p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Assess security device limitations and misconfigurations</a:t>
            </a:r>
          </a:p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Apply defense-in-depth principles in network security design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1475"/>
            <a:ext cx="112014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179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Learning Objectives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765686"/>
            <a:ext cx="1298378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 spc="-119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What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Y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ou 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ll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ea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820274"/>
            <a:ext cx="1710690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Network Protection Systems are integrated collections of hardware, software, and configurations designed to: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Protect network integrity, confidentiality, and availability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Form defensive perimeters against cyber threats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Implement layered security (Defense-in-Depth principle)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Guard against unauthorized access and data disclosure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4677029"/>
            <a:ext cx="8053623" cy="468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Ra</a:t>
            </a: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ther than relying on a single security measure, organizations stack multiple protective layers: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User Access Layer</a:t>
            </a:r>
          </a:p>
          <a:p>
            <a:pPr algn="l">
              <a:lnSpc>
                <a:spcPts val="3120"/>
              </a:lnSpc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    ↓</a:t>
            </a:r>
          </a:p>
          <a:p>
            <a:pPr algn="l">
              <a:lnSpc>
                <a:spcPts val="3120"/>
              </a:lnSpc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Application Layer (Web Application Firewalls (WAF))</a:t>
            </a:r>
          </a:p>
          <a:p>
            <a:pPr algn="l">
              <a:lnSpc>
                <a:spcPts val="3120"/>
              </a:lnSpc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    ↓</a:t>
            </a:r>
          </a:p>
          <a:p>
            <a:pPr algn="l">
              <a:lnSpc>
                <a:spcPts val="3120"/>
              </a:lnSpc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Network Layer (Firewalls, IDS/IPS)</a:t>
            </a:r>
          </a:p>
          <a:p>
            <a:pPr algn="l">
              <a:lnSpc>
                <a:spcPts val="3120"/>
              </a:lnSpc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    ↓</a:t>
            </a:r>
          </a:p>
          <a:p>
            <a:pPr algn="l">
              <a:lnSpc>
                <a:spcPts val="3120"/>
              </a:lnSpc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Infrastructure Layer (Switches, Routers)</a:t>
            </a:r>
          </a:p>
          <a:p>
            <a:pPr algn="l">
              <a:lnSpc>
                <a:spcPts val="3120"/>
              </a:lnSpc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    ↓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Physical Layer (Data Center Security)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50136" y="4677029"/>
            <a:ext cx="8937276" cy="429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Fo</a:t>
            </a:r>
            <a:r>
              <a:rPr lang="en-US" b="true" sz="2600" spc="-78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 Defenders: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Design secure network architectures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Identify misconfigurations and vulnerabilities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Ensure regulatory compliance (GDPR, HIPAA, PCI-DSS)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b="true" sz="2600" spc="-78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For Ethical Hackers/Pentesters: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Understand system limitations and weaknesses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Develop effective evasion and bypass techniques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Assess real security posture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Create realistic penetration test scenarios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Recommend security improvements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1: Network Protection System 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1.1 What is Network Protection Systems (NPS)?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4035951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1.2 Defense-in-Depth Strategy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50136" y="4035951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1.3 Why Penetration Testers Learn NPS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2: Core Components (CC)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1262559"/>
            <a:ext cx="13174696" cy="385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These are some core components of NPS:</a:t>
            </a:r>
          </a:p>
          <a:p>
            <a:pPr algn="l" marL="561339" indent="-280669" lvl="1">
              <a:lnSpc>
                <a:spcPts val="3899"/>
              </a:lnSpc>
              <a:buAutoNum type="arabicPeriod" startAt="1"/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Routhers</a:t>
            </a:r>
          </a:p>
          <a:p>
            <a:pPr algn="l" marL="561339" indent="-280669" lvl="1">
              <a:lnSpc>
                <a:spcPts val="3899"/>
              </a:lnSpc>
              <a:buAutoNum type="arabicPeriod" startAt="1"/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Switches</a:t>
            </a:r>
          </a:p>
          <a:p>
            <a:pPr algn="l" marL="561339" indent="-280669" lvl="1">
              <a:lnSpc>
                <a:spcPts val="3899"/>
              </a:lnSpc>
              <a:buAutoNum type="arabicPeriod" startAt="1"/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Firewalls</a:t>
            </a:r>
          </a:p>
          <a:p>
            <a:pPr algn="l" marL="561339" indent="-280669" lvl="1">
              <a:lnSpc>
                <a:spcPts val="3899"/>
              </a:lnSpc>
              <a:buAutoNum type="arabicPeriod" startAt="1"/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Intrusion Detection &amp; Prevention Systems</a:t>
            </a:r>
          </a:p>
          <a:p>
            <a:pPr algn="l" marL="561339" indent="-280669" lvl="1">
              <a:lnSpc>
                <a:spcPts val="3899"/>
              </a:lnSpc>
              <a:buAutoNum type="arabicPeriod" startAt="1"/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Web Application Firewalls (WAF)</a:t>
            </a:r>
          </a:p>
          <a:p>
            <a:pPr algn="l" marL="561339" indent="-280669" lvl="1">
              <a:lnSpc>
                <a:spcPts val="3899"/>
              </a:lnSpc>
              <a:buAutoNum type="arabicPeriod" startAt="1"/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Honeypots</a:t>
            </a:r>
          </a:p>
          <a:p>
            <a:pPr algn="l" marL="561339" indent="-280669" lvl="1">
              <a:lnSpc>
                <a:spcPts val="3899"/>
              </a:lnSpc>
              <a:buAutoNum type="arabicPeriod" startAt="1"/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Security Information and Event Management (SIEM) &amp; Network Access Control (NAC)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820274"/>
            <a:ext cx="171069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Rou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ters operate at Layer 3 (Network Layer) of the OSI model: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Forward IP packets between different networks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Serve as the first line of defense for network segmentation</a:t>
            </a:r>
          </a:p>
          <a:p>
            <a:pPr algn="l" marL="453395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Implement basic traffic filtering via Access Control Lists (ACLs)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50136" y="3864339"/>
            <a:ext cx="8723514" cy="565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Purpose: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Filter traffic based on defined criteria, processed top-down (first match wins)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Standard IP ACLs (Limited Granularity):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access-list 1 deny 173.110.0.0 0.0.255.255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access-list 1 permit any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interface GigabitEthernet0/1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ip access-group 1 in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Filters based on source IP only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Less precise but simple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Extended IP ACLs (Fine-Grained Control):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access-list 101 permit tcp any host 192.168.1.100 eq 80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access-list 101 deny tcp any host 192.168.1.100 eq 23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access-list 101 permit ip any any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interface GigabitEthernet0/0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ip access-group 101 in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Filters by source/destination IP, protocol, port</a:t>
            </a:r>
          </a:p>
          <a:p>
            <a:pPr algn="l" marL="453395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More precise control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2: CC (1: Routers)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2.1 Role and Architecture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3277599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2.2 Cisco Router Components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50136" y="3277599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2.3 Access Control Lists (ACLs)</a:t>
            </a:r>
          </a:p>
        </p:txBody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666750" y="3864339"/>
          <a:ext cx="7837124" cy="5053693"/>
        </p:xfrm>
        <a:graphic>
          <a:graphicData uri="http://schemas.openxmlformats.org/drawingml/2006/table">
            <a:tbl>
              <a:tblPr/>
              <a:tblGrid>
                <a:gridCol w="1863518"/>
                <a:gridCol w="2168847"/>
                <a:gridCol w="3804760"/>
              </a:tblGrid>
              <a:tr h="6284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Component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Function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Security Relevance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4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Operating system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Firmware vulnerabilities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Routing tables, running config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Volatile; lost on reboot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NVRAM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Startup configuration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Persists across reboots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4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Flash Memory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Stores IOS image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Update/downgrade risk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ROM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Minimal IOS for boot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Boot security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Interfaces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Physical connections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Port security, isolation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820274"/>
            <a:ext cx="1710690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Probl</a:t>
            </a: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em: Allowing all packets from source port 80 (web response):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access-list ALLOW_WEB permit tcp any any eq 80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Attack Scenario: Attacker sets source port to 80: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attacker → victim:xxxxx (with src port 80)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Firewall sees source port 80 and allows it, bypassing intended restrictions.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5086350"/>
            <a:ext cx="11057692" cy="317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5" indent="-226697" lvl="1">
              <a:lnSpc>
                <a:spcPts val="315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Credentials: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Change default admin/enable passwords; use strong, unique credentials</a:t>
            </a:r>
          </a:p>
          <a:p>
            <a:pPr algn="l" marL="453395" indent="-226697" lvl="1">
              <a:lnSpc>
                <a:spcPts val="315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Services: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Disable HTTP/Telnet management; enforce SSH v2 only</a:t>
            </a:r>
          </a:p>
          <a:p>
            <a:pPr algn="l" marL="453395" indent="-226697" lvl="1">
              <a:lnSpc>
                <a:spcPts val="315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Firmware: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Keep IOS patched and updated</a:t>
            </a:r>
          </a:p>
          <a:p>
            <a:pPr algn="l" marL="453395" indent="-226697" lvl="1">
              <a:lnSpc>
                <a:spcPts val="315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Management Access: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Restrict via ACLs; use TACACS+ or RADIUS authentication</a:t>
            </a:r>
          </a:p>
          <a:p>
            <a:pPr algn="l" marL="453395" indent="-226697" lvl="1">
              <a:lnSpc>
                <a:spcPts val="315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Anti-Spoofing: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Implement Unicast Reverse Path Forwarding (uRPF) or BCP38 filters</a:t>
            </a:r>
          </a:p>
          <a:p>
            <a:pPr algn="l" marL="453395" indent="-226697" lvl="1">
              <a:lnSpc>
                <a:spcPts val="315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Logging: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Enable syslog and send to centralized SIEM</a:t>
            </a:r>
          </a:p>
          <a:p>
            <a:pPr algn="l" marL="453395" indent="-226697" lvl="1">
              <a:lnSpc>
                <a:spcPts val="315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Routing Protocols: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Secure OSPF/BGP with MD5 authentication</a:t>
            </a:r>
          </a:p>
          <a:p>
            <a:pPr algn="l" marL="453395" indent="-226697" lvl="1">
              <a:lnSpc>
                <a:spcPts val="315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Control Plane Policing (CoPP):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Protect router CPU from DoS attacks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2: CC (1: Routers) (Cont’d)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2.4 Misconfigured ACL Bypass Example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446265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2.5 Router Security Best Practices (2025)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620249"/>
            <a:ext cx="8020278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Switches operate at Layer 2 (Data Link Layer):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Forward Ethernet frames within LANs based on MAC addresses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Build Content Addressable Memory (CAM) tables for forwarding</a:t>
            </a:r>
          </a:p>
          <a:p>
            <a:pPr algn="l" marL="453395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Control internal network security and segmentation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572734"/>
            <a:ext cx="8020278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Port Security: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interface GigabitEthernet0/1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switchport port-security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switchport port-security maximum 1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switchport port-security mac-address sticky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switchport port-security violation shutdown</a:t>
            </a:r>
          </a:p>
          <a:p>
            <a:pPr algn="l">
              <a:lnSpc>
                <a:spcPts val="2520"/>
              </a:lnSpc>
            </a:pP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Limits MAC addresses per port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Actions on violation: shutdown, restrict, or alert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VLANs (Virtual Local Area Networks):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vlan 10 name HR_VLAN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interface GigabitEthernet0/2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switchport access vlan 10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Logically segment LANs into broadcast domains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Isolate traffic between departments</a:t>
            </a:r>
          </a:p>
          <a:p>
            <a:pPr algn="l" marL="453395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Private VLANs (PVLANs) provide further isolation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53033" y="6145050"/>
            <a:ext cx="802027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Disable unused ports (unused = attack surface)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Change default credentials; use strong passwords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SSH for management access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Create a dedicated management VLAN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Implement 802.1X port-based access control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Enable logging and send to SIEM</a:t>
            </a:r>
          </a:p>
          <a:p>
            <a:pPr algn="l" marL="453395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Keep firmware updated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73017" y="1685925"/>
            <a:ext cx="8629650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3.2 Key Protection Methods (Cont’d)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DHCP Snooping: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Filters DHCP messages from untrusted sources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Prevents rogue DHCP servers from assigning malicious configurations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Builds and maintains binding tables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Dynamic ARP Inspection (DAI):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Validates ARP packets using DHCP binding tables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Prevents ARP poisoning and Man-in-the-Middle attacks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Drops spoofed ARP messages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Spanning Tree Protocol (STP) Security: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BPDU Guard: Disables ports receiving unexpected BPDUs</a:t>
            </a:r>
          </a:p>
          <a:p>
            <a:pPr algn="l" marL="453395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Root Guard: Prevents unauthorized switches from becoming STP root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3: CC (2: Switches)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3.1 Role and 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6750" y="2985994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3.2 Key Protection Methods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53033" y="5634510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3.3 Switch Security Best Practices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685925"/>
            <a:ext cx="8306267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Definition: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Hard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ware or software that monitors and controls incoming/outgoing traffic based on security policies.</a:t>
            </a:r>
          </a:p>
          <a:p>
            <a:pPr algn="l">
              <a:lnSpc>
                <a:spcPts val="2520"/>
              </a:lnSpc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Purpose: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Create a barrier between trusted (internal) and untrusted (external) networks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Segment internal networks</a:t>
            </a:r>
          </a:p>
          <a:p>
            <a:pPr algn="l" marL="453395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Enforce organizational security policies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4656460"/>
            <a:ext cx="8020278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By Data Filtering Method: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1- </a:t>
            </a: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Packet Filtering (Stateless)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Examines packet headers only (source/destination IP, port, protocol)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Fast but limited intelligence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Can be bypassed with spoofed packets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2- </a:t>
            </a: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Stateful Packet Inspection (SPI)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Maintains the state table of active connections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Allows return traffic from established connections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More intelligent than stateless filtering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Example: Allow web server response (port 80) only if the internal client initiated the request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3- </a:t>
            </a: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Application Layer / Proxy Firewall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Inspects content for specific protocols (HTTP, FTP, SMTP)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Understands application semantics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Can detect protocol violations and attacks</a:t>
            </a:r>
          </a:p>
          <a:p>
            <a:pPr algn="l" marL="453395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Higher CPU overhead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53033" y="6145050"/>
            <a:ext cx="8020278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Network Address Translation (NAT):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Maps private IP addresses to public external IPs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Hides internal network structure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Provides basic stateful inspection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Port Address Translation (PAT):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Many-to-one NAT using different ports</a:t>
            </a:r>
          </a:p>
          <a:p>
            <a:pPr algn="l" marL="453395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Example: Multiple internal IPs (192.168.1.100, 192.168.1.101) → Single public IP (147.144.20.1) with different ports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73017" y="1685925"/>
            <a:ext cx="86296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4.2 Firewall Types and Technologies (Cont’d)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By Form Factor: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4: CC (3: Firewalls)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4.1 Firewall Overview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6750" y="4069720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4.2 Firewall Types and Technologies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53033" y="5634510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4.3 Firewall Technologies</a:t>
            </a:r>
          </a:p>
        </p:txBody>
      </p: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8973017" y="2436255"/>
          <a:ext cx="7489912" cy="3143250"/>
        </p:xfrm>
        <a:graphic>
          <a:graphicData uri="http://schemas.openxmlformats.org/drawingml/2006/table">
            <a:tbl>
              <a:tblPr/>
              <a:tblGrid>
                <a:gridCol w="3753303"/>
                <a:gridCol w="3736609"/>
              </a:tblGrid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Hardware Firewalls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Software Firewalls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Higher throughput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Host-level protection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Centralized management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Fine-grained user policies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Limited by hardware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OS-dependent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Usually filter inbound only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Filter inbound/outbound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685925"/>
            <a:ext cx="830626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Modern firewalls include advanced capabilities: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8086047"/>
            <a:ext cx="802027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Leading NGFW Vendors (2025): 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Palo Alto Networks, Fortinet FortiGate, Cisco Secure Firewall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52996" y="1685925"/>
            <a:ext cx="8920654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Architecture: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Internet ↔ [Firewall] ↔ DMZ (Public Services) ↔ [Firewall] ↔ Internal Network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Pur</a:t>
            </a: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pose: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Perimeter network between the Internet and the internal network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Hosts public-facing services (web, email, DNS servers)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If the D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MZ is compromised, the second firewall protects the internal network</a:t>
            </a:r>
          </a:p>
          <a:p>
            <a:pPr algn="l" marL="453395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Implements defense-in-depth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52996" y="5092065"/>
            <a:ext cx="8920654" cy="440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Windows Defender Firewall: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# Manage via netsh (command line)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netsh advfirewall firewall add rule name="Allow Web" dir=in action=allow protocol=TCP localport=80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# Three profiles: Domain, Private, Public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netsh advfirewall show domainprofile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Linux Firewall (Netfilter Framework):</a:t>
            </a:r>
          </a:p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Tools available: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iptables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(legacy, widely used)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nftables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(modern replacement, more flexible)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firewalld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(higher-level abstraction)</a:t>
            </a:r>
          </a:p>
          <a:p>
            <a:pPr algn="l" marL="453395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ufw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(Uncomplicated Firewall, beginner-friendly)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4: CC (3: Firewalls) (Cont’d)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4.4 Next-Generation Firewalls (NGFWs)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52996" y="458152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4.6 Host-Based Firewalls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52996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4.5 Demilitarized Zone (DMZ)</a:t>
            </a:r>
          </a:p>
        </p:txBody>
      </p: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666750" y="2133600"/>
          <a:ext cx="7990094" cy="5657850"/>
        </p:xfrm>
        <a:graphic>
          <a:graphicData uri="http://schemas.openxmlformats.org/drawingml/2006/table">
            <a:tbl>
              <a:tblPr/>
              <a:tblGrid>
                <a:gridCol w="3519308"/>
                <a:gridCol w="4470786"/>
              </a:tblGrid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Capability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Purpose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Deep Packet Inspection (DPI)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Inspect application layer content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Integrated IPS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Block detected intrusions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Application Awareness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Control apps regardless of port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User Identity Awareness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Policy enforcement via AD integration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Threat Intelligence Feeds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Real-time threat data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SSL/TLS Decryption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Inspect encrypted traffic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Sandboxing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Detonate suspicious files safely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AI/ML Detection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Anomaly-based threat detection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685925"/>
            <a:ext cx="8306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Modern firewalls include advanced capabilities: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6606255"/>
            <a:ext cx="802027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Leading NGFW Vendors (2025): 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Palo Alto Networks, Fortinet FortiGate, Cisco Secure Firewall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7793070"/>
            <a:ext cx="8020278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Architecture: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Internet ↔ [Firewall] ↔ DMZ (Public Services) ↔ [Firewall] ↔ Internal Network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Pur</a:t>
            </a: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pose: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Perimeter network between the Internet and the internal network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Hosts public-facing services (web, email, DNS servers)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If the D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MZ is compromised, the second firewall protects the internal network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Implements defense-in-depth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52996" y="1689735"/>
            <a:ext cx="8920654" cy="506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Windows Defender Firewall: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# Manage via netsh (command line)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netsh advfirewall firewall add rule name="Allow Web" dir=in action=allow protocol=TCP localport=80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# Three profiles: Domain, Private, Public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netsh advfirewall show domainprofile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Linux Firewall (Netfilter Framework):</a:t>
            </a:r>
          </a:p>
          <a:p>
            <a:pPr algn="l">
              <a:lnSpc>
                <a:spcPts val="2160"/>
              </a:lnSpc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Tools available: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sudo iptables -A INPUT -p tcp --dport 22 -j ACCEPT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(legacy, widely used)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sudo 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nft add rule inet filter input tcp dport 22 accept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(modern replacement, more flexible)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sudo 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ufw allow ssh &amp;&amp; sudo ufw enable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(Uncomplicated Firewall, beginner-friendly)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# View rules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sudo iptables -L -n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sudo nft list ruleset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 spc="-54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sudo ufw status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52996" y="6890385"/>
            <a:ext cx="8920654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Linux Kernel Hooks (Netfilter):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Incoming Packet → NF_IP_PRE_ROUTING (modify before routing decision) → [Routing Decision] → NF_IP_LOCAL_IN (destined for this host) | NF_IP_FORWARD (forward to another host) → Application Processing → NF_IP_LOCAL_OUT (traffic generated locally) → NF_IP_POST_ROUTING (final modifications) → Outgoing Packet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4: CC (3: Firewalls) (Cont’d)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4.4 Next-Generation Firewalls (NGFWs)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52996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4.6 Host-Based Firewalls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7301580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4.5 Demilitarized Zone (DMZ)</a:t>
            </a:r>
          </a:p>
        </p:txBody>
      </p: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666750" y="2047875"/>
          <a:ext cx="7259459" cy="4381500"/>
        </p:xfrm>
        <a:graphic>
          <a:graphicData uri="http://schemas.openxmlformats.org/drawingml/2006/table">
            <a:tbl>
              <a:tblPr/>
              <a:tblGrid>
                <a:gridCol w="3183197"/>
                <a:gridCol w="4076262"/>
              </a:tblGrid>
              <a:tr h="4868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Capability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Purpose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8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Deep Packet Inspection (DPI)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Inspect application layer content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8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Integrated IPS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Block detected intrusions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8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Application Awareness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Control apps regardless of port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8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User Identity Awareness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Policy enforcement via AD integration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8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Threat Intelligence Feeds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Real-time threat data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8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SSL/TLS Decryption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Inspect encrypted traffic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8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Sandboxing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Detonate suspicious files safely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8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AI/ML Detection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Anomaly-based threat detection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52600"/>
            <a:ext cx="9738310" cy="400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Source Port Spoofing: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Send traffic from the allowed source port (e.g., 80, 443)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Fragmentation: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Break packets into fragments to evade signature-based detection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Stateful firewalls reassemble before inspection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Protocol Tunneling: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Encapsulate forbidden protocols inside allowed ones (SSH over HTTP)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ACL Logic Errors: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Exploit rule ordering or contradictory rules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Example: Rule 1 allows traffic, Rule 10 denies (Rule 1 processed first)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Timing-Based Evasion: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Distribute attack traffic over time to evade rate-limiting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4: CC (3: Firewalls) (Cont’d)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179195"/>
            <a:ext cx="973831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4.7 Firewall Bypassing Techniques (Pentester Knowledge)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45178"/>
            <a:ext cx="6669647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Intrusion Detection System (IDS):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Monitors network traffic for malicious activity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Sends alerts to administrators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Passive system (doesn't block, only notifies)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Like a burglar alarm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Intrusion Prevention System (IPS):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Actively blocks detected intrusions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Can interwork with routers/firewalls to block traffic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Can drop packets in-line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Like a security guard stopping the burglar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5709483"/>
            <a:ext cx="6669647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By Scope: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NIDS/NIPS: Monitor traffic on network segments; good for overall visibility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HIDS/HIPS: Monitor activity on individual hosts; excellent for critical servers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14640" y="7062986"/>
            <a:ext cx="8130915" cy="233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Open Source: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Snort: Rule-based, widely used in enterprises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Suricata: Multi-threaded, supports Snort rules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Zeek (formerly Bro): Network analysis and security monitoring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Security Onion: Complete IDS/IPS distribution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Commercial: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Cisco, Palo Alto Networks, Fortinet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14640" y="1431806"/>
            <a:ext cx="8130915" cy="500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5.2 IDS/IPS Types (Cont’d)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By Detection Method:</a:t>
            </a:r>
          </a:p>
          <a:p>
            <a:pPr algn="l">
              <a:lnSpc>
                <a:spcPts val="2640"/>
              </a:lnSpc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1- Signature-Based (Pattern Matching)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Matches known attack patterns/exploits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Fast, low false positives for known threats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Misses unknown/zero-day attacks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Requires frequent signature updates</a:t>
            </a:r>
          </a:p>
          <a:p>
            <a:pPr algn="l">
              <a:lnSpc>
                <a:spcPts val="2640"/>
              </a:lnSpc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2-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Anomaly-Based (Behavioral Analysis)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Establishes baseline of normal behavior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Detects deviations from baseline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Effective against zero-days and novel attacks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Higher false positives (legitimate unusual activity flagged)</a:t>
            </a:r>
          </a:p>
          <a:p>
            <a:pPr algn="l">
              <a:lnSpc>
                <a:spcPts val="2640"/>
              </a:lnSpc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3-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Hybrid Approach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Combines signature and anomaly detection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Balances coverage and false positive rates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5: CC (4: Intrusion Detection &amp; Prevention Systems)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1171773"/>
            <a:ext cx="973831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5.1 IDS vs IPS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6750" y="5136078"/>
            <a:ext cx="7137253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5.2 IDS/IPS Types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14640" y="6489581"/>
            <a:ext cx="7137253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5.3 IDS/IPS Examples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35653"/>
            <a:ext cx="6669647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alert tcp any any -&gt; 192.168.1.0/24 80 (msg:"HTTP traffic detected"; sid:1000001;)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Structure: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[ACTION] [PROTOCOL] [SOURCE] [SOURCE_PORT] -&gt; [DESTINATION] [DEST_PORT] (options)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Common Actions: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alert, drop, pass, reject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Options: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msg: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Description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sid: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Unique rule ID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content: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Search for specific strings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pcre: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Perl-compatible regular expressions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threshold: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Alert limiting</a:t>
            </a:r>
          </a:p>
          <a:p>
            <a:pPr algn="l" marL="431805" indent="-215903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classtype: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Attack category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563936" y="1739463"/>
            <a:ext cx="8130915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Encryption: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Encrypted traffic bypasses content inspection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IDS can only see encrypted blobs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Fragmentation: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Split the attack payload across multiple packets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IDS may not reassemble and detect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Timing-Based Evasion: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Spread attack over time (slow scan)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Evade rate-based detection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Protocol Anomalies: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Send malformed packets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IDS may reject while vulnerable service processes them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Polymorphic Payloads: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Encode exploits to avoid signature matching</a:t>
            </a:r>
          </a:p>
          <a:p>
            <a:pPr algn="l" marL="431805" indent="-215903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Different encoding each attempt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63936" y="7048117"/>
            <a:ext cx="1007440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b="true" sz="2000" spc="-60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Improved Anomaly Detection: 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Random Forest, Neural Networks, LSTM models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b="true" sz="2000" spc="-60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Adaptive Learning: 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Reinforcement learning adjusts detection over time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b="true" sz="2000" spc="-60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Reduced False Positives: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Better contextual understanding</a:t>
            </a:r>
          </a:p>
          <a:p>
            <a:pPr algn="l" marL="431805" indent="-215903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-60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Zero-Day Detection: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Behavioral patterns catch unknown attacks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5: CC (4: Intrusion Detection &amp; Prevention Systems) (Cont’d)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1171773"/>
            <a:ext cx="973831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5.4 Snort Rule Basics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63936" y="1171773"/>
            <a:ext cx="7137253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5.5 IDS Evasion Techniques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63936" y="6480427"/>
            <a:ext cx="7137253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5.6 AI/ML in IDS/IPS (2025 Advancements)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45178"/>
            <a:ext cx="6669647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Definition: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 specialized firewall that filters, monitors, and blocks HTTP/HTTPS traffic to/from web applications.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Protection Against: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SQL Injection (SQLi)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Cross-Site Scripting (XSS)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Cross-Site Request Forgery (CSRF)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File Upload Vulnerabilities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Command Injection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Path Traversal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DDoS attacks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6160016"/>
            <a:ext cx="6669647" cy="334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Reverse Proxy Mode: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Browser → WAF → Web Server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(WAF is a transparent proxy)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Inline Mode: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Browser → Firewall → WAF → Web Server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Out-of-Band/Detection Mode: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Traffic mirrored to WAF (no blocking capability)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66225" y="1745178"/>
            <a:ext cx="8130915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Negative Security (Blacklisting):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Blocks known bad signatures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Fast, low overhead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Misses novel attack variants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Example: Block requests containing union select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Positive Security (Whitelisting):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Only allows known good patterns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More secure but restrictive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May block legitimate, unusual requests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Requires careful tuning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66225" y="5709483"/>
            <a:ext cx="8130915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Open Source: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ModSecurity: Industry standard, Apache/Nginx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OWASP CRS: Core Rule Set for ModSecurity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Cloud/Commercial: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AWS WAF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Azure WAF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Cloudflare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Akamai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6: CC (5: Web Application Firewalls (WAF))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1171773"/>
            <a:ext cx="973831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6.1 Purpose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6750" y="5596136"/>
            <a:ext cx="7137253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6.2 WAF Deployment Modes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66225" y="1171773"/>
            <a:ext cx="7137253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6.3 Detection Methods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66225" y="5136078"/>
            <a:ext cx="7137253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6.4 WAF Examples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45178"/>
            <a:ext cx="6669647" cy="566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WAAP (Web Application and API Protection):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Extends WAF capabilities to APIs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APIs are rapidly becoming the primary attack surface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Includes API schema validation, rate limiting per API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 Features: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Core WAF + API-specific protection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Bot Management (distinguish good vs malicious bots)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Layer 7 DDoS mitigation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AI/ML threat detection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API Security Challenges: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Shadow/zombie APIs (undocumented endpoints)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API key exposure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Broken access control in APIs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Rate limiting abuse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66225" y="1745178"/>
            <a:ext cx="8130915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Encoding Variations: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URL encoding: union%20select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Unicode encoding: \u0075nion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Double encoding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Polyglot Payloads: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Payloads valid in multiple contexts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WAF Specific Knowledge: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Some WAFs have known weaknesses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Configuration errors (overly permissive rules)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6: CC (5: Web Application Firewalls (WAF)) (Cont’d)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1171773"/>
            <a:ext cx="973831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6.5 WAAP &amp; API Security (2025 Evolution)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66225" y="1171773"/>
            <a:ext cx="7137253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6.6 WAF Bypass Techniques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45178"/>
            <a:ext cx="6669647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Honeypot: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 decoy system intentionally vulnerable and designed to attract and trap attackers.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Benefits: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Early Warning: Detect intrusions targeting non-production systems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Threat Intelligence: Capture attacker tools, TTPs, malware samples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Attribution: Gather data for law enforcement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Distraction: Keep attackers occupied while defenders respond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66225" y="1745178"/>
            <a:ext cx="8130915" cy="666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1- Low-Interaction Honeypots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Simulate services without a full OS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Examples: Honeyd, Cowrie (SSH simulator)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Lightweight, easy to deploy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Limited data capture (doesn't fool sophisticated attackers)</a:t>
            </a:r>
          </a:p>
          <a:p>
            <a:pPr algn="l">
              <a:lnSpc>
                <a:spcPts val="2640"/>
              </a:lnSpc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2-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High-Interaction Honeypots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Real operating systems and services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Full environment for attacker interaction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Rich data collection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More complex, higher risk if compromised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Examples: Real Windows/Linux VMs configured as bait</a:t>
            </a:r>
          </a:p>
          <a:p>
            <a:pPr algn="l">
              <a:lnSpc>
                <a:spcPts val="2640"/>
              </a:lnSpc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3-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Honeynets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Networks of honeypots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Simulate entire target networks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Monitor lateral movement and attacker progression</a:t>
            </a:r>
          </a:p>
          <a:p>
            <a:pPr algn="l">
              <a:lnSpc>
                <a:spcPts val="2640"/>
              </a:lnSpc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4-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Honeytokens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Fake data (credentials, files, API keys)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Distributed throughout the network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Alert if accessed by unauthorized users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Excellent for detecting breaches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7: CC (6: Honeypots)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1171773"/>
            <a:ext cx="973831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7.1 Purpose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66225" y="1171773"/>
            <a:ext cx="794095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7.2 Types of Honeypots (By Interaction Level)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45178"/>
            <a:ext cx="6669647" cy="633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1- Isolation: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Deploy in DMZ or separate VLAN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Prevent lateral movement to production systems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firewalls to restrict outbound connections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2- </a:t>
            </a: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Realism: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Deploy realistic services and data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Include known vulnerabilities (older web server, unpatched OS)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Make it an attractive target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3- </a:t>
            </a: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Monitoring: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Capture all traffic (pcap)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Log all system activity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Monitor for privilege escalation attempts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Send alerts to SOC/SIEM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4- </a:t>
            </a: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Automation &amp; Analysis: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Containerize honeypots (Docker, Kubernetes)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Automate deployment and teardown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AI/ML analysis of collected data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SIEM integration for correlation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66225" y="1745178"/>
            <a:ext cx="10107425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Honeyd: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Low-interaction honeypot, simulates multiple services and OS fingerprints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Kippo/Cowrie: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SSH honeypots, log attacker commands and sessions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Dionaea: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Low-interaction honeypot, captures malware samples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Project Honey Pot: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Web-based honeypot project that tracks email harvesting and spam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7: CC (6: Honeypots) (Cont’d)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1171773"/>
            <a:ext cx="973831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7.3 Honeypot Deployment (Best Practices)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66225" y="1171773"/>
            <a:ext cx="794095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7.4 Examples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630878"/>
            <a:ext cx="6669647" cy="480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Purpose: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Centralized platform aggregating and analyzing security logs from all devices.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Functions: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Log collection and aggregation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Real-time correlation and analysis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Alerting on suspicious patterns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Incident response support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Compliance reporting (GDPR, HIPAA, PCI-DSS)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Examples: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Splunk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IBM QRadar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Elastic SIEM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Microsoft Sentinel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Value for Pentesters: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Understand detection capabilities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Know what events trigger alerts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Develop evasion techniques (cover tracks)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Identify logging gaps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7151568"/>
            <a:ext cx="9289115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Purpose: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Enforce security policies for devices/users accessing the network.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Ensures: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Only authorized devices connect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Devices are compliant (patches, antivirus current)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Isolation of non-compliant devices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Examples: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Cisco ISE (Identity Services Engine)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Aruba ClearPass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24602" y="1659453"/>
            <a:ext cx="928911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Purpose: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Secure, encrypted tunnels for remote access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Security Features: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Encryption (IPSec, TLS)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User authentication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Access control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Logging and monitoring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24602" y="3997482"/>
            <a:ext cx="9289115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Purpose: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Block access to malicious/inappropriate websites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Methods: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URL category blocking (phishing, malware, adult sites)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DNS filtering (resolve malicious domains to a sinkhole)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SSL inspection (decrypt, inspect, re-encrypt traffic)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8: CC (7: SIEM &amp; NAC)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1171773"/>
            <a:ext cx="8057852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8.1 SIEM (Security Information and Event Management)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6750" y="6654363"/>
            <a:ext cx="8057852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8.2 NAC (Network Access Control)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24602" y="1133673"/>
            <a:ext cx="8057852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8.3 VPN Concentrators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24602" y="3471702"/>
            <a:ext cx="8057852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8.4 Web/Content Filtering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26128"/>
            <a:ext cx="12353980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Some firewalls allow access after sequence of connection attempts to specific ports.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Attack: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Attacker sends SYN to port 1234, 5678, 9999 in sequence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→ Firewall sees pattern, opens port 22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→ Attacker connects to SSH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Mitigation: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Implement time-based windows, randomize port sequence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5271620"/>
            <a:ext cx="928911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Normal port scan: 1000 ports/minute (detected)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Slow scan: 1 port/5 minutes (may evade rate-limiting)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6683225"/>
            <a:ext cx="9289115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Original attack: union select password from users</a:t>
            </a:r>
          </a:p>
          <a:p>
            <a:pPr algn="l">
              <a:lnSpc>
                <a:spcPts val="2640"/>
              </a:lnSpc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WAF blocks: "union select"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Bypass: uni/*comment*/on sel/**/ect password from users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(If WAF doesn't handle comments properly)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9: Practical Bypassing Scenarios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1171773"/>
            <a:ext cx="805785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9.1 Firewall Bypass Scenario: Port Knocking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4783940"/>
            <a:ext cx="805785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9.2 IDS Evasion: Slow Scan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6750" y="6166970"/>
            <a:ext cx="805785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9.3 WAF Bypass: Comment Injection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69039" y="1739463"/>
            <a:ext cx="12353980" cy="467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Perimeter:</a:t>
            </a:r>
          </a:p>
          <a:p>
            <a:pPr algn="l">
              <a:lnSpc>
                <a:spcPts val="2640"/>
              </a:lnSpc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├─ Firewall (NGFW)</a:t>
            </a:r>
          </a:p>
          <a:p>
            <a:pPr algn="l">
              <a:lnSpc>
                <a:spcPts val="2640"/>
              </a:lnSpc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├─ IDS/IPS (NIDS)</a:t>
            </a:r>
          </a:p>
          <a:p>
            <a:pPr algn="l">
              <a:lnSpc>
                <a:spcPts val="2640"/>
              </a:lnSpc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└─ WAF (web apps)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Internal Network:</a:t>
            </a:r>
          </a:p>
          <a:p>
            <a:pPr algn="l">
              <a:lnSpc>
                <a:spcPts val="2640"/>
              </a:lnSpc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├─ Host Firewalls</a:t>
            </a:r>
          </a:p>
          <a:p>
            <a:pPr algn="l">
              <a:lnSpc>
                <a:spcPts val="2640"/>
              </a:lnSpc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├─ HIDS/HIPS</a:t>
            </a:r>
          </a:p>
          <a:p>
            <a:pPr algn="l">
              <a:lnSpc>
                <a:spcPts val="2640"/>
              </a:lnSpc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└─ Honeypots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Visibility &amp; Response:</a:t>
            </a:r>
          </a:p>
          <a:p>
            <a:pPr algn="l">
              <a:lnSpc>
                <a:spcPts val="2640"/>
              </a:lnSpc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├─ SIEM (centralized logging)</a:t>
            </a:r>
          </a:p>
          <a:p>
            <a:pPr algn="l">
              <a:lnSpc>
                <a:spcPts val="2640"/>
              </a:lnSpc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├─ NAC (device compliance)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-66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└─ Threat Intelligence Feeds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9039" y="7340053"/>
            <a:ext cx="9289115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Firewall catches protocol violations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IDS/IPS detects known exploits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WAF stops web attacks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Honeypots reveal new techniques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SIEM correlates events for incident response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10: Defense-in-Depth Integration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9039" y="1170722"/>
            <a:ext cx="805785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Complete Security Stack Example: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9039" y="6619963"/>
            <a:ext cx="15174228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 Principle: </a:t>
            </a: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 single technology provides complete protection. Layers work together: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426637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51201" y="143147"/>
              <a:ext cx="698738" cy="745321"/>
            </a:xfrm>
            <a:custGeom>
              <a:avLst/>
              <a:gdLst/>
              <a:ahLst/>
              <a:cxnLst/>
              <a:rect r="r" b="b" t="t" l="l"/>
              <a:pathLst>
                <a:path h="745321" w="698738">
                  <a:moveTo>
                    <a:pt x="0" y="0"/>
                  </a:moveTo>
                  <a:lnTo>
                    <a:pt x="698738" y="0"/>
                  </a:lnTo>
                  <a:lnTo>
                    <a:pt x="698738" y="745321"/>
                  </a:lnTo>
                  <a:lnTo>
                    <a:pt x="0" y="74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6794" y="175302"/>
              <a:ext cx="658026" cy="681010"/>
            </a:xfrm>
            <a:custGeom>
              <a:avLst/>
              <a:gdLst/>
              <a:ahLst/>
              <a:cxnLst/>
              <a:rect r="r" b="b" t="t" l="l"/>
              <a:pathLst>
                <a:path h="681010" w="658026">
                  <a:moveTo>
                    <a:pt x="0" y="0"/>
                  </a:moveTo>
                  <a:lnTo>
                    <a:pt x="658026" y="0"/>
                  </a:lnTo>
                  <a:lnTo>
                    <a:pt x="658026" y="681010"/>
                  </a:lnTo>
                  <a:lnTo>
                    <a:pt x="0" y="68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524206"/>
            <a:ext cx="11451792" cy="233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Understand Limitations: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Every security device has weaknesses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Configuration Matters: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Misconfigurations are the primary vulnerability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Layering Works: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Defense-in-depth significantly increases resistance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Detection vs Prevention: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Detection alone (IDS) is insufficient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Application Layer Critical: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Firewalls miss application-level attacks (WAF needed)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Logging Vital: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 logging = no evidence (SIEM essential)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Know Yourself: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Honeypots reveal attacker tools and techniques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Key Takeaways For Pentesters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491327"/>
            <a:ext cx="16201636" cy="249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Cisco IOS Configuration Guides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NIST Cybersecurity Framework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OWASP Top 10 Web Application Vulnerabilities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CIS Benchmarks (Routers, Firewalls, Linux)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OffSec Penetration Testing Playbook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SANS Cyber Aces (Free tutorials)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115522" y="381000"/>
            <a:ext cx="1505728" cy="810556"/>
            <a:chOff x="0" y="0"/>
            <a:chExt cx="2007638" cy="108074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978" lIns="22978" bIns="22978" rIns="229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978" lIns="22978" bIns="22978" rIns="229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44554" y="239221"/>
              <a:ext cx="991633" cy="602300"/>
            </a:xfrm>
            <a:custGeom>
              <a:avLst/>
              <a:gdLst/>
              <a:ahLst/>
              <a:cxnLst/>
              <a:rect r="r" b="b" t="t" l="l"/>
              <a:pathLst>
                <a:path h="602300" w="991633">
                  <a:moveTo>
                    <a:pt x="0" y="0"/>
                  </a:moveTo>
                  <a:lnTo>
                    <a:pt x="991633" y="0"/>
                  </a:lnTo>
                  <a:lnTo>
                    <a:pt x="991633" y="602299"/>
                  </a:lnTo>
                  <a:lnTo>
                    <a:pt x="0" y="602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286" r="0" b="-6286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10110" y="184552"/>
              <a:ext cx="714315" cy="711636"/>
            </a:xfrm>
            <a:custGeom>
              <a:avLst/>
              <a:gdLst/>
              <a:ahLst/>
              <a:cxnLst/>
              <a:rect r="r" b="b" t="t" l="l"/>
              <a:pathLst>
                <a:path h="711636" w="714315">
                  <a:moveTo>
                    <a:pt x="0" y="0"/>
                  </a:moveTo>
                  <a:lnTo>
                    <a:pt x="714315" y="0"/>
                  </a:lnTo>
                  <a:lnTo>
                    <a:pt x="714315" y="711637"/>
                  </a:lnTo>
                  <a:lnTo>
                    <a:pt x="0" y="711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2596" y="0"/>
            <a:ext cx="8185404" cy="10287000"/>
            <a:chOff x="0" y="0"/>
            <a:chExt cx="21558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827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144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5582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8180" y="666750"/>
            <a:ext cx="6947741" cy="8953500"/>
            <a:chOff x="0" y="0"/>
            <a:chExt cx="812800" cy="1047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47449"/>
            </a:xfrm>
            <a:custGeom>
              <a:avLst/>
              <a:gdLst/>
              <a:ahLst/>
              <a:cxnLst/>
              <a:rect r="r" b="b" t="t" l="l"/>
              <a:pathLst>
                <a:path h="1047449" w="812800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6" r="0" b="-30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26053" y="4096993"/>
            <a:ext cx="8324850" cy="2093014"/>
            <a:chOff x="0" y="0"/>
            <a:chExt cx="11099800" cy="279068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51122"/>
              <a:ext cx="11099800" cy="7395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5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FFA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ANY QUESTIONS?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0"/>
              <a:ext cx="11099800" cy="1722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254" strike="noStrike" u="none">
                  <a:solidFill>
                    <a:srgbClr val="00FFA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Thank You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5400000">
            <a:off x="16106389" y="8352937"/>
            <a:ext cx="1792448" cy="1639275"/>
          </a:xfrm>
          <a:custGeom>
            <a:avLst/>
            <a:gdLst/>
            <a:ahLst/>
            <a:cxnLst/>
            <a:rect r="r" b="b" t="t" l="l"/>
            <a:pathLst>
              <a:path h="1639275" w="1792448">
                <a:moveTo>
                  <a:pt x="1792448" y="0"/>
                </a:moveTo>
                <a:lnTo>
                  <a:pt x="0" y="0"/>
                </a:lnTo>
                <a:lnTo>
                  <a:pt x="0" y="1639276"/>
                </a:lnTo>
                <a:lnTo>
                  <a:pt x="1792448" y="1639276"/>
                </a:lnTo>
                <a:lnTo>
                  <a:pt x="17924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Ethical Hacking Overview</dc:description>
  <dc:identifier>DAG-Njt10W4</dc:identifier>
  <dcterms:modified xsi:type="dcterms:W3CDTF">2011-08-01T06:04:30Z</dcterms:modified>
  <cp:revision>1</cp:revision>
  <dc:title>Lecture-11-CCS6324 - Network Protection Systems</dc:title>
</cp:coreProperties>
</file>