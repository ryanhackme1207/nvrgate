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ITC Avant Garde Gothic" charset="1" panose="020B0502020202020204"/>
      <p:regular r:id="rId29"/>
    </p:embeddedFont>
    <p:embeddedFont>
      <p:font typeface="TT Fors" charset="1" panose="020B0003030001020000"/>
      <p:regular r:id="rId30"/>
    </p:embeddedFont>
    <p:embeddedFont>
      <p:font typeface="TT Fors Bold" charset="1" panose="020B0003030001020000"/>
      <p:regular r:id="rId36"/>
    </p:embeddedFont>
    <p:embeddedFont>
      <p:font typeface="Courier New Bold" charset="1" panose="02070609020205020404"/>
      <p:regular r:id="rId41"/>
    </p:embeddedFont>
    <p:embeddedFont>
      <p:font typeface="Canva Sans Bold" charset="1" panose="020B0803030501040103"/>
      <p:regular r:id="rId44"/>
    </p:embeddedFont>
    <p:embeddedFont>
      <p:font typeface="Canva Sans" charset="1" panose="020B0503030501040103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notesSlides/notesSlide2.xml" Type="http://schemas.openxmlformats.org/officeDocument/2006/relationships/notesSlide"/><Relationship Id="rId35" Target="notesSlides/notesSlide3.xml" Type="http://schemas.openxmlformats.org/officeDocument/2006/relationships/notesSlide"/><Relationship Id="rId36" Target="fonts/font36.fntdata" Type="http://schemas.openxmlformats.org/officeDocument/2006/relationships/font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7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8.xml" Type="http://schemas.openxmlformats.org/officeDocument/2006/relationships/notesSlide"/><Relationship Id="rId43" Target="notesSlides/notesSlide9.xml" Type="http://schemas.openxmlformats.org/officeDocument/2006/relationships/notes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notesSlides/notesSlide10.xml" Type="http://schemas.openxmlformats.org/officeDocument/2006/relationships/notesSlide"/><Relationship Id="rId47" Target="notesSlides/notesSlide11.xml" Type="http://schemas.openxmlformats.org/officeDocument/2006/relationships/notesSlide"/><Relationship Id="rId48" Target="notesSlides/notesSlide12.xml" Type="http://schemas.openxmlformats.org/officeDocument/2006/relationships/notesSlide"/><Relationship Id="rId49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4.xml" Type="http://schemas.openxmlformats.org/officeDocument/2006/relationships/notesSlide"/><Relationship Id="rId51" Target="notesSlides/notesSlide15.xml" Type="http://schemas.openxmlformats.org/officeDocument/2006/relationships/notesSlide"/><Relationship Id="rId52" Target="notesSlides/notesSlide16.xml" Type="http://schemas.openxmlformats.org/officeDocument/2006/relationships/notesSlide"/><Relationship Id="rId53" Target="notesSlides/notesSlide17.xml" Type="http://schemas.openxmlformats.org/officeDocument/2006/relationships/notesSlide"/><Relationship Id="rId54" Target="notesSlides/notesSlide18.xml" Type="http://schemas.openxmlformats.org/officeDocument/2006/relationships/notesSlide"/><Relationship Id="rId55" Target="notesSlides/notesSlide19.xml" Type="http://schemas.openxmlformats.org/officeDocument/2006/relationships/notesSlide"/><Relationship Id="rId56" Target="notesSlides/notesSlide20.xml" Type="http://schemas.openxmlformats.org/officeDocument/2006/relationships/notesSlide"/><Relationship Id="rId57" Target="notesSlides/notesSlide21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77675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92502" t="0" r="-9250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62648" y="7828295"/>
            <a:ext cx="3328824" cy="1791955"/>
            <a:chOff x="0" y="0"/>
            <a:chExt cx="4438432" cy="238927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389273" cy="2389273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049159" y="0"/>
              <a:ext cx="2389273" cy="2389273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2309932" y="260773"/>
              <a:ext cx="1867726" cy="1867726"/>
            </a:xfrm>
            <a:custGeom>
              <a:avLst/>
              <a:gdLst/>
              <a:ahLst/>
              <a:cxnLst/>
              <a:rect r="r" b="b" t="t" l="l"/>
              <a:pathLst>
                <a:path h="1867726" w="1867726">
                  <a:moveTo>
                    <a:pt x="0" y="0"/>
                  </a:moveTo>
                  <a:lnTo>
                    <a:pt x="1867726" y="0"/>
                  </a:lnTo>
                  <a:lnTo>
                    <a:pt x="1867726" y="1867727"/>
                  </a:lnTo>
                  <a:lnTo>
                    <a:pt x="0" y="1867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49190" y="371687"/>
              <a:ext cx="1741693" cy="1645900"/>
            </a:xfrm>
            <a:custGeom>
              <a:avLst/>
              <a:gdLst/>
              <a:ahLst/>
              <a:cxnLst/>
              <a:rect r="r" b="b" t="t" l="l"/>
              <a:pathLst>
                <a:path h="1645900" w="1741693">
                  <a:moveTo>
                    <a:pt x="0" y="0"/>
                  </a:moveTo>
                  <a:lnTo>
                    <a:pt x="1741693" y="0"/>
                  </a:lnTo>
                  <a:lnTo>
                    <a:pt x="1741693" y="1645899"/>
                  </a:lnTo>
                  <a:lnTo>
                    <a:pt x="0" y="1645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66750" y="1552575"/>
            <a:ext cx="11210925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 spc="-29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Cryptography Fundamentals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561975"/>
            <a:ext cx="976312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MULTIMEDIA UNIVERSITY, MALAYSIA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3474" y="4634230"/>
            <a:ext cx="9763125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CCS6324 - 2530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3474" y="4153534"/>
            <a:ext cx="9763125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ETHICAL HACKING AND PENETRATION TESTING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Dr. Hafiz Adnan Hussain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2132867"/>
            <a:ext cx="16592550" cy="656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This course is designed to educate students on ethical hacking p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rinc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ples. The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dge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echniques acqu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ed must be used respons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 and 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ny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llegal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 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authorized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activiti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Each 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nt is solely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sibl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for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hei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tion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Do not inv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estig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in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ividua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s, webs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es,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servers or conduct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ny ill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eg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 activit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ies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on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you do not have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miss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ion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 analyze.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cour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conten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ha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been deve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oped in good f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ait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h, 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awing from th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r’s 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x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rience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and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repu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table so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urce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. Wh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 every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ffo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 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 been made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ure accuracy,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uthor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guarante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abso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ute correctness. Students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 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courage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to ex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discretio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actively engage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dis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ns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by 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isi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g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ny que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tions or conc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rns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ng th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cour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1475"/>
            <a:ext cx="112014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17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DISC</a:t>
            </a:r>
            <a:r>
              <a:rPr lang="en-US" sz="6000" spc="-179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</a:t>
            </a:r>
            <a:r>
              <a:rPr lang="en-US" sz="6000" spc="-179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AIMER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63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2132867"/>
            <a:ext cx="1659255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We won’t cover the entire cryptography course in a single chapter.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Focus on understanding what could go wrong.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1475"/>
            <a:ext cx="112014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17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NOT a Cryptography Course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2513074"/>
            <a:ext cx="16954500" cy="267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Defi</a:t>
            </a: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ne crypt</a:t>
            </a: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graphy and its core principl</a:t>
            </a: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</a:p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Understand the evolution from classical to modern encryption</a:t>
            </a:r>
          </a:p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Identify the weaknesses in historical ciphers</a:t>
            </a:r>
          </a:p>
          <a:p>
            <a:pPr algn="l" marL="777237" indent="-388618" lvl="1">
              <a:lnSpc>
                <a:spcPts val="5399"/>
              </a:lnSpc>
              <a:buFont typeface="Arial"/>
              <a:buChar char="•"/>
            </a:pPr>
            <a:r>
              <a:rPr lang="en-US" sz="3599" spc="-10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Recognize cryptography’s role in cybersecurity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1475"/>
            <a:ext cx="112014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179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Learning Objectives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765686"/>
            <a:ext cx="1298378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 spc="-119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What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Y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ou 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ll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ea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</a:t>
            </a:r>
            <a:r>
              <a:rPr lang="en-US" b="true" sz="3999" spc="-11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820274"/>
            <a:ext cx="171069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Cryptography is the science of securing data through encoding and transformation. It converts plaintext (readable information) into ciphertext (unreadable, encrypted data), making it inaccessible to unauthorized users.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2677524"/>
            <a:ext cx="7781658" cy="728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 Definitions: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Plaintext: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Original readable message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Ciphertext: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Encrypted, unreadable message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Encryption: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Process of converting plaintext to ciphertext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Decryption: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Process of converting ciphertext back to plaintext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Secret parameter controlling encryption/decryption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Cryptography Goals (CIA Triad Extended)</a:t>
            </a:r>
          </a:p>
          <a:p>
            <a:pPr algn="l" marL="453395" indent="-226697" lvl="1">
              <a:lnSpc>
                <a:spcPts val="2520"/>
              </a:lnSpc>
              <a:buAutoNum type="arabicPeriod" startAt="1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Confidentiality: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Ensure only authorized parties can read data</a:t>
            </a:r>
          </a:p>
          <a:p>
            <a:pPr algn="l" marL="453395" indent="-226697" lvl="1">
              <a:lnSpc>
                <a:spcPts val="2520"/>
              </a:lnSpc>
              <a:buAutoNum type="arabicPeriod" startAt="1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Integrity: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Verify data hasn't been altered</a:t>
            </a:r>
          </a:p>
          <a:p>
            <a:pPr algn="l" marL="453395" indent="-226697" lvl="1">
              <a:lnSpc>
                <a:spcPts val="2520"/>
              </a:lnSpc>
              <a:buAutoNum type="arabicPeriod" startAt="1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Authenticity: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Confirm the sender's identity</a:t>
            </a:r>
          </a:p>
          <a:p>
            <a:pPr algn="l" marL="453395" indent="-226697" lvl="1">
              <a:lnSpc>
                <a:spcPts val="2520"/>
              </a:lnSpc>
              <a:buAutoNum type="arabicPeriod" startAt="1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Non-repudiation: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The sender cannot deny sending the message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spc="-69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Historical Ciphers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Substitution Cipher</a:t>
            </a:r>
          </a:p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The oldest known encryption method, replacing one letter with another based on a key.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Caesar Cipher Example: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Key value of 3 shifts each letter 3 positions forward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ABCDEFGHIJKLMNOPQRSTUVWXYZ → DEFGHIJKLMNOPQRSTUVWXYZABC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"HELLO" becomes "KHOOR"</a:t>
            </a:r>
          </a:p>
          <a:p>
            <a:pPr algn="l" marL="453395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Vulnerable to frequency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73017" y="2677524"/>
            <a:ext cx="8603683" cy="725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ROT-13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Special case of Caesar cipher with key value of 13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Applying ROT-13 twice returns the original text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Example: HELLO → URYYB → HELLO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Historically used to hide spoilers and mild content online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Completely broken by modern standards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Enigma Machine (WWII)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German encryption device using mechanical rotors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Complex substitution based on rotor position and electrical pathways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Believed unbreakable at the time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Cracked by Alan Turing's team at Bletchley Park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Lesson: Complexity doesn't guarantee security</a:t>
            </a:r>
          </a:p>
          <a:p>
            <a:pPr algn="l">
              <a:lnSpc>
                <a:spcPts val="2760"/>
              </a:lnSpc>
            </a:pPr>
            <a:r>
              <a:rPr lang="en-US" sz="2300" spc="-69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Why These Failed</a:t>
            </a:r>
          </a:p>
          <a:p>
            <a:pPr algn="l" marL="453395" indent="-226697" lvl="1">
              <a:lnSpc>
                <a:spcPts val="2520"/>
              </a:lnSpc>
              <a:buAutoNum type="arabicPeriod" startAt="1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Small keyspace: Limited possible keys</a:t>
            </a:r>
          </a:p>
          <a:p>
            <a:pPr algn="l" marL="453395" indent="-226697" lvl="1">
              <a:lnSpc>
                <a:spcPts val="2520"/>
              </a:lnSpc>
              <a:buAutoNum type="arabicPeriod" startAt="1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Frequency analysis: Letter distribution patterns reveal structure</a:t>
            </a:r>
          </a:p>
          <a:p>
            <a:pPr algn="l" marL="453395" indent="-226697" lvl="1">
              <a:lnSpc>
                <a:spcPts val="2520"/>
              </a:lnSpc>
              <a:buAutoNum type="arabicPeriod" startAt="1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Known plaintext attacks: Patterns in messages expose the cipher</a:t>
            </a:r>
          </a:p>
          <a:p>
            <a:pPr algn="l" marL="453395" indent="-226697" lvl="1">
              <a:lnSpc>
                <a:spcPts val="2520"/>
              </a:lnSpc>
              <a:buAutoNum type="arabicPeriod" startAt="1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Lack of mathematical rigor: Designed by intuition, not proven secure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Steganography vs. Cryptography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Steganography: Hiding information in plain sight (images, text, video)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Cryptography: Making information unreadable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Different goals: steganography hides existence; cryptography denies access</a:t>
            </a:r>
          </a:p>
          <a:p>
            <a:pPr algn="l" marL="453395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Often combined for defense in depth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1: Introduction to Cryptography &amp; Historical Context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What is Cryptography?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6750" y="2491706"/>
            <a:ext cx="4770917" cy="4596725"/>
          </a:xfrm>
          <a:custGeom>
            <a:avLst/>
            <a:gdLst/>
            <a:ahLst/>
            <a:cxnLst/>
            <a:rect r="r" b="b" t="t" l="l"/>
            <a:pathLst>
              <a:path h="4596725" w="4770917">
                <a:moveTo>
                  <a:pt x="0" y="0"/>
                </a:moveTo>
                <a:lnTo>
                  <a:pt x="4770917" y="0"/>
                </a:lnTo>
                <a:lnTo>
                  <a:pt x="4770917" y="4596725"/>
                </a:lnTo>
                <a:lnTo>
                  <a:pt x="0" y="4596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14108" y="2491706"/>
            <a:ext cx="3429892" cy="4559896"/>
          </a:xfrm>
          <a:custGeom>
            <a:avLst/>
            <a:gdLst/>
            <a:ahLst/>
            <a:cxnLst/>
            <a:rect r="r" b="b" t="t" l="l"/>
            <a:pathLst>
              <a:path h="4559896" w="3429892">
                <a:moveTo>
                  <a:pt x="0" y="0"/>
                </a:moveTo>
                <a:lnTo>
                  <a:pt x="3429892" y="0"/>
                </a:lnTo>
                <a:lnTo>
                  <a:pt x="3429892" y="4559896"/>
                </a:lnTo>
                <a:lnTo>
                  <a:pt x="0" y="45598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92770" y="2491706"/>
            <a:ext cx="7823657" cy="2521245"/>
          </a:xfrm>
          <a:custGeom>
            <a:avLst/>
            <a:gdLst/>
            <a:ahLst/>
            <a:cxnLst/>
            <a:rect r="r" b="b" t="t" l="l"/>
            <a:pathLst>
              <a:path h="2521245" w="7823657">
                <a:moveTo>
                  <a:pt x="0" y="0"/>
                </a:moveTo>
                <a:lnTo>
                  <a:pt x="7823658" y="0"/>
                </a:lnTo>
                <a:lnTo>
                  <a:pt x="7823658" y="2521245"/>
                </a:lnTo>
                <a:lnTo>
                  <a:pt x="0" y="25212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14108" y="7184952"/>
            <a:ext cx="3959024" cy="2622430"/>
          </a:xfrm>
          <a:custGeom>
            <a:avLst/>
            <a:gdLst/>
            <a:ahLst/>
            <a:cxnLst/>
            <a:rect r="r" b="b" t="t" l="l"/>
            <a:pathLst>
              <a:path h="2622430" w="3959024">
                <a:moveTo>
                  <a:pt x="0" y="0"/>
                </a:moveTo>
                <a:lnTo>
                  <a:pt x="3959023" y="0"/>
                </a:lnTo>
                <a:lnTo>
                  <a:pt x="3959023" y="2622430"/>
                </a:lnTo>
                <a:lnTo>
                  <a:pt x="0" y="26224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92770" y="5012951"/>
            <a:ext cx="7823657" cy="2014592"/>
          </a:xfrm>
          <a:custGeom>
            <a:avLst/>
            <a:gdLst/>
            <a:ahLst/>
            <a:cxnLst/>
            <a:rect r="r" b="b" t="t" l="l"/>
            <a:pathLst>
              <a:path h="2014592" w="7823657">
                <a:moveTo>
                  <a:pt x="0" y="0"/>
                </a:moveTo>
                <a:lnTo>
                  <a:pt x="7823658" y="0"/>
                </a:lnTo>
                <a:lnTo>
                  <a:pt x="7823658" y="2014592"/>
                </a:lnTo>
                <a:lnTo>
                  <a:pt x="0" y="20145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6750" y="371475"/>
            <a:ext cx="1676677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4500" spc="-135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1: Introduction to Cryptography &amp; Historical Context (Cont’d)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1904966"/>
            <a:ext cx="2941873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ROT-13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48528" y="1904966"/>
            <a:ext cx="2941873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Enigma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92770" y="1904966"/>
            <a:ext cx="2941873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Steganography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75460"/>
            <a:ext cx="8205533" cy="764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spc="-72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Algorithm: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A mathematical function or procedure that transforms plaintext using a key.</a:t>
            </a:r>
          </a:p>
          <a:p>
            <a:pPr algn="l">
              <a:lnSpc>
                <a:spcPts val="2880"/>
              </a:lnSpc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Security depends on two factors:</a:t>
            </a:r>
          </a:p>
          <a:p>
            <a:pPr algn="l" marL="518163" indent="-259082" lvl="1">
              <a:lnSpc>
                <a:spcPts val="2880"/>
              </a:lnSpc>
              <a:buAutoNum type="arabicPeriod" startAt="1"/>
            </a:pPr>
            <a:r>
              <a:rPr lang="en-US" b="true" sz="2400" spc="-72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Strong Algorithm:</a:t>
            </a: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Cannot be reversed without the key</a:t>
            </a:r>
          </a:p>
          <a:p>
            <a:pPr algn="l" marL="518163" indent="-259082" lvl="1">
              <a:lnSpc>
                <a:spcPts val="2880"/>
              </a:lnSpc>
              <a:buAutoNum type="arabicPeriod" startAt="1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Secure Key:** Cannot be found through guessing or brute force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 Fundamentals</a:t>
            </a:r>
          </a:p>
          <a:p>
            <a:pPr algn="l">
              <a:lnSpc>
                <a:spcPts val="2880"/>
              </a:lnSpc>
            </a:pPr>
            <a:r>
              <a:rPr lang="en-US" sz="2400" spc="-72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Key: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A sequence of random bits controlling the encryption process.</a:t>
            </a:r>
          </a:p>
          <a:p>
            <a:pPr algn="l">
              <a:lnSpc>
                <a:spcPts val="288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Keyspace:</a:t>
            </a: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The range of all possible key values.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8-bit key: 2^8 = 256 possible values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56-bit key: 2^56 = 7.2 × 10^16 possible values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128-bit key: 2^128 = 3.4 × 10^38 possible values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256-bit key: 2^256 = 1.2 × 10^77 possible values</a:t>
            </a:r>
          </a:p>
          <a:p>
            <a:pPr algn="l">
              <a:lnSpc>
                <a:spcPts val="288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 Length Impact: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Larger keyspace = More computational effort required to break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Moore's Law: Computing power doubles every 2 years (key sizes must increase accordingly)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Modern minimum: 128 bits for symmetric, 2048 bits for RSA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1765935"/>
            <a:ext cx="8603683" cy="437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Brute Force Attacks</a:t>
            </a:r>
          </a:p>
          <a:p>
            <a:pPr algn="l">
              <a:lnSpc>
                <a:spcPts val="2880"/>
              </a:lnSpc>
            </a:pPr>
            <a:r>
              <a:rPr lang="en-US" sz="2400" spc="-72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Definition: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Attempting every possible key combination until the correct plaintext is found.</a:t>
            </a:r>
          </a:p>
          <a:p>
            <a:pPr algn="l">
              <a:lnSpc>
                <a:spcPts val="288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Historical Example (1997):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56-bit DES key broken through coordinated brute force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Used 14,000 machines organized via the Internet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Required 3 months of continuous work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Today: Same attack takes minutes with modern hardware</a:t>
            </a:r>
          </a:p>
          <a:p>
            <a:pPr algn="l">
              <a:lnSpc>
                <a:spcPts val="288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Defense Strategy: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large key sizes (128+ bits for symmetric)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Implement rate limiting on password attempts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key stretching algorithms (PBKDF2, bcrypt, Argon2)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2: Cryptographic Foundations &amp; Key Concepts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Algorithms and Keys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65935"/>
            <a:ext cx="8205533" cy="842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Symmetric cryptography uses a single shared key for both encryption and decryption. Both parties must securely share this key.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Plaintext + Key → [Encryption] → Ciphertext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Ciphertext + Key → [Decryption] → Plaintext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Advantages of Symmetric Cryptography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Speed: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100-1000x faster than asymmetric algorithms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Simplicity: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Straightforward mathematical operations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Proven Security: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Well-studied algorithms with long track records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Efficiency: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Uses minimal computing resources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Disadvantages of Symmetric Cryptography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 Distribution Problem: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Both parties must securely share the same key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Scalability Issues: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n users need n(n-1)/2 unique keys for pairwise communication</a:t>
            </a:r>
          </a:p>
          <a:p>
            <a:pPr algn="l" marL="453395" indent="-226697" lvl="1">
              <a:lnSpc>
                <a:spcPts val="2520"/>
              </a:lnSpc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No Authentication: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Cannot verify who encrypted the message</a:t>
            </a:r>
          </a:p>
          <a:p>
            <a:pPr algn="l" marL="453395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No Non-repudiation:</a:t>
            </a:r>
            <a:r>
              <a:rPr lang="en-US" sz="2100" spc="-63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Sender can deny sending a message (both have same key)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66750" y="3564508"/>
            <a:ext cx="7661781" cy="2411477"/>
          </a:xfrm>
          <a:custGeom>
            <a:avLst/>
            <a:gdLst/>
            <a:ahLst/>
            <a:cxnLst/>
            <a:rect r="r" b="b" t="t" l="l"/>
            <a:pathLst>
              <a:path h="2411477" w="7661781">
                <a:moveTo>
                  <a:pt x="0" y="0"/>
                </a:moveTo>
                <a:lnTo>
                  <a:pt x="7661781" y="0"/>
                </a:lnTo>
                <a:lnTo>
                  <a:pt x="7661781" y="2411477"/>
                </a:lnTo>
                <a:lnTo>
                  <a:pt x="0" y="24114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3: Symmetric Cryptography Algorithms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1765935"/>
            <a:ext cx="8603683" cy="744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Two Types of Symmetric Ciphers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1. Stream Ciphers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Encrypt plaintext one bit at a time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pseudo-random number generators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Fast but more vulnerable to certain attacks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Example: RC4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 Block Ciphers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Encrypt plaintext in fixed-size blocks (typically 64 or 128 bits)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More secure than stream ciphers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Modern standard approach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Examples: DES, 3DES, AES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Symmetric Algorithms: Details &amp; Security Status</a:t>
            </a: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Data Encryption Standard (DES)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Standardized: 1977 by NIST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Key Size: 56 bits (reduced from IBM's original 128-bit Lucifer)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Block Size: 64 bits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Status:❌ INSECURE - Do not use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History: Broken in 1997 (3 months with 14,000 machines); broken in 3 days in 1998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Why It Failed: 56-bit key too small; modern computers crack it in minutes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56410"/>
            <a:ext cx="8205533" cy="793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Triple DES (3DES)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Process: Applies DES encryption three times with two or three keys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Key Size: 112 or 168 bits (depending on variant)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Block Size: 64 bits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Strength: 2^56 times stronger than DES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Status:⚠️ DEPRECATED - Being phased out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Downside: Slow execution; requires three rounds of DES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Current Use: Legacy banking systems, payment card industry (Phase-out by 2024)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Advanced Encryption Standard (AES)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Standardized: 2002 by NIST (5-year development process)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Algorithm: Rijndael (designed by Belgian cryptographers)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Key Sizes: 128, 192, or 256 bits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Block Size: 128 bits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Status:✅ SECURE - Current industry standard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Speed: Fast on both software and hardware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Applications: HTTPS, VPNs, file encryption, cloud storage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Rounds: 10 (128-bit key), 12 (192-bit), 14 (256-bit)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IDEA (International Data Encryption Algorithm)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Key Size: 128 bits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Block Size: 64 bits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Status:✅ SECURE - But rarely used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History: Developed 1991 by Lai and Massey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Use: Early PGP implementations, academic research</a:t>
            </a:r>
          </a:p>
          <a:p>
            <a:pPr algn="l" marL="431805" indent="-215903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Limitation: 64-bit block size vulnerable to birthday attack with large volumes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53767" y="1756410"/>
            <a:ext cx="8872283" cy="793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Blowfish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Key Size: 32 to 448 bits (highly flexible)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Block Size: 64 bits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Status:✅ SECURE - For legacy systems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Creator: Bruce Schneier (renowned cryptographer)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Use: File encryption, password hashing (bcrypt variant)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Limitation: 64-bit block size; being replaced by AES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Advantage: Free and public domain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RC4 (Rivest Cipher 4)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Type: Stream cipher (most widely used before 2015)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Key Size: 40 to 2048 bits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Status:❌ BROKEN - Do not use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History: Biases in key scheduling discovered; even creator Ron Rivest acknowledged flaws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Previous Use: WEP, WPA (TKIP), SSL/TLS versions, HTTPS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Vulnerabilities: Predictable key streams; can decrypt HTTPS cookies in 75 hours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Lesson: Inventor's later warnings often ignored in standards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RC5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Block Size: Variable (32, 64, or 128 bits)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Key Size: Up to 2048 bits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Status:⚠️ PARTIALLY BROKEN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Challenge: RC5-56/64 cracked; RC5-72 project ongoing (estimated 1000 years at current rate)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Use: Academic research, limited embedded systems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Creator: Ronald Rivest (RSA co-founder)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3: Symmetric Cryptography Algorithms (Cont’d)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1179195"/>
            <a:ext cx="918662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Symmetric Algorithms: Details &amp; Security Status (Cont’d)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3: Symmetric Cryptography Algorithms (Cont’d)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1179195"/>
            <a:ext cx="918662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Symmetric Algorithms Comparison Table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666750" y="2025694"/>
          <a:ext cx="15822017" cy="5392341"/>
        </p:xfrm>
        <a:graphic>
          <a:graphicData uri="http://schemas.openxmlformats.org/drawingml/2006/table">
            <a:tbl>
              <a:tblPr/>
              <a:tblGrid>
                <a:gridCol w="1885498"/>
                <a:gridCol w="1885498"/>
                <a:gridCol w="1885498"/>
                <a:gridCol w="1885498"/>
                <a:gridCol w="2489067"/>
                <a:gridCol w="5790960"/>
              </a:tblGrid>
              <a:tr h="628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Algorithm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Key Size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Block Size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Status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Best For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56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64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Moderate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❌ Insecure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None - Historical only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3DES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112-168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64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Slow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⚠️ Deprecated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Legacy financial systems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128-256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128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✅ Secure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Modern encryption (recommended)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IDEA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128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64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Moderate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✅ Secure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Legacy PGP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Blowfish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32-448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64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✅ Secure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Password hashing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23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RC4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40-2048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Stream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Very Fast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❌ Broken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None - Do not use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RC5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Variable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Variable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⚠️ Weakening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Research only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65935"/>
            <a:ext cx="8205533" cy="803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Asymmetric cryptography uses </a:t>
            </a:r>
            <a:r>
              <a:rPr lang="en-US" b="true" sz="1800" spc="-54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two mathematically related keys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: a </a:t>
            </a:r>
            <a:r>
              <a:rPr lang="en-US" b="true" sz="1800" spc="-54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public key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and a </a:t>
            </a:r>
            <a:r>
              <a:rPr lang="en-US" b="true" sz="1800" spc="-54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private key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. Data encrypted with one key can only be decrypted with the other.</a:t>
            </a:r>
          </a:p>
          <a:p>
            <a:pPr algn="l">
              <a:lnSpc>
                <a:spcPts val="2160"/>
              </a:lnSpc>
            </a:pPr>
            <a:r>
              <a:rPr lang="en-US" b="true" sz="1800" spc="-54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Plaintext + Public Key → [Encryption] → Ciphertext</a:t>
            </a:r>
          </a:p>
          <a:p>
            <a:pPr algn="l">
              <a:lnSpc>
                <a:spcPts val="2160"/>
              </a:lnSpc>
            </a:pPr>
            <a:r>
              <a:rPr lang="en-US" b="true" sz="1800" spc="-54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Ciphertext + Private Key → [Decryption] → Plaintext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 Concepts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Public Key: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Shared openly with everyone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Used by others to encrypt messages to you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Used to verify your digital signatures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Cannot be used to decrypt messages meant for you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Private Key: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Kept secret by the owner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Used to decrypt messages sent to you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Used to create digital signatures proving your identity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If compromised, security is completely broken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Advantages of Asymmetric Cryptography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 Distribution: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No need to securely share keys in advance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Scalability: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One key pair per person; millions can communicate securely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Authentication: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Private key proves identity through digital signatures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Non-repudiation: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Owner cannot deny creating a signature (proven with their private key)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Network-Friendly: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Solves the key exchange problem of symmetric cryptography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Disadvantages of Asymmetric Cryptography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Speed: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100-1000x slower than symmetric algorithms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Computational Overhead: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Requires complex mathematical operations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 Size: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Must be much larger (2048+ bits) for equivalent security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Implementation Complexity: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Easier to implement incorrectly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4: Asymmetric Cryptography (Public Key Cryptography)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Overview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1765935"/>
            <a:ext cx="8603683" cy="681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Hybrid Approach (Modern Standard)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Modern systems combine both: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Asymmetric cryptography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for secure key exchange and authentication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Symmetric cryptography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for fast bulk data encryption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Example: HTTPS/TLS uses RSA for key exchange, then AES for data encryption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Major Asymmetric Algorithms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RSA (Rivest-Shamir-Adleman)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Developed: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1977 by Rivest, Shamir, Adleman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Basis: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Difficulty of factoring large numbers into prime factors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 Size: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2048 bits (minimum); 4096 bits (recommended for long-term)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Status: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✅ SECURE - Remains gold standard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Applications: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SSL/TLS certificates, HTTPS, digital signatures, email encryption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Security: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Unbroken for 45+ years; assumes no quantum computers exist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Performance: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Slower than ECC for equivalent security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Diffie-Hellman (DH)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Developed: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1976 by Whitfield Diffie and Martin Hellman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Purpose: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Secure key exchange (NOT encryption)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Innovation: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Two parties agree on a secret key without ever transmitting it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Method: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Exchange public numbers; combine with private numbers to derive a shared secret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Protection: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Prevents sniffing attacks on key negotiation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Uses: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TLS handshakes, SSH key exchange, VPN protocols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Variants: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Elliptic Curve Diffie-Hellman (ECDH) - modern version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027647" y="8703825"/>
            <a:ext cx="5720036" cy="1442664"/>
          </a:xfrm>
          <a:custGeom>
            <a:avLst/>
            <a:gdLst/>
            <a:ahLst/>
            <a:cxnLst/>
            <a:rect r="r" b="b" t="t" l="l"/>
            <a:pathLst>
              <a:path h="1442664" w="5720036">
                <a:moveTo>
                  <a:pt x="0" y="0"/>
                </a:moveTo>
                <a:lnTo>
                  <a:pt x="5720036" y="0"/>
                </a:lnTo>
                <a:lnTo>
                  <a:pt x="5720036" y="1442664"/>
                </a:lnTo>
                <a:lnTo>
                  <a:pt x="0" y="14426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56410"/>
            <a:ext cx="8205533" cy="435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-60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Elliptic Curve Cryptosystems (ECC)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Basis: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Elliptic curve mathematical properties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 Size: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256 bits ECC ≈ 3072 bits RSA in security strength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Status: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✅ SECURE - Modern replacement for RSA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Advantages: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Much smaller keys; faster computation; requires less bandwidth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Applications: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Mobile devices, IoT, cryptocurrencies (Bitcoin uses secp256k1)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Uses: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ECDSA (signatures), ECDH (key exchange), encryption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Trend: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Increasingly replacing RSA in new systems</a:t>
            </a:r>
          </a:p>
          <a:p>
            <a:pPr algn="l">
              <a:lnSpc>
                <a:spcPts val="2400"/>
              </a:lnSpc>
            </a:pPr>
            <a:r>
              <a:rPr lang="en-US" b="true" sz="2000" spc="-60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ElGamal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Developed: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1985 by Taher ElGamal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Basis: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Discrete logarithm problem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Uses: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Data encryption, digital signatures, key exchange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Status: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✅ SECURE - But less commonly used than RSA/ECC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Security: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Solving discrete logarithm takes years of CPU-intensive operations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Applications: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GPG (GNU Privacy Guard), PGP variants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-5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Limitation: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Larger ciphertext than RSA for equivalent security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371475"/>
            <a:ext cx="16766773" cy="67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00"/>
              </a:lnSpc>
            </a:pPr>
            <a:r>
              <a:rPr lang="en-US" sz="4400" spc="-132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4: Asymmetric Cryptography (Public Key Cryptography) (Cont’d)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Major Asymmetric Algorithms (Cont’d)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6211253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Asymmetric Algorithms Comparison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66750" y="6833235"/>
          <a:ext cx="12706627" cy="3143250"/>
        </p:xfrm>
        <a:graphic>
          <a:graphicData uri="http://schemas.openxmlformats.org/drawingml/2006/table">
            <a:tbl>
              <a:tblPr/>
              <a:tblGrid>
                <a:gridCol w="1989875"/>
                <a:gridCol w="1989875"/>
                <a:gridCol w="3246138"/>
                <a:gridCol w="1402335"/>
                <a:gridCol w="4078405"/>
              </a:tblGrid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Algorithm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Key Size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Type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Status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Best For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RSA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2048-4096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Encryption + Signatures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✅ Secure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General purpose, certificates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Diffie-Hellman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2048-4096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Key Exchange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✅ Secure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Session key negotiation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ECC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256-521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Encryption + Signatures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✅ Secure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Modern systems, mobile, IoT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ElGamal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Variable (2048+)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Encryption + Signatures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✅ Secure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PGP/GPG implementations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65935"/>
            <a:ext cx="8205533" cy="487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Hashing takes a variable-length message and produces a fixed-length value called a message digest or hash.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Properties of a Good Hash Function: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Deterministic: Same input always produces same output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Fast Computation: Computing hash is quick (milliseconds)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Pre-image Resistance: Cannot reverse hash to find original input (one-way)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Small Change = Big Difference: Changing 1 bit in input dramatically changes hash (avalanche effect)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Collision-Free: No two different inputs should produce same hash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Fixed Output: All hashes same length regardless of input size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Hash as a "Digital Fingerprint"</a:t>
            </a:r>
          </a:p>
          <a:p>
            <a:pPr algn="l">
              <a:lnSpc>
                <a:spcPts val="2160"/>
              </a:lnSpc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 hash value uniquely identifies a message. If the message is modified even slightly, the hash changes completely.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Hash("The quick brown fox") = a1b2c3d4e5f6...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 spc="-54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Hash("The quick brown dog") = z9y8x7w6v5u4...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5: Hashing Algorithms &amp; Data Integrity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What is Hashing?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6709410"/>
            <a:ext cx="8306267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Hash Functions vs. Encryption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1756410"/>
            <a:ext cx="8603683" cy="804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Major Hash Algorithms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MD5 (Message Digest 5)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Output Size: 128 bits (32 hexadecimal characters)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Status:❌ BROKEN - Collision attacks practical since 2004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History: Created 1992 by Ronald Rivest; widely used for 15+ years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Collision: Two different files producing same MD5 hash found 2004-2005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Current Use: Legacy systems only (Git, file verification)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Lesson: "Widely used" ≠ "Secure"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SHA-1 (Secure Hash Algorithm 1)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Output Size: 160 bits (40 hexadecimal characters)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Status:❌ BROKEN - Collision attacks discovered 2005; practical attacks by 2017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History: NIST standard since 1995; used in TLS, SSL, PGP, SSH, S/MIME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Collision: SHAttered attack demonstrated collisions in 2017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Deprecation: NIST recommends discontinuing SHA-1 (officially deprecated 2020)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Timeline: Still used in many legacy systems but being phased out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SHA-2 Family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Variants: SHA-224, SHA-256, SHA-384, SHA-512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Output Sizes: 224, 256, 384, 512 bits respectively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Status:✅ SECURE - No practical attacks known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Recommendation: SHA-256 for new applications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Applications: HTTPS, blockchain (Bitcoin uses SHA-256), password hashing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Timeline: Standard since 2001; still recommended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SHA-3 (Keccak)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Announced: 2012; finalized 2015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Output Sizes: 224, 256, 384, 512 bits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Status:✅ SECURE - Designed to replace SHA-2 if needed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Design: Completely different from SHA-1/SHA-2 (sponge construction)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Purpose: Contingency if SHA-2 broken; also provides a performance alternative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Current Use: Limited adoption; SHA-2 still dominant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Future: May become primary as migration from SHA-2 happens</a:t>
            </a:r>
          </a:p>
        </p:txBody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666750" y="7244715"/>
          <a:ext cx="7523857" cy="2809875"/>
        </p:xfrm>
        <a:graphic>
          <a:graphicData uri="http://schemas.openxmlformats.org/drawingml/2006/table">
            <a:tbl>
              <a:tblPr/>
              <a:tblGrid>
                <a:gridCol w="1525187"/>
                <a:gridCol w="3125627"/>
                <a:gridCol w="2873043"/>
              </a:tblGrid>
              <a:tr h="4683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Aspect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Hashing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Encryption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3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Purpose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Verify integrity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Hide content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3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Reversibility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One-way (irreversible)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Two-way (reversible with key)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3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Key Required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3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Output Length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Fixed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Variable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3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Use Case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Integrity verification, passwords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Confidentiality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65935"/>
            <a:ext cx="8205533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 </a:t>
            </a: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collision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occurs when two different inputs produce the same hash.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Birthday Attack Principle: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With only 23 people in a room, there's 51% chance that two share a birthday.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23 people × 365 days = Much less than 365² combinations needed</a:t>
            </a:r>
          </a:p>
          <a:p>
            <a:pPr algn="l">
              <a:lnSpc>
                <a:spcPts val="2160"/>
              </a:lnSpc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For hashing: Finding a collision requires approximately √(2^n) attempts, where n is the hash size in bits.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For 160-bit SHA-1, a collision requires ~2^80 computations (vs. 2^160 if truly random).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Practical Impact: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MD5 (128-bit): Collision in hours with regular computers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SHA-1 (160-bit): Collision in weeks with specialized hardware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SHA-256 (256-bit): Collision still computationally infeasible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5: Hashing Algorithms &amp; Data Integrity (Cont’d)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Collision Attacks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70433" y="1699260"/>
            <a:ext cx="8306267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Hash Algorithm Summary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5246411"/>
            <a:ext cx="8603683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Hash Applications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1- </a:t>
            </a: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Data Integrity Verification: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Download files with hash verification (ensures no corruption)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Version control systems (Git uses SHA-1)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2- </a:t>
            </a: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Password Storage: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Store the hash of the password, not the password itself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Compare user input hash to stored hash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If the database is compromised, passwords remain protected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3- </a:t>
            </a: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Digital Signatures: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Sign the hash of the document (not the entire document)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Much faster than signing the entire document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Proves document hasn't been altered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4- </a:t>
            </a:r>
            <a:r>
              <a:rPr lang="en-US" sz="1800" spc="-54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Malware Detection: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Hash known malware samples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54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Compare file hashes to malware databases</a:t>
            </a:r>
          </a:p>
        </p:txBody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9270433" y="2282031"/>
          <a:ext cx="8526214" cy="3733800"/>
        </p:xfrm>
        <a:graphic>
          <a:graphicData uri="http://schemas.openxmlformats.org/drawingml/2006/table">
            <a:tbl>
              <a:tblPr/>
              <a:tblGrid>
                <a:gridCol w="1403976"/>
                <a:gridCol w="1661140"/>
                <a:gridCol w="1350487"/>
                <a:gridCol w="4110611"/>
              </a:tblGrid>
              <a:tr h="5634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Algorithm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Output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Status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Best For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4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MD5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128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❌ Broken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None - Legacy only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4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SHA-1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160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❌ Broken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None - Being phased out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67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SHA-256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256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✅ Secure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Modern password hashing, integrity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4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SHA-512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512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✅ Secure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High-security applications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4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SHA-3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256-512 bits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✅ Secure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Future standard, contingency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56410"/>
            <a:ext cx="8383386" cy="721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 digital signature is a cryptographic mechanism proving:</a:t>
            </a:r>
          </a:p>
          <a:p>
            <a:pPr algn="l" marL="431805" indent="-215903" lvl="1">
              <a:lnSpc>
                <a:spcPts val="2400"/>
              </a:lnSpc>
              <a:buAutoNum type="arabicPeriod" startAt="1"/>
            </a:pPr>
            <a:r>
              <a:rPr lang="en-US" b="true" sz="2000" spc="-60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Authentication: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Confirms the sender's identity</a:t>
            </a:r>
          </a:p>
          <a:p>
            <a:pPr algn="l" marL="431805" indent="-215903" lvl="1">
              <a:lnSpc>
                <a:spcPts val="2400"/>
              </a:lnSpc>
              <a:buAutoNum type="arabicPeriod" startAt="1"/>
            </a:pPr>
            <a:r>
              <a:rPr lang="en-US" b="true" sz="2000" spc="-60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Integrity: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Proves the message hasn't been altered</a:t>
            </a:r>
          </a:p>
          <a:p>
            <a:pPr algn="l" marL="431805" indent="-215903" lvl="1">
              <a:lnSpc>
                <a:spcPts val="2400"/>
              </a:lnSpc>
              <a:buAutoNum type="arabicPeriod" startAt="1"/>
            </a:pPr>
            <a:r>
              <a:rPr lang="en-US" b="true" sz="2000" spc="-60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Non-repudiation: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The sender cannot deny creating the signature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How Digital Signatures Work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Signing Process: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Document → [Hash Function] → Hash Value → [Private Key Encryption] → Digital Signature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Verification Process: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Received Signature → [Public Key Decryption] → Hash Value (received)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Received Document → [Hash Function] → Hash Value (calculated)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Compare: If equal → Valid signature; if different → Tampering detected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Advantages Over Written Signatures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Cryptographically Verified: Mathematics proves authenticity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Tamper-Proof: Any modification is detected immediately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Cannot Be Forged: Requires a private key that only the owner possesses</a:t>
            </a:r>
          </a:p>
          <a:p>
            <a:pPr algn="l" marL="431805" indent="-215903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Legally Binding: Many jurisdictions recognize digital signatures (e-SIGN Act in US)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1765935"/>
            <a:ext cx="8584452" cy="703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Digital Signature Standard (DSS)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Established: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1991 by NIST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Federal Government Requirements: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All digital signatures use RSA or DSA (Digital Signature Algorithm)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All signatures use a hashing algorithm for integrity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NIST mandates the SHA family for hashing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Algorithms Approved by NIST: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RSA: Industry standard, widely supported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DSA: Government standard, less common commercially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ECDSA: Elliptic Curve variant, increasingly popular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Signature Verification Process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Step-by-Step:</a:t>
            </a:r>
          </a:p>
          <a:p>
            <a:pPr algn="l" marL="431805" indent="-215903" lvl="1">
              <a:lnSpc>
                <a:spcPts val="2400"/>
              </a:lnSpc>
              <a:buAutoNum type="arabicPeriod" startAt="1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Recipient receives document + digital signature</a:t>
            </a:r>
          </a:p>
          <a:p>
            <a:pPr algn="l" marL="431805" indent="-215903" lvl="1">
              <a:lnSpc>
                <a:spcPts val="2400"/>
              </a:lnSpc>
              <a:buAutoNum type="arabicPeriod" startAt="1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Recipient decrypts the signature using the sender's public key</a:t>
            </a:r>
          </a:p>
          <a:p>
            <a:pPr algn="l" marL="431805" indent="-215903" lvl="1">
              <a:lnSpc>
                <a:spcPts val="2400"/>
              </a:lnSpc>
              <a:buAutoNum type="arabicPeriod" startAt="1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Calculate the hash of the received document</a:t>
            </a:r>
          </a:p>
          <a:p>
            <a:pPr algn="l" marL="431805" indent="-215903" lvl="1">
              <a:lnSpc>
                <a:spcPts val="2400"/>
              </a:lnSpc>
              <a:buAutoNum type="arabicPeriod" startAt="1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Compare the decrypted hash with the calculated hash</a:t>
            </a:r>
          </a:p>
          <a:p>
            <a:pPr algn="l" marL="431805" indent="-215903" lvl="1">
              <a:lnSpc>
                <a:spcPts val="2400"/>
              </a:lnSpc>
              <a:buAutoNum type="arabicPeriod" startAt="1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If match → Document authentic and unmodified</a:t>
            </a:r>
          </a:p>
          <a:p>
            <a:pPr algn="l" marL="431805" indent="-215903" lvl="1">
              <a:lnSpc>
                <a:spcPts val="2400"/>
              </a:lnSpc>
              <a:buAutoNum type="arabicPeriod" startAt="1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If no match → Either signature forged or document tampered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60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Security Guarantee: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Only the person with the private key can create a signature that decrypts correctly with their public key.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6: Digital Signatures &amp; Authentication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What is a Digital Signature?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66750" y="1765935"/>
            <a:ext cx="10740411" cy="8243266"/>
          </a:xfrm>
          <a:custGeom>
            <a:avLst/>
            <a:gdLst/>
            <a:ahLst/>
            <a:cxnLst/>
            <a:rect r="r" b="b" t="t" l="l"/>
            <a:pathLst>
              <a:path h="8243266" w="10740411">
                <a:moveTo>
                  <a:pt x="0" y="0"/>
                </a:moveTo>
                <a:lnTo>
                  <a:pt x="10740411" y="0"/>
                </a:lnTo>
                <a:lnTo>
                  <a:pt x="10740411" y="8243266"/>
                </a:lnTo>
                <a:lnTo>
                  <a:pt x="0" y="8243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6: Digital Signatures &amp; Authentication (Cont’d)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How Digital Signature Works?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56410"/>
            <a:ext cx="8383386" cy="582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PKI is not a single algorithm but a complete system of programs, protocols, and policies enabling secure data transmission over untrusted networks.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Components: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Cryptographic algorithms (RSA, ECC, AES, SHA-256)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Digital certificates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Certification authorities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Certificate repositories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Key management policies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The Certificate Problem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Question: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How do you know a public key really belongs to the person claiming it?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Scenario: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You receive a message with a public key labeled "Alice"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You encrypt a message using this public key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How do you know this key really belongs to Alice?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What if the attacker substituted their own key and is intercepting messages?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60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Answer: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Digital Certificates and Certificate Authorities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1765935"/>
            <a:ext cx="8584452" cy="581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Digital Certificates</a:t>
            </a:r>
          </a:p>
          <a:p>
            <a:pPr algn="l">
              <a:lnSpc>
                <a:spcPts val="2400"/>
              </a:lnSpc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 digital certificate is a digitally signed document binding: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 entity's public key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Their identity (name, email, organization)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Certificate validity period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Issuer's digital signature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Standard Format: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X.509 (international standard for public key certificates)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Contents of an X.509 Certificate: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Version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Serial Number (unique identifier)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Signature Algorithm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Issuer (CA that signed it)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Valid From / Valid To (expiration dates)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Subject (entity the certificate is for)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Subject Public Key Information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Extensions (usage constraints, SANs, etc.)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60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CA's Digital Signature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7: Public Key Infrastructure (PKI)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What is PKI?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56410"/>
            <a:ext cx="8383386" cy="674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 Certification Authority (CA) is a trusted organization that:</a:t>
            </a:r>
          </a:p>
          <a:p>
            <a:pPr algn="l" marL="431805" indent="-215903" lvl="1">
              <a:lnSpc>
                <a:spcPts val="2400"/>
              </a:lnSpc>
              <a:buAutoNum type="arabicPeriod" startAt="1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Verifies applicant's identity (company registration, government ID, domain ownership)</a:t>
            </a:r>
          </a:p>
          <a:p>
            <a:pPr algn="l" marL="431805" indent="-215903" lvl="1">
              <a:lnSpc>
                <a:spcPts val="2400"/>
              </a:lnSpc>
              <a:buAutoNum type="arabicPeriod" startAt="1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Issues a digital certificate binding the public key to the identity</a:t>
            </a:r>
          </a:p>
          <a:p>
            <a:pPr algn="l" marL="431805" indent="-215903" lvl="1">
              <a:lnSpc>
                <a:spcPts val="2400"/>
              </a:lnSpc>
              <a:buAutoNum type="arabicPeriod" startAt="1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Signs the certificate with their private key</a:t>
            </a:r>
          </a:p>
          <a:p>
            <a:pPr algn="l" marL="431805" indent="-215903" lvl="1">
              <a:lnSpc>
                <a:spcPts val="2400"/>
              </a:lnSpc>
              <a:buAutoNum type="arabicPeriod" startAt="1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Maintains records of issued certificates</a:t>
            </a:r>
          </a:p>
          <a:p>
            <a:pPr algn="l" marL="431805" indent="-215903" lvl="1">
              <a:lnSpc>
                <a:spcPts val="2400"/>
              </a:lnSpc>
              <a:buAutoNum type="arabicPeriod" startAt="1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Manages certificate revocation</a:t>
            </a:r>
          </a:p>
          <a:p>
            <a:pPr algn="l">
              <a:lnSpc>
                <a:spcPts val="2400"/>
              </a:lnSpc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Trusted CAs: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Globally trusted: Verisign, DigiCert, GoDaddy, Let's Encrypt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Internal/Corporate: Company's own PKI infrastructure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Government: National PKI providers</a:t>
            </a:r>
          </a:p>
          <a:p>
            <a:pPr algn="l">
              <a:lnSpc>
                <a:spcPts val="2400"/>
              </a:lnSpc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Trust Model: Users trust CA → Users accept certificates signed by CA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Certificate Chain</a:t>
            </a:r>
          </a:p>
          <a:p>
            <a:pPr algn="l">
              <a:lnSpc>
                <a:spcPts val="2400"/>
              </a:lnSpc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 chain of certificates back to the root CA proves trust.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 Chain: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Leaf Certificate (your website) 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← signed by Intermediate CA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  ← signed by another Intermediate CA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    ← signed by Root CA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      (trusted by all browsers/systems)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743823" y="1632585"/>
            <a:ext cx="9182227" cy="825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Certificate Lifecycle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1. Issuance: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User generates key pair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Submits certificate signing request (CSR) with public key and identity info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 verifies identity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 signs the certificate with its private key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Certificate issued and installed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 Validity Period: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Certificate valid from "Valid From" to "Valid To" dates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Typical validity: 1 year (SSL/TLS), 3 years (corporate PKI)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 Renewal: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Before expiration, request a new certificate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 issues a new certificate with a new expiration date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Keys remain the same if still secure</a:t>
            </a:r>
          </a:p>
          <a:p>
            <a:pPr algn="l" marL="431805" indent="-215903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Certificates must be renewed before expiration, or services stop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60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 Revocation:</a:t>
            </a:r>
          </a:p>
          <a:p>
            <a:pPr algn="l" marL="431805" indent="-215903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60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Reason: Private key compromised, employee leaves, domain changes</a:t>
            </a:r>
          </a:p>
          <a:p>
            <a:pPr algn="l" marL="431805" indent="-215903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60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Difference from Suspension:</a:t>
            </a:r>
          </a:p>
          <a:p>
            <a:pPr algn="l" marL="431805" indent="-215903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60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Revocation: Permanent, cannot be undone</a:t>
            </a:r>
          </a:p>
          <a:p>
            <a:pPr algn="l" marL="431805" indent="-215903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60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Suspension: Temporary, can be lifted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60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Revocation Methods:</a:t>
            </a:r>
          </a:p>
          <a:p>
            <a:pPr algn="l" marL="431805" indent="-215903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60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CRL (Certificate Revocation List): List of revoked certificate serial numbers; must be checked regularly</a:t>
            </a:r>
          </a:p>
          <a:p>
            <a:pPr algn="l" marL="431805" indent="-215903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60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OCSP (Online Certificate Status Protocol): Real-time query to CA; faster than CRL</a:t>
            </a:r>
          </a:p>
          <a:p>
            <a:pPr algn="l" marL="431805" indent="-215903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60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OCSP Stapling: Server includes OCSP response with certificate; eliminates client-CA connection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7: Public Key Infrastructure (PKI) (Cont’d)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Certification Authority (CA)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56410"/>
            <a:ext cx="8383386" cy="610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1. HTTPS/SSL-TLS: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Authenticates the web server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Encrypts communication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Every HTTPS connection is verified by PKI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 Email Signing/Encryption: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S/MIME certificates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PGP web of trust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Proves email authenticity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 Code Signing: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Software publishers sign executables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Verifies software hasn't been modified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Builds user trust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 VPN/Wireless: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Authentication for VPN servers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Wi-Fi certificate-based authentication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Enterprise access control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 IoT Devices: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Mutual authentication between devices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Secure device-to-cloud communication</a:t>
            </a:r>
          </a:p>
          <a:p>
            <a:pPr algn="l" marL="431805" indent="-215903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Supply chain verification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20084" y="1245870"/>
            <a:ext cx="11105966" cy="862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HTTP Strict Transport Security (HSTS)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What it does: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HTTP response header telling the browser "always load this site via HTTPS"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HSTS Header: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Strict-Transport-Security: max-age=31536000; includeSubDomains; preload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Parameters: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b="true" sz="2000" spc="-60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max-age: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Seconds to enforce HTTPS (31536000 = 1 year)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b="true" sz="2000" spc="-60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includeSubDomains: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Apply to all subdomains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b="true" sz="2000" spc="-60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preload: 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Include in browser's hardcoded HSTS preload list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Security Benefit: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Prevents downgrade attacks; the browser will never send HTTP requests even if the user types http://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 Management Best Practices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Backing Up Keys: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Critical for business continuity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If the private key is lost and not backed up, the encrypted data becomes irretrievable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 is usually responsible for key backup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Key recovery policy must exist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 Storage: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Private keys must be protected with strong passwords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hardware security modules (HSMs) for high-value keys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Never store private keys in plain text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Separate keys by security level (encryption vs. signing)</a:t>
            </a:r>
          </a:p>
          <a:p>
            <a:pPr algn="l">
              <a:lnSpc>
                <a:spcPts val="24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Key Rotation: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Regularly replace keys before compromise</a:t>
            </a:r>
          </a:p>
          <a:p>
            <a:pPr algn="l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Schedule: 1-3 years for most certificates</a:t>
            </a:r>
          </a:p>
          <a:p>
            <a:pPr algn="l" marL="431805" indent="-215903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Establish rotation policy before needed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7: Public Key Infrastructure (PKI) (Cont’d)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PKI Use Cases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765935"/>
            <a:ext cx="8477250" cy="833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Passive Attacks:</a:t>
            </a: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Observe and capture data without modification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Sniffing (packet capture)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Traffic analysis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Example: Network monitoring via sniffer tools (Wireshark, tcpdump)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Active Attacks:</a:t>
            </a: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Attempt to modify data or determine the encryption key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Brute force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Man-in-the-middle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Replay attacks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Injection attacks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Brute Force Attack</a:t>
            </a: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Method:</a:t>
            </a: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Try every possible key until the plaintext is revealed.</a:t>
            </a: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Characteristics: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 mathematical insight required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Guaranteed to work eventually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Computational cost increases exponentially with key size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Feasible only with small keys or insufficient processing time</a:t>
            </a: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Practical Timeline (with modern hardware):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40-bit key: Seconds to minutes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56-bit key (DES): Minutes to hours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128-bit key: Billions of years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256-bit key: Unfeasible within the universe's lifetime</a:t>
            </a: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Countermeasures: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a minimum 128-bit key for symmetric (256-bit recommended)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2048-4096 bit keys for RSA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Implement exponential backoff on password attempts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Account lockout after failed attempts</a:t>
            </a:r>
          </a:p>
          <a:p>
            <a:pPr algn="l" marL="410216" indent="-205108" lvl="1">
              <a:lnSpc>
                <a:spcPts val="228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key stretching (PBKDF2, bcrypt, Argon2)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85024" y="1765935"/>
            <a:ext cx="8041026" cy="661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Dictionary Attack</a:t>
            </a: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Method:</a:t>
            </a: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Use a pre-computed dictionary of common words and passwords.</a:t>
            </a: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Why Effective: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Users choose predictable passwords (names, common words, dates)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 d</a:t>
            </a: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ictionary contains millions of common passwords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Very fast (millions of attempts per second)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Successful against 50-90% of user passwords</a:t>
            </a: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Attack Timeline: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Common 8-character password: &lt; 1 hour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Weak password database: Minutes to hours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Strong/random passwords: Fails entirely</a:t>
            </a: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Tools: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John the Ripper: Flexible, customizable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Hashcat: GPU-accelerated, extremely fast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Hydra: Network service authentication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Cain &amp; Abel: GUI-based Windows tool</a:t>
            </a: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Countermeasures: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Require strong passwords (12+ characters, mixed case, numbers, symbols)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Implement rate limiting on login attempts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salted password hashing (prevents rainbow table attacks)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Require MFA (even with a weak password, the account is protected)</a:t>
            </a:r>
          </a:p>
          <a:p>
            <a:pPr algn="l" marL="410216" indent="-205108" lvl="1">
              <a:lnSpc>
                <a:spcPts val="228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Educate users about password strength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8: Cryptographic Attacks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11791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Attack Classifications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1480185"/>
            <a:ext cx="8477250" cy="833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Rainbow Table Attack</a:t>
            </a:r>
          </a:p>
          <a:p>
            <a:pPr algn="l">
              <a:lnSpc>
                <a:spcPts val="2280"/>
              </a:lnSpc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What is a Rainbow Table? Pre-computed hash-to-password mappings for millions of passwords.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Why Effective: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Eliminates computation time during an attack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Trade storage for speed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One lookup finds the password instantly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 computation needed</a:t>
            </a: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Hash: 5d41402abc4b2a76b9719d911017c592</a:t>
            </a: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Lookup in rainbow table → "hello"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Protection: Salting</a:t>
            </a:r>
          </a:p>
          <a:p>
            <a:pPr algn="l">
              <a:lnSpc>
                <a:spcPts val="2280"/>
              </a:lnSpc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 salt is random data added to a password before hashing.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Salted Hash:</a:t>
            </a: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hash = SHA-256("correct horse battery staple" + "n3k8@v9!")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Benefits: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Same password produces different hashes with different salts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Rainbow tables become useless (need one per salt)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Forces the attacker back to slow computation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Industry standard: 16+ byte random salt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Tools for Creating Rainbow Tables: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Ophcrack (Windows password hashes)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RainbowCrack (various hash types)</a:t>
            </a:r>
          </a:p>
          <a:p>
            <a:pPr algn="l" marL="410216" indent="-205108" lvl="1">
              <a:lnSpc>
                <a:spcPts val="228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Table lookup databases (available online)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1480185"/>
            <a:ext cx="8533553" cy="804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Birthday Attack</a:t>
            </a: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Birthday Paradox:</a:t>
            </a: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With 23 random people, 51% chance two share a birthday (not 50% as intuition suggests).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Applied to Hashing:</a:t>
            </a: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Finding two documents with the same hash requires ~√(2^n) attempts, where n = hash size in bits.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 - SHA-1 (160-bit):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Theoretical security: 2^160 attempts to find a specific match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Birthday attack security: 2^80 attempts to find any collision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2^80 = ~10^24 operations (feasible with distributed computing)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Impact: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MD5 (128-bit): Birthday birthday attack = 2^64 = 18 quintillion (2004 - practical)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SHA-1 (160-bit): Birthday attack = 2^80 = 1.2 septillion (2005 - practical with effort)</a:t>
            </a:r>
          </a:p>
          <a:p>
            <a:pPr algn="l" marL="410216" indent="-205108" lvl="1">
              <a:lnSpc>
                <a:spcPts val="2280"/>
              </a:lnSpc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SHA-256 (256-bit): Birthday attack = 2^128 = still unfeasible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Real-World Example:</a:t>
            </a: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Researchers found two different PDF files with the same MD5 hash (2008), compromising digital signatures.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 spc="-5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Prevention:</a:t>
            </a:r>
          </a:p>
          <a:p>
            <a:pPr algn="l" marL="410216" indent="-205108" lvl="1">
              <a:lnSpc>
                <a:spcPts val="228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pc="-5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hash algorithms with 256+ bit output (SHA-256, SHA-3)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8: Cryptographic Attacks (Cont’d)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44000" y="2477128"/>
            <a:ext cx="7529273" cy="1451277"/>
          </a:xfrm>
          <a:custGeom>
            <a:avLst/>
            <a:gdLst/>
            <a:ahLst/>
            <a:cxnLst/>
            <a:rect r="r" b="b" t="t" l="l"/>
            <a:pathLst>
              <a:path h="1451277" w="7529273">
                <a:moveTo>
                  <a:pt x="0" y="0"/>
                </a:moveTo>
                <a:lnTo>
                  <a:pt x="7529273" y="0"/>
                </a:lnTo>
                <a:lnTo>
                  <a:pt x="7529273" y="1451277"/>
                </a:lnTo>
                <a:lnTo>
                  <a:pt x="0" y="14512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24206"/>
            <a:ext cx="11451792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Cryptography secures data using mathematical techniques.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Encryption evolved from simple ciphers to advanced algorithms.</a:t>
            </a:r>
          </a:p>
          <a:p>
            <a:pPr algn="l" marL="474984" indent="-237492" lvl="1">
              <a:lnSpc>
                <a:spcPts val="264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Classical ciphers are insecure and easily broken.</a:t>
            </a:r>
          </a:p>
          <a:p>
            <a:pPr algn="l" marL="474984" indent="-237492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Cryptography is essential for modern cybersecurity.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Key Takeaways For Pentesters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488767" y="381000"/>
            <a:ext cx="1437283" cy="773711"/>
            <a:chOff x="0" y="0"/>
            <a:chExt cx="1916377" cy="103161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31614" cy="1031614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884763" y="0"/>
              <a:ext cx="1031614" cy="1031614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997357" y="112594"/>
              <a:ext cx="806426" cy="806426"/>
            </a:xfrm>
            <a:custGeom>
              <a:avLst/>
              <a:gdLst/>
              <a:ahLst/>
              <a:cxnLst/>
              <a:rect r="r" b="b" t="t" l="l"/>
              <a:pathLst>
                <a:path h="806426" w="806426">
                  <a:moveTo>
                    <a:pt x="0" y="0"/>
                  </a:moveTo>
                  <a:lnTo>
                    <a:pt x="806426" y="0"/>
                  </a:lnTo>
                  <a:lnTo>
                    <a:pt x="806426" y="806426"/>
                  </a:lnTo>
                  <a:lnTo>
                    <a:pt x="0" y="806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0769" y="160483"/>
              <a:ext cx="752009" cy="710649"/>
            </a:xfrm>
            <a:custGeom>
              <a:avLst/>
              <a:gdLst/>
              <a:ahLst/>
              <a:cxnLst/>
              <a:rect r="r" b="b" t="t" l="l"/>
              <a:pathLst>
                <a:path h="710649" w="752009">
                  <a:moveTo>
                    <a:pt x="0" y="0"/>
                  </a:moveTo>
                  <a:lnTo>
                    <a:pt x="752009" y="0"/>
                  </a:lnTo>
                  <a:lnTo>
                    <a:pt x="752009" y="710648"/>
                  </a:lnTo>
                  <a:lnTo>
                    <a:pt x="0" y="71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2596" y="0"/>
            <a:ext cx="8185404" cy="10287000"/>
            <a:chOff x="0" y="0"/>
            <a:chExt cx="21558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827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144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5582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8180" y="666750"/>
            <a:ext cx="6947741" cy="8953500"/>
            <a:chOff x="0" y="0"/>
            <a:chExt cx="812800" cy="1047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47449"/>
            </a:xfrm>
            <a:custGeom>
              <a:avLst/>
              <a:gdLst/>
              <a:ahLst/>
              <a:cxnLst/>
              <a:rect r="r" b="b" t="t" l="l"/>
              <a:pathLst>
                <a:path h="1047449" w="812800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6" r="0" b="-30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26053" y="4096993"/>
            <a:ext cx="8324850" cy="2093014"/>
            <a:chOff x="0" y="0"/>
            <a:chExt cx="11099800" cy="279068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51122"/>
              <a:ext cx="11099800" cy="7395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5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FFA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ANY QUESTIONS?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0"/>
              <a:ext cx="11099800" cy="1722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254" strike="noStrike" u="none">
                  <a:solidFill>
                    <a:srgbClr val="00FFA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Thank You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5400000">
            <a:off x="16106389" y="8352937"/>
            <a:ext cx="1792448" cy="1639275"/>
          </a:xfrm>
          <a:custGeom>
            <a:avLst/>
            <a:gdLst/>
            <a:ahLst/>
            <a:cxnLst/>
            <a:rect r="r" b="b" t="t" l="l"/>
            <a:pathLst>
              <a:path h="1639275" w="1792448">
                <a:moveTo>
                  <a:pt x="1792448" y="0"/>
                </a:moveTo>
                <a:lnTo>
                  <a:pt x="0" y="0"/>
                </a:lnTo>
                <a:lnTo>
                  <a:pt x="0" y="1639276"/>
                </a:lnTo>
                <a:lnTo>
                  <a:pt x="1792448" y="1639276"/>
                </a:lnTo>
                <a:lnTo>
                  <a:pt x="17924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Ethical Hacking Overview</dc:description>
  <dc:identifier>DAG-vwI6Gpc</dc:identifier>
  <dcterms:modified xsi:type="dcterms:W3CDTF">2011-08-01T06:04:30Z</dcterms:modified>
  <cp:revision>1</cp:revision>
  <dc:title>Lecture-12-CCS6324 - Cryptography Fundamentals</dc:title>
</cp:coreProperties>
</file>